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44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minutes before the hands-on session. Each participant leaves with at least one working key, ideally Groq, and Gemini as a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key is enough. Groq is the quickest; Gemini is a good backup if Groq sign-up fails or its limits are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participants to open the key page of their chosen service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Groq runs open models such as gpt-oss on dedicated chips: answers come back very quickly. The free tier needs no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Google sign-in is the fastest if participants already use Chrome with their Google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key per person and per project: it can be deleted after the workshop without affecting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Once the dialog is closed, Groq never shows the full key again. Copy it before clicking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Gemini is the backup: useful when Groq sign-up is blocked on an institutional network or when Groq limits are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AI Studio says the service is not available for the account, use Groq: some managed institutional Google accounts have AI Studio turned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Studio may also show a default key already created; it can be used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Unpublished or embargoed documents should not be sent to any online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Links back to Monday’s discussion on AI, ethics and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Facilitators can walk the room with this slide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Participants still waiting for a key can pair with a neighbour until their own key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875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74000" y="-1016000"/>
            <a:ext cx="5715000" cy="5715000"/>
          </a:xfrm>
          <a:prstGeom prst="ellipse">
            <a:avLst/>
          </a:prstGeom>
          <a:solidFill>
            <a:srgbClr val="F5C242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17000" y="3302000"/>
            <a:ext cx="4064000" cy="4064000"/>
          </a:xfrm>
          <a:prstGeom prst="ellipse">
            <a:avLst/>
          </a:prstGeom>
          <a:solidFill>
            <a:srgbClr val="00A8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0" y="609600"/>
            <a:ext cx="1905000" cy="355600"/>
          </a:xfrm>
          <a:prstGeom prst="roundRect">
            <a:avLst>
              <a:gd name="adj" fmla="val 21428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3526"/>
                </a:solidFill>
                <a:latin typeface="Calibri"/>
              </a:rPr>
              <a:t>AfDB · DI4A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5875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C242"/>
                </a:solidFill>
                <a:latin typeface="Calibri"/>
              </a:rPr>
              <a:t>WORKSHOP SET-UP ·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968500"/>
            <a:ext cx="92075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6F5EF"/>
                </a:solidFill>
                <a:latin typeface="Calibri"/>
              </a:rPr>
              <a:t>Two free API keys: Groq and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873500"/>
            <a:ext cx="825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FE7DC"/>
                </a:solidFill>
                <a:latin typeface="Calibri"/>
              </a:rPr>
              <a:t>How to create a </a:t>
            </a:r>
            <a:r>
              <a:rPr sz="1900" b="1" i="0">
                <a:solidFill>
                  <a:srgbClr val="CFE7DC"/>
                </a:solidFill>
                <a:latin typeface="Calibri"/>
              </a:rPr>
              <a:t>Groq</a:t>
            </a:r>
            <a:r>
              <a:rPr sz="1900" b="0" i="0">
                <a:solidFill>
                  <a:srgbClr val="CFE7DC"/>
                </a:solidFill>
                <a:latin typeface="Calibri"/>
              </a:rPr>
              <a:t> key and a </a:t>
            </a:r>
            <a:r>
              <a:rPr sz="1900" b="1" i="0">
                <a:solidFill>
                  <a:srgbClr val="CFE7DC"/>
                </a:solidFill>
                <a:latin typeface="Calibri"/>
              </a:rPr>
              <a:t>Gemini</a:t>
            </a:r>
            <a:r>
              <a:rPr sz="1900" b="0" i="0">
                <a:solidFill>
                  <a:srgbClr val="CFE7DC"/>
                </a:solidFill>
                <a:latin typeface="Calibri"/>
              </a:rPr>
              <a:t> key, step by step, free and without a credit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50165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241D"/>
                </a:solidFill>
                <a:latin typeface="Consolas"/>
              </a:rPr>
              <a:t>gsk_…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2500" y="50165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241D"/>
                </a:solidFill>
                <a:latin typeface="Consolas"/>
              </a:rPr>
              <a:t>AIza…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6096000"/>
            <a:ext cx="105664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CFE7DC"/>
                </a:solidFill>
                <a:latin typeface="Calibri"/>
              </a:rPr>
              <a:t>ATI · Big Data for Macroeconomic Statistics · Mauritius, 26–30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WHY A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Two free keys, one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7600" y="2463800"/>
            <a:ext cx="1379982" cy="279400"/>
          </a:xfrm>
          <a:prstGeom prst="roundRect">
            <a:avLst>
              <a:gd name="adj" fmla="val 45454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RECOMMENDED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3241D"/>
                </a:solidFill>
                <a:latin typeface="Calibri"/>
              </a:rPr>
              <a:t>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704A"/>
                </a:solidFill>
                <a:latin typeface="Consolas"/>
              </a:rPr>
              <a:t>gsk_…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Free, no credit card, very fast answers. Sign in with Google, GitHub or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24400" y="2463800"/>
            <a:ext cx="868172" cy="279400"/>
          </a:xfrm>
          <a:prstGeom prst="roundRect">
            <a:avLst>
              <a:gd name="adj" fmla="val 45454"/>
            </a:avLst>
          </a:prstGeom>
          <a:solidFill>
            <a:srgbClr val="D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553A"/>
                </a:solidFill>
                <a:latin typeface="Calibri"/>
              </a:rPr>
              <a:t>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3241D"/>
                </a:solidFill>
                <a:latin typeface="Calibri"/>
              </a:rP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704A"/>
                </a:solidFill>
                <a:latin typeface="Consolas"/>
              </a:rPr>
              <a:t>AIza…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Google’s free tier in AI Studio, with your Google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64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ECEFEC"/>
          </a:solidFill>
          <a:ln w="12700">
            <a:solidFill>
              <a:srgbClr val="A9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31200" y="2463800"/>
            <a:ext cx="663448" cy="279400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5A52"/>
                </a:solidFill>
                <a:latin typeface="Calibri"/>
              </a:rPr>
              <a:t>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5A52"/>
                </a:solidFill>
                <a:latin typeface="Calibri"/>
              </a:rP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7C75"/>
                </a:solidFill>
                <a:latin typeface="Consolas"/>
              </a:rPr>
              <a:t>€0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Neither service asks for a credit card on its free tier. One key is enough; two is safer.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BEFORE YOU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Five minutes, no credit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527300"/>
            <a:ext cx="4064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38300" y="22225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A Google account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for Gemini. Groq also accepts GitHub or an email address.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0955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527300"/>
            <a:ext cx="406400" cy="40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3100" y="22225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A web browser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: Chrome, Edge or Firefox, with pop-ups allowed for sign-in.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5433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3975100"/>
            <a:ext cx="406400" cy="406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8300" y="36703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A safe place for the key: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a password manager or a private note. Never a chat or a shared document.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35433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200" y="3975100"/>
            <a:ext cx="406400" cy="40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23100" y="36703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Five minutes.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Neither service asks for a card on its free 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5080000"/>
            <a:ext cx="10566400" cy="698500"/>
          </a:xfrm>
          <a:prstGeom prst="roundRect">
            <a:avLst>
              <a:gd name="adj" fmla="val 18181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key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5264150"/>
            <a:ext cx="330200" cy="330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7500" y="5080000"/>
            <a:ext cx="95250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6F5EF"/>
                </a:solidFill>
                <a:latin typeface="Calibri"/>
              </a:rPr>
              <a:t>Treat a key like a password: whoever holds it uses your quota.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3000" y="889000"/>
            <a:ext cx="5080000" cy="5080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778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C4300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7620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i="0">
                <a:solidFill>
                  <a:srgbClr val="13241D"/>
                </a:solidFill>
                <a:latin typeface="Calibri"/>
              </a:rPr>
              <a:t>Groq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429000"/>
            <a:ext cx="7620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3241D"/>
                </a:solidFill>
                <a:latin typeface="Calibri"/>
              </a:rPr>
              <a:t>The fastest free option. Three steps, about two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4445000"/>
            <a:ext cx="1597025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 · 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6825" y="4445000"/>
            <a:ext cx="2120900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 · Create a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4725" y="4445000"/>
            <a:ext cx="2120900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 · Copy it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0960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3241D"/>
                </a:solidFill>
                <a:latin typeface="Consolas"/>
              </a:rPr>
              <a:t>console.groq.com/keys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STEP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Open the console and sign in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Go to </a:t>
            </a:r>
            <a:r>
              <a:rPr sz="1600" b="1" i="0">
                <a:solidFill>
                  <a:srgbClr val="00704A"/>
                </a:solidFill>
                <a:latin typeface="Calibri"/>
              </a:rPr>
              <a:t>console.groq.com/keys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Sign in with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Google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GitHub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or your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email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(a one-time link is sent)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First visit: accept the terms. You land in the GroqCloud console.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9F8F6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26416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5036"/>
                </a:solidFill>
                <a:latin typeface="Calibri"/>
              </a:rPr>
              <a:t>groq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30226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Sign in to GroqCloud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2700" y="3492500"/>
            <a:ext cx="3810000" cy="4191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Continue with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2700" y="4025900"/>
            <a:ext cx="3810000" cy="4191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Continue with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5085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4800600"/>
            <a:ext cx="3810000" cy="393700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14300" rIns="114300" bIns="1143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name@institution.org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of the sign-in page; the live page may look slightly different.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STEP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Create an API key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Open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API Keys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in the left menu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Click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API Key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Give it a name you will recognise, such as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ati-workshop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then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9F8F6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6200" y="2413000"/>
            <a:ext cx="1587500" cy="298450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8600" y="2603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5036"/>
                </a:solidFill>
                <a:latin typeface="Calibri"/>
              </a:rPr>
              <a:t>groq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9591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Playground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314700"/>
            <a:ext cx="13970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57800" y="3314700"/>
            <a:ext cx="38100" cy="2921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72100" y="33147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API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100" y="36703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2100" y="40259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26416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3241D"/>
                </a:solidFill>
                <a:latin typeface="Calibri"/>
              </a:rPr>
              <a:t>API Keys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4700" y="2616200"/>
            <a:ext cx="1498600" cy="355600"/>
          </a:xfrm>
          <a:prstGeom prst="roundRect">
            <a:avLst>
              <a:gd name="adj" fmla="val 17857"/>
            </a:avLst>
          </a:prstGeom>
          <a:solidFill>
            <a:srgbClr val="13241D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Create API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2300" y="3111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No API keys yet.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91400" y="3530600"/>
            <a:ext cx="2984500" cy="18415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9200" y="3657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Create API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9200" y="3975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Display name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9200" y="4254500"/>
            <a:ext cx="2628900" cy="3302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25400">
            <a:solidFill>
              <a:srgbClr val="00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88900" bIns="889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3241D"/>
                </a:solidFill>
                <a:latin typeface="Consolas"/>
              </a:rPr>
              <a:t>ati-workshop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69200" y="4762500"/>
            <a:ext cx="889000" cy="330200"/>
          </a:xfrm>
          <a:prstGeom prst="roundRect">
            <a:avLst>
              <a:gd name="adj" fmla="val 1923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Submit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of the API Keys page; labels from the console, layout simplified.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STEP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Copy the key now: it is shown only once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Click the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copy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icon. The key starts with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gsk_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Keep it somewhere safe: a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password manager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or a private note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Lost it? Delete the key and create a new one: it takes ten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E9ECE9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1700" y="2667000"/>
            <a:ext cx="4572000" cy="25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5700" y="28702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Your new API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5700" y="3276600"/>
            <a:ext cx="4064000" cy="444500"/>
          </a:xfrm>
          <a:prstGeom prst="roundRect">
            <a:avLst>
              <a:gd name="adj" fmla="val 17142"/>
            </a:avLst>
          </a:prstGeom>
          <a:solidFill>
            <a:srgbClr val="F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2700" y="3276600"/>
            <a:ext cx="29210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3241D"/>
                </a:solidFill>
                <a:latin typeface="Consolas"/>
              </a:rPr>
              <a:t>gsk_••••••••••••••••Xa9Q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700" y="3352800"/>
            <a:ext cx="635000" cy="292100"/>
          </a:xfrm>
          <a:prstGeom prst="roundRect">
            <a:avLst>
              <a:gd name="adj" fmla="val 21739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Copy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5700" y="3873500"/>
            <a:ext cx="4064000" cy="6350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6350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7670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92900" y="3873500"/>
            <a:ext cx="34925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4300"/>
                </a:solidFill>
                <a:latin typeface="Calibri"/>
              </a:rPr>
              <a:t>You won’t be able to see this key again. Store it somewhere safe.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5700" y="4686300"/>
            <a:ext cx="762000" cy="317500"/>
          </a:xfrm>
          <a:prstGeom prst="roundRect">
            <a:avLst>
              <a:gd name="adj" fmla="val 2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Illustration; key masked. The live dialog may word the warning differently.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553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3000" y="889000"/>
            <a:ext cx="5080000" cy="5080000"/>
          </a:xfrm>
          <a:prstGeom prst="ellipse">
            <a:avLst/>
          </a:prstGeom>
          <a:solidFill>
            <a:srgbClr val="00A8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778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825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i="0">
                <a:solidFill>
                  <a:srgbClr val="F6F5EF"/>
                </a:solidFill>
                <a:latin typeface="Calibri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429000"/>
            <a:ext cx="79375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CFE7DC"/>
                </a:solidFill>
                <a:latin typeface="Calibri"/>
              </a:rPr>
              <a:t>Google’s free tier, with your Google account. Two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4445000"/>
            <a:ext cx="2330450" cy="4064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3526"/>
                </a:solidFill>
                <a:latin typeface="Calibri"/>
              </a:rPr>
              <a:t>1 · Open AI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0250" y="4445000"/>
            <a:ext cx="3273425" cy="4064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3526"/>
                </a:solidFill>
                <a:latin typeface="Calibri"/>
              </a:rPr>
              <a:t>2 · Create and copy the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0960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C242"/>
                </a:solidFill>
                <a:latin typeface="Consolas"/>
              </a:rPr>
              <a:t>aistudio.google.com/apikey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GEMINI · STEP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Open Google AI Studio and sign in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Go to </a:t>
            </a:r>
            <a:r>
              <a:rPr sz="1600" b="1" i="0">
                <a:solidFill>
                  <a:srgbClr val="00704A"/>
                </a:solidFill>
                <a:latin typeface="Calibri"/>
              </a:rPr>
              <a:t>aistudio.google.com/apikey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Sign in with your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Google account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First visit: tick the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terms of service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box (the e-mail box is optional), then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Continue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1E1F22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aistudio.google.com/apikey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1700" y="2730500"/>
            <a:ext cx="4572000" cy="2413000"/>
          </a:xfrm>
          <a:prstGeom prst="roundRect">
            <a:avLst>
              <a:gd name="adj" fmla="val 4736"/>
            </a:avLst>
          </a:prstGeom>
          <a:solidFill>
            <a:srgbClr val="2B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5700" y="2921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3F4"/>
                </a:solidFill>
                <a:latin typeface="Calibri"/>
              </a:rPr>
              <a:t>Google 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5700" y="32639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Before you continue, review the terms.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5700" y="3683000"/>
            <a:ext cx="190500" cy="190500"/>
          </a:xfrm>
          <a:prstGeom prst="roundRect">
            <a:avLst>
              <a:gd name="adj" fmla="val 13333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3200" y="36195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alibri"/>
              </a:rPr>
              <a:t>I accept the Gemini API terms of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5700" y="4089400"/>
            <a:ext cx="190500" cy="190500"/>
          </a:xfrm>
          <a:prstGeom prst="roundRect">
            <a:avLst>
              <a:gd name="adj" fmla="val 13333"/>
            </a:avLst>
          </a:prstGeom>
          <a:solidFill>
            <a:srgbClr val="2B2D31"/>
          </a:solidFill>
          <a:ln w="254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3200" y="40259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E-mail updates (optional)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5700" y="4572000"/>
            <a:ext cx="1206500" cy="342900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Continue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of the first-visit terms dialog; wording on the live page may differ.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GEMINI · STEP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Create the key and copy it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Click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API key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top right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Name it, choose a project or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a new one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then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key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Click the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copy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icon. The key starts with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AIza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and stays visible in the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1E1F22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aistudio.google.com/apikey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6200" y="2413000"/>
            <a:ext cx="1587500" cy="2984500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8600" y="2603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3F4"/>
                </a:solidFill>
                <a:latin typeface="Calibri"/>
              </a:rPr>
              <a:t>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9591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Chat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314700"/>
            <a:ext cx="1397000" cy="2921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57800" y="3314700"/>
            <a:ext cx="38100" cy="2921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72100" y="33147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3F4"/>
                </a:solidFill>
                <a:latin typeface="Calibri"/>
              </a:rPr>
              <a:t>API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100" y="36703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26416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3F4"/>
                </a:solidFill>
                <a:latin typeface="Calibri"/>
              </a:rPr>
              <a:t>API keys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8200" y="2616200"/>
            <a:ext cx="1435100" cy="355600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Create API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300" y="3175000"/>
            <a:ext cx="127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9300" y="31750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Project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2300" y="3441700"/>
            <a:ext cx="4064000" cy="127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2300" y="3556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onsolas"/>
              </a:rPr>
              <a:t>…Qk7w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9300" y="3556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alibri"/>
              </a:rPr>
              <a:t>ati-workshop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74300" y="3530600"/>
            <a:ext cx="635000" cy="279400"/>
          </a:xfrm>
          <a:prstGeom prst="roundRect">
            <a:avLst>
              <a:gd name="adj" fmla="val 18181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Copy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72300" y="4064000"/>
            <a:ext cx="4064000" cy="825500"/>
          </a:xfrm>
          <a:prstGeom prst="roundRect">
            <a:avLst>
              <a:gd name="adj" fmla="val 10769"/>
            </a:avLst>
          </a:prstGeom>
          <a:solidFill>
            <a:srgbClr val="2B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12000" y="4165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Your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2000" y="4483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onsolas"/>
              </a:rPr>
              <a:t>AIza••••••••••••••••Qk7w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of the API keys page; key masked, layout simplified.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WHICH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Groq first, Gemini as the backup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398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C242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6F5EF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Sign in with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Google, GitHub or email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Google account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Key starts with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gsk_ (shown once)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AIza (stays in the list)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Free tier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About 1,000 requests a day per model (Sept 2026)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Per-minute and daily limits by model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Very fast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What to send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Published documents only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Published documents only; free-tier prompts may be used by Google to improve its products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7150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A52"/>
                </a:solidFill>
                <a:latin typeface="Calibri"/>
              </a:rPr>
              <a:t>Limits change: check each console on the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STAYING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Four rules for a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800" y="2095500"/>
            <a:ext cx="5181600" cy="63500"/>
          </a:xfrm>
          <a:prstGeom prst="rect">
            <a:avLst/>
          </a:prstGeom>
          <a:solidFill>
            <a:srgbClr val="C46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1400" y="2324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Never in a chat, an e-mail or a shared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2959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Anyone who sees the key can use it, on your quota.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2095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7600" y="2095500"/>
            <a:ext cx="5181600" cy="63500"/>
          </a:xfrm>
          <a:prstGeom prst="rect">
            <a:avLst/>
          </a:prstGeom>
          <a:solidFill>
            <a:srgbClr val="00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6200" y="2324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Published documents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2959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What you send through the key goes to the provider. Keep confidential material away from online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4000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2800" y="4000500"/>
            <a:ext cx="5181600" cy="635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1400" y="4229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Leaked? Delete it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4864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Delete the key in the console and create a new one. The old key stops working at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4000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7600" y="4000500"/>
            <a:ext cx="5181600" cy="63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6200" y="4229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Clean up after the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4864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Delete the workshop keys you no longer need, in Groq’s API Keys page and in AI Studio.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If something goes wrong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6F5EF"/>
                          </a:solidFill>
                          <a:latin typeface="Calibri"/>
                        </a:rPr>
                        <a:t>What you see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6F5EF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5C242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No sign-in e-mail from Groq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Spam filter or slow mail server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Check spam, or sign in with Google or GitHub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Groq dialog closed before copying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The key is shown only once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Delete that key and create a new one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AI Studio not available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Account or administrator setting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Use a personal Google account, or Groq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Asked to choose a project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No Google Cloud project yet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Choose “Create project” in the same dialog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Key shared by mistake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Anyone can now use it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Delete it in the console, create a new one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for Macroeconomic Statistics · AfDB · DI4A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875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55000" y="-1270000"/>
            <a:ext cx="5461000" cy="5461000"/>
          </a:xfrm>
          <a:prstGeom prst="ellipse">
            <a:avLst/>
          </a:prstGeom>
          <a:solidFill>
            <a:srgbClr val="F5C242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143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READY?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524000"/>
            <a:ext cx="9842500" cy="158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6F5EF"/>
                </a:solidFill>
                <a:latin typeface="Calibri"/>
              </a:rPr>
              <a:t>Your keys are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889500"/>
            <a:ext cx="1016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FE7DC"/>
                </a:solidFill>
                <a:latin typeface="Calibri"/>
              </a:rPr>
              <a:t>Keep your keys at hand for the hands-on session.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096000"/>
            <a:ext cx="105664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CFE7DC"/>
                </a:solidFill>
                <a:latin typeface="Calibri"/>
              </a:rPr>
              <a:t>African Development Bank · Data Innovation for Africa (</a:t>
            </a:r>
            <a:r>
              <a:rPr sz="1300" b="0" i="0">
                <a:solidFill>
                  <a:srgbClr val="CFE7DC"/>
                </a:solidFill>
                <a:latin typeface="Calibri"/>
              </a:rPr>
              <a:t>DI4A)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1472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HADJ TAIEB, MOHAMED ALI</cp:lastModifiedBy>
  <cp:revision>3</cp:revision>
  <dcterms:created xsi:type="dcterms:W3CDTF">2013-01-27T09:14:16Z</dcterms:created>
  <dcterms:modified xsi:type="dcterms:W3CDTF">2026-10-17T07:49:50Z</dcterms:modified>
  <cp:category/>
</cp:coreProperties>
</file>