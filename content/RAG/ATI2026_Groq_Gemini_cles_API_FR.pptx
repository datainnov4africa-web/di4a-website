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091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Cinq minutes avant l’atelier pratique. Chaque participant repart avec au moins une clé qui fonctionne, idéalement Groq, et Gemini en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Une seule clé suffit. Groq est le plus rapide ; Gemini sert de secours si l’inscription à Groq échoue ou si ses quotas sont atteints.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Demander aux participants d’ouvrir maintenant la page des clés du service choisi.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Groq exécute des modèles ouverts comme gpt-oss sur des puces dédiées : les réponses arrivent très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connexion Google est la plus rapide si le participant utilise déjà Chrome avec son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Une clé par personne et par projet : on la supprime après l’atelier sans rien affecter d’autre.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Une fois la fenêtre fermée, Groq ne réaffiche jamais la clé complète. La copier avant de cliquer sur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Gemini sert de secours si l’inscription à Groq est bloquée ou si ses quotas sont atteints.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AI Studio est indisponible pour le compte, passer à Groq : certains comptes Google institutionnels ont AI Studio désactivé.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Studio peut aussi afficher une clé par défaut déjà créée ; elle s’utilise directement.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documents non publiés ou sous embargo ne doivent être envoyés à aucun modèle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Lien avec la discussion de lundi sur l’IA, l’éthique et la vie privée.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animateurs peuvent circuler avec cette diapositive affichée.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 participants qui attendent encore une clé peuvent travailler en binôme en attendant.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875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74000" y="-1016000"/>
            <a:ext cx="5715000" cy="5715000"/>
          </a:xfrm>
          <a:prstGeom prst="ellipse">
            <a:avLst/>
          </a:prstGeom>
          <a:solidFill>
            <a:srgbClr val="F5C242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17000" y="3302000"/>
            <a:ext cx="4064000" cy="4064000"/>
          </a:xfrm>
          <a:prstGeom prst="ellipse">
            <a:avLst/>
          </a:prstGeom>
          <a:solidFill>
            <a:srgbClr val="00A8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0" y="609600"/>
            <a:ext cx="1905000" cy="355600"/>
          </a:xfrm>
          <a:prstGeom prst="roundRect">
            <a:avLst>
              <a:gd name="adj" fmla="val 21428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3526"/>
                </a:solidFill>
                <a:latin typeface="Calibri"/>
              </a:rPr>
              <a:t>BAD · DI4A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5875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C242"/>
                </a:solidFill>
                <a:latin typeface="Calibri"/>
              </a:rPr>
              <a:t>PRÉPARATION DE L’ATELIER ·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968500"/>
            <a:ext cx="92075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6F5EF"/>
                </a:solidFill>
                <a:latin typeface="Calibri"/>
              </a:rPr>
              <a:t>Deux clés API gratuites : Groq et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873500"/>
            <a:ext cx="825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FE7DC"/>
                </a:solidFill>
                <a:latin typeface="Calibri"/>
              </a:rPr>
              <a:t>Comment créer une clé </a:t>
            </a:r>
            <a:r>
              <a:rPr sz="1900" b="1" i="0">
                <a:solidFill>
                  <a:srgbClr val="CFE7DC"/>
                </a:solidFill>
                <a:latin typeface="Calibri"/>
              </a:rPr>
              <a:t>Groq</a:t>
            </a:r>
            <a:r>
              <a:rPr sz="1900" b="0" i="0">
                <a:solidFill>
                  <a:srgbClr val="CFE7DC"/>
                </a:solidFill>
                <a:latin typeface="Calibri"/>
              </a:rPr>
              <a:t> et une clé </a:t>
            </a:r>
            <a:r>
              <a:rPr sz="1900" b="1" i="0">
                <a:solidFill>
                  <a:srgbClr val="CFE7DC"/>
                </a:solidFill>
                <a:latin typeface="Calibri"/>
              </a:rPr>
              <a:t>Gemini</a:t>
            </a:r>
            <a:r>
              <a:rPr sz="1900" b="0" i="0">
                <a:solidFill>
                  <a:srgbClr val="CFE7DC"/>
                </a:solidFill>
                <a:latin typeface="Calibri"/>
              </a:rPr>
              <a:t>, étape par étape, gratuitement et sans carte bancaire.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50165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241D"/>
                </a:solidFill>
                <a:latin typeface="Consolas"/>
              </a:rPr>
              <a:t>gsk_…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2500" y="50165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241D"/>
                </a:solidFill>
                <a:latin typeface="Consolas"/>
              </a:rPr>
              <a:t>AIza…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6096000"/>
            <a:ext cx="105664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CFE7DC"/>
                </a:solidFill>
                <a:latin typeface="Calibri"/>
              </a:rPr>
              <a:t>ATI · Big Data pour les </a:t>
            </a:r>
            <a:r>
              <a:rPr sz="1300" b="0" i="0" dirty="0" err="1">
                <a:solidFill>
                  <a:srgbClr val="CFE7DC"/>
                </a:solidFill>
                <a:latin typeface="Calibri"/>
              </a:rPr>
              <a:t>statistiques</a:t>
            </a:r>
            <a:r>
              <a:rPr sz="1300" b="0" i="0" dirty="0">
                <a:solidFill>
                  <a:srgbClr val="CFE7D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CFE7DC"/>
                </a:solidFill>
                <a:latin typeface="Calibri"/>
              </a:rPr>
              <a:t>macroéconomiques</a:t>
            </a:r>
            <a:r>
              <a:rPr sz="1300" b="0" i="0" dirty="0">
                <a:solidFill>
                  <a:srgbClr val="CFE7DC"/>
                </a:solidFill>
                <a:latin typeface="Calibri"/>
              </a:rPr>
              <a:t> · Maurice, 26–30 </a:t>
            </a:r>
            <a:r>
              <a:rPr sz="1300" b="0" i="0" dirty="0" err="1">
                <a:solidFill>
                  <a:srgbClr val="CFE7DC"/>
                </a:solidFill>
                <a:latin typeface="Calibri"/>
              </a:rPr>
              <a:t>octobre</a:t>
            </a:r>
            <a:r>
              <a:rPr sz="1300" b="0" i="0" dirty="0">
                <a:solidFill>
                  <a:srgbClr val="CFE7DC"/>
                </a:solidFill>
                <a:latin typeface="Calibri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POURQUOI UNE CLÉ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Deux clés gratuites, dont une de secours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7600" y="2463800"/>
            <a:ext cx="1277620" cy="279400"/>
          </a:xfrm>
          <a:prstGeom prst="roundRect">
            <a:avLst>
              <a:gd name="adj" fmla="val 45454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RECOMMANDÉ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3241D"/>
                </a:solidFill>
                <a:latin typeface="Calibri"/>
              </a:rPr>
              <a:t>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704A"/>
                </a:solidFill>
                <a:latin typeface="Consolas"/>
              </a:rPr>
              <a:t>gsk_…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Gratuit, sans carte bancaire, réponses très rapides. Connexion par Google, GitHub ou e-mail.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24400" y="2463800"/>
            <a:ext cx="970534" cy="279400"/>
          </a:xfrm>
          <a:prstGeom prst="roundRect">
            <a:avLst>
              <a:gd name="adj" fmla="val 45454"/>
            </a:avLst>
          </a:prstGeom>
          <a:solidFill>
            <a:srgbClr val="D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553A"/>
                </a:solidFill>
                <a:latin typeface="Calibri"/>
              </a:rPr>
              <a:t>SECOURS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3241D"/>
                </a:solidFill>
                <a:latin typeface="Calibri"/>
              </a:rP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704A"/>
                </a:solidFill>
                <a:latin typeface="Consolas"/>
              </a:rPr>
              <a:t>AIza…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L’offre gratuite de Google dans AI Studio, avec votre compte Google.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6400" y="2159000"/>
            <a:ext cx="3352800" cy="3556000"/>
          </a:xfrm>
          <a:prstGeom prst="roundRect">
            <a:avLst>
              <a:gd name="adj" fmla="val 4545"/>
            </a:avLst>
          </a:prstGeom>
          <a:solidFill>
            <a:srgbClr val="ECEFEC"/>
          </a:solidFill>
          <a:ln w="12700">
            <a:solidFill>
              <a:srgbClr val="A9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31200" y="2463800"/>
            <a:ext cx="1072896" cy="279400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5A52"/>
                </a:solidFill>
                <a:latin typeface="Calibri"/>
              </a:rPr>
              <a:t>LES DEUX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2921000"/>
            <a:ext cx="2794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5A52"/>
                </a:solidFill>
                <a:latin typeface="Calibri"/>
              </a:rPr>
              <a:t>Gratuit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3429000"/>
            <a:ext cx="2794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7C75"/>
                </a:solidFill>
                <a:latin typeface="Consolas"/>
              </a:rPr>
              <a:t>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3873500"/>
            <a:ext cx="2794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A5A52"/>
                </a:solidFill>
                <a:latin typeface="Calibri"/>
              </a:rPr>
              <a:t>Aucun des deux services ne demande de carte bancaire. Une clé suffit ; deux, c’est plus sûr.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AVANT DE COMMENCER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Cinq minutes, sans carte bancaire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527300"/>
            <a:ext cx="4064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38300" y="22225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Un compte Google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pour Gemini. Groq accepte aussi GitHub ou une adresse e-mail.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0955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527300"/>
            <a:ext cx="406400" cy="40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3100" y="22225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Un navigateur web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: Chrome, Edge ou Firefox, fenêtres de connexion autorisées.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5433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3975100"/>
            <a:ext cx="406400" cy="406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8300" y="36703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Un endroit sûr pour la clé :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un gestionnaire de mots de passe ou une note privée. Jamais un chat ni un document partagé.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3543300"/>
            <a:ext cx="51816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200" y="3975100"/>
            <a:ext cx="406400" cy="40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23100" y="3670300"/>
            <a:ext cx="4127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Cinq minutes.</a:t>
            </a:r>
            <a:r>
              <a:rPr sz="1500" b="0" i="0">
                <a:solidFill>
                  <a:srgbClr val="13241D"/>
                </a:solidFill>
                <a:latin typeface="Calibri"/>
              </a:rPr>
              <a:t> Aucun des deux services ne demande de carte pour l’offre gratuite.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5080000"/>
            <a:ext cx="10566400" cy="698500"/>
          </a:xfrm>
          <a:prstGeom prst="roundRect">
            <a:avLst>
              <a:gd name="adj" fmla="val 18181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key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5264150"/>
            <a:ext cx="330200" cy="330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7500" y="5080000"/>
            <a:ext cx="95250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6F5EF"/>
                </a:solidFill>
                <a:latin typeface="Calibri"/>
              </a:rPr>
              <a:t>Une clé se traite comme un mot de passe : qui la détient consomme votre quota.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3000" y="889000"/>
            <a:ext cx="5080000" cy="5080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778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C4300"/>
                </a:solidFill>
                <a:latin typeface="Calibri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7620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i="0">
                <a:solidFill>
                  <a:srgbClr val="13241D"/>
                </a:solidFill>
                <a:latin typeface="Calibri"/>
              </a:rPr>
              <a:t>Groq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429000"/>
            <a:ext cx="7620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3241D"/>
                </a:solidFill>
                <a:latin typeface="Calibri"/>
              </a:rPr>
              <a:t>L’option gratuite la plus rapide. Trois étapes, environ deux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4445000"/>
            <a:ext cx="2120900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 · Se connecter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0700" y="4445000"/>
            <a:ext cx="2225675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 · Créer une clé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3375" y="4445000"/>
            <a:ext cx="3273425" cy="406400"/>
          </a:xfrm>
          <a:prstGeom prst="roundRect">
            <a:avLst>
              <a:gd name="adj" fmla="val 5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 · La copier tout de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0960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3241D"/>
                </a:solidFill>
                <a:latin typeface="Consolas"/>
              </a:rPr>
              <a:t>console.groq.com/keys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ÉTAPE 1 SUR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Ouvrir la console et se connecter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Allez sur </a:t>
            </a:r>
            <a:r>
              <a:rPr sz="1600" b="1" i="0">
                <a:solidFill>
                  <a:srgbClr val="00704A"/>
                </a:solidFill>
                <a:latin typeface="Calibri"/>
              </a:rPr>
              <a:t>console.groq.com/keys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Connectez-vous avec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Google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GitHub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ou votre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e-mail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(un lien de connexion vous est envoyé)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Première visite : acceptez les conditions. Vous arrivez dans la console GroqCloud.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9F8F6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26416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5036"/>
                </a:solidFill>
                <a:latin typeface="Calibri"/>
              </a:rPr>
              <a:t>groq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30226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Sign in to GroqCloud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2700" y="3492500"/>
            <a:ext cx="3810000" cy="4191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Continue with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2700" y="4025900"/>
            <a:ext cx="3810000" cy="4191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Continue with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5085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4800600"/>
            <a:ext cx="3810000" cy="393700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14300" rIns="114300" bIns="1143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nom@institution.org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de la page de connexion (interface en anglais) ; la page réelle peut différer.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ÉTAPE 2 SUR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Créer une clé API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Ouvrez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API Keys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dans le menu de gauche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Cliquez sur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API Key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Donnez-lui un nom reconnaissable, par exemple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atelier-ati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puis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9F8F6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6200" y="2413000"/>
            <a:ext cx="1587500" cy="298450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8600" y="2603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5036"/>
                </a:solidFill>
                <a:latin typeface="Calibri"/>
              </a:rPr>
              <a:t>groq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9591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Playground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314700"/>
            <a:ext cx="13970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57800" y="3314700"/>
            <a:ext cx="38100" cy="2921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72100" y="33147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API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100" y="36703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2100" y="40259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26416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3241D"/>
                </a:solidFill>
                <a:latin typeface="Calibri"/>
              </a:rPr>
              <a:t>API Keys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4700" y="2616200"/>
            <a:ext cx="1498600" cy="355600"/>
          </a:xfrm>
          <a:prstGeom prst="roundRect">
            <a:avLst>
              <a:gd name="adj" fmla="val 17857"/>
            </a:avLst>
          </a:prstGeom>
          <a:solidFill>
            <a:srgbClr val="13241D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Create API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2300" y="3111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No API keys yet.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91400" y="3530600"/>
            <a:ext cx="2984500" cy="18415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CC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9200" y="3657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3241D"/>
                </a:solidFill>
                <a:latin typeface="Calibri"/>
              </a:rPr>
              <a:t>Create API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9200" y="3975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Display name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9200" y="4254500"/>
            <a:ext cx="2628900" cy="3302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25400">
            <a:solidFill>
              <a:srgbClr val="00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88900" bIns="889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3241D"/>
                </a:solidFill>
                <a:latin typeface="Consolas"/>
              </a:rPr>
              <a:t>atelier-ati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69200" y="4762500"/>
            <a:ext cx="889000" cy="330200"/>
          </a:xfrm>
          <a:prstGeom prst="roundRect">
            <a:avLst>
              <a:gd name="adj" fmla="val 1923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Submit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de la page API Keys ; libellés de la console, mise en page simplifiée.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6400"/>
                </a:solidFill>
                <a:latin typeface="Calibri"/>
              </a:rPr>
              <a:t>GROQ · ÉTAPE 3 SUR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Copiez la clé tout de suite : elle ne s’affiche qu’une fois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Cliquez sur l’icône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copier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. La clé commence par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gsk_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Gardez-la en lieu sûr : un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gestionnaire de mots de passe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ou une note privée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Perdue ? Supprimez la clé et créez-en une autre : dix secondes.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E9ECE9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console.groq.com/keys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1700" y="2667000"/>
            <a:ext cx="4572000" cy="25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5700" y="28702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41D"/>
                </a:solidFill>
                <a:latin typeface="Calibri"/>
              </a:rPr>
              <a:t>Your new API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5700" y="3276600"/>
            <a:ext cx="4064000" cy="444500"/>
          </a:xfrm>
          <a:prstGeom prst="roundRect">
            <a:avLst>
              <a:gd name="adj" fmla="val 17142"/>
            </a:avLst>
          </a:prstGeom>
          <a:solidFill>
            <a:srgbClr val="F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2700" y="3276600"/>
            <a:ext cx="29210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3241D"/>
                </a:solidFill>
                <a:latin typeface="Consolas"/>
              </a:rPr>
              <a:t>gsk_••••••••••••••••Xa9Q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700" y="3352800"/>
            <a:ext cx="635000" cy="292100"/>
          </a:xfrm>
          <a:prstGeom prst="roundRect">
            <a:avLst>
              <a:gd name="adj" fmla="val 21739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3241D"/>
                </a:solidFill>
                <a:latin typeface="Calibri"/>
              </a:rPr>
              <a:t>Copy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5700" y="3873500"/>
            <a:ext cx="4064000" cy="6350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6350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7670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92900" y="3873500"/>
            <a:ext cx="34925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4300"/>
                </a:solidFill>
                <a:latin typeface="Calibri"/>
              </a:rPr>
              <a:t>You won’t be able to see this key again. Store it somewhere safe.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5700" y="4686300"/>
            <a:ext cx="762000" cy="317500"/>
          </a:xfrm>
          <a:prstGeom prst="roundRect">
            <a:avLst>
              <a:gd name="adj" fmla="val 20000"/>
            </a:avLst>
          </a:prstGeom>
          <a:solidFill>
            <a:srgbClr val="13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; clé masquée. L’avertissement réel peut être formulé autrement.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553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3000" y="889000"/>
            <a:ext cx="5080000" cy="5080000"/>
          </a:xfrm>
          <a:prstGeom prst="ellipse">
            <a:avLst/>
          </a:prstGeom>
          <a:solidFill>
            <a:srgbClr val="00A86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778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8255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i="0">
                <a:solidFill>
                  <a:srgbClr val="F6F5EF"/>
                </a:solidFill>
                <a:latin typeface="Calibri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429000"/>
            <a:ext cx="79375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CFE7DC"/>
                </a:solidFill>
                <a:latin typeface="Calibri"/>
              </a:rPr>
              <a:t>L’offre gratuite de Google, avec votre compte Google. Deux étapes.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4445000"/>
            <a:ext cx="2540000" cy="4064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3526"/>
                </a:solidFill>
                <a:latin typeface="Calibri"/>
              </a:rPr>
              <a:t>1 · Ouvrir AI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9800" y="4445000"/>
            <a:ext cx="3168650" cy="406400"/>
          </a:xfrm>
          <a:prstGeom prst="roundRect">
            <a:avLst>
              <a:gd name="adj" fmla="val 50000"/>
            </a:avLst>
          </a:prstGeom>
          <a:solidFill>
            <a:srgbClr val="F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3526"/>
                </a:solidFill>
                <a:latin typeface="Calibri"/>
              </a:rPr>
              <a:t>2 · Créer et copier la clé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0960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C242"/>
                </a:solidFill>
                <a:latin typeface="Consolas"/>
              </a:rPr>
              <a:t>aistudio.google.com/apikey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GEMINI · ÉTAPE 1 SUR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Ouvrir Google AI Studio et se connecter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Allez sur </a:t>
            </a:r>
            <a:r>
              <a:rPr sz="1600" b="1" i="0">
                <a:solidFill>
                  <a:srgbClr val="00704A"/>
                </a:solidFill>
                <a:latin typeface="Calibri"/>
              </a:rPr>
              <a:t>aistudio.google.com/apikey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Connectez-vous avec votre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compte Google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Première visite : cochez les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conditions d’utilisation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(la case e-mail est facultative), puis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Continuer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1E1F22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aistudio.google.com/apikey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1700" y="2730500"/>
            <a:ext cx="4572000" cy="2413000"/>
          </a:xfrm>
          <a:prstGeom prst="roundRect">
            <a:avLst>
              <a:gd name="adj" fmla="val 4736"/>
            </a:avLst>
          </a:prstGeom>
          <a:solidFill>
            <a:srgbClr val="2B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5700" y="2921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3F4"/>
                </a:solidFill>
                <a:latin typeface="Calibri"/>
              </a:rPr>
              <a:t>Google 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5700" y="32639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Avant de continuer, lisez les conditions.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5700" y="3683000"/>
            <a:ext cx="190500" cy="190500"/>
          </a:xfrm>
          <a:prstGeom prst="roundRect">
            <a:avLst>
              <a:gd name="adj" fmla="val 13333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3200" y="36195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alibri"/>
              </a:rPr>
              <a:t>J’accepte les conditions d’utilisation de l’API Gemini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5700" y="4089400"/>
            <a:ext cx="190500" cy="190500"/>
          </a:xfrm>
          <a:prstGeom prst="roundRect">
            <a:avLst>
              <a:gd name="adj" fmla="val 13333"/>
            </a:avLst>
          </a:prstGeom>
          <a:solidFill>
            <a:srgbClr val="2B2D31"/>
          </a:solidFill>
          <a:ln w="254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3200" y="4025900"/>
            <a:ext cx="381000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Recevoir des e-mails (facultatif)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5700" y="4572000"/>
            <a:ext cx="1206500" cy="342900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Continuer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de la fenêtre des conditions ; le libellé réel peut différer.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GEMINI · ÉTAPE 2 SUR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Créer la clé et la copier</a:t>
            </a:r>
          </a:p>
        </p:txBody>
      </p:sp>
      <p:sp>
        <p:nvSpPr>
          <p:cNvPr id="4" name="Oval 3"/>
          <p:cNvSpPr/>
          <p:nvPr/>
        </p:nvSpPr>
        <p:spPr>
          <a:xfrm>
            <a:off x="812800" y="2095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200" y="2108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Cliquez sur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API key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(Créer une clé API), en haut à droite</a:t>
            </a:r>
          </a:p>
        </p:txBody>
      </p:sp>
      <p:sp>
        <p:nvSpPr>
          <p:cNvPr id="7" name="Oval 6"/>
          <p:cNvSpPr/>
          <p:nvPr/>
        </p:nvSpPr>
        <p:spPr>
          <a:xfrm>
            <a:off x="812800" y="3238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3238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3251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Nommez-la, choisissez un projet ou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créez-en un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, puis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Create key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4381500"/>
            <a:ext cx="381000" cy="381000"/>
          </a:xfrm>
          <a:prstGeom prst="ellipse">
            <a:avLst/>
          </a:prstGeom>
          <a:solidFill>
            <a:srgbClr val="0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438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6F5E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4394200"/>
            <a:ext cx="3429000" cy="1079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3241D"/>
                </a:solidFill>
                <a:latin typeface="Calibri"/>
              </a:rPr>
              <a:t>Cliquez sur l’icône </a:t>
            </a:r>
            <a:r>
              <a:rPr sz="1600" b="1" i="0">
                <a:solidFill>
                  <a:srgbClr val="13241D"/>
                </a:solidFill>
                <a:latin typeface="Calibri"/>
              </a:rPr>
              <a:t>copier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. La clé commence par </a:t>
            </a:r>
            <a:r>
              <a:rPr sz="1600" b="1" i="0">
                <a:solidFill>
                  <a:srgbClr val="00704A"/>
                </a:solidFill>
                <a:latin typeface="Consolas"/>
              </a:rPr>
              <a:t>AIza</a:t>
            </a:r>
            <a:r>
              <a:rPr sz="1600" b="0" i="0">
                <a:solidFill>
                  <a:srgbClr val="13241D"/>
                </a:solidFill>
                <a:latin typeface="Calibri"/>
              </a:rPr>
              <a:t> et reste visible dans la liste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4300" y="20574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0B352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56200" y="19685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1E1F22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6200" y="1968500"/>
            <a:ext cx="6223000" cy="444500"/>
          </a:xfrm>
          <a:prstGeom prst="roundRect">
            <a:avLst>
              <a:gd name="adj" fmla="val 28571"/>
            </a:avLst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6200" y="2222500"/>
            <a:ext cx="6223000" cy="190500"/>
          </a:xfrm>
          <a:prstGeom prst="rect">
            <a:avLst/>
          </a:prstGeom>
          <a:solidFill>
            <a:srgbClr val="EC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300" y="2133600"/>
            <a:ext cx="114300" cy="114300"/>
          </a:xfrm>
          <a:prstGeom prst="ellipse">
            <a:avLst/>
          </a:prstGeom>
          <a:solidFill>
            <a:srgbClr val="E06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11800" y="2133600"/>
            <a:ext cx="114300" cy="114300"/>
          </a:xfrm>
          <a:prstGeom prst="ellipse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2300" y="2133600"/>
            <a:ext cx="114300" cy="114300"/>
          </a:xfrm>
          <a:prstGeom prst="ellipse">
            <a:avLst/>
          </a:prstGeom>
          <a:solidFill>
            <a:srgbClr val="5DB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1700" y="2057400"/>
            <a:ext cx="5207000" cy="279400"/>
          </a:xfrm>
          <a:prstGeom prst="roundRect">
            <a:avLst>
              <a:gd name="adj" fmla="val 50000"/>
            </a:avLst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33B"/>
                </a:solidFill>
                <a:latin typeface="Consolas"/>
              </a:rPr>
              <a:t>🔒 aistudio.google.com/apikey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6200" y="2413000"/>
            <a:ext cx="1587500" cy="2984500"/>
          </a:xfrm>
          <a:prstGeom prst="rect">
            <a:avLst/>
          </a:prstGeom>
          <a:solidFill>
            <a:srgbClr val="26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8600" y="2603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3F4"/>
                </a:solidFill>
                <a:latin typeface="Calibri"/>
              </a:rPr>
              <a:t>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9591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Chat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314700"/>
            <a:ext cx="1397000" cy="2921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57800" y="3314700"/>
            <a:ext cx="38100" cy="2921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72100" y="33147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3F4"/>
                </a:solidFill>
                <a:latin typeface="Calibri"/>
              </a:rPr>
              <a:t>API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100" y="3670300"/>
            <a:ext cx="1270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26416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3F4"/>
                </a:solidFill>
                <a:latin typeface="Calibri"/>
              </a:rPr>
              <a:t>API keys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8200" y="2616200"/>
            <a:ext cx="1435100" cy="355600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 w="3810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Create API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300" y="3175000"/>
            <a:ext cx="127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9300" y="31750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0A6"/>
                </a:solidFill>
                <a:latin typeface="Calibri"/>
              </a:rPr>
              <a:t>Project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2300" y="3441700"/>
            <a:ext cx="4064000" cy="127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2300" y="3556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onsolas"/>
              </a:rPr>
              <a:t>…Qk7w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9300" y="3556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alibri"/>
              </a:rPr>
              <a:t>atelier-ati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74300" y="3530600"/>
            <a:ext cx="635000" cy="279400"/>
          </a:xfrm>
          <a:prstGeom prst="roundRect">
            <a:avLst>
              <a:gd name="adj" fmla="val 18181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02124"/>
                </a:solidFill>
                <a:latin typeface="Calibri"/>
              </a:rPr>
              <a:t>Copy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72300" y="4064000"/>
            <a:ext cx="4064000" cy="825500"/>
          </a:xfrm>
          <a:prstGeom prst="roundRect">
            <a:avLst>
              <a:gd name="adj" fmla="val 10769"/>
            </a:avLst>
          </a:prstGeom>
          <a:solidFill>
            <a:srgbClr val="2B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12000" y="4165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DC1C6"/>
                </a:solidFill>
                <a:latin typeface="Calibri"/>
              </a:rPr>
              <a:t>Your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2000" y="44831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F3F4"/>
                </a:solidFill>
                <a:latin typeface="Consolas"/>
              </a:rPr>
              <a:t>AIza••••••••••••••••Qk7w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6200" y="5638800"/>
            <a:ext cx="622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E7C75"/>
                </a:solidFill>
                <a:latin typeface="Calibri"/>
              </a:rPr>
              <a:t>Illustration de la page API keys (interface en anglais) ; clé masquée.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LEQUEL CHOISIR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Groq d’abord, Gemini en secours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398" cy="307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endParaRPr/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C242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6F5EF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Connexion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Google, GitHub ou e-mail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Compte Google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La clé commence par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gsk_ (affichée une seule fois)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AIza (reste dans la liste)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Offre gratuite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Environ 1 000 requêtes par jour et par modèle (sept. 2026)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Quotas par minute et par jour selon le modèle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Vitesse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Très rapide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Rapide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3241D"/>
                          </a:solidFill>
                          <a:latin typeface="Calibri"/>
                        </a:rPr>
                        <a:t>Ce qu’on envoie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Documents publiés uniquement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3241D"/>
                          </a:solidFill>
                          <a:latin typeface="Calibri"/>
                        </a:rPr>
                        <a:t>Documents publiés uniquement ; en offre gratuite, Google peut utiliser les contenus pour améliorer ses produits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7150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A52"/>
                </a:solidFill>
                <a:latin typeface="Calibri"/>
              </a:rPr>
              <a:t>Les quotas évoluent : vérifiez chaque console le jour même.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PRUDENCE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Quatre règles pour une clé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800" y="2095500"/>
            <a:ext cx="5181600" cy="63500"/>
          </a:xfrm>
          <a:prstGeom prst="rect">
            <a:avLst/>
          </a:prstGeom>
          <a:solidFill>
            <a:srgbClr val="C46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1400" y="2324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Jamais dans un chat, un e-mail ou un document partagé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2959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Quiconque voit la clé peut l’utiliser, sur votre quota.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7600" y="2095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7600" y="2095500"/>
            <a:ext cx="5181600" cy="63500"/>
          </a:xfrm>
          <a:prstGeom prst="rect">
            <a:avLst/>
          </a:prstGeom>
          <a:solidFill>
            <a:srgbClr val="00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6200" y="2324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Documents publiés uniquement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2959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Ce que vous envoyez avec la clé part chez le fournisseur. Les documents confidentiels restent hors des modèles en ligne.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4000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2800" y="4000500"/>
            <a:ext cx="5181600" cy="635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1400" y="4229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Clé divulguée ? Supprimez-la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4864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Supprimez la clé dans la console et créez-en une nouvelle. L’ancienne cesse aussitôt de fonctionner.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40005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7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7600" y="4000500"/>
            <a:ext cx="5181600" cy="63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6200" y="4229100"/>
            <a:ext cx="4724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3241D"/>
                </a:solidFill>
                <a:latin typeface="Calibri"/>
              </a:rPr>
              <a:t>Faire le ménage après l’atelier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48641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A52"/>
                </a:solidFill>
                <a:latin typeface="Calibri"/>
              </a:rPr>
              <a:t>Supprimez les clés d’atelier devenues inutiles, dans Groq et dans AI Studio.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493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704A"/>
                </a:solidFill>
                <a:latin typeface="Calibri"/>
              </a:rPr>
              <a:t>DÉPANNAGE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54100"/>
            <a:ext cx="10566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41D"/>
                </a:solidFill>
                <a:latin typeface="Calibri"/>
              </a:rPr>
              <a:t>Si quelque chose bloque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275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6F5EF"/>
                          </a:solidFill>
                          <a:latin typeface="Calibri"/>
                        </a:rPr>
                        <a:t>Ce que vous voyez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6F5EF"/>
                          </a:solidFill>
                          <a:latin typeface="Calibri"/>
                        </a:rPr>
                        <a:t>Cause probable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5C242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114300" marR="114300" marT="76200" marB="76200">
                    <a:solidFill>
                      <a:srgbClr val="0B3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Pas d’e-mail de connexion de Groq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Filtre anti-spam ou messagerie lente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Vérifiez les spams, ou connectez-vous avec Google ou GitHub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Fenêtre Groq fermée sans copier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La clé ne s’affiche qu’une fois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Supprimez cette clé et créez-en une nouvelle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AI Studio indisponible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Réglage du compte ou de l’administrateur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Utilisez un compte Google personnel, ou Groq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On vous demande un projet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Pas encore de projet Google Cloud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Choisissez « Créer un projet » dans la même fenêtre</a:t>
                      </a:r>
                    </a:p>
                  </a:txBody>
                  <a:tcPr marL="114300" marR="114300" marT="76200" marB="76200">
                    <a:solidFill>
                      <a:srgbClr val="F1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3241D"/>
                          </a:solidFill>
                          <a:latin typeface="Calibri"/>
                        </a:rPr>
                        <a:t>Clé partagée par erreur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N’importe qui peut l’utiliser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3241D"/>
                          </a:solidFill>
                          <a:latin typeface="Calibri"/>
                        </a:rPr>
                        <a:t>Supprimez-la dans la console, créez-en une nouvelle</a:t>
                      </a:r>
                    </a:p>
                  </a:txBody>
                  <a:tcPr marL="114300" marR="1143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3500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ATI · Big Data pour les statistiques macroéconomiques · BAD · DI4A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7200" y="6350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7C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526"/>
            </a:gs>
            <a:gs pos="100000">
              <a:srgbClr val="00875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55000" y="-1270000"/>
            <a:ext cx="5461000" cy="5461000"/>
          </a:xfrm>
          <a:prstGeom prst="ellipse">
            <a:avLst/>
          </a:prstGeom>
          <a:solidFill>
            <a:srgbClr val="F5C242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2800" y="11430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C242"/>
                </a:solidFill>
                <a:latin typeface="Calibri"/>
              </a:rPr>
              <a:t>PRÊTS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524000"/>
            <a:ext cx="9842500" cy="158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6F5EF"/>
                </a:solidFill>
                <a:latin typeface="Calibri"/>
              </a:rPr>
              <a:t>Vos clés sont prêtes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889500"/>
            <a:ext cx="10160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FE7DC"/>
                </a:solidFill>
                <a:latin typeface="Calibri"/>
              </a:rPr>
              <a:t>Gardez vos clés à portée de main pour l’atelier pratique.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096000"/>
            <a:ext cx="105664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CFE7DC"/>
                </a:solidFill>
                <a:latin typeface="Calibri"/>
              </a:rPr>
              <a:t>Banque </a:t>
            </a:r>
            <a:r>
              <a:rPr sz="1300" b="0" i="0" dirty="0" err="1">
                <a:solidFill>
                  <a:srgbClr val="CFE7DC"/>
                </a:solidFill>
                <a:latin typeface="Calibri"/>
              </a:rPr>
              <a:t>africaine</a:t>
            </a:r>
            <a:r>
              <a:rPr sz="1300" b="0" i="0" dirty="0">
                <a:solidFill>
                  <a:srgbClr val="CFE7DC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CFE7DC"/>
                </a:solidFill>
                <a:latin typeface="Calibri"/>
              </a:rPr>
              <a:t>développement</a:t>
            </a:r>
            <a:r>
              <a:rPr sz="1300" b="0" i="0" dirty="0">
                <a:solidFill>
                  <a:srgbClr val="CFE7DC"/>
                </a:solidFill>
                <a:latin typeface="Calibri"/>
              </a:rPr>
              <a:t> · Data Innovation for Africa (</a:t>
            </a:r>
            <a:r>
              <a:rPr sz="1300" b="0" i="0">
                <a:solidFill>
                  <a:srgbClr val="CFE7DC"/>
                </a:solidFill>
                <a:latin typeface="Calibri"/>
              </a:rPr>
              <a:t>DI4A)</a:t>
            </a:r>
            <a:endParaRPr sz="1300" b="0" i="0" dirty="0">
              <a:solidFill>
                <a:srgbClr val="CFE7D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1491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HADJ TAIEB, MOHAMED ALI</cp:lastModifiedBy>
  <cp:revision>3</cp:revision>
  <dcterms:created xsi:type="dcterms:W3CDTF">2013-01-27T09:14:16Z</dcterms:created>
  <dcterms:modified xsi:type="dcterms:W3CDTF">2026-10-17T07:48:59Z</dcterms:modified>
  <cp:category/>
</cp:coreProperties>
</file>