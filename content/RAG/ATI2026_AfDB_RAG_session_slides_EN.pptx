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notesSlides/notesSlide25.xml" ContentType="application/vnd.openxmlformats-officedocument.presentationml.notesSlide+xml"/>
  <Override PartName="/ppt/charts/chart2.xml" ContentType="application/vnd.openxmlformats-officedocument.drawingml.chart+xml"/>
  <Override PartName="/ppt/notesSlides/notesSlide26.xml" ContentType="application/vnd.openxmlformats-officedocument.presentationml.notesSlide+xml"/>
  <Override PartName="/ppt/charts/chart3.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4.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91" r:id="rId3"/>
    <p:sldId id="292" r:id="rId4"/>
    <p:sldId id="259" r:id="rId5"/>
    <p:sldId id="260" r:id="rId6"/>
    <p:sldId id="263" r:id="rId7"/>
    <p:sldId id="264" r:id="rId8"/>
    <p:sldId id="268" r:id="rId9"/>
    <p:sldId id="269" r:id="rId10"/>
    <p:sldId id="293" r:id="rId11"/>
    <p:sldId id="294" r:id="rId12"/>
    <p:sldId id="287" r:id="rId13"/>
    <p:sldId id="295" r:id="rId14"/>
    <p:sldId id="288" r:id="rId15"/>
    <p:sldId id="296" r:id="rId16"/>
    <p:sldId id="257" r:id="rId17"/>
    <p:sldId id="258" r:id="rId18"/>
    <p:sldId id="261" r:id="rId19"/>
    <p:sldId id="262" r:id="rId20"/>
    <p:sldId id="265" r:id="rId21"/>
    <p:sldId id="266" r:id="rId22"/>
    <p:sldId id="267"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9" r:id="rId41"/>
    <p:sldId id="290" r:id="rId4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Natural Questions — Exact Match (%)</a:t>
            </a:r>
          </a:p>
        </c:rich>
      </c:tx>
      <c:overlay val="0"/>
    </c:title>
    <c:autoTitleDeleted val="0"/>
    <c:plotArea>
      <c:layout/>
      <c:barChart>
        <c:barDir val="bar"/>
        <c:grouping val="clustered"/>
        <c:varyColors val="0"/>
        <c:ser>
          <c:idx val="0"/>
          <c:order val="0"/>
          <c:tx>
            <c:strRef>
              <c:f>Sheet1!$B$1</c:f>
              <c:strCache>
                <c:ptCount val="1"/>
                <c:pt idx="0">
                  <c:v>Exact Match</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2C26-4B35-BD34-E4FB360C83A4}"/>
              </c:ext>
            </c:extLst>
          </c:dPt>
          <c:dPt>
            <c:idx val="1"/>
            <c:invertIfNegative val="0"/>
            <c:bubble3D val="0"/>
            <c:extLst>
              <c:ext xmlns:c16="http://schemas.microsoft.com/office/drawing/2014/chart" uri="{C3380CC4-5D6E-409C-BE32-E72D297353CC}">
                <c16:uniqueId val="{00000003-2C26-4B35-BD34-E4FB360C83A4}"/>
              </c:ext>
            </c:extLst>
          </c:dPt>
          <c:dPt>
            <c:idx val="2"/>
            <c:invertIfNegative val="0"/>
            <c:bubble3D val="0"/>
            <c:spPr>
              <a:solidFill>
                <a:srgbClr val="7BCBA9"/>
              </a:solidFill>
              <a:effectLst/>
            </c:spPr>
            <c:extLst>
              <c:ext xmlns:c16="http://schemas.microsoft.com/office/drawing/2014/chart" uri="{C3380CC4-5D6E-409C-BE32-E72D297353CC}">
                <c16:uniqueId val="{00000005-2C26-4B35-BD34-E4FB360C83A4}"/>
              </c:ext>
            </c:extLst>
          </c:dPt>
          <c:dPt>
            <c:idx val="3"/>
            <c:invertIfNegative val="0"/>
            <c:bubble3D val="0"/>
            <c:spPr>
              <a:solidFill>
                <a:srgbClr val="57BD92"/>
              </a:solidFill>
              <a:effectLst/>
            </c:spPr>
            <c:extLst>
              <c:ext xmlns:c16="http://schemas.microsoft.com/office/drawing/2014/chart" uri="{C3380CC4-5D6E-409C-BE32-E72D297353CC}">
                <c16:uniqueId val="{00000007-2C26-4B35-BD34-E4FB360C83A4}"/>
              </c:ext>
            </c:extLst>
          </c:dPt>
          <c:dPt>
            <c:idx val="4"/>
            <c:invertIfNegative val="0"/>
            <c:bubble3D val="0"/>
            <c:spPr>
              <a:solidFill>
                <a:srgbClr val="008A5B"/>
              </a:solidFill>
              <a:effectLst/>
            </c:spPr>
            <c:extLst>
              <c:ext xmlns:c16="http://schemas.microsoft.com/office/drawing/2014/chart" uri="{C3380CC4-5D6E-409C-BE32-E72D297353CC}">
                <c16:uniqueId val="{00000009-2C26-4B35-BD34-E4FB360C83A4}"/>
              </c:ext>
            </c:extLst>
          </c:dPt>
          <c:dPt>
            <c:idx val="5"/>
            <c:invertIfNegative val="0"/>
            <c:bubble3D val="0"/>
            <c:spPr>
              <a:solidFill>
                <a:srgbClr val="00664A"/>
              </a:solidFill>
              <a:effectLst/>
            </c:spPr>
            <c:extLst>
              <c:ext xmlns:c16="http://schemas.microsoft.com/office/drawing/2014/chart" uri="{C3380CC4-5D6E-409C-BE32-E72D297353CC}">
                <c16:uniqueId val="{0000000B-2C26-4B35-BD34-E4FB360C83A4}"/>
              </c:ext>
            </c:extLst>
          </c:dPt>
          <c:dLbls>
            <c:numFmt formatCode="0.0" sourceLinked="0"/>
            <c:spPr>
              <a:noFill/>
              <a:ln>
                <a:noFill/>
              </a:ln>
              <a:effectLst/>
            </c:spPr>
            <c:txPr>
              <a:bodyPr/>
              <a:lstStyle/>
              <a:p>
                <a:pPr>
                  <a:defRPr sz="1100" b="1"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T5-11B (closed-book)</c:v>
                </c:pt>
                <c:pt idx="1">
                  <c:v>T5-11B + SSM</c:v>
                </c:pt>
                <c:pt idx="2">
                  <c:v>REALM</c:v>
                </c:pt>
                <c:pt idx="3">
                  <c:v>DPR</c:v>
                </c:pt>
                <c:pt idx="4">
                  <c:v>RAG-Token</c:v>
                </c:pt>
                <c:pt idx="5">
                  <c:v>RAG-Sequence</c:v>
                </c:pt>
              </c:strCache>
            </c:strRef>
          </c:cat>
          <c:val>
            <c:numRef>
              <c:f>Sheet1!$B$2:$B$7</c:f>
              <c:numCache>
                <c:formatCode>General</c:formatCode>
                <c:ptCount val="6"/>
                <c:pt idx="0">
                  <c:v>34.5</c:v>
                </c:pt>
                <c:pt idx="1">
                  <c:v>36.6</c:v>
                </c:pt>
                <c:pt idx="2">
                  <c:v>40.4</c:v>
                </c:pt>
                <c:pt idx="3">
                  <c:v>41.5</c:v>
                </c:pt>
                <c:pt idx="4">
                  <c:v>44.1</c:v>
                </c:pt>
                <c:pt idx="5">
                  <c:v>44.5</c:v>
                </c:pt>
              </c:numCache>
            </c:numRef>
          </c:val>
          <c:extLst>
            <c:ext xmlns:c16="http://schemas.microsoft.com/office/drawing/2014/chart" uri="{C3380CC4-5D6E-409C-BE32-E72D297353CC}">
              <c16:uniqueId val="{0000000C-2C26-4B35-BD34-E4FB360C83A4}"/>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5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GPT-3.5-Turbo accuracy (%) by position of the answer</a:t>
            </a:r>
          </a:p>
        </c:rich>
      </c:tx>
      <c:overlay val="0"/>
    </c:title>
    <c:autoTitleDeleted val="0"/>
    <c:plotArea>
      <c:layout/>
      <c:lineChart>
        <c:grouping val="standard"/>
        <c:varyColors val="0"/>
        <c:ser>
          <c:idx val="0"/>
          <c:order val="0"/>
          <c:tx>
            <c:strRef>
              <c:f>Sheet1!$B$1</c:f>
              <c:strCache>
                <c:ptCount val="1"/>
                <c:pt idx="0">
                  <c:v>Accuracy with 20 retrieved documents</c:v>
                </c:pt>
              </c:strCache>
            </c:strRef>
          </c:tx>
          <c:spPr>
            <a:ln w="38100" cap="flat">
              <a:solidFill>
                <a:srgbClr val="00A86A"/>
              </a:solidFill>
              <a:prstDash val="solid"/>
              <a:round/>
            </a:ln>
            <a:effectLst/>
          </c:spPr>
          <c:marker>
            <c:symbol val="circle"/>
            <c:size val="10"/>
            <c:spPr>
              <a:solidFill>
                <a:srgbClr val="00A86A"/>
              </a:solidFill>
              <a:ln w="9525" cap="flat">
                <a:solidFill>
                  <a:srgbClr val="00A86A"/>
                </a:solidFill>
                <a:prstDash val="solid"/>
                <a:round/>
              </a:ln>
              <a:effectLst/>
            </c:spPr>
          </c:marker>
          <c:cat>
            <c:strRef>
              <c:f>Sheet1!$A$2:$A$6</c:f>
              <c:strCache>
                <c:ptCount val="5"/>
                <c:pt idx="0">
                  <c:v>1st</c:v>
                </c:pt>
                <c:pt idx="1">
                  <c:v>5th</c:v>
                </c:pt>
                <c:pt idx="2">
                  <c:v>10th</c:v>
                </c:pt>
                <c:pt idx="3">
                  <c:v>15th</c:v>
                </c:pt>
                <c:pt idx="4">
                  <c:v>20th</c:v>
                </c:pt>
              </c:strCache>
            </c:strRef>
          </c:cat>
          <c:val>
            <c:numRef>
              <c:f>Sheet1!$B$2:$B$6</c:f>
              <c:numCache>
                <c:formatCode>General</c:formatCode>
                <c:ptCount val="5"/>
                <c:pt idx="0">
                  <c:v>75.8</c:v>
                </c:pt>
                <c:pt idx="1">
                  <c:v>57.2</c:v>
                </c:pt>
                <c:pt idx="2">
                  <c:v>53.8</c:v>
                </c:pt>
                <c:pt idx="3">
                  <c:v>55.4</c:v>
                </c:pt>
                <c:pt idx="4">
                  <c:v>63.2</c:v>
                </c:pt>
              </c:numCache>
            </c:numRef>
          </c:val>
          <c:smooth val="0"/>
          <c:extLst>
            <c:ext xmlns:c16="http://schemas.microsoft.com/office/drawing/2014/chart" uri="{C3380CC4-5D6E-409C-BE32-E72D297353CC}">
              <c16:uniqueId val="{00000000-64C4-484E-AC60-FCC462A3BD05}"/>
            </c:ext>
          </c:extLst>
        </c:ser>
        <c:dLbls>
          <c:showLegendKey val="0"/>
          <c:showVal val="0"/>
          <c:showCatName val="0"/>
          <c:showSerName val="0"/>
          <c:showPercent val="0"/>
          <c:showBubbleSize val="0"/>
        </c:dLbls>
        <c:marker val="1"/>
        <c:smooth val="0"/>
        <c:axId val="2094734554"/>
        <c:axId val="2094734552"/>
      </c:lineChart>
      <c:lineChart>
        <c:grouping val="standard"/>
        <c:varyColors val="0"/>
        <c:ser>
          <c:idx val="1"/>
          <c:order val="1"/>
          <c:tx>
            <c:strRef>
              <c:f>Sheet1!$C$1</c:f>
              <c:strCache>
                <c:ptCount val="1"/>
                <c:pt idx="0">
                  <c:v>Closed-book baseline, no documents (56.1%)</c:v>
                </c:pt>
              </c:strCache>
            </c:strRef>
          </c:tx>
          <c:spPr>
            <a:ln w="25400" cap="flat">
              <a:solidFill>
                <a:srgbClr val="A9B5B0"/>
              </a:solidFill>
              <a:prstDash val="solid"/>
              <a:round/>
            </a:ln>
            <a:effectLst/>
          </c:spPr>
          <c:marker>
            <c:symbol val="none"/>
          </c:marker>
          <c:cat>
            <c:strRef>
              <c:f>Sheet1!$A$2:$A$6</c:f>
              <c:strCache>
                <c:ptCount val="5"/>
                <c:pt idx="0">
                  <c:v>1st</c:v>
                </c:pt>
                <c:pt idx="1">
                  <c:v>5th</c:v>
                </c:pt>
                <c:pt idx="2">
                  <c:v>10th</c:v>
                </c:pt>
                <c:pt idx="3">
                  <c:v>15th</c:v>
                </c:pt>
                <c:pt idx="4">
                  <c:v>20th</c:v>
                </c:pt>
              </c:strCache>
            </c:strRef>
          </c:cat>
          <c:val>
            <c:numRef>
              <c:f>Sheet1!$C$2:$C$6</c:f>
              <c:numCache>
                <c:formatCode>General</c:formatCode>
                <c:ptCount val="5"/>
                <c:pt idx="0">
                  <c:v>56.1</c:v>
                </c:pt>
                <c:pt idx="1">
                  <c:v>56.1</c:v>
                </c:pt>
                <c:pt idx="2">
                  <c:v>56.1</c:v>
                </c:pt>
                <c:pt idx="3">
                  <c:v>56.1</c:v>
                </c:pt>
                <c:pt idx="4">
                  <c:v>56.1</c:v>
                </c:pt>
              </c:numCache>
            </c:numRef>
          </c:val>
          <c:smooth val="0"/>
          <c:extLst>
            <c:ext xmlns:c16="http://schemas.microsoft.com/office/drawing/2014/chart" uri="{C3380CC4-5D6E-409C-BE32-E72D297353CC}">
              <c16:uniqueId val="{00000001-64C4-484E-AC60-FCC462A3BD0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5E6964"/>
                    </a:solidFill>
                    <a:latin typeface="Arial"/>
                  </a:defRPr>
                </a:pPr>
                <a:r>
                  <a:rPr sz="1000" b="0" i="0" u="none" strike="noStrike">
                    <a:solidFill>
                      <a:srgbClr val="5E6964"/>
                    </a:solidFill>
                    <a:latin typeface="Arial"/>
                  </a:rPr>
                  <a:t>Position of the document containing the answer</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80"/>
          <c:min val="45"/>
        </c:scaling>
        <c:delete val="0"/>
        <c:axPos val="l"/>
        <c:majorGridlines>
          <c:spPr>
            <a:ln w="6350" cap="flat">
              <a:solidFill>
                <a:srgbClr val="E1E7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4"/>
        <c:crosses val="autoZero"/>
        <c:crossBetween val="between"/>
        <c:majorUnit val="5"/>
      </c:valAx>
      <c:spPr>
        <a:noFill/>
        <a:ln>
          <a:noFill/>
        </a:ln>
        <a:effectLst/>
      </c:spPr>
    </c:plotArea>
    <c:legend>
      <c:legendPos val="b"/>
      <c:overlay val="0"/>
      <c:txPr>
        <a:bodyPr/>
        <a:lstStyle/>
        <a:p>
          <a:pPr>
            <a:defRPr sz="1000">
              <a:solidFill>
                <a:srgbClr val="231F2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Top-20 retrieval failure rate (%) — lower is better</a:t>
            </a:r>
          </a:p>
        </c:rich>
      </c:tx>
      <c:overlay val="0"/>
    </c:title>
    <c:autoTitleDeleted val="0"/>
    <c:plotArea>
      <c:layout/>
      <c:barChart>
        <c:barDir val="col"/>
        <c:grouping val="clustered"/>
        <c:varyColors val="0"/>
        <c:ser>
          <c:idx val="0"/>
          <c:order val="0"/>
          <c:tx>
            <c:strRef>
              <c:f>Sheet1!$B$1</c:f>
              <c:strCache>
                <c:ptCount val="1"/>
                <c:pt idx="0">
                  <c:v>Failure rate</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314B-411A-BF69-52C6BA39F452}"/>
              </c:ext>
            </c:extLst>
          </c:dPt>
          <c:dPt>
            <c:idx val="1"/>
            <c:invertIfNegative val="0"/>
            <c:bubble3D val="0"/>
            <c:spPr>
              <a:solidFill>
                <a:srgbClr val="57BD92"/>
              </a:solidFill>
              <a:effectLst/>
            </c:spPr>
            <c:extLst>
              <c:ext xmlns:c16="http://schemas.microsoft.com/office/drawing/2014/chart" uri="{C3380CC4-5D6E-409C-BE32-E72D297353CC}">
                <c16:uniqueId val="{00000003-314B-411A-BF69-52C6BA39F452}"/>
              </c:ext>
            </c:extLst>
          </c:dPt>
          <c:dPt>
            <c:idx val="2"/>
            <c:invertIfNegative val="0"/>
            <c:bubble3D val="0"/>
            <c:spPr>
              <a:solidFill>
                <a:srgbClr val="10A06A"/>
              </a:solidFill>
              <a:effectLst/>
            </c:spPr>
            <c:extLst>
              <c:ext xmlns:c16="http://schemas.microsoft.com/office/drawing/2014/chart" uri="{C3380CC4-5D6E-409C-BE32-E72D297353CC}">
                <c16:uniqueId val="{00000005-314B-411A-BF69-52C6BA39F452}"/>
              </c:ext>
            </c:extLst>
          </c:dPt>
          <c:dPt>
            <c:idx val="3"/>
            <c:invertIfNegative val="0"/>
            <c:bubble3D val="0"/>
            <c:spPr>
              <a:solidFill>
                <a:srgbClr val="00664A"/>
              </a:solidFill>
              <a:effectLst/>
            </c:spPr>
            <c:extLst>
              <c:ext xmlns:c16="http://schemas.microsoft.com/office/drawing/2014/chart" uri="{C3380CC4-5D6E-409C-BE32-E72D297353CC}">
                <c16:uniqueId val="{00000007-314B-411A-BF69-52C6BA39F452}"/>
              </c:ext>
            </c:extLst>
          </c:dPt>
          <c:dLbls>
            <c:numFmt formatCode="0.0&quot;%&quot;" sourceLinked="0"/>
            <c:spPr>
              <a:noFill/>
              <a:ln>
                <a:noFill/>
              </a:ln>
              <a:effectLst/>
            </c:spPr>
            <c:txPr>
              <a:bodyPr/>
              <a:lstStyle/>
              <a:p>
                <a:pPr>
                  <a:defRPr sz="1300" b="1"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Standard embeddings</c:v>
                </c:pt>
                <c:pt idx="1">
                  <c:v>Contextual embeddings</c:v>
                </c:pt>
                <c:pt idx="2">
                  <c:v>+ Contextual BM25</c:v>
                </c:pt>
                <c:pt idx="3">
                  <c:v>+ Reranking</c:v>
                </c:pt>
              </c:strCache>
            </c:strRef>
          </c:cat>
          <c:val>
            <c:numRef>
              <c:f>Sheet1!$B$2:$B$5</c:f>
              <c:numCache>
                <c:formatCode>General</c:formatCode>
                <c:ptCount val="4"/>
                <c:pt idx="0">
                  <c:v>5.7</c:v>
                </c:pt>
                <c:pt idx="1">
                  <c:v>3.7</c:v>
                </c:pt>
                <c:pt idx="2">
                  <c:v>2.9</c:v>
                </c:pt>
                <c:pt idx="3">
                  <c:v>1.9</c:v>
                </c:pt>
              </c:numCache>
            </c:numRef>
          </c:val>
          <c:extLst>
            <c:ext xmlns:c16="http://schemas.microsoft.com/office/drawing/2014/chart" uri="{C3380CC4-5D6E-409C-BE32-E72D297353CC}">
              <c16:uniqueId val="{00000008-314B-411A-BF69-52C6BA39F45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7"/>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Maximum context window (tokens, log scale)</a:t>
            </a:r>
          </a:p>
        </c:rich>
      </c:tx>
      <c:overlay val="0"/>
    </c:title>
    <c:autoTitleDeleted val="0"/>
    <c:plotArea>
      <c:layout/>
      <c:barChart>
        <c:barDir val="bar"/>
        <c:grouping val="clustered"/>
        <c:varyColors val="0"/>
        <c:ser>
          <c:idx val="0"/>
          <c:order val="0"/>
          <c:tx>
            <c:strRef>
              <c:f>Sheet1!$B$1</c:f>
              <c:strCache>
                <c:ptCount val="1"/>
                <c:pt idx="0">
                  <c:v>Context window</c:v>
                </c:pt>
              </c:strCache>
            </c:strRef>
          </c:tx>
          <c:spPr>
            <a:solidFill>
              <a:srgbClr val="9ED9C0"/>
            </a:solidFill>
            <a:effectLst/>
          </c:spPr>
          <c:invertIfNegative val="0"/>
          <c:dPt>
            <c:idx val="0"/>
            <c:invertIfNegative val="0"/>
            <c:bubble3D val="0"/>
            <c:extLst>
              <c:ext xmlns:c16="http://schemas.microsoft.com/office/drawing/2014/chart" uri="{C3380CC4-5D6E-409C-BE32-E72D297353CC}">
                <c16:uniqueId val="{00000001-B897-48B9-A4A4-B8B0B3F9FFFF}"/>
              </c:ext>
            </c:extLst>
          </c:dPt>
          <c:dPt>
            <c:idx val="1"/>
            <c:invertIfNegative val="0"/>
            <c:bubble3D val="0"/>
            <c:spPr>
              <a:solidFill>
                <a:srgbClr val="7BCBA9"/>
              </a:solidFill>
              <a:effectLst/>
            </c:spPr>
            <c:extLst>
              <c:ext xmlns:c16="http://schemas.microsoft.com/office/drawing/2014/chart" uri="{C3380CC4-5D6E-409C-BE32-E72D297353CC}">
                <c16:uniqueId val="{00000003-B897-48B9-A4A4-B8B0B3F9FFFF}"/>
              </c:ext>
            </c:extLst>
          </c:dPt>
          <c:dPt>
            <c:idx val="2"/>
            <c:invertIfNegative val="0"/>
            <c:bubble3D val="0"/>
            <c:spPr>
              <a:solidFill>
                <a:srgbClr val="57BD92"/>
              </a:solidFill>
              <a:effectLst/>
            </c:spPr>
            <c:extLst>
              <c:ext xmlns:c16="http://schemas.microsoft.com/office/drawing/2014/chart" uri="{C3380CC4-5D6E-409C-BE32-E72D297353CC}">
                <c16:uniqueId val="{00000005-B897-48B9-A4A4-B8B0B3F9FFFF}"/>
              </c:ext>
            </c:extLst>
          </c:dPt>
          <c:dPt>
            <c:idx val="3"/>
            <c:invertIfNegative val="0"/>
            <c:bubble3D val="0"/>
            <c:spPr>
              <a:solidFill>
                <a:srgbClr val="33AF7C"/>
              </a:solidFill>
              <a:effectLst/>
            </c:spPr>
            <c:extLst>
              <c:ext xmlns:c16="http://schemas.microsoft.com/office/drawing/2014/chart" uri="{C3380CC4-5D6E-409C-BE32-E72D297353CC}">
                <c16:uniqueId val="{00000007-B897-48B9-A4A4-B8B0B3F9FFFF}"/>
              </c:ext>
            </c:extLst>
          </c:dPt>
          <c:dPt>
            <c:idx val="4"/>
            <c:invertIfNegative val="0"/>
            <c:bubble3D val="0"/>
            <c:spPr>
              <a:solidFill>
                <a:srgbClr val="10A06A"/>
              </a:solidFill>
              <a:effectLst/>
            </c:spPr>
            <c:extLst>
              <c:ext xmlns:c16="http://schemas.microsoft.com/office/drawing/2014/chart" uri="{C3380CC4-5D6E-409C-BE32-E72D297353CC}">
                <c16:uniqueId val="{00000009-B897-48B9-A4A4-B8B0B3F9FFFF}"/>
              </c:ext>
            </c:extLst>
          </c:dPt>
          <c:dPt>
            <c:idx val="5"/>
            <c:invertIfNegative val="0"/>
            <c:bubble3D val="0"/>
            <c:spPr>
              <a:solidFill>
                <a:srgbClr val="008A5B"/>
              </a:solidFill>
              <a:effectLst/>
            </c:spPr>
            <c:extLst>
              <c:ext xmlns:c16="http://schemas.microsoft.com/office/drawing/2014/chart" uri="{C3380CC4-5D6E-409C-BE32-E72D297353CC}">
                <c16:uniqueId val="{0000000B-B897-48B9-A4A4-B8B0B3F9FFFF}"/>
              </c:ext>
            </c:extLst>
          </c:dPt>
          <c:dPt>
            <c:idx val="6"/>
            <c:invertIfNegative val="0"/>
            <c:bubble3D val="0"/>
            <c:spPr>
              <a:solidFill>
                <a:srgbClr val="00664A"/>
              </a:solidFill>
              <a:effectLst/>
            </c:spPr>
            <c:extLst>
              <c:ext xmlns:c16="http://schemas.microsoft.com/office/drawing/2014/chart" uri="{C3380CC4-5D6E-409C-BE32-E72D297353CC}">
                <c16:uniqueId val="{0000000D-B897-48B9-A4A4-B8B0B3F9FFFF}"/>
              </c:ext>
            </c:extLst>
          </c:dPt>
          <c:dLbls>
            <c:numFmt formatCode="#,##0" sourceLinked="0"/>
            <c:spPr>
              <a:noFill/>
              <a:ln>
                <a:noFill/>
              </a:ln>
              <a:effectLst/>
            </c:spPr>
            <c:txPr>
              <a:bodyPr/>
              <a:lstStyle/>
              <a:p>
                <a:pPr>
                  <a:defRPr sz="1050" b="1"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BERT (2018)</c:v>
                </c:pt>
                <c:pt idx="1">
                  <c:v>GPT-3 (2020)</c:v>
                </c:pt>
                <c:pt idx="2">
                  <c:v>GPT-4 32K (Mar 2023)</c:v>
                </c:pt>
                <c:pt idx="3">
                  <c:v>Claude (May 2023)</c:v>
                </c:pt>
                <c:pt idx="4">
                  <c:v>Claude 2.1 (Nov 2023)</c:v>
                </c:pt>
                <c:pt idx="5">
                  <c:v>Gemini 1.5 Pro (Feb 2024)</c:v>
                </c:pt>
                <c:pt idx="6">
                  <c:v>Gemini 1.5 Pro (Jun 2024)</c:v>
                </c:pt>
              </c:strCache>
            </c:strRef>
          </c:cat>
          <c:val>
            <c:numRef>
              <c:f>Sheet1!$B$2:$B$8</c:f>
              <c:numCache>
                <c:formatCode>General</c:formatCode>
                <c:ptCount val="7"/>
                <c:pt idx="0">
                  <c:v>512</c:v>
                </c:pt>
                <c:pt idx="1">
                  <c:v>2048</c:v>
                </c:pt>
                <c:pt idx="2">
                  <c:v>32768</c:v>
                </c:pt>
                <c:pt idx="3">
                  <c:v>100000</c:v>
                </c:pt>
                <c:pt idx="4">
                  <c:v>200000</c:v>
                </c:pt>
                <c:pt idx="5">
                  <c:v>1000000</c:v>
                </c:pt>
                <c:pt idx="6">
                  <c:v>2000000</c:v>
                </c:pt>
              </c:numCache>
            </c:numRef>
          </c:val>
          <c:extLst>
            <c:ext xmlns:c16="http://schemas.microsoft.com/office/drawing/2014/chart" uri="{C3380CC4-5D6E-409C-BE32-E72D297353CC}">
              <c16:uniqueId val="{0000000E-B897-48B9-A4A4-B8B0B3F9FFFF}"/>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logBase val="10"/>
          <c:orientation val="minMax"/>
          <c:max val="10000000"/>
          <c:min val="1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9671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Thursday 29 October, 11:00–11:30. Thirty minutes: about seven minutes of concepts, about twenty minutes in the notebook, two minutes of debrief. The slides after the 'Appendix' divider are the full RAG briefing for self-study and for the Project Canvas afternoon.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Link back to the morning: the IMF sessions classified transactions into BoP categories with machine learning. Here, the same kind of text — publications, manuals, statements — is questioned instead. The Project Canvas afternoon is where teams can turn the notebook into a prototype.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objectives are those of the programme. Concepts until about 11:07 (the next six slides), then everyone is in the notebook. Last two minutes: one finding per table, and the link to the Project Canvas.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structural limitations of standalone LLMs motivate RAG: frozen knowledge, hallucinations, no access to private data, and no citations.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closed-book versus open-book exam. The term RAG was coined by Lewis et al. (2020), who paired a DPR retriever with a BART generator.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Offline, documents are split, embedded and stored. Online, the question is embedded with the same model, the most similar chunks are retrieved and inserted into the prompt, and the LLM answers from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same question the notebook asks in part A. The census passage shares words with the question but not the indicator, so the reranker drops it; every sentence of the answer is tied to a numbered source and a page.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BM25 and dense retrieval fail on different queries, so hybrid search is a strong default. In RRF, k is a smoothing constant (60 in the original paper by Cormack et al., 2009). Cross-encoder rerankers are slower, so they only score the shortlist.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shortened version of the strict prompt in the notebook (toolbox cell T6). The fixed refusal sentence matters for official statistics: the assistant either cites a source or declines — exercise 4 tests exactly that.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participants to start 'Run all' immediately: installation takes a few minutes. Groq is fastest for a 30-minute slot; Ollama needs a T4 GPU and a 2 GB download, better for the afternoon. Recall Monday's discussion on AI, ethics and privacy.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exercise sits in a gold box in the notebook, just before the section it uses. If time is short, do 1, 2 and 4; exercise 3 can be shown as a demo and run fully in the afternoon.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points are from 'Seven Failure Points When Engineering a Retrieval Augmented Generation System' (Barnett et al., 2024). Most issues are retrieval issues, so invest there first.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project ideas that reuse the notebook as it is. Whatever the idea, the Canvas should record the users, the documents and their confidentiality, a test set with questions to decline, and who would maintain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insisting on evaluation: RAG is an engineering discipline, not a single technique. Start with a simple pipeline, measure it on your own questions, and improve retrieval first.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Not presented in the 30-minute slot. Use for self-study, for questions, and during the Project Canvas afternoon.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is organised in six colour-coded sections. The colour of each section is reused on its divider slide and in the progress dots at the top right of every slide. It closes with key takeaways and the list of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explains the limits of language models on their own, defines RAG and shows where it creates value.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is most valuable when knowledge is voluminous, changes frequently or is confidential, and when answers must be auditable.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walks through the pipeline: indexing, chunking, embeddings, retrieval and generation.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Indexing quality sets the ceiling for everything downstream. Metadata enables filtering by date, product or permissions at query time.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universal chunk size: test several on your own evaluation set. Structure-aware splitting is usually best for technical documentation.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embeddings have hundreds to thousands of dimensions (for example 768, 1536 or 3072). The picture is a 2-D projection for intuition only. HNSW, IVF and PQ are implemented in libraries such as FAISS and in vector databases.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presents three published results: the original RAG paper, the Lost in the Middle study and Anthropic's Contextual Retrieval.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original paper, RAG set a new state of the art on open-domain QA. A 626M-parameter retrieval-augmented model beat an 11B-parameter closed-book model: external memory is more efficient than storing everything in weights.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Liu et al. place the single answer-bearing document at different positions among 20 retrieved documents. Accuracy follows a U-shape. Going beyond 20 retrieved documents improved GPT-3.5-Turbo by only about 1.5%.</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 reports that contextual embeddings plus contextual BM25 cut top-20 retrieval failures by 49%, and by 67% with reranking. For knowledge bases under about 200K tokens, putting the whole corpus in the prompt with prompt caching can be simpler than RAG.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traces the progression of the RAG concept: seven generations, five dimensions of progress, the naive-advanced-modular paradigms, the move to reasoning loops and the impact of long context windows.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2020, retrieval and reading were separate systems. In 2020, retriever and generator were trained jointly. RETRO and Atlas scaled retrieval inside language models. From 2023, RAG became a way to feed any frozen LLM through its prompt. Systems then became adaptive and self-correcting, retrieved richer structures, and finally agentic, with models trained by reinforcement learning to decide when and what to search.</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row from left to right: the concept progressed on five independent axes. A real system can be advanced on one axis and basic on another.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three-stage taxonomy, from the Gao et al. survey, is the standard way to describe the maturity of a RAG system.</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conceptual shift: retrieval is no longer a single step before generation, but an action the model takes repeatedly while reasoning, until it judges the evidence sufficient.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windows grew by more than three orders of magnitude. Retrieval did not disappear: a bigger window is not the same as better use of it, and Li et al. (EMNLP 2024) show RAG remains much cheaper. Figures are the maximum context lengths announced by each provider.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reviews established advanced techniques and positions RAG against fine-tuning and long-context prompting.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query and indexing techniques. Teal: research methods that add self-reflection, correction or structure. Ochre: agentic retrieval, the current direction of the field.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Fine-tuning changes how the model behaves; RAG changes what it knows at answer time. Long-context prompting becomes expensive for large inputs, although prompt caching reduces the cost. Many production systems combine these approaches.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covers evaluation, security, the tooling ecosystem and the most common failure points.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evaluate the retriever and the generator separately: a wrong answer can come from missing context or from an unfaithful generation. Build a golden set of questions with expected sources early.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widens the attack surface: every document you ingest becomes input to the model. Access control must be enforced at retrieval, not only in the source system.</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Non-exhaustive, representative tools. FAISS is a library from Meta rather than a database; pgvector adds vector search to PostgreSQL.</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list of the publications and reports cited in this deck, in chronological order.</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list of the publications and reports cited in this deck, in chronological order.</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12"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22.png"/><Relationship Id="rId5" Type="http://schemas.openxmlformats.org/officeDocument/2006/relationships/image" Target="../media/image17.png"/><Relationship Id="rId10"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63.png"/></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8.png"/><Relationship Id="rId7"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70.png"/><Relationship Id="rId10" Type="http://schemas.openxmlformats.org/officeDocument/2006/relationships/image" Target="../media/image74.png"/><Relationship Id="rId4" Type="http://schemas.openxmlformats.org/officeDocument/2006/relationships/image" Target="../media/image69.png"/><Relationship Id="rId9" Type="http://schemas.openxmlformats.org/officeDocument/2006/relationships/image" Target="../media/image73.png"/></Relationships>
</file>

<file path=ppt/slides/_rels/slide3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10" Type="http://schemas.openxmlformats.org/officeDocument/2006/relationships/image" Target="../media/image81.png"/><Relationship Id="rId4" Type="http://schemas.openxmlformats.org/officeDocument/2006/relationships/image" Target="../media/image76.png"/><Relationship Id="rId9" Type="http://schemas.openxmlformats.org/officeDocument/2006/relationships/image" Target="../media/image80.png"/></Relationships>
</file>

<file path=ppt/slides/_rels/slide3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82.png"/></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81.png"/><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83.png"/><Relationship Id="rId7" Type="http://schemas.openxmlformats.org/officeDocument/2006/relationships/image" Target="../media/image8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89.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17.png"/><Relationship Id="rId4" Type="http://schemas.openxmlformats.org/officeDocument/2006/relationships/image" Target="../media/image87.png"/></Relationships>
</file>

<file path=ppt/slides/_rels/slide4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960120"/>
            <a:ext cx="8046720" cy="274320"/>
          </a:xfrm>
          <a:prstGeom prst="rect">
            <a:avLst/>
          </a:prstGeom>
          <a:noFill/>
          <a:ln/>
        </p:spPr>
        <p:txBody>
          <a:bodyPr wrap="square" lIns="0" tIns="0" rIns="0" bIns="0" rtlCol="0" anchor="ctr"/>
          <a:lstStyle/>
          <a:p>
            <a:pPr marL="0" indent="0">
              <a:buNone/>
            </a:pPr>
            <a:r>
              <a:rPr lang="en-US" sz="1200" b="1" kern="0" spc="300" dirty="0">
                <a:solidFill>
                  <a:srgbClr val="F5C242"/>
                </a:solidFill>
                <a:latin typeface="Calibri" pitchFamily="34" charset="0"/>
                <a:ea typeface="Calibri" pitchFamily="34" charset="-122"/>
                <a:cs typeface="Calibri" pitchFamily="34" charset="-120"/>
              </a:rPr>
              <a:t>ATI · BIG DATA FOR MACROECONOMIC STATISTICS  ·  HANDS-ON SESSION</a:t>
            </a:r>
            <a:endParaRPr lang="en-US" sz="1200" dirty="0"/>
          </a:p>
        </p:txBody>
      </p:sp>
      <p:sp>
        <p:nvSpPr>
          <p:cNvPr id="3" name="Text 1"/>
          <p:cNvSpPr txBox="1"/>
          <p:nvPr/>
        </p:nvSpPr>
        <p:spPr>
          <a:xfrm>
            <a:off x="548640" y="1325880"/>
            <a:ext cx="5852160" cy="1371600"/>
          </a:xfrm>
          <a:prstGeom prst="rect">
            <a:avLst/>
          </a:prstGeom>
          <a:noFill/>
          <a:ln/>
        </p:spPr>
        <p:txBody>
          <a:bodyPr wrap="square" lIns="0" tIns="0" rIns="0" bIns="0" rtlCol="0" anchor="t"/>
          <a:lstStyle/>
          <a:p>
            <a:pPr marL="0" indent="0">
              <a:buNone/>
            </a:pPr>
            <a:r>
              <a:rPr lang="en-US" sz="4400" b="1" dirty="0">
                <a:solidFill>
                  <a:srgbClr val="FFFFFF"/>
                </a:solidFill>
                <a:latin typeface="Calibri" pitchFamily="34" charset="0"/>
                <a:ea typeface="Calibri" pitchFamily="34" charset="-122"/>
                <a:cs typeface="Calibri" pitchFamily="34" charset="-120"/>
              </a:rPr>
              <a:t>Query your institution's documents</a:t>
            </a:r>
            <a:endParaRPr lang="en-US" sz="4400" dirty="0"/>
          </a:p>
        </p:txBody>
      </p:sp>
      <p:sp>
        <p:nvSpPr>
          <p:cNvPr id="4" name="Text 2"/>
          <p:cNvSpPr txBox="1"/>
          <p:nvPr/>
        </p:nvSpPr>
        <p:spPr>
          <a:xfrm>
            <a:off x="548640" y="2788920"/>
            <a:ext cx="566928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Retrieval-Augmented Generation (RAG) for statistical publications: grounded, cited, and able to say “I don't know”</a:t>
            </a:r>
            <a:endParaRPr lang="en-US" sz="1800" dirty="0"/>
          </a:p>
        </p:txBody>
      </p:sp>
      <p:sp>
        <p:nvSpPr>
          <p:cNvPr id="5" name="Text 3"/>
          <p:cNvSpPr txBox="1"/>
          <p:nvPr/>
        </p:nvSpPr>
        <p:spPr>
          <a:xfrm>
            <a:off x="548640" y="3520440"/>
            <a:ext cx="5486400" cy="2743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Thursday 29 October 2026  </a:t>
            </a:r>
            <a:r>
              <a:rPr lang="en-US" sz="1300">
                <a:solidFill>
                  <a:srgbClr val="FFFFFF"/>
                </a:solidFill>
                <a:latin typeface="Calibri" pitchFamily="34" charset="0"/>
                <a:ea typeface="Calibri" pitchFamily="34" charset="-122"/>
                <a:cs typeface="Calibri" pitchFamily="34" charset="-120"/>
              </a:rPr>
              <a:t>·  Mauritius</a:t>
            </a:r>
            <a:endParaRPr lang="en-US" sz="1300" dirty="0"/>
          </a:p>
        </p:txBody>
      </p:sp>
      <p:sp>
        <p:nvSpPr>
          <p:cNvPr id="6" name="Shape 4"/>
          <p:cNvSpPr/>
          <p:nvPr/>
        </p:nvSpPr>
        <p:spPr>
          <a:xfrm>
            <a:off x="6858000" y="1874520"/>
            <a:ext cx="1280160" cy="1280160"/>
          </a:xfrm>
          <a:prstGeom prst="ellipse">
            <a:avLst/>
          </a:prstGeom>
          <a:solidFill>
            <a:srgbClr val="FFFFFF"/>
          </a:solidFill>
          <a:ln w="12700">
            <a:solidFill>
              <a:srgbClr val="FFFFFF"/>
            </a:solidFill>
            <a:prstDash val="solid"/>
          </a:ln>
        </p:spPr>
      </p:sp>
      <p:pic>
        <p:nvPicPr>
          <p:cNvPr id="7" name="Image 0" descr="preencoded.png"/>
          <p:cNvPicPr>
            <a:picLocks noChangeAspect="1"/>
          </p:cNvPicPr>
          <p:nvPr/>
        </p:nvPicPr>
        <p:blipFill>
          <a:blip r:embed="rId4"/>
          <a:stretch>
            <a:fillRect/>
          </a:stretch>
        </p:blipFill>
        <p:spPr>
          <a:xfrm>
            <a:off x="7165238" y="2181758"/>
            <a:ext cx="665683" cy="665683"/>
          </a:xfrm>
          <a:prstGeom prst="rect">
            <a:avLst/>
          </a:prstGeom>
        </p:spPr>
      </p:pic>
      <p:sp>
        <p:nvSpPr>
          <p:cNvPr id="8" name="Shape 5"/>
          <p:cNvSpPr/>
          <p:nvPr/>
        </p:nvSpPr>
        <p:spPr>
          <a:xfrm>
            <a:off x="6080760" y="3200400"/>
            <a:ext cx="640080" cy="640080"/>
          </a:xfrm>
          <a:prstGeom prst="ellipse">
            <a:avLst/>
          </a:prstGeom>
          <a:solidFill>
            <a:srgbClr val="F5C242"/>
          </a:solidFill>
          <a:ln w="12700">
            <a:solidFill>
              <a:srgbClr val="F5C242"/>
            </a:solidFill>
            <a:prstDash val="solid"/>
          </a:ln>
        </p:spPr>
      </p:sp>
      <p:pic>
        <p:nvPicPr>
          <p:cNvPr id="9" name="Image 1" descr="preencoded.png"/>
          <p:cNvPicPr>
            <a:picLocks noChangeAspect="1"/>
          </p:cNvPicPr>
          <p:nvPr/>
        </p:nvPicPr>
        <p:blipFill>
          <a:blip r:embed="rId5"/>
          <a:stretch>
            <a:fillRect/>
          </a:stretch>
        </p:blipFill>
        <p:spPr>
          <a:xfrm>
            <a:off x="6234379" y="3354019"/>
            <a:ext cx="332842" cy="332842"/>
          </a:xfrm>
          <a:prstGeom prst="rect">
            <a:avLst/>
          </a:prstGeom>
        </p:spPr>
      </p:pic>
      <p:sp>
        <p:nvSpPr>
          <p:cNvPr id="10" name="Shape 6"/>
          <p:cNvSpPr/>
          <p:nvPr/>
        </p:nvSpPr>
        <p:spPr>
          <a:xfrm>
            <a:off x="8275320" y="3200400"/>
            <a:ext cx="640080" cy="640080"/>
          </a:xfrm>
          <a:prstGeom prst="ellipse">
            <a:avLst/>
          </a:prstGeom>
          <a:solidFill>
            <a:srgbClr val="F5C242"/>
          </a:solidFill>
          <a:ln w="12700">
            <a:solidFill>
              <a:srgbClr val="F5C242"/>
            </a:solidFill>
            <a:prstDash val="solid"/>
          </a:ln>
        </p:spPr>
      </p:sp>
      <p:pic>
        <p:nvPicPr>
          <p:cNvPr id="11" name="Image 2" descr="preencoded.png"/>
          <p:cNvPicPr>
            <a:picLocks noChangeAspect="1"/>
          </p:cNvPicPr>
          <p:nvPr/>
        </p:nvPicPr>
        <p:blipFill>
          <a:blip r:embed="rId6"/>
          <a:stretch>
            <a:fillRect/>
          </a:stretch>
        </p:blipFill>
        <p:spPr>
          <a:xfrm>
            <a:off x="8428939" y="3354019"/>
            <a:ext cx="332842" cy="332842"/>
          </a:xfrm>
          <a:prstGeom prst="rect">
            <a:avLst/>
          </a:prstGeom>
        </p:spPr>
      </p:pic>
      <p:sp>
        <p:nvSpPr>
          <p:cNvPr id="12" name="Text 23">
            <a:extLst>
              <a:ext uri="{FF2B5EF4-FFF2-40B4-BE49-F238E27FC236}">
                <a16:creationId xmlns:a16="http://schemas.microsoft.com/office/drawing/2014/main" id="{20A1A34C-78AC-CE5A-B8FF-10D3EEC2F0AB}"/>
              </a:ext>
            </a:extLst>
          </p:cNvPr>
          <p:cNvSpPr txBox="1"/>
          <p:nvPr/>
        </p:nvSpPr>
        <p:spPr>
          <a:xfrm>
            <a:off x="548640" y="4224528"/>
            <a:ext cx="640080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FFFFFF"/>
                </a:solidFill>
                <a:latin typeface="Calibri" pitchFamily="34" charset="0"/>
                <a:ea typeface="Calibri" pitchFamily="34" charset="-122"/>
                <a:cs typeface="Calibri" pitchFamily="34" charset="-120"/>
              </a:rPr>
              <a:t>African Development Bank · Data Innovation for Africa (DI4A)</a:t>
            </a:r>
            <a:endParaRPr lang="en-US" sz="1200" dirty="0"/>
          </a:p>
        </p:txBody>
      </p:sp>
      <p:sp>
        <p:nvSpPr>
          <p:cNvPr id="14" name="Rounded Rectangle 13"/>
          <p:cNvSpPr/>
          <p:nvPr/>
        </p:nvSpPr>
        <p:spPr>
          <a:xfrm>
            <a:off x="548640" y="438912"/>
            <a:ext cx="1143000" cy="310896"/>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48640" y="438912"/>
            <a:ext cx="1143000" cy="310896"/>
          </a:xfrm>
          <a:prstGeom prst="rect">
            <a:avLst/>
          </a:prstGeom>
          <a:noFill/>
        </p:spPr>
        <p:txBody>
          <a:bodyPr wrap="square" lIns="0" tIns="0" rIns="0" bIns="0" anchor="ctr">
            <a:spAutoFit/>
          </a:bodyPr>
          <a:lstStyle/>
          <a:p>
            <a:pPr algn="ctr"/>
            <a:r>
              <a:rPr sz="1150" b="1" i="0">
                <a:solidFill>
                  <a:srgbClr val="00553A"/>
                </a:solidFill>
                <a:latin typeface="Calibri"/>
              </a:rPr>
              <a:t>AfDB · DI4A</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THE WEEK  ·  BIG DATA FOR MACROECONOMIC STATISTICS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Where this session fits in the week</a:t>
            </a:r>
            <a:endParaRPr lang="en-US" sz="2800" dirty="0"/>
          </a:p>
        </p:txBody>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6" name="Rounded Rectangle 15"/>
          <p:cNvSpPr/>
          <p:nvPr/>
        </p:nvSpPr>
        <p:spPr>
          <a:xfrm>
            <a:off x="457200" y="1261872"/>
            <a:ext cx="1572768" cy="26700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94360" y="1371600"/>
            <a:ext cx="1325880" cy="274320"/>
          </a:xfrm>
          <a:prstGeom prst="rect">
            <a:avLst/>
          </a:prstGeom>
          <a:noFill/>
        </p:spPr>
        <p:txBody>
          <a:bodyPr wrap="square" lIns="0" tIns="0" rIns="0" bIns="0" anchor="t">
            <a:spAutoFit/>
          </a:bodyPr>
          <a:lstStyle/>
          <a:p>
            <a:pPr algn="l"/>
            <a:r>
              <a:rPr sz="1250" b="1" i="0">
                <a:solidFill>
                  <a:srgbClr val="00704A"/>
                </a:solidFill>
                <a:latin typeface="Calibri"/>
              </a:rPr>
              <a:t>Mon 26</a:t>
            </a:r>
          </a:p>
        </p:txBody>
      </p:sp>
      <p:sp>
        <p:nvSpPr>
          <p:cNvPr id="18" name="TextBox 17"/>
          <p:cNvSpPr txBox="1"/>
          <p:nvPr/>
        </p:nvSpPr>
        <p:spPr>
          <a:xfrm>
            <a:off x="594360" y="1719072"/>
            <a:ext cx="1325880" cy="2148840"/>
          </a:xfrm>
          <a:prstGeom prst="rect">
            <a:avLst/>
          </a:prstGeom>
          <a:noFill/>
        </p:spPr>
        <p:txBody>
          <a:bodyPr wrap="square" lIns="0" tIns="0" rIns="0" bIns="0" anchor="t">
            <a:spAutoFit/>
          </a:bodyPr>
          <a:lstStyle/>
          <a:p>
            <a:pPr algn="l">
              <a:spcAft>
                <a:spcPts val="500"/>
              </a:spcAft>
            </a:pPr>
            <a:r>
              <a:rPr sz="1000" b="0" i="0">
                <a:solidFill>
                  <a:srgbClr val="5E6964"/>
                </a:solidFill>
                <a:latin typeface="Calibri"/>
              </a:rPr>
              <a:t>AfDB Data Innovation Lab</a:t>
            </a:r>
          </a:p>
          <a:p>
            <a:pPr algn="l">
              <a:spcAft>
                <a:spcPts val="500"/>
              </a:spcAft>
            </a:pPr>
            <a:r>
              <a:rPr sz="1000" b="0" i="0">
                <a:solidFill>
                  <a:srgbClr val="5E6964"/>
                </a:solidFill>
                <a:latin typeface="Calibri"/>
              </a:rPr>
              <a:t>IMF Big Data Center</a:t>
            </a:r>
          </a:p>
          <a:p>
            <a:pPr algn="l">
              <a:spcAft>
                <a:spcPts val="500"/>
              </a:spcAft>
            </a:pPr>
            <a:r>
              <a:rPr sz="1000" b="0" i="0">
                <a:solidFill>
                  <a:srgbClr val="5E6964"/>
                </a:solidFill>
                <a:latin typeface="Calibri"/>
              </a:rPr>
              <a:t>AI, ethics &amp; privacy discussion</a:t>
            </a:r>
          </a:p>
        </p:txBody>
      </p:sp>
      <p:sp>
        <p:nvSpPr>
          <p:cNvPr id="19" name="Rounded Rectangle 18"/>
          <p:cNvSpPr/>
          <p:nvPr/>
        </p:nvSpPr>
        <p:spPr>
          <a:xfrm>
            <a:off x="2121408" y="1261872"/>
            <a:ext cx="1572768" cy="26700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258568" y="1371600"/>
            <a:ext cx="1325880" cy="274320"/>
          </a:xfrm>
          <a:prstGeom prst="rect">
            <a:avLst/>
          </a:prstGeom>
          <a:noFill/>
        </p:spPr>
        <p:txBody>
          <a:bodyPr wrap="square" lIns="0" tIns="0" rIns="0" bIns="0" anchor="t">
            <a:spAutoFit/>
          </a:bodyPr>
          <a:lstStyle/>
          <a:p>
            <a:pPr algn="l"/>
            <a:r>
              <a:rPr sz="1250" b="1" i="0">
                <a:solidFill>
                  <a:srgbClr val="00704A"/>
                </a:solidFill>
                <a:latin typeface="Calibri"/>
              </a:rPr>
              <a:t>Tue 27</a:t>
            </a:r>
          </a:p>
        </p:txBody>
      </p:sp>
      <p:sp>
        <p:nvSpPr>
          <p:cNvPr id="21" name="TextBox 20"/>
          <p:cNvSpPr txBox="1"/>
          <p:nvPr/>
        </p:nvSpPr>
        <p:spPr>
          <a:xfrm>
            <a:off x="2258568" y="1719072"/>
            <a:ext cx="1325880" cy="2148840"/>
          </a:xfrm>
          <a:prstGeom prst="rect">
            <a:avLst/>
          </a:prstGeom>
          <a:noFill/>
        </p:spPr>
        <p:txBody>
          <a:bodyPr wrap="square" lIns="0" tIns="0" rIns="0" bIns="0" anchor="t">
            <a:spAutoFit/>
          </a:bodyPr>
          <a:lstStyle/>
          <a:p>
            <a:pPr algn="l">
              <a:spcAft>
                <a:spcPts val="500"/>
              </a:spcAft>
            </a:pPr>
            <a:r>
              <a:rPr sz="1000" b="0" i="0">
                <a:solidFill>
                  <a:srgbClr val="5E6964"/>
                </a:solidFill>
                <a:latin typeface="Calibri"/>
              </a:rPr>
              <a:t>Alternative data sources</a:t>
            </a:r>
          </a:p>
          <a:p>
            <a:pPr algn="l">
              <a:spcAft>
                <a:spcPts val="500"/>
              </a:spcAft>
            </a:pPr>
            <a:r>
              <a:rPr sz="1000" b="0" i="0">
                <a:solidFill>
                  <a:srgbClr val="5E6964"/>
                </a:solidFill>
                <a:latin typeface="Calibri"/>
              </a:rPr>
              <a:t>Night-time lights (AfDB)</a:t>
            </a:r>
          </a:p>
          <a:p>
            <a:pPr algn="l">
              <a:spcAft>
                <a:spcPts val="500"/>
              </a:spcAft>
            </a:pPr>
            <a:r>
              <a:rPr sz="1000" b="0" i="0">
                <a:solidFill>
                  <a:srgbClr val="5E6964"/>
                </a:solidFill>
                <a:latin typeface="Calibri"/>
              </a:rPr>
              <a:t>Geospatial data (IMF)</a:t>
            </a:r>
          </a:p>
        </p:txBody>
      </p:sp>
      <p:sp>
        <p:nvSpPr>
          <p:cNvPr id="22" name="Rounded Rectangle 21"/>
          <p:cNvSpPr/>
          <p:nvPr/>
        </p:nvSpPr>
        <p:spPr>
          <a:xfrm>
            <a:off x="3785616" y="1261872"/>
            <a:ext cx="1572768" cy="26700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3922776" y="1371600"/>
            <a:ext cx="1325880" cy="274320"/>
          </a:xfrm>
          <a:prstGeom prst="rect">
            <a:avLst/>
          </a:prstGeom>
          <a:noFill/>
        </p:spPr>
        <p:txBody>
          <a:bodyPr wrap="square" lIns="0" tIns="0" rIns="0" bIns="0" anchor="t">
            <a:spAutoFit/>
          </a:bodyPr>
          <a:lstStyle/>
          <a:p>
            <a:pPr algn="l"/>
            <a:r>
              <a:rPr sz="1250" b="1" i="0">
                <a:solidFill>
                  <a:srgbClr val="00704A"/>
                </a:solidFill>
                <a:latin typeface="Calibri"/>
              </a:rPr>
              <a:t>Wed 28</a:t>
            </a:r>
          </a:p>
        </p:txBody>
      </p:sp>
      <p:sp>
        <p:nvSpPr>
          <p:cNvPr id="24" name="TextBox 23"/>
          <p:cNvSpPr txBox="1"/>
          <p:nvPr/>
        </p:nvSpPr>
        <p:spPr>
          <a:xfrm>
            <a:off x="3922776" y="1719072"/>
            <a:ext cx="1325880" cy="2148840"/>
          </a:xfrm>
          <a:prstGeom prst="rect">
            <a:avLst/>
          </a:prstGeom>
          <a:noFill/>
        </p:spPr>
        <p:txBody>
          <a:bodyPr wrap="square" lIns="0" tIns="0" rIns="0" bIns="0" anchor="t">
            <a:spAutoFit/>
          </a:bodyPr>
          <a:lstStyle/>
          <a:p>
            <a:pPr algn="l">
              <a:spcAft>
                <a:spcPts val="500"/>
              </a:spcAft>
            </a:pPr>
            <a:r>
              <a:rPr sz="1000" b="0" i="0">
                <a:solidFill>
                  <a:srgbClr val="5E6964"/>
                </a:solidFill>
                <a:latin typeface="Calibri"/>
              </a:rPr>
              <a:t>GDP nowcasting (IMF)</a:t>
            </a:r>
          </a:p>
          <a:p>
            <a:pPr algn="l">
              <a:spcAft>
                <a:spcPts val="500"/>
              </a:spcAft>
            </a:pPr>
            <a:r>
              <a:rPr sz="1000" b="0" i="0">
                <a:solidFill>
                  <a:srgbClr val="5E6964"/>
                </a:solidFill>
                <a:latin typeface="Calibri"/>
              </a:rPr>
              <a:t>South Africa case (AfDB)</a:t>
            </a:r>
          </a:p>
          <a:p>
            <a:pPr algn="l">
              <a:spcAft>
                <a:spcPts val="500"/>
              </a:spcAft>
            </a:pPr>
            <a:r>
              <a:rPr sz="1000" b="0" i="0">
                <a:solidFill>
                  <a:srgbClr val="5E6964"/>
                </a:solidFill>
                <a:latin typeface="Calibri"/>
              </a:rPr>
              <a:t>AIS &amp; PortWatch trade (IMF)</a:t>
            </a:r>
          </a:p>
        </p:txBody>
      </p:sp>
      <p:sp>
        <p:nvSpPr>
          <p:cNvPr id="25" name="Rounded Rectangle 24"/>
          <p:cNvSpPr/>
          <p:nvPr/>
        </p:nvSpPr>
        <p:spPr>
          <a:xfrm>
            <a:off x="5449824" y="1261872"/>
            <a:ext cx="1572768" cy="2670048"/>
          </a:xfrm>
          <a:prstGeom prst="roundRect">
            <a:avLst>
              <a:gd name="adj" fmla="val 6000"/>
            </a:avLst>
          </a:prstGeom>
          <a:solidFill>
            <a:srgbClr val="00704A"/>
          </a:solidFill>
          <a:ln w="28575">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586984" y="1371600"/>
            <a:ext cx="1325880" cy="274320"/>
          </a:xfrm>
          <a:prstGeom prst="rect">
            <a:avLst/>
          </a:prstGeom>
          <a:noFill/>
        </p:spPr>
        <p:txBody>
          <a:bodyPr wrap="square" lIns="0" tIns="0" rIns="0" bIns="0" anchor="t">
            <a:spAutoFit/>
          </a:bodyPr>
          <a:lstStyle/>
          <a:p>
            <a:pPr algn="l"/>
            <a:r>
              <a:rPr sz="1250" b="1" i="0">
                <a:solidFill>
                  <a:srgbClr val="F5C242"/>
                </a:solidFill>
                <a:latin typeface="Calibri"/>
              </a:rPr>
              <a:t>Thu 29</a:t>
            </a:r>
          </a:p>
        </p:txBody>
      </p:sp>
      <p:sp>
        <p:nvSpPr>
          <p:cNvPr id="27" name="TextBox 26"/>
          <p:cNvSpPr txBox="1"/>
          <p:nvPr/>
        </p:nvSpPr>
        <p:spPr>
          <a:xfrm>
            <a:off x="5586984" y="1719072"/>
            <a:ext cx="1325880" cy="2148840"/>
          </a:xfrm>
          <a:prstGeom prst="rect">
            <a:avLst/>
          </a:prstGeom>
          <a:noFill/>
        </p:spPr>
        <p:txBody>
          <a:bodyPr wrap="square" lIns="0" tIns="0" rIns="0" bIns="0" anchor="t">
            <a:spAutoFit/>
          </a:bodyPr>
          <a:lstStyle/>
          <a:p>
            <a:pPr algn="l">
              <a:spcAft>
                <a:spcPts val="500"/>
              </a:spcAft>
            </a:pPr>
            <a:r>
              <a:rPr sz="1000" b="0" i="0">
                <a:solidFill>
                  <a:srgbClr val="FFFFFF"/>
                </a:solidFill>
                <a:latin typeface="Calibri"/>
              </a:rPr>
              <a:t>Text data &amp; NLP (IMF)</a:t>
            </a:r>
          </a:p>
          <a:p>
            <a:pPr algn="l">
              <a:spcAft>
                <a:spcPts val="500"/>
              </a:spcAft>
            </a:pPr>
            <a:r>
              <a:rPr sz="1000" b="0" i="0">
                <a:solidFill>
                  <a:srgbClr val="FFFFFF"/>
                </a:solidFill>
                <a:latin typeface="Calibri"/>
              </a:rPr>
              <a:t>Transaction data (IMF)</a:t>
            </a:r>
          </a:p>
          <a:p>
            <a:pPr algn="l">
              <a:spcAft>
                <a:spcPts val="500"/>
              </a:spcAft>
            </a:pPr>
            <a:r>
              <a:rPr sz="1000" b="1" i="0">
                <a:solidFill>
                  <a:srgbClr val="F5C242"/>
                </a:solidFill>
                <a:latin typeface="Calibri"/>
              </a:rPr>
              <a:t>→ 11:00 Query your documents (AfDB)</a:t>
            </a:r>
          </a:p>
          <a:p>
            <a:pPr algn="l">
              <a:spcAft>
                <a:spcPts val="500"/>
              </a:spcAft>
            </a:pPr>
            <a:r>
              <a:rPr sz="1000" b="0" i="0">
                <a:solidFill>
                  <a:srgbClr val="FFFFFF"/>
                </a:solidFill>
                <a:latin typeface="Calibri"/>
              </a:rPr>
              <a:t>CPI alternative data (AfDB &amp; INS CI)</a:t>
            </a:r>
          </a:p>
          <a:p>
            <a:pPr algn="l">
              <a:spcAft>
                <a:spcPts val="500"/>
              </a:spcAft>
            </a:pPr>
            <a:r>
              <a:rPr sz="1000" b="0" i="0">
                <a:solidFill>
                  <a:srgbClr val="FFFFFF"/>
                </a:solidFill>
                <a:latin typeface="Calibri"/>
              </a:rPr>
              <a:t>Project Canvas</a:t>
            </a:r>
          </a:p>
        </p:txBody>
      </p:sp>
      <p:sp>
        <p:nvSpPr>
          <p:cNvPr id="28" name="Rounded Rectangle 27"/>
          <p:cNvSpPr/>
          <p:nvPr/>
        </p:nvSpPr>
        <p:spPr>
          <a:xfrm>
            <a:off x="7114032" y="1261872"/>
            <a:ext cx="1572768" cy="26700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251192" y="1371600"/>
            <a:ext cx="1325880" cy="274320"/>
          </a:xfrm>
          <a:prstGeom prst="rect">
            <a:avLst/>
          </a:prstGeom>
          <a:noFill/>
        </p:spPr>
        <p:txBody>
          <a:bodyPr wrap="square" lIns="0" tIns="0" rIns="0" bIns="0" anchor="t">
            <a:spAutoFit/>
          </a:bodyPr>
          <a:lstStyle/>
          <a:p>
            <a:pPr algn="l"/>
            <a:r>
              <a:rPr sz="1250" b="1" i="0">
                <a:solidFill>
                  <a:srgbClr val="00704A"/>
                </a:solidFill>
                <a:latin typeface="Calibri"/>
              </a:rPr>
              <a:t>Fri 30</a:t>
            </a:r>
          </a:p>
        </p:txBody>
      </p:sp>
      <p:sp>
        <p:nvSpPr>
          <p:cNvPr id="30" name="TextBox 29"/>
          <p:cNvSpPr txBox="1"/>
          <p:nvPr/>
        </p:nvSpPr>
        <p:spPr>
          <a:xfrm>
            <a:off x="7251192" y="1719072"/>
            <a:ext cx="1325880" cy="2148840"/>
          </a:xfrm>
          <a:prstGeom prst="rect">
            <a:avLst/>
          </a:prstGeom>
          <a:noFill/>
        </p:spPr>
        <p:txBody>
          <a:bodyPr wrap="square" lIns="0" tIns="0" rIns="0" bIns="0" anchor="t">
            <a:spAutoFit/>
          </a:bodyPr>
          <a:lstStyle/>
          <a:p>
            <a:pPr algn="l">
              <a:spcAft>
                <a:spcPts val="500"/>
              </a:spcAft>
            </a:pPr>
            <a:r>
              <a:rPr sz="1000" b="0" i="0">
                <a:solidFill>
                  <a:srgbClr val="5E6964"/>
                </a:solidFill>
                <a:latin typeface="Calibri"/>
              </a:rPr>
              <a:t>Group presentations</a:t>
            </a:r>
          </a:p>
          <a:p>
            <a:pPr algn="l">
              <a:spcAft>
                <a:spcPts val="500"/>
              </a:spcAft>
            </a:pPr>
            <a:r>
              <a:rPr sz="1000" b="0" i="0">
                <a:solidFill>
                  <a:srgbClr val="5E6964"/>
                </a:solidFill>
                <a:latin typeface="Calibri"/>
              </a:rPr>
              <a:t>Final quiz</a:t>
            </a:r>
          </a:p>
          <a:p>
            <a:pPr algn="l">
              <a:spcAft>
                <a:spcPts val="500"/>
              </a:spcAft>
            </a:pPr>
            <a:r>
              <a:rPr sz="1000" b="0" i="0">
                <a:solidFill>
                  <a:srgbClr val="5E6964"/>
                </a:solidFill>
                <a:latin typeface="Calibri"/>
              </a:rPr>
              <a:t>Closing — IMF BDC · AfDB</a:t>
            </a:r>
          </a:p>
        </p:txBody>
      </p:sp>
      <p:sp>
        <p:nvSpPr>
          <p:cNvPr id="31" name="Rounded Rectangle 30"/>
          <p:cNvSpPr/>
          <p:nvPr/>
        </p:nvSpPr>
        <p:spPr>
          <a:xfrm>
            <a:off x="457200" y="4114800"/>
            <a:ext cx="8229600" cy="502920"/>
          </a:xfrm>
          <a:prstGeom prst="roundRect">
            <a:avLst>
              <a:gd name="adj" fmla="val 16000"/>
            </a:avLst>
          </a:prstGeom>
          <a:solidFill>
            <a:srgbClr val="E8F5EF"/>
          </a:solidFill>
          <a:ln w="15875">
            <a:solidFill>
              <a:srgbClr val="00A8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85800" y="4114800"/>
            <a:ext cx="7818120" cy="502920"/>
          </a:xfrm>
          <a:prstGeom prst="rect">
            <a:avLst/>
          </a:prstGeom>
          <a:noFill/>
        </p:spPr>
        <p:txBody>
          <a:bodyPr wrap="square" lIns="0" tIns="0" rIns="0" bIns="0" anchor="ctr">
            <a:spAutoFit/>
          </a:bodyPr>
          <a:lstStyle/>
          <a:p>
            <a:pPr algn="l"/>
            <a:r>
              <a:rPr sz="1250" b="0" i="0">
                <a:solidFill>
                  <a:srgbClr val="00704A"/>
                </a:solidFill>
                <a:latin typeface="Calibri"/>
              </a:rPr>
              <a:t>This morning, text was classified (IMF).  Now, text is questioned.  This afternoon, it becomes your Project Canvas.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THIS SESSION  ·  THURSDAY 29 OCTOBER  ·  11:00–11:30</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Four objectives, thirty minutes</a:t>
            </a:r>
            <a:endParaRPr lang="en-US" sz="2800" dirty="0"/>
          </a:p>
        </p:txBody>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6" name="Rounded Rectangle 15"/>
          <p:cNvSpPr/>
          <p:nvPr/>
        </p:nvSpPr>
        <p:spPr>
          <a:xfrm>
            <a:off x="457200" y="1261872"/>
            <a:ext cx="1920240" cy="233172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21792" y="1353312"/>
            <a:ext cx="914400" cy="457200"/>
          </a:xfrm>
          <a:prstGeom prst="rect">
            <a:avLst/>
          </a:prstGeom>
          <a:noFill/>
        </p:spPr>
        <p:txBody>
          <a:bodyPr wrap="square" lIns="0" tIns="0" rIns="0" bIns="0" anchor="t">
            <a:spAutoFit/>
          </a:bodyPr>
          <a:lstStyle/>
          <a:p>
            <a:pPr algn="l"/>
            <a:r>
              <a:rPr sz="3000" b="1" i="0">
                <a:solidFill>
                  <a:srgbClr val="7BCBA9"/>
                </a:solidFill>
                <a:latin typeface="Calibri"/>
              </a:rPr>
              <a:t>01</a:t>
            </a:r>
          </a:p>
        </p:txBody>
      </p:sp>
      <p:sp>
        <p:nvSpPr>
          <p:cNvPr id="18" name="Oval 17"/>
          <p:cNvSpPr/>
          <p:nvPr/>
        </p:nvSpPr>
        <p:spPr>
          <a:xfrm>
            <a:off x="1719072" y="1389888"/>
            <a:ext cx="475488" cy="475488"/>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tools_w.png"/>
          <p:cNvPicPr>
            <a:picLocks noChangeAspect="1"/>
          </p:cNvPicPr>
          <p:nvPr/>
        </p:nvPicPr>
        <p:blipFill>
          <a:blip r:embed="rId3"/>
          <a:stretch>
            <a:fillRect/>
          </a:stretch>
        </p:blipFill>
        <p:spPr>
          <a:xfrm>
            <a:off x="1837943" y="1508760"/>
            <a:ext cx="237744" cy="237744"/>
          </a:xfrm>
          <a:prstGeom prst="rect">
            <a:avLst/>
          </a:prstGeom>
        </p:spPr>
      </p:pic>
      <p:sp>
        <p:nvSpPr>
          <p:cNvPr id="20" name="TextBox 19"/>
          <p:cNvSpPr txBox="1"/>
          <p:nvPr/>
        </p:nvSpPr>
        <p:spPr>
          <a:xfrm>
            <a:off x="621792" y="1938528"/>
            <a:ext cx="1645920" cy="566928"/>
          </a:xfrm>
          <a:prstGeom prst="rect">
            <a:avLst/>
          </a:prstGeom>
          <a:noFill/>
        </p:spPr>
        <p:txBody>
          <a:bodyPr wrap="square" lIns="0" tIns="0" rIns="0" bIns="0" anchor="t">
            <a:spAutoFit/>
          </a:bodyPr>
          <a:lstStyle/>
          <a:p>
            <a:pPr algn="l"/>
            <a:r>
              <a:rPr sz="1300" b="1" i="0">
                <a:solidFill>
                  <a:srgbClr val="231F20"/>
                </a:solidFill>
                <a:latin typeface="Calibri"/>
              </a:rPr>
              <a:t>Build an assistant for statistical documents</a:t>
            </a:r>
          </a:p>
        </p:txBody>
      </p:sp>
      <p:sp>
        <p:nvSpPr>
          <p:cNvPr id="21" name="TextBox 20"/>
          <p:cNvSpPr txBox="1"/>
          <p:nvPr/>
        </p:nvSpPr>
        <p:spPr>
          <a:xfrm>
            <a:off x="621792" y="2542032"/>
            <a:ext cx="1627632" cy="731520"/>
          </a:xfrm>
          <a:prstGeom prst="rect">
            <a:avLst/>
          </a:prstGeom>
          <a:noFill/>
        </p:spPr>
        <p:txBody>
          <a:bodyPr wrap="square" lIns="0" tIns="0" rIns="0" bIns="0" anchor="t">
            <a:spAutoFit/>
          </a:bodyPr>
          <a:lstStyle/>
          <a:p>
            <a:pPr algn="l"/>
            <a:r>
              <a:rPr sz="1050" b="0" i="0">
                <a:solidFill>
                  <a:srgbClr val="5E6964"/>
                </a:solidFill>
                <a:latin typeface="Calibri"/>
              </a:rPr>
              <a:t>Load your institution's PDFs and see what was extracted.</a:t>
            </a:r>
          </a:p>
        </p:txBody>
      </p:sp>
      <p:sp>
        <p:nvSpPr>
          <p:cNvPr id="22" name="TextBox 21"/>
          <p:cNvSpPr txBox="1"/>
          <p:nvPr/>
        </p:nvSpPr>
        <p:spPr>
          <a:xfrm>
            <a:off x="621792" y="3273552"/>
            <a:ext cx="1645920" cy="228600"/>
          </a:xfrm>
          <a:prstGeom prst="rect">
            <a:avLst/>
          </a:prstGeom>
          <a:noFill/>
        </p:spPr>
        <p:txBody>
          <a:bodyPr wrap="square" lIns="0" tIns="0" rIns="0" bIns="0" anchor="t">
            <a:spAutoFit/>
          </a:bodyPr>
          <a:lstStyle/>
          <a:p>
            <a:pPr algn="l"/>
            <a:r>
              <a:rPr sz="1000" b="1" i="0">
                <a:solidFill>
                  <a:srgbClr val="00704A"/>
                </a:solidFill>
                <a:latin typeface="Calibri"/>
              </a:rPr>
              <a:t>Notebook A1–A2 · 7 min</a:t>
            </a:r>
          </a:p>
        </p:txBody>
      </p:sp>
      <p:sp>
        <p:nvSpPr>
          <p:cNvPr id="23" name="Rounded Rectangle 22"/>
          <p:cNvSpPr/>
          <p:nvPr/>
        </p:nvSpPr>
        <p:spPr>
          <a:xfrm>
            <a:off x="2560320" y="1261872"/>
            <a:ext cx="1920240" cy="233172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2724912" y="1353312"/>
            <a:ext cx="914400" cy="457200"/>
          </a:xfrm>
          <a:prstGeom prst="rect">
            <a:avLst/>
          </a:prstGeom>
          <a:noFill/>
        </p:spPr>
        <p:txBody>
          <a:bodyPr wrap="square" lIns="0" tIns="0" rIns="0" bIns="0" anchor="t">
            <a:spAutoFit/>
          </a:bodyPr>
          <a:lstStyle/>
          <a:p>
            <a:pPr algn="l"/>
            <a:r>
              <a:rPr sz="3000" b="1" i="0">
                <a:solidFill>
                  <a:srgbClr val="33AF7C"/>
                </a:solidFill>
                <a:latin typeface="Calibri"/>
              </a:rPr>
              <a:t>02</a:t>
            </a:r>
          </a:p>
        </p:txBody>
      </p:sp>
      <p:sp>
        <p:nvSpPr>
          <p:cNvPr id="25" name="Oval 24"/>
          <p:cNvSpPr/>
          <p:nvPr/>
        </p:nvSpPr>
        <p:spPr>
          <a:xfrm>
            <a:off x="3822191" y="1389888"/>
            <a:ext cx="475488" cy="475488"/>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search_w.png"/>
          <p:cNvPicPr>
            <a:picLocks noChangeAspect="1"/>
          </p:cNvPicPr>
          <p:nvPr/>
        </p:nvPicPr>
        <p:blipFill>
          <a:blip r:embed="rId4"/>
          <a:stretch>
            <a:fillRect/>
          </a:stretch>
        </p:blipFill>
        <p:spPr>
          <a:xfrm>
            <a:off x="3941063" y="1508760"/>
            <a:ext cx="237744" cy="237744"/>
          </a:xfrm>
          <a:prstGeom prst="rect">
            <a:avLst/>
          </a:prstGeom>
        </p:spPr>
      </p:pic>
      <p:sp>
        <p:nvSpPr>
          <p:cNvPr id="27" name="TextBox 26"/>
          <p:cNvSpPr txBox="1"/>
          <p:nvPr/>
        </p:nvSpPr>
        <p:spPr>
          <a:xfrm>
            <a:off x="2724912" y="1938528"/>
            <a:ext cx="1645920" cy="566928"/>
          </a:xfrm>
          <a:prstGeom prst="rect">
            <a:avLst/>
          </a:prstGeom>
          <a:noFill/>
        </p:spPr>
        <p:txBody>
          <a:bodyPr wrap="square" lIns="0" tIns="0" rIns="0" bIns="0" anchor="t">
            <a:spAutoFit/>
          </a:bodyPr>
          <a:lstStyle/>
          <a:p>
            <a:pPr algn="l"/>
            <a:r>
              <a:rPr sz="1300" b="1" i="0">
                <a:solidFill>
                  <a:srgbClr val="231F20"/>
                </a:solidFill>
                <a:latin typeface="Calibri"/>
              </a:rPr>
              <a:t>Practise search &amp; sourced answers</a:t>
            </a:r>
          </a:p>
        </p:txBody>
      </p:sp>
      <p:sp>
        <p:nvSpPr>
          <p:cNvPr id="28" name="TextBox 27"/>
          <p:cNvSpPr txBox="1"/>
          <p:nvPr/>
        </p:nvSpPr>
        <p:spPr>
          <a:xfrm>
            <a:off x="2724912" y="2542032"/>
            <a:ext cx="1627632" cy="731520"/>
          </a:xfrm>
          <a:prstGeom prst="rect">
            <a:avLst/>
          </a:prstGeom>
          <a:noFill/>
        </p:spPr>
        <p:txBody>
          <a:bodyPr wrap="square" lIns="0" tIns="0" rIns="0" bIns="0" anchor="t">
            <a:spAutoFit/>
          </a:bodyPr>
          <a:lstStyle/>
          <a:p>
            <a:pPr algn="l"/>
            <a:r>
              <a:rPr sz="1050" b="0" i="0">
                <a:solidFill>
                  <a:srgbClr val="5E6964"/>
                </a:solidFill>
                <a:latin typeface="Calibri"/>
              </a:rPr>
              <a:t>Ask, then check document, section, page and figures.</a:t>
            </a:r>
          </a:p>
        </p:txBody>
      </p:sp>
      <p:sp>
        <p:nvSpPr>
          <p:cNvPr id="29" name="TextBox 28"/>
          <p:cNvSpPr txBox="1"/>
          <p:nvPr/>
        </p:nvSpPr>
        <p:spPr>
          <a:xfrm>
            <a:off x="2724912" y="3273552"/>
            <a:ext cx="1645920" cy="228600"/>
          </a:xfrm>
          <a:prstGeom prst="rect">
            <a:avLst/>
          </a:prstGeom>
          <a:noFill/>
        </p:spPr>
        <p:txBody>
          <a:bodyPr wrap="square" lIns="0" tIns="0" rIns="0" bIns="0" anchor="t">
            <a:spAutoFit/>
          </a:bodyPr>
          <a:lstStyle/>
          <a:p>
            <a:pPr algn="l"/>
            <a:r>
              <a:rPr sz="1000" b="1" i="0">
                <a:solidFill>
                  <a:srgbClr val="00704A"/>
                </a:solidFill>
                <a:latin typeface="Calibri"/>
              </a:rPr>
              <a:t>A3 · C1 · 6 min</a:t>
            </a:r>
          </a:p>
        </p:txBody>
      </p:sp>
      <p:sp>
        <p:nvSpPr>
          <p:cNvPr id="30" name="Rounded Rectangle 29"/>
          <p:cNvSpPr/>
          <p:nvPr/>
        </p:nvSpPr>
        <p:spPr>
          <a:xfrm>
            <a:off x="4663440" y="1261872"/>
            <a:ext cx="1920240" cy="233172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4828031" y="1353312"/>
            <a:ext cx="914400" cy="457200"/>
          </a:xfrm>
          <a:prstGeom prst="rect">
            <a:avLst/>
          </a:prstGeom>
          <a:noFill/>
        </p:spPr>
        <p:txBody>
          <a:bodyPr wrap="square" lIns="0" tIns="0" rIns="0" bIns="0" anchor="t">
            <a:spAutoFit/>
          </a:bodyPr>
          <a:lstStyle/>
          <a:p>
            <a:pPr algn="l"/>
            <a:r>
              <a:rPr sz="3000" b="1" i="0">
                <a:solidFill>
                  <a:srgbClr val="008A5B"/>
                </a:solidFill>
                <a:latin typeface="Calibri"/>
              </a:rPr>
              <a:t>03</a:t>
            </a:r>
          </a:p>
        </p:txBody>
      </p:sp>
      <p:sp>
        <p:nvSpPr>
          <p:cNvPr id="32" name="Oval 31"/>
          <p:cNvSpPr/>
          <p:nvPr/>
        </p:nvSpPr>
        <p:spPr>
          <a:xfrm>
            <a:off x="5925312" y="1389888"/>
            <a:ext cx="475488" cy="475488"/>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scale_w.png"/>
          <p:cNvPicPr>
            <a:picLocks noChangeAspect="1"/>
          </p:cNvPicPr>
          <p:nvPr/>
        </p:nvPicPr>
        <p:blipFill>
          <a:blip r:embed="rId5"/>
          <a:stretch>
            <a:fillRect/>
          </a:stretch>
        </p:blipFill>
        <p:spPr>
          <a:xfrm>
            <a:off x="6044183" y="1508760"/>
            <a:ext cx="237744" cy="237744"/>
          </a:xfrm>
          <a:prstGeom prst="rect">
            <a:avLst/>
          </a:prstGeom>
        </p:spPr>
      </p:pic>
      <p:sp>
        <p:nvSpPr>
          <p:cNvPr id="34" name="TextBox 33"/>
          <p:cNvSpPr txBox="1"/>
          <p:nvPr/>
        </p:nvSpPr>
        <p:spPr>
          <a:xfrm>
            <a:off x="4828031" y="1938528"/>
            <a:ext cx="1645920" cy="566928"/>
          </a:xfrm>
          <a:prstGeom prst="rect">
            <a:avLst/>
          </a:prstGeom>
          <a:noFill/>
        </p:spPr>
        <p:txBody>
          <a:bodyPr wrap="square" lIns="0" tIns="0" rIns="0" bIns="0" anchor="t">
            <a:spAutoFit/>
          </a:bodyPr>
          <a:lstStyle/>
          <a:p>
            <a:pPr algn="l"/>
            <a:r>
              <a:rPr sz="1300" b="1" i="0">
                <a:solidFill>
                  <a:srgbClr val="231F20"/>
                </a:solidFill>
                <a:latin typeface="Calibri"/>
              </a:rPr>
              <a:t>Compare retrieval methods</a:t>
            </a:r>
          </a:p>
        </p:txBody>
      </p:sp>
      <p:sp>
        <p:nvSpPr>
          <p:cNvPr id="35" name="TextBox 34"/>
          <p:cNvSpPr txBox="1"/>
          <p:nvPr/>
        </p:nvSpPr>
        <p:spPr>
          <a:xfrm>
            <a:off x="4828031" y="2542032"/>
            <a:ext cx="1627632" cy="731520"/>
          </a:xfrm>
          <a:prstGeom prst="rect">
            <a:avLst/>
          </a:prstGeom>
          <a:noFill/>
        </p:spPr>
        <p:txBody>
          <a:bodyPr wrap="square" lIns="0" tIns="0" rIns="0" bIns="0" anchor="t">
            <a:spAutoFit/>
          </a:bodyPr>
          <a:lstStyle/>
          <a:p>
            <a:pPr algn="l"/>
            <a:r>
              <a:rPr sz="1050" b="0" i="0">
                <a:solidFill>
                  <a:srgbClr val="5E6964"/>
                </a:solidFill>
                <a:latin typeface="Calibri"/>
              </a:rPr>
              <a:t>Keywords, meaning, hybrid, reranking; five ways to cut a report.</a:t>
            </a:r>
          </a:p>
        </p:txBody>
      </p:sp>
      <p:sp>
        <p:nvSpPr>
          <p:cNvPr id="36" name="TextBox 35"/>
          <p:cNvSpPr txBox="1"/>
          <p:nvPr/>
        </p:nvSpPr>
        <p:spPr>
          <a:xfrm>
            <a:off x="4828031" y="3273552"/>
            <a:ext cx="1645920" cy="228600"/>
          </a:xfrm>
          <a:prstGeom prst="rect">
            <a:avLst/>
          </a:prstGeom>
          <a:noFill/>
        </p:spPr>
        <p:txBody>
          <a:bodyPr wrap="square" lIns="0" tIns="0" rIns="0" bIns="0" anchor="t">
            <a:spAutoFit/>
          </a:bodyPr>
          <a:lstStyle/>
          <a:p>
            <a:pPr algn="l"/>
            <a:r>
              <a:rPr sz="1000" b="1" i="0">
                <a:solidFill>
                  <a:srgbClr val="00704A"/>
                </a:solidFill>
                <a:latin typeface="Calibri"/>
              </a:rPr>
              <a:t>B3 · B4 · 5 min</a:t>
            </a:r>
          </a:p>
        </p:txBody>
      </p:sp>
      <p:sp>
        <p:nvSpPr>
          <p:cNvPr id="37" name="Rounded Rectangle 36"/>
          <p:cNvSpPr/>
          <p:nvPr/>
        </p:nvSpPr>
        <p:spPr>
          <a:xfrm>
            <a:off x="6766559" y="1261872"/>
            <a:ext cx="1920240" cy="233172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931151" y="1353312"/>
            <a:ext cx="914400" cy="457200"/>
          </a:xfrm>
          <a:prstGeom prst="rect">
            <a:avLst/>
          </a:prstGeom>
          <a:noFill/>
        </p:spPr>
        <p:txBody>
          <a:bodyPr wrap="square" lIns="0" tIns="0" rIns="0" bIns="0" anchor="t">
            <a:spAutoFit/>
          </a:bodyPr>
          <a:lstStyle/>
          <a:p>
            <a:pPr algn="l"/>
            <a:r>
              <a:rPr sz="3000" b="1" i="0">
                <a:solidFill>
                  <a:srgbClr val="00664A"/>
                </a:solidFill>
                <a:latin typeface="Calibri"/>
              </a:rPr>
              <a:t>04</a:t>
            </a:r>
          </a:p>
        </p:txBody>
      </p:sp>
      <p:sp>
        <p:nvSpPr>
          <p:cNvPr id="39" name="Oval 38"/>
          <p:cNvSpPr/>
          <p:nvPr/>
        </p:nvSpPr>
        <p:spPr>
          <a:xfrm>
            <a:off x="8028431" y="1389888"/>
            <a:ext cx="475488" cy="475488"/>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Picture 39" descr="diag_w.png"/>
          <p:cNvPicPr>
            <a:picLocks noChangeAspect="1"/>
          </p:cNvPicPr>
          <p:nvPr/>
        </p:nvPicPr>
        <p:blipFill>
          <a:blip r:embed="rId6"/>
          <a:stretch>
            <a:fillRect/>
          </a:stretch>
        </p:blipFill>
        <p:spPr>
          <a:xfrm>
            <a:off x="8147304" y="1508760"/>
            <a:ext cx="237744" cy="237744"/>
          </a:xfrm>
          <a:prstGeom prst="rect">
            <a:avLst/>
          </a:prstGeom>
        </p:spPr>
      </p:pic>
      <p:sp>
        <p:nvSpPr>
          <p:cNvPr id="41" name="TextBox 40"/>
          <p:cNvSpPr txBox="1"/>
          <p:nvPr/>
        </p:nvSpPr>
        <p:spPr>
          <a:xfrm>
            <a:off x="6931151" y="1938528"/>
            <a:ext cx="1645920" cy="566928"/>
          </a:xfrm>
          <a:prstGeom prst="rect">
            <a:avLst/>
          </a:prstGeom>
          <a:noFill/>
        </p:spPr>
        <p:txBody>
          <a:bodyPr wrap="square" lIns="0" tIns="0" rIns="0" bIns="0" anchor="t">
            <a:spAutoFit/>
          </a:bodyPr>
          <a:lstStyle/>
          <a:p>
            <a:pPr algn="l"/>
            <a:r>
              <a:rPr sz="1300" b="1" i="0">
                <a:solidFill>
                  <a:srgbClr val="231F20"/>
                </a:solidFill>
                <a:latin typeface="Calibri"/>
              </a:rPr>
              <a:t>Diagnose errors and out-of-scope questions</a:t>
            </a:r>
          </a:p>
        </p:txBody>
      </p:sp>
      <p:sp>
        <p:nvSpPr>
          <p:cNvPr id="42" name="TextBox 41"/>
          <p:cNvSpPr txBox="1"/>
          <p:nvPr/>
        </p:nvSpPr>
        <p:spPr>
          <a:xfrm>
            <a:off x="6931151" y="2542032"/>
            <a:ext cx="1627632" cy="731520"/>
          </a:xfrm>
          <a:prstGeom prst="rect">
            <a:avLst/>
          </a:prstGeom>
          <a:noFill/>
        </p:spPr>
        <p:txBody>
          <a:bodyPr wrap="square" lIns="0" tIns="0" rIns="0" bIns="0" anchor="t">
            <a:spAutoFit/>
          </a:bodyPr>
          <a:lstStyle/>
          <a:p>
            <a:pPr algn="l"/>
            <a:r>
              <a:rPr sz="1050" b="0" i="0">
                <a:solidFill>
                  <a:srgbClr val="5E6964"/>
                </a:solidFill>
                <a:latin typeface="Calibri"/>
              </a:rPr>
              <a:t>Threshold, refusals, figure checks, a first test set.</a:t>
            </a:r>
          </a:p>
        </p:txBody>
      </p:sp>
      <p:sp>
        <p:nvSpPr>
          <p:cNvPr id="43" name="TextBox 42"/>
          <p:cNvSpPr txBox="1"/>
          <p:nvPr/>
        </p:nvSpPr>
        <p:spPr>
          <a:xfrm>
            <a:off x="6931151" y="3273552"/>
            <a:ext cx="1645920" cy="228600"/>
          </a:xfrm>
          <a:prstGeom prst="rect">
            <a:avLst/>
          </a:prstGeom>
          <a:noFill/>
        </p:spPr>
        <p:txBody>
          <a:bodyPr wrap="square" lIns="0" tIns="0" rIns="0" bIns="0" anchor="t">
            <a:spAutoFit/>
          </a:bodyPr>
          <a:lstStyle/>
          <a:p>
            <a:pPr algn="l"/>
            <a:r>
              <a:rPr sz="1000" b="1" i="0">
                <a:solidFill>
                  <a:srgbClr val="00704A"/>
                </a:solidFill>
                <a:latin typeface="Calibri"/>
              </a:rPr>
              <a:t>B5 · B8 · B9 · 5 min</a:t>
            </a:r>
          </a:p>
        </p:txBody>
      </p:sp>
      <p:sp>
        <p:nvSpPr>
          <p:cNvPr id="44" name="Rounded Rectangle 43"/>
          <p:cNvSpPr/>
          <p:nvPr/>
        </p:nvSpPr>
        <p:spPr>
          <a:xfrm>
            <a:off x="457200" y="3767328"/>
            <a:ext cx="1920240" cy="438912"/>
          </a:xfrm>
          <a:prstGeom prst="roundRect">
            <a:avLst>
              <a:gd name="adj" fmla="val 12000"/>
            </a:avLst>
          </a:prstGeom>
          <a:solidFill>
            <a:srgbClr val="005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530352" y="3767328"/>
            <a:ext cx="1773936" cy="438912"/>
          </a:xfrm>
          <a:prstGeom prst="rect">
            <a:avLst/>
          </a:prstGeom>
          <a:noFill/>
        </p:spPr>
        <p:txBody>
          <a:bodyPr wrap="square" lIns="0" tIns="0" rIns="0" bIns="0" anchor="ctr">
            <a:spAutoFit/>
          </a:bodyPr>
          <a:lstStyle/>
          <a:p>
            <a:pPr algn="ctr"/>
            <a:r>
              <a:rPr sz="1050" b="1" i="0">
                <a:solidFill>
                  <a:srgbClr val="FFFFFF"/>
                </a:solidFill>
                <a:latin typeface="Calibri"/>
              </a:rPr>
              <a:t>11:00 · Concepts · 7 min</a:t>
            </a:r>
          </a:p>
        </p:txBody>
      </p:sp>
      <p:sp>
        <p:nvSpPr>
          <p:cNvPr id="46" name="Rounded Rectangle 45"/>
          <p:cNvSpPr/>
          <p:nvPr/>
        </p:nvSpPr>
        <p:spPr>
          <a:xfrm>
            <a:off x="2377440" y="3767328"/>
            <a:ext cx="5760720" cy="438912"/>
          </a:xfrm>
          <a:prstGeom prst="roundRect">
            <a:avLst>
              <a:gd name="adj" fmla="val 12000"/>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2450592" y="3767328"/>
            <a:ext cx="5614416" cy="438912"/>
          </a:xfrm>
          <a:prstGeom prst="rect">
            <a:avLst/>
          </a:prstGeom>
          <a:noFill/>
        </p:spPr>
        <p:txBody>
          <a:bodyPr wrap="square" lIns="0" tIns="0" rIns="0" bIns="0" anchor="ctr">
            <a:spAutoFit/>
          </a:bodyPr>
          <a:lstStyle/>
          <a:p>
            <a:pPr algn="ctr"/>
            <a:r>
              <a:rPr sz="1050" b="1" i="0">
                <a:solidFill>
                  <a:srgbClr val="FFFFFF"/>
                </a:solidFill>
                <a:latin typeface="Calibri"/>
              </a:rPr>
              <a:t>11:07 · Hands-on in the notebook · 21 min</a:t>
            </a:r>
          </a:p>
        </p:txBody>
      </p:sp>
      <p:sp>
        <p:nvSpPr>
          <p:cNvPr id="48" name="Rounded Rectangle 47"/>
          <p:cNvSpPr/>
          <p:nvPr/>
        </p:nvSpPr>
        <p:spPr>
          <a:xfrm>
            <a:off x="8138160" y="3767328"/>
            <a:ext cx="548640" cy="438912"/>
          </a:xfrm>
          <a:prstGeom prst="roundRect">
            <a:avLst>
              <a:gd name="adj" fmla="val 12000"/>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8211312" y="3767328"/>
            <a:ext cx="402335" cy="438912"/>
          </a:xfrm>
          <a:prstGeom prst="rect">
            <a:avLst/>
          </a:prstGeom>
          <a:noFill/>
        </p:spPr>
        <p:txBody>
          <a:bodyPr wrap="square" lIns="0" tIns="0" rIns="0" bIns="0" anchor="ctr">
            <a:spAutoFit/>
          </a:bodyPr>
          <a:lstStyle/>
          <a:p>
            <a:pPr algn="ctr"/>
            <a:r>
              <a:rPr sz="1050" b="1" i="0">
                <a:solidFill>
                  <a:srgbClr val="231F20"/>
                </a:solidFill>
                <a:latin typeface="Calibri"/>
              </a:rPr>
              <a:t>2′</a:t>
            </a:r>
          </a:p>
        </p:txBody>
      </p:sp>
      <p:sp>
        <p:nvSpPr>
          <p:cNvPr id="50" name="TextBox 49"/>
          <p:cNvSpPr txBox="1"/>
          <p:nvPr/>
        </p:nvSpPr>
        <p:spPr>
          <a:xfrm>
            <a:off x="457200" y="4297680"/>
            <a:ext cx="8229600" cy="274320"/>
          </a:xfrm>
          <a:prstGeom prst="rect">
            <a:avLst/>
          </a:prstGeom>
          <a:noFill/>
        </p:spPr>
        <p:txBody>
          <a:bodyPr wrap="square" lIns="0" tIns="0" rIns="0" bIns="0" anchor="t">
            <a:spAutoFit/>
          </a:bodyPr>
          <a:lstStyle/>
          <a:p>
            <a:pPr algn="l"/>
            <a:r>
              <a:rPr sz="1000" b="0" i="1">
                <a:solidFill>
                  <a:srgbClr val="5E6964"/>
                </a:solidFill>
                <a:latin typeface="Calibri"/>
              </a:rPr>
              <a:t>Slides carry the concepts; the notebook does the rest. The in-depth track (90 min) is for the Project Canvas afternoon.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FOUNDATIONS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Why an LLM alone is not enough</a:t>
            </a:r>
            <a:endParaRPr lang="en-US" sz="2800" dirty="0"/>
          </a:p>
        </p:txBody>
      </p:sp>
      <p:sp>
        <p:nvSpPr>
          <p:cNvPr id="8" name="Shape 6"/>
          <p:cNvSpPr/>
          <p:nvPr/>
        </p:nvSpPr>
        <p:spPr>
          <a:xfrm>
            <a:off x="7790688" y="329184"/>
            <a:ext cx="100584" cy="100584"/>
          </a:xfrm>
          <a:prstGeom prst="ellipse">
            <a:avLst/>
          </a:prstGeom>
          <a:solidFill>
            <a:srgbClr val="00A86A"/>
          </a:solidFill>
          <a:ln w="12700">
            <a:solidFill>
              <a:srgbClr val="00A86A"/>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7" name="Shape 14"/>
          <p:cNvSpPr/>
          <p:nvPr/>
        </p:nvSpPr>
        <p:spPr>
          <a:xfrm>
            <a:off x="457200" y="1325880"/>
            <a:ext cx="2926080" cy="3291840"/>
          </a:xfrm>
          <a:prstGeom prst="roundRect">
            <a:avLst>
              <a:gd name="adj" fmla="val 2500"/>
            </a:avLst>
          </a:prstGeom>
          <a:solidFill>
            <a:srgbClr val="E8F5EF"/>
          </a:solidFill>
          <a:ln w="15875">
            <a:solidFill>
              <a:srgbClr val="00A86A"/>
            </a:solidFill>
            <a:prstDash val="solid"/>
          </a:ln>
        </p:spPr>
      </p:sp>
      <p:sp>
        <p:nvSpPr>
          <p:cNvPr id="18" name="Text 15"/>
          <p:cNvSpPr txBox="1"/>
          <p:nvPr/>
        </p:nvSpPr>
        <p:spPr>
          <a:xfrm>
            <a:off x="731520" y="1554480"/>
            <a:ext cx="2468880" cy="731520"/>
          </a:xfrm>
          <a:prstGeom prst="rect">
            <a:avLst/>
          </a:prstGeom>
          <a:noFill/>
          <a:ln/>
        </p:spPr>
        <p:txBody>
          <a:bodyPr wrap="square" lIns="0" tIns="0" rIns="0" bIns="0" rtlCol="0" anchor="ctr"/>
          <a:lstStyle/>
          <a:p>
            <a:pPr marL="0" indent="0">
              <a:buNone/>
            </a:pPr>
            <a:r>
              <a:rPr lang="en-US" sz="2000" b="1" dirty="0">
                <a:solidFill>
                  <a:srgbClr val="231F20"/>
                </a:solidFill>
                <a:latin typeface="Calibri" pitchFamily="34" charset="0"/>
                <a:ea typeface="Calibri" pitchFamily="34" charset="-122"/>
                <a:cs typeface="Calibri" pitchFamily="34" charset="-120"/>
              </a:rPr>
              <a:t>An LLM is a brilliant reasoner…</a:t>
            </a:r>
            <a:endParaRPr lang="en-US" sz="2000" dirty="0"/>
          </a:p>
        </p:txBody>
      </p:sp>
      <p:sp>
        <p:nvSpPr>
          <p:cNvPr id="19" name="Text 16"/>
          <p:cNvSpPr txBox="1"/>
          <p:nvPr/>
        </p:nvSpPr>
        <p:spPr>
          <a:xfrm>
            <a:off x="731520" y="2286000"/>
            <a:ext cx="2468880" cy="731520"/>
          </a:xfrm>
          <a:prstGeom prst="rect">
            <a:avLst/>
          </a:prstGeom>
          <a:noFill/>
          <a:ln/>
        </p:spPr>
        <p:txBody>
          <a:bodyPr wrap="square" lIns="0" tIns="0" rIns="0" bIns="0" rtlCol="0" anchor="ctr"/>
          <a:lstStyle/>
          <a:p>
            <a:pPr marL="0" indent="0">
              <a:buNone/>
            </a:pPr>
            <a:r>
              <a:rPr lang="en-US" sz="2000" b="1" dirty="0">
                <a:solidFill>
                  <a:srgbClr val="00704A"/>
                </a:solidFill>
                <a:latin typeface="Calibri" pitchFamily="34" charset="0"/>
                <a:ea typeface="Calibri" pitchFamily="34" charset="-122"/>
                <a:cs typeface="Calibri" pitchFamily="34" charset="-120"/>
              </a:rPr>
              <a:t>…but an unreliable library.</a:t>
            </a:r>
            <a:endParaRPr lang="en-US" sz="2000" dirty="0"/>
          </a:p>
        </p:txBody>
      </p:sp>
      <p:sp>
        <p:nvSpPr>
          <p:cNvPr id="20" name="Text 17"/>
          <p:cNvSpPr txBox="1"/>
          <p:nvPr/>
        </p:nvSpPr>
        <p:spPr>
          <a:xfrm>
            <a:off x="731520" y="3246120"/>
            <a:ext cx="2423160" cy="1097280"/>
          </a:xfrm>
          <a:prstGeom prst="rect">
            <a:avLst/>
          </a:prstGeom>
          <a:noFill/>
          <a:ln/>
        </p:spPr>
        <p:txBody>
          <a:bodyPr wrap="square" lIns="0" tIns="0" rIns="0" bIns="0" rtlCol="0" anchor="ctr"/>
          <a:lstStyle/>
          <a:p>
            <a:pPr marL="0" indent="0">
              <a:buNone/>
            </a:pPr>
            <a:r>
              <a:rPr lang="en-US" sz="1250" dirty="0">
                <a:solidFill>
                  <a:srgbClr val="5E6964"/>
                </a:solidFill>
                <a:latin typeface="Calibri" pitchFamily="34" charset="0"/>
                <a:ea typeface="Calibri" pitchFamily="34" charset="-122"/>
                <a:cs typeface="Calibri" pitchFamily="34" charset="-120"/>
              </a:rPr>
              <a:t>Its knowledge is stored implicitly in its weights (parametric memory): frozen, opaque and impossible to cite.</a:t>
            </a:r>
            <a:endParaRPr lang="en-US" sz="1250" dirty="0"/>
          </a:p>
        </p:txBody>
      </p:sp>
      <p:sp>
        <p:nvSpPr>
          <p:cNvPr id="21" name="Shape 18"/>
          <p:cNvSpPr/>
          <p:nvPr/>
        </p:nvSpPr>
        <p:spPr>
          <a:xfrm>
            <a:off x="3657600" y="1325880"/>
            <a:ext cx="2377440" cy="1572768"/>
          </a:xfrm>
          <a:prstGeom prst="roundRect">
            <a:avLst>
              <a:gd name="adj" fmla="val 4651"/>
            </a:avLst>
          </a:prstGeom>
          <a:solidFill>
            <a:srgbClr val="F4F7F5"/>
          </a:solidFill>
          <a:ln w="9525">
            <a:solidFill>
              <a:srgbClr val="D5DED9"/>
            </a:solidFill>
            <a:prstDash val="solid"/>
          </a:ln>
        </p:spPr>
      </p:sp>
      <p:sp>
        <p:nvSpPr>
          <p:cNvPr id="22" name="Shape 19"/>
          <p:cNvSpPr/>
          <p:nvPr/>
        </p:nvSpPr>
        <p:spPr>
          <a:xfrm>
            <a:off x="3840480" y="1508760"/>
            <a:ext cx="457200" cy="457200"/>
          </a:xfrm>
          <a:prstGeom prst="ellipse">
            <a:avLst/>
          </a:prstGeom>
          <a:solidFill>
            <a:srgbClr val="B83B2E">
              <a:alpha val="22000"/>
            </a:srgbClr>
          </a:solidFill>
          <a:ln w="12700">
            <a:solidFill>
              <a:srgbClr val="B83B2E">
                <a:alpha val="0"/>
              </a:srgbClr>
            </a:solidFill>
            <a:prstDash val="solid"/>
          </a:ln>
        </p:spPr>
      </p:sp>
      <p:pic>
        <p:nvPicPr>
          <p:cNvPr id="23" name="Image 0" descr="preencoded.png"/>
          <p:cNvPicPr>
            <a:picLocks noChangeAspect="1"/>
          </p:cNvPicPr>
          <p:nvPr/>
        </p:nvPicPr>
        <p:blipFill>
          <a:blip r:embed="rId3"/>
          <a:stretch>
            <a:fillRect/>
          </a:stretch>
        </p:blipFill>
        <p:spPr>
          <a:xfrm>
            <a:off x="3950208" y="1618488"/>
            <a:ext cx="237744" cy="237744"/>
          </a:xfrm>
          <a:prstGeom prst="rect">
            <a:avLst/>
          </a:prstGeom>
        </p:spPr>
      </p:pic>
      <p:sp>
        <p:nvSpPr>
          <p:cNvPr id="24" name="Text 20"/>
          <p:cNvSpPr txBox="1"/>
          <p:nvPr/>
        </p:nvSpPr>
        <p:spPr>
          <a:xfrm>
            <a:off x="4434840" y="1581912"/>
            <a:ext cx="150876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Knowledge cutoff</a:t>
            </a:r>
            <a:endParaRPr lang="en-US" sz="1400" dirty="0"/>
          </a:p>
        </p:txBody>
      </p:sp>
      <p:sp>
        <p:nvSpPr>
          <p:cNvPr id="25" name="Text 21"/>
          <p:cNvSpPr txBox="1"/>
          <p:nvPr/>
        </p:nvSpPr>
        <p:spPr>
          <a:xfrm>
            <a:off x="3840480" y="2103120"/>
            <a:ext cx="2057400" cy="7315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Anything that happened after training is unknown to the model.</a:t>
            </a:r>
            <a:endParaRPr lang="en-US" sz="1150" dirty="0"/>
          </a:p>
        </p:txBody>
      </p:sp>
      <p:sp>
        <p:nvSpPr>
          <p:cNvPr id="26" name="Shape 22"/>
          <p:cNvSpPr/>
          <p:nvPr/>
        </p:nvSpPr>
        <p:spPr>
          <a:xfrm>
            <a:off x="6217920" y="1325880"/>
            <a:ext cx="2377440" cy="1572768"/>
          </a:xfrm>
          <a:prstGeom prst="roundRect">
            <a:avLst>
              <a:gd name="adj" fmla="val 4651"/>
            </a:avLst>
          </a:prstGeom>
          <a:solidFill>
            <a:srgbClr val="F4F7F5"/>
          </a:solidFill>
          <a:ln w="9525">
            <a:solidFill>
              <a:srgbClr val="D5DED9"/>
            </a:solidFill>
            <a:prstDash val="solid"/>
          </a:ln>
        </p:spPr>
      </p:sp>
      <p:sp>
        <p:nvSpPr>
          <p:cNvPr id="27" name="Shape 23"/>
          <p:cNvSpPr/>
          <p:nvPr/>
        </p:nvSpPr>
        <p:spPr>
          <a:xfrm>
            <a:off x="6400800" y="1508760"/>
            <a:ext cx="457200" cy="457200"/>
          </a:xfrm>
          <a:prstGeom prst="ellipse">
            <a:avLst/>
          </a:prstGeom>
          <a:solidFill>
            <a:srgbClr val="B83B2E">
              <a:alpha val="22000"/>
            </a:srgbClr>
          </a:solidFill>
          <a:ln w="12700">
            <a:solidFill>
              <a:srgbClr val="B83B2E">
                <a:alpha val="0"/>
              </a:srgbClr>
            </a:solidFill>
            <a:prstDash val="solid"/>
          </a:ln>
        </p:spPr>
      </p:sp>
      <p:pic>
        <p:nvPicPr>
          <p:cNvPr id="28" name="Image 1" descr="preencoded.png"/>
          <p:cNvPicPr>
            <a:picLocks noChangeAspect="1"/>
          </p:cNvPicPr>
          <p:nvPr/>
        </p:nvPicPr>
        <p:blipFill>
          <a:blip r:embed="rId4"/>
          <a:stretch>
            <a:fillRect/>
          </a:stretch>
        </p:blipFill>
        <p:spPr>
          <a:xfrm>
            <a:off x="6510528" y="1618488"/>
            <a:ext cx="237744" cy="237744"/>
          </a:xfrm>
          <a:prstGeom prst="rect">
            <a:avLst/>
          </a:prstGeom>
        </p:spPr>
      </p:pic>
      <p:sp>
        <p:nvSpPr>
          <p:cNvPr id="29" name="Text 24"/>
          <p:cNvSpPr txBox="1"/>
          <p:nvPr/>
        </p:nvSpPr>
        <p:spPr>
          <a:xfrm>
            <a:off x="6995160" y="1581912"/>
            <a:ext cx="150876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Hallucinations</a:t>
            </a:r>
            <a:endParaRPr lang="en-US" sz="1400" dirty="0"/>
          </a:p>
        </p:txBody>
      </p:sp>
      <p:sp>
        <p:nvSpPr>
          <p:cNvPr id="30" name="Text 25"/>
          <p:cNvSpPr txBox="1"/>
          <p:nvPr/>
        </p:nvSpPr>
        <p:spPr>
          <a:xfrm>
            <a:off x="6400800" y="2103120"/>
            <a:ext cx="2057400" cy="7315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When knowledge is missing, the model can produce fluent but unsupported answers.</a:t>
            </a:r>
            <a:endParaRPr lang="en-US" sz="1150" dirty="0"/>
          </a:p>
        </p:txBody>
      </p:sp>
      <p:sp>
        <p:nvSpPr>
          <p:cNvPr id="31" name="Shape 26"/>
          <p:cNvSpPr/>
          <p:nvPr/>
        </p:nvSpPr>
        <p:spPr>
          <a:xfrm>
            <a:off x="3657600" y="3017520"/>
            <a:ext cx="2377440" cy="1572768"/>
          </a:xfrm>
          <a:prstGeom prst="roundRect">
            <a:avLst>
              <a:gd name="adj" fmla="val 4651"/>
            </a:avLst>
          </a:prstGeom>
          <a:solidFill>
            <a:srgbClr val="F4F7F5"/>
          </a:solidFill>
          <a:ln w="9525">
            <a:solidFill>
              <a:srgbClr val="D5DED9"/>
            </a:solidFill>
            <a:prstDash val="solid"/>
          </a:ln>
        </p:spPr>
      </p:sp>
      <p:sp>
        <p:nvSpPr>
          <p:cNvPr id="32" name="Shape 27"/>
          <p:cNvSpPr/>
          <p:nvPr/>
        </p:nvSpPr>
        <p:spPr>
          <a:xfrm>
            <a:off x="3840480" y="3200400"/>
            <a:ext cx="457200" cy="457200"/>
          </a:xfrm>
          <a:prstGeom prst="ellipse">
            <a:avLst/>
          </a:prstGeom>
          <a:solidFill>
            <a:srgbClr val="B83B2E">
              <a:alpha val="22000"/>
            </a:srgbClr>
          </a:solidFill>
          <a:ln w="12700">
            <a:solidFill>
              <a:srgbClr val="B83B2E">
                <a:alpha val="0"/>
              </a:srgbClr>
            </a:solidFill>
            <a:prstDash val="solid"/>
          </a:ln>
        </p:spPr>
      </p:sp>
      <p:pic>
        <p:nvPicPr>
          <p:cNvPr id="33" name="Image 2" descr="preencoded.png"/>
          <p:cNvPicPr>
            <a:picLocks noChangeAspect="1"/>
          </p:cNvPicPr>
          <p:nvPr/>
        </p:nvPicPr>
        <p:blipFill>
          <a:blip r:embed="rId5"/>
          <a:stretch>
            <a:fillRect/>
          </a:stretch>
        </p:blipFill>
        <p:spPr>
          <a:xfrm>
            <a:off x="3950208" y="3310128"/>
            <a:ext cx="237744" cy="237744"/>
          </a:xfrm>
          <a:prstGeom prst="rect">
            <a:avLst/>
          </a:prstGeom>
        </p:spPr>
      </p:pic>
      <p:sp>
        <p:nvSpPr>
          <p:cNvPr id="34" name="Text 28"/>
          <p:cNvSpPr txBox="1"/>
          <p:nvPr/>
        </p:nvSpPr>
        <p:spPr>
          <a:xfrm>
            <a:off x="4434840" y="3273552"/>
            <a:ext cx="150876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No private data</a:t>
            </a:r>
            <a:endParaRPr lang="en-US" sz="1400" dirty="0"/>
          </a:p>
        </p:txBody>
      </p:sp>
      <p:sp>
        <p:nvSpPr>
          <p:cNvPr id="35" name="Text 29"/>
          <p:cNvSpPr txBox="1"/>
          <p:nvPr/>
        </p:nvSpPr>
        <p:spPr>
          <a:xfrm>
            <a:off x="3840480" y="3794760"/>
            <a:ext cx="2057400" cy="7315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Internal documents, wikis, tickets and databases were never in the training set.</a:t>
            </a:r>
            <a:endParaRPr lang="en-US" sz="1150" dirty="0"/>
          </a:p>
        </p:txBody>
      </p:sp>
      <p:sp>
        <p:nvSpPr>
          <p:cNvPr id="36" name="Shape 30"/>
          <p:cNvSpPr/>
          <p:nvPr/>
        </p:nvSpPr>
        <p:spPr>
          <a:xfrm>
            <a:off x="6217920" y="3017520"/>
            <a:ext cx="2377440" cy="1572768"/>
          </a:xfrm>
          <a:prstGeom prst="roundRect">
            <a:avLst>
              <a:gd name="adj" fmla="val 4651"/>
            </a:avLst>
          </a:prstGeom>
          <a:solidFill>
            <a:srgbClr val="F4F7F5"/>
          </a:solidFill>
          <a:ln w="9525">
            <a:solidFill>
              <a:srgbClr val="D5DED9"/>
            </a:solidFill>
            <a:prstDash val="solid"/>
          </a:ln>
        </p:spPr>
      </p:sp>
      <p:sp>
        <p:nvSpPr>
          <p:cNvPr id="37" name="Shape 31"/>
          <p:cNvSpPr/>
          <p:nvPr/>
        </p:nvSpPr>
        <p:spPr>
          <a:xfrm>
            <a:off x="6400800" y="3200400"/>
            <a:ext cx="457200" cy="457200"/>
          </a:xfrm>
          <a:prstGeom prst="ellipse">
            <a:avLst/>
          </a:prstGeom>
          <a:solidFill>
            <a:srgbClr val="B83B2E">
              <a:alpha val="22000"/>
            </a:srgbClr>
          </a:solidFill>
          <a:ln w="12700">
            <a:solidFill>
              <a:srgbClr val="B83B2E">
                <a:alpha val="0"/>
              </a:srgbClr>
            </a:solidFill>
            <a:prstDash val="solid"/>
          </a:ln>
        </p:spPr>
      </p:sp>
      <p:pic>
        <p:nvPicPr>
          <p:cNvPr id="38" name="Image 3" descr="preencoded.png"/>
          <p:cNvPicPr>
            <a:picLocks noChangeAspect="1"/>
          </p:cNvPicPr>
          <p:nvPr/>
        </p:nvPicPr>
        <p:blipFill>
          <a:blip r:embed="rId6"/>
          <a:stretch>
            <a:fillRect/>
          </a:stretch>
        </p:blipFill>
        <p:spPr>
          <a:xfrm>
            <a:off x="6510528" y="3310128"/>
            <a:ext cx="237744" cy="237744"/>
          </a:xfrm>
          <a:prstGeom prst="rect">
            <a:avLst/>
          </a:prstGeom>
        </p:spPr>
      </p:pic>
      <p:sp>
        <p:nvSpPr>
          <p:cNvPr id="39" name="Text 32"/>
          <p:cNvSpPr txBox="1"/>
          <p:nvPr/>
        </p:nvSpPr>
        <p:spPr>
          <a:xfrm>
            <a:off x="6995160" y="3273552"/>
            <a:ext cx="150876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No traceability</a:t>
            </a:r>
            <a:endParaRPr lang="en-US" sz="1400" dirty="0"/>
          </a:p>
        </p:txBody>
      </p:sp>
      <p:sp>
        <p:nvSpPr>
          <p:cNvPr id="40" name="Text 33"/>
          <p:cNvSpPr txBox="1"/>
          <p:nvPr/>
        </p:nvSpPr>
        <p:spPr>
          <a:xfrm>
            <a:off x="6400800" y="3794760"/>
            <a:ext cx="2057400" cy="7315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Answers come without sources, so users cannot verify them.</a:t>
            </a:r>
            <a:endParaRPr lang="en-US" sz="11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FOUNDATIONS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What is Retrieval-Augmented Generation?</a:t>
            </a:r>
            <a:endParaRPr lang="en-US" sz="2800" dirty="0"/>
          </a:p>
        </p:txBody>
      </p:sp>
      <p:sp>
        <p:nvSpPr>
          <p:cNvPr id="8" name="Shape 6"/>
          <p:cNvSpPr/>
          <p:nvPr/>
        </p:nvSpPr>
        <p:spPr>
          <a:xfrm>
            <a:off x="7790688" y="329184"/>
            <a:ext cx="100584" cy="100584"/>
          </a:xfrm>
          <a:prstGeom prst="ellipse">
            <a:avLst/>
          </a:prstGeom>
          <a:solidFill>
            <a:srgbClr val="00A86A"/>
          </a:solidFill>
          <a:ln w="12700">
            <a:solidFill>
              <a:srgbClr val="00A86A"/>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a:t>
            </a:r>
            <a:endParaRPr lang="en-US" sz="850" dirty="0"/>
          </a:p>
        </p:txBody>
      </p:sp>
      <p:sp>
        <p:nvSpPr>
          <p:cNvPr id="17" name="Shape 14"/>
          <p:cNvSpPr/>
          <p:nvPr/>
        </p:nvSpPr>
        <p:spPr>
          <a:xfrm>
            <a:off x="457200" y="1325880"/>
            <a:ext cx="8229600" cy="914400"/>
          </a:xfrm>
          <a:prstGeom prst="roundRect">
            <a:avLst>
              <a:gd name="adj" fmla="val 8000"/>
            </a:avLst>
          </a:prstGeom>
          <a:solidFill>
            <a:srgbClr val="E8F5EF"/>
          </a:solidFill>
          <a:ln w="15875">
            <a:solidFill>
              <a:srgbClr val="00A86A"/>
            </a:solidFill>
            <a:prstDash val="solid"/>
          </a:ln>
        </p:spPr>
      </p:sp>
      <p:sp>
        <p:nvSpPr>
          <p:cNvPr id="18" name="Text 15"/>
          <p:cNvSpPr txBox="1"/>
          <p:nvPr/>
        </p:nvSpPr>
        <p:spPr>
          <a:xfrm>
            <a:off x="731520" y="1371600"/>
            <a:ext cx="7680960" cy="822960"/>
          </a:xfrm>
          <a:prstGeom prst="rect">
            <a:avLst/>
          </a:prstGeom>
          <a:noFill/>
          <a:ln/>
        </p:spPr>
        <p:txBody>
          <a:bodyPr wrap="square" lIns="0" tIns="0" rIns="0" bIns="0" rtlCol="0" anchor="ctr"/>
          <a:lstStyle/>
          <a:p>
            <a:pPr marL="0" indent="0">
              <a:buNone/>
            </a:pPr>
            <a:r>
              <a:rPr lang="en-US" sz="1600" b="1" dirty="0">
                <a:solidFill>
                  <a:srgbClr val="00704A"/>
                </a:solidFill>
                <a:latin typeface="Calibri" pitchFamily="34" charset="0"/>
                <a:ea typeface="Calibri" pitchFamily="34" charset="-122"/>
                <a:cs typeface="Calibri" pitchFamily="34" charset="-120"/>
              </a:rPr>
              <a:t>RAG </a:t>
            </a:r>
            <a:r>
              <a:rPr lang="en-US" sz="1600" dirty="0">
                <a:solidFill>
                  <a:srgbClr val="231F20"/>
                </a:solidFill>
                <a:latin typeface="Calibri" pitchFamily="34" charset="0"/>
                <a:ea typeface="Calibri" pitchFamily="34" charset="-122"/>
                <a:cs typeface="Calibri" pitchFamily="34" charset="-120"/>
              </a:rPr>
              <a:t>retrieves relevant passages from an external knowledge source at query time and injects them into the prompt, so the LLM generates an answer </a:t>
            </a:r>
            <a:r>
              <a:rPr lang="en-US" sz="1600" b="1" dirty="0">
                <a:solidFill>
                  <a:srgbClr val="231F20"/>
                </a:solidFill>
                <a:latin typeface="Calibri" pitchFamily="34" charset="0"/>
                <a:ea typeface="Calibri" pitchFamily="34" charset="-122"/>
                <a:cs typeface="Calibri" pitchFamily="34" charset="-120"/>
              </a:rPr>
              <a:t>grounded in that evidence.</a:t>
            </a:r>
            <a:endParaRPr lang="en-US" sz="1600" dirty="0"/>
          </a:p>
        </p:txBody>
      </p:sp>
      <p:sp>
        <p:nvSpPr>
          <p:cNvPr id="19" name="Shape 16"/>
          <p:cNvSpPr/>
          <p:nvPr/>
        </p:nvSpPr>
        <p:spPr>
          <a:xfrm>
            <a:off x="457200" y="2423160"/>
            <a:ext cx="2651760" cy="2240280"/>
          </a:xfrm>
          <a:prstGeom prst="roundRect">
            <a:avLst>
              <a:gd name="adj" fmla="val 3265"/>
            </a:avLst>
          </a:prstGeom>
          <a:solidFill>
            <a:srgbClr val="F4F7F5"/>
          </a:solidFill>
          <a:ln w="9525">
            <a:solidFill>
              <a:srgbClr val="D5DED9"/>
            </a:solidFill>
            <a:prstDash val="solid"/>
          </a:ln>
        </p:spPr>
      </p:sp>
      <p:sp>
        <p:nvSpPr>
          <p:cNvPr id="20" name="Shape 17"/>
          <p:cNvSpPr/>
          <p:nvPr/>
        </p:nvSpPr>
        <p:spPr>
          <a:xfrm>
            <a:off x="685800" y="2606040"/>
            <a:ext cx="548640" cy="548640"/>
          </a:xfrm>
          <a:prstGeom prst="ellipse">
            <a:avLst/>
          </a:prstGeom>
          <a:solidFill>
            <a:srgbClr val="B83B2E">
              <a:alpha val="22000"/>
            </a:srgbClr>
          </a:solidFill>
          <a:ln w="12700">
            <a:solidFill>
              <a:srgbClr val="B83B2E">
                <a:alpha val="0"/>
              </a:srgbClr>
            </a:solidFill>
            <a:prstDash val="solid"/>
          </a:ln>
        </p:spPr>
      </p:sp>
      <p:pic>
        <p:nvPicPr>
          <p:cNvPr id="21" name="Image 0" descr="preencoded.png"/>
          <p:cNvPicPr>
            <a:picLocks noChangeAspect="1"/>
          </p:cNvPicPr>
          <p:nvPr/>
        </p:nvPicPr>
        <p:blipFill>
          <a:blip r:embed="rId3"/>
          <a:stretch>
            <a:fillRect/>
          </a:stretch>
        </p:blipFill>
        <p:spPr>
          <a:xfrm>
            <a:off x="817474" y="2737714"/>
            <a:ext cx="285293" cy="285293"/>
          </a:xfrm>
          <a:prstGeom prst="rect">
            <a:avLst/>
          </a:prstGeom>
        </p:spPr>
      </p:pic>
      <p:sp>
        <p:nvSpPr>
          <p:cNvPr id="22" name="Text 18"/>
          <p:cNvSpPr txBox="1"/>
          <p:nvPr/>
        </p:nvSpPr>
        <p:spPr>
          <a:xfrm>
            <a:off x="1371600" y="2633472"/>
            <a:ext cx="1645920" cy="27432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Closed-book exam</a:t>
            </a:r>
            <a:endParaRPr lang="en-US" sz="1400" dirty="0"/>
          </a:p>
        </p:txBody>
      </p:sp>
      <p:sp>
        <p:nvSpPr>
          <p:cNvPr id="23" name="Text 19"/>
          <p:cNvSpPr txBox="1"/>
          <p:nvPr/>
        </p:nvSpPr>
        <p:spPr>
          <a:xfrm>
            <a:off x="1371600" y="2907792"/>
            <a:ext cx="1645920" cy="228600"/>
          </a:xfrm>
          <a:prstGeom prst="rect">
            <a:avLst/>
          </a:prstGeom>
          <a:noFill/>
          <a:ln/>
        </p:spPr>
        <p:txBody>
          <a:bodyPr wrap="square" lIns="0" tIns="0" rIns="0" bIns="0" rtlCol="0" anchor="ctr"/>
          <a:lstStyle/>
          <a:p>
            <a:pPr marL="0" indent="0">
              <a:buNone/>
            </a:pPr>
            <a:r>
              <a:rPr lang="en-US" sz="1100" b="1" dirty="0">
                <a:solidFill>
                  <a:srgbClr val="B83B2E"/>
                </a:solidFill>
                <a:latin typeface="Calibri" pitchFamily="34" charset="0"/>
                <a:ea typeface="Calibri" pitchFamily="34" charset="-122"/>
                <a:cs typeface="Calibri" pitchFamily="34" charset="-120"/>
              </a:rPr>
              <a:t>LLM alone</a:t>
            </a:r>
            <a:endParaRPr lang="en-US" sz="1100" dirty="0"/>
          </a:p>
        </p:txBody>
      </p:sp>
      <p:sp>
        <p:nvSpPr>
          <p:cNvPr id="24" name="Text 20"/>
          <p:cNvSpPr txBox="1"/>
          <p:nvPr/>
        </p:nvSpPr>
        <p:spPr>
          <a:xfrm>
            <a:off x="685800" y="3383280"/>
            <a:ext cx="2240280" cy="731520"/>
          </a:xfrm>
          <a:prstGeom prst="rect">
            <a:avLst/>
          </a:prstGeom>
          <a:noFill/>
          <a:ln/>
        </p:spPr>
        <p:txBody>
          <a:bodyPr wrap="square" lIns="0" tIns="0" rIns="0" bIns="0" rtlCol="0" anchor="t"/>
          <a:lstStyle/>
          <a:p>
            <a:pPr marL="0" indent="0">
              <a:buNone/>
            </a:pPr>
            <a:r>
              <a:rPr lang="en-US" sz="1250" dirty="0">
                <a:solidFill>
                  <a:srgbClr val="5E6964"/>
                </a:solidFill>
                <a:latin typeface="Calibri" pitchFamily="34" charset="0"/>
                <a:ea typeface="Calibri" pitchFamily="34" charset="-122"/>
                <a:cs typeface="Calibri" pitchFamily="34" charset="-120"/>
              </a:rPr>
              <a:t>Answers from memory only (model weights). May be outdated or invented.</a:t>
            </a:r>
            <a:endParaRPr lang="en-US" sz="1250" dirty="0"/>
          </a:p>
        </p:txBody>
      </p:sp>
      <p:sp>
        <p:nvSpPr>
          <p:cNvPr id="25" name="Shape 21"/>
          <p:cNvSpPr/>
          <p:nvPr/>
        </p:nvSpPr>
        <p:spPr>
          <a:xfrm>
            <a:off x="685800" y="4160520"/>
            <a:ext cx="2194560" cy="310896"/>
          </a:xfrm>
          <a:prstGeom prst="roundRect">
            <a:avLst>
              <a:gd name="adj" fmla="val 50000"/>
            </a:avLst>
          </a:prstGeom>
          <a:solidFill>
            <a:srgbClr val="B83B2E">
              <a:alpha val="15000"/>
            </a:srgbClr>
          </a:solidFill>
          <a:ln w="9525">
            <a:solidFill>
              <a:srgbClr val="B83B2E"/>
            </a:solidFill>
            <a:prstDash val="solid"/>
          </a:ln>
        </p:spPr>
      </p:sp>
      <p:sp>
        <p:nvSpPr>
          <p:cNvPr id="26" name="Text 22"/>
          <p:cNvSpPr txBox="1"/>
          <p:nvPr/>
        </p:nvSpPr>
        <p:spPr>
          <a:xfrm>
            <a:off x="685800" y="4160520"/>
            <a:ext cx="2194560" cy="310896"/>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Parametric memory only</a:t>
            </a:r>
            <a:endParaRPr lang="en-US" sz="1000" dirty="0"/>
          </a:p>
        </p:txBody>
      </p:sp>
      <p:sp>
        <p:nvSpPr>
          <p:cNvPr id="27" name="Shape 23"/>
          <p:cNvSpPr/>
          <p:nvPr/>
        </p:nvSpPr>
        <p:spPr>
          <a:xfrm>
            <a:off x="3291840" y="2423160"/>
            <a:ext cx="2651760" cy="2240280"/>
          </a:xfrm>
          <a:prstGeom prst="roundRect">
            <a:avLst>
              <a:gd name="adj" fmla="val 3265"/>
            </a:avLst>
          </a:prstGeom>
          <a:solidFill>
            <a:srgbClr val="E8F5EF"/>
          </a:solidFill>
          <a:ln w="15875">
            <a:solidFill>
              <a:srgbClr val="00A86A"/>
            </a:solidFill>
            <a:prstDash val="solid"/>
          </a:ln>
        </p:spPr>
      </p:sp>
      <p:sp>
        <p:nvSpPr>
          <p:cNvPr id="28" name="Shape 24"/>
          <p:cNvSpPr/>
          <p:nvPr/>
        </p:nvSpPr>
        <p:spPr>
          <a:xfrm>
            <a:off x="3520440" y="2606040"/>
            <a:ext cx="548640" cy="548640"/>
          </a:xfrm>
          <a:prstGeom prst="ellipse">
            <a:avLst/>
          </a:prstGeom>
          <a:solidFill>
            <a:srgbClr val="00A86A">
              <a:alpha val="22000"/>
            </a:srgbClr>
          </a:solidFill>
          <a:ln w="12700">
            <a:solidFill>
              <a:srgbClr val="00A86A">
                <a:alpha val="0"/>
              </a:srgbClr>
            </a:solidFill>
            <a:prstDash val="solid"/>
          </a:ln>
        </p:spPr>
      </p:sp>
      <p:pic>
        <p:nvPicPr>
          <p:cNvPr id="29" name="Image 1" descr="preencoded.png"/>
          <p:cNvPicPr>
            <a:picLocks noChangeAspect="1"/>
          </p:cNvPicPr>
          <p:nvPr/>
        </p:nvPicPr>
        <p:blipFill>
          <a:blip r:embed="rId4"/>
          <a:stretch>
            <a:fillRect/>
          </a:stretch>
        </p:blipFill>
        <p:spPr>
          <a:xfrm>
            <a:off x="3652114" y="2737714"/>
            <a:ext cx="285293" cy="285293"/>
          </a:xfrm>
          <a:prstGeom prst="rect">
            <a:avLst/>
          </a:prstGeom>
        </p:spPr>
      </p:pic>
      <p:sp>
        <p:nvSpPr>
          <p:cNvPr id="30" name="Text 25"/>
          <p:cNvSpPr txBox="1"/>
          <p:nvPr/>
        </p:nvSpPr>
        <p:spPr>
          <a:xfrm>
            <a:off x="4206240" y="2633472"/>
            <a:ext cx="1645920" cy="27432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Open-book exam</a:t>
            </a:r>
            <a:endParaRPr lang="en-US" sz="1400" dirty="0"/>
          </a:p>
        </p:txBody>
      </p:sp>
      <p:sp>
        <p:nvSpPr>
          <p:cNvPr id="31" name="Text 26"/>
          <p:cNvSpPr txBox="1"/>
          <p:nvPr/>
        </p:nvSpPr>
        <p:spPr>
          <a:xfrm>
            <a:off x="4206240" y="2907792"/>
            <a:ext cx="1645920" cy="228600"/>
          </a:xfrm>
          <a:prstGeom prst="rect">
            <a:avLst/>
          </a:prstGeom>
          <a:noFill/>
          <a:ln/>
        </p:spPr>
        <p:txBody>
          <a:bodyPr wrap="square" lIns="0" tIns="0" rIns="0" bIns="0" rtlCol="0" anchor="ctr"/>
          <a:lstStyle/>
          <a:p>
            <a:pPr marL="0" indent="0">
              <a:buNone/>
            </a:pPr>
            <a:r>
              <a:rPr lang="en-US" sz="1100" b="1" dirty="0">
                <a:solidFill>
                  <a:srgbClr val="00A86A"/>
                </a:solidFill>
                <a:latin typeface="Calibri" pitchFamily="34" charset="0"/>
                <a:ea typeface="Calibri" pitchFamily="34" charset="-122"/>
                <a:cs typeface="Calibri" pitchFamily="34" charset="-120"/>
              </a:rPr>
              <a:t>LLM + RAG</a:t>
            </a:r>
            <a:endParaRPr lang="en-US" sz="1100" dirty="0"/>
          </a:p>
        </p:txBody>
      </p:sp>
      <p:sp>
        <p:nvSpPr>
          <p:cNvPr id="32" name="Text 27"/>
          <p:cNvSpPr txBox="1"/>
          <p:nvPr/>
        </p:nvSpPr>
        <p:spPr>
          <a:xfrm>
            <a:off x="3520440" y="3383280"/>
            <a:ext cx="2240280" cy="731520"/>
          </a:xfrm>
          <a:prstGeom prst="rect">
            <a:avLst/>
          </a:prstGeom>
          <a:noFill/>
          <a:ln/>
        </p:spPr>
        <p:txBody>
          <a:bodyPr wrap="square" lIns="0" tIns="0" rIns="0" bIns="0" rtlCol="0" anchor="t"/>
          <a:lstStyle/>
          <a:p>
            <a:pPr marL="0" indent="0">
              <a:buNone/>
            </a:pPr>
            <a:r>
              <a:rPr lang="en-US" sz="1250" dirty="0">
                <a:solidFill>
                  <a:srgbClr val="5E6964"/>
                </a:solidFill>
                <a:latin typeface="Calibri" pitchFamily="34" charset="0"/>
                <a:ea typeface="Calibri" pitchFamily="34" charset="-122"/>
                <a:cs typeface="Calibri" pitchFamily="34" charset="-120"/>
              </a:rPr>
              <a:t>Looks up the right pages first, then answers — and can cite them.</a:t>
            </a:r>
            <a:endParaRPr lang="en-US" sz="1250" dirty="0"/>
          </a:p>
        </p:txBody>
      </p:sp>
      <p:sp>
        <p:nvSpPr>
          <p:cNvPr id="33" name="Shape 28"/>
          <p:cNvSpPr/>
          <p:nvPr/>
        </p:nvSpPr>
        <p:spPr>
          <a:xfrm>
            <a:off x="3520440" y="4160520"/>
            <a:ext cx="2194560" cy="310896"/>
          </a:xfrm>
          <a:prstGeom prst="roundRect">
            <a:avLst>
              <a:gd name="adj" fmla="val 50000"/>
            </a:avLst>
          </a:prstGeom>
          <a:solidFill>
            <a:srgbClr val="00A86A">
              <a:alpha val="15000"/>
            </a:srgbClr>
          </a:solidFill>
          <a:ln w="9525">
            <a:solidFill>
              <a:srgbClr val="00A86A"/>
            </a:solidFill>
            <a:prstDash val="solid"/>
          </a:ln>
        </p:spPr>
      </p:sp>
      <p:sp>
        <p:nvSpPr>
          <p:cNvPr id="34" name="Text 29"/>
          <p:cNvSpPr txBox="1"/>
          <p:nvPr/>
        </p:nvSpPr>
        <p:spPr>
          <a:xfrm>
            <a:off x="3520440" y="4160520"/>
            <a:ext cx="2194560" cy="310896"/>
          </a:xfrm>
          <a:prstGeom prst="rect">
            <a:avLst/>
          </a:prstGeom>
          <a:noFill/>
          <a:ln/>
        </p:spPr>
        <p:txBody>
          <a:bodyPr wrap="square" lIns="0" tIns="0" rIns="0" bIns="0" rtlCol="0" anchor="ctr"/>
          <a:lstStyle/>
          <a:p>
            <a:pPr marL="0" indent="0" algn="ctr">
              <a:buNone/>
            </a:pPr>
            <a:r>
              <a:rPr lang="en-US" sz="1000" b="1" dirty="0">
                <a:solidFill>
                  <a:srgbClr val="00A86A"/>
                </a:solidFill>
                <a:latin typeface="Calibri" pitchFamily="34" charset="0"/>
                <a:ea typeface="Calibri" pitchFamily="34" charset="-122"/>
                <a:cs typeface="Calibri" pitchFamily="34" charset="-120"/>
              </a:rPr>
              <a:t>Parametric + non-parametric memory</a:t>
            </a:r>
            <a:endParaRPr lang="en-US" sz="1000" dirty="0"/>
          </a:p>
        </p:txBody>
      </p:sp>
      <p:sp>
        <p:nvSpPr>
          <p:cNvPr id="35" name="Shape 30"/>
          <p:cNvSpPr/>
          <p:nvPr/>
        </p:nvSpPr>
        <p:spPr>
          <a:xfrm>
            <a:off x="3127248" y="3538728"/>
            <a:ext cx="146304" cy="914"/>
          </a:xfrm>
          <a:prstGeom prst="line">
            <a:avLst/>
          </a:prstGeom>
          <a:noFill/>
          <a:ln w="25400">
            <a:solidFill>
              <a:srgbClr val="5E6964"/>
            </a:solidFill>
            <a:prstDash val="solid"/>
            <a:tailEnd type="triangle"/>
          </a:ln>
        </p:spPr>
      </p:sp>
      <p:sp>
        <p:nvSpPr>
          <p:cNvPr id="36" name="Shape 31"/>
          <p:cNvSpPr/>
          <p:nvPr/>
        </p:nvSpPr>
        <p:spPr>
          <a:xfrm>
            <a:off x="6217920" y="2423160"/>
            <a:ext cx="2468880" cy="2240280"/>
          </a:xfrm>
          <a:prstGeom prst="roundRect">
            <a:avLst>
              <a:gd name="adj" fmla="val 3265"/>
            </a:avLst>
          </a:prstGeom>
          <a:solidFill>
            <a:srgbClr val="F4F7F5"/>
          </a:solidFill>
          <a:ln w="9525">
            <a:solidFill>
              <a:srgbClr val="D5DED9"/>
            </a:solidFill>
            <a:prstDash val="solid"/>
          </a:ln>
        </p:spPr>
      </p:sp>
      <p:sp>
        <p:nvSpPr>
          <p:cNvPr id="37" name="Text 32"/>
          <p:cNvSpPr txBox="1"/>
          <p:nvPr/>
        </p:nvSpPr>
        <p:spPr>
          <a:xfrm>
            <a:off x="6446520" y="2606040"/>
            <a:ext cx="2011680" cy="228600"/>
          </a:xfrm>
          <a:prstGeom prst="rect">
            <a:avLst/>
          </a:prstGeom>
          <a:noFill/>
          <a:ln/>
        </p:spPr>
        <p:txBody>
          <a:bodyPr wrap="square" lIns="0" tIns="0" rIns="0" bIns="0" rtlCol="0" anchor="ctr"/>
          <a:lstStyle/>
          <a:p>
            <a:pPr marL="0" indent="0">
              <a:buNone/>
            </a:pPr>
            <a:r>
              <a:rPr lang="en-US" sz="1000" b="1" kern="0" spc="300" dirty="0">
                <a:solidFill>
                  <a:srgbClr val="D49A00"/>
                </a:solidFill>
                <a:latin typeface="Calibri" pitchFamily="34" charset="0"/>
                <a:ea typeface="Calibri" pitchFamily="34" charset="-122"/>
                <a:cs typeface="Calibri" pitchFamily="34" charset="-120"/>
              </a:rPr>
              <a:t>ORIGIN</a:t>
            </a:r>
            <a:endParaRPr lang="en-US" sz="1000" dirty="0"/>
          </a:p>
        </p:txBody>
      </p:sp>
      <p:sp>
        <p:nvSpPr>
          <p:cNvPr id="38" name="Text 33"/>
          <p:cNvSpPr txBox="1"/>
          <p:nvPr/>
        </p:nvSpPr>
        <p:spPr>
          <a:xfrm>
            <a:off x="6446520" y="2852928"/>
            <a:ext cx="2103120" cy="320040"/>
          </a:xfrm>
          <a:prstGeom prst="rect">
            <a:avLst/>
          </a:prstGeom>
          <a:noFill/>
          <a:ln/>
        </p:spPr>
        <p:txBody>
          <a:bodyPr wrap="square" lIns="0" tIns="0" rIns="0" bIns="0" rtlCol="0" anchor="ctr"/>
          <a:lstStyle/>
          <a:p>
            <a:pPr marL="0" indent="0">
              <a:buNone/>
            </a:pPr>
            <a:r>
              <a:rPr lang="en-US" sz="1600" b="1" dirty="0">
                <a:solidFill>
                  <a:srgbClr val="00704A"/>
                </a:solidFill>
                <a:latin typeface="Calibri" pitchFamily="34" charset="0"/>
                <a:ea typeface="Calibri" pitchFamily="34" charset="-122"/>
                <a:cs typeface="Calibri" pitchFamily="34" charset="-120"/>
              </a:rPr>
              <a:t>Lewis et al., 2020</a:t>
            </a:r>
            <a:endParaRPr lang="en-US" sz="1600" dirty="0"/>
          </a:p>
        </p:txBody>
      </p:sp>
      <p:sp>
        <p:nvSpPr>
          <p:cNvPr id="39" name="Text 34"/>
          <p:cNvSpPr txBox="1"/>
          <p:nvPr/>
        </p:nvSpPr>
        <p:spPr>
          <a:xfrm>
            <a:off x="6446520" y="3200400"/>
            <a:ext cx="2057400" cy="13716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“Retrieval-Augmented Generation for Knowledge-Intensive NLP Tasks” — NeurIPS 2020 (Facebook AI Research, UCL, NYU).</a:t>
            </a:r>
            <a:endParaRPr lang="en-US" sz="1050" dirty="0"/>
          </a:p>
          <a:p>
            <a:pPr marL="0" indent="0">
              <a:buNone/>
            </a:pPr>
            <a:endParaRPr lang="en-US" sz="1050" dirty="0"/>
          </a:p>
          <a:p>
            <a:pPr marL="0" indent="0">
              <a:buNone/>
            </a:pPr>
            <a:r>
              <a:rPr lang="en-US" sz="1050" dirty="0">
                <a:solidFill>
                  <a:srgbClr val="5E6964"/>
                </a:solidFill>
                <a:latin typeface="Calibri" pitchFamily="34" charset="0"/>
                <a:ea typeface="Calibri" pitchFamily="34" charset="-122"/>
                <a:cs typeface="Calibri" pitchFamily="34" charset="-120"/>
              </a:rPr>
              <a:t>Combines parametric memory (BART) with non-parametric memory (a DPR index over Wikipedia).</a:t>
            </a:r>
            <a:endParaRPr lang="en-US" sz="10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HOW IT WORKS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Two pipelines: indexing and querying</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Shape 14"/>
          <p:cNvSpPr/>
          <p:nvPr/>
        </p:nvSpPr>
        <p:spPr>
          <a:xfrm>
            <a:off x="457200" y="1280160"/>
            <a:ext cx="8229600" cy="1325880"/>
          </a:xfrm>
          <a:prstGeom prst="roundRect">
            <a:avLst>
              <a:gd name="adj" fmla="val 5517"/>
            </a:avLst>
          </a:prstGeom>
          <a:solidFill>
            <a:srgbClr val="E8F5EF"/>
          </a:solidFill>
          <a:ln w="9525">
            <a:solidFill>
              <a:srgbClr val="E8F5EF"/>
            </a:solidFill>
            <a:prstDash val="solid"/>
          </a:ln>
        </p:spPr>
      </p:sp>
      <p:sp>
        <p:nvSpPr>
          <p:cNvPr id="18" name="Shape 15"/>
          <p:cNvSpPr/>
          <p:nvPr/>
        </p:nvSpPr>
        <p:spPr>
          <a:xfrm>
            <a:off x="457200" y="2834640"/>
            <a:ext cx="8229600" cy="1783080"/>
          </a:xfrm>
          <a:prstGeom prst="roundRect">
            <a:avLst>
              <a:gd name="adj" fmla="val 4103"/>
            </a:avLst>
          </a:prstGeom>
          <a:solidFill>
            <a:srgbClr val="F4F7F5"/>
          </a:solidFill>
          <a:ln w="9525">
            <a:solidFill>
              <a:srgbClr val="D5DED9"/>
            </a:solidFill>
            <a:prstDash val="solid"/>
          </a:ln>
        </p:spPr>
      </p:sp>
      <p:sp>
        <p:nvSpPr>
          <p:cNvPr id="19" name="Text 16"/>
          <p:cNvSpPr txBox="1"/>
          <p:nvPr/>
        </p:nvSpPr>
        <p:spPr>
          <a:xfrm>
            <a:off x="466344" y="1371600"/>
            <a:ext cx="1280160" cy="274320"/>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Documents</a:t>
            </a:r>
            <a:endParaRPr lang="en-US" sz="1150" dirty="0"/>
          </a:p>
        </p:txBody>
      </p:sp>
      <p:sp>
        <p:nvSpPr>
          <p:cNvPr id="20" name="Shape 17"/>
          <p:cNvSpPr/>
          <p:nvPr/>
        </p:nvSpPr>
        <p:spPr>
          <a:xfrm>
            <a:off x="822960" y="1737360"/>
            <a:ext cx="566928" cy="566928"/>
          </a:xfrm>
          <a:prstGeom prst="ellipse">
            <a:avLst/>
          </a:prstGeom>
          <a:solidFill>
            <a:srgbClr val="FFFFFF"/>
          </a:solidFill>
          <a:ln w="19050">
            <a:solidFill>
              <a:srgbClr val="00A86A"/>
            </a:solidFill>
            <a:prstDash val="solid"/>
          </a:ln>
        </p:spPr>
      </p:sp>
      <p:pic>
        <p:nvPicPr>
          <p:cNvPr id="21" name="Image 0" descr="preencoded.png"/>
          <p:cNvPicPr>
            <a:picLocks noChangeAspect="1"/>
          </p:cNvPicPr>
          <p:nvPr/>
        </p:nvPicPr>
        <p:blipFill>
          <a:blip r:embed="rId3"/>
          <a:stretch>
            <a:fillRect/>
          </a:stretch>
        </p:blipFill>
        <p:spPr>
          <a:xfrm>
            <a:off x="959023" y="1873423"/>
            <a:ext cx="294803" cy="294803"/>
          </a:xfrm>
          <a:prstGeom prst="rect">
            <a:avLst/>
          </a:prstGeom>
        </p:spPr>
      </p:pic>
      <p:sp>
        <p:nvSpPr>
          <p:cNvPr id="22" name="Shape 18"/>
          <p:cNvSpPr/>
          <p:nvPr/>
        </p:nvSpPr>
        <p:spPr>
          <a:xfrm>
            <a:off x="1463040" y="2020824"/>
            <a:ext cx="612648" cy="914"/>
          </a:xfrm>
          <a:prstGeom prst="line">
            <a:avLst/>
          </a:prstGeom>
          <a:noFill/>
          <a:ln w="19050">
            <a:solidFill>
              <a:srgbClr val="5E6964"/>
            </a:solidFill>
            <a:prstDash val="solid"/>
            <a:tailEnd type="triangle"/>
          </a:ln>
        </p:spPr>
      </p:sp>
      <p:sp>
        <p:nvSpPr>
          <p:cNvPr id="23" name="Text 19"/>
          <p:cNvSpPr txBox="1"/>
          <p:nvPr/>
        </p:nvSpPr>
        <p:spPr>
          <a:xfrm>
            <a:off x="1792224" y="1371600"/>
            <a:ext cx="1280160" cy="274320"/>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Parse &amp; chunk</a:t>
            </a:r>
            <a:endParaRPr lang="en-US" sz="1150" dirty="0"/>
          </a:p>
        </p:txBody>
      </p:sp>
      <p:sp>
        <p:nvSpPr>
          <p:cNvPr id="24" name="Shape 20"/>
          <p:cNvSpPr/>
          <p:nvPr/>
        </p:nvSpPr>
        <p:spPr>
          <a:xfrm>
            <a:off x="2148840" y="1737360"/>
            <a:ext cx="566928" cy="566928"/>
          </a:xfrm>
          <a:prstGeom prst="ellipse">
            <a:avLst/>
          </a:prstGeom>
          <a:solidFill>
            <a:srgbClr val="FFFFFF"/>
          </a:solidFill>
          <a:ln w="19050">
            <a:solidFill>
              <a:srgbClr val="00A86A"/>
            </a:solidFill>
            <a:prstDash val="solid"/>
          </a:ln>
        </p:spPr>
      </p:sp>
      <p:pic>
        <p:nvPicPr>
          <p:cNvPr id="25" name="Image 1" descr="preencoded.png"/>
          <p:cNvPicPr>
            <a:picLocks noChangeAspect="1"/>
          </p:cNvPicPr>
          <p:nvPr/>
        </p:nvPicPr>
        <p:blipFill>
          <a:blip r:embed="rId4"/>
          <a:stretch>
            <a:fillRect/>
          </a:stretch>
        </p:blipFill>
        <p:spPr>
          <a:xfrm>
            <a:off x="2284903" y="1873423"/>
            <a:ext cx="294803" cy="294803"/>
          </a:xfrm>
          <a:prstGeom prst="rect">
            <a:avLst/>
          </a:prstGeom>
        </p:spPr>
      </p:pic>
      <p:sp>
        <p:nvSpPr>
          <p:cNvPr id="26" name="Shape 21"/>
          <p:cNvSpPr/>
          <p:nvPr/>
        </p:nvSpPr>
        <p:spPr>
          <a:xfrm>
            <a:off x="2788920" y="2020824"/>
            <a:ext cx="612648" cy="914"/>
          </a:xfrm>
          <a:prstGeom prst="line">
            <a:avLst/>
          </a:prstGeom>
          <a:noFill/>
          <a:ln w="19050">
            <a:solidFill>
              <a:srgbClr val="5E6964"/>
            </a:solidFill>
            <a:prstDash val="solid"/>
            <a:tailEnd type="triangle"/>
          </a:ln>
        </p:spPr>
      </p:sp>
      <p:sp>
        <p:nvSpPr>
          <p:cNvPr id="27" name="Text 22"/>
          <p:cNvSpPr txBox="1"/>
          <p:nvPr/>
        </p:nvSpPr>
        <p:spPr>
          <a:xfrm>
            <a:off x="3118104" y="1371600"/>
            <a:ext cx="1280160" cy="274320"/>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Embedding model</a:t>
            </a:r>
            <a:endParaRPr lang="en-US" sz="1150" dirty="0"/>
          </a:p>
        </p:txBody>
      </p:sp>
      <p:sp>
        <p:nvSpPr>
          <p:cNvPr id="28" name="Shape 23"/>
          <p:cNvSpPr/>
          <p:nvPr/>
        </p:nvSpPr>
        <p:spPr>
          <a:xfrm>
            <a:off x="3474720" y="1737360"/>
            <a:ext cx="566928" cy="566928"/>
          </a:xfrm>
          <a:prstGeom prst="ellipse">
            <a:avLst/>
          </a:prstGeom>
          <a:solidFill>
            <a:srgbClr val="FFFFFF"/>
          </a:solidFill>
          <a:ln w="19050">
            <a:solidFill>
              <a:srgbClr val="00A86A"/>
            </a:solidFill>
            <a:prstDash val="solid"/>
          </a:ln>
        </p:spPr>
      </p:sp>
      <p:pic>
        <p:nvPicPr>
          <p:cNvPr id="29" name="Image 2" descr="preencoded.png"/>
          <p:cNvPicPr>
            <a:picLocks noChangeAspect="1"/>
          </p:cNvPicPr>
          <p:nvPr/>
        </p:nvPicPr>
        <p:blipFill>
          <a:blip r:embed="rId5"/>
          <a:stretch>
            <a:fillRect/>
          </a:stretch>
        </p:blipFill>
        <p:spPr>
          <a:xfrm>
            <a:off x="3610783" y="1873423"/>
            <a:ext cx="294803" cy="294803"/>
          </a:xfrm>
          <a:prstGeom prst="rect">
            <a:avLst/>
          </a:prstGeom>
        </p:spPr>
      </p:pic>
      <p:sp>
        <p:nvSpPr>
          <p:cNvPr id="30" name="Shape 24"/>
          <p:cNvSpPr/>
          <p:nvPr/>
        </p:nvSpPr>
        <p:spPr>
          <a:xfrm>
            <a:off x="4114800" y="2020824"/>
            <a:ext cx="612648" cy="914"/>
          </a:xfrm>
          <a:prstGeom prst="line">
            <a:avLst/>
          </a:prstGeom>
          <a:noFill/>
          <a:ln w="19050">
            <a:solidFill>
              <a:srgbClr val="5E6964"/>
            </a:solidFill>
            <a:prstDash val="solid"/>
            <a:tailEnd type="triangle"/>
          </a:ln>
        </p:spPr>
      </p:sp>
      <p:sp>
        <p:nvSpPr>
          <p:cNvPr id="31" name="Text 25"/>
          <p:cNvSpPr txBox="1"/>
          <p:nvPr/>
        </p:nvSpPr>
        <p:spPr>
          <a:xfrm>
            <a:off x="4443984" y="1371600"/>
            <a:ext cx="1280160" cy="274320"/>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Vector database</a:t>
            </a:r>
            <a:endParaRPr lang="en-US" sz="1150" dirty="0"/>
          </a:p>
        </p:txBody>
      </p:sp>
      <p:sp>
        <p:nvSpPr>
          <p:cNvPr id="32" name="Shape 26"/>
          <p:cNvSpPr/>
          <p:nvPr/>
        </p:nvSpPr>
        <p:spPr>
          <a:xfrm>
            <a:off x="4800600" y="1737360"/>
            <a:ext cx="566928" cy="566928"/>
          </a:xfrm>
          <a:prstGeom prst="ellipse">
            <a:avLst/>
          </a:prstGeom>
          <a:solidFill>
            <a:srgbClr val="FFFFFF"/>
          </a:solidFill>
          <a:ln w="19050">
            <a:solidFill>
              <a:srgbClr val="00A86A"/>
            </a:solidFill>
            <a:prstDash val="solid"/>
          </a:ln>
        </p:spPr>
      </p:sp>
      <p:pic>
        <p:nvPicPr>
          <p:cNvPr id="33" name="Image 3" descr="preencoded.png"/>
          <p:cNvPicPr>
            <a:picLocks noChangeAspect="1"/>
          </p:cNvPicPr>
          <p:nvPr/>
        </p:nvPicPr>
        <p:blipFill>
          <a:blip r:embed="rId6"/>
          <a:stretch>
            <a:fillRect/>
          </a:stretch>
        </p:blipFill>
        <p:spPr>
          <a:xfrm>
            <a:off x="4936663" y="1873423"/>
            <a:ext cx="294803" cy="294803"/>
          </a:xfrm>
          <a:prstGeom prst="rect">
            <a:avLst/>
          </a:prstGeom>
        </p:spPr>
      </p:pic>
      <p:sp>
        <p:nvSpPr>
          <p:cNvPr id="34" name="Text 27"/>
          <p:cNvSpPr txBox="1"/>
          <p:nvPr/>
        </p:nvSpPr>
        <p:spPr>
          <a:xfrm>
            <a:off x="6126480" y="1508760"/>
            <a:ext cx="2468880" cy="27432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① INDEXING  ·  offline</a:t>
            </a:r>
            <a:endParaRPr lang="en-US" sz="1300" dirty="0"/>
          </a:p>
        </p:txBody>
      </p:sp>
      <p:sp>
        <p:nvSpPr>
          <p:cNvPr id="35" name="Text 28"/>
          <p:cNvSpPr txBox="1"/>
          <p:nvPr/>
        </p:nvSpPr>
        <p:spPr>
          <a:xfrm>
            <a:off x="6126480" y="1828800"/>
            <a:ext cx="2377440" cy="594360"/>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Runs once, then incrementally whenever documents are added or changed.</a:t>
            </a:r>
            <a:endParaRPr lang="en-US" sz="1100" dirty="0"/>
          </a:p>
        </p:txBody>
      </p:sp>
      <p:sp>
        <p:nvSpPr>
          <p:cNvPr id="36" name="Shape 29"/>
          <p:cNvSpPr/>
          <p:nvPr/>
        </p:nvSpPr>
        <p:spPr>
          <a:xfrm>
            <a:off x="822960" y="3063240"/>
            <a:ext cx="566928" cy="566928"/>
          </a:xfrm>
          <a:prstGeom prst="ellipse">
            <a:avLst/>
          </a:prstGeom>
          <a:solidFill>
            <a:srgbClr val="FFFFFF"/>
          </a:solidFill>
          <a:ln w="19050">
            <a:solidFill>
              <a:srgbClr val="00704A"/>
            </a:solidFill>
            <a:prstDash val="solid"/>
          </a:ln>
        </p:spPr>
      </p:sp>
      <p:pic>
        <p:nvPicPr>
          <p:cNvPr id="37" name="Image 4" descr="preencoded.png"/>
          <p:cNvPicPr>
            <a:picLocks noChangeAspect="1"/>
          </p:cNvPicPr>
          <p:nvPr/>
        </p:nvPicPr>
        <p:blipFill>
          <a:blip r:embed="rId7"/>
          <a:stretch>
            <a:fillRect/>
          </a:stretch>
        </p:blipFill>
        <p:spPr>
          <a:xfrm>
            <a:off x="959023" y="3199303"/>
            <a:ext cx="294803" cy="294803"/>
          </a:xfrm>
          <a:prstGeom prst="rect">
            <a:avLst/>
          </a:prstGeom>
        </p:spPr>
      </p:pic>
      <p:sp>
        <p:nvSpPr>
          <p:cNvPr id="38" name="Text 30"/>
          <p:cNvSpPr txBox="1"/>
          <p:nvPr/>
        </p:nvSpPr>
        <p:spPr>
          <a:xfrm>
            <a:off x="484632" y="3685032"/>
            <a:ext cx="1243584" cy="41148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User question</a:t>
            </a:r>
            <a:endParaRPr lang="en-US" sz="1100" dirty="0"/>
          </a:p>
        </p:txBody>
      </p:sp>
      <p:sp>
        <p:nvSpPr>
          <p:cNvPr id="39" name="Shape 31"/>
          <p:cNvSpPr/>
          <p:nvPr/>
        </p:nvSpPr>
        <p:spPr>
          <a:xfrm>
            <a:off x="1463040" y="3346704"/>
            <a:ext cx="612648" cy="914"/>
          </a:xfrm>
          <a:prstGeom prst="line">
            <a:avLst/>
          </a:prstGeom>
          <a:noFill/>
          <a:ln w="19050">
            <a:solidFill>
              <a:srgbClr val="5E6964"/>
            </a:solidFill>
            <a:prstDash val="solid"/>
            <a:tailEnd type="triangle"/>
          </a:ln>
        </p:spPr>
      </p:sp>
      <p:sp>
        <p:nvSpPr>
          <p:cNvPr id="40" name="Shape 32"/>
          <p:cNvSpPr/>
          <p:nvPr/>
        </p:nvSpPr>
        <p:spPr>
          <a:xfrm>
            <a:off x="2148840" y="3063240"/>
            <a:ext cx="566928" cy="566928"/>
          </a:xfrm>
          <a:prstGeom prst="ellipse">
            <a:avLst/>
          </a:prstGeom>
          <a:solidFill>
            <a:srgbClr val="FFFFFF"/>
          </a:solidFill>
          <a:ln w="19050">
            <a:solidFill>
              <a:srgbClr val="00704A"/>
            </a:solidFill>
            <a:prstDash val="solid"/>
          </a:ln>
        </p:spPr>
      </p:sp>
      <p:pic>
        <p:nvPicPr>
          <p:cNvPr id="41" name="Image 5" descr="preencoded.png"/>
          <p:cNvPicPr>
            <a:picLocks noChangeAspect="1"/>
          </p:cNvPicPr>
          <p:nvPr/>
        </p:nvPicPr>
        <p:blipFill>
          <a:blip r:embed="rId8"/>
          <a:stretch>
            <a:fillRect/>
          </a:stretch>
        </p:blipFill>
        <p:spPr>
          <a:xfrm>
            <a:off x="2284903" y="3199303"/>
            <a:ext cx="294803" cy="294803"/>
          </a:xfrm>
          <a:prstGeom prst="rect">
            <a:avLst/>
          </a:prstGeom>
        </p:spPr>
      </p:pic>
      <p:sp>
        <p:nvSpPr>
          <p:cNvPr id="42" name="Text 33"/>
          <p:cNvSpPr txBox="1"/>
          <p:nvPr/>
        </p:nvSpPr>
        <p:spPr>
          <a:xfrm>
            <a:off x="1810512" y="3685032"/>
            <a:ext cx="1243584" cy="41148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Query rewriting (optional)</a:t>
            </a:r>
            <a:endParaRPr lang="en-US" sz="1100" dirty="0"/>
          </a:p>
        </p:txBody>
      </p:sp>
      <p:sp>
        <p:nvSpPr>
          <p:cNvPr id="43" name="Shape 34"/>
          <p:cNvSpPr/>
          <p:nvPr/>
        </p:nvSpPr>
        <p:spPr>
          <a:xfrm>
            <a:off x="2788920" y="3346704"/>
            <a:ext cx="612648" cy="914"/>
          </a:xfrm>
          <a:prstGeom prst="line">
            <a:avLst/>
          </a:prstGeom>
          <a:noFill/>
          <a:ln w="19050">
            <a:solidFill>
              <a:srgbClr val="5E6964"/>
            </a:solidFill>
            <a:prstDash val="solid"/>
            <a:tailEnd type="triangle"/>
          </a:ln>
        </p:spPr>
      </p:sp>
      <p:sp>
        <p:nvSpPr>
          <p:cNvPr id="44" name="Shape 35"/>
          <p:cNvSpPr/>
          <p:nvPr/>
        </p:nvSpPr>
        <p:spPr>
          <a:xfrm>
            <a:off x="3474720" y="3063240"/>
            <a:ext cx="566928" cy="566928"/>
          </a:xfrm>
          <a:prstGeom prst="ellipse">
            <a:avLst/>
          </a:prstGeom>
          <a:solidFill>
            <a:srgbClr val="FFFFFF"/>
          </a:solidFill>
          <a:ln w="19050">
            <a:solidFill>
              <a:srgbClr val="00704A"/>
            </a:solidFill>
            <a:prstDash val="solid"/>
          </a:ln>
        </p:spPr>
      </p:sp>
      <p:pic>
        <p:nvPicPr>
          <p:cNvPr id="45" name="Image 6" descr="preencoded.png"/>
          <p:cNvPicPr>
            <a:picLocks noChangeAspect="1"/>
          </p:cNvPicPr>
          <p:nvPr/>
        </p:nvPicPr>
        <p:blipFill>
          <a:blip r:embed="rId9"/>
          <a:stretch>
            <a:fillRect/>
          </a:stretch>
        </p:blipFill>
        <p:spPr>
          <a:xfrm>
            <a:off x="3610783" y="3199303"/>
            <a:ext cx="294803" cy="294803"/>
          </a:xfrm>
          <a:prstGeom prst="rect">
            <a:avLst/>
          </a:prstGeom>
        </p:spPr>
      </p:pic>
      <p:sp>
        <p:nvSpPr>
          <p:cNvPr id="46" name="Text 36"/>
          <p:cNvSpPr txBox="1"/>
          <p:nvPr/>
        </p:nvSpPr>
        <p:spPr>
          <a:xfrm>
            <a:off x="3136392" y="3685032"/>
            <a:ext cx="1243584" cy="41148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Query embedding</a:t>
            </a:r>
            <a:endParaRPr lang="en-US" sz="1100" dirty="0"/>
          </a:p>
        </p:txBody>
      </p:sp>
      <p:sp>
        <p:nvSpPr>
          <p:cNvPr id="47" name="Shape 37"/>
          <p:cNvSpPr/>
          <p:nvPr/>
        </p:nvSpPr>
        <p:spPr>
          <a:xfrm>
            <a:off x="4114800" y="3346704"/>
            <a:ext cx="612648" cy="914"/>
          </a:xfrm>
          <a:prstGeom prst="line">
            <a:avLst/>
          </a:prstGeom>
          <a:noFill/>
          <a:ln w="19050">
            <a:solidFill>
              <a:srgbClr val="5E6964"/>
            </a:solidFill>
            <a:prstDash val="solid"/>
            <a:tailEnd type="triangle"/>
          </a:ln>
        </p:spPr>
      </p:sp>
      <p:sp>
        <p:nvSpPr>
          <p:cNvPr id="48" name="Shape 38"/>
          <p:cNvSpPr/>
          <p:nvPr/>
        </p:nvSpPr>
        <p:spPr>
          <a:xfrm>
            <a:off x="4800600" y="3063240"/>
            <a:ext cx="566928" cy="566928"/>
          </a:xfrm>
          <a:prstGeom prst="ellipse">
            <a:avLst/>
          </a:prstGeom>
          <a:solidFill>
            <a:srgbClr val="FFFFFF"/>
          </a:solidFill>
          <a:ln w="19050">
            <a:solidFill>
              <a:srgbClr val="00704A"/>
            </a:solidFill>
            <a:prstDash val="solid"/>
          </a:ln>
        </p:spPr>
      </p:sp>
      <p:pic>
        <p:nvPicPr>
          <p:cNvPr id="49" name="Image 7" descr="preencoded.png"/>
          <p:cNvPicPr>
            <a:picLocks noChangeAspect="1"/>
          </p:cNvPicPr>
          <p:nvPr/>
        </p:nvPicPr>
        <p:blipFill>
          <a:blip r:embed="rId10"/>
          <a:stretch>
            <a:fillRect/>
          </a:stretch>
        </p:blipFill>
        <p:spPr>
          <a:xfrm>
            <a:off x="4936663" y="3199303"/>
            <a:ext cx="294803" cy="294803"/>
          </a:xfrm>
          <a:prstGeom prst="rect">
            <a:avLst/>
          </a:prstGeom>
        </p:spPr>
      </p:pic>
      <p:sp>
        <p:nvSpPr>
          <p:cNvPr id="50" name="Text 39"/>
          <p:cNvSpPr txBox="1"/>
          <p:nvPr/>
        </p:nvSpPr>
        <p:spPr>
          <a:xfrm>
            <a:off x="4462272" y="3685032"/>
            <a:ext cx="1243584" cy="41148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Similarity search</a:t>
            </a:r>
            <a:endParaRPr lang="en-US" sz="1100" dirty="0"/>
          </a:p>
        </p:txBody>
      </p:sp>
      <p:sp>
        <p:nvSpPr>
          <p:cNvPr id="51" name="Shape 40"/>
          <p:cNvSpPr/>
          <p:nvPr/>
        </p:nvSpPr>
        <p:spPr>
          <a:xfrm>
            <a:off x="5440680" y="3346704"/>
            <a:ext cx="612648" cy="914"/>
          </a:xfrm>
          <a:prstGeom prst="line">
            <a:avLst/>
          </a:prstGeom>
          <a:noFill/>
          <a:ln w="19050">
            <a:solidFill>
              <a:srgbClr val="5E6964"/>
            </a:solidFill>
            <a:prstDash val="solid"/>
            <a:tailEnd type="triangle"/>
          </a:ln>
        </p:spPr>
      </p:sp>
      <p:sp>
        <p:nvSpPr>
          <p:cNvPr id="52" name="Shape 41"/>
          <p:cNvSpPr/>
          <p:nvPr/>
        </p:nvSpPr>
        <p:spPr>
          <a:xfrm>
            <a:off x="6126480" y="3063240"/>
            <a:ext cx="566928" cy="566928"/>
          </a:xfrm>
          <a:prstGeom prst="ellipse">
            <a:avLst/>
          </a:prstGeom>
          <a:solidFill>
            <a:srgbClr val="FFFFFF"/>
          </a:solidFill>
          <a:ln w="19050">
            <a:solidFill>
              <a:srgbClr val="00704A"/>
            </a:solidFill>
            <a:prstDash val="solid"/>
          </a:ln>
        </p:spPr>
      </p:sp>
      <p:pic>
        <p:nvPicPr>
          <p:cNvPr id="53" name="Image 8" descr="preencoded.png"/>
          <p:cNvPicPr>
            <a:picLocks noChangeAspect="1"/>
          </p:cNvPicPr>
          <p:nvPr/>
        </p:nvPicPr>
        <p:blipFill>
          <a:blip r:embed="rId11"/>
          <a:stretch>
            <a:fillRect/>
          </a:stretch>
        </p:blipFill>
        <p:spPr>
          <a:xfrm>
            <a:off x="6262543" y="3199303"/>
            <a:ext cx="294803" cy="294803"/>
          </a:xfrm>
          <a:prstGeom prst="rect">
            <a:avLst/>
          </a:prstGeom>
        </p:spPr>
      </p:pic>
      <p:sp>
        <p:nvSpPr>
          <p:cNvPr id="54" name="Text 42"/>
          <p:cNvSpPr txBox="1"/>
          <p:nvPr/>
        </p:nvSpPr>
        <p:spPr>
          <a:xfrm>
            <a:off x="5788152" y="3685032"/>
            <a:ext cx="1243584" cy="41148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Augmented prompt</a:t>
            </a:r>
            <a:endParaRPr lang="en-US" sz="1100" dirty="0"/>
          </a:p>
        </p:txBody>
      </p:sp>
      <p:sp>
        <p:nvSpPr>
          <p:cNvPr id="55" name="Shape 43"/>
          <p:cNvSpPr/>
          <p:nvPr/>
        </p:nvSpPr>
        <p:spPr>
          <a:xfrm>
            <a:off x="6766560" y="3346704"/>
            <a:ext cx="612648" cy="914"/>
          </a:xfrm>
          <a:prstGeom prst="line">
            <a:avLst/>
          </a:prstGeom>
          <a:noFill/>
          <a:ln w="19050">
            <a:solidFill>
              <a:srgbClr val="5E6964"/>
            </a:solidFill>
            <a:prstDash val="solid"/>
            <a:tailEnd type="triangle"/>
          </a:ln>
        </p:spPr>
      </p:sp>
      <p:sp>
        <p:nvSpPr>
          <p:cNvPr id="56" name="Shape 44"/>
          <p:cNvSpPr/>
          <p:nvPr/>
        </p:nvSpPr>
        <p:spPr>
          <a:xfrm>
            <a:off x="7452360" y="3063240"/>
            <a:ext cx="566928" cy="566928"/>
          </a:xfrm>
          <a:prstGeom prst="ellipse">
            <a:avLst/>
          </a:prstGeom>
          <a:solidFill>
            <a:srgbClr val="F5C242"/>
          </a:solidFill>
          <a:ln w="12700">
            <a:solidFill>
              <a:srgbClr val="F5C242"/>
            </a:solidFill>
            <a:prstDash val="solid"/>
          </a:ln>
        </p:spPr>
      </p:sp>
      <p:pic>
        <p:nvPicPr>
          <p:cNvPr id="57" name="Image 9" descr="preencoded.png"/>
          <p:cNvPicPr>
            <a:picLocks noChangeAspect="1"/>
          </p:cNvPicPr>
          <p:nvPr/>
        </p:nvPicPr>
        <p:blipFill>
          <a:blip r:embed="rId12"/>
          <a:stretch>
            <a:fillRect/>
          </a:stretch>
        </p:blipFill>
        <p:spPr>
          <a:xfrm>
            <a:off x="7588423" y="3199303"/>
            <a:ext cx="294803" cy="294803"/>
          </a:xfrm>
          <a:prstGeom prst="rect">
            <a:avLst/>
          </a:prstGeom>
        </p:spPr>
      </p:pic>
      <p:sp>
        <p:nvSpPr>
          <p:cNvPr id="58" name="Text 45"/>
          <p:cNvSpPr txBox="1"/>
          <p:nvPr/>
        </p:nvSpPr>
        <p:spPr>
          <a:xfrm>
            <a:off x="7114032" y="3685032"/>
            <a:ext cx="1243584" cy="41148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LLM → grounded answer</a:t>
            </a:r>
            <a:endParaRPr lang="en-US" sz="1100" dirty="0"/>
          </a:p>
        </p:txBody>
      </p:sp>
      <p:sp>
        <p:nvSpPr>
          <p:cNvPr id="59" name="Shape 46"/>
          <p:cNvSpPr/>
          <p:nvPr/>
        </p:nvSpPr>
        <p:spPr>
          <a:xfrm>
            <a:off x="5084064" y="2350008"/>
            <a:ext cx="914" cy="667512"/>
          </a:xfrm>
          <a:prstGeom prst="line">
            <a:avLst/>
          </a:prstGeom>
          <a:noFill/>
          <a:ln w="25400">
            <a:solidFill>
              <a:srgbClr val="D49A00"/>
            </a:solidFill>
            <a:prstDash val="solid"/>
            <a:tailEnd type="triangle"/>
          </a:ln>
        </p:spPr>
      </p:sp>
      <p:sp>
        <p:nvSpPr>
          <p:cNvPr id="60" name="Shape 47"/>
          <p:cNvSpPr/>
          <p:nvPr/>
        </p:nvSpPr>
        <p:spPr>
          <a:xfrm>
            <a:off x="5193792" y="2560320"/>
            <a:ext cx="960120" cy="237744"/>
          </a:xfrm>
          <a:prstGeom prst="roundRect">
            <a:avLst>
              <a:gd name="adj" fmla="val 50000"/>
            </a:avLst>
          </a:prstGeom>
          <a:solidFill>
            <a:srgbClr val="D49A00">
              <a:alpha val="15000"/>
            </a:srgbClr>
          </a:solidFill>
          <a:ln w="9525">
            <a:solidFill>
              <a:srgbClr val="D49A00"/>
            </a:solidFill>
            <a:prstDash val="solid"/>
          </a:ln>
        </p:spPr>
      </p:sp>
      <p:sp>
        <p:nvSpPr>
          <p:cNvPr id="61" name="Text 48"/>
          <p:cNvSpPr txBox="1"/>
          <p:nvPr/>
        </p:nvSpPr>
        <p:spPr>
          <a:xfrm>
            <a:off x="5193792" y="2560320"/>
            <a:ext cx="960120" cy="237744"/>
          </a:xfrm>
          <a:prstGeom prst="rect">
            <a:avLst/>
          </a:prstGeom>
          <a:noFill/>
          <a:ln/>
        </p:spPr>
        <p:txBody>
          <a:bodyPr wrap="square" lIns="0" tIns="0" rIns="0" bIns="0" rtlCol="0" anchor="ctr"/>
          <a:lstStyle/>
          <a:p>
            <a:pPr marL="0" indent="0" algn="ctr">
              <a:buNone/>
            </a:pPr>
            <a:r>
              <a:rPr lang="en-US" sz="950" b="1" dirty="0">
                <a:solidFill>
                  <a:srgbClr val="D49A00"/>
                </a:solidFill>
                <a:latin typeface="Calibri" pitchFamily="34" charset="0"/>
                <a:ea typeface="Calibri" pitchFamily="34" charset="-122"/>
                <a:cs typeface="Calibri" pitchFamily="34" charset="-120"/>
              </a:rPr>
              <a:t>top-k chunks</a:t>
            </a:r>
            <a:endParaRPr lang="en-US" sz="950" dirty="0"/>
          </a:p>
        </p:txBody>
      </p:sp>
      <p:sp>
        <p:nvSpPr>
          <p:cNvPr id="62" name="Text 49"/>
          <p:cNvSpPr txBox="1"/>
          <p:nvPr/>
        </p:nvSpPr>
        <p:spPr>
          <a:xfrm>
            <a:off x="685800" y="4224528"/>
            <a:ext cx="5486400" cy="27432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② RETRIEVAL &amp; GENERATION  ·  online, at every query</a:t>
            </a:r>
            <a:endParaRPr lang="en-US" sz="13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HOW IT WORKS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RAG in action: one question, end to end</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7" name="Shape 14"/>
          <p:cNvSpPr/>
          <p:nvPr/>
        </p:nvSpPr>
        <p:spPr>
          <a:xfrm>
            <a:off x="731520" y="1600200"/>
            <a:ext cx="0" cy="548640"/>
          </a:xfrm>
          <a:prstGeom prst="line">
            <a:avLst/>
          </a:prstGeom>
          <a:noFill/>
          <a:ln w="25400">
            <a:solidFill>
              <a:srgbClr val="D5DED9"/>
            </a:solidFill>
            <a:prstDash val="solid"/>
          </a:ln>
        </p:spPr>
      </p:sp>
      <p:sp>
        <p:nvSpPr>
          <p:cNvPr id="18" name="Shape 15"/>
          <p:cNvSpPr/>
          <p:nvPr/>
        </p:nvSpPr>
        <p:spPr>
          <a:xfrm>
            <a:off x="566928" y="1399032"/>
            <a:ext cx="329184" cy="329184"/>
          </a:xfrm>
          <a:prstGeom prst="ellipse">
            <a:avLst/>
          </a:prstGeom>
          <a:solidFill>
            <a:srgbClr val="00704A"/>
          </a:solidFill>
          <a:ln w="12700">
            <a:solidFill>
              <a:srgbClr val="00704A"/>
            </a:solidFill>
            <a:prstDash val="solid"/>
          </a:ln>
        </p:spPr>
      </p:sp>
      <p:sp>
        <p:nvSpPr>
          <p:cNvPr id="19" name="Text 16"/>
          <p:cNvSpPr txBox="1"/>
          <p:nvPr/>
        </p:nvSpPr>
        <p:spPr>
          <a:xfrm>
            <a:off x="566928" y="139903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051560" y="1399032"/>
            <a:ext cx="1600200" cy="329184"/>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Question</a:t>
            </a:r>
            <a:endParaRPr lang="en-US" sz="1350" dirty="0"/>
          </a:p>
        </p:txBody>
      </p:sp>
      <p:sp>
        <p:nvSpPr>
          <p:cNvPr id="21" name="Shape 18"/>
          <p:cNvSpPr/>
          <p:nvPr/>
        </p:nvSpPr>
        <p:spPr>
          <a:xfrm>
            <a:off x="2697480" y="1325880"/>
            <a:ext cx="5989320" cy="457200"/>
          </a:xfrm>
          <a:prstGeom prst="roundRect">
            <a:avLst>
              <a:gd name="adj" fmla="val 16000"/>
            </a:avLst>
          </a:prstGeom>
          <a:solidFill>
            <a:srgbClr val="F4F7F5"/>
          </a:solidFill>
          <a:ln w="9525">
            <a:solidFill>
              <a:srgbClr val="D5DED9"/>
            </a:solidFill>
            <a:prstDash val="solid"/>
          </a:ln>
        </p:spPr>
      </p:sp>
      <p:sp>
        <p:nvSpPr>
          <p:cNvPr id="22" name="Text 19"/>
          <p:cNvSpPr txBox="1"/>
          <p:nvPr/>
        </p:nvSpPr>
        <p:spPr>
          <a:xfrm>
            <a:off x="2852928" y="1325880"/>
            <a:ext cx="5715000" cy="457200"/>
          </a:xfrm>
          <a:prstGeom prst="rect">
            <a:avLst/>
          </a:prstGeom>
          <a:noFill/>
          <a:ln/>
        </p:spPr>
        <p:txBody>
          <a:bodyPr wrap="square" lIns="0" tIns="0" rIns="0" bIns="0" rtlCol="0" anchor="ctr"/>
          <a:lstStyle/>
          <a:p>
            <a:pPr marL="0" indent="0">
              <a:spcAft>
                <a:spcPts val="200"/>
              </a:spcAft>
              <a:buNone/>
            </a:pPr>
            <a:r>
              <a:rPr lang="en-US" sz="1200" b="1" dirty="0">
                <a:solidFill>
                  <a:srgbClr val="231F20"/>
                </a:solidFill>
                <a:latin typeface="Calibri" pitchFamily="34" charset="0"/>
                <a:ea typeface="Calibri" pitchFamily="34" charset="-122"/>
                <a:cs typeface="Calibri" pitchFamily="34" charset="-120"/>
              </a:rPr>
              <a:t>“What was the unemployment rate in the second quarter of 2025?”</a:t>
            </a:r>
            <a:endParaRPr lang="en-US" sz="1200" dirty="0"/>
          </a:p>
        </p:txBody>
      </p:sp>
      <p:sp>
        <p:nvSpPr>
          <p:cNvPr id="23" name="Shape 20"/>
          <p:cNvSpPr/>
          <p:nvPr/>
        </p:nvSpPr>
        <p:spPr>
          <a:xfrm>
            <a:off x="731520" y="2167128"/>
            <a:ext cx="0" cy="548640"/>
          </a:xfrm>
          <a:prstGeom prst="line">
            <a:avLst/>
          </a:prstGeom>
          <a:noFill/>
          <a:ln w="25400">
            <a:solidFill>
              <a:srgbClr val="D5DED9"/>
            </a:solidFill>
            <a:prstDash val="solid"/>
          </a:ln>
        </p:spPr>
      </p:sp>
      <p:sp>
        <p:nvSpPr>
          <p:cNvPr id="24" name="Shape 21"/>
          <p:cNvSpPr/>
          <p:nvPr/>
        </p:nvSpPr>
        <p:spPr>
          <a:xfrm>
            <a:off x="566928" y="1965960"/>
            <a:ext cx="329184" cy="329184"/>
          </a:xfrm>
          <a:prstGeom prst="ellipse">
            <a:avLst/>
          </a:prstGeom>
          <a:solidFill>
            <a:srgbClr val="00A86A"/>
          </a:solidFill>
          <a:ln w="12700">
            <a:solidFill>
              <a:srgbClr val="00A86A"/>
            </a:solidFill>
            <a:prstDash val="solid"/>
          </a:ln>
        </p:spPr>
      </p:sp>
      <p:sp>
        <p:nvSpPr>
          <p:cNvPr id="25" name="Text 22"/>
          <p:cNvSpPr txBox="1"/>
          <p:nvPr/>
        </p:nvSpPr>
        <p:spPr>
          <a:xfrm>
            <a:off x="566928" y="19659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Text 23"/>
          <p:cNvSpPr txBox="1"/>
          <p:nvPr/>
        </p:nvSpPr>
        <p:spPr>
          <a:xfrm>
            <a:off x="1051560" y="1965960"/>
            <a:ext cx="1600200" cy="329184"/>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Embed</a:t>
            </a:r>
            <a:endParaRPr lang="en-US" sz="1350" dirty="0"/>
          </a:p>
        </p:txBody>
      </p:sp>
      <p:sp>
        <p:nvSpPr>
          <p:cNvPr id="27" name="Shape 24"/>
          <p:cNvSpPr/>
          <p:nvPr/>
        </p:nvSpPr>
        <p:spPr>
          <a:xfrm>
            <a:off x="2697480" y="1892808"/>
            <a:ext cx="5989320" cy="457200"/>
          </a:xfrm>
          <a:prstGeom prst="roundRect">
            <a:avLst>
              <a:gd name="adj" fmla="val 16000"/>
            </a:avLst>
          </a:prstGeom>
          <a:solidFill>
            <a:srgbClr val="F4F7F5"/>
          </a:solidFill>
          <a:ln w="9525">
            <a:solidFill>
              <a:srgbClr val="D5DED9"/>
            </a:solidFill>
            <a:prstDash val="solid"/>
          </a:ln>
        </p:spPr>
      </p:sp>
      <p:sp>
        <p:nvSpPr>
          <p:cNvPr id="28" name="Text 25"/>
          <p:cNvSpPr txBox="1"/>
          <p:nvPr/>
        </p:nvSpPr>
        <p:spPr>
          <a:xfrm>
            <a:off x="2852928" y="1892808"/>
            <a:ext cx="5715000" cy="457200"/>
          </a:xfrm>
          <a:prstGeom prst="rect">
            <a:avLst/>
          </a:prstGeom>
          <a:noFill/>
          <a:ln/>
        </p:spPr>
        <p:txBody>
          <a:bodyPr wrap="square" lIns="0" tIns="0" rIns="0" bIns="0" rtlCol="0" anchor="ctr"/>
          <a:lstStyle/>
          <a:p>
            <a:pPr marL="0" indent="0">
              <a:spcAft>
                <a:spcPts val="200"/>
              </a:spcAft>
              <a:buNone/>
            </a:pPr>
            <a:r>
              <a:rPr lang="en-US" sz="1200" b="1" dirty="0">
                <a:solidFill>
                  <a:srgbClr val="00704A"/>
                </a:solidFill>
                <a:latin typeface="Courier New" pitchFamily="34" charset="0"/>
                <a:ea typeface="Courier New" pitchFamily="34" charset="-122"/>
                <a:cs typeface="Courier New" pitchFamily="34" charset="-120"/>
              </a:rPr>
              <a:t>[ 0.021, −0.487, 0.913, 0.106, … ]</a:t>
            </a:r>
            <a:r>
              <a:rPr lang="en-US" sz="1200" i="1" dirty="0">
                <a:solidFill>
                  <a:srgbClr val="5E6964"/>
                </a:solidFill>
                <a:latin typeface="Calibri" pitchFamily="34" charset="0"/>
                <a:ea typeface="Calibri" pitchFamily="34" charset="-122"/>
                <a:cs typeface="Calibri" pitchFamily="34" charset="-120"/>
              </a:rPr>
              <a:t>   same model as the documents</a:t>
            </a:r>
            <a:endParaRPr lang="en-US" sz="1200" dirty="0"/>
          </a:p>
        </p:txBody>
      </p:sp>
      <p:sp>
        <p:nvSpPr>
          <p:cNvPr id="29" name="Shape 26"/>
          <p:cNvSpPr/>
          <p:nvPr/>
        </p:nvSpPr>
        <p:spPr>
          <a:xfrm>
            <a:off x="731520" y="2734056"/>
            <a:ext cx="0" cy="1024128"/>
          </a:xfrm>
          <a:prstGeom prst="line">
            <a:avLst/>
          </a:prstGeom>
          <a:noFill/>
          <a:ln w="25400">
            <a:solidFill>
              <a:srgbClr val="D5DED9"/>
            </a:solidFill>
            <a:prstDash val="solid"/>
          </a:ln>
        </p:spPr>
      </p:sp>
      <p:sp>
        <p:nvSpPr>
          <p:cNvPr id="30" name="Shape 27"/>
          <p:cNvSpPr/>
          <p:nvPr/>
        </p:nvSpPr>
        <p:spPr>
          <a:xfrm>
            <a:off x="566928" y="2532888"/>
            <a:ext cx="329184" cy="329184"/>
          </a:xfrm>
          <a:prstGeom prst="ellipse">
            <a:avLst/>
          </a:prstGeom>
          <a:solidFill>
            <a:srgbClr val="0E7C86"/>
          </a:solidFill>
          <a:ln w="12700">
            <a:solidFill>
              <a:srgbClr val="0E7C86"/>
            </a:solidFill>
            <a:prstDash val="solid"/>
          </a:ln>
        </p:spPr>
      </p:sp>
      <p:sp>
        <p:nvSpPr>
          <p:cNvPr id="31" name="Text 28"/>
          <p:cNvSpPr txBox="1"/>
          <p:nvPr/>
        </p:nvSpPr>
        <p:spPr>
          <a:xfrm>
            <a:off x="566928" y="25328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051560" y="2532888"/>
            <a:ext cx="1600200" cy="329184"/>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Retrieve &amp; rerank</a:t>
            </a:r>
            <a:endParaRPr lang="en-US" sz="1350" dirty="0"/>
          </a:p>
        </p:txBody>
      </p:sp>
      <p:sp>
        <p:nvSpPr>
          <p:cNvPr id="33" name="Shape 30"/>
          <p:cNvSpPr/>
          <p:nvPr/>
        </p:nvSpPr>
        <p:spPr>
          <a:xfrm>
            <a:off x="2697480" y="2459736"/>
            <a:ext cx="5989320" cy="932688"/>
          </a:xfrm>
          <a:prstGeom prst="roundRect">
            <a:avLst>
              <a:gd name="adj" fmla="val 7843"/>
            </a:avLst>
          </a:prstGeom>
          <a:solidFill>
            <a:srgbClr val="F4F7F5"/>
          </a:solidFill>
          <a:ln w="9525">
            <a:solidFill>
              <a:srgbClr val="D5DED9"/>
            </a:solidFill>
            <a:prstDash val="solid"/>
          </a:ln>
        </p:spPr>
      </p:sp>
      <p:sp>
        <p:nvSpPr>
          <p:cNvPr id="34" name="Text 31"/>
          <p:cNvSpPr txBox="1"/>
          <p:nvPr/>
        </p:nvSpPr>
        <p:spPr>
          <a:xfrm>
            <a:off x="2852928" y="2459736"/>
            <a:ext cx="5715000" cy="932688"/>
          </a:xfrm>
          <a:prstGeom prst="rect">
            <a:avLst/>
          </a:prstGeom>
          <a:noFill/>
          <a:ln/>
        </p:spPr>
        <p:txBody>
          <a:bodyPr wrap="square" lIns="0" tIns="0" rIns="0" bIns="0" rtlCol="0" anchor="ctr"/>
          <a:lstStyle/>
          <a:p>
            <a:pPr marL="0" indent="0">
              <a:spcAft>
                <a:spcPts val="200"/>
              </a:spcAft>
              <a:buNone/>
            </a:pPr>
            <a:r>
              <a:rPr lang="en-US" sz="1100" b="1" dirty="0">
                <a:solidFill>
                  <a:srgbClr val="00704A"/>
                </a:solidFill>
                <a:latin typeface="Courier New" pitchFamily="34" charset="0"/>
                <a:ea typeface="Courier New" pitchFamily="34" charset="-122"/>
                <a:cs typeface="Courier New" pitchFamily="34" charset="-120"/>
              </a:rPr>
              <a:t>0.91  </a:t>
            </a:r>
            <a:r>
              <a:rPr lang="en-US" sz="1100" dirty="0">
                <a:solidFill>
                  <a:srgbClr val="231F20"/>
                </a:solidFill>
                <a:latin typeface="Calibri" pitchFamily="34" charset="0"/>
                <a:ea typeface="Calibri" pitchFamily="34" charset="-122"/>
                <a:cs typeface="Calibri" pitchFamily="34" charset="-120"/>
              </a:rPr>
              <a:t>[1] Labour Market Report 2025, Table 1 — unemployment rate, Q2: 7.8%</a:t>
            </a:r>
            <a:endParaRPr lang="en-US" sz="1100" dirty="0"/>
          </a:p>
          <a:p>
            <a:pPr marL="0" indent="0">
              <a:spcAft>
                <a:spcPts val="200"/>
              </a:spcAft>
              <a:buNone/>
            </a:pPr>
            <a:r>
              <a:rPr lang="en-US" sz="1100" b="1" dirty="0">
                <a:solidFill>
                  <a:srgbClr val="00704A"/>
                </a:solidFill>
                <a:latin typeface="Courier New" pitchFamily="34" charset="0"/>
                <a:ea typeface="Courier New" pitchFamily="34" charset="-122"/>
                <a:cs typeface="Courier New" pitchFamily="34" charset="-120"/>
              </a:rPr>
              <a:t>0.78  </a:t>
            </a:r>
            <a:r>
              <a:rPr lang="en-US" sz="1100" dirty="0">
                <a:solidFill>
                  <a:srgbClr val="231F20"/>
                </a:solidFill>
                <a:latin typeface="Calibri" pitchFamily="34" charset="0"/>
                <a:ea typeface="Calibri" pitchFamily="34" charset="-122"/>
                <a:cs typeface="Calibri" pitchFamily="34" charset="-120"/>
              </a:rPr>
              <a:t>[2] Labour Market Report 2025, §2 Key findings — annual average 7.9%</a:t>
            </a:r>
            <a:endParaRPr lang="en-US" sz="1100" dirty="0"/>
          </a:p>
          <a:p>
            <a:pPr marL="0" indent="0">
              <a:spcAft>
                <a:spcPts val="200"/>
              </a:spcAft>
              <a:buNone/>
            </a:pPr>
            <a:r>
              <a:rPr lang="en-US" sz="1100" b="1" dirty="0">
                <a:solidFill>
                  <a:srgbClr val="B83B2E"/>
                </a:solidFill>
                <a:latin typeface="Courier New" pitchFamily="34" charset="0"/>
                <a:ea typeface="Courier New" pitchFamily="34" charset="-122"/>
                <a:cs typeface="Courier New" pitchFamily="34" charset="-120"/>
              </a:rPr>
              <a:t>0.35  </a:t>
            </a:r>
            <a:r>
              <a:rPr lang="en-US" sz="1100" dirty="0">
                <a:solidFill>
                  <a:srgbClr val="5E6964"/>
                </a:solidFill>
                <a:latin typeface="Calibri" pitchFamily="34" charset="0"/>
                <a:ea typeface="Calibri" pitchFamily="34" charset="-122"/>
                <a:cs typeface="Calibri" pitchFamily="34" charset="-120"/>
              </a:rPr>
              <a:t>Census 2024 — population by region  </a:t>
            </a:r>
            <a:r>
              <a:rPr lang="en-US" sz="1100" i="1" dirty="0">
                <a:solidFill>
                  <a:srgbClr val="B83B2E"/>
                </a:solidFill>
                <a:latin typeface="Calibri" pitchFamily="34" charset="0"/>
                <a:ea typeface="Calibri" pitchFamily="34" charset="-122"/>
                <a:cs typeface="Calibri" pitchFamily="34" charset="-120"/>
              </a:rPr>
              <a:t>(dropped)</a:t>
            </a:r>
            <a:endParaRPr lang="en-US" sz="1100" dirty="0"/>
          </a:p>
        </p:txBody>
      </p:sp>
      <p:sp>
        <p:nvSpPr>
          <p:cNvPr id="35" name="Shape 32"/>
          <p:cNvSpPr/>
          <p:nvPr/>
        </p:nvSpPr>
        <p:spPr>
          <a:xfrm>
            <a:off x="731520" y="3776472"/>
            <a:ext cx="0" cy="548640"/>
          </a:xfrm>
          <a:prstGeom prst="line">
            <a:avLst/>
          </a:prstGeom>
          <a:noFill/>
          <a:ln w="25400">
            <a:solidFill>
              <a:srgbClr val="D5DED9"/>
            </a:solidFill>
            <a:prstDash val="solid"/>
          </a:ln>
        </p:spPr>
      </p:sp>
      <p:sp>
        <p:nvSpPr>
          <p:cNvPr id="36" name="Shape 33"/>
          <p:cNvSpPr/>
          <p:nvPr/>
        </p:nvSpPr>
        <p:spPr>
          <a:xfrm>
            <a:off x="566928" y="3575304"/>
            <a:ext cx="329184" cy="329184"/>
          </a:xfrm>
          <a:prstGeom prst="ellipse">
            <a:avLst/>
          </a:prstGeom>
          <a:solidFill>
            <a:srgbClr val="D49A00"/>
          </a:solidFill>
          <a:ln w="12700">
            <a:solidFill>
              <a:srgbClr val="D49A00"/>
            </a:solidFill>
            <a:prstDash val="solid"/>
          </a:ln>
        </p:spPr>
      </p:sp>
      <p:sp>
        <p:nvSpPr>
          <p:cNvPr id="37" name="Text 34"/>
          <p:cNvSpPr txBox="1"/>
          <p:nvPr/>
        </p:nvSpPr>
        <p:spPr>
          <a:xfrm>
            <a:off x="566928" y="3575304"/>
            <a:ext cx="329184" cy="329184"/>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4</a:t>
            </a:r>
            <a:endParaRPr lang="en-US" sz="1200" dirty="0"/>
          </a:p>
        </p:txBody>
      </p:sp>
      <p:sp>
        <p:nvSpPr>
          <p:cNvPr id="38" name="Text 35"/>
          <p:cNvSpPr txBox="1"/>
          <p:nvPr/>
        </p:nvSpPr>
        <p:spPr>
          <a:xfrm>
            <a:off x="1051560" y="3575304"/>
            <a:ext cx="1600200" cy="329184"/>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Augment</a:t>
            </a:r>
            <a:endParaRPr lang="en-US" sz="1350" dirty="0"/>
          </a:p>
        </p:txBody>
      </p:sp>
      <p:sp>
        <p:nvSpPr>
          <p:cNvPr id="39" name="Shape 36"/>
          <p:cNvSpPr/>
          <p:nvPr/>
        </p:nvSpPr>
        <p:spPr>
          <a:xfrm>
            <a:off x="2697480" y="3502152"/>
            <a:ext cx="5989320" cy="457200"/>
          </a:xfrm>
          <a:prstGeom prst="roundRect">
            <a:avLst>
              <a:gd name="adj" fmla="val 16000"/>
            </a:avLst>
          </a:prstGeom>
          <a:solidFill>
            <a:srgbClr val="F4F7F5"/>
          </a:solidFill>
          <a:ln w="9525">
            <a:solidFill>
              <a:srgbClr val="D5DED9"/>
            </a:solidFill>
            <a:prstDash val="solid"/>
          </a:ln>
        </p:spPr>
      </p:sp>
      <p:sp>
        <p:nvSpPr>
          <p:cNvPr id="40" name="Text 37"/>
          <p:cNvSpPr txBox="1"/>
          <p:nvPr/>
        </p:nvSpPr>
        <p:spPr>
          <a:xfrm>
            <a:off x="2852928" y="3502152"/>
            <a:ext cx="5715000" cy="457200"/>
          </a:xfrm>
          <a:prstGeom prst="rect">
            <a:avLst/>
          </a:prstGeom>
          <a:noFill/>
          <a:ln/>
        </p:spPr>
        <p:txBody>
          <a:bodyPr wrap="square" lIns="0" tIns="0" rIns="0" bIns="0" rtlCol="0" anchor="ctr"/>
          <a:lstStyle/>
          <a:p>
            <a:pPr marL="0" indent="0">
              <a:spcAft>
                <a:spcPts val="200"/>
              </a:spcAft>
              <a:buNone/>
            </a:pPr>
            <a:r>
              <a:rPr lang="en-US" sz="1200" dirty="0">
                <a:solidFill>
                  <a:srgbClr val="231F20"/>
                </a:solidFill>
                <a:latin typeface="Calibri" pitchFamily="34" charset="0"/>
                <a:ea typeface="Calibri" pitchFamily="34" charset="-122"/>
                <a:cs typeface="Calibri" pitchFamily="34" charset="-120"/>
              </a:rPr>
              <a:t>Instructions + chunks [1] [2] + question  →  one prompt sent to the LLM</a:t>
            </a:r>
            <a:endParaRPr lang="en-US" sz="1200" dirty="0"/>
          </a:p>
        </p:txBody>
      </p:sp>
      <p:sp>
        <p:nvSpPr>
          <p:cNvPr id="41" name="Shape 38"/>
          <p:cNvSpPr/>
          <p:nvPr/>
        </p:nvSpPr>
        <p:spPr>
          <a:xfrm>
            <a:off x="566928" y="4142232"/>
            <a:ext cx="329184" cy="329184"/>
          </a:xfrm>
          <a:prstGeom prst="ellipse">
            <a:avLst/>
          </a:prstGeom>
          <a:solidFill>
            <a:srgbClr val="00A86A"/>
          </a:solidFill>
          <a:ln w="12700">
            <a:solidFill>
              <a:srgbClr val="00A86A"/>
            </a:solidFill>
            <a:prstDash val="solid"/>
          </a:ln>
        </p:spPr>
      </p:sp>
      <p:sp>
        <p:nvSpPr>
          <p:cNvPr id="42" name="Text 39"/>
          <p:cNvSpPr txBox="1"/>
          <p:nvPr/>
        </p:nvSpPr>
        <p:spPr>
          <a:xfrm>
            <a:off x="566928" y="414223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3" name="Text 40"/>
          <p:cNvSpPr txBox="1"/>
          <p:nvPr/>
        </p:nvSpPr>
        <p:spPr>
          <a:xfrm>
            <a:off x="1051560" y="4142232"/>
            <a:ext cx="1600200" cy="329184"/>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Generate</a:t>
            </a:r>
            <a:endParaRPr lang="en-US" sz="1350" dirty="0"/>
          </a:p>
        </p:txBody>
      </p:sp>
      <p:sp>
        <p:nvSpPr>
          <p:cNvPr id="44" name="Shape 41"/>
          <p:cNvSpPr/>
          <p:nvPr/>
        </p:nvSpPr>
        <p:spPr>
          <a:xfrm>
            <a:off x="2697480" y="4069080"/>
            <a:ext cx="5989320" cy="548640"/>
          </a:xfrm>
          <a:prstGeom prst="roundRect">
            <a:avLst>
              <a:gd name="adj" fmla="val 13333"/>
            </a:avLst>
          </a:prstGeom>
          <a:solidFill>
            <a:srgbClr val="E8F5EF"/>
          </a:solidFill>
          <a:ln w="15875">
            <a:solidFill>
              <a:srgbClr val="00A86A"/>
            </a:solidFill>
            <a:prstDash val="solid"/>
          </a:ln>
        </p:spPr>
      </p:sp>
      <p:sp>
        <p:nvSpPr>
          <p:cNvPr id="45" name="Text 42"/>
          <p:cNvSpPr txBox="1"/>
          <p:nvPr/>
        </p:nvSpPr>
        <p:spPr>
          <a:xfrm>
            <a:off x="2852928" y="4069080"/>
            <a:ext cx="5715000" cy="548640"/>
          </a:xfrm>
          <a:prstGeom prst="rect">
            <a:avLst/>
          </a:prstGeom>
          <a:noFill/>
          <a:ln/>
        </p:spPr>
        <p:txBody>
          <a:bodyPr wrap="square" lIns="0" tIns="0" rIns="0" bIns="0" rtlCol="0" anchor="ctr"/>
          <a:lstStyle/>
          <a:p>
            <a:pPr marL="0" indent="0">
              <a:spcAft>
                <a:spcPts val="200"/>
              </a:spcAft>
              <a:buNone/>
            </a:pPr>
            <a:r>
              <a:rPr lang="en-US" sz="1200" b="1" dirty="0">
                <a:solidFill>
                  <a:srgbClr val="231F20"/>
                </a:solidFill>
                <a:latin typeface="Calibri" pitchFamily="34" charset="0"/>
                <a:ea typeface="Calibri" pitchFamily="34" charset="-122"/>
                <a:cs typeface="Calibri" pitchFamily="34" charset="-120"/>
              </a:rPr>
              <a:t>“The unemployment rate stood at 7.8% in the second quarter of 2025 </a:t>
            </a:r>
            <a:r>
              <a:rPr lang="en-US" sz="1200" b="1" dirty="0">
                <a:solidFill>
                  <a:srgbClr val="00704A"/>
                </a:solidFill>
                <a:latin typeface="Calibri" pitchFamily="34" charset="0"/>
                <a:ea typeface="Calibri" pitchFamily="34" charset="-122"/>
                <a:cs typeface="Calibri" pitchFamily="34" charset="-120"/>
              </a:rPr>
              <a:t>[1]</a:t>
            </a:r>
            <a:r>
              <a:rPr lang="en-US" sz="1200" b="1" dirty="0">
                <a:solidFill>
                  <a:srgbClr val="231F20"/>
                </a:solidFill>
                <a:latin typeface="Calibri" pitchFamily="34" charset="0"/>
                <a:ea typeface="Calibri" pitchFamily="34" charset="-122"/>
                <a:cs typeface="Calibri" pitchFamily="34" charset="-120"/>
              </a:rPr>
              <a:t>; the annual average was 7.9% </a:t>
            </a:r>
            <a:r>
              <a:rPr lang="en-US" sz="1200" b="1" dirty="0">
                <a:solidFill>
                  <a:srgbClr val="00704A"/>
                </a:solidFill>
                <a:latin typeface="Calibri" pitchFamily="34" charset="0"/>
                <a:ea typeface="Calibri" pitchFamily="34" charset="-122"/>
                <a:cs typeface="Calibri" pitchFamily="34" charset="-120"/>
              </a:rPr>
              <a:t>[2]</a:t>
            </a:r>
            <a:r>
              <a:rPr lang="en-US" sz="1200" b="1" dirty="0">
                <a:solidFill>
                  <a:srgbClr val="231F20"/>
                </a:solidFill>
                <a:latin typeface="Calibri" pitchFamily="34" charset="0"/>
                <a:ea typeface="Calibri" pitchFamily="34" charset="-122"/>
                <a:cs typeface="Calibri" pitchFamily="34" charset="-120"/>
              </a:rPr>
              <a:t>.”</a:t>
            </a:r>
            <a:endParaRPr lang="en-US" sz="1200" dirty="0"/>
          </a:p>
        </p:txBody>
      </p:sp>
      <p:sp>
        <p:nvSpPr>
          <p:cNvPr id="46" name="Text 43"/>
          <p:cNvSpPr txBox="1"/>
          <p:nvPr/>
        </p:nvSpPr>
        <p:spPr>
          <a:xfrm>
            <a:off x="2697480" y="4645152"/>
            <a:ext cx="457200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Illustrative — the fictitious reports of the workshop notebook; vectors and scores simplified.</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HOW IT WORKS · STEP 3 RETRIEVAL</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Sparse, dense, hybrid — then rerank</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7" name="Shape 14"/>
          <p:cNvSpPr/>
          <p:nvPr/>
        </p:nvSpPr>
        <p:spPr>
          <a:xfrm>
            <a:off x="457200" y="1325880"/>
            <a:ext cx="2615184" cy="1783080"/>
          </a:xfrm>
          <a:prstGeom prst="roundRect">
            <a:avLst>
              <a:gd name="adj" fmla="val 4103"/>
            </a:avLst>
          </a:prstGeom>
          <a:solidFill>
            <a:srgbClr val="F4F7F5"/>
          </a:solidFill>
          <a:ln w="9525">
            <a:solidFill>
              <a:srgbClr val="D5DED9"/>
            </a:solidFill>
            <a:prstDash val="solid"/>
          </a:ln>
        </p:spPr>
      </p:sp>
      <p:sp>
        <p:nvSpPr>
          <p:cNvPr id="18" name="Shape 15"/>
          <p:cNvSpPr/>
          <p:nvPr/>
        </p:nvSpPr>
        <p:spPr>
          <a:xfrm>
            <a:off x="640080" y="1463040"/>
            <a:ext cx="457200" cy="457200"/>
          </a:xfrm>
          <a:prstGeom prst="ellipse">
            <a:avLst/>
          </a:prstGeom>
          <a:solidFill>
            <a:srgbClr val="C4621D">
              <a:alpha val="22000"/>
            </a:srgbClr>
          </a:solidFill>
          <a:ln w="12700">
            <a:solidFill>
              <a:srgbClr val="C4621D">
                <a:alpha val="0"/>
              </a:srgbClr>
            </a:solidFill>
            <a:prstDash val="solid"/>
          </a:ln>
        </p:spPr>
      </p:sp>
      <p:pic>
        <p:nvPicPr>
          <p:cNvPr id="19" name="Image 0" descr="preencoded.png"/>
          <p:cNvPicPr>
            <a:picLocks noChangeAspect="1"/>
          </p:cNvPicPr>
          <p:nvPr/>
        </p:nvPicPr>
        <p:blipFill>
          <a:blip r:embed="rId3"/>
          <a:stretch>
            <a:fillRect/>
          </a:stretch>
        </p:blipFill>
        <p:spPr>
          <a:xfrm>
            <a:off x="749808" y="1572768"/>
            <a:ext cx="237744" cy="237744"/>
          </a:xfrm>
          <a:prstGeom prst="rect">
            <a:avLst/>
          </a:prstGeom>
        </p:spPr>
      </p:pic>
      <p:sp>
        <p:nvSpPr>
          <p:cNvPr id="20" name="Text 16"/>
          <p:cNvSpPr txBox="1"/>
          <p:nvPr/>
        </p:nvSpPr>
        <p:spPr>
          <a:xfrm>
            <a:off x="1234440" y="1536192"/>
            <a:ext cx="178308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Sparse · BM25</a:t>
            </a:r>
            <a:endParaRPr lang="en-US" sz="1400" dirty="0"/>
          </a:p>
        </p:txBody>
      </p:sp>
      <p:sp>
        <p:nvSpPr>
          <p:cNvPr id="21" name="Text 17"/>
          <p:cNvSpPr txBox="1"/>
          <p:nvPr/>
        </p:nvSpPr>
        <p:spPr>
          <a:xfrm>
            <a:off x="640080" y="2057400"/>
            <a:ext cx="2286000" cy="4572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Keyword matching with term-frequency weighting.</a:t>
            </a:r>
            <a:endParaRPr lang="en-US" sz="1150" dirty="0"/>
          </a:p>
        </p:txBody>
      </p:sp>
      <p:sp>
        <p:nvSpPr>
          <p:cNvPr id="22" name="Text 18"/>
          <p:cNvSpPr txBox="1"/>
          <p:nvPr/>
        </p:nvSpPr>
        <p:spPr>
          <a:xfrm>
            <a:off x="640080" y="2542032"/>
            <a:ext cx="2286000" cy="45720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Best for exact terms, product codes, names, rare words.</a:t>
            </a:r>
            <a:endParaRPr lang="en-US" sz="1100" dirty="0"/>
          </a:p>
        </p:txBody>
      </p:sp>
      <p:sp>
        <p:nvSpPr>
          <p:cNvPr id="23" name="Shape 19"/>
          <p:cNvSpPr/>
          <p:nvPr/>
        </p:nvSpPr>
        <p:spPr>
          <a:xfrm>
            <a:off x="3264408" y="1325880"/>
            <a:ext cx="2615184" cy="1783080"/>
          </a:xfrm>
          <a:prstGeom prst="roundRect">
            <a:avLst>
              <a:gd name="adj" fmla="val 4103"/>
            </a:avLst>
          </a:prstGeom>
          <a:solidFill>
            <a:srgbClr val="F4F7F5"/>
          </a:solidFill>
          <a:ln w="9525">
            <a:solidFill>
              <a:srgbClr val="D5DED9"/>
            </a:solidFill>
            <a:prstDash val="solid"/>
          </a:ln>
        </p:spPr>
      </p:sp>
      <p:sp>
        <p:nvSpPr>
          <p:cNvPr id="24" name="Shape 20"/>
          <p:cNvSpPr/>
          <p:nvPr/>
        </p:nvSpPr>
        <p:spPr>
          <a:xfrm>
            <a:off x="3447288" y="1463040"/>
            <a:ext cx="457200" cy="457200"/>
          </a:xfrm>
          <a:prstGeom prst="ellipse">
            <a:avLst/>
          </a:prstGeom>
          <a:solidFill>
            <a:srgbClr val="0E7C86">
              <a:alpha val="22000"/>
            </a:srgbClr>
          </a:solidFill>
          <a:ln w="12700">
            <a:solidFill>
              <a:srgbClr val="0E7C86">
                <a:alpha val="0"/>
              </a:srgbClr>
            </a:solidFill>
            <a:prstDash val="solid"/>
          </a:ln>
        </p:spPr>
      </p:sp>
      <p:pic>
        <p:nvPicPr>
          <p:cNvPr id="25" name="Image 1" descr="preencoded.png"/>
          <p:cNvPicPr>
            <a:picLocks noChangeAspect="1"/>
          </p:cNvPicPr>
          <p:nvPr/>
        </p:nvPicPr>
        <p:blipFill>
          <a:blip r:embed="rId4"/>
          <a:stretch>
            <a:fillRect/>
          </a:stretch>
        </p:blipFill>
        <p:spPr>
          <a:xfrm>
            <a:off x="3557016" y="1572768"/>
            <a:ext cx="237744" cy="237744"/>
          </a:xfrm>
          <a:prstGeom prst="rect">
            <a:avLst/>
          </a:prstGeom>
        </p:spPr>
      </p:pic>
      <p:sp>
        <p:nvSpPr>
          <p:cNvPr id="26" name="Text 21"/>
          <p:cNvSpPr txBox="1"/>
          <p:nvPr/>
        </p:nvSpPr>
        <p:spPr>
          <a:xfrm>
            <a:off x="4041648" y="1536192"/>
            <a:ext cx="178308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Dense · Embeddings</a:t>
            </a:r>
            <a:endParaRPr lang="en-US" sz="1400" dirty="0"/>
          </a:p>
        </p:txBody>
      </p:sp>
      <p:sp>
        <p:nvSpPr>
          <p:cNvPr id="27" name="Text 22"/>
          <p:cNvSpPr txBox="1"/>
          <p:nvPr/>
        </p:nvSpPr>
        <p:spPr>
          <a:xfrm>
            <a:off x="3447288" y="2057400"/>
            <a:ext cx="2286000" cy="4572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Vector similarity on meaning.</a:t>
            </a:r>
            <a:endParaRPr lang="en-US" sz="1150" dirty="0"/>
          </a:p>
        </p:txBody>
      </p:sp>
      <p:sp>
        <p:nvSpPr>
          <p:cNvPr id="28" name="Text 23"/>
          <p:cNvSpPr txBox="1"/>
          <p:nvPr/>
        </p:nvSpPr>
        <p:spPr>
          <a:xfrm>
            <a:off x="3447288" y="2542032"/>
            <a:ext cx="2286000" cy="45720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Best for paraphrases, synonyms, natural-language questions.</a:t>
            </a:r>
            <a:endParaRPr lang="en-US" sz="1100" dirty="0"/>
          </a:p>
        </p:txBody>
      </p:sp>
      <p:sp>
        <p:nvSpPr>
          <p:cNvPr id="29" name="Shape 24"/>
          <p:cNvSpPr/>
          <p:nvPr/>
        </p:nvSpPr>
        <p:spPr>
          <a:xfrm>
            <a:off x="6071616" y="1325880"/>
            <a:ext cx="2615184" cy="1783080"/>
          </a:xfrm>
          <a:prstGeom prst="roundRect">
            <a:avLst>
              <a:gd name="adj" fmla="val 4103"/>
            </a:avLst>
          </a:prstGeom>
          <a:solidFill>
            <a:srgbClr val="E8F5EF"/>
          </a:solidFill>
          <a:ln w="15875">
            <a:solidFill>
              <a:srgbClr val="00A86A"/>
            </a:solidFill>
            <a:prstDash val="solid"/>
          </a:ln>
        </p:spPr>
      </p:sp>
      <p:sp>
        <p:nvSpPr>
          <p:cNvPr id="30" name="Shape 25"/>
          <p:cNvSpPr/>
          <p:nvPr/>
        </p:nvSpPr>
        <p:spPr>
          <a:xfrm>
            <a:off x="6254496" y="1463040"/>
            <a:ext cx="457200" cy="457200"/>
          </a:xfrm>
          <a:prstGeom prst="ellipse">
            <a:avLst/>
          </a:prstGeom>
          <a:solidFill>
            <a:srgbClr val="00A86A">
              <a:alpha val="22000"/>
            </a:srgbClr>
          </a:solidFill>
          <a:ln w="12700">
            <a:solidFill>
              <a:srgbClr val="00A86A">
                <a:alpha val="0"/>
              </a:srgbClr>
            </a:solidFill>
            <a:prstDash val="solid"/>
          </a:ln>
        </p:spPr>
      </p:sp>
      <p:pic>
        <p:nvPicPr>
          <p:cNvPr id="31" name="Image 2" descr="preencoded.png"/>
          <p:cNvPicPr>
            <a:picLocks noChangeAspect="1"/>
          </p:cNvPicPr>
          <p:nvPr/>
        </p:nvPicPr>
        <p:blipFill>
          <a:blip r:embed="rId5"/>
          <a:stretch>
            <a:fillRect/>
          </a:stretch>
        </p:blipFill>
        <p:spPr>
          <a:xfrm>
            <a:off x="6364224" y="1572768"/>
            <a:ext cx="237744" cy="237744"/>
          </a:xfrm>
          <a:prstGeom prst="rect">
            <a:avLst/>
          </a:prstGeom>
        </p:spPr>
      </p:pic>
      <p:sp>
        <p:nvSpPr>
          <p:cNvPr id="32" name="Text 26"/>
          <p:cNvSpPr txBox="1"/>
          <p:nvPr/>
        </p:nvSpPr>
        <p:spPr>
          <a:xfrm>
            <a:off x="6848856" y="1536192"/>
            <a:ext cx="178308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Hybrid</a:t>
            </a:r>
            <a:endParaRPr lang="en-US" sz="1400" dirty="0"/>
          </a:p>
        </p:txBody>
      </p:sp>
      <p:sp>
        <p:nvSpPr>
          <p:cNvPr id="33" name="Text 27"/>
          <p:cNvSpPr txBox="1"/>
          <p:nvPr/>
        </p:nvSpPr>
        <p:spPr>
          <a:xfrm>
            <a:off x="6254496" y="2057400"/>
            <a:ext cx="2286000" cy="4572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Runs both and fuses the ranked lists, e.g. with Reciprocal Rank Fusion.</a:t>
            </a:r>
            <a:endParaRPr lang="en-US" sz="1150" dirty="0"/>
          </a:p>
        </p:txBody>
      </p:sp>
      <p:sp>
        <p:nvSpPr>
          <p:cNvPr id="34" name="Text 28"/>
          <p:cNvSpPr txBox="1"/>
          <p:nvPr/>
        </p:nvSpPr>
        <p:spPr>
          <a:xfrm>
            <a:off x="6254496" y="2542032"/>
            <a:ext cx="2286000" cy="457200"/>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RRF(d) = Σ 1 / (k + rankᵢ(d))</a:t>
            </a:r>
            <a:endParaRPr lang="en-US" sz="1300" dirty="0"/>
          </a:p>
        </p:txBody>
      </p:sp>
      <p:sp>
        <p:nvSpPr>
          <p:cNvPr id="35" name="Shape 29"/>
          <p:cNvSpPr/>
          <p:nvPr/>
        </p:nvSpPr>
        <p:spPr>
          <a:xfrm>
            <a:off x="457200" y="3291840"/>
            <a:ext cx="8229600" cy="1371600"/>
          </a:xfrm>
          <a:prstGeom prst="roundRect">
            <a:avLst>
              <a:gd name="adj" fmla="val 5333"/>
            </a:avLst>
          </a:prstGeom>
          <a:solidFill>
            <a:srgbClr val="F4F7F5"/>
          </a:solidFill>
          <a:ln w="9525">
            <a:solidFill>
              <a:srgbClr val="D5DED9"/>
            </a:solidFill>
            <a:prstDash val="solid"/>
          </a:ln>
        </p:spPr>
      </p:sp>
      <p:sp>
        <p:nvSpPr>
          <p:cNvPr id="36" name="Text 30"/>
          <p:cNvSpPr txBox="1"/>
          <p:nvPr/>
        </p:nvSpPr>
        <p:spPr>
          <a:xfrm>
            <a:off x="685800" y="3429000"/>
            <a:ext cx="201168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RERANKING</a:t>
            </a:r>
            <a:endParaRPr lang="en-US" sz="1050" dirty="0"/>
          </a:p>
        </p:txBody>
      </p:sp>
      <p:sp>
        <p:nvSpPr>
          <p:cNvPr id="37" name="Text 31"/>
          <p:cNvSpPr txBox="1"/>
          <p:nvPr/>
        </p:nvSpPr>
        <p:spPr>
          <a:xfrm>
            <a:off x="685800" y="3685032"/>
            <a:ext cx="2103120" cy="822960"/>
          </a:xfrm>
          <a:prstGeom prst="rect">
            <a:avLst/>
          </a:prstGeom>
          <a:noFill/>
          <a:ln/>
        </p:spPr>
        <p:txBody>
          <a:bodyPr wrap="square" lIns="0" tIns="0" rIns="0" bIns="0" rtlCol="0" anchor="ctr"/>
          <a:lstStyle/>
          <a:p>
            <a:pPr marL="0" indent="0">
              <a:buNone/>
            </a:pPr>
            <a:r>
              <a:rPr lang="en-US" sz="1250" dirty="0">
                <a:solidFill>
                  <a:srgbClr val="231F20"/>
                </a:solidFill>
                <a:latin typeface="Calibri" pitchFamily="34" charset="0"/>
                <a:ea typeface="Calibri" pitchFamily="34" charset="-122"/>
                <a:cs typeface="Calibri" pitchFamily="34" charset="-120"/>
              </a:rPr>
              <a:t>Two-stage retrieval: fast recall first, precise scoring second.</a:t>
            </a:r>
            <a:endParaRPr lang="en-US" sz="1250" dirty="0"/>
          </a:p>
        </p:txBody>
      </p:sp>
      <p:sp>
        <p:nvSpPr>
          <p:cNvPr id="38" name="Shape 32"/>
          <p:cNvSpPr/>
          <p:nvPr/>
        </p:nvSpPr>
        <p:spPr>
          <a:xfrm>
            <a:off x="2971800" y="3474720"/>
            <a:ext cx="2103120" cy="1005840"/>
          </a:xfrm>
          <a:prstGeom prst="roundRect">
            <a:avLst>
              <a:gd name="adj" fmla="val 7273"/>
            </a:avLst>
          </a:prstGeom>
          <a:solidFill>
            <a:srgbClr val="FFFFFF"/>
          </a:solidFill>
          <a:ln w="15875">
            <a:solidFill>
              <a:srgbClr val="5E6964"/>
            </a:solidFill>
            <a:prstDash val="solid"/>
          </a:ln>
        </p:spPr>
      </p:sp>
      <p:sp>
        <p:nvSpPr>
          <p:cNvPr id="39" name="Text 33"/>
          <p:cNvSpPr txBox="1"/>
          <p:nvPr/>
        </p:nvSpPr>
        <p:spPr>
          <a:xfrm>
            <a:off x="3063240" y="3547872"/>
            <a:ext cx="1920240" cy="274320"/>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Top-50 / 100 candidates</a:t>
            </a:r>
            <a:endParaRPr lang="en-US" sz="1150" dirty="0"/>
          </a:p>
        </p:txBody>
      </p:sp>
      <p:sp>
        <p:nvSpPr>
          <p:cNvPr id="40" name="Text 34"/>
          <p:cNvSpPr txBox="1"/>
          <p:nvPr/>
        </p:nvSpPr>
        <p:spPr>
          <a:xfrm>
            <a:off x="3063240" y="3822192"/>
            <a:ext cx="1920240" cy="59436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Bi-encoder or BM25 · fast</a:t>
            </a:r>
            <a:endParaRPr lang="en-US" sz="1000" dirty="0"/>
          </a:p>
        </p:txBody>
      </p:sp>
      <p:sp>
        <p:nvSpPr>
          <p:cNvPr id="41" name="Shape 35"/>
          <p:cNvSpPr/>
          <p:nvPr/>
        </p:nvSpPr>
        <p:spPr>
          <a:xfrm>
            <a:off x="5102352" y="3977640"/>
            <a:ext cx="173736" cy="914"/>
          </a:xfrm>
          <a:prstGeom prst="line">
            <a:avLst/>
          </a:prstGeom>
          <a:noFill/>
          <a:ln w="19050">
            <a:solidFill>
              <a:srgbClr val="5E6964"/>
            </a:solidFill>
            <a:prstDash val="solid"/>
            <a:tailEnd type="triangle"/>
          </a:ln>
        </p:spPr>
      </p:sp>
      <p:sp>
        <p:nvSpPr>
          <p:cNvPr id="42" name="Shape 36"/>
          <p:cNvSpPr/>
          <p:nvPr/>
        </p:nvSpPr>
        <p:spPr>
          <a:xfrm>
            <a:off x="5303520" y="3557016"/>
            <a:ext cx="1737360" cy="841248"/>
          </a:xfrm>
          <a:prstGeom prst="roundRect">
            <a:avLst>
              <a:gd name="adj" fmla="val 8696"/>
            </a:avLst>
          </a:prstGeom>
          <a:solidFill>
            <a:srgbClr val="E8F5EF"/>
          </a:solidFill>
          <a:ln w="15875">
            <a:solidFill>
              <a:srgbClr val="00A86A"/>
            </a:solidFill>
            <a:prstDash val="solid"/>
          </a:ln>
        </p:spPr>
      </p:sp>
      <p:sp>
        <p:nvSpPr>
          <p:cNvPr id="43" name="Text 37"/>
          <p:cNvSpPr txBox="1"/>
          <p:nvPr/>
        </p:nvSpPr>
        <p:spPr>
          <a:xfrm>
            <a:off x="5394960" y="3630168"/>
            <a:ext cx="1554480" cy="274320"/>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Cross-encoder rescoring</a:t>
            </a:r>
            <a:endParaRPr lang="en-US" sz="1150" dirty="0"/>
          </a:p>
        </p:txBody>
      </p:sp>
      <p:sp>
        <p:nvSpPr>
          <p:cNvPr id="44" name="Text 38"/>
          <p:cNvSpPr txBox="1"/>
          <p:nvPr/>
        </p:nvSpPr>
        <p:spPr>
          <a:xfrm>
            <a:off x="5394960" y="3904488"/>
            <a:ext cx="1554480" cy="429768"/>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Reads query + passage together · accurate</a:t>
            </a:r>
            <a:endParaRPr lang="en-US" sz="1000" dirty="0"/>
          </a:p>
        </p:txBody>
      </p:sp>
      <p:sp>
        <p:nvSpPr>
          <p:cNvPr id="45" name="Shape 39"/>
          <p:cNvSpPr/>
          <p:nvPr/>
        </p:nvSpPr>
        <p:spPr>
          <a:xfrm>
            <a:off x="7068312" y="3977640"/>
            <a:ext cx="173736" cy="914"/>
          </a:xfrm>
          <a:prstGeom prst="line">
            <a:avLst/>
          </a:prstGeom>
          <a:noFill/>
          <a:ln w="19050">
            <a:solidFill>
              <a:srgbClr val="5E6964"/>
            </a:solidFill>
            <a:prstDash val="solid"/>
            <a:tailEnd type="triangle"/>
          </a:ln>
        </p:spPr>
      </p:sp>
      <p:sp>
        <p:nvSpPr>
          <p:cNvPr id="46" name="Shape 40"/>
          <p:cNvSpPr/>
          <p:nvPr/>
        </p:nvSpPr>
        <p:spPr>
          <a:xfrm>
            <a:off x="7269480" y="3639312"/>
            <a:ext cx="1371600" cy="676656"/>
          </a:xfrm>
          <a:prstGeom prst="roundRect">
            <a:avLst>
              <a:gd name="adj" fmla="val 10811"/>
            </a:avLst>
          </a:prstGeom>
          <a:solidFill>
            <a:srgbClr val="FDF3D7"/>
          </a:solidFill>
          <a:ln w="15875">
            <a:solidFill>
              <a:srgbClr val="D49A00"/>
            </a:solidFill>
            <a:prstDash val="solid"/>
          </a:ln>
        </p:spPr>
      </p:sp>
      <p:sp>
        <p:nvSpPr>
          <p:cNvPr id="47" name="Text 41"/>
          <p:cNvSpPr txBox="1"/>
          <p:nvPr/>
        </p:nvSpPr>
        <p:spPr>
          <a:xfrm>
            <a:off x="7360920" y="3712464"/>
            <a:ext cx="1188720" cy="274320"/>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Top-3 to 10</a:t>
            </a:r>
            <a:endParaRPr lang="en-US" sz="1150" dirty="0"/>
          </a:p>
        </p:txBody>
      </p:sp>
      <p:sp>
        <p:nvSpPr>
          <p:cNvPr id="48" name="Text 42"/>
          <p:cNvSpPr txBox="1"/>
          <p:nvPr/>
        </p:nvSpPr>
        <p:spPr>
          <a:xfrm>
            <a:off x="7360920" y="3986784"/>
            <a:ext cx="1188720" cy="265176"/>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Sent to the LLM</a:t>
            </a:r>
            <a:endParaRPr lang="en-US" sz="10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HOW IT WORKS · STEP 4 GENERATION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Building the augmented prompt</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9</a:t>
            </a:r>
            <a:endParaRPr lang="en-US" sz="850" dirty="0"/>
          </a:p>
        </p:txBody>
      </p:sp>
      <p:sp>
        <p:nvSpPr>
          <p:cNvPr id="17" name="Shape 14"/>
          <p:cNvSpPr/>
          <p:nvPr/>
        </p:nvSpPr>
        <p:spPr>
          <a:xfrm>
            <a:off x="457200" y="1325880"/>
            <a:ext cx="4206240" cy="3337560"/>
          </a:xfrm>
          <a:prstGeom prst="roundRect">
            <a:avLst>
              <a:gd name="adj" fmla="val 2192"/>
            </a:avLst>
          </a:prstGeom>
          <a:solidFill>
            <a:srgbClr val="E8F5EF"/>
          </a:solidFill>
          <a:ln w="15875">
            <a:solidFill>
              <a:srgbClr val="00A86A"/>
            </a:solidFill>
            <a:prstDash val="solid"/>
          </a:ln>
        </p:spPr>
      </p:sp>
      <p:sp>
        <p:nvSpPr>
          <p:cNvPr id="18" name="Text 15"/>
          <p:cNvSpPr txBox="1"/>
          <p:nvPr/>
        </p:nvSpPr>
        <p:spPr>
          <a:xfrm>
            <a:off x="685800" y="1481328"/>
            <a:ext cx="1371600" cy="201168"/>
          </a:xfrm>
          <a:prstGeom prst="rect">
            <a:avLst/>
          </a:prstGeom>
          <a:noFill/>
          <a:ln/>
        </p:spPr>
        <p:txBody>
          <a:bodyPr wrap="square" lIns="0" tIns="0" rIns="0" bIns="0" rtlCol="0" anchor="ctr"/>
          <a:lstStyle/>
          <a:p>
            <a:pPr marL="0" indent="0">
              <a:buNone/>
            </a:pPr>
            <a:r>
              <a:rPr lang="en-US" sz="1000" b="1" kern="0" spc="200" dirty="0">
                <a:solidFill>
                  <a:srgbClr val="D49A00"/>
                </a:solidFill>
                <a:latin typeface="Courier New" pitchFamily="34" charset="0"/>
                <a:ea typeface="Courier New" pitchFamily="34" charset="-122"/>
                <a:cs typeface="Courier New" pitchFamily="34" charset="-120"/>
              </a:rPr>
              <a:t>SYSTEM</a:t>
            </a:r>
            <a:endParaRPr lang="en-US" sz="1000" dirty="0"/>
          </a:p>
        </p:txBody>
      </p:sp>
      <p:sp>
        <p:nvSpPr>
          <p:cNvPr id="19" name="Text 16"/>
          <p:cNvSpPr txBox="1"/>
          <p:nvPr/>
        </p:nvSpPr>
        <p:spPr>
          <a:xfrm>
            <a:off x="685800" y="1709928"/>
            <a:ext cx="3749040" cy="685800"/>
          </a:xfrm>
          <a:prstGeom prst="rect">
            <a:avLst/>
          </a:prstGeom>
          <a:noFill/>
          <a:ln/>
        </p:spPr>
        <p:txBody>
          <a:bodyPr wrap="square" lIns="0" tIns="0" rIns="0" bIns="0" rtlCol="0" anchor="t"/>
          <a:lstStyle/>
          <a:p>
            <a:pPr marL="0" indent="0">
              <a:buNone/>
            </a:pPr>
            <a:r>
              <a:rPr lang="en-US" sz="1050" dirty="0">
                <a:solidFill>
                  <a:srgbClr val="231F20"/>
                </a:solidFill>
                <a:latin typeface="Courier New" pitchFamily="34" charset="0"/>
                <a:ea typeface="Courier New" pitchFamily="34" charset="-122"/>
                <a:cs typeface="Courier New" pitchFamily="34" charset="-120"/>
              </a:rPr>
              <a:t>Answer ONLY from the sources below, copying figures with their unit and period. Cite [n]. Otherwise write: “Information not available in the documents.”</a:t>
            </a:r>
            <a:endParaRPr lang="en-US" sz="1050" dirty="0"/>
          </a:p>
        </p:txBody>
      </p:sp>
      <p:sp>
        <p:nvSpPr>
          <p:cNvPr id="20" name="Text 17"/>
          <p:cNvSpPr txBox="1"/>
          <p:nvPr/>
        </p:nvSpPr>
        <p:spPr>
          <a:xfrm>
            <a:off x="685800" y="2514600"/>
            <a:ext cx="1371600" cy="201168"/>
          </a:xfrm>
          <a:prstGeom prst="rect">
            <a:avLst/>
          </a:prstGeom>
          <a:noFill/>
          <a:ln/>
        </p:spPr>
        <p:txBody>
          <a:bodyPr wrap="square" lIns="0" tIns="0" rIns="0" bIns="0" rtlCol="0" anchor="ctr"/>
          <a:lstStyle/>
          <a:p>
            <a:pPr marL="0" indent="0">
              <a:buNone/>
            </a:pPr>
            <a:r>
              <a:rPr lang="en-US" sz="1000" b="1" kern="0" spc="200" dirty="0">
                <a:solidFill>
                  <a:srgbClr val="00704A"/>
                </a:solidFill>
                <a:latin typeface="Courier New" pitchFamily="34" charset="0"/>
                <a:ea typeface="Courier New" pitchFamily="34" charset="-122"/>
                <a:cs typeface="Courier New" pitchFamily="34" charset="-120"/>
              </a:rPr>
              <a:t>CONTEXT</a:t>
            </a:r>
            <a:endParaRPr lang="en-US" sz="1000" dirty="0"/>
          </a:p>
        </p:txBody>
      </p:sp>
      <p:sp>
        <p:nvSpPr>
          <p:cNvPr id="21" name="Text 18"/>
          <p:cNvSpPr txBox="1"/>
          <p:nvPr/>
        </p:nvSpPr>
        <p:spPr>
          <a:xfrm>
            <a:off x="685800" y="2743200"/>
            <a:ext cx="3749040" cy="868680"/>
          </a:xfrm>
          <a:prstGeom prst="rect">
            <a:avLst/>
          </a:prstGeom>
          <a:noFill/>
          <a:ln/>
        </p:spPr>
        <p:txBody>
          <a:bodyPr wrap="square" lIns="0" tIns="0" rIns="0" bIns="0" rtlCol="0" anchor="t"/>
          <a:lstStyle/>
          <a:p>
            <a:pPr marL="0" indent="0">
              <a:buNone/>
            </a:pPr>
            <a:r>
              <a:rPr lang="en-US" sz="1050" dirty="0">
                <a:solidFill>
                  <a:srgbClr val="231F20"/>
                </a:solidFill>
                <a:latin typeface="Courier New" pitchFamily="34" charset="0"/>
                <a:ea typeface="Courier New" pitchFamily="34" charset="-122"/>
                <a:cs typeface="Courier New" pitchFamily="34" charset="-120"/>
              </a:rPr>
              <a:t>[1] Labour Market Report 2025, Table 1 — Unemployment rate — Q2: 7.8%…</a:t>
            </a:r>
            <a:endParaRPr lang="en-US" sz="1050" dirty="0"/>
          </a:p>
          <a:p>
            <a:pPr marL="0" indent="0">
              <a:buNone/>
            </a:pPr>
            <a:r>
              <a:rPr lang="en-US" sz="1050" dirty="0">
                <a:solidFill>
                  <a:srgbClr val="231F20"/>
                </a:solidFill>
                <a:latin typeface="Courier New" pitchFamily="34" charset="0"/>
                <a:ea typeface="Courier New" pitchFamily="34" charset="-122"/>
                <a:cs typeface="Courier New" pitchFamily="34" charset="-120"/>
              </a:rPr>
              <a:t>[2] Labour Market Report 2025, §2 — Annual average unemployment rate: 7.9%…</a:t>
            </a:r>
            <a:endParaRPr lang="en-US" sz="1050" dirty="0"/>
          </a:p>
        </p:txBody>
      </p:sp>
      <p:sp>
        <p:nvSpPr>
          <p:cNvPr id="22" name="Text 19"/>
          <p:cNvSpPr txBox="1"/>
          <p:nvPr/>
        </p:nvSpPr>
        <p:spPr>
          <a:xfrm>
            <a:off x="685800" y="3730752"/>
            <a:ext cx="1371600" cy="201168"/>
          </a:xfrm>
          <a:prstGeom prst="rect">
            <a:avLst/>
          </a:prstGeom>
          <a:noFill/>
          <a:ln/>
        </p:spPr>
        <p:txBody>
          <a:bodyPr wrap="square" lIns="0" tIns="0" rIns="0" bIns="0" rtlCol="0" anchor="ctr"/>
          <a:lstStyle/>
          <a:p>
            <a:pPr marL="0" indent="0">
              <a:buNone/>
            </a:pPr>
            <a:r>
              <a:rPr lang="en-US" sz="1000" b="1" kern="0" spc="200" dirty="0">
                <a:solidFill>
                  <a:srgbClr val="0E7C86"/>
                </a:solidFill>
                <a:latin typeface="Courier New" pitchFamily="34" charset="0"/>
                <a:ea typeface="Courier New" pitchFamily="34" charset="-122"/>
                <a:cs typeface="Courier New" pitchFamily="34" charset="-120"/>
              </a:rPr>
              <a:t>QUESTION</a:t>
            </a:r>
            <a:endParaRPr lang="en-US" sz="1000" dirty="0"/>
          </a:p>
        </p:txBody>
      </p:sp>
      <p:sp>
        <p:nvSpPr>
          <p:cNvPr id="23" name="Text 20"/>
          <p:cNvSpPr txBox="1"/>
          <p:nvPr/>
        </p:nvSpPr>
        <p:spPr>
          <a:xfrm>
            <a:off x="685800" y="3959352"/>
            <a:ext cx="3749040" cy="365760"/>
          </a:xfrm>
          <a:prstGeom prst="rect">
            <a:avLst/>
          </a:prstGeom>
          <a:noFill/>
          <a:ln/>
        </p:spPr>
        <p:txBody>
          <a:bodyPr wrap="square" lIns="0" tIns="0" rIns="0" bIns="0" rtlCol="0" anchor="t"/>
          <a:lstStyle/>
          <a:p>
            <a:pPr marL="0" indent="0">
              <a:buNone/>
            </a:pPr>
            <a:r>
              <a:rPr lang="en-US" sz="1050" dirty="0">
                <a:solidFill>
                  <a:srgbClr val="231F20"/>
                </a:solidFill>
                <a:latin typeface="Courier New" pitchFamily="34" charset="0"/>
                <a:ea typeface="Courier New" pitchFamily="34" charset="-122"/>
                <a:cs typeface="Courier New" pitchFamily="34" charset="-120"/>
              </a:rPr>
              <a:t>What was the unemployment rate in the second quarter of 2025?</a:t>
            </a:r>
            <a:endParaRPr lang="en-US" sz="1050" dirty="0"/>
          </a:p>
        </p:txBody>
      </p:sp>
      <p:sp>
        <p:nvSpPr>
          <p:cNvPr id="24" name="Text 21"/>
          <p:cNvSpPr txBox="1"/>
          <p:nvPr/>
        </p:nvSpPr>
        <p:spPr>
          <a:xfrm>
            <a:off x="685800" y="4389120"/>
            <a:ext cx="274320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Simplified from the prompt used in the workshop notebook</a:t>
            </a:r>
            <a:endParaRPr lang="en-US" sz="900" dirty="0"/>
          </a:p>
        </p:txBody>
      </p:sp>
      <p:sp>
        <p:nvSpPr>
          <p:cNvPr id="25" name="Shape 22"/>
          <p:cNvSpPr/>
          <p:nvPr/>
        </p:nvSpPr>
        <p:spPr>
          <a:xfrm>
            <a:off x="4937760" y="1362456"/>
            <a:ext cx="457200" cy="457200"/>
          </a:xfrm>
          <a:prstGeom prst="ellipse">
            <a:avLst/>
          </a:prstGeom>
          <a:solidFill>
            <a:srgbClr val="00A86A">
              <a:alpha val="22000"/>
            </a:srgbClr>
          </a:solidFill>
          <a:ln w="12700">
            <a:solidFill>
              <a:srgbClr val="00A86A">
                <a:alpha val="0"/>
              </a:srgbClr>
            </a:solidFill>
            <a:prstDash val="solid"/>
          </a:ln>
        </p:spPr>
      </p:sp>
      <p:pic>
        <p:nvPicPr>
          <p:cNvPr id="26" name="Image 0" descr="preencoded.png"/>
          <p:cNvPicPr>
            <a:picLocks noChangeAspect="1"/>
          </p:cNvPicPr>
          <p:nvPr/>
        </p:nvPicPr>
        <p:blipFill>
          <a:blip r:embed="rId3"/>
          <a:stretch>
            <a:fillRect/>
          </a:stretch>
        </p:blipFill>
        <p:spPr>
          <a:xfrm>
            <a:off x="5047488" y="1472184"/>
            <a:ext cx="237744" cy="237744"/>
          </a:xfrm>
          <a:prstGeom prst="rect">
            <a:avLst/>
          </a:prstGeom>
        </p:spPr>
      </p:pic>
      <p:sp>
        <p:nvSpPr>
          <p:cNvPr id="27" name="Text 23"/>
          <p:cNvSpPr txBox="1"/>
          <p:nvPr/>
        </p:nvSpPr>
        <p:spPr>
          <a:xfrm>
            <a:off x="5532120" y="1325880"/>
            <a:ext cx="3154680" cy="25603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Require citations</a:t>
            </a:r>
            <a:endParaRPr lang="en-US" sz="1400" dirty="0"/>
          </a:p>
        </p:txBody>
      </p:sp>
      <p:sp>
        <p:nvSpPr>
          <p:cNvPr id="28" name="Text 24"/>
          <p:cNvSpPr txBox="1"/>
          <p:nvPr/>
        </p:nvSpPr>
        <p:spPr>
          <a:xfrm>
            <a:off x="5532120" y="1600200"/>
            <a:ext cx="3154680" cy="530352"/>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Each claim is linked to a retrieved chunk the user can check.</a:t>
            </a:r>
            <a:endParaRPr lang="en-US" sz="1100" dirty="0"/>
          </a:p>
        </p:txBody>
      </p:sp>
      <p:sp>
        <p:nvSpPr>
          <p:cNvPr id="29" name="Shape 25"/>
          <p:cNvSpPr/>
          <p:nvPr/>
        </p:nvSpPr>
        <p:spPr>
          <a:xfrm>
            <a:off x="4937760" y="2203704"/>
            <a:ext cx="457200" cy="457200"/>
          </a:xfrm>
          <a:prstGeom prst="ellipse">
            <a:avLst/>
          </a:prstGeom>
          <a:solidFill>
            <a:srgbClr val="00A86A">
              <a:alpha val="22000"/>
            </a:srgbClr>
          </a:solidFill>
          <a:ln w="12700">
            <a:solidFill>
              <a:srgbClr val="00A86A">
                <a:alpha val="0"/>
              </a:srgbClr>
            </a:solidFill>
            <a:prstDash val="solid"/>
          </a:ln>
        </p:spPr>
      </p:sp>
      <p:pic>
        <p:nvPicPr>
          <p:cNvPr id="30" name="Image 1" descr="preencoded.png"/>
          <p:cNvPicPr>
            <a:picLocks noChangeAspect="1"/>
          </p:cNvPicPr>
          <p:nvPr/>
        </p:nvPicPr>
        <p:blipFill>
          <a:blip r:embed="rId4"/>
          <a:stretch>
            <a:fillRect/>
          </a:stretch>
        </p:blipFill>
        <p:spPr>
          <a:xfrm>
            <a:off x="5047488" y="2313432"/>
            <a:ext cx="237744" cy="237744"/>
          </a:xfrm>
          <a:prstGeom prst="rect">
            <a:avLst/>
          </a:prstGeom>
        </p:spPr>
      </p:pic>
      <p:sp>
        <p:nvSpPr>
          <p:cNvPr id="31" name="Text 26"/>
          <p:cNvSpPr txBox="1"/>
          <p:nvPr/>
        </p:nvSpPr>
        <p:spPr>
          <a:xfrm>
            <a:off x="5532120" y="2167128"/>
            <a:ext cx="3154680" cy="25603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Allow abstention</a:t>
            </a:r>
            <a:endParaRPr lang="en-US" sz="1400" dirty="0"/>
          </a:p>
        </p:txBody>
      </p:sp>
      <p:sp>
        <p:nvSpPr>
          <p:cNvPr id="32" name="Text 27"/>
          <p:cNvSpPr txBox="1"/>
          <p:nvPr/>
        </p:nvSpPr>
        <p:spPr>
          <a:xfrm>
            <a:off x="5532120" y="2441448"/>
            <a:ext cx="3154680" cy="530352"/>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“I don't know” is better than a confident hallucination.</a:t>
            </a:r>
            <a:endParaRPr lang="en-US" sz="1100" dirty="0"/>
          </a:p>
        </p:txBody>
      </p:sp>
      <p:sp>
        <p:nvSpPr>
          <p:cNvPr id="33" name="Shape 28"/>
          <p:cNvSpPr/>
          <p:nvPr/>
        </p:nvSpPr>
        <p:spPr>
          <a:xfrm>
            <a:off x="4937760" y="3044952"/>
            <a:ext cx="457200" cy="457200"/>
          </a:xfrm>
          <a:prstGeom prst="ellipse">
            <a:avLst/>
          </a:prstGeom>
          <a:solidFill>
            <a:srgbClr val="00A86A">
              <a:alpha val="22000"/>
            </a:srgbClr>
          </a:solidFill>
          <a:ln w="12700">
            <a:solidFill>
              <a:srgbClr val="00A86A">
                <a:alpha val="0"/>
              </a:srgbClr>
            </a:solidFill>
            <a:prstDash val="solid"/>
          </a:ln>
        </p:spPr>
      </p:sp>
      <p:pic>
        <p:nvPicPr>
          <p:cNvPr id="34" name="Image 2" descr="preencoded.png"/>
          <p:cNvPicPr>
            <a:picLocks noChangeAspect="1"/>
          </p:cNvPicPr>
          <p:nvPr/>
        </p:nvPicPr>
        <p:blipFill>
          <a:blip r:embed="rId5"/>
          <a:stretch>
            <a:fillRect/>
          </a:stretch>
        </p:blipFill>
        <p:spPr>
          <a:xfrm>
            <a:off x="5047488" y="3154680"/>
            <a:ext cx="237744" cy="237744"/>
          </a:xfrm>
          <a:prstGeom prst="rect">
            <a:avLst/>
          </a:prstGeom>
        </p:spPr>
      </p:pic>
      <p:sp>
        <p:nvSpPr>
          <p:cNvPr id="35" name="Text 29"/>
          <p:cNvSpPr txBox="1"/>
          <p:nvPr/>
        </p:nvSpPr>
        <p:spPr>
          <a:xfrm>
            <a:off x="5532120" y="3008376"/>
            <a:ext cx="3154680" cy="25603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Order matters</a:t>
            </a:r>
            <a:endParaRPr lang="en-US" sz="1400" dirty="0"/>
          </a:p>
        </p:txBody>
      </p:sp>
      <p:sp>
        <p:nvSpPr>
          <p:cNvPr id="36" name="Text 30"/>
          <p:cNvSpPr txBox="1"/>
          <p:nvPr/>
        </p:nvSpPr>
        <p:spPr>
          <a:xfrm>
            <a:off x="5532120" y="3282696"/>
            <a:ext cx="3154680" cy="530352"/>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Place the strongest evidence first: models under-use the middle of long contexts (see Evidence).</a:t>
            </a:r>
            <a:endParaRPr lang="en-US" sz="1100" dirty="0"/>
          </a:p>
        </p:txBody>
      </p:sp>
      <p:sp>
        <p:nvSpPr>
          <p:cNvPr id="37" name="Shape 31"/>
          <p:cNvSpPr/>
          <p:nvPr/>
        </p:nvSpPr>
        <p:spPr>
          <a:xfrm>
            <a:off x="4937760" y="3886200"/>
            <a:ext cx="457200" cy="457200"/>
          </a:xfrm>
          <a:prstGeom prst="ellipse">
            <a:avLst/>
          </a:prstGeom>
          <a:solidFill>
            <a:srgbClr val="00A86A">
              <a:alpha val="22000"/>
            </a:srgbClr>
          </a:solidFill>
          <a:ln w="12700">
            <a:solidFill>
              <a:srgbClr val="00A86A">
                <a:alpha val="0"/>
              </a:srgbClr>
            </a:solidFill>
            <a:prstDash val="solid"/>
          </a:ln>
        </p:spPr>
      </p:sp>
      <p:pic>
        <p:nvPicPr>
          <p:cNvPr id="38" name="Image 3" descr="preencoded.png"/>
          <p:cNvPicPr>
            <a:picLocks noChangeAspect="1"/>
          </p:cNvPicPr>
          <p:nvPr/>
        </p:nvPicPr>
        <p:blipFill>
          <a:blip r:embed="rId6"/>
          <a:stretch>
            <a:fillRect/>
          </a:stretch>
        </p:blipFill>
        <p:spPr>
          <a:xfrm>
            <a:off x="5047488" y="3995928"/>
            <a:ext cx="237744" cy="237744"/>
          </a:xfrm>
          <a:prstGeom prst="rect">
            <a:avLst/>
          </a:prstGeom>
        </p:spPr>
      </p:pic>
      <p:sp>
        <p:nvSpPr>
          <p:cNvPr id="39" name="Text 32"/>
          <p:cNvSpPr txBox="1"/>
          <p:nvPr/>
        </p:nvSpPr>
        <p:spPr>
          <a:xfrm>
            <a:off x="5532120" y="3849624"/>
            <a:ext cx="3154680" cy="25603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Keep context focused</a:t>
            </a:r>
            <a:endParaRPr lang="en-US" sz="1400" dirty="0"/>
          </a:p>
        </p:txBody>
      </p:sp>
      <p:sp>
        <p:nvSpPr>
          <p:cNvPr id="40" name="Text 33"/>
          <p:cNvSpPr txBox="1"/>
          <p:nvPr/>
        </p:nvSpPr>
        <p:spPr>
          <a:xfrm>
            <a:off x="5532120" y="4123944"/>
            <a:ext cx="3154680" cy="530352"/>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Fewer, more relevant chunks usually beat many noisy ones.</a:t>
            </a:r>
            <a:endParaRPr lang="en-US" sz="11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HANDS-ON  ·  SET-UP</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Get started in three minutes</a:t>
            </a:r>
            <a:endParaRPr lang="en-US" sz="2800" dirty="0"/>
          </a:p>
        </p:txBody>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6" name="Rounded Rectangle 15"/>
          <p:cNvSpPr/>
          <p:nvPr/>
        </p:nvSpPr>
        <p:spPr>
          <a:xfrm>
            <a:off x="457200" y="1261872"/>
            <a:ext cx="1920240" cy="239572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21792" y="1353312"/>
            <a:ext cx="914400" cy="457200"/>
          </a:xfrm>
          <a:prstGeom prst="rect">
            <a:avLst/>
          </a:prstGeom>
          <a:noFill/>
        </p:spPr>
        <p:txBody>
          <a:bodyPr wrap="square" lIns="0" tIns="0" rIns="0" bIns="0" anchor="t">
            <a:spAutoFit/>
          </a:bodyPr>
          <a:lstStyle/>
          <a:p>
            <a:pPr algn="l"/>
            <a:r>
              <a:rPr sz="3000" b="1" i="0">
                <a:solidFill>
                  <a:srgbClr val="7BCBA9"/>
                </a:solidFill>
                <a:latin typeface="Calibri"/>
              </a:rPr>
              <a:t>1</a:t>
            </a:r>
          </a:p>
        </p:txBody>
      </p:sp>
      <p:sp>
        <p:nvSpPr>
          <p:cNvPr id="18" name="Oval 17"/>
          <p:cNvSpPr/>
          <p:nvPr/>
        </p:nvSpPr>
        <p:spPr>
          <a:xfrm>
            <a:off x="1719072" y="1389888"/>
            <a:ext cx="475488" cy="475488"/>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laptop_w.png"/>
          <p:cNvPicPr>
            <a:picLocks noChangeAspect="1"/>
          </p:cNvPicPr>
          <p:nvPr/>
        </p:nvPicPr>
        <p:blipFill>
          <a:blip r:embed="rId3"/>
          <a:stretch>
            <a:fillRect/>
          </a:stretch>
        </p:blipFill>
        <p:spPr>
          <a:xfrm>
            <a:off x="1837943" y="1508760"/>
            <a:ext cx="237744" cy="237744"/>
          </a:xfrm>
          <a:prstGeom prst="rect">
            <a:avLst/>
          </a:prstGeom>
        </p:spPr>
      </p:pic>
      <p:sp>
        <p:nvSpPr>
          <p:cNvPr id="20" name="TextBox 19"/>
          <p:cNvSpPr txBox="1"/>
          <p:nvPr/>
        </p:nvSpPr>
        <p:spPr>
          <a:xfrm>
            <a:off x="621792" y="1938528"/>
            <a:ext cx="1645920" cy="320040"/>
          </a:xfrm>
          <a:prstGeom prst="rect">
            <a:avLst/>
          </a:prstGeom>
          <a:noFill/>
        </p:spPr>
        <p:txBody>
          <a:bodyPr wrap="square" lIns="0" tIns="0" rIns="0" bIns="0" anchor="t">
            <a:spAutoFit/>
          </a:bodyPr>
          <a:lstStyle/>
          <a:p>
            <a:pPr algn="l"/>
            <a:r>
              <a:rPr sz="1350" b="1" i="0">
                <a:solidFill>
                  <a:srgbClr val="231F20"/>
                </a:solidFill>
                <a:latin typeface="Calibri"/>
              </a:rPr>
              <a:t>Open in Colab</a:t>
            </a:r>
          </a:p>
        </p:txBody>
      </p:sp>
      <p:sp>
        <p:nvSpPr>
          <p:cNvPr id="21" name="TextBox 20"/>
          <p:cNvSpPr txBox="1"/>
          <p:nvPr/>
        </p:nvSpPr>
        <p:spPr>
          <a:xfrm>
            <a:off x="621792" y="2286000"/>
            <a:ext cx="1627632" cy="1325880"/>
          </a:xfrm>
          <a:prstGeom prst="rect">
            <a:avLst/>
          </a:prstGeom>
          <a:noFill/>
        </p:spPr>
        <p:txBody>
          <a:bodyPr wrap="square" lIns="0" tIns="0" rIns="0" bIns="0" anchor="t">
            <a:spAutoFit/>
          </a:bodyPr>
          <a:lstStyle/>
          <a:p>
            <a:pPr algn="l"/>
            <a:r>
              <a:rPr sz="1050" b="0" i="0">
                <a:solidFill>
                  <a:srgbClr val="5E6964"/>
                </a:solidFill>
                <a:latin typeface="Calibri"/>
              </a:rPr>
              <a:t>Open the notebook shared by the facilitators, sign in with Google, then Runtime → Run all.</a:t>
            </a:r>
          </a:p>
        </p:txBody>
      </p:sp>
      <p:sp>
        <p:nvSpPr>
          <p:cNvPr id="22" name="TextBox 21"/>
          <p:cNvSpPr txBox="1"/>
          <p:nvPr/>
        </p:nvSpPr>
        <p:spPr>
          <a:xfrm>
            <a:off x="2377440" y="2240280"/>
            <a:ext cx="182880" cy="274320"/>
          </a:xfrm>
          <a:prstGeom prst="rect">
            <a:avLst/>
          </a:prstGeom>
          <a:noFill/>
        </p:spPr>
        <p:txBody>
          <a:bodyPr wrap="square" lIns="0" tIns="0" rIns="0" bIns="0" anchor="t">
            <a:spAutoFit/>
          </a:bodyPr>
          <a:lstStyle/>
          <a:p>
            <a:pPr algn="ctr"/>
            <a:r>
              <a:rPr sz="2000" b="1" i="0">
                <a:solidFill>
                  <a:srgbClr val="00A86A"/>
                </a:solidFill>
                <a:latin typeface="Calibri"/>
              </a:rPr>
              <a:t>›</a:t>
            </a:r>
          </a:p>
        </p:txBody>
      </p:sp>
      <p:sp>
        <p:nvSpPr>
          <p:cNvPr id="23" name="Rounded Rectangle 22"/>
          <p:cNvSpPr/>
          <p:nvPr/>
        </p:nvSpPr>
        <p:spPr>
          <a:xfrm>
            <a:off x="2560320" y="1261872"/>
            <a:ext cx="1920240" cy="239572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2724912" y="1353312"/>
            <a:ext cx="914400" cy="457200"/>
          </a:xfrm>
          <a:prstGeom prst="rect">
            <a:avLst/>
          </a:prstGeom>
          <a:noFill/>
        </p:spPr>
        <p:txBody>
          <a:bodyPr wrap="square" lIns="0" tIns="0" rIns="0" bIns="0" anchor="t">
            <a:spAutoFit/>
          </a:bodyPr>
          <a:lstStyle/>
          <a:p>
            <a:pPr algn="l"/>
            <a:r>
              <a:rPr sz="3000" b="1" i="0">
                <a:solidFill>
                  <a:srgbClr val="33AF7C"/>
                </a:solidFill>
                <a:latin typeface="Calibri"/>
              </a:rPr>
              <a:t>2</a:t>
            </a:r>
          </a:p>
        </p:txBody>
      </p:sp>
      <p:sp>
        <p:nvSpPr>
          <p:cNvPr id="25" name="Oval 24"/>
          <p:cNvSpPr/>
          <p:nvPr/>
        </p:nvSpPr>
        <p:spPr>
          <a:xfrm>
            <a:off x="3822191" y="1389888"/>
            <a:ext cx="475488" cy="475488"/>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key_w.png"/>
          <p:cNvPicPr>
            <a:picLocks noChangeAspect="1"/>
          </p:cNvPicPr>
          <p:nvPr/>
        </p:nvPicPr>
        <p:blipFill>
          <a:blip r:embed="rId4"/>
          <a:stretch>
            <a:fillRect/>
          </a:stretch>
        </p:blipFill>
        <p:spPr>
          <a:xfrm>
            <a:off x="3941063" y="1508760"/>
            <a:ext cx="237744" cy="237744"/>
          </a:xfrm>
          <a:prstGeom prst="rect">
            <a:avLst/>
          </a:prstGeom>
        </p:spPr>
      </p:pic>
      <p:sp>
        <p:nvSpPr>
          <p:cNvPr id="27" name="TextBox 26"/>
          <p:cNvSpPr txBox="1"/>
          <p:nvPr/>
        </p:nvSpPr>
        <p:spPr>
          <a:xfrm>
            <a:off x="2724912" y="1938528"/>
            <a:ext cx="1645920" cy="320040"/>
          </a:xfrm>
          <a:prstGeom prst="rect">
            <a:avLst/>
          </a:prstGeom>
          <a:noFill/>
        </p:spPr>
        <p:txBody>
          <a:bodyPr wrap="square" lIns="0" tIns="0" rIns="0" bIns="0" anchor="t">
            <a:spAutoFit/>
          </a:bodyPr>
          <a:lstStyle/>
          <a:p>
            <a:pPr algn="l"/>
            <a:r>
              <a:rPr sz="1350" b="1" i="0">
                <a:solidFill>
                  <a:srgbClr val="231F20"/>
                </a:solidFill>
                <a:latin typeface="Calibri"/>
              </a:rPr>
              <a:t>Choose the model</a:t>
            </a:r>
          </a:p>
        </p:txBody>
      </p:sp>
      <p:sp>
        <p:nvSpPr>
          <p:cNvPr id="28" name="TextBox 27"/>
          <p:cNvSpPr txBox="1"/>
          <p:nvPr/>
        </p:nvSpPr>
        <p:spPr>
          <a:xfrm>
            <a:off x="2724912" y="2286000"/>
            <a:ext cx="1627632" cy="1325880"/>
          </a:xfrm>
          <a:prstGeom prst="rect">
            <a:avLst/>
          </a:prstGeom>
          <a:noFill/>
        </p:spPr>
        <p:txBody>
          <a:bodyPr wrap="square" lIns="0" tIns="0" rIns="0" bIns="0" anchor="t">
            <a:spAutoFit/>
          </a:bodyPr>
          <a:lstStyle/>
          <a:p>
            <a:pPr algn="l"/>
            <a:r>
              <a:rPr sz="1050" b="0" i="0">
                <a:solidFill>
                  <a:srgbClr val="5E6964"/>
                </a:solidFill>
                <a:latin typeface="Calibri"/>
              </a:rPr>
              <a:t>Fastest in the room: a free Groq key (PROVIDER = "groq", step 0b). Ollama keeps everything inside the session.</a:t>
            </a:r>
          </a:p>
        </p:txBody>
      </p:sp>
      <p:sp>
        <p:nvSpPr>
          <p:cNvPr id="29" name="TextBox 28"/>
          <p:cNvSpPr txBox="1"/>
          <p:nvPr/>
        </p:nvSpPr>
        <p:spPr>
          <a:xfrm>
            <a:off x="4480560" y="2240280"/>
            <a:ext cx="182880" cy="274320"/>
          </a:xfrm>
          <a:prstGeom prst="rect">
            <a:avLst/>
          </a:prstGeom>
          <a:noFill/>
        </p:spPr>
        <p:txBody>
          <a:bodyPr wrap="square" lIns="0" tIns="0" rIns="0" bIns="0" anchor="t">
            <a:spAutoFit/>
          </a:bodyPr>
          <a:lstStyle/>
          <a:p>
            <a:pPr algn="ctr"/>
            <a:r>
              <a:rPr sz="2000" b="1" i="0">
                <a:solidFill>
                  <a:srgbClr val="00A86A"/>
                </a:solidFill>
                <a:latin typeface="Calibri"/>
              </a:rPr>
              <a:t>›</a:t>
            </a:r>
          </a:p>
        </p:txBody>
      </p:sp>
      <p:sp>
        <p:nvSpPr>
          <p:cNvPr id="30" name="Rounded Rectangle 29"/>
          <p:cNvSpPr/>
          <p:nvPr/>
        </p:nvSpPr>
        <p:spPr>
          <a:xfrm>
            <a:off x="4663440" y="1261872"/>
            <a:ext cx="1920240" cy="239572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4828031" y="1353312"/>
            <a:ext cx="914400" cy="457200"/>
          </a:xfrm>
          <a:prstGeom prst="rect">
            <a:avLst/>
          </a:prstGeom>
          <a:noFill/>
        </p:spPr>
        <p:txBody>
          <a:bodyPr wrap="square" lIns="0" tIns="0" rIns="0" bIns="0" anchor="t">
            <a:spAutoFit/>
          </a:bodyPr>
          <a:lstStyle/>
          <a:p>
            <a:pPr algn="l"/>
            <a:r>
              <a:rPr sz="3000" b="1" i="0">
                <a:solidFill>
                  <a:srgbClr val="008A5B"/>
                </a:solidFill>
                <a:latin typeface="Calibri"/>
              </a:rPr>
              <a:t>3</a:t>
            </a:r>
          </a:p>
        </p:txBody>
      </p:sp>
      <p:sp>
        <p:nvSpPr>
          <p:cNvPr id="32" name="Oval 31"/>
          <p:cNvSpPr/>
          <p:nvPr/>
        </p:nvSpPr>
        <p:spPr>
          <a:xfrm>
            <a:off x="5925312" y="1389888"/>
            <a:ext cx="475488" cy="475488"/>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pdf_w.png"/>
          <p:cNvPicPr>
            <a:picLocks noChangeAspect="1"/>
          </p:cNvPicPr>
          <p:nvPr/>
        </p:nvPicPr>
        <p:blipFill>
          <a:blip r:embed="rId5"/>
          <a:stretch>
            <a:fillRect/>
          </a:stretch>
        </p:blipFill>
        <p:spPr>
          <a:xfrm>
            <a:off x="6044183" y="1508760"/>
            <a:ext cx="237744" cy="237744"/>
          </a:xfrm>
          <a:prstGeom prst="rect">
            <a:avLst/>
          </a:prstGeom>
        </p:spPr>
      </p:pic>
      <p:sp>
        <p:nvSpPr>
          <p:cNvPr id="34" name="TextBox 33"/>
          <p:cNvSpPr txBox="1"/>
          <p:nvPr/>
        </p:nvSpPr>
        <p:spPr>
          <a:xfrm>
            <a:off x="4828031" y="1938528"/>
            <a:ext cx="1645920" cy="320040"/>
          </a:xfrm>
          <a:prstGeom prst="rect">
            <a:avLst/>
          </a:prstGeom>
          <a:noFill/>
        </p:spPr>
        <p:txBody>
          <a:bodyPr wrap="square" lIns="0" tIns="0" rIns="0" bIns="0" anchor="t">
            <a:spAutoFit/>
          </a:bodyPr>
          <a:lstStyle/>
          <a:p>
            <a:pPr algn="l"/>
            <a:r>
              <a:rPr sz="1350" b="1" i="0">
                <a:solidFill>
                  <a:srgbClr val="231F20"/>
                </a:solidFill>
                <a:latin typeface="Calibri"/>
              </a:rPr>
              <a:t>Load a PDF</a:t>
            </a:r>
          </a:p>
        </p:txBody>
      </p:sp>
      <p:sp>
        <p:nvSpPr>
          <p:cNvPr id="35" name="TextBox 34"/>
          <p:cNvSpPr txBox="1"/>
          <p:nvPr/>
        </p:nvSpPr>
        <p:spPr>
          <a:xfrm>
            <a:off x="4828031" y="2286000"/>
            <a:ext cx="1627632" cy="1325880"/>
          </a:xfrm>
          <a:prstGeom prst="rect">
            <a:avLst/>
          </a:prstGeom>
          <a:noFill/>
        </p:spPr>
        <p:txBody>
          <a:bodyPr wrap="square" lIns="0" tIns="0" rIns="0" bIns="0" anchor="t">
            <a:spAutoFit/>
          </a:bodyPr>
          <a:lstStyle/>
          <a:p>
            <a:pPr algn="l"/>
            <a:r>
              <a:rPr sz="1050" b="0" i="0">
                <a:solidFill>
                  <a:srgbClr val="5E6964"/>
                </a:solidFill>
                <a:latin typeface="Calibri"/>
              </a:rPr>
              <a:t>Default: the AfDB Data Innovation guide. Then a publication of yours: UPLOAD_PDF = True.</a:t>
            </a:r>
          </a:p>
        </p:txBody>
      </p:sp>
      <p:sp>
        <p:nvSpPr>
          <p:cNvPr id="36" name="TextBox 35"/>
          <p:cNvSpPr txBox="1"/>
          <p:nvPr/>
        </p:nvSpPr>
        <p:spPr>
          <a:xfrm>
            <a:off x="6583679" y="2240280"/>
            <a:ext cx="182880" cy="274320"/>
          </a:xfrm>
          <a:prstGeom prst="rect">
            <a:avLst/>
          </a:prstGeom>
          <a:noFill/>
        </p:spPr>
        <p:txBody>
          <a:bodyPr wrap="square" lIns="0" tIns="0" rIns="0" bIns="0" anchor="t">
            <a:spAutoFit/>
          </a:bodyPr>
          <a:lstStyle/>
          <a:p>
            <a:pPr algn="ctr"/>
            <a:r>
              <a:rPr sz="2000" b="1" i="0">
                <a:solidFill>
                  <a:srgbClr val="00A86A"/>
                </a:solidFill>
                <a:latin typeface="Calibri"/>
              </a:rPr>
              <a:t>›</a:t>
            </a:r>
          </a:p>
        </p:txBody>
      </p:sp>
      <p:sp>
        <p:nvSpPr>
          <p:cNvPr id="37" name="Rounded Rectangle 36"/>
          <p:cNvSpPr/>
          <p:nvPr/>
        </p:nvSpPr>
        <p:spPr>
          <a:xfrm>
            <a:off x="6766559" y="1261872"/>
            <a:ext cx="1920240" cy="239572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931151" y="1353312"/>
            <a:ext cx="914400" cy="457200"/>
          </a:xfrm>
          <a:prstGeom prst="rect">
            <a:avLst/>
          </a:prstGeom>
          <a:noFill/>
        </p:spPr>
        <p:txBody>
          <a:bodyPr wrap="square" lIns="0" tIns="0" rIns="0" bIns="0" anchor="t">
            <a:spAutoFit/>
          </a:bodyPr>
          <a:lstStyle/>
          <a:p>
            <a:pPr algn="l"/>
            <a:r>
              <a:rPr sz="3000" b="1" i="0">
                <a:solidFill>
                  <a:srgbClr val="00664A"/>
                </a:solidFill>
                <a:latin typeface="Calibri"/>
              </a:rPr>
              <a:t>4</a:t>
            </a:r>
          </a:p>
        </p:txBody>
      </p:sp>
      <p:sp>
        <p:nvSpPr>
          <p:cNvPr id="39" name="Oval 38"/>
          <p:cNvSpPr/>
          <p:nvPr/>
        </p:nvSpPr>
        <p:spPr>
          <a:xfrm>
            <a:off x="8028431" y="1389888"/>
            <a:ext cx="475488" cy="475488"/>
          </a:xfrm>
          <a:prstGeom prst="ellipse">
            <a:avLst/>
          </a:prstGeom>
          <a:solidFill>
            <a:srgbClr val="007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Picture 39" descr="play_w.png"/>
          <p:cNvPicPr>
            <a:picLocks noChangeAspect="1"/>
          </p:cNvPicPr>
          <p:nvPr/>
        </p:nvPicPr>
        <p:blipFill>
          <a:blip r:embed="rId6"/>
          <a:stretch>
            <a:fillRect/>
          </a:stretch>
        </p:blipFill>
        <p:spPr>
          <a:xfrm>
            <a:off x="8147304" y="1508760"/>
            <a:ext cx="237744" cy="237744"/>
          </a:xfrm>
          <a:prstGeom prst="rect">
            <a:avLst/>
          </a:prstGeom>
        </p:spPr>
      </p:pic>
      <p:sp>
        <p:nvSpPr>
          <p:cNvPr id="41" name="TextBox 40"/>
          <p:cNvSpPr txBox="1"/>
          <p:nvPr/>
        </p:nvSpPr>
        <p:spPr>
          <a:xfrm>
            <a:off x="6931151" y="1938528"/>
            <a:ext cx="1645920" cy="320040"/>
          </a:xfrm>
          <a:prstGeom prst="rect">
            <a:avLst/>
          </a:prstGeom>
          <a:noFill/>
        </p:spPr>
        <p:txBody>
          <a:bodyPr wrap="square" lIns="0" tIns="0" rIns="0" bIns="0" anchor="t">
            <a:spAutoFit/>
          </a:bodyPr>
          <a:lstStyle/>
          <a:p>
            <a:pPr algn="l"/>
            <a:r>
              <a:rPr sz="1350" b="1" i="0">
                <a:solidFill>
                  <a:srgbClr val="231F20"/>
                </a:solidFill>
                <a:latin typeface="Calibri"/>
              </a:rPr>
              <a:t>Run the Express track</a:t>
            </a:r>
          </a:p>
        </p:txBody>
      </p:sp>
      <p:sp>
        <p:nvSpPr>
          <p:cNvPr id="42" name="TextBox 41"/>
          <p:cNvSpPr txBox="1"/>
          <p:nvPr/>
        </p:nvSpPr>
        <p:spPr>
          <a:xfrm>
            <a:off x="6931151" y="2286000"/>
            <a:ext cx="1627632" cy="1325880"/>
          </a:xfrm>
          <a:prstGeom prst="rect">
            <a:avLst/>
          </a:prstGeom>
          <a:noFill/>
        </p:spPr>
        <p:txBody>
          <a:bodyPr wrap="square" lIns="0" tIns="0" rIns="0" bIns="0" anchor="t">
            <a:spAutoFit/>
          </a:bodyPr>
          <a:lstStyle/>
          <a:p>
            <a:pPr algn="l"/>
            <a:r>
              <a:rPr sz="1050" b="0" i="0">
                <a:solidFill>
                  <a:srgbClr val="5E6964"/>
                </a:solidFill>
                <a:latin typeface="Calibri"/>
              </a:rPr>
              <a:t>A1 load · A2 prepare · A3 ask. No model? Extractive mode still quotes the right sentence.</a:t>
            </a:r>
          </a:p>
        </p:txBody>
      </p:sp>
      <p:sp>
        <p:nvSpPr>
          <p:cNvPr id="43" name="Rounded Rectangle 42"/>
          <p:cNvSpPr/>
          <p:nvPr/>
        </p:nvSpPr>
        <p:spPr>
          <a:xfrm>
            <a:off x="457200" y="3840480"/>
            <a:ext cx="8229600" cy="658368"/>
          </a:xfrm>
          <a:prstGeom prst="roundRect">
            <a:avLst>
              <a:gd name="adj" fmla="val 16000"/>
            </a:avLst>
          </a:prstGeom>
          <a:solidFill>
            <a:srgbClr val="D49A00">
              <a:alpha val="13000"/>
            </a:srgbClr>
          </a:solidFill>
          <a:ln w="15875">
            <a:solidFill>
              <a:srgbClr val="D49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4" name="Picture 43" descr="lock_o.png"/>
          <p:cNvPicPr>
            <a:picLocks noChangeAspect="1"/>
          </p:cNvPicPr>
          <p:nvPr/>
        </p:nvPicPr>
        <p:blipFill>
          <a:blip r:embed="rId7"/>
          <a:stretch>
            <a:fillRect/>
          </a:stretch>
        </p:blipFill>
        <p:spPr>
          <a:xfrm>
            <a:off x="658368" y="4041648"/>
            <a:ext cx="256032" cy="256032"/>
          </a:xfrm>
          <a:prstGeom prst="rect">
            <a:avLst/>
          </a:prstGeom>
        </p:spPr>
      </p:pic>
      <p:sp>
        <p:nvSpPr>
          <p:cNvPr id="45" name="TextBox 44"/>
          <p:cNvSpPr txBox="1"/>
          <p:nvPr/>
        </p:nvSpPr>
        <p:spPr>
          <a:xfrm>
            <a:off x="1024128" y="3840480"/>
            <a:ext cx="7479792" cy="658368"/>
          </a:xfrm>
          <a:prstGeom prst="rect">
            <a:avLst/>
          </a:prstGeom>
          <a:noFill/>
        </p:spPr>
        <p:txBody>
          <a:bodyPr wrap="square" lIns="0" tIns="0" rIns="0" bIns="0" anchor="ctr">
            <a:spAutoFit/>
          </a:bodyPr>
          <a:lstStyle/>
          <a:p>
            <a:pPr algn="l"/>
            <a:r>
              <a:rPr sz="1150" b="0" i="0">
                <a:solidFill>
                  <a:srgbClr val="231F20"/>
                </a:solidFill>
                <a:latin typeface="Calibri"/>
              </a:rPr>
              <a:t>Confidentiality: published documents only with an online model (Groq, OpenAI, Anthropic). Unpublished or embargoed material stays with Ollama — and no public Gradio link without WEB_PASSWORD.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HANDS-ON  ·  EXERCISES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Four exercises, one per objective</a:t>
            </a:r>
            <a:endParaRPr lang="en-US" sz="2800" dirty="0"/>
          </a:p>
        </p:txBody>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6" name="Rounded Rectangle 15"/>
          <p:cNvSpPr/>
          <p:nvPr/>
        </p:nvSpPr>
        <p:spPr>
          <a:xfrm>
            <a:off x="457200" y="1243584"/>
            <a:ext cx="4023360" cy="12984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457200" y="1243584"/>
            <a:ext cx="64008" cy="1298448"/>
          </a:xfrm>
          <a:prstGeom prst="roundRect">
            <a:avLst>
              <a:gd name="adj" fmla="val 0"/>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58368" y="1389888"/>
            <a:ext cx="457200" cy="457200"/>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tools_w.png"/>
          <p:cNvPicPr>
            <a:picLocks noChangeAspect="1"/>
          </p:cNvPicPr>
          <p:nvPr/>
        </p:nvPicPr>
        <p:blipFill>
          <a:blip r:embed="rId3"/>
          <a:stretch>
            <a:fillRect/>
          </a:stretch>
        </p:blipFill>
        <p:spPr>
          <a:xfrm>
            <a:off x="772668" y="1504188"/>
            <a:ext cx="228600" cy="228600"/>
          </a:xfrm>
          <a:prstGeom prst="rect">
            <a:avLst/>
          </a:prstGeom>
        </p:spPr>
      </p:pic>
      <p:sp>
        <p:nvSpPr>
          <p:cNvPr id="20" name="TextBox 19"/>
          <p:cNvSpPr txBox="1"/>
          <p:nvPr/>
        </p:nvSpPr>
        <p:spPr>
          <a:xfrm>
            <a:off x="1234440" y="1362456"/>
            <a:ext cx="3108960" cy="274320"/>
          </a:xfrm>
          <a:prstGeom prst="rect">
            <a:avLst/>
          </a:prstGeom>
          <a:noFill/>
        </p:spPr>
        <p:txBody>
          <a:bodyPr wrap="square" lIns="0" tIns="0" rIns="0" bIns="0" anchor="t">
            <a:spAutoFit/>
          </a:bodyPr>
          <a:lstStyle/>
          <a:p>
            <a:pPr algn="l"/>
            <a:r>
              <a:rPr sz="1350" b="1" i="0">
                <a:solidFill>
                  <a:srgbClr val="231F20"/>
                </a:solidFill>
                <a:latin typeface="Calibri"/>
              </a:rPr>
              <a:t>1 · Build your assistant</a:t>
            </a:r>
          </a:p>
        </p:txBody>
      </p:sp>
      <p:sp>
        <p:nvSpPr>
          <p:cNvPr id="21" name="TextBox 20"/>
          <p:cNvSpPr txBox="1"/>
          <p:nvPr/>
        </p:nvSpPr>
        <p:spPr>
          <a:xfrm>
            <a:off x="1234440" y="1636776"/>
            <a:ext cx="3108960" cy="201168"/>
          </a:xfrm>
          <a:prstGeom prst="rect">
            <a:avLst/>
          </a:prstGeom>
          <a:noFill/>
        </p:spPr>
        <p:txBody>
          <a:bodyPr wrap="square" lIns="0" tIns="0" rIns="0" bIns="0" anchor="t">
            <a:spAutoFit/>
          </a:bodyPr>
          <a:lstStyle/>
          <a:p>
            <a:pPr algn="l"/>
            <a:r>
              <a:rPr sz="950" b="1" i="0">
                <a:solidFill>
                  <a:srgbClr val="D49A00"/>
                </a:solidFill>
                <a:latin typeface="Calibri"/>
              </a:rPr>
              <a:t>NOTEBOOK A1–A2  ·  ≈ 7 MIN</a:t>
            </a:r>
          </a:p>
        </p:txBody>
      </p:sp>
      <p:sp>
        <p:nvSpPr>
          <p:cNvPr id="22" name="TextBox 21"/>
          <p:cNvSpPr txBox="1"/>
          <p:nvPr/>
        </p:nvSpPr>
        <p:spPr>
          <a:xfrm>
            <a:off x="1234440" y="1865376"/>
            <a:ext cx="3127248" cy="658368"/>
          </a:xfrm>
          <a:prstGeom prst="rect">
            <a:avLst/>
          </a:prstGeom>
          <a:noFill/>
        </p:spPr>
        <p:txBody>
          <a:bodyPr wrap="square" lIns="0" tIns="0" rIns="0" bIns="0" anchor="t">
            <a:spAutoFit/>
          </a:bodyPr>
          <a:lstStyle/>
          <a:p>
            <a:pPr algn="l"/>
            <a:r>
              <a:rPr sz="1000" b="0" i="0">
                <a:solidFill>
                  <a:srgbClr val="5E6964"/>
                </a:solidFill>
                <a:latin typeface="Calibri"/>
              </a:rPr>
              <a:t>Run on the AfDB guide, then on a publication of your institution (CPI note, QNA release, BoP bulletin, policy statement). Read pages, tables, scanned pages, threshold.</a:t>
            </a:r>
          </a:p>
        </p:txBody>
      </p:sp>
      <p:sp>
        <p:nvSpPr>
          <p:cNvPr id="23" name="Rounded Rectangle 22"/>
          <p:cNvSpPr/>
          <p:nvPr/>
        </p:nvSpPr>
        <p:spPr>
          <a:xfrm>
            <a:off x="4663440" y="1243584"/>
            <a:ext cx="4023360" cy="12984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4663440" y="1243584"/>
            <a:ext cx="64008" cy="1298448"/>
          </a:xfrm>
          <a:prstGeom prst="roundRect">
            <a:avLst>
              <a:gd name="adj" fmla="val 0"/>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4864607" y="1389888"/>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chat_w.png"/>
          <p:cNvPicPr>
            <a:picLocks noChangeAspect="1"/>
          </p:cNvPicPr>
          <p:nvPr/>
        </p:nvPicPr>
        <p:blipFill>
          <a:blip r:embed="rId4"/>
          <a:stretch>
            <a:fillRect/>
          </a:stretch>
        </p:blipFill>
        <p:spPr>
          <a:xfrm>
            <a:off x="4978907" y="1504188"/>
            <a:ext cx="228600" cy="228600"/>
          </a:xfrm>
          <a:prstGeom prst="rect">
            <a:avLst/>
          </a:prstGeom>
        </p:spPr>
      </p:pic>
      <p:sp>
        <p:nvSpPr>
          <p:cNvPr id="27" name="TextBox 26"/>
          <p:cNvSpPr txBox="1"/>
          <p:nvPr/>
        </p:nvSpPr>
        <p:spPr>
          <a:xfrm>
            <a:off x="5440679" y="1362456"/>
            <a:ext cx="3108960" cy="274320"/>
          </a:xfrm>
          <a:prstGeom prst="rect">
            <a:avLst/>
          </a:prstGeom>
          <a:noFill/>
        </p:spPr>
        <p:txBody>
          <a:bodyPr wrap="square" lIns="0" tIns="0" rIns="0" bIns="0" anchor="t">
            <a:spAutoFit/>
          </a:bodyPr>
          <a:lstStyle/>
          <a:p>
            <a:pPr algn="l"/>
            <a:r>
              <a:rPr sz="1350" b="1" i="0">
                <a:solidFill>
                  <a:srgbClr val="231F20"/>
                </a:solidFill>
                <a:latin typeface="Calibri"/>
              </a:rPr>
              <a:t>2 · Ask and verify</a:t>
            </a:r>
          </a:p>
        </p:txBody>
      </p:sp>
      <p:sp>
        <p:nvSpPr>
          <p:cNvPr id="28" name="TextBox 27"/>
          <p:cNvSpPr txBox="1"/>
          <p:nvPr/>
        </p:nvSpPr>
        <p:spPr>
          <a:xfrm>
            <a:off x="5440679" y="1636776"/>
            <a:ext cx="3108960" cy="201168"/>
          </a:xfrm>
          <a:prstGeom prst="rect">
            <a:avLst/>
          </a:prstGeom>
          <a:noFill/>
        </p:spPr>
        <p:txBody>
          <a:bodyPr wrap="square" lIns="0" tIns="0" rIns="0" bIns="0" anchor="t">
            <a:spAutoFit/>
          </a:bodyPr>
          <a:lstStyle/>
          <a:p>
            <a:pPr algn="l"/>
            <a:r>
              <a:rPr sz="950" b="1" i="0">
                <a:solidFill>
                  <a:srgbClr val="D49A00"/>
                </a:solidFill>
                <a:latin typeface="Calibri"/>
              </a:rPr>
              <a:t>NOTEBOOK A3 · C1  ·  ≈ 6 MIN</a:t>
            </a:r>
          </a:p>
        </p:txBody>
      </p:sp>
      <p:sp>
        <p:nvSpPr>
          <p:cNvPr id="29" name="TextBox 28"/>
          <p:cNvSpPr txBox="1"/>
          <p:nvPr/>
        </p:nvSpPr>
        <p:spPr>
          <a:xfrm>
            <a:off x="5440679" y="1865376"/>
            <a:ext cx="3127248" cy="658368"/>
          </a:xfrm>
          <a:prstGeom prst="rect">
            <a:avLst/>
          </a:prstGeom>
          <a:noFill/>
        </p:spPr>
        <p:txBody>
          <a:bodyPr wrap="square" lIns="0" tIns="0" rIns="0" bIns="0" anchor="t">
            <a:spAutoFit/>
          </a:bodyPr>
          <a:lstStyle/>
          <a:p>
            <a:pPr algn="l"/>
            <a:r>
              <a:rPr sz="1000" b="0" i="0">
                <a:solidFill>
                  <a:srgbClr val="5E6964"/>
                </a:solidFill>
                <a:latin typeface="Calibri"/>
              </a:rPr>
              <a:t>Three questions: a figure in a table, a methodological question, a follow-up. Check source, page thumbnail, figure check and “Understood as…”.</a:t>
            </a:r>
          </a:p>
        </p:txBody>
      </p:sp>
      <p:sp>
        <p:nvSpPr>
          <p:cNvPr id="30" name="Rounded Rectangle 29"/>
          <p:cNvSpPr/>
          <p:nvPr/>
        </p:nvSpPr>
        <p:spPr>
          <a:xfrm>
            <a:off x="457200" y="2660904"/>
            <a:ext cx="4023360" cy="12984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457200" y="2660904"/>
            <a:ext cx="64008" cy="1298448"/>
          </a:xfrm>
          <a:prstGeom prst="roundRect">
            <a:avLst>
              <a:gd name="adj" fmla="val 0"/>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658368" y="2807208"/>
            <a:ext cx="457200" cy="457200"/>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scale_w.png"/>
          <p:cNvPicPr>
            <a:picLocks noChangeAspect="1"/>
          </p:cNvPicPr>
          <p:nvPr/>
        </p:nvPicPr>
        <p:blipFill>
          <a:blip r:embed="rId5"/>
          <a:stretch>
            <a:fillRect/>
          </a:stretch>
        </p:blipFill>
        <p:spPr>
          <a:xfrm>
            <a:off x="772668" y="2921508"/>
            <a:ext cx="228600" cy="228600"/>
          </a:xfrm>
          <a:prstGeom prst="rect">
            <a:avLst/>
          </a:prstGeom>
        </p:spPr>
      </p:pic>
      <p:sp>
        <p:nvSpPr>
          <p:cNvPr id="34" name="TextBox 33"/>
          <p:cNvSpPr txBox="1"/>
          <p:nvPr/>
        </p:nvSpPr>
        <p:spPr>
          <a:xfrm>
            <a:off x="1234440" y="2779776"/>
            <a:ext cx="3108960" cy="274320"/>
          </a:xfrm>
          <a:prstGeom prst="rect">
            <a:avLst/>
          </a:prstGeom>
          <a:noFill/>
        </p:spPr>
        <p:txBody>
          <a:bodyPr wrap="square" lIns="0" tIns="0" rIns="0" bIns="0" anchor="t">
            <a:spAutoFit/>
          </a:bodyPr>
          <a:lstStyle/>
          <a:p>
            <a:pPr algn="l"/>
            <a:r>
              <a:rPr sz="1350" b="1" i="0">
                <a:solidFill>
                  <a:srgbClr val="231F20"/>
                </a:solidFill>
                <a:latin typeface="Calibri"/>
              </a:rPr>
              <a:t>3 · Compare retrieval methods</a:t>
            </a:r>
          </a:p>
        </p:txBody>
      </p:sp>
      <p:sp>
        <p:nvSpPr>
          <p:cNvPr id="35" name="TextBox 34"/>
          <p:cNvSpPr txBox="1"/>
          <p:nvPr/>
        </p:nvSpPr>
        <p:spPr>
          <a:xfrm>
            <a:off x="1234440" y="3054096"/>
            <a:ext cx="3108960" cy="201168"/>
          </a:xfrm>
          <a:prstGeom prst="rect">
            <a:avLst/>
          </a:prstGeom>
          <a:noFill/>
        </p:spPr>
        <p:txBody>
          <a:bodyPr wrap="square" lIns="0" tIns="0" rIns="0" bIns="0" anchor="t">
            <a:spAutoFit/>
          </a:bodyPr>
          <a:lstStyle/>
          <a:p>
            <a:pPr algn="l"/>
            <a:r>
              <a:rPr sz="950" b="1" i="0">
                <a:solidFill>
                  <a:srgbClr val="D49A00"/>
                </a:solidFill>
                <a:latin typeface="Calibri"/>
              </a:rPr>
              <a:t>NOTEBOOK B3–B4  ·  ≈ 5 MIN</a:t>
            </a:r>
          </a:p>
        </p:txBody>
      </p:sp>
      <p:sp>
        <p:nvSpPr>
          <p:cNvPr id="36" name="TextBox 35"/>
          <p:cNvSpPr txBox="1"/>
          <p:nvPr/>
        </p:nvSpPr>
        <p:spPr>
          <a:xfrm>
            <a:off x="1234440" y="3282696"/>
            <a:ext cx="3127248" cy="658368"/>
          </a:xfrm>
          <a:prstGeom prst="rect">
            <a:avLst/>
          </a:prstGeom>
          <a:noFill/>
        </p:spPr>
        <p:txBody>
          <a:bodyPr wrap="square" lIns="0" tIns="0" rIns="0" bIns="0" anchor="t">
            <a:spAutoFit/>
          </a:bodyPr>
          <a:lstStyle/>
          <a:p>
            <a:pPr algn="l"/>
            <a:r>
              <a:rPr sz="1000" b="0" i="0">
                <a:solidFill>
                  <a:srgbClr val="5E6964"/>
                </a:solidFill>
                <a:latin typeface="Calibri"/>
              </a:rPr>
              <a:t>compare_chunking(), then benchmark() on 3–5 questions you can answer. explain() shows what BM25, semantic search and reranking each found.</a:t>
            </a:r>
          </a:p>
        </p:txBody>
      </p:sp>
      <p:sp>
        <p:nvSpPr>
          <p:cNvPr id="37" name="Rounded Rectangle 36"/>
          <p:cNvSpPr/>
          <p:nvPr/>
        </p:nvSpPr>
        <p:spPr>
          <a:xfrm>
            <a:off x="4663440" y="2660904"/>
            <a:ext cx="4023360" cy="12984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ounded Rectangle 37"/>
          <p:cNvSpPr/>
          <p:nvPr/>
        </p:nvSpPr>
        <p:spPr>
          <a:xfrm>
            <a:off x="4663440" y="2660904"/>
            <a:ext cx="64008" cy="1298448"/>
          </a:xfrm>
          <a:prstGeom prst="roundRect">
            <a:avLst>
              <a:gd name="adj" fmla="val 0"/>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Oval 38"/>
          <p:cNvSpPr/>
          <p:nvPr/>
        </p:nvSpPr>
        <p:spPr>
          <a:xfrm>
            <a:off x="4864607" y="2807208"/>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Picture 39" descr="diag_w.png"/>
          <p:cNvPicPr>
            <a:picLocks noChangeAspect="1"/>
          </p:cNvPicPr>
          <p:nvPr/>
        </p:nvPicPr>
        <p:blipFill>
          <a:blip r:embed="rId6"/>
          <a:stretch>
            <a:fillRect/>
          </a:stretch>
        </p:blipFill>
        <p:spPr>
          <a:xfrm>
            <a:off x="4978907" y="2921508"/>
            <a:ext cx="228600" cy="228600"/>
          </a:xfrm>
          <a:prstGeom prst="rect">
            <a:avLst/>
          </a:prstGeom>
        </p:spPr>
      </p:pic>
      <p:sp>
        <p:nvSpPr>
          <p:cNvPr id="41" name="TextBox 40"/>
          <p:cNvSpPr txBox="1"/>
          <p:nvPr/>
        </p:nvSpPr>
        <p:spPr>
          <a:xfrm>
            <a:off x="5440679" y="2779776"/>
            <a:ext cx="3108960" cy="274320"/>
          </a:xfrm>
          <a:prstGeom prst="rect">
            <a:avLst/>
          </a:prstGeom>
          <a:noFill/>
        </p:spPr>
        <p:txBody>
          <a:bodyPr wrap="square" lIns="0" tIns="0" rIns="0" bIns="0" anchor="t">
            <a:spAutoFit/>
          </a:bodyPr>
          <a:lstStyle/>
          <a:p>
            <a:pPr algn="l"/>
            <a:r>
              <a:rPr sz="1350" b="1" i="0">
                <a:solidFill>
                  <a:srgbClr val="231F20"/>
                </a:solidFill>
                <a:latin typeface="Calibri"/>
              </a:rPr>
              <a:t>4 · Diagnose and decline</a:t>
            </a:r>
          </a:p>
        </p:txBody>
      </p:sp>
      <p:sp>
        <p:nvSpPr>
          <p:cNvPr id="42" name="TextBox 41"/>
          <p:cNvSpPr txBox="1"/>
          <p:nvPr/>
        </p:nvSpPr>
        <p:spPr>
          <a:xfrm>
            <a:off x="5440679" y="3054096"/>
            <a:ext cx="3108960" cy="201168"/>
          </a:xfrm>
          <a:prstGeom prst="rect">
            <a:avLst/>
          </a:prstGeom>
          <a:noFill/>
        </p:spPr>
        <p:txBody>
          <a:bodyPr wrap="square" lIns="0" tIns="0" rIns="0" bIns="0" anchor="t">
            <a:spAutoFit/>
          </a:bodyPr>
          <a:lstStyle/>
          <a:p>
            <a:pPr algn="l"/>
            <a:r>
              <a:rPr sz="950" b="1" i="0">
                <a:solidFill>
                  <a:srgbClr val="D49A00"/>
                </a:solidFill>
                <a:latin typeface="Calibri"/>
              </a:rPr>
              <a:t>NOTEBOOK B5 · B8 · B9  ·  ≈ 5 MIN</a:t>
            </a:r>
          </a:p>
        </p:txBody>
      </p:sp>
      <p:sp>
        <p:nvSpPr>
          <p:cNvPr id="43" name="TextBox 42"/>
          <p:cNvSpPr txBox="1"/>
          <p:nvPr/>
        </p:nvSpPr>
        <p:spPr>
          <a:xfrm>
            <a:off x="5440679" y="3282696"/>
            <a:ext cx="3127248" cy="658368"/>
          </a:xfrm>
          <a:prstGeom prst="rect">
            <a:avLst/>
          </a:prstGeom>
          <a:noFill/>
        </p:spPr>
        <p:txBody>
          <a:bodyPr wrap="square" lIns="0" tIns="0" rIns="0" bIns="0" anchor="t">
            <a:spAutoFit/>
          </a:bodyPr>
          <a:lstStyle/>
          <a:p>
            <a:pPr algn="l"/>
            <a:r>
              <a:rPr sz="1000" b="0" i="0">
                <a:solidFill>
                  <a:srgbClr val="5E6964"/>
                </a:solidFill>
                <a:latin typeface="Calibri"/>
              </a:rPr>
              <a:t>Two out-of-scope questions: it must decline. Trace a wrong answer with explain(), then write a four-question test set.</a:t>
            </a:r>
          </a:p>
        </p:txBody>
      </p:sp>
      <p:sp>
        <p:nvSpPr>
          <p:cNvPr id="44" name="Rounded Rectangle 43"/>
          <p:cNvSpPr/>
          <p:nvPr/>
        </p:nvSpPr>
        <p:spPr>
          <a:xfrm>
            <a:off x="457200" y="4160520"/>
            <a:ext cx="8229600" cy="457200"/>
          </a:xfrm>
          <a:prstGeom prst="roundRect">
            <a:avLst>
              <a:gd name="adj" fmla="val 16000"/>
            </a:avLst>
          </a:prstGeom>
          <a:solidFill>
            <a:srgbClr val="E8F5EF"/>
          </a:solidFill>
          <a:ln w="15875">
            <a:solidFill>
              <a:srgbClr val="00A8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85800" y="4160520"/>
            <a:ext cx="7818120" cy="457200"/>
          </a:xfrm>
          <a:prstGeom prst="rect">
            <a:avLst/>
          </a:prstGeom>
          <a:noFill/>
        </p:spPr>
        <p:txBody>
          <a:bodyPr wrap="square" lIns="0" tIns="0" rIns="0" bIns="0" anchor="ctr">
            <a:spAutoFit/>
          </a:bodyPr>
          <a:lstStyle/>
          <a:p>
            <a:pPr algn="l"/>
            <a:r>
              <a:rPr sz="1200" b="0" i="0">
                <a:solidFill>
                  <a:srgbClr val="00704A"/>
                </a:solidFill>
                <a:latin typeface="Calibri"/>
              </a:rPr>
              <a:t>The gold boxes in the notebook are these four exercises. Your notes from 2 and 4 become your test 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Failure points and best practices</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325880"/>
            <a:ext cx="3977640" cy="3337560"/>
          </a:xfrm>
          <a:prstGeom prst="roundRect">
            <a:avLst>
              <a:gd name="adj" fmla="val 2192"/>
            </a:avLst>
          </a:prstGeom>
          <a:solidFill>
            <a:srgbClr val="B83B2E">
              <a:alpha val="7000"/>
            </a:srgbClr>
          </a:solidFill>
          <a:ln w="9525">
            <a:solidFill>
              <a:srgbClr val="B83B2E"/>
            </a:solidFill>
            <a:prstDash val="solid"/>
          </a:ln>
        </p:spPr>
      </p:sp>
      <p:sp>
        <p:nvSpPr>
          <p:cNvPr id="18" name="Shape 15"/>
          <p:cNvSpPr/>
          <p:nvPr/>
        </p:nvSpPr>
        <p:spPr>
          <a:xfrm>
            <a:off x="640080" y="1444752"/>
            <a:ext cx="457200" cy="457200"/>
          </a:xfrm>
          <a:prstGeom prst="ellipse">
            <a:avLst/>
          </a:prstGeom>
          <a:solidFill>
            <a:srgbClr val="B83B2E">
              <a:alpha val="22000"/>
            </a:srgbClr>
          </a:solidFill>
          <a:ln w="12700">
            <a:solidFill>
              <a:srgbClr val="B83B2E">
                <a:alpha val="0"/>
              </a:srgbClr>
            </a:solidFill>
            <a:prstDash val="solid"/>
          </a:ln>
        </p:spPr>
      </p:sp>
      <p:pic>
        <p:nvPicPr>
          <p:cNvPr id="19" name="Image 0" descr="preencoded.png"/>
          <p:cNvPicPr>
            <a:picLocks noChangeAspect="1"/>
          </p:cNvPicPr>
          <p:nvPr/>
        </p:nvPicPr>
        <p:blipFill>
          <a:blip r:embed="rId3"/>
          <a:stretch>
            <a:fillRect/>
          </a:stretch>
        </p:blipFill>
        <p:spPr>
          <a:xfrm>
            <a:off x="749808" y="1554480"/>
            <a:ext cx="237744" cy="237744"/>
          </a:xfrm>
          <a:prstGeom prst="rect">
            <a:avLst/>
          </a:prstGeom>
        </p:spPr>
      </p:pic>
      <p:sp>
        <p:nvSpPr>
          <p:cNvPr id="20" name="Text 16"/>
          <p:cNvSpPr txBox="1"/>
          <p:nvPr/>
        </p:nvSpPr>
        <p:spPr>
          <a:xfrm>
            <a:off x="1234440" y="1463040"/>
            <a:ext cx="3017520" cy="256032"/>
          </a:xfrm>
          <a:prstGeom prst="rect">
            <a:avLst/>
          </a:prstGeom>
          <a:noFill/>
          <a:ln/>
        </p:spPr>
        <p:txBody>
          <a:bodyPr wrap="square" lIns="0" tIns="0" rIns="0" bIns="0" rtlCol="0" anchor="ctr"/>
          <a:lstStyle/>
          <a:p>
            <a:pPr marL="0" indent="0">
              <a:buNone/>
            </a:pPr>
            <a:r>
              <a:rPr lang="en-US" sz="1600" b="1" dirty="0">
                <a:solidFill>
                  <a:srgbClr val="231F20"/>
                </a:solidFill>
                <a:latin typeface="Calibri" pitchFamily="34" charset="0"/>
                <a:ea typeface="Calibri" pitchFamily="34" charset="-122"/>
                <a:cs typeface="Calibri" pitchFamily="34" charset="-120"/>
              </a:rPr>
              <a:t>7 failure points</a:t>
            </a:r>
            <a:endParaRPr lang="en-US" sz="1600" dirty="0"/>
          </a:p>
        </p:txBody>
      </p:sp>
      <p:sp>
        <p:nvSpPr>
          <p:cNvPr id="21" name="Text 17"/>
          <p:cNvSpPr txBox="1"/>
          <p:nvPr/>
        </p:nvSpPr>
        <p:spPr>
          <a:xfrm>
            <a:off x="1234440" y="1719072"/>
            <a:ext cx="3017520" cy="201168"/>
          </a:xfrm>
          <a:prstGeom prst="rect">
            <a:avLst/>
          </a:prstGeom>
          <a:noFill/>
          <a:ln/>
        </p:spPr>
        <p:txBody>
          <a:bodyPr wrap="square" lIns="0" tIns="0" rIns="0" bIns="0" rtlCol="0" anchor="ctr"/>
          <a:lstStyle/>
          <a:p>
            <a:pPr marL="0" indent="0">
              <a:buNone/>
            </a:pPr>
            <a:r>
              <a:rPr lang="en-US" sz="950" i="1" dirty="0">
                <a:solidFill>
                  <a:srgbClr val="5E6964"/>
                </a:solidFill>
                <a:latin typeface="Calibri" pitchFamily="34" charset="0"/>
                <a:ea typeface="Calibri" pitchFamily="34" charset="-122"/>
                <a:cs typeface="Calibri" pitchFamily="34" charset="-120"/>
              </a:rPr>
              <a:t>Barnett et al., 2024</a:t>
            </a:r>
            <a:endParaRPr lang="en-US" sz="950" dirty="0"/>
          </a:p>
        </p:txBody>
      </p:sp>
      <p:sp>
        <p:nvSpPr>
          <p:cNvPr id="22" name="Shape 18"/>
          <p:cNvSpPr/>
          <p:nvPr/>
        </p:nvSpPr>
        <p:spPr>
          <a:xfrm>
            <a:off x="685800" y="2093976"/>
            <a:ext cx="237744" cy="237744"/>
          </a:xfrm>
          <a:prstGeom prst="ellipse">
            <a:avLst/>
          </a:prstGeom>
          <a:solidFill>
            <a:srgbClr val="FFFFFF"/>
          </a:solidFill>
          <a:ln w="12700">
            <a:solidFill>
              <a:srgbClr val="B83B2E"/>
            </a:solidFill>
            <a:prstDash val="solid"/>
          </a:ln>
        </p:spPr>
      </p:sp>
      <p:sp>
        <p:nvSpPr>
          <p:cNvPr id="23" name="Text 19"/>
          <p:cNvSpPr txBox="1"/>
          <p:nvPr/>
        </p:nvSpPr>
        <p:spPr>
          <a:xfrm>
            <a:off x="685800" y="2093976"/>
            <a:ext cx="237744" cy="237744"/>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1</a:t>
            </a:r>
            <a:endParaRPr lang="en-US" sz="1000" dirty="0"/>
          </a:p>
        </p:txBody>
      </p:sp>
      <p:sp>
        <p:nvSpPr>
          <p:cNvPr id="24" name="Text 20"/>
          <p:cNvSpPr txBox="1"/>
          <p:nvPr/>
        </p:nvSpPr>
        <p:spPr>
          <a:xfrm>
            <a:off x="1051560" y="2057400"/>
            <a:ext cx="324612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Missing content — the answer is not in the corpus</a:t>
            </a:r>
            <a:endParaRPr lang="en-US" sz="1150" dirty="0"/>
          </a:p>
        </p:txBody>
      </p:sp>
      <p:sp>
        <p:nvSpPr>
          <p:cNvPr id="25" name="Shape 21"/>
          <p:cNvSpPr/>
          <p:nvPr/>
        </p:nvSpPr>
        <p:spPr>
          <a:xfrm>
            <a:off x="685800" y="2459736"/>
            <a:ext cx="237744" cy="237744"/>
          </a:xfrm>
          <a:prstGeom prst="ellipse">
            <a:avLst/>
          </a:prstGeom>
          <a:solidFill>
            <a:srgbClr val="FFFFFF"/>
          </a:solidFill>
          <a:ln w="12700">
            <a:solidFill>
              <a:srgbClr val="B83B2E"/>
            </a:solidFill>
            <a:prstDash val="solid"/>
          </a:ln>
        </p:spPr>
      </p:sp>
      <p:sp>
        <p:nvSpPr>
          <p:cNvPr id="26" name="Text 22"/>
          <p:cNvSpPr txBox="1"/>
          <p:nvPr/>
        </p:nvSpPr>
        <p:spPr>
          <a:xfrm>
            <a:off x="685800" y="2459736"/>
            <a:ext cx="237744" cy="237744"/>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2</a:t>
            </a:r>
            <a:endParaRPr lang="en-US" sz="1000" dirty="0"/>
          </a:p>
        </p:txBody>
      </p:sp>
      <p:sp>
        <p:nvSpPr>
          <p:cNvPr id="27" name="Text 23"/>
          <p:cNvSpPr txBox="1"/>
          <p:nvPr/>
        </p:nvSpPr>
        <p:spPr>
          <a:xfrm>
            <a:off x="1051560" y="2423160"/>
            <a:ext cx="324612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Missed top-ranked documents</a:t>
            </a:r>
            <a:endParaRPr lang="en-US" sz="1150" dirty="0"/>
          </a:p>
        </p:txBody>
      </p:sp>
      <p:sp>
        <p:nvSpPr>
          <p:cNvPr id="28" name="Shape 24"/>
          <p:cNvSpPr/>
          <p:nvPr/>
        </p:nvSpPr>
        <p:spPr>
          <a:xfrm>
            <a:off x="685800" y="2825496"/>
            <a:ext cx="237744" cy="237744"/>
          </a:xfrm>
          <a:prstGeom prst="ellipse">
            <a:avLst/>
          </a:prstGeom>
          <a:solidFill>
            <a:srgbClr val="FFFFFF"/>
          </a:solidFill>
          <a:ln w="12700">
            <a:solidFill>
              <a:srgbClr val="B83B2E"/>
            </a:solidFill>
            <a:prstDash val="solid"/>
          </a:ln>
        </p:spPr>
      </p:sp>
      <p:sp>
        <p:nvSpPr>
          <p:cNvPr id="29" name="Text 25"/>
          <p:cNvSpPr txBox="1"/>
          <p:nvPr/>
        </p:nvSpPr>
        <p:spPr>
          <a:xfrm>
            <a:off x="685800" y="2825496"/>
            <a:ext cx="237744" cy="237744"/>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3</a:t>
            </a:r>
            <a:endParaRPr lang="en-US" sz="1000" dirty="0"/>
          </a:p>
        </p:txBody>
      </p:sp>
      <p:sp>
        <p:nvSpPr>
          <p:cNvPr id="30" name="Text 26"/>
          <p:cNvSpPr txBox="1"/>
          <p:nvPr/>
        </p:nvSpPr>
        <p:spPr>
          <a:xfrm>
            <a:off x="1051560" y="2788920"/>
            <a:ext cx="324612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Not in context — dropped during consolidation</a:t>
            </a:r>
            <a:endParaRPr lang="en-US" sz="1150" dirty="0"/>
          </a:p>
        </p:txBody>
      </p:sp>
      <p:sp>
        <p:nvSpPr>
          <p:cNvPr id="31" name="Shape 27"/>
          <p:cNvSpPr/>
          <p:nvPr/>
        </p:nvSpPr>
        <p:spPr>
          <a:xfrm>
            <a:off x="685800" y="3191256"/>
            <a:ext cx="237744" cy="237744"/>
          </a:xfrm>
          <a:prstGeom prst="ellipse">
            <a:avLst/>
          </a:prstGeom>
          <a:solidFill>
            <a:srgbClr val="FFFFFF"/>
          </a:solidFill>
          <a:ln w="12700">
            <a:solidFill>
              <a:srgbClr val="B83B2E"/>
            </a:solidFill>
            <a:prstDash val="solid"/>
          </a:ln>
        </p:spPr>
      </p:sp>
      <p:sp>
        <p:nvSpPr>
          <p:cNvPr id="32" name="Text 28"/>
          <p:cNvSpPr txBox="1"/>
          <p:nvPr/>
        </p:nvSpPr>
        <p:spPr>
          <a:xfrm>
            <a:off x="685800" y="3191256"/>
            <a:ext cx="237744" cy="237744"/>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4</a:t>
            </a:r>
            <a:endParaRPr lang="en-US" sz="1000" dirty="0"/>
          </a:p>
        </p:txBody>
      </p:sp>
      <p:sp>
        <p:nvSpPr>
          <p:cNvPr id="33" name="Text 29"/>
          <p:cNvSpPr txBox="1"/>
          <p:nvPr/>
        </p:nvSpPr>
        <p:spPr>
          <a:xfrm>
            <a:off x="1051560" y="3154680"/>
            <a:ext cx="324612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Not extracted — present but ignored by the LLM</a:t>
            </a:r>
            <a:endParaRPr lang="en-US" sz="1150" dirty="0"/>
          </a:p>
        </p:txBody>
      </p:sp>
      <p:sp>
        <p:nvSpPr>
          <p:cNvPr id="34" name="Shape 30"/>
          <p:cNvSpPr/>
          <p:nvPr/>
        </p:nvSpPr>
        <p:spPr>
          <a:xfrm>
            <a:off x="685800" y="3557016"/>
            <a:ext cx="237744" cy="237744"/>
          </a:xfrm>
          <a:prstGeom prst="ellipse">
            <a:avLst/>
          </a:prstGeom>
          <a:solidFill>
            <a:srgbClr val="FFFFFF"/>
          </a:solidFill>
          <a:ln w="12700">
            <a:solidFill>
              <a:srgbClr val="B83B2E"/>
            </a:solidFill>
            <a:prstDash val="solid"/>
          </a:ln>
        </p:spPr>
      </p:sp>
      <p:sp>
        <p:nvSpPr>
          <p:cNvPr id="35" name="Text 31"/>
          <p:cNvSpPr txBox="1"/>
          <p:nvPr/>
        </p:nvSpPr>
        <p:spPr>
          <a:xfrm>
            <a:off x="685800" y="3557016"/>
            <a:ext cx="237744" cy="237744"/>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5</a:t>
            </a:r>
            <a:endParaRPr lang="en-US" sz="1000" dirty="0"/>
          </a:p>
        </p:txBody>
      </p:sp>
      <p:sp>
        <p:nvSpPr>
          <p:cNvPr id="36" name="Text 32"/>
          <p:cNvSpPr txBox="1"/>
          <p:nvPr/>
        </p:nvSpPr>
        <p:spPr>
          <a:xfrm>
            <a:off x="1051560" y="3520440"/>
            <a:ext cx="324612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Wrong format</a:t>
            </a:r>
            <a:endParaRPr lang="en-US" sz="1150" dirty="0"/>
          </a:p>
        </p:txBody>
      </p:sp>
      <p:sp>
        <p:nvSpPr>
          <p:cNvPr id="37" name="Shape 33"/>
          <p:cNvSpPr/>
          <p:nvPr/>
        </p:nvSpPr>
        <p:spPr>
          <a:xfrm>
            <a:off x="685800" y="3922776"/>
            <a:ext cx="237744" cy="237744"/>
          </a:xfrm>
          <a:prstGeom prst="ellipse">
            <a:avLst/>
          </a:prstGeom>
          <a:solidFill>
            <a:srgbClr val="FFFFFF"/>
          </a:solidFill>
          <a:ln w="12700">
            <a:solidFill>
              <a:srgbClr val="B83B2E"/>
            </a:solidFill>
            <a:prstDash val="solid"/>
          </a:ln>
        </p:spPr>
      </p:sp>
      <p:sp>
        <p:nvSpPr>
          <p:cNvPr id="38" name="Text 34"/>
          <p:cNvSpPr txBox="1"/>
          <p:nvPr/>
        </p:nvSpPr>
        <p:spPr>
          <a:xfrm>
            <a:off x="685800" y="3922776"/>
            <a:ext cx="237744" cy="237744"/>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6</a:t>
            </a:r>
            <a:endParaRPr lang="en-US" sz="1000" dirty="0"/>
          </a:p>
        </p:txBody>
      </p:sp>
      <p:sp>
        <p:nvSpPr>
          <p:cNvPr id="39" name="Text 35"/>
          <p:cNvSpPr txBox="1"/>
          <p:nvPr/>
        </p:nvSpPr>
        <p:spPr>
          <a:xfrm>
            <a:off x="1051560" y="3886200"/>
            <a:ext cx="324612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Incorrect specificity</a:t>
            </a:r>
            <a:endParaRPr lang="en-US" sz="1150" dirty="0"/>
          </a:p>
        </p:txBody>
      </p:sp>
      <p:sp>
        <p:nvSpPr>
          <p:cNvPr id="40" name="Shape 36"/>
          <p:cNvSpPr/>
          <p:nvPr/>
        </p:nvSpPr>
        <p:spPr>
          <a:xfrm>
            <a:off x="685800" y="4288536"/>
            <a:ext cx="237744" cy="237744"/>
          </a:xfrm>
          <a:prstGeom prst="ellipse">
            <a:avLst/>
          </a:prstGeom>
          <a:solidFill>
            <a:srgbClr val="FFFFFF"/>
          </a:solidFill>
          <a:ln w="12700">
            <a:solidFill>
              <a:srgbClr val="B83B2E"/>
            </a:solidFill>
            <a:prstDash val="solid"/>
          </a:ln>
        </p:spPr>
      </p:sp>
      <p:sp>
        <p:nvSpPr>
          <p:cNvPr id="41" name="Text 37"/>
          <p:cNvSpPr txBox="1"/>
          <p:nvPr/>
        </p:nvSpPr>
        <p:spPr>
          <a:xfrm>
            <a:off x="685800" y="4288536"/>
            <a:ext cx="237744" cy="237744"/>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7</a:t>
            </a:r>
            <a:endParaRPr lang="en-US" sz="1000" dirty="0"/>
          </a:p>
        </p:txBody>
      </p:sp>
      <p:sp>
        <p:nvSpPr>
          <p:cNvPr id="42" name="Text 38"/>
          <p:cNvSpPr txBox="1"/>
          <p:nvPr/>
        </p:nvSpPr>
        <p:spPr>
          <a:xfrm>
            <a:off x="1051560" y="4251960"/>
            <a:ext cx="324612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Incomplete answer</a:t>
            </a:r>
            <a:endParaRPr lang="en-US" sz="1150" dirty="0"/>
          </a:p>
        </p:txBody>
      </p:sp>
      <p:sp>
        <p:nvSpPr>
          <p:cNvPr id="43" name="Shape 39"/>
          <p:cNvSpPr/>
          <p:nvPr/>
        </p:nvSpPr>
        <p:spPr>
          <a:xfrm>
            <a:off x="4709160" y="1325880"/>
            <a:ext cx="3977640" cy="3337560"/>
          </a:xfrm>
          <a:prstGeom prst="roundRect">
            <a:avLst>
              <a:gd name="adj" fmla="val 2192"/>
            </a:avLst>
          </a:prstGeom>
          <a:solidFill>
            <a:srgbClr val="E8F5EF"/>
          </a:solidFill>
          <a:ln w="15875">
            <a:solidFill>
              <a:srgbClr val="00A86A"/>
            </a:solidFill>
            <a:prstDash val="solid"/>
          </a:ln>
        </p:spPr>
      </p:sp>
      <p:sp>
        <p:nvSpPr>
          <p:cNvPr id="44" name="Shape 40"/>
          <p:cNvSpPr/>
          <p:nvPr/>
        </p:nvSpPr>
        <p:spPr>
          <a:xfrm>
            <a:off x="4892040" y="1444752"/>
            <a:ext cx="457200" cy="457200"/>
          </a:xfrm>
          <a:prstGeom prst="ellipse">
            <a:avLst/>
          </a:prstGeom>
          <a:solidFill>
            <a:srgbClr val="00A86A">
              <a:alpha val="22000"/>
            </a:srgbClr>
          </a:solidFill>
          <a:ln w="12700">
            <a:solidFill>
              <a:srgbClr val="00A86A">
                <a:alpha val="0"/>
              </a:srgbClr>
            </a:solidFill>
            <a:prstDash val="solid"/>
          </a:ln>
        </p:spPr>
      </p:sp>
      <p:pic>
        <p:nvPicPr>
          <p:cNvPr id="45" name="Image 1" descr="preencoded.png"/>
          <p:cNvPicPr>
            <a:picLocks noChangeAspect="1"/>
          </p:cNvPicPr>
          <p:nvPr/>
        </p:nvPicPr>
        <p:blipFill>
          <a:blip r:embed="rId4"/>
          <a:stretch>
            <a:fillRect/>
          </a:stretch>
        </p:blipFill>
        <p:spPr>
          <a:xfrm>
            <a:off x="5001768" y="1554480"/>
            <a:ext cx="237744" cy="237744"/>
          </a:xfrm>
          <a:prstGeom prst="rect">
            <a:avLst/>
          </a:prstGeom>
        </p:spPr>
      </p:pic>
      <p:sp>
        <p:nvSpPr>
          <p:cNvPr id="46" name="Text 41"/>
          <p:cNvSpPr txBox="1"/>
          <p:nvPr/>
        </p:nvSpPr>
        <p:spPr>
          <a:xfrm>
            <a:off x="5486400" y="1463040"/>
            <a:ext cx="3017520" cy="256032"/>
          </a:xfrm>
          <a:prstGeom prst="rect">
            <a:avLst/>
          </a:prstGeom>
          <a:noFill/>
          <a:ln/>
        </p:spPr>
        <p:txBody>
          <a:bodyPr wrap="square" lIns="0" tIns="0" rIns="0" bIns="0" rtlCol="0" anchor="ctr"/>
          <a:lstStyle/>
          <a:p>
            <a:pPr marL="0" indent="0">
              <a:buNone/>
            </a:pPr>
            <a:r>
              <a:rPr lang="en-US" sz="1600" b="1" dirty="0">
                <a:solidFill>
                  <a:srgbClr val="231F20"/>
                </a:solidFill>
                <a:latin typeface="Calibri" pitchFamily="34" charset="0"/>
                <a:ea typeface="Calibri" pitchFamily="34" charset="-122"/>
                <a:cs typeface="Calibri" pitchFamily="34" charset="-120"/>
              </a:rPr>
              <a:t>Best practices</a:t>
            </a:r>
            <a:endParaRPr lang="en-US" sz="1600" dirty="0"/>
          </a:p>
        </p:txBody>
      </p:sp>
      <p:sp>
        <p:nvSpPr>
          <p:cNvPr id="47" name="Text 42"/>
          <p:cNvSpPr txBox="1"/>
          <p:nvPr/>
        </p:nvSpPr>
        <p:spPr>
          <a:xfrm>
            <a:off x="5486400" y="1719072"/>
            <a:ext cx="3017520" cy="201168"/>
          </a:xfrm>
          <a:prstGeom prst="rect">
            <a:avLst/>
          </a:prstGeom>
          <a:noFill/>
          <a:ln/>
        </p:spPr>
        <p:txBody>
          <a:bodyPr wrap="square" lIns="0" tIns="0" rIns="0" bIns="0" rtlCol="0" anchor="ctr"/>
          <a:lstStyle/>
          <a:p>
            <a:pPr marL="0" indent="0">
              <a:buNone/>
            </a:pPr>
            <a:r>
              <a:rPr lang="en-US" sz="950" i="1" dirty="0">
                <a:solidFill>
                  <a:srgbClr val="5E6964"/>
                </a:solidFill>
                <a:latin typeface="Calibri" pitchFamily="34" charset="0"/>
                <a:ea typeface="Calibri" pitchFamily="34" charset="-122"/>
                <a:cs typeface="Calibri" pitchFamily="34" charset="-120"/>
              </a:rPr>
              <a:t>What consistently works</a:t>
            </a:r>
            <a:endParaRPr lang="en-US" sz="950" dirty="0"/>
          </a:p>
        </p:txBody>
      </p:sp>
      <p:pic>
        <p:nvPicPr>
          <p:cNvPr id="48" name="Image 2" descr="preencoded.png"/>
          <p:cNvPicPr>
            <a:picLocks noChangeAspect="1"/>
          </p:cNvPicPr>
          <p:nvPr/>
        </p:nvPicPr>
        <p:blipFill>
          <a:blip r:embed="rId5"/>
          <a:stretch>
            <a:fillRect/>
          </a:stretch>
        </p:blipFill>
        <p:spPr>
          <a:xfrm>
            <a:off x="4937760" y="2130552"/>
            <a:ext cx="182880" cy="182880"/>
          </a:xfrm>
          <a:prstGeom prst="rect">
            <a:avLst/>
          </a:prstGeom>
        </p:spPr>
      </p:pic>
      <p:sp>
        <p:nvSpPr>
          <p:cNvPr id="49" name="Text 43"/>
          <p:cNvSpPr txBox="1"/>
          <p:nvPr/>
        </p:nvSpPr>
        <p:spPr>
          <a:xfrm>
            <a:off x="5303520" y="2057400"/>
            <a:ext cx="3246120" cy="32918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Build an evaluation set before optimising</a:t>
            </a:r>
            <a:endParaRPr lang="en-US" sz="1200" dirty="0"/>
          </a:p>
        </p:txBody>
      </p:sp>
      <p:pic>
        <p:nvPicPr>
          <p:cNvPr id="50" name="Image 3" descr="preencoded.png"/>
          <p:cNvPicPr>
            <a:picLocks noChangeAspect="1"/>
          </p:cNvPicPr>
          <p:nvPr/>
        </p:nvPicPr>
        <p:blipFill>
          <a:blip r:embed="rId5"/>
          <a:stretch>
            <a:fillRect/>
          </a:stretch>
        </p:blipFill>
        <p:spPr>
          <a:xfrm>
            <a:off x="4937760" y="2551176"/>
            <a:ext cx="182880" cy="182880"/>
          </a:xfrm>
          <a:prstGeom prst="rect">
            <a:avLst/>
          </a:prstGeom>
        </p:spPr>
      </p:pic>
      <p:sp>
        <p:nvSpPr>
          <p:cNvPr id="51" name="Text 44"/>
          <p:cNvSpPr txBox="1"/>
          <p:nvPr/>
        </p:nvSpPr>
        <p:spPr>
          <a:xfrm>
            <a:off x="5303520" y="2478024"/>
            <a:ext cx="3246120" cy="32918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Clean parsing &amp; structure-aware chunking</a:t>
            </a:r>
            <a:endParaRPr lang="en-US" sz="1200" dirty="0"/>
          </a:p>
        </p:txBody>
      </p:sp>
      <p:pic>
        <p:nvPicPr>
          <p:cNvPr id="52" name="Image 4" descr="preencoded.png"/>
          <p:cNvPicPr>
            <a:picLocks noChangeAspect="1"/>
          </p:cNvPicPr>
          <p:nvPr/>
        </p:nvPicPr>
        <p:blipFill>
          <a:blip r:embed="rId5"/>
          <a:stretch>
            <a:fillRect/>
          </a:stretch>
        </p:blipFill>
        <p:spPr>
          <a:xfrm>
            <a:off x="4937760" y="2971800"/>
            <a:ext cx="182880" cy="182880"/>
          </a:xfrm>
          <a:prstGeom prst="rect">
            <a:avLst/>
          </a:prstGeom>
        </p:spPr>
      </p:pic>
      <p:sp>
        <p:nvSpPr>
          <p:cNvPr id="53" name="Text 45"/>
          <p:cNvSpPr txBox="1"/>
          <p:nvPr/>
        </p:nvSpPr>
        <p:spPr>
          <a:xfrm>
            <a:off x="5303520" y="2898648"/>
            <a:ext cx="3246120" cy="32918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Hybrid search + reranking as a default</a:t>
            </a:r>
            <a:endParaRPr lang="en-US" sz="1200" dirty="0"/>
          </a:p>
        </p:txBody>
      </p:sp>
      <p:pic>
        <p:nvPicPr>
          <p:cNvPr id="54" name="Image 5" descr="preencoded.png"/>
          <p:cNvPicPr>
            <a:picLocks noChangeAspect="1"/>
          </p:cNvPicPr>
          <p:nvPr/>
        </p:nvPicPr>
        <p:blipFill>
          <a:blip r:embed="rId5"/>
          <a:stretch>
            <a:fillRect/>
          </a:stretch>
        </p:blipFill>
        <p:spPr>
          <a:xfrm>
            <a:off x="4937760" y="3392424"/>
            <a:ext cx="182880" cy="182880"/>
          </a:xfrm>
          <a:prstGeom prst="rect">
            <a:avLst/>
          </a:prstGeom>
        </p:spPr>
      </p:pic>
      <p:sp>
        <p:nvSpPr>
          <p:cNvPr id="55" name="Text 46"/>
          <p:cNvSpPr txBox="1"/>
          <p:nvPr/>
        </p:nvSpPr>
        <p:spPr>
          <a:xfrm>
            <a:off x="5303520" y="3319272"/>
            <a:ext cx="3246120" cy="32918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Metadata filters and permission checks</a:t>
            </a:r>
            <a:endParaRPr lang="en-US" sz="1200" dirty="0"/>
          </a:p>
        </p:txBody>
      </p:sp>
      <p:pic>
        <p:nvPicPr>
          <p:cNvPr id="56" name="Image 6" descr="preencoded.png"/>
          <p:cNvPicPr>
            <a:picLocks noChangeAspect="1"/>
          </p:cNvPicPr>
          <p:nvPr/>
        </p:nvPicPr>
        <p:blipFill>
          <a:blip r:embed="rId5"/>
          <a:stretch>
            <a:fillRect/>
          </a:stretch>
        </p:blipFill>
        <p:spPr>
          <a:xfrm>
            <a:off x="4937760" y="3813048"/>
            <a:ext cx="182880" cy="182880"/>
          </a:xfrm>
          <a:prstGeom prst="rect">
            <a:avLst/>
          </a:prstGeom>
        </p:spPr>
      </p:pic>
      <p:sp>
        <p:nvSpPr>
          <p:cNvPr id="57" name="Text 47"/>
          <p:cNvSpPr txBox="1"/>
          <p:nvPr/>
        </p:nvSpPr>
        <p:spPr>
          <a:xfrm>
            <a:off x="5303520" y="3739896"/>
            <a:ext cx="3246120" cy="32918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Grounding prompt with citations &amp; abstention</a:t>
            </a:r>
            <a:endParaRPr lang="en-US" sz="1200" dirty="0"/>
          </a:p>
        </p:txBody>
      </p:sp>
      <p:pic>
        <p:nvPicPr>
          <p:cNvPr id="58" name="Image 7" descr="preencoded.png"/>
          <p:cNvPicPr>
            <a:picLocks noChangeAspect="1"/>
          </p:cNvPicPr>
          <p:nvPr/>
        </p:nvPicPr>
        <p:blipFill>
          <a:blip r:embed="rId5"/>
          <a:stretch>
            <a:fillRect/>
          </a:stretch>
        </p:blipFill>
        <p:spPr>
          <a:xfrm>
            <a:off x="4937760" y="4233672"/>
            <a:ext cx="182880" cy="182880"/>
          </a:xfrm>
          <a:prstGeom prst="rect">
            <a:avLst/>
          </a:prstGeom>
        </p:spPr>
      </p:pic>
      <p:sp>
        <p:nvSpPr>
          <p:cNvPr id="59" name="Text 48"/>
          <p:cNvSpPr txBox="1"/>
          <p:nvPr/>
        </p:nvSpPr>
        <p:spPr>
          <a:xfrm>
            <a:off x="5303520" y="4160520"/>
            <a:ext cx="3246120" cy="32918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Monitor queries, refresh the index, iterate</a:t>
            </a:r>
            <a:endParaRPr lang="en-US" sz="12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NEXT  ·  THURSDAY 13:45  ·  PROJECT CANVAS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From the notebook to your Project Canvas</a:t>
            </a:r>
            <a:endParaRPr lang="en-US" sz="2800" dirty="0"/>
          </a:p>
        </p:txBody>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6" name="Rounded Rectangle 15"/>
          <p:cNvSpPr/>
          <p:nvPr/>
        </p:nvSpPr>
        <p:spPr>
          <a:xfrm>
            <a:off x="457200" y="1243584"/>
            <a:ext cx="2615184" cy="123444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640080" y="1408176"/>
            <a:ext cx="420624" cy="420624"/>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book_w.png"/>
          <p:cNvPicPr>
            <a:picLocks noChangeAspect="1"/>
          </p:cNvPicPr>
          <p:nvPr/>
        </p:nvPicPr>
        <p:blipFill>
          <a:blip r:embed="rId3"/>
          <a:stretch>
            <a:fillRect/>
          </a:stretch>
        </p:blipFill>
        <p:spPr>
          <a:xfrm>
            <a:off x="745236" y="1513332"/>
            <a:ext cx="210312" cy="210312"/>
          </a:xfrm>
          <a:prstGeom prst="rect">
            <a:avLst/>
          </a:prstGeom>
        </p:spPr>
      </p:pic>
      <p:sp>
        <p:nvSpPr>
          <p:cNvPr id="19" name="TextBox 18"/>
          <p:cNvSpPr txBox="1"/>
          <p:nvPr/>
        </p:nvSpPr>
        <p:spPr>
          <a:xfrm>
            <a:off x="1188720" y="1426464"/>
            <a:ext cx="1783080" cy="384048"/>
          </a:xfrm>
          <a:prstGeom prst="rect">
            <a:avLst/>
          </a:prstGeom>
          <a:noFill/>
        </p:spPr>
        <p:txBody>
          <a:bodyPr wrap="square" lIns="0" tIns="0" rIns="0" bIns="0" anchor="ctr">
            <a:spAutoFit/>
          </a:bodyPr>
          <a:lstStyle/>
          <a:p>
            <a:pPr algn="l"/>
            <a:r>
              <a:rPr sz="1250" b="1" i="0">
                <a:solidFill>
                  <a:srgbClr val="231F20"/>
                </a:solidFill>
                <a:latin typeface="Calibri"/>
              </a:rPr>
              <a:t>Methodology helpdesk</a:t>
            </a:r>
          </a:p>
        </p:txBody>
      </p:sp>
      <p:sp>
        <p:nvSpPr>
          <p:cNvPr id="20" name="TextBox 19"/>
          <p:cNvSpPr txBox="1"/>
          <p:nvPr/>
        </p:nvSpPr>
        <p:spPr>
          <a:xfrm>
            <a:off x="640080" y="1901952"/>
            <a:ext cx="2286000" cy="548640"/>
          </a:xfrm>
          <a:prstGeom prst="rect">
            <a:avLst/>
          </a:prstGeom>
          <a:noFill/>
        </p:spPr>
        <p:txBody>
          <a:bodyPr wrap="square" lIns="0" tIns="0" rIns="0" bIns="0" anchor="t">
            <a:spAutoFit/>
          </a:bodyPr>
          <a:lstStyle/>
          <a:p>
            <a:pPr algn="l"/>
            <a:r>
              <a:rPr sz="950" b="0" i="0">
                <a:solidFill>
                  <a:srgbClr val="5E6964"/>
                </a:solidFill>
                <a:latin typeface="Calibri"/>
              </a:rPr>
              <a:t>CPI or national-accounts manuals and procedures, for compilers and new staff.</a:t>
            </a:r>
          </a:p>
        </p:txBody>
      </p:sp>
      <p:sp>
        <p:nvSpPr>
          <p:cNvPr id="21" name="Rounded Rectangle 20"/>
          <p:cNvSpPr/>
          <p:nvPr/>
        </p:nvSpPr>
        <p:spPr>
          <a:xfrm>
            <a:off x="3264408" y="1243584"/>
            <a:ext cx="2615184" cy="123444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3447288" y="1408176"/>
            <a:ext cx="420624" cy="420624"/>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news_w.png"/>
          <p:cNvPicPr>
            <a:picLocks noChangeAspect="1"/>
          </p:cNvPicPr>
          <p:nvPr/>
        </p:nvPicPr>
        <p:blipFill>
          <a:blip r:embed="rId4"/>
          <a:stretch>
            <a:fillRect/>
          </a:stretch>
        </p:blipFill>
        <p:spPr>
          <a:xfrm>
            <a:off x="3552444" y="1513332"/>
            <a:ext cx="210312" cy="210312"/>
          </a:xfrm>
          <a:prstGeom prst="rect">
            <a:avLst/>
          </a:prstGeom>
        </p:spPr>
      </p:pic>
      <p:sp>
        <p:nvSpPr>
          <p:cNvPr id="24" name="TextBox 23"/>
          <p:cNvSpPr txBox="1"/>
          <p:nvPr/>
        </p:nvSpPr>
        <p:spPr>
          <a:xfrm>
            <a:off x="3995928" y="1426464"/>
            <a:ext cx="1783080" cy="384048"/>
          </a:xfrm>
          <a:prstGeom prst="rect">
            <a:avLst/>
          </a:prstGeom>
          <a:noFill/>
        </p:spPr>
        <p:txBody>
          <a:bodyPr wrap="square" lIns="0" tIns="0" rIns="0" bIns="0" anchor="ctr">
            <a:spAutoFit/>
          </a:bodyPr>
          <a:lstStyle/>
          <a:p>
            <a:pPr algn="l"/>
            <a:r>
              <a:rPr sz="1250" b="1" i="0">
                <a:solidFill>
                  <a:srgbClr val="231F20"/>
                </a:solidFill>
                <a:latin typeface="Calibri"/>
              </a:rPr>
              <a:t>Release Q&amp;A</a:t>
            </a:r>
          </a:p>
        </p:txBody>
      </p:sp>
      <p:sp>
        <p:nvSpPr>
          <p:cNvPr id="25" name="TextBox 24"/>
          <p:cNvSpPr txBox="1"/>
          <p:nvPr/>
        </p:nvSpPr>
        <p:spPr>
          <a:xfrm>
            <a:off x="3447288" y="1901952"/>
            <a:ext cx="2286000" cy="548640"/>
          </a:xfrm>
          <a:prstGeom prst="rect">
            <a:avLst/>
          </a:prstGeom>
          <a:noFill/>
        </p:spPr>
        <p:txBody>
          <a:bodyPr wrap="square" lIns="0" tIns="0" rIns="0" bIns="0" anchor="t">
            <a:spAutoFit/>
          </a:bodyPr>
          <a:lstStyle/>
          <a:p>
            <a:pPr algn="l"/>
            <a:r>
              <a:rPr sz="950" b="0" i="0">
                <a:solidFill>
                  <a:srgbClr val="5E6964"/>
                </a:solidFill>
                <a:latin typeface="Calibri"/>
              </a:rPr>
              <a:t>Releases, release calendar and revision policy, for users and the press.</a:t>
            </a:r>
          </a:p>
        </p:txBody>
      </p:sp>
      <p:sp>
        <p:nvSpPr>
          <p:cNvPr id="26" name="Rounded Rectangle 25"/>
          <p:cNvSpPr/>
          <p:nvPr/>
        </p:nvSpPr>
        <p:spPr>
          <a:xfrm>
            <a:off x="6071616" y="1243584"/>
            <a:ext cx="2615184" cy="123444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6254496" y="1408176"/>
            <a:ext cx="420624" cy="420624"/>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exchange_w.png"/>
          <p:cNvPicPr>
            <a:picLocks noChangeAspect="1"/>
          </p:cNvPicPr>
          <p:nvPr/>
        </p:nvPicPr>
        <p:blipFill>
          <a:blip r:embed="rId5"/>
          <a:stretch>
            <a:fillRect/>
          </a:stretch>
        </p:blipFill>
        <p:spPr>
          <a:xfrm>
            <a:off x="6359652" y="1513332"/>
            <a:ext cx="210312" cy="210312"/>
          </a:xfrm>
          <a:prstGeom prst="rect">
            <a:avLst/>
          </a:prstGeom>
        </p:spPr>
      </p:pic>
      <p:sp>
        <p:nvSpPr>
          <p:cNvPr id="29" name="TextBox 28"/>
          <p:cNvSpPr txBox="1"/>
          <p:nvPr/>
        </p:nvSpPr>
        <p:spPr>
          <a:xfrm>
            <a:off x="6803136" y="1426464"/>
            <a:ext cx="1783080" cy="384048"/>
          </a:xfrm>
          <a:prstGeom prst="rect">
            <a:avLst/>
          </a:prstGeom>
          <a:noFill/>
        </p:spPr>
        <p:txBody>
          <a:bodyPr wrap="square" lIns="0" tIns="0" rIns="0" bIns="0" anchor="ctr">
            <a:spAutoFit/>
          </a:bodyPr>
          <a:lstStyle/>
          <a:p>
            <a:pPr algn="l"/>
            <a:r>
              <a:rPr sz="1250" b="1" i="0">
                <a:solidFill>
                  <a:srgbClr val="231F20"/>
                </a:solidFill>
                <a:latin typeface="Calibri"/>
              </a:rPr>
              <a:t>BoP classification support</a:t>
            </a:r>
          </a:p>
        </p:txBody>
      </p:sp>
      <p:sp>
        <p:nvSpPr>
          <p:cNvPr id="30" name="TextBox 29"/>
          <p:cNvSpPr txBox="1"/>
          <p:nvPr/>
        </p:nvSpPr>
        <p:spPr>
          <a:xfrm>
            <a:off x="6254496" y="1901952"/>
            <a:ext cx="2286000" cy="548640"/>
          </a:xfrm>
          <a:prstGeom prst="rect">
            <a:avLst/>
          </a:prstGeom>
          <a:noFill/>
        </p:spPr>
        <p:txBody>
          <a:bodyPr wrap="square" lIns="0" tIns="0" rIns="0" bIns="0" anchor="t">
            <a:spAutoFit/>
          </a:bodyPr>
          <a:lstStyle/>
          <a:p>
            <a:pPr algn="l"/>
            <a:r>
              <a:rPr sz="950" b="0" i="0">
                <a:solidFill>
                  <a:srgbClr val="5E6964"/>
                </a:solidFill>
                <a:latin typeface="Calibri"/>
              </a:rPr>
              <a:t>BPM6 chapters and code lists — extends this morning's transaction-data session.</a:t>
            </a:r>
          </a:p>
        </p:txBody>
      </p:sp>
      <p:sp>
        <p:nvSpPr>
          <p:cNvPr id="31" name="Rounded Rectangle 30"/>
          <p:cNvSpPr/>
          <p:nvPr/>
        </p:nvSpPr>
        <p:spPr>
          <a:xfrm>
            <a:off x="457200" y="2587752"/>
            <a:ext cx="2615184" cy="123444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640080" y="2752344"/>
            <a:ext cx="420624" cy="420624"/>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bank_w.png"/>
          <p:cNvPicPr>
            <a:picLocks noChangeAspect="1"/>
          </p:cNvPicPr>
          <p:nvPr/>
        </p:nvPicPr>
        <p:blipFill>
          <a:blip r:embed="rId6"/>
          <a:stretch>
            <a:fillRect/>
          </a:stretch>
        </p:blipFill>
        <p:spPr>
          <a:xfrm>
            <a:off x="745236" y="2857500"/>
            <a:ext cx="210312" cy="210312"/>
          </a:xfrm>
          <a:prstGeom prst="rect">
            <a:avLst/>
          </a:prstGeom>
        </p:spPr>
      </p:pic>
      <p:sp>
        <p:nvSpPr>
          <p:cNvPr id="34" name="TextBox 33"/>
          <p:cNvSpPr txBox="1"/>
          <p:nvPr/>
        </p:nvSpPr>
        <p:spPr>
          <a:xfrm>
            <a:off x="1188720" y="2770632"/>
            <a:ext cx="1783080" cy="384048"/>
          </a:xfrm>
          <a:prstGeom prst="rect">
            <a:avLst/>
          </a:prstGeom>
          <a:noFill/>
        </p:spPr>
        <p:txBody>
          <a:bodyPr wrap="square" lIns="0" tIns="0" rIns="0" bIns="0" anchor="ctr">
            <a:spAutoFit/>
          </a:bodyPr>
          <a:lstStyle/>
          <a:p>
            <a:pPr algn="l"/>
            <a:r>
              <a:rPr sz="1250" b="1" i="0">
                <a:solidFill>
                  <a:srgbClr val="231F20"/>
                </a:solidFill>
                <a:latin typeface="Calibri"/>
              </a:rPr>
              <a:t>Monetary policy assistant</a:t>
            </a:r>
          </a:p>
        </p:txBody>
      </p:sp>
      <p:sp>
        <p:nvSpPr>
          <p:cNvPr id="35" name="TextBox 34"/>
          <p:cNvSpPr txBox="1"/>
          <p:nvPr/>
        </p:nvSpPr>
        <p:spPr>
          <a:xfrm>
            <a:off x="640080" y="3246120"/>
            <a:ext cx="2286000" cy="548640"/>
          </a:xfrm>
          <a:prstGeom prst="rect">
            <a:avLst/>
          </a:prstGeom>
          <a:noFill/>
        </p:spPr>
        <p:txBody>
          <a:bodyPr wrap="square" lIns="0" tIns="0" rIns="0" bIns="0" anchor="t">
            <a:spAutoFit/>
          </a:bodyPr>
          <a:lstStyle/>
          <a:p>
            <a:pPr algn="l"/>
            <a:r>
              <a:rPr sz="950" b="0" i="0">
                <a:solidFill>
                  <a:srgbClr val="5E6964"/>
                </a:solidFill>
                <a:latin typeface="Calibri"/>
              </a:rPr>
              <a:t>Statements, minutes and inflation reports, for economists and researchers.</a:t>
            </a:r>
          </a:p>
        </p:txBody>
      </p:sp>
      <p:sp>
        <p:nvSpPr>
          <p:cNvPr id="36" name="Rounded Rectangle 35"/>
          <p:cNvSpPr/>
          <p:nvPr/>
        </p:nvSpPr>
        <p:spPr>
          <a:xfrm>
            <a:off x="3264408" y="2587752"/>
            <a:ext cx="2615184" cy="123444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3447288" y="2752344"/>
            <a:ext cx="420624" cy="420624"/>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8" name="Picture 37" descr="lang_w.png"/>
          <p:cNvPicPr>
            <a:picLocks noChangeAspect="1"/>
          </p:cNvPicPr>
          <p:nvPr/>
        </p:nvPicPr>
        <p:blipFill>
          <a:blip r:embed="rId7"/>
          <a:stretch>
            <a:fillRect/>
          </a:stretch>
        </p:blipFill>
        <p:spPr>
          <a:xfrm>
            <a:off x="3552444" y="2857500"/>
            <a:ext cx="210312" cy="210312"/>
          </a:xfrm>
          <a:prstGeom prst="rect">
            <a:avLst/>
          </a:prstGeom>
        </p:spPr>
      </p:pic>
      <p:sp>
        <p:nvSpPr>
          <p:cNvPr id="39" name="TextBox 38"/>
          <p:cNvSpPr txBox="1"/>
          <p:nvPr/>
        </p:nvSpPr>
        <p:spPr>
          <a:xfrm>
            <a:off x="3995928" y="2770632"/>
            <a:ext cx="1783080" cy="384048"/>
          </a:xfrm>
          <a:prstGeom prst="rect">
            <a:avLst/>
          </a:prstGeom>
          <a:noFill/>
        </p:spPr>
        <p:txBody>
          <a:bodyPr wrap="square" lIns="0" tIns="0" rIns="0" bIns="0" anchor="ctr">
            <a:spAutoFit/>
          </a:bodyPr>
          <a:lstStyle/>
          <a:p>
            <a:pPr algn="l"/>
            <a:r>
              <a:rPr sz="1250" b="1" i="0">
                <a:solidFill>
                  <a:srgbClr val="231F20"/>
                </a:solidFill>
                <a:latin typeface="Calibri"/>
              </a:rPr>
              <a:t>Bilingual assistant</a:t>
            </a:r>
          </a:p>
        </p:txBody>
      </p:sp>
      <p:sp>
        <p:nvSpPr>
          <p:cNvPr id="40" name="TextBox 39"/>
          <p:cNvSpPr txBox="1"/>
          <p:nvPr/>
        </p:nvSpPr>
        <p:spPr>
          <a:xfrm>
            <a:off x="3447288" y="3246120"/>
            <a:ext cx="2286000" cy="548640"/>
          </a:xfrm>
          <a:prstGeom prst="rect">
            <a:avLst/>
          </a:prstGeom>
          <a:noFill/>
        </p:spPr>
        <p:txBody>
          <a:bodyPr wrap="square" lIns="0" tIns="0" rIns="0" bIns="0" anchor="t">
            <a:spAutoFit/>
          </a:bodyPr>
          <a:lstStyle/>
          <a:p>
            <a:pPr algn="l"/>
            <a:r>
              <a:rPr sz="950" b="0" i="0">
                <a:solidFill>
                  <a:srgbClr val="5E6964"/>
                </a:solidFill>
                <a:latin typeface="Calibri"/>
              </a:rPr>
              <a:t>The same reports in English and French; ask in either (multilingual notebook).</a:t>
            </a:r>
          </a:p>
        </p:txBody>
      </p:sp>
      <p:sp>
        <p:nvSpPr>
          <p:cNvPr id="41" name="Rounded Rectangle 40"/>
          <p:cNvSpPr/>
          <p:nvPr/>
        </p:nvSpPr>
        <p:spPr>
          <a:xfrm>
            <a:off x="6071616" y="2587752"/>
            <a:ext cx="2615184" cy="1234440"/>
          </a:xfrm>
          <a:prstGeom prst="roundRect">
            <a:avLst>
              <a:gd name="adj" fmla="val 6000"/>
            </a:avLst>
          </a:prstGeom>
          <a:solidFill>
            <a:srgbClr val="E8F5EF"/>
          </a:solidFill>
          <a:ln w="15875">
            <a:solidFill>
              <a:srgbClr val="00A8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6254496" y="2752344"/>
            <a:ext cx="420624" cy="420624"/>
          </a:xfrm>
          <a:prstGeom prst="ellipse">
            <a:avLst/>
          </a:prstGeom>
          <a:solidFill>
            <a:srgbClr val="007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3" name="Picture 42" descr="check_w.png"/>
          <p:cNvPicPr>
            <a:picLocks noChangeAspect="1"/>
          </p:cNvPicPr>
          <p:nvPr/>
        </p:nvPicPr>
        <p:blipFill>
          <a:blip r:embed="rId8"/>
          <a:stretch>
            <a:fillRect/>
          </a:stretch>
        </p:blipFill>
        <p:spPr>
          <a:xfrm>
            <a:off x="6359652" y="2857500"/>
            <a:ext cx="210312" cy="210312"/>
          </a:xfrm>
          <a:prstGeom prst="rect">
            <a:avLst/>
          </a:prstGeom>
        </p:spPr>
      </p:pic>
      <p:sp>
        <p:nvSpPr>
          <p:cNvPr id="44" name="TextBox 43"/>
          <p:cNvSpPr txBox="1"/>
          <p:nvPr/>
        </p:nvSpPr>
        <p:spPr>
          <a:xfrm>
            <a:off x="6803136" y="2770632"/>
            <a:ext cx="1783080" cy="384048"/>
          </a:xfrm>
          <a:prstGeom prst="rect">
            <a:avLst/>
          </a:prstGeom>
          <a:noFill/>
        </p:spPr>
        <p:txBody>
          <a:bodyPr wrap="square" lIns="0" tIns="0" rIns="0" bIns="0" anchor="ctr">
            <a:spAutoFit/>
          </a:bodyPr>
          <a:lstStyle/>
          <a:p>
            <a:pPr algn="l"/>
            <a:r>
              <a:rPr sz="1250" b="1" i="0">
                <a:solidFill>
                  <a:srgbClr val="00704A"/>
                </a:solidFill>
                <a:latin typeface="Calibri"/>
              </a:rPr>
              <a:t>What your team records</a:t>
            </a:r>
          </a:p>
        </p:txBody>
      </p:sp>
      <p:sp>
        <p:nvSpPr>
          <p:cNvPr id="45" name="TextBox 44"/>
          <p:cNvSpPr txBox="1"/>
          <p:nvPr/>
        </p:nvSpPr>
        <p:spPr>
          <a:xfrm>
            <a:off x="6254496" y="3246120"/>
            <a:ext cx="2286000" cy="548640"/>
          </a:xfrm>
          <a:prstGeom prst="rect">
            <a:avLst/>
          </a:prstGeom>
          <a:noFill/>
        </p:spPr>
        <p:txBody>
          <a:bodyPr wrap="square" lIns="0" tIns="0" rIns="0" bIns="0" anchor="t">
            <a:spAutoFit/>
          </a:bodyPr>
          <a:lstStyle/>
          <a:p>
            <a:pPr algn="l"/>
            <a:r>
              <a:rPr sz="950" b="0" i="0">
                <a:solidFill>
                  <a:srgbClr val="5E6964"/>
                </a:solidFill>
                <a:latin typeface="Calibri"/>
              </a:rPr>
              <a:t>Users and problem · documents and confidentiality · 10–20 test questions incl. refusals · benchmark · next step.</a:t>
            </a:r>
          </a:p>
        </p:txBody>
      </p:sp>
      <p:sp>
        <p:nvSpPr>
          <p:cNvPr id="46" name="Rounded Rectangle 45"/>
          <p:cNvSpPr/>
          <p:nvPr/>
        </p:nvSpPr>
        <p:spPr>
          <a:xfrm>
            <a:off x="457200" y="4023360"/>
            <a:ext cx="8229600" cy="548640"/>
          </a:xfrm>
          <a:prstGeom prst="roundRect">
            <a:avLst>
              <a:gd name="adj" fmla="val 16000"/>
            </a:avLst>
          </a:prstGeom>
          <a:solidFill>
            <a:srgbClr val="E8F5EF"/>
          </a:solidFill>
          <a:ln w="15875">
            <a:solidFill>
              <a:srgbClr val="00A8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685800" y="4023360"/>
            <a:ext cx="7818120" cy="548640"/>
          </a:xfrm>
          <a:prstGeom prst="rect">
            <a:avLst/>
          </a:prstGeom>
          <a:noFill/>
        </p:spPr>
        <p:txBody>
          <a:bodyPr wrap="square" lIns="0" tIns="0" rIns="0" bIns="0" anchor="ctr">
            <a:spAutoFit/>
          </a:bodyPr>
          <a:lstStyle/>
          <a:p>
            <a:pPr algn="l"/>
            <a:r>
              <a:rPr sz="1150" b="0" i="0">
                <a:solidFill>
                  <a:srgbClr val="00704A"/>
                </a:solidFill>
                <a:latin typeface="Calibri"/>
              </a:rPr>
              <a:t>After the workshop, the AfDB Data Innovation Lab can help take a prototype further — ask the AfDB facilitators.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57200"/>
            <a:ext cx="45720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KEY TAKEAWAYS</a:t>
            </a:r>
            <a:endParaRPr lang="en-US" sz="1200" dirty="0"/>
          </a:p>
        </p:txBody>
      </p:sp>
      <p:sp>
        <p:nvSpPr>
          <p:cNvPr id="3" name="Text 1"/>
          <p:cNvSpPr txBox="1"/>
          <p:nvPr/>
        </p:nvSpPr>
        <p:spPr>
          <a:xfrm>
            <a:off x="548640" y="777240"/>
            <a:ext cx="8046720" cy="9144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Retrieval quality is the ceiling of answer quality.</a:t>
            </a:r>
            <a:endParaRPr lang="en-US" sz="3200" dirty="0"/>
          </a:p>
        </p:txBody>
      </p:sp>
      <p:sp>
        <p:nvSpPr>
          <p:cNvPr id="4" name="Shape 2"/>
          <p:cNvSpPr/>
          <p:nvPr/>
        </p:nvSpPr>
        <p:spPr>
          <a:xfrm>
            <a:off x="548640"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5" name="Shape 3"/>
          <p:cNvSpPr/>
          <p:nvPr/>
        </p:nvSpPr>
        <p:spPr>
          <a:xfrm>
            <a:off x="731520" y="2103120"/>
            <a:ext cx="548640" cy="548640"/>
          </a:xfrm>
          <a:prstGeom prst="ellipse">
            <a:avLst/>
          </a:prstGeom>
          <a:solidFill>
            <a:srgbClr val="FFFFFF"/>
          </a:solidFill>
          <a:ln w="12700">
            <a:solidFill>
              <a:srgbClr val="FFFFFF"/>
            </a:solidFill>
            <a:prstDash val="solid"/>
          </a:ln>
        </p:spPr>
      </p:sp>
      <p:pic>
        <p:nvPicPr>
          <p:cNvPr id="6" name="Image 0" descr="preencoded.png"/>
          <p:cNvPicPr>
            <a:picLocks noChangeAspect="1"/>
          </p:cNvPicPr>
          <p:nvPr/>
        </p:nvPicPr>
        <p:blipFill>
          <a:blip r:embed="rId4"/>
          <a:stretch>
            <a:fillRect/>
          </a:stretch>
        </p:blipFill>
        <p:spPr>
          <a:xfrm>
            <a:off x="863194" y="2234794"/>
            <a:ext cx="285293" cy="285293"/>
          </a:xfrm>
          <a:prstGeom prst="rect">
            <a:avLst/>
          </a:prstGeom>
        </p:spPr>
      </p:pic>
      <p:sp>
        <p:nvSpPr>
          <p:cNvPr id="7" name="Text 4"/>
          <p:cNvSpPr txBox="1"/>
          <p:nvPr/>
        </p:nvSpPr>
        <p:spPr>
          <a:xfrm>
            <a:off x="731520" y="2788920"/>
            <a:ext cx="1554480" cy="3200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Grounded</a:t>
            </a:r>
            <a:endParaRPr lang="en-US" sz="1700" dirty="0"/>
          </a:p>
        </p:txBody>
      </p:sp>
      <p:sp>
        <p:nvSpPr>
          <p:cNvPr id="8" name="Text 5"/>
          <p:cNvSpPr txBox="1"/>
          <p:nvPr/>
        </p:nvSpPr>
        <p:spPr>
          <a:xfrm>
            <a:off x="731520" y="3154680"/>
            <a:ext cx="1554480" cy="914400"/>
          </a:xfrm>
          <a:prstGeom prst="rect">
            <a:avLst/>
          </a:prstGeom>
          <a:noFill/>
          <a:ln/>
        </p:spPr>
        <p:txBody>
          <a:bodyPr wrap="square" lIns="0" tIns="0" rIns="0" bIns="0" rtlCol="0" anchor="t"/>
          <a:lstStyle/>
          <a:p>
            <a:pPr marL="0" indent="0">
              <a:buNone/>
            </a:pPr>
            <a:r>
              <a:rPr lang="en-US" sz="1150" dirty="0">
                <a:solidFill>
                  <a:srgbClr val="E6F6EE"/>
                </a:solidFill>
                <a:latin typeface="Calibri" pitchFamily="34" charset="0"/>
                <a:ea typeface="Calibri" pitchFamily="34" charset="-122"/>
                <a:cs typeface="Calibri" pitchFamily="34" charset="-120"/>
              </a:rPr>
              <a:t>RAG gives LLMs current, private and citable knowledge without retraining.</a:t>
            </a:r>
            <a:endParaRPr lang="en-US" sz="1150" dirty="0"/>
          </a:p>
        </p:txBody>
      </p:sp>
      <p:sp>
        <p:nvSpPr>
          <p:cNvPr id="9" name="Shape 6"/>
          <p:cNvSpPr/>
          <p:nvPr/>
        </p:nvSpPr>
        <p:spPr>
          <a:xfrm>
            <a:off x="2587752"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10" name="Shape 7"/>
          <p:cNvSpPr/>
          <p:nvPr/>
        </p:nvSpPr>
        <p:spPr>
          <a:xfrm>
            <a:off x="2770632" y="2103120"/>
            <a:ext cx="548640" cy="548640"/>
          </a:xfrm>
          <a:prstGeom prst="ellipse">
            <a:avLst/>
          </a:prstGeom>
          <a:solidFill>
            <a:srgbClr val="FFFFFF"/>
          </a:solidFill>
          <a:ln w="12700">
            <a:solidFill>
              <a:srgbClr val="FFFFFF"/>
            </a:solidFill>
            <a:prstDash val="solid"/>
          </a:ln>
        </p:spPr>
      </p:sp>
      <p:pic>
        <p:nvPicPr>
          <p:cNvPr id="11" name="Image 1" descr="preencoded.png"/>
          <p:cNvPicPr>
            <a:picLocks noChangeAspect="1"/>
          </p:cNvPicPr>
          <p:nvPr/>
        </p:nvPicPr>
        <p:blipFill>
          <a:blip r:embed="rId5"/>
          <a:stretch>
            <a:fillRect/>
          </a:stretch>
        </p:blipFill>
        <p:spPr>
          <a:xfrm>
            <a:off x="2902306" y="2234794"/>
            <a:ext cx="285293" cy="285293"/>
          </a:xfrm>
          <a:prstGeom prst="rect">
            <a:avLst/>
          </a:prstGeom>
        </p:spPr>
      </p:pic>
      <p:sp>
        <p:nvSpPr>
          <p:cNvPr id="12" name="Text 8"/>
          <p:cNvSpPr txBox="1"/>
          <p:nvPr/>
        </p:nvSpPr>
        <p:spPr>
          <a:xfrm>
            <a:off x="2770632" y="2788920"/>
            <a:ext cx="1554480" cy="3200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Retrieval first</a:t>
            </a:r>
            <a:endParaRPr lang="en-US" sz="1700" dirty="0"/>
          </a:p>
        </p:txBody>
      </p:sp>
      <p:sp>
        <p:nvSpPr>
          <p:cNvPr id="13" name="Text 9"/>
          <p:cNvSpPr txBox="1"/>
          <p:nvPr/>
        </p:nvSpPr>
        <p:spPr>
          <a:xfrm>
            <a:off x="2770632" y="3154680"/>
            <a:ext cx="1554480" cy="914400"/>
          </a:xfrm>
          <a:prstGeom prst="rect">
            <a:avLst/>
          </a:prstGeom>
          <a:noFill/>
          <a:ln/>
        </p:spPr>
        <p:txBody>
          <a:bodyPr wrap="square" lIns="0" tIns="0" rIns="0" bIns="0" rtlCol="0" anchor="t"/>
          <a:lstStyle/>
          <a:p>
            <a:pPr marL="0" indent="0">
              <a:buNone/>
            </a:pPr>
            <a:r>
              <a:rPr lang="en-US" sz="1150" dirty="0">
                <a:solidFill>
                  <a:srgbClr val="E6F6EE"/>
                </a:solidFill>
                <a:latin typeface="Calibri" pitchFamily="34" charset="0"/>
                <a:ea typeface="Calibri" pitchFamily="34" charset="-122"/>
                <a:cs typeface="Calibri" pitchFamily="34" charset="-120"/>
              </a:rPr>
              <a:t>Chunking, hybrid search and reranking drive most of the gains.</a:t>
            </a:r>
            <a:endParaRPr lang="en-US" sz="1150" dirty="0"/>
          </a:p>
        </p:txBody>
      </p:sp>
      <p:sp>
        <p:nvSpPr>
          <p:cNvPr id="14" name="Shape 10"/>
          <p:cNvSpPr/>
          <p:nvPr/>
        </p:nvSpPr>
        <p:spPr>
          <a:xfrm>
            <a:off x="4626864"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15" name="Shape 11"/>
          <p:cNvSpPr/>
          <p:nvPr/>
        </p:nvSpPr>
        <p:spPr>
          <a:xfrm>
            <a:off x="4809744" y="2103120"/>
            <a:ext cx="548640" cy="548640"/>
          </a:xfrm>
          <a:prstGeom prst="ellipse">
            <a:avLst/>
          </a:prstGeom>
          <a:solidFill>
            <a:srgbClr val="FFFFFF"/>
          </a:solidFill>
          <a:ln w="12700">
            <a:solidFill>
              <a:srgbClr val="FFFFFF"/>
            </a:solidFill>
            <a:prstDash val="solid"/>
          </a:ln>
        </p:spPr>
      </p:sp>
      <p:pic>
        <p:nvPicPr>
          <p:cNvPr id="16" name="Image 2" descr="preencoded.png"/>
          <p:cNvPicPr>
            <a:picLocks noChangeAspect="1"/>
          </p:cNvPicPr>
          <p:nvPr/>
        </p:nvPicPr>
        <p:blipFill>
          <a:blip r:embed="rId6"/>
          <a:stretch>
            <a:fillRect/>
          </a:stretch>
        </p:blipFill>
        <p:spPr>
          <a:xfrm>
            <a:off x="4941418" y="2234794"/>
            <a:ext cx="285293" cy="285293"/>
          </a:xfrm>
          <a:prstGeom prst="rect">
            <a:avLst/>
          </a:prstGeom>
        </p:spPr>
      </p:pic>
      <p:sp>
        <p:nvSpPr>
          <p:cNvPr id="17" name="Text 12"/>
          <p:cNvSpPr txBox="1"/>
          <p:nvPr/>
        </p:nvSpPr>
        <p:spPr>
          <a:xfrm>
            <a:off x="4809744" y="2788920"/>
            <a:ext cx="1554480" cy="3200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Measured</a:t>
            </a:r>
            <a:endParaRPr lang="en-US" sz="1700" dirty="0"/>
          </a:p>
        </p:txBody>
      </p:sp>
      <p:sp>
        <p:nvSpPr>
          <p:cNvPr id="18" name="Text 13"/>
          <p:cNvSpPr txBox="1"/>
          <p:nvPr/>
        </p:nvSpPr>
        <p:spPr>
          <a:xfrm>
            <a:off x="4809744" y="3154680"/>
            <a:ext cx="1554480" cy="914400"/>
          </a:xfrm>
          <a:prstGeom prst="rect">
            <a:avLst/>
          </a:prstGeom>
          <a:noFill/>
          <a:ln/>
        </p:spPr>
        <p:txBody>
          <a:bodyPr wrap="square" lIns="0" tIns="0" rIns="0" bIns="0" rtlCol="0" anchor="t"/>
          <a:lstStyle/>
          <a:p>
            <a:pPr marL="0" indent="0">
              <a:buNone/>
            </a:pPr>
            <a:r>
              <a:rPr lang="en-US" sz="1150" dirty="0">
                <a:solidFill>
                  <a:srgbClr val="E6F6EE"/>
                </a:solidFill>
                <a:latin typeface="Calibri" pitchFamily="34" charset="0"/>
                <a:ea typeface="Calibri" pitchFamily="34" charset="-122"/>
                <a:cs typeface="Calibri" pitchFamily="34" charset="-120"/>
              </a:rPr>
              <a:t>Evaluate retrieval and generation separately, on your own data.</a:t>
            </a:r>
            <a:endParaRPr lang="en-US" sz="1150" dirty="0"/>
          </a:p>
        </p:txBody>
      </p:sp>
      <p:sp>
        <p:nvSpPr>
          <p:cNvPr id="19" name="Shape 14"/>
          <p:cNvSpPr/>
          <p:nvPr/>
        </p:nvSpPr>
        <p:spPr>
          <a:xfrm>
            <a:off x="6665976"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20" name="Shape 15"/>
          <p:cNvSpPr/>
          <p:nvPr/>
        </p:nvSpPr>
        <p:spPr>
          <a:xfrm>
            <a:off x="6848856" y="2103120"/>
            <a:ext cx="548640" cy="548640"/>
          </a:xfrm>
          <a:prstGeom prst="ellipse">
            <a:avLst/>
          </a:prstGeom>
          <a:solidFill>
            <a:srgbClr val="F5C242"/>
          </a:solidFill>
          <a:ln w="12700">
            <a:solidFill>
              <a:srgbClr val="F5C242"/>
            </a:solidFill>
            <a:prstDash val="solid"/>
          </a:ln>
        </p:spPr>
      </p:sp>
      <p:pic>
        <p:nvPicPr>
          <p:cNvPr id="21" name="Image 3" descr="preencoded.png"/>
          <p:cNvPicPr>
            <a:picLocks noChangeAspect="1"/>
          </p:cNvPicPr>
          <p:nvPr/>
        </p:nvPicPr>
        <p:blipFill>
          <a:blip r:embed="rId7"/>
          <a:stretch>
            <a:fillRect/>
          </a:stretch>
        </p:blipFill>
        <p:spPr>
          <a:xfrm>
            <a:off x="6980530" y="2234794"/>
            <a:ext cx="285293" cy="285293"/>
          </a:xfrm>
          <a:prstGeom prst="rect">
            <a:avLst/>
          </a:prstGeom>
        </p:spPr>
      </p:pic>
      <p:sp>
        <p:nvSpPr>
          <p:cNvPr id="22" name="Text 16"/>
          <p:cNvSpPr txBox="1"/>
          <p:nvPr/>
        </p:nvSpPr>
        <p:spPr>
          <a:xfrm>
            <a:off x="6848856" y="2788920"/>
            <a:ext cx="1554480" cy="3200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Evolving</a:t>
            </a:r>
            <a:endParaRPr lang="en-US" sz="1700" dirty="0"/>
          </a:p>
        </p:txBody>
      </p:sp>
      <p:sp>
        <p:nvSpPr>
          <p:cNvPr id="23" name="Text 17"/>
          <p:cNvSpPr txBox="1"/>
          <p:nvPr/>
        </p:nvSpPr>
        <p:spPr>
          <a:xfrm>
            <a:off x="6848856" y="3154680"/>
            <a:ext cx="1554480" cy="914400"/>
          </a:xfrm>
          <a:prstGeom prst="rect">
            <a:avLst/>
          </a:prstGeom>
          <a:noFill/>
          <a:ln/>
        </p:spPr>
        <p:txBody>
          <a:bodyPr wrap="square" lIns="0" tIns="0" rIns="0" bIns="0" rtlCol="0" anchor="t"/>
          <a:lstStyle/>
          <a:p>
            <a:pPr marL="0" indent="0">
              <a:buNone/>
            </a:pPr>
            <a:r>
              <a:rPr lang="en-US" sz="1150" dirty="0">
                <a:solidFill>
                  <a:srgbClr val="E6F6EE"/>
                </a:solidFill>
                <a:latin typeface="Calibri" pitchFamily="34" charset="0"/>
                <a:ea typeface="Calibri" pitchFamily="34" charset="-122"/>
                <a:cs typeface="Calibri" pitchFamily="34" charset="-120"/>
              </a:rPr>
              <a:t>From fixed pipelines to adaptive, agentic retrieval that decides when and what to search.</a:t>
            </a:r>
            <a:endParaRPr lang="en-US" sz="1150" dirty="0"/>
          </a:p>
        </p:txBody>
      </p:sp>
      <p:sp>
        <p:nvSpPr>
          <p:cNvPr id="24" name="Text 18"/>
          <p:cNvSpPr txBox="1"/>
          <p:nvPr/>
        </p:nvSpPr>
        <p:spPr>
          <a:xfrm>
            <a:off x="548640" y="4315968"/>
            <a:ext cx="6400800" cy="36576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Start simple  ·  measure on your own questions  ·  take it to your Project Canvas.</a:t>
            </a:r>
            <a:endParaRPr lang="en-US" sz="18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APPENDIX</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A</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Reference material</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The full RAG briefing for self-study: foundations, evidence, evolution, techniques, production</a:t>
            </a:r>
            <a:endParaRPr lang="en-US" sz="1800" dirty="0"/>
          </a:p>
        </p:txBody>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icPr>
            <a:picLocks noChangeAspect="1"/>
          </p:cNvPicPr>
          <p:nvPr/>
        </p:nvPicPr>
        <p:blipFill>
          <a:blip r:embed="rId4"/>
          <a:stretch>
            <a:fillRect/>
          </a:stretch>
        </p:blipFill>
        <p:spPr>
          <a:xfrm>
            <a:off x="6777533" y="2205533"/>
            <a:ext cx="618134" cy="61813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APPENDIX  ·  REFERENCE MATERIAL</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full briefing: six parts, from concept to production</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325880"/>
            <a:ext cx="2615184" cy="1481328"/>
          </a:xfrm>
          <a:prstGeom prst="roundRect">
            <a:avLst>
              <a:gd name="adj" fmla="val 4938"/>
            </a:avLst>
          </a:prstGeom>
          <a:solidFill>
            <a:srgbClr val="F4F7F5"/>
          </a:solidFill>
          <a:ln w="9525">
            <a:solidFill>
              <a:srgbClr val="D5DED9"/>
            </a:solidFill>
            <a:prstDash val="solid"/>
          </a:ln>
        </p:spPr>
      </p:sp>
      <p:sp>
        <p:nvSpPr>
          <p:cNvPr id="18" name="Text 15"/>
          <p:cNvSpPr txBox="1"/>
          <p:nvPr/>
        </p:nvSpPr>
        <p:spPr>
          <a:xfrm>
            <a:off x="640080" y="1435608"/>
            <a:ext cx="914400" cy="548640"/>
          </a:xfrm>
          <a:prstGeom prst="rect">
            <a:avLst/>
          </a:prstGeom>
          <a:noFill/>
          <a:ln/>
        </p:spPr>
        <p:txBody>
          <a:bodyPr wrap="square" lIns="0" tIns="0" rIns="0" bIns="0" rtlCol="0" anchor="ctr"/>
          <a:lstStyle/>
          <a:p>
            <a:pPr marL="0" indent="0">
              <a:buNone/>
            </a:pPr>
            <a:r>
              <a:rPr lang="en-US" sz="3200" b="1" dirty="0">
                <a:solidFill>
                  <a:srgbClr val="00A86A"/>
                </a:solidFill>
                <a:latin typeface="Calibri" pitchFamily="34" charset="0"/>
                <a:ea typeface="Calibri" pitchFamily="34" charset="-122"/>
                <a:cs typeface="Calibri" pitchFamily="34" charset="-120"/>
              </a:rPr>
              <a:t>01</a:t>
            </a:r>
            <a:endParaRPr lang="en-US" sz="3200" dirty="0"/>
          </a:p>
        </p:txBody>
      </p:sp>
      <p:sp>
        <p:nvSpPr>
          <p:cNvPr id="19" name="Shape 16"/>
          <p:cNvSpPr/>
          <p:nvPr/>
        </p:nvSpPr>
        <p:spPr>
          <a:xfrm>
            <a:off x="2377440" y="1490472"/>
            <a:ext cx="502920" cy="502920"/>
          </a:xfrm>
          <a:prstGeom prst="ellipse">
            <a:avLst/>
          </a:prstGeom>
          <a:solidFill>
            <a:srgbClr val="00A86A">
              <a:alpha val="22000"/>
            </a:srgbClr>
          </a:solidFill>
          <a:ln w="12700">
            <a:solidFill>
              <a:srgbClr val="00A86A">
                <a:alpha val="0"/>
              </a:srgbClr>
            </a:solidFill>
            <a:prstDash val="solid"/>
          </a:ln>
        </p:spPr>
      </p:sp>
      <p:pic>
        <p:nvPicPr>
          <p:cNvPr id="20" name="Image 0" descr="preencoded.png"/>
          <p:cNvPicPr>
            <a:picLocks noChangeAspect="1"/>
          </p:cNvPicPr>
          <p:nvPr/>
        </p:nvPicPr>
        <p:blipFill>
          <a:blip r:embed="rId3"/>
          <a:stretch>
            <a:fillRect/>
          </a:stretch>
        </p:blipFill>
        <p:spPr>
          <a:xfrm>
            <a:off x="2498141" y="1611173"/>
            <a:ext cx="261518" cy="261518"/>
          </a:xfrm>
          <a:prstGeom prst="rect">
            <a:avLst/>
          </a:prstGeom>
        </p:spPr>
      </p:pic>
      <p:sp>
        <p:nvSpPr>
          <p:cNvPr id="21" name="Text 17"/>
          <p:cNvSpPr txBox="1"/>
          <p:nvPr/>
        </p:nvSpPr>
        <p:spPr>
          <a:xfrm>
            <a:off x="640080" y="2039112"/>
            <a:ext cx="228600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Foundations</a:t>
            </a:r>
            <a:endParaRPr lang="en-US" sz="1500" dirty="0"/>
          </a:p>
        </p:txBody>
      </p:sp>
      <p:sp>
        <p:nvSpPr>
          <p:cNvPr id="22" name="Text 18"/>
          <p:cNvSpPr txBox="1"/>
          <p:nvPr/>
        </p:nvSpPr>
        <p:spPr>
          <a:xfrm>
            <a:off x="640080" y="2331720"/>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Why LLMs need retrieval, what RAG is, where it is used</a:t>
            </a:r>
            <a:endParaRPr lang="en-US" sz="1050" dirty="0"/>
          </a:p>
        </p:txBody>
      </p:sp>
      <p:sp>
        <p:nvSpPr>
          <p:cNvPr id="23" name="Shape 19"/>
          <p:cNvSpPr/>
          <p:nvPr/>
        </p:nvSpPr>
        <p:spPr>
          <a:xfrm>
            <a:off x="3264408" y="1325880"/>
            <a:ext cx="2615184" cy="1481328"/>
          </a:xfrm>
          <a:prstGeom prst="roundRect">
            <a:avLst>
              <a:gd name="adj" fmla="val 4938"/>
            </a:avLst>
          </a:prstGeom>
          <a:solidFill>
            <a:srgbClr val="F4F7F5"/>
          </a:solidFill>
          <a:ln w="9525">
            <a:solidFill>
              <a:srgbClr val="D5DED9"/>
            </a:solidFill>
            <a:prstDash val="solid"/>
          </a:ln>
        </p:spPr>
      </p:sp>
      <p:sp>
        <p:nvSpPr>
          <p:cNvPr id="24" name="Text 20"/>
          <p:cNvSpPr txBox="1"/>
          <p:nvPr/>
        </p:nvSpPr>
        <p:spPr>
          <a:xfrm>
            <a:off x="3447288" y="1435608"/>
            <a:ext cx="914400" cy="548640"/>
          </a:xfrm>
          <a:prstGeom prst="rect">
            <a:avLst/>
          </a:prstGeom>
          <a:noFill/>
          <a:ln/>
        </p:spPr>
        <p:txBody>
          <a:bodyPr wrap="square" lIns="0" tIns="0" rIns="0" bIns="0" rtlCol="0" anchor="ctr"/>
          <a:lstStyle/>
          <a:p>
            <a:pPr marL="0" indent="0">
              <a:buNone/>
            </a:pPr>
            <a:r>
              <a:rPr lang="en-US" sz="3200" b="1" dirty="0">
                <a:solidFill>
                  <a:srgbClr val="00704A"/>
                </a:solidFill>
                <a:latin typeface="Calibri" pitchFamily="34" charset="0"/>
                <a:ea typeface="Calibri" pitchFamily="34" charset="-122"/>
                <a:cs typeface="Calibri" pitchFamily="34" charset="-120"/>
              </a:rPr>
              <a:t>02</a:t>
            </a:r>
            <a:endParaRPr lang="en-US" sz="3200" dirty="0"/>
          </a:p>
        </p:txBody>
      </p:sp>
      <p:sp>
        <p:nvSpPr>
          <p:cNvPr id="25" name="Shape 21"/>
          <p:cNvSpPr/>
          <p:nvPr/>
        </p:nvSpPr>
        <p:spPr>
          <a:xfrm>
            <a:off x="5184648" y="1490472"/>
            <a:ext cx="502920" cy="502920"/>
          </a:xfrm>
          <a:prstGeom prst="ellipse">
            <a:avLst/>
          </a:prstGeom>
          <a:solidFill>
            <a:srgbClr val="00704A">
              <a:alpha val="22000"/>
            </a:srgbClr>
          </a:solidFill>
          <a:ln w="12700">
            <a:solidFill>
              <a:srgbClr val="00704A">
                <a:alpha val="0"/>
              </a:srgbClr>
            </a:solidFill>
            <a:prstDash val="solid"/>
          </a:ln>
        </p:spPr>
      </p:sp>
      <p:pic>
        <p:nvPicPr>
          <p:cNvPr id="26" name="Image 1" descr="preencoded.png"/>
          <p:cNvPicPr>
            <a:picLocks noChangeAspect="1"/>
          </p:cNvPicPr>
          <p:nvPr/>
        </p:nvPicPr>
        <p:blipFill>
          <a:blip r:embed="rId4"/>
          <a:stretch>
            <a:fillRect/>
          </a:stretch>
        </p:blipFill>
        <p:spPr>
          <a:xfrm>
            <a:off x="5305349" y="1611173"/>
            <a:ext cx="261518" cy="261518"/>
          </a:xfrm>
          <a:prstGeom prst="rect">
            <a:avLst/>
          </a:prstGeom>
        </p:spPr>
      </p:pic>
      <p:sp>
        <p:nvSpPr>
          <p:cNvPr id="27" name="Text 22"/>
          <p:cNvSpPr txBox="1"/>
          <p:nvPr/>
        </p:nvSpPr>
        <p:spPr>
          <a:xfrm>
            <a:off x="3447288" y="2039112"/>
            <a:ext cx="228600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How it works</a:t>
            </a:r>
            <a:endParaRPr lang="en-US" sz="1500" dirty="0"/>
          </a:p>
        </p:txBody>
      </p:sp>
      <p:sp>
        <p:nvSpPr>
          <p:cNvPr id="28" name="Text 23"/>
          <p:cNvSpPr txBox="1"/>
          <p:nvPr/>
        </p:nvSpPr>
        <p:spPr>
          <a:xfrm>
            <a:off x="3447288" y="2331720"/>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Indexing, chunking, embeddings, retrieval and generation</a:t>
            </a:r>
            <a:endParaRPr lang="en-US" sz="1050" dirty="0"/>
          </a:p>
        </p:txBody>
      </p:sp>
      <p:sp>
        <p:nvSpPr>
          <p:cNvPr id="29" name="Shape 24"/>
          <p:cNvSpPr/>
          <p:nvPr/>
        </p:nvSpPr>
        <p:spPr>
          <a:xfrm>
            <a:off x="6071616" y="1325880"/>
            <a:ext cx="2615184" cy="1481328"/>
          </a:xfrm>
          <a:prstGeom prst="roundRect">
            <a:avLst>
              <a:gd name="adj" fmla="val 4938"/>
            </a:avLst>
          </a:prstGeom>
          <a:solidFill>
            <a:srgbClr val="F4F7F5"/>
          </a:solidFill>
          <a:ln w="9525">
            <a:solidFill>
              <a:srgbClr val="D5DED9"/>
            </a:solidFill>
            <a:prstDash val="solid"/>
          </a:ln>
        </p:spPr>
      </p:sp>
      <p:sp>
        <p:nvSpPr>
          <p:cNvPr id="30" name="Text 25"/>
          <p:cNvSpPr txBox="1"/>
          <p:nvPr/>
        </p:nvSpPr>
        <p:spPr>
          <a:xfrm>
            <a:off x="6254496" y="1435608"/>
            <a:ext cx="914400" cy="548640"/>
          </a:xfrm>
          <a:prstGeom prst="rect">
            <a:avLst/>
          </a:prstGeom>
          <a:noFill/>
          <a:ln/>
        </p:spPr>
        <p:txBody>
          <a:bodyPr wrap="square" lIns="0" tIns="0" rIns="0" bIns="0" rtlCol="0" anchor="ctr"/>
          <a:lstStyle/>
          <a:p>
            <a:pPr marL="0" indent="0">
              <a:buNone/>
            </a:pPr>
            <a:r>
              <a:rPr lang="en-US" sz="3200" b="1" dirty="0">
                <a:solidFill>
                  <a:srgbClr val="0E7C86"/>
                </a:solidFill>
                <a:latin typeface="Calibri" pitchFamily="34" charset="0"/>
                <a:ea typeface="Calibri" pitchFamily="34" charset="-122"/>
                <a:cs typeface="Calibri" pitchFamily="34" charset="-120"/>
              </a:rPr>
              <a:t>03</a:t>
            </a:r>
            <a:endParaRPr lang="en-US" sz="3200" dirty="0"/>
          </a:p>
        </p:txBody>
      </p:sp>
      <p:sp>
        <p:nvSpPr>
          <p:cNvPr id="31" name="Shape 26"/>
          <p:cNvSpPr/>
          <p:nvPr/>
        </p:nvSpPr>
        <p:spPr>
          <a:xfrm>
            <a:off x="7991856" y="1490472"/>
            <a:ext cx="502920" cy="502920"/>
          </a:xfrm>
          <a:prstGeom prst="ellipse">
            <a:avLst/>
          </a:prstGeom>
          <a:solidFill>
            <a:srgbClr val="0E7C86">
              <a:alpha val="22000"/>
            </a:srgbClr>
          </a:solidFill>
          <a:ln w="12700">
            <a:solidFill>
              <a:srgbClr val="0E7C86">
                <a:alpha val="0"/>
              </a:srgbClr>
            </a:solidFill>
            <a:prstDash val="solid"/>
          </a:ln>
        </p:spPr>
      </p:sp>
      <p:pic>
        <p:nvPicPr>
          <p:cNvPr id="32" name="Image 2" descr="preencoded.png"/>
          <p:cNvPicPr>
            <a:picLocks noChangeAspect="1"/>
          </p:cNvPicPr>
          <p:nvPr/>
        </p:nvPicPr>
        <p:blipFill>
          <a:blip r:embed="rId5"/>
          <a:stretch>
            <a:fillRect/>
          </a:stretch>
        </p:blipFill>
        <p:spPr>
          <a:xfrm>
            <a:off x="8112557" y="1611173"/>
            <a:ext cx="261518" cy="261518"/>
          </a:xfrm>
          <a:prstGeom prst="rect">
            <a:avLst/>
          </a:prstGeom>
        </p:spPr>
      </p:pic>
      <p:sp>
        <p:nvSpPr>
          <p:cNvPr id="33" name="Text 27"/>
          <p:cNvSpPr txBox="1"/>
          <p:nvPr/>
        </p:nvSpPr>
        <p:spPr>
          <a:xfrm>
            <a:off x="6254496" y="2039112"/>
            <a:ext cx="228600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Evidence</a:t>
            </a:r>
            <a:endParaRPr lang="en-US" sz="1500" dirty="0"/>
          </a:p>
        </p:txBody>
      </p:sp>
      <p:sp>
        <p:nvSpPr>
          <p:cNvPr id="34" name="Text 28"/>
          <p:cNvSpPr txBox="1"/>
          <p:nvPr/>
        </p:nvSpPr>
        <p:spPr>
          <a:xfrm>
            <a:off x="6254496" y="2331720"/>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Published results that quantify the gains</a:t>
            </a:r>
            <a:endParaRPr lang="en-US" sz="1050" dirty="0"/>
          </a:p>
        </p:txBody>
      </p:sp>
      <p:sp>
        <p:nvSpPr>
          <p:cNvPr id="35" name="Shape 29"/>
          <p:cNvSpPr/>
          <p:nvPr/>
        </p:nvSpPr>
        <p:spPr>
          <a:xfrm>
            <a:off x="457200" y="2971800"/>
            <a:ext cx="2615184" cy="1481328"/>
          </a:xfrm>
          <a:prstGeom prst="roundRect">
            <a:avLst>
              <a:gd name="adj" fmla="val 4938"/>
            </a:avLst>
          </a:prstGeom>
          <a:solidFill>
            <a:srgbClr val="F4F7F5"/>
          </a:solidFill>
          <a:ln w="9525">
            <a:solidFill>
              <a:srgbClr val="D5DED9"/>
            </a:solidFill>
            <a:prstDash val="solid"/>
          </a:ln>
        </p:spPr>
      </p:sp>
      <p:sp>
        <p:nvSpPr>
          <p:cNvPr id="36" name="Text 30"/>
          <p:cNvSpPr txBox="1"/>
          <p:nvPr/>
        </p:nvSpPr>
        <p:spPr>
          <a:xfrm>
            <a:off x="640080" y="3081528"/>
            <a:ext cx="914400" cy="548640"/>
          </a:xfrm>
          <a:prstGeom prst="rect">
            <a:avLst/>
          </a:prstGeom>
          <a:noFill/>
          <a:ln/>
        </p:spPr>
        <p:txBody>
          <a:bodyPr wrap="square" lIns="0" tIns="0" rIns="0" bIns="0" rtlCol="0" anchor="ctr"/>
          <a:lstStyle/>
          <a:p>
            <a:pPr marL="0" indent="0">
              <a:buNone/>
            </a:pPr>
            <a:r>
              <a:rPr lang="en-US" sz="3200" b="1" dirty="0">
                <a:solidFill>
                  <a:srgbClr val="D49A00"/>
                </a:solidFill>
                <a:latin typeface="Calibri" pitchFamily="34" charset="0"/>
                <a:ea typeface="Calibri" pitchFamily="34" charset="-122"/>
                <a:cs typeface="Calibri" pitchFamily="34" charset="-120"/>
              </a:rPr>
              <a:t>04</a:t>
            </a:r>
            <a:endParaRPr lang="en-US" sz="3200" dirty="0"/>
          </a:p>
        </p:txBody>
      </p:sp>
      <p:sp>
        <p:nvSpPr>
          <p:cNvPr id="37" name="Shape 31"/>
          <p:cNvSpPr/>
          <p:nvPr/>
        </p:nvSpPr>
        <p:spPr>
          <a:xfrm>
            <a:off x="2377440" y="3136392"/>
            <a:ext cx="502920" cy="502920"/>
          </a:xfrm>
          <a:prstGeom prst="ellipse">
            <a:avLst/>
          </a:prstGeom>
          <a:solidFill>
            <a:srgbClr val="D49A00">
              <a:alpha val="22000"/>
            </a:srgbClr>
          </a:solidFill>
          <a:ln w="12700">
            <a:solidFill>
              <a:srgbClr val="D49A00">
                <a:alpha val="0"/>
              </a:srgbClr>
            </a:solidFill>
            <a:prstDash val="solid"/>
          </a:ln>
        </p:spPr>
      </p:sp>
      <p:pic>
        <p:nvPicPr>
          <p:cNvPr id="38" name="Image 3" descr="preencoded.png"/>
          <p:cNvPicPr>
            <a:picLocks noChangeAspect="1"/>
          </p:cNvPicPr>
          <p:nvPr/>
        </p:nvPicPr>
        <p:blipFill>
          <a:blip r:embed="rId6"/>
          <a:stretch>
            <a:fillRect/>
          </a:stretch>
        </p:blipFill>
        <p:spPr>
          <a:xfrm>
            <a:off x="2498141" y="3257093"/>
            <a:ext cx="261518" cy="261518"/>
          </a:xfrm>
          <a:prstGeom prst="rect">
            <a:avLst/>
          </a:prstGeom>
        </p:spPr>
      </p:pic>
      <p:sp>
        <p:nvSpPr>
          <p:cNvPr id="39" name="Text 32"/>
          <p:cNvSpPr txBox="1"/>
          <p:nvPr/>
        </p:nvSpPr>
        <p:spPr>
          <a:xfrm>
            <a:off x="640080" y="3685032"/>
            <a:ext cx="228600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Evolution of RAG</a:t>
            </a:r>
            <a:endParaRPr lang="en-US" sz="1500" dirty="0"/>
          </a:p>
        </p:txBody>
      </p:sp>
      <p:sp>
        <p:nvSpPr>
          <p:cNvPr id="40" name="Text 33"/>
          <p:cNvSpPr txBox="1"/>
          <p:nvPr/>
        </p:nvSpPr>
        <p:spPr>
          <a:xfrm>
            <a:off x="640080" y="3977640"/>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Generations, dimensions of progress, paradigms</a:t>
            </a:r>
            <a:endParaRPr lang="en-US" sz="1050" dirty="0"/>
          </a:p>
        </p:txBody>
      </p:sp>
      <p:sp>
        <p:nvSpPr>
          <p:cNvPr id="41" name="Shape 34"/>
          <p:cNvSpPr/>
          <p:nvPr/>
        </p:nvSpPr>
        <p:spPr>
          <a:xfrm>
            <a:off x="3264408" y="2971800"/>
            <a:ext cx="2615184" cy="1481328"/>
          </a:xfrm>
          <a:prstGeom prst="roundRect">
            <a:avLst>
              <a:gd name="adj" fmla="val 4938"/>
            </a:avLst>
          </a:prstGeom>
          <a:solidFill>
            <a:srgbClr val="F4F7F5"/>
          </a:solidFill>
          <a:ln w="9525">
            <a:solidFill>
              <a:srgbClr val="D5DED9"/>
            </a:solidFill>
            <a:prstDash val="solid"/>
          </a:ln>
        </p:spPr>
      </p:sp>
      <p:sp>
        <p:nvSpPr>
          <p:cNvPr id="42" name="Text 35"/>
          <p:cNvSpPr txBox="1"/>
          <p:nvPr/>
        </p:nvSpPr>
        <p:spPr>
          <a:xfrm>
            <a:off x="3447288" y="3081528"/>
            <a:ext cx="914400" cy="548640"/>
          </a:xfrm>
          <a:prstGeom prst="rect">
            <a:avLst/>
          </a:prstGeom>
          <a:noFill/>
          <a:ln/>
        </p:spPr>
        <p:txBody>
          <a:bodyPr wrap="square" lIns="0" tIns="0" rIns="0" bIns="0" rtlCol="0" anchor="ctr"/>
          <a:lstStyle/>
          <a:p>
            <a:pPr marL="0" indent="0">
              <a:buNone/>
            </a:pPr>
            <a:r>
              <a:rPr lang="en-US" sz="3200" b="1" dirty="0">
                <a:solidFill>
                  <a:srgbClr val="C4621D"/>
                </a:solidFill>
                <a:latin typeface="Calibri" pitchFamily="34" charset="0"/>
                <a:ea typeface="Calibri" pitchFamily="34" charset="-122"/>
                <a:cs typeface="Calibri" pitchFamily="34" charset="-120"/>
              </a:rPr>
              <a:t>05</a:t>
            </a:r>
            <a:endParaRPr lang="en-US" sz="3200" dirty="0"/>
          </a:p>
        </p:txBody>
      </p:sp>
      <p:sp>
        <p:nvSpPr>
          <p:cNvPr id="43" name="Shape 36"/>
          <p:cNvSpPr/>
          <p:nvPr/>
        </p:nvSpPr>
        <p:spPr>
          <a:xfrm>
            <a:off x="5184648" y="3136392"/>
            <a:ext cx="502920" cy="502920"/>
          </a:xfrm>
          <a:prstGeom prst="ellipse">
            <a:avLst/>
          </a:prstGeom>
          <a:solidFill>
            <a:srgbClr val="C4621D">
              <a:alpha val="22000"/>
            </a:srgbClr>
          </a:solidFill>
          <a:ln w="12700">
            <a:solidFill>
              <a:srgbClr val="C4621D">
                <a:alpha val="0"/>
              </a:srgbClr>
            </a:solidFill>
            <a:prstDash val="solid"/>
          </a:ln>
        </p:spPr>
      </p:sp>
      <p:pic>
        <p:nvPicPr>
          <p:cNvPr id="44" name="Image 4" descr="preencoded.png"/>
          <p:cNvPicPr>
            <a:picLocks noChangeAspect="1"/>
          </p:cNvPicPr>
          <p:nvPr/>
        </p:nvPicPr>
        <p:blipFill>
          <a:blip r:embed="rId7"/>
          <a:stretch>
            <a:fillRect/>
          </a:stretch>
        </p:blipFill>
        <p:spPr>
          <a:xfrm>
            <a:off x="5305349" y="3257093"/>
            <a:ext cx="261518" cy="261518"/>
          </a:xfrm>
          <a:prstGeom prst="rect">
            <a:avLst/>
          </a:prstGeom>
        </p:spPr>
      </p:pic>
      <p:sp>
        <p:nvSpPr>
          <p:cNvPr id="45" name="Text 37"/>
          <p:cNvSpPr txBox="1"/>
          <p:nvPr/>
        </p:nvSpPr>
        <p:spPr>
          <a:xfrm>
            <a:off x="3447288" y="3685032"/>
            <a:ext cx="228600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Advanced techniques</a:t>
            </a:r>
            <a:endParaRPr lang="en-US" sz="1500" dirty="0"/>
          </a:p>
        </p:txBody>
      </p:sp>
      <p:sp>
        <p:nvSpPr>
          <p:cNvPr id="46" name="Text 38"/>
          <p:cNvSpPr txBox="1"/>
          <p:nvPr/>
        </p:nvSpPr>
        <p:spPr>
          <a:xfrm>
            <a:off x="3447288" y="3977640"/>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Toolbox; RAG vs fine-tuning vs long context</a:t>
            </a:r>
            <a:endParaRPr lang="en-US" sz="1050" dirty="0"/>
          </a:p>
        </p:txBody>
      </p:sp>
      <p:sp>
        <p:nvSpPr>
          <p:cNvPr id="47" name="Shape 39"/>
          <p:cNvSpPr/>
          <p:nvPr/>
        </p:nvSpPr>
        <p:spPr>
          <a:xfrm>
            <a:off x="6071616" y="2971800"/>
            <a:ext cx="2615184" cy="1481328"/>
          </a:xfrm>
          <a:prstGeom prst="roundRect">
            <a:avLst>
              <a:gd name="adj" fmla="val 4938"/>
            </a:avLst>
          </a:prstGeom>
          <a:solidFill>
            <a:srgbClr val="F4F7F5"/>
          </a:solidFill>
          <a:ln w="9525">
            <a:solidFill>
              <a:srgbClr val="D5DED9"/>
            </a:solidFill>
            <a:prstDash val="solid"/>
          </a:ln>
        </p:spPr>
      </p:sp>
      <p:sp>
        <p:nvSpPr>
          <p:cNvPr id="48" name="Text 40"/>
          <p:cNvSpPr txBox="1"/>
          <p:nvPr/>
        </p:nvSpPr>
        <p:spPr>
          <a:xfrm>
            <a:off x="6254496" y="3081528"/>
            <a:ext cx="914400" cy="548640"/>
          </a:xfrm>
          <a:prstGeom prst="rect">
            <a:avLst/>
          </a:prstGeom>
          <a:noFill/>
          <a:ln/>
        </p:spPr>
        <p:txBody>
          <a:bodyPr wrap="square" lIns="0" tIns="0" rIns="0" bIns="0" rtlCol="0" anchor="ctr"/>
          <a:lstStyle/>
          <a:p>
            <a:pPr marL="0" indent="0">
              <a:buNone/>
            </a:pPr>
            <a:r>
              <a:rPr lang="en-US" sz="3200" b="1" dirty="0">
                <a:solidFill>
                  <a:srgbClr val="B83B2E"/>
                </a:solidFill>
                <a:latin typeface="Calibri" pitchFamily="34" charset="0"/>
                <a:ea typeface="Calibri" pitchFamily="34" charset="-122"/>
                <a:cs typeface="Calibri" pitchFamily="34" charset="-120"/>
              </a:rPr>
              <a:t>06</a:t>
            </a:r>
            <a:endParaRPr lang="en-US" sz="3200" dirty="0"/>
          </a:p>
        </p:txBody>
      </p:sp>
      <p:sp>
        <p:nvSpPr>
          <p:cNvPr id="49" name="Shape 41"/>
          <p:cNvSpPr/>
          <p:nvPr/>
        </p:nvSpPr>
        <p:spPr>
          <a:xfrm>
            <a:off x="7991856" y="3136392"/>
            <a:ext cx="502920" cy="502920"/>
          </a:xfrm>
          <a:prstGeom prst="ellipse">
            <a:avLst/>
          </a:prstGeom>
          <a:solidFill>
            <a:srgbClr val="B83B2E">
              <a:alpha val="22000"/>
            </a:srgbClr>
          </a:solidFill>
          <a:ln w="12700">
            <a:solidFill>
              <a:srgbClr val="B83B2E">
                <a:alpha val="0"/>
              </a:srgbClr>
            </a:solidFill>
            <a:prstDash val="solid"/>
          </a:ln>
        </p:spPr>
      </p:sp>
      <p:pic>
        <p:nvPicPr>
          <p:cNvPr id="50" name="Image 5" descr="preencoded.png"/>
          <p:cNvPicPr>
            <a:picLocks noChangeAspect="1"/>
          </p:cNvPicPr>
          <p:nvPr/>
        </p:nvPicPr>
        <p:blipFill>
          <a:blip r:embed="rId8"/>
          <a:stretch>
            <a:fillRect/>
          </a:stretch>
        </p:blipFill>
        <p:spPr>
          <a:xfrm>
            <a:off x="8112557" y="3257093"/>
            <a:ext cx="261518" cy="261518"/>
          </a:xfrm>
          <a:prstGeom prst="rect">
            <a:avLst/>
          </a:prstGeom>
        </p:spPr>
      </p:pic>
      <p:sp>
        <p:nvSpPr>
          <p:cNvPr id="51" name="Text 42"/>
          <p:cNvSpPr txBox="1"/>
          <p:nvPr/>
        </p:nvSpPr>
        <p:spPr>
          <a:xfrm>
            <a:off x="6254496" y="3685032"/>
            <a:ext cx="228600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Production</a:t>
            </a:r>
            <a:endParaRPr lang="en-US" sz="1500" dirty="0"/>
          </a:p>
        </p:txBody>
      </p:sp>
      <p:sp>
        <p:nvSpPr>
          <p:cNvPr id="52" name="Text 43"/>
          <p:cNvSpPr txBox="1"/>
          <p:nvPr/>
        </p:nvSpPr>
        <p:spPr>
          <a:xfrm>
            <a:off x="6254496" y="3977640"/>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Evaluation, security, tooling, failure points</a:t>
            </a:r>
            <a:endParaRPr lang="en-US" sz="10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01</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Foundations</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Why do language models need an external memory?</a:t>
            </a:r>
            <a:endParaRPr lang="en-US" sz="1800" dirty="0"/>
          </a:p>
        </p:txBody>
      </p:sp>
      <p:sp>
        <p:nvSpPr>
          <p:cNvPr id="6" name="Shape 4"/>
          <p:cNvSpPr/>
          <p:nvPr/>
        </p:nvSpPr>
        <p:spPr>
          <a:xfrm>
            <a:off x="548640" y="4160520"/>
            <a:ext cx="137160" cy="137160"/>
          </a:xfrm>
          <a:prstGeom prst="ellipse">
            <a:avLst/>
          </a:prstGeom>
          <a:solidFill>
            <a:srgbClr val="F5C242"/>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icPr>
            <a:picLocks noChangeAspect="1"/>
          </p:cNvPicPr>
          <p:nvPr/>
        </p:nvPicPr>
        <p:blipFill>
          <a:blip r:embed="rId4"/>
          <a:stretch>
            <a:fillRect/>
          </a:stretch>
        </p:blipFill>
        <p:spPr>
          <a:xfrm>
            <a:off x="6777533" y="2205533"/>
            <a:ext cx="618134" cy="618134"/>
          </a:xfrm>
          <a:prstGeom prst="rect">
            <a:avLst/>
          </a:prstGeom>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FOUNDATIONS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Where RAG creates value</a:t>
            </a:r>
            <a:endParaRPr lang="en-US" sz="2800" dirty="0"/>
          </a:p>
        </p:txBody>
      </p:sp>
      <p:sp>
        <p:nvSpPr>
          <p:cNvPr id="8" name="Shape 6"/>
          <p:cNvSpPr/>
          <p:nvPr/>
        </p:nvSpPr>
        <p:spPr>
          <a:xfrm>
            <a:off x="7790688" y="329184"/>
            <a:ext cx="100584" cy="100584"/>
          </a:xfrm>
          <a:prstGeom prst="ellipse">
            <a:avLst/>
          </a:prstGeom>
          <a:solidFill>
            <a:srgbClr val="00A86A"/>
          </a:solidFill>
          <a:ln w="12700">
            <a:solidFill>
              <a:srgbClr val="00A86A"/>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Shape 14"/>
          <p:cNvSpPr/>
          <p:nvPr/>
        </p:nvSpPr>
        <p:spPr>
          <a:xfrm>
            <a:off x="457200" y="1325880"/>
            <a:ext cx="2615184" cy="1298448"/>
          </a:xfrm>
          <a:prstGeom prst="roundRect">
            <a:avLst>
              <a:gd name="adj" fmla="val 5634"/>
            </a:avLst>
          </a:prstGeom>
          <a:solidFill>
            <a:srgbClr val="F4F7F5"/>
          </a:solidFill>
          <a:ln w="9525">
            <a:solidFill>
              <a:srgbClr val="D5DED9"/>
            </a:solidFill>
            <a:prstDash val="solid"/>
          </a:ln>
        </p:spPr>
      </p:sp>
      <p:sp>
        <p:nvSpPr>
          <p:cNvPr id="18" name="Shape 15"/>
          <p:cNvSpPr/>
          <p:nvPr/>
        </p:nvSpPr>
        <p:spPr>
          <a:xfrm>
            <a:off x="640080" y="1508760"/>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749808" y="1618488"/>
            <a:ext cx="237744" cy="237744"/>
          </a:xfrm>
          <a:prstGeom prst="rect">
            <a:avLst/>
          </a:prstGeom>
        </p:spPr>
      </p:pic>
      <p:sp>
        <p:nvSpPr>
          <p:cNvPr id="20" name="Text 16"/>
          <p:cNvSpPr txBox="1"/>
          <p:nvPr/>
        </p:nvSpPr>
        <p:spPr>
          <a:xfrm>
            <a:off x="1234440" y="1581912"/>
            <a:ext cx="1737360" cy="32004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Customer support</a:t>
            </a:r>
            <a:endParaRPr lang="en-US" sz="1350" dirty="0"/>
          </a:p>
        </p:txBody>
      </p:sp>
      <p:sp>
        <p:nvSpPr>
          <p:cNvPr id="21" name="Text 17"/>
          <p:cNvSpPr txBox="1"/>
          <p:nvPr/>
        </p:nvSpPr>
        <p:spPr>
          <a:xfrm>
            <a:off x="640080" y="2057400"/>
            <a:ext cx="2286000" cy="53035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Assistants answer from help-center articles, policies and past tickets, with links to sources.</a:t>
            </a:r>
            <a:endParaRPr lang="en-US" sz="1050" dirty="0"/>
          </a:p>
        </p:txBody>
      </p:sp>
      <p:sp>
        <p:nvSpPr>
          <p:cNvPr id="22" name="Shape 18"/>
          <p:cNvSpPr/>
          <p:nvPr/>
        </p:nvSpPr>
        <p:spPr>
          <a:xfrm>
            <a:off x="3264408" y="1325880"/>
            <a:ext cx="2615184" cy="1298448"/>
          </a:xfrm>
          <a:prstGeom prst="roundRect">
            <a:avLst>
              <a:gd name="adj" fmla="val 5634"/>
            </a:avLst>
          </a:prstGeom>
          <a:solidFill>
            <a:srgbClr val="F4F7F5"/>
          </a:solidFill>
          <a:ln w="9525">
            <a:solidFill>
              <a:srgbClr val="D5DED9"/>
            </a:solidFill>
            <a:prstDash val="solid"/>
          </a:ln>
        </p:spPr>
      </p:sp>
      <p:sp>
        <p:nvSpPr>
          <p:cNvPr id="23" name="Shape 19"/>
          <p:cNvSpPr/>
          <p:nvPr/>
        </p:nvSpPr>
        <p:spPr>
          <a:xfrm>
            <a:off x="3447288" y="1508760"/>
            <a:ext cx="457200" cy="457200"/>
          </a:xfrm>
          <a:prstGeom prst="ellipse">
            <a:avLst/>
          </a:prstGeom>
          <a:solidFill>
            <a:srgbClr val="0E7C86">
              <a:alpha val="22000"/>
            </a:srgbClr>
          </a:solidFill>
          <a:ln w="12700">
            <a:solidFill>
              <a:srgbClr val="0E7C86">
                <a:alpha val="0"/>
              </a:srgbClr>
            </a:solidFill>
            <a:prstDash val="solid"/>
          </a:ln>
        </p:spPr>
      </p:sp>
      <p:pic>
        <p:nvPicPr>
          <p:cNvPr id="24" name="Image 1" descr="preencoded.png"/>
          <p:cNvPicPr>
            <a:picLocks noChangeAspect="1"/>
          </p:cNvPicPr>
          <p:nvPr/>
        </p:nvPicPr>
        <p:blipFill>
          <a:blip r:embed="rId4"/>
          <a:stretch>
            <a:fillRect/>
          </a:stretch>
        </p:blipFill>
        <p:spPr>
          <a:xfrm>
            <a:off x="3557016" y="1618488"/>
            <a:ext cx="237744" cy="237744"/>
          </a:xfrm>
          <a:prstGeom prst="rect">
            <a:avLst/>
          </a:prstGeom>
        </p:spPr>
      </p:pic>
      <p:sp>
        <p:nvSpPr>
          <p:cNvPr id="25" name="Text 20"/>
          <p:cNvSpPr txBox="1"/>
          <p:nvPr/>
        </p:nvSpPr>
        <p:spPr>
          <a:xfrm>
            <a:off x="4041648" y="1581912"/>
            <a:ext cx="1737360" cy="32004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Enterprise knowledge</a:t>
            </a:r>
            <a:endParaRPr lang="en-US" sz="1350" dirty="0"/>
          </a:p>
        </p:txBody>
      </p:sp>
      <p:sp>
        <p:nvSpPr>
          <p:cNvPr id="26" name="Text 21"/>
          <p:cNvSpPr txBox="1"/>
          <p:nvPr/>
        </p:nvSpPr>
        <p:spPr>
          <a:xfrm>
            <a:off x="3447288" y="2057400"/>
            <a:ext cx="2286000" cy="53035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One question-answering layer over wikis, intranets, drives and chat history.</a:t>
            </a:r>
            <a:endParaRPr lang="en-US" sz="1050" dirty="0"/>
          </a:p>
        </p:txBody>
      </p:sp>
      <p:sp>
        <p:nvSpPr>
          <p:cNvPr id="27" name="Shape 22"/>
          <p:cNvSpPr/>
          <p:nvPr/>
        </p:nvSpPr>
        <p:spPr>
          <a:xfrm>
            <a:off x="6071616" y="1325880"/>
            <a:ext cx="2615184" cy="1298448"/>
          </a:xfrm>
          <a:prstGeom prst="roundRect">
            <a:avLst>
              <a:gd name="adj" fmla="val 5634"/>
            </a:avLst>
          </a:prstGeom>
          <a:solidFill>
            <a:srgbClr val="F4F7F5"/>
          </a:solidFill>
          <a:ln w="9525">
            <a:solidFill>
              <a:srgbClr val="D5DED9"/>
            </a:solidFill>
            <a:prstDash val="solid"/>
          </a:ln>
        </p:spPr>
      </p:sp>
      <p:sp>
        <p:nvSpPr>
          <p:cNvPr id="28" name="Shape 23"/>
          <p:cNvSpPr/>
          <p:nvPr/>
        </p:nvSpPr>
        <p:spPr>
          <a:xfrm>
            <a:off x="6254496" y="1508760"/>
            <a:ext cx="457200" cy="457200"/>
          </a:xfrm>
          <a:prstGeom prst="ellipse">
            <a:avLst/>
          </a:prstGeom>
          <a:solidFill>
            <a:srgbClr val="00A86A">
              <a:alpha val="22000"/>
            </a:srgbClr>
          </a:solidFill>
          <a:ln w="12700">
            <a:solidFill>
              <a:srgbClr val="00A86A">
                <a:alpha val="0"/>
              </a:srgbClr>
            </a:solidFill>
            <a:prstDash val="solid"/>
          </a:ln>
        </p:spPr>
      </p:sp>
      <p:pic>
        <p:nvPicPr>
          <p:cNvPr id="29" name="Image 2" descr="preencoded.png"/>
          <p:cNvPicPr>
            <a:picLocks noChangeAspect="1"/>
          </p:cNvPicPr>
          <p:nvPr/>
        </p:nvPicPr>
        <p:blipFill>
          <a:blip r:embed="rId5"/>
          <a:stretch>
            <a:fillRect/>
          </a:stretch>
        </p:blipFill>
        <p:spPr>
          <a:xfrm>
            <a:off x="6364224" y="1618488"/>
            <a:ext cx="237744" cy="237744"/>
          </a:xfrm>
          <a:prstGeom prst="rect">
            <a:avLst/>
          </a:prstGeom>
        </p:spPr>
      </p:pic>
      <p:sp>
        <p:nvSpPr>
          <p:cNvPr id="30" name="Text 24"/>
          <p:cNvSpPr txBox="1"/>
          <p:nvPr/>
        </p:nvSpPr>
        <p:spPr>
          <a:xfrm>
            <a:off x="6848856" y="1581912"/>
            <a:ext cx="1737360" cy="32004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Legal &amp; compliance</a:t>
            </a:r>
            <a:endParaRPr lang="en-US" sz="1350" dirty="0"/>
          </a:p>
        </p:txBody>
      </p:sp>
      <p:sp>
        <p:nvSpPr>
          <p:cNvPr id="31" name="Text 25"/>
          <p:cNvSpPr txBox="1"/>
          <p:nvPr/>
        </p:nvSpPr>
        <p:spPr>
          <a:xfrm>
            <a:off x="6254496" y="2057400"/>
            <a:ext cx="2286000" cy="53035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Search contracts, regulations and case files; every statement traceable to a clause.</a:t>
            </a:r>
            <a:endParaRPr lang="en-US" sz="1050" dirty="0"/>
          </a:p>
        </p:txBody>
      </p:sp>
      <p:sp>
        <p:nvSpPr>
          <p:cNvPr id="32" name="Shape 26"/>
          <p:cNvSpPr/>
          <p:nvPr/>
        </p:nvSpPr>
        <p:spPr>
          <a:xfrm>
            <a:off x="457200" y="2743200"/>
            <a:ext cx="2615184" cy="1298448"/>
          </a:xfrm>
          <a:prstGeom prst="roundRect">
            <a:avLst>
              <a:gd name="adj" fmla="val 5634"/>
            </a:avLst>
          </a:prstGeom>
          <a:solidFill>
            <a:srgbClr val="F4F7F5"/>
          </a:solidFill>
          <a:ln w="9525">
            <a:solidFill>
              <a:srgbClr val="D5DED9"/>
            </a:solidFill>
            <a:prstDash val="solid"/>
          </a:ln>
        </p:spPr>
      </p:sp>
      <p:sp>
        <p:nvSpPr>
          <p:cNvPr id="33" name="Shape 27"/>
          <p:cNvSpPr/>
          <p:nvPr/>
        </p:nvSpPr>
        <p:spPr>
          <a:xfrm>
            <a:off x="640080" y="2926080"/>
            <a:ext cx="457200" cy="457200"/>
          </a:xfrm>
          <a:prstGeom prst="ellipse">
            <a:avLst/>
          </a:prstGeom>
          <a:solidFill>
            <a:srgbClr val="0E7C86">
              <a:alpha val="22000"/>
            </a:srgbClr>
          </a:solidFill>
          <a:ln w="12700">
            <a:solidFill>
              <a:srgbClr val="0E7C86">
                <a:alpha val="0"/>
              </a:srgbClr>
            </a:solidFill>
            <a:prstDash val="solid"/>
          </a:ln>
        </p:spPr>
      </p:sp>
      <p:pic>
        <p:nvPicPr>
          <p:cNvPr id="34" name="Image 3" descr="preencoded.png"/>
          <p:cNvPicPr>
            <a:picLocks noChangeAspect="1"/>
          </p:cNvPicPr>
          <p:nvPr/>
        </p:nvPicPr>
        <p:blipFill>
          <a:blip r:embed="rId6"/>
          <a:stretch>
            <a:fillRect/>
          </a:stretch>
        </p:blipFill>
        <p:spPr>
          <a:xfrm>
            <a:off x="749808" y="3035808"/>
            <a:ext cx="237744" cy="237744"/>
          </a:xfrm>
          <a:prstGeom prst="rect">
            <a:avLst/>
          </a:prstGeom>
        </p:spPr>
      </p:pic>
      <p:sp>
        <p:nvSpPr>
          <p:cNvPr id="35" name="Text 28"/>
          <p:cNvSpPr txBox="1"/>
          <p:nvPr/>
        </p:nvSpPr>
        <p:spPr>
          <a:xfrm>
            <a:off x="1234440" y="2999232"/>
            <a:ext cx="1737360" cy="32004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Healthcare &amp; research</a:t>
            </a:r>
            <a:endParaRPr lang="en-US" sz="1350" dirty="0"/>
          </a:p>
        </p:txBody>
      </p:sp>
      <p:sp>
        <p:nvSpPr>
          <p:cNvPr id="36" name="Text 29"/>
          <p:cNvSpPr txBox="1"/>
          <p:nvPr/>
        </p:nvSpPr>
        <p:spPr>
          <a:xfrm>
            <a:off x="640080" y="3474720"/>
            <a:ext cx="2286000" cy="53035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Ground answers in guidelines and scientific literature instead of model memory.</a:t>
            </a:r>
            <a:endParaRPr lang="en-US" sz="1050" dirty="0"/>
          </a:p>
        </p:txBody>
      </p:sp>
      <p:sp>
        <p:nvSpPr>
          <p:cNvPr id="37" name="Shape 30"/>
          <p:cNvSpPr/>
          <p:nvPr/>
        </p:nvSpPr>
        <p:spPr>
          <a:xfrm>
            <a:off x="3264408" y="2743200"/>
            <a:ext cx="2615184" cy="1298448"/>
          </a:xfrm>
          <a:prstGeom prst="roundRect">
            <a:avLst>
              <a:gd name="adj" fmla="val 5634"/>
            </a:avLst>
          </a:prstGeom>
          <a:solidFill>
            <a:srgbClr val="F4F7F5"/>
          </a:solidFill>
          <a:ln w="9525">
            <a:solidFill>
              <a:srgbClr val="D5DED9"/>
            </a:solidFill>
            <a:prstDash val="solid"/>
          </a:ln>
        </p:spPr>
      </p:sp>
      <p:sp>
        <p:nvSpPr>
          <p:cNvPr id="38" name="Shape 31"/>
          <p:cNvSpPr/>
          <p:nvPr/>
        </p:nvSpPr>
        <p:spPr>
          <a:xfrm>
            <a:off x="3447288" y="2926080"/>
            <a:ext cx="457200" cy="457200"/>
          </a:xfrm>
          <a:prstGeom prst="ellipse">
            <a:avLst/>
          </a:prstGeom>
          <a:solidFill>
            <a:srgbClr val="00A86A">
              <a:alpha val="22000"/>
            </a:srgbClr>
          </a:solidFill>
          <a:ln w="12700">
            <a:solidFill>
              <a:srgbClr val="00A86A">
                <a:alpha val="0"/>
              </a:srgbClr>
            </a:solidFill>
            <a:prstDash val="solid"/>
          </a:ln>
        </p:spPr>
      </p:sp>
      <p:pic>
        <p:nvPicPr>
          <p:cNvPr id="39" name="Image 4" descr="preencoded.png"/>
          <p:cNvPicPr>
            <a:picLocks noChangeAspect="1"/>
          </p:cNvPicPr>
          <p:nvPr/>
        </p:nvPicPr>
        <p:blipFill>
          <a:blip r:embed="rId7"/>
          <a:stretch>
            <a:fillRect/>
          </a:stretch>
        </p:blipFill>
        <p:spPr>
          <a:xfrm>
            <a:off x="3557016" y="3035808"/>
            <a:ext cx="237744" cy="237744"/>
          </a:xfrm>
          <a:prstGeom prst="rect">
            <a:avLst/>
          </a:prstGeom>
        </p:spPr>
      </p:pic>
      <p:sp>
        <p:nvSpPr>
          <p:cNvPr id="40" name="Text 32"/>
          <p:cNvSpPr txBox="1"/>
          <p:nvPr/>
        </p:nvSpPr>
        <p:spPr>
          <a:xfrm>
            <a:off x="4041648" y="2999232"/>
            <a:ext cx="1737360" cy="32004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Software engineering</a:t>
            </a:r>
            <a:endParaRPr lang="en-US" sz="1350" dirty="0"/>
          </a:p>
        </p:txBody>
      </p:sp>
      <p:sp>
        <p:nvSpPr>
          <p:cNvPr id="41" name="Text 33"/>
          <p:cNvSpPr txBox="1"/>
          <p:nvPr/>
        </p:nvSpPr>
        <p:spPr>
          <a:xfrm>
            <a:off x="3447288" y="3474720"/>
            <a:ext cx="2286000" cy="53035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Code assistants retrieve relevant files, APIs and internal documentation.</a:t>
            </a:r>
            <a:endParaRPr lang="en-US" sz="1050" dirty="0"/>
          </a:p>
        </p:txBody>
      </p:sp>
      <p:sp>
        <p:nvSpPr>
          <p:cNvPr id="42" name="Shape 34"/>
          <p:cNvSpPr/>
          <p:nvPr/>
        </p:nvSpPr>
        <p:spPr>
          <a:xfrm>
            <a:off x="6071616" y="2743200"/>
            <a:ext cx="2615184" cy="1298448"/>
          </a:xfrm>
          <a:prstGeom prst="roundRect">
            <a:avLst>
              <a:gd name="adj" fmla="val 5634"/>
            </a:avLst>
          </a:prstGeom>
          <a:solidFill>
            <a:srgbClr val="F4F7F5"/>
          </a:solidFill>
          <a:ln w="9525">
            <a:solidFill>
              <a:srgbClr val="D5DED9"/>
            </a:solidFill>
            <a:prstDash val="solid"/>
          </a:ln>
        </p:spPr>
      </p:sp>
      <p:sp>
        <p:nvSpPr>
          <p:cNvPr id="43" name="Shape 35"/>
          <p:cNvSpPr/>
          <p:nvPr/>
        </p:nvSpPr>
        <p:spPr>
          <a:xfrm>
            <a:off x="6254496" y="2926080"/>
            <a:ext cx="457200" cy="457200"/>
          </a:xfrm>
          <a:prstGeom prst="ellipse">
            <a:avLst/>
          </a:prstGeom>
          <a:solidFill>
            <a:srgbClr val="0E7C86">
              <a:alpha val="22000"/>
            </a:srgbClr>
          </a:solidFill>
          <a:ln w="12700">
            <a:solidFill>
              <a:srgbClr val="0E7C86">
                <a:alpha val="0"/>
              </a:srgbClr>
            </a:solidFill>
            <a:prstDash val="solid"/>
          </a:ln>
        </p:spPr>
      </p:sp>
      <p:pic>
        <p:nvPicPr>
          <p:cNvPr id="44" name="Image 5" descr="preencoded.png"/>
          <p:cNvPicPr>
            <a:picLocks noChangeAspect="1"/>
          </p:cNvPicPr>
          <p:nvPr/>
        </p:nvPicPr>
        <p:blipFill>
          <a:blip r:embed="rId8"/>
          <a:stretch>
            <a:fillRect/>
          </a:stretch>
        </p:blipFill>
        <p:spPr>
          <a:xfrm>
            <a:off x="6364224" y="3035808"/>
            <a:ext cx="237744" cy="237744"/>
          </a:xfrm>
          <a:prstGeom prst="rect">
            <a:avLst/>
          </a:prstGeom>
        </p:spPr>
      </p:pic>
      <p:sp>
        <p:nvSpPr>
          <p:cNvPr id="45" name="Text 36"/>
          <p:cNvSpPr txBox="1"/>
          <p:nvPr/>
        </p:nvSpPr>
        <p:spPr>
          <a:xfrm>
            <a:off x="6848856" y="2999232"/>
            <a:ext cx="1737360" cy="32004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Finance &amp; analysis</a:t>
            </a:r>
            <a:endParaRPr lang="en-US" sz="1350" dirty="0"/>
          </a:p>
        </p:txBody>
      </p:sp>
      <p:sp>
        <p:nvSpPr>
          <p:cNvPr id="46" name="Text 37"/>
          <p:cNvSpPr txBox="1"/>
          <p:nvPr/>
        </p:nvSpPr>
        <p:spPr>
          <a:xfrm>
            <a:off x="6254496" y="3474720"/>
            <a:ext cx="2286000" cy="53035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Question reports, filings and market research that change every quarter.</a:t>
            </a:r>
            <a:endParaRPr lang="en-US" sz="1050" dirty="0"/>
          </a:p>
        </p:txBody>
      </p:sp>
      <p:sp>
        <p:nvSpPr>
          <p:cNvPr id="47" name="Shape 38"/>
          <p:cNvSpPr/>
          <p:nvPr/>
        </p:nvSpPr>
        <p:spPr>
          <a:xfrm>
            <a:off x="457200" y="4206240"/>
            <a:ext cx="8229600" cy="457200"/>
          </a:xfrm>
          <a:prstGeom prst="roundRect">
            <a:avLst>
              <a:gd name="adj" fmla="val 16000"/>
            </a:avLst>
          </a:prstGeom>
          <a:solidFill>
            <a:srgbClr val="E8F5EF"/>
          </a:solidFill>
          <a:ln w="15875">
            <a:solidFill>
              <a:srgbClr val="00A86A"/>
            </a:solidFill>
            <a:prstDash val="solid"/>
          </a:ln>
        </p:spPr>
      </p:sp>
      <p:sp>
        <p:nvSpPr>
          <p:cNvPr id="48" name="Text 39"/>
          <p:cNvSpPr txBox="1"/>
          <p:nvPr/>
        </p:nvSpPr>
        <p:spPr>
          <a:xfrm>
            <a:off x="685800" y="4206240"/>
            <a:ext cx="7772400" cy="45720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Common pattern: </a:t>
            </a:r>
            <a:r>
              <a:rPr lang="en-US" sz="1300" dirty="0">
                <a:solidFill>
                  <a:srgbClr val="231F20"/>
                </a:solidFill>
                <a:latin typeface="Calibri" pitchFamily="34" charset="0"/>
                <a:ea typeface="Calibri" pitchFamily="34" charset="-122"/>
                <a:cs typeface="Calibri" pitchFamily="34" charset="-120"/>
              </a:rPr>
              <a:t>a large, changing or private corpus  +  a need for answers users can verify.</a:t>
            </a:r>
            <a:endParaRPr lang="en-US" sz="13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02</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How it works</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What happens between a question and a grounded answer?</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5C242"/>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icPr>
            <a:picLocks noChangeAspect="1"/>
          </p:cNvPicPr>
          <p:nvPr/>
        </p:nvPicPr>
        <p:blipFill>
          <a:blip r:embed="rId4"/>
          <a:stretch>
            <a:fillRect/>
          </a:stretch>
        </p:blipFill>
        <p:spPr>
          <a:xfrm>
            <a:off x="6777533" y="2205533"/>
            <a:ext cx="618134" cy="618134"/>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HOW IT WORKS · STEP 1 INDEXING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Turning documents into searchable knowledge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1325880"/>
            <a:ext cx="1920240" cy="2468880"/>
          </a:xfrm>
          <a:prstGeom prst="roundRect">
            <a:avLst>
              <a:gd name="adj" fmla="val 3810"/>
            </a:avLst>
          </a:prstGeom>
          <a:solidFill>
            <a:srgbClr val="F4F7F5"/>
          </a:solidFill>
          <a:ln w="9525">
            <a:solidFill>
              <a:srgbClr val="D5DED9"/>
            </a:solidFill>
            <a:prstDash val="solid"/>
          </a:ln>
        </p:spPr>
      </p:sp>
      <p:sp>
        <p:nvSpPr>
          <p:cNvPr id="18" name="Text 15"/>
          <p:cNvSpPr txBox="1"/>
          <p:nvPr/>
        </p:nvSpPr>
        <p:spPr>
          <a:xfrm>
            <a:off x="640080" y="1463040"/>
            <a:ext cx="914400" cy="457200"/>
          </a:xfrm>
          <a:prstGeom prst="rect">
            <a:avLst/>
          </a:prstGeom>
          <a:noFill/>
          <a:ln/>
        </p:spPr>
        <p:txBody>
          <a:bodyPr wrap="square" lIns="0" tIns="0" rIns="0" bIns="0" rtlCol="0" anchor="ctr"/>
          <a:lstStyle/>
          <a:p>
            <a:pPr marL="0" indent="0">
              <a:buNone/>
            </a:pPr>
            <a:r>
              <a:rPr lang="en-US" sz="3200" b="1" dirty="0">
                <a:solidFill>
                  <a:srgbClr val="7BCBA9"/>
                </a:solidFill>
                <a:latin typeface="Calibri" pitchFamily="34" charset="0"/>
                <a:ea typeface="Calibri" pitchFamily="34" charset="-122"/>
                <a:cs typeface="Calibri" pitchFamily="34" charset="-120"/>
              </a:rPr>
              <a:t>01</a:t>
            </a:r>
            <a:endParaRPr lang="en-US" sz="3200" dirty="0"/>
          </a:p>
        </p:txBody>
      </p:sp>
      <p:sp>
        <p:nvSpPr>
          <p:cNvPr id="19" name="Shape 16"/>
          <p:cNvSpPr/>
          <p:nvPr/>
        </p:nvSpPr>
        <p:spPr>
          <a:xfrm>
            <a:off x="1691640" y="1481328"/>
            <a:ext cx="502920" cy="502920"/>
          </a:xfrm>
          <a:prstGeom prst="ellipse">
            <a:avLst/>
          </a:prstGeom>
          <a:solidFill>
            <a:srgbClr val="00A86A">
              <a:alpha val="22000"/>
            </a:srgbClr>
          </a:solidFill>
          <a:ln w="12700">
            <a:solidFill>
              <a:srgbClr val="00A86A">
                <a:alpha val="0"/>
              </a:srgbClr>
            </a:solidFill>
            <a:prstDash val="solid"/>
          </a:ln>
        </p:spPr>
      </p:sp>
      <p:pic>
        <p:nvPicPr>
          <p:cNvPr id="20" name="Image 0" descr="preencoded.png"/>
          <p:cNvPicPr>
            <a:picLocks noChangeAspect="1"/>
          </p:cNvPicPr>
          <p:nvPr/>
        </p:nvPicPr>
        <p:blipFill>
          <a:blip r:embed="rId3"/>
          <a:stretch>
            <a:fillRect/>
          </a:stretch>
        </p:blipFill>
        <p:spPr>
          <a:xfrm>
            <a:off x="1812341" y="1602029"/>
            <a:ext cx="261518" cy="261518"/>
          </a:xfrm>
          <a:prstGeom prst="rect">
            <a:avLst/>
          </a:prstGeom>
        </p:spPr>
      </p:pic>
      <p:sp>
        <p:nvSpPr>
          <p:cNvPr id="21" name="Text 17"/>
          <p:cNvSpPr txBox="1"/>
          <p:nvPr/>
        </p:nvSpPr>
        <p:spPr>
          <a:xfrm>
            <a:off x="640080" y="2148840"/>
            <a:ext cx="164592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Load &amp; parse</a:t>
            </a:r>
            <a:endParaRPr lang="en-US" sz="1500" dirty="0"/>
          </a:p>
        </p:txBody>
      </p:sp>
      <p:sp>
        <p:nvSpPr>
          <p:cNvPr id="22" name="Text 18"/>
          <p:cNvSpPr txBox="1"/>
          <p:nvPr/>
        </p:nvSpPr>
        <p:spPr>
          <a:xfrm>
            <a:off x="640080" y="2560320"/>
            <a:ext cx="1600200" cy="11887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Extract clean text from PDFs, HTML, Office files, wikis, databases. Keep tables and headings intact.</a:t>
            </a:r>
            <a:endParaRPr lang="en-US" sz="1150" dirty="0"/>
          </a:p>
        </p:txBody>
      </p:sp>
      <p:sp>
        <p:nvSpPr>
          <p:cNvPr id="23" name="Shape 19"/>
          <p:cNvSpPr/>
          <p:nvPr/>
        </p:nvSpPr>
        <p:spPr>
          <a:xfrm>
            <a:off x="2395728" y="2651760"/>
            <a:ext cx="146304" cy="914"/>
          </a:xfrm>
          <a:prstGeom prst="line">
            <a:avLst/>
          </a:prstGeom>
          <a:noFill/>
          <a:ln w="25400">
            <a:solidFill>
              <a:srgbClr val="5E6964"/>
            </a:solidFill>
            <a:prstDash val="solid"/>
            <a:tailEnd type="triangle"/>
          </a:ln>
        </p:spPr>
      </p:sp>
      <p:sp>
        <p:nvSpPr>
          <p:cNvPr id="24" name="Shape 20"/>
          <p:cNvSpPr/>
          <p:nvPr/>
        </p:nvSpPr>
        <p:spPr>
          <a:xfrm>
            <a:off x="2560320" y="1325880"/>
            <a:ext cx="1920240" cy="2468880"/>
          </a:xfrm>
          <a:prstGeom prst="roundRect">
            <a:avLst>
              <a:gd name="adj" fmla="val 3810"/>
            </a:avLst>
          </a:prstGeom>
          <a:solidFill>
            <a:srgbClr val="F4F7F5"/>
          </a:solidFill>
          <a:ln w="9525">
            <a:solidFill>
              <a:srgbClr val="D5DED9"/>
            </a:solidFill>
            <a:prstDash val="solid"/>
          </a:ln>
        </p:spPr>
      </p:sp>
      <p:sp>
        <p:nvSpPr>
          <p:cNvPr id="25" name="Text 21"/>
          <p:cNvSpPr txBox="1"/>
          <p:nvPr/>
        </p:nvSpPr>
        <p:spPr>
          <a:xfrm>
            <a:off x="2743200" y="1463040"/>
            <a:ext cx="914400" cy="457200"/>
          </a:xfrm>
          <a:prstGeom prst="rect">
            <a:avLst/>
          </a:prstGeom>
          <a:noFill/>
          <a:ln/>
        </p:spPr>
        <p:txBody>
          <a:bodyPr wrap="square" lIns="0" tIns="0" rIns="0" bIns="0" rtlCol="0" anchor="ctr"/>
          <a:lstStyle/>
          <a:p>
            <a:pPr marL="0" indent="0">
              <a:buNone/>
            </a:pPr>
            <a:r>
              <a:rPr lang="en-US" sz="3200" b="1" dirty="0">
                <a:solidFill>
                  <a:srgbClr val="33AF7C"/>
                </a:solidFill>
                <a:latin typeface="Calibri" pitchFamily="34" charset="0"/>
                <a:ea typeface="Calibri" pitchFamily="34" charset="-122"/>
                <a:cs typeface="Calibri" pitchFamily="34" charset="-120"/>
              </a:rPr>
              <a:t>02</a:t>
            </a:r>
            <a:endParaRPr lang="en-US" sz="3200" dirty="0"/>
          </a:p>
        </p:txBody>
      </p:sp>
      <p:sp>
        <p:nvSpPr>
          <p:cNvPr id="26" name="Shape 22"/>
          <p:cNvSpPr/>
          <p:nvPr/>
        </p:nvSpPr>
        <p:spPr>
          <a:xfrm>
            <a:off x="3794760" y="1481328"/>
            <a:ext cx="502920" cy="502920"/>
          </a:xfrm>
          <a:prstGeom prst="ellipse">
            <a:avLst/>
          </a:prstGeom>
          <a:solidFill>
            <a:srgbClr val="00A86A">
              <a:alpha val="22000"/>
            </a:srgbClr>
          </a:solidFill>
          <a:ln w="12700">
            <a:solidFill>
              <a:srgbClr val="00A86A">
                <a:alpha val="0"/>
              </a:srgbClr>
            </a:solidFill>
            <a:prstDash val="solid"/>
          </a:ln>
        </p:spPr>
      </p:sp>
      <p:pic>
        <p:nvPicPr>
          <p:cNvPr id="27" name="Image 1" descr="preencoded.png"/>
          <p:cNvPicPr>
            <a:picLocks noChangeAspect="1"/>
          </p:cNvPicPr>
          <p:nvPr/>
        </p:nvPicPr>
        <p:blipFill>
          <a:blip r:embed="rId4"/>
          <a:stretch>
            <a:fillRect/>
          </a:stretch>
        </p:blipFill>
        <p:spPr>
          <a:xfrm>
            <a:off x="3915461" y="1602029"/>
            <a:ext cx="261518" cy="261518"/>
          </a:xfrm>
          <a:prstGeom prst="rect">
            <a:avLst/>
          </a:prstGeom>
        </p:spPr>
      </p:pic>
      <p:sp>
        <p:nvSpPr>
          <p:cNvPr id="28" name="Text 23"/>
          <p:cNvSpPr txBox="1"/>
          <p:nvPr/>
        </p:nvSpPr>
        <p:spPr>
          <a:xfrm>
            <a:off x="2743200" y="2148840"/>
            <a:ext cx="164592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Chunk</a:t>
            </a:r>
            <a:endParaRPr lang="en-US" sz="1500" dirty="0"/>
          </a:p>
        </p:txBody>
      </p:sp>
      <p:sp>
        <p:nvSpPr>
          <p:cNvPr id="29" name="Text 24"/>
          <p:cNvSpPr txBox="1"/>
          <p:nvPr/>
        </p:nvSpPr>
        <p:spPr>
          <a:xfrm>
            <a:off x="2743200" y="2560320"/>
            <a:ext cx="1600200" cy="11887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Split text into passages sized for retrieval, typically a few hundred tokens, often with overlap.</a:t>
            </a:r>
            <a:endParaRPr lang="en-US" sz="1150" dirty="0"/>
          </a:p>
        </p:txBody>
      </p:sp>
      <p:sp>
        <p:nvSpPr>
          <p:cNvPr id="30" name="Shape 25"/>
          <p:cNvSpPr/>
          <p:nvPr/>
        </p:nvSpPr>
        <p:spPr>
          <a:xfrm>
            <a:off x="4498848" y="2651760"/>
            <a:ext cx="146304" cy="914"/>
          </a:xfrm>
          <a:prstGeom prst="line">
            <a:avLst/>
          </a:prstGeom>
          <a:noFill/>
          <a:ln w="25400">
            <a:solidFill>
              <a:srgbClr val="5E6964"/>
            </a:solidFill>
            <a:prstDash val="solid"/>
            <a:tailEnd type="triangle"/>
          </a:ln>
        </p:spPr>
      </p:sp>
      <p:sp>
        <p:nvSpPr>
          <p:cNvPr id="31" name="Shape 26"/>
          <p:cNvSpPr/>
          <p:nvPr/>
        </p:nvSpPr>
        <p:spPr>
          <a:xfrm>
            <a:off x="4663440" y="1325880"/>
            <a:ext cx="1920240" cy="2468880"/>
          </a:xfrm>
          <a:prstGeom prst="roundRect">
            <a:avLst>
              <a:gd name="adj" fmla="val 3810"/>
            </a:avLst>
          </a:prstGeom>
          <a:solidFill>
            <a:srgbClr val="F4F7F5"/>
          </a:solidFill>
          <a:ln w="9525">
            <a:solidFill>
              <a:srgbClr val="D5DED9"/>
            </a:solidFill>
            <a:prstDash val="solid"/>
          </a:ln>
        </p:spPr>
      </p:sp>
      <p:sp>
        <p:nvSpPr>
          <p:cNvPr id="32" name="Text 27"/>
          <p:cNvSpPr txBox="1"/>
          <p:nvPr/>
        </p:nvSpPr>
        <p:spPr>
          <a:xfrm>
            <a:off x="4846320" y="1463040"/>
            <a:ext cx="914400" cy="457200"/>
          </a:xfrm>
          <a:prstGeom prst="rect">
            <a:avLst/>
          </a:prstGeom>
          <a:noFill/>
          <a:ln/>
        </p:spPr>
        <p:txBody>
          <a:bodyPr wrap="square" lIns="0" tIns="0" rIns="0" bIns="0" rtlCol="0" anchor="ctr"/>
          <a:lstStyle/>
          <a:p>
            <a:pPr marL="0" indent="0">
              <a:buNone/>
            </a:pPr>
            <a:r>
              <a:rPr lang="en-US" sz="3200" b="1" dirty="0">
                <a:solidFill>
                  <a:srgbClr val="008A5B"/>
                </a:solidFill>
                <a:latin typeface="Calibri" pitchFamily="34" charset="0"/>
                <a:ea typeface="Calibri" pitchFamily="34" charset="-122"/>
                <a:cs typeface="Calibri" pitchFamily="34" charset="-120"/>
              </a:rPr>
              <a:t>03</a:t>
            </a:r>
            <a:endParaRPr lang="en-US" sz="3200" dirty="0"/>
          </a:p>
        </p:txBody>
      </p:sp>
      <p:sp>
        <p:nvSpPr>
          <p:cNvPr id="33" name="Shape 28"/>
          <p:cNvSpPr/>
          <p:nvPr/>
        </p:nvSpPr>
        <p:spPr>
          <a:xfrm>
            <a:off x="5897880" y="1481328"/>
            <a:ext cx="502920" cy="502920"/>
          </a:xfrm>
          <a:prstGeom prst="ellipse">
            <a:avLst/>
          </a:prstGeom>
          <a:solidFill>
            <a:srgbClr val="00A86A">
              <a:alpha val="22000"/>
            </a:srgbClr>
          </a:solidFill>
          <a:ln w="12700">
            <a:solidFill>
              <a:srgbClr val="00A86A">
                <a:alpha val="0"/>
              </a:srgbClr>
            </a:solidFill>
            <a:prstDash val="solid"/>
          </a:ln>
        </p:spPr>
      </p:sp>
      <p:pic>
        <p:nvPicPr>
          <p:cNvPr id="34" name="Image 2" descr="preencoded.png"/>
          <p:cNvPicPr>
            <a:picLocks noChangeAspect="1"/>
          </p:cNvPicPr>
          <p:nvPr/>
        </p:nvPicPr>
        <p:blipFill>
          <a:blip r:embed="rId5"/>
          <a:stretch>
            <a:fillRect/>
          </a:stretch>
        </p:blipFill>
        <p:spPr>
          <a:xfrm>
            <a:off x="6018581" y="1602029"/>
            <a:ext cx="261518" cy="261518"/>
          </a:xfrm>
          <a:prstGeom prst="rect">
            <a:avLst/>
          </a:prstGeom>
        </p:spPr>
      </p:pic>
      <p:sp>
        <p:nvSpPr>
          <p:cNvPr id="35" name="Text 29"/>
          <p:cNvSpPr txBox="1"/>
          <p:nvPr/>
        </p:nvSpPr>
        <p:spPr>
          <a:xfrm>
            <a:off x="4846320" y="2148840"/>
            <a:ext cx="164592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Embed</a:t>
            </a:r>
            <a:endParaRPr lang="en-US" sz="1500" dirty="0"/>
          </a:p>
        </p:txBody>
      </p:sp>
      <p:sp>
        <p:nvSpPr>
          <p:cNvPr id="36" name="Text 30"/>
          <p:cNvSpPr txBox="1"/>
          <p:nvPr/>
        </p:nvSpPr>
        <p:spPr>
          <a:xfrm>
            <a:off x="4846320" y="2560320"/>
            <a:ext cx="1600200" cy="11887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An embedding model maps each chunk to a dense vector that captures its meaning.</a:t>
            </a:r>
            <a:endParaRPr lang="en-US" sz="1150" dirty="0"/>
          </a:p>
        </p:txBody>
      </p:sp>
      <p:sp>
        <p:nvSpPr>
          <p:cNvPr id="37" name="Shape 31"/>
          <p:cNvSpPr/>
          <p:nvPr/>
        </p:nvSpPr>
        <p:spPr>
          <a:xfrm>
            <a:off x="6601968" y="2651760"/>
            <a:ext cx="146304" cy="914"/>
          </a:xfrm>
          <a:prstGeom prst="line">
            <a:avLst/>
          </a:prstGeom>
          <a:noFill/>
          <a:ln w="25400">
            <a:solidFill>
              <a:srgbClr val="5E6964"/>
            </a:solidFill>
            <a:prstDash val="solid"/>
            <a:tailEnd type="triangle"/>
          </a:ln>
        </p:spPr>
      </p:sp>
      <p:sp>
        <p:nvSpPr>
          <p:cNvPr id="38" name="Shape 32"/>
          <p:cNvSpPr/>
          <p:nvPr/>
        </p:nvSpPr>
        <p:spPr>
          <a:xfrm>
            <a:off x="6766560" y="1325880"/>
            <a:ext cx="1920240" cy="2468880"/>
          </a:xfrm>
          <a:prstGeom prst="roundRect">
            <a:avLst>
              <a:gd name="adj" fmla="val 3810"/>
            </a:avLst>
          </a:prstGeom>
          <a:solidFill>
            <a:srgbClr val="F4F7F5"/>
          </a:solidFill>
          <a:ln w="9525">
            <a:solidFill>
              <a:srgbClr val="D5DED9"/>
            </a:solidFill>
            <a:prstDash val="solid"/>
          </a:ln>
        </p:spPr>
      </p:sp>
      <p:sp>
        <p:nvSpPr>
          <p:cNvPr id="39" name="Text 33"/>
          <p:cNvSpPr txBox="1"/>
          <p:nvPr/>
        </p:nvSpPr>
        <p:spPr>
          <a:xfrm>
            <a:off x="6949440" y="1463040"/>
            <a:ext cx="914400" cy="457200"/>
          </a:xfrm>
          <a:prstGeom prst="rect">
            <a:avLst/>
          </a:prstGeom>
          <a:noFill/>
          <a:ln/>
        </p:spPr>
        <p:txBody>
          <a:bodyPr wrap="square" lIns="0" tIns="0" rIns="0" bIns="0" rtlCol="0" anchor="ctr"/>
          <a:lstStyle/>
          <a:p>
            <a:pPr marL="0" indent="0">
              <a:buNone/>
            </a:pPr>
            <a:r>
              <a:rPr lang="en-US" sz="3200" b="1" dirty="0">
                <a:solidFill>
                  <a:srgbClr val="00664A"/>
                </a:solidFill>
                <a:latin typeface="Calibri" pitchFamily="34" charset="0"/>
                <a:ea typeface="Calibri" pitchFamily="34" charset="-122"/>
                <a:cs typeface="Calibri" pitchFamily="34" charset="-120"/>
              </a:rPr>
              <a:t>04</a:t>
            </a:r>
            <a:endParaRPr lang="en-US" sz="3200" dirty="0"/>
          </a:p>
        </p:txBody>
      </p:sp>
      <p:sp>
        <p:nvSpPr>
          <p:cNvPr id="40" name="Shape 34"/>
          <p:cNvSpPr/>
          <p:nvPr/>
        </p:nvSpPr>
        <p:spPr>
          <a:xfrm>
            <a:off x="8001000" y="1481328"/>
            <a:ext cx="502920" cy="502920"/>
          </a:xfrm>
          <a:prstGeom prst="ellipse">
            <a:avLst/>
          </a:prstGeom>
          <a:solidFill>
            <a:srgbClr val="00A86A">
              <a:alpha val="22000"/>
            </a:srgbClr>
          </a:solidFill>
          <a:ln w="12700">
            <a:solidFill>
              <a:srgbClr val="00A86A">
                <a:alpha val="0"/>
              </a:srgbClr>
            </a:solidFill>
            <a:prstDash val="solid"/>
          </a:ln>
        </p:spPr>
      </p:sp>
      <p:pic>
        <p:nvPicPr>
          <p:cNvPr id="41" name="Image 3" descr="preencoded.png"/>
          <p:cNvPicPr>
            <a:picLocks noChangeAspect="1"/>
          </p:cNvPicPr>
          <p:nvPr/>
        </p:nvPicPr>
        <p:blipFill>
          <a:blip r:embed="rId6"/>
          <a:stretch>
            <a:fillRect/>
          </a:stretch>
        </p:blipFill>
        <p:spPr>
          <a:xfrm>
            <a:off x="8121701" y="1602029"/>
            <a:ext cx="261518" cy="261518"/>
          </a:xfrm>
          <a:prstGeom prst="rect">
            <a:avLst/>
          </a:prstGeom>
        </p:spPr>
      </p:pic>
      <p:sp>
        <p:nvSpPr>
          <p:cNvPr id="42" name="Text 35"/>
          <p:cNvSpPr txBox="1"/>
          <p:nvPr/>
        </p:nvSpPr>
        <p:spPr>
          <a:xfrm>
            <a:off x="6949440" y="2148840"/>
            <a:ext cx="164592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Store &amp; index</a:t>
            </a:r>
            <a:endParaRPr lang="en-US" sz="1500" dirty="0"/>
          </a:p>
        </p:txBody>
      </p:sp>
      <p:sp>
        <p:nvSpPr>
          <p:cNvPr id="43" name="Text 36"/>
          <p:cNvSpPr txBox="1"/>
          <p:nvPr/>
        </p:nvSpPr>
        <p:spPr>
          <a:xfrm>
            <a:off x="6949440" y="2560320"/>
            <a:ext cx="1600200" cy="11887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Save vectors + text + metadata (source, date, access rights) in a vector index.</a:t>
            </a:r>
            <a:endParaRPr lang="en-US" sz="1150" dirty="0"/>
          </a:p>
        </p:txBody>
      </p:sp>
      <p:sp>
        <p:nvSpPr>
          <p:cNvPr id="44" name="Shape 37"/>
          <p:cNvSpPr/>
          <p:nvPr/>
        </p:nvSpPr>
        <p:spPr>
          <a:xfrm>
            <a:off x="457200" y="4023360"/>
            <a:ext cx="8229600" cy="603504"/>
          </a:xfrm>
          <a:prstGeom prst="roundRect">
            <a:avLst>
              <a:gd name="adj" fmla="val 12121"/>
            </a:avLst>
          </a:prstGeom>
          <a:solidFill>
            <a:srgbClr val="D49A00">
              <a:alpha val="13000"/>
            </a:srgbClr>
          </a:solidFill>
          <a:ln w="9525">
            <a:solidFill>
              <a:srgbClr val="D49A00"/>
            </a:solidFill>
            <a:prstDash val="solid"/>
          </a:ln>
        </p:spPr>
      </p:sp>
      <p:pic>
        <p:nvPicPr>
          <p:cNvPr id="45" name="Image 4" descr="preencoded.png"/>
          <p:cNvPicPr>
            <a:picLocks noChangeAspect="1"/>
          </p:cNvPicPr>
          <p:nvPr/>
        </p:nvPicPr>
        <p:blipFill>
          <a:blip r:embed="rId7"/>
          <a:stretch>
            <a:fillRect/>
          </a:stretch>
        </p:blipFill>
        <p:spPr>
          <a:xfrm>
            <a:off x="621792" y="4197096"/>
            <a:ext cx="256032" cy="256032"/>
          </a:xfrm>
          <a:prstGeom prst="rect">
            <a:avLst/>
          </a:prstGeom>
        </p:spPr>
      </p:pic>
      <p:sp>
        <p:nvSpPr>
          <p:cNvPr id="46" name="Text 38"/>
          <p:cNvSpPr txBox="1"/>
          <p:nvPr/>
        </p:nvSpPr>
        <p:spPr>
          <a:xfrm>
            <a:off x="1005840" y="4023360"/>
            <a:ext cx="7498080" cy="603504"/>
          </a:xfrm>
          <a:prstGeom prst="rect">
            <a:avLst/>
          </a:prstGeom>
          <a:noFill/>
          <a:ln/>
        </p:spPr>
        <p:txBody>
          <a:bodyPr wrap="square" lIns="0" tIns="0" rIns="0" bIns="0" rtlCol="0" anchor="ctr"/>
          <a:lstStyle/>
          <a:p>
            <a:pPr marL="0" indent="0">
              <a:buNone/>
            </a:pPr>
            <a:r>
              <a:rPr lang="en-US" sz="1250" b="1" dirty="0">
                <a:solidFill>
                  <a:srgbClr val="D49A00"/>
                </a:solidFill>
                <a:latin typeface="Calibri" pitchFamily="34" charset="0"/>
                <a:ea typeface="Calibri" pitchFamily="34" charset="-122"/>
                <a:cs typeface="Calibri" pitchFamily="34" charset="-120"/>
              </a:rPr>
              <a:t>Key rule: </a:t>
            </a:r>
            <a:r>
              <a:rPr lang="en-US" sz="1250" dirty="0">
                <a:solidFill>
                  <a:srgbClr val="231F20"/>
                </a:solidFill>
                <a:latin typeface="Calibri" pitchFamily="34" charset="0"/>
                <a:ea typeface="Calibri" pitchFamily="34" charset="-122"/>
                <a:cs typeface="Calibri" pitchFamily="34" charset="-120"/>
              </a:rPr>
              <a:t>the same embedding model must be used for documents and for queries — otherwise the vectors are not comparable.</a:t>
            </a:r>
            <a:endParaRPr lang="en-US" sz="12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HOW IT WORKS · CHUNKING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most underestimated design decision</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Shape 14"/>
          <p:cNvSpPr/>
          <p:nvPr/>
        </p:nvSpPr>
        <p:spPr>
          <a:xfrm>
            <a:off x="457200" y="1325880"/>
            <a:ext cx="3017520" cy="3337560"/>
          </a:xfrm>
          <a:prstGeom prst="roundRect">
            <a:avLst>
              <a:gd name="adj" fmla="val 2424"/>
            </a:avLst>
          </a:prstGeom>
          <a:solidFill>
            <a:srgbClr val="F4F7F5"/>
          </a:solidFill>
          <a:ln w="9525">
            <a:solidFill>
              <a:srgbClr val="D5DED9"/>
            </a:solidFill>
            <a:prstDash val="solid"/>
          </a:ln>
        </p:spPr>
      </p:sp>
      <p:sp>
        <p:nvSpPr>
          <p:cNvPr id="18" name="Text 15"/>
          <p:cNvSpPr txBox="1"/>
          <p:nvPr/>
        </p:nvSpPr>
        <p:spPr>
          <a:xfrm>
            <a:off x="640080" y="1435608"/>
            <a:ext cx="2743200" cy="274320"/>
          </a:xfrm>
          <a:prstGeom prst="rect">
            <a:avLst/>
          </a:prstGeom>
          <a:noFill/>
          <a:ln/>
        </p:spPr>
        <p:txBody>
          <a:bodyPr wrap="square" lIns="0" tIns="0" rIns="0" bIns="0" rtlCol="0" anchor="ctr"/>
          <a:lstStyle/>
          <a:p>
            <a:pPr marL="0" indent="0">
              <a:buNone/>
            </a:pPr>
            <a:r>
              <a:rPr lang="en-US" sz="1100" b="1" dirty="0">
                <a:solidFill>
                  <a:srgbClr val="5E6964"/>
                </a:solidFill>
                <a:latin typeface="Calibri" pitchFamily="34" charset="0"/>
                <a:ea typeface="Calibri" pitchFamily="34" charset="-122"/>
                <a:cs typeface="Calibri" pitchFamily="34" charset="-120"/>
              </a:rPr>
              <a:t>Fixed-size chunks with overlap</a:t>
            </a:r>
            <a:endParaRPr lang="en-US" sz="1100" dirty="0"/>
          </a:p>
        </p:txBody>
      </p:sp>
      <p:sp>
        <p:nvSpPr>
          <p:cNvPr id="19" name="Shape 16"/>
          <p:cNvSpPr/>
          <p:nvPr/>
        </p:nvSpPr>
        <p:spPr>
          <a:xfrm>
            <a:off x="822960" y="1828800"/>
            <a:ext cx="1463040" cy="2331720"/>
          </a:xfrm>
          <a:prstGeom prst="rect">
            <a:avLst/>
          </a:prstGeom>
          <a:solidFill>
            <a:srgbClr val="FFFFFF"/>
          </a:solidFill>
          <a:ln w="12700">
            <a:solidFill>
              <a:srgbClr val="D5DED9"/>
            </a:solidFill>
            <a:prstDash val="solid"/>
          </a:ln>
        </p:spPr>
      </p:sp>
      <p:sp>
        <p:nvSpPr>
          <p:cNvPr id="20" name="Shape 17"/>
          <p:cNvSpPr/>
          <p:nvPr/>
        </p:nvSpPr>
        <p:spPr>
          <a:xfrm>
            <a:off x="932688" y="1938528"/>
            <a:ext cx="1243584" cy="54864"/>
          </a:xfrm>
          <a:prstGeom prst="rect">
            <a:avLst/>
          </a:prstGeom>
          <a:solidFill>
            <a:srgbClr val="D5DED9"/>
          </a:solidFill>
          <a:ln w="12700">
            <a:solidFill>
              <a:srgbClr val="D5DED9"/>
            </a:solidFill>
            <a:prstDash val="solid"/>
          </a:ln>
        </p:spPr>
      </p:sp>
      <p:sp>
        <p:nvSpPr>
          <p:cNvPr id="21" name="Shape 18"/>
          <p:cNvSpPr/>
          <p:nvPr/>
        </p:nvSpPr>
        <p:spPr>
          <a:xfrm>
            <a:off x="932688" y="2121408"/>
            <a:ext cx="1243584" cy="54864"/>
          </a:xfrm>
          <a:prstGeom prst="rect">
            <a:avLst/>
          </a:prstGeom>
          <a:solidFill>
            <a:srgbClr val="D5DED9"/>
          </a:solidFill>
          <a:ln w="12700">
            <a:solidFill>
              <a:srgbClr val="D5DED9"/>
            </a:solidFill>
            <a:prstDash val="solid"/>
          </a:ln>
        </p:spPr>
      </p:sp>
      <p:sp>
        <p:nvSpPr>
          <p:cNvPr id="22" name="Shape 19"/>
          <p:cNvSpPr/>
          <p:nvPr/>
        </p:nvSpPr>
        <p:spPr>
          <a:xfrm>
            <a:off x="932688" y="2304288"/>
            <a:ext cx="1243584" cy="54864"/>
          </a:xfrm>
          <a:prstGeom prst="rect">
            <a:avLst/>
          </a:prstGeom>
          <a:solidFill>
            <a:srgbClr val="D5DED9"/>
          </a:solidFill>
          <a:ln w="12700">
            <a:solidFill>
              <a:srgbClr val="D5DED9"/>
            </a:solidFill>
            <a:prstDash val="solid"/>
          </a:ln>
        </p:spPr>
      </p:sp>
      <p:sp>
        <p:nvSpPr>
          <p:cNvPr id="23" name="Shape 20"/>
          <p:cNvSpPr/>
          <p:nvPr/>
        </p:nvSpPr>
        <p:spPr>
          <a:xfrm>
            <a:off x="932688" y="2487168"/>
            <a:ext cx="822960" cy="54864"/>
          </a:xfrm>
          <a:prstGeom prst="rect">
            <a:avLst/>
          </a:prstGeom>
          <a:solidFill>
            <a:srgbClr val="D5DED9"/>
          </a:solidFill>
          <a:ln w="12700">
            <a:solidFill>
              <a:srgbClr val="D5DED9"/>
            </a:solidFill>
            <a:prstDash val="solid"/>
          </a:ln>
        </p:spPr>
      </p:sp>
      <p:sp>
        <p:nvSpPr>
          <p:cNvPr id="24" name="Shape 21"/>
          <p:cNvSpPr/>
          <p:nvPr/>
        </p:nvSpPr>
        <p:spPr>
          <a:xfrm>
            <a:off x="932688" y="2670048"/>
            <a:ext cx="1243584" cy="54864"/>
          </a:xfrm>
          <a:prstGeom prst="rect">
            <a:avLst/>
          </a:prstGeom>
          <a:solidFill>
            <a:srgbClr val="D5DED9"/>
          </a:solidFill>
          <a:ln w="12700">
            <a:solidFill>
              <a:srgbClr val="D5DED9"/>
            </a:solidFill>
            <a:prstDash val="solid"/>
          </a:ln>
        </p:spPr>
      </p:sp>
      <p:sp>
        <p:nvSpPr>
          <p:cNvPr id="25" name="Shape 22"/>
          <p:cNvSpPr/>
          <p:nvPr/>
        </p:nvSpPr>
        <p:spPr>
          <a:xfrm>
            <a:off x="932688" y="2852928"/>
            <a:ext cx="1243584" cy="54864"/>
          </a:xfrm>
          <a:prstGeom prst="rect">
            <a:avLst/>
          </a:prstGeom>
          <a:solidFill>
            <a:srgbClr val="D5DED9"/>
          </a:solidFill>
          <a:ln w="12700">
            <a:solidFill>
              <a:srgbClr val="D5DED9"/>
            </a:solidFill>
            <a:prstDash val="solid"/>
          </a:ln>
        </p:spPr>
      </p:sp>
      <p:sp>
        <p:nvSpPr>
          <p:cNvPr id="26" name="Shape 23"/>
          <p:cNvSpPr/>
          <p:nvPr/>
        </p:nvSpPr>
        <p:spPr>
          <a:xfrm>
            <a:off x="932688" y="3035808"/>
            <a:ext cx="1243584" cy="54864"/>
          </a:xfrm>
          <a:prstGeom prst="rect">
            <a:avLst/>
          </a:prstGeom>
          <a:solidFill>
            <a:srgbClr val="D5DED9"/>
          </a:solidFill>
          <a:ln w="12700">
            <a:solidFill>
              <a:srgbClr val="D5DED9"/>
            </a:solidFill>
            <a:prstDash val="solid"/>
          </a:ln>
        </p:spPr>
      </p:sp>
      <p:sp>
        <p:nvSpPr>
          <p:cNvPr id="27" name="Shape 24"/>
          <p:cNvSpPr/>
          <p:nvPr/>
        </p:nvSpPr>
        <p:spPr>
          <a:xfrm>
            <a:off x="932688" y="3218688"/>
            <a:ext cx="822960" cy="54864"/>
          </a:xfrm>
          <a:prstGeom prst="rect">
            <a:avLst/>
          </a:prstGeom>
          <a:solidFill>
            <a:srgbClr val="D5DED9"/>
          </a:solidFill>
          <a:ln w="12700">
            <a:solidFill>
              <a:srgbClr val="D5DED9"/>
            </a:solidFill>
            <a:prstDash val="solid"/>
          </a:ln>
        </p:spPr>
      </p:sp>
      <p:sp>
        <p:nvSpPr>
          <p:cNvPr id="28" name="Shape 25"/>
          <p:cNvSpPr/>
          <p:nvPr/>
        </p:nvSpPr>
        <p:spPr>
          <a:xfrm>
            <a:off x="932688" y="3401568"/>
            <a:ext cx="1243584" cy="54864"/>
          </a:xfrm>
          <a:prstGeom prst="rect">
            <a:avLst/>
          </a:prstGeom>
          <a:solidFill>
            <a:srgbClr val="D5DED9"/>
          </a:solidFill>
          <a:ln w="12700">
            <a:solidFill>
              <a:srgbClr val="D5DED9"/>
            </a:solidFill>
            <a:prstDash val="solid"/>
          </a:ln>
        </p:spPr>
      </p:sp>
      <p:sp>
        <p:nvSpPr>
          <p:cNvPr id="29" name="Shape 26"/>
          <p:cNvSpPr/>
          <p:nvPr/>
        </p:nvSpPr>
        <p:spPr>
          <a:xfrm>
            <a:off x="932688" y="3584448"/>
            <a:ext cx="1243584" cy="54864"/>
          </a:xfrm>
          <a:prstGeom prst="rect">
            <a:avLst/>
          </a:prstGeom>
          <a:solidFill>
            <a:srgbClr val="D5DED9"/>
          </a:solidFill>
          <a:ln w="12700">
            <a:solidFill>
              <a:srgbClr val="D5DED9"/>
            </a:solidFill>
            <a:prstDash val="solid"/>
          </a:ln>
        </p:spPr>
      </p:sp>
      <p:sp>
        <p:nvSpPr>
          <p:cNvPr id="30" name="Shape 27"/>
          <p:cNvSpPr/>
          <p:nvPr/>
        </p:nvSpPr>
        <p:spPr>
          <a:xfrm>
            <a:off x="932688" y="3767328"/>
            <a:ext cx="1243584" cy="54864"/>
          </a:xfrm>
          <a:prstGeom prst="rect">
            <a:avLst/>
          </a:prstGeom>
          <a:solidFill>
            <a:srgbClr val="D5DED9"/>
          </a:solidFill>
          <a:ln w="12700">
            <a:solidFill>
              <a:srgbClr val="D5DED9"/>
            </a:solidFill>
            <a:prstDash val="solid"/>
          </a:ln>
        </p:spPr>
      </p:sp>
      <p:sp>
        <p:nvSpPr>
          <p:cNvPr id="31" name="Shape 28"/>
          <p:cNvSpPr/>
          <p:nvPr/>
        </p:nvSpPr>
        <p:spPr>
          <a:xfrm>
            <a:off x="932688" y="3950208"/>
            <a:ext cx="822960" cy="54864"/>
          </a:xfrm>
          <a:prstGeom prst="rect">
            <a:avLst/>
          </a:prstGeom>
          <a:solidFill>
            <a:srgbClr val="D5DED9"/>
          </a:solidFill>
          <a:ln w="12700">
            <a:solidFill>
              <a:srgbClr val="D5DED9"/>
            </a:solidFill>
            <a:prstDash val="solid"/>
          </a:ln>
        </p:spPr>
      </p:sp>
      <p:sp>
        <p:nvSpPr>
          <p:cNvPr id="32" name="Shape 29"/>
          <p:cNvSpPr/>
          <p:nvPr/>
        </p:nvSpPr>
        <p:spPr>
          <a:xfrm>
            <a:off x="2468880" y="1874520"/>
            <a:ext cx="128016" cy="877824"/>
          </a:xfrm>
          <a:prstGeom prst="rect">
            <a:avLst/>
          </a:prstGeom>
          <a:solidFill>
            <a:srgbClr val="00A86A">
              <a:alpha val="80000"/>
            </a:srgbClr>
          </a:solidFill>
          <a:ln w="12700">
            <a:solidFill>
              <a:srgbClr val="00A86A"/>
            </a:solidFill>
            <a:prstDash val="solid"/>
          </a:ln>
        </p:spPr>
      </p:sp>
      <p:sp>
        <p:nvSpPr>
          <p:cNvPr id="33" name="Text 30"/>
          <p:cNvSpPr txBox="1"/>
          <p:nvPr/>
        </p:nvSpPr>
        <p:spPr>
          <a:xfrm>
            <a:off x="2697480" y="2203704"/>
            <a:ext cx="731520" cy="228600"/>
          </a:xfrm>
          <a:prstGeom prst="rect">
            <a:avLst/>
          </a:prstGeom>
          <a:noFill/>
          <a:ln/>
        </p:spPr>
        <p:txBody>
          <a:bodyPr wrap="square" lIns="0" tIns="0" rIns="0" bIns="0" rtlCol="0" anchor="ctr"/>
          <a:lstStyle/>
          <a:p>
            <a:pPr marL="0" indent="0">
              <a:buNone/>
            </a:pPr>
            <a:r>
              <a:rPr lang="en-US" sz="1050" b="1" dirty="0">
                <a:solidFill>
                  <a:srgbClr val="00A86A"/>
                </a:solidFill>
                <a:latin typeface="Calibri" pitchFamily="34" charset="0"/>
                <a:ea typeface="Calibri" pitchFamily="34" charset="-122"/>
                <a:cs typeface="Calibri" pitchFamily="34" charset="-120"/>
              </a:rPr>
              <a:t>Chunk 1</a:t>
            </a:r>
            <a:endParaRPr lang="en-US" sz="1050" dirty="0"/>
          </a:p>
        </p:txBody>
      </p:sp>
      <p:sp>
        <p:nvSpPr>
          <p:cNvPr id="34" name="Shape 31"/>
          <p:cNvSpPr/>
          <p:nvPr/>
        </p:nvSpPr>
        <p:spPr>
          <a:xfrm>
            <a:off x="2514600" y="2569464"/>
            <a:ext cx="128016" cy="877824"/>
          </a:xfrm>
          <a:prstGeom prst="rect">
            <a:avLst/>
          </a:prstGeom>
          <a:solidFill>
            <a:srgbClr val="D49A00">
              <a:alpha val="80000"/>
            </a:srgbClr>
          </a:solidFill>
          <a:ln w="12700">
            <a:solidFill>
              <a:srgbClr val="D49A00"/>
            </a:solidFill>
            <a:prstDash val="solid"/>
          </a:ln>
        </p:spPr>
      </p:sp>
      <p:sp>
        <p:nvSpPr>
          <p:cNvPr id="35" name="Text 32"/>
          <p:cNvSpPr txBox="1"/>
          <p:nvPr/>
        </p:nvSpPr>
        <p:spPr>
          <a:xfrm>
            <a:off x="2743200" y="2898648"/>
            <a:ext cx="731520" cy="228600"/>
          </a:xfrm>
          <a:prstGeom prst="rect">
            <a:avLst/>
          </a:prstGeom>
          <a:noFill/>
          <a:ln/>
        </p:spPr>
        <p:txBody>
          <a:bodyPr wrap="square" lIns="0" tIns="0" rIns="0" bIns="0" rtlCol="0" anchor="ctr"/>
          <a:lstStyle/>
          <a:p>
            <a:pPr marL="0" indent="0">
              <a:buNone/>
            </a:pPr>
            <a:r>
              <a:rPr lang="en-US" sz="1050" b="1" dirty="0">
                <a:solidFill>
                  <a:srgbClr val="D49A00"/>
                </a:solidFill>
                <a:latin typeface="Calibri" pitchFamily="34" charset="0"/>
                <a:ea typeface="Calibri" pitchFamily="34" charset="-122"/>
                <a:cs typeface="Calibri" pitchFamily="34" charset="-120"/>
              </a:rPr>
              <a:t>Chunk 2</a:t>
            </a:r>
            <a:endParaRPr lang="en-US" sz="1050" dirty="0"/>
          </a:p>
        </p:txBody>
      </p:sp>
      <p:sp>
        <p:nvSpPr>
          <p:cNvPr id="36" name="Shape 33"/>
          <p:cNvSpPr/>
          <p:nvPr/>
        </p:nvSpPr>
        <p:spPr>
          <a:xfrm>
            <a:off x="2560320" y="3264408"/>
            <a:ext cx="128016" cy="877824"/>
          </a:xfrm>
          <a:prstGeom prst="rect">
            <a:avLst/>
          </a:prstGeom>
          <a:solidFill>
            <a:srgbClr val="0E7C86">
              <a:alpha val="80000"/>
            </a:srgbClr>
          </a:solidFill>
          <a:ln w="12700">
            <a:solidFill>
              <a:srgbClr val="0E7C86"/>
            </a:solidFill>
            <a:prstDash val="solid"/>
          </a:ln>
        </p:spPr>
      </p:sp>
      <p:sp>
        <p:nvSpPr>
          <p:cNvPr id="37" name="Text 34"/>
          <p:cNvSpPr txBox="1"/>
          <p:nvPr/>
        </p:nvSpPr>
        <p:spPr>
          <a:xfrm>
            <a:off x="2788920" y="3593592"/>
            <a:ext cx="731520" cy="228600"/>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Chunk 3</a:t>
            </a:r>
            <a:endParaRPr lang="en-US" sz="1050" dirty="0"/>
          </a:p>
        </p:txBody>
      </p:sp>
      <p:sp>
        <p:nvSpPr>
          <p:cNvPr id="38" name="Text 35"/>
          <p:cNvSpPr txBox="1"/>
          <p:nvPr/>
        </p:nvSpPr>
        <p:spPr>
          <a:xfrm>
            <a:off x="640080" y="4224528"/>
            <a:ext cx="2743200" cy="384048"/>
          </a:xfrm>
          <a:prstGeom prst="rect">
            <a:avLst/>
          </a:prstGeom>
          <a:noFill/>
          <a:ln/>
        </p:spPr>
        <p:txBody>
          <a:bodyPr wrap="square" lIns="0" tIns="0" rIns="0" bIns="0" rtlCol="0" anchor="ctr"/>
          <a:lstStyle/>
          <a:p>
            <a:pPr marL="0" indent="0">
              <a:buNone/>
            </a:pPr>
            <a:r>
              <a:rPr lang="en-US" sz="1000" i="1" dirty="0">
                <a:solidFill>
                  <a:srgbClr val="5E6964"/>
                </a:solidFill>
                <a:latin typeface="Calibri" pitchFamily="34" charset="0"/>
                <a:ea typeface="Calibri" pitchFamily="34" charset="-122"/>
                <a:cs typeface="Calibri" pitchFamily="34" charset="-120"/>
              </a:rPr>
              <a:t>Overlapping zones keep sentences that cross a boundary retrievable.</a:t>
            </a:r>
            <a:endParaRPr lang="en-US" sz="1000" dirty="0"/>
          </a:p>
        </p:txBody>
      </p:sp>
      <p:sp>
        <p:nvSpPr>
          <p:cNvPr id="39" name="Text 36"/>
          <p:cNvSpPr txBox="1"/>
          <p:nvPr/>
        </p:nvSpPr>
        <p:spPr>
          <a:xfrm>
            <a:off x="3749040" y="1325880"/>
            <a:ext cx="274320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Common strategies</a:t>
            </a:r>
            <a:endParaRPr lang="en-US" sz="1500" dirty="0"/>
          </a:p>
        </p:txBody>
      </p:sp>
      <p:sp>
        <p:nvSpPr>
          <p:cNvPr id="40" name="Shape 37"/>
          <p:cNvSpPr/>
          <p:nvPr/>
        </p:nvSpPr>
        <p:spPr>
          <a:xfrm>
            <a:off x="3749040" y="1746504"/>
            <a:ext cx="274320" cy="274320"/>
          </a:xfrm>
          <a:prstGeom prst="ellipse">
            <a:avLst/>
          </a:prstGeom>
          <a:solidFill>
            <a:srgbClr val="00A86A"/>
          </a:solidFill>
          <a:ln w="12700">
            <a:solidFill>
              <a:srgbClr val="00A86A"/>
            </a:solidFill>
            <a:prstDash val="solid"/>
          </a:ln>
        </p:spPr>
      </p:sp>
      <p:sp>
        <p:nvSpPr>
          <p:cNvPr id="41" name="Text 38"/>
          <p:cNvSpPr txBox="1"/>
          <p:nvPr/>
        </p:nvSpPr>
        <p:spPr>
          <a:xfrm>
            <a:off x="3749040" y="174650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42" name="Text 39"/>
          <p:cNvSpPr txBox="1"/>
          <p:nvPr/>
        </p:nvSpPr>
        <p:spPr>
          <a:xfrm>
            <a:off x="4160520" y="1691640"/>
            <a:ext cx="4480560" cy="20116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Fixed-size + overlap</a:t>
            </a:r>
            <a:endParaRPr lang="en-US" sz="1250" dirty="0"/>
          </a:p>
        </p:txBody>
      </p:sp>
      <p:sp>
        <p:nvSpPr>
          <p:cNvPr id="43" name="Text 40"/>
          <p:cNvSpPr txBox="1"/>
          <p:nvPr/>
        </p:nvSpPr>
        <p:spPr>
          <a:xfrm>
            <a:off x="4160520" y="1901952"/>
            <a:ext cx="4480560" cy="228600"/>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Simple and predictable; may cut ideas mid-sentence.</a:t>
            </a:r>
            <a:endParaRPr lang="en-US" sz="1100" dirty="0"/>
          </a:p>
        </p:txBody>
      </p:sp>
      <p:sp>
        <p:nvSpPr>
          <p:cNvPr id="44" name="Shape 41"/>
          <p:cNvSpPr/>
          <p:nvPr/>
        </p:nvSpPr>
        <p:spPr>
          <a:xfrm>
            <a:off x="3749040" y="2276856"/>
            <a:ext cx="274320" cy="274320"/>
          </a:xfrm>
          <a:prstGeom prst="ellipse">
            <a:avLst/>
          </a:prstGeom>
          <a:solidFill>
            <a:srgbClr val="00A86A"/>
          </a:solidFill>
          <a:ln w="12700">
            <a:solidFill>
              <a:srgbClr val="00A86A"/>
            </a:solidFill>
            <a:prstDash val="solid"/>
          </a:ln>
        </p:spPr>
      </p:sp>
      <p:sp>
        <p:nvSpPr>
          <p:cNvPr id="45" name="Text 42"/>
          <p:cNvSpPr txBox="1"/>
          <p:nvPr/>
        </p:nvSpPr>
        <p:spPr>
          <a:xfrm>
            <a:off x="3749040" y="227685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6" name="Text 43"/>
          <p:cNvSpPr txBox="1"/>
          <p:nvPr/>
        </p:nvSpPr>
        <p:spPr>
          <a:xfrm>
            <a:off x="4160520" y="2221992"/>
            <a:ext cx="4480560" cy="20116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Recursive splitting</a:t>
            </a:r>
            <a:endParaRPr lang="en-US" sz="1250" dirty="0"/>
          </a:p>
        </p:txBody>
      </p:sp>
      <p:sp>
        <p:nvSpPr>
          <p:cNvPr id="47" name="Text 44"/>
          <p:cNvSpPr txBox="1"/>
          <p:nvPr/>
        </p:nvSpPr>
        <p:spPr>
          <a:xfrm>
            <a:off x="4160520" y="2432304"/>
            <a:ext cx="4480560" cy="228600"/>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Splits on paragraphs, then sentences, then words until the size fits.</a:t>
            </a:r>
            <a:endParaRPr lang="en-US" sz="1100" dirty="0"/>
          </a:p>
        </p:txBody>
      </p:sp>
      <p:sp>
        <p:nvSpPr>
          <p:cNvPr id="48" name="Shape 45"/>
          <p:cNvSpPr/>
          <p:nvPr/>
        </p:nvSpPr>
        <p:spPr>
          <a:xfrm>
            <a:off x="3749040" y="2807208"/>
            <a:ext cx="274320" cy="274320"/>
          </a:xfrm>
          <a:prstGeom prst="ellipse">
            <a:avLst/>
          </a:prstGeom>
          <a:solidFill>
            <a:srgbClr val="00A86A"/>
          </a:solidFill>
          <a:ln w="12700">
            <a:solidFill>
              <a:srgbClr val="00A86A"/>
            </a:solidFill>
            <a:prstDash val="solid"/>
          </a:ln>
        </p:spPr>
      </p:sp>
      <p:sp>
        <p:nvSpPr>
          <p:cNvPr id="49" name="Text 46"/>
          <p:cNvSpPr txBox="1"/>
          <p:nvPr/>
        </p:nvSpPr>
        <p:spPr>
          <a:xfrm>
            <a:off x="3749040" y="280720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50" name="Text 47"/>
          <p:cNvSpPr txBox="1"/>
          <p:nvPr/>
        </p:nvSpPr>
        <p:spPr>
          <a:xfrm>
            <a:off x="4160520" y="2752344"/>
            <a:ext cx="4480560" cy="20116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Semantic chunking</a:t>
            </a:r>
            <a:endParaRPr lang="en-US" sz="1250" dirty="0"/>
          </a:p>
        </p:txBody>
      </p:sp>
      <p:sp>
        <p:nvSpPr>
          <p:cNvPr id="51" name="Text 48"/>
          <p:cNvSpPr txBox="1"/>
          <p:nvPr/>
        </p:nvSpPr>
        <p:spPr>
          <a:xfrm>
            <a:off x="4160520" y="2962656"/>
            <a:ext cx="4480560" cy="228600"/>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Starts a new chunk where the embedding similarity between sentences drops.</a:t>
            </a:r>
            <a:endParaRPr lang="en-US" sz="1100" dirty="0"/>
          </a:p>
        </p:txBody>
      </p:sp>
      <p:sp>
        <p:nvSpPr>
          <p:cNvPr id="52" name="Shape 49"/>
          <p:cNvSpPr/>
          <p:nvPr/>
        </p:nvSpPr>
        <p:spPr>
          <a:xfrm>
            <a:off x="3749040" y="3337560"/>
            <a:ext cx="274320" cy="274320"/>
          </a:xfrm>
          <a:prstGeom prst="ellipse">
            <a:avLst/>
          </a:prstGeom>
          <a:solidFill>
            <a:srgbClr val="00A86A"/>
          </a:solidFill>
          <a:ln w="12700">
            <a:solidFill>
              <a:srgbClr val="00A86A"/>
            </a:solidFill>
            <a:prstDash val="solid"/>
          </a:ln>
        </p:spPr>
      </p:sp>
      <p:sp>
        <p:nvSpPr>
          <p:cNvPr id="53" name="Text 50"/>
          <p:cNvSpPr txBox="1"/>
          <p:nvPr/>
        </p:nvSpPr>
        <p:spPr>
          <a:xfrm>
            <a:off x="3749040" y="333756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54" name="Text 51"/>
          <p:cNvSpPr txBox="1"/>
          <p:nvPr/>
        </p:nvSpPr>
        <p:spPr>
          <a:xfrm>
            <a:off x="4160520" y="3282696"/>
            <a:ext cx="4480560" cy="20116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Structure-aware</a:t>
            </a:r>
            <a:endParaRPr lang="en-US" sz="1250" dirty="0"/>
          </a:p>
        </p:txBody>
      </p:sp>
      <p:sp>
        <p:nvSpPr>
          <p:cNvPr id="55" name="Text 52"/>
          <p:cNvSpPr txBox="1"/>
          <p:nvPr/>
        </p:nvSpPr>
        <p:spPr>
          <a:xfrm>
            <a:off x="4160520" y="3493008"/>
            <a:ext cx="4480560" cy="228600"/>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Follows headings, sections, tables, code blocks or Markdown structure.</a:t>
            </a:r>
            <a:endParaRPr lang="en-US" sz="1100" dirty="0"/>
          </a:p>
        </p:txBody>
      </p:sp>
      <p:sp>
        <p:nvSpPr>
          <p:cNvPr id="56" name="Shape 53"/>
          <p:cNvSpPr/>
          <p:nvPr/>
        </p:nvSpPr>
        <p:spPr>
          <a:xfrm>
            <a:off x="3749040" y="3886200"/>
            <a:ext cx="2377440" cy="777240"/>
          </a:xfrm>
          <a:prstGeom prst="roundRect">
            <a:avLst>
              <a:gd name="adj" fmla="val 9412"/>
            </a:avLst>
          </a:prstGeom>
          <a:solidFill>
            <a:srgbClr val="B83B2E">
              <a:alpha val="10000"/>
            </a:srgbClr>
          </a:solidFill>
          <a:ln w="9525">
            <a:solidFill>
              <a:srgbClr val="B83B2E"/>
            </a:solidFill>
            <a:prstDash val="solid"/>
          </a:ln>
        </p:spPr>
      </p:sp>
      <p:sp>
        <p:nvSpPr>
          <p:cNvPr id="57" name="Text 54"/>
          <p:cNvSpPr txBox="1"/>
          <p:nvPr/>
        </p:nvSpPr>
        <p:spPr>
          <a:xfrm>
            <a:off x="3886200" y="3931920"/>
            <a:ext cx="2148840" cy="685800"/>
          </a:xfrm>
          <a:prstGeom prst="rect">
            <a:avLst/>
          </a:prstGeom>
          <a:noFill/>
          <a:ln/>
        </p:spPr>
        <p:txBody>
          <a:bodyPr wrap="square" lIns="0" tIns="0" rIns="0" bIns="0" rtlCol="0" anchor="ctr"/>
          <a:lstStyle/>
          <a:p>
            <a:pPr marL="0" indent="0">
              <a:buNone/>
            </a:pPr>
            <a:r>
              <a:rPr lang="en-US" sz="1150" b="1" dirty="0">
                <a:solidFill>
                  <a:srgbClr val="B83B2E"/>
                </a:solidFill>
                <a:latin typeface="Calibri" pitchFamily="34" charset="0"/>
                <a:ea typeface="Calibri" pitchFamily="34" charset="-122"/>
                <a:cs typeface="Calibri" pitchFamily="34" charset="-120"/>
              </a:rPr>
              <a:t>Too small
</a:t>
            </a:r>
            <a:r>
              <a:rPr lang="en-US" sz="1150" dirty="0">
                <a:solidFill>
                  <a:srgbClr val="231F20"/>
                </a:solidFill>
                <a:latin typeface="Calibri" pitchFamily="34" charset="0"/>
                <a:ea typeface="Calibri" pitchFamily="34" charset="-122"/>
                <a:cs typeface="Calibri" pitchFamily="34" charset="-120"/>
              </a:rPr>
              <a:t>Precise match, but context is lost.</a:t>
            </a:r>
            <a:endParaRPr lang="en-US" sz="1150" dirty="0"/>
          </a:p>
        </p:txBody>
      </p:sp>
      <p:sp>
        <p:nvSpPr>
          <p:cNvPr id="58" name="Shape 55"/>
          <p:cNvSpPr/>
          <p:nvPr/>
        </p:nvSpPr>
        <p:spPr>
          <a:xfrm>
            <a:off x="6309360" y="3886200"/>
            <a:ext cx="2377440" cy="777240"/>
          </a:xfrm>
          <a:prstGeom prst="roundRect">
            <a:avLst>
              <a:gd name="adj" fmla="val 9412"/>
            </a:avLst>
          </a:prstGeom>
          <a:solidFill>
            <a:srgbClr val="D49A00">
              <a:alpha val="13000"/>
            </a:srgbClr>
          </a:solidFill>
          <a:ln w="9525">
            <a:solidFill>
              <a:srgbClr val="D49A00"/>
            </a:solidFill>
            <a:prstDash val="solid"/>
          </a:ln>
        </p:spPr>
      </p:sp>
      <p:sp>
        <p:nvSpPr>
          <p:cNvPr id="59" name="Text 56"/>
          <p:cNvSpPr txBox="1"/>
          <p:nvPr/>
        </p:nvSpPr>
        <p:spPr>
          <a:xfrm>
            <a:off x="6446520" y="3931920"/>
            <a:ext cx="2148840" cy="685800"/>
          </a:xfrm>
          <a:prstGeom prst="rect">
            <a:avLst/>
          </a:prstGeom>
          <a:noFill/>
          <a:ln/>
        </p:spPr>
        <p:txBody>
          <a:bodyPr wrap="square" lIns="0" tIns="0" rIns="0" bIns="0" rtlCol="0" anchor="ctr"/>
          <a:lstStyle/>
          <a:p>
            <a:pPr marL="0" indent="0">
              <a:buNone/>
            </a:pPr>
            <a:r>
              <a:rPr lang="en-US" sz="1150" b="1" dirty="0">
                <a:solidFill>
                  <a:srgbClr val="D49A00"/>
                </a:solidFill>
                <a:latin typeface="Calibri" pitchFamily="34" charset="0"/>
                <a:ea typeface="Calibri" pitchFamily="34" charset="-122"/>
                <a:cs typeface="Calibri" pitchFamily="34" charset="-120"/>
              </a:rPr>
              <a:t>Too large
</a:t>
            </a:r>
            <a:r>
              <a:rPr lang="en-US" sz="1150" dirty="0">
                <a:solidFill>
                  <a:srgbClr val="231F20"/>
                </a:solidFill>
                <a:latin typeface="Calibri" pitchFamily="34" charset="0"/>
                <a:ea typeface="Calibri" pitchFamily="34" charset="-122"/>
                <a:cs typeface="Calibri" pitchFamily="34" charset="-120"/>
              </a:rPr>
              <a:t>Rich context, but diluted, noisy vectors.</a:t>
            </a:r>
            <a:endParaRPr lang="en-US" sz="11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HOW IT WORKS · STEP 2 SEMANTIC SEARCH</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Embeddings: searching by meaning, not by words</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25880"/>
            <a:ext cx="4114800" cy="3337560"/>
          </a:xfrm>
          <a:prstGeom prst="roundRect">
            <a:avLst>
              <a:gd name="adj" fmla="val 2192"/>
            </a:avLst>
          </a:prstGeom>
          <a:solidFill>
            <a:srgbClr val="F4F7F5"/>
          </a:solidFill>
          <a:ln w="9525">
            <a:solidFill>
              <a:srgbClr val="D5DED9"/>
            </a:solidFill>
            <a:prstDash val="solid"/>
          </a:ln>
        </p:spPr>
      </p:sp>
      <p:sp>
        <p:nvSpPr>
          <p:cNvPr id="18" name="Text 15"/>
          <p:cNvSpPr txBox="1"/>
          <p:nvPr/>
        </p:nvSpPr>
        <p:spPr>
          <a:xfrm>
            <a:off x="640080" y="1417320"/>
            <a:ext cx="3749040" cy="228600"/>
          </a:xfrm>
          <a:prstGeom prst="rect">
            <a:avLst/>
          </a:prstGeom>
          <a:noFill/>
          <a:ln/>
        </p:spPr>
        <p:txBody>
          <a:bodyPr wrap="square" lIns="0" tIns="0" rIns="0" bIns="0" rtlCol="0" anchor="ctr"/>
          <a:lstStyle/>
          <a:p>
            <a:pPr marL="0" indent="0">
              <a:buNone/>
            </a:pPr>
            <a:r>
              <a:rPr lang="en-US" sz="1000" i="1" dirty="0">
                <a:solidFill>
                  <a:srgbClr val="5E6964"/>
                </a:solidFill>
                <a:latin typeface="Calibri" pitchFamily="34" charset="0"/>
                <a:ea typeface="Calibri" pitchFamily="34" charset="-122"/>
                <a:cs typeface="Calibri" pitchFamily="34" charset="-120"/>
              </a:rPr>
              <a:t>Embedding space (2-D projection, illustrative)</a:t>
            </a:r>
            <a:endParaRPr lang="en-US" sz="1000" dirty="0"/>
          </a:p>
        </p:txBody>
      </p:sp>
      <p:sp>
        <p:nvSpPr>
          <p:cNvPr id="19" name="Shape 16"/>
          <p:cNvSpPr/>
          <p:nvPr/>
        </p:nvSpPr>
        <p:spPr>
          <a:xfrm>
            <a:off x="1362456" y="2368296"/>
            <a:ext cx="109728" cy="109728"/>
          </a:xfrm>
          <a:prstGeom prst="ellipse">
            <a:avLst/>
          </a:prstGeom>
          <a:solidFill>
            <a:srgbClr val="00A86A"/>
          </a:solidFill>
          <a:ln w="12700">
            <a:solidFill>
              <a:srgbClr val="00A86A"/>
            </a:solidFill>
            <a:prstDash val="solid"/>
          </a:ln>
        </p:spPr>
      </p:sp>
      <p:sp>
        <p:nvSpPr>
          <p:cNvPr id="20" name="Shape 17"/>
          <p:cNvSpPr/>
          <p:nvPr/>
        </p:nvSpPr>
        <p:spPr>
          <a:xfrm>
            <a:off x="1636776" y="2505456"/>
            <a:ext cx="109728" cy="109728"/>
          </a:xfrm>
          <a:prstGeom prst="ellipse">
            <a:avLst/>
          </a:prstGeom>
          <a:solidFill>
            <a:srgbClr val="00A86A"/>
          </a:solidFill>
          <a:ln w="12700">
            <a:solidFill>
              <a:srgbClr val="00A86A"/>
            </a:solidFill>
            <a:prstDash val="solid"/>
          </a:ln>
        </p:spPr>
      </p:sp>
      <p:sp>
        <p:nvSpPr>
          <p:cNvPr id="21" name="Shape 18"/>
          <p:cNvSpPr/>
          <p:nvPr/>
        </p:nvSpPr>
        <p:spPr>
          <a:xfrm>
            <a:off x="1133856" y="2596896"/>
            <a:ext cx="109728" cy="109728"/>
          </a:xfrm>
          <a:prstGeom prst="ellipse">
            <a:avLst/>
          </a:prstGeom>
          <a:solidFill>
            <a:srgbClr val="00A86A"/>
          </a:solidFill>
          <a:ln w="12700">
            <a:solidFill>
              <a:srgbClr val="00A86A"/>
            </a:solidFill>
            <a:prstDash val="solid"/>
          </a:ln>
        </p:spPr>
      </p:sp>
      <p:sp>
        <p:nvSpPr>
          <p:cNvPr id="22" name="Shape 19"/>
          <p:cNvSpPr/>
          <p:nvPr/>
        </p:nvSpPr>
        <p:spPr>
          <a:xfrm>
            <a:off x="1453896" y="2093976"/>
            <a:ext cx="109728" cy="109728"/>
          </a:xfrm>
          <a:prstGeom prst="ellipse">
            <a:avLst/>
          </a:prstGeom>
          <a:solidFill>
            <a:srgbClr val="00A86A"/>
          </a:solidFill>
          <a:ln w="12700">
            <a:solidFill>
              <a:srgbClr val="00A86A"/>
            </a:solidFill>
            <a:prstDash val="solid"/>
          </a:ln>
        </p:spPr>
      </p:sp>
      <p:sp>
        <p:nvSpPr>
          <p:cNvPr id="23" name="Shape 20"/>
          <p:cNvSpPr/>
          <p:nvPr/>
        </p:nvSpPr>
        <p:spPr>
          <a:xfrm>
            <a:off x="1728216" y="2185416"/>
            <a:ext cx="109728" cy="109728"/>
          </a:xfrm>
          <a:prstGeom prst="ellipse">
            <a:avLst/>
          </a:prstGeom>
          <a:solidFill>
            <a:srgbClr val="00A86A"/>
          </a:solidFill>
          <a:ln w="12700">
            <a:solidFill>
              <a:srgbClr val="00A86A"/>
            </a:solidFill>
            <a:prstDash val="solid"/>
          </a:ln>
        </p:spPr>
      </p:sp>
      <p:sp>
        <p:nvSpPr>
          <p:cNvPr id="24" name="Shape 21"/>
          <p:cNvSpPr/>
          <p:nvPr/>
        </p:nvSpPr>
        <p:spPr>
          <a:xfrm>
            <a:off x="1088136" y="2231136"/>
            <a:ext cx="109728" cy="109728"/>
          </a:xfrm>
          <a:prstGeom prst="ellipse">
            <a:avLst/>
          </a:prstGeom>
          <a:solidFill>
            <a:srgbClr val="00A86A"/>
          </a:solidFill>
          <a:ln w="12700">
            <a:solidFill>
              <a:srgbClr val="00A86A"/>
            </a:solidFill>
            <a:prstDash val="solid"/>
          </a:ln>
        </p:spPr>
      </p:sp>
      <p:sp>
        <p:nvSpPr>
          <p:cNvPr id="25" name="Text 22"/>
          <p:cNvSpPr txBox="1"/>
          <p:nvPr/>
        </p:nvSpPr>
        <p:spPr>
          <a:xfrm>
            <a:off x="685800" y="1856232"/>
            <a:ext cx="1463040" cy="201168"/>
          </a:xfrm>
          <a:prstGeom prst="rect">
            <a:avLst/>
          </a:prstGeom>
          <a:noFill/>
          <a:ln/>
        </p:spPr>
        <p:txBody>
          <a:bodyPr wrap="square" lIns="0" tIns="0" rIns="0" bIns="0" rtlCol="0" anchor="ctr"/>
          <a:lstStyle/>
          <a:p>
            <a:pPr marL="0" indent="0" algn="ctr">
              <a:buNone/>
            </a:pPr>
            <a:r>
              <a:rPr lang="en-US" sz="1000" b="1" dirty="0">
                <a:solidFill>
                  <a:srgbClr val="00A86A"/>
                </a:solidFill>
                <a:latin typeface="Calibri" pitchFamily="34" charset="0"/>
                <a:ea typeface="Calibri" pitchFamily="34" charset="-122"/>
                <a:cs typeface="Calibri" pitchFamily="34" charset="-120"/>
              </a:rPr>
              <a:t>Refunds &amp; returns</a:t>
            </a:r>
            <a:endParaRPr lang="en-US" sz="1000" dirty="0"/>
          </a:p>
        </p:txBody>
      </p:sp>
      <p:sp>
        <p:nvSpPr>
          <p:cNvPr id="26" name="Shape 23"/>
          <p:cNvSpPr/>
          <p:nvPr/>
        </p:nvSpPr>
        <p:spPr>
          <a:xfrm>
            <a:off x="3465576" y="2093976"/>
            <a:ext cx="109728" cy="109728"/>
          </a:xfrm>
          <a:prstGeom prst="ellipse">
            <a:avLst/>
          </a:prstGeom>
          <a:solidFill>
            <a:srgbClr val="D49A00"/>
          </a:solidFill>
          <a:ln w="12700">
            <a:solidFill>
              <a:srgbClr val="D49A00"/>
            </a:solidFill>
            <a:prstDash val="solid"/>
          </a:ln>
        </p:spPr>
      </p:sp>
      <p:sp>
        <p:nvSpPr>
          <p:cNvPr id="27" name="Shape 24"/>
          <p:cNvSpPr/>
          <p:nvPr/>
        </p:nvSpPr>
        <p:spPr>
          <a:xfrm>
            <a:off x="3694176" y="2276856"/>
            <a:ext cx="109728" cy="109728"/>
          </a:xfrm>
          <a:prstGeom prst="ellipse">
            <a:avLst/>
          </a:prstGeom>
          <a:solidFill>
            <a:srgbClr val="D49A00"/>
          </a:solidFill>
          <a:ln w="12700">
            <a:solidFill>
              <a:srgbClr val="D49A00"/>
            </a:solidFill>
            <a:prstDash val="solid"/>
          </a:ln>
        </p:spPr>
      </p:sp>
      <p:sp>
        <p:nvSpPr>
          <p:cNvPr id="28" name="Shape 25"/>
          <p:cNvSpPr/>
          <p:nvPr/>
        </p:nvSpPr>
        <p:spPr>
          <a:xfrm>
            <a:off x="3236976" y="2185416"/>
            <a:ext cx="109728" cy="109728"/>
          </a:xfrm>
          <a:prstGeom prst="ellipse">
            <a:avLst/>
          </a:prstGeom>
          <a:solidFill>
            <a:srgbClr val="D49A00"/>
          </a:solidFill>
          <a:ln w="12700">
            <a:solidFill>
              <a:srgbClr val="D49A00"/>
            </a:solidFill>
            <a:prstDash val="solid"/>
          </a:ln>
        </p:spPr>
      </p:sp>
      <p:sp>
        <p:nvSpPr>
          <p:cNvPr id="29" name="Shape 26"/>
          <p:cNvSpPr/>
          <p:nvPr/>
        </p:nvSpPr>
        <p:spPr>
          <a:xfrm>
            <a:off x="3602736" y="1865376"/>
            <a:ext cx="109728" cy="109728"/>
          </a:xfrm>
          <a:prstGeom prst="ellipse">
            <a:avLst/>
          </a:prstGeom>
          <a:solidFill>
            <a:srgbClr val="D49A00"/>
          </a:solidFill>
          <a:ln w="12700">
            <a:solidFill>
              <a:srgbClr val="D49A00"/>
            </a:solidFill>
            <a:prstDash val="solid"/>
          </a:ln>
        </p:spPr>
      </p:sp>
      <p:sp>
        <p:nvSpPr>
          <p:cNvPr id="30" name="Shape 27"/>
          <p:cNvSpPr/>
          <p:nvPr/>
        </p:nvSpPr>
        <p:spPr>
          <a:xfrm>
            <a:off x="3374136" y="2414016"/>
            <a:ext cx="109728" cy="109728"/>
          </a:xfrm>
          <a:prstGeom prst="ellipse">
            <a:avLst/>
          </a:prstGeom>
          <a:solidFill>
            <a:srgbClr val="D49A00"/>
          </a:solidFill>
          <a:ln w="12700">
            <a:solidFill>
              <a:srgbClr val="D49A00"/>
            </a:solidFill>
            <a:prstDash val="solid"/>
          </a:ln>
        </p:spPr>
      </p:sp>
      <p:sp>
        <p:nvSpPr>
          <p:cNvPr id="31" name="Shape 28"/>
          <p:cNvSpPr/>
          <p:nvPr/>
        </p:nvSpPr>
        <p:spPr>
          <a:xfrm>
            <a:off x="3785616" y="2048256"/>
            <a:ext cx="109728" cy="109728"/>
          </a:xfrm>
          <a:prstGeom prst="ellipse">
            <a:avLst/>
          </a:prstGeom>
          <a:solidFill>
            <a:srgbClr val="D49A00"/>
          </a:solidFill>
          <a:ln w="12700">
            <a:solidFill>
              <a:srgbClr val="D49A00"/>
            </a:solidFill>
            <a:prstDash val="solid"/>
          </a:ln>
        </p:spPr>
      </p:sp>
      <p:sp>
        <p:nvSpPr>
          <p:cNvPr id="32" name="Text 29"/>
          <p:cNvSpPr txBox="1"/>
          <p:nvPr/>
        </p:nvSpPr>
        <p:spPr>
          <a:xfrm>
            <a:off x="2788920" y="2532888"/>
            <a:ext cx="1463040" cy="201168"/>
          </a:xfrm>
          <a:prstGeom prst="rect">
            <a:avLst/>
          </a:prstGeom>
          <a:noFill/>
          <a:ln/>
        </p:spPr>
        <p:txBody>
          <a:bodyPr wrap="square" lIns="0" tIns="0" rIns="0" bIns="0" rtlCol="0" anchor="ctr"/>
          <a:lstStyle/>
          <a:p>
            <a:pPr marL="0" indent="0" algn="ctr">
              <a:buNone/>
            </a:pPr>
            <a:r>
              <a:rPr lang="en-US" sz="1000" b="1" dirty="0">
                <a:solidFill>
                  <a:srgbClr val="D49A00"/>
                </a:solidFill>
                <a:latin typeface="Calibri" pitchFamily="34" charset="0"/>
                <a:ea typeface="Calibri" pitchFamily="34" charset="-122"/>
                <a:cs typeface="Calibri" pitchFamily="34" charset="-120"/>
              </a:rPr>
              <a:t>Shipping times</a:t>
            </a:r>
            <a:endParaRPr lang="en-US" sz="1000" dirty="0"/>
          </a:p>
        </p:txBody>
      </p:sp>
      <p:sp>
        <p:nvSpPr>
          <p:cNvPr id="33" name="Shape 30"/>
          <p:cNvSpPr/>
          <p:nvPr/>
        </p:nvSpPr>
        <p:spPr>
          <a:xfrm>
            <a:off x="2962656" y="3557016"/>
            <a:ext cx="109728" cy="109728"/>
          </a:xfrm>
          <a:prstGeom prst="ellipse">
            <a:avLst/>
          </a:prstGeom>
          <a:solidFill>
            <a:srgbClr val="0E7C86"/>
          </a:solidFill>
          <a:ln w="12700">
            <a:solidFill>
              <a:srgbClr val="0E7C86"/>
            </a:solidFill>
            <a:prstDash val="solid"/>
          </a:ln>
        </p:spPr>
      </p:sp>
      <p:sp>
        <p:nvSpPr>
          <p:cNvPr id="34" name="Shape 31"/>
          <p:cNvSpPr/>
          <p:nvPr/>
        </p:nvSpPr>
        <p:spPr>
          <a:xfrm>
            <a:off x="3236976" y="3648456"/>
            <a:ext cx="109728" cy="109728"/>
          </a:xfrm>
          <a:prstGeom prst="ellipse">
            <a:avLst/>
          </a:prstGeom>
          <a:solidFill>
            <a:srgbClr val="0E7C86"/>
          </a:solidFill>
          <a:ln w="12700">
            <a:solidFill>
              <a:srgbClr val="0E7C86"/>
            </a:solidFill>
            <a:prstDash val="solid"/>
          </a:ln>
        </p:spPr>
      </p:sp>
      <p:sp>
        <p:nvSpPr>
          <p:cNvPr id="35" name="Shape 32"/>
          <p:cNvSpPr/>
          <p:nvPr/>
        </p:nvSpPr>
        <p:spPr>
          <a:xfrm>
            <a:off x="2688336" y="3602736"/>
            <a:ext cx="109728" cy="109728"/>
          </a:xfrm>
          <a:prstGeom prst="ellipse">
            <a:avLst/>
          </a:prstGeom>
          <a:solidFill>
            <a:srgbClr val="0E7C86"/>
          </a:solidFill>
          <a:ln w="12700">
            <a:solidFill>
              <a:srgbClr val="0E7C86"/>
            </a:solidFill>
            <a:prstDash val="solid"/>
          </a:ln>
        </p:spPr>
      </p:sp>
      <p:sp>
        <p:nvSpPr>
          <p:cNvPr id="36" name="Shape 33"/>
          <p:cNvSpPr/>
          <p:nvPr/>
        </p:nvSpPr>
        <p:spPr>
          <a:xfrm>
            <a:off x="3054096" y="3328416"/>
            <a:ext cx="109728" cy="109728"/>
          </a:xfrm>
          <a:prstGeom prst="ellipse">
            <a:avLst/>
          </a:prstGeom>
          <a:solidFill>
            <a:srgbClr val="0E7C86"/>
          </a:solidFill>
          <a:ln w="12700">
            <a:solidFill>
              <a:srgbClr val="0E7C86"/>
            </a:solidFill>
            <a:prstDash val="solid"/>
          </a:ln>
        </p:spPr>
      </p:sp>
      <p:sp>
        <p:nvSpPr>
          <p:cNvPr id="37" name="Shape 34"/>
          <p:cNvSpPr/>
          <p:nvPr/>
        </p:nvSpPr>
        <p:spPr>
          <a:xfrm>
            <a:off x="2825496" y="3785616"/>
            <a:ext cx="109728" cy="109728"/>
          </a:xfrm>
          <a:prstGeom prst="ellipse">
            <a:avLst/>
          </a:prstGeom>
          <a:solidFill>
            <a:srgbClr val="0E7C86"/>
          </a:solidFill>
          <a:ln w="12700">
            <a:solidFill>
              <a:srgbClr val="0E7C86"/>
            </a:solidFill>
            <a:prstDash val="solid"/>
          </a:ln>
        </p:spPr>
      </p:sp>
      <p:sp>
        <p:nvSpPr>
          <p:cNvPr id="38" name="Shape 35"/>
          <p:cNvSpPr/>
          <p:nvPr/>
        </p:nvSpPr>
        <p:spPr>
          <a:xfrm>
            <a:off x="3328416" y="3374136"/>
            <a:ext cx="109728" cy="109728"/>
          </a:xfrm>
          <a:prstGeom prst="ellipse">
            <a:avLst/>
          </a:prstGeom>
          <a:solidFill>
            <a:srgbClr val="0E7C86"/>
          </a:solidFill>
          <a:ln w="12700">
            <a:solidFill>
              <a:srgbClr val="0E7C86"/>
            </a:solidFill>
            <a:prstDash val="solid"/>
          </a:ln>
        </p:spPr>
      </p:sp>
      <p:sp>
        <p:nvSpPr>
          <p:cNvPr id="39" name="Text 36"/>
          <p:cNvSpPr txBox="1"/>
          <p:nvPr/>
        </p:nvSpPr>
        <p:spPr>
          <a:xfrm>
            <a:off x="2286000" y="3995928"/>
            <a:ext cx="1463040" cy="201168"/>
          </a:xfrm>
          <a:prstGeom prst="rect">
            <a:avLst/>
          </a:prstGeom>
          <a:noFill/>
          <a:ln/>
        </p:spPr>
        <p:txBody>
          <a:bodyPr wrap="square" lIns="0" tIns="0" rIns="0" bIns="0" rtlCol="0" anchor="ctr"/>
          <a:lstStyle/>
          <a:p>
            <a:pPr marL="0" indent="0" algn="ctr">
              <a:buNone/>
            </a:pPr>
            <a:r>
              <a:rPr lang="en-US" sz="1000" b="1" dirty="0">
                <a:solidFill>
                  <a:srgbClr val="0E7C86"/>
                </a:solidFill>
                <a:latin typeface="Calibri" pitchFamily="34" charset="0"/>
                <a:ea typeface="Calibri" pitchFamily="34" charset="-122"/>
                <a:cs typeface="Calibri" pitchFamily="34" charset="-120"/>
              </a:rPr>
              <a:t>API error codes</a:t>
            </a:r>
            <a:endParaRPr lang="en-US" sz="1000" dirty="0"/>
          </a:p>
        </p:txBody>
      </p:sp>
      <p:sp>
        <p:nvSpPr>
          <p:cNvPr id="40" name="Shape 37"/>
          <p:cNvSpPr/>
          <p:nvPr/>
        </p:nvSpPr>
        <p:spPr>
          <a:xfrm>
            <a:off x="1188720" y="2057400"/>
            <a:ext cx="960120" cy="960120"/>
          </a:xfrm>
          <a:prstGeom prst="ellipse">
            <a:avLst/>
          </a:prstGeom>
          <a:solidFill>
            <a:srgbClr val="00A86A">
              <a:alpha val="8000"/>
            </a:srgbClr>
          </a:solidFill>
          <a:ln w="12700">
            <a:solidFill>
              <a:srgbClr val="5E6964"/>
            </a:solidFill>
            <a:prstDash val="dash"/>
          </a:ln>
        </p:spPr>
      </p:sp>
      <p:sp>
        <p:nvSpPr>
          <p:cNvPr id="41" name="Shape 38"/>
          <p:cNvSpPr/>
          <p:nvPr/>
        </p:nvSpPr>
        <p:spPr>
          <a:xfrm>
            <a:off x="1673352" y="2560320"/>
            <a:ext cx="219456" cy="219456"/>
          </a:xfrm>
          <a:prstGeom prst="star5">
            <a:avLst/>
          </a:prstGeom>
          <a:solidFill>
            <a:srgbClr val="B83B2E"/>
          </a:solidFill>
          <a:ln w="9525">
            <a:solidFill>
              <a:srgbClr val="FFFFFF"/>
            </a:solidFill>
            <a:prstDash val="solid"/>
          </a:ln>
        </p:spPr>
      </p:sp>
      <p:sp>
        <p:nvSpPr>
          <p:cNvPr id="42" name="Text 39"/>
          <p:cNvSpPr txBox="1"/>
          <p:nvPr/>
        </p:nvSpPr>
        <p:spPr>
          <a:xfrm>
            <a:off x="640080" y="3108960"/>
            <a:ext cx="2743200" cy="201168"/>
          </a:xfrm>
          <a:prstGeom prst="rect">
            <a:avLst/>
          </a:prstGeom>
          <a:noFill/>
          <a:ln/>
        </p:spPr>
        <p:txBody>
          <a:bodyPr wrap="square" lIns="0" tIns="0" rIns="0" bIns="0" rtlCol="0" anchor="ctr"/>
          <a:lstStyle/>
          <a:p>
            <a:pPr marL="0" indent="0">
              <a:buNone/>
            </a:pPr>
            <a:r>
              <a:rPr lang="en-US" sz="1000" b="1" dirty="0">
                <a:solidFill>
                  <a:srgbClr val="B83B2E"/>
                </a:solidFill>
                <a:latin typeface="Calibri" pitchFamily="34" charset="0"/>
                <a:ea typeface="Calibri" pitchFamily="34" charset="-122"/>
                <a:cs typeface="Calibri" pitchFamily="34" charset="-120"/>
              </a:rPr>
              <a:t>Query: “How do I get my money back?”</a:t>
            </a:r>
            <a:endParaRPr lang="en-US" sz="1000" dirty="0"/>
          </a:p>
        </p:txBody>
      </p:sp>
      <p:sp>
        <p:nvSpPr>
          <p:cNvPr id="43" name="Text 40"/>
          <p:cNvSpPr txBox="1"/>
          <p:nvPr/>
        </p:nvSpPr>
        <p:spPr>
          <a:xfrm>
            <a:off x="640080" y="4251960"/>
            <a:ext cx="3749040" cy="347472"/>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No shared keyword with “refund”, yet its vector lands next to refund passages.</a:t>
            </a:r>
            <a:endParaRPr lang="en-US" sz="1000" dirty="0"/>
          </a:p>
        </p:txBody>
      </p:sp>
      <p:sp>
        <p:nvSpPr>
          <p:cNvPr id="44" name="Text 41"/>
          <p:cNvSpPr txBox="1"/>
          <p:nvPr/>
        </p:nvSpPr>
        <p:spPr>
          <a:xfrm>
            <a:off x="4846320" y="1325880"/>
            <a:ext cx="384048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Similarity measure</a:t>
            </a:r>
            <a:endParaRPr lang="en-US" sz="1500" dirty="0"/>
          </a:p>
        </p:txBody>
      </p:sp>
      <p:sp>
        <p:nvSpPr>
          <p:cNvPr id="45" name="Shape 42"/>
          <p:cNvSpPr/>
          <p:nvPr/>
        </p:nvSpPr>
        <p:spPr>
          <a:xfrm>
            <a:off x="4846320" y="1645920"/>
            <a:ext cx="3840480" cy="530352"/>
          </a:xfrm>
          <a:prstGeom prst="roundRect">
            <a:avLst>
              <a:gd name="adj" fmla="val 13793"/>
            </a:avLst>
          </a:prstGeom>
          <a:solidFill>
            <a:srgbClr val="E8F5EF"/>
          </a:solidFill>
          <a:ln w="15875">
            <a:solidFill>
              <a:srgbClr val="00A86A"/>
            </a:solidFill>
            <a:prstDash val="solid"/>
          </a:ln>
        </p:spPr>
      </p:sp>
      <p:sp>
        <p:nvSpPr>
          <p:cNvPr id="46" name="Text 43"/>
          <p:cNvSpPr txBox="1"/>
          <p:nvPr/>
        </p:nvSpPr>
        <p:spPr>
          <a:xfrm>
            <a:off x="4846320" y="1645920"/>
            <a:ext cx="3840480" cy="530352"/>
          </a:xfrm>
          <a:prstGeom prst="rect">
            <a:avLst/>
          </a:prstGeom>
          <a:noFill/>
          <a:ln/>
        </p:spPr>
        <p:txBody>
          <a:bodyPr wrap="square" lIns="0" tIns="0" rIns="0" bIns="0" rtlCol="0" anchor="ctr"/>
          <a:lstStyle/>
          <a:p>
            <a:pPr marL="0" indent="0" algn="ctr">
              <a:buNone/>
            </a:pPr>
            <a:r>
              <a:rPr lang="en-US" sz="1800" b="1" dirty="0">
                <a:solidFill>
                  <a:srgbClr val="00704A"/>
                </a:solidFill>
                <a:latin typeface="Calibri" pitchFamily="34" charset="0"/>
                <a:ea typeface="Calibri" pitchFamily="34" charset="-122"/>
                <a:cs typeface="Calibri" pitchFamily="34" charset="-120"/>
              </a:rPr>
              <a:t>cos(q, d) = (q · d) / (‖q‖ ‖d‖)</a:t>
            </a:r>
            <a:endParaRPr lang="en-US" sz="1800" dirty="0"/>
          </a:p>
        </p:txBody>
      </p:sp>
      <p:sp>
        <p:nvSpPr>
          <p:cNvPr id="47" name="Text 44"/>
          <p:cNvSpPr txBox="1"/>
          <p:nvPr/>
        </p:nvSpPr>
        <p:spPr>
          <a:xfrm>
            <a:off x="4846320" y="2240280"/>
            <a:ext cx="3840480" cy="384048"/>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Score close to 1 = same meaning. Dot product and Euclidean distance are also common.</a:t>
            </a:r>
            <a:endParaRPr lang="en-US" sz="1100" dirty="0"/>
          </a:p>
        </p:txBody>
      </p:sp>
      <p:sp>
        <p:nvSpPr>
          <p:cNvPr id="48" name="Text 45"/>
          <p:cNvSpPr txBox="1"/>
          <p:nvPr/>
        </p:nvSpPr>
        <p:spPr>
          <a:xfrm>
            <a:off x="4846320" y="2724912"/>
            <a:ext cx="3840480" cy="27432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Approximate Nearest Neighbour indexes</a:t>
            </a:r>
            <a:endParaRPr lang="en-US" sz="1400" dirty="0"/>
          </a:p>
        </p:txBody>
      </p:sp>
      <p:sp>
        <p:nvSpPr>
          <p:cNvPr id="49" name="Shape 46"/>
          <p:cNvSpPr/>
          <p:nvPr/>
        </p:nvSpPr>
        <p:spPr>
          <a:xfrm>
            <a:off x="4846320" y="3072384"/>
            <a:ext cx="731520" cy="310896"/>
          </a:xfrm>
          <a:prstGeom prst="roundRect">
            <a:avLst>
              <a:gd name="adj" fmla="val 50000"/>
            </a:avLst>
          </a:prstGeom>
          <a:solidFill>
            <a:srgbClr val="00704A">
              <a:alpha val="15000"/>
            </a:srgbClr>
          </a:solidFill>
          <a:ln w="9525">
            <a:solidFill>
              <a:srgbClr val="00704A"/>
            </a:solidFill>
            <a:prstDash val="solid"/>
          </a:ln>
        </p:spPr>
      </p:sp>
      <p:sp>
        <p:nvSpPr>
          <p:cNvPr id="50" name="Text 47"/>
          <p:cNvSpPr txBox="1"/>
          <p:nvPr/>
        </p:nvSpPr>
        <p:spPr>
          <a:xfrm>
            <a:off x="4846320" y="3072384"/>
            <a:ext cx="731520" cy="310896"/>
          </a:xfrm>
          <a:prstGeom prst="rect">
            <a:avLst/>
          </a:prstGeom>
          <a:noFill/>
          <a:ln/>
        </p:spPr>
        <p:txBody>
          <a:bodyPr wrap="square" lIns="0" tIns="0" rIns="0" bIns="0" rtlCol="0" anchor="ctr"/>
          <a:lstStyle/>
          <a:p>
            <a:pPr marL="0" indent="0" algn="ctr">
              <a:buNone/>
            </a:pPr>
            <a:r>
              <a:rPr lang="en-US" sz="1100" b="1" dirty="0">
                <a:solidFill>
                  <a:srgbClr val="00704A"/>
                </a:solidFill>
                <a:latin typeface="Calibri" pitchFamily="34" charset="0"/>
                <a:ea typeface="Calibri" pitchFamily="34" charset="-122"/>
                <a:cs typeface="Calibri" pitchFamily="34" charset="-120"/>
              </a:rPr>
              <a:t>HNSW</a:t>
            </a:r>
            <a:endParaRPr lang="en-US" sz="1100" dirty="0"/>
          </a:p>
        </p:txBody>
      </p:sp>
      <p:sp>
        <p:nvSpPr>
          <p:cNvPr id="51" name="Text 48"/>
          <p:cNvSpPr txBox="1"/>
          <p:nvPr/>
        </p:nvSpPr>
        <p:spPr>
          <a:xfrm>
            <a:off x="5715000" y="3072384"/>
            <a:ext cx="297180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Multi-layer proximity graph; fast, high recall</a:t>
            </a:r>
            <a:endParaRPr lang="en-US" sz="1150" dirty="0"/>
          </a:p>
        </p:txBody>
      </p:sp>
      <p:sp>
        <p:nvSpPr>
          <p:cNvPr id="52" name="Shape 49"/>
          <p:cNvSpPr/>
          <p:nvPr/>
        </p:nvSpPr>
        <p:spPr>
          <a:xfrm>
            <a:off x="4846320" y="3502152"/>
            <a:ext cx="731520" cy="310896"/>
          </a:xfrm>
          <a:prstGeom prst="roundRect">
            <a:avLst>
              <a:gd name="adj" fmla="val 50000"/>
            </a:avLst>
          </a:prstGeom>
          <a:solidFill>
            <a:srgbClr val="00704A">
              <a:alpha val="15000"/>
            </a:srgbClr>
          </a:solidFill>
          <a:ln w="9525">
            <a:solidFill>
              <a:srgbClr val="00704A"/>
            </a:solidFill>
            <a:prstDash val="solid"/>
          </a:ln>
        </p:spPr>
      </p:sp>
      <p:sp>
        <p:nvSpPr>
          <p:cNvPr id="53" name="Text 50"/>
          <p:cNvSpPr txBox="1"/>
          <p:nvPr/>
        </p:nvSpPr>
        <p:spPr>
          <a:xfrm>
            <a:off x="4846320" y="3502152"/>
            <a:ext cx="731520" cy="310896"/>
          </a:xfrm>
          <a:prstGeom prst="rect">
            <a:avLst/>
          </a:prstGeom>
          <a:noFill/>
          <a:ln/>
        </p:spPr>
        <p:txBody>
          <a:bodyPr wrap="square" lIns="0" tIns="0" rIns="0" bIns="0" rtlCol="0" anchor="ctr"/>
          <a:lstStyle/>
          <a:p>
            <a:pPr marL="0" indent="0" algn="ctr">
              <a:buNone/>
            </a:pPr>
            <a:r>
              <a:rPr lang="en-US" sz="1100" b="1" dirty="0">
                <a:solidFill>
                  <a:srgbClr val="00704A"/>
                </a:solidFill>
                <a:latin typeface="Calibri" pitchFamily="34" charset="0"/>
                <a:ea typeface="Calibri" pitchFamily="34" charset="-122"/>
                <a:cs typeface="Calibri" pitchFamily="34" charset="-120"/>
              </a:rPr>
              <a:t>IVF</a:t>
            </a:r>
            <a:endParaRPr lang="en-US" sz="1100" dirty="0"/>
          </a:p>
        </p:txBody>
      </p:sp>
      <p:sp>
        <p:nvSpPr>
          <p:cNvPr id="54" name="Text 51"/>
          <p:cNvSpPr txBox="1"/>
          <p:nvPr/>
        </p:nvSpPr>
        <p:spPr>
          <a:xfrm>
            <a:off x="5715000" y="3502152"/>
            <a:ext cx="297180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Clusters vectors; searches only nearby clusters</a:t>
            </a:r>
            <a:endParaRPr lang="en-US" sz="1150" dirty="0"/>
          </a:p>
        </p:txBody>
      </p:sp>
      <p:sp>
        <p:nvSpPr>
          <p:cNvPr id="55" name="Shape 52"/>
          <p:cNvSpPr/>
          <p:nvPr/>
        </p:nvSpPr>
        <p:spPr>
          <a:xfrm>
            <a:off x="4846320" y="3931920"/>
            <a:ext cx="731520" cy="310896"/>
          </a:xfrm>
          <a:prstGeom prst="roundRect">
            <a:avLst>
              <a:gd name="adj" fmla="val 50000"/>
            </a:avLst>
          </a:prstGeom>
          <a:solidFill>
            <a:srgbClr val="00704A">
              <a:alpha val="15000"/>
            </a:srgbClr>
          </a:solidFill>
          <a:ln w="9525">
            <a:solidFill>
              <a:srgbClr val="00704A"/>
            </a:solidFill>
            <a:prstDash val="solid"/>
          </a:ln>
        </p:spPr>
      </p:sp>
      <p:sp>
        <p:nvSpPr>
          <p:cNvPr id="56" name="Text 53"/>
          <p:cNvSpPr txBox="1"/>
          <p:nvPr/>
        </p:nvSpPr>
        <p:spPr>
          <a:xfrm>
            <a:off x="4846320" y="3931920"/>
            <a:ext cx="731520" cy="310896"/>
          </a:xfrm>
          <a:prstGeom prst="rect">
            <a:avLst/>
          </a:prstGeom>
          <a:noFill/>
          <a:ln/>
        </p:spPr>
        <p:txBody>
          <a:bodyPr wrap="square" lIns="0" tIns="0" rIns="0" bIns="0" rtlCol="0" anchor="ctr"/>
          <a:lstStyle/>
          <a:p>
            <a:pPr marL="0" indent="0" algn="ctr">
              <a:buNone/>
            </a:pPr>
            <a:r>
              <a:rPr lang="en-US" sz="1100" b="1" dirty="0">
                <a:solidFill>
                  <a:srgbClr val="00704A"/>
                </a:solidFill>
                <a:latin typeface="Calibri" pitchFamily="34" charset="0"/>
                <a:ea typeface="Calibri" pitchFamily="34" charset="-122"/>
                <a:cs typeface="Calibri" pitchFamily="34" charset="-120"/>
              </a:rPr>
              <a:t>PQ</a:t>
            </a:r>
            <a:endParaRPr lang="en-US" sz="1100" dirty="0"/>
          </a:p>
        </p:txBody>
      </p:sp>
      <p:sp>
        <p:nvSpPr>
          <p:cNvPr id="57" name="Text 54"/>
          <p:cNvSpPr txBox="1"/>
          <p:nvPr/>
        </p:nvSpPr>
        <p:spPr>
          <a:xfrm>
            <a:off x="5715000" y="3931920"/>
            <a:ext cx="297180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Compresses vectors to cut memory usage</a:t>
            </a:r>
            <a:endParaRPr lang="en-US" sz="1150" dirty="0"/>
          </a:p>
        </p:txBody>
      </p:sp>
      <p:sp>
        <p:nvSpPr>
          <p:cNvPr id="58" name="Text 55"/>
          <p:cNvSpPr txBox="1"/>
          <p:nvPr/>
        </p:nvSpPr>
        <p:spPr>
          <a:xfrm>
            <a:off x="4846320" y="4416552"/>
            <a:ext cx="38404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ANN trades a tiny loss of exactness for millisecond search over millions of vectors.</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03</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Evidence</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Does retrieval really improve answers?</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5C242"/>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icPr>
            <a:picLocks noChangeAspect="1"/>
          </p:cNvPicPr>
          <p:nvPr/>
        </p:nvPicPr>
        <p:blipFill>
          <a:blip r:embed="rId4"/>
          <a:stretch>
            <a:fillRect/>
          </a:stretch>
        </p:blipFill>
        <p:spPr>
          <a:xfrm>
            <a:off x="6777533" y="2205533"/>
            <a:ext cx="618134" cy="618134"/>
          </a:xfrm>
          <a:prstGeom prst="rect">
            <a:avLst/>
          </a:prstGeom>
        </p:spPr>
      </p:pic>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EVIDENCE</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Retrieval beats sheer model size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0E7C86"/>
          </a:solidFill>
          <a:ln w="12700">
            <a:solidFill>
              <a:srgbClr val="0E7C86"/>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graphicFrame>
        <p:nvGraphicFramePr>
          <p:cNvPr id="17" name="Chart 0"/>
          <p:cNvGraphicFramePr/>
          <p:nvPr/>
        </p:nvGraphicFramePr>
        <p:xfrm>
          <a:off x="365760" y="1280160"/>
          <a:ext cx="51206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8" name="Shape 14"/>
          <p:cNvSpPr/>
          <p:nvPr/>
        </p:nvSpPr>
        <p:spPr>
          <a:xfrm>
            <a:off x="5760720" y="1325880"/>
            <a:ext cx="2926080" cy="1280160"/>
          </a:xfrm>
          <a:prstGeom prst="roundRect">
            <a:avLst>
              <a:gd name="adj" fmla="val 5714"/>
            </a:avLst>
          </a:prstGeom>
          <a:solidFill>
            <a:srgbClr val="F4F7F5"/>
          </a:solidFill>
          <a:ln w="9525">
            <a:solidFill>
              <a:srgbClr val="D5DED9"/>
            </a:solidFill>
            <a:prstDash val="solid"/>
          </a:ln>
        </p:spPr>
      </p:sp>
      <p:sp>
        <p:nvSpPr>
          <p:cNvPr id="19" name="Text 15"/>
          <p:cNvSpPr txBox="1"/>
          <p:nvPr/>
        </p:nvSpPr>
        <p:spPr>
          <a:xfrm>
            <a:off x="5943600" y="1417320"/>
            <a:ext cx="2651760" cy="566928"/>
          </a:xfrm>
          <a:prstGeom prst="rect">
            <a:avLst/>
          </a:prstGeom>
          <a:noFill/>
          <a:ln/>
        </p:spPr>
        <p:txBody>
          <a:bodyPr wrap="square" lIns="0" tIns="0" rIns="0" bIns="0" rtlCol="0" anchor="ctr"/>
          <a:lstStyle/>
          <a:p>
            <a:pPr marL="0" indent="0">
              <a:buNone/>
            </a:pPr>
            <a:r>
              <a:rPr lang="en-US" sz="4000" b="1" dirty="0">
                <a:solidFill>
                  <a:srgbClr val="00704A"/>
                </a:solidFill>
                <a:latin typeface="Calibri" pitchFamily="34" charset="0"/>
                <a:ea typeface="Calibri" pitchFamily="34" charset="-122"/>
                <a:cs typeface="Calibri" pitchFamily="34" charset="-120"/>
              </a:rPr>
              <a:t>626M</a:t>
            </a:r>
            <a:endParaRPr lang="en-US" sz="4000" dirty="0"/>
          </a:p>
        </p:txBody>
      </p:sp>
      <p:sp>
        <p:nvSpPr>
          <p:cNvPr id="20" name="Text 16"/>
          <p:cNvSpPr txBox="1"/>
          <p:nvPr/>
        </p:nvSpPr>
        <p:spPr>
          <a:xfrm>
            <a:off x="5943600" y="2011680"/>
            <a:ext cx="2606040" cy="54864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trainable parameters for RAG — vs 11B for T5-11B, which it outperforms.</a:t>
            </a:r>
            <a:endParaRPr lang="en-US" sz="1100" dirty="0"/>
          </a:p>
        </p:txBody>
      </p:sp>
      <p:sp>
        <p:nvSpPr>
          <p:cNvPr id="21" name="Shape 17"/>
          <p:cNvSpPr/>
          <p:nvPr/>
        </p:nvSpPr>
        <p:spPr>
          <a:xfrm>
            <a:off x="5760720" y="2743200"/>
            <a:ext cx="2926080" cy="1280160"/>
          </a:xfrm>
          <a:prstGeom prst="roundRect">
            <a:avLst>
              <a:gd name="adj" fmla="val 5714"/>
            </a:avLst>
          </a:prstGeom>
          <a:solidFill>
            <a:srgbClr val="F4F7F5"/>
          </a:solidFill>
          <a:ln w="9525">
            <a:solidFill>
              <a:srgbClr val="D5DED9"/>
            </a:solidFill>
            <a:prstDash val="solid"/>
          </a:ln>
        </p:spPr>
      </p:sp>
      <p:sp>
        <p:nvSpPr>
          <p:cNvPr id="22" name="Text 18"/>
          <p:cNvSpPr txBox="1"/>
          <p:nvPr/>
        </p:nvSpPr>
        <p:spPr>
          <a:xfrm>
            <a:off x="5943600" y="2834640"/>
            <a:ext cx="2651760" cy="566928"/>
          </a:xfrm>
          <a:prstGeom prst="rect">
            <a:avLst/>
          </a:prstGeom>
          <a:noFill/>
          <a:ln/>
        </p:spPr>
        <p:txBody>
          <a:bodyPr wrap="square" lIns="0" tIns="0" rIns="0" bIns="0" rtlCol="0" anchor="ctr"/>
          <a:lstStyle/>
          <a:p>
            <a:pPr marL="0" indent="0">
              <a:buNone/>
            </a:pPr>
            <a:r>
              <a:rPr lang="en-US" sz="3200" b="1" dirty="0">
                <a:solidFill>
                  <a:srgbClr val="D49A00"/>
                </a:solidFill>
                <a:latin typeface="Calibri" pitchFamily="34" charset="0"/>
                <a:ea typeface="Calibri" pitchFamily="34" charset="-122"/>
                <a:cs typeface="Calibri" pitchFamily="34" charset="-120"/>
              </a:rPr>
              <a:t>42.7% vs 7.1%</a:t>
            </a:r>
            <a:endParaRPr lang="en-US" sz="3200" dirty="0"/>
          </a:p>
        </p:txBody>
      </p:sp>
      <p:sp>
        <p:nvSpPr>
          <p:cNvPr id="23" name="Text 19"/>
          <p:cNvSpPr txBox="1"/>
          <p:nvPr/>
        </p:nvSpPr>
        <p:spPr>
          <a:xfrm>
            <a:off x="5943600" y="3429000"/>
            <a:ext cx="2606040" cy="54864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Jeopardy generation: share of human judgments rating RAG vs BART as more factual.</a:t>
            </a:r>
            <a:endParaRPr lang="en-US" sz="1100" dirty="0"/>
          </a:p>
        </p:txBody>
      </p:sp>
      <p:sp>
        <p:nvSpPr>
          <p:cNvPr id="24" name="Text 20"/>
          <p:cNvSpPr txBox="1"/>
          <p:nvPr/>
        </p:nvSpPr>
        <p:spPr>
          <a:xfrm>
            <a:off x="5760720" y="4206240"/>
            <a:ext cx="2926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Lewis et al., NeurIPS 2020 (Tables 1 &amp; 4). SSM = salient span masking pre-training.</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EVIDENCE</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Lost in the Middle: position matters</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0E7C86"/>
          </a:solidFill>
          <a:ln w="12700">
            <a:solidFill>
              <a:srgbClr val="0E7C86"/>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graphicFrame>
        <p:nvGraphicFramePr>
          <p:cNvPr id="17" name="Chart 0"/>
          <p:cNvGraphicFramePr/>
          <p:nvPr/>
        </p:nvGraphicFramePr>
        <p:xfrm>
          <a:off x="365760" y="1280160"/>
          <a:ext cx="51206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4"/>
          <p:cNvSpPr txBox="1"/>
          <p:nvPr/>
        </p:nvSpPr>
        <p:spPr>
          <a:xfrm>
            <a:off x="457200" y="4590288"/>
            <a:ext cx="512064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Liu et al., “Lost in the Middle”, TACL 2024 (Table 6). Multi-document QA on NaturalQuestions-Open.</a:t>
            </a:r>
            <a:endParaRPr lang="en-US" sz="900" dirty="0"/>
          </a:p>
        </p:txBody>
      </p:sp>
      <p:sp>
        <p:nvSpPr>
          <p:cNvPr id="19" name="Shape 15"/>
          <p:cNvSpPr/>
          <p:nvPr/>
        </p:nvSpPr>
        <p:spPr>
          <a:xfrm>
            <a:off x="5760720" y="1325880"/>
            <a:ext cx="2926080" cy="1051560"/>
          </a:xfrm>
          <a:prstGeom prst="roundRect">
            <a:avLst>
              <a:gd name="adj" fmla="val 6957"/>
            </a:avLst>
          </a:prstGeom>
          <a:solidFill>
            <a:srgbClr val="F4F7F5"/>
          </a:solidFill>
          <a:ln w="9525">
            <a:solidFill>
              <a:srgbClr val="D5DED9"/>
            </a:solidFill>
            <a:prstDash val="solid"/>
          </a:ln>
        </p:spPr>
      </p:sp>
      <p:sp>
        <p:nvSpPr>
          <p:cNvPr id="20" name="Text 16"/>
          <p:cNvSpPr txBox="1"/>
          <p:nvPr/>
        </p:nvSpPr>
        <p:spPr>
          <a:xfrm>
            <a:off x="5943600" y="1371600"/>
            <a:ext cx="2651760" cy="530352"/>
          </a:xfrm>
          <a:prstGeom prst="rect">
            <a:avLst/>
          </a:prstGeom>
          <a:noFill/>
          <a:ln/>
        </p:spPr>
        <p:txBody>
          <a:bodyPr wrap="square" lIns="0" tIns="0" rIns="0" bIns="0" rtlCol="0" anchor="ctr"/>
          <a:lstStyle/>
          <a:p>
            <a:pPr marL="0" indent="0">
              <a:buNone/>
            </a:pPr>
            <a:r>
              <a:rPr lang="en-US" sz="3600" b="1" dirty="0">
                <a:solidFill>
                  <a:srgbClr val="B83B2E"/>
                </a:solidFill>
                <a:latin typeface="Calibri" pitchFamily="34" charset="0"/>
                <a:ea typeface="Calibri" pitchFamily="34" charset="-122"/>
                <a:cs typeface="Calibri" pitchFamily="34" charset="-120"/>
              </a:rPr>
              <a:t>−22 pts</a:t>
            </a:r>
            <a:endParaRPr lang="en-US" sz="3600" dirty="0"/>
          </a:p>
        </p:txBody>
      </p:sp>
      <p:sp>
        <p:nvSpPr>
          <p:cNvPr id="21" name="Text 17"/>
          <p:cNvSpPr txBox="1"/>
          <p:nvPr/>
        </p:nvSpPr>
        <p:spPr>
          <a:xfrm>
            <a:off x="5943600" y="1901952"/>
            <a:ext cx="2606040" cy="438912"/>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from 75.8% (answer first) to 53.8% (answer in the middle).</a:t>
            </a:r>
            <a:endParaRPr lang="en-US" sz="1100" dirty="0"/>
          </a:p>
        </p:txBody>
      </p:sp>
      <p:sp>
        <p:nvSpPr>
          <p:cNvPr id="22" name="Shape 18"/>
          <p:cNvSpPr/>
          <p:nvPr/>
        </p:nvSpPr>
        <p:spPr>
          <a:xfrm>
            <a:off x="5760720" y="2514600"/>
            <a:ext cx="2926080" cy="1051560"/>
          </a:xfrm>
          <a:prstGeom prst="roundRect">
            <a:avLst>
              <a:gd name="adj" fmla="val 6957"/>
            </a:avLst>
          </a:prstGeom>
          <a:solidFill>
            <a:srgbClr val="F4F7F5"/>
          </a:solidFill>
          <a:ln w="9525">
            <a:solidFill>
              <a:srgbClr val="D5DED9"/>
            </a:solidFill>
            <a:prstDash val="solid"/>
          </a:ln>
        </p:spPr>
      </p:sp>
      <p:sp>
        <p:nvSpPr>
          <p:cNvPr id="23" name="Text 19"/>
          <p:cNvSpPr txBox="1"/>
          <p:nvPr/>
        </p:nvSpPr>
        <p:spPr>
          <a:xfrm>
            <a:off x="5943600" y="2560320"/>
            <a:ext cx="2651760" cy="502920"/>
          </a:xfrm>
          <a:prstGeom prst="rect">
            <a:avLst/>
          </a:prstGeom>
          <a:noFill/>
          <a:ln/>
        </p:spPr>
        <p:txBody>
          <a:bodyPr wrap="square" lIns="0" tIns="0" rIns="0" bIns="0" rtlCol="0" anchor="ctr"/>
          <a:lstStyle/>
          <a:p>
            <a:pPr marL="0" indent="0">
              <a:buNone/>
            </a:pPr>
            <a:r>
              <a:rPr lang="en-US" sz="2800" b="1" dirty="0">
                <a:solidFill>
                  <a:srgbClr val="D49A00"/>
                </a:solidFill>
                <a:latin typeface="Calibri" pitchFamily="34" charset="0"/>
                <a:ea typeface="Calibri" pitchFamily="34" charset="-122"/>
                <a:cs typeface="Calibri" pitchFamily="34" charset="-120"/>
              </a:rPr>
              <a:t>Below baseline</a:t>
            </a:r>
            <a:endParaRPr lang="en-US" sz="2800" dirty="0"/>
          </a:p>
        </p:txBody>
      </p:sp>
      <p:sp>
        <p:nvSpPr>
          <p:cNvPr id="24" name="Text 20"/>
          <p:cNvSpPr txBox="1"/>
          <p:nvPr/>
        </p:nvSpPr>
        <p:spPr>
          <a:xfrm>
            <a:off x="5943600" y="3063240"/>
            <a:ext cx="2606040" cy="457200"/>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Mid-context, accuracy is worse than giving the model no documents at all (56.1%).</a:t>
            </a:r>
            <a:endParaRPr lang="en-US" sz="1100" dirty="0"/>
          </a:p>
        </p:txBody>
      </p:sp>
      <p:sp>
        <p:nvSpPr>
          <p:cNvPr id="25" name="Shape 21"/>
          <p:cNvSpPr/>
          <p:nvPr/>
        </p:nvSpPr>
        <p:spPr>
          <a:xfrm>
            <a:off x="5760720" y="3703320"/>
            <a:ext cx="2926080" cy="960120"/>
          </a:xfrm>
          <a:prstGeom prst="roundRect">
            <a:avLst>
              <a:gd name="adj" fmla="val 7619"/>
            </a:avLst>
          </a:prstGeom>
          <a:solidFill>
            <a:srgbClr val="E8F5EF"/>
          </a:solidFill>
          <a:ln w="15875">
            <a:solidFill>
              <a:srgbClr val="00A86A"/>
            </a:solidFill>
            <a:prstDash val="solid"/>
          </a:ln>
        </p:spPr>
      </p:sp>
      <p:sp>
        <p:nvSpPr>
          <p:cNvPr id="26" name="Text 22"/>
          <p:cNvSpPr txBox="1"/>
          <p:nvPr/>
        </p:nvSpPr>
        <p:spPr>
          <a:xfrm>
            <a:off x="5943600" y="3703320"/>
            <a:ext cx="2606040" cy="960120"/>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For RAG: </a:t>
            </a:r>
            <a:r>
              <a:rPr lang="en-US" sz="1200" dirty="0">
                <a:solidFill>
                  <a:srgbClr val="231F20"/>
                </a:solidFill>
                <a:latin typeface="Calibri" pitchFamily="34" charset="0"/>
                <a:ea typeface="Calibri" pitchFamily="34" charset="-122"/>
                <a:cs typeface="Calibri" pitchFamily="34" charset="-120"/>
              </a:rPr>
              <a:t>rerank so the best evidence comes first, and send fewer, better chunks.</a:t>
            </a:r>
            <a:endParaRPr lang="en-US" sz="12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EVIDENCE</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Contextual Retrieval: restoring lost context</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0E7C86"/>
          </a:solidFill>
          <a:ln w="12700">
            <a:solidFill>
              <a:srgbClr val="0E7C86"/>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graphicFrame>
        <p:nvGraphicFramePr>
          <p:cNvPr id="17" name="Chart 0"/>
          <p:cNvGraphicFramePr/>
          <p:nvPr/>
        </p:nvGraphicFramePr>
        <p:xfrm>
          <a:off x="365760" y="1280160"/>
          <a:ext cx="47548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4"/>
          <p:cNvSpPr txBox="1"/>
          <p:nvPr/>
        </p:nvSpPr>
        <p:spPr>
          <a:xfrm>
            <a:off x="457200" y="4572000"/>
            <a:ext cx="457200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Anthropic, “Introducing Contextual Retrieval”, September 2024.</a:t>
            </a:r>
            <a:endParaRPr lang="en-US" sz="900" dirty="0"/>
          </a:p>
        </p:txBody>
      </p:sp>
      <p:sp>
        <p:nvSpPr>
          <p:cNvPr id="19" name="Shape 15"/>
          <p:cNvSpPr/>
          <p:nvPr/>
        </p:nvSpPr>
        <p:spPr>
          <a:xfrm>
            <a:off x="5394960" y="1325880"/>
            <a:ext cx="3291840" cy="1463040"/>
          </a:xfrm>
          <a:prstGeom prst="roundRect">
            <a:avLst>
              <a:gd name="adj" fmla="val 5000"/>
            </a:avLst>
          </a:prstGeom>
          <a:solidFill>
            <a:srgbClr val="B83B2E">
              <a:alpha val="8000"/>
            </a:srgbClr>
          </a:solidFill>
          <a:ln w="9525">
            <a:solidFill>
              <a:srgbClr val="B83B2E"/>
            </a:solidFill>
            <a:prstDash val="solid"/>
          </a:ln>
        </p:spPr>
      </p:sp>
      <p:sp>
        <p:nvSpPr>
          <p:cNvPr id="20" name="Text 16"/>
          <p:cNvSpPr txBox="1"/>
          <p:nvPr/>
        </p:nvSpPr>
        <p:spPr>
          <a:xfrm>
            <a:off x="5577840" y="1399032"/>
            <a:ext cx="2926080" cy="256032"/>
          </a:xfrm>
          <a:prstGeom prst="rect">
            <a:avLst/>
          </a:prstGeom>
          <a:noFill/>
          <a:ln/>
        </p:spPr>
        <p:txBody>
          <a:bodyPr wrap="square" lIns="0" tIns="0" rIns="0" bIns="0" rtlCol="0" anchor="ctr"/>
          <a:lstStyle/>
          <a:p>
            <a:pPr marL="0" indent="0">
              <a:buNone/>
            </a:pPr>
            <a:r>
              <a:rPr lang="en-US" sz="1400" b="1" dirty="0">
                <a:solidFill>
                  <a:srgbClr val="B83B2E"/>
                </a:solidFill>
                <a:latin typeface="Calibri" pitchFamily="34" charset="0"/>
                <a:ea typeface="Calibri" pitchFamily="34" charset="-122"/>
                <a:cs typeface="Calibri" pitchFamily="34" charset="-120"/>
              </a:rPr>
              <a:t>The problem</a:t>
            </a:r>
            <a:endParaRPr lang="en-US" sz="1400" dirty="0"/>
          </a:p>
        </p:txBody>
      </p:sp>
      <p:sp>
        <p:nvSpPr>
          <p:cNvPr id="21" name="Text 17"/>
          <p:cNvSpPr txBox="1"/>
          <p:nvPr/>
        </p:nvSpPr>
        <p:spPr>
          <a:xfrm>
            <a:off x="5577840" y="1673352"/>
            <a:ext cx="2971800" cy="22860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Once split, a chunk loses who and when it refers to:</a:t>
            </a:r>
            <a:endParaRPr lang="en-US" sz="1100" dirty="0"/>
          </a:p>
        </p:txBody>
      </p:sp>
      <p:sp>
        <p:nvSpPr>
          <p:cNvPr id="22" name="Shape 18"/>
          <p:cNvSpPr/>
          <p:nvPr/>
        </p:nvSpPr>
        <p:spPr>
          <a:xfrm>
            <a:off x="5577840" y="1965960"/>
            <a:ext cx="2926080" cy="713232"/>
          </a:xfrm>
          <a:prstGeom prst="roundRect">
            <a:avLst>
              <a:gd name="adj" fmla="val 10256"/>
            </a:avLst>
          </a:prstGeom>
          <a:solidFill>
            <a:srgbClr val="FFFFFF"/>
          </a:solidFill>
          <a:ln w="9525">
            <a:solidFill>
              <a:srgbClr val="D5DED9"/>
            </a:solidFill>
            <a:prstDash val="solid"/>
          </a:ln>
        </p:spPr>
      </p:sp>
      <p:sp>
        <p:nvSpPr>
          <p:cNvPr id="23" name="Text 19"/>
          <p:cNvSpPr txBox="1"/>
          <p:nvPr/>
        </p:nvSpPr>
        <p:spPr>
          <a:xfrm>
            <a:off x="5669280" y="1965960"/>
            <a:ext cx="2788920" cy="713232"/>
          </a:xfrm>
          <a:prstGeom prst="rect">
            <a:avLst/>
          </a:prstGeom>
          <a:noFill/>
          <a:ln/>
        </p:spPr>
        <p:txBody>
          <a:bodyPr wrap="square" lIns="0" tIns="0" rIns="0" bIns="0" rtlCol="0" anchor="ctr"/>
          <a:lstStyle/>
          <a:p>
            <a:pPr marL="0" indent="0">
              <a:spcAft>
                <a:spcPts val="300"/>
              </a:spcAft>
              <a:buNone/>
            </a:pPr>
            <a:r>
              <a:rPr lang="en-US" sz="1000" b="1" dirty="0">
                <a:solidFill>
                  <a:srgbClr val="B83B2E"/>
                </a:solidFill>
                <a:latin typeface="Calibri" pitchFamily="34" charset="0"/>
                <a:ea typeface="Calibri" pitchFamily="34" charset="-122"/>
                <a:cs typeface="Calibri" pitchFamily="34" charset="-120"/>
              </a:rPr>
              <a:t>Before: </a:t>
            </a:r>
            <a:r>
              <a:rPr lang="en-US" sz="1000" dirty="0">
                <a:solidFill>
                  <a:srgbClr val="231F20"/>
                </a:solidFill>
                <a:latin typeface="Calibri" pitchFamily="34" charset="0"/>
                <a:ea typeface="Calibri" pitchFamily="34" charset="-122"/>
                <a:cs typeface="Calibri" pitchFamily="34" charset="-120"/>
              </a:rPr>
              <a:t>“Revenue grew by 3% over the previous quarter.”</a:t>
            </a:r>
            <a:endParaRPr lang="en-US" sz="1000" dirty="0"/>
          </a:p>
          <a:p>
            <a:pPr marL="0" indent="0">
              <a:spcAft>
                <a:spcPts val="300"/>
              </a:spcAft>
              <a:buNone/>
            </a:pPr>
            <a:r>
              <a:rPr lang="en-US" sz="1000" b="1" dirty="0">
                <a:solidFill>
                  <a:srgbClr val="00704A"/>
                </a:solidFill>
                <a:latin typeface="Calibri" pitchFamily="34" charset="0"/>
                <a:ea typeface="Calibri" pitchFamily="34" charset="-122"/>
                <a:cs typeface="Calibri" pitchFamily="34" charset="-120"/>
              </a:rPr>
              <a:t>After: </a:t>
            </a:r>
            <a:r>
              <a:rPr lang="en-US" sz="1000" dirty="0">
                <a:solidFill>
                  <a:srgbClr val="231F20"/>
                </a:solidFill>
                <a:latin typeface="Calibri" pitchFamily="34" charset="0"/>
                <a:ea typeface="Calibri" pitchFamily="34" charset="-122"/>
                <a:cs typeface="Calibri" pitchFamily="34" charset="-120"/>
              </a:rPr>
              <a:t>“[ACME Corp, Q2 filing] Revenue grew by 3%…”</a:t>
            </a:r>
            <a:endParaRPr lang="en-US" sz="1000" dirty="0"/>
          </a:p>
        </p:txBody>
      </p:sp>
      <p:sp>
        <p:nvSpPr>
          <p:cNvPr id="24" name="Shape 20"/>
          <p:cNvSpPr/>
          <p:nvPr/>
        </p:nvSpPr>
        <p:spPr>
          <a:xfrm>
            <a:off x="5394960" y="2926080"/>
            <a:ext cx="3291840" cy="1737360"/>
          </a:xfrm>
          <a:prstGeom prst="roundRect">
            <a:avLst>
              <a:gd name="adj" fmla="val 4211"/>
            </a:avLst>
          </a:prstGeom>
          <a:solidFill>
            <a:srgbClr val="E8F5EF"/>
          </a:solidFill>
          <a:ln w="15875">
            <a:solidFill>
              <a:srgbClr val="00A86A"/>
            </a:solidFill>
            <a:prstDash val="solid"/>
          </a:ln>
        </p:spPr>
      </p:sp>
      <p:sp>
        <p:nvSpPr>
          <p:cNvPr id="25" name="Text 21"/>
          <p:cNvSpPr txBox="1"/>
          <p:nvPr/>
        </p:nvSpPr>
        <p:spPr>
          <a:xfrm>
            <a:off x="5577840" y="2999232"/>
            <a:ext cx="2926080" cy="25603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The fix</a:t>
            </a:r>
            <a:endParaRPr lang="en-US" sz="1400" dirty="0"/>
          </a:p>
        </p:txBody>
      </p:sp>
      <p:sp>
        <p:nvSpPr>
          <p:cNvPr id="26" name="Text 22"/>
          <p:cNvSpPr txBox="1"/>
          <p:nvPr/>
        </p:nvSpPr>
        <p:spPr>
          <a:xfrm>
            <a:off x="5577840" y="3291840"/>
            <a:ext cx="2971800" cy="77724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An LLM writes a short context (≈50–100 tokens) situating each chunk within its document, prepended before embedding and BM25 indexing.</a:t>
            </a:r>
            <a:endParaRPr lang="en-US" sz="1100" dirty="0"/>
          </a:p>
        </p:txBody>
      </p:sp>
      <p:sp>
        <p:nvSpPr>
          <p:cNvPr id="27" name="Text 23"/>
          <p:cNvSpPr txBox="1"/>
          <p:nvPr/>
        </p:nvSpPr>
        <p:spPr>
          <a:xfrm>
            <a:off x="5577840" y="4160520"/>
            <a:ext cx="3017520" cy="365760"/>
          </a:xfrm>
          <a:prstGeom prst="rect">
            <a:avLst/>
          </a:prstGeom>
          <a:noFill/>
          <a:ln/>
        </p:spPr>
        <p:txBody>
          <a:bodyPr wrap="square" lIns="0" tIns="0" rIns="0" bIns="0" rtlCol="0" anchor="ctr"/>
          <a:lstStyle/>
          <a:p>
            <a:pPr marL="0" indent="0">
              <a:buNone/>
            </a:pPr>
            <a:r>
              <a:rPr lang="en-US" sz="1800" b="1" dirty="0">
                <a:solidFill>
                  <a:srgbClr val="00704A"/>
                </a:solidFill>
                <a:latin typeface="Calibri" pitchFamily="34" charset="0"/>
                <a:ea typeface="Calibri" pitchFamily="34" charset="-122"/>
                <a:cs typeface="Calibri" pitchFamily="34" charset="-120"/>
              </a:rPr>
              <a:t>−49% </a:t>
            </a:r>
            <a:r>
              <a:rPr lang="en-US" sz="1100" dirty="0">
                <a:solidFill>
                  <a:srgbClr val="5E6964"/>
                </a:solidFill>
                <a:latin typeface="Calibri" pitchFamily="34" charset="0"/>
                <a:ea typeface="Calibri" pitchFamily="34" charset="-122"/>
                <a:cs typeface="Calibri" pitchFamily="34" charset="-120"/>
              </a:rPr>
              <a:t>failures  ·  </a:t>
            </a:r>
            <a:r>
              <a:rPr lang="en-US" sz="1800" b="1" dirty="0">
                <a:solidFill>
                  <a:srgbClr val="00704A"/>
                </a:solidFill>
                <a:latin typeface="Calibri" pitchFamily="34" charset="0"/>
                <a:ea typeface="Calibri" pitchFamily="34" charset="-122"/>
                <a:cs typeface="Calibri" pitchFamily="34" charset="-120"/>
              </a:rPr>
              <a:t>−67% </a:t>
            </a:r>
            <a:r>
              <a:rPr lang="en-US" sz="1100" dirty="0">
                <a:solidFill>
                  <a:srgbClr val="5E6964"/>
                </a:solidFill>
                <a:latin typeface="Calibri" pitchFamily="34" charset="0"/>
                <a:ea typeface="Calibri" pitchFamily="34" charset="-122"/>
                <a:cs typeface="Calibri" pitchFamily="34" charset="-120"/>
              </a:rPr>
              <a:t>with reranking</a:t>
            </a:r>
            <a:endParaRPr lang="en-US" sz="11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04</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Evolution of RAG</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How has the idea of RAG matured since 2017?</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5C242"/>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icPr>
            <a:picLocks noChangeAspect="1"/>
          </p:cNvPicPr>
          <p:nvPr/>
        </p:nvPicPr>
        <p:blipFill>
          <a:blip r:embed="rId4"/>
          <a:stretch>
            <a:fillRect/>
          </a:stretch>
        </p:blipFill>
        <p:spPr>
          <a:xfrm>
            <a:off x="6777533" y="2205533"/>
            <a:ext cx="618134" cy="618134"/>
          </a:xfrm>
          <a:prstGeom prst="rect">
            <a:avLst/>
          </a:prstGeom>
        </p:spPr>
      </p:pic>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EVOLUTION OF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How the RAG concept has progressed</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7" name="Shape 14"/>
          <p:cNvSpPr/>
          <p:nvPr/>
        </p:nvSpPr>
        <p:spPr>
          <a:xfrm>
            <a:off x="457200" y="2834640"/>
            <a:ext cx="1097280" cy="1828800"/>
          </a:xfrm>
          <a:prstGeom prst="roundRect">
            <a:avLst>
              <a:gd name="adj" fmla="val 6667"/>
            </a:avLst>
          </a:prstGeom>
          <a:solidFill>
            <a:srgbClr val="F4F7F5"/>
          </a:solidFill>
          <a:ln w="9525">
            <a:solidFill>
              <a:srgbClr val="D5DED9"/>
            </a:solidFill>
            <a:prstDash val="solid"/>
          </a:ln>
        </p:spPr>
      </p:sp>
      <p:sp>
        <p:nvSpPr>
          <p:cNvPr id="18" name="Text 15"/>
          <p:cNvSpPr txBox="1"/>
          <p:nvPr/>
        </p:nvSpPr>
        <p:spPr>
          <a:xfrm>
            <a:off x="548640" y="2926080"/>
            <a:ext cx="914400" cy="274320"/>
          </a:xfrm>
          <a:prstGeom prst="rect">
            <a:avLst/>
          </a:prstGeom>
          <a:noFill/>
          <a:ln/>
        </p:spPr>
        <p:txBody>
          <a:bodyPr wrap="square" lIns="0" tIns="0" rIns="0" bIns="0" rtlCol="0" anchor="ctr"/>
          <a:lstStyle/>
          <a:p>
            <a:pPr marL="0" indent="0">
              <a:buNone/>
            </a:pPr>
            <a:r>
              <a:rPr lang="en-US" sz="1500" b="1" dirty="0">
                <a:solidFill>
                  <a:srgbClr val="7F8C87"/>
                </a:solidFill>
                <a:latin typeface="Calibri" pitchFamily="34" charset="0"/>
                <a:ea typeface="Calibri" pitchFamily="34" charset="-122"/>
                <a:cs typeface="Calibri" pitchFamily="34" charset="-120"/>
              </a:rPr>
              <a:t>2017–19</a:t>
            </a:r>
            <a:endParaRPr lang="en-US" sz="1500" dirty="0"/>
          </a:p>
        </p:txBody>
      </p:sp>
      <p:sp>
        <p:nvSpPr>
          <p:cNvPr id="19" name="Text 16"/>
          <p:cNvSpPr txBox="1"/>
          <p:nvPr/>
        </p:nvSpPr>
        <p:spPr>
          <a:xfrm>
            <a:off x="548640" y="3218688"/>
            <a:ext cx="914400" cy="4572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Retrieve, then read</a:t>
            </a:r>
            <a:endParaRPr lang="en-US" sz="1150" dirty="0"/>
          </a:p>
        </p:txBody>
      </p:sp>
      <p:sp>
        <p:nvSpPr>
          <p:cNvPr id="20" name="Text 17"/>
          <p:cNvSpPr txBox="1"/>
          <p:nvPr/>
        </p:nvSpPr>
        <p:spPr>
          <a:xfrm>
            <a:off x="548640" y="3703320"/>
            <a:ext cx="914400" cy="68580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search engine feeds an extractive reader.</a:t>
            </a:r>
            <a:endParaRPr lang="en-US" sz="950" dirty="0"/>
          </a:p>
        </p:txBody>
      </p:sp>
      <p:sp>
        <p:nvSpPr>
          <p:cNvPr id="21" name="Text 18"/>
          <p:cNvSpPr txBox="1"/>
          <p:nvPr/>
        </p:nvSpPr>
        <p:spPr>
          <a:xfrm>
            <a:off x="548640" y="4114800"/>
            <a:ext cx="914400" cy="475488"/>
          </a:xfrm>
          <a:prstGeom prst="rect">
            <a:avLst/>
          </a:prstGeom>
          <a:noFill/>
          <a:ln/>
        </p:spPr>
        <p:txBody>
          <a:bodyPr wrap="square" lIns="0" tIns="0" rIns="0" bIns="0" rtlCol="0" anchor="b"/>
          <a:lstStyle/>
          <a:p>
            <a:pPr marL="0" indent="0">
              <a:buNone/>
            </a:pPr>
            <a:r>
              <a:rPr lang="en-US" sz="850" b="1" dirty="0">
                <a:solidFill>
                  <a:srgbClr val="00704A"/>
                </a:solidFill>
                <a:latin typeface="Calibri" pitchFamily="34" charset="0"/>
                <a:ea typeface="Calibri" pitchFamily="34" charset="-122"/>
                <a:cs typeface="Calibri" pitchFamily="34" charset="-120"/>
              </a:rPr>
              <a:t>DrQA · ORQA</a:t>
            </a:r>
            <a:endParaRPr lang="en-US" sz="850" dirty="0"/>
          </a:p>
        </p:txBody>
      </p:sp>
      <p:sp>
        <p:nvSpPr>
          <p:cNvPr id="22" name="Shape 19"/>
          <p:cNvSpPr/>
          <p:nvPr/>
        </p:nvSpPr>
        <p:spPr>
          <a:xfrm>
            <a:off x="1645920" y="2615184"/>
            <a:ext cx="1097280" cy="2048256"/>
          </a:xfrm>
          <a:prstGeom prst="roundRect">
            <a:avLst>
              <a:gd name="adj" fmla="val 6667"/>
            </a:avLst>
          </a:prstGeom>
          <a:solidFill>
            <a:srgbClr val="F4F7F5"/>
          </a:solidFill>
          <a:ln w="9525">
            <a:solidFill>
              <a:srgbClr val="D5DED9"/>
            </a:solidFill>
            <a:prstDash val="solid"/>
          </a:ln>
        </p:spPr>
      </p:sp>
      <p:sp>
        <p:nvSpPr>
          <p:cNvPr id="23" name="Text 20"/>
          <p:cNvSpPr txBox="1"/>
          <p:nvPr/>
        </p:nvSpPr>
        <p:spPr>
          <a:xfrm>
            <a:off x="1737360" y="2706624"/>
            <a:ext cx="914400" cy="274320"/>
          </a:xfrm>
          <a:prstGeom prst="rect">
            <a:avLst/>
          </a:prstGeom>
          <a:noFill/>
          <a:ln/>
        </p:spPr>
        <p:txBody>
          <a:bodyPr wrap="square" lIns="0" tIns="0" rIns="0" bIns="0" rtlCol="0" anchor="ctr"/>
          <a:lstStyle/>
          <a:p>
            <a:pPr marL="0" indent="0">
              <a:buNone/>
            </a:pPr>
            <a:r>
              <a:rPr lang="en-US" sz="1500" b="1" dirty="0">
                <a:solidFill>
                  <a:srgbClr val="57BD92"/>
                </a:solidFill>
                <a:latin typeface="Calibri" pitchFamily="34" charset="0"/>
                <a:ea typeface="Calibri" pitchFamily="34" charset="-122"/>
                <a:cs typeface="Calibri" pitchFamily="34" charset="-120"/>
              </a:rPr>
              <a:t>2020</a:t>
            </a:r>
            <a:endParaRPr lang="en-US" sz="1500" dirty="0"/>
          </a:p>
        </p:txBody>
      </p:sp>
      <p:sp>
        <p:nvSpPr>
          <p:cNvPr id="24" name="Text 21"/>
          <p:cNvSpPr txBox="1"/>
          <p:nvPr/>
        </p:nvSpPr>
        <p:spPr>
          <a:xfrm>
            <a:off x="1737360" y="2999232"/>
            <a:ext cx="914400" cy="4572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Trained end to end</a:t>
            </a:r>
            <a:endParaRPr lang="en-US" sz="1150" dirty="0"/>
          </a:p>
        </p:txBody>
      </p:sp>
      <p:sp>
        <p:nvSpPr>
          <p:cNvPr id="25" name="Text 22"/>
          <p:cNvSpPr txBox="1"/>
          <p:nvPr/>
        </p:nvSpPr>
        <p:spPr>
          <a:xfrm>
            <a:off x="1737360" y="3483864"/>
            <a:ext cx="914400" cy="68580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Retriever and generator learn together.</a:t>
            </a:r>
            <a:endParaRPr lang="en-US" sz="950" dirty="0"/>
          </a:p>
        </p:txBody>
      </p:sp>
      <p:sp>
        <p:nvSpPr>
          <p:cNvPr id="26" name="Text 23"/>
          <p:cNvSpPr txBox="1"/>
          <p:nvPr/>
        </p:nvSpPr>
        <p:spPr>
          <a:xfrm>
            <a:off x="1737360" y="4114800"/>
            <a:ext cx="914400" cy="475488"/>
          </a:xfrm>
          <a:prstGeom prst="rect">
            <a:avLst/>
          </a:prstGeom>
          <a:noFill/>
          <a:ln/>
        </p:spPr>
        <p:txBody>
          <a:bodyPr wrap="square" lIns="0" tIns="0" rIns="0" bIns="0" rtlCol="0" anchor="b"/>
          <a:lstStyle/>
          <a:p>
            <a:pPr marL="0" indent="0">
              <a:buNone/>
            </a:pPr>
            <a:r>
              <a:rPr lang="en-US" sz="850" b="1" dirty="0">
                <a:solidFill>
                  <a:srgbClr val="00704A"/>
                </a:solidFill>
                <a:latin typeface="Calibri" pitchFamily="34" charset="0"/>
                <a:ea typeface="Calibri" pitchFamily="34" charset="-122"/>
                <a:cs typeface="Calibri" pitchFamily="34" charset="-120"/>
              </a:rPr>
              <a:t>REALM · DPR · RAG · FiD</a:t>
            </a:r>
            <a:endParaRPr lang="en-US" sz="850" dirty="0"/>
          </a:p>
        </p:txBody>
      </p:sp>
      <p:sp>
        <p:nvSpPr>
          <p:cNvPr id="27" name="Shape 24"/>
          <p:cNvSpPr/>
          <p:nvPr/>
        </p:nvSpPr>
        <p:spPr>
          <a:xfrm>
            <a:off x="2834640" y="2395728"/>
            <a:ext cx="1097280" cy="2267712"/>
          </a:xfrm>
          <a:prstGeom prst="roundRect">
            <a:avLst>
              <a:gd name="adj" fmla="val 6667"/>
            </a:avLst>
          </a:prstGeom>
          <a:solidFill>
            <a:srgbClr val="F4F7F5"/>
          </a:solidFill>
          <a:ln w="9525">
            <a:solidFill>
              <a:srgbClr val="D5DED9"/>
            </a:solidFill>
            <a:prstDash val="solid"/>
          </a:ln>
        </p:spPr>
      </p:sp>
      <p:sp>
        <p:nvSpPr>
          <p:cNvPr id="28" name="Text 25"/>
          <p:cNvSpPr txBox="1"/>
          <p:nvPr/>
        </p:nvSpPr>
        <p:spPr>
          <a:xfrm>
            <a:off x="2926080" y="2487168"/>
            <a:ext cx="914400" cy="274320"/>
          </a:xfrm>
          <a:prstGeom prst="rect">
            <a:avLst/>
          </a:prstGeom>
          <a:noFill/>
          <a:ln/>
        </p:spPr>
        <p:txBody>
          <a:bodyPr wrap="square" lIns="0" tIns="0" rIns="0" bIns="0" rtlCol="0" anchor="ctr"/>
          <a:lstStyle/>
          <a:p>
            <a:pPr marL="0" indent="0">
              <a:buNone/>
            </a:pPr>
            <a:r>
              <a:rPr lang="en-US" sz="1500" b="1" dirty="0">
                <a:solidFill>
                  <a:srgbClr val="33AF7C"/>
                </a:solidFill>
                <a:latin typeface="Calibri" pitchFamily="34" charset="0"/>
                <a:ea typeface="Calibri" pitchFamily="34" charset="-122"/>
                <a:cs typeface="Calibri" pitchFamily="34" charset="-120"/>
              </a:rPr>
              <a:t>2021–22</a:t>
            </a:r>
            <a:endParaRPr lang="en-US" sz="1500" dirty="0"/>
          </a:p>
        </p:txBody>
      </p:sp>
      <p:sp>
        <p:nvSpPr>
          <p:cNvPr id="29" name="Text 26"/>
          <p:cNvSpPr txBox="1"/>
          <p:nvPr/>
        </p:nvSpPr>
        <p:spPr>
          <a:xfrm>
            <a:off x="2926080" y="2779776"/>
            <a:ext cx="914400" cy="4572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Retrieval at scale</a:t>
            </a:r>
            <a:endParaRPr lang="en-US" sz="1150" dirty="0"/>
          </a:p>
        </p:txBody>
      </p:sp>
      <p:sp>
        <p:nvSpPr>
          <p:cNvPr id="30" name="Text 27"/>
          <p:cNvSpPr txBox="1"/>
          <p:nvPr/>
        </p:nvSpPr>
        <p:spPr>
          <a:xfrm>
            <a:off x="2926080" y="3264408"/>
            <a:ext cx="914400" cy="68580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Retrieval built into large language models.</a:t>
            </a:r>
            <a:endParaRPr lang="en-US" sz="950" dirty="0"/>
          </a:p>
        </p:txBody>
      </p:sp>
      <p:sp>
        <p:nvSpPr>
          <p:cNvPr id="31" name="Text 28"/>
          <p:cNvSpPr txBox="1"/>
          <p:nvPr/>
        </p:nvSpPr>
        <p:spPr>
          <a:xfrm>
            <a:off x="2926080" y="4114800"/>
            <a:ext cx="914400" cy="475488"/>
          </a:xfrm>
          <a:prstGeom prst="rect">
            <a:avLst/>
          </a:prstGeom>
          <a:noFill/>
          <a:ln/>
        </p:spPr>
        <p:txBody>
          <a:bodyPr wrap="square" lIns="0" tIns="0" rIns="0" bIns="0" rtlCol="0" anchor="b"/>
          <a:lstStyle/>
          <a:p>
            <a:pPr marL="0" indent="0">
              <a:buNone/>
            </a:pPr>
            <a:r>
              <a:rPr lang="en-US" sz="850" b="1" dirty="0">
                <a:solidFill>
                  <a:srgbClr val="00704A"/>
                </a:solidFill>
                <a:latin typeface="Calibri" pitchFamily="34" charset="0"/>
                <a:ea typeface="Calibri" pitchFamily="34" charset="-122"/>
                <a:cs typeface="Calibri" pitchFamily="34" charset="-120"/>
              </a:rPr>
              <a:t>RETRO (2T tokens) · Atlas</a:t>
            </a:r>
            <a:endParaRPr lang="en-US" sz="850" dirty="0"/>
          </a:p>
        </p:txBody>
      </p:sp>
      <p:sp>
        <p:nvSpPr>
          <p:cNvPr id="32" name="Shape 29"/>
          <p:cNvSpPr/>
          <p:nvPr/>
        </p:nvSpPr>
        <p:spPr>
          <a:xfrm>
            <a:off x="4023360" y="2176272"/>
            <a:ext cx="1097280" cy="2487168"/>
          </a:xfrm>
          <a:prstGeom prst="roundRect">
            <a:avLst>
              <a:gd name="adj" fmla="val 6667"/>
            </a:avLst>
          </a:prstGeom>
          <a:solidFill>
            <a:srgbClr val="F4F7F5"/>
          </a:solidFill>
          <a:ln w="9525">
            <a:solidFill>
              <a:srgbClr val="D5DED9"/>
            </a:solidFill>
            <a:prstDash val="solid"/>
          </a:ln>
        </p:spPr>
      </p:sp>
      <p:sp>
        <p:nvSpPr>
          <p:cNvPr id="33" name="Text 30"/>
          <p:cNvSpPr txBox="1"/>
          <p:nvPr/>
        </p:nvSpPr>
        <p:spPr>
          <a:xfrm>
            <a:off x="4114800" y="2267712"/>
            <a:ext cx="914400" cy="274320"/>
          </a:xfrm>
          <a:prstGeom prst="rect">
            <a:avLst/>
          </a:prstGeom>
          <a:noFill/>
          <a:ln/>
        </p:spPr>
        <p:txBody>
          <a:bodyPr wrap="square" lIns="0" tIns="0" rIns="0" bIns="0" rtlCol="0" anchor="ctr"/>
          <a:lstStyle/>
          <a:p>
            <a:pPr marL="0" indent="0">
              <a:buNone/>
            </a:pPr>
            <a:r>
              <a:rPr lang="en-US" sz="1500" b="1" dirty="0">
                <a:solidFill>
                  <a:srgbClr val="10A06A"/>
                </a:solidFill>
                <a:latin typeface="Calibri" pitchFamily="34" charset="0"/>
                <a:ea typeface="Calibri" pitchFamily="34" charset="-122"/>
                <a:cs typeface="Calibri" pitchFamily="34" charset="-120"/>
              </a:rPr>
              <a:t>2023</a:t>
            </a:r>
            <a:endParaRPr lang="en-US" sz="1500" dirty="0"/>
          </a:p>
        </p:txBody>
      </p:sp>
      <p:sp>
        <p:nvSpPr>
          <p:cNvPr id="34" name="Text 31"/>
          <p:cNvSpPr txBox="1"/>
          <p:nvPr/>
        </p:nvSpPr>
        <p:spPr>
          <a:xfrm>
            <a:off x="4114800" y="2560320"/>
            <a:ext cx="914400" cy="4572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RAG for any LLM</a:t>
            </a:r>
            <a:endParaRPr lang="en-US" sz="1150" dirty="0"/>
          </a:p>
        </p:txBody>
      </p:sp>
      <p:sp>
        <p:nvSpPr>
          <p:cNvPr id="35" name="Text 32"/>
          <p:cNvSpPr txBox="1"/>
          <p:nvPr/>
        </p:nvSpPr>
        <p:spPr>
          <a:xfrm>
            <a:off x="4114800" y="3044952"/>
            <a:ext cx="914400" cy="68580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Frozen, black-box LLMs; retrieval goes into the prompt.</a:t>
            </a:r>
            <a:endParaRPr lang="en-US" sz="950" dirty="0"/>
          </a:p>
        </p:txBody>
      </p:sp>
      <p:sp>
        <p:nvSpPr>
          <p:cNvPr id="36" name="Text 33"/>
          <p:cNvSpPr txBox="1"/>
          <p:nvPr/>
        </p:nvSpPr>
        <p:spPr>
          <a:xfrm>
            <a:off x="4114800" y="4114800"/>
            <a:ext cx="914400" cy="475488"/>
          </a:xfrm>
          <a:prstGeom prst="rect">
            <a:avLst/>
          </a:prstGeom>
          <a:noFill/>
          <a:ln/>
        </p:spPr>
        <p:txBody>
          <a:bodyPr wrap="square" lIns="0" tIns="0" rIns="0" bIns="0" rtlCol="0" anchor="b"/>
          <a:lstStyle/>
          <a:p>
            <a:pPr marL="0" indent="0">
              <a:buNone/>
            </a:pPr>
            <a:r>
              <a:rPr lang="en-US" sz="850" b="1" dirty="0">
                <a:solidFill>
                  <a:srgbClr val="00704A"/>
                </a:solidFill>
                <a:latin typeface="Calibri" pitchFamily="34" charset="0"/>
                <a:ea typeface="Calibri" pitchFamily="34" charset="-122"/>
                <a:cs typeface="Calibri" pitchFamily="34" charset="-120"/>
              </a:rPr>
              <a:t>In-Context RALM · REPLUG</a:t>
            </a:r>
            <a:endParaRPr lang="en-US" sz="850" dirty="0"/>
          </a:p>
        </p:txBody>
      </p:sp>
      <p:sp>
        <p:nvSpPr>
          <p:cNvPr id="37" name="Shape 34"/>
          <p:cNvSpPr/>
          <p:nvPr/>
        </p:nvSpPr>
        <p:spPr>
          <a:xfrm>
            <a:off x="5212080" y="1956816"/>
            <a:ext cx="1097280" cy="2706624"/>
          </a:xfrm>
          <a:prstGeom prst="roundRect">
            <a:avLst>
              <a:gd name="adj" fmla="val 6667"/>
            </a:avLst>
          </a:prstGeom>
          <a:solidFill>
            <a:srgbClr val="F4F7F5"/>
          </a:solidFill>
          <a:ln w="9525">
            <a:solidFill>
              <a:srgbClr val="D5DED9"/>
            </a:solidFill>
            <a:prstDash val="solid"/>
          </a:ln>
        </p:spPr>
      </p:sp>
      <p:sp>
        <p:nvSpPr>
          <p:cNvPr id="38" name="Text 35"/>
          <p:cNvSpPr txBox="1"/>
          <p:nvPr/>
        </p:nvSpPr>
        <p:spPr>
          <a:xfrm>
            <a:off x="5303520" y="2048256"/>
            <a:ext cx="914400" cy="274320"/>
          </a:xfrm>
          <a:prstGeom prst="rect">
            <a:avLst/>
          </a:prstGeom>
          <a:noFill/>
          <a:ln/>
        </p:spPr>
        <p:txBody>
          <a:bodyPr wrap="square" lIns="0" tIns="0" rIns="0" bIns="0" rtlCol="0" anchor="ctr"/>
          <a:lstStyle/>
          <a:p>
            <a:pPr marL="0" indent="0">
              <a:buNone/>
            </a:pPr>
            <a:r>
              <a:rPr lang="en-US" sz="1500" b="1" dirty="0">
                <a:solidFill>
                  <a:srgbClr val="008A5B"/>
                </a:solidFill>
                <a:latin typeface="Calibri" pitchFamily="34" charset="0"/>
                <a:ea typeface="Calibri" pitchFamily="34" charset="-122"/>
                <a:cs typeface="Calibri" pitchFamily="34" charset="-120"/>
              </a:rPr>
              <a:t>2023–24</a:t>
            </a:r>
            <a:endParaRPr lang="en-US" sz="1500" dirty="0"/>
          </a:p>
        </p:txBody>
      </p:sp>
      <p:sp>
        <p:nvSpPr>
          <p:cNvPr id="39" name="Text 36"/>
          <p:cNvSpPr txBox="1"/>
          <p:nvPr/>
        </p:nvSpPr>
        <p:spPr>
          <a:xfrm>
            <a:off x="5303520" y="2340864"/>
            <a:ext cx="914400" cy="4572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Adaptive &amp; self-correcting</a:t>
            </a:r>
            <a:endParaRPr lang="en-US" sz="1150" dirty="0"/>
          </a:p>
        </p:txBody>
      </p:sp>
      <p:sp>
        <p:nvSpPr>
          <p:cNvPr id="40" name="Text 37"/>
          <p:cNvSpPr txBox="1"/>
          <p:nvPr/>
        </p:nvSpPr>
        <p:spPr>
          <a:xfrm>
            <a:off x="5303520" y="2825496"/>
            <a:ext cx="914400" cy="68580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Retrieve when needed, check and fix results.</a:t>
            </a:r>
            <a:endParaRPr lang="en-US" sz="950" dirty="0"/>
          </a:p>
        </p:txBody>
      </p:sp>
      <p:sp>
        <p:nvSpPr>
          <p:cNvPr id="41" name="Text 38"/>
          <p:cNvSpPr txBox="1"/>
          <p:nvPr/>
        </p:nvSpPr>
        <p:spPr>
          <a:xfrm>
            <a:off x="5303520" y="4114800"/>
            <a:ext cx="914400" cy="475488"/>
          </a:xfrm>
          <a:prstGeom prst="rect">
            <a:avLst/>
          </a:prstGeom>
          <a:noFill/>
          <a:ln/>
        </p:spPr>
        <p:txBody>
          <a:bodyPr wrap="square" lIns="0" tIns="0" rIns="0" bIns="0" rtlCol="0" anchor="b"/>
          <a:lstStyle/>
          <a:p>
            <a:pPr marL="0" indent="0">
              <a:buNone/>
            </a:pPr>
            <a:r>
              <a:rPr lang="en-US" sz="850" b="1" dirty="0">
                <a:solidFill>
                  <a:srgbClr val="00704A"/>
                </a:solidFill>
                <a:latin typeface="Calibri" pitchFamily="34" charset="0"/>
                <a:ea typeface="Calibri" pitchFamily="34" charset="-122"/>
                <a:cs typeface="Calibri" pitchFamily="34" charset="-120"/>
              </a:rPr>
              <a:t>FLARE · IRCoT · Self-RAG · CRAG · Adaptive-RAG</a:t>
            </a:r>
            <a:endParaRPr lang="en-US" sz="850" dirty="0"/>
          </a:p>
        </p:txBody>
      </p:sp>
      <p:sp>
        <p:nvSpPr>
          <p:cNvPr id="42" name="Shape 39"/>
          <p:cNvSpPr/>
          <p:nvPr/>
        </p:nvSpPr>
        <p:spPr>
          <a:xfrm>
            <a:off x="6400800" y="1737360"/>
            <a:ext cx="1097280" cy="2926080"/>
          </a:xfrm>
          <a:prstGeom prst="roundRect">
            <a:avLst>
              <a:gd name="adj" fmla="val 6667"/>
            </a:avLst>
          </a:prstGeom>
          <a:solidFill>
            <a:srgbClr val="F4F7F5"/>
          </a:solidFill>
          <a:ln w="9525">
            <a:solidFill>
              <a:srgbClr val="D5DED9"/>
            </a:solidFill>
            <a:prstDash val="solid"/>
          </a:ln>
        </p:spPr>
      </p:sp>
      <p:sp>
        <p:nvSpPr>
          <p:cNvPr id="43" name="Text 40"/>
          <p:cNvSpPr txBox="1"/>
          <p:nvPr/>
        </p:nvSpPr>
        <p:spPr>
          <a:xfrm>
            <a:off x="6492240" y="1828800"/>
            <a:ext cx="914400" cy="274320"/>
          </a:xfrm>
          <a:prstGeom prst="rect">
            <a:avLst/>
          </a:prstGeom>
          <a:noFill/>
          <a:ln/>
        </p:spPr>
        <p:txBody>
          <a:bodyPr wrap="square" lIns="0" tIns="0" rIns="0" bIns="0" rtlCol="0" anchor="ctr"/>
          <a:lstStyle/>
          <a:p>
            <a:pPr marL="0" indent="0">
              <a:buNone/>
            </a:pPr>
            <a:r>
              <a:rPr lang="en-US" sz="1500" b="1" dirty="0">
                <a:solidFill>
                  <a:srgbClr val="00664A"/>
                </a:solidFill>
                <a:latin typeface="Calibri" pitchFamily="34" charset="0"/>
                <a:ea typeface="Calibri" pitchFamily="34" charset="-122"/>
                <a:cs typeface="Calibri" pitchFamily="34" charset="-120"/>
              </a:rPr>
              <a:t>2024</a:t>
            </a:r>
            <a:endParaRPr lang="en-US" sz="1500" dirty="0"/>
          </a:p>
        </p:txBody>
      </p:sp>
      <p:sp>
        <p:nvSpPr>
          <p:cNvPr id="44" name="Text 41"/>
          <p:cNvSpPr txBox="1"/>
          <p:nvPr/>
        </p:nvSpPr>
        <p:spPr>
          <a:xfrm>
            <a:off x="6492240" y="2121408"/>
            <a:ext cx="914400" cy="4572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Structured &amp; multimodal</a:t>
            </a:r>
            <a:endParaRPr lang="en-US" sz="1150" dirty="0"/>
          </a:p>
        </p:txBody>
      </p:sp>
      <p:sp>
        <p:nvSpPr>
          <p:cNvPr id="45" name="Text 42"/>
          <p:cNvSpPr txBox="1"/>
          <p:nvPr/>
        </p:nvSpPr>
        <p:spPr>
          <a:xfrm>
            <a:off x="6492240" y="2606040"/>
            <a:ext cx="914400" cy="68580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Graphs, summary trees and page images.</a:t>
            </a:r>
            <a:endParaRPr lang="en-US" sz="950" dirty="0"/>
          </a:p>
        </p:txBody>
      </p:sp>
      <p:sp>
        <p:nvSpPr>
          <p:cNvPr id="46" name="Text 43"/>
          <p:cNvSpPr txBox="1"/>
          <p:nvPr/>
        </p:nvSpPr>
        <p:spPr>
          <a:xfrm>
            <a:off x="6492240" y="4114800"/>
            <a:ext cx="914400" cy="475488"/>
          </a:xfrm>
          <a:prstGeom prst="rect">
            <a:avLst/>
          </a:prstGeom>
          <a:noFill/>
          <a:ln/>
        </p:spPr>
        <p:txBody>
          <a:bodyPr wrap="square" lIns="0" tIns="0" rIns="0" bIns="0" rtlCol="0" anchor="b"/>
          <a:lstStyle/>
          <a:p>
            <a:pPr marL="0" indent="0">
              <a:buNone/>
            </a:pPr>
            <a:r>
              <a:rPr lang="en-US" sz="850" b="1" dirty="0">
                <a:solidFill>
                  <a:srgbClr val="00704A"/>
                </a:solidFill>
                <a:latin typeface="Calibri" pitchFamily="34" charset="0"/>
                <a:ea typeface="Calibri" pitchFamily="34" charset="-122"/>
                <a:cs typeface="Calibri" pitchFamily="34" charset="-120"/>
              </a:rPr>
              <a:t>GraphRAG · RAPTOR · HippoRAG · ColPali</a:t>
            </a:r>
            <a:endParaRPr lang="en-US" sz="850" dirty="0"/>
          </a:p>
        </p:txBody>
      </p:sp>
      <p:sp>
        <p:nvSpPr>
          <p:cNvPr id="47" name="Shape 44"/>
          <p:cNvSpPr/>
          <p:nvPr/>
        </p:nvSpPr>
        <p:spPr>
          <a:xfrm>
            <a:off x="7589520" y="1517904"/>
            <a:ext cx="1097280" cy="3145536"/>
          </a:xfrm>
          <a:prstGeom prst="roundRect">
            <a:avLst>
              <a:gd name="adj" fmla="val 6667"/>
            </a:avLst>
          </a:prstGeom>
          <a:solidFill>
            <a:srgbClr val="E8F5EF"/>
          </a:solidFill>
          <a:ln w="15875">
            <a:solidFill>
              <a:srgbClr val="D49A00"/>
            </a:solidFill>
            <a:prstDash val="solid"/>
          </a:ln>
        </p:spPr>
      </p:sp>
      <p:sp>
        <p:nvSpPr>
          <p:cNvPr id="48" name="Text 45"/>
          <p:cNvSpPr txBox="1"/>
          <p:nvPr/>
        </p:nvSpPr>
        <p:spPr>
          <a:xfrm>
            <a:off x="7680960" y="1609344"/>
            <a:ext cx="914400" cy="274320"/>
          </a:xfrm>
          <a:prstGeom prst="rect">
            <a:avLst/>
          </a:prstGeom>
          <a:noFill/>
          <a:ln/>
        </p:spPr>
        <p:txBody>
          <a:bodyPr wrap="square" lIns="0" tIns="0" rIns="0" bIns="0" rtlCol="0" anchor="ctr"/>
          <a:lstStyle/>
          <a:p>
            <a:pPr marL="0" indent="0">
              <a:buNone/>
            </a:pPr>
            <a:r>
              <a:rPr lang="en-US" sz="1500" b="1" dirty="0">
                <a:solidFill>
                  <a:srgbClr val="D49A00"/>
                </a:solidFill>
                <a:latin typeface="Calibri" pitchFamily="34" charset="0"/>
                <a:ea typeface="Calibri" pitchFamily="34" charset="-122"/>
                <a:cs typeface="Calibri" pitchFamily="34" charset="-120"/>
              </a:rPr>
              <a:t>2025+</a:t>
            </a:r>
            <a:endParaRPr lang="en-US" sz="1500" dirty="0"/>
          </a:p>
        </p:txBody>
      </p:sp>
      <p:sp>
        <p:nvSpPr>
          <p:cNvPr id="49" name="Text 46"/>
          <p:cNvSpPr txBox="1"/>
          <p:nvPr/>
        </p:nvSpPr>
        <p:spPr>
          <a:xfrm>
            <a:off x="7680960" y="1901952"/>
            <a:ext cx="914400" cy="4572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Agentic &amp; RL-trained</a:t>
            </a:r>
            <a:endParaRPr lang="en-US" sz="1150" dirty="0"/>
          </a:p>
        </p:txBody>
      </p:sp>
      <p:sp>
        <p:nvSpPr>
          <p:cNvPr id="50" name="Text 47"/>
          <p:cNvSpPr txBox="1"/>
          <p:nvPr/>
        </p:nvSpPr>
        <p:spPr>
          <a:xfrm>
            <a:off x="7680960" y="2386584"/>
            <a:ext cx="914400" cy="68580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Models learn to plan and search over many steps.</a:t>
            </a:r>
            <a:endParaRPr lang="en-US" sz="950" dirty="0"/>
          </a:p>
        </p:txBody>
      </p:sp>
      <p:sp>
        <p:nvSpPr>
          <p:cNvPr id="51" name="Text 48"/>
          <p:cNvSpPr txBox="1"/>
          <p:nvPr/>
        </p:nvSpPr>
        <p:spPr>
          <a:xfrm>
            <a:off x="7680960" y="4114800"/>
            <a:ext cx="914400" cy="475488"/>
          </a:xfrm>
          <a:prstGeom prst="rect">
            <a:avLst/>
          </a:prstGeom>
          <a:noFill/>
          <a:ln/>
        </p:spPr>
        <p:txBody>
          <a:bodyPr wrap="square" lIns="0" tIns="0" rIns="0" bIns="0" rtlCol="0" anchor="b"/>
          <a:lstStyle/>
          <a:p>
            <a:pPr marL="0" indent="0">
              <a:buNone/>
            </a:pPr>
            <a:r>
              <a:rPr lang="en-US" sz="850" b="1" dirty="0">
                <a:solidFill>
                  <a:srgbClr val="00704A"/>
                </a:solidFill>
                <a:latin typeface="Calibri" pitchFamily="34" charset="0"/>
                <a:ea typeface="Calibri" pitchFamily="34" charset="-122"/>
                <a:cs typeface="Calibri" pitchFamily="34" charset="-120"/>
              </a:rPr>
              <a:t>Search-o1 · Search-R1 · deep-research agents</a:t>
            </a:r>
            <a:endParaRPr lang="en-US" sz="850" dirty="0"/>
          </a:p>
        </p:txBody>
      </p:sp>
      <p:sp>
        <p:nvSpPr>
          <p:cNvPr id="52" name="Shape 49"/>
          <p:cNvSpPr/>
          <p:nvPr/>
        </p:nvSpPr>
        <p:spPr>
          <a:xfrm flipV="1">
            <a:off x="548640" y="1298448"/>
            <a:ext cx="8001000" cy="1280160"/>
          </a:xfrm>
          <a:prstGeom prst="line">
            <a:avLst/>
          </a:prstGeom>
          <a:noFill/>
          <a:ln w="22225">
            <a:solidFill>
              <a:srgbClr val="D49A00"/>
            </a:solidFill>
            <a:prstDash val="dash"/>
            <a:tailEnd type="triangle"/>
          </a:ln>
        </p:spPr>
      </p:sp>
      <p:sp>
        <p:nvSpPr>
          <p:cNvPr id="53" name="Text 50"/>
          <p:cNvSpPr txBox="1"/>
          <p:nvPr/>
        </p:nvSpPr>
        <p:spPr>
          <a:xfrm>
            <a:off x="457200" y="1325880"/>
            <a:ext cx="4114800" cy="274320"/>
          </a:xfrm>
          <a:prstGeom prst="rect">
            <a:avLst/>
          </a:prstGeom>
          <a:noFill/>
          <a:ln/>
        </p:spPr>
        <p:txBody>
          <a:bodyPr wrap="square" lIns="0" tIns="0" rIns="0" bIns="0" rtlCol="0" anchor="ctr"/>
          <a:lstStyle/>
          <a:p>
            <a:pPr marL="0" indent="0">
              <a:buNone/>
            </a:pPr>
            <a:r>
              <a:rPr lang="en-US" sz="1250" i="1" dirty="0">
                <a:solidFill>
                  <a:srgbClr val="D49A00"/>
                </a:solidFill>
                <a:latin typeface="Calibri" pitchFamily="34" charset="0"/>
                <a:ea typeface="Calibri" pitchFamily="34" charset="-122"/>
                <a:cs typeface="Calibri" pitchFamily="34" charset="-120"/>
              </a:rPr>
              <a:t>More adaptive  ·  more structured  ·  more autonomous</a:t>
            </a:r>
            <a:endParaRPr lang="en-US" sz="12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EVOLUTION OF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Five dimensions of progress</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65760">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Dimension</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Early RAG (2020)</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7F8C87"/>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Established practice</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A86A"/>
                    </a:solidFill>
                  </a:tcPr>
                </a:tc>
                <a:tc>
                  <a:txBody>
                    <a:bodyPr/>
                    <a:lstStyle/>
                    <a:p>
                      <a:pPr marL="0" indent="0" algn="ctr">
                        <a:buNone/>
                      </a:pPr>
                      <a:r>
                        <a:rPr lang="en-US" sz="1250" b="1" dirty="0">
                          <a:solidFill>
                            <a:srgbClr val="231F20"/>
                          </a:solidFill>
                          <a:latin typeface="Calibri" pitchFamily="34" charset="0"/>
                          <a:ea typeface="Calibri" pitchFamily="34" charset="-122"/>
                          <a:cs typeface="Calibri" pitchFamily="34" charset="-120"/>
                        </a:rPr>
                        <a:t>Frontier</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5C242"/>
                    </a:solidFill>
                  </a:tcPr>
                </a:tc>
                <a:extLst>
                  <a:ext uri="{0D108BD9-81ED-4DB2-BD59-A6C34878D82A}">
                    <a16:rowId xmlns:a16="http://schemas.microsoft.com/office/drawing/2014/main" val="10000"/>
                  </a:ext>
                </a:extLst>
              </a:tr>
              <a:tr h="548640">
                <a:tc>
                  <a:txBody>
                    <a:bodyPr/>
                    <a:lstStyle/>
                    <a:p>
                      <a:pPr marL="0" indent="0">
                        <a:buNone/>
                      </a:pPr>
                      <a:r>
                        <a:rPr lang="en-US" sz="1200" b="1" dirty="0">
                          <a:solidFill>
                            <a:srgbClr val="231F20"/>
                          </a:solidFill>
                          <a:latin typeface="Calibri" pitchFamily="34" charset="0"/>
                          <a:ea typeface="Calibri" pitchFamily="34" charset="-122"/>
                          <a:cs typeface="Calibri" pitchFamily="34" charset="-120"/>
                        </a:rPr>
                        <a:t>When to retrieve</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050" dirty="0">
                          <a:solidFill>
                            <a:srgbClr val="5E6964"/>
                          </a:solidFill>
                          <a:latin typeface="Calibri" pitchFamily="34" charset="0"/>
                          <a:ea typeface="Calibri" pitchFamily="34" charset="-122"/>
                          <a:cs typeface="Calibri" pitchFamily="34" charset="-120"/>
                        </a:rPr>
                        <a:t>Once, before generating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050" dirty="0">
                          <a:solidFill>
                            <a:srgbClr val="231F20"/>
                          </a:solidFill>
                          <a:latin typeface="Calibri" pitchFamily="34" charset="0"/>
                          <a:ea typeface="Calibri" pitchFamily="34" charset="-122"/>
                          <a:cs typeface="Calibri" pitchFamily="34" charset="-120"/>
                        </a:rPr>
                        <a:t>Several times, interleaved with reasoning (IRCoT, FLARE)</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050" b="1" dirty="0">
                          <a:solidFill>
                            <a:srgbClr val="231F20"/>
                          </a:solidFill>
                          <a:latin typeface="Calibri" pitchFamily="34" charset="0"/>
                          <a:ea typeface="Calibri" pitchFamily="34" charset="-122"/>
                          <a:cs typeface="Calibri" pitchFamily="34" charset="-120"/>
                        </a:rPr>
                        <a:t>The model decides if and when (Self-RAG, Adaptive-RAG)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extLst>
                  <a:ext uri="{0D108BD9-81ED-4DB2-BD59-A6C34878D82A}">
                    <a16:rowId xmlns:a16="http://schemas.microsoft.com/office/drawing/2014/main" val="10001"/>
                  </a:ext>
                </a:extLst>
              </a:tr>
              <a:tr h="548640">
                <a:tc>
                  <a:txBody>
                    <a:bodyPr/>
                    <a:lstStyle/>
                    <a:p>
                      <a:pPr marL="0" indent="0">
                        <a:buNone/>
                      </a:pPr>
                      <a:r>
                        <a:rPr lang="en-US" sz="1200" b="1" dirty="0">
                          <a:solidFill>
                            <a:srgbClr val="231F20"/>
                          </a:solidFill>
                          <a:latin typeface="Calibri" pitchFamily="34" charset="0"/>
                          <a:ea typeface="Calibri" pitchFamily="34" charset="-122"/>
                          <a:cs typeface="Calibri" pitchFamily="34" charset="-120"/>
                        </a:rPr>
                        <a:t>What is retrieved</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050" dirty="0">
                          <a:solidFill>
                            <a:srgbClr val="5E6964"/>
                          </a:solidFill>
                          <a:latin typeface="Calibri" pitchFamily="34" charset="0"/>
                          <a:ea typeface="Calibri" pitchFamily="34" charset="-122"/>
                          <a:cs typeface="Calibri" pitchFamily="34" charset="-120"/>
                        </a:rPr>
                        <a:t>Fixed-size text passages</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050" dirty="0">
                          <a:solidFill>
                            <a:srgbClr val="231F20"/>
                          </a:solidFill>
                          <a:latin typeface="Calibri" pitchFamily="34" charset="0"/>
                          <a:ea typeface="Calibri" pitchFamily="34" charset="-122"/>
                          <a:cs typeface="Calibri" pitchFamily="34" charset="-120"/>
                        </a:rPr>
                        <a:t>Hybrid, reranked, contextualised chunks</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050" b="1" dirty="0">
                          <a:solidFill>
                            <a:srgbClr val="231F20"/>
                          </a:solidFill>
                          <a:latin typeface="Calibri" pitchFamily="34" charset="0"/>
                          <a:ea typeface="Calibri" pitchFamily="34" charset="-122"/>
                          <a:cs typeface="Calibri" pitchFamily="34" charset="-120"/>
                        </a:rPr>
                        <a:t>Knowledge graphs, summary trees, page images (GraphRAG, RAPTOR, ColPali)</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extLst>
                  <a:ext uri="{0D108BD9-81ED-4DB2-BD59-A6C34878D82A}">
                    <a16:rowId xmlns:a16="http://schemas.microsoft.com/office/drawing/2014/main" val="10002"/>
                  </a:ext>
                </a:extLst>
              </a:tr>
              <a:tr h="548640">
                <a:tc>
                  <a:txBody>
                    <a:bodyPr/>
                    <a:lstStyle/>
                    <a:p>
                      <a:pPr marL="0" indent="0">
                        <a:buNone/>
                      </a:pPr>
                      <a:r>
                        <a:rPr lang="en-US" sz="1200" b="1" dirty="0">
                          <a:solidFill>
                            <a:srgbClr val="231F20"/>
                          </a:solidFill>
                          <a:latin typeface="Calibri" pitchFamily="34" charset="0"/>
                          <a:ea typeface="Calibri" pitchFamily="34" charset="-122"/>
                          <a:cs typeface="Calibri" pitchFamily="34" charset="-120"/>
                        </a:rPr>
                        <a:t>How search is learned</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050" dirty="0">
                          <a:solidFill>
                            <a:srgbClr val="5E6964"/>
                          </a:solidFill>
                          <a:latin typeface="Calibri" pitchFamily="34" charset="0"/>
                          <a:ea typeface="Calibri" pitchFamily="34" charset="-122"/>
                          <a:cs typeface="Calibri" pitchFamily="34" charset="-120"/>
                        </a:rPr>
                        <a:t>Retriever trained jointly with a small generator</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050" dirty="0">
                          <a:solidFill>
                            <a:srgbClr val="231F20"/>
                          </a:solidFill>
                          <a:latin typeface="Calibri" pitchFamily="34" charset="0"/>
                          <a:ea typeface="Calibri" pitchFamily="34" charset="-122"/>
                          <a:cs typeface="Calibri" pitchFamily="34" charset="-120"/>
                        </a:rPr>
                        <a:t>Frozen LLM; retriever off-the-shelf or tuned from LLM feedback (REPLUG)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050" b="1" dirty="0">
                          <a:solidFill>
                            <a:srgbClr val="231F20"/>
                          </a:solidFill>
                          <a:latin typeface="Calibri" pitchFamily="34" charset="0"/>
                          <a:ea typeface="Calibri" pitchFamily="34" charset="-122"/>
                          <a:cs typeface="Calibri" pitchFamily="34" charset="-120"/>
                        </a:rPr>
                        <a:t>LLM trained by reinforcement learning to search (Search-R1)</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extLst>
                  <a:ext uri="{0D108BD9-81ED-4DB2-BD59-A6C34878D82A}">
                    <a16:rowId xmlns:a16="http://schemas.microsoft.com/office/drawing/2014/main" val="10003"/>
                  </a:ext>
                </a:extLst>
              </a:tr>
              <a:tr h="548640">
                <a:tc>
                  <a:txBody>
                    <a:bodyPr/>
                    <a:lstStyle/>
                    <a:p>
                      <a:pPr marL="0" indent="0">
                        <a:buNone/>
                      </a:pPr>
                      <a:r>
                        <a:rPr lang="en-US" sz="1200" b="1" dirty="0">
                          <a:solidFill>
                            <a:srgbClr val="231F20"/>
                          </a:solidFill>
                          <a:latin typeface="Calibri" pitchFamily="34" charset="0"/>
                          <a:ea typeface="Calibri" pitchFamily="34" charset="-122"/>
                          <a:cs typeface="Calibri" pitchFamily="34" charset="-120"/>
                        </a:rPr>
                        <a:t>Who controls the flow</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050" dirty="0">
                          <a:solidFill>
                            <a:srgbClr val="5E6964"/>
                          </a:solidFill>
                          <a:latin typeface="Calibri" pitchFamily="34" charset="0"/>
                          <a:ea typeface="Calibri" pitchFamily="34" charset="-122"/>
                          <a:cs typeface="Calibri" pitchFamily="34" charset="-120"/>
                        </a:rPr>
                        <a:t>Fixed linear pipeline</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050" dirty="0">
                          <a:solidFill>
                            <a:srgbClr val="231F20"/>
                          </a:solidFill>
                          <a:latin typeface="Calibri" pitchFamily="34" charset="0"/>
                          <a:ea typeface="Calibri" pitchFamily="34" charset="-122"/>
                          <a:cs typeface="Calibri" pitchFamily="34" charset="-120"/>
                        </a:rPr>
                        <a:t>Modular pipelines with routing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050" b="1" dirty="0">
                          <a:solidFill>
                            <a:srgbClr val="231F20"/>
                          </a:solidFill>
                          <a:latin typeface="Calibri" pitchFamily="34" charset="0"/>
                          <a:ea typeface="Calibri" pitchFamily="34" charset="-122"/>
                          <a:cs typeface="Calibri" pitchFamily="34" charset="-120"/>
                        </a:rPr>
                        <a:t>Agents that plan multi-step research</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extLst>
                  <a:ext uri="{0D108BD9-81ED-4DB2-BD59-A6C34878D82A}">
                    <a16:rowId xmlns:a16="http://schemas.microsoft.com/office/drawing/2014/main" val="10004"/>
                  </a:ext>
                </a:extLst>
              </a:tr>
              <a:tr h="548640">
                <a:tc>
                  <a:txBody>
                    <a:bodyPr/>
                    <a:lstStyle/>
                    <a:p>
                      <a:pPr marL="0" indent="0">
                        <a:buNone/>
                      </a:pPr>
                      <a:r>
                        <a:rPr lang="en-US" sz="1200" b="1" dirty="0">
                          <a:solidFill>
                            <a:srgbClr val="231F20"/>
                          </a:solidFill>
                          <a:latin typeface="Calibri" pitchFamily="34" charset="0"/>
                          <a:ea typeface="Calibri" pitchFamily="34" charset="-122"/>
                          <a:cs typeface="Calibri" pitchFamily="34" charset="-120"/>
                        </a:rPr>
                        <a:t>Quality control</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050" dirty="0">
                          <a:solidFill>
                            <a:srgbClr val="5E6964"/>
                          </a:solidFill>
                          <a:latin typeface="Calibri" pitchFamily="34" charset="0"/>
                          <a:ea typeface="Calibri" pitchFamily="34" charset="-122"/>
                          <a:cs typeface="Calibri" pitchFamily="34" charset="-120"/>
                        </a:rPr>
                        <a:t>Ranking only</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050" dirty="0">
                          <a:solidFill>
                            <a:srgbClr val="231F20"/>
                          </a:solidFill>
                          <a:latin typeface="Calibri" pitchFamily="34" charset="0"/>
                          <a:ea typeface="Calibri" pitchFamily="34" charset="-122"/>
                          <a:cs typeface="Calibri" pitchFamily="34" charset="-120"/>
                        </a:rPr>
                        <a:t>Reranking, citations, automated evaluation (RAGAS)</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050" b="1" dirty="0">
                          <a:solidFill>
                            <a:srgbClr val="231F20"/>
                          </a:solidFill>
                          <a:latin typeface="Calibri" pitchFamily="34" charset="0"/>
                          <a:ea typeface="Calibri" pitchFamily="34" charset="-122"/>
                          <a:cs typeface="Calibri" pitchFamily="34" charset="-120"/>
                        </a:rPr>
                        <a:t>Self-critique and corrective retrieval (Self-RAG, CRAG)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extLst>
                  <a:ext uri="{0D108BD9-81ED-4DB2-BD59-A6C34878D82A}">
                    <a16:rowId xmlns:a16="http://schemas.microsoft.com/office/drawing/2014/main" val="10005"/>
                  </a:ext>
                </a:extLst>
              </a:tr>
            </a:tbl>
          </a:graphicData>
        </a:graphic>
      </p:graphicFrame>
      <p:sp>
        <p:nvSpPr>
          <p:cNvPr id="18" name="Shape 14"/>
          <p:cNvSpPr/>
          <p:nvPr/>
        </p:nvSpPr>
        <p:spPr>
          <a:xfrm>
            <a:off x="2194560" y="4617720"/>
            <a:ext cx="6400800" cy="914"/>
          </a:xfrm>
          <a:prstGeom prst="line">
            <a:avLst/>
          </a:prstGeom>
          <a:noFill/>
          <a:ln w="25400">
            <a:solidFill>
              <a:srgbClr val="D49A00"/>
            </a:solidFill>
            <a:prstDash val="solid"/>
            <a:tailEnd type="triangle"/>
          </a:ln>
        </p:spPr>
      </p:sp>
      <p:sp>
        <p:nvSpPr>
          <p:cNvPr id="19" name="Text 15"/>
          <p:cNvSpPr txBox="1"/>
          <p:nvPr/>
        </p:nvSpPr>
        <p:spPr>
          <a:xfrm>
            <a:off x="457200" y="4507992"/>
            <a:ext cx="1645920" cy="228600"/>
          </a:xfrm>
          <a:prstGeom prst="rect">
            <a:avLst/>
          </a:prstGeom>
          <a:noFill/>
          <a:ln/>
        </p:spPr>
        <p:txBody>
          <a:bodyPr wrap="square" lIns="0" tIns="0" rIns="0" bIns="0" rtlCol="0" anchor="ctr"/>
          <a:lstStyle/>
          <a:p>
            <a:pPr marL="0" indent="0">
              <a:buNone/>
            </a:pPr>
            <a:r>
              <a:rPr lang="en-US" sz="1050" b="1" dirty="0">
                <a:solidFill>
                  <a:srgbClr val="D49A00"/>
                </a:solidFill>
                <a:latin typeface="Calibri" pitchFamily="34" charset="0"/>
                <a:ea typeface="Calibri" pitchFamily="34" charset="-122"/>
                <a:cs typeface="Calibri" pitchFamily="34" charset="-120"/>
              </a:rPr>
              <a:t>Direction of progress</a:t>
            </a:r>
            <a:endParaRPr lang="en-US" sz="10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EVOLUTION OF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From Naive to Advanced to Modular RAG</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325880"/>
            <a:ext cx="2615184" cy="2697480"/>
          </a:xfrm>
          <a:prstGeom prst="roundRect">
            <a:avLst>
              <a:gd name="adj" fmla="val 2797"/>
            </a:avLst>
          </a:prstGeom>
          <a:solidFill>
            <a:srgbClr val="F4F7F5"/>
          </a:solidFill>
          <a:ln w="9525">
            <a:solidFill>
              <a:srgbClr val="D5DED9"/>
            </a:solidFill>
            <a:prstDash val="solid"/>
          </a:ln>
        </p:spPr>
      </p:sp>
      <p:sp>
        <p:nvSpPr>
          <p:cNvPr id="18" name="Shape 15"/>
          <p:cNvSpPr/>
          <p:nvPr/>
        </p:nvSpPr>
        <p:spPr>
          <a:xfrm>
            <a:off x="640080" y="1481328"/>
            <a:ext cx="502920" cy="502920"/>
          </a:xfrm>
          <a:prstGeom prst="ellipse">
            <a:avLst/>
          </a:prstGeom>
          <a:solidFill>
            <a:srgbClr val="7F8C87">
              <a:alpha val="22000"/>
            </a:srgbClr>
          </a:solidFill>
          <a:ln w="12700">
            <a:solidFill>
              <a:srgbClr val="7F8C87">
                <a:alpha val="0"/>
              </a:srgbClr>
            </a:solidFill>
            <a:prstDash val="solid"/>
          </a:ln>
        </p:spPr>
      </p:sp>
      <p:pic>
        <p:nvPicPr>
          <p:cNvPr id="19" name="Image 0" descr="preencoded.png"/>
          <p:cNvPicPr>
            <a:picLocks noChangeAspect="1"/>
          </p:cNvPicPr>
          <p:nvPr/>
        </p:nvPicPr>
        <p:blipFill>
          <a:blip r:embed="rId3"/>
          <a:stretch>
            <a:fillRect/>
          </a:stretch>
        </p:blipFill>
        <p:spPr>
          <a:xfrm>
            <a:off x="760781" y="1602029"/>
            <a:ext cx="261518" cy="261518"/>
          </a:xfrm>
          <a:prstGeom prst="rect">
            <a:avLst/>
          </a:prstGeom>
        </p:spPr>
      </p:pic>
      <p:sp>
        <p:nvSpPr>
          <p:cNvPr id="20" name="Text 16"/>
          <p:cNvSpPr txBox="1"/>
          <p:nvPr/>
        </p:nvSpPr>
        <p:spPr>
          <a:xfrm>
            <a:off x="1280160" y="1581912"/>
            <a:ext cx="1737360" cy="320040"/>
          </a:xfrm>
          <a:prstGeom prst="rect">
            <a:avLst/>
          </a:prstGeom>
          <a:noFill/>
          <a:ln/>
        </p:spPr>
        <p:txBody>
          <a:bodyPr wrap="square" lIns="0" tIns="0" rIns="0" bIns="0" rtlCol="0" anchor="ctr"/>
          <a:lstStyle/>
          <a:p>
            <a:pPr marL="0" indent="0">
              <a:buNone/>
            </a:pPr>
            <a:r>
              <a:rPr lang="en-US" sz="1700" b="1" dirty="0">
                <a:solidFill>
                  <a:srgbClr val="231F20"/>
                </a:solidFill>
                <a:latin typeface="Calibri" pitchFamily="34" charset="0"/>
                <a:ea typeface="Calibri" pitchFamily="34" charset="-122"/>
                <a:cs typeface="Calibri" pitchFamily="34" charset="-120"/>
              </a:rPr>
              <a:t>Naive RAG</a:t>
            </a:r>
            <a:endParaRPr lang="en-US" sz="1700" dirty="0"/>
          </a:p>
        </p:txBody>
      </p:sp>
      <p:sp>
        <p:nvSpPr>
          <p:cNvPr id="21" name="Text 17"/>
          <p:cNvSpPr txBox="1"/>
          <p:nvPr/>
        </p:nvSpPr>
        <p:spPr>
          <a:xfrm>
            <a:off x="640080" y="2148840"/>
            <a:ext cx="2286000" cy="566928"/>
          </a:xfrm>
          <a:prstGeom prst="rect">
            <a:avLst/>
          </a:prstGeom>
          <a:noFill/>
          <a:ln/>
        </p:spPr>
        <p:txBody>
          <a:bodyPr wrap="square" lIns="0" tIns="0" rIns="0" bIns="0" rtlCol="0" anchor="t"/>
          <a:lstStyle/>
          <a:p>
            <a:pPr marL="0" indent="0">
              <a:buNone/>
            </a:pPr>
            <a:r>
              <a:rPr lang="en-US" sz="1200" dirty="0">
                <a:solidFill>
                  <a:srgbClr val="231F20"/>
                </a:solidFill>
                <a:latin typeface="Calibri" pitchFamily="34" charset="0"/>
                <a:ea typeface="Calibri" pitchFamily="34" charset="-122"/>
                <a:cs typeface="Calibri" pitchFamily="34" charset="-120"/>
              </a:rPr>
              <a:t>Index → Retrieve → Generate, in a fixed linear chain.</a:t>
            </a:r>
            <a:endParaRPr lang="en-US" sz="1200" dirty="0"/>
          </a:p>
        </p:txBody>
      </p:sp>
      <p:sp>
        <p:nvSpPr>
          <p:cNvPr id="22" name="Text 18"/>
          <p:cNvSpPr txBox="1"/>
          <p:nvPr/>
        </p:nvSpPr>
        <p:spPr>
          <a:xfrm>
            <a:off x="640080" y="2816352"/>
            <a:ext cx="2286000" cy="11430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Low retrieval precision</a:t>
            </a:r>
            <a:endParaRPr lang="en-US" sz="1100" dirty="0"/>
          </a:p>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Redundant or noisy context</a:t>
            </a:r>
            <a:endParaRPr lang="en-US" sz="1100" dirty="0"/>
          </a:p>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Hallucinations remain</a:t>
            </a:r>
            <a:endParaRPr lang="en-US" sz="1100" dirty="0"/>
          </a:p>
        </p:txBody>
      </p:sp>
      <p:sp>
        <p:nvSpPr>
          <p:cNvPr id="23" name="Shape 19"/>
          <p:cNvSpPr/>
          <p:nvPr/>
        </p:nvSpPr>
        <p:spPr>
          <a:xfrm>
            <a:off x="3090672" y="2697480"/>
            <a:ext cx="155448" cy="914"/>
          </a:xfrm>
          <a:prstGeom prst="line">
            <a:avLst/>
          </a:prstGeom>
          <a:noFill/>
          <a:ln w="25400">
            <a:solidFill>
              <a:srgbClr val="5E6964"/>
            </a:solidFill>
            <a:prstDash val="solid"/>
            <a:tailEnd type="triangle"/>
          </a:ln>
        </p:spPr>
      </p:sp>
      <p:sp>
        <p:nvSpPr>
          <p:cNvPr id="24" name="Shape 20"/>
          <p:cNvSpPr/>
          <p:nvPr/>
        </p:nvSpPr>
        <p:spPr>
          <a:xfrm>
            <a:off x="3264408" y="1325880"/>
            <a:ext cx="2615184" cy="2697480"/>
          </a:xfrm>
          <a:prstGeom prst="roundRect">
            <a:avLst>
              <a:gd name="adj" fmla="val 2797"/>
            </a:avLst>
          </a:prstGeom>
          <a:solidFill>
            <a:srgbClr val="F4F7F5"/>
          </a:solidFill>
          <a:ln w="9525">
            <a:solidFill>
              <a:srgbClr val="D5DED9"/>
            </a:solidFill>
            <a:prstDash val="solid"/>
          </a:ln>
        </p:spPr>
      </p:sp>
      <p:sp>
        <p:nvSpPr>
          <p:cNvPr id="25" name="Shape 21"/>
          <p:cNvSpPr/>
          <p:nvPr/>
        </p:nvSpPr>
        <p:spPr>
          <a:xfrm>
            <a:off x="3447288" y="1481328"/>
            <a:ext cx="502920" cy="502920"/>
          </a:xfrm>
          <a:prstGeom prst="ellipse">
            <a:avLst/>
          </a:prstGeom>
          <a:solidFill>
            <a:srgbClr val="0E7C86">
              <a:alpha val="22000"/>
            </a:srgbClr>
          </a:solidFill>
          <a:ln w="12700">
            <a:solidFill>
              <a:srgbClr val="0E7C86">
                <a:alpha val="0"/>
              </a:srgbClr>
            </a:solidFill>
            <a:prstDash val="solid"/>
          </a:ln>
        </p:spPr>
      </p:sp>
      <p:pic>
        <p:nvPicPr>
          <p:cNvPr id="26" name="Image 1" descr="preencoded.png"/>
          <p:cNvPicPr>
            <a:picLocks noChangeAspect="1"/>
          </p:cNvPicPr>
          <p:nvPr/>
        </p:nvPicPr>
        <p:blipFill>
          <a:blip r:embed="rId4"/>
          <a:stretch>
            <a:fillRect/>
          </a:stretch>
        </p:blipFill>
        <p:spPr>
          <a:xfrm>
            <a:off x="3567989" y="1602029"/>
            <a:ext cx="261518" cy="261518"/>
          </a:xfrm>
          <a:prstGeom prst="rect">
            <a:avLst/>
          </a:prstGeom>
        </p:spPr>
      </p:pic>
      <p:sp>
        <p:nvSpPr>
          <p:cNvPr id="27" name="Text 22"/>
          <p:cNvSpPr txBox="1"/>
          <p:nvPr/>
        </p:nvSpPr>
        <p:spPr>
          <a:xfrm>
            <a:off x="4087368" y="1581912"/>
            <a:ext cx="1737360" cy="320040"/>
          </a:xfrm>
          <a:prstGeom prst="rect">
            <a:avLst/>
          </a:prstGeom>
          <a:noFill/>
          <a:ln/>
        </p:spPr>
        <p:txBody>
          <a:bodyPr wrap="square" lIns="0" tIns="0" rIns="0" bIns="0" rtlCol="0" anchor="ctr"/>
          <a:lstStyle/>
          <a:p>
            <a:pPr marL="0" indent="0">
              <a:buNone/>
            </a:pPr>
            <a:r>
              <a:rPr lang="en-US" sz="1700" b="1" dirty="0">
                <a:solidFill>
                  <a:srgbClr val="0E7C86"/>
                </a:solidFill>
                <a:latin typeface="Calibri" pitchFamily="34" charset="0"/>
                <a:ea typeface="Calibri" pitchFamily="34" charset="-122"/>
                <a:cs typeface="Calibri" pitchFamily="34" charset="-120"/>
              </a:rPr>
              <a:t>Advanced RAG</a:t>
            </a:r>
            <a:endParaRPr lang="en-US" sz="1700" dirty="0"/>
          </a:p>
        </p:txBody>
      </p:sp>
      <p:sp>
        <p:nvSpPr>
          <p:cNvPr id="28" name="Text 23"/>
          <p:cNvSpPr txBox="1"/>
          <p:nvPr/>
        </p:nvSpPr>
        <p:spPr>
          <a:xfrm>
            <a:off x="3447288" y="2148840"/>
            <a:ext cx="2286000" cy="566928"/>
          </a:xfrm>
          <a:prstGeom prst="rect">
            <a:avLst/>
          </a:prstGeom>
          <a:noFill/>
          <a:ln/>
        </p:spPr>
        <p:txBody>
          <a:bodyPr wrap="square" lIns="0" tIns="0" rIns="0" bIns="0" rtlCol="0" anchor="t"/>
          <a:lstStyle/>
          <a:p>
            <a:pPr marL="0" indent="0">
              <a:buNone/>
            </a:pPr>
            <a:r>
              <a:rPr lang="en-US" sz="1200" dirty="0">
                <a:solidFill>
                  <a:srgbClr val="231F20"/>
                </a:solidFill>
                <a:latin typeface="Calibri" pitchFamily="34" charset="0"/>
                <a:ea typeface="Calibri" pitchFamily="34" charset="-122"/>
                <a:cs typeface="Calibri" pitchFamily="34" charset="-120"/>
              </a:rPr>
              <a:t>Adds optimisations before and after retrieval.</a:t>
            </a:r>
            <a:endParaRPr lang="en-US" sz="1200" dirty="0"/>
          </a:p>
        </p:txBody>
      </p:sp>
      <p:sp>
        <p:nvSpPr>
          <p:cNvPr id="29" name="Text 24"/>
          <p:cNvSpPr txBox="1"/>
          <p:nvPr/>
        </p:nvSpPr>
        <p:spPr>
          <a:xfrm>
            <a:off x="3447288" y="2816352"/>
            <a:ext cx="2286000" cy="11430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Pre: query rewriting &amp; expansion, better indexing</a:t>
            </a:r>
            <a:endParaRPr lang="en-US" sz="1100" dirty="0"/>
          </a:p>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Post: reranking, context compression</a:t>
            </a:r>
            <a:endParaRPr lang="en-US" sz="1100" dirty="0"/>
          </a:p>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Hybrid search, metadata filters</a:t>
            </a:r>
            <a:endParaRPr lang="en-US" sz="1100" dirty="0"/>
          </a:p>
        </p:txBody>
      </p:sp>
      <p:sp>
        <p:nvSpPr>
          <p:cNvPr id="30" name="Shape 25"/>
          <p:cNvSpPr/>
          <p:nvPr/>
        </p:nvSpPr>
        <p:spPr>
          <a:xfrm>
            <a:off x="5897880" y="2697480"/>
            <a:ext cx="155448" cy="914"/>
          </a:xfrm>
          <a:prstGeom prst="line">
            <a:avLst/>
          </a:prstGeom>
          <a:noFill/>
          <a:ln w="25400">
            <a:solidFill>
              <a:srgbClr val="5E6964"/>
            </a:solidFill>
            <a:prstDash val="solid"/>
            <a:tailEnd type="triangle"/>
          </a:ln>
        </p:spPr>
      </p:sp>
      <p:sp>
        <p:nvSpPr>
          <p:cNvPr id="31" name="Shape 26"/>
          <p:cNvSpPr/>
          <p:nvPr/>
        </p:nvSpPr>
        <p:spPr>
          <a:xfrm>
            <a:off x="6071616" y="1325880"/>
            <a:ext cx="2615184" cy="2697480"/>
          </a:xfrm>
          <a:prstGeom prst="roundRect">
            <a:avLst>
              <a:gd name="adj" fmla="val 2797"/>
            </a:avLst>
          </a:prstGeom>
          <a:solidFill>
            <a:srgbClr val="E8F5EF"/>
          </a:solidFill>
          <a:ln w="15875">
            <a:solidFill>
              <a:srgbClr val="00A86A"/>
            </a:solidFill>
            <a:prstDash val="solid"/>
          </a:ln>
        </p:spPr>
      </p:sp>
      <p:sp>
        <p:nvSpPr>
          <p:cNvPr id="32" name="Shape 27"/>
          <p:cNvSpPr/>
          <p:nvPr/>
        </p:nvSpPr>
        <p:spPr>
          <a:xfrm>
            <a:off x="6254496" y="1481328"/>
            <a:ext cx="502920" cy="502920"/>
          </a:xfrm>
          <a:prstGeom prst="ellipse">
            <a:avLst/>
          </a:prstGeom>
          <a:solidFill>
            <a:srgbClr val="00A86A">
              <a:alpha val="22000"/>
            </a:srgbClr>
          </a:solidFill>
          <a:ln w="12700">
            <a:solidFill>
              <a:srgbClr val="00A86A">
                <a:alpha val="0"/>
              </a:srgbClr>
            </a:solidFill>
            <a:prstDash val="solid"/>
          </a:ln>
        </p:spPr>
      </p:sp>
      <p:pic>
        <p:nvPicPr>
          <p:cNvPr id="33" name="Image 2" descr="preencoded.png"/>
          <p:cNvPicPr>
            <a:picLocks noChangeAspect="1"/>
          </p:cNvPicPr>
          <p:nvPr/>
        </p:nvPicPr>
        <p:blipFill>
          <a:blip r:embed="rId5"/>
          <a:stretch>
            <a:fillRect/>
          </a:stretch>
        </p:blipFill>
        <p:spPr>
          <a:xfrm>
            <a:off x="6375197" y="1602029"/>
            <a:ext cx="261518" cy="261518"/>
          </a:xfrm>
          <a:prstGeom prst="rect">
            <a:avLst/>
          </a:prstGeom>
        </p:spPr>
      </p:pic>
      <p:sp>
        <p:nvSpPr>
          <p:cNvPr id="34" name="Text 28"/>
          <p:cNvSpPr txBox="1"/>
          <p:nvPr/>
        </p:nvSpPr>
        <p:spPr>
          <a:xfrm>
            <a:off x="6894576" y="1581912"/>
            <a:ext cx="1737360" cy="320040"/>
          </a:xfrm>
          <a:prstGeom prst="rect">
            <a:avLst/>
          </a:prstGeom>
          <a:noFill/>
          <a:ln/>
        </p:spPr>
        <p:txBody>
          <a:bodyPr wrap="square" lIns="0" tIns="0" rIns="0" bIns="0" rtlCol="0" anchor="ctr"/>
          <a:lstStyle/>
          <a:p>
            <a:pPr marL="0" indent="0">
              <a:buNone/>
            </a:pPr>
            <a:r>
              <a:rPr lang="en-US" sz="1700" b="1" dirty="0">
                <a:solidFill>
                  <a:srgbClr val="00A86A"/>
                </a:solidFill>
                <a:latin typeface="Calibri" pitchFamily="34" charset="0"/>
                <a:ea typeface="Calibri" pitchFamily="34" charset="-122"/>
                <a:cs typeface="Calibri" pitchFamily="34" charset="-120"/>
              </a:rPr>
              <a:t>Modular RAG</a:t>
            </a:r>
            <a:endParaRPr lang="en-US" sz="1700" dirty="0"/>
          </a:p>
        </p:txBody>
      </p:sp>
      <p:sp>
        <p:nvSpPr>
          <p:cNvPr id="35" name="Text 29"/>
          <p:cNvSpPr txBox="1"/>
          <p:nvPr/>
        </p:nvSpPr>
        <p:spPr>
          <a:xfrm>
            <a:off x="6254496" y="2148840"/>
            <a:ext cx="2286000" cy="566928"/>
          </a:xfrm>
          <a:prstGeom prst="rect">
            <a:avLst/>
          </a:prstGeom>
          <a:noFill/>
          <a:ln/>
        </p:spPr>
        <p:txBody>
          <a:bodyPr wrap="square" lIns="0" tIns="0" rIns="0" bIns="0" rtlCol="0" anchor="t"/>
          <a:lstStyle/>
          <a:p>
            <a:pPr marL="0" indent="0">
              <a:buNone/>
            </a:pPr>
            <a:r>
              <a:rPr lang="en-US" sz="1200" dirty="0">
                <a:solidFill>
                  <a:srgbClr val="231F20"/>
                </a:solidFill>
                <a:latin typeface="Calibri" pitchFamily="34" charset="0"/>
                <a:ea typeface="Calibri" pitchFamily="34" charset="-122"/>
                <a:cs typeface="Calibri" pitchFamily="34" charset="-120"/>
              </a:rPr>
              <a:t>Interchangeable modules and flexible flows.</a:t>
            </a:r>
            <a:endParaRPr lang="en-US" sz="1200" dirty="0"/>
          </a:p>
        </p:txBody>
      </p:sp>
      <p:sp>
        <p:nvSpPr>
          <p:cNvPr id="36" name="Text 30"/>
          <p:cNvSpPr txBox="1"/>
          <p:nvPr/>
        </p:nvSpPr>
        <p:spPr>
          <a:xfrm>
            <a:off x="6254496" y="2816352"/>
            <a:ext cx="2286000" cy="11430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Routing, search, memory, fusion modules</a:t>
            </a:r>
            <a:endParaRPr lang="en-US" sz="1100" dirty="0"/>
          </a:p>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Iterative &amp; adaptive retrieval</a:t>
            </a:r>
            <a:endParaRPr lang="en-US" sz="1100" dirty="0"/>
          </a:p>
          <a:p>
            <a:pPr marL="152400" indent="-152400">
              <a:spcAft>
                <a:spcPts val="500"/>
              </a:spcAft>
              <a:buSzPct val="100000"/>
              <a:buChar char="•"/>
            </a:pPr>
            <a:r>
              <a:rPr lang="en-US" sz="1100" dirty="0">
                <a:solidFill>
                  <a:srgbClr val="5E6964"/>
                </a:solidFill>
                <a:latin typeface="Calibri" pitchFamily="34" charset="0"/>
                <a:ea typeface="Calibri" pitchFamily="34" charset="-122"/>
                <a:cs typeface="Calibri" pitchFamily="34" charset="-120"/>
              </a:rPr>
              <a:t>Agent-driven orchestration</a:t>
            </a:r>
            <a:endParaRPr lang="en-US" sz="1100" dirty="0"/>
          </a:p>
        </p:txBody>
      </p:sp>
      <p:sp>
        <p:nvSpPr>
          <p:cNvPr id="37" name="Shape 31"/>
          <p:cNvSpPr/>
          <p:nvPr/>
        </p:nvSpPr>
        <p:spPr>
          <a:xfrm>
            <a:off x="457200" y="4160520"/>
            <a:ext cx="8229600" cy="457200"/>
          </a:xfrm>
          <a:prstGeom prst="roundRect">
            <a:avLst>
              <a:gd name="adj" fmla="val 16000"/>
            </a:avLst>
          </a:prstGeom>
          <a:solidFill>
            <a:srgbClr val="D49A00">
              <a:alpha val="13000"/>
            </a:srgbClr>
          </a:solidFill>
          <a:ln w="9525">
            <a:solidFill>
              <a:srgbClr val="D49A00"/>
            </a:solidFill>
            <a:prstDash val="solid"/>
          </a:ln>
        </p:spPr>
      </p:sp>
      <p:pic>
        <p:nvPicPr>
          <p:cNvPr id="38" name="Image 3" descr="preencoded.png"/>
          <p:cNvPicPr>
            <a:picLocks noChangeAspect="1"/>
          </p:cNvPicPr>
          <p:nvPr/>
        </p:nvPicPr>
        <p:blipFill>
          <a:blip r:embed="rId6"/>
          <a:stretch>
            <a:fillRect/>
          </a:stretch>
        </p:blipFill>
        <p:spPr>
          <a:xfrm>
            <a:off x="621792" y="4261104"/>
            <a:ext cx="256032" cy="256032"/>
          </a:xfrm>
          <a:prstGeom prst="rect">
            <a:avLst/>
          </a:prstGeom>
        </p:spPr>
      </p:pic>
      <p:sp>
        <p:nvSpPr>
          <p:cNvPr id="39" name="Text 32"/>
          <p:cNvSpPr txBox="1"/>
          <p:nvPr/>
        </p:nvSpPr>
        <p:spPr>
          <a:xfrm>
            <a:off x="1005840" y="4160520"/>
            <a:ext cx="7498080" cy="457200"/>
          </a:xfrm>
          <a:prstGeom prst="rect">
            <a:avLst/>
          </a:prstGeom>
          <a:noFill/>
          <a:ln/>
        </p:spPr>
        <p:txBody>
          <a:bodyPr wrap="square" lIns="0" tIns="0" rIns="0" bIns="0" rtlCol="0" anchor="ctr"/>
          <a:lstStyle/>
          <a:p>
            <a:pPr marL="0" indent="0">
              <a:buNone/>
            </a:pPr>
            <a:r>
              <a:rPr lang="en-US" sz="1250" b="1" dirty="0">
                <a:solidFill>
                  <a:srgbClr val="D49A00"/>
                </a:solidFill>
                <a:latin typeface="Calibri" pitchFamily="34" charset="0"/>
                <a:ea typeface="Calibri" pitchFamily="34" charset="-122"/>
                <a:cs typeface="Calibri" pitchFamily="34" charset="-120"/>
              </a:rPr>
              <a:t>Additive, not a replacement: </a:t>
            </a:r>
            <a:r>
              <a:rPr lang="en-US" sz="1250" dirty="0">
                <a:solidFill>
                  <a:srgbClr val="231F20"/>
                </a:solidFill>
                <a:latin typeface="Calibri" pitchFamily="34" charset="0"/>
                <a:ea typeface="Calibri" pitchFamily="34" charset="-122"/>
                <a:cs typeface="Calibri" pitchFamily="34" charset="-120"/>
              </a:rPr>
              <a:t>each paradigm builds on the components of the previous one.</a:t>
            </a:r>
            <a:endParaRPr lang="en-US" sz="1250" dirty="0"/>
          </a:p>
        </p:txBody>
      </p:sp>
      <p:sp>
        <p:nvSpPr>
          <p:cNvPr id="40" name="Text 33"/>
          <p:cNvSpPr txBox="1"/>
          <p:nvPr/>
        </p:nvSpPr>
        <p:spPr>
          <a:xfrm>
            <a:off x="457200" y="4663440"/>
            <a:ext cx="685800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Framework from Gao et al., “Retrieval-Augmented Generation for Large Language Models: A Survey”, 2023.</a:t>
            </a:r>
            <a:endParaRPr lang="en-US" sz="9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EVOLUTION OF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From a one-shot pipeline to a reasoning loop</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25880"/>
            <a:ext cx="2651760" cy="2651760"/>
          </a:xfrm>
          <a:prstGeom prst="roundRect">
            <a:avLst>
              <a:gd name="adj" fmla="val 2759"/>
            </a:avLst>
          </a:prstGeom>
          <a:solidFill>
            <a:srgbClr val="F4F7F5"/>
          </a:solidFill>
          <a:ln w="9525">
            <a:solidFill>
              <a:srgbClr val="D5DED9"/>
            </a:solidFill>
            <a:prstDash val="solid"/>
          </a:ln>
        </p:spPr>
      </p:sp>
      <p:sp>
        <p:nvSpPr>
          <p:cNvPr id="18" name="Text 15"/>
          <p:cNvSpPr txBox="1"/>
          <p:nvPr/>
        </p:nvSpPr>
        <p:spPr>
          <a:xfrm>
            <a:off x="640080" y="1435608"/>
            <a:ext cx="2286000" cy="228600"/>
          </a:xfrm>
          <a:prstGeom prst="rect">
            <a:avLst/>
          </a:prstGeom>
          <a:noFill/>
          <a:ln/>
        </p:spPr>
        <p:txBody>
          <a:bodyPr wrap="square" lIns="0" tIns="0" rIns="0" bIns="0" rtlCol="0" anchor="ctr"/>
          <a:lstStyle/>
          <a:p>
            <a:pPr marL="0" indent="0">
              <a:buNone/>
            </a:pPr>
            <a:r>
              <a:rPr lang="en-US" sz="1050" b="1" kern="0" spc="200" dirty="0">
                <a:solidFill>
                  <a:srgbClr val="5E6964"/>
                </a:solidFill>
                <a:latin typeface="Calibri" pitchFamily="34" charset="0"/>
                <a:ea typeface="Calibri" pitchFamily="34" charset="-122"/>
                <a:cs typeface="Calibri" pitchFamily="34" charset="-120"/>
              </a:rPr>
              <a:t>BEFORE · ONE SHOT</a:t>
            </a:r>
            <a:endParaRPr lang="en-US" sz="1050" dirty="0"/>
          </a:p>
        </p:txBody>
      </p:sp>
      <p:sp>
        <p:nvSpPr>
          <p:cNvPr id="19" name="Shape 16"/>
          <p:cNvSpPr/>
          <p:nvPr/>
        </p:nvSpPr>
        <p:spPr>
          <a:xfrm>
            <a:off x="731520" y="1810512"/>
            <a:ext cx="438912" cy="438912"/>
          </a:xfrm>
          <a:prstGeom prst="ellipse">
            <a:avLst/>
          </a:prstGeom>
          <a:solidFill>
            <a:srgbClr val="7F8C87">
              <a:alpha val="22000"/>
            </a:srgbClr>
          </a:solidFill>
          <a:ln w="12700">
            <a:solidFill>
              <a:srgbClr val="7F8C87">
                <a:alpha val="0"/>
              </a:srgbClr>
            </a:solidFill>
            <a:prstDash val="solid"/>
          </a:ln>
        </p:spPr>
      </p:sp>
      <p:pic>
        <p:nvPicPr>
          <p:cNvPr id="20" name="Image 0" descr="preencoded.png"/>
          <p:cNvPicPr>
            <a:picLocks noChangeAspect="1"/>
          </p:cNvPicPr>
          <p:nvPr/>
        </p:nvPicPr>
        <p:blipFill>
          <a:blip r:embed="rId3"/>
          <a:stretch>
            <a:fillRect/>
          </a:stretch>
        </p:blipFill>
        <p:spPr>
          <a:xfrm>
            <a:off x="836859" y="1915851"/>
            <a:ext cx="228234" cy="228234"/>
          </a:xfrm>
          <a:prstGeom prst="rect">
            <a:avLst/>
          </a:prstGeom>
        </p:spPr>
      </p:pic>
      <p:sp>
        <p:nvSpPr>
          <p:cNvPr id="21" name="Text 17"/>
          <p:cNvSpPr txBox="1"/>
          <p:nvPr/>
        </p:nvSpPr>
        <p:spPr>
          <a:xfrm>
            <a:off x="1325880" y="1810512"/>
            <a:ext cx="1645920" cy="43891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Question</a:t>
            </a:r>
            <a:endParaRPr lang="en-US" sz="1300" dirty="0"/>
          </a:p>
        </p:txBody>
      </p:sp>
      <p:sp>
        <p:nvSpPr>
          <p:cNvPr id="22" name="Shape 18"/>
          <p:cNvSpPr/>
          <p:nvPr/>
        </p:nvSpPr>
        <p:spPr>
          <a:xfrm>
            <a:off x="950976" y="2267712"/>
            <a:ext cx="914" cy="182880"/>
          </a:xfrm>
          <a:prstGeom prst="line">
            <a:avLst/>
          </a:prstGeom>
          <a:noFill/>
          <a:ln w="19050">
            <a:solidFill>
              <a:srgbClr val="5E6964"/>
            </a:solidFill>
            <a:prstDash val="solid"/>
            <a:tailEnd type="triangle"/>
          </a:ln>
        </p:spPr>
      </p:sp>
      <p:sp>
        <p:nvSpPr>
          <p:cNvPr id="23" name="Shape 19"/>
          <p:cNvSpPr/>
          <p:nvPr/>
        </p:nvSpPr>
        <p:spPr>
          <a:xfrm>
            <a:off x="731520" y="2468880"/>
            <a:ext cx="438912" cy="438912"/>
          </a:xfrm>
          <a:prstGeom prst="ellipse">
            <a:avLst/>
          </a:prstGeom>
          <a:solidFill>
            <a:srgbClr val="7F8C87">
              <a:alpha val="22000"/>
            </a:srgbClr>
          </a:solidFill>
          <a:ln w="12700">
            <a:solidFill>
              <a:srgbClr val="7F8C87">
                <a:alpha val="0"/>
              </a:srgbClr>
            </a:solidFill>
            <a:prstDash val="solid"/>
          </a:ln>
        </p:spPr>
      </p:sp>
      <p:pic>
        <p:nvPicPr>
          <p:cNvPr id="24" name="Image 1" descr="preencoded.png"/>
          <p:cNvPicPr>
            <a:picLocks noChangeAspect="1"/>
          </p:cNvPicPr>
          <p:nvPr/>
        </p:nvPicPr>
        <p:blipFill>
          <a:blip r:embed="rId4"/>
          <a:stretch>
            <a:fillRect/>
          </a:stretch>
        </p:blipFill>
        <p:spPr>
          <a:xfrm>
            <a:off x="836859" y="2574219"/>
            <a:ext cx="228234" cy="228234"/>
          </a:xfrm>
          <a:prstGeom prst="rect">
            <a:avLst/>
          </a:prstGeom>
        </p:spPr>
      </p:pic>
      <p:sp>
        <p:nvSpPr>
          <p:cNvPr id="25" name="Text 20"/>
          <p:cNvSpPr txBox="1"/>
          <p:nvPr/>
        </p:nvSpPr>
        <p:spPr>
          <a:xfrm>
            <a:off x="1325880" y="2468880"/>
            <a:ext cx="1645920" cy="43891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Retrieve once</a:t>
            </a:r>
            <a:endParaRPr lang="en-US" sz="1300" dirty="0"/>
          </a:p>
        </p:txBody>
      </p:sp>
      <p:sp>
        <p:nvSpPr>
          <p:cNvPr id="26" name="Shape 21"/>
          <p:cNvSpPr/>
          <p:nvPr/>
        </p:nvSpPr>
        <p:spPr>
          <a:xfrm>
            <a:off x="950976" y="2926080"/>
            <a:ext cx="914" cy="182880"/>
          </a:xfrm>
          <a:prstGeom prst="line">
            <a:avLst/>
          </a:prstGeom>
          <a:noFill/>
          <a:ln w="19050">
            <a:solidFill>
              <a:srgbClr val="5E6964"/>
            </a:solidFill>
            <a:prstDash val="solid"/>
            <a:tailEnd type="triangle"/>
          </a:ln>
        </p:spPr>
      </p:sp>
      <p:sp>
        <p:nvSpPr>
          <p:cNvPr id="27" name="Shape 22"/>
          <p:cNvSpPr/>
          <p:nvPr/>
        </p:nvSpPr>
        <p:spPr>
          <a:xfrm>
            <a:off x="731520" y="3127248"/>
            <a:ext cx="438912" cy="438912"/>
          </a:xfrm>
          <a:prstGeom prst="ellipse">
            <a:avLst/>
          </a:prstGeom>
          <a:solidFill>
            <a:srgbClr val="7F8C87">
              <a:alpha val="22000"/>
            </a:srgbClr>
          </a:solidFill>
          <a:ln w="12700">
            <a:solidFill>
              <a:srgbClr val="7F8C87">
                <a:alpha val="0"/>
              </a:srgbClr>
            </a:solidFill>
            <a:prstDash val="solid"/>
          </a:ln>
        </p:spPr>
      </p:sp>
      <p:pic>
        <p:nvPicPr>
          <p:cNvPr id="28" name="Image 2" descr="preencoded.png"/>
          <p:cNvPicPr>
            <a:picLocks noChangeAspect="1"/>
          </p:cNvPicPr>
          <p:nvPr/>
        </p:nvPicPr>
        <p:blipFill>
          <a:blip r:embed="rId5"/>
          <a:stretch>
            <a:fillRect/>
          </a:stretch>
        </p:blipFill>
        <p:spPr>
          <a:xfrm>
            <a:off x="836859" y="3232587"/>
            <a:ext cx="228234" cy="228234"/>
          </a:xfrm>
          <a:prstGeom prst="rect">
            <a:avLst/>
          </a:prstGeom>
        </p:spPr>
      </p:pic>
      <p:sp>
        <p:nvSpPr>
          <p:cNvPr id="29" name="Text 23"/>
          <p:cNvSpPr txBox="1"/>
          <p:nvPr/>
        </p:nvSpPr>
        <p:spPr>
          <a:xfrm>
            <a:off x="1325880" y="3127248"/>
            <a:ext cx="1645920" cy="43891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Generate</a:t>
            </a:r>
            <a:endParaRPr lang="en-US" sz="1300" dirty="0"/>
          </a:p>
        </p:txBody>
      </p:sp>
      <p:sp>
        <p:nvSpPr>
          <p:cNvPr id="30" name="Text 24"/>
          <p:cNvSpPr txBox="1"/>
          <p:nvPr/>
        </p:nvSpPr>
        <p:spPr>
          <a:xfrm>
            <a:off x="640080" y="3657600"/>
            <a:ext cx="2331720" cy="274320"/>
          </a:xfrm>
          <a:prstGeom prst="rect">
            <a:avLst/>
          </a:prstGeom>
          <a:noFill/>
          <a:ln/>
        </p:spPr>
        <p:txBody>
          <a:bodyPr wrap="square" lIns="0" tIns="0" rIns="0" bIns="0" rtlCol="0" anchor="ctr"/>
          <a:lstStyle/>
          <a:p>
            <a:pPr marL="0" indent="0">
              <a:buNone/>
            </a:pPr>
            <a:r>
              <a:rPr lang="en-US" sz="1000" i="1" dirty="0">
                <a:solidFill>
                  <a:srgbClr val="B83B2E"/>
                </a:solidFill>
                <a:latin typeface="Calibri" pitchFamily="34" charset="0"/>
                <a:ea typeface="Calibri" pitchFamily="34" charset="-122"/>
                <a:cs typeface="Calibri" pitchFamily="34" charset="-120"/>
              </a:rPr>
              <a:t>If the first search misses, the answer fails.</a:t>
            </a:r>
            <a:endParaRPr lang="en-US" sz="1000" dirty="0"/>
          </a:p>
        </p:txBody>
      </p:sp>
      <p:sp>
        <p:nvSpPr>
          <p:cNvPr id="31" name="Shape 25"/>
          <p:cNvSpPr/>
          <p:nvPr/>
        </p:nvSpPr>
        <p:spPr>
          <a:xfrm>
            <a:off x="3337560" y="1325880"/>
            <a:ext cx="5349240" cy="2651760"/>
          </a:xfrm>
          <a:prstGeom prst="roundRect">
            <a:avLst>
              <a:gd name="adj" fmla="val 2759"/>
            </a:avLst>
          </a:prstGeom>
          <a:solidFill>
            <a:srgbClr val="E8F5EF"/>
          </a:solidFill>
          <a:ln w="15875">
            <a:solidFill>
              <a:srgbClr val="00A86A"/>
            </a:solidFill>
            <a:prstDash val="solid"/>
          </a:ln>
        </p:spPr>
      </p:sp>
      <p:sp>
        <p:nvSpPr>
          <p:cNvPr id="32" name="Text 26"/>
          <p:cNvSpPr txBox="1"/>
          <p:nvPr/>
        </p:nvSpPr>
        <p:spPr>
          <a:xfrm>
            <a:off x="3520440" y="1435608"/>
            <a:ext cx="2743200" cy="228600"/>
          </a:xfrm>
          <a:prstGeom prst="rect">
            <a:avLst/>
          </a:prstGeom>
          <a:noFill/>
          <a:ln/>
        </p:spPr>
        <p:txBody>
          <a:bodyPr wrap="square" lIns="0" tIns="0" rIns="0" bIns="0" rtlCol="0" anchor="ctr"/>
          <a:lstStyle/>
          <a:p>
            <a:pPr marL="0" indent="0">
              <a:buNone/>
            </a:pPr>
            <a:r>
              <a:rPr lang="en-US" sz="1050" b="1" kern="0" spc="200" dirty="0">
                <a:solidFill>
                  <a:srgbClr val="00704A"/>
                </a:solidFill>
                <a:latin typeface="Calibri" pitchFamily="34" charset="0"/>
                <a:ea typeface="Calibri" pitchFamily="34" charset="-122"/>
                <a:cs typeface="Calibri" pitchFamily="34" charset="-120"/>
              </a:rPr>
              <a:t>NOW · AGENTIC LOOP</a:t>
            </a:r>
            <a:endParaRPr lang="en-US" sz="1050" dirty="0"/>
          </a:p>
        </p:txBody>
      </p:sp>
      <p:sp>
        <p:nvSpPr>
          <p:cNvPr id="33" name="Shape 27"/>
          <p:cNvSpPr/>
          <p:nvPr/>
        </p:nvSpPr>
        <p:spPr>
          <a:xfrm>
            <a:off x="4727448" y="2011680"/>
            <a:ext cx="1426464" cy="1426464"/>
          </a:xfrm>
          <a:prstGeom prst="ellipse">
            <a:avLst/>
          </a:prstGeom>
          <a:solidFill>
            <a:srgbClr val="E8F5EF"/>
          </a:solidFill>
          <a:ln w="19050">
            <a:solidFill>
              <a:srgbClr val="00A86A"/>
            </a:solidFill>
            <a:prstDash val="dash"/>
          </a:ln>
        </p:spPr>
      </p:sp>
      <p:sp>
        <p:nvSpPr>
          <p:cNvPr id="34" name="Shape 28"/>
          <p:cNvSpPr/>
          <p:nvPr/>
        </p:nvSpPr>
        <p:spPr>
          <a:xfrm>
            <a:off x="5202936" y="1773936"/>
            <a:ext cx="475488" cy="475488"/>
          </a:xfrm>
          <a:prstGeom prst="ellipse">
            <a:avLst/>
          </a:prstGeom>
          <a:solidFill>
            <a:srgbClr val="FFFFFF"/>
          </a:solidFill>
          <a:ln w="19050">
            <a:solidFill>
              <a:srgbClr val="00A86A"/>
            </a:solidFill>
            <a:prstDash val="solid"/>
          </a:ln>
        </p:spPr>
      </p:sp>
      <p:pic>
        <p:nvPicPr>
          <p:cNvPr id="35" name="Image 3" descr="preencoded.png"/>
          <p:cNvPicPr>
            <a:picLocks noChangeAspect="1"/>
          </p:cNvPicPr>
          <p:nvPr/>
        </p:nvPicPr>
        <p:blipFill>
          <a:blip r:embed="rId6"/>
          <a:stretch>
            <a:fillRect/>
          </a:stretch>
        </p:blipFill>
        <p:spPr>
          <a:xfrm>
            <a:off x="5317053" y="1888053"/>
            <a:ext cx="247254" cy="247254"/>
          </a:xfrm>
          <a:prstGeom prst="rect">
            <a:avLst/>
          </a:prstGeom>
        </p:spPr>
      </p:pic>
      <p:sp>
        <p:nvSpPr>
          <p:cNvPr id="36" name="Text 29"/>
          <p:cNvSpPr txBox="1"/>
          <p:nvPr/>
        </p:nvSpPr>
        <p:spPr>
          <a:xfrm>
            <a:off x="5751576" y="1901952"/>
            <a:ext cx="914400" cy="219456"/>
          </a:xfrm>
          <a:prstGeom prst="rect">
            <a:avLst/>
          </a:prstGeom>
          <a:noFill/>
          <a:ln/>
        </p:spPr>
        <p:txBody>
          <a:bodyPr wrap="square" lIns="0" tIns="0" rIns="0" bIns="0" rtlCol="0" anchor="ctr"/>
          <a:lstStyle/>
          <a:p>
            <a:pPr marL="0" indent="0" algn="l">
              <a:buNone/>
            </a:pPr>
            <a:r>
              <a:rPr lang="en-US" sz="1100" b="1" dirty="0">
                <a:solidFill>
                  <a:srgbClr val="231F20"/>
                </a:solidFill>
                <a:latin typeface="Calibri" pitchFamily="34" charset="0"/>
                <a:ea typeface="Calibri" pitchFamily="34" charset="-122"/>
                <a:cs typeface="Calibri" pitchFamily="34" charset="-120"/>
              </a:rPr>
              <a:t>Plan / reason</a:t>
            </a:r>
            <a:endParaRPr lang="en-US" sz="1100" dirty="0"/>
          </a:p>
        </p:txBody>
      </p:sp>
      <p:sp>
        <p:nvSpPr>
          <p:cNvPr id="37" name="Shape 30"/>
          <p:cNvSpPr/>
          <p:nvPr/>
        </p:nvSpPr>
        <p:spPr>
          <a:xfrm>
            <a:off x="5916168" y="2487168"/>
            <a:ext cx="475488" cy="475488"/>
          </a:xfrm>
          <a:prstGeom prst="ellipse">
            <a:avLst/>
          </a:prstGeom>
          <a:solidFill>
            <a:srgbClr val="FFFFFF"/>
          </a:solidFill>
          <a:ln w="19050">
            <a:solidFill>
              <a:srgbClr val="00A86A"/>
            </a:solidFill>
            <a:prstDash val="solid"/>
          </a:ln>
        </p:spPr>
      </p:sp>
      <p:pic>
        <p:nvPicPr>
          <p:cNvPr id="38" name="Image 4" descr="preencoded.png"/>
          <p:cNvPicPr>
            <a:picLocks noChangeAspect="1"/>
          </p:cNvPicPr>
          <p:nvPr/>
        </p:nvPicPr>
        <p:blipFill>
          <a:blip r:embed="rId7"/>
          <a:stretch>
            <a:fillRect/>
          </a:stretch>
        </p:blipFill>
        <p:spPr>
          <a:xfrm>
            <a:off x="6030285" y="2601285"/>
            <a:ext cx="247254" cy="247254"/>
          </a:xfrm>
          <a:prstGeom prst="rect">
            <a:avLst/>
          </a:prstGeom>
        </p:spPr>
      </p:pic>
      <p:sp>
        <p:nvSpPr>
          <p:cNvPr id="39" name="Text 31"/>
          <p:cNvSpPr txBox="1"/>
          <p:nvPr/>
        </p:nvSpPr>
        <p:spPr>
          <a:xfrm>
            <a:off x="6464808" y="2615184"/>
            <a:ext cx="914400" cy="219456"/>
          </a:xfrm>
          <a:prstGeom prst="rect">
            <a:avLst/>
          </a:prstGeom>
          <a:noFill/>
          <a:ln/>
        </p:spPr>
        <p:txBody>
          <a:bodyPr wrap="square" lIns="0" tIns="0" rIns="0" bIns="0" rtlCol="0" anchor="ctr"/>
          <a:lstStyle/>
          <a:p>
            <a:pPr marL="0" indent="0" algn="l">
              <a:buNone/>
            </a:pPr>
            <a:r>
              <a:rPr lang="en-US" sz="1100" b="1" dirty="0">
                <a:solidFill>
                  <a:srgbClr val="231F20"/>
                </a:solidFill>
                <a:latin typeface="Calibri" pitchFamily="34" charset="0"/>
                <a:ea typeface="Calibri" pitchFamily="34" charset="-122"/>
                <a:cs typeface="Calibri" pitchFamily="34" charset="-120"/>
              </a:rPr>
              <a:t>Search</a:t>
            </a:r>
            <a:endParaRPr lang="en-US" sz="1100" dirty="0"/>
          </a:p>
        </p:txBody>
      </p:sp>
      <p:sp>
        <p:nvSpPr>
          <p:cNvPr id="40" name="Shape 32"/>
          <p:cNvSpPr/>
          <p:nvPr/>
        </p:nvSpPr>
        <p:spPr>
          <a:xfrm>
            <a:off x="5202936" y="3200400"/>
            <a:ext cx="475488" cy="475488"/>
          </a:xfrm>
          <a:prstGeom prst="ellipse">
            <a:avLst/>
          </a:prstGeom>
          <a:solidFill>
            <a:srgbClr val="FFFFFF"/>
          </a:solidFill>
          <a:ln w="19050">
            <a:solidFill>
              <a:srgbClr val="00A86A"/>
            </a:solidFill>
            <a:prstDash val="solid"/>
          </a:ln>
        </p:spPr>
      </p:sp>
      <p:pic>
        <p:nvPicPr>
          <p:cNvPr id="41" name="Image 5" descr="preencoded.png"/>
          <p:cNvPicPr>
            <a:picLocks noChangeAspect="1"/>
          </p:cNvPicPr>
          <p:nvPr/>
        </p:nvPicPr>
        <p:blipFill>
          <a:blip r:embed="rId8"/>
          <a:stretch>
            <a:fillRect/>
          </a:stretch>
        </p:blipFill>
        <p:spPr>
          <a:xfrm>
            <a:off x="5317053" y="3314517"/>
            <a:ext cx="247254" cy="247254"/>
          </a:xfrm>
          <a:prstGeom prst="rect">
            <a:avLst/>
          </a:prstGeom>
        </p:spPr>
      </p:pic>
      <p:sp>
        <p:nvSpPr>
          <p:cNvPr id="42" name="Text 33"/>
          <p:cNvSpPr txBox="1"/>
          <p:nvPr/>
        </p:nvSpPr>
        <p:spPr>
          <a:xfrm>
            <a:off x="5751576" y="3328416"/>
            <a:ext cx="914400" cy="219456"/>
          </a:xfrm>
          <a:prstGeom prst="rect">
            <a:avLst/>
          </a:prstGeom>
          <a:noFill/>
          <a:ln/>
        </p:spPr>
        <p:txBody>
          <a:bodyPr wrap="square" lIns="0" tIns="0" rIns="0" bIns="0" rtlCol="0" anchor="ctr"/>
          <a:lstStyle/>
          <a:p>
            <a:pPr marL="0" indent="0" algn="l">
              <a:buNone/>
            </a:pPr>
            <a:r>
              <a:rPr lang="en-US" sz="1100" b="1" dirty="0">
                <a:solidFill>
                  <a:srgbClr val="231F20"/>
                </a:solidFill>
                <a:latin typeface="Calibri" pitchFamily="34" charset="0"/>
                <a:ea typeface="Calibri" pitchFamily="34" charset="-122"/>
                <a:cs typeface="Calibri" pitchFamily="34" charset="-120"/>
              </a:rPr>
              <a:t>Read &amp; judge</a:t>
            </a:r>
            <a:endParaRPr lang="en-US" sz="1100" dirty="0"/>
          </a:p>
        </p:txBody>
      </p:sp>
      <p:sp>
        <p:nvSpPr>
          <p:cNvPr id="43" name="Shape 34"/>
          <p:cNvSpPr/>
          <p:nvPr/>
        </p:nvSpPr>
        <p:spPr>
          <a:xfrm>
            <a:off x="4489704" y="2487168"/>
            <a:ext cx="475488" cy="475488"/>
          </a:xfrm>
          <a:prstGeom prst="ellipse">
            <a:avLst/>
          </a:prstGeom>
          <a:solidFill>
            <a:srgbClr val="FFFFFF"/>
          </a:solidFill>
          <a:ln w="19050">
            <a:solidFill>
              <a:srgbClr val="00A86A"/>
            </a:solidFill>
            <a:prstDash val="solid"/>
          </a:ln>
        </p:spPr>
      </p:sp>
      <p:pic>
        <p:nvPicPr>
          <p:cNvPr id="44" name="Image 6" descr="preencoded.png"/>
          <p:cNvPicPr>
            <a:picLocks noChangeAspect="1"/>
          </p:cNvPicPr>
          <p:nvPr/>
        </p:nvPicPr>
        <p:blipFill>
          <a:blip r:embed="rId9"/>
          <a:stretch>
            <a:fillRect/>
          </a:stretch>
        </p:blipFill>
        <p:spPr>
          <a:xfrm>
            <a:off x="4603821" y="2601285"/>
            <a:ext cx="247254" cy="247254"/>
          </a:xfrm>
          <a:prstGeom prst="rect">
            <a:avLst/>
          </a:prstGeom>
        </p:spPr>
      </p:pic>
      <p:sp>
        <p:nvSpPr>
          <p:cNvPr id="45" name="Text 35"/>
          <p:cNvSpPr txBox="1"/>
          <p:nvPr/>
        </p:nvSpPr>
        <p:spPr>
          <a:xfrm>
            <a:off x="3502152" y="2615184"/>
            <a:ext cx="914400" cy="219456"/>
          </a:xfrm>
          <a:prstGeom prst="rect">
            <a:avLst/>
          </a:prstGeom>
          <a:noFill/>
          <a:ln/>
        </p:spPr>
        <p:txBody>
          <a:bodyPr wrap="square" lIns="0" tIns="0" rIns="0" bIns="0" rtlCol="0" anchor="ctr"/>
          <a:lstStyle/>
          <a:p>
            <a:pPr marL="0" indent="0" algn="r">
              <a:buNone/>
            </a:pPr>
            <a:r>
              <a:rPr lang="en-US" sz="1100" b="1" dirty="0">
                <a:solidFill>
                  <a:srgbClr val="231F20"/>
                </a:solidFill>
                <a:latin typeface="Calibri" pitchFamily="34" charset="0"/>
                <a:ea typeface="Calibri" pitchFamily="34" charset="-122"/>
                <a:cs typeface="Calibri" pitchFamily="34" charset="-120"/>
              </a:rPr>
              <a:t>Refine query</a:t>
            </a:r>
            <a:endParaRPr lang="en-US" sz="1100" dirty="0"/>
          </a:p>
        </p:txBody>
      </p:sp>
      <p:sp>
        <p:nvSpPr>
          <p:cNvPr id="46" name="Text 36"/>
          <p:cNvSpPr txBox="1"/>
          <p:nvPr/>
        </p:nvSpPr>
        <p:spPr>
          <a:xfrm>
            <a:off x="4937760" y="2569464"/>
            <a:ext cx="1005840" cy="310896"/>
          </a:xfrm>
          <a:prstGeom prst="rect">
            <a:avLst/>
          </a:prstGeom>
          <a:noFill/>
          <a:ln/>
        </p:spPr>
        <p:txBody>
          <a:bodyPr wrap="square" lIns="0" tIns="0" rIns="0" bIns="0" rtlCol="0" anchor="ctr"/>
          <a:lstStyle/>
          <a:p>
            <a:pPr marL="0" indent="0" algn="ctr">
              <a:buNone/>
            </a:pPr>
            <a:r>
              <a:rPr lang="en-US" sz="850" i="1" dirty="0">
                <a:solidFill>
                  <a:srgbClr val="5E6964"/>
                </a:solidFill>
                <a:latin typeface="Calibri" pitchFamily="34" charset="0"/>
                <a:ea typeface="Calibri" pitchFamily="34" charset="-122"/>
                <a:cs typeface="Calibri" pitchFamily="34" charset="-120"/>
              </a:rPr>
              <a:t>until the evidence is sufficient</a:t>
            </a:r>
            <a:endParaRPr lang="en-US" sz="850" dirty="0"/>
          </a:p>
        </p:txBody>
      </p:sp>
      <p:sp>
        <p:nvSpPr>
          <p:cNvPr id="47" name="Shape 37"/>
          <p:cNvSpPr/>
          <p:nvPr/>
        </p:nvSpPr>
        <p:spPr>
          <a:xfrm>
            <a:off x="6967728" y="2724912"/>
            <a:ext cx="420624" cy="914"/>
          </a:xfrm>
          <a:prstGeom prst="line">
            <a:avLst/>
          </a:prstGeom>
          <a:noFill/>
          <a:ln w="25400">
            <a:solidFill>
              <a:srgbClr val="D49A00"/>
            </a:solidFill>
            <a:prstDash val="solid"/>
            <a:tailEnd type="triangle"/>
          </a:ln>
        </p:spPr>
      </p:sp>
      <p:sp>
        <p:nvSpPr>
          <p:cNvPr id="48" name="Shape 38"/>
          <p:cNvSpPr/>
          <p:nvPr/>
        </p:nvSpPr>
        <p:spPr>
          <a:xfrm>
            <a:off x="7452360" y="2441448"/>
            <a:ext cx="566928" cy="566928"/>
          </a:xfrm>
          <a:prstGeom prst="ellipse">
            <a:avLst/>
          </a:prstGeom>
          <a:solidFill>
            <a:srgbClr val="F5C242"/>
          </a:solidFill>
          <a:ln w="12700">
            <a:solidFill>
              <a:srgbClr val="F5C242"/>
            </a:solidFill>
            <a:prstDash val="solid"/>
          </a:ln>
        </p:spPr>
      </p:sp>
      <p:pic>
        <p:nvPicPr>
          <p:cNvPr id="49" name="Image 7" descr="preencoded.png"/>
          <p:cNvPicPr>
            <a:picLocks noChangeAspect="1"/>
          </p:cNvPicPr>
          <p:nvPr/>
        </p:nvPicPr>
        <p:blipFill>
          <a:blip r:embed="rId10"/>
          <a:stretch>
            <a:fillRect/>
          </a:stretch>
        </p:blipFill>
        <p:spPr>
          <a:xfrm>
            <a:off x="7588423" y="2577511"/>
            <a:ext cx="294803" cy="294803"/>
          </a:xfrm>
          <a:prstGeom prst="rect">
            <a:avLst/>
          </a:prstGeom>
        </p:spPr>
      </p:pic>
      <p:sp>
        <p:nvSpPr>
          <p:cNvPr id="50" name="Text 39"/>
          <p:cNvSpPr txBox="1"/>
          <p:nvPr/>
        </p:nvSpPr>
        <p:spPr>
          <a:xfrm>
            <a:off x="7095744" y="3072384"/>
            <a:ext cx="1280160" cy="274320"/>
          </a:xfrm>
          <a:prstGeom prst="rect">
            <a:avLst/>
          </a:prstGeom>
          <a:noFill/>
          <a:ln/>
        </p:spPr>
        <p:txBody>
          <a:bodyPr wrap="square" lIns="0" tIns="0" rIns="0" bIns="0" rtlCol="0" anchor="ctr"/>
          <a:lstStyle/>
          <a:p>
            <a:pPr marL="0" indent="0" algn="ctr">
              <a:buNone/>
            </a:pPr>
            <a:r>
              <a:rPr lang="en-US" sz="1100" b="1" dirty="0">
                <a:solidFill>
                  <a:srgbClr val="00704A"/>
                </a:solidFill>
                <a:latin typeface="Calibri" pitchFamily="34" charset="0"/>
                <a:ea typeface="Calibri" pitchFamily="34" charset="-122"/>
                <a:cs typeface="Calibri" pitchFamily="34" charset="-120"/>
              </a:rPr>
              <a:t>Answer + sources</a:t>
            </a:r>
            <a:endParaRPr lang="en-US" sz="1100" dirty="0"/>
          </a:p>
        </p:txBody>
      </p:sp>
      <p:sp>
        <p:nvSpPr>
          <p:cNvPr id="51" name="Shape 40"/>
          <p:cNvSpPr/>
          <p:nvPr/>
        </p:nvSpPr>
        <p:spPr>
          <a:xfrm>
            <a:off x="457200" y="4096512"/>
            <a:ext cx="2615184" cy="603504"/>
          </a:xfrm>
          <a:prstGeom prst="roundRect">
            <a:avLst>
              <a:gd name="adj" fmla="val 12121"/>
            </a:avLst>
          </a:prstGeom>
          <a:solidFill>
            <a:srgbClr val="F4F7F5"/>
          </a:solidFill>
          <a:ln w="9525">
            <a:solidFill>
              <a:srgbClr val="D5DED9"/>
            </a:solidFill>
            <a:prstDash val="solid"/>
          </a:ln>
        </p:spPr>
      </p:sp>
      <p:sp>
        <p:nvSpPr>
          <p:cNvPr id="52" name="Text 41"/>
          <p:cNvSpPr txBox="1"/>
          <p:nvPr/>
        </p:nvSpPr>
        <p:spPr>
          <a:xfrm>
            <a:off x="594360" y="4133088"/>
            <a:ext cx="2377440" cy="228600"/>
          </a:xfrm>
          <a:prstGeom prst="rect">
            <a:avLst/>
          </a:prstGeom>
          <a:noFill/>
          <a:ln/>
        </p:spPr>
        <p:txBody>
          <a:bodyPr wrap="square" lIns="0" tIns="0" rIns="0" bIns="0" rtlCol="0" anchor="ctr"/>
          <a:lstStyle/>
          <a:p>
            <a:pPr marL="0" indent="0">
              <a:buNone/>
            </a:pPr>
            <a:r>
              <a:rPr lang="en-US" sz="1250" b="1" dirty="0">
                <a:solidFill>
                  <a:srgbClr val="00704A"/>
                </a:solidFill>
                <a:latin typeface="Calibri" pitchFamily="34" charset="0"/>
                <a:ea typeface="Calibri" pitchFamily="34" charset="-122"/>
                <a:cs typeface="Calibri" pitchFamily="34" charset="-120"/>
              </a:rPr>
              <a:t>IRCoT  </a:t>
            </a:r>
            <a:r>
              <a:rPr lang="en-US" sz="900" i="1" dirty="0">
                <a:solidFill>
                  <a:srgbClr val="5E6964"/>
                </a:solidFill>
                <a:latin typeface="Calibri" pitchFamily="34" charset="0"/>
                <a:ea typeface="Calibri" pitchFamily="34" charset="-122"/>
                <a:cs typeface="Calibri" pitchFamily="34" charset="-120"/>
              </a:rPr>
              <a:t>Trivedi et al., 2023</a:t>
            </a:r>
            <a:endParaRPr lang="en-US" sz="1250" dirty="0"/>
          </a:p>
        </p:txBody>
      </p:sp>
      <p:sp>
        <p:nvSpPr>
          <p:cNvPr id="53" name="Text 42"/>
          <p:cNvSpPr txBox="1"/>
          <p:nvPr/>
        </p:nvSpPr>
        <p:spPr>
          <a:xfrm>
            <a:off x="594360" y="4370832"/>
            <a:ext cx="2377440" cy="310896"/>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Interleaves retrieval with each chain-of-thought step.</a:t>
            </a:r>
            <a:endParaRPr lang="en-US" sz="1000" dirty="0"/>
          </a:p>
        </p:txBody>
      </p:sp>
      <p:sp>
        <p:nvSpPr>
          <p:cNvPr id="54" name="Shape 43"/>
          <p:cNvSpPr/>
          <p:nvPr/>
        </p:nvSpPr>
        <p:spPr>
          <a:xfrm>
            <a:off x="3264408" y="4096512"/>
            <a:ext cx="2615184" cy="603504"/>
          </a:xfrm>
          <a:prstGeom prst="roundRect">
            <a:avLst>
              <a:gd name="adj" fmla="val 12121"/>
            </a:avLst>
          </a:prstGeom>
          <a:solidFill>
            <a:srgbClr val="F4F7F5"/>
          </a:solidFill>
          <a:ln w="9525">
            <a:solidFill>
              <a:srgbClr val="D5DED9"/>
            </a:solidFill>
            <a:prstDash val="solid"/>
          </a:ln>
        </p:spPr>
      </p:sp>
      <p:sp>
        <p:nvSpPr>
          <p:cNvPr id="55" name="Text 44"/>
          <p:cNvSpPr txBox="1"/>
          <p:nvPr/>
        </p:nvSpPr>
        <p:spPr>
          <a:xfrm>
            <a:off x="3401568" y="4133088"/>
            <a:ext cx="2377440" cy="228600"/>
          </a:xfrm>
          <a:prstGeom prst="rect">
            <a:avLst/>
          </a:prstGeom>
          <a:noFill/>
          <a:ln/>
        </p:spPr>
        <p:txBody>
          <a:bodyPr wrap="square" lIns="0" tIns="0" rIns="0" bIns="0" rtlCol="0" anchor="ctr"/>
          <a:lstStyle/>
          <a:p>
            <a:pPr marL="0" indent="0">
              <a:buNone/>
            </a:pPr>
            <a:r>
              <a:rPr lang="en-US" sz="1250" b="1" dirty="0">
                <a:solidFill>
                  <a:srgbClr val="00704A"/>
                </a:solidFill>
                <a:latin typeface="Calibri" pitchFamily="34" charset="0"/>
                <a:ea typeface="Calibri" pitchFamily="34" charset="-122"/>
                <a:cs typeface="Calibri" pitchFamily="34" charset="-120"/>
              </a:rPr>
              <a:t>FLARE  </a:t>
            </a:r>
            <a:r>
              <a:rPr lang="en-US" sz="900" i="1" dirty="0">
                <a:solidFill>
                  <a:srgbClr val="5E6964"/>
                </a:solidFill>
                <a:latin typeface="Calibri" pitchFamily="34" charset="0"/>
                <a:ea typeface="Calibri" pitchFamily="34" charset="-122"/>
                <a:cs typeface="Calibri" pitchFamily="34" charset="-120"/>
              </a:rPr>
              <a:t>Jiang et al., 2023</a:t>
            </a:r>
            <a:endParaRPr lang="en-US" sz="1250" dirty="0"/>
          </a:p>
        </p:txBody>
      </p:sp>
      <p:sp>
        <p:nvSpPr>
          <p:cNvPr id="56" name="Text 45"/>
          <p:cNvSpPr txBox="1"/>
          <p:nvPr/>
        </p:nvSpPr>
        <p:spPr>
          <a:xfrm>
            <a:off x="3401568" y="4370832"/>
            <a:ext cx="2377440" cy="310896"/>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Retrieves when the next sentence contains low-confidence tokens.</a:t>
            </a:r>
            <a:endParaRPr lang="en-US" sz="1000" dirty="0"/>
          </a:p>
        </p:txBody>
      </p:sp>
      <p:sp>
        <p:nvSpPr>
          <p:cNvPr id="57" name="Shape 46"/>
          <p:cNvSpPr/>
          <p:nvPr/>
        </p:nvSpPr>
        <p:spPr>
          <a:xfrm>
            <a:off x="6071616" y="4096512"/>
            <a:ext cx="2615184" cy="603504"/>
          </a:xfrm>
          <a:prstGeom prst="roundRect">
            <a:avLst>
              <a:gd name="adj" fmla="val 12121"/>
            </a:avLst>
          </a:prstGeom>
          <a:solidFill>
            <a:srgbClr val="F4F7F5"/>
          </a:solidFill>
          <a:ln w="9525">
            <a:solidFill>
              <a:srgbClr val="D5DED9"/>
            </a:solidFill>
            <a:prstDash val="solid"/>
          </a:ln>
        </p:spPr>
      </p:sp>
      <p:sp>
        <p:nvSpPr>
          <p:cNvPr id="58" name="Text 47"/>
          <p:cNvSpPr txBox="1"/>
          <p:nvPr/>
        </p:nvSpPr>
        <p:spPr>
          <a:xfrm>
            <a:off x="6208776" y="4133088"/>
            <a:ext cx="2377440" cy="228600"/>
          </a:xfrm>
          <a:prstGeom prst="rect">
            <a:avLst/>
          </a:prstGeom>
          <a:noFill/>
          <a:ln/>
        </p:spPr>
        <p:txBody>
          <a:bodyPr wrap="square" lIns="0" tIns="0" rIns="0" bIns="0" rtlCol="0" anchor="ctr"/>
          <a:lstStyle/>
          <a:p>
            <a:pPr marL="0" indent="0">
              <a:buNone/>
            </a:pPr>
            <a:r>
              <a:rPr lang="en-US" sz="1250" b="1" dirty="0">
                <a:solidFill>
                  <a:srgbClr val="00704A"/>
                </a:solidFill>
                <a:latin typeface="Calibri" pitchFamily="34" charset="0"/>
                <a:ea typeface="Calibri" pitchFamily="34" charset="-122"/>
                <a:cs typeface="Calibri" pitchFamily="34" charset="-120"/>
              </a:rPr>
              <a:t>Search-R1  </a:t>
            </a:r>
            <a:r>
              <a:rPr lang="en-US" sz="900" i="1" dirty="0">
                <a:solidFill>
                  <a:srgbClr val="5E6964"/>
                </a:solidFill>
                <a:latin typeface="Calibri" pitchFamily="34" charset="0"/>
                <a:ea typeface="Calibri" pitchFamily="34" charset="-122"/>
                <a:cs typeface="Calibri" pitchFamily="34" charset="-120"/>
              </a:rPr>
              <a:t>Jin et al., 2025</a:t>
            </a:r>
            <a:endParaRPr lang="en-US" sz="1250" dirty="0"/>
          </a:p>
        </p:txBody>
      </p:sp>
      <p:sp>
        <p:nvSpPr>
          <p:cNvPr id="59" name="Text 48"/>
          <p:cNvSpPr txBox="1"/>
          <p:nvPr/>
        </p:nvSpPr>
        <p:spPr>
          <a:xfrm>
            <a:off x="6208776" y="4370832"/>
            <a:ext cx="2377440" cy="310896"/>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LLM trained with RL to issue multiple searches while reasoning.</a:t>
            </a:r>
            <a:endParaRPr lang="en-US" sz="10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EVOLUTION OF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Bigger context windows changed RAG's role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graphicFrame>
        <p:nvGraphicFramePr>
          <p:cNvPr id="17" name="Chart 0"/>
          <p:cNvGraphicFramePr/>
          <p:nvPr/>
        </p:nvGraphicFramePr>
        <p:xfrm>
          <a:off x="365760" y="1280160"/>
          <a:ext cx="5029200" cy="3310128"/>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4"/>
          <p:cNvSpPr txBox="1"/>
          <p:nvPr/>
        </p:nvSpPr>
        <p:spPr>
          <a:xfrm>
            <a:off x="457200" y="4617720"/>
            <a:ext cx="457200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Figures as announced by each provider.</a:t>
            </a:r>
            <a:endParaRPr lang="en-US" sz="900" dirty="0"/>
          </a:p>
        </p:txBody>
      </p:sp>
      <p:sp>
        <p:nvSpPr>
          <p:cNvPr id="19" name="Shape 15"/>
          <p:cNvSpPr/>
          <p:nvPr/>
        </p:nvSpPr>
        <p:spPr>
          <a:xfrm>
            <a:off x="5623560" y="1325880"/>
            <a:ext cx="3063240" cy="914400"/>
          </a:xfrm>
          <a:prstGeom prst="roundRect">
            <a:avLst>
              <a:gd name="adj" fmla="val 8000"/>
            </a:avLst>
          </a:prstGeom>
          <a:solidFill>
            <a:srgbClr val="F4F7F5"/>
          </a:solidFill>
          <a:ln w="9525">
            <a:solidFill>
              <a:srgbClr val="D5DED9"/>
            </a:solidFill>
            <a:prstDash val="solid"/>
          </a:ln>
        </p:spPr>
      </p:sp>
      <p:sp>
        <p:nvSpPr>
          <p:cNvPr id="20" name="Text 16"/>
          <p:cNvSpPr txBox="1"/>
          <p:nvPr/>
        </p:nvSpPr>
        <p:spPr>
          <a:xfrm>
            <a:off x="5806440" y="1325880"/>
            <a:ext cx="2743200" cy="914400"/>
          </a:xfrm>
          <a:prstGeom prst="rect">
            <a:avLst/>
          </a:prstGeom>
          <a:noFill/>
          <a:ln/>
        </p:spPr>
        <p:txBody>
          <a:bodyPr wrap="square" lIns="0" tIns="0" rIns="0" bIns="0" rtlCol="0" anchor="ctr"/>
          <a:lstStyle/>
          <a:p>
            <a:pPr marL="0" indent="0">
              <a:buNone/>
            </a:pPr>
            <a:r>
              <a:rPr lang="en-US" sz="1150" b="1" dirty="0">
                <a:solidFill>
                  <a:srgbClr val="5E6964"/>
                </a:solidFill>
                <a:latin typeface="Calibri" pitchFamily="34" charset="0"/>
                <a:ea typeface="Calibri" pitchFamily="34" charset="-122"/>
                <a:cs typeface="Calibri" pitchFamily="34" charset="-120"/>
              </a:rPr>
              <a:t>Then: </a:t>
            </a:r>
            <a:r>
              <a:rPr lang="en-US" sz="1150" dirty="0">
                <a:solidFill>
                  <a:srgbClr val="231F20"/>
                </a:solidFill>
                <a:latin typeface="Calibri" pitchFamily="34" charset="0"/>
                <a:ea typeface="Calibri" pitchFamily="34" charset="-122"/>
                <a:cs typeface="Calibri" pitchFamily="34" charset="-120"/>
              </a:rPr>
              <a:t>RAG was a workaround — models could read only a few pages at once.</a:t>
            </a:r>
            <a:endParaRPr lang="en-US" sz="1150" dirty="0"/>
          </a:p>
        </p:txBody>
      </p:sp>
      <p:sp>
        <p:nvSpPr>
          <p:cNvPr id="21" name="Shape 17"/>
          <p:cNvSpPr/>
          <p:nvPr/>
        </p:nvSpPr>
        <p:spPr>
          <a:xfrm>
            <a:off x="5623560" y="2359152"/>
            <a:ext cx="3063240" cy="1371600"/>
          </a:xfrm>
          <a:prstGeom prst="roundRect">
            <a:avLst>
              <a:gd name="adj" fmla="val 5333"/>
            </a:avLst>
          </a:prstGeom>
          <a:solidFill>
            <a:srgbClr val="E8F5EF"/>
          </a:solidFill>
          <a:ln w="15875">
            <a:solidFill>
              <a:srgbClr val="00A86A"/>
            </a:solidFill>
            <a:prstDash val="solid"/>
          </a:ln>
        </p:spPr>
      </p:sp>
      <p:sp>
        <p:nvSpPr>
          <p:cNvPr id="22" name="Text 18"/>
          <p:cNvSpPr txBox="1"/>
          <p:nvPr/>
        </p:nvSpPr>
        <p:spPr>
          <a:xfrm>
            <a:off x="5806440" y="2359152"/>
            <a:ext cx="2743200" cy="1371600"/>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Evidence: </a:t>
            </a:r>
            <a:r>
              <a:rPr lang="en-US" sz="1100" dirty="0">
                <a:solidFill>
                  <a:srgbClr val="231F20"/>
                </a:solidFill>
                <a:latin typeface="Calibri" pitchFamily="34" charset="0"/>
                <a:ea typeface="Calibri" pitchFamily="34" charset="-122"/>
                <a:cs typeface="Calibri" pitchFamily="34" charset="-120"/>
              </a:rPr>
              <a:t>long-context models can beat RAG on average, but RAG costs far less. Self-Route (Li et al., 2024) tries RAG first and falls back to full context only when needed.</a:t>
            </a:r>
            <a:endParaRPr lang="en-US" sz="1100" dirty="0"/>
          </a:p>
        </p:txBody>
      </p:sp>
      <p:sp>
        <p:nvSpPr>
          <p:cNvPr id="23" name="Shape 19"/>
          <p:cNvSpPr/>
          <p:nvPr/>
        </p:nvSpPr>
        <p:spPr>
          <a:xfrm>
            <a:off x="5623560" y="3840480"/>
            <a:ext cx="3063240" cy="822960"/>
          </a:xfrm>
          <a:prstGeom prst="roundRect">
            <a:avLst>
              <a:gd name="adj" fmla="val 8889"/>
            </a:avLst>
          </a:prstGeom>
          <a:solidFill>
            <a:srgbClr val="FDF3D7"/>
          </a:solidFill>
          <a:ln w="15875">
            <a:solidFill>
              <a:srgbClr val="D49A00"/>
            </a:solidFill>
            <a:prstDash val="solid"/>
          </a:ln>
        </p:spPr>
      </p:sp>
      <p:sp>
        <p:nvSpPr>
          <p:cNvPr id="24" name="Text 20"/>
          <p:cNvSpPr txBox="1"/>
          <p:nvPr/>
        </p:nvSpPr>
        <p:spPr>
          <a:xfrm>
            <a:off x="5806440" y="3840480"/>
            <a:ext cx="2743200" cy="822960"/>
          </a:xfrm>
          <a:prstGeom prst="rect">
            <a:avLst/>
          </a:prstGeom>
          <a:noFill/>
          <a:ln/>
        </p:spPr>
        <p:txBody>
          <a:bodyPr wrap="square" lIns="0" tIns="0" rIns="0" bIns="0" rtlCol="0" anchor="ctr"/>
          <a:lstStyle/>
          <a:p>
            <a:pPr marL="0" indent="0">
              <a:buNone/>
            </a:pPr>
            <a:r>
              <a:rPr lang="en-US" sz="1150" b="1" dirty="0">
                <a:solidFill>
                  <a:srgbClr val="D49A00"/>
                </a:solidFill>
                <a:latin typeface="Calibri" pitchFamily="34" charset="0"/>
                <a:ea typeface="Calibri" pitchFamily="34" charset="-122"/>
                <a:cs typeface="Calibri" pitchFamily="34" charset="-120"/>
              </a:rPr>
              <a:t>Now: </a:t>
            </a:r>
            <a:r>
              <a:rPr lang="en-US" sz="1150" dirty="0">
                <a:solidFill>
                  <a:srgbClr val="231F20"/>
                </a:solidFill>
                <a:latin typeface="Calibri" pitchFamily="34" charset="0"/>
                <a:ea typeface="Calibri" pitchFamily="34" charset="-122"/>
                <a:cs typeface="Calibri" pitchFamily="34" charset="-120"/>
              </a:rPr>
              <a:t>RAG is the layer for cost, freshness, access control and precision.</a:t>
            </a:r>
            <a:endParaRPr lang="en-US" sz="11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05</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Advanced techniques</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Which techniques push answer quality further?</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5C242"/>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icPr>
            <a:picLocks noChangeAspect="1"/>
          </p:cNvPicPr>
          <p:nvPr/>
        </p:nvPicPr>
        <p:blipFill>
          <a:blip r:embed="rId4"/>
          <a:stretch>
            <a:fillRect/>
          </a:stretch>
        </p:blipFill>
        <p:spPr>
          <a:xfrm>
            <a:off x="6777533" y="2205533"/>
            <a:ext cx="618134" cy="618134"/>
          </a:xfrm>
          <a:prstGeom prst="rect">
            <a:avLst/>
          </a:prstGeom>
        </p:spPr>
      </p:pic>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ADVANCED TECHNIQUES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Advanced RAG techniques in practice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C4621D"/>
          </a:solidFill>
          <a:ln w="12700">
            <a:solidFill>
              <a:srgbClr val="C4621D"/>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7" name="Shape 14"/>
          <p:cNvSpPr/>
          <p:nvPr/>
        </p:nvSpPr>
        <p:spPr>
          <a:xfrm>
            <a:off x="457200" y="1325880"/>
            <a:ext cx="1938528" cy="1463040"/>
          </a:xfrm>
          <a:prstGeom prst="roundRect">
            <a:avLst>
              <a:gd name="adj" fmla="val 5000"/>
            </a:avLst>
          </a:prstGeom>
          <a:solidFill>
            <a:srgbClr val="F4F7F5"/>
          </a:solidFill>
          <a:ln w="9525">
            <a:solidFill>
              <a:srgbClr val="D5DED9"/>
            </a:solidFill>
            <a:prstDash val="solid"/>
          </a:ln>
        </p:spPr>
      </p:sp>
      <p:sp>
        <p:nvSpPr>
          <p:cNvPr id="18" name="Shape 15"/>
          <p:cNvSpPr/>
          <p:nvPr/>
        </p:nvSpPr>
        <p:spPr>
          <a:xfrm>
            <a:off x="594360" y="1463040"/>
            <a:ext cx="411480" cy="41148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693115" y="1561795"/>
            <a:ext cx="213970" cy="213970"/>
          </a:xfrm>
          <a:prstGeom prst="rect">
            <a:avLst/>
          </a:prstGeom>
        </p:spPr>
      </p:pic>
      <p:sp>
        <p:nvSpPr>
          <p:cNvPr id="20" name="Text 16"/>
          <p:cNvSpPr txBox="1"/>
          <p:nvPr/>
        </p:nvSpPr>
        <p:spPr>
          <a:xfrm>
            <a:off x="1097280" y="15636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Gao et al., 2022</a:t>
            </a:r>
            <a:endParaRPr lang="en-US" sz="900" dirty="0"/>
          </a:p>
        </p:txBody>
      </p:sp>
      <p:sp>
        <p:nvSpPr>
          <p:cNvPr id="21" name="Text 17"/>
          <p:cNvSpPr txBox="1"/>
          <p:nvPr/>
        </p:nvSpPr>
        <p:spPr>
          <a:xfrm>
            <a:off x="594360" y="19476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HyDE</a:t>
            </a:r>
            <a:endParaRPr lang="en-US" sz="1300" dirty="0"/>
          </a:p>
        </p:txBody>
      </p:sp>
      <p:sp>
        <p:nvSpPr>
          <p:cNvPr id="22" name="Text 18"/>
          <p:cNvSpPr txBox="1"/>
          <p:nvPr/>
        </p:nvSpPr>
        <p:spPr>
          <a:xfrm>
            <a:off x="594360" y="2212848"/>
            <a:ext cx="169164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LLM writes a hypothetical answer; its embedding is used to search.</a:t>
            </a:r>
            <a:endParaRPr lang="en-US" sz="1000" dirty="0"/>
          </a:p>
        </p:txBody>
      </p:sp>
      <p:sp>
        <p:nvSpPr>
          <p:cNvPr id="23" name="Shape 19"/>
          <p:cNvSpPr/>
          <p:nvPr/>
        </p:nvSpPr>
        <p:spPr>
          <a:xfrm>
            <a:off x="2560320" y="1325880"/>
            <a:ext cx="1938528" cy="1463040"/>
          </a:xfrm>
          <a:prstGeom prst="roundRect">
            <a:avLst>
              <a:gd name="adj" fmla="val 5000"/>
            </a:avLst>
          </a:prstGeom>
          <a:solidFill>
            <a:srgbClr val="F4F7F5"/>
          </a:solidFill>
          <a:ln w="9525">
            <a:solidFill>
              <a:srgbClr val="D5DED9"/>
            </a:solidFill>
            <a:prstDash val="solid"/>
          </a:ln>
        </p:spPr>
      </p:sp>
      <p:sp>
        <p:nvSpPr>
          <p:cNvPr id="24" name="Shape 20"/>
          <p:cNvSpPr/>
          <p:nvPr/>
        </p:nvSpPr>
        <p:spPr>
          <a:xfrm>
            <a:off x="2697480" y="1463040"/>
            <a:ext cx="411480" cy="411480"/>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icPr>
            <a:picLocks noChangeAspect="1"/>
          </p:cNvPicPr>
          <p:nvPr/>
        </p:nvPicPr>
        <p:blipFill>
          <a:blip r:embed="rId4"/>
          <a:stretch>
            <a:fillRect/>
          </a:stretch>
        </p:blipFill>
        <p:spPr>
          <a:xfrm>
            <a:off x="2796235" y="1561795"/>
            <a:ext cx="213970" cy="213970"/>
          </a:xfrm>
          <a:prstGeom prst="rect">
            <a:avLst/>
          </a:prstGeom>
        </p:spPr>
      </p:pic>
      <p:sp>
        <p:nvSpPr>
          <p:cNvPr id="26" name="Text 21"/>
          <p:cNvSpPr txBox="1"/>
          <p:nvPr/>
        </p:nvSpPr>
        <p:spPr>
          <a:xfrm>
            <a:off x="3200400" y="15636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Query transformation</a:t>
            </a:r>
            <a:endParaRPr lang="en-US" sz="900" dirty="0"/>
          </a:p>
        </p:txBody>
      </p:sp>
      <p:sp>
        <p:nvSpPr>
          <p:cNvPr id="27" name="Text 22"/>
          <p:cNvSpPr txBox="1"/>
          <p:nvPr/>
        </p:nvSpPr>
        <p:spPr>
          <a:xfrm>
            <a:off x="2697480" y="19476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Multi-query rewriting</a:t>
            </a:r>
            <a:endParaRPr lang="en-US" sz="1300" dirty="0"/>
          </a:p>
        </p:txBody>
      </p:sp>
      <p:sp>
        <p:nvSpPr>
          <p:cNvPr id="28" name="Text 23"/>
          <p:cNvSpPr txBox="1"/>
          <p:nvPr/>
        </p:nvSpPr>
        <p:spPr>
          <a:xfrm>
            <a:off x="2697480" y="2212848"/>
            <a:ext cx="169164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Rewrites or splits a question into sub-queries, then merges results.</a:t>
            </a:r>
            <a:endParaRPr lang="en-US" sz="1000" dirty="0"/>
          </a:p>
        </p:txBody>
      </p:sp>
      <p:sp>
        <p:nvSpPr>
          <p:cNvPr id="29" name="Shape 24"/>
          <p:cNvSpPr/>
          <p:nvPr/>
        </p:nvSpPr>
        <p:spPr>
          <a:xfrm>
            <a:off x="4663440" y="1325880"/>
            <a:ext cx="1938528" cy="1463040"/>
          </a:xfrm>
          <a:prstGeom prst="roundRect">
            <a:avLst>
              <a:gd name="adj" fmla="val 5000"/>
            </a:avLst>
          </a:prstGeom>
          <a:solidFill>
            <a:srgbClr val="F4F7F5"/>
          </a:solidFill>
          <a:ln w="9525">
            <a:solidFill>
              <a:srgbClr val="D5DED9"/>
            </a:solidFill>
            <a:prstDash val="solid"/>
          </a:ln>
        </p:spPr>
      </p:sp>
      <p:sp>
        <p:nvSpPr>
          <p:cNvPr id="30" name="Shape 25"/>
          <p:cNvSpPr/>
          <p:nvPr/>
        </p:nvSpPr>
        <p:spPr>
          <a:xfrm>
            <a:off x="4800600" y="1463040"/>
            <a:ext cx="411480" cy="411480"/>
          </a:xfrm>
          <a:prstGeom prst="ellipse">
            <a:avLst/>
          </a:prstGeom>
          <a:solidFill>
            <a:srgbClr val="00A86A">
              <a:alpha val="22000"/>
            </a:srgbClr>
          </a:solidFill>
          <a:ln w="12700">
            <a:solidFill>
              <a:srgbClr val="00A86A">
                <a:alpha val="0"/>
              </a:srgbClr>
            </a:solidFill>
            <a:prstDash val="solid"/>
          </a:ln>
        </p:spPr>
      </p:sp>
      <p:pic>
        <p:nvPicPr>
          <p:cNvPr id="31" name="Image 2" descr="preencoded.png"/>
          <p:cNvPicPr>
            <a:picLocks noChangeAspect="1"/>
          </p:cNvPicPr>
          <p:nvPr/>
        </p:nvPicPr>
        <p:blipFill>
          <a:blip r:embed="rId5"/>
          <a:stretch>
            <a:fillRect/>
          </a:stretch>
        </p:blipFill>
        <p:spPr>
          <a:xfrm>
            <a:off x="4899355" y="1561795"/>
            <a:ext cx="213970" cy="213970"/>
          </a:xfrm>
          <a:prstGeom prst="rect">
            <a:avLst/>
          </a:prstGeom>
        </p:spPr>
      </p:pic>
      <p:sp>
        <p:nvSpPr>
          <p:cNvPr id="32" name="Text 26"/>
          <p:cNvSpPr txBox="1"/>
          <p:nvPr/>
        </p:nvSpPr>
        <p:spPr>
          <a:xfrm>
            <a:off x="5303520" y="15636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Parent-document</a:t>
            </a:r>
            <a:endParaRPr lang="en-US" sz="900" dirty="0"/>
          </a:p>
        </p:txBody>
      </p:sp>
      <p:sp>
        <p:nvSpPr>
          <p:cNvPr id="33" name="Text 27"/>
          <p:cNvSpPr txBox="1"/>
          <p:nvPr/>
        </p:nvSpPr>
        <p:spPr>
          <a:xfrm>
            <a:off x="4800600" y="19476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Small-to-big retrieval</a:t>
            </a:r>
            <a:endParaRPr lang="en-US" sz="1300" dirty="0"/>
          </a:p>
        </p:txBody>
      </p:sp>
      <p:sp>
        <p:nvSpPr>
          <p:cNvPr id="34" name="Text 28"/>
          <p:cNvSpPr txBox="1"/>
          <p:nvPr/>
        </p:nvSpPr>
        <p:spPr>
          <a:xfrm>
            <a:off x="4800600" y="2212848"/>
            <a:ext cx="169164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Matches on small chunks, returns the larger parent section.</a:t>
            </a:r>
            <a:endParaRPr lang="en-US" sz="1000" dirty="0"/>
          </a:p>
        </p:txBody>
      </p:sp>
      <p:sp>
        <p:nvSpPr>
          <p:cNvPr id="35" name="Shape 29"/>
          <p:cNvSpPr/>
          <p:nvPr/>
        </p:nvSpPr>
        <p:spPr>
          <a:xfrm>
            <a:off x="6766560" y="1325880"/>
            <a:ext cx="1938528" cy="1463040"/>
          </a:xfrm>
          <a:prstGeom prst="roundRect">
            <a:avLst>
              <a:gd name="adj" fmla="val 5000"/>
            </a:avLst>
          </a:prstGeom>
          <a:solidFill>
            <a:srgbClr val="F4F7F5"/>
          </a:solidFill>
          <a:ln w="9525">
            <a:solidFill>
              <a:srgbClr val="D5DED9"/>
            </a:solidFill>
            <a:prstDash val="solid"/>
          </a:ln>
        </p:spPr>
      </p:sp>
      <p:sp>
        <p:nvSpPr>
          <p:cNvPr id="36" name="Shape 30"/>
          <p:cNvSpPr/>
          <p:nvPr/>
        </p:nvSpPr>
        <p:spPr>
          <a:xfrm>
            <a:off x="6903720" y="1463040"/>
            <a:ext cx="411480" cy="411480"/>
          </a:xfrm>
          <a:prstGeom prst="ellipse">
            <a:avLst/>
          </a:prstGeom>
          <a:solidFill>
            <a:srgbClr val="0E7C86">
              <a:alpha val="22000"/>
            </a:srgbClr>
          </a:solidFill>
          <a:ln w="12700">
            <a:solidFill>
              <a:srgbClr val="0E7C86">
                <a:alpha val="0"/>
              </a:srgbClr>
            </a:solidFill>
            <a:prstDash val="solid"/>
          </a:ln>
        </p:spPr>
      </p:sp>
      <p:pic>
        <p:nvPicPr>
          <p:cNvPr id="37" name="Image 3" descr="preencoded.png"/>
          <p:cNvPicPr>
            <a:picLocks noChangeAspect="1"/>
          </p:cNvPicPr>
          <p:nvPr/>
        </p:nvPicPr>
        <p:blipFill>
          <a:blip r:embed="rId6"/>
          <a:stretch>
            <a:fillRect/>
          </a:stretch>
        </p:blipFill>
        <p:spPr>
          <a:xfrm>
            <a:off x="7002475" y="1561795"/>
            <a:ext cx="213970" cy="213970"/>
          </a:xfrm>
          <a:prstGeom prst="rect">
            <a:avLst/>
          </a:prstGeom>
        </p:spPr>
      </p:pic>
      <p:sp>
        <p:nvSpPr>
          <p:cNvPr id="38" name="Text 31"/>
          <p:cNvSpPr txBox="1"/>
          <p:nvPr/>
        </p:nvSpPr>
        <p:spPr>
          <a:xfrm>
            <a:off x="7406640" y="15636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Asai et al., 2023</a:t>
            </a:r>
            <a:endParaRPr lang="en-US" sz="900" dirty="0"/>
          </a:p>
        </p:txBody>
      </p:sp>
      <p:sp>
        <p:nvSpPr>
          <p:cNvPr id="39" name="Text 32"/>
          <p:cNvSpPr txBox="1"/>
          <p:nvPr/>
        </p:nvSpPr>
        <p:spPr>
          <a:xfrm>
            <a:off x="6903720" y="19476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Self-RAG</a:t>
            </a:r>
            <a:endParaRPr lang="en-US" sz="1300" dirty="0"/>
          </a:p>
        </p:txBody>
      </p:sp>
      <p:sp>
        <p:nvSpPr>
          <p:cNvPr id="40" name="Text 33"/>
          <p:cNvSpPr txBox="1"/>
          <p:nvPr/>
        </p:nvSpPr>
        <p:spPr>
          <a:xfrm>
            <a:off x="6903720" y="2212848"/>
            <a:ext cx="169164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Model decides when to retrieve and critiques outputs via reflection tokens.</a:t>
            </a:r>
            <a:endParaRPr lang="en-US" sz="1000" dirty="0"/>
          </a:p>
        </p:txBody>
      </p:sp>
      <p:sp>
        <p:nvSpPr>
          <p:cNvPr id="41" name="Shape 34"/>
          <p:cNvSpPr/>
          <p:nvPr/>
        </p:nvSpPr>
        <p:spPr>
          <a:xfrm>
            <a:off x="457200" y="2926080"/>
            <a:ext cx="1938528" cy="1463040"/>
          </a:xfrm>
          <a:prstGeom prst="roundRect">
            <a:avLst>
              <a:gd name="adj" fmla="val 5000"/>
            </a:avLst>
          </a:prstGeom>
          <a:solidFill>
            <a:srgbClr val="F4F7F5"/>
          </a:solidFill>
          <a:ln w="9525">
            <a:solidFill>
              <a:srgbClr val="D5DED9"/>
            </a:solidFill>
            <a:prstDash val="solid"/>
          </a:ln>
        </p:spPr>
      </p:sp>
      <p:sp>
        <p:nvSpPr>
          <p:cNvPr id="42" name="Shape 35"/>
          <p:cNvSpPr/>
          <p:nvPr/>
        </p:nvSpPr>
        <p:spPr>
          <a:xfrm>
            <a:off x="594360" y="3063240"/>
            <a:ext cx="411480" cy="411480"/>
          </a:xfrm>
          <a:prstGeom prst="ellipse">
            <a:avLst/>
          </a:prstGeom>
          <a:solidFill>
            <a:srgbClr val="0E7C86">
              <a:alpha val="22000"/>
            </a:srgbClr>
          </a:solidFill>
          <a:ln w="12700">
            <a:solidFill>
              <a:srgbClr val="0E7C86">
                <a:alpha val="0"/>
              </a:srgbClr>
            </a:solidFill>
            <a:prstDash val="solid"/>
          </a:ln>
        </p:spPr>
      </p:sp>
      <p:pic>
        <p:nvPicPr>
          <p:cNvPr id="43" name="Image 4" descr="preencoded.png"/>
          <p:cNvPicPr>
            <a:picLocks noChangeAspect="1"/>
          </p:cNvPicPr>
          <p:nvPr/>
        </p:nvPicPr>
        <p:blipFill>
          <a:blip r:embed="rId7"/>
          <a:stretch>
            <a:fillRect/>
          </a:stretch>
        </p:blipFill>
        <p:spPr>
          <a:xfrm>
            <a:off x="693115" y="3161995"/>
            <a:ext cx="213970" cy="213970"/>
          </a:xfrm>
          <a:prstGeom prst="rect">
            <a:avLst/>
          </a:prstGeom>
        </p:spPr>
      </p:pic>
      <p:sp>
        <p:nvSpPr>
          <p:cNvPr id="44" name="Text 36"/>
          <p:cNvSpPr txBox="1"/>
          <p:nvPr/>
        </p:nvSpPr>
        <p:spPr>
          <a:xfrm>
            <a:off x="1097280" y="31638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Yan et al., 2024</a:t>
            </a:r>
            <a:endParaRPr lang="en-US" sz="900" dirty="0"/>
          </a:p>
        </p:txBody>
      </p:sp>
      <p:sp>
        <p:nvSpPr>
          <p:cNvPr id="45" name="Text 37"/>
          <p:cNvSpPr txBox="1"/>
          <p:nvPr/>
        </p:nvSpPr>
        <p:spPr>
          <a:xfrm>
            <a:off x="594360" y="35478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Corrective RAG (CRAG)</a:t>
            </a:r>
            <a:endParaRPr lang="en-US" sz="1300" dirty="0"/>
          </a:p>
        </p:txBody>
      </p:sp>
      <p:sp>
        <p:nvSpPr>
          <p:cNvPr id="46" name="Text 38"/>
          <p:cNvSpPr txBox="1"/>
          <p:nvPr/>
        </p:nvSpPr>
        <p:spPr>
          <a:xfrm>
            <a:off x="594360" y="3813048"/>
            <a:ext cx="169164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An evaluator grades retrieved docs and triggers corrective actions such as web search.</a:t>
            </a:r>
            <a:endParaRPr lang="en-US" sz="1000" dirty="0"/>
          </a:p>
        </p:txBody>
      </p:sp>
      <p:sp>
        <p:nvSpPr>
          <p:cNvPr id="47" name="Shape 39"/>
          <p:cNvSpPr/>
          <p:nvPr/>
        </p:nvSpPr>
        <p:spPr>
          <a:xfrm>
            <a:off x="2560320" y="2926080"/>
            <a:ext cx="1938528" cy="1463040"/>
          </a:xfrm>
          <a:prstGeom prst="roundRect">
            <a:avLst>
              <a:gd name="adj" fmla="val 5000"/>
            </a:avLst>
          </a:prstGeom>
          <a:solidFill>
            <a:srgbClr val="F4F7F5"/>
          </a:solidFill>
          <a:ln w="9525">
            <a:solidFill>
              <a:srgbClr val="D5DED9"/>
            </a:solidFill>
            <a:prstDash val="solid"/>
          </a:ln>
        </p:spPr>
      </p:sp>
      <p:sp>
        <p:nvSpPr>
          <p:cNvPr id="48" name="Shape 40"/>
          <p:cNvSpPr/>
          <p:nvPr/>
        </p:nvSpPr>
        <p:spPr>
          <a:xfrm>
            <a:off x="2697480" y="3063240"/>
            <a:ext cx="411480" cy="411480"/>
          </a:xfrm>
          <a:prstGeom prst="ellipse">
            <a:avLst/>
          </a:prstGeom>
          <a:solidFill>
            <a:srgbClr val="0E7C86">
              <a:alpha val="22000"/>
            </a:srgbClr>
          </a:solidFill>
          <a:ln w="12700">
            <a:solidFill>
              <a:srgbClr val="0E7C86">
                <a:alpha val="0"/>
              </a:srgbClr>
            </a:solidFill>
            <a:prstDash val="solid"/>
          </a:ln>
        </p:spPr>
      </p:sp>
      <p:pic>
        <p:nvPicPr>
          <p:cNvPr id="49" name="Image 5" descr="preencoded.png"/>
          <p:cNvPicPr>
            <a:picLocks noChangeAspect="1"/>
          </p:cNvPicPr>
          <p:nvPr/>
        </p:nvPicPr>
        <p:blipFill>
          <a:blip r:embed="rId8"/>
          <a:stretch>
            <a:fillRect/>
          </a:stretch>
        </p:blipFill>
        <p:spPr>
          <a:xfrm>
            <a:off x="2796235" y="3161995"/>
            <a:ext cx="213970" cy="213970"/>
          </a:xfrm>
          <a:prstGeom prst="rect">
            <a:avLst/>
          </a:prstGeom>
        </p:spPr>
      </p:pic>
      <p:sp>
        <p:nvSpPr>
          <p:cNvPr id="50" name="Text 41"/>
          <p:cNvSpPr txBox="1"/>
          <p:nvPr/>
        </p:nvSpPr>
        <p:spPr>
          <a:xfrm>
            <a:off x="3200400" y="31638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Microsoft, 2024</a:t>
            </a:r>
            <a:endParaRPr lang="en-US" sz="900" dirty="0"/>
          </a:p>
        </p:txBody>
      </p:sp>
      <p:sp>
        <p:nvSpPr>
          <p:cNvPr id="51" name="Text 42"/>
          <p:cNvSpPr txBox="1"/>
          <p:nvPr/>
        </p:nvSpPr>
        <p:spPr>
          <a:xfrm>
            <a:off x="2697480" y="35478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GraphRAG</a:t>
            </a:r>
            <a:endParaRPr lang="en-US" sz="1300" dirty="0"/>
          </a:p>
        </p:txBody>
      </p:sp>
      <p:sp>
        <p:nvSpPr>
          <p:cNvPr id="52" name="Text 43"/>
          <p:cNvSpPr txBox="1"/>
          <p:nvPr/>
        </p:nvSpPr>
        <p:spPr>
          <a:xfrm>
            <a:off x="2697480" y="3813048"/>
            <a:ext cx="169164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Builds a knowledge graph + community summaries to answer global questions.</a:t>
            </a:r>
            <a:endParaRPr lang="en-US" sz="1000" dirty="0"/>
          </a:p>
        </p:txBody>
      </p:sp>
      <p:sp>
        <p:nvSpPr>
          <p:cNvPr id="53" name="Shape 44"/>
          <p:cNvSpPr/>
          <p:nvPr/>
        </p:nvSpPr>
        <p:spPr>
          <a:xfrm>
            <a:off x="4663440" y="2926080"/>
            <a:ext cx="1938528" cy="1463040"/>
          </a:xfrm>
          <a:prstGeom prst="roundRect">
            <a:avLst>
              <a:gd name="adj" fmla="val 5000"/>
            </a:avLst>
          </a:prstGeom>
          <a:solidFill>
            <a:srgbClr val="F4F7F5"/>
          </a:solidFill>
          <a:ln w="9525">
            <a:solidFill>
              <a:srgbClr val="D5DED9"/>
            </a:solidFill>
            <a:prstDash val="solid"/>
          </a:ln>
        </p:spPr>
      </p:sp>
      <p:sp>
        <p:nvSpPr>
          <p:cNvPr id="54" name="Shape 45"/>
          <p:cNvSpPr/>
          <p:nvPr/>
        </p:nvSpPr>
        <p:spPr>
          <a:xfrm>
            <a:off x="4800600" y="3063240"/>
            <a:ext cx="411480" cy="411480"/>
          </a:xfrm>
          <a:prstGeom prst="ellipse">
            <a:avLst/>
          </a:prstGeom>
          <a:solidFill>
            <a:srgbClr val="0E7C86">
              <a:alpha val="22000"/>
            </a:srgbClr>
          </a:solidFill>
          <a:ln w="12700">
            <a:solidFill>
              <a:srgbClr val="0E7C86">
                <a:alpha val="0"/>
              </a:srgbClr>
            </a:solidFill>
            <a:prstDash val="solid"/>
          </a:ln>
        </p:spPr>
      </p:sp>
      <p:pic>
        <p:nvPicPr>
          <p:cNvPr id="55" name="Image 6" descr="preencoded.png"/>
          <p:cNvPicPr>
            <a:picLocks noChangeAspect="1"/>
          </p:cNvPicPr>
          <p:nvPr/>
        </p:nvPicPr>
        <p:blipFill>
          <a:blip r:embed="rId9"/>
          <a:stretch>
            <a:fillRect/>
          </a:stretch>
        </p:blipFill>
        <p:spPr>
          <a:xfrm>
            <a:off x="4899355" y="3161995"/>
            <a:ext cx="213970" cy="213970"/>
          </a:xfrm>
          <a:prstGeom prst="rect">
            <a:avLst/>
          </a:prstGeom>
        </p:spPr>
      </p:pic>
      <p:sp>
        <p:nvSpPr>
          <p:cNvPr id="56" name="Text 46"/>
          <p:cNvSpPr txBox="1"/>
          <p:nvPr/>
        </p:nvSpPr>
        <p:spPr>
          <a:xfrm>
            <a:off x="5303520" y="31638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Sarthi et al., 2024</a:t>
            </a:r>
            <a:endParaRPr lang="en-US" sz="900" dirty="0"/>
          </a:p>
        </p:txBody>
      </p:sp>
      <p:sp>
        <p:nvSpPr>
          <p:cNvPr id="57" name="Text 47"/>
          <p:cNvSpPr txBox="1"/>
          <p:nvPr/>
        </p:nvSpPr>
        <p:spPr>
          <a:xfrm>
            <a:off x="4800600" y="35478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RAPTOR</a:t>
            </a:r>
            <a:endParaRPr lang="en-US" sz="1300" dirty="0"/>
          </a:p>
        </p:txBody>
      </p:sp>
      <p:sp>
        <p:nvSpPr>
          <p:cNvPr id="58" name="Text 48"/>
          <p:cNvSpPr txBox="1"/>
          <p:nvPr/>
        </p:nvSpPr>
        <p:spPr>
          <a:xfrm>
            <a:off x="4800600" y="3813048"/>
            <a:ext cx="169164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Recursive tree of clustered summaries for multi-level retrieval.</a:t>
            </a:r>
            <a:endParaRPr lang="en-US" sz="1000" dirty="0"/>
          </a:p>
        </p:txBody>
      </p:sp>
      <p:sp>
        <p:nvSpPr>
          <p:cNvPr id="59" name="Shape 49"/>
          <p:cNvSpPr/>
          <p:nvPr/>
        </p:nvSpPr>
        <p:spPr>
          <a:xfrm>
            <a:off x="6766560" y="2926080"/>
            <a:ext cx="1938528" cy="1463040"/>
          </a:xfrm>
          <a:prstGeom prst="roundRect">
            <a:avLst>
              <a:gd name="adj" fmla="val 5000"/>
            </a:avLst>
          </a:prstGeom>
          <a:solidFill>
            <a:srgbClr val="F4F7F5"/>
          </a:solidFill>
          <a:ln w="9525">
            <a:solidFill>
              <a:srgbClr val="D5DED9"/>
            </a:solidFill>
            <a:prstDash val="solid"/>
          </a:ln>
        </p:spPr>
      </p:sp>
      <p:sp>
        <p:nvSpPr>
          <p:cNvPr id="60" name="Shape 50"/>
          <p:cNvSpPr/>
          <p:nvPr/>
        </p:nvSpPr>
        <p:spPr>
          <a:xfrm>
            <a:off x="6903720" y="3063240"/>
            <a:ext cx="411480" cy="411480"/>
          </a:xfrm>
          <a:prstGeom prst="ellipse">
            <a:avLst/>
          </a:prstGeom>
          <a:solidFill>
            <a:srgbClr val="D49A00">
              <a:alpha val="22000"/>
            </a:srgbClr>
          </a:solidFill>
          <a:ln w="12700">
            <a:solidFill>
              <a:srgbClr val="D49A00">
                <a:alpha val="0"/>
              </a:srgbClr>
            </a:solidFill>
            <a:prstDash val="solid"/>
          </a:ln>
        </p:spPr>
      </p:sp>
      <p:pic>
        <p:nvPicPr>
          <p:cNvPr id="61" name="Image 7" descr="preencoded.png"/>
          <p:cNvPicPr>
            <a:picLocks noChangeAspect="1"/>
          </p:cNvPicPr>
          <p:nvPr/>
        </p:nvPicPr>
        <p:blipFill>
          <a:blip r:embed="rId10"/>
          <a:stretch>
            <a:fillRect/>
          </a:stretch>
        </p:blipFill>
        <p:spPr>
          <a:xfrm>
            <a:off x="7002475" y="3161995"/>
            <a:ext cx="213970" cy="213970"/>
          </a:xfrm>
          <a:prstGeom prst="rect">
            <a:avLst/>
          </a:prstGeom>
        </p:spPr>
      </p:pic>
      <p:sp>
        <p:nvSpPr>
          <p:cNvPr id="62" name="Text 51"/>
          <p:cNvSpPr txBox="1"/>
          <p:nvPr/>
        </p:nvSpPr>
        <p:spPr>
          <a:xfrm>
            <a:off x="7406640" y="31638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Agents + tools</a:t>
            </a:r>
            <a:endParaRPr lang="en-US" sz="900" dirty="0"/>
          </a:p>
        </p:txBody>
      </p:sp>
      <p:sp>
        <p:nvSpPr>
          <p:cNvPr id="63" name="Text 52"/>
          <p:cNvSpPr txBox="1"/>
          <p:nvPr/>
        </p:nvSpPr>
        <p:spPr>
          <a:xfrm>
            <a:off x="6903720" y="35478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Agentic RAG</a:t>
            </a:r>
            <a:endParaRPr lang="en-US" sz="1300" dirty="0"/>
          </a:p>
        </p:txBody>
      </p:sp>
      <p:sp>
        <p:nvSpPr>
          <p:cNvPr id="64" name="Text 53"/>
          <p:cNvSpPr txBox="1"/>
          <p:nvPr/>
        </p:nvSpPr>
        <p:spPr>
          <a:xfrm>
            <a:off x="6903720" y="3813048"/>
            <a:ext cx="169164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An agent plans, calls retrieval tools iteratively and verifies before answering.</a:t>
            </a:r>
            <a:endParaRPr lang="en-US" sz="1000" dirty="0"/>
          </a:p>
        </p:txBody>
      </p:sp>
      <p:sp>
        <p:nvSpPr>
          <p:cNvPr id="65" name="Shape 54"/>
          <p:cNvSpPr/>
          <p:nvPr/>
        </p:nvSpPr>
        <p:spPr>
          <a:xfrm>
            <a:off x="457200" y="4599432"/>
            <a:ext cx="128016" cy="128016"/>
          </a:xfrm>
          <a:prstGeom prst="ellipse">
            <a:avLst/>
          </a:prstGeom>
          <a:solidFill>
            <a:srgbClr val="00A86A"/>
          </a:solidFill>
          <a:ln w="12700">
            <a:solidFill>
              <a:srgbClr val="00A86A"/>
            </a:solidFill>
            <a:prstDash val="solid"/>
          </a:ln>
        </p:spPr>
      </p:sp>
      <p:sp>
        <p:nvSpPr>
          <p:cNvPr id="66" name="Text 55"/>
          <p:cNvSpPr txBox="1"/>
          <p:nvPr/>
        </p:nvSpPr>
        <p:spPr>
          <a:xfrm>
            <a:off x="658368" y="4553712"/>
            <a:ext cx="1463040" cy="219456"/>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Query &amp; indexing</a:t>
            </a:r>
            <a:endParaRPr lang="en-US" sz="1050" dirty="0"/>
          </a:p>
        </p:txBody>
      </p:sp>
      <p:sp>
        <p:nvSpPr>
          <p:cNvPr id="67" name="Shape 56"/>
          <p:cNvSpPr/>
          <p:nvPr/>
        </p:nvSpPr>
        <p:spPr>
          <a:xfrm>
            <a:off x="2194560" y="4599432"/>
            <a:ext cx="128016" cy="128016"/>
          </a:xfrm>
          <a:prstGeom prst="ellipse">
            <a:avLst/>
          </a:prstGeom>
          <a:solidFill>
            <a:srgbClr val="0E7C86"/>
          </a:solidFill>
          <a:ln w="12700">
            <a:solidFill>
              <a:srgbClr val="0E7C86"/>
            </a:solidFill>
            <a:prstDash val="solid"/>
          </a:ln>
        </p:spPr>
      </p:sp>
      <p:sp>
        <p:nvSpPr>
          <p:cNvPr id="68" name="Text 57"/>
          <p:cNvSpPr txBox="1"/>
          <p:nvPr/>
        </p:nvSpPr>
        <p:spPr>
          <a:xfrm>
            <a:off x="2395728" y="4553712"/>
            <a:ext cx="1463040" cy="219456"/>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Research methods</a:t>
            </a:r>
            <a:endParaRPr lang="en-US" sz="1050" dirty="0"/>
          </a:p>
        </p:txBody>
      </p:sp>
      <p:sp>
        <p:nvSpPr>
          <p:cNvPr id="69" name="Shape 58"/>
          <p:cNvSpPr/>
          <p:nvPr/>
        </p:nvSpPr>
        <p:spPr>
          <a:xfrm>
            <a:off x="3931920" y="4599432"/>
            <a:ext cx="128016" cy="128016"/>
          </a:xfrm>
          <a:prstGeom prst="ellipse">
            <a:avLst/>
          </a:prstGeom>
          <a:solidFill>
            <a:srgbClr val="D49A00"/>
          </a:solidFill>
          <a:ln w="12700">
            <a:solidFill>
              <a:srgbClr val="D49A00"/>
            </a:solidFill>
            <a:prstDash val="solid"/>
          </a:ln>
        </p:spPr>
      </p:sp>
      <p:sp>
        <p:nvSpPr>
          <p:cNvPr id="70" name="Text 59"/>
          <p:cNvSpPr txBox="1"/>
          <p:nvPr/>
        </p:nvSpPr>
        <p:spPr>
          <a:xfrm>
            <a:off x="4133088" y="4553712"/>
            <a:ext cx="1463040" cy="219456"/>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Agentic</a:t>
            </a:r>
            <a:endParaRPr lang="en-US" sz="105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ADVANCED TECHNIQUES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RAG vs fine-tuning vs long context</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C4621D"/>
          </a:solidFill>
          <a:ln w="12700">
            <a:solidFill>
              <a:srgbClr val="C4621D"/>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17830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tblGrid>
              <a:tr h="384048">
                <a:tc>
                  <a:txBody>
                    <a:bodyPr/>
                    <a:lstStyle/>
                    <a:p>
                      <a:pPr marL="0" indent="0" algn="ctr">
                        <a:buNone/>
                      </a:pP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RAG</a:t>
                      </a: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A86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Fine-tuning</a:t>
                      </a: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5E6964"/>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Long context</a:t>
                      </a: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5E6964"/>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231F20"/>
                          </a:solidFill>
                          <a:latin typeface="Calibri" pitchFamily="34" charset="0"/>
                          <a:ea typeface="Calibri" pitchFamily="34" charset="-122"/>
                          <a:cs typeface="Calibri" pitchFamily="34" charset="-120"/>
                        </a:rPr>
                        <a:t>Updating knowledge</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Re-index documents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Retrain the model</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Change the prompt</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extLst>
                  <a:ext uri="{0D108BD9-81ED-4DB2-BD59-A6C34878D82A}">
                    <a16:rowId xmlns:a16="http://schemas.microsoft.com/office/drawing/2014/main" val="10001"/>
                  </a:ext>
                </a:extLst>
              </a:tr>
              <a:tr h="384048">
                <a:tc>
                  <a:txBody>
                    <a:bodyPr/>
                    <a:lstStyle/>
                    <a:p>
                      <a:pPr marL="0" indent="0">
                        <a:buNone/>
                      </a:pPr>
                      <a:r>
                        <a:rPr lang="en-US" sz="1150" b="1" dirty="0">
                          <a:solidFill>
                            <a:srgbClr val="231F20"/>
                          </a:solidFill>
                          <a:latin typeface="Calibri" pitchFamily="34" charset="0"/>
                          <a:ea typeface="Calibri" pitchFamily="34" charset="-122"/>
                          <a:cs typeface="Calibri" pitchFamily="34" charset="-120"/>
                        </a:rPr>
                        <a:t>Source citations</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Native (retrieved chunks)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Not available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Possible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50" b="1" dirty="0">
                          <a:solidFill>
                            <a:srgbClr val="231F20"/>
                          </a:solidFill>
                          <a:latin typeface="Calibri" pitchFamily="34" charset="0"/>
                          <a:ea typeface="Calibri" pitchFamily="34" charset="-122"/>
                          <a:cs typeface="Calibri" pitchFamily="34" charset="-120"/>
                        </a:rPr>
                        <a:t>Knowledge volume</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Millions of documents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Absorbed into weights, imprecise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Bounded by the context window</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50" b="1" dirty="0">
                          <a:solidFill>
                            <a:srgbClr val="231F20"/>
                          </a:solidFill>
                          <a:latin typeface="Calibri" pitchFamily="34" charset="0"/>
                          <a:ea typeface="Calibri" pitchFamily="34" charset="-122"/>
                          <a:cs typeface="Calibri" pitchFamily="34" charset="-120"/>
                        </a:rPr>
                        <a:t>Cost per query</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Low — only relevant chunks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High for large contexts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150" b="1" dirty="0">
                          <a:solidFill>
                            <a:srgbClr val="231F20"/>
                          </a:solidFill>
                          <a:latin typeface="Calibri" pitchFamily="34" charset="0"/>
                          <a:ea typeface="Calibri" pitchFamily="34" charset="-122"/>
                          <a:cs typeface="Calibri" pitchFamily="34" charset="-120"/>
                        </a:rPr>
                        <a:t>Access control</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Filter by user rights at retrieval</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Very hard</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Per request</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150" b="1" dirty="0">
                          <a:solidFill>
                            <a:srgbClr val="231F20"/>
                          </a:solidFill>
                          <a:latin typeface="Calibri" pitchFamily="34" charset="0"/>
                          <a:ea typeface="Calibri" pitchFamily="34" charset="-122"/>
                          <a:cs typeface="Calibri" pitchFamily="34" charset="-120"/>
                        </a:rPr>
                        <a:t>Best for</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Private &amp; changing facts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Style &amp; specialised behaviour</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Small, self-contained corpora</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extLst>
                  <a:ext uri="{0D108BD9-81ED-4DB2-BD59-A6C34878D82A}">
                    <a16:rowId xmlns:a16="http://schemas.microsoft.com/office/drawing/2014/main" val="10006"/>
                  </a:ext>
                </a:extLst>
              </a:tr>
            </a:tbl>
          </a:graphicData>
        </a:graphic>
      </p:graphicFrame>
      <p:sp>
        <p:nvSpPr>
          <p:cNvPr id="18" name="Shape 14"/>
          <p:cNvSpPr/>
          <p:nvPr/>
        </p:nvSpPr>
        <p:spPr>
          <a:xfrm>
            <a:off x="457200" y="4242816"/>
            <a:ext cx="8229600" cy="420624"/>
          </a:xfrm>
          <a:prstGeom prst="roundRect">
            <a:avLst>
              <a:gd name="adj" fmla="val 17391"/>
            </a:avLst>
          </a:prstGeom>
          <a:solidFill>
            <a:srgbClr val="D49A00">
              <a:alpha val="13000"/>
            </a:srgbClr>
          </a:solidFill>
          <a:ln w="9525">
            <a:solidFill>
              <a:srgbClr val="D49A00"/>
            </a:solidFill>
            <a:prstDash val="solid"/>
          </a:ln>
        </p:spPr>
      </p:sp>
      <p:pic>
        <p:nvPicPr>
          <p:cNvPr id="19" name="Image 0" descr="preencoded.png"/>
          <p:cNvPicPr>
            <a:picLocks noChangeAspect="1"/>
          </p:cNvPicPr>
          <p:nvPr/>
        </p:nvPicPr>
        <p:blipFill>
          <a:blip r:embed="rId3"/>
          <a:stretch>
            <a:fillRect/>
          </a:stretch>
        </p:blipFill>
        <p:spPr>
          <a:xfrm>
            <a:off x="621792" y="4325112"/>
            <a:ext cx="256032" cy="256032"/>
          </a:xfrm>
          <a:prstGeom prst="rect">
            <a:avLst/>
          </a:prstGeom>
        </p:spPr>
      </p:pic>
      <p:sp>
        <p:nvSpPr>
          <p:cNvPr id="20" name="Text 15"/>
          <p:cNvSpPr txBox="1"/>
          <p:nvPr/>
        </p:nvSpPr>
        <p:spPr>
          <a:xfrm>
            <a:off x="1005840" y="4242816"/>
            <a:ext cx="7498080" cy="420624"/>
          </a:xfrm>
          <a:prstGeom prst="rect">
            <a:avLst/>
          </a:prstGeom>
          <a:noFill/>
          <a:ln/>
        </p:spPr>
        <p:txBody>
          <a:bodyPr wrap="square" lIns="0" tIns="0" rIns="0" bIns="0" rtlCol="0" anchor="ctr"/>
          <a:lstStyle/>
          <a:p>
            <a:pPr marL="0" indent="0">
              <a:buNone/>
            </a:pPr>
            <a:r>
              <a:rPr lang="en-US" sz="1200" b="1" dirty="0">
                <a:solidFill>
                  <a:srgbClr val="D49A00"/>
                </a:solidFill>
                <a:latin typeface="Calibri" pitchFamily="34" charset="0"/>
                <a:ea typeface="Calibri" pitchFamily="34" charset="-122"/>
                <a:cs typeface="Calibri" pitchFamily="34" charset="-120"/>
              </a:rPr>
              <a:t>Complementary, not exclusive: </a:t>
            </a:r>
            <a:r>
              <a:rPr lang="en-US" sz="1200" dirty="0">
                <a:solidFill>
                  <a:srgbClr val="231F20"/>
                </a:solidFill>
                <a:latin typeface="Calibri" pitchFamily="34" charset="0"/>
                <a:ea typeface="Calibri" pitchFamily="34" charset="-122"/>
                <a:cs typeface="Calibri" pitchFamily="34" charset="-120"/>
              </a:rPr>
              <a:t>fine-tune for behaviour, RAG for knowledge, long context for small corpora.</a:t>
            </a:r>
            <a:endParaRPr lang="en-US" sz="12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06</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Production</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How do you run RAG reliably and safely?</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5C242"/>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icPr>
            <a:picLocks noChangeAspect="1"/>
          </p:cNvPicPr>
          <p:nvPr/>
        </p:nvPicPr>
        <p:blipFill>
          <a:blip r:embed="rId4"/>
          <a:stretch>
            <a:fillRect/>
          </a:stretch>
        </p:blipFill>
        <p:spPr>
          <a:xfrm>
            <a:off x="6777533" y="2205533"/>
            <a:ext cx="618134" cy="618134"/>
          </a:xfrm>
          <a:prstGeom prst="rect">
            <a:avLst/>
          </a:prstGeom>
        </p:spPr>
      </p:pic>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Measure retrieval and generation separately</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37</a:t>
            </a:r>
            <a:endParaRPr lang="en-US" sz="850" dirty="0"/>
          </a:p>
        </p:txBody>
      </p:sp>
      <p:sp>
        <p:nvSpPr>
          <p:cNvPr id="17" name="Shape 14"/>
          <p:cNvSpPr/>
          <p:nvPr/>
        </p:nvSpPr>
        <p:spPr>
          <a:xfrm flipH="1">
            <a:off x="1051560" y="1874520"/>
            <a:ext cx="1463040" cy="2103120"/>
          </a:xfrm>
          <a:prstGeom prst="line">
            <a:avLst/>
          </a:prstGeom>
          <a:noFill/>
          <a:ln w="31750">
            <a:solidFill>
              <a:srgbClr val="00A86A"/>
            </a:solidFill>
            <a:prstDash val="solid"/>
          </a:ln>
        </p:spPr>
      </p:sp>
      <p:sp>
        <p:nvSpPr>
          <p:cNvPr id="18" name="Shape 15"/>
          <p:cNvSpPr/>
          <p:nvPr/>
        </p:nvSpPr>
        <p:spPr>
          <a:xfrm>
            <a:off x="1051560" y="2761488"/>
            <a:ext cx="1417320" cy="274320"/>
          </a:xfrm>
          <a:prstGeom prst="roundRect">
            <a:avLst>
              <a:gd name="adj" fmla="val 50000"/>
            </a:avLst>
          </a:prstGeom>
          <a:solidFill>
            <a:srgbClr val="FFFFFF"/>
          </a:solidFill>
          <a:ln w="15875">
            <a:solidFill>
              <a:srgbClr val="00A86A"/>
            </a:solidFill>
            <a:prstDash val="solid"/>
          </a:ln>
        </p:spPr>
      </p:sp>
      <p:sp>
        <p:nvSpPr>
          <p:cNvPr id="19" name="Text 16"/>
          <p:cNvSpPr txBox="1"/>
          <p:nvPr/>
        </p:nvSpPr>
        <p:spPr>
          <a:xfrm>
            <a:off x="1051560" y="2761488"/>
            <a:ext cx="1417320" cy="274320"/>
          </a:xfrm>
          <a:prstGeom prst="rect">
            <a:avLst/>
          </a:prstGeom>
          <a:noFill/>
          <a:ln/>
        </p:spPr>
        <p:txBody>
          <a:bodyPr wrap="square" lIns="0" tIns="0" rIns="0" bIns="0" rtlCol="0" anchor="ctr"/>
          <a:lstStyle/>
          <a:p>
            <a:pPr marL="0" indent="0" algn="ctr">
              <a:buNone/>
            </a:pPr>
            <a:r>
              <a:rPr lang="en-US" sz="1050" b="1" dirty="0">
                <a:solidFill>
                  <a:srgbClr val="00A86A"/>
                </a:solidFill>
                <a:latin typeface="Calibri" pitchFamily="34" charset="0"/>
                <a:ea typeface="Calibri" pitchFamily="34" charset="-122"/>
                <a:cs typeface="Calibri" pitchFamily="34" charset="-120"/>
              </a:rPr>
              <a:t>Context relevance</a:t>
            </a:r>
            <a:endParaRPr lang="en-US" sz="1050" dirty="0"/>
          </a:p>
        </p:txBody>
      </p:sp>
      <p:sp>
        <p:nvSpPr>
          <p:cNvPr id="20" name="Shape 17"/>
          <p:cNvSpPr/>
          <p:nvPr/>
        </p:nvSpPr>
        <p:spPr>
          <a:xfrm>
            <a:off x="2514600" y="1874520"/>
            <a:ext cx="1463040" cy="2103120"/>
          </a:xfrm>
          <a:prstGeom prst="line">
            <a:avLst/>
          </a:prstGeom>
          <a:noFill/>
          <a:ln w="31750">
            <a:solidFill>
              <a:srgbClr val="0E7C86"/>
            </a:solidFill>
            <a:prstDash val="solid"/>
          </a:ln>
        </p:spPr>
      </p:sp>
      <p:sp>
        <p:nvSpPr>
          <p:cNvPr id="21" name="Shape 18"/>
          <p:cNvSpPr/>
          <p:nvPr/>
        </p:nvSpPr>
        <p:spPr>
          <a:xfrm>
            <a:off x="2560320" y="2761488"/>
            <a:ext cx="1417320" cy="274320"/>
          </a:xfrm>
          <a:prstGeom prst="roundRect">
            <a:avLst>
              <a:gd name="adj" fmla="val 50000"/>
            </a:avLst>
          </a:prstGeom>
          <a:solidFill>
            <a:srgbClr val="FFFFFF"/>
          </a:solidFill>
          <a:ln w="15875">
            <a:solidFill>
              <a:srgbClr val="0E7C86"/>
            </a:solidFill>
            <a:prstDash val="solid"/>
          </a:ln>
        </p:spPr>
      </p:sp>
      <p:sp>
        <p:nvSpPr>
          <p:cNvPr id="22" name="Text 19"/>
          <p:cNvSpPr txBox="1"/>
          <p:nvPr/>
        </p:nvSpPr>
        <p:spPr>
          <a:xfrm>
            <a:off x="2560320" y="2761488"/>
            <a:ext cx="1417320" cy="274320"/>
          </a:xfrm>
          <a:prstGeom prst="rect">
            <a:avLst/>
          </a:prstGeom>
          <a:noFill/>
          <a:ln/>
        </p:spPr>
        <p:txBody>
          <a:bodyPr wrap="square" lIns="0" tIns="0" rIns="0" bIns="0" rtlCol="0" anchor="ctr"/>
          <a:lstStyle/>
          <a:p>
            <a:pPr marL="0" indent="0" algn="ctr">
              <a:buNone/>
            </a:pPr>
            <a:r>
              <a:rPr lang="en-US" sz="1050" b="1" dirty="0">
                <a:solidFill>
                  <a:srgbClr val="0E7C86"/>
                </a:solidFill>
                <a:latin typeface="Calibri" pitchFamily="34" charset="0"/>
                <a:ea typeface="Calibri" pitchFamily="34" charset="-122"/>
                <a:cs typeface="Calibri" pitchFamily="34" charset="-120"/>
              </a:rPr>
              <a:t>Answer relevance</a:t>
            </a:r>
            <a:endParaRPr lang="en-US" sz="1050" dirty="0"/>
          </a:p>
        </p:txBody>
      </p:sp>
      <p:sp>
        <p:nvSpPr>
          <p:cNvPr id="23" name="Shape 20"/>
          <p:cNvSpPr/>
          <p:nvPr/>
        </p:nvSpPr>
        <p:spPr>
          <a:xfrm>
            <a:off x="1051560" y="3977640"/>
            <a:ext cx="2926080" cy="914"/>
          </a:xfrm>
          <a:prstGeom prst="line">
            <a:avLst/>
          </a:prstGeom>
          <a:noFill/>
          <a:ln w="31750">
            <a:solidFill>
              <a:srgbClr val="D49A00"/>
            </a:solidFill>
            <a:prstDash val="solid"/>
          </a:ln>
        </p:spPr>
      </p:sp>
      <p:sp>
        <p:nvSpPr>
          <p:cNvPr id="24" name="Shape 21"/>
          <p:cNvSpPr/>
          <p:nvPr/>
        </p:nvSpPr>
        <p:spPr>
          <a:xfrm>
            <a:off x="1508760" y="3840480"/>
            <a:ext cx="1280160" cy="274320"/>
          </a:xfrm>
          <a:prstGeom prst="roundRect">
            <a:avLst>
              <a:gd name="adj" fmla="val 50000"/>
            </a:avLst>
          </a:prstGeom>
          <a:solidFill>
            <a:srgbClr val="FFFFFF"/>
          </a:solidFill>
          <a:ln w="15875">
            <a:solidFill>
              <a:srgbClr val="D49A00"/>
            </a:solidFill>
            <a:prstDash val="solid"/>
          </a:ln>
        </p:spPr>
      </p:sp>
      <p:sp>
        <p:nvSpPr>
          <p:cNvPr id="25" name="Text 22"/>
          <p:cNvSpPr txBox="1"/>
          <p:nvPr/>
        </p:nvSpPr>
        <p:spPr>
          <a:xfrm>
            <a:off x="1508760" y="3840480"/>
            <a:ext cx="1280160" cy="274320"/>
          </a:xfrm>
          <a:prstGeom prst="rect">
            <a:avLst/>
          </a:prstGeom>
          <a:noFill/>
          <a:ln/>
        </p:spPr>
        <p:txBody>
          <a:bodyPr wrap="square" lIns="0" tIns="0" rIns="0" bIns="0" rtlCol="0" anchor="ctr"/>
          <a:lstStyle/>
          <a:p>
            <a:pPr marL="0" indent="0" algn="ctr">
              <a:buNone/>
            </a:pPr>
            <a:r>
              <a:rPr lang="en-US" sz="1050" b="1" dirty="0">
                <a:solidFill>
                  <a:srgbClr val="D49A00"/>
                </a:solidFill>
                <a:latin typeface="Calibri" pitchFamily="34" charset="0"/>
                <a:ea typeface="Calibri" pitchFamily="34" charset="-122"/>
                <a:cs typeface="Calibri" pitchFamily="34" charset="-120"/>
              </a:rPr>
              <a:t>Groundedness</a:t>
            </a:r>
            <a:endParaRPr lang="en-US" sz="1050" dirty="0"/>
          </a:p>
        </p:txBody>
      </p:sp>
      <p:sp>
        <p:nvSpPr>
          <p:cNvPr id="26" name="Shape 23"/>
          <p:cNvSpPr/>
          <p:nvPr/>
        </p:nvSpPr>
        <p:spPr>
          <a:xfrm>
            <a:off x="2148840" y="1508760"/>
            <a:ext cx="731520" cy="731520"/>
          </a:xfrm>
          <a:prstGeom prst="ellipse">
            <a:avLst/>
          </a:prstGeom>
          <a:solidFill>
            <a:srgbClr val="FFFFFF"/>
          </a:solidFill>
          <a:ln w="19050">
            <a:solidFill>
              <a:srgbClr val="00704A"/>
            </a:solidFill>
            <a:prstDash val="solid"/>
          </a:ln>
        </p:spPr>
      </p:sp>
      <p:pic>
        <p:nvPicPr>
          <p:cNvPr id="27" name="Image 0" descr="preencoded.png"/>
          <p:cNvPicPr>
            <a:picLocks noChangeAspect="1"/>
          </p:cNvPicPr>
          <p:nvPr/>
        </p:nvPicPr>
        <p:blipFill>
          <a:blip r:embed="rId3"/>
          <a:stretch>
            <a:fillRect/>
          </a:stretch>
        </p:blipFill>
        <p:spPr>
          <a:xfrm>
            <a:off x="2324405" y="1684325"/>
            <a:ext cx="380390" cy="380390"/>
          </a:xfrm>
          <a:prstGeom prst="rect">
            <a:avLst/>
          </a:prstGeom>
        </p:spPr>
      </p:pic>
      <p:sp>
        <p:nvSpPr>
          <p:cNvPr id="28" name="Text 24"/>
          <p:cNvSpPr txBox="1"/>
          <p:nvPr/>
        </p:nvSpPr>
        <p:spPr>
          <a:xfrm>
            <a:off x="1874520" y="1252728"/>
            <a:ext cx="1280160" cy="22860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Question</a:t>
            </a:r>
            <a:endParaRPr lang="en-US" sz="1200" dirty="0"/>
          </a:p>
        </p:txBody>
      </p:sp>
      <p:sp>
        <p:nvSpPr>
          <p:cNvPr id="29" name="Shape 25"/>
          <p:cNvSpPr/>
          <p:nvPr/>
        </p:nvSpPr>
        <p:spPr>
          <a:xfrm>
            <a:off x="685800" y="3611880"/>
            <a:ext cx="731520" cy="731520"/>
          </a:xfrm>
          <a:prstGeom prst="ellipse">
            <a:avLst/>
          </a:prstGeom>
          <a:solidFill>
            <a:srgbClr val="FFFFFF"/>
          </a:solidFill>
          <a:ln w="19050">
            <a:solidFill>
              <a:srgbClr val="00A86A"/>
            </a:solidFill>
            <a:prstDash val="solid"/>
          </a:ln>
        </p:spPr>
      </p:sp>
      <p:pic>
        <p:nvPicPr>
          <p:cNvPr id="30" name="Image 1" descr="preencoded.png"/>
          <p:cNvPicPr>
            <a:picLocks noChangeAspect="1"/>
          </p:cNvPicPr>
          <p:nvPr/>
        </p:nvPicPr>
        <p:blipFill>
          <a:blip r:embed="rId4"/>
          <a:stretch>
            <a:fillRect/>
          </a:stretch>
        </p:blipFill>
        <p:spPr>
          <a:xfrm>
            <a:off x="861365" y="3787445"/>
            <a:ext cx="380390" cy="380390"/>
          </a:xfrm>
          <a:prstGeom prst="rect">
            <a:avLst/>
          </a:prstGeom>
        </p:spPr>
      </p:pic>
      <p:sp>
        <p:nvSpPr>
          <p:cNvPr id="31" name="Text 26"/>
          <p:cNvSpPr txBox="1"/>
          <p:nvPr/>
        </p:nvSpPr>
        <p:spPr>
          <a:xfrm>
            <a:off x="411480" y="4361688"/>
            <a:ext cx="1280160" cy="22860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Context</a:t>
            </a:r>
            <a:endParaRPr lang="en-US" sz="1200" dirty="0"/>
          </a:p>
        </p:txBody>
      </p:sp>
      <p:sp>
        <p:nvSpPr>
          <p:cNvPr id="32" name="Shape 27"/>
          <p:cNvSpPr/>
          <p:nvPr/>
        </p:nvSpPr>
        <p:spPr>
          <a:xfrm>
            <a:off x="3611880" y="3611880"/>
            <a:ext cx="731520" cy="731520"/>
          </a:xfrm>
          <a:prstGeom prst="ellipse">
            <a:avLst/>
          </a:prstGeom>
          <a:solidFill>
            <a:srgbClr val="FFFFFF"/>
          </a:solidFill>
          <a:ln w="19050">
            <a:solidFill>
              <a:srgbClr val="D49A00"/>
            </a:solidFill>
            <a:prstDash val="solid"/>
          </a:ln>
        </p:spPr>
      </p:sp>
      <p:pic>
        <p:nvPicPr>
          <p:cNvPr id="33" name="Image 2" descr="preencoded.png"/>
          <p:cNvPicPr>
            <a:picLocks noChangeAspect="1"/>
          </p:cNvPicPr>
          <p:nvPr/>
        </p:nvPicPr>
        <p:blipFill>
          <a:blip r:embed="rId5"/>
          <a:stretch>
            <a:fillRect/>
          </a:stretch>
        </p:blipFill>
        <p:spPr>
          <a:xfrm>
            <a:off x="3787445" y="3787445"/>
            <a:ext cx="380390" cy="380390"/>
          </a:xfrm>
          <a:prstGeom prst="rect">
            <a:avLst/>
          </a:prstGeom>
        </p:spPr>
      </p:pic>
      <p:sp>
        <p:nvSpPr>
          <p:cNvPr id="34" name="Text 28"/>
          <p:cNvSpPr txBox="1"/>
          <p:nvPr/>
        </p:nvSpPr>
        <p:spPr>
          <a:xfrm>
            <a:off x="3337560" y="4361688"/>
            <a:ext cx="1280160" cy="22860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Answer</a:t>
            </a:r>
            <a:endParaRPr lang="en-US" sz="1200" dirty="0"/>
          </a:p>
        </p:txBody>
      </p:sp>
      <p:sp>
        <p:nvSpPr>
          <p:cNvPr id="35" name="Text 29"/>
          <p:cNvSpPr txBox="1"/>
          <p:nvPr/>
        </p:nvSpPr>
        <p:spPr>
          <a:xfrm>
            <a:off x="1508760" y="4599432"/>
            <a:ext cx="274320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The “RAG triad” (TruLens)</a:t>
            </a:r>
            <a:endParaRPr lang="en-US" sz="900" dirty="0"/>
          </a:p>
        </p:txBody>
      </p:sp>
      <p:sp>
        <p:nvSpPr>
          <p:cNvPr id="36" name="Shape 30"/>
          <p:cNvSpPr/>
          <p:nvPr/>
        </p:nvSpPr>
        <p:spPr>
          <a:xfrm>
            <a:off x="4846320" y="1325880"/>
            <a:ext cx="3840480" cy="1874520"/>
          </a:xfrm>
          <a:prstGeom prst="roundRect">
            <a:avLst>
              <a:gd name="adj" fmla="val 3902"/>
            </a:avLst>
          </a:prstGeom>
          <a:solidFill>
            <a:srgbClr val="F4F7F5"/>
          </a:solidFill>
          <a:ln w="9525">
            <a:solidFill>
              <a:srgbClr val="D5DED9"/>
            </a:solidFill>
            <a:prstDash val="solid"/>
          </a:ln>
        </p:spPr>
      </p:sp>
      <p:sp>
        <p:nvSpPr>
          <p:cNvPr id="37" name="Text 31"/>
          <p:cNvSpPr txBox="1"/>
          <p:nvPr/>
        </p:nvSpPr>
        <p:spPr>
          <a:xfrm>
            <a:off x="5029200" y="1417320"/>
            <a:ext cx="3566160" cy="27432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RAGAS metrics (Es et al., 2023)</a:t>
            </a:r>
            <a:endParaRPr lang="en-US" sz="1400" dirty="0"/>
          </a:p>
        </p:txBody>
      </p:sp>
      <p:sp>
        <p:nvSpPr>
          <p:cNvPr id="38" name="Text 32"/>
          <p:cNvSpPr txBox="1"/>
          <p:nvPr/>
        </p:nvSpPr>
        <p:spPr>
          <a:xfrm>
            <a:off x="5029200" y="1755648"/>
            <a:ext cx="3520440" cy="1389888"/>
          </a:xfrm>
          <a:prstGeom prst="rect">
            <a:avLst/>
          </a:prstGeom>
          <a:noFill/>
          <a:ln/>
        </p:spPr>
        <p:txBody>
          <a:bodyPr wrap="square" lIns="0" tIns="0" rIns="0" bIns="0" rtlCol="0" anchor="t"/>
          <a:lstStyle/>
          <a:p>
            <a:pPr marL="0" indent="0">
              <a:spcAft>
                <a:spcPts val="600"/>
              </a:spcAft>
              <a:buNone/>
            </a:pPr>
            <a:r>
              <a:rPr lang="en-US" sz="1100" b="1" dirty="0">
                <a:solidFill>
                  <a:srgbClr val="00704A"/>
                </a:solidFill>
                <a:latin typeface="Calibri" pitchFamily="34" charset="0"/>
                <a:ea typeface="Calibri" pitchFamily="34" charset="-122"/>
                <a:cs typeface="Calibri" pitchFamily="34" charset="-120"/>
              </a:rPr>
              <a:t>Faithfulness: </a:t>
            </a:r>
            <a:r>
              <a:rPr lang="en-US" sz="1100" dirty="0">
                <a:solidFill>
                  <a:srgbClr val="231F20"/>
                </a:solidFill>
                <a:latin typeface="Calibri" pitchFamily="34" charset="0"/>
                <a:ea typeface="Calibri" pitchFamily="34" charset="-122"/>
                <a:cs typeface="Calibri" pitchFamily="34" charset="-120"/>
              </a:rPr>
              <a:t>Are the answer's claims supported by the context?</a:t>
            </a:r>
            <a:endParaRPr lang="en-US" sz="1100" dirty="0"/>
          </a:p>
          <a:p>
            <a:pPr marL="0" indent="0">
              <a:spcAft>
                <a:spcPts val="600"/>
              </a:spcAft>
              <a:buNone/>
            </a:pPr>
            <a:r>
              <a:rPr lang="en-US" sz="1100" b="1" dirty="0">
                <a:solidFill>
                  <a:srgbClr val="00704A"/>
                </a:solidFill>
                <a:latin typeface="Calibri" pitchFamily="34" charset="0"/>
                <a:ea typeface="Calibri" pitchFamily="34" charset="-122"/>
                <a:cs typeface="Calibri" pitchFamily="34" charset="-120"/>
              </a:rPr>
              <a:t>Answer relevancy: </a:t>
            </a:r>
            <a:r>
              <a:rPr lang="en-US" sz="1100" dirty="0">
                <a:solidFill>
                  <a:srgbClr val="231F20"/>
                </a:solidFill>
                <a:latin typeface="Calibri" pitchFamily="34" charset="0"/>
                <a:ea typeface="Calibri" pitchFamily="34" charset="-122"/>
                <a:cs typeface="Calibri" pitchFamily="34" charset="-120"/>
              </a:rPr>
              <a:t>Does the answer address the question?</a:t>
            </a:r>
            <a:endParaRPr lang="en-US" sz="1100" dirty="0"/>
          </a:p>
          <a:p>
            <a:pPr marL="0" indent="0">
              <a:spcAft>
                <a:spcPts val="600"/>
              </a:spcAft>
              <a:buNone/>
            </a:pPr>
            <a:r>
              <a:rPr lang="en-US" sz="1100" b="1" dirty="0">
                <a:solidFill>
                  <a:srgbClr val="00704A"/>
                </a:solidFill>
                <a:latin typeface="Calibri" pitchFamily="34" charset="0"/>
                <a:ea typeface="Calibri" pitchFamily="34" charset="-122"/>
                <a:cs typeface="Calibri" pitchFamily="34" charset="-120"/>
              </a:rPr>
              <a:t>Context precision: </a:t>
            </a:r>
            <a:r>
              <a:rPr lang="en-US" sz="1100" dirty="0">
                <a:solidFill>
                  <a:srgbClr val="231F20"/>
                </a:solidFill>
                <a:latin typeface="Calibri" pitchFamily="34" charset="0"/>
                <a:ea typeface="Calibri" pitchFamily="34" charset="-122"/>
                <a:cs typeface="Calibri" pitchFamily="34" charset="-120"/>
              </a:rPr>
              <a:t>Are relevant chunks ranked at the top?</a:t>
            </a:r>
            <a:endParaRPr lang="en-US" sz="1100" dirty="0"/>
          </a:p>
          <a:p>
            <a:pPr marL="0" indent="0">
              <a:spcAft>
                <a:spcPts val="600"/>
              </a:spcAft>
              <a:buNone/>
            </a:pPr>
            <a:r>
              <a:rPr lang="en-US" sz="1100" b="1" dirty="0">
                <a:solidFill>
                  <a:srgbClr val="00704A"/>
                </a:solidFill>
                <a:latin typeface="Calibri" pitchFamily="34" charset="0"/>
                <a:ea typeface="Calibri" pitchFamily="34" charset="-122"/>
                <a:cs typeface="Calibri" pitchFamily="34" charset="-120"/>
              </a:rPr>
              <a:t>Context recall: </a:t>
            </a:r>
            <a:r>
              <a:rPr lang="en-US" sz="1100" dirty="0">
                <a:solidFill>
                  <a:srgbClr val="231F20"/>
                </a:solidFill>
                <a:latin typeface="Calibri" pitchFamily="34" charset="0"/>
                <a:ea typeface="Calibri" pitchFamily="34" charset="-122"/>
                <a:cs typeface="Calibri" pitchFamily="34" charset="-120"/>
              </a:rPr>
              <a:t>Was all needed information retrieved?</a:t>
            </a:r>
            <a:endParaRPr lang="en-US" sz="1100" dirty="0"/>
          </a:p>
        </p:txBody>
      </p:sp>
      <p:sp>
        <p:nvSpPr>
          <p:cNvPr id="39" name="Shape 33"/>
          <p:cNvSpPr/>
          <p:nvPr/>
        </p:nvSpPr>
        <p:spPr>
          <a:xfrm>
            <a:off x="4846320" y="3310128"/>
            <a:ext cx="3840480" cy="713232"/>
          </a:xfrm>
          <a:prstGeom prst="roundRect">
            <a:avLst>
              <a:gd name="adj" fmla="val 10256"/>
            </a:avLst>
          </a:prstGeom>
          <a:solidFill>
            <a:srgbClr val="F4F7F5"/>
          </a:solidFill>
          <a:ln w="9525">
            <a:solidFill>
              <a:srgbClr val="D5DED9"/>
            </a:solidFill>
            <a:prstDash val="solid"/>
          </a:ln>
        </p:spPr>
      </p:sp>
      <p:sp>
        <p:nvSpPr>
          <p:cNvPr id="40" name="Text 34"/>
          <p:cNvSpPr txBox="1"/>
          <p:nvPr/>
        </p:nvSpPr>
        <p:spPr>
          <a:xfrm>
            <a:off x="5029200" y="3310128"/>
            <a:ext cx="3566160" cy="71323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Retrieval metrics</a:t>
            </a:r>
            <a:endParaRPr lang="en-US" sz="1400" dirty="0"/>
          </a:p>
          <a:p>
            <a:pPr marL="0" indent="0">
              <a:buNone/>
            </a:pPr>
            <a:r>
              <a:rPr lang="en-US" sz="1150" dirty="0">
                <a:solidFill>
                  <a:srgbClr val="5E6964"/>
                </a:solidFill>
                <a:latin typeface="Calibri" pitchFamily="34" charset="0"/>
                <a:ea typeface="Calibri" pitchFamily="34" charset="-122"/>
                <a:cs typeface="Calibri" pitchFamily="34" charset="-120"/>
              </a:rPr>
              <a:t>Recall@k · Precision@k · MRR · nDCG</a:t>
            </a:r>
            <a:endParaRPr lang="en-US" sz="1400" dirty="0"/>
          </a:p>
        </p:txBody>
      </p:sp>
      <p:sp>
        <p:nvSpPr>
          <p:cNvPr id="41" name="Shape 35"/>
          <p:cNvSpPr/>
          <p:nvPr/>
        </p:nvSpPr>
        <p:spPr>
          <a:xfrm>
            <a:off x="4846320" y="4133088"/>
            <a:ext cx="3840480" cy="530352"/>
          </a:xfrm>
          <a:prstGeom prst="roundRect">
            <a:avLst>
              <a:gd name="adj" fmla="val 13793"/>
            </a:avLst>
          </a:prstGeom>
          <a:solidFill>
            <a:srgbClr val="E8F5EF"/>
          </a:solidFill>
          <a:ln w="15875">
            <a:solidFill>
              <a:srgbClr val="00A86A"/>
            </a:solidFill>
            <a:prstDash val="solid"/>
          </a:ln>
        </p:spPr>
      </p:sp>
      <p:sp>
        <p:nvSpPr>
          <p:cNvPr id="42" name="Text 36"/>
          <p:cNvSpPr txBox="1"/>
          <p:nvPr/>
        </p:nvSpPr>
        <p:spPr>
          <a:xfrm>
            <a:off x="5029200" y="4133088"/>
            <a:ext cx="3566160" cy="53035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Tools: </a:t>
            </a:r>
            <a:r>
              <a:rPr lang="en-US" sz="1200" dirty="0">
                <a:solidFill>
                  <a:srgbClr val="231F20"/>
                </a:solidFill>
                <a:latin typeface="Calibri" pitchFamily="34" charset="0"/>
                <a:ea typeface="Calibri" pitchFamily="34" charset="-122"/>
                <a:cs typeface="Calibri" pitchFamily="34" charset="-120"/>
              </a:rPr>
              <a:t>RAGAS · TruLens · DeepEval · Arize Phoenix</a:t>
            </a:r>
            <a:endParaRPr lang="en-US" sz="120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Securing a RAG system</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38</a:t>
            </a:r>
            <a:endParaRPr lang="en-US" sz="850" dirty="0"/>
          </a:p>
        </p:txBody>
      </p:sp>
      <p:sp>
        <p:nvSpPr>
          <p:cNvPr id="17" name="Shape 14"/>
          <p:cNvSpPr/>
          <p:nvPr/>
        </p:nvSpPr>
        <p:spPr>
          <a:xfrm>
            <a:off x="457200" y="1325880"/>
            <a:ext cx="2468880" cy="1371600"/>
          </a:xfrm>
          <a:prstGeom prst="roundRect">
            <a:avLst>
              <a:gd name="adj" fmla="val 5333"/>
            </a:avLst>
          </a:prstGeom>
          <a:solidFill>
            <a:srgbClr val="F4F7F5"/>
          </a:solidFill>
          <a:ln w="9525">
            <a:solidFill>
              <a:srgbClr val="D5DED9"/>
            </a:solidFill>
            <a:prstDash val="solid"/>
          </a:ln>
        </p:spPr>
      </p:sp>
      <p:sp>
        <p:nvSpPr>
          <p:cNvPr id="18" name="Shape 15"/>
          <p:cNvSpPr/>
          <p:nvPr/>
        </p:nvSpPr>
        <p:spPr>
          <a:xfrm>
            <a:off x="621792" y="1463040"/>
            <a:ext cx="420624" cy="420624"/>
          </a:xfrm>
          <a:prstGeom prst="ellipse">
            <a:avLst/>
          </a:prstGeom>
          <a:solidFill>
            <a:srgbClr val="B83B2E">
              <a:alpha val="22000"/>
            </a:srgbClr>
          </a:solidFill>
          <a:ln w="12700">
            <a:solidFill>
              <a:srgbClr val="B83B2E">
                <a:alpha val="0"/>
              </a:srgbClr>
            </a:solidFill>
            <a:prstDash val="solid"/>
          </a:ln>
        </p:spPr>
      </p:sp>
      <p:pic>
        <p:nvPicPr>
          <p:cNvPr id="19" name="Image 0" descr="preencoded.png"/>
          <p:cNvPicPr>
            <a:picLocks noChangeAspect="1"/>
          </p:cNvPicPr>
          <p:nvPr/>
        </p:nvPicPr>
        <p:blipFill>
          <a:blip r:embed="rId3"/>
          <a:stretch>
            <a:fillRect/>
          </a:stretch>
        </p:blipFill>
        <p:spPr>
          <a:xfrm>
            <a:off x="722742" y="1563990"/>
            <a:ext cx="218724" cy="218724"/>
          </a:xfrm>
          <a:prstGeom prst="rect">
            <a:avLst/>
          </a:prstGeom>
        </p:spPr>
      </p:pic>
      <p:sp>
        <p:nvSpPr>
          <p:cNvPr id="20" name="Text 16"/>
          <p:cNvSpPr txBox="1"/>
          <p:nvPr/>
        </p:nvSpPr>
        <p:spPr>
          <a:xfrm>
            <a:off x="1143000" y="1472184"/>
            <a:ext cx="1691640" cy="41148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Indirect prompt injection</a:t>
            </a:r>
            <a:endParaRPr lang="en-US" sz="1250" dirty="0"/>
          </a:p>
        </p:txBody>
      </p:sp>
      <p:sp>
        <p:nvSpPr>
          <p:cNvPr id="21" name="Text 17"/>
          <p:cNvSpPr txBox="1"/>
          <p:nvPr/>
        </p:nvSpPr>
        <p:spPr>
          <a:xfrm>
            <a:off x="621792" y="1965960"/>
            <a:ext cx="2194560" cy="71323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Hidden instructions inside ingested documents are read by the LLM as if they were commands.</a:t>
            </a:r>
            <a:endParaRPr lang="en-US" sz="1000" dirty="0"/>
          </a:p>
        </p:txBody>
      </p:sp>
      <p:sp>
        <p:nvSpPr>
          <p:cNvPr id="22" name="Shape 18"/>
          <p:cNvSpPr/>
          <p:nvPr/>
        </p:nvSpPr>
        <p:spPr>
          <a:xfrm>
            <a:off x="3063240" y="1325880"/>
            <a:ext cx="2468880" cy="1371600"/>
          </a:xfrm>
          <a:prstGeom prst="roundRect">
            <a:avLst>
              <a:gd name="adj" fmla="val 5333"/>
            </a:avLst>
          </a:prstGeom>
          <a:solidFill>
            <a:srgbClr val="F4F7F5"/>
          </a:solidFill>
          <a:ln w="9525">
            <a:solidFill>
              <a:srgbClr val="D5DED9"/>
            </a:solidFill>
            <a:prstDash val="solid"/>
          </a:ln>
        </p:spPr>
      </p:sp>
      <p:sp>
        <p:nvSpPr>
          <p:cNvPr id="23" name="Shape 19"/>
          <p:cNvSpPr/>
          <p:nvPr/>
        </p:nvSpPr>
        <p:spPr>
          <a:xfrm>
            <a:off x="3227832" y="1463040"/>
            <a:ext cx="420624" cy="420624"/>
          </a:xfrm>
          <a:prstGeom prst="ellipse">
            <a:avLst/>
          </a:prstGeom>
          <a:solidFill>
            <a:srgbClr val="B83B2E">
              <a:alpha val="22000"/>
            </a:srgbClr>
          </a:solidFill>
          <a:ln w="12700">
            <a:solidFill>
              <a:srgbClr val="B83B2E">
                <a:alpha val="0"/>
              </a:srgbClr>
            </a:solidFill>
            <a:prstDash val="solid"/>
          </a:ln>
        </p:spPr>
      </p:sp>
      <p:pic>
        <p:nvPicPr>
          <p:cNvPr id="24" name="Image 1" descr="preencoded.png"/>
          <p:cNvPicPr>
            <a:picLocks noChangeAspect="1"/>
          </p:cNvPicPr>
          <p:nvPr/>
        </p:nvPicPr>
        <p:blipFill>
          <a:blip r:embed="rId4"/>
          <a:stretch>
            <a:fillRect/>
          </a:stretch>
        </p:blipFill>
        <p:spPr>
          <a:xfrm>
            <a:off x="3328782" y="1563990"/>
            <a:ext cx="218724" cy="218724"/>
          </a:xfrm>
          <a:prstGeom prst="rect">
            <a:avLst/>
          </a:prstGeom>
        </p:spPr>
      </p:pic>
      <p:sp>
        <p:nvSpPr>
          <p:cNvPr id="25" name="Text 20"/>
          <p:cNvSpPr txBox="1"/>
          <p:nvPr/>
        </p:nvSpPr>
        <p:spPr>
          <a:xfrm>
            <a:off x="3749040" y="1472184"/>
            <a:ext cx="1691640" cy="41148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Knowledge poisoning</a:t>
            </a:r>
            <a:endParaRPr lang="en-US" sz="1250" dirty="0"/>
          </a:p>
        </p:txBody>
      </p:sp>
      <p:sp>
        <p:nvSpPr>
          <p:cNvPr id="26" name="Text 21"/>
          <p:cNvSpPr txBox="1"/>
          <p:nvPr/>
        </p:nvSpPr>
        <p:spPr>
          <a:xfrm>
            <a:off x="3227832" y="1965960"/>
            <a:ext cx="2194560" cy="71323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PoisonedRAG (Zou et al., 2024): 5 crafted texts per target question reached ~90% attack success in a corpus of millions.</a:t>
            </a:r>
            <a:endParaRPr lang="en-US" sz="1000" dirty="0"/>
          </a:p>
        </p:txBody>
      </p:sp>
      <p:sp>
        <p:nvSpPr>
          <p:cNvPr id="27" name="Shape 22"/>
          <p:cNvSpPr/>
          <p:nvPr/>
        </p:nvSpPr>
        <p:spPr>
          <a:xfrm>
            <a:off x="457200" y="2807208"/>
            <a:ext cx="2468880" cy="1371600"/>
          </a:xfrm>
          <a:prstGeom prst="roundRect">
            <a:avLst>
              <a:gd name="adj" fmla="val 5333"/>
            </a:avLst>
          </a:prstGeom>
          <a:solidFill>
            <a:srgbClr val="F4F7F5"/>
          </a:solidFill>
          <a:ln w="9525">
            <a:solidFill>
              <a:srgbClr val="D5DED9"/>
            </a:solidFill>
            <a:prstDash val="solid"/>
          </a:ln>
        </p:spPr>
      </p:sp>
      <p:sp>
        <p:nvSpPr>
          <p:cNvPr id="28" name="Shape 23"/>
          <p:cNvSpPr/>
          <p:nvPr/>
        </p:nvSpPr>
        <p:spPr>
          <a:xfrm>
            <a:off x="621792" y="2944368"/>
            <a:ext cx="420624" cy="420624"/>
          </a:xfrm>
          <a:prstGeom prst="ellipse">
            <a:avLst/>
          </a:prstGeom>
          <a:solidFill>
            <a:srgbClr val="B83B2E">
              <a:alpha val="22000"/>
            </a:srgbClr>
          </a:solidFill>
          <a:ln w="12700">
            <a:solidFill>
              <a:srgbClr val="B83B2E">
                <a:alpha val="0"/>
              </a:srgbClr>
            </a:solidFill>
            <a:prstDash val="solid"/>
          </a:ln>
        </p:spPr>
      </p:sp>
      <p:pic>
        <p:nvPicPr>
          <p:cNvPr id="29" name="Image 2" descr="preencoded.png"/>
          <p:cNvPicPr>
            <a:picLocks noChangeAspect="1"/>
          </p:cNvPicPr>
          <p:nvPr/>
        </p:nvPicPr>
        <p:blipFill>
          <a:blip r:embed="rId5"/>
          <a:stretch>
            <a:fillRect/>
          </a:stretch>
        </p:blipFill>
        <p:spPr>
          <a:xfrm>
            <a:off x="722742" y="3045318"/>
            <a:ext cx="218724" cy="218724"/>
          </a:xfrm>
          <a:prstGeom prst="rect">
            <a:avLst/>
          </a:prstGeom>
        </p:spPr>
      </p:pic>
      <p:sp>
        <p:nvSpPr>
          <p:cNvPr id="30" name="Text 24"/>
          <p:cNvSpPr txBox="1"/>
          <p:nvPr/>
        </p:nvSpPr>
        <p:spPr>
          <a:xfrm>
            <a:off x="1143000" y="2953512"/>
            <a:ext cx="1691640" cy="41148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Permission leakage</a:t>
            </a:r>
            <a:endParaRPr lang="en-US" sz="1250" dirty="0"/>
          </a:p>
        </p:txBody>
      </p:sp>
      <p:sp>
        <p:nvSpPr>
          <p:cNvPr id="31" name="Text 25"/>
          <p:cNvSpPr txBox="1"/>
          <p:nvPr/>
        </p:nvSpPr>
        <p:spPr>
          <a:xfrm>
            <a:off x="621792" y="3447288"/>
            <a:ext cx="2194560" cy="71323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Vectors do not inherit source-system permissions; users or tenants may retrieve what they should not see.</a:t>
            </a:r>
            <a:endParaRPr lang="en-US" sz="1000" dirty="0"/>
          </a:p>
        </p:txBody>
      </p:sp>
      <p:sp>
        <p:nvSpPr>
          <p:cNvPr id="32" name="Shape 26"/>
          <p:cNvSpPr/>
          <p:nvPr/>
        </p:nvSpPr>
        <p:spPr>
          <a:xfrm>
            <a:off x="3063240" y="2807208"/>
            <a:ext cx="2468880" cy="1371600"/>
          </a:xfrm>
          <a:prstGeom prst="roundRect">
            <a:avLst>
              <a:gd name="adj" fmla="val 5333"/>
            </a:avLst>
          </a:prstGeom>
          <a:solidFill>
            <a:srgbClr val="F4F7F5"/>
          </a:solidFill>
          <a:ln w="9525">
            <a:solidFill>
              <a:srgbClr val="D5DED9"/>
            </a:solidFill>
            <a:prstDash val="solid"/>
          </a:ln>
        </p:spPr>
      </p:sp>
      <p:sp>
        <p:nvSpPr>
          <p:cNvPr id="33" name="Shape 27"/>
          <p:cNvSpPr/>
          <p:nvPr/>
        </p:nvSpPr>
        <p:spPr>
          <a:xfrm>
            <a:off x="3227832" y="2944368"/>
            <a:ext cx="420624" cy="420624"/>
          </a:xfrm>
          <a:prstGeom prst="ellipse">
            <a:avLst/>
          </a:prstGeom>
          <a:solidFill>
            <a:srgbClr val="B83B2E">
              <a:alpha val="22000"/>
            </a:srgbClr>
          </a:solidFill>
          <a:ln w="12700">
            <a:solidFill>
              <a:srgbClr val="B83B2E">
                <a:alpha val="0"/>
              </a:srgbClr>
            </a:solidFill>
            <a:prstDash val="solid"/>
          </a:ln>
        </p:spPr>
      </p:sp>
      <p:pic>
        <p:nvPicPr>
          <p:cNvPr id="34" name="Image 3" descr="preencoded.png"/>
          <p:cNvPicPr>
            <a:picLocks noChangeAspect="1"/>
          </p:cNvPicPr>
          <p:nvPr/>
        </p:nvPicPr>
        <p:blipFill>
          <a:blip r:embed="rId6"/>
          <a:stretch>
            <a:fillRect/>
          </a:stretch>
        </p:blipFill>
        <p:spPr>
          <a:xfrm>
            <a:off x="3328782" y="3045318"/>
            <a:ext cx="218724" cy="218724"/>
          </a:xfrm>
          <a:prstGeom prst="rect">
            <a:avLst/>
          </a:prstGeom>
        </p:spPr>
      </p:pic>
      <p:sp>
        <p:nvSpPr>
          <p:cNvPr id="35" name="Text 28"/>
          <p:cNvSpPr txBox="1"/>
          <p:nvPr/>
        </p:nvSpPr>
        <p:spPr>
          <a:xfrm>
            <a:off x="3749040" y="2953512"/>
            <a:ext cx="1691640" cy="41148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Embedding inversion</a:t>
            </a:r>
            <a:endParaRPr lang="en-US" sz="1250" dirty="0"/>
          </a:p>
        </p:txBody>
      </p:sp>
      <p:sp>
        <p:nvSpPr>
          <p:cNvPr id="36" name="Text 29"/>
          <p:cNvSpPr txBox="1"/>
          <p:nvPr/>
        </p:nvSpPr>
        <p:spPr>
          <a:xfrm>
            <a:off x="3227832" y="3447288"/>
            <a:ext cx="2194560" cy="71323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Research shows much of the original text can be reconstructed from its embedding (Morris et al., 2023).</a:t>
            </a:r>
            <a:endParaRPr lang="en-US" sz="1000" dirty="0"/>
          </a:p>
        </p:txBody>
      </p:sp>
      <p:sp>
        <p:nvSpPr>
          <p:cNvPr id="37" name="Shape 30"/>
          <p:cNvSpPr/>
          <p:nvPr/>
        </p:nvSpPr>
        <p:spPr>
          <a:xfrm>
            <a:off x="5760720" y="1325880"/>
            <a:ext cx="2926080" cy="2852928"/>
          </a:xfrm>
          <a:prstGeom prst="roundRect">
            <a:avLst>
              <a:gd name="adj" fmla="val 2564"/>
            </a:avLst>
          </a:prstGeom>
          <a:solidFill>
            <a:srgbClr val="E8F5EF"/>
          </a:solidFill>
          <a:ln w="15875">
            <a:solidFill>
              <a:srgbClr val="00A86A"/>
            </a:solidFill>
            <a:prstDash val="solid"/>
          </a:ln>
        </p:spPr>
      </p:sp>
      <p:sp>
        <p:nvSpPr>
          <p:cNvPr id="38" name="Shape 31"/>
          <p:cNvSpPr/>
          <p:nvPr/>
        </p:nvSpPr>
        <p:spPr>
          <a:xfrm>
            <a:off x="5943600" y="1463040"/>
            <a:ext cx="457200" cy="457200"/>
          </a:xfrm>
          <a:prstGeom prst="ellipse">
            <a:avLst/>
          </a:prstGeom>
          <a:solidFill>
            <a:srgbClr val="00A86A">
              <a:alpha val="22000"/>
            </a:srgbClr>
          </a:solidFill>
          <a:ln w="12700">
            <a:solidFill>
              <a:srgbClr val="00A86A">
                <a:alpha val="0"/>
              </a:srgbClr>
            </a:solidFill>
            <a:prstDash val="solid"/>
          </a:ln>
        </p:spPr>
      </p:sp>
      <p:pic>
        <p:nvPicPr>
          <p:cNvPr id="39" name="Image 4" descr="preencoded.png"/>
          <p:cNvPicPr>
            <a:picLocks noChangeAspect="1"/>
          </p:cNvPicPr>
          <p:nvPr/>
        </p:nvPicPr>
        <p:blipFill>
          <a:blip r:embed="rId7"/>
          <a:stretch>
            <a:fillRect/>
          </a:stretch>
        </p:blipFill>
        <p:spPr>
          <a:xfrm>
            <a:off x="6053328" y="1572768"/>
            <a:ext cx="237744" cy="237744"/>
          </a:xfrm>
          <a:prstGeom prst="rect">
            <a:avLst/>
          </a:prstGeom>
        </p:spPr>
      </p:pic>
      <p:sp>
        <p:nvSpPr>
          <p:cNvPr id="40" name="Text 32"/>
          <p:cNvSpPr txBox="1"/>
          <p:nvPr/>
        </p:nvSpPr>
        <p:spPr>
          <a:xfrm>
            <a:off x="6510528" y="1536192"/>
            <a:ext cx="2011680" cy="320040"/>
          </a:xfrm>
          <a:prstGeom prst="rect">
            <a:avLst/>
          </a:prstGeom>
          <a:noFill/>
          <a:ln/>
        </p:spPr>
        <p:txBody>
          <a:bodyPr wrap="square" lIns="0" tIns="0" rIns="0" bIns="0" rtlCol="0" anchor="ctr"/>
          <a:lstStyle/>
          <a:p>
            <a:pPr marL="0" indent="0">
              <a:buNone/>
            </a:pPr>
            <a:r>
              <a:rPr lang="en-US" sz="1600" b="1" dirty="0">
                <a:solidFill>
                  <a:srgbClr val="00704A"/>
                </a:solidFill>
                <a:latin typeface="Calibri" pitchFamily="34" charset="0"/>
                <a:ea typeface="Calibri" pitchFamily="34" charset="-122"/>
                <a:cs typeface="Calibri" pitchFamily="34" charset="-120"/>
              </a:rPr>
              <a:t>Mitigations</a:t>
            </a:r>
            <a:endParaRPr lang="en-US" sz="1600" dirty="0"/>
          </a:p>
        </p:txBody>
      </p:sp>
      <p:sp>
        <p:nvSpPr>
          <p:cNvPr id="41" name="Text 33"/>
          <p:cNvSpPr txBox="1"/>
          <p:nvPr/>
        </p:nvSpPr>
        <p:spPr>
          <a:xfrm>
            <a:off x="5943600" y="2057400"/>
            <a:ext cx="2606040" cy="205740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231F20"/>
                </a:solidFill>
                <a:latin typeface="Calibri" pitchFamily="34" charset="0"/>
                <a:ea typeface="Calibri" pitchFamily="34" charset="-122"/>
                <a:cs typeface="Calibri" pitchFamily="34" charset="-120"/>
              </a:rPr>
              <a:t>Validate and sanitise documents at ingestion</a:t>
            </a:r>
            <a:endParaRPr lang="en-US" sz="1100" dirty="0"/>
          </a:p>
          <a:p>
            <a:pPr marL="152400" indent="-152400">
              <a:spcAft>
                <a:spcPts val="600"/>
              </a:spcAft>
              <a:buSzPct val="100000"/>
              <a:buChar char="•"/>
            </a:pPr>
            <a:r>
              <a:rPr lang="en-US" sz="1100" dirty="0">
                <a:solidFill>
                  <a:srgbClr val="231F20"/>
                </a:solidFill>
                <a:latin typeface="Calibri" pitchFamily="34" charset="0"/>
                <a:ea typeface="Calibri" pitchFamily="34" charset="-122"/>
                <a:cs typeface="Calibri" pitchFamily="34" charset="-120"/>
              </a:rPr>
              <a:t>Enforce access control at retrieval; partition tenants</a:t>
            </a:r>
            <a:endParaRPr lang="en-US" sz="1100" dirty="0"/>
          </a:p>
          <a:p>
            <a:pPr marL="152400" indent="-152400">
              <a:spcAft>
                <a:spcPts val="600"/>
              </a:spcAft>
              <a:buSzPct val="100000"/>
              <a:buChar char="•"/>
            </a:pPr>
            <a:r>
              <a:rPr lang="en-US" sz="1100" dirty="0">
                <a:solidFill>
                  <a:srgbClr val="231F20"/>
                </a:solidFill>
                <a:latin typeface="Calibri" pitchFamily="34" charset="0"/>
                <a:ea typeface="Calibri" pitchFamily="34" charset="-122"/>
                <a:cs typeface="Calibri" pitchFamily="34" charset="-120"/>
              </a:rPr>
              <a:t>Treat retrieved text as data, never as instructions</a:t>
            </a:r>
            <a:endParaRPr lang="en-US" sz="1100" dirty="0"/>
          </a:p>
          <a:p>
            <a:pPr marL="152400" indent="-152400">
              <a:spcAft>
                <a:spcPts val="600"/>
              </a:spcAft>
              <a:buSzPct val="100000"/>
              <a:buChar char="•"/>
            </a:pPr>
            <a:r>
              <a:rPr lang="en-US" sz="1100" dirty="0">
                <a:solidFill>
                  <a:srgbClr val="231F20"/>
                </a:solidFill>
                <a:latin typeface="Calibri" pitchFamily="34" charset="0"/>
                <a:ea typeface="Calibri" pitchFamily="34" charset="-122"/>
                <a:cs typeface="Calibri" pitchFamily="34" charset="-120"/>
              </a:rPr>
              <a:t>Restrict what tools and actions the LLM can trigger</a:t>
            </a:r>
            <a:endParaRPr lang="en-US" sz="1100" dirty="0"/>
          </a:p>
          <a:p>
            <a:pPr marL="152400" indent="-152400">
              <a:spcAft>
                <a:spcPts val="600"/>
              </a:spcAft>
              <a:buSzPct val="100000"/>
              <a:buChar char="•"/>
            </a:pPr>
            <a:r>
              <a:rPr lang="en-US" sz="1100" dirty="0">
                <a:solidFill>
                  <a:srgbClr val="231F20"/>
                </a:solidFill>
                <a:latin typeface="Calibri" pitchFamily="34" charset="0"/>
                <a:ea typeface="Calibri" pitchFamily="34" charset="-122"/>
                <a:cs typeface="Calibri" pitchFamily="34" charset="-120"/>
              </a:rPr>
              <a:t>Encrypt vector stores; log and monitor retrievals</a:t>
            </a:r>
            <a:endParaRPr lang="en-US" sz="1100" dirty="0"/>
          </a:p>
        </p:txBody>
      </p:sp>
      <p:sp>
        <p:nvSpPr>
          <p:cNvPr id="42" name="Shape 34"/>
          <p:cNvSpPr/>
          <p:nvPr/>
        </p:nvSpPr>
        <p:spPr>
          <a:xfrm>
            <a:off x="457200" y="4297680"/>
            <a:ext cx="8229600" cy="384048"/>
          </a:xfrm>
          <a:prstGeom prst="roundRect">
            <a:avLst>
              <a:gd name="adj" fmla="val 19048"/>
            </a:avLst>
          </a:prstGeom>
          <a:solidFill>
            <a:srgbClr val="D49A00">
              <a:alpha val="13000"/>
            </a:srgbClr>
          </a:solidFill>
          <a:ln w="9525">
            <a:solidFill>
              <a:srgbClr val="D49A00"/>
            </a:solidFill>
            <a:prstDash val="solid"/>
          </a:ln>
        </p:spPr>
      </p:sp>
      <p:pic>
        <p:nvPicPr>
          <p:cNvPr id="43" name="Image 5" descr="preencoded.png"/>
          <p:cNvPicPr>
            <a:picLocks noChangeAspect="1"/>
          </p:cNvPicPr>
          <p:nvPr/>
        </p:nvPicPr>
        <p:blipFill>
          <a:blip r:embed="rId8"/>
          <a:stretch>
            <a:fillRect/>
          </a:stretch>
        </p:blipFill>
        <p:spPr>
          <a:xfrm>
            <a:off x="621792" y="4361688"/>
            <a:ext cx="256032" cy="256032"/>
          </a:xfrm>
          <a:prstGeom prst="rect">
            <a:avLst/>
          </a:prstGeom>
        </p:spPr>
      </p:pic>
      <p:sp>
        <p:nvSpPr>
          <p:cNvPr id="44" name="Text 35"/>
          <p:cNvSpPr txBox="1"/>
          <p:nvPr/>
        </p:nvSpPr>
        <p:spPr>
          <a:xfrm>
            <a:off x="1005840" y="4297680"/>
            <a:ext cx="7498080" cy="384048"/>
          </a:xfrm>
          <a:prstGeom prst="rect">
            <a:avLst/>
          </a:prstGeom>
          <a:noFill/>
          <a:ln/>
        </p:spPr>
        <p:txBody>
          <a:bodyPr wrap="square" lIns="0" tIns="0" rIns="0" bIns="0" rtlCol="0" anchor="ctr"/>
          <a:lstStyle/>
          <a:p>
            <a:pPr marL="0" indent="0">
              <a:buNone/>
            </a:pPr>
            <a:r>
              <a:rPr lang="en-US" sz="1150" b="1" dirty="0">
                <a:solidFill>
                  <a:srgbClr val="D49A00"/>
                </a:solidFill>
                <a:latin typeface="Calibri" pitchFamily="34" charset="0"/>
                <a:ea typeface="Calibri" pitchFamily="34" charset="-122"/>
                <a:cs typeface="Calibri" pitchFamily="34" charset="-120"/>
              </a:rPr>
              <a:t>OWASP Top 10 for LLM Applications 2025 </a:t>
            </a:r>
            <a:r>
              <a:rPr lang="en-US" sz="1150" dirty="0">
                <a:solidFill>
                  <a:srgbClr val="231F20"/>
                </a:solidFill>
                <a:latin typeface="Calibri" pitchFamily="34" charset="0"/>
                <a:ea typeface="Calibri" pitchFamily="34" charset="-122"/>
                <a:cs typeface="Calibri" pitchFamily="34" charset="-120"/>
              </a:rPr>
              <a:t>now lists “LLM08: Vector and Embedding Weaknesses”.</a:t>
            </a:r>
            <a:endParaRPr lang="en-US" sz="115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RAG technology stack</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39</a:t>
            </a:r>
            <a:endParaRPr lang="en-US" sz="850" dirty="0"/>
          </a:p>
        </p:txBody>
      </p:sp>
      <p:sp>
        <p:nvSpPr>
          <p:cNvPr id="17" name="Shape 14"/>
          <p:cNvSpPr/>
          <p:nvPr/>
        </p:nvSpPr>
        <p:spPr>
          <a:xfrm>
            <a:off x="457200" y="1325880"/>
            <a:ext cx="1554480" cy="2834640"/>
          </a:xfrm>
          <a:prstGeom prst="roundRect">
            <a:avLst>
              <a:gd name="adj" fmla="val 4706"/>
            </a:avLst>
          </a:prstGeom>
          <a:solidFill>
            <a:srgbClr val="F4F7F5"/>
          </a:solidFill>
          <a:ln w="9525">
            <a:solidFill>
              <a:srgbClr val="D5DED9"/>
            </a:solidFill>
            <a:prstDash val="solid"/>
          </a:ln>
        </p:spPr>
      </p:sp>
      <p:sp>
        <p:nvSpPr>
          <p:cNvPr id="18" name="Shape 15"/>
          <p:cNvSpPr/>
          <p:nvPr/>
        </p:nvSpPr>
        <p:spPr>
          <a:xfrm>
            <a:off x="960120" y="1444752"/>
            <a:ext cx="548640" cy="548640"/>
          </a:xfrm>
          <a:prstGeom prst="ellipse">
            <a:avLst/>
          </a:prstGeom>
          <a:solidFill>
            <a:srgbClr val="00704A">
              <a:alpha val="22000"/>
            </a:srgbClr>
          </a:solidFill>
          <a:ln w="12700">
            <a:solidFill>
              <a:srgbClr val="00704A">
                <a:alpha val="0"/>
              </a:srgbClr>
            </a:solidFill>
            <a:prstDash val="solid"/>
          </a:ln>
        </p:spPr>
      </p:sp>
      <p:pic>
        <p:nvPicPr>
          <p:cNvPr id="19" name="Image 0" descr="preencoded.png"/>
          <p:cNvPicPr>
            <a:picLocks noChangeAspect="1"/>
          </p:cNvPicPr>
          <p:nvPr/>
        </p:nvPicPr>
        <p:blipFill>
          <a:blip r:embed="rId3"/>
          <a:stretch>
            <a:fillRect/>
          </a:stretch>
        </p:blipFill>
        <p:spPr>
          <a:xfrm>
            <a:off x="1091794" y="1576426"/>
            <a:ext cx="285293" cy="285293"/>
          </a:xfrm>
          <a:prstGeom prst="rect">
            <a:avLst/>
          </a:prstGeom>
        </p:spPr>
      </p:pic>
      <p:sp>
        <p:nvSpPr>
          <p:cNvPr id="20" name="Text 16"/>
          <p:cNvSpPr txBox="1"/>
          <p:nvPr/>
        </p:nvSpPr>
        <p:spPr>
          <a:xfrm>
            <a:off x="502920" y="2057400"/>
            <a:ext cx="1463040" cy="274320"/>
          </a:xfrm>
          <a:prstGeom prst="rect">
            <a:avLst/>
          </a:prstGeom>
          <a:noFill/>
          <a:ln/>
        </p:spPr>
        <p:txBody>
          <a:bodyPr wrap="square" lIns="0" tIns="0" rIns="0" bIns="0" rtlCol="0" anchor="ctr"/>
          <a:lstStyle/>
          <a:p>
            <a:pPr marL="0" indent="0" algn="ctr">
              <a:buNone/>
            </a:pPr>
            <a:r>
              <a:rPr lang="en-US" sz="1400" b="1" dirty="0">
                <a:solidFill>
                  <a:srgbClr val="231F20"/>
                </a:solidFill>
                <a:latin typeface="Calibri" pitchFamily="34" charset="0"/>
                <a:ea typeface="Calibri" pitchFamily="34" charset="-122"/>
                <a:cs typeface="Calibri" pitchFamily="34" charset="-120"/>
              </a:rPr>
              <a:t>Orchestration</a:t>
            </a:r>
            <a:endParaRPr lang="en-US" sz="1400" dirty="0"/>
          </a:p>
        </p:txBody>
      </p:sp>
      <p:sp>
        <p:nvSpPr>
          <p:cNvPr id="21" name="Shape 17"/>
          <p:cNvSpPr/>
          <p:nvPr/>
        </p:nvSpPr>
        <p:spPr>
          <a:xfrm>
            <a:off x="566928" y="2432304"/>
            <a:ext cx="1335024" cy="338328"/>
          </a:xfrm>
          <a:prstGeom prst="roundRect">
            <a:avLst>
              <a:gd name="adj" fmla="val 21622"/>
            </a:avLst>
          </a:prstGeom>
          <a:solidFill>
            <a:srgbClr val="FFFFFF"/>
          </a:solidFill>
          <a:ln w="9525">
            <a:solidFill>
              <a:srgbClr val="D5DED9"/>
            </a:solidFill>
            <a:prstDash val="solid"/>
          </a:ln>
        </p:spPr>
      </p:sp>
      <p:sp>
        <p:nvSpPr>
          <p:cNvPr id="22" name="Text 18"/>
          <p:cNvSpPr txBox="1"/>
          <p:nvPr/>
        </p:nvSpPr>
        <p:spPr>
          <a:xfrm>
            <a:off x="566928" y="2432304"/>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LangChain</a:t>
            </a:r>
            <a:endParaRPr lang="en-US" sz="1000" dirty="0"/>
          </a:p>
        </p:txBody>
      </p:sp>
      <p:sp>
        <p:nvSpPr>
          <p:cNvPr id="23" name="Shape 19"/>
          <p:cNvSpPr/>
          <p:nvPr/>
        </p:nvSpPr>
        <p:spPr>
          <a:xfrm>
            <a:off x="566928" y="2852928"/>
            <a:ext cx="1335024" cy="338328"/>
          </a:xfrm>
          <a:prstGeom prst="roundRect">
            <a:avLst>
              <a:gd name="adj" fmla="val 21622"/>
            </a:avLst>
          </a:prstGeom>
          <a:solidFill>
            <a:srgbClr val="FFFFFF"/>
          </a:solidFill>
          <a:ln w="9525">
            <a:solidFill>
              <a:srgbClr val="D5DED9"/>
            </a:solidFill>
            <a:prstDash val="solid"/>
          </a:ln>
        </p:spPr>
      </p:sp>
      <p:sp>
        <p:nvSpPr>
          <p:cNvPr id="24" name="Text 20"/>
          <p:cNvSpPr txBox="1"/>
          <p:nvPr/>
        </p:nvSpPr>
        <p:spPr>
          <a:xfrm>
            <a:off x="566928" y="2852928"/>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LlamaIndex</a:t>
            </a:r>
            <a:endParaRPr lang="en-US" sz="1000" dirty="0"/>
          </a:p>
        </p:txBody>
      </p:sp>
      <p:sp>
        <p:nvSpPr>
          <p:cNvPr id="25" name="Shape 21"/>
          <p:cNvSpPr/>
          <p:nvPr/>
        </p:nvSpPr>
        <p:spPr>
          <a:xfrm>
            <a:off x="566928" y="3273552"/>
            <a:ext cx="1335024" cy="338328"/>
          </a:xfrm>
          <a:prstGeom prst="roundRect">
            <a:avLst>
              <a:gd name="adj" fmla="val 21622"/>
            </a:avLst>
          </a:prstGeom>
          <a:solidFill>
            <a:srgbClr val="FFFFFF"/>
          </a:solidFill>
          <a:ln w="9525">
            <a:solidFill>
              <a:srgbClr val="D5DED9"/>
            </a:solidFill>
            <a:prstDash val="solid"/>
          </a:ln>
        </p:spPr>
      </p:sp>
      <p:sp>
        <p:nvSpPr>
          <p:cNvPr id="26" name="Text 22"/>
          <p:cNvSpPr txBox="1"/>
          <p:nvPr/>
        </p:nvSpPr>
        <p:spPr>
          <a:xfrm>
            <a:off x="566928" y="3273552"/>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Haystack</a:t>
            </a:r>
            <a:endParaRPr lang="en-US" sz="1000" dirty="0"/>
          </a:p>
        </p:txBody>
      </p:sp>
      <p:sp>
        <p:nvSpPr>
          <p:cNvPr id="27" name="Shape 23"/>
          <p:cNvSpPr/>
          <p:nvPr/>
        </p:nvSpPr>
        <p:spPr>
          <a:xfrm>
            <a:off x="566928" y="3694176"/>
            <a:ext cx="1335024" cy="338328"/>
          </a:xfrm>
          <a:prstGeom prst="roundRect">
            <a:avLst>
              <a:gd name="adj" fmla="val 21622"/>
            </a:avLst>
          </a:prstGeom>
          <a:solidFill>
            <a:srgbClr val="FFFFFF"/>
          </a:solidFill>
          <a:ln w="9525">
            <a:solidFill>
              <a:srgbClr val="D5DED9"/>
            </a:solidFill>
            <a:prstDash val="solid"/>
          </a:ln>
        </p:spPr>
      </p:sp>
      <p:sp>
        <p:nvSpPr>
          <p:cNvPr id="28" name="Text 24"/>
          <p:cNvSpPr txBox="1"/>
          <p:nvPr/>
        </p:nvSpPr>
        <p:spPr>
          <a:xfrm>
            <a:off x="566928" y="3694176"/>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DSPy</a:t>
            </a:r>
            <a:endParaRPr lang="en-US" sz="1000" dirty="0"/>
          </a:p>
        </p:txBody>
      </p:sp>
      <p:sp>
        <p:nvSpPr>
          <p:cNvPr id="29" name="Shape 25"/>
          <p:cNvSpPr/>
          <p:nvPr/>
        </p:nvSpPr>
        <p:spPr>
          <a:xfrm>
            <a:off x="2139696" y="1325880"/>
            <a:ext cx="1554480" cy="2834640"/>
          </a:xfrm>
          <a:prstGeom prst="roundRect">
            <a:avLst>
              <a:gd name="adj" fmla="val 4706"/>
            </a:avLst>
          </a:prstGeom>
          <a:solidFill>
            <a:srgbClr val="F4F7F5"/>
          </a:solidFill>
          <a:ln w="9525">
            <a:solidFill>
              <a:srgbClr val="D5DED9"/>
            </a:solidFill>
            <a:prstDash val="solid"/>
          </a:ln>
        </p:spPr>
      </p:sp>
      <p:sp>
        <p:nvSpPr>
          <p:cNvPr id="30" name="Shape 26"/>
          <p:cNvSpPr/>
          <p:nvPr/>
        </p:nvSpPr>
        <p:spPr>
          <a:xfrm>
            <a:off x="2642616" y="1444752"/>
            <a:ext cx="548640" cy="548640"/>
          </a:xfrm>
          <a:prstGeom prst="ellipse">
            <a:avLst/>
          </a:prstGeom>
          <a:solidFill>
            <a:srgbClr val="0E7C86">
              <a:alpha val="22000"/>
            </a:srgbClr>
          </a:solidFill>
          <a:ln w="12700">
            <a:solidFill>
              <a:srgbClr val="0E7C86">
                <a:alpha val="0"/>
              </a:srgbClr>
            </a:solidFill>
            <a:prstDash val="solid"/>
          </a:ln>
        </p:spPr>
      </p:sp>
      <p:pic>
        <p:nvPicPr>
          <p:cNvPr id="31" name="Image 1" descr="preencoded.png"/>
          <p:cNvPicPr>
            <a:picLocks noChangeAspect="1"/>
          </p:cNvPicPr>
          <p:nvPr/>
        </p:nvPicPr>
        <p:blipFill>
          <a:blip r:embed="rId4"/>
          <a:stretch>
            <a:fillRect/>
          </a:stretch>
        </p:blipFill>
        <p:spPr>
          <a:xfrm>
            <a:off x="2774290" y="1576426"/>
            <a:ext cx="285293" cy="285293"/>
          </a:xfrm>
          <a:prstGeom prst="rect">
            <a:avLst/>
          </a:prstGeom>
        </p:spPr>
      </p:pic>
      <p:sp>
        <p:nvSpPr>
          <p:cNvPr id="32" name="Text 27"/>
          <p:cNvSpPr txBox="1"/>
          <p:nvPr/>
        </p:nvSpPr>
        <p:spPr>
          <a:xfrm>
            <a:off x="2185416" y="2057400"/>
            <a:ext cx="1463040" cy="274320"/>
          </a:xfrm>
          <a:prstGeom prst="rect">
            <a:avLst/>
          </a:prstGeom>
          <a:noFill/>
          <a:ln/>
        </p:spPr>
        <p:txBody>
          <a:bodyPr wrap="square" lIns="0" tIns="0" rIns="0" bIns="0" rtlCol="0" anchor="ctr"/>
          <a:lstStyle/>
          <a:p>
            <a:pPr marL="0" indent="0" algn="ctr">
              <a:buNone/>
            </a:pPr>
            <a:r>
              <a:rPr lang="en-US" sz="1400" b="1" dirty="0">
                <a:solidFill>
                  <a:srgbClr val="231F20"/>
                </a:solidFill>
                <a:latin typeface="Calibri" pitchFamily="34" charset="0"/>
                <a:ea typeface="Calibri" pitchFamily="34" charset="-122"/>
                <a:cs typeface="Calibri" pitchFamily="34" charset="-120"/>
              </a:rPr>
              <a:t>Parsing</a:t>
            </a:r>
            <a:endParaRPr lang="en-US" sz="1400" dirty="0"/>
          </a:p>
        </p:txBody>
      </p:sp>
      <p:sp>
        <p:nvSpPr>
          <p:cNvPr id="33" name="Shape 28"/>
          <p:cNvSpPr/>
          <p:nvPr/>
        </p:nvSpPr>
        <p:spPr>
          <a:xfrm>
            <a:off x="2249424" y="2432304"/>
            <a:ext cx="1335024" cy="338328"/>
          </a:xfrm>
          <a:prstGeom prst="roundRect">
            <a:avLst>
              <a:gd name="adj" fmla="val 21622"/>
            </a:avLst>
          </a:prstGeom>
          <a:solidFill>
            <a:srgbClr val="FFFFFF"/>
          </a:solidFill>
          <a:ln w="9525">
            <a:solidFill>
              <a:srgbClr val="D5DED9"/>
            </a:solidFill>
            <a:prstDash val="solid"/>
          </a:ln>
        </p:spPr>
      </p:sp>
      <p:sp>
        <p:nvSpPr>
          <p:cNvPr id="34" name="Text 29"/>
          <p:cNvSpPr txBox="1"/>
          <p:nvPr/>
        </p:nvSpPr>
        <p:spPr>
          <a:xfrm>
            <a:off x="2249424" y="2432304"/>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Unstructured</a:t>
            </a:r>
            <a:endParaRPr lang="en-US" sz="1000" dirty="0"/>
          </a:p>
        </p:txBody>
      </p:sp>
      <p:sp>
        <p:nvSpPr>
          <p:cNvPr id="35" name="Shape 30"/>
          <p:cNvSpPr/>
          <p:nvPr/>
        </p:nvSpPr>
        <p:spPr>
          <a:xfrm>
            <a:off x="2249424" y="2852928"/>
            <a:ext cx="1335024" cy="338328"/>
          </a:xfrm>
          <a:prstGeom prst="roundRect">
            <a:avLst>
              <a:gd name="adj" fmla="val 21622"/>
            </a:avLst>
          </a:prstGeom>
          <a:solidFill>
            <a:srgbClr val="FFFFFF"/>
          </a:solidFill>
          <a:ln w="9525">
            <a:solidFill>
              <a:srgbClr val="D5DED9"/>
            </a:solidFill>
            <a:prstDash val="solid"/>
          </a:ln>
        </p:spPr>
      </p:sp>
      <p:sp>
        <p:nvSpPr>
          <p:cNvPr id="36" name="Text 31"/>
          <p:cNvSpPr txBox="1"/>
          <p:nvPr/>
        </p:nvSpPr>
        <p:spPr>
          <a:xfrm>
            <a:off x="2249424" y="2852928"/>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Docling</a:t>
            </a:r>
            <a:endParaRPr lang="en-US" sz="1000" dirty="0"/>
          </a:p>
        </p:txBody>
      </p:sp>
      <p:sp>
        <p:nvSpPr>
          <p:cNvPr id="37" name="Shape 32"/>
          <p:cNvSpPr/>
          <p:nvPr/>
        </p:nvSpPr>
        <p:spPr>
          <a:xfrm>
            <a:off x="2249424" y="3273552"/>
            <a:ext cx="1335024" cy="338328"/>
          </a:xfrm>
          <a:prstGeom prst="roundRect">
            <a:avLst>
              <a:gd name="adj" fmla="val 21622"/>
            </a:avLst>
          </a:prstGeom>
          <a:solidFill>
            <a:srgbClr val="FFFFFF"/>
          </a:solidFill>
          <a:ln w="9525">
            <a:solidFill>
              <a:srgbClr val="D5DED9"/>
            </a:solidFill>
            <a:prstDash val="solid"/>
          </a:ln>
        </p:spPr>
      </p:sp>
      <p:sp>
        <p:nvSpPr>
          <p:cNvPr id="38" name="Text 33"/>
          <p:cNvSpPr txBox="1"/>
          <p:nvPr/>
        </p:nvSpPr>
        <p:spPr>
          <a:xfrm>
            <a:off x="2249424" y="3273552"/>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LlamaParse</a:t>
            </a:r>
            <a:endParaRPr lang="en-US" sz="1000" dirty="0"/>
          </a:p>
        </p:txBody>
      </p:sp>
      <p:sp>
        <p:nvSpPr>
          <p:cNvPr id="39" name="Shape 34"/>
          <p:cNvSpPr/>
          <p:nvPr/>
        </p:nvSpPr>
        <p:spPr>
          <a:xfrm>
            <a:off x="2249424" y="3694176"/>
            <a:ext cx="1335024" cy="338328"/>
          </a:xfrm>
          <a:prstGeom prst="roundRect">
            <a:avLst>
              <a:gd name="adj" fmla="val 21622"/>
            </a:avLst>
          </a:prstGeom>
          <a:solidFill>
            <a:srgbClr val="FFFFFF"/>
          </a:solidFill>
          <a:ln w="9525">
            <a:solidFill>
              <a:srgbClr val="D5DED9"/>
            </a:solidFill>
            <a:prstDash val="solid"/>
          </a:ln>
        </p:spPr>
      </p:sp>
      <p:sp>
        <p:nvSpPr>
          <p:cNvPr id="40" name="Text 35"/>
          <p:cNvSpPr txBox="1"/>
          <p:nvPr/>
        </p:nvSpPr>
        <p:spPr>
          <a:xfrm>
            <a:off x="2249424" y="3694176"/>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Apache Tika</a:t>
            </a:r>
            <a:endParaRPr lang="en-US" sz="1000" dirty="0"/>
          </a:p>
        </p:txBody>
      </p:sp>
      <p:sp>
        <p:nvSpPr>
          <p:cNvPr id="41" name="Shape 36"/>
          <p:cNvSpPr/>
          <p:nvPr/>
        </p:nvSpPr>
        <p:spPr>
          <a:xfrm>
            <a:off x="3822192" y="1325880"/>
            <a:ext cx="1554480" cy="2834640"/>
          </a:xfrm>
          <a:prstGeom prst="roundRect">
            <a:avLst>
              <a:gd name="adj" fmla="val 4706"/>
            </a:avLst>
          </a:prstGeom>
          <a:solidFill>
            <a:srgbClr val="F4F7F5"/>
          </a:solidFill>
          <a:ln w="9525">
            <a:solidFill>
              <a:srgbClr val="D5DED9"/>
            </a:solidFill>
            <a:prstDash val="solid"/>
          </a:ln>
        </p:spPr>
      </p:sp>
      <p:sp>
        <p:nvSpPr>
          <p:cNvPr id="42" name="Shape 37"/>
          <p:cNvSpPr/>
          <p:nvPr/>
        </p:nvSpPr>
        <p:spPr>
          <a:xfrm>
            <a:off x="4325112" y="1444752"/>
            <a:ext cx="548640" cy="548640"/>
          </a:xfrm>
          <a:prstGeom prst="ellipse">
            <a:avLst/>
          </a:prstGeom>
          <a:solidFill>
            <a:srgbClr val="00A86A">
              <a:alpha val="22000"/>
            </a:srgbClr>
          </a:solidFill>
          <a:ln w="12700">
            <a:solidFill>
              <a:srgbClr val="00A86A">
                <a:alpha val="0"/>
              </a:srgbClr>
            </a:solidFill>
            <a:prstDash val="solid"/>
          </a:ln>
        </p:spPr>
      </p:sp>
      <p:pic>
        <p:nvPicPr>
          <p:cNvPr id="43" name="Image 2" descr="preencoded.png"/>
          <p:cNvPicPr>
            <a:picLocks noChangeAspect="1"/>
          </p:cNvPicPr>
          <p:nvPr/>
        </p:nvPicPr>
        <p:blipFill>
          <a:blip r:embed="rId5"/>
          <a:stretch>
            <a:fillRect/>
          </a:stretch>
        </p:blipFill>
        <p:spPr>
          <a:xfrm>
            <a:off x="4456786" y="1576426"/>
            <a:ext cx="285293" cy="285293"/>
          </a:xfrm>
          <a:prstGeom prst="rect">
            <a:avLst/>
          </a:prstGeom>
        </p:spPr>
      </p:pic>
      <p:sp>
        <p:nvSpPr>
          <p:cNvPr id="44" name="Text 38"/>
          <p:cNvSpPr txBox="1"/>
          <p:nvPr/>
        </p:nvSpPr>
        <p:spPr>
          <a:xfrm>
            <a:off x="3867912" y="2057400"/>
            <a:ext cx="1463040" cy="274320"/>
          </a:xfrm>
          <a:prstGeom prst="rect">
            <a:avLst/>
          </a:prstGeom>
          <a:noFill/>
          <a:ln/>
        </p:spPr>
        <p:txBody>
          <a:bodyPr wrap="square" lIns="0" tIns="0" rIns="0" bIns="0" rtlCol="0" anchor="ctr"/>
          <a:lstStyle/>
          <a:p>
            <a:pPr marL="0" indent="0" algn="ctr">
              <a:buNone/>
            </a:pPr>
            <a:r>
              <a:rPr lang="en-US" sz="1400" b="1" dirty="0">
                <a:solidFill>
                  <a:srgbClr val="231F20"/>
                </a:solidFill>
                <a:latin typeface="Calibri" pitchFamily="34" charset="0"/>
                <a:ea typeface="Calibri" pitchFamily="34" charset="-122"/>
                <a:cs typeface="Calibri" pitchFamily="34" charset="-120"/>
              </a:rPr>
              <a:t>Embeddings</a:t>
            </a:r>
            <a:endParaRPr lang="en-US" sz="1400" dirty="0"/>
          </a:p>
        </p:txBody>
      </p:sp>
      <p:sp>
        <p:nvSpPr>
          <p:cNvPr id="45" name="Shape 39"/>
          <p:cNvSpPr/>
          <p:nvPr/>
        </p:nvSpPr>
        <p:spPr>
          <a:xfrm>
            <a:off x="3931920" y="2432304"/>
            <a:ext cx="1335024" cy="338328"/>
          </a:xfrm>
          <a:prstGeom prst="roundRect">
            <a:avLst>
              <a:gd name="adj" fmla="val 21622"/>
            </a:avLst>
          </a:prstGeom>
          <a:solidFill>
            <a:srgbClr val="FFFFFF"/>
          </a:solidFill>
          <a:ln w="9525">
            <a:solidFill>
              <a:srgbClr val="D5DED9"/>
            </a:solidFill>
            <a:prstDash val="solid"/>
          </a:ln>
        </p:spPr>
      </p:sp>
      <p:sp>
        <p:nvSpPr>
          <p:cNvPr id="46" name="Text 40"/>
          <p:cNvSpPr txBox="1"/>
          <p:nvPr/>
        </p:nvSpPr>
        <p:spPr>
          <a:xfrm>
            <a:off x="3931920" y="2432304"/>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OpenAI text-embedding-3</a:t>
            </a:r>
            <a:endParaRPr lang="en-US" sz="1000" dirty="0"/>
          </a:p>
        </p:txBody>
      </p:sp>
      <p:sp>
        <p:nvSpPr>
          <p:cNvPr id="47" name="Shape 41"/>
          <p:cNvSpPr/>
          <p:nvPr/>
        </p:nvSpPr>
        <p:spPr>
          <a:xfrm>
            <a:off x="3931920" y="2852928"/>
            <a:ext cx="1335024" cy="338328"/>
          </a:xfrm>
          <a:prstGeom prst="roundRect">
            <a:avLst>
              <a:gd name="adj" fmla="val 21622"/>
            </a:avLst>
          </a:prstGeom>
          <a:solidFill>
            <a:srgbClr val="FFFFFF"/>
          </a:solidFill>
          <a:ln w="9525">
            <a:solidFill>
              <a:srgbClr val="D5DED9"/>
            </a:solidFill>
            <a:prstDash val="solid"/>
          </a:ln>
        </p:spPr>
      </p:sp>
      <p:sp>
        <p:nvSpPr>
          <p:cNvPr id="48" name="Text 42"/>
          <p:cNvSpPr txBox="1"/>
          <p:nvPr/>
        </p:nvSpPr>
        <p:spPr>
          <a:xfrm>
            <a:off x="3931920" y="2852928"/>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Cohere Embed</a:t>
            </a:r>
            <a:endParaRPr lang="en-US" sz="1000" dirty="0"/>
          </a:p>
        </p:txBody>
      </p:sp>
      <p:sp>
        <p:nvSpPr>
          <p:cNvPr id="49" name="Shape 43"/>
          <p:cNvSpPr/>
          <p:nvPr/>
        </p:nvSpPr>
        <p:spPr>
          <a:xfrm>
            <a:off x="3931920" y="3273552"/>
            <a:ext cx="1335024" cy="338328"/>
          </a:xfrm>
          <a:prstGeom prst="roundRect">
            <a:avLst>
              <a:gd name="adj" fmla="val 21622"/>
            </a:avLst>
          </a:prstGeom>
          <a:solidFill>
            <a:srgbClr val="FFFFFF"/>
          </a:solidFill>
          <a:ln w="9525">
            <a:solidFill>
              <a:srgbClr val="D5DED9"/>
            </a:solidFill>
            <a:prstDash val="solid"/>
          </a:ln>
        </p:spPr>
      </p:sp>
      <p:sp>
        <p:nvSpPr>
          <p:cNvPr id="50" name="Text 44"/>
          <p:cNvSpPr txBox="1"/>
          <p:nvPr/>
        </p:nvSpPr>
        <p:spPr>
          <a:xfrm>
            <a:off x="3931920" y="3273552"/>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Voyage AI</a:t>
            </a:r>
            <a:endParaRPr lang="en-US" sz="1000" dirty="0"/>
          </a:p>
        </p:txBody>
      </p:sp>
      <p:sp>
        <p:nvSpPr>
          <p:cNvPr id="51" name="Shape 45"/>
          <p:cNvSpPr/>
          <p:nvPr/>
        </p:nvSpPr>
        <p:spPr>
          <a:xfrm>
            <a:off x="3931920" y="3694176"/>
            <a:ext cx="1335024" cy="338328"/>
          </a:xfrm>
          <a:prstGeom prst="roundRect">
            <a:avLst>
              <a:gd name="adj" fmla="val 21622"/>
            </a:avLst>
          </a:prstGeom>
          <a:solidFill>
            <a:srgbClr val="FFFFFF"/>
          </a:solidFill>
          <a:ln w="9525">
            <a:solidFill>
              <a:srgbClr val="D5DED9"/>
            </a:solidFill>
            <a:prstDash val="solid"/>
          </a:ln>
        </p:spPr>
      </p:sp>
      <p:sp>
        <p:nvSpPr>
          <p:cNvPr id="52" name="Text 46"/>
          <p:cNvSpPr txBox="1"/>
          <p:nvPr/>
        </p:nvSpPr>
        <p:spPr>
          <a:xfrm>
            <a:off x="3931920" y="3694176"/>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BGE · E5 (open)</a:t>
            </a:r>
            <a:endParaRPr lang="en-US" sz="1000" dirty="0"/>
          </a:p>
        </p:txBody>
      </p:sp>
      <p:sp>
        <p:nvSpPr>
          <p:cNvPr id="53" name="Shape 47"/>
          <p:cNvSpPr/>
          <p:nvPr/>
        </p:nvSpPr>
        <p:spPr>
          <a:xfrm>
            <a:off x="5504688" y="1325880"/>
            <a:ext cx="1554480" cy="2834640"/>
          </a:xfrm>
          <a:prstGeom prst="roundRect">
            <a:avLst>
              <a:gd name="adj" fmla="val 4706"/>
            </a:avLst>
          </a:prstGeom>
          <a:solidFill>
            <a:srgbClr val="F4F7F5"/>
          </a:solidFill>
          <a:ln w="9525">
            <a:solidFill>
              <a:srgbClr val="D5DED9"/>
            </a:solidFill>
            <a:prstDash val="solid"/>
          </a:ln>
        </p:spPr>
      </p:sp>
      <p:sp>
        <p:nvSpPr>
          <p:cNvPr id="54" name="Shape 48"/>
          <p:cNvSpPr/>
          <p:nvPr/>
        </p:nvSpPr>
        <p:spPr>
          <a:xfrm>
            <a:off x="6007608" y="1444752"/>
            <a:ext cx="548640" cy="548640"/>
          </a:xfrm>
          <a:prstGeom prst="ellipse">
            <a:avLst/>
          </a:prstGeom>
          <a:solidFill>
            <a:srgbClr val="C4621D">
              <a:alpha val="22000"/>
            </a:srgbClr>
          </a:solidFill>
          <a:ln w="12700">
            <a:solidFill>
              <a:srgbClr val="C4621D">
                <a:alpha val="0"/>
              </a:srgbClr>
            </a:solidFill>
            <a:prstDash val="solid"/>
          </a:ln>
        </p:spPr>
      </p:sp>
      <p:pic>
        <p:nvPicPr>
          <p:cNvPr id="55" name="Image 3" descr="preencoded.png"/>
          <p:cNvPicPr>
            <a:picLocks noChangeAspect="1"/>
          </p:cNvPicPr>
          <p:nvPr/>
        </p:nvPicPr>
        <p:blipFill>
          <a:blip r:embed="rId6"/>
          <a:stretch>
            <a:fillRect/>
          </a:stretch>
        </p:blipFill>
        <p:spPr>
          <a:xfrm>
            <a:off x="6139282" y="1576426"/>
            <a:ext cx="285293" cy="285293"/>
          </a:xfrm>
          <a:prstGeom prst="rect">
            <a:avLst/>
          </a:prstGeom>
        </p:spPr>
      </p:pic>
      <p:sp>
        <p:nvSpPr>
          <p:cNvPr id="56" name="Text 49"/>
          <p:cNvSpPr txBox="1"/>
          <p:nvPr/>
        </p:nvSpPr>
        <p:spPr>
          <a:xfrm>
            <a:off x="5550408" y="2057400"/>
            <a:ext cx="1463040" cy="274320"/>
          </a:xfrm>
          <a:prstGeom prst="rect">
            <a:avLst/>
          </a:prstGeom>
          <a:noFill/>
          <a:ln/>
        </p:spPr>
        <p:txBody>
          <a:bodyPr wrap="square" lIns="0" tIns="0" rIns="0" bIns="0" rtlCol="0" anchor="ctr"/>
          <a:lstStyle/>
          <a:p>
            <a:pPr marL="0" indent="0" algn="ctr">
              <a:buNone/>
            </a:pPr>
            <a:r>
              <a:rPr lang="en-US" sz="1400" b="1" dirty="0">
                <a:solidFill>
                  <a:srgbClr val="231F20"/>
                </a:solidFill>
                <a:latin typeface="Calibri" pitchFamily="34" charset="0"/>
                <a:ea typeface="Calibri" pitchFamily="34" charset="-122"/>
                <a:cs typeface="Calibri" pitchFamily="34" charset="-120"/>
              </a:rPr>
              <a:t>Vector stores</a:t>
            </a:r>
            <a:endParaRPr lang="en-US" sz="1400" dirty="0"/>
          </a:p>
        </p:txBody>
      </p:sp>
      <p:sp>
        <p:nvSpPr>
          <p:cNvPr id="57" name="Shape 50"/>
          <p:cNvSpPr/>
          <p:nvPr/>
        </p:nvSpPr>
        <p:spPr>
          <a:xfrm>
            <a:off x="5614416" y="2432304"/>
            <a:ext cx="1335024" cy="338328"/>
          </a:xfrm>
          <a:prstGeom prst="roundRect">
            <a:avLst>
              <a:gd name="adj" fmla="val 21622"/>
            </a:avLst>
          </a:prstGeom>
          <a:solidFill>
            <a:srgbClr val="FFFFFF"/>
          </a:solidFill>
          <a:ln w="9525">
            <a:solidFill>
              <a:srgbClr val="D5DED9"/>
            </a:solidFill>
            <a:prstDash val="solid"/>
          </a:ln>
        </p:spPr>
      </p:sp>
      <p:sp>
        <p:nvSpPr>
          <p:cNvPr id="58" name="Text 51"/>
          <p:cNvSpPr txBox="1"/>
          <p:nvPr/>
        </p:nvSpPr>
        <p:spPr>
          <a:xfrm>
            <a:off x="5614416" y="2432304"/>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Pinecone · Weaviate</a:t>
            </a:r>
            <a:endParaRPr lang="en-US" sz="1000" dirty="0"/>
          </a:p>
        </p:txBody>
      </p:sp>
      <p:sp>
        <p:nvSpPr>
          <p:cNvPr id="59" name="Shape 52"/>
          <p:cNvSpPr/>
          <p:nvPr/>
        </p:nvSpPr>
        <p:spPr>
          <a:xfrm>
            <a:off x="5614416" y="2852928"/>
            <a:ext cx="1335024" cy="338328"/>
          </a:xfrm>
          <a:prstGeom prst="roundRect">
            <a:avLst>
              <a:gd name="adj" fmla="val 21622"/>
            </a:avLst>
          </a:prstGeom>
          <a:solidFill>
            <a:srgbClr val="FFFFFF"/>
          </a:solidFill>
          <a:ln w="9525">
            <a:solidFill>
              <a:srgbClr val="D5DED9"/>
            </a:solidFill>
            <a:prstDash val="solid"/>
          </a:ln>
        </p:spPr>
      </p:sp>
      <p:sp>
        <p:nvSpPr>
          <p:cNvPr id="60" name="Text 53"/>
          <p:cNvSpPr txBox="1"/>
          <p:nvPr/>
        </p:nvSpPr>
        <p:spPr>
          <a:xfrm>
            <a:off x="5614416" y="2852928"/>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Qdrant · Milvus</a:t>
            </a:r>
            <a:endParaRPr lang="en-US" sz="1000" dirty="0"/>
          </a:p>
        </p:txBody>
      </p:sp>
      <p:sp>
        <p:nvSpPr>
          <p:cNvPr id="61" name="Shape 54"/>
          <p:cNvSpPr/>
          <p:nvPr/>
        </p:nvSpPr>
        <p:spPr>
          <a:xfrm>
            <a:off x="5614416" y="3273552"/>
            <a:ext cx="1335024" cy="338328"/>
          </a:xfrm>
          <a:prstGeom prst="roundRect">
            <a:avLst>
              <a:gd name="adj" fmla="val 21622"/>
            </a:avLst>
          </a:prstGeom>
          <a:solidFill>
            <a:srgbClr val="FFFFFF"/>
          </a:solidFill>
          <a:ln w="9525">
            <a:solidFill>
              <a:srgbClr val="D5DED9"/>
            </a:solidFill>
            <a:prstDash val="solid"/>
          </a:ln>
        </p:spPr>
      </p:sp>
      <p:sp>
        <p:nvSpPr>
          <p:cNvPr id="62" name="Text 55"/>
          <p:cNvSpPr txBox="1"/>
          <p:nvPr/>
        </p:nvSpPr>
        <p:spPr>
          <a:xfrm>
            <a:off x="5614416" y="3273552"/>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Chroma · pgvector</a:t>
            </a:r>
            <a:endParaRPr lang="en-US" sz="1000" dirty="0"/>
          </a:p>
        </p:txBody>
      </p:sp>
      <p:sp>
        <p:nvSpPr>
          <p:cNvPr id="63" name="Shape 56"/>
          <p:cNvSpPr/>
          <p:nvPr/>
        </p:nvSpPr>
        <p:spPr>
          <a:xfrm>
            <a:off x="5614416" y="3694176"/>
            <a:ext cx="1335024" cy="338328"/>
          </a:xfrm>
          <a:prstGeom prst="roundRect">
            <a:avLst>
              <a:gd name="adj" fmla="val 21622"/>
            </a:avLst>
          </a:prstGeom>
          <a:solidFill>
            <a:srgbClr val="FFFFFF"/>
          </a:solidFill>
          <a:ln w="9525">
            <a:solidFill>
              <a:srgbClr val="D5DED9"/>
            </a:solidFill>
            <a:prstDash val="solid"/>
          </a:ln>
        </p:spPr>
      </p:sp>
      <p:sp>
        <p:nvSpPr>
          <p:cNvPr id="64" name="Text 57"/>
          <p:cNvSpPr txBox="1"/>
          <p:nvPr/>
        </p:nvSpPr>
        <p:spPr>
          <a:xfrm>
            <a:off x="5614416" y="3694176"/>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Elasticsearch · FAISS</a:t>
            </a:r>
            <a:endParaRPr lang="en-US" sz="1000" dirty="0"/>
          </a:p>
        </p:txBody>
      </p:sp>
      <p:sp>
        <p:nvSpPr>
          <p:cNvPr id="65" name="Shape 58"/>
          <p:cNvSpPr/>
          <p:nvPr/>
        </p:nvSpPr>
        <p:spPr>
          <a:xfrm>
            <a:off x="7187184" y="1325880"/>
            <a:ext cx="1554480" cy="2834640"/>
          </a:xfrm>
          <a:prstGeom prst="roundRect">
            <a:avLst>
              <a:gd name="adj" fmla="val 4706"/>
            </a:avLst>
          </a:prstGeom>
          <a:solidFill>
            <a:srgbClr val="F4F7F5"/>
          </a:solidFill>
          <a:ln w="9525">
            <a:solidFill>
              <a:srgbClr val="D5DED9"/>
            </a:solidFill>
            <a:prstDash val="solid"/>
          </a:ln>
        </p:spPr>
      </p:sp>
      <p:sp>
        <p:nvSpPr>
          <p:cNvPr id="66" name="Shape 59"/>
          <p:cNvSpPr/>
          <p:nvPr/>
        </p:nvSpPr>
        <p:spPr>
          <a:xfrm>
            <a:off x="7690104" y="1444752"/>
            <a:ext cx="548640" cy="548640"/>
          </a:xfrm>
          <a:prstGeom prst="ellipse">
            <a:avLst/>
          </a:prstGeom>
          <a:solidFill>
            <a:srgbClr val="D49A00">
              <a:alpha val="22000"/>
            </a:srgbClr>
          </a:solidFill>
          <a:ln w="12700">
            <a:solidFill>
              <a:srgbClr val="D49A00">
                <a:alpha val="0"/>
              </a:srgbClr>
            </a:solidFill>
            <a:prstDash val="solid"/>
          </a:ln>
        </p:spPr>
      </p:sp>
      <p:pic>
        <p:nvPicPr>
          <p:cNvPr id="67" name="Image 4" descr="preencoded.png"/>
          <p:cNvPicPr>
            <a:picLocks noChangeAspect="1"/>
          </p:cNvPicPr>
          <p:nvPr/>
        </p:nvPicPr>
        <p:blipFill>
          <a:blip r:embed="rId7"/>
          <a:stretch>
            <a:fillRect/>
          </a:stretch>
        </p:blipFill>
        <p:spPr>
          <a:xfrm>
            <a:off x="7821778" y="1576426"/>
            <a:ext cx="285293" cy="285293"/>
          </a:xfrm>
          <a:prstGeom prst="rect">
            <a:avLst/>
          </a:prstGeom>
        </p:spPr>
      </p:pic>
      <p:sp>
        <p:nvSpPr>
          <p:cNvPr id="68" name="Text 60"/>
          <p:cNvSpPr txBox="1"/>
          <p:nvPr/>
        </p:nvSpPr>
        <p:spPr>
          <a:xfrm>
            <a:off x="7232904" y="2057400"/>
            <a:ext cx="1463040" cy="274320"/>
          </a:xfrm>
          <a:prstGeom prst="rect">
            <a:avLst/>
          </a:prstGeom>
          <a:noFill/>
          <a:ln/>
        </p:spPr>
        <p:txBody>
          <a:bodyPr wrap="square" lIns="0" tIns="0" rIns="0" bIns="0" rtlCol="0" anchor="ctr"/>
          <a:lstStyle/>
          <a:p>
            <a:pPr marL="0" indent="0" algn="ctr">
              <a:buNone/>
            </a:pPr>
            <a:r>
              <a:rPr lang="en-US" sz="1400" b="1" dirty="0">
                <a:solidFill>
                  <a:srgbClr val="231F20"/>
                </a:solidFill>
                <a:latin typeface="Calibri" pitchFamily="34" charset="0"/>
                <a:ea typeface="Calibri" pitchFamily="34" charset="-122"/>
                <a:cs typeface="Calibri" pitchFamily="34" charset="-120"/>
              </a:rPr>
              <a:t>Rerankers</a:t>
            </a:r>
            <a:endParaRPr lang="en-US" sz="1400" dirty="0"/>
          </a:p>
        </p:txBody>
      </p:sp>
      <p:sp>
        <p:nvSpPr>
          <p:cNvPr id="69" name="Shape 61"/>
          <p:cNvSpPr/>
          <p:nvPr/>
        </p:nvSpPr>
        <p:spPr>
          <a:xfrm>
            <a:off x="7296912" y="2432304"/>
            <a:ext cx="1335024" cy="338328"/>
          </a:xfrm>
          <a:prstGeom prst="roundRect">
            <a:avLst>
              <a:gd name="adj" fmla="val 21622"/>
            </a:avLst>
          </a:prstGeom>
          <a:solidFill>
            <a:srgbClr val="FFFFFF"/>
          </a:solidFill>
          <a:ln w="9525">
            <a:solidFill>
              <a:srgbClr val="D5DED9"/>
            </a:solidFill>
            <a:prstDash val="solid"/>
          </a:ln>
        </p:spPr>
      </p:sp>
      <p:sp>
        <p:nvSpPr>
          <p:cNvPr id="70" name="Text 62"/>
          <p:cNvSpPr txBox="1"/>
          <p:nvPr/>
        </p:nvSpPr>
        <p:spPr>
          <a:xfrm>
            <a:off x="7296912" y="2432304"/>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Cohere Rerank</a:t>
            </a:r>
            <a:endParaRPr lang="en-US" sz="1000" dirty="0"/>
          </a:p>
        </p:txBody>
      </p:sp>
      <p:sp>
        <p:nvSpPr>
          <p:cNvPr id="71" name="Shape 63"/>
          <p:cNvSpPr/>
          <p:nvPr/>
        </p:nvSpPr>
        <p:spPr>
          <a:xfrm>
            <a:off x="7296912" y="2852928"/>
            <a:ext cx="1335024" cy="338328"/>
          </a:xfrm>
          <a:prstGeom prst="roundRect">
            <a:avLst>
              <a:gd name="adj" fmla="val 21622"/>
            </a:avLst>
          </a:prstGeom>
          <a:solidFill>
            <a:srgbClr val="FFFFFF"/>
          </a:solidFill>
          <a:ln w="9525">
            <a:solidFill>
              <a:srgbClr val="D5DED9"/>
            </a:solidFill>
            <a:prstDash val="solid"/>
          </a:ln>
        </p:spPr>
      </p:sp>
      <p:sp>
        <p:nvSpPr>
          <p:cNvPr id="72" name="Text 64"/>
          <p:cNvSpPr txBox="1"/>
          <p:nvPr/>
        </p:nvSpPr>
        <p:spPr>
          <a:xfrm>
            <a:off x="7296912" y="2852928"/>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BGE-reranker</a:t>
            </a:r>
            <a:endParaRPr lang="en-US" sz="1000" dirty="0"/>
          </a:p>
        </p:txBody>
      </p:sp>
      <p:sp>
        <p:nvSpPr>
          <p:cNvPr id="73" name="Shape 65"/>
          <p:cNvSpPr/>
          <p:nvPr/>
        </p:nvSpPr>
        <p:spPr>
          <a:xfrm>
            <a:off x="7296912" y="3273552"/>
            <a:ext cx="1335024" cy="338328"/>
          </a:xfrm>
          <a:prstGeom prst="roundRect">
            <a:avLst>
              <a:gd name="adj" fmla="val 21622"/>
            </a:avLst>
          </a:prstGeom>
          <a:solidFill>
            <a:srgbClr val="FFFFFF"/>
          </a:solidFill>
          <a:ln w="9525">
            <a:solidFill>
              <a:srgbClr val="D5DED9"/>
            </a:solidFill>
            <a:prstDash val="solid"/>
          </a:ln>
        </p:spPr>
      </p:sp>
      <p:sp>
        <p:nvSpPr>
          <p:cNvPr id="74" name="Text 66"/>
          <p:cNvSpPr txBox="1"/>
          <p:nvPr/>
        </p:nvSpPr>
        <p:spPr>
          <a:xfrm>
            <a:off x="7296912" y="3273552"/>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ColBERT</a:t>
            </a:r>
            <a:endParaRPr lang="en-US" sz="1000" dirty="0"/>
          </a:p>
        </p:txBody>
      </p:sp>
      <p:sp>
        <p:nvSpPr>
          <p:cNvPr id="75" name="Shape 67"/>
          <p:cNvSpPr/>
          <p:nvPr/>
        </p:nvSpPr>
        <p:spPr>
          <a:xfrm>
            <a:off x="7296912" y="3694176"/>
            <a:ext cx="1335024" cy="338328"/>
          </a:xfrm>
          <a:prstGeom prst="roundRect">
            <a:avLst>
              <a:gd name="adj" fmla="val 21622"/>
            </a:avLst>
          </a:prstGeom>
          <a:solidFill>
            <a:srgbClr val="FFFFFF"/>
          </a:solidFill>
          <a:ln w="9525">
            <a:solidFill>
              <a:srgbClr val="D5DED9"/>
            </a:solidFill>
            <a:prstDash val="solid"/>
          </a:ln>
        </p:spPr>
      </p:sp>
      <p:sp>
        <p:nvSpPr>
          <p:cNvPr id="76" name="Text 68"/>
          <p:cNvSpPr txBox="1"/>
          <p:nvPr/>
        </p:nvSpPr>
        <p:spPr>
          <a:xfrm>
            <a:off x="7296912" y="3694176"/>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Cross-encoders</a:t>
            </a:r>
            <a:endParaRPr lang="en-US" sz="1000" dirty="0"/>
          </a:p>
        </p:txBody>
      </p:sp>
      <p:sp>
        <p:nvSpPr>
          <p:cNvPr id="77" name="Shape 69"/>
          <p:cNvSpPr/>
          <p:nvPr/>
        </p:nvSpPr>
        <p:spPr>
          <a:xfrm>
            <a:off x="457200" y="4279392"/>
            <a:ext cx="8229600" cy="402336"/>
          </a:xfrm>
          <a:prstGeom prst="roundRect">
            <a:avLst>
              <a:gd name="adj" fmla="val 18182"/>
            </a:avLst>
          </a:prstGeom>
          <a:solidFill>
            <a:srgbClr val="E8F5EF"/>
          </a:solidFill>
          <a:ln w="15875">
            <a:solidFill>
              <a:srgbClr val="00A86A"/>
            </a:solidFill>
            <a:prstDash val="solid"/>
          </a:ln>
        </p:spPr>
      </p:sp>
      <p:sp>
        <p:nvSpPr>
          <p:cNvPr id="78" name="Text 70"/>
          <p:cNvSpPr txBox="1"/>
          <p:nvPr/>
        </p:nvSpPr>
        <p:spPr>
          <a:xfrm>
            <a:off x="640080" y="4279392"/>
            <a:ext cx="7863840" cy="402336"/>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Tip: </a:t>
            </a:r>
            <a:r>
              <a:rPr lang="en-US" sz="1200" dirty="0">
                <a:solidFill>
                  <a:srgbClr val="231F20"/>
                </a:solidFill>
                <a:latin typeface="Calibri" pitchFamily="34" charset="0"/>
                <a:ea typeface="Calibri" pitchFamily="34" charset="-122"/>
                <a:cs typeface="Calibri" pitchFamily="34" charset="-120"/>
              </a:rPr>
              <a:t>compare embedding models on the MTEB benchmark, then validate on your own data and languages (e.g. French, Arabic).</a:t>
            </a:r>
            <a:endParaRPr lang="en-US" sz="1200" dirty="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References (1/2)</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40</a:t>
            </a:r>
            <a:endParaRPr lang="en-US" sz="850" dirty="0"/>
          </a:p>
        </p:txBody>
      </p:sp>
      <p:sp>
        <p:nvSpPr>
          <p:cNvPr id="17" name="Shape 14"/>
          <p:cNvSpPr/>
          <p:nvPr/>
        </p:nvSpPr>
        <p:spPr>
          <a:xfrm>
            <a:off x="8183880" y="566928"/>
            <a:ext cx="457200" cy="457200"/>
          </a:xfrm>
          <a:prstGeom prst="ellipse">
            <a:avLst/>
          </a:prstGeom>
          <a:solidFill>
            <a:srgbClr val="00A86A">
              <a:alpha val="22000"/>
            </a:srgbClr>
          </a:solidFill>
          <a:ln w="12700">
            <a:solidFill>
              <a:srgbClr val="00A86A">
                <a:alpha val="0"/>
              </a:srgbClr>
            </a:solidFill>
            <a:prstDash val="solid"/>
          </a:ln>
        </p:spPr>
      </p:sp>
      <p:pic>
        <p:nvPicPr>
          <p:cNvPr id="18" name="Image 0" descr="preencoded.png"/>
          <p:cNvPicPr>
            <a:picLocks noChangeAspect="1"/>
          </p:cNvPicPr>
          <p:nvPr/>
        </p:nvPicPr>
        <p:blipFill>
          <a:blip r:embed="rId3"/>
          <a:stretch>
            <a:fillRect/>
          </a:stretch>
        </p:blipFill>
        <p:spPr>
          <a:xfrm>
            <a:off x="8293608" y="676656"/>
            <a:ext cx="237744" cy="237744"/>
          </a:xfrm>
          <a:prstGeom prst="rect">
            <a:avLst/>
          </a:prstGeom>
        </p:spPr>
      </p:pic>
      <p:sp>
        <p:nvSpPr>
          <p:cNvPr id="19" name="Shape 15"/>
          <p:cNvSpPr/>
          <p:nvPr/>
        </p:nvSpPr>
        <p:spPr>
          <a:xfrm>
            <a:off x="457200" y="1298448"/>
            <a:ext cx="4023360" cy="3383280"/>
          </a:xfrm>
          <a:prstGeom prst="roundRect">
            <a:avLst>
              <a:gd name="adj" fmla="val 2162"/>
            </a:avLst>
          </a:prstGeom>
          <a:solidFill>
            <a:srgbClr val="F4F7F5"/>
          </a:solidFill>
          <a:ln w="9525">
            <a:solidFill>
              <a:srgbClr val="D5DED9"/>
            </a:solidFill>
            <a:prstDash val="solid"/>
          </a:ln>
        </p:spPr>
      </p:sp>
      <p:sp>
        <p:nvSpPr>
          <p:cNvPr id="20" name="Text 16"/>
          <p:cNvSpPr txBox="1"/>
          <p:nvPr/>
        </p:nvSpPr>
        <p:spPr>
          <a:xfrm>
            <a:off x="59436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Chen et al. (2017). Reading Wikipedia to Answer Open-Domain Questions (DrQA). 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Lee et al. (2019). Latent Retrieval for Weakly Supervised Open Domain QA (ORQA). 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Guu et al. (2020). REALM: Retrieval-Augmented Language Model Pre-Training. ICML.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Karpukhin et al. (2020). Dense Passage Retrieval for Open-Domain Question Answering. EMNLP.</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Lewis et al. (2020). Retrieval-Augmented Generation for Knowledge-Intensive NLP Tasks. NeurIPS.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Izacard &amp; Grave (2021). Leveraging Passage Retrieval with Generative Models (FiD). EACL.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Borgeaud et al. (2022). Improving Language Models by Retrieving from Trillions of Tokens (RETRO). ICML.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Izacard et al. (2022). Atlas: Few-shot Learning with Retrieval Augmented Language Models.</a:t>
            </a:r>
            <a:endParaRPr lang="en-US" sz="1000" dirty="0"/>
          </a:p>
        </p:txBody>
      </p:sp>
      <p:sp>
        <p:nvSpPr>
          <p:cNvPr id="21" name="Shape 17"/>
          <p:cNvSpPr/>
          <p:nvPr/>
        </p:nvSpPr>
        <p:spPr>
          <a:xfrm>
            <a:off x="4663440" y="1298448"/>
            <a:ext cx="4023360" cy="3383280"/>
          </a:xfrm>
          <a:prstGeom prst="roundRect">
            <a:avLst>
              <a:gd name="adj" fmla="val 2162"/>
            </a:avLst>
          </a:prstGeom>
          <a:solidFill>
            <a:srgbClr val="F4F7F5"/>
          </a:solidFill>
          <a:ln w="9525">
            <a:solidFill>
              <a:srgbClr val="D5DED9"/>
            </a:solidFill>
            <a:prstDash val="solid"/>
          </a:ln>
        </p:spPr>
      </p:sp>
      <p:sp>
        <p:nvSpPr>
          <p:cNvPr id="22" name="Text 18"/>
          <p:cNvSpPr txBox="1"/>
          <p:nvPr/>
        </p:nvSpPr>
        <p:spPr>
          <a:xfrm>
            <a:off x="480060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Gao, Ma et al. (2022). Precise Zero-Shot Dense Retrieval without Relevance Labels (HyDE).</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Ram et al. (2023). In-Context Retrieval-Augmented Language Models. TACL.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Shi et al. (2023). REPLUG: Retrieval-Augmented Black-Box Language Models.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Trivedi et al. (2023). Interleaving Retrieval with Chain-of-Thought Reasoning (IRCoT). 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Jiang et al. (2023). Active Retrieval Augmented Generation (FLARE). EMNLP.</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Asai et al. (2023). Self-RAG: Learning to Retrieve, Generate, and Critique through Self-Reflection.</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Liu et al. (2023). Lost in the Middle: How Language Models Use Long Contexts. TACL 2024.</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Gao, Xiong et al. (2023). Retrieval-Augmented Generation for Large Language Models: A Survey.</a:t>
            </a:r>
            <a:endParaRPr lang="en-US" sz="100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References (2/2)</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for Macroeconomic Statistics · Mauritius, 26–30 Oct 2026   |   AfDB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41</a:t>
            </a:r>
            <a:endParaRPr lang="en-US" sz="850" dirty="0"/>
          </a:p>
        </p:txBody>
      </p:sp>
      <p:sp>
        <p:nvSpPr>
          <p:cNvPr id="17" name="Shape 14"/>
          <p:cNvSpPr/>
          <p:nvPr/>
        </p:nvSpPr>
        <p:spPr>
          <a:xfrm>
            <a:off x="8183880" y="566928"/>
            <a:ext cx="457200" cy="457200"/>
          </a:xfrm>
          <a:prstGeom prst="ellipse">
            <a:avLst/>
          </a:prstGeom>
          <a:solidFill>
            <a:srgbClr val="00A86A">
              <a:alpha val="22000"/>
            </a:srgbClr>
          </a:solidFill>
          <a:ln w="12700">
            <a:solidFill>
              <a:srgbClr val="00A86A">
                <a:alpha val="0"/>
              </a:srgbClr>
            </a:solidFill>
            <a:prstDash val="solid"/>
          </a:ln>
        </p:spPr>
      </p:sp>
      <p:pic>
        <p:nvPicPr>
          <p:cNvPr id="18" name="Image 0" descr="preencoded.png"/>
          <p:cNvPicPr>
            <a:picLocks noChangeAspect="1"/>
          </p:cNvPicPr>
          <p:nvPr/>
        </p:nvPicPr>
        <p:blipFill>
          <a:blip r:embed="rId3"/>
          <a:stretch>
            <a:fillRect/>
          </a:stretch>
        </p:blipFill>
        <p:spPr>
          <a:xfrm>
            <a:off x="8293608" y="676656"/>
            <a:ext cx="237744" cy="237744"/>
          </a:xfrm>
          <a:prstGeom prst="rect">
            <a:avLst/>
          </a:prstGeom>
        </p:spPr>
      </p:pic>
      <p:sp>
        <p:nvSpPr>
          <p:cNvPr id="19" name="Shape 15"/>
          <p:cNvSpPr/>
          <p:nvPr/>
        </p:nvSpPr>
        <p:spPr>
          <a:xfrm>
            <a:off x="457200" y="1298448"/>
            <a:ext cx="4023360" cy="3383280"/>
          </a:xfrm>
          <a:prstGeom prst="roundRect">
            <a:avLst>
              <a:gd name="adj" fmla="val 2162"/>
            </a:avLst>
          </a:prstGeom>
          <a:solidFill>
            <a:srgbClr val="F4F7F5"/>
          </a:solidFill>
          <a:ln w="9525">
            <a:solidFill>
              <a:srgbClr val="D5DED9"/>
            </a:solidFill>
            <a:prstDash val="solid"/>
          </a:ln>
        </p:spPr>
      </p:sp>
      <p:sp>
        <p:nvSpPr>
          <p:cNvPr id="20" name="Text 16"/>
          <p:cNvSpPr txBox="1"/>
          <p:nvPr/>
        </p:nvSpPr>
        <p:spPr>
          <a:xfrm>
            <a:off x="59436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Es et al. (2023). RAGAS: Automated Evaluation of Retrieval Augmented Generation.</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Morris et al. (2023). Text Embeddings Reveal (Almost) As Much As Text. EMNLP.</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Yan et al. (2024). Corrective Retrieval Augmented Generation (CRAG).</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Jeong et al. (2024). Adaptive-RAG: Adapting Retrieval-Augmented LLMs through Question Complexity. NAACL.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Edge et al. (2024). From Local to Global: A Graph RAG Approach to Query-Focused Summarization. Microsoft.</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Sarthi et al. (2024). RAPTOR: Recursive Abstractive Processing for Tree-Organized Retrieval. ICLR.</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Gutiérrez et al. (2024). HippoRAG: Neurobiologically Inspired Long-Term Memory for LLMs. NeurIPS.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Faysse et al. (2024). ColPali: Efficient Document Retrieval with Vision Language Models.</a:t>
            </a:r>
            <a:endParaRPr lang="en-US" sz="1000" dirty="0"/>
          </a:p>
        </p:txBody>
      </p:sp>
      <p:sp>
        <p:nvSpPr>
          <p:cNvPr id="21" name="Shape 17"/>
          <p:cNvSpPr/>
          <p:nvPr/>
        </p:nvSpPr>
        <p:spPr>
          <a:xfrm>
            <a:off x="4663440" y="1298448"/>
            <a:ext cx="4023360" cy="3383280"/>
          </a:xfrm>
          <a:prstGeom prst="roundRect">
            <a:avLst>
              <a:gd name="adj" fmla="val 2162"/>
            </a:avLst>
          </a:prstGeom>
          <a:solidFill>
            <a:srgbClr val="F4F7F5"/>
          </a:solidFill>
          <a:ln w="9525">
            <a:solidFill>
              <a:srgbClr val="D5DED9"/>
            </a:solidFill>
            <a:prstDash val="solid"/>
          </a:ln>
        </p:spPr>
      </p:sp>
      <p:sp>
        <p:nvSpPr>
          <p:cNvPr id="22" name="Text 18"/>
          <p:cNvSpPr txBox="1"/>
          <p:nvPr/>
        </p:nvSpPr>
        <p:spPr>
          <a:xfrm>
            <a:off x="480060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Li et al. (2024). Retrieval Augmented Generation or Long-Context LLMs? (Self-Route). EMNLP Industry.</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Barnett et al. (2024). Seven Failure Points When Engineering a RAG System.</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Zou et al. (2024). PoisonedRAG: Knowledge Corruption Attacks to RAG of LLMs.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Anthropic (2024). Introducing Contextual Retrieval.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Li et al. (2025). Search-o1: Agentic Search-Enhanced Large Reasoning Models.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Jin et al. (2025). Search-R1: Training LLMs to Reason and Leverage Search Engines with RL.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OWASP (2025). Top 10 for LLM Applications — LLM08: Vector and Embedding Weaknesses.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Cormack et al. (2009). Reciprocal Rank Fusion. SIGIR  ·  Malkov &amp; Yashunin (2018). HNSW. IEEE TPAMI.</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6616</Words>
  <Application>Microsoft Office PowerPoint</Application>
  <PresentationFormat>On-screen Show (16:9)</PresentationFormat>
  <Paragraphs>795</Paragraphs>
  <Slides>41</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Retrieval-Augmented Generation (RAG)</dc:title>
  <dc:subject>PptxGenJS Presentation</dc:subject>
  <dc:creator>PptxGenJS</dc:creator>
  <cp:lastModifiedBy>HADJ TAIEB, MOHAMED ALI</cp:lastModifiedBy>
  <cp:revision>3</cp:revision>
  <dcterms:created xsi:type="dcterms:W3CDTF">2026-09-16T09:00:20Z</dcterms:created>
  <dcterms:modified xsi:type="dcterms:W3CDTF">2026-10-17T06:12:59Z</dcterms:modified>
</cp:coreProperties>
</file>