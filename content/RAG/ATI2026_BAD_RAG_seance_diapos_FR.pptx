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rts/chart1.xml" ContentType="application/vnd.openxmlformats-officedocument.drawingml.chart+xml"/>
  <Override PartName="/ppt/notesSlides/notesSlide25.xml" ContentType="application/vnd.openxmlformats-officedocument.presentationml.notesSlide+xml"/>
  <Override PartName="/ppt/charts/chart2.xml" ContentType="application/vnd.openxmlformats-officedocument.drawingml.chart+xml"/>
  <Override PartName="/ppt/notesSlides/notesSlide26.xml" ContentType="application/vnd.openxmlformats-officedocument.presentationml.notesSlide+xml"/>
  <Override PartName="/ppt/charts/chart3.xml" ContentType="application/vnd.openxmlformats-officedocument.drawingml.chart+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rts/chart4.xml" ContentType="application/vnd.openxmlformats-officedocument.drawingml.chart+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3"/>
  </p:notesMasterIdLst>
  <p:sldIdLst>
    <p:sldId id="256" r:id="rId2"/>
    <p:sldId id="291" r:id="rId3"/>
    <p:sldId id="292" r:id="rId4"/>
    <p:sldId id="259" r:id="rId5"/>
    <p:sldId id="260" r:id="rId6"/>
    <p:sldId id="263" r:id="rId7"/>
    <p:sldId id="264" r:id="rId8"/>
    <p:sldId id="268" r:id="rId9"/>
    <p:sldId id="269" r:id="rId10"/>
    <p:sldId id="293" r:id="rId11"/>
    <p:sldId id="294" r:id="rId12"/>
    <p:sldId id="287" r:id="rId13"/>
    <p:sldId id="295" r:id="rId14"/>
    <p:sldId id="288" r:id="rId15"/>
    <p:sldId id="296" r:id="rId16"/>
    <p:sldId id="257" r:id="rId17"/>
    <p:sldId id="258" r:id="rId18"/>
    <p:sldId id="261" r:id="rId19"/>
    <p:sldId id="262" r:id="rId20"/>
    <p:sldId id="265" r:id="rId21"/>
    <p:sldId id="266" r:id="rId22"/>
    <p:sldId id="267"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9" r:id="rId41"/>
    <p:sldId id="290" r:id="rId4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8" d="100"/>
          <a:sy n="98" d="100"/>
        </p:scale>
        <p:origin x="3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231F20"/>
                </a:solidFill>
                <a:latin typeface="Calibri"/>
              </a:defRPr>
            </a:pPr>
            <a:r>
              <a:rPr sz="1200" b="0" i="0" u="none" strike="noStrike">
                <a:solidFill>
                  <a:srgbClr val="231F20"/>
                </a:solidFill>
                <a:latin typeface="Calibri"/>
              </a:rPr>
              <a:t>Natural Questions — correspondance exacte (%)</a:t>
            </a:r>
          </a:p>
        </c:rich>
      </c:tx>
      <c:overlay val="0"/>
    </c:title>
    <c:autoTitleDeleted val="0"/>
    <c:plotArea>
      <c:layout/>
      <c:barChart>
        <c:barDir val="bar"/>
        <c:grouping val="clustered"/>
        <c:varyColors val="0"/>
        <c:ser>
          <c:idx val="0"/>
          <c:order val="0"/>
          <c:tx>
            <c:strRef>
              <c:f>Sheet1!$B$1</c:f>
              <c:strCache>
                <c:ptCount val="1"/>
                <c:pt idx="0">
                  <c:v>Exact Match</c:v>
                </c:pt>
              </c:strCache>
            </c:strRef>
          </c:tx>
          <c:spPr>
            <a:solidFill>
              <a:srgbClr val="A9B5B0"/>
            </a:solidFill>
            <a:effectLst/>
          </c:spPr>
          <c:invertIfNegative val="0"/>
          <c:dPt>
            <c:idx val="0"/>
            <c:invertIfNegative val="0"/>
            <c:bubble3D val="0"/>
            <c:extLst>
              <c:ext xmlns:c16="http://schemas.microsoft.com/office/drawing/2014/chart" uri="{C3380CC4-5D6E-409C-BE32-E72D297353CC}">
                <c16:uniqueId val="{00000001-9E2C-4CFD-9084-B856D648D4C2}"/>
              </c:ext>
            </c:extLst>
          </c:dPt>
          <c:dPt>
            <c:idx val="1"/>
            <c:invertIfNegative val="0"/>
            <c:bubble3D val="0"/>
            <c:extLst>
              <c:ext xmlns:c16="http://schemas.microsoft.com/office/drawing/2014/chart" uri="{C3380CC4-5D6E-409C-BE32-E72D297353CC}">
                <c16:uniqueId val="{00000003-9E2C-4CFD-9084-B856D648D4C2}"/>
              </c:ext>
            </c:extLst>
          </c:dPt>
          <c:dPt>
            <c:idx val="2"/>
            <c:invertIfNegative val="0"/>
            <c:bubble3D val="0"/>
            <c:spPr>
              <a:solidFill>
                <a:srgbClr val="7BCBA9"/>
              </a:solidFill>
              <a:effectLst/>
            </c:spPr>
            <c:extLst>
              <c:ext xmlns:c16="http://schemas.microsoft.com/office/drawing/2014/chart" uri="{C3380CC4-5D6E-409C-BE32-E72D297353CC}">
                <c16:uniqueId val="{00000005-9E2C-4CFD-9084-B856D648D4C2}"/>
              </c:ext>
            </c:extLst>
          </c:dPt>
          <c:dPt>
            <c:idx val="3"/>
            <c:invertIfNegative val="0"/>
            <c:bubble3D val="0"/>
            <c:spPr>
              <a:solidFill>
                <a:srgbClr val="57BD92"/>
              </a:solidFill>
              <a:effectLst/>
            </c:spPr>
            <c:extLst>
              <c:ext xmlns:c16="http://schemas.microsoft.com/office/drawing/2014/chart" uri="{C3380CC4-5D6E-409C-BE32-E72D297353CC}">
                <c16:uniqueId val="{00000007-9E2C-4CFD-9084-B856D648D4C2}"/>
              </c:ext>
            </c:extLst>
          </c:dPt>
          <c:dPt>
            <c:idx val="4"/>
            <c:invertIfNegative val="0"/>
            <c:bubble3D val="0"/>
            <c:spPr>
              <a:solidFill>
                <a:srgbClr val="008A5B"/>
              </a:solidFill>
              <a:effectLst/>
            </c:spPr>
            <c:extLst>
              <c:ext xmlns:c16="http://schemas.microsoft.com/office/drawing/2014/chart" uri="{C3380CC4-5D6E-409C-BE32-E72D297353CC}">
                <c16:uniqueId val="{00000009-9E2C-4CFD-9084-B856D648D4C2}"/>
              </c:ext>
            </c:extLst>
          </c:dPt>
          <c:dPt>
            <c:idx val="5"/>
            <c:invertIfNegative val="0"/>
            <c:bubble3D val="0"/>
            <c:spPr>
              <a:solidFill>
                <a:srgbClr val="00664A"/>
              </a:solidFill>
              <a:effectLst/>
            </c:spPr>
            <c:extLst>
              <c:ext xmlns:c16="http://schemas.microsoft.com/office/drawing/2014/chart" uri="{C3380CC4-5D6E-409C-BE32-E72D297353CC}">
                <c16:uniqueId val="{0000000B-9E2C-4CFD-9084-B856D648D4C2}"/>
              </c:ext>
            </c:extLst>
          </c:dPt>
          <c:dLbls>
            <c:numFmt formatCode="0.0" sourceLinked="0"/>
            <c:spPr>
              <a:noFill/>
              <a:ln>
                <a:noFill/>
              </a:ln>
              <a:effectLst/>
            </c:spPr>
            <c:txPr>
              <a:bodyPr/>
              <a:lstStyle/>
              <a:p>
                <a:pPr>
                  <a:defRPr sz="1100" b="1" i="0" u="none" strike="noStrike">
                    <a:solidFill>
                      <a:srgbClr val="231F2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T5-11B (sans documents)</c:v>
                </c:pt>
                <c:pt idx="1">
                  <c:v>T5-11B + SSM</c:v>
                </c:pt>
                <c:pt idx="2">
                  <c:v>REALM</c:v>
                </c:pt>
                <c:pt idx="3">
                  <c:v>DPR</c:v>
                </c:pt>
                <c:pt idx="4">
                  <c:v>RAG-Token</c:v>
                </c:pt>
                <c:pt idx="5">
                  <c:v>RAG-Sequence</c:v>
                </c:pt>
              </c:strCache>
            </c:strRef>
          </c:cat>
          <c:val>
            <c:numRef>
              <c:f>Sheet1!$B$2:$B$7</c:f>
              <c:numCache>
                <c:formatCode>General</c:formatCode>
                <c:ptCount val="6"/>
                <c:pt idx="0">
                  <c:v>34.5</c:v>
                </c:pt>
                <c:pt idx="1">
                  <c:v>36.6</c:v>
                </c:pt>
                <c:pt idx="2">
                  <c:v>40.4</c:v>
                </c:pt>
                <c:pt idx="3">
                  <c:v>41.5</c:v>
                </c:pt>
                <c:pt idx="4">
                  <c:v>44.1</c:v>
                </c:pt>
                <c:pt idx="5">
                  <c:v>44.5</c:v>
                </c:pt>
              </c:numCache>
            </c:numRef>
          </c:val>
          <c:extLst>
            <c:ext xmlns:c16="http://schemas.microsoft.com/office/drawing/2014/chart" uri="{C3380CC4-5D6E-409C-BE32-E72D297353CC}">
              <c16:uniqueId val="{0000000C-9E2C-4CFD-9084-B856D648D4C2}"/>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50" b="0" i="0" u="none" strike="noStrike">
                <a:solidFill>
                  <a:srgbClr val="5E6964"/>
                </a:solidFill>
                <a:latin typeface="Calibri"/>
              </a:defRPr>
            </a:pPr>
            <a:endParaRPr lang="en-US"/>
          </a:p>
        </c:txPr>
        <c:crossAx val="2094734552"/>
        <c:crosses val="autoZero"/>
        <c:auto val="1"/>
        <c:lblAlgn val="ctr"/>
        <c:lblOffset val="100"/>
        <c:noMultiLvlLbl val="1"/>
      </c:catAx>
      <c:valAx>
        <c:axId val="2094734552"/>
        <c:scaling>
          <c:orientation val="minMax"/>
          <c:max val="50"/>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231F20"/>
                </a:solidFill>
                <a:latin typeface="Calibri"/>
              </a:defRPr>
            </a:pPr>
            <a:r>
              <a:rPr sz="1200" b="0" i="0" u="none" strike="noStrike">
                <a:solidFill>
                  <a:srgbClr val="231F20"/>
                </a:solidFill>
                <a:latin typeface="Calibri"/>
              </a:rPr>
              <a:t>Exactitude de GPT-3.5-Turbo (%) selon la position de la réponse</a:t>
            </a:r>
          </a:p>
        </c:rich>
      </c:tx>
      <c:overlay val="0"/>
    </c:title>
    <c:autoTitleDeleted val="0"/>
    <c:plotArea>
      <c:layout/>
      <c:lineChart>
        <c:grouping val="standard"/>
        <c:varyColors val="0"/>
        <c:ser>
          <c:idx val="0"/>
          <c:order val="0"/>
          <c:tx>
            <c:strRef>
              <c:f>Sheet1!$B$1</c:f>
              <c:strCache>
                <c:ptCount val="1"/>
                <c:pt idx="0">
                  <c:v>Exactitude avec 20 documents récupérés</c:v>
                </c:pt>
              </c:strCache>
            </c:strRef>
          </c:tx>
          <c:spPr>
            <a:ln w="38100" cap="flat">
              <a:solidFill>
                <a:srgbClr val="00A86A"/>
              </a:solidFill>
              <a:prstDash val="solid"/>
              <a:round/>
            </a:ln>
            <a:effectLst/>
          </c:spPr>
          <c:marker>
            <c:symbol val="circle"/>
            <c:size val="10"/>
            <c:spPr>
              <a:solidFill>
                <a:srgbClr val="00A86A"/>
              </a:solidFill>
              <a:ln w="9525" cap="flat">
                <a:solidFill>
                  <a:srgbClr val="00A86A"/>
                </a:solidFill>
                <a:prstDash val="solid"/>
                <a:round/>
              </a:ln>
              <a:effectLst/>
            </c:spPr>
          </c:marker>
          <c:cat>
            <c:strRef>
              <c:f>Sheet1!$A$2:$A$6</c:f>
              <c:strCache>
                <c:ptCount val="5"/>
                <c:pt idx="0">
                  <c:v>1re</c:v>
                </c:pt>
                <c:pt idx="1">
                  <c:v>5e</c:v>
                </c:pt>
                <c:pt idx="2">
                  <c:v>10e</c:v>
                </c:pt>
                <c:pt idx="3">
                  <c:v>15e</c:v>
                </c:pt>
                <c:pt idx="4">
                  <c:v>20e</c:v>
                </c:pt>
              </c:strCache>
            </c:strRef>
          </c:cat>
          <c:val>
            <c:numRef>
              <c:f>Sheet1!$B$2:$B$6</c:f>
              <c:numCache>
                <c:formatCode>General</c:formatCode>
                <c:ptCount val="5"/>
                <c:pt idx="0">
                  <c:v>75.8</c:v>
                </c:pt>
                <c:pt idx="1">
                  <c:v>57.2</c:v>
                </c:pt>
                <c:pt idx="2">
                  <c:v>53.8</c:v>
                </c:pt>
                <c:pt idx="3">
                  <c:v>55.4</c:v>
                </c:pt>
                <c:pt idx="4">
                  <c:v>63.2</c:v>
                </c:pt>
              </c:numCache>
            </c:numRef>
          </c:val>
          <c:smooth val="0"/>
          <c:extLst>
            <c:ext xmlns:c16="http://schemas.microsoft.com/office/drawing/2014/chart" uri="{C3380CC4-5D6E-409C-BE32-E72D297353CC}">
              <c16:uniqueId val="{00000000-B08A-425E-9434-E594772EE61B}"/>
            </c:ext>
          </c:extLst>
        </c:ser>
        <c:dLbls>
          <c:showLegendKey val="0"/>
          <c:showVal val="0"/>
          <c:showCatName val="0"/>
          <c:showSerName val="0"/>
          <c:showPercent val="0"/>
          <c:showBubbleSize val="0"/>
        </c:dLbls>
        <c:marker val="1"/>
        <c:smooth val="0"/>
        <c:axId val="2094734554"/>
        <c:axId val="2094734552"/>
      </c:lineChart>
      <c:lineChart>
        <c:grouping val="standard"/>
        <c:varyColors val="0"/>
        <c:ser>
          <c:idx val="1"/>
          <c:order val="1"/>
          <c:tx>
            <c:strRef>
              <c:f>Sheet1!$C$1</c:f>
              <c:strCache>
                <c:ptCount val="1"/>
                <c:pt idx="0">
                  <c:v>Référence sans document (56,1 %)</c:v>
                </c:pt>
              </c:strCache>
            </c:strRef>
          </c:tx>
          <c:spPr>
            <a:ln w="25400" cap="flat">
              <a:solidFill>
                <a:srgbClr val="A9B5B0"/>
              </a:solidFill>
              <a:prstDash val="solid"/>
              <a:round/>
            </a:ln>
            <a:effectLst/>
          </c:spPr>
          <c:marker>
            <c:symbol val="none"/>
          </c:marker>
          <c:cat>
            <c:strRef>
              <c:f>Sheet1!$A$2:$A$6</c:f>
              <c:strCache>
                <c:ptCount val="5"/>
                <c:pt idx="0">
                  <c:v>1re</c:v>
                </c:pt>
                <c:pt idx="1">
                  <c:v>5e</c:v>
                </c:pt>
                <c:pt idx="2">
                  <c:v>10e</c:v>
                </c:pt>
                <c:pt idx="3">
                  <c:v>15e</c:v>
                </c:pt>
                <c:pt idx="4">
                  <c:v>20e</c:v>
                </c:pt>
              </c:strCache>
            </c:strRef>
          </c:cat>
          <c:val>
            <c:numRef>
              <c:f>Sheet1!$C$2:$C$6</c:f>
              <c:numCache>
                <c:formatCode>General</c:formatCode>
                <c:ptCount val="5"/>
                <c:pt idx="0">
                  <c:v>56.1</c:v>
                </c:pt>
                <c:pt idx="1">
                  <c:v>56.1</c:v>
                </c:pt>
                <c:pt idx="2">
                  <c:v>56.1</c:v>
                </c:pt>
                <c:pt idx="3">
                  <c:v>56.1</c:v>
                </c:pt>
                <c:pt idx="4">
                  <c:v>56.1</c:v>
                </c:pt>
              </c:numCache>
            </c:numRef>
          </c:val>
          <c:smooth val="0"/>
          <c:extLst>
            <c:ext xmlns:c16="http://schemas.microsoft.com/office/drawing/2014/chart" uri="{C3380CC4-5D6E-409C-BE32-E72D297353CC}">
              <c16:uniqueId val="{00000001-B08A-425E-9434-E594772EE61B}"/>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000" b="0" i="0" u="none" strike="noStrike">
                    <a:solidFill>
                      <a:srgbClr val="5E6964"/>
                    </a:solidFill>
                    <a:latin typeface="Arial"/>
                  </a:defRPr>
                </a:pPr>
                <a:r>
                  <a:rPr sz="1000" b="0" i="0" u="none" strike="noStrike">
                    <a:solidFill>
                      <a:srgbClr val="5E6964"/>
                    </a:solidFill>
                    <a:latin typeface="Arial"/>
                  </a:rPr>
                  <a:t>Position du document contenant la réponse</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E6964"/>
                </a:solidFill>
                <a:latin typeface="Calibri"/>
              </a:defRPr>
            </a:pPr>
            <a:endParaRPr lang="en-US"/>
          </a:p>
        </c:txPr>
        <c:crossAx val="2094734552"/>
        <c:crosses val="autoZero"/>
        <c:auto val="1"/>
        <c:lblAlgn val="ctr"/>
        <c:lblOffset val="100"/>
        <c:noMultiLvlLbl val="1"/>
      </c:catAx>
      <c:valAx>
        <c:axId val="2094734552"/>
        <c:scaling>
          <c:orientation val="minMax"/>
          <c:max val="80"/>
          <c:min val="45"/>
        </c:scaling>
        <c:delete val="0"/>
        <c:axPos val="l"/>
        <c:majorGridlines>
          <c:spPr>
            <a:ln w="6350" cap="flat">
              <a:solidFill>
                <a:srgbClr val="E1E7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E6964"/>
                </a:solidFill>
                <a:latin typeface="Calibri"/>
              </a:defRPr>
            </a:pPr>
            <a:endParaRPr lang="en-US"/>
          </a:p>
        </c:txPr>
        <c:crossAx val="2094734554"/>
        <c:crosses val="autoZero"/>
        <c:crossBetween val="between"/>
        <c:majorUnit val="5"/>
      </c:valAx>
      <c:spPr>
        <a:noFill/>
        <a:ln>
          <a:noFill/>
        </a:ln>
        <a:effectLst/>
      </c:spPr>
    </c:plotArea>
    <c:legend>
      <c:legendPos val="b"/>
      <c:overlay val="0"/>
      <c:txPr>
        <a:bodyPr/>
        <a:lstStyle/>
        <a:p>
          <a:pPr>
            <a:defRPr sz="1000">
              <a:solidFill>
                <a:srgbClr val="231F20"/>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231F20"/>
                </a:solidFill>
                <a:latin typeface="Calibri"/>
              </a:defRPr>
            </a:pPr>
            <a:r>
              <a:rPr sz="1200" b="0" i="0" u="none" strike="noStrike">
                <a:solidFill>
                  <a:srgbClr val="231F20"/>
                </a:solidFill>
                <a:latin typeface="Calibri"/>
              </a:rPr>
              <a:t>Taux d'échec de récupération top-20 (%) — plus bas = mieux</a:t>
            </a:r>
          </a:p>
        </c:rich>
      </c:tx>
      <c:overlay val="0"/>
    </c:title>
    <c:autoTitleDeleted val="0"/>
    <c:plotArea>
      <c:layout/>
      <c:barChart>
        <c:barDir val="col"/>
        <c:grouping val="clustered"/>
        <c:varyColors val="0"/>
        <c:ser>
          <c:idx val="0"/>
          <c:order val="0"/>
          <c:tx>
            <c:strRef>
              <c:f>Sheet1!$B$1</c:f>
              <c:strCache>
                <c:ptCount val="1"/>
                <c:pt idx="0">
                  <c:v>Failure rate</c:v>
                </c:pt>
              </c:strCache>
            </c:strRef>
          </c:tx>
          <c:spPr>
            <a:solidFill>
              <a:srgbClr val="A9B5B0"/>
            </a:solidFill>
            <a:effectLst/>
          </c:spPr>
          <c:invertIfNegative val="0"/>
          <c:dPt>
            <c:idx val="0"/>
            <c:invertIfNegative val="0"/>
            <c:bubble3D val="0"/>
            <c:extLst>
              <c:ext xmlns:c16="http://schemas.microsoft.com/office/drawing/2014/chart" uri="{C3380CC4-5D6E-409C-BE32-E72D297353CC}">
                <c16:uniqueId val="{00000001-77E6-4C39-8F9A-243BC9949CCD}"/>
              </c:ext>
            </c:extLst>
          </c:dPt>
          <c:dPt>
            <c:idx val="1"/>
            <c:invertIfNegative val="0"/>
            <c:bubble3D val="0"/>
            <c:spPr>
              <a:solidFill>
                <a:srgbClr val="57BD92"/>
              </a:solidFill>
              <a:effectLst/>
            </c:spPr>
            <c:extLst>
              <c:ext xmlns:c16="http://schemas.microsoft.com/office/drawing/2014/chart" uri="{C3380CC4-5D6E-409C-BE32-E72D297353CC}">
                <c16:uniqueId val="{00000003-77E6-4C39-8F9A-243BC9949CCD}"/>
              </c:ext>
            </c:extLst>
          </c:dPt>
          <c:dPt>
            <c:idx val="2"/>
            <c:invertIfNegative val="0"/>
            <c:bubble3D val="0"/>
            <c:spPr>
              <a:solidFill>
                <a:srgbClr val="10A06A"/>
              </a:solidFill>
              <a:effectLst/>
            </c:spPr>
            <c:extLst>
              <c:ext xmlns:c16="http://schemas.microsoft.com/office/drawing/2014/chart" uri="{C3380CC4-5D6E-409C-BE32-E72D297353CC}">
                <c16:uniqueId val="{00000005-77E6-4C39-8F9A-243BC9949CCD}"/>
              </c:ext>
            </c:extLst>
          </c:dPt>
          <c:dPt>
            <c:idx val="3"/>
            <c:invertIfNegative val="0"/>
            <c:bubble3D val="0"/>
            <c:spPr>
              <a:solidFill>
                <a:srgbClr val="00664A"/>
              </a:solidFill>
              <a:effectLst/>
            </c:spPr>
            <c:extLst>
              <c:ext xmlns:c16="http://schemas.microsoft.com/office/drawing/2014/chart" uri="{C3380CC4-5D6E-409C-BE32-E72D297353CC}">
                <c16:uniqueId val="{00000007-77E6-4C39-8F9A-243BC9949CCD}"/>
              </c:ext>
            </c:extLst>
          </c:dPt>
          <c:dLbls>
            <c:numFmt formatCode="0.0&quot;%&quot;" sourceLinked="0"/>
            <c:spPr>
              <a:noFill/>
              <a:ln>
                <a:noFill/>
              </a:ln>
              <a:effectLst/>
            </c:spPr>
            <c:txPr>
              <a:bodyPr/>
              <a:lstStyle/>
              <a:p>
                <a:pPr>
                  <a:defRPr sz="1300" b="1" i="0" u="none" strike="noStrike">
                    <a:solidFill>
                      <a:srgbClr val="231F2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Embeddings standards</c:v>
                </c:pt>
                <c:pt idx="1">
                  <c:v>Embeddings contextuels</c:v>
                </c:pt>
                <c:pt idx="2">
                  <c:v>+ BM25 contextuel</c:v>
                </c:pt>
                <c:pt idx="3">
                  <c:v>+ Reclassement</c:v>
                </c:pt>
              </c:strCache>
            </c:strRef>
          </c:cat>
          <c:val>
            <c:numRef>
              <c:f>Sheet1!$B$2:$B$5</c:f>
              <c:numCache>
                <c:formatCode>General</c:formatCode>
                <c:ptCount val="4"/>
                <c:pt idx="0">
                  <c:v>5.7</c:v>
                </c:pt>
                <c:pt idx="1">
                  <c:v>3.7</c:v>
                </c:pt>
                <c:pt idx="2">
                  <c:v>2.9</c:v>
                </c:pt>
                <c:pt idx="3">
                  <c:v>1.9</c:v>
                </c:pt>
              </c:numCache>
            </c:numRef>
          </c:val>
          <c:extLst>
            <c:ext xmlns:c16="http://schemas.microsoft.com/office/drawing/2014/chart" uri="{C3380CC4-5D6E-409C-BE32-E72D297353CC}">
              <c16:uniqueId val="{00000008-77E6-4C39-8F9A-243BC9949CCD}"/>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E6964"/>
                </a:solidFill>
                <a:latin typeface="Calibri"/>
              </a:defRPr>
            </a:pPr>
            <a:endParaRPr lang="en-US"/>
          </a:p>
        </c:txPr>
        <c:crossAx val="2094734552"/>
        <c:crosses val="autoZero"/>
        <c:auto val="1"/>
        <c:lblAlgn val="ctr"/>
        <c:lblOffset val="100"/>
        <c:noMultiLvlLbl val="1"/>
      </c:catAx>
      <c:valAx>
        <c:axId val="2094734552"/>
        <c:scaling>
          <c:orientation val="minMax"/>
          <c:max val="7"/>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231F20"/>
                </a:solidFill>
                <a:latin typeface="Calibri"/>
              </a:defRPr>
            </a:pPr>
            <a:r>
              <a:rPr sz="1200" b="0" i="0" u="none" strike="noStrike">
                <a:solidFill>
                  <a:srgbClr val="231F20"/>
                </a:solidFill>
                <a:latin typeface="Calibri"/>
              </a:rPr>
              <a:t>Fenêtre de contexte maximale (tokens, échelle log)</a:t>
            </a:r>
          </a:p>
        </c:rich>
      </c:tx>
      <c:overlay val="0"/>
    </c:title>
    <c:autoTitleDeleted val="0"/>
    <c:plotArea>
      <c:layout/>
      <c:barChart>
        <c:barDir val="bar"/>
        <c:grouping val="clustered"/>
        <c:varyColors val="0"/>
        <c:ser>
          <c:idx val="0"/>
          <c:order val="0"/>
          <c:tx>
            <c:strRef>
              <c:f>Sheet1!$B$1</c:f>
              <c:strCache>
                <c:ptCount val="1"/>
                <c:pt idx="0">
                  <c:v>Context window</c:v>
                </c:pt>
              </c:strCache>
            </c:strRef>
          </c:tx>
          <c:spPr>
            <a:solidFill>
              <a:srgbClr val="9ED9C0"/>
            </a:solidFill>
            <a:effectLst/>
          </c:spPr>
          <c:invertIfNegative val="0"/>
          <c:dPt>
            <c:idx val="0"/>
            <c:invertIfNegative val="0"/>
            <c:bubble3D val="0"/>
            <c:extLst>
              <c:ext xmlns:c16="http://schemas.microsoft.com/office/drawing/2014/chart" uri="{C3380CC4-5D6E-409C-BE32-E72D297353CC}">
                <c16:uniqueId val="{00000001-042F-4677-A7A1-43768A2DC6FF}"/>
              </c:ext>
            </c:extLst>
          </c:dPt>
          <c:dPt>
            <c:idx val="1"/>
            <c:invertIfNegative val="0"/>
            <c:bubble3D val="0"/>
            <c:spPr>
              <a:solidFill>
                <a:srgbClr val="7BCBA9"/>
              </a:solidFill>
              <a:effectLst/>
            </c:spPr>
            <c:extLst>
              <c:ext xmlns:c16="http://schemas.microsoft.com/office/drawing/2014/chart" uri="{C3380CC4-5D6E-409C-BE32-E72D297353CC}">
                <c16:uniqueId val="{00000003-042F-4677-A7A1-43768A2DC6FF}"/>
              </c:ext>
            </c:extLst>
          </c:dPt>
          <c:dPt>
            <c:idx val="2"/>
            <c:invertIfNegative val="0"/>
            <c:bubble3D val="0"/>
            <c:spPr>
              <a:solidFill>
                <a:srgbClr val="57BD92"/>
              </a:solidFill>
              <a:effectLst/>
            </c:spPr>
            <c:extLst>
              <c:ext xmlns:c16="http://schemas.microsoft.com/office/drawing/2014/chart" uri="{C3380CC4-5D6E-409C-BE32-E72D297353CC}">
                <c16:uniqueId val="{00000005-042F-4677-A7A1-43768A2DC6FF}"/>
              </c:ext>
            </c:extLst>
          </c:dPt>
          <c:dPt>
            <c:idx val="3"/>
            <c:invertIfNegative val="0"/>
            <c:bubble3D val="0"/>
            <c:spPr>
              <a:solidFill>
                <a:srgbClr val="33AF7C"/>
              </a:solidFill>
              <a:effectLst/>
            </c:spPr>
            <c:extLst>
              <c:ext xmlns:c16="http://schemas.microsoft.com/office/drawing/2014/chart" uri="{C3380CC4-5D6E-409C-BE32-E72D297353CC}">
                <c16:uniqueId val="{00000007-042F-4677-A7A1-43768A2DC6FF}"/>
              </c:ext>
            </c:extLst>
          </c:dPt>
          <c:dPt>
            <c:idx val="4"/>
            <c:invertIfNegative val="0"/>
            <c:bubble3D val="0"/>
            <c:spPr>
              <a:solidFill>
                <a:srgbClr val="10A06A"/>
              </a:solidFill>
              <a:effectLst/>
            </c:spPr>
            <c:extLst>
              <c:ext xmlns:c16="http://schemas.microsoft.com/office/drawing/2014/chart" uri="{C3380CC4-5D6E-409C-BE32-E72D297353CC}">
                <c16:uniqueId val="{00000009-042F-4677-A7A1-43768A2DC6FF}"/>
              </c:ext>
            </c:extLst>
          </c:dPt>
          <c:dPt>
            <c:idx val="5"/>
            <c:invertIfNegative val="0"/>
            <c:bubble3D val="0"/>
            <c:spPr>
              <a:solidFill>
                <a:srgbClr val="008A5B"/>
              </a:solidFill>
              <a:effectLst/>
            </c:spPr>
            <c:extLst>
              <c:ext xmlns:c16="http://schemas.microsoft.com/office/drawing/2014/chart" uri="{C3380CC4-5D6E-409C-BE32-E72D297353CC}">
                <c16:uniqueId val="{0000000B-042F-4677-A7A1-43768A2DC6FF}"/>
              </c:ext>
            </c:extLst>
          </c:dPt>
          <c:dPt>
            <c:idx val="6"/>
            <c:invertIfNegative val="0"/>
            <c:bubble3D val="0"/>
            <c:spPr>
              <a:solidFill>
                <a:srgbClr val="00664A"/>
              </a:solidFill>
              <a:effectLst/>
            </c:spPr>
            <c:extLst>
              <c:ext xmlns:c16="http://schemas.microsoft.com/office/drawing/2014/chart" uri="{C3380CC4-5D6E-409C-BE32-E72D297353CC}">
                <c16:uniqueId val="{0000000D-042F-4677-A7A1-43768A2DC6FF}"/>
              </c:ext>
            </c:extLst>
          </c:dPt>
          <c:dLbls>
            <c:numFmt formatCode="#,##0" sourceLinked="0"/>
            <c:spPr>
              <a:noFill/>
              <a:ln>
                <a:noFill/>
              </a:ln>
              <a:effectLst/>
            </c:spPr>
            <c:txPr>
              <a:bodyPr/>
              <a:lstStyle/>
              <a:p>
                <a:pPr>
                  <a:defRPr sz="1050" b="1" i="0" u="none" strike="noStrike">
                    <a:solidFill>
                      <a:srgbClr val="231F2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BERT (2018)</c:v>
                </c:pt>
                <c:pt idx="1">
                  <c:v>GPT-3 (2020)</c:v>
                </c:pt>
                <c:pt idx="2">
                  <c:v>GPT-4 32K (mars 2023)</c:v>
                </c:pt>
                <c:pt idx="3">
                  <c:v>Claude (mai 2023)</c:v>
                </c:pt>
                <c:pt idx="4">
                  <c:v>Claude 2.1 (nov. 2023)</c:v>
                </c:pt>
                <c:pt idx="5">
                  <c:v>Gemini 1.5 Pro (févr. 2024)</c:v>
                </c:pt>
                <c:pt idx="6">
                  <c:v>Gemini 1.5 Pro (juin 2024)</c:v>
                </c:pt>
              </c:strCache>
            </c:strRef>
          </c:cat>
          <c:val>
            <c:numRef>
              <c:f>Sheet1!$B$2:$B$8</c:f>
              <c:numCache>
                <c:formatCode>General</c:formatCode>
                <c:ptCount val="7"/>
                <c:pt idx="0">
                  <c:v>512</c:v>
                </c:pt>
                <c:pt idx="1">
                  <c:v>2048</c:v>
                </c:pt>
                <c:pt idx="2">
                  <c:v>32768</c:v>
                </c:pt>
                <c:pt idx="3">
                  <c:v>100000</c:v>
                </c:pt>
                <c:pt idx="4">
                  <c:v>200000</c:v>
                </c:pt>
                <c:pt idx="5">
                  <c:v>1000000</c:v>
                </c:pt>
                <c:pt idx="6">
                  <c:v>2000000</c:v>
                </c:pt>
              </c:numCache>
            </c:numRef>
          </c:val>
          <c:extLst>
            <c:ext xmlns:c16="http://schemas.microsoft.com/office/drawing/2014/chart" uri="{C3380CC4-5D6E-409C-BE32-E72D297353CC}">
              <c16:uniqueId val="{0000000E-042F-4677-A7A1-43768A2DC6FF}"/>
            </c:ext>
          </c:extLst>
        </c:ser>
        <c:dLbls>
          <c:showLegendKey val="0"/>
          <c:showVal val="1"/>
          <c:showCatName val="0"/>
          <c:showSerName val="0"/>
          <c:showPercent val="0"/>
          <c:showBubbleSize val="0"/>
        </c:dLbls>
        <c:gapWidth val="40"/>
        <c:axId val="2094734554"/>
        <c:axId val="2094734552"/>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5E6964"/>
                </a:solidFill>
                <a:latin typeface="Calibri"/>
              </a:defRPr>
            </a:pPr>
            <a:endParaRPr lang="en-US"/>
          </a:p>
        </c:txPr>
        <c:crossAx val="2094734552"/>
        <c:crosses val="autoZero"/>
        <c:auto val="1"/>
        <c:lblAlgn val="ctr"/>
        <c:lblOffset val="100"/>
        <c:noMultiLvlLbl val="1"/>
      </c:catAx>
      <c:valAx>
        <c:axId val="2094734552"/>
        <c:scaling>
          <c:logBase val="10"/>
          <c:orientation val="minMax"/>
          <c:max val="10000000"/>
          <c:min val="10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40980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Jeudi 29 octobre, 11 h 00 – 11 h 30. Trente minutes : environ sept minutes de concepts, une vingtaine de minutes dans le notebook, deux minutes de bilan. Les diapositives après l'intercalaire « Annexe » constituent la présentation RAG complète, pour l'autoformation et l'après-midi Project Canvas.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Faire le lien avec la matinée : les séances du FMI ont classé des transactions dans les catégories de la BdP par apprentissage automatique. Ici, le même type de texte — publications, manuels, déclarations — est interrogé. L'après-midi Project Canvas permet aux équipes d'en faire un prototype.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Les quatre objectifs sont ceux du programme. Concepts jusqu'à 11 h 07 environ (les six diapositives suivantes), puis tout le monde passe au notebook. Deux dernières minutes : un constat par table, et le lien avec le Project Canvas.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limites structurelles des LLM seuls justifient le RAG : connaissances figées, hallucinations, absence d'accès aux données privées et absence de citations.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Analogie : examen à livre fermé contre examen à livre ouvert. Le terme RAG a été introduit par Lewis et al. (2020), qui ont associé un récupérateur DPR à un générateur BART.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Hors ligne, les documents sont découpés, encodés et stockés. En ligne, la question est encodée avec le même modèle, les fragments les plus proches sont récupérés et insérés dans le prompt, et le LLM répond à partir d'eux.</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 même question que celle du notebook en partie A. Le passage du recensement partage des mots avec la question mais pas l'indicateur : le reclassement l'écarte ; chaque phrase de la réponse renvoie à une source numérotée et à une page.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BM25 et la recherche dense échouent sur des requêtes différentes : la recherche hybride est donc un bon choix par défaut. Dans RRF, k est une constante de lissage (60 dans l'article original de Cormack et al., 2009). Les reclasseurs cross-encoder sont plus lents : ils ne notent que la liste restreinte.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Version abrégée du prompt strict du notebook (cellule T6 de la boîte à outils). La phrase de refus fixe compte en statistique publique : l'assistant cite une source ou refuse — l'exercice 4 teste précisément cela.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Demander aux participants de lancer « Tout exécuter » immédiatement : l'installation prend quelques minutes. Groq est le plus rapide pour un créneau de 30 minutes ; Ollama demande un GPU T4 et un téléchargement de 2 Go, mieux adapté à l'après-midi. Rappeler la discussion de lundi sur l'IA, l'éthique et la vie privée.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Chaque exercice est dans un encadré doré du notebook, juste avant la section qu'il utilise. Si le temps manque, faire 1, 2 et 4 ; l'exercice 3 peut être montré en démonstration et exécuté en entier l'après-midi.</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points de défaillance proviennent de « Seven Failure Points When Engineering a Retrieval Augmented Generation System » (Barnett et al., 2024). La plupart des problèmes viennent de la récupération : investissez-y en priorité.</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Cinq idées de projets qui réutilisent le notebook tel quel. Quelle que soit l'idée, le Canvas doit consigner les utilisateurs, les documents et leur confidentialité, un jeu de test avec des questions à refuser, et qui le maintiendrait.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Conclure en insistant sur l'évaluation : le RAG est une discipline d'ingénierie, pas une simple technique. Commencez par une chaîne simple, mesurez-la sur vos propres questions et améliorez d'abord la récupération.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Non présentée pendant le créneau de 30 minutes. Pour l'autoformation, les questions et l'après-midi Project Canvas.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présentation comporte six sections, chacune avec sa couleur, reprise sur sa diapositive de séparation et dans les points de progression en haut à droite. Elle se termine par les points à retenir et la liste des sources.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section 1 explique les limites des modèles de langage seuls, définit le RAG et montre où il crée de la valeur.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RAG est le plus utile quand les connaissances sont volumineuses, changent souvent ou sont confidentielles, et quand les réponses doivent être vérifiables.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section 2 détaille la chaîne : indexation, découpage, embeddings, récupération et génération.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qualité de l'indexation plafonne tout le reste. Les métadonnées permettent de filtrer par date, produit ou droits d'accès au moment de la requête.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n'existe pas de taille universelle : testez-en plusieurs sur votre jeu d'évaluation. Le découpage selon la structure est souvent le meilleur pour la documentation technique.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embeddings réels ont des centaines à des milliers de dimensions (par exemple 768, 1536 ou 3072). L'image est une projection 2D, uniquement pour l'intuition. HNSW, IVF et PQ sont implémentés dans des bibliothèques comme FAISS et dans les bases vectorielles.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section 3 présente trois résultats publiés : l'article fondateur du RAG, l'étude « Lost in the Middle » et le Contextual Retrieval d'Anthropic.</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Dans l'article original, le RAG a établi un nouvel état de l'art en questions-réponses en domaine ouvert. Un modèle de 626 millions de paramètres avec récupération a battu un modèle de 11 milliards sans documents : une mémoire externe est plus efficace que de tout stocker dans les poids.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Liu et al. placent l'unique document contenant la réponse à différentes positions parmi 20 documents. L'exactitude dessine une courbe en U. Au-delà de 20 documents, GPT-3.5-Turbo ne gagne qu'environ 1,5 %.</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Anthropic indique que les embeddings contextuels combinés au BM25 contextuel réduisent de 49 % les échecs de récupération top-20, et de 67 % avec reclassement. Pour une base de moins d'environ 200 000 tokens, mettre tout le corpus dans le prompt avec mise en cache peut être plus simple que le RAG.</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section 4 retrace la progression du concept : sept générations, cinq axes de progrès, les paradigmes naïf-avancé-modulaire, le passage aux boucles de raisonnement et l'effet des longues fenêtres de contexte.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Avant 2020, recherche et lecture étaient des systèmes séparés. En 2020, récupérateur et générateur sont entraînés ensemble. RETRO et Atlas intègrent la récupération à grande échelle. Dès 2023, le RAG alimente n'importe quel LLM figé via son prompt. Les systèmes deviennent ensuite adaptatifs et autocorrectifs, récupèrent des structures plus riches, puis agentiques, avec des modèles entraînés par renforcement à décider quand et quoi chercher.</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Lire chaque ligne de gauche à droite : le concept a progressé sur cinq axes indépendants. Un système réel peut être avancé sur un axe et basique sur un autre.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taxonomie en trois stades, issue de l'étude de Gao et al., est la référence pour décrire la maturité d'un système RAG.</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plus grand changement conceptuel : la récupération n'est plus une étape unique avant la génération, mais une action que le modèle répète en raisonnant, jusqu'à juger les éléments suffisants.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fenêtres de contexte ont gagné plus de trois ordres de grandeur. La récupération n'a pas disparu : une fenêtre plus grande n'est pas mieux exploitée pour autant, et Li et al. (EMNLP 2024) montrent que le RAG reste bien moins coûteux. Les chiffres sont les longueurs maximales annoncées par chaque fournisseur.</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section 5 passe en revue les techniques avancées établies et situe le RAG face au fine-tuning et au contexte long.</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Vert : techniques de requête et d'indexation. Bleu-vert : méthodes de recherche ajoutant autoréflexion, correction ou structure. Ocre : récupération agentique, direction actuelle du domaine.</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fine-tuning change le comportement du modèle ; le RAG change ce qu'il sait au moment de répondre. Le contexte long devient coûteux pour de gros volumes, même si la mise en cache réduit ce coût. Beaucoup de systèmes en production combinent ces approches.</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section 6 couvre l'évaluation, la sécurité, l'écosystème d'outils et les points de défaillance les plus fréquents.</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Évaluez toujours séparément le récupérateur et le générateur : une mauvaise réponse peut venir d'un contexte manquant ou d'une génération infidèle. Constituez tôt un jeu de questions de référence avec les sources attendues.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RAG élargit la surface d'attaque : chaque document ingéré devient une entrée du modèle. Le contrôle d'accès doit s'appliquer au moment de la récupération, pas seulement dans le système source.</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Outils représentatifs, liste non exhaustive. FAISS est une bibliothèque de Meta plutôt qu'une base de données ; pgvector ajoute la recherche vectorielle à PostgreSQL.</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 complète des publications et rapports cités, par ordre chronologique.</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 complète des publications et rapports cités, par ordre chronologique.</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5.png"/><Relationship Id="rId7" Type="http://schemas.openxmlformats.org/officeDocument/2006/relationships/image" Target="../media/image18.png"/><Relationship Id="rId12"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png"/><Relationship Id="rId11" Type="http://schemas.openxmlformats.org/officeDocument/2006/relationships/image" Target="../media/image22.png"/><Relationship Id="rId5" Type="http://schemas.openxmlformats.org/officeDocument/2006/relationships/image" Target="../media/image17.png"/><Relationship Id="rId10" Type="http://schemas.openxmlformats.org/officeDocument/2006/relationships/image" Target="../media/image21.png"/><Relationship Id="rId4" Type="http://schemas.openxmlformats.org/officeDocument/2006/relationships/image" Target="../media/image16.png"/><Relationship Id="rId9" Type="http://schemas.openxmlformats.org/officeDocument/2006/relationships/image" Target="../media/image20.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35.png"/></Relationships>
</file>

<file path=ppt/slides/_rels/slide1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38.png"/><Relationship Id="rId4" Type="http://schemas.openxmlformats.org/officeDocument/2006/relationships/image" Target="../media/image37.png"/></Relationships>
</file>

<file path=ppt/slides/_rels/slide13.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48.png"/></Relationships>
</file>

<file path=ppt/slides/_rels/slide16.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1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48.png"/></Relationships>
</file>

<file path=ppt/slides/_rels/slide18.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1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60.png"/></Relationships>
</file>

<file path=ppt/slides/_rels/slide20.xml.rels><?xml version="1.0" encoding="UTF-8" standalone="yes"?>
<Relationships xmlns="http://schemas.openxmlformats.org/package/2006/relationships"><Relationship Id="rId3" Type="http://schemas.openxmlformats.org/officeDocument/2006/relationships/image" Target="../media/image61.png"/><Relationship Id="rId7" Type="http://schemas.openxmlformats.org/officeDocument/2006/relationships/image" Target="../media/image62.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7.png"/><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63.png"/></Relationships>
</file>

<file path=ppt/slides/_rels/slide2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46.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s>
</file>

<file path=ppt/slides/_rels/slide31.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68.png"/><Relationship Id="rId7" Type="http://schemas.openxmlformats.org/officeDocument/2006/relationships/image" Target="../media/image45.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71.png"/><Relationship Id="rId5" Type="http://schemas.openxmlformats.org/officeDocument/2006/relationships/image" Target="../media/image70.png"/><Relationship Id="rId10" Type="http://schemas.openxmlformats.org/officeDocument/2006/relationships/image" Target="../media/image74.png"/><Relationship Id="rId4" Type="http://schemas.openxmlformats.org/officeDocument/2006/relationships/image" Target="../media/image69.png"/><Relationship Id="rId9" Type="http://schemas.openxmlformats.org/officeDocument/2006/relationships/image" Target="../media/image73.png"/></Relationships>
</file>

<file path=ppt/slides/_rels/slide32.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34.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75.png"/><Relationship Id="rId7" Type="http://schemas.openxmlformats.org/officeDocument/2006/relationships/image" Target="../media/image79.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78.png"/><Relationship Id="rId5" Type="http://schemas.openxmlformats.org/officeDocument/2006/relationships/image" Target="../media/image77.png"/><Relationship Id="rId10" Type="http://schemas.openxmlformats.org/officeDocument/2006/relationships/image" Target="../media/image81.png"/><Relationship Id="rId4" Type="http://schemas.openxmlformats.org/officeDocument/2006/relationships/image" Target="../media/image76.png"/><Relationship Id="rId9" Type="http://schemas.openxmlformats.org/officeDocument/2006/relationships/image" Target="../media/image80.png"/></Relationships>
</file>

<file path=ppt/slides/_rels/slide35.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82.png"/></Relationships>
</file>

<file path=ppt/slides/_rels/slide3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7.xml"/><Relationship Id="rId1" Type="http://schemas.openxmlformats.org/officeDocument/2006/relationships/slideLayout" Target="../slideLayouts/slideLayout1.xml"/><Relationship Id="rId5" Type="http://schemas.openxmlformats.org/officeDocument/2006/relationships/image" Target="../media/image81.png"/><Relationship Id="rId4" Type="http://schemas.openxmlformats.org/officeDocument/2006/relationships/image" Target="../media/image15.png"/></Relationships>
</file>

<file path=ppt/slides/_rels/slide38.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83.png"/><Relationship Id="rId7" Type="http://schemas.openxmlformats.org/officeDocument/2006/relationships/image" Target="../media/image82.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s>
</file>

<file path=ppt/slides/_rels/slide39.xml.rels><?xml version="1.0" encoding="UTF-8" standalone="yes"?>
<Relationships xmlns="http://schemas.openxmlformats.org/package/2006/relationships"><Relationship Id="rId3" Type="http://schemas.openxmlformats.org/officeDocument/2006/relationships/image" Target="../media/image49.png"/><Relationship Id="rId7" Type="http://schemas.openxmlformats.org/officeDocument/2006/relationships/image" Target="../media/image89.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88.png"/><Relationship Id="rId5" Type="http://schemas.openxmlformats.org/officeDocument/2006/relationships/image" Target="../media/image17.png"/><Relationship Id="rId4" Type="http://schemas.openxmlformats.org/officeDocument/2006/relationships/image" Target="../media/image87.png"/></Relationships>
</file>

<file path=ppt/slides/_rels/slide40.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960120"/>
            <a:ext cx="8046720" cy="274320"/>
          </a:xfrm>
          <a:prstGeom prst="rect">
            <a:avLst/>
          </a:prstGeom>
          <a:noFill/>
          <a:ln/>
        </p:spPr>
        <p:txBody>
          <a:bodyPr wrap="square" lIns="0" tIns="0" rIns="0" bIns="0" rtlCol="0" anchor="ctr"/>
          <a:lstStyle/>
          <a:p>
            <a:pPr marL="0" indent="0">
              <a:buNone/>
            </a:pPr>
            <a:r>
              <a:rPr lang="en-US" sz="1200" b="1" kern="0" spc="300" dirty="0">
                <a:solidFill>
                  <a:srgbClr val="F5C242"/>
                </a:solidFill>
                <a:latin typeface="Calibri" pitchFamily="34" charset="0"/>
                <a:ea typeface="Calibri" pitchFamily="34" charset="-122"/>
                <a:cs typeface="Calibri" pitchFamily="34" charset="-120"/>
              </a:rPr>
              <a:t>ATI · BIG DATA POUR LES STATISTIQUES MACROÉCONOMIQUES</a:t>
            </a:r>
            <a:endParaRPr lang="en-US" sz="1200" dirty="0"/>
          </a:p>
        </p:txBody>
      </p:sp>
      <p:sp>
        <p:nvSpPr>
          <p:cNvPr id="3" name="Text 1"/>
          <p:cNvSpPr txBox="1"/>
          <p:nvPr/>
        </p:nvSpPr>
        <p:spPr>
          <a:xfrm>
            <a:off x="548640" y="1325880"/>
            <a:ext cx="6035040" cy="1371600"/>
          </a:xfrm>
          <a:prstGeom prst="rect">
            <a:avLst/>
          </a:prstGeom>
          <a:noFill/>
          <a:ln/>
        </p:spPr>
        <p:txBody>
          <a:bodyPr wrap="square" lIns="0" tIns="0" rIns="0" bIns="0" rtlCol="0" anchor="t"/>
          <a:lstStyle/>
          <a:p>
            <a:pPr marL="0" indent="0">
              <a:buNone/>
            </a:pPr>
            <a:r>
              <a:rPr lang="en-US" sz="4000" b="1" dirty="0">
                <a:solidFill>
                  <a:srgbClr val="FFFFFF"/>
                </a:solidFill>
                <a:latin typeface="Calibri" pitchFamily="34" charset="0"/>
                <a:ea typeface="Calibri" pitchFamily="34" charset="-122"/>
                <a:cs typeface="Calibri" pitchFamily="34" charset="-120"/>
              </a:rPr>
              <a:t>Interroger les documents de votre institution</a:t>
            </a:r>
            <a:endParaRPr lang="en-US" sz="4000" dirty="0"/>
          </a:p>
        </p:txBody>
      </p:sp>
      <p:sp>
        <p:nvSpPr>
          <p:cNvPr id="4" name="Text 2"/>
          <p:cNvSpPr txBox="1"/>
          <p:nvPr/>
        </p:nvSpPr>
        <p:spPr>
          <a:xfrm>
            <a:off x="548640" y="2788920"/>
            <a:ext cx="5669280" cy="457200"/>
          </a:xfrm>
          <a:prstGeom prst="rect">
            <a:avLst/>
          </a:prstGeom>
          <a:noFill/>
          <a:ln/>
        </p:spPr>
        <p:txBody>
          <a:bodyPr wrap="square" lIns="0" tIns="0" rIns="0" bIns="0" rtlCol="0" anchor="ctr"/>
          <a:lstStyle/>
          <a:p>
            <a:pPr marL="0" indent="0">
              <a:buNone/>
            </a:pPr>
            <a:r>
              <a:rPr lang="en-US" sz="1800" i="1" dirty="0">
                <a:solidFill>
                  <a:srgbClr val="E6F6EE"/>
                </a:solidFill>
                <a:latin typeface="Calibri" pitchFamily="34" charset="0"/>
                <a:ea typeface="Calibri" pitchFamily="34" charset="-122"/>
                <a:cs typeface="Calibri" pitchFamily="34" charset="-120"/>
              </a:rPr>
              <a:t>La génération augmentée par récupération (RAG) pour les publications statistiques : sourcée, citée, capable de dire « je ne sais pas »</a:t>
            </a:r>
            <a:endParaRPr lang="en-US" sz="1800" dirty="0"/>
          </a:p>
        </p:txBody>
      </p:sp>
      <p:sp>
        <p:nvSpPr>
          <p:cNvPr id="5" name="Text 3"/>
          <p:cNvSpPr txBox="1"/>
          <p:nvPr/>
        </p:nvSpPr>
        <p:spPr>
          <a:xfrm>
            <a:off x="548640" y="3520440"/>
            <a:ext cx="5486400" cy="27432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Jeudi 29 octobre 2026  ·  Maurice</a:t>
            </a:r>
            <a:endParaRPr lang="en-US" sz="1300" dirty="0"/>
          </a:p>
        </p:txBody>
      </p:sp>
      <p:sp>
        <p:nvSpPr>
          <p:cNvPr id="6" name="Shape 4"/>
          <p:cNvSpPr/>
          <p:nvPr/>
        </p:nvSpPr>
        <p:spPr>
          <a:xfrm>
            <a:off x="6858000" y="1874520"/>
            <a:ext cx="1280160" cy="1280160"/>
          </a:xfrm>
          <a:prstGeom prst="ellipse">
            <a:avLst/>
          </a:prstGeom>
          <a:solidFill>
            <a:srgbClr val="FFFFFF"/>
          </a:solidFill>
          <a:ln w="12700">
            <a:solidFill>
              <a:srgbClr val="FFFFFF"/>
            </a:solidFill>
            <a:prstDash val="solid"/>
          </a:ln>
        </p:spPr>
      </p:sp>
      <p:pic>
        <p:nvPicPr>
          <p:cNvPr id="7" name="Image 0" descr="preencoded.png"/>
          <p:cNvPicPr>
            <a:picLocks noChangeAspect="1"/>
          </p:cNvPicPr>
          <p:nvPr/>
        </p:nvPicPr>
        <p:blipFill>
          <a:blip r:embed="rId4"/>
          <a:stretch>
            <a:fillRect/>
          </a:stretch>
        </p:blipFill>
        <p:spPr>
          <a:xfrm>
            <a:off x="7165238" y="2181758"/>
            <a:ext cx="665683" cy="665683"/>
          </a:xfrm>
          <a:prstGeom prst="rect">
            <a:avLst/>
          </a:prstGeom>
        </p:spPr>
      </p:pic>
      <p:sp>
        <p:nvSpPr>
          <p:cNvPr id="8" name="Shape 5"/>
          <p:cNvSpPr/>
          <p:nvPr/>
        </p:nvSpPr>
        <p:spPr>
          <a:xfrm>
            <a:off x="6080760" y="3200400"/>
            <a:ext cx="640080" cy="640080"/>
          </a:xfrm>
          <a:prstGeom prst="ellipse">
            <a:avLst/>
          </a:prstGeom>
          <a:solidFill>
            <a:srgbClr val="F5C242"/>
          </a:solidFill>
          <a:ln w="12700">
            <a:solidFill>
              <a:srgbClr val="F5C242"/>
            </a:solidFill>
            <a:prstDash val="solid"/>
          </a:ln>
        </p:spPr>
      </p:sp>
      <p:pic>
        <p:nvPicPr>
          <p:cNvPr id="9" name="Image 1" descr="preencoded.png"/>
          <p:cNvPicPr>
            <a:picLocks noChangeAspect="1"/>
          </p:cNvPicPr>
          <p:nvPr/>
        </p:nvPicPr>
        <p:blipFill>
          <a:blip r:embed="rId5"/>
          <a:stretch>
            <a:fillRect/>
          </a:stretch>
        </p:blipFill>
        <p:spPr>
          <a:xfrm>
            <a:off x="6234379" y="3354019"/>
            <a:ext cx="332842" cy="332842"/>
          </a:xfrm>
          <a:prstGeom prst="rect">
            <a:avLst/>
          </a:prstGeom>
        </p:spPr>
      </p:pic>
      <p:sp>
        <p:nvSpPr>
          <p:cNvPr id="10" name="Shape 6"/>
          <p:cNvSpPr/>
          <p:nvPr/>
        </p:nvSpPr>
        <p:spPr>
          <a:xfrm>
            <a:off x="8275320" y="3200400"/>
            <a:ext cx="640080" cy="640080"/>
          </a:xfrm>
          <a:prstGeom prst="ellipse">
            <a:avLst/>
          </a:prstGeom>
          <a:solidFill>
            <a:srgbClr val="F5C242"/>
          </a:solidFill>
          <a:ln w="12700">
            <a:solidFill>
              <a:srgbClr val="F5C242"/>
            </a:solidFill>
            <a:prstDash val="solid"/>
          </a:ln>
        </p:spPr>
      </p:sp>
      <p:pic>
        <p:nvPicPr>
          <p:cNvPr id="11" name="Image 2" descr="preencoded.png"/>
          <p:cNvPicPr>
            <a:picLocks noChangeAspect="1"/>
          </p:cNvPicPr>
          <p:nvPr/>
        </p:nvPicPr>
        <p:blipFill>
          <a:blip r:embed="rId6"/>
          <a:stretch>
            <a:fillRect/>
          </a:stretch>
        </p:blipFill>
        <p:spPr>
          <a:xfrm>
            <a:off x="8428939" y="3354019"/>
            <a:ext cx="332842" cy="332842"/>
          </a:xfrm>
          <a:prstGeom prst="rect">
            <a:avLst/>
          </a:prstGeom>
        </p:spPr>
      </p:pic>
      <p:sp>
        <p:nvSpPr>
          <p:cNvPr id="12" name="Text 23">
            <a:extLst>
              <a:ext uri="{FF2B5EF4-FFF2-40B4-BE49-F238E27FC236}">
                <a16:creationId xmlns:a16="http://schemas.microsoft.com/office/drawing/2014/main" id="{20A1A34C-78AC-CE5A-B8FF-10D3EEC2F0AB}"/>
              </a:ext>
            </a:extLst>
          </p:cNvPr>
          <p:cNvSpPr txBox="1"/>
          <p:nvPr/>
        </p:nvSpPr>
        <p:spPr>
          <a:xfrm>
            <a:off x="548640" y="4224528"/>
            <a:ext cx="6400800" cy="27432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FFFFFF"/>
                </a:solidFill>
                <a:latin typeface="Calibri" pitchFamily="34" charset="0"/>
                <a:ea typeface="Calibri" pitchFamily="34" charset="-122"/>
                <a:cs typeface="Calibri" pitchFamily="34" charset="-120"/>
              </a:rPr>
              <a:t>Banque africaine de développement · Data Innovation for Africa (DI4A)</a:t>
            </a:r>
            <a:endParaRPr lang="en-US" sz="1200" dirty="0"/>
          </a:p>
        </p:txBody>
      </p:sp>
      <p:sp>
        <p:nvSpPr>
          <p:cNvPr id="14" name="Rounded Rectangle 13"/>
          <p:cNvSpPr/>
          <p:nvPr/>
        </p:nvSpPr>
        <p:spPr>
          <a:xfrm>
            <a:off x="548640" y="438912"/>
            <a:ext cx="1143000" cy="310896"/>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548640" y="438912"/>
            <a:ext cx="1143000" cy="310896"/>
          </a:xfrm>
          <a:prstGeom prst="rect">
            <a:avLst/>
          </a:prstGeom>
          <a:noFill/>
        </p:spPr>
        <p:txBody>
          <a:bodyPr wrap="square" lIns="0" tIns="0" rIns="0" bIns="0" anchor="ctr">
            <a:spAutoFit/>
          </a:bodyPr>
          <a:lstStyle/>
          <a:p>
            <a:pPr algn="ctr"/>
            <a:r>
              <a:rPr sz="1150" b="1" i="0">
                <a:solidFill>
                  <a:srgbClr val="00553A"/>
                </a:solidFill>
                <a:latin typeface="Calibri"/>
              </a:rPr>
              <a:t>BAD · DI4A</a:t>
            </a: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0704A"/>
                </a:solidFill>
                <a:latin typeface="Calibri" pitchFamily="34" charset="0"/>
                <a:ea typeface="Calibri" pitchFamily="34" charset="-122"/>
                <a:cs typeface="Calibri" pitchFamily="34" charset="-120"/>
              </a:rPr>
              <a:t>LA SEMAINE  ·  BIG DATA POUR LES STATISTIQUES MACROÉCONOMIQUES</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La place de cette séance dans la semaine</a:t>
            </a:r>
            <a:endParaRPr lang="en-US" sz="2800" dirty="0"/>
          </a:p>
        </p:txBody>
      </p:sp>
      <p:sp>
        <p:nvSpPr>
          <p:cNvPr id="14" name="Text 12"/>
          <p:cNvSpPr txBox="1"/>
          <p:nvPr/>
        </p:nvSpPr>
        <p:spPr>
          <a:xfrm>
            <a:off x="457200" y="4846320"/>
            <a:ext cx="694944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ATI · Big Data pour les statistiques macroéconomiques · Maurice, 26–30 oct. 2026   |   BAD · Data Innovation for Africa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2</a:t>
            </a:r>
            <a:endParaRPr lang="en-US" sz="850" dirty="0"/>
          </a:p>
        </p:txBody>
      </p:sp>
      <p:sp>
        <p:nvSpPr>
          <p:cNvPr id="16" name="Rounded Rectangle 15"/>
          <p:cNvSpPr/>
          <p:nvPr/>
        </p:nvSpPr>
        <p:spPr>
          <a:xfrm>
            <a:off x="457200" y="1261872"/>
            <a:ext cx="1572768" cy="2670048"/>
          </a:xfrm>
          <a:prstGeom prst="roundRect">
            <a:avLst>
              <a:gd name="adj" fmla="val 6000"/>
            </a:avLst>
          </a:prstGeom>
          <a:solidFill>
            <a:srgbClr val="F4F7F5"/>
          </a:solidFill>
          <a:ln w="9525">
            <a:solidFill>
              <a:srgbClr val="D5DE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594360" y="1371600"/>
            <a:ext cx="1325880" cy="274320"/>
          </a:xfrm>
          <a:prstGeom prst="rect">
            <a:avLst/>
          </a:prstGeom>
          <a:noFill/>
        </p:spPr>
        <p:txBody>
          <a:bodyPr wrap="square" lIns="0" tIns="0" rIns="0" bIns="0" anchor="t">
            <a:spAutoFit/>
          </a:bodyPr>
          <a:lstStyle/>
          <a:p>
            <a:pPr algn="l"/>
            <a:r>
              <a:rPr sz="1250" b="1" i="0">
                <a:solidFill>
                  <a:srgbClr val="00704A"/>
                </a:solidFill>
                <a:latin typeface="Calibri"/>
              </a:rPr>
              <a:t>Lun. 26</a:t>
            </a:r>
          </a:p>
        </p:txBody>
      </p:sp>
      <p:sp>
        <p:nvSpPr>
          <p:cNvPr id="18" name="TextBox 17"/>
          <p:cNvSpPr txBox="1"/>
          <p:nvPr/>
        </p:nvSpPr>
        <p:spPr>
          <a:xfrm>
            <a:off x="594360" y="1719072"/>
            <a:ext cx="1325880" cy="2148840"/>
          </a:xfrm>
          <a:prstGeom prst="rect">
            <a:avLst/>
          </a:prstGeom>
          <a:noFill/>
        </p:spPr>
        <p:txBody>
          <a:bodyPr wrap="square" lIns="0" tIns="0" rIns="0" bIns="0" anchor="t">
            <a:spAutoFit/>
          </a:bodyPr>
          <a:lstStyle/>
          <a:p>
            <a:pPr algn="l">
              <a:spcAft>
                <a:spcPts val="500"/>
              </a:spcAft>
            </a:pPr>
            <a:r>
              <a:rPr sz="1000" b="0" i="0">
                <a:solidFill>
                  <a:srgbClr val="5E6964"/>
                </a:solidFill>
                <a:latin typeface="Calibri"/>
              </a:rPr>
              <a:t>Laboratoire d'innovation des données (BAD)</a:t>
            </a:r>
          </a:p>
          <a:p>
            <a:pPr algn="l">
              <a:spcAft>
                <a:spcPts val="500"/>
              </a:spcAft>
            </a:pPr>
            <a:r>
              <a:rPr sz="1000" b="0" i="0">
                <a:solidFill>
                  <a:srgbClr val="5E6964"/>
                </a:solidFill>
                <a:latin typeface="Calibri"/>
              </a:rPr>
              <a:t>Centre Big Data du FMI</a:t>
            </a:r>
          </a:p>
          <a:p>
            <a:pPr algn="l">
              <a:spcAft>
                <a:spcPts val="500"/>
              </a:spcAft>
            </a:pPr>
            <a:r>
              <a:rPr sz="1000" b="0" i="0">
                <a:solidFill>
                  <a:srgbClr val="5E6964"/>
                </a:solidFill>
                <a:latin typeface="Calibri"/>
              </a:rPr>
              <a:t>IA, éthique et vie privée</a:t>
            </a:r>
          </a:p>
        </p:txBody>
      </p:sp>
      <p:sp>
        <p:nvSpPr>
          <p:cNvPr id="19" name="Rounded Rectangle 18"/>
          <p:cNvSpPr/>
          <p:nvPr/>
        </p:nvSpPr>
        <p:spPr>
          <a:xfrm>
            <a:off x="2121408" y="1261872"/>
            <a:ext cx="1572768" cy="2670048"/>
          </a:xfrm>
          <a:prstGeom prst="roundRect">
            <a:avLst>
              <a:gd name="adj" fmla="val 6000"/>
            </a:avLst>
          </a:prstGeom>
          <a:solidFill>
            <a:srgbClr val="F4F7F5"/>
          </a:solidFill>
          <a:ln w="9525">
            <a:solidFill>
              <a:srgbClr val="D5DE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2258568" y="1371600"/>
            <a:ext cx="1325880" cy="274320"/>
          </a:xfrm>
          <a:prstGeom prst="rect">
            <a:avLst/>
          </a:prstGeom>
          <a:noFill/>
        </p:spPr>
        <p:txBody>
          <a:bodyPr wrap="square" lIns="0" tIns="0" rIns="0" bIns="0" anchor="t">
            <a:spAutoFit/>
          </a:bodyPr>
          <a:lstStyle/>
          <a:p>
            <a:pPr algn="l"/>
            <a:r>
              <a:rPr sz="1250" b="1" i="0">
                <a:solidFill>
                  <a:srgbClr val="00704A"/>
                </a:solidFill>
                <a:latin typeface="Calibri"/>
              </a:rPr>
              <a:t>Mar. 27</a:t>
            </a:r>
          </a:p>
        </p:txBody>
      </p:sp>
      <p:sp>
        <p:nvSpPr>
          <p:cNvPr id="21" name="TextBox 20"/>
          <p:cNvSpPr txBox="1"/>
          <p:nvPr/>
        </p:nvSpPr>
        <p:spPr>
          <a:xfrm>
            <a:off x="2258568" y="1719072"/>
            <a:ext cx="1325880" cy="2148840"/>
          </a:xfrm>
          <a:prstGeom prst="rect">
            <a:avLst/>
          </a:prstGeom>
          <a:noFill/>
        </p:spPr>
        <p:txBody>
          <a:bodyPr wrap="square" lIns="0" tIns="0" rIns="0" bIns="0" anchor="t">
            <a:spAutoFit/>
          </a:bodyPr>
          <a:lstStyle/>
          <a:p>
            <a:pPr algn="l">
              <a:spcAft>
                <a:spcPts val="500"/>
              </a:spcAft>
            </a:pPr>
            <a:r>
              <a:rPr sz="1000" b="0" i="0">
                <a:solidFill>
                  <a:srgbClr val="5E6964"/>
                </a:solidFill>
                <a:latin typeface="Calibri"/>
              </a:rPr>
              <a:t>Sources de données non traditionnelles</a:t>
            </a:r>
          </a:p>
          <a:p>
            <a:pPr algn="l">
              <a:spcAft>
                <a:spcPts val="500"/>
              </a:spcAft>
            </a:pPr>
            <a:r>
              <a:rPr sz="1000" b="0" i="0">
                <a:solidFill>
                  <a:srgbClr val="5E6964"/>
                </a:solidFill>
                <a:latin typeface="Calibri"/>
              </a:rPr>
              <a:t>Lumières nocturnes (BAD)</a:t>
            </a:r>
          </a:p>
          <a:p>
            <a:pPr algn="l">
              <a:spcAft>
                <a:spcPts val="500"/>
              </a:spcAft>
            </a:pPr>
            <a:r>
              <a:rPr sz="1000" b="0" i="0">
                <a:solidFill>
                  <a:srgbClr val="5E6964"/>
                </a:solidFill>
                <a:latin typeface="Calibri"/>
              </a:rPr>
              <a:t>Données géospatiales (FMI)</a:t>
            </a:r>
          </a:p>
        </p:txBody>
      </p:sp>
      <p:sp>
        <p:nvSpPr>
          <p:cNvPr id="22" name="Rounded Rectangle 21"/>
          <p:cNvSpPr/>
          <p:nvPr/>
        </p:nvSpPr>
        <p:spPr>
          <a:xfrm>
            <a:off x="3785616" y="1261872"/>
            <a:ext cx="1572768" cy="2670048"/>
          </a:xfrm>
          <a:prstGeom prst="roundRect">
            <a:avLst>
              <a:gd name="adj" fmla="val 6000"/>
            </a:avLst>
          </a:prstGeom>
          <a:solidFill>
            <a:srgbClr val="F4F7F5"/>
          </a:solidFill>
          <a:ln w="9525">
            <a:solidFill>
              <a:srgbClr val="D5DE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3922776" y="1371600"/>
            <a:ext cx="1325880" cy="274320"/>
          </a:xfrm>
          <a:prstGeom prst="rect">
            <a:avLst/>
          </a:prstGeom>
          <a:noFill/>
        </p:spPr>
        <p:txBody>
          <a:bodyPr wrap="square" lIns="0" tIns="0" rIns="0" bIns="0" anchor="t">
            <a:spAutoFit/>
          </a:bodyPr>
          <a:lstStyle/>
          <a:p>
            <a:pPr algn="l"/>
            <a:r>
              <a:rPr sz="1250" b="1" i="0">
                <a:solidFill>
                  <a:srgbClr val="00704A"/>
                </a:solidFill>
                <a:latin typeface="Calibri"/>
              </a:rPr>
              <a:t>Mer. 28</a:t>
            </a:r>
          </a:p>
        </p:txBody>
      </p:sp>
      <p:sp>
        <p:nvSpPr>
          <p:cNvPr id="24" name="TextBox 23"/>
          <p:cNvSpPr txBox="1"/>
          <p:nvPr/>
        </p:nvSpPr>
        <p:spPr>
          <a:xfrm>
            <a:off x="3922776" y="1719072"/>
            <a:ext cx="1325880" cy="2148840"/>
          </a:xfrm>
          <a:prstGeom prst="rect">
            <a:avLst/>
          </a:prstGeom>
          <a:noFill/>
        </p:spPr>
        <p:txBody>
          <a:bodyPr wrap="square" lIns="0" tIns="0" rIns="0" bIns="0" anchor="t">
            <a:spAutoFit/>
          </a:bodyPr>
          <a:lstStyle/>
          <a:p>
            <a:pPr algn="l">
              <a:spcAft>
                <a:spcPts val="500"/>
              </a:spcAft>
            </a:pPr>
            <a:r>
              <a:rPr sz="1000" b="0" i="0">
                <a:solidFill>
                  <a:srgbClr val="5E6964"/>
                </a:solidFill>
                <a:latin typeface="Calibri"/>
              </a:rPr>
              <a:t>Prévision immédiate du PIB (FMI)</a:t>
            </a:r>
          </a:p>
          <a:p>
            <a:pPr algn="l">
              <a:spcAft>
                <a:spcPts val="500"/>
              </a:spcAft>
            </a:pPr>
            <a:r>
              <a:rPr sz="1000" b="0" i="0">
                <a:solidFill>
                  <a:srgbClr val="5E6964"/>
                </a:solidFill>
                <a:latin typeface="Calibri"/>
              </a:rPr>
              <a:t>Cas de l'Afrique du Sud (BAD)</a:t>
            </a:r>
          </a:p>
          <a:p>
            <a:pPr algn="l">
              <a:spcAft>
                <a:spcPts val="500"/>
              </a:spcAft>
            </a:pPr>
            <a:r>
              <a:rPr sz="1000" b="0" i="0">
                <a:solidFill>
                  <a:srgbClr val="5E6964"/>
                </a:solidFill>
                <a:latin typeface="Calibri"/>
              </a:rPr>
              <a:t>AIS et PortWatch (FMI)</a:t>
            </a:r>
          </a:p>
        </p:txBody>
      </p:sp>
      <p:sp>
        <p:nvSpPr>
          <p:cNvPr id="25" name="Rounded Rectangle 24"/>
          <p:cNvSpPr/>
          <p:nvPr/>
        </p:nvSpPr>
        <p:spPr>
          <a:xfrm>
            <a:off x="5449824" y="1261872"/>
            <a:ext cx="1572768" cy="2670048"/>
          </a:xfrm>
          <a:prstGeom prst="roundRect">
            <a:avLst>
              <a:gd name="adj" fmla="val 6000"/>
            </a:avLst>
          </a:prstGeom>
          <a:solidFill>
            <a:srgbClr val="00704A"/>
          </a:solidFill>
          <a:ln w="28575">
            <a:solidFill>
              <a:srgbClr val="F5C24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5586984" y="1371600"/>
            <a:ext cx="1325880" cy="274320"/>
          </a:xfrm>
          <a:prstGeom prst="rect">
            <a:avLst/>
          </a:prstGeom>
          <a:noFill/>
        </p:spPr>
        <p:txBody>
          <a:bodyPr wrap="square" lIns="0" tIns="0" rIns="0" bIns="0" anchor="t">
            <a:spAutoFit/>
          </a:bodyPr>
          <a:lstStyle/>
          <a:p>
            <a:pPr algn="l"/>
            <a:r>
              <a:rPr sz="1250" b="1" i="0">
                <a:solidFill>
                  <a:srgbClr val="F5C242"/>
                </a:solidFill>
                <a:latin typeface="Calibri"/>
              </a:rPr>
              <a:t>Jeu. 29</a:t>
            </a:r>
          </a:p>
        </p:txBody>
      </p:sp>
      <p:sp>
        <p:nvSpPr>
          <p:cNvPr id="27" name="TextBox 26"/>
          <p:cNvSpPr txBox="1"/>
          <p:nvPr/>
        </p:nvSpPr>
        <p:spPr>
          <a:xfrm>
            <a:off x="5586984" y="1719072"/>
            <a:ext cx="1325880" cy="2148840"/>
          </a:xfrm>
          <a:prstGeom prst="rect">
            <a:avLst/>
          </a:prstGeom>
          <a:noFill/>
        </p:spPr>
        <p:txBody>
          <a:bodyPr wrap="square" lIns="0" tIns="0" rIns="0" bIns="0" anchor="t">
            <a:spAutoFit/>
          </a:bodyPr>
          <a:lstStyle/>
          <a:p>
            <a:pPr algn="l">
              <a:spcAft>
                <a:spcPts val="500"/>
              </a:spcAft>
            </a:pPr>
            <a:r>
              <a:rPr sz="1000" b="0" i="0">
                <a:solidFill>
                  <a:srgbClr val="FFFFFF"/>
                </a:solidFill>
                <a:latin typeface="Calibri"/>
              </a:rPr>
              <a:t>Données textuelles et TAL (FMI)</a:t>
            </a:r>
          </a:p>
          <a:p>
            <a:pPr algn="l">
              <a:spcAft>
                <a:spcPts val="500"/>
              </a:spcAft>
            </a:pPr>
            <a:r>
              <a:rPr sz="1000" b="0" i="0">
                <a:solidFill>
                  <a:srgbClr val="FFFFFF"/>
                </a:solidFill>
                <a:latin typeface="Calibri"/>
              </a:rPr>
              <a:t>Données de transactions (FMI)</a:t>
            </a:r>
          </a:p>
          <a:p>
            <a:pPr algn="l">
              <a:spcAft>
                <a:spcPts val="500"/>
              </a:spcAft>
            </a:pPr>
            <a:r>
              <a:rPr sz="1000" b="1" i="0">
                <a:solidFill>
                  <a:srgbClr val="F5C242"/>
                </a:solidFill>
                <a:latin typeface="Calibri"/>
              </a:rPr>
              <a:t>→ 11 h Interroger vos documents (BAD)</a:t>
            </a:r>
          </a:p>
          <a:p>
            <a:pPr algn="l">
              <a:spcAft>
                <a:spcPts val="500"/>
              </a:spcAft>
            </a:pPr>
            <a:r>
              <a:rPr sz="1000" b="0" i="0">
                <a:solidFill>
                  <a:srgbClr val="FFFFFF"/>
                </a:solidFill>
                <a:latin typeface="Calibri"/>
              </a:rPr>
              <a:t>Données alternatives pour l'IPC (BAD et INS CI)</a:t>
            </a:r>
          </a:p>
          <a:p>
            <a:pPr algn="l">
              <a:spcAft>
                <a:spcPts val="500"/>
              </a:spcAft>
            </a:pPr>
            <a:r>
              <a:rPr sz="1000" b="0" i="0">
                <a:solidFill>
                  <a:srgbClr val="FFFFFF"/>
                </a:solidFill>
                <a:latin typeface="Calibri"/>
              </a:rPr>
              <a:t>Project Canvas</a:t>
            </a:r>
          </a:p>
        </p:txBody>
      </p:sp>
      <p:sp>
        <p:nvSpPr>
          <p:cNvPr id="28" name="Rounded Rectangle 27"/>
          <p:cNvSpPr/>
          <p:nvPr/>
        </p:nvSpPr>
        <p:spPr>
          <a:xfrm>
            <a:off x="7114032" y="1261872"/>
            <a:ext cx="1572768" cy="2670048"/>
          </a:xfrm>
          <a:prstGeom prst="roundRect">
            <a:avLst>
              <a:gd name="adj" fmla="val 6000"/>
            </a:avLst>
          </a:prstGeom>
          <a:solidFill>
            <a:srgbClr val="F4F7F5"/>
          </a:solidFill>
          <a:ln w="9525">
            <a:solidFill>
              <a:srgbClr val="D5DE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7251192" y="1371600"/>
            <a:ext cx="1325880" cy="274320"/>
          </a:xfrm>
          <a:prstGeom prst="rect">
            <a:avLst/>
          </a:prstGeom>
          <a:noFill/>
        </p:spPr>
        <p:txBody>
          <a:bodyPr wrap="square" lIns="0" tIns="0" rIns="0" bIns="0" anchor="t">
            <a:spAutoFit/>
          </a:bodyPr>
          <a:lstStyle/>
          <a:p>
            <a:pPr algn="l"/>
            <a:r>
              <a:rPr sz="1250" b="1" i="0">
                <a:solidFill>
                  <a:srgbClr val="00704A"/>
                </a:solidFill>
                <a:latin typeface="Calibri"/>
              </a:rPr>
              <a:t>Ven. 30</a:t>
            </a:r>
          </a:p>
        </p:txBody>
      </p:sp>
      <p:sp>
        <p:nvSpPr>
          <p:cNvPr id="30" name="TextBox 29"/>
          <p:cNvSpPr txBox="1"/>
          <p:nvPr/>
        </p:nvSpPr>
        <p:spPr>
          <a:xfrm>
            <a:off x="7251192" y="1719072"/>
            <a:ext cx="1325880" cy="2148840"/>
          </a:xfrm>
          <a:prstGeom prst="rect">
            <a:avLst/>
          </a:prstGeom>
          <a:noFill/>
        </p:spPr>
        <p:txBody>
          <a:bodyPr wrap="square" lIns="0" tIns="0" rIns="0" bIns="0" anchor="t">
            <a:spAutoFit/>
          </a:bodyPr>
          <a:lstStyle/>
          <a:p>
            <a:pPr algn="l">
              <a:spcAft>
                <a:spcPts val="500"/>
              </a:spcAft>
            </a:pPr>
            <a:r>
              <a:rPr sz="1000" b="0" i="0">
                <a:solidFill>
                  <a:srgbClr val="5E6964"/>
                </a:solidFill>
                <a:latin typeface="Calibri"/>
              </a:rPr>
              <a:t>Présentations des groupes</a:t>
            </a:r>
          </a:p>
          <a:p>
            <a:pPr algn="l">
              <a:spcAft>
                <a:spcPts val="500"/>
              </a:spcAft>
            </a:pPr>
            <a:r>
              <a:rPr sz="1000" b="0" i="0">
                <a:solidFill>
                  <a:srgbClr val="5E6964"/>
                </a:solidFill>
                <a:latin typeface="Calibri"/>
              </a:rPr>
              <a:t>Quiz final</a:t>
            </a:r>
          </a:p>
          <a:p>
            <a:pPr algn="l">
              <a:spcAft>
                <a:spcPts val="500"/>
              </a:spcAft>
            </a:pPr>
            <a:r>
              <a:rPr sz="1000" b="0" i="0">
                <a:solidFill>
                  <a:srgbClr val="5E6964"/>
                </a:solidFill>
                <a:latin typeface="Calibri"/>
              </a:rPr>
              <a:t>Clôture — BDC du FMI · BAD</a:t>
            </a:r>
          </a:p>
        </p:txBody>
      </p:sp>
      <p:sp>
        <p:nvSpPr>
          <p:cNvPr id="31" name="Rounded Rectangle 30"/>
          <p:cNvSpPr/>
          <p:nvPr/>
        </p:nvSpPr>
        <p:spPr>
          <a:xfrm>
            <a:off x="457200" y="4114800"/>
            <a:ext cx="8229600" cy="502920"/>
          </a:xfrm>
          <a:prstGeom prst="roundRect">
            <a:avLst>
              <a:gd name="adj" fmla="val 16000"/>
            </a:avLst>
          </a:prstGeom>
          <a:solidFill>
            <a:srgbClr val="E8F5EF"/>
          </a:solidFill>
          <a:ln w="15875">
            <a:solidFill>
              <a:srgbClr val="00A86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685800" y="4114800"/>
            <a:ext cx="7818120" cy="502920"/>
          </a:xfrm>
          <a:prstGeom prst="rect">
            <a:avLst/>
          </a:prstGeom>
          <a:noFill/>
        </p:spPr>
        <p:txBody>
          <a:bodyPr wrap="square" lIns="0" tIns="0" rIns="0" bIns="0" anchor="ctr">
            <a:spAutoFit/>
          </a:bodyPr>
          <a:lstStyle/>
          <a:p>
            <a:pPr algn="l"/>
            <a:r>
              <a:rPr sz="1250" b="0" i="0">
                <a:solidFill>
                  <a:srgbClr val="00704A"/>
                </a:solidFill>
                <a:latin typeface="Calibri"/>
              </a:rPr>
              <a:t>Ce matin, le texte a été classé (FMI).  Maintenant, il est interrogé.  Cet après-midi, il devient votre Project Canvas.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0704A"/>
                </a:solidFill>
                <a:latin typeface="Calibri" pitchFamily="34" charset="0"/>
                <a:ea typeface="Calibri" pitchFamily="34" charset="-122"/>
                <a:cs typeface="Calibri" pitchFamily="34" charset="-120"/>
              </a:rPr>
              <a:t>CETTE SÉANCE  ·  JEUDI 29 OCTOBRE  ·  11 H 00 – 11 H 30</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Quatre objectifs, trente minutes</a:t>
            </a:r>
            <a:endParaRPr lang="en-US" sz="2800" dirty="0"/>
          </a:p>
        </p:txBody>
      </p:sp>
      <p:sp>
        <p:nvSpPr>
          <p:cNvPr id="14" name="Text 12"/>
          <p:cNvSpPr txBox="1"/>
          <p:nvPr/>
        </p:nvSpPr>
        <p:spPr>
          <a:xfrm>
            <a:off x="457200" y="4846320"/>
            <a:ext cx="694944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ATI · Big Data pour les statistiques macroéconomiques · Maurice, 26–30 oct. 2026   |   BAD · Data Innovation for Africa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3</a:t>
            </a:r>
            <a:endParaRPr lang="en-US" sz="850" dirty="0"/>
          </a:p>
        </p:txBody>
      </p:sp>
      <p:sp>
        <p:nvSpPr>
          <p:cNvPr id="16" name="Rounded Rectangle 15"/>
          <p:cNvSpPr/>
          <p:nvPr/>
        </p:nvSpPr>
        <p:spPr>
          <a:xfrm>
            <a:off x="457200" y="1261872"/>
            <a:ext cx="1920240" cy="2331720"/>
          </a:xfrm>
          <a:prstGeom prst="roundRect">
            <a:avLst>
              <a:gd name="adj" fmla="val 6000"/>
            </a:avLst>
          </a:prstGeom>
          <a:solidFill>
            <a:srgbClr val="F4F7F5"/>
          </a:solidFill>
          <a:ln w="9525">
            <a:solidFill>
              <a:srgbClr val="D5DE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21792" y="1353312"/>
            <a:ext cx="914400" cy="457200"/>
          </a:xfrm>
          <a:prstGeom prst="rect">
            <a:avLst/>
          </a:prstGeom>
          <a:noFill/>
        </p:spPr>
        <p:txBody>
          <a:bodyPr wrap="square" lIns="0" tIns="0" rIns="0" bIns="0" anchor="t">
            <a:spAutoFit/>
          </a:bodyPr>
          <a:lstStyle/>
          <a:p>
            <a:pPr algn="l"/>
            <a:r>
              <a:rPr sz="3000" b="1" i="0">
                <a:solidFill>
                  <a:srgbClr val="7BCBA9"/>
                </a:solidFill>
                <a:latin typeface="Calibri"/>
              </a:rPr>
              <a:t>01</a:t>
            </a:r>
          </a:p>
        </p:txBody>
      </p:sp>
      <p:sp>
        <p:nvSpPr>
          <p:cNvPr id="18" name="Oval 17"/>
          <p:cNvSpPr/>
          <p:nvPr/>
        </p:nvSpPr>
        <p:spPr>
          <a:xfrm>
            <a:off x="1719072" y="1389888"/>
            <a:ext cx="475488" cy="475488"/>
          </a:xfrm>
          <a:prstGeom prst="ellipse">
            <a:avLst/>
          </a:prstGeom>
          <a:solidFill>
            <a:srgbClr val="00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9" name="Picture 18" descr="tools_w.png"/>
          <p:cNvPicPr>
            <a:picLocks noChangeAspect="1"/>
          </p:cNvPicPr>
          <p:nvPr/>
        </p:nvPicPr>
        <p:blipFill>
          <a:blip r:embed="rId3"/>
          <a:stretch>
            <a:fillRect/>
          </a:stretch>
        </p:blipFill>
        <p:spPr>
          <a:xfrm>
            <a:off x="1837943" y="1508760"/>
            <a:ext cx="237744" cy="237744"/>
          </a:xfrm>
          <a:prstGeom prst="rect">
            <a:avLst/>
          </a:prstGeom>
        </p:spPr>
      </p:pic>
      <p:sp>
        <p:nvSpPr>
          <p:cNvPr id="20" name="TextBox 19"/>
          <p:cNvSpPr txBox="1"/>
          <p:nvPr/>
        </p:nvSpPr>
        <p:spPr>
          <a:xfrm>
            <a:off x="621792" y="1938528"/>
            <a:ext cx="1645920" cy="566928"/>
          </a:xfrm>
          <a:prstGeom prst="rect">
            <a:avLst/>
          </a:prstGeom>
          <a:noFill/>
        </p:spPr>
        <p:txBody>
          <a:bodyPr wrap="square" lIns="0" tIns="0" rIns="0" bIns="0" anchor="t">
            <a:spAutoFit/>
          </a:bodyPr>
          <a:lstStyle/>
          <a:p>
            <a:pPr algn="l"/>
            <a:r>
              <a:rPr sz="1300" b="1" i="0">
                <a:solidFill>
                  <a:srgbClr val="231F20"/>
                </a:solidFill>
                <a:latin typeface="Calibri"/>
              </a:rPr>
              <a:t>Créer un assistant documentaire</a:t>
            </a:r>
          </a:p>
        </p:txBody>
      </p:sp>
      <p:sp>
        <p:nvSpPr>
          <p:cNvPr id="21" name="TextBox 20"/>
          <p:cNvSpPr txBox="1"/>
          <p:nvPr/>
        </p:nvSpPr>
        <p:spPr>
          <a:xfrm>
            <a:off x="621792" y="2542032"/>
            <a:ext cx="1627632" cy="731520"/>
          </a:xfrm>
          <a:prstGeom prst="rect">
            <a:avLst/>
          </a:prstGeom>
          <a:noFill/>
        </p:spPr>
        <p:txBody>
          <a:bodyPr wrap="square" lIns="0" tIns="0" rIns="0" bIns="0" anchor="t">
            <a:spAutoFit/>
          </a:bodyPr>
          <a:lstStyle/>
          <a:p>
            <a:pPr algn="l"/>
            <a:r>
              <a:rPr sz="1050" b="0" i="0">
                <a:solidFill>
                  <a:srgbClr val="5E6964"/>
                </a:solidFill>
                <a:latin typeface="Calibri"/>
              </a:rPr>
              <a:t>Charger les PDF de votre institution et voir ce qui a été extrait.</a:t>
            </a:r>
          </a:p>
        </p:txBody>
      </p:sp>
      <p:sp>
        <p:nvSpPr>
          <p:cNvPr id="22" name="TextBox 21"/>
          <p:cNvSpPr txBox="1"/>
          <p:nvPr/>
        </p:nvSpPr>
        <p:spPr>
          <a:xfrm>
            <a:off x="621792" y="3273552"/>
            <a:ext cx="1645920" cy="228600"/>
          </a:xfrm>
          <a:prstGeom prst="rect">
            <a:avLst/>
          </a:prstGeom>
          <a:noFill/>
        </p:spPr>
        <p:txBody>
          <a:bodyPr wrap="square" lIns="0" tIns="0" rIns="0" bIns="0" anchor="t">
            <a:spAutoFit/>
          </a:bodyPr>
          <a:lstStyle/>
          <a:p>
            <a:pPr algn="l"/>
            <a:r>
              <a:rPr sz="1000" b="1" i="0">
                <a:solidFill>
                  <a:srgbClr val="00704A"/>
                </a:solidFill>
                <a:latin typeface="Calibri"/>
              </a:rPr>
              <a:t>Notebook A1–A2 · 7 min</a:t>
            </a:r>
          </a:p>
        </p:txBody>
      </p:sp>
      <p:sp>
        <p:nvSpPr>
          <p:cNvPr id="23" name="Rounded Rectangle 22"/>
          <p:cNvSpPr/>
          <p:nvPr/>
        </p:nvSpPr>
        <p:spPr>
          <a:xfrm>
            <a:off x="2560320" y="1261872"/>
            <a:ext cx="1920240" cy="2331720"/>
          </a:xfrm>
          <a:prstGeom prst="roundRect">
            <a:avLst>
              <a:gd name="adj" fmla="val 6000"/>
            </a:avLst>
          </a:prstGeom>
          <a:solidFill>
            <a:srgbClr val="F4F7F5"/>
          </a:solidFill>
          <a:ln w="9525">
            <a:solidFill>
              <a:srgbClr val="D5DE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2724912" y="1353312"/>
            <a:ext cx="914400" cy="457200"/>
          </a:xfrm>
          <a:prstGeom prst="rect">
            <a:avLst/>
          </a:prstGeom>
          <a:noFill/>
        </p:spPr>
        <p:txBody>
          <a:bodyPr wrap="square" lIns="0" tIns="0" rIns="0" bIns="0" anchor="t">
            <a:spAutoFit/>
          </a:bodyPr>
          <a:lstStyle/>
          <a:p>
            <a:pPr algn="l"/>
            <a:r>
              <a:rPr sz="3000" b="1" i="0">
                <a:solidFill>
                  <a:srgbClr val="33AF7C"/>
                </a:solidFill>
                <a:latin typeface="Calibri"/>
              </a:rPr>
              <a:t>02</a:t>
            </a:r>
          </a:p>
        </p:txBody>
      </p:sp>
      <p:sp>
        <p:nvSpPr>
          <p:cNvPr id="25" name="Oval 24"/>
          <p:cNvSpPr/>
          <p:nvPr/>
        </p:nvSpPr>
        <p:spPr>
          <a:xfrm>
            <a:off x="3822191" y="1389888"/>
            <a:ext cx="475488" cy="475488"/>
          </a:xfrm>
          <a:prstGeom prst="ellipse">
            <a:avLst/>
          </a:prstGeom>
          <a:solidFill>
            <a:srgbClr val="00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6" name="Picture 25" descr="search_w.png"/>
          <p:cNvPicPr>
            <a:picLocks noChangeAspect="1"/>
          </p:cNvPicPr>
          <p:nvPr/>
        </p:nvPicPr>
        <p:blipFill>
          <a:blip r:embed="rId4"/>
          <a:stretch>
            <a:fillRect/>
          </a:stretch>
        </p:blipFill>
        <p:spPr>
          <a:xfrm>
            <a:off x="3941063" y="1508760"/>
            <a:ext cx="237744" cy="237744"/>
          </a:xfrm>
          <a:prstGeom prst="rect">
            <a:avLst/>
          </a:prstGeom>
        </p:spPr>
      </p:pic>
      <p:sp>
        <p:nvSpPr>
          <p:cNvPr id="27" name="TextBox 26"/>
          <p:cNvSpPr txBox="1"/>
          <p:nvPr/>
        </p:nvSpPr>
        <p:spPr>
          <a:xfrm>
            <a:off x="2724912" y="1938528"/>
            <a:ext cx="1645920" cy="566928"/>
          </a:xfrm>
          <a:prstGeom prst="rect">
            <a:avLst/>
          </a:prstGeom>
          <a:noFill/>
        </p:spPr>
        <p:txBody>
          <a:bodyPr wrap="square" lIns="0" tIns="0" rIns="0" bIns="0" anchor="t">
            <a:spAutoFit/>
          </a:bodyPr>
          <a:lstStyle/>
          <a:p>
            <a:pPr algn="l"/>
            <a:r>
              <a:rPr sz="1300" b="1" i="0">
                <a:solidFill>
                  <a:srgbClr val="231F20"/>
                </a:solidFill>
                <a:latin typeface="Calibri"/>
              </a:rPr>
              <a:t>Recherche et réponses sourcées</a:t>
            </a:r>
          </a:p>
        </p:txBody>
      </p:sp>
      <p:sp>
        <p:nvSpPr>
          <p:cNvPr id="28" name="TextBox 27"/>
          <p:cNvSpPr txBox="1"/>
          <p:nvPr/>
        </p:nvSpPr>
        <p:spPr>
          <a:xfrm>
            <a:off x="2724912" y="2542032"/>
            <a:ext cx="1627632" cy="731520"/>
          </a:xfrm>
          <a:prstGeom prst="rect">
            <a:avLst/>
          </a:prstGeom>
          <a:noFill/>
        </p:spPr>
        <p:txBody>
          <a:bodyPr wrap="square" lIns="0" tIns="0" rIns="0" bIns="0" anchor="t">
            <a:spAutoFit/>
          </a:bodyPr>
          <a:lstStyle/>
          <a:p>
            <a:pPr algn="l"/>
            <a:r>
              <a:rPr sz="1050" b="0" i="0">
                <a:solidFill>
                  <a:srgbClr val="5E6964"/>
                </a:solidFill>
                <a:latin typeface="Calibri"/>
              </a:rPr>
              <a:t>Poser la question, puis vérifier document, section, page et chiffres.</a:t>
            </a:r>
          </a:p>
        </p:txBody>
      </p:sp>
      <p:sp>
        <p:nvSpPr>
          <p:cNvPr id="29" name="TextBox 28"/>
          <p:cNvSpPr txBox="1"/>
          <p:nvPr/>
        </p:nvSpPr>
        <p:spPr>
          <a:xfrm>
            <a:off x="2724912" y="3273552"/>
            <a:ext cx="1645920" cy="228600"/>
          </a:xfrm>
          <a:prstGeom prst="rect">
            <a:avLst/>
          </a:prstGeom>
          <a:noFill/>
        </p:spPr>
        <p:txBody>
          <a:bodyPr wrap="square" lIns="0" tIns="0" rIns="0" bIns="0" anchor="t">
            <a:spAutoFit/>
          </a:bodyPr>
          <a:lstStyle/>
          <a:p>
            <a:pPr algn="l"/>
            <a:r>
              <a:rPr sz="1000" b="1" i="0">
                <a:solidFill>
                  <a:srgbClr val="00704A"/>
                </a:solidFill>
                <a:latin typeface="Calibri"/>
              </a:rPr>
              <a:t>A3 · C1 · 6 min</a:t>
            </a:r>
          </a:p>
        </p:txBody>
      </p:sp>
      <p:sp>
        <p:nvSpPr>
          <p:cNvPr id="30" name="Rounded Rectangle 29"/>
          <p:cNvSpPr/>
          <p:nvPr/>
        </p:nvSpPr>
        <p:spPr>
          <a:xfrm>
            <a:off x="4663440" y="1261872"/>
            <a:ext cx="1920240" cy="2331720"/>
          </a:xfrm>
          <a:prstGeom prst="roundRect">
            <a:avLst>
              <a:gd name="adj" fmla="val 6000"/>
            </a:avLst>
          </a:prstGeom>
          <a:solidFill>
            <a:srgbClr val="F4F7F5"/>
          </a:solidFill>
          <a:ln w="9525">
            <a:solidFill>
              <a:srgbClr val="D5DE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4828031" y="1353312"/>
            <a:ext cx="914400" cy="457200"/>
          </a:xfrm>
          <a:prstGeom prst="rect">
            <a:avLst/>
          </a:prstGeom>
          <a:noFill/>
        </p:spPr>
        <p:txBody>
          <a:bodyPr wrap="square" lIns="0" tIns="0" rIns="0" bIns="0" anchor="t">
            <a:spAutoFit/>
          </a:bodyPr>
          <a:lstStyle/>
          <a:p>
            <a:pPr algn="l"/>
            <a:r>
              <a:rPr sz="3000" b="1" i="0">
                <a:solidFill>
                  <a:srgbClr val="008A5B"/>
                </a:solidFill>
                <a:latin typeface="Calibri"/>
              </a:rPr>
              <a:t>03</a:t>
            </a:r>
          </a:p>
        </p:txBody>
      </p:sp>
      <p:sp>
        <p:nvSpPr>
          <p:cNvPr id="32" name="Oval 31"/>
          <p:cNvSpPr/>
          <p:nvPr/>
        </p:nvSpPr>
        <p:spPr>
          <a:xfrm>
            <a:off x="5925312" y="1389888"/>
            <a:ext cx="475488" cy="475488"/>
          </a:xfrm>
          <a:prstGeom prst="ellipse">
            <a:avLst/>
          </a:prstGeom>
          <a:solidFill>
            <a:srgbClr val="00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3" name="Picture 32" descr="scale_w.png"/>
          <p:cNvPicPr>
            <a:picLocks noChangeAspect="1"/>
          </p:cNvPicPr>
          <p:nvPr/>
        </p:nvPicPr>
        <p:blipFill>
          <a:blip r:embed="rId5"/>
          <a:stretch>
            <a:fillRect/>
          </a:stretch>
        </p:blipFill>
        <p:spPr>
          <a:xfrm>
            <a:off x="6044183" y="1508760"/>
            <a:ext cx="237744" cy="237744"/>
          </a:xfrm>
          <a:prstGeom prst="rect">
            <a:avLst/>
          </a:prstGeom>
        </p:spPr>
      </p:pic>
      <p:sp>
        <p:nvSpPr>
          <p:cNvPr id="34" name="TextBox 33"/>
          <p:cNvSpPr txBox="1"/>
          <p:nvPr/>
        </p:nvSpPr>
        <p:spPr>
          <a:xfrm>
            <a:off x="4828031" y="1938528"/>
            <a:ext cx="1645920" cy="566928"/>
          </a:xfrm>
          <a:prstGeom prst="rect">
            <a:avLst/>
          </a:prstGeom>
          <a:noFill/>
        </p:spPr>
        <p:txBody>
          <a:bodyPr wrap="square" lIns="0" tIns="0" rIns="0" bIns="0" anchor="t">
            <a:spAutoFit/>
          </a:bodyPr>
          <a:lstStyle/>
          <a:p>
            <a:pPr algn="l"/>
            <a:r>
              <a:rPr sz="1300" b="1" i="0">
                <a:solidFill>
                  <a:srgbClr val="231F20"/>
                </a:solidFill>
                <a:latin typeface="Calibri"/>
              </a:rPr>
              <a:t>Comparer les méthodes de recherche</a:t>
            </a:r>
          </a:p>
        </p:txBody>
      </p:sp>
      <p:sp>
        <p:nvSpPr>
          <p:cNvPr id="35" name="TextBox 34"/>
          <p:cNvSpPr txBox="1"/>
          <p:nvPr/>
        </p:nvSpPr>
        <p:spPr>
          <a:xfrm>
            <a:off x="4828031" y="2542032"/>
            <a:ext cx="1627632" cy="731520"/>
          </a:xfrm>
          <a:prstGeom prst="rect">
            <a:avLst/>
          </a:prstGeom>
          <a:noFill/>
        </p:spPr>
        <p:txBody>
          <a:bodyPr wrap="square" lIns="0" tIns="0" rIns="0" bIns="0" anchor="t">
            <a:spAutoFit/>
          </a:bodyPr>
          <a:lstStyle/>
          <a:p>
            <a:pPr algn="l"/>
            <a:r>
              <a:rPr sz="1050" b="0" i="0">
                <a:solidFill>
                  <a:srgbClr val="5E6964"/>
                </a:solidFill>
                <a:latin typeface="Calibri"/>
              </a:rPr>
              <a:t>Mots-clés, sens, hybride, reclassement ; cinq façons de découper.</a:t>
            </a:r>
          </a:p>
        </p:txBody>
      </p:sp>
      <p:sp>
        <p:nvSpPr>
          <p:cNvPr id="36" name="TextBox 35"/>
          <p:cNvSpPr txBox="1"/>
          <p:nvPr/>
        </p:nvSpPr>
        <p:spPr>
          <a:xfrm>
            <a:off x="4828031" y="3273552"/>
            <a:ext cx="1645920" cy="228600"/>
          </a:xfrm>
          <a:prstGeom prst="rect">
            <a:avLst/>
          </a:prstGeom>
          <a:noFill/>
        </p:spPr>
        <p:txBody>
          <a:bodyPr wrap="square" lIns="0" tIns="0" rIns="0" bIns="0" anchor="t">
            <a:spAutoFit/>
          </a:bodyPr>
          <a:lstStyle/>
          <a:p>
            <a:pPr algn="l"/>
            <a:r>
              <a:rPr sz="1000" b="1" i="0">
                <a:solidFill>
                  <a:srgbClr val="00704A"/>
                </a:solidFill>
                <a:latin typeface="Calibri"/>
              </a:rPr>
              <a:t>B3 · B4 · 5 min</a:t>
            </a:r>
          </a:p>
        </p:txBody>
      </p:sp>
      <p:sp>
        <p:nvSpPr>
          <p:cNvPr id="37" name="Rounded Rectangle 36"/>
          <p:cNvSpPr/>
          <p:nvPr/>
        </p:nvSpPr>
        <p:spPr>
          <a:xfrm>
            <a:off x="6766559" y="1261872"/>
            <a:ext cx="1920240" cy="2331720"/>
          </a:xfrm>
          <a:prstGeom prst="roundRect">
            <a:avLst>
              <a:gd name="adj" fmla="val 6000"/>
            </a:avLst>
          </a:prstGeom>
          <a:solidFill>
            <a:srgbClr val="F4F7F5"/>
          </a:solidFill>
          <a:ln w="9525">
            <a:solidFill>
              <a:srgbClr val="D5DE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6931151" y="1353312"/>
            <a:ext cx="914400" cy="457200"/>
          </a:xfrm>
          <a:prstGeom prst="rect">
            <a:avLst/>
          </a:prstGeom>
          <a:noFill/>
        </p:spPr>
        <p:txBody>
          <a:bodyPr wrap="square" lIns="0" tIns="0" rIns="0" bIns="0" anchor="t">
            <a:spAutoFit/>
          </a:bodyPr>
          <a:lstStyle/>
          <a:p>
            <a:pPr algn="l"/>
            <a:r>
              <a:rPr sz="3000" b="1" i="0">
                <a:solidFill>
                  <a:srgbClr val="00664A"/>
                </a:solidFill>
                <a:latin typeface="Calibri"/>
              </a:rPr>
              <a:t>04</a:t>
            </a:r>
          </a:p>
        </p:txBody>
      </p:sp>
      <p:sp>
        <p:nvSpPr>
          <p:cNvPr id="39" name="Oval 38"/>
          <p:cNvSpPr/>
          <p:nvPr/>
        </p:nvSpPr>
        <p:spPr>
          <a:xfrm>
            <a:off x="8028431" y="1389888"/>
            <a:ext cx="475488" cy="475488"/>
          </a:xfrm>
          <a:prstGeom prst="ellipse">
            <a:avLst/>
          </a:prstGeom>
          <a:solidFill>
            <a:srgbClr val="00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0" name="Picture 39" descr="diag_w.png"/>
          <p:cNvPicPr>
            <a:picLocks noChangeAspect="1"/>
          </p:cNvPicPr>
          <p:nvPr/>
        </p:nvPicPr>
        <p:blipFill>
          <a:blip r:embed="rId6"/>
          <a:stretch>
            <a:fillRect/>
          </a:stretch>
        </p:blipFill>
        <p:spPr>
          <a:xfrm>
            <a:off x="8147304" y="1508760"/>
            <a:ext cx="237744" cy="237744"/>
          </a:xfrm>
          <a:prstGeom prst="rect">
            <a:avLst/>
          </a:prstGeom>
        </p:spPr>
      </p:pic>
      <p:sp>
        <p:nvSpPr>
          <p:cNvPr id="41" name="TextBox 40"/>
          <p:cNvSpPr txBox="1"/>
          <p:nvPr/>
        </p:nvSpPr>
        <p:spPr>
          <a:xfrm>
            <a:off x="6931151" y="1938528"/>
            <a:ext cx="1645920" cy="566928"/>
          </a:xfrm>
          <a:prstGeom prst="rect">
            <a:avLst/>
          </a:prstGeom>
          <a:noFill/>
        </p:spPr>
        <p:txBody>
          <a:bodyPr wrap="square" lIns="0" tIns="0" rIns="0" bIns="0" anchor="t">
            <a:spAutoFit/>
          </a:bodyPr>
          <a:lstStyle/>
          <a:p>
            <a:pPr algn="l"/>
            <a:r>
              <a:rPr sz="1300" b="1" i="0">
                <a:solidFill>
                  <a:srgbClr val="231F20"/>
                </a:solidFill>
                <a:latin typeface="Calibri"/>
              </a:rPr>
              <a:t>Diagnostiquer erreurs et hors-champ</a:t>
            </a:r>
          </a:p>
        </p:txBody>
      </p:sp>
      <p:sp>
        <p:nvSpPr>
          <p:cNvPr id="42" name="TextBox 41"/>
          <p:cNvSpPr txBox="1"/>
          <p:nvPr/>
        </p:nvSpPr>
        <p:spPr>
          <a:xfrm>
            <a:off x="6931151" y="2542032"/>
            <a:ext cx="1627632" cy="731520"/>
          </a:xfrm>
          <a:prstGeom prst="rect">
            <a:avLst/>
          </a:prstGeom>
          <a:noFill/>
        </p:spPr>
        <p:txBody>
          <a:bodyPr wrap="square" lIns="0" tIns="0" rIns="0" bIns="0" anchor="t">
            <a:spAutoFit/>
          </a:bodyPr>
          <a:lstStyle/>
          <a:p>
            <a:pPr algn="l"/>
            <a:r>
              <a:rPr sz="1050" b="0" i="0">
                <a:solidFill>
                  <a:srgbClr val="5E6964"/>
                </a:solidFill>
                <a:latin typeface="Calibri"/>
              </a:rPr>
              <a:t>Seuil, refus, contrôle des chiffres, premier jeu de test.</a:t>
            </a:r>
          </a:p>
        </p:txBody>
      </p:sp>
      <p:sp>
        <p:nvSpPr>
          <p:cNvPr id="43" name="TextBox 42"/>
          <p:cNvSpPr txBox="1"/>
          <p:nvPr/>
        </p:nvSpPr>
        <p:spPr>
          <a:xfrm>
            <a:off x="6931151" y="3273552"/>
            <a:ext cx="1645920" cy="228600"/>
          </a:xfrm>
          <a:prstGeom prst="rect">
            <a:avLst/>
          </a:prstGeom>
          <a:noFill/>
        </p:spPr>
        <p:txBody>
          <a:bodyPr wrap="square" lIns="0" tIns="0" rIns="0" bIns="0" anchor="t">
            <a:spAutoFit/>
          </a:bodyPr>
          <a:lstStyle/>
          <a:p>
            <a:pPr algn="l"/>
            <a:r>
              <a:rPr sz="1000" b="1" i="0">
                <a:solidFill>
                  <a:srgbClr val="00704A"/>
                </a:solidFill>
                <a:latin typeface="Calibri"/>
              </a:rPr>
              <a:t>B5 · B8 · B9 · 5 min</a:t>
            </a:r>
          </a:p>
        </p:txBody>
      </p:sp>
      <p:sp>
        <p:nvSpPr>
          <p:cNvPr id="44" name="Rounded Rectangle 43"/>
          <p:cNvSpPr/>
          <p:nvPr/>
        </p:nvSpPr>
        <p:spPr>
          <a:xfrm>
            <a:off x="457200" y="3767328"/>
            <a:ext cx="1920240" cy="438912"/>
          </a:xfrm>
          <a:prstGeom prst="roundRect">
            <a:avLst>
              <a:gd name="adj" fmla="val 12000"/>
            </a:avLst>
          </a:prstGeom>
          <a:solidFill>
            <a:srgbClr val="0055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TextBox 44"/>
          <p:cNvSpPr txBox="1"/>
          <p:nvPr/>
        </p:nvSpPr>
        <p:spPr>
          <a:xfrm>
            <a:off x="530352" y="3767328"/>
            <a:ext cx="1773936" cy="438912"/>
          </a:xfrm>
          <a:prstGeom prst="rect">
            <a:avLst/>
          </a:prstGeom>
          <a:noFill/>
        </p:spPr>
        <p:txBody>
          <a:bodyPr wrap="square" lIns="0" tIns="0" rIns="0" bIns="0" anchor="ctr">
            <a:spAutoFit/>
          </a:bodyPr>
          <a:lstStyle/>
          <a:p>
            <a:pPr algn="ctr"/>
            <a:r>
              <a:rPr sz="1050" b="1" i="0">
                <a:solidFill>
                  <a:srgbClr val="FFFFFF"/>
                </a:solidFill>
                <a:latin typeface="Calibri"/>
              </a:rPr>
              <a:t>11 h 00 · Concepts · 7 min</a:t>
            </a:r>
          </a:p>
        </p:txBody>
      </p:sp>
      <p:sp>
        <p:nvSpPr>
          <p:cNvPr id="46" name="Rounded Rectangle 45"/>
          <p:cNvSpPr/>
          <p:nvPr/>
        </p:nvSpPr>
        <p:spPr>
          <a:xfrm>
            <a:off x="2377440" y="3767328"/>
            <a:ext cx="5760720" cy="438912"/>
          </a:xfrm>
          <a:prstGeom prst="roundRect">
            <a:avLst>
              <a:gd name="adj" fmla="val 12000"/>
            </a:avLst>
          </a:prstGeom>
          <a:solidFill>
            <a:srgbClr val="00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p:cNvSpPr txBox="1"/>
          <p:nvPr/>
        </p:nvSpPr>
        <p:spPr>
          <a:xfrm>
            <a:off x="2450592" y="3767328"/>
            <a:ext cx="5614416" cy="438912"/>
          </a:xfrm>
          <a:prstGeom prst="rect">
            <a:avLst/>
          </a:prstGeom>
          <a:noFill/>
        </p:spPr>
        <p:txBody>
          <a:bodyPr wrap="square" lIns="0" tIns="0" rIns="0" bIns="0" anchor="ctr">
            <a:spAutoFit/>
          </a:bodyPr>
          <a:lstStyle/>
          <a:p>
            <a:pPr algn="ctr"/>
            <a:r>
              <a:rPr sz="1050" b="1" i="0">
                <a:solidFill>
                  <a:srgbClr val="FFFFFF"/>
                </a:solidFill>
                <a:latin typeface="Calibri"/>
              </a:rPr>
              <a:t>11 h 07 · Pratique dans le notebook · 21 min</a:t>
            </a:r>
          </a:p>
        </p:txBody>
      </p:sp>
      <p:sp>
        <p:nvSpPr>
          <p:cNvPr id="48" name="Rounded Rectangle 47"/>
          <p:cNvSpPr/>
          <p:nvPr/>
        </p:nvSpPr>
        <p:spPr>
          <a:xfrm>
            <a:off x="8138160" y="3767328"/>
            <a:ext cx="548640" cy="438912"/>
          </a:xfrm>
          <a:prstGeom prst="roundRect">
            <a:avLst>
              <a:gd name="adj" fmla="val 12000"/>
            </a:avLst>
          </a:prstGeom>
          <a:solidFill>
            <a:srgbClr val="F5C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TextBox 48"/>
          <p:cNvSpPr txBox="1"/>
          <p:nvPr/>
        </p:nvSpPr>
        <p:spPr>
          <a:xfrm>
            <a:off x="8211312" y="3767328"/>
            <a:ext cx="402335" cy="438912"/>
          </a:xfrm>
          <a:prstGeom prst="rect">
            <a:avLst/>
          </a:prstGeom>
          <a:noFill/>
        </p:spPr>
        <p:txBody>
          <a:bodyPr wrap="square" lIns="0" tIns="0" rIns="0" bIns="0" anchor="ctr">
            <a:spAutoFit/>
          </a:bodyPr>
          <a:lstStyle/>
          <a:p>
            <a:pPr algn="ctr"/>
            <a:r>
              <a:rPr sz="1050" b="1" i="0">
                <a:solidFill>
                  <a:srgbClr val="231F20"/>
                </a:solidFill>
                <a:latin typeface="Calibri"/>
              </a:rPr>
              <a:t>2′</a:t>
            </a:r>
          </a:p>
        </p:txBody>
      </p:sp>
      <p:sp>
        <p:nvSpPr>
          <p:cNvPr id="50" name="TextBox 49"/>
          <p:cNvSpPr txBox="1"/>
          <p:nvPr/>
        </p:nvSpPr>
        <p:spPr>
          <a:xfrm>
            <a:off x="457200" y="4297680"/>
            <a:ext cx="8229600" cy="274320"/>
          </a:xfrm>
          <a:prstGeom prst="rect">
            <a:avLst/>
          </a:prstGeom>
          <a:noFill/>
        </p:spPr>
        <p:txBody>
          <a:bodyPr wrap="square" lIns="0" tIns="0" rIns="0" bIns="0" anchor="t">
            <a:spAutoFit/>
          </a:bodyPr>
          <a:lstStyle/>
          <a:p>
            <a:pPr algn="l"/>
            <a:r>
              <a:rPr sz="1000" b="0" i="1">
                <a:solidFill>
                  <a:srgbClr val="5E6964"/>
                </a:solidFill>
                <a:latin typeface="Calibri"/>
              </a:rPr>
              <a:t>Les diapositives portent les concepts ; le notebook fait le reste. Le parcours approfondi (90 min) est pour l'après-midi Project Canvas.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0704A"/>
                </a:solidFill>
                <a:latin typeface="Calibri" pitchFamily="34" charset="0"/>
                <a:ea typeface="Calibri" pitchFamily="34" charset="-122"/>
                <a:cs typeface="Calibri" pitchFamily="34" charset="-120"/>
              </a:rPr>
              <a:t>01 · FONDEMENTS</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Pourquoi un LLM seul ne suffit pas</a:t>
            </a:r>
            <a:endParaRPr lang="en-US" sz="2800" dirty="0"/>
          </a:p>
        </p:txBody>
      </p:sp>
      <p:sp>
        <p:nvSpPr>
          <p:cNvPr id="8" name="Shape 6"/>
          <p:cNvSpPr/>
          <p:nvPr/>
        </p:nvSpPr>
        <p:spPr>
          <a:xfrm>
            <a:off x="7790688" y="329184"/>
            <a:ext cx="100584" cy="100584"/>
          </a:xfrm>
          <a:prstGeom prst="ellipse">
            <a:avLst/>
          </a:prstGeom>
          <a:solidFill>
            <a:srgbClr val="00A86A"/>
          </a:solidFill>
          <a:ln w="12700">
            <a:solidFill>
              <a:srgbClr val="00A86A"/>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694944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ATI · Big Data pour les statistiques macroéconomiques · Maurice, 26–30 oct. 2026   |   BAD · Data Innovation for Africa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4</a:t>
            </a:r>
            <a:endParaRPr lang="en-US" sz="850" dirty="0"/>
          </a:p>
        </p:txBody>
      </p:sp>
      <p:sp>
        <p:nvSpPr>
          <p:cNvPr id="17" name="Shape 14"/>
          <p:cNvSpPr/>
          <p:nvPr/>
        </p:nvSpPr>
        <p:spPr>
          <a:xfrm>
            <a:off x="457200" y="1325880"/>
            <a:ext cx="2926080" cy="3291840"/>
          </a:xfrm>
          <a:prstGeom prst="roundRect">
            <a:avLst>
              <a:gd name="adj" fmla="val 2500"/>
            </a:avLst>
          </a:prstGeom>
          <a:solidFill>
            <a:srgbClr val="E8F5EF"/>
          </a:solidFill>
          <a:ln w="15875">
            <a:solidFill>
              <a:srgbClr val="00A86A"/>
            </a:solidFill>
            <a:prstDash val="solid"/>
          </a:ln>
        </p:spPr>
      </p:sp>
      <p:sp>
        <p:nvSpPr>
          <p:cNvPr id="18" name="Text 15"/>
          <p:cNvSpPr txBox="1"/>
          <p:nvPr/>
        </p:nvSpPr>
        <p:spPr>
          <a:xfrm>
            <a:off x="731520" y="1508760"/>
            <a:ext cx="2468880" cy="640080"/>
          </a:xfrm>
          <a:prstGeom prst="rect">
            <a:avLst/>
          </a:prstGeom>
          <a:noFill/>
          <a:ln/>
        </p:spPr>
        <p:txBody>
          <a:bodyPr wrap="square" lIns="0" tIns="0" rIns="0" bIns="0" rtlCol="0" anchor="ctr"/>
          <a:lstStyle/>
          <a:p>
            <a:pPr marL="0" indent="0">
              <a:buNone/>
            </a:pPr>
            <a:r>
              <a:rPr lang="en-US" sz="1800" b="1" dirty="0">
                <a:solidFill>
                  <a:srgbClr val="231F20"/>
                </a:solidFill>
                <a:latin typeface="Calibri" pitchFamily="34" charset="0"/>
                <a:ea typeface="Calibri" pitchFamily="34" charset="-122"/>
                <a:cs typeface="Calibri" pitchFamily="34" charset="-120"/>
              </a:rPr>
              <a:t>Un LLM raisonne brillamment…</a:t>
            </a:r>
            <a:endParaRPr lang="en-US" sz="1800" dirty="0"/>
          </a:p>
        </p:txBody>
      </p:sp>
      <p:sp>
        <p:nvSpPr>
          <p:cNvPr id="19" name="Text 16"/>
          <p:cNvSpPr txBox="1"/>
          <p:nvPr/>
        </p:nvSpPr>
        <p:spPr>
          <a:xfrm>
            <a:off x="731520" y="2194560"/>
            <a:ext cx="2468880" cy="868680"/>
          </a:xfrm>
          <a:prstGeom prst="rect">
            <a:avLst/>
          </a:prstGeom>
          <a:noFill/>
          <a:ln/>
        </p:spPr>
        <p:txBody>
          <a:bodyPr wrap="square" lIns="0" tIns="0" rIns="0" bIns="0" rtlCol="0" anchor="ctr"/>
          <a:lstStyle/>
          <a:p>
            <a:pPr marL="0" indent="0">
              <a:buNone/>
            </a:pPr>
            <a:r>
              <a:rPr lang="en-US" sz="1800" b="1" dirty="0">
                <a:solidFill>
                  <a:srgbClr val="00704A"/>
                </a:solidFill>
                <a:latin typeface="Calibri" pitchFamily="34" charset="0"/>
                <a:ea typeface="Calibri" pitchFamily="34" charset="-122"/>
                <a:cs typeface="Calibri" pitchFamily="34" charset="-120"/>
              </a:rPr>
              <a:t>…mais c'est une bibliothèque peu fiable.</a:t>
            </a:r>
            <a:endParaRPr lang="en-US" sz="1800" dirty="0"/>
          </a:p>
        </p:txBody>
      </p:sp>
      <p:sp>
        <p:nvSpPr>
          <p:cNvPr id="20" name="Text 17"/>
          <p:cNvSpPr txBox="1"/>
          <p:nvPr/>
        </p:nvSpPr>
        <p:spPr>
          <a:xfrm>
            <a:off x="731520" y="3246120"/>
            <a:ext cx="2423160" cy="1097280"/>
          </a:xfrm>
          <a:prstGeom prst="rect">
            <a:avLst/>
          </a:prstGeom>
          <a:noFill/>
          <a:ln/>
        </p:spPr>
        <p:txBody>
          <a:bodyPr wrap="square" lIns="0" tIns="0" rIns="0" bIns="0" rtlCol="0" anchor="ctr"/>
          <a:lstStyle/>
          <a:p>
            <a:pPr marL="0" indent="0">
              <a:buNone/>
            </a:pPr>
            <a:r>
              <a:rPr lang="en-US" sz="1250" dirty="0">
                <a:solidFill>
                  <a:srgbClr val="5E6964"/>
                </a:solidFill>
                <a:latin typeface="Calibri" pitchFamily="34" charset="0"/>
                <a:ea typeface="Calibri" pitchFamily="34" charset="-122"/>
                <a:cs typeface="Calibri" pitchFamily="34" charset="-120"/>
              </a:rPr>
              <a:t>Ses connaissances sont stockées implicitement dans ses poids (mémoire paramétrique) : figées, opaques et impossibles à citer.</a:t>
            </a:r>
            <a:endParaRPr lang="en-US" sz="1250" dirty="0"/>
          </a:p>
        </p:txBody>
      </p:sp>
      <p:sp>
        <p:nvSpPr>
          <p:cNvPr id="21" name="Shape 18"/>
          <p:cNvSpPr/>
          <p:nvPr/>
        </p:nvSpPr>
        <p:spPr>
          <a:xfrm>
            <a:off x="3657600" y="1325880"/>
            <a:ext cx="2377440" cy="1572768"/>
          </a:xfrm>
          <a:prstGeom prst="roundRect">
            <a:avLst>
              <a:gd name="adj" fmla="val 4651"/>
            </a:avLst>
          </a:prstGeom>
          <a:solidFill>
            <a:srgbClr val="F4F7F5"/>
          </a:solidFill>
          <a:ln w="9525">
            <a:solidFill>
              <a:srgbClr val="D5DED9"/>
            </a:solidFill>
            <a:prstDash val="solid"/>
          </a:ln>
        </p:spPr>
      </p:sp>
      <p:sp>
        <p:nvSpPr>
          <p:cNvPr id="22" name="Shape 19"/>
          <p:cNvSpPr/>
          <p:nvPr/>
        </p:nvSpPr>
        <p:spPr>
          <a:xfrm>
            <a:off x="3840480" y="1508760"/>
            <a:ext cx="457200" cy="457200"/>
          </a:xfrm>
          <a:prstGeom prst="ellipse">
            <a:avLst/>
          </a:prstGeom>
          <a:solidFill>
            <a:srgbClr val="B83B2E">
              <a:alpha val="22000"/>
            </a:srgbClr>
          </a:solidFill>
          <a:ln w="12700">
            <a:solidFill>
              <a:srgbClr val="B83B2E">
                <a:alpha val="0"/>
              </a:srgbClr>
            </a:solidFill>
            <a:prstDash val="solid"/>
          </a:ln>
        </p:spPr>
      </p:sp>
      <p:pic>
        <p:nvPicPr>
          <p:cNvPr id="23" name="Image 0" descr="preencoded.png"/>
          <p:cNvPicPr>
            <a:picLocks noChangeAspect="1"/>
          </p:cNvPicPr>
          <p:nvPr/>
        </p:nvPicPr>
        <p:blipFill>
          <a:blip r:embed="rId3"/>
          <a:stretch>
            <a:fillRect/>
          </a:stretch>
        </p:blipFill>
        <p:spPr>
          <a:xfrm>
            <a:off x="3950208" y="1618488"/>
            <a:ext cx="237744" cy="237744"/>
          </a:xfrm>
          <a:prstGeom prst="rect">
            <a:avLst/>
          </a:prstGeom>
        </p:spPr>
      </p:pic>
      <p:sp>
        <p:nvSpPr>
          <p:cNvPr id="24" name="Text 20"/>
          <p:cNvSpPr txBox="1"/>
          <p:nvPr/>
        </p:nvSpPr>
        <p:spPr>
          <a:xfrm>
            <a:off x="4434840" y="1581912"/>
            <a:ext cx="1508760" cy="320040"/>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Date de coupure</a:t>
            </a:r>
            <a:endParaRPr lang="en-US" sz="1400" dirty="0"/>
          </a:p>
        </p:txBody>
      </p:sp>
      <p:sp>
        <p:nvSpPr>
          <p:cNvPr id="25" name="Text 21"/>
          <p:cNvSpPr txBox="1"/>
          <p:nvPr/>
        </p:nvSpPr>
        <p:spPr>
          <a:xfrm>
            <a:off x="3840480" y="2103120"/>
            <a:ext cx="2057400" cy="731520"/>
          </a:xfrm>
          <a:prstGeom prst="rect">
            <a:avLst/>
          </a:prstGeom>
          <a:noFill/>
          <a:ln/>
        </p:spPr>
        <p:txBody>
          <a:bodyPr wrap="square" lIns="0" tIns="0" rIns="0" bIns="0" rtlCol="0" anchor="t"/>
          <a:lstStyle/>
          <a:p>
            <a:pPr marL="0" indent="0">
              <a:buNone/>
            </a:pPr>
            <a:r>
              <a:rPr lang="en-US" sz="1150" dirty="0">
                <a:solidFill>
                  <a:srgbClr val="5E6964"/>
                </a:solidFill>
                <a:latin typeface="Calibri" pitchFamily="34" charset="0"/>
                <a:ea typeface="Calibri" pitchFamily="34" charset="-122"/>
                <a:cs typeface="Calibri" pitchFamily="34" charset="-120"/>
              </a:rPr>
              <a:t>Tout ce qui s'est passé après l'entraînement est inconnu du modèle.</a:t>
            </a:r>
            <a:endParaRPr lang="en-US" sz="1150" dirty="0"/>
          </a:p>
        </p:txBody>
      </p:sp>
      <p:sp>
        <p:nvSpPr>
          <p:cNvPr id="26" name="Shape 22"/>
          <p:cNvSpPr/>
          <p:nvPr/>
        </p:nvSpPr>
        <p:spPr>
          <a:xfrm>
            <a:off x="6217920" y="1325880"/>
            <a:ext cx="2377440" cy="1572768"/>
          </a:xfrm>
          <a:prstGeom prst="roundRect">
            <a:avLst>
              <a:gd name="adj" fmla="val 4651"/>
            </a:avLst>
          </a:prstGeom>
          <a:solidFill>
            <a:srgbClr val="F4F7F5"/>
          </a:solidFill>
          <a:ln w="9525">
            <a:solidFill>
              <a:srgbClr val="D5DED9"/>
            </a:solidFill>
            <a:prstDash val="solid"/>
          </a:ln>
        </p:spPr>
      </p:sp>
      <p:sp>
        <p:nvSpPr>
          <p:cNvPr id="27" name="Shape 23"/>
          <p:cNvSpPr/>
          <p:nvPr/>
        </p:nvSpPr>
        <p:spPr>
          <a:xfrm>
            <a:off x="6400800" y="1508760"/>
            <a:ext cx="457200" cy="457200"/>
          </a:xfrm>
          <a:prstGeom prst="ellipse">
            <a:avLst/>
          </a:prstGeom>
          <a:solidFill>
            <a:srgbClr val="B83B2E">
              <a:alpha val="22000"/>
            </a:srgbClr>
          </a:solidFill>
          <a:ln w="12700">
            <a:solidFill>
              <a:srgbClr val="B83B2E">
                <a:alpha val="0"/>
              </a:srgbClr>
            </a:solidFill>
            <a:prstDash val="solid"/>
          </a:ln>
        </p:spPr>
      </p:sp>
      <p:pic>
        <p:nvPicPr>
          <p:cNvPr id="28" name="Image 1" descr="preencoded.png"/>
          <p:cNvPicPr>
            <a:picLocks noChangeAspect="1"/>
          </p:cNvPicPr>
          <p:nvPr/>
        </p:nvPicPr>
        <p:blipFill>
          <a:blip r:embed="rId4"/>
          <a:stretch>
            <a:fillRect/>
          </a:stretch>
        </p:blipFill>
        <p:spPr>
          <a:xfrm>
            <a:off x="6510528" y="1618488"/>
            <a:ext cx="237744" cy="237744"/>
          </a:xfrm>
          <a:prstGeom prst="rect">
            <a:avLst/>
          </a:prstGeom>
        </p:spPr>
      </p:pic>
      <p:sp>
        <p:nvSpPr>
          <p:cNvPr id="29" name="Text 24"/>
          <p:cNvSpPr txBox="1"/>
          <p:nvPr/>
        </p:nvSpPr>
        <p:spPr>
          <a:xfrm>
            <a:off x="6995160" y="1581912"/>
            <a:ext cx="1508760" cy="320040"/>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Hallucinations</a:t>
            </a:r>
            <a:endParaRPr lang="en-US" sz="1400" dirty="0"/>
          </a:p>
        </p:txBody>
      </p:sp>
      <p:sp>
        <p:nvSpPr>
          <p:cNvPr id="30" name="Text 25"/>
          <p:cNvSpPr txBox="1"/>
          <p:nvPr/>
        </p:nvSpPr>
        <p:spPr>
          <a:xfrm>
            <a:off x="6400800" y="2103120"/>
            <a:ext cx="2057400" cy="731520"/>
          </a:xfrm>
          <a:prstGeom prst="rect">
            <a:avLst/>
          </a:prstGeom>
          <a:noFill/>
          <a:ln/>
        </p:spPr>
        <p:txBody>
          <a:bodyPr wrap="square" lIns="0" tIns="0" rIns="0" bIns="0" rtlCol="0" anchor="t"/>
          <a:lstStyle/>
          <a:p>
            <a:pPr marL="0" indent="0">
              <a:buNone/>
            </a:pPr>
            <a:r>
              <a:rPr lang="en-US" sz="1150" dirty="0">
                <a:solidFill>
                  <a:srgbClr val="5E6964"/>
                </a:solidFill>
                <a:latin typeface="Calibri" pitchFamily="34" charset="0"/>
                <a:ea typeface="Calibri" pitchFamily="34" charset="-122"/>
                <a:cs typeface="Calibri" pitchFamily="34" charset="-120"/>
              </a:rPr>
              <a:t>Faute de connaissance, le modèle peut produire des réponses fluides mais infondées.</a:t>
            </a:r>
            <a:endParaRPr lang="en-US" sz="1150" dirty="0"/>
          </a:p>
        </p:txBody>
      </p:sp>
      <p:sp>
        <p:nvSpPr>
          <p:cNvPr id="31" name="Shape 26"/>
          <p:cNvSpPr/>
          <p:nvPr/>
        </p:nvSpPr>
        <p:spPr>
          <a:xfrm>
            <a:off x="3657600" y="3017520"/>
            <a:ext cx="2377440" cy="1572768"/>
          </a:xfrm>
          <a:prstGeom prst="roundRect">
            <a:avLst>
              <a:gd name="adj" fmla="val 4651"/>
            </a:avLst>
          </a:prstGeom>
          <a:solidFill>
            <a:srgbClr val="F4F7F5"/>
          </a:solidFill>
          <a:ln w="9525">
            <a:solidFill>
              <a:srgbClr val="D5DED9"/>
            </a:solidFill>
            <a:prstDash val="solid"/>
          </a:ln>
        </p:spPr>
      </p:sp>
      <p:sp>
        <p:nvSpPr>
          <p:cNvPr id="32" name="Shape 27"/>
          <p:cNvSpPr/>
          <p:nvPr/>
        </p:nvSpPr>
        <p:spPr>
          <a:xfrm>
            <a:off x="3840480" y="3200400"/>
            <a:ext cx="457200" cy="457200"/>
          </a:xfrm>
          <a:prstGeom prst="ellipse">
            <a:avLst/>
          </a:prstGeom>
          <a:solidFill>
            <a:srgbClr val="B83B2E">
              <a:alpha val="22000"/>
            </a:srgbClr>
          </a:solidFill>
          <a:ln w="12700">
            <a:solidFill>
              <a:srgbClr val="B83B2E">
                <a:alpha val="0"/>
              </a:srgbClr>
            </a:solidFill>
            <a:prstDash val="solid"/>
          </a:ln>
        </p:spPr>
      </p:sp>
      <p:pic>
        <p:nvPicPr>
          <p:cNvPr id="33" name="Image 2" descr="preencoded.png"/>
          <p:cNvPicPr>
            <a:picLocks noChangeAspect="1"/>
          </p:cNvPicPr>
          <p:nvPr/>
        </p:nvPicPr>
        <p:blipFill>
          <a:blip r:embed="rId5"/>
          <a:stretch>
            <a:fillRect/>
          </a:stretch>
        </p:blipFill>
        <p:spPr>
          <a:xfrm>
            <a:off x="3950208" y="3310128"/>
            <a:ext cx="237744" cy="237744"/>
          </a:xfrm>
          <a:prstGeom prst="rect">
            <a:avLst/>
          </a:prstGeom>
        </p:spPr>
      </p:pic>
      <p:sp>
        <p:nvSpPr>
          <p:cNvPr id="34" name="Text 28"/>
          <p:cNvSpPr txBox="1"/>
          <p:nvPr/>
        </p:nvSpPr>
        <p:spPr>
          <a:xfrm>
            <a:off x="4434840" y="3273552"/>
            <a:ext cx="1508760" cy="320040"/>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Aucune donnée privée</a:t>
            </a:r>
            <a:endParaRPr lang="en-US" sz="1400" dirty="0"/>
          </a:p>
        </p:txBody>
      </p:sp>
      <p:sp>
        <p:nvSpPr>
          <p:cNvPr id="35" name="Text 29"/>
          <p:cNvSpPr txBox="1"/>
          <p:nvPr/>
        </p:nvSpPr>
        <p:spPr>
          <a:xfrm>
            <a:off x="3840480" y="3794760"/>
            <a:ext cx="2057400" cy="731520"/>
          </a:xfrm>
          <a:prstGeom prst="rect">
            <a:avLst/>
          </a:prstGeom>
          <a:noFill/>
          <a:ln/>
        </p:spPr>
        <p:txBody>
          <a:bodyPr wrap="square" lIns="0" tIns="0" rIns="0" bIns="0" rtlCol="0" anchor="t"/>
          <a:lstStyle/>
          <a:p>
            <a:pPr marL="0" indent="0">
              <a:buNone/>
            </a:pPr>
            <a:r>
              <a:rPr lang="en-US" sz="1150" dirty="0">
                <a:solidFill>
                  <a:srgbClr val="5E6964"/>
                </a:solidFill>
                <a:latin typeface="Calibri" pitchFamily="34" charset="0"/>
                <a:ea typeface="Calibri" pitchFamily="34" charset="-122"/>
                <a:cs typeface="Calibri" pitchFamily="34" charset="-120"/>
              </a:rPr>
              <a:t>Documents internes, wikis, tickets et bases de données n'ont jamais servi à l'entraînement.</a:t>
            </a:r>
            <a:endParaRPr lang="en-US" sz="1150" dirty="0"/>
          </a:p>
        </p:txBody>
      </p:sp>
      <p:sp>
        <p:nvSpPr>
          <p:cNvPr id="36" name="Shape 30"/>
          <p:cNvSpPr/>
          <p:nvPr/>
        </p:nvSpPr>
        <p:spPr>
          <a:xfrm>
            <a:off x="6217920" y="3017520"/>
            <a:ext cx="2377440" cy="1572768"/>
          </a:xfrm>
          <a:prstGeom prst="roundRect">
            <a:avLst>
              <a:gd name="adj" fmla="val 4651"/>
            </a:avLst>
          </a:prstGeom>
          <a:solidFill>
            <a:srgbClr val="F4F7F5"/>
          </a:solidFill>
          <a:ln w="9525">
            <a:solidFill>
              <a:srgbClr val="D5DED9"/>
            </a:solidFill>
            <a:prstDash val="solid"/>
          </a:ln>
        </p:spPr>
      </p:sp>
      <p:sp>
        <p:nvSpPr>
          <p:cNvPr id="37" name="Shape 31"/>
          <p:cNvSpPr/>
          <p:nvPr/>
        </p:nvSpPr>
        <p:spPr>
          <a:xfrm>
            <a:off x="6400800" y="3200400"/>
            <a:ext cx="457200" cy="457200"/>
          </a:xfrm>
          <a:prstGeom prst="ellipse">
            <a:avLst/>
          </a:prstGeom>
          <a:solidFill>
            <a:srgbClr val="B83B2E">
              <a:alpha val="22000"/>
            </a:srgbClr>
          </a:solidFill>
          <a:ln w="12700">
            <a:solidFill>
              <a:srgbClr val="B83B2E">
                <a:alpha val="0"/>
              </a:srgbClr>
            </a:solidFill>
            <a:prstDash val="solid"/>
          </a:ln>
        </p:spPr>
      </p:sp>
      <p:pic>
        <p:nvPicPr>
          <p:cNvPr id="38" name="Image 3" descr="preencoded.png"/>
          <p:cNvPicPr>
            <a:picLocks noChangeAspect="1"/>
          </p:cNvPicPr>
          <p:nvPr/>
        </p:nvPicPr>
        <p:blipFill>
          <a:blip r:embed="rId6"/>
          <a:stretch>
            <a:fillRect/>
          </a:stretch>
        </p:blipFill>
        <p:spPr>
          <a:xfrm>
            <a:off x="6510528" y="3310128"/>
            <a:ext cx="237744" cy="237744"/>
          </a:xfrm>
          <a:prstGeom prst="rect">
            <a:avLst/>
          </a:prstGeom>
        </p:spPr>
      </p:pic>
      <p:sp>
        <p:nvSpPr>
          <p:cNvPr id="39" name="Text 32"/>
          <p:cNvSpPr txBox="1"/>
          <p:nvPr/>
        </p:nvSpPr>
        <p:spPr>
          <a:xfrm>
            <a:off x="6995160" y="3273552"/>
            <a:ext cx="1508760" cy="320040"/>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Aucune traçabilité</a:t>
            </a:r>
            <a:endParaRPr lang="en-US" sz="1400" dirty="0"/>
          </a:p>
        </p:txBody>
      </p:sp>
      <p:sp>
        <p:nvSpPr>
          <p:cNvPr id="40" name="Text 33"/>
          <p:cNvSpPr txBox="1"/>
          <p:nvPr/>
        </p:nvSpPr>
        <p:spPr>
          <a:xfrm>
            <a:off x="6400800" y="3794760"/>
            <a:ext cx="2057400" cy="731520"/>
          </a:xfrm>
          <a:prstGeom prst="rect">
            <a:avLst/>
          </a:prstGeom>
          <a:noFill/>
          <a:ln/>
        </p:spPr>
        <p:txBody>
          <a:bodyPr wrap="square" lIns="0" tIns="0" rIns="0" bIns="0" rtlCol="0" anchor="t"/>
          <a:lstStyle/>
          <a:p>
            <a:pPr marL="0" indent="0">
              <a:buNone/>
            </a:pPr>
            <a:r>
              <a:rPr lang="en-US" sz="1150" dirty="0">
                <a:solidFill>
                  <a:srgbClr val="5E6964"/>
                </a:solidFill>
                <a:latin typeface="Calibri" pitchFamily="34" charset="0"/>
                <a:ea typeface="Calibri" pitchFamily="34" charset="-122"/>
                <a:cs typeface="Calibri" pitchFamily="34" charset="-120"/>
              </a:rPr>
              <a:t>Les réponses n'ont pas de sources : impossible de les vérifier.</a:t>
            </a:r>
            <a:endParaRPr lang="en-US" sz="115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0704A"/>
                </a:solidFill>
                <a:latin typeface="Calibri" pitchFamily="34" charset="0"/>
                <a:ea typeface="Calibri" pitchFamily="34" charset="-122"/>
                <a:cs typeface="Calibri" pitchFamily="34" charset="-120"/>
              </a:rPr>
              <a:t>01 · FONDEMENTS</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Qu'est-ce que la génération augmentée (RAG) ?</a:t>
            </a:r>
            <a:endParaRPr lang="en-US" sz="2800" dirty="0"/>
          </a:p>
        </p:txBody>
      </p:sp>
      <p:sp>
        <p:nvSpPr>
          <p:cNvPr id="8" name="Shape 6"/>
          <p:cNvSpPr/>
          <p:nvPr/>
        </p:nvSpPr>
        <p:spPr>
          <a:xfrm>
            <a:off x="7790688" y="329184"/>
            <a:ext cx="100584" cy="100584"/>
          </a:xfrm>
          <a:prstGeom prst="ellipse">
            <a:avLst/>
          </a:prstGeom>
          <a:solidFill>
            <a:srgbClr val="00A86A"/>
          </a:solidFill>
          <a:ln w="12700">
            <a:solidFill>
              <a:srgbClr val="00A86A"/>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694944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ATI · Big Data pour les statistiques macroéconomiques · Maurice, 26–30 oct. 2026   |   BAD · Data Innovation for Africa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5</a:t>
            </a:r>
            <a:endParaRPr lang="en-US" sz="850" dirty="0"/>
          </a:p>
        </p:txBody>
      </p:sp>
      <p:sp>
        <p:nvSpPr>
          <p:cNvPr id="17" name="Shape 14"/>
          <p:cNvSpPr/>
          <p:nvPr/>
        </p:nvSpPr>
        <p:spPr>
          <a:xfrm>
            <a:off x="457200" y="1325880"/>
            <a:ext cx="8229600" cy="914400"/>
          </a:xfrm>
          <a:prstGeom prst="roundRect">
            <a:avLst>
              <a:gd name="adj" fmla="val 8000"/>
            </a:avLst>
          </a:prstGeom>
          <a:solidFill>
            <a:srgbClr val="E8F5EF"/>
          </a:solidFill>
          <a:ln w="15875">
            <a:solidFill>
              <a:srgbClr val="00A86A"/>
            </a:solidFill>
            <a:prstDash val="solid"/>
          </a:ln>
        </p:spPr>
      </p:sp>
      <p:sp>
        <p:nvSpPr>
          <p:cNvPr id="18" name="Text 15"/>
          <p:cNvSpPr txBox="1"/>
          <p:nvPr/>
        </p:nvSpPr>
        <p:spPr>
          <a:xfrm>
            <a:off x="731520" y="1371600"/>
            <a:ext cx="7680960" cy="822960"/>
          </a:xfrm>
          <a:prstGeom prst="rect">
            <a:avLst/>
          </a:prstGeom>
          <a:noFill/>
          <a:ln/>
        </p:spPr>
        <p:txBody>
          <a:bodyPr wrap="square" lIns="0" tIns="0" rIns="0" bIns="0" rtlCol="0" anchor="ctr"/>
          <a:lstStyle/>
          <a:p>
            <a:pPr marL="0" indent="0">
              <a:buNone/>
            </a:pPr>
            <a:r>
              <a:rPr lang="en-US" sz="1500" b="1" dirty="0">
                <a:solidFill>
                  <a:srgbClr val="00704A"/>
                </a:solidFill>
                <a:latin typeface="Calibri" pitchFamily="34" charset="0"/>
                <a:ea typeface="Calibri" pitchFamily="34" charset="-122"/>
                <a:cs typeface="Calibri" pitchFamily="34" charset="-120"/>
              </a:rPr>
              <a:t>RAG </a:t>
            </a:r>
            <a:r>
              <a:rPr lang="en-US" sz="1500" dirty="0">
                <a:solidFill>
                  <a:srgbClr val="231F20"/>
                </a:solidFill>
                <a:latin typeface="Calibri" pitchFamily="34" charset="0"/>
                <a:ea typeface="Calibri" pitchFamily="34" charset="-122"/>
                <a:cs typeface="Calibri" pitchFamily="34" charset="-120"/>
              </a:rPr>
              <a:t>récupère, au moment de la question, les passages pertinents d'une source de connaissances externe et les insère dans le prompt : le LLM génère alors une réponse </a:t>
            </a:r>
            <a:r>
              <a:rPr lang="en-US" sz="1500" b="1" dirty="0">
                <a:solidFill>
                  <a:srgbClr val="231F20"/>
                </a:solidFill>
                <a:latin typeface="Calibri" pitchFamily="34" charset="0"/>
                <a:ea typeface="Calibri" pitchFamily="34" charset="-122"/>
                <a:cs typeface="Calibri" pitchFamily="34" charset="-120"/>
              </a:rPr>
              <a:t>fondée sur ces éléments.</a:t>
            </a:r>
            <a:endParaRPr lang="en-US" sz="1500" dirty="0"/>
          </a:p>
        </p:txBody>
      </p:sp>
      <p:sp>
        <p:nvSpPr>
          <p:cNvPr id="19" name="Shape 16"/>
          <p:cNvSpPr/>
          <p:nvPr/>
        </p:nvSpPr>
        <p:spPr>
          <a:xfrm>
            <a:off x="457200" y="2423160"/>
            <a:ext cx="2651760" cy="2240280"/>
          </a:xfrm>
          <a:prstGeom prst="roundRect">
            <a:avLst>
              <a:gd name="adj" fmla="val 3265"/>
            </a:avLst>
          </a:prstGeom>
          <a:solidFill>
            <a:srgbClr val="F4F7F5"/>
          </a:solidFill>
          <a:ln w="9525">
            <a:solidFill>
              <a:srgbClr val="D5DED9"/>
            </a:solidFill>
            <a:prstDash val="solid"/>
          </a:ln>
        </p:spPr>
      </p:sp>
      <p:sp>
        <p:nvSpPr>
          <p:cNvPr id="20" name="Shape 17"/>
          <p:cNvSpPr/>
          <p:nvPr/>
        </p:nvSpPr>
        <p:spPr>
          <a:xfrm>
            <a:off x="685800" y="2606040"/>
            <a:ext cx="548640" cy="548640"/>
          </a:xfrm>
          <a:prstGeom prst="ellipse">
            <a:avLst/>
          </a:prstGeom>
          <a:solidFill>
            <a:srgbClr val="B83B2E">
              <a:alpha val="22000"/>
            </a:srgbClr>
          </a:solidFill>
          <a:ln w="12700">
            <a:solidFill>
              <a:srgbClr val="B83B2E">
                <a:alpha val="0"/>
              </a:srgbClr>
            </a:solidFill>
            <a:prstDash val="solid"/>
          </a:ln>
        </p:spPr>
      </p:sp>
      <p:pic>
        <p:nvPicPr>
          <p:cNvPr id="21" name="Image 0" descr="preencoded.png"/>
          <p:cNvPicPr>
            <a:picLocks noChangeAspect="1"/>
          </p:cNvPicPr>
          <p:nvPr/>
        </p:nvPicPr>
        <p:blipFill>
          <a:blip r:embed="rId3"/>
          <a:stretch>
            <a:fillRect/>
          </a:stretch>
        </p:blipFill>
        <p:spPr>
          <a:xfrm>
            <a:off x="817474" y="2737714"/>
            <a:ext cx="285293" cy="285293"/>
          </a:xfrm>
          <a:prstGeom prst="rect">
            <a:avLst/>
          </a:prstGeom>
        </p:spPr>
      </p:pic>
      <p:sp>
        <p:nvSpPr>
          <p:cNvPr id="22" name="Text 18"/>
          <p:cNvSpPr txBox="1"/>
          <p:nvPr/>
        </p:nvSpPr>
        <p:spPr>
          <a:xfrm>
            <a:off x="1371600" y="2633472"/>
            <a:ext cx="1691640" cy="274320"/>
          </a:xfrm>
          <a:prstGeom prst="rect">
            <a:avLst/>
          </a:prstGeom>
          <a:noFill/>
          <a:ln/>
        </p:spPr>
        <p:txBody>
          <a:bodyPr wrap="square" lIns="0" tIns="0" rIns="0" bIns="0" rtlCol="0" anchor="ctr"/>
          <a:lstStyle/>
          <a:p>
            <a:pPr marL="0" indent="0">
              <a:buNone/>
            </a:pPr>
            <a:r>
              <a:rPr lang="en-US" sz="1250" b="1" dirty="0">
                <a:solidFill>
                  <a:srgbClr val="231F20"/>
                </a:solidFill>
                <a:latin typeface="Calibri" pitchFamily="34" charset="0"/>
                <a:ea typeface="Calibri" pitchFamily="34" charset="-122"/>
                <a:cs typeface="Calibri" pitchFamily="34" charset="-120"/>
              </a:rPr>
              <a:t>Examen à livre fermé</a:t>
            </a:r>
            <a:endParaRPr lang="en-US" sz="1250" dirty="0"/>
          </a:p>
        </p:txBody>
      </p:sp>
      <p:sp>
        <p:nvSpPr>
          <p:cNvPr id="23" name="Text 19"/>
          <p:cNvSpPr txBox="1"/>
          <p:nvPr/>
        </p:nvSpPr>
        <p:spPr>
          <a:xfrm>
            <a:off x="1371600" y="2907792"/>
            <a:ext cx="1645920" cy="228600"/>
          </a:xfrm>
          <a:prstGeom prst="rect">
            <a:avLst/>
          </a:prstGeom>
          <a:noFill/>
          <a:ln/>
        </p:spPr>
        <p:txBody>
          <a:bodyPr wrap="square" lIns="0" tIns="0" rIns="0" bIns="0" rtlCol="0" anchor="ctr"/>
          <a:lstStyle/>
          <a:p>
            <a:pPr marL="0" indent="0">
              <a:buNone/>
            </a:pPr>
            <a:r>
              <a:rPr lang="en-US" sz="1100" b="1" dirty="0">
                <a:solidFill>
                  <a:srgbClr val="B83B2E"/>
                </a:solidFill>
                <a:latin typeface="Calibri" pitchFamily="34" charset="0"/>
                <a:ea typeface="Calibri" pitchFamily="34" charset="-122"/>
                <a:cs typeface="Calibri" pitchFamily="34" charset="-120"/>
              </a:rPr>
              <a:t>LLM seul</a:t>
            </a:r>
            <a:endParaRPr lang="en-US" sz="1100" dirty="0"/>
          </a:p>
        </p:txBody>
      </p:sp>
      <p:sp>
        <p:nvSpPr>
          <p:cNvPr id="24" name="Text 20"/>
          <p:cNvSpPr txBox="1"/>
          <p:nvPr/>
        </p:nvSpPr>
        <p:spPr>
          <a:xfrm>
            <a:off x="685800" y="3383280"/>
            <a:ext cx="2240280" cy="731520"/>
          </a:xfrm>
          <a:prstGeom prst="rect">
            <a:avLst/>
          </a:prstGeom>
          <a:noFill/>
          <a:ln/>
        </p:spPr>
        <p:txBody>
          <a:bodyPr wrap="square" lIns="0" tIns="0" rIns="0" bIns="0" rtlCol="0" anchor="t"/>
          <a:lstStyle/>
          <a:p>
            <a:pPr marL="0" indent="0">
              <a:buNone/>
            </a:pPr>
            <a:r>
              <a:rPr lang="en-US" sz="1250" dirty="0">
                <a:solidFill>
                  <a:srgbClr val="5E6964"/>
                </a:solidFill>
                <a:latin typeface="Calibri" pitchFamily="34" charset="0"/>
                <a:ea typeface="Calibri" pitchFamily="34" charset="-122"/>
                <a:cs typeface="Calibri" pitchFamily="34" charset="-120"/>
              </a:rPr>
              <a:t>Répond de mémoire uniquement (poids du modèle). Peut être dépassé ou inventé.</a:t>
            </a:r>
            <a:endParaRPr lang="en-US" sz="1250" dirty="0"/>
          </a:p>
        </p:txBody>
      </p:sp>
      <p:sp>
        <p:nvSpPr>
          <p:cNvPr id="25" name="Shape 21"/>
          <p:cNvSpPr/>
          <p:nvPr/>
        </p:nvSpPr>
        <p:spPr>
          <a:xfrm>
            <a:off x="685800" y="4160520"/>
            <a:ext cx="2194560" cy="310896"/>
          </a:xfrm>
          <a:prstGeom prst="roundRect">
            <a:avLst>
              <a:gd name="adj" fmla="val 50000"/>
            </a:avLst>
          </a:prstGeom>
          <a:solidFill>
            <a:srgbClr val="B83B2E">
              <a:alpha val="15000"/>
            </a:srgbClr>
          </a:solidFill>
          <a:ln w="9525">
            <a:solidFill>
              <a:srgbClr val="B83B2E"/>
            </a:solidFill>
            <a:prstDash val="solid"/>
          </a:ln>
        </p:spPr>
      </p:sp>
      <p:sp>
        <p:nvSpPr>
          <p:cNvPr id="26" name="Text 22"/>
          <p:cNvSpPr txBox="1"/>
          <p:nvPr/>
        </p:nvSpPr>
        <p:spPr>
          <a:xfrm>
            <a:off x="685800" y="4160520"/>
            <a:ext cx="2194560" cy="310896"/>
          </a:xfrm>
          <a:prstGeom prst="rect">
            <a:avLst/>
          </a:prstGeom>
          <a:noFill/>
          <a:ln/>
        </p:spPr>
        <p:txBody>
          <a:bodyPr wrap="square" lIns="0" tIns="0" rIns="0" bIns="0" rtlCol="0" anchor="ctr"/>
          <a:lstStyle/>
          <a:p>
            <a:pPr marL="0" indent="0" algn="ctr">
              <a:buNone/>
            </a:pPr>
            <a:r>
              <a:rPr lang="en-US" sz="1000" b="1" dirty="0">
                <a:solidFill>
                  <a:srgbClr val="B83B2E"/>
                </a:solidFill>
                <a:latin typeface="Calibri" pitchFamily="34" charset="0"/>
                <a:ea typeface="Calibri" pitchFamily="34" charset="-122"/>
                <a:cs typeface="Calibri" pitchFamily="34" charset="-120"/>
              </a:rPr>
              <a:t>Mémoire paramétrique seule</a:t>
            </a:r>
            <a:endParaRPr lang="en-US" sz="1000" dirty="0"/>
          </a:p>
        </p:txBody>
      </p:sp>
      <p:sp>
        <p:nvSpPr>
          <p:cNvPr id="27" name="Shape 23"/>
          <p:cNvSpPr/>
          <p:nvPr/>
        </p:nvSpPr>
        <p:spPr>
          <a:xfrm>
            <a:off x="3291840" y="2423160"/>
            <a:ext cx="2651760" cy="2240280"/>
          </a:xfrm>
          <a:prstGeom prst="roundRect">
            <a:avLst>
              <a:gd name="adj" fmla="val 3265"/>
            </a:avLst>
          </a:prstGeom>
          <a:solidFill>
            <a:srgbClr val="E8F5EF"/>
          </a:solidFill>
          <a:ln w="15875">
            <a:solidFill>
              <a:srgbClr val="00A86A"/>
            </a:solidFill>
            <a:prstDash val="solid"/>
          </a:ln>
        </p:spPr>
      </p:sp>
      <p:sp>
        <p:nvSpPr>
          <p:cNvPr id="28" name="Shape 24"/>
          <p:cNvSpPr/>
          <p:nvPr/>
        </p:nvSpPr>
        <p:spPr>
          <a:xfrm>
            <a:off x="3520440" y="2606040"/>
            <a:ext cx="548640" cy="548640"/>
          </a:xfrm>
          <a:prstGeom prst="ellipse">
            <a:avLst/>
          </a:prstGeom>
          <a:solidFill>
            <a:srgbClr val="00A86A">
              <a:alpha val="22000"/>
            </a:srgbClr>
          </a:solidFill>
          <a:ln w="12700">
            <a:solidFill>
              <a:srgbClr val="00A86A">
                <a:alpha val="0"/>
              </a:srgbClr>
            </a:solidFill>
            <a:prstDash val="solid"/>
          </a:ln>
        </p:spPr>
      </p:sp>
      <p:pic>
        <p:nvPicPr>
          <p:cNvPr id="29" name="Image 1" descr="preencoded.png"/>
          <p:cNvPicPr>
            <a:picLocks noChangeAspect="1"/>
          </p:cNvPicPr>
          <p:nvPr/>
        </p:nvPicPr>
        <p:blipFill>
          <a:blip r:embed="rId4"/>
          <a:stretch>
            <a:fillRect/>
          </a:stretch>
        </p:blipFill>
        <p:spPr>
          <a:xfrm>
            <a:off x="3652114" y="2737714"/>
            <a:ext cx="285293" cy="285293"/>
          </a:xfrm>
          <a:prstGeom prst="rect">
            <a:avLst/>
          </a:prstGeom>
        </p:spPr>
      </p:pic>
      <p:sp>
        <p:nvSpPr>
          <p:cNvPr id="30" name="Text 25"/>
          <p:cNvSpPr txBox="1"/>
          <p:nvPr/>
        </p:nvSpPr>
        <p:spPr>
          <a:xfrm>
            <a:off x="4206240" y="2633472"/>
            <a:ext cx="1691640" cy="274320"/>
          </a:xfrm>
          <a:prstGeom prst="rect">
            <a:avLst/>
          </a:prstGeom>
          <a:noFill/>
          <a:ln/>
        </p:spPr>
        <p:txBody>
          <a:bodyPr wrap="square" lIns="0" tIns="0" rIns="0" bIns="0" rtlCol="0" anchor="ctr"/>
          <a:lstStyle/>
          <a:p>
            <a:pPr marL="0" indent="0">
              <a:buNone/>
            </a:pPr>
            <a:r>
              <a:rPr lang="en-US" sz="1250" b="1" dirty="0">
                <a:solidFill>
                  <a:srgbClr val="231F20"/>
                </a:solidFill>
                <a:latin typeface="Calibri" pitchFamily="34" charset="0"/>
                <a:ea typeface="Calibri" pitchFamily="34" charset="-122"/>
                <a:cs typeface="Calibri" pitchFamily="34" charset="-120"/>
              </a:rPr>
              <a:t>Examen à livre ouvert</a:t>
            </a:r>
            <a:endParaRPr lang="en-US" sz="1250" dirty="0"/>
          </a:p>
        </p:txBody>
      </p:sp>
      <p:sp>
        <p:nvSpPr>
          <p:cNvPr id="31" name="Text 26"/>
          <p:cNvSpPr txBox="1"/>
          <p:nvPr/>
        </p:nvSpPr>
        <p:spPr>
          <a:xfrm>
            <a:off x="4206240" y="2907792"/>
            <a:ext cx="1645920" cy="228600"/>
          </a:xfrm>
          <a:prstGeom prst="rect">
            <a:avLst/>
          </a:prstGeom>
          <a:noFill/>
          <a:ln/>
        </p:spPr>
        <p:txBody>
          <a:bodyPr wrap="square" lIns="0" tIns="0" rIns="0" bIns="0" rtlCol="0" anchor="ctr"/>
          <a:lstStyle/>
          <a:p>
            <a:pPr marL="0" indent="0">
              <a:buNone/>
            </a:pPr>
            <a:r>
              <a:rPr lang="en-US" sz="1100" b="1" dirty="0">
                <a:solidFill>
                  <a:srgbClr val="00A86A"/>
                </a:solidFill>
                <a:latin typeface="Calibri" pitchFamily="34" charset="0"/>
                <a:ea typeface="Calibri" pitchFamily="34" charset="-122"/>
                <a:cs typeface="Calibri" pitchFamily="34" charset="-120"/>
              </a:rPr>
              <a:t>LLM + RAG</a:t>
            </a:r>
            <a:endParaRPr lang="en-US" sz="1100" dirty="0"/>
          </a:p>
        </p:txBody>
      </p:sp>
      <p:sp>
        <p:nvSpPr>
          <p:cNvPr id="32" name="Text 27"/>
          <p:cNvSpPr txBox="1"/>
          <p:nvPr/>
        </p:nvSpPr>
        <p:spPr>
          <a:xfrm>
            <a:off x="3520440" y="3383280"/>
            <a:ext cx="2240280" cy="731520"/>
          </a:xfrm>
          <a:prstGeom prst="rect">
            <a:avLst/>
          </a:prstGeom>
          <a:noFill/>
          <a:ln/>
        </p:spPr>
        <p:txBody>
          <a:bodyPr wrap="square" lIns="0" tIns="0" rIns="0" bIns="0" rtlCol="0" anchor="t"/>
          <a:lstStyle/>
          <a:p>
            <a:pPr marL="0" indent="0">
              <a:buNone/>
            </a:pPr>
            <a:r>
              <a:rPr lang="en-US" sz="1250" dirty="0">
                <a:solidFill>
                  <a:srgbClr val="5E6964"/>
                </a:solidFill>
                <a:latin typeface="Calibri" pitchFamily="34" charset="0"/>
                <a:ea typeface="Calibri" pitchFamily="34" charset="-122"/>
                <a:cs typeface="Calibri" pitchFamily="34" charset="-120"/>
              </a:rPr>
              <a:t>Consulte d'abord les bonnes pages, puis répond — et peut les citer.</a:t>
            </a:r>
            <a:endParaRPr lang="en-US" sz="1250" dirty="0"/>
          </a:p>
        </p:txBody>
      </p:sp>
      <p:sp>
        <p:nvSpPr>
          <p:cNvPr id="33" name="Shape 28"/>
          <p:cNvSpPr/>
          <p:nvPr/>
        </p:nvSpPr>
        <p:spPr>
          <a:xfrm>
            <a:off x="3520440" y="4160520"/>
            <a:ext cx="2194560" cy="310896"/>
          </a:xfrm>
          <a:prstGeom prst="roundRect">
            <a:avLst>
              <a:gd name="adj" fmla="val 50000"/>
            </a:avLst>
          </a:prstGeom>
          <a:solidFill>
            <a:srgbClr val="00A86A">
              <a:alpha val="15000"/>
            </a:srgbClr>
          </a:solidFill>
          <a:ln w="9525">
            <a:solidFill>
              <a:srgbClr val="00A86A"/>
            </a:solidFill>
            <a:prstDash val="solid"/>
          </a:ln>
        </p:spPr>
      </p:sp>
      <p:sp>
        <p:nvSpPr>
          <p:cNvPr id="34" name="Text 29"/>
          <p:cNvSpPr txBox="1"/>
          <p:nvPr/>
        </p:nvSpPr>
        <p:spPr>
          <a:xfrm>
            <a:off x="3520440" y="4160520"/>
            <a:ext cx="2194560" cy="310896"/>
          </a:xfrm>
          <a:prstGeom prst="rect">
            <a:avLst/>
          </a:prstGeom>
          <a:noFill/>
          <a:ln/>
        </p:spPr>
        <p:txBody>
          <a:bodyPr wrap="square" lIns="0" tIns="0" rIns="0" bIns="0" rtlCol="0" anchor="ctr"/>
          <a:lstStyle/>
          <a:p>
            <a:pPr marL="0" indent="0" algn="ctr">
              <a:buNone/>
            </a:pPr>
            <a:r>
              <a:rPr lang="en-US" sz="1000" b="1" dirty="0">
                <a:solidFill>
                  <a:srgbClr val="00A86A"/>
                </a:solidFill>
                <a:latin typeface="Calibri" pitchFamily="34" charset="0"/>
                <a:ea typeface="Calibri" pitchFamily="34" charset="-122"/>
                <a:cs typeface="Calibri" pitchFamily="34" charset="-120"/>
              </a:rPr>
              <a:t>Mémoire paramétrique + externe</a:t>
            </a:r>
            <a:endParaRPr lang="en-US" sz="1000" dirty="0"/>
          </a:p>
        </p:txBody>
      </p:sp>
      <p:sp>
        <p:nvSpPr>
          <p:cNvPr id="35" name="Shape 30"/>
          <p:cNvSpPr/>
          <p:nvPr/>
        </p:nvSpPr>
        <p:spPr>
          <a:xfrm>
            <a:off x="3127248" y="3538728"/>
            <a:ext cx="146304" cy="914"/>
          </a:xfrm>
          <a:prstGeom prst="line">
            <a:avLst/>
          </a:prstGeom>
          <a:noFill/>
          <a:ln w="25400">
            <a:solidFill>
              <a:srgbClr val="5E6964"/>
            </a:solidFill>
            <a:prstDash val="solid"/>
            <a:tailEnd type="triangle"/>
          </a:ln>
        </p:spPr>
      </p:sp>
      <p:sp>
        <p:nvSpPr>
          <p:cNvPr id="36" name="Shape 31"/>
          <p:cNvSpPr/>
          <p:nvPr/>
        </p:nvSpPr>
        <p:spPr>
          <a:xfrm>
            <a:off x="6217920" y="2423160"/>
            <a:ext cx="2468880" cy="2240280"/>
          </a:xfrm>
          <a:prstGeom prst="roundRect">
            <a:avLst>
              <a:gd name="adj" fmla="val 3265"/>
            </a:avLst>
          </a:prstGeom>
          <a:solidFill>
            <a:srgbClr val="F4F7F5"/>
          </a:solidFill>
          <a:ln w="9525">
            <a:solidFill>
              <a:srgbClr val="D5DED9"/>
            </a:solidFill>
            <a:prstDash val="solid"/>
          </a:ln>
        </p:spPr>
      </p:sp>
      <p:sp>
        <p:nvSpPr>
          <p:cNvPr id="37" name="Text 32"/>
          <p:cNvSpPr txBox="1"/>
          <p:nvPr/>
        </p:nvSpPr>
        <p:spPr>
          <a:xfrm>
            <a:off x="6446520" y="2606040"/>
            <a:ext cx="2011680" cy="228600"/>
          </a:xfrm>
          <a:prstGeom prst="rect">
            <a:avLst/>
          </a:prstGeom>
          <a:noFill/>
          <a:ln/>
        </p:spPr>
        <p:txBody>
          <a:bodyPr wrap="square" lIns="0" tIns="0" rIns="0" bIns="0" rtlCol="0" anchor="ctr"/>
          <a:lstStyle/>
          <a:p>
            <a:pPr marL="0" indent="0">
              <a:buNone/>
            </a:pPr>
            <a:r>
              <a:rPr lang="en-US" sz="1000" b="1" kern="0" spc="300" dirty="0">
                <a:solidFill>
                  <a:srgbClr val="D49A00"/>
                </a:solidFill>
                <a:latin typeface="Calibri" pitchFamily="34" charset="0"/>
                <a:ea typeface="Calibri" pitchFamily="34" charset="-122"/>
                <a:cs typeface="Calibri" pitchFamily="34" charset="-120"/>
              </a:rPr>
              <a:t>ORIGINE</a:t>
            </a:r>
            <a:endParaRPr lang="en-US" sz="1000" dirty="0"/>
          </a:p>
        </p:txBody>
      </p:sp>
      <p:sp>
        <p:nvSpPr>
          <p:cNvPr id="38" name="Text 33"/>
          <p:cNvSpPr txBox="1"/>
          <p:nvPr/>
        </p:nvSpPr>
        <p:spPr>
          <a:xfrm>
            <a:off x="6446520" y="2852928"/>
            <a:ext cx="2103120" cy="320040"/>
          </a:xfrm>
          <a:prstGeom prst="rect">
            <a:avLst/>
          </a:prstGeom>
          <a:noFill/>
          <a:ln/>
        </p:spPr>
        <p:txBody>
          <a:bodyPr wrap="square" lIns="0" tIns="0" rIns="0" bIns="0" rtlCol="0" anchor="ctr"/>
          <a:lstStyle/>
          <a:p>
            <a:pPr marL="0" indent="0">
              <a:buNone/>
            </a:pPr>
            <a:r>
              <a:rPr lang="en-US" sz="1600" b="1" dirty="0">
                <a:solidFill>
                  <a:srgbClr val="00704A"/>
                </a:solidFill>
                <a:latin typeface="Calibri" pitchFamily="34" charset="0"/>
                <a:ea typeface="Calibri" pitchFamily="34" charset="-122"/>
                <a:cs typeface="Calibri" pitchFamily="34" charset="-120"/>
              </a:rPr>
              <a:t>Lewis et al., 2020</a:t>
            </a:r>
            <a:endParaRPr lang="en-US" sz="1600" dirty="0"/>
          </a:p>
        </p:txBody>
      </p:sp>
      <p:sp>
        <p:nvSpPr>
          <p:cNvPr id="39" name="Text 34"/>
          <p:cNvSpPr txBox="1"/>
          <p:nvPr/>
        </p:nvSpPr>
        <p:spPr>
          <a:xfrm>
            <a:off x="6446520" y="3200400"/>
            <a:ext cx="2057400" cy="137160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 Retrieval-Augmented Generation for Knowledge-Intensive NLP Tasks » — NeurIPS 2020 (Facebook AI Research, UCL, NYU).</a:t>
            </a:r>
            <a:endParaRPr lang="en-US" sz="1050" dirty="0"/>
          </a:p>
          <a:p>
            <a:pPr marL="0" indent="0">
              <a:buNone/>
            </a:pPr>
            <a:endParaRPr lang="en-US" sz="1050" dirty="0"/>
          </a:p>
          <a:p>
            <a:pPr marL="0" indent="0">
              <a:buNone/>
            </a:pPr>
            <a:r>
              <a:rPr lang="en-US" sz="1050" dirty="0">
                <a:solidFill>
                  <a:srgbClr val="5E6964"/>
                </a:solidFill>
                <a:latin typeface="Calibri" pitchFamily="34" charset="0"/>
                <a:ea typeface="Calibri" pitchFamily="34" charset="-122"/>
                <a:cs typeface="Calibri" pitchFamily="34" charset="-120"/>
              </a:rPr>
              <a:t>Combine une mémoire paramétrique (BART) et une mémoire non paramétrique (un index DPR sur Wikipédia).</a:t>
            </a:r>
            <a:endParaRPr lang="en-US" sz="105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FONCTIONNEMENT</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Deux chaînes : indexation et interrogation</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00704A"/>
          </a:solidFill>
          <a:ln w="12700">
            <a:solidFill>
              <a:srgbClr val="00704A"/>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694944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ATI · Big Data pour les statistiques macroéconomiques · Maurice, 26–30 oct. 2026   |   BAD · Data Innovation for Africa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6</a:t>
            </a:r>
            <a:endParaRPr lang="en-US" sz="850" dirty="0"/>
          </a:p>
        </p:txBody>
      </p:sp>
      <p:sp>
        <p:nvSpPr>
          <p:cNvPr id="17" name="Shape 14"/>
          <p:cNvSpPr/>
          <p:nvPr/>
        </p:nvSpPr>
        <p:spPr>
          <a:xfrm>
            <a:off x="457200" y="1280160"/>
            <a:ext cx="8229600" cy="1325880"/>
          </a:xfrm>
          <a:prstGeom prst="roundRect">
            <a:avLst>
              <a:gd name="adj" fmla="val 5517"/>
            </a:avLst>
          </a:prstGeom>
          <a:solidFill>
            <a:srgbClr val="E8F5EF"/>
          </a:solidFill>
          <a:ln w="9525">
            <a:solidFill>
              <a:srgbClr val="E8F5EF"/>
            </a:solidFill>
            <a:prstDash val="solid"/>
          </a:ln>
        </p:spPr>
      </p:sp>
      <p:sp>
        <p:nvSpPr>
          <p:cNvPr id="18" name="Shape 15"/>
          <p:cNvSpPr/>
          <p:nvPr/>
        </p:nvSpPr>
        <p:spPr>
          <a:xfrm>
            <a:off x="457200" y="2834640"/>
            <a:ext cx="8229600" cy="1783080"/>
          </a:xfrm>
          <a:prstGeom prst="roundRect">
            <a:avLst>
              <a:gd name="adj" fmla="val 4103"/>
            </a:avLst>
          </a:prstGeom>
          <a:solidFill>
            <a:srgbClr val="F4F7F5"/>
          </a:solidFill>
          <a:ln w="9525">
            <a:solidFill>
              <a:srgbClr val="D5DED9"/>
            </a:solidFill>
            <a:prstDash val="solid"/>
          </a:ln>
        </p:spPr>
      </p:sp>
      <p:sp>
        <p:nvSpPr>
          <p:cNvPr id="19" name="Text 16"/>
          <p:cNvSpPr txBox="1"/>
          <p:nvPr/>
        </p:nvSpPr>
        <p:spPr>
          <a:xfrm>
            <a:off x="448056" y="1371600"/>
            <a:ext cx="1316736" cy="274320"/>
          </a:xfrm>
          <a:prstGeom prst="rect">
            <a:avLst/>
          </a:prstGeom>
          <a:noFill/>
          <a:ln/>
        </p:spPr>
        <p:txBody>
          <a:bodyPr wrap="square" lIns="0" tIns="0" rIns="0" bIns="0" rtlCol="0" anchor="ctr"/>
          <a:lstStyle/>
          <a:p>
            <a:pPr marL="0" indent="0" algn="ctr">
              <a:buNone/>
            </a:pPr>
            <a:r>
              <a:rPr lang="en-US" sz="1050" b="1" dirty="0">
                <a:solidFill>
                  <a:srgbClr val="231F20"/>
                </a:solidFill>
                <a:latin typeface="Calibri" pitchFamily="34" charset="0"/>
                <a:ea typeface="Calibri" pitchFamily="34" charset="-122"/>
                <a:cs typeface="Calibri" pitchFamily="34" charset="-120"/>
              </a:rPr>
              <a:t>Documents</a:t>
            </a:r>
            <a:endParaRPr lang="en-US" sz="1050" dirty="0"/>
          </a:p>
        </p:txBody>
      </p:sp>
      <p:sp>
        <p:nvSpPr>
          <p:cNvPr id="20" name="Shape 17"/>
          <p:cNvSpPr/>
          <p:nvPr/>
        </p:nvSpPr>
        <p:spPr>
          <a:xfrm>
            <a:off x="822960" y="1737360"/>
            <a:ext cx="566928" cy="566928"/>
          </a:xfrm>
          <a:prstGeom prst="ellipse">
            <a:avLst/>
          </a:prstGeom>
          <a:solidFill>
            <a:srgbClr val="FFFFFF"/>
          </a:solidFill>
          <a:ln w="19050">
            <a:solidFill>
              <a:srgbClr val="00A86A"/>
            </a:solidFill>
            <a:prstDash val="solid"/>
          </a:ln>
        </p:spPr>
      </p:sp>
      <p:pic>
        <p:nvPicPr>
          <p:cNvPr id="21" name="Image 0" descr="preencoded.png"/>
          <p:cNvPicPr>
            <a:picLocks noChangeAspect="1"/>
          </p:cNvPicPr>
          <p:nvPr/>
        </p:nvPicPr>
        <p:blipFill>
          <a:blip r:embed="rId3"/>
          <a:stretch>
            <a:fillRect/>
          </a:stretch>
        </p:blipFill>
        <p:spPr>
          <a:xfrm>
            <a:off x="959023" y="1873423"/>
            <a:ext cx="294803" cy="294803"/>
          </a:xfrm>
          <a:prstGeom prst="rect">
            <a:avLst/>
          </a:prstGeom>
        </p:spPr>
      </p:pic>
      <p:sp>
        <p:nvSpPr>
          <p:cNvPr id="22" name="Shape 18"/>
          <p:cNvSpPr/>
          <p:nvPr/>
        </p:nvSpPr>
        <p:spPr>
          <a:xfrm>
            <a:off x="1463040" y="2020824"/>
            <a:ext cx="612648" cy="914"/>
          </a:xfrm>
          <a:prstGeom prst="line">
            <a:avLst/>
          </a:prstGeom>
          <a:noFill/>
          <a:ln w="19050">
            <a:solidFill>
              <a:srgbClr val="5E6964"/>
            </a:solidFill>
            <a:prstDash val="solid"/>
            <a:tailEnd type="triangle"/>
          </a:ln>
        </p:spPr>
      </p:sp>
      <p:sp>
        <p:nvSpPr>
          <p:cNvPr id="23" name="Text 19"/>
          <p:cNvSpPr txBox="1"/>
          <p:nvPr/>
        </p:nvSpPr>
        <p:spPr>
          <a:xfrm>
            <a:off x="1773936" y="1371600"/>
            <a:ext cx="1316736" cy="274320"/>
          </a:xfrm>
          <a:prstGeom prst="rect">
            <a:avLst/>
          </a:prstGeom>
          <a:noFill/>
          <a:ln/>
        </p:spPr>
        <p:txBody>
          <a:bodyPr wrap="square" lIns="0" tIns="0" rIns="0" bIns="0" rtlCol="0" anchor="ctr"/>
          <a:lstStyle/>
          <a:p>
            <a:pPr marL="0" indent="0" algn="ctr">
              <a:buNone/>
            </a:pPr>
            <a:r>
              <a:rPr lang="en-US" sz="1050" b="1" dirty="0">
                <a:solidFill>
                  <a:srgbClr val="231F20"/>
                </a:solidFill>
                <a:latin typeface="Calibri" pitchFamily="34" charset="0"/>
                <a:ea typeface="Calibri" pitchFamily="34" charset="-122"/>
                <a:cs typeface="Calibri" pitchFamily="34" charset="-120"/>
              </a:rPr>
              <a:t>Analyse &amp; découpage</a:t>
            </a:r>
            <a:endParaRPr lang="en-US" sz="1050" dirty="0"/>
          </a:p>
        </p:txBody>
      </p:sp>
      <p:sp>
        <p:nvSpPr>
          <p:cNvPr id="24" name="Shape 20"/>
          <p:cNvSpPr/>
          <p:nvPr/>
        </p:nvSpPr>
        <p:spPr>
          <a:xfrm>
            <a:off x="2148840" y="1737360"/>
            <a:ext cx="566928" cy="566928"/>
          </a:xfrm>
          <a:prstGeom prst="ellipse">
            <a:avLst/>
          </a:prstGeom>
          <a:solidFill>
            <a:srgbClr val="FFFFFF"/>
          </a:solidFill>
          <a:ln w="19050">
            <a:solidFill>
              <a:srgbClr val="00A86A"/>
            </a:solidFill>
            <a:prstDash val="solid"/>
          </a:ln>
        </p:spPr>
      </p:sp>
      <p:pic>
        <p:nvPicPr>
          <p:cNvPr id="25" name="Image 1" descr="preencoded.png"/>
          <p:cNvPicPr>
            <a:picLocks noChangeAspect="1"/>
          </p:cNvPicPr>
          <p:nvPr/>
        </p:nvPicPr>
        <p:blipFill>
          <a:blip r:embed="rId4"/>
          <a:stretch>
            <a:fillRect/>
          </a:stretch>
        </p:blipFill>
        <p:spPr>
          <a:xfrm>
            <a:off x="2284903" y="1873423"/>
            <a:ext cx="294803" cy="294803"/>
          </a:xfrm>
          <a:prstGeom prst="rect">
            <a:avLst/>
          </a:prstGeom>
        </p:spPr>
      </p:pic>
      <p:sp>
        <p:nvSpPr>
          <p:cNvPr id="26" name="Shape 21"/>
          <p:cNvSpPr/>
          <p:nvPr/>
        </p:nvSpPr>
        <p:spPr>
          <a:xfrm>
            <a:off x="2788920" y="2020824"/>
            <a:ext cx="612648" cy="914"/>
          </a:xfrm>
          <a:prstGeom prst="line">
            <a:avLst/>
          </a:prstGeom>
          <a:noFill/>
          <a:ln w="19050">
            <a:solidFill>
              <a:srgbClr val="5E6964"/>
            </a:solidFill>
            <a:prstDash val="solid"/>
            <a:tailEnd type="triangle"/>
          </a:ln>
        </p:spPr>
      </p:sp>
      <p:sp>
        <p:nvSpPr>
          <p:cNvPr id="27" name="Text 22"/>
          <p:cNvSpPr txBox="1"/>
          <p:nvPr/>
        </p:nvSpPr>
        <p:spPr>
          <a:xfrm>
            <a:off x="3099816" y="1371600"/>
            <a:ext cx="1316736" cy="274320"/>
          </a:xfrm>
          <a:prstGeom prst="rect">
            <a:avLst/>
          </a:prstGeom>
          <a:noFill/>
          <a:ln/>
        </p:spPr>
        <p:txBody>
          <a:bodyPr wrap="square" lIns="0" tIns="0" rIns="0" bIns="0" rtlCol="0" anchor="ctr"/>
          <a:lstStyle/>
          <a:p>
            <a:pPr marL="0" indent="0" algn="ctr">
              <a:buNone/>
            </a:pPr>
            <a:r>
              <a:rPr lang="en-US" sz="1050" b="1" dirty="0">
                <a:solidFill>
                  <a:srgbClr val="231F20"/>
                </a:solidFill>
                <a:latin typeface="Calibri" pitchFamily="34" charset="0"/>
                <a:ea typeface="Calibri" pitchFamily="34" charset="-122"/>
                <a:cs typeface="Calibri" pitchFamily="34" charset="-120"/>
              </a:rPr>
              <a:t>Modèle d'embedding</a:t>
            </a:r>
            <a:endParaRPr lang="en-US" sz="1050" dirty="0"/>
          </a:p>
        </p:txBody>
      </p:sp>
      <p:sp>
        <p:nvSpPr>
          <p:cNvPr id="28" name="Shape 23"/>
          <p:cNvSpPr/>
          <p:nvPr/>
        </p:nvSpPr>
        <p:spPr>
          <a:xfrm>
            <a:off x="3474720" y="1737360"/>
            <a:ext cx="566928" cy="566928"/>
          </a:xfrm>
          <a:prstGeom prst="ellipse">
            <a:avLst/>
          </a:prstGeom>
          <a:solidFill>
            <a:srgbClr val="FFFFFF"/>
          </a:solidFill>
          <a:ln w="19050">
            <a:solidFill>
              <a:srgbClr val="00A86A"/>
            </a:solidFill>
            <a:prstDash val="solid"/>
          </a:ln>
        </p:spPr>
      </p:sp>
      <p:pic>
        <p:nvPicPr>
          <p:cNvPr id="29" name="Image 2" descr="preencoded.png"/>
          <p:cNvPicPr>
            <a:picLocks noChangeAspect="1"/>
          </p:cNvPicPr>
          <p:nvPr/>
        </p:nvPicPr>
        <p:blipFill>
          <a:blip r:embed="rId5"/>
          <a:stretch>
            <a:fillRect/>
          </a:stretch>
        </p:blipFill>
        <p:spPr>
          <a:xfrm>
            <a:off x="3610783" y="1873423"/>
            <a:ext cx="294803" cy="294803"/>
          </a:xfrm>
          <a:prstGeom prst="rect">
            <a:avLst/>
          </a:prstGeom>
        </p:spPr>
      </p:pic>
      <p:sp>
        <p:nvSpPr>
          <p:cNvPr id="30" name="Shape 24"/>
          <p:cNvSpPr/>
          <p:nvPr/>
        </p:nvSpPr>
        <p:spPr>
          <a:xfrm>
            <a:off x="4114800" y="2020824"/>
            <a:ext cx="612648" cy="914"/>
          </a:xfrm>
          <a:prstGeom prst="line">
            <a:avLst/>
          </a:prstGeom>
          <a:noFill/>
          <a:ln w="19050">
            <a:solidFill>
              <a:srgbClr val="5E6964"/>
            </a:solidFill>
            <a:prstDash val="solid"/>
            <a:tailEnd type="triangle"/>
          </a:ln>
        </p:spPr>
      </p:sp>
      <p:sp>
        <p:nvSpPr>
          <p:cNvPr id="31" name="Text 25"/>
          <p:cNvSpPr txBox="1"/>
          <p:nvPr/>
        </p:nvSpPr>
        <p:spPr>
          <a:xfrm>
            <a:off x="4425696" y="1371600"/>
            <a:ext cx="1316736" cy="274320"/>
          </a:xfrm>
          <a:prstGeom prst="rect">
            <a:avLst/>
          </a:prstGeom>
          <a:noFill/>
          <a:ln/>
        </p:spPr>
        <p:txBody>
          <a:bodyPr wrap="square" lIns="0" tIns="0" rIns="0" bIns="0" rtlCol="0" anchor="ctr"/>
          <a:lstStyle/>
          <a:p>
            <a:pPr marL="0" indent="0" algn="ctr">
              <a:buNone/>
            </a:pPr>
            <a:r>
              <a:rPr lang="en-US" sz="1050" b="1" dirty="0">
                <a:solidFill>
                  <a:srgbClr val="231F20"/>
                </a:solidFill>
                <a:latin typeface="Calibri" pitchFamily="34" charset="0"/>
                <a:ea typeface="Calibri" pitchFamily="34" charset="-122"/>
                <a:cs typeface="Calibri" pitchFamily="34" charset="-120"/>
              </a:rPr>
              <a:t>Base vectorielle</a:t>
            </a:r>
            <a:endParaRPr lang="en-US" sz="1050" dirty="0"/>
          </a:p>
        </p:txBody>
      </p:sp>
      <p:sp>
        <p:nvSpPr>
          <p:cNvPr id="32" name="Shape 26"/>
          <p:cNvSpPr/>
          <p:nvPr/>
        </p:nvSpPr>
        <p:spPr>
          <a:xfrm>
            <a:off x="4800600" y="1737360"/>
            <a:ext cx="566928" cy="566928"/>
          </a:xfrm>
          <a:prstGeom prst="ellipse">
            <a:avLst/>
          </a:prstGeom>
          <a:solidFill>
            <a:srgbClr val="FFFFFF"/>
          </a:solidFill>
          <a:ln w="19050">
            <a:solidFill>
              <a:srgbClr val="00A86A"/>
            </a:solidFill>
            <a:prstDash val="solid"/>
          </a:ln>
        </p:spPr>
      </p:sp>
      <p:pic>
        <p:nvPicPr>
          <p:cNvPr id="33" name="Image 3" descr="preencoded.png"/>
          <p:cNvPicPr>
            <a:picLocks noChangeAspect="1"/>
          </p:cNvPicPr>
          <p:nvPr/>
        </p:nvPicPr>
        <p:blipFill>
          <a:blip r:embed="rId6"/>
          <a:stretch>
            <a:fillRect/>
          </a:stretch>
        </p:blipFill>
        <p:spPr>
          <a:xfrm>
            <a:off x="4936663" y="1873423"/>
            <a:ext cx="294803" cy="294803"/>
          </a:xfrm>
          <a:prstGeom prst="rect">
            <a:avLst/>
          </a:prstGeom>
        </p:spPr>
      </p:pic>
      <p:sp>
        <p:nvSpPr>
          <p:cNvPr id="34" name="Text 27"/>
          <p:cNvSpPr txBox="1"/>
          <p:nvPr/>
        </p:nvSpPr>
        <p:spPr>
          <a:xfrm>
            <a:off x="6126480" y="1508760"/>
            <a:ext cx="2468880" cy="274320"/>
          </a:xfrm>
          <a:prstGeom prst="rect">
            <a:avLst/>
          </a:prstGeom>
          <a:noFill/>
          <a:ln/>
        </p:spPr>
        <p:txBody>
          <a:bodyPr wrap="square" lIns="0" tIns="0" rIns="0" bIns="0" rtlCol="0" anchor="ctr"/>
          <a:lstStyle/>
          <a:p>
            <a:pPr marL="0" indent="0">
              <a:buNone/>
            </a:pPr>
            <a:r>
              <a:rPr lang="en-US" sz="1300" b="1" dirty="0">
                <a:solidFill>
                  <a:srgbClr val="00704A"/>
                </a:solidFill>
                <a:latin typeface="Calibri" pitchFamily="34" charset="0"/>
                <a:ea typeface="Calibri" pitchFamily="34" charset="-122"/>
                <a:cs typeface="Calibri" pitchFamily="34" charset="-120"/>
              </a:rPr>
              <a:t>① INDEXATION  ·  hors ligne</a:t>
            </a:r>
            <a:endParaRPr lang="en-US" sz="1300" dirty="0"/>
          </a:p>
        </p:txBody>
      </p:sp>
      <p:sp>
        <p:nvSpPr>
          <p:cNvPr id="35" name="Text 28"/>
          <p:cNvSpPr txBox="1"/>
          <p:nvPr/>
        </p:nvSpPr>
        <p:spPr>
          <a:xfrm>
            <a:off x="6126480" y="1828800"/>
            <a:ext cx="2377440" cy="594360"/>
          </a:xfrm>
          <a:prstGeom prst="rect">
            <a:avLst/>
          </a:prstGeom>
          <a:noFill/>
          <a:ln/>
        </p:spPr>
        <p:txBody>
          <a:bodyPr wrap="square" lIns="0" tIns="0" rIns="0" bIns="0" rtlCol="0" anchor="ctr"/>
          <a:lstStyle/>
          <a:p>
            <a:pPr marL="0" indent="0">
              <a:buNone/>
            </a:pPr>
            <a:r>
              <a:rPr lang="en-US" sz="1100" dirty="0">
                <a:solidFill>
                  <a:srgbClr val="5E6964"/>
                </a:solidFill>
                <a:latin typeface="Calibri" pitchFamily="34" charset="0"/>
                <a:ea typeface="Calibri" pitchFamily="34" charset="-122"/>
                <a:cs typeface="Calibri" pitchFamily="34" charset="-120"/>
              </a:rPr>
              <a:t>Exécutée une fois, puis à chaque ajout ou modification de documents.</a:t>
            </a:r>
            <a:endParaRPr lang="en-US" sz="1100" dirty="0"/>
          </a:p>
        </p:txBody>
      </p:sp>
      <p:sp>
        <p:nvSpPr>
          <p:cNvPr id="36" name="Shape 29"/>
          <p:cNvSpPr/>
          <p:nvPr/>
        </p:nvSpPr>
        <p:spPr>
          <a:xfrm>
            <a:off x="822960" y="3063240"/>
            <a:ext cx="566928" cy="566928"/>
          </a:xfrm>
          <a:prstGeom prst="ellipse">
            <a:avLst/>
          </a:prstGeom>
          <a:solidFill>
            <a:srgbClr val="FFFFFF"/>
          </a:solidFill>
          <a:ln w="19050">
            <a:solidFill>
              <a:srgbClr val="00704A"/>
            </a:solidFill>
            <a:prstDash val="solid"/>
          </a:ln>
        </p:spPr>
      </p:sp>
      <p:pic>
        <p:nvPicPr>
          <p:cNvPr id="37" name="Image 4" descr="preencoded.png"/>
          <p:cNvPicPr>
            <a:picLocks noChangeAspect="1"/>
          </p:cNvPicPr>
          <p:nvPr/>
        </p:nvPicPr>
        <p:blipFill>
          <a:blip r:embed="rId7"/>
          <a:stretch>
            <a:fillRect/>
          </a:stretch>
        </p:blipFill>
        <p:spPr>
          <a:xfrm>
            <a:off x="959023" y="3199303"/>
            <a:ext cx="294803" cy="294803"/>
          </a:xfrm>
          <a:prstGeom prst="rect">
            <a:avLst/>
          </a:prstGeom>
        </p:spPr>
      </p:pic>
      <p:sp>
        <p:nvSpPr>
          <p:cNvPr id="38" name="Text 30"/>
          <p:cNvSpPr txBox="1"/>
          <p:nvPr/>
        </p:nvSpPr>
        <p:spPr>
          <a:xfrm>
            <a:off x="484632" y="3685032"/>
            <a:ext cx="1243584" cy="411480"/>
          </a:xfrm>
          <a:prstGeom prst="rect">
            <a:avLst/>
          </a:prstGeom>
          <a:noFill/>
          <a:ln/>
        </p:spPr>
        <p:txBody>
          <a:bodyPr wrap="square" lIns="0" tIns="0" rIns="0" bIns="0" rtlCol="0" anchor="t"/>
          <a:lstStyle/>
          <a:p>
            <a:pPr marL="0" indent="0" algn="ctr">
              <a:buNone/>
            </a:pPr>
            <a:r>
              <a:rPr lang="en-US" sz="1100" b="1" dirty="0">
                <a:solidFill>
                  <a:srgbClr val="231F20"/>
                </a:solidFill>
                <a:latin typeface="Calibri" pitchFamily="34" charset="0"/>
                <a:ea typeface="Calibri" pitchFamily="34" charset="-122"/>
                <a:cs typeface="Calibri" pitchFamily="34" charset="-120"/>
              </a:rPr>
              <a:t>Question</a:t>
            </a:r>
            <a:endParaRPr lang="en-US" sz="1100" dirty="0"/>
          </a:p>
        </p:txBody>
      </p:sp>
      <p:sp>
        <p:nvSpPr>
          <p:cNvPr id="39" name="Shape 31"/>
          <p:cNvSpPr/>
          <p:nvPr/>
        </p:nvSpPr>
        <p:spPr>
          <a:xfrm>
            <a:off x="1463040" y="3346704"/>
            <a:ext cx="612648" cy="914"/>
          </a:xfrm>
          <a:prstGeom prst="line">
            <a:avLst/>
          </a:prstGeom>
          <a:noFill/>
          <a:ln w="19050">
            <a:solidFill>
              <a:srgbClr val="5E6964"/>
            </a:solidFill>
            <a:prstDash val="solid"/>
            <a:tailEnd type="triangle"/>
          </a:ln>
        </p:spPr>
      </p:sp>
      <p:sp>
        <p:nvSpPr>
          <p:cNvPr id="40" name="Shape 32"/>
          <p:cNvSpPr/>
          <p:nvPr/>
        </p:nvSpPr>
        <p:spPr>
          <a:xfrm>
            <a:off x="2148840" y="3063240"/>
            <a:ext cx="566928" cy="566928"/>
          </a:xfrm>
          <a:prstGeom prst="ellipse">
            <a:avLst/>
          </a:prstGeom>
          <a:solidFill>
            <a:srgbClr val="FFFFFF"/>
          </a:solidFill>
          <a:ln w="19050">
            <a:solidFill>
              <a:srgbClr val="00704A"/>
            </a:solidFill>
            <a:prstDash val="solid"/>
          </a:ln>
        </p:spPr>
      </p:sp>
      <p:pic>
        <p:nvPicPr>
          <p:cNvPr id="41" name="Image 5" descr="preencoded.png"/>
          <p:cNvPicPr>
            <a:picLocks noChangeAspect="1"/>
          </p:cNvPicPr>
          <p:nvPr/>
        </p:nvPicPr>
        <p:blipFill>
          <a:blip r:embed="rId8"/>
          <a:stretch>
            <a:fillRect/>
          </a:stretch>
        </p:blipFill>
        <p:spPr>
          <a:xfrm>
            <a:off x="2284903" y="3199303"/>
            <a:ext cx="294803" cy="294803"/>
          </a:xfrm>
          <a:prstGeom prst="rect">
            <a:avLst/>
          </a:prstGeom>
        </p:spPr>
      </p:pic>
      <p:sp>
        <p:nvSpPr>
          <p:cNvPr id="42" name="Text 33"/>
          <p:cNvSpPr txBox="1"/>
          <p:nvPr/>
        </p:nvSpPr>
        <p:spPr>
          <a:xfrm>
            <a:off x="1810512" y="3685032"/>
            <a:ext cx="1243584" cy="411480"/>
          </a:xfrm>
          <a:prstGeom prst="rect">
            <a:avLst/>
          </a:prstGeom>
          <a:noFill/>
          <a:ln/>
        </p:spPr>
        <p:txBody>
          <a:bodyPr wrap="square" lIns="0" tIns="0" rIns="0" bIns="0" rtlCol="0" anchor="t"/>
          <a:lstStyle/>
          <a:p>
            <a:pPr marL="0" indent="0" algn="ctr">
              <a:buNone/>
            </a:pPr>
            <a:r>
              <a:rPr lang="en-US" sz="1100" b="1" dirty="0">
                <a:solidFill>
                  <a:srgbClr val="231F20"/>
                </a:solidFill>
                <a:latin typeface="Calibri" pitchFamily="34" charset="0"/>
                <a:ea typeface="Calibri" pitchFamily="34" charset="-122"/>
                <a:cs typeface="Calibri" pitchFamily="34" charset="-120"/>
              </a:rPr>
              <a:t>Reformulation (optionnelle)</a:t>
            </a:r>
            <a:endParaRPr lang="en-US" sz="1100" dirty="0"/>
          </a:p>
        </p:txBody>
      </p:sp>
      <p:sp>
        <p:nvSpPr>
          <p:cNvPr id="43" name="Shape 34"/>
          <p:cNvSpPr/>
          <p:nvPr/>
        </p:nvSpPr>
        <p:spPr>
          <a:xfrm>
            <a:off x="2788920" y="3346704"/>
            <a:ext cx="612648" cy="914"/>
          </a:xfrm>
          <a:prstGeom prst="line">
            <a:avLst/>
          </a:prstGeom>
          <a:noFill/>
          <a:ln w="19050">
            <a:solidFill>
              <a:srgbClr val="5E6964"/>
            </a:solidFill>
            <a:prstDash val="solid"/>
            <a:tailEnd type="triangle"/>
          </a:ln>
        </p:spPr>
      </p:sp>
      <p:sp>
        <p:nvSpPr>
          <p:cNvPr id="44" name="Shape 35"/>
          <p:cNvSpPr/>
          <p:nvPr/>
        </p:nvSpPr>
        <p:spPr>
          <a:xfrm>
            <a:off x="3474720" y="3063240"/>
            <a:ext cx="566928" cy="566928"/>
          </a:xfrm>
          <a:prstGeom prst="ellipse">
            <a:avLst/>
          </a:prstGeom>
          <a:solidFill>
            <a:srgbClr val="FFFFFF"/>
          </a:solidFill>
          <a:ln w="19050">
            <a:solidFill>
              <a:srgbClr val="00704A"/>
            </a:solidFill>
            <a:prstDash val="solid"/>
          </a:ln>
        </p:spPr>
      </p:sp>
      <p:pic>
        <p:nvPicPr>
          <p:cNvPr id="45" name="Image 6" descr="preencoded.png"/>
          <p:cNvPicPr>
            <a:picLocks noChangeAspect="1"/>
          </p:cNvPicPr>
          <p:nvPr/>
        </p:nvPicPr>
        <p:blipFill>
          <a:blip r:embed="rId9"/>
          <a:stretch>
            <a:fillRect/>
          </a:stretch>
        </p:blipFill>
        <p:spPr>
          <a:xfrm>
            <a:off x="3610783" y="3199303"/>
            <a:ext cx="294803" cy="294803"/>
          </a:xfrm>
          <a:prstGeom prst="rect">
            <a:avLst/>
          </a:prstGeom>
        </p:spPr>
      </p:pic>
      <p:sp>
        <p:nvSpPr>
          <p:cNvPr id="46" name="Text 36"/>
          <p:cNvSpPr txBox="1"/>
          <p:nvPr/>
        </p:nvSpPr>
        <p:spPr>
          <a:xfrm>
            <a:off x="3136392" y="3685032"/>
            <a:ext cx="1243584" cy="411480"/>
          </a:xfrm>
          <a:prstGeom prst="rect">
            <a:avLst/>
          </a:prstGeom>
          <a:noFill/>
          <a:ln/>
        </p:spPr>
        <p:txBody>
          <a:bodyPr wrap="square" lIns="0" tIns="0" rIns="0" bIns="0" rtlCol="0" anchor="t"/>
          <a:lstStyle/>
          <a:p>
            <a:pPr marL="0" indent="0" algn="ctr">
              <a:buNone/>
            </a:pPr>
            <a:r>
              <a:rPr lang="en-US" sz="1100" b="1" dirty="0">
                <a:solidFill>
                  <a:srgbClr val="231F20"/>
                </a:solidFill>
                <a:latin typeface="Calibri" pitchFamily="34" charset="0"/>
                <a:ea typeface="Calibri" pitchFamily="34" charset="-122"/>
                <a:cs typeface="Calibri" pitchFamily="34" charset="-120"/>
              </a:rPr>
              <a:t>Embedding de la requête</a:t>
            </a:r>
            <a:endParaRPr lang="en-US" sz="1100" dirty="0"/>
          </a:p>
        </p:txBody>
      </p:sp>
      <p:sp>
        <p:nvSpPr>
          <p:cNvPr id="47" name="Shape 37"/>
          <p:cNvSpPr/>
          <p:nvPr/>
        </p:nvSpPr>
        <p:spPr>
          <a:xfrm>
            <a:off x="4114800" y="3346704"/>
            <a:ext cx="612648" cy="914"/>
          </a:xfrm>
          <a:prstGeom prst="line">
            <a:avLst/>
          </a:prstGeom>
          <a:noFill/>
          <a:ln w="19050">
            <a:solidFill>
              <a:srgbClr val="5E6964"/>
            </a:solidFill>
            <a:prstDash val="solid"/>
            <a:tailEnd type="triangle"/>
          </a:ln>
        </p:spPr>
      </p:sp>
      <p:sp>
        <p:nvSpPr>
          <p:cNvPr id="48" name="Shape 38"/>
          <p:cNvSpPr/>
          <p:nvPr/>
        </p:nvSpPr>
        <p:spPr>
          <a:xfrm>
            <a:off x="4800600" y="3063240"/>
            <a:ext cx="566928" cy="566928"/>
          </a:xfrm>
          <a:prstGeom prst="ellipse">
            <a:avLst/>
          </a:prstGeom>
          <a:solidFill>
            <a:srgbClr val="FFFFFF"/>
          </a:solidFill>
          <a:ln w="19050">
            <a:solidFill>
              <a:srgbClr val="00704A"/>
            </a:solidFill>
            <a:prstDash val="solid"/>
          </a:ln>
        </p:spPr>
      </p:sp>
      <p:pic>
        <p:nvPicPr>
          <p:cNvPr id="49" name="Image 7" descr="preencoded.png"/>
          <p:cNvPicPr>
            <a:picLocks noChangeAspect="1"/>
          </p:cNvPicPr>
          <p:nvPr/>
        </p:nvPicPr>
        <p:blipFill>
          <a:blip r:embed="rId10"/>
          <a:stretch>
            <a:fillRect/>
          </a:stretch>
        </p:blipFill>
        <p:spPr>
          <a:xfrm>
            <a:off x="4936663" y="3199303"/>
            <a:ext cx="294803" cy="294803"/>
          </a:xfrm>
          <a:prstGeom prst="rect">
            <a:avLst/>
          </a:prstGeom>
        </p:spPr>
      </p:pic>
      <p:sp>
        <p:nvSpPr>
          <p:cNvPr id="50" name="Text 39"/>
          <p:cNvSpPr txBox="1"/>
          <p:nvPr/>
        </p:nvSpPr>
        <p:spPr>
          <a:xfrm>
            <a:off x="4462272" y="3685032"/>
            <a:ext cx="1243584" cy="411480"/>
          </a:xfrm>
          <a:prstGeom prst="rect">
            <a:avLst/>
          </a:prstGeom>
          <a:noFill/>
          <a:ln/>
        </p:spPr>
        <p:txBody>
          <a:bodyPr wrap="square" lIns="0" tIns="0" rIns="0" bIns="0" rtlCol="0" anchor="t"/>
          <a:lstStyle/>
          <a:p>
            <a:pPr marL="0" indent="0" algn="ctr">
              <a:buNone/>
            </a:pPr>
            <a:r>
              <a:rPr lang="en-US" sz="1100" b="1" dirty="0">
                <a:solidFill>
                  <a:srgbClr val="231F20"/>
                </a:solidFill>
                <a:latin typeface="Calibri" pitchFamily="34" charset="0"/>
                <a:ea typeface="Calibri" pitchFamily="34" charset="-122"/>
                <a:cs typeface="Calibri" pitchFamily="34" charset="-120"/>
              </a:rPr>
              <a:t>Recherche par similarité</a:t>
            </a:r>
            <a:endParaRPr lang="en-US" sz="1100" dirty="0"/>
          </a:p>
        </p:txBody>
      </p:sp>
      <p:sp>
        <p:nvSpPr>
          <p:cNvPr id="51" name="Shape 40"/>
          <p:cNvSpPr/>
          <p:nvPr/>
        </p:nvSpPr>
        <p:spPr>
          <a:xfrm>
            <a:off x="5440680" y="3346704"/>
            <a:ext cx="612648" cy="914"/>
          </a:xfrm>
          <a:prstGeom prst="line">
            <a:avLst/>
          </a:prstGeom>
          <a:noFill/>
          <a:ln w="19050">
            <a:solidFill>
              <a:srgbClr val="5E6964"/>
            </a:solidFill>
            <a:prstDash val="solid"/>
            <a:tailEnd type="triangle"/>
          </a:ln>
        </p:spPr>
      </p:sp>
      <p:sp>
        <p:nvSpPr>
          <p:cNvPr id="52" name="Shape 41"/>
          <p:cNvSpPr/>
          <p:nvPr/>
        </p:nvSpPr>
        <p:spPr>
          <a:xfrm>
            <a:off x="6126480" y="3063240"/>
            <a:ext cx="566928" cy="566928"/>
          </a:xfrm>
          <a:prstGeom prst="ellipse">
            <a:avLst/>
          </a:prstGeom>
          <a:solidFill>
            <a:srgbClr val="FFFFFF"/>
          </a:solidFill>
          <a:ln w="19050">
            <a:solidFill>
              <a:srgbClr val="00704A"/>
            </a:solidFill>
            <a:prstDash val="solid"/>
          </a:ln>
        </p:spPr>
      </p:sp>
      <p:pic>
        <p:nvPicPr>
          <p:cNvPr id="53" name="Image 8" descr="preencoded.png"/>
          <p:cNvPicPr>
            <a:picLocks noChangeAspect="1"/>
          </p:cNvPicPr>
          <p:nvPr/>
        </p:nvPicPr>
        <p:blipFill>
          <a:blip r:embed="rId11"/>
          <a:stretch>
            <a:fillRect/>
          </a:stretch>
        </p:blipFill>
        <p:spPr>
          <a:xfrm>
            <a:off x="6262543" y="3199303"/>
            <a:ext cx="294803" cy="294803"/>
          </a:xfrm>
          <a:prstGeom prst="rect">
            <a:avLst/>
          </a:prstGeom>
        </p:spPr>
      </p:pic>
      <p:sp>
        <p:nvSpPr>
          <p:cNvPr id="54" name="Text 42"/>
          <p:cNvSpPr txBox="1"/>
          <p:nvPr/>
        </p:nvSpPr>
        <p:spPr>
          <a:xfrm>
            <a:off x="5788152" y="3685032"/>
            <a:ext cx="1243584" cy="411480"/>
          </a:xfrm>
          <a:prstGeom prst="rect">
            <a:avLst/>
          </a:prstGeom>
          <a:noFill/>
          <a:ln/>
        </p:spPr>
        <p:txBody>
          <a:bodyPr wrap="square" lIns="0" tIns="0" rIns="0" bIns="0" rtlCol="0" anchor="t"/>
          <a:lstStyle/>
          <a:p>
            <a:pPr marL="0" indent="0" algn="ctr">
              <a:buNone/>
            </a:pPr>
            <a:r>
              <a:rPr lang="en-US" sz="1100" b="1" dirty="0">
                <a:solidFill>
                  <a:srgbClr val="231F20"/>
                </a:solidFill>
                <a:latin typeface="Calibri" pitchFamily="34" charset="0"/>
                <a:ea typeface="Calibri" pitchFamily="34" charset="-122"/>
                <a:cs typeface="Calibri" pitchFamily="34" charset="-120"/>
              </a:rPr>
              <a:t>Prompt augmenté</a:t>
            </a:r>
            <a:endParaRPr lang="en-US" sz="1100" dirty="0"/>
          </a:p>
        </p:txBody>
      </p:sp>
      <p:sp>
        <p:nvSpPr>
          <p:cNvPr id="55" name="Shape 43"/>
          <p:cNvSpPr/>
          <p:nvPr/>
        </p:nvSpPr>
        <p:spPr>
          <a:xfrm>
            <a:off x="6766560" y="3346704"/>
            <a:ext cx="612648" cy="914"/>
          </a:xfrm>
          <a:prstGeom prst="line">
            <a:avLst/>
          </a:prstGeom>
          <a:noFill/>
          <a:ln w="19050">
            <a:solidFill>
              <a:srgbClr val="5E6964"/>
            </a:solidFill>
            <a:prstDash val="solid"/>
            <a:tailEnd type="triangle"/>
          </a:ln>
        </p:spPr>
      </p:sp>
      <p:sp>
        <p:nvSpPr>
          <p:cNvPr id="56" name="Shape 44"/>
          <p:cNvSpPr/>
          <p:nvPr/>
        </p:nvSpPr>
        <p:spPr>
          <a:xfrm>
            <a:off x="7452360" y="3063240"/>
            <a:ext cx="566928" cy="566928"/>
          </a:xfrm>
          <a:prstGeom prst="ellipse">
            <a:avLst/>
          </a:prstGeom>
          <a:solidFill>
            <a:srgbClr val="F5C242"/>
          </a:solidFill>
          <a:ln w="12700">
            <a:solidFill>
              <a:srgbClr val="F5C242"/>
            </a:solidFill>
            <a:prstDash val="solid"/>
          </a:ln>
        </p:spPr>
      </p:sp>
      <p:pic>
        <p:nvPicPr>
          <p:cNvPr id="57" name="Image 9" descr="preencoded.png"/>
          <p:cNvPicPr>
            <a:picLocks noChangeAspect="1"/>
          </p:cNvPicPr>
          <p:nvPr/>
        </p:nvPicPr>
        <p:blipFill>
          <a:blip r:embed="rId12"/>
          <a:stretch>
            <a:fillRect/>
          </a:stretch>
        </p:blipFill>
        <p:spPr>
          <a:xfrm>
            <a:off x="7588423" y="3199303"/>
            <a:ext cx="294803" cy="294803"/>
          </a:xfrm>
          <a:prstGeom prst="rect">
            <a:avLst/>
          </a:prstGeom>
        </p:spPr>
      </p:pic>
      <p:sp>
        <p:nvSpPr>
          <p:cNvPr id="58" name="Text 45"/>
          <p:cNvSpPr txBox="1"/>
          <p:nvPr/>
        </p:nvSpPr>
        <p:spPr>
          <a:xfrm>
            <a:off x="7114032" y="3685032"/>
            <a:ext cx="1243584" cy="411480"/>
          </a:xfrm>
          <a:prstGeom prst="rect">
            <a:avLst/>
          </a:prstGeom>
          <a:noFill/>
          <a:ln/>
        </p:spPr>
        <p:txBody>
          <a:bodyPr wrap="square" lIns="0" tIns="0" rIns="0" bIns="0" rtlCol="0" anchor="t"/>
          <a:lstStyle/>
          <a:p>
            <a:pPr marL="0" indent="0" algn="ctr">
              <a:buNone/>
            </a:pPr>
            <a:r>
              <a:rPr lang="en-US" sz="1100" b="1" dirty="0">
                <a:solidFill>
                  <a:srgbClr val="231F20"/>
                </a:solidFill>
                <a:latin typeface="Calibri" pitchFamily="34" charset="0"/>
                <a:ea typeface="Calibri" pitchFamily="34" charset="-122"/>
                <a:cs typeface="Calibri" pitchFamily="34" charset="-120"/>
              </a:rPr>
              <a:t>LLM → réponse fondée</a:t>
            </a:r>
            <a:endParaRPr lang="en-US" sz="1100" dirty="0"/>
          </a:p>
        </p:txBody>
      </p:sp>
      <p:sp>
        <p:nvSpPr>
          <p:cNvPr id="59" name="Shape 46"/>
          <p:cNvSpPr/>
          <p:nvPr/>
        </p:nvSpPr>
        <p:spPr>
          <a:xfrm>
            <a:off x="5084064" y="2350008"/>
            <a:ext cx="914" cy="667512"/>
          </a:xfrm>
          <a:prstGeom prst="line">
            <a:avLst/>
          </a:prstGeom>
          <a:noFill/>
          <a:ln w="25400">
            <a:solidFill>
              <a:srgbClr val="D49A00"/>
            </a:solidFill>
            <a:prstDash val="solid"/>
            <a:tailEnd type="triangle"/>
          </a:ln>
        </p:spPr>
      </p:sp>
      <p:sp>
        <p:nvSpPr>
          <p:cNvPr id="60" name="Shape 47"/>
          <p:cNvSpPr/>
          <p:nvPr/>
        </p:nvSpPr>
        <p:spPr>
          <a:xfrm>
            <a:off x="5193792" y="2560320"/>
            <a:ext cx="960120" cy="237744"/>
          </a:xfrm>
          <a:prstGeom prst="roundRect">
            <a:avLst>
              <a:gd name="adj" fmla="val 50000"/>
            </a:avLst>
          </a:prstGeom>
          <a:solidFill>
            <a:srgbClr val="D49A00">
              <a:alpha val="15000"/>
            </a:srgbClr>
          </a:solidFill>
          <a:ln w="9525">
            <a:solidFill>
              <a:srgbClr val="D49A00"/>
            </a:solidFill>
            <a:prstDash val="solid"/>
          </a:ln>
        </p:spPr>
      </p:sp>
      <p:sp>
        <p:nvSpPr>
          <p:cNvPr id="61" name="Text 48"/>
          <p:cNvSpPr txBox="1"/>
          <p:nvPr/>
        </p:nvSpPr>
        <p:spPr>
          <a:xfrm>
            <a:off x="5193792" y="2560320"/>
            <a:ext cx="960120" cy="237744"/>
          </a:xfrm>
          <a:prstGeom prst="rect">
            <a:avLst/>
          </a:prstGeom>
          <a:noFill/>
          <a:ln/>
        </p:spPr>
        <p:txBody>
          <a:bodyPr wrap="square" lIns="0" tIns="0" rIns="0" bIns="0" rtlCol="0" anchor="ctr"/>
          <a:lstStyle/>
          <a:p>
            <a:pPr marL="0" indent="0" algn="ctr">
              <a:buNone/>
            </a:pPr>
            <a:r>
              <a:rPr lang="en-US" sz="950" b="1" dirty="0">
                <a:solidFill>
                  <a:srgbClr val="D49A00"/>
                </a:solidFill>
                <a:latin typeface="Calibri" pitchFamily="34" charset="0"/>
                <a:ea typeface="Calibri" pitchFamily="34" charset="-122"/>
                <a:cs typeface="Calibri" pitchFamily="34" charset="-120"/>
              </a:rPr>
              <a:t>top-k fragments</a:t>
            </a:r>
            <a:endParaRPr lang="en-US" sz="950" dirty="0"/>
          </a:p>
        </p:txBody>
      </p:sp>
      <p:sp>
        <p:nvSpPr>
          <p:cNvPr id="62" name="Text 49"/>
          <p:cNvSpPr txBox="1"/>
          <p:nvPr/>
        </p:nvSpPr>
        <p:spPr>
          <a:xfrm>
            <a:off x="685800" y="4224528"/>
            <a:ext cx="5486400" cy="274320"/>
          </a:xfrm>
          <a:prstGeom prst="rect">
            <a:avLst/>
          </a:prstGeom>
          <a:noFill/>
          <a:ln/>
        </p:spPr>
        <p:txBody>
          <a:bodyPr wrap="square" lIns="0" tIns="0" rIns="0" bIns="0" rtlCol="0" anchor="ctr"/>
          <a:lstStyle/>
          <a:p>
            <a:pPr marL="0" indent="0">
              <a:buNone/>
            </a:pPr>
            <a:r>
              <a:rPr lang="en-US" sz="1300" b="1" dirty="0">
                <a:solidFill>
                  <a:srgbClr val="00704A"/>
                </a:solidFill>
                <a:latin typeface="Calibri" pitchFamily="34" charset="0"/>
                <a:ea typeface="Calibri" pitchFamily="34" charset="-122"/>
                <a:cs typeface="Calibri" pitchFamily="34" charset="-120"/>
              </a:rPr>
              <a:t>② RÉCUPÉRATION &amp; GÉNÉRATION  ·  en ligne, à chaque requête</a:t>
            </a:r>
            <a:endParaRPr lang="en-US" sz="130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FONCTIONNEMENT</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Le RAG en action : une question de bout en bout</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00704A"/>
          </a:solidFill>
          <a:ln w="12700">
            <a:solidFill>
              <a:srgbClr val="00704A"/>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694944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ATI · Big Data pour les statistiques macroéconomiques · Maurice, 26–30 oct. 2026   |   BAD · Data Innovation for Africa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7</a:t>
            </a:r>
            <a:endParaRPr lang="en-US" sz="850" dirty="0"/>
          </a:p>
        </p:txBody>
      </p:sp>
      <p:sp>
        <p:nvSpPr>
          <p:cNvPr id="17" name="Shape 14"/>
          <p:cNvSpPr/>
          <p:nvPr/>
        </p:nvSpPr>
        <p:spPr>
          <a:xfrm>
            <a:off x="731520" y="1600200"/>
            <a:ext cx="0" cy="548640"/>
          </a:xfrm>
          <a:prstGeom prst="line">
            <a:avLst/>
          </a:prstGeom>
          <a:noFill/>
          <a:ln w="25400">
            <a:solidFill>
              <a:srgbClr val="D5DED9"/>
            </a:solidFill>
            <a:prstDash val="solid"/>
          </a:ln>
        </p:spPr>
      </p:sp>
      <p:sp>
        <p:nvSpPr>
          <p:cNvPr id="18" name="Shape 15"/>
          <p:cNvSpPr/>
          <p:nvPr/>
        </p:nvSpPr>
        <p:spPr>
          <a:xfrm>
            <a:off x="566928" y="1399032"/>
            <a:ext cx="329184" cy="329184"/>
          </a:xfrm>
          <a:prstGeom prst="ellipse">
            <a:avLst/>
          </a:prstGeom>
          <a:solidFill>
            <a:srgbClr val="00704A"/>
          </a:solidFill>
          <a:ln w="12700">
            <a:solidFill>
              <a:srgbClr val="00704A"/>
            </a:solidFill>
            <a:prstDash val="solid"/>
          </a:ln>
        </p:spPr>
      </p:sp>
      <p:sp>
        <p:nvSpPr>
          <p:cNvPr id="19" name="Text 16"/>
          <p:cNvSpPr txBox="1"/>
          <p:nvPr/>
        </p:nvSpPr>
        <p:spPr>
          <a:xfrm>
            <a:off x="566928" y="1399032"/>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0" name="Text 17"/>
          <p:cNvSpPr txBox="1"/>
          <p:nvPr/>
        </p:nvSpPr>
        <p:spPr>
          <a:xfrm>
            <a:off x="1051560" y="1399032"/>
            <a:ext cx="1600200" cy="329184"/>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Question</a:t>
            </a:r>
            <a:endParaRPr lang="en-US" sz="1350" dirty="0"/>
          </a:p>
        </p:txBody>
      </p:sp>
      <p:sp>
        <p:nvSpPr>
          <p:cNvPr id="21" name="Shape 18"/>
          <p:cNvSpPr/>
          <p:nvPr/>
        </p:nvSpPr>
        <p:spPr>
          <a:xfrm>
            <a:off x="2697480" y="1325880"/>
            <a:ext cx="5989320" cy="457200"/>
          </a:xfrm>
          <a:prstGeom prst="roundRect">
            <a:avLst>
              <a:gd name="adj" fmla="val 16000"/>
            </a:avLst>
          </a:prstGeom>
          <a:solidFill>
            <a:srgbClr val="F4F7F5"/>
          </a:solidFill>
          <a:ln w="9525">
            <a:solidFill>
              <a:srgbClr val="D5DED9"/>
            </a:solidFill>
            <a:prstDash val="solid"/>
          </a:ln>
        </p:spPr>
      </p:sp>
      <p:sp>
        <p:nvSpPr>
          <p:cNvPr id="22" name="Text 19"/>
          <p:cNvSpPr txBox="1"/>
          <p:nvPr/>
        </p:nvSpPr>
        <p:spPr>
          <a:xfrm>
            <a:off x="2852928" y="1325880"/>
            <a:ext cx="5715000" cy="457200"/>
          </a:xfrm>
          <a:prstGeom prst="rect">
            <a:avLst/>
          </a:prstGeom>
          <a:noFill/>
          <a:ln/>
        </p:spPr>
        <p:txBody>
          <a:bodyPr wrap="square" lIns="0" tIns="0" rIns="0" bIns="0" rtlCol="0" anchor="ctr"/>
          <a:lstStyle/>
          <a:p>
            <a:pPr marL="0" indent="0">
              <a:spcAft>
                <a:spcPts val="200"/>
              </a:spcAft>
              <a:buNone/>
            </a:pPr>
            <a:r>
              <a:rPr lang="en-US" sz="1200" b="1" dirty="0">
                <a:solidFill>
                  <a:srgbClr val="231F20"/>
                </a:solidFill>
                <a:latin typeface="Calibri" pitchFamily="34" charset="0"/>
                <a:ea typeface="Calibri" pitchFamily="34" charset="-122"/>
                <a:cs typeface="Calibri" pitchFamily="34" charset="-120"/>
              </a:rPr>
              <a:t>« Quel était le taux de chômage au deuxième trimestre 2025 ? »</a:t>
            </a:r>
            <a:endParaRPr lang="en-US" sz="1200" dirty="0"/>
          </a:p>
        </p:txBody>
      </p:sp>
      <p:sp>
        <p:nvSpPr>
          <p:cNvPr id="23" name="Shape 20"/>
          <p:cNvSpPr/>
          <p:nvPr/>
        </p:nvSpPr>
        <p:spPr>
          <a:xfrm>
            <a:off x="731520" y="2167128"/>
            <a:ext cx="0" cy="548640"/>
          </a:xfrm>
          <a:prstGeom prst="line">
            <a:avLst/>
          </a:prstGeom>
          <a:noFill/>
          <a:ln w="25400">
            <a:solidFill>
              <a:srgbClr val="D5DED9"/>
            </a:solidFill>
            <a:prstDash val="solid"/>
          </a:ln>
        </p:spPr>
      </p:sp>
      <p:sp>
        <p:nvSpPr>
          <p:cNvPr id="24" name="Shape 21"/>
          <p:cNvSpPr/>
          <p:nvPr/>
        </p:nvSpPr>
        <p:spPr>
          <a:xfrm>
            <a:off x="566928" y="1965960"/>
            <a:ext cx="329184" cy="329184"/>
          </a:xfrm>
          <a:prstGeom prst="ellipse">
            <a:avLst/>
          </a:prstGeom>
          <a:solidFill>
            <a:srgbClr val="00A86A"/>
          </a:solidFill>
          <a:ln w="12700">
            <a:solidFill>
              <a:srgbClr val="00A86A"/>
            </a:solidFill>
            <a:prstDash val="solid"/>
          </a:ln>
        </p:spPr>
      </p:sp>
      <p:sp>
        <p:nvSpPr>
          <p:cNvPr id="25" name="Text 22"/>
          <p:cNvSpPr txBox="1"/>
          <p:nvPr/>
        </p:nvSpPr>
        <p:spPr>
          <a:xfrm>
            <a:off x="566928" y="1965960"/>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6" name="Text 23"/>
          <p:cNvSpPr txBox="1"/>
          <p:nvPr/>
        </p:nvSpPr>
        <p:spPr>
          <a:xfrm>
            <a:off x="1051560" y="1965960"/>
            <a:ext cx="1600200" cy="329184"/>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Encodage</a:t>
            </a:r>
            <a:endParaRPr lang="en-US" sz="1350" dirty="0"/>
          </a:p>
        </p:txBody>
      </p:sp>
      <p:sp>
        <p:nvSpPr>
          <p:cNvPr id="27" name="Shape 24"/>
          <p:cNvSpPr/>
          <p:nvPr/>
        </p:nvSpPr>
        <p:spPr>
          <a:xfrm>
            <a:off x="2697480" y="1892808"/>
            <a:ext cx="5989320" cy="457200"/>
          </a:xfrm>
          <a:prstGeom prst="roundRect">
            <a:avLst>
              <a:gd name="adj" fmla="val 16000"/>
            </a:avLst>
          </a:prstGeom>
          <a:solidFill>
            <a:srgbClr val="F4F7F5"/>
          </a:solidFill>
          <a:ln w="9525">
            <a:solidFill>
              <a:srgbClr val="D5DED9"/>
            </a:solidFill>
            <a:prstDash val="solid"/>
          </a:ln>
        </p:spPr>
      </p:sp>
      <p:sp>
        <p:nvSpPr>
          <p:cNvPr id="28" name="Text 25"/>
          <p:cNvSpPr txBox="1"/>
          <p:nvPr/>
        </p:nvSpPr>
        <p:spPr>
          <a:xfrm>
            <a:off x="2852928" y="1892808"/>
            <a:ext cx="5715000" cy="457200"/>
          </a:xfrm>
          <a:prstGeom prst="rect">
            <a:avLst/>
          </a:prstGeom>
          <a:noFill/>
          <a:ln/>
        </p:spPr>
        <p:txBody>
          <a:bodyPr wrap="square" lIns="0" tIns="0" rIns="0" bIns="0" rtlCol="0" anchor="ctr"/>
          <a:lstStyle/>
          <a:p>
            <a:pPr marL="0" indent="0">
              <a:spcAft>
                <a:spcPts val="200"/>
              </a:spcAft>
              <a:buNone/>
            </a:pPr>
            <a:r>
              <a:rPr lang="en-US" sz="1200" b="1" dirty="0">
                <a:solidFill>
                  <a:srgbClr val="00704A"/>
                </a:solidFill>
                <a:latin typeface="Courier New" pitchFamily="34" charset="0"/>
                <a:ea typeface="Courier New" pitchFamily="34" charset="-122"/>
                <a:cs typeface="Courier New" pitchFamily="34" charset="-120"/>
              </a:rPr>
              <a:t>[ 0.021, −0.487, 0.913, 0.106, … ]</a:t>
            </a:r>
            <a:r>
              <a:rPr lang="en-US" sz="1200" i="1" dirty="0">
                <a:solidFill>
                  <a:srgbClr val="5E6964"/>
                </a:solidFill>
                <a:latin typeface="Calibri" pitchFamily="34" charset="0"/>
                <a:ea typeface="Calibri" pitchFamily="34" charset="-122"/>
                <a:cs typeface="Calibri" pitchFamily="34" charset="-120"/>
              </a:rPr>
              <a:t>   même modèle que pour les documents</a:t>
            </a:r>
            <a:endParaRPr lang="en-US" sz="1200" dirty="0"/>
          </a:p>
        </p:txBody>
      </p:sp>
      <p:sp>
        <p:nvSpPr>
          <p:cNvPr id="29" name="Shape 26"/>
          <p:cNvSpPr/>
          <p:nvPr/>
        </p:nvSpPr>
        <p:spPr>
          <a:xfrm>
            <a:off x="731520" y="2734056"/>
            <a:ext cx="0" cy="1024128"/>
          </a:xfrm>
          <a:prstGeom prst="line">
            <a:avLst/>
          </a:prstGeom>
          <a:noFill/>
          <a:ln w="25400">
            <a:solidFill>
              <a:srgbClr val="D5DED9"/>
            </a:solidFill>
            <a:prstDash val="solid"/>
          </a:ln>
        </p:spPr>
      </p:sp>
      <p:sp>
        <p:nvSpPr>
          <p:cNvPr id="30" name="Shape 27"/>
          <p:cNvSpPr/>
          <p:nvPr/>
        </p:nvSpPr>
        <p:spPr>
          <a:xfrm>
            <a:off x="566928" y="2532888"/>
            <a:ext cx="329184" cy="329184"/>
          </a:xfrm>
          <a:prstGeom prst="ellipse">
            <a:avLst/>
          </a:prstGeom>
          <a:solidFill>
            <a:srgbClr val="0E7C86"/>
          </a:solidFill>
          <a:ln w="12700">
            <a:solidFill>
              <a:srgbClr val="0E7C86"/>
            </a:solidFill>
            <a:prstDash val="solid"/>
          </a:ln>
        </p:spPr>
      </p:sp>
      <p:sp>
        <p:nvSpPr>
          <p:cNvPr id="31" name="Text 28"/>
          <p:cNvSpPr txBox="1"/>
          <p:nvPr/>
        </p:nvSpPr>
        <p:spPr>
          <a:xfrm>
            <a:off x="566928" y="253288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2" name="Text 29"/>
          <p:cNvSpPr txBox="1"/>
          <p:nvPr/>
        </p:nvSpPr>
        <p:spPr>
          <a:xfrm>
            <a:off x="1051560" y="2532888"/>
            <a:ext cx="1600200" cy="329184"/>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Recherche &amp; tri</a:t>
            </a:r>
            <a:endParaRPr lang="en-US" sz="1350" dirty="0"/>
          </a:p>
        </p:txBody>
      </p:sp>
      <p:sp>
        <p:nvSpPr>
          <p:cNvPr id="33" name="Shape 30"/>
          <p:cNvSpPr/>
          <p:nvPr/>
        </p:nvSpPr>
        <p:spPr>
          <a:xfrm>
            <a:off x="2697480" y="2459736"/>
            <a:ext cx="5989320" cy="932688"/>
          </a:xfrm>
          <a:prstGeom prst="roundRect">
            <a:avLst>
              <a:gd name="adj" fmla="val 7843"/>
            </a:avLst>
          </a:prstGeom>
          <a:solidFill>
            <a:srgbClr val="F4F7F5"/>
          </a:solidFill>
          <a:ln w="9525">
            <a:solidFill>
              <a:srgbClr val="D5DED9"/>
            </a:solidFill>
            <a:prstDash val="solid"/>
          </a:ln>
        </p:spPr>
      </p:sp>
      <p:sp>
        <p:nvSpPr>
          <p:cNvPr id="34" name="Text 31"/>
          <p:cNvSpPr txBox="1"/>
          <p:nvPr/>
        </p:nvSpPr>
        <p:spPr>
          <a:xfrm>
            <a:off x="2852928" y="2459736"/>
            <a:ext cx="5715000" cy="932688"/>
          </a:xfrm>
          <a:prstGeom prst="rect">
            <a:avLst/>
          </a:prstGeom>
          <a:noFill/>
          <a:ln/>
        </p:spPr>
        <p:txBody>
          <a:bodyPr wrap="square" lIns="0" tIns="0" rIns="0" bIns="0" rtlCol="0" anchor="ctr"/>
          <a:lstStyle/>
          <a:p>
            <a:pPr marL="0" indent="0">
              <a:spcAft>
                <a:spcPts val="200"/>
              </a:spcAft>
              <a:buNone/>
            </a:pPr>
            <a:r>
              <a:rPr lang="en-US" sz="1100" b="1" dirty="0">
                <a:solidFill>
                  <a:srgbClr val="00704A"/>
                </a:solidFill>
                <a:latin typeface="Courier New" pitchFamily="34" charset="0"/>
                <a:ea typeface="Courier New" pitchFamily="34" charset="-122"/>
                <a:cs typeface="Courier New" pitchFamily="34" charset="-120"/>
              </a:rPr>
              <a:t>0.91  </a:t>
            </a:r>
            <a:r>
              <a:rPr lang="en-US" sz="1100" dirty="0">
                <a:solidFill>
                  <a:srgbClr val="231F20"/>
                </a:solidFill>
                <a:latin typeface="Calibri" pitchFamily="34" charset="0"/>
                <a:ea typeface="Calibri" pitchFamily="34" charset="-122"/>
                <a:cs typeface="Calibri" pitchFamily="34" charset="-120"/>
              </a:rPr>
              <a:t>[1] Rapport sur le marché du travail 2025, tableau 1 — taux de chômage, T2 : 7,8 %</a:t>
            </a:r>
            <a:endParaRPr lang="en-US" sz="1100" dirty="0"/>
          </a:p>
          <a:p>
            <a:pPr marL="0" indent="0">
              <a:spcAft>
                <a:spcPts val="200"/>
              </a:spcAft>
              <a:buNone/>
            </a:pPr>
            <a:r>
              <a:rPr lang="en-US" sz="1100" b="1" dirty="0">
                <a:solidFill>
                  <a:srgbClr val="00704A"/>
                </a:solidFill>
                <a:latin typeface="Courier New" pitchFamily="34" charset="0"/>
                <a:ea typeface="Courier New" pitchFamily="34" charset="-122"/>
                <a:cs typeface="Courier New" pitchFamily="34" charset="-120"/>
              </a:rPr>
              <a:t>0.78  </a:t>
            </a:r>
            <a:r>
              <a:rPr lang="en-US" sz="1100" dirty="0">
                <a:solidFill>
                  <a:srgbClr val="231F20"/>
                </a:solidFill>
                <a:latin typeface="Calibri" pitchFamily="34" charset="0"/>
                <a:ea typeface="Calibri" pitchFamily="34" charset="-122"/>
                <a:cs typeface="Calibri" pitchFamily="34" charset="-120"/>
              </a:rPr>
              <a:t>[2] Rapport 2025, §2 Principaux résultats — moyenne annuelle 7,9 %</a:t>
            </a:r>
            <a:endParaRPr lang="en-US" sz="1100" dirty="0"/>
          </a:p>
          <a:p>
            <a:pPr marL="0" indent="0">
              <a:spcAft>
                <a:spcPts val="200"/>
              </a:spcAft>
              <a:buNone/>
            </a:pPr>
            <a:r>
              <a:rPr lang="en-US" sz="1100" b="1" dirty="0">
                <a:solidFill>
                  <a:srgbClr val="B83B2E"/>
                </a:solidFill>
                <a:latin typeface="Courier New" pitchFamily="34" charset="0"/>
                <a:ea typeface="Courier New" pitchFamily="34" charset="-122"/>
                <a:cs typeface="Courier New" pitchFamily="34" charset="-120"/>
              </a:rPr>
              <a:t>0.35  </a:t>
            </a:r>
            <a:r>
              <a:rPr lang="en-US" sz="1100" dirty="0">
                <a:solidFill>
                  <a:srgbClr val="5E6964"/>
                </a:solidFill>
                <a:latin typeface="Calibri" pitchFamily="34" charset="0"/>
                <a:ea typeface="Calibri" pitchFamily="34" charset="-122"/>
                <a:cs typeface="Calibri" pitchFamily="34" charset="-120"/>
              </a:rPr>
              <a:t>Recensement 2024 — population par région  </a:t>
            </a:r>
            <a:r>
              <a:rPr lang="en-US" sz="1100" i="1" dirty="0">
                <a:solidFill>
                  <a:srgbClr val="B83B2E"/>
                </a:solidFill>
                <a:latin typeface="Calibri" pitchFamily="34" charset="0"/>
                <a:ea typeface="Calibri" pitchFamily="34" charset="-122"/>
                <a:cs typeface="Calibri" pitchFamily="34" charset="-120"/>
              </a:rPr>
              <a:t>(écarté)</a:t>
            </a:r>
            <a:endParaRPr lang="en-US" sz="1100" dirty="0"/>
          </a:p>
        </p:txBody>
      </p:sp>
      <p:sp>
        <p:nvSpPr>
          <p:cNvPr id="35" name="Shape 32"/>
          <p:cNvSpPr/>
          <p:nvPr/>
        </p:nvSpPr>
        <p:spPr>
          <a:xfrm>
            <a:off x="731520" y="3776472"/>
            <a:ext cx="0" cy="548640"/>
          </a:xfrm>
          <a:prstGeom prst="line">
            <a:avLst/>
          </a:prstGeom>
          <a:noFill/>
          <a:ln w="25400">
            <a:solidFill>
              <a:srgbClr val="D5DED9"/>
            </a:solidFill>
            <a:prstDash val="solid"/>
          </a:ln>
        </p:spPr>
      </p:sp>
      <p:sp>
        <p:nvSpPr>
          <p:cNvPr id="36" name="Shape 33"/>
          <p:cNvSpPr/>
          <p:nvPr/>
        </p:nvSpPr>
        <p:spPr>
          <a:xfrm>
            <a:off x="566928" y="3575304"/>
            <a:ext cx="329184" cy="329184"/>
          </a:xfrm>
          <a:prstGeom prst="ellipse">
            <a:avLst/>
          </a:prstGeom>
          <a:solidFill>
            <a:srgbClr val="D49A00"/>
          </a:solidFill>
          <a:ln w="12700">
            <a:solidFill>
              <a:srgbClr val="D49A00"/>
            </a:solidFill>
            <a:prstDash val="solid"/>
          </a:ln>
        </p:spPr>
      </p:sp>
      <p:sp>
        <p:nvSpPr>
          <p:cNvPr id="37" name="Text 34"/>
          <p:cNvSpPr txBox="1"/>
          <p:nvPr/>
        </p:nvSpPr>
        <p:spPr>
          <a:xfrm>
            <a:off x="566928" y="3575304"/>
            <a:ext cx="329184" cy="329184"/>
          </a:xfrm>
          <a:prstGeom prst="rect">
            <a:avLst/>
          </a:prstGeom>
          <a:noFill/>
          <a:ln/>
        </p:spPr>
        <p:txBody>
          <a:bodyPr wrap="square" lIns="0" tIns="0" rIns="0" bIns="0" rtlCol="0" anchor="ctr"/>
          <a:lstStyle/>
          <a:p>
            <a:pPr marL="0" indent="0" algn="ctr">
              <a:buNone/>
            </a:pPr>
            <a:r>
              <a:rPr lang="en-US" sz="1200" b="1" dirty="0">
                <a:solidFill>
                  <a:srgbClr val="231F20"/>
                </a:solidFill>
                <a:latin typeface="Calibri" pitchFamily="34" charset="0"/>
                <a:ea typeface="Calibri" pitchFamily="34" charset="-122"/>
                <a:cs typeface="Calibri" pitchFamily="34" charset="-120"/>
              </a:rPr>
              <a:t>4</a:t>
            </a:r>
            <a:endParaRPr lang="en-US" sz="1200" dirty="0"/>
          </a:p>
        </p:txBody>
      </p:sp>
      <p:sp>
        <p:nvSpPr>
          <p:cNvPr id="38" name="Text 35"/>
          <p:cNvSpPr txBox="1"/>
          <p:nvPr/>
        </p:nvSpPr>
        <p:spPr>
          <a:xfrm>
            <a:off x="1051560" y="3575304"/>
            <a:ext cx="1600200" cy="329184"/>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Augmentation</a:t>
            </a:r>
            <a:endParaRPr lang="en-US" sz="1350" dirty="0"/>
          </a:p>
        </p:txBody>
      </p:sp>
      <p:sp>
        <p:nvSpPr>
          <p:cNvPr id="39" name="Shape 36"/>
          <p:cNvSpPr/>
          <p:nvPr/>
        </p:nvSpPr>
        <p:spPr>
          <a:xfrm>
            <a:off x="2697480" y="3502152"/>
            <a:ext cx="5989320" cy="457200"/>
          </a:xfrm>
          <a:prstGeom prst="roundRect">
            <a:avLst>
              <a:gd name="adj" fmla="val 16000"/>
            </a:avLst>
          </a:prstGeom>
          <a:solidFill>
            <a:srgbClr val="F4F7F5"/>
          </a:solidFill>
          <a:ln w="9525">
            <a:solidFill>
              <a:srgbClr val="D5DED9"/>
            </a:solidFill>
            <a:prstDash val="solid"/>
          </a:ln>
        </p:spPr>
      </p:sp>
      <p:sp>
        <p:nvSpPr>
          <p:cNvPr id="40" name="Text 37"/>
          <p:cNvSpPr txBox="1"/>
          <p:nvPr/>
        </p:nvSpPr>
        <p:spPr>
          <a:xfrm>
            <a:off x="2852928" y="3502152"/>
            <a:ext cx="5715000" cy="457200"/>
          </a:xfrm>
          <a:prstGeom prst="rect">
            <a:avLst/>
          </a:prstGeom>
          <a:noFill/>
          <a:ln/>
        </p:spPr>
        <p:txBody>
          <a:bodyPr wrap="square" lIns="0" tIns="0" rIns="0" bIns="0" rtlCol="0" anchor="ctr"/>
          <a:lstStyle/>
          <a:p>
            <a:pPr marL="0" indent="0">
              <a:spcAft>
                <a:spcPts val="200"/>
              </a:spcAft>
              <a:buNone/>
            </a:pPr>
            <a:r>
              <a:rPr lang="en-US" sz="1200" dirty="0">
                <a:solidFill>
                  <a:srgbClr val="231F20"/>
                </a:solidFill>
                <a:latin typeface="Calibri" pitchFamily="34" charset="0"/>
                <a:ea typeface="Calibri" pitchFamily="34" charset="-122"/>
                <a:cs typeface="Calibri" pitchFamily="34" charset="-120"/>
              </a:rPr>
              <a:t>Consignes + fragments [1] [2] + question  →  un seul prompt envoyé au LLM</a:t>
            </a:r>
            <a:endParaRPr lang="en-US" sz="1200" dirty="0"/>
          </a:p>
        </p:txBody>
      </p:sp>
      <p:sp>
        <p:nvSpPr>
          <p:cNvPr id="41" name="Shape 38"/>
          <p:cNvSpPr/>
          <p:nvPr/>
        </p:nvSpPr>
        <p:spPr>
          <a:xfrm>
            <a:off x="566928" y="4142232"/>
            <a:ext cx="329184" cy="329184"/>
          </a:xfrm>
          <a:prstGeom prst="ellipse">
            <a:avLst/>
          </a:prstGeom>
          <a:solidFill>
            <a:srgbClr val="00A86A"/>
          </a:solidFill>
          <a:ln w="12700">
            <a:solidFill>
              <a:srgbClr val="00A86A"/>
            </a:solidFill>
            <a:prstDash val="solid"/>
          </a:ln>
        </p:spPr>
      </p:sp>
      <p:sp>
        <p:nvSpPr>
          <p:cNvPr id="42" name="Text 39"/>
          <p:cNvSpPr txBox="1"/>
          <p:nvPr/>
        </p:nvSpPr>
        <p:spPr>
          <a:xfrm>
            <a:off x="566928" y="4142232"/>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43" name="Text 40"/>
          <p:cNvSpPr txBox="1"/>
          <p:nvPr/>
        </p:nvSpPr>
        <p:spPr>
          <a:xfrm>
            <a:off x="1051560" y="4142232"/>
            <a:ext cx="1600200" cy="329184"/>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Génération</a:t>
            </a:r>
            <a:endParaRPr lang="en-US" sz="1350" dirty="0"/>
          </a:p>
        </p:txBody>
      </p:sp>
      <p:sp>
        <p:nvSpPr>
          <p:cNvPr id="44" name="Shape 41"/>
          <p:cNvSpPr/>
          <p:nvPr/>
        </p:nvSpPr>
        <p:spPr>
          <a:xfrm>
            <a:off x="2697480" y="4069080"/>
            <a:ext cx="5989320" cy="548640"/>
          </a:xfrm>
          <a:prstGeom prst="roundRect">
            <a:avLst>
              <a:gd name="adj" fmla="val 13333"/>
            </a:avLst>
          </a:prstGeom>
          <a:solidFill>
            <a:srgbClr val="E8F5EF"/>
          </a:solidFill>
          <a:ln w="15875">
            <a:solidFill>
              <a:srgbClr val="00A86A"/>
            </a:solidFill>
            <a:prstDash val="solid"/>
          </a:ln>
        </p:spPr>
      </p:sp>
      <p:sp>
        <p:nvSpPr>
          <p:cNvPr id="45" name="Text 42"/>
          <p:cNvSpPr txBox="1"/>
          <p:nvPr/>
        </p:nvSpPr>
        <p:spPr>
          <a:xfrm>
            <a:off x="2852928" y="4069080"/>
            <a:ext cx="5715000" cy="548640"/>
          </a:xfrm>
          <a:prstGeom prst="rect">
            <a:avLst/>
          </a:prstGeom>
          <a:noFill/>
          <a:ln/>
        </p:spPr>
        <p:txBody>
          <a:bodyPr wrap="square" lIns="0" tIns="0" rIns="0" bIns="0" rtlCol="0" anchor="ctr"/>
          <a:lstStyle/>
          <a:p>
            <a:pPr marL="0" indent="0">
              <a:spcAft>
                <a:spcPts val="200"/>
              </a:spcAft>
              <a:buNone/>
            </a:pPr>
            <a:r>
              <a:rPr lang="en-US" sz="1200" b="1" dirty="0">
                <a:solidFill>
                  <a:srgbClr val="231F20"/>
                </a:solidFill>
                <a:latin typeface="Calibri" pitchFamily="34" charset="0"/>
                <a:ea typeface="Calibri" pitchFamily="34" charset="-122"/>
                <a:cs typeface="Calibri" pitchFamily="34" charset="-120"/>
              </a:rPr>
              <a:t>« Le taux de chômage s'établit à 7,8 % au deuxième trimestre 2025 </a:t>
            </a:r>
            <a:r>
              <a:rPr lang="en-US" sz="1200" b="1" dirty="0">
                <a:solidFill>
                  <a:srgbClr val="00704A"/>
                </a:solidFill>
                <a:latin typeface="Calibri" pitchFamily="34" charset="0"/>
                <a:ea typeface="Calibri" pitchFamily="34" charset="-122"/>
                <a:cs typeface="Calibri" pitchFamily="34" charset="-120"/>
              </a:rPr>
              <a:t>[1]</a:t>
            </a:r>
            <a:r>
              <a:rPr lang="en-US" sz="1200" b="1" dirty="0">
                <a:solidFill>
                  <a:srgbClr val="231F20"/>
                </a:solidFill>
                <a:latin typeface="Calibri" pitchFamily="34" charset="0"/>
                <a:ea typeface="Calibri" pitchFamily="34" charset="-122"/>
                <a:cs typeface="Calibri" pitchFamily="34" charset="-120"/>
              </a:rPr>
              <a:t> ; la moyenne annuelle est de 7,9 % </a:t>
            </a:r>
            <a:r>
              <a:rPr lang="en-US" sz="1200" b="1" dirty="0">
                <a:solidFill>
                  <a:srgbClr val="00704A"/>
                </a:solidFill>
                <a:latin typeface="Calibri" pitchFamily="34" charset="0"/>
                <a:ea typeface="Calibri" pitchFamily="34" charset="-122"/>
                <a:cs typeface="Calibri" pitchFamily="34" charset="-120"/>
              </a:rPr>
              <a:t>[2]</a:t>
            </a:r>
            <a:r>
              <a:rPr lang="en-US" sz="1200" b="1" dirty="0">
                <a:solidFill>
                  <a:srgbClr val="231F20"/>
                </a:solidFill>
                <a:latin typeface="Calibri" pitchFamily="34" charset="0"/>
                <a:ea typeface="Calibri" pitchFamily="34" charset="-122"/>
                <a:cs typeface="Calibri" pitchFamily="34" charset="-120"/>
              </a:rPr>
              <a:t>. »</a:t>
            </a:r>
            <a:endParaRPr lang="en-US" sz="1200" dirty="0"/>
          </a:p>
        </p:txBody>
      </p:sp>
      <p:sp>
        <p:nvSpPr>
          <p:cNvPr id="46" name="Text 43"/>
          <p:cNvSpPr txBox="1"/>
          <p:nvPr/>
        </p:nvSpPr>
        <p:spPr>
          <a:xfrm>
            <a:off x="2697480" y="4645152"/>
            <a:ext cx="457200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Illustratif — les rapports fictifs du notebook de l'atelier ; vecteurs et scores simplifiés.</a:t>
            </a:r>
            <a:endParaRPr lang="en-US" sz="90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FONCTIONNEMENT · ÉTAPE 3 RÉCUPÉRATION</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Creuse, dense, hybride — puis reclassement</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00704A"/>
          </a:solidFill>
          <a:ln w="12700">
            <a:solidFill>
              <a:srgbClr val="00704A"/>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694944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ATI · Big Data pour les statistiques macroéconomiques · Maurice, 26–30 oct. 2026   |   BAD · Data Innovation for Africa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8</a:t>
            </a:r>
            <a:endParaRPr lang="en-US" sz="850" dirty="0"/>
          </a:p>
        </p:txBody>
      </p:sp>
      <p:sp>
        <p:nvSpPr>
          <p:cNvPr id="17" name="Shape 14"/>
          <p:cNvSpPr/>
          <p:nvPr/>
        </p:nvSpPr>
        <p:spPr>
          <a:xfrm>
            <a:off x="457200" y="1325880"/>
            <a:ext cx="2615184" cy="1783080"/>
          </a:xfrm>
          <a:prstGeom prst="roundRect">
            <a:avLst>
              <a:gd name="adj" fmla="val 4103"/>
            </a:avLst>
          </a:prstGeom>
          <a:solidFill>
            <a:srgbClr val="F4F7F5"/>
          </a:solidFill>
          <a:ln w="9525">
            <a:solidFill>
              <a:srgbClr val="D5DED9"/>
            </a:solidFill>
            <a:prstDash val="solid"/>
          </a:ln>
        </p:spPr>
      </p:sp>
      <p:sp>
        <p:nvSpPr>
          <p:cNvPr id="18" name="Shape 15"/>
          <p:cNvSpPr/>
          <p:nvPr/>
        </p:nvSpPr>
        <p:spPr>
          <a:xfrm>
            <a:off x="640080" y="1463040"/>
            <a:ext cx="457200" cy="457200"/>
          </a:xfrm>
          <a:prstGeom prst="ellipse">
            <a:avLst/>
          </a:prstGeom>
          <a:solidFill>
            <a:srgbClr val="C4621D">
              <a:alpha val="22000"/>
            </a:srgbClr>
          </a:solidFill>
          <a:ln w="12700">
            <a:solidFill>
              <a:srgbClr val="C4621D">
                <a:alpha val="0"/>
              </a:srgbClr>
            </a:solidFill>
            <a:prstDash val="solid"/>
          </a:ln>
        </p:spPr>
      </p:sp>
      <p:pic>
        <p:nvPicPr>
          <p:cNvPr id="19" name="Image 0" descr="preencoded.png"/>
          <p:cNvPicPr>
            <a:picLocks noChangeAspect="1"/>
          </p:cNvPicPr>
          <p:nvPr/>
        </p:nvPicPr>
        <p:blipFill>
          <a:blip r:embed="rId3"/>
          <a:stretch>
            <a:fillRect/>
          </a:stretch>
        </p:blipFill>
        <p:spPr>
          <a:xfrm>
            <a:off x="749808" y="1572768"/>
            <a:ext cx="237744" cy="237744"/>
          </a:xfrm>
          <a:prstGeom prst="rect">
            <a:avLst/>
          </a:prstGeom>
        </p:spPr>
      </p:pic>
      <p:sp>
        <p:nvSpPr>
          <p:cNvPr id="20" name="Text 16"/>
          <p:cNvSpPr txBox="1"/>
          <p:nvPr/>
        </p:nvSpPr>
        <p:spPr>
          <a:xfrm>
            <a:off x="1234440" y="1536192"/>
            <a:ext cx="1783080" cy="320040"/>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Creuse · BM25</a:t>
            </a:r>
            <a:endParaRPr lang="en-US" sz="1400" dirty="0"/>
          </a:p>
        </p:txBody>
      </p:sp>
      <p:sp>
        <p:nvSpPr>
          <p:cNvPr id="21" name="Text 17"/>
          <p:cNvSpPr txBox="1"/>
          <p:nvPr/>
        </p:nvSpPr>
        <p:spPr>
          <a:xfrm>
            <a:off x="640080" y="2057400"/>
            <a:ext cx="2286000" cy="45720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Correspondance de mots-clés pondérée par fréquence.</a:t>
            </a:r>
            <a:endParaRPr lang="en-US" sz="1150" dirty="0"/>
          </a:p>
        </p:txBody>
      </p:sp>
      <p:sp>
        <p:nvSpPr>
          <p:cNvPr id="22" name="Text 18"/>
          <p:cNvSpPr txBox="1"/>
          <p:nvPr/>
        </p:nvSpPr>
        <p:spPr>
          <a:xfrm>
            <a:off x="640080" y="2542032"/>
            <a:ext cx="2286000" cy="457200"/>
          </a:xfrm>
          <a:prstGeom prst="rect">
            <a:avLst/>
          </a:prstGeom>
          <a:noFill/>
          <a:ln/>
        </p:spPr>
        <p:txBody>
          <a:bodyPr wrap="square" lIns="0" tIns="0" rIns="0" bIns="0" rtlCol="0" anchor="t"/>
          <a:lstStyle/>
          <a:p>
            <a:pPr marL="0" indent="0">
              <a:buNone/>
            </a:pPr>
            <a:r>
              <a:rPr lang="en-US" sz="1100" dirty="0">
                <a:solidFill>
                  <a:srgbClr val="5E6964"/>
                </a:solidFill>
                <a:latin typeface="Calibri" pitchFamily="34" charset="0"/>
                <a:ea typeface="Calibri" pitchFamily="34" charset="-122"/>
                <a:cs typeface="Calibri" pitchFamily="34" charset="-120"/>
              </a:rPr>
              <a:t>Idéale pour termes exacts, codes produits, noms, mots rares.</a:t>
            </a:r>
            <a:endParaRPr lang="en-US" sz="1100" dirty="0"/>
          </a:p>
        </p:txBody>
      </p:sp>
      <p:sp>
        <p:nvSpPr>
          <p:cNvPr id="23" name="Shape 19"/>
          <p:cNvSpPr/>
          <p:nvPr/>
        </p:nvSpPr>
        <p:spPr>
          <a:xfrm>
            <a:off x="3264408" y="1325880"/>
            <a:ext cx="2615184" cy="1783080"/>
          </a:xfrm>
          <a:prstGeom prst="roundRect">
            <a:avLst>
              <a:gd name="adj" fmla="val 4103"/>
            </a:avLst>
          </a:prstGeom>
          <a:solidFill>
            <a:srgbClr val="F4F7F5"/>
          </a:solidFill>
          <a:ln w="9525">
            <a:solidFill>
              <a:srgbClr val="D5DED9"/>
            </a:solidFill>
            <a:prstDash val="solid"/>
          </a:ln>
        </p:spPr>
      </p:sp>
      <p:sp>
        <p:nvSpPr>
          <p:cNvPr id="24" name="Shape 20"/>
          <p:cNvSpPr/>
          <p:nvPr/>
        </p:nvSpPr>
        <p:spPr>
          <a:xfrm>
            <a:off x="3447288" y="1463040"/>
            <a:ext cx="457200" cy="457200"/>
          </a:xfrm>
          <a:prstGeom prst="ellipse">
            <a:avLst/>
          </a:prstGeom>
          <a:solidFill>
            <a:srgbClr val="0E7C86">
              <a:alpha val="22000"/>
            </a:srgbClr>
          </a:solidFill>
          <a:ln w="12700">
            <a:solidFill>
              <a:srgbClr val="0E7C86">
                <a:alpha val="0"/>
              </a:srgbClr>
            </a:solidFill>
            <a:prstDash val="solid"/>
          </a:ln>
        </p:spPr>
      </p:sp>
      <p:pic>
        <p:nvPicPr>
          <p:cNvPr id="25" name="Image 1" descr="preencoded.png"/>
          <p:cNvPicPr>
            <a:picLocks noChangeAspect="1"/>
          </p:cNvPicPr>
          <p:nvPr/>
        </p:nvPicPr>
        <p:blipFill>
          <a:blip r:embed="rId4"/>
          <a:stretch>
            <a:fillRect/>
          </a:stretch>
        </p:blipFill>
        <p:spPr>
          <a:xfrm>
            <a:off x="3557016" y="1572768"/>
            <a:ext cx="237744" cy="237744"/>
          </a:xfrm>
          <a:prstGeom prst="rect">
            <a:avLst/>
          </a:prstGeom>
        </p:spPr>
      </p:pic>
      <p:sp>
        <p:nvSpPr>
          <p:cNvPr id="26" name="Text 21"/>
          <p:cNvSpPr txBox="1"/>
          <p:nvPr/>
        </p:nvSpPr>
        <p:spPr>
          <a:xfrm>
            <a:off x="4041648" y="1536192"/>
            <a:ext cx="1783080" cy="320040"/>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Dense · Embeddings</a:t>
            </a:r>
            <a:endParaRPr lang="en-US" sz="1400" dirty="0"/>
          </a:p>
        </p:txBody>
      </p:sp>
      <p:sp>
        <p:nvSpPr>
          <p:cNvPr id="27" name="Text 22"/>
          <p:cNvSpPr txBox="1"/>
          <p:nvPr/>
        </p:nvSpPr>
        <p:spPr>
          <a:xfrm>
            <a:off x="3447288" y="2057400"/>
            <a:ext cx="2286000" cy="45720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Similarité vectorielle sur le sens.</a:t>
            </a:r>
            <a:endParaRPr lang="en-US" sz="1150" dirty="0"/>
          </a:p>
        </p:txBody>
      </p:sp>
      <p:sp>
        <p:nvSpPr>
          <p:cNvPr id="28" name="Text 23"/>
          <p:cNvSpPr txBox="1"/>
          <p:nvPr/>
        </p:nvSpPr>
        <p:spPr>
          <a:xfrm>
            <a:off x="3447288" y="2542032"/>
            <a:ext cx="2286000" cy="457200"/>
          </a:xfrm>
          <a:prstGeom prst="rect">
            <a:avLst/>
          </a:prstGeom>
          <a:noFill/>
          <a:ln/>
        </p:spPr>
        <p:txBody>
          <a:bodyPr wrap="square" lIns="0" tIns="0" rIns="0" bIns="0" rtlCol="0" anchor="t"/>
          <a:lstStyle/>
          <a:p>
            <a:pPr marL="0" indent="0">
              <a:buNone/>
            </a:pPr>
            <a:r>
              <a:rPr lang="en-US" sz="1100" dirty="0">
                <a:solidFill>
                  <a:srgbClr val="5E6964"/>
                </a:solidFill>
                <a:latin typeface="Calibri" pitchFamily="34" charset="0"/>
                <a:ea typeface="Calibri" pitchFamily="34" charset="-122"/>
                <a:cs typeface="Calibri" pitchFamily="34" charset="-120"/>
              </a:rPr>
              <a:t>Idéale pour paraphrases, synonymes, questions en langage naturel.</a:t>
            </a:r>
            <a:endParaRPr lang="en-US" sz="1100" dirty="0"/>
          </a:p>
        </p:txBody>
      </p:sp>
      <p:sp>
        <p:nvSpPr>
          <p:cNvPr id="29" name="Shape 24"/>
          <p:cNvSpPr/>
          <p:nvPr/>
        </p:nvSpPr>
        <p:spPr>
          <a:xfrm>
            <a:off x="6071616" y="1325880"/>
            <a:ext cx="2615184" cy="1783080"/>
          </a:xfrm>
          <a:prstGeom prst="roundRect">
            <a:avLst>
              <a:gd name="adj" fmla="val 4103"/>
            </a:avLst>
          </a:prstGeom>
          <a:solidFill>
            <a:srgbClr val="E8F5EF"/>
          </a:solidFill>
          <a:ln w="15875">
            <a:solidFill>
              <a:srgbClr val="00A86A"/>
            </a:solidFill>
            <a:prstDash val="solid"/>
          </a:ln>
        </p:spPr>
      </p:sp>
      <p:sp>
        <p:nvSpPr>
          <p:cNvPr id="30" name="Shape 25"/>
          <p:cNvSpPr/>
          <p:nvPr/>
        </p:nvSpPr>
        <p:spPr>
          <a:xfrm>
            <a:off x="6254496" y="1463040"/>
            <a:ext cx="457200" cy="457200"/>
          </a:xfrm>
          <a:prstGeom prst="ellipse">
            <a:avLst/>
          </a:prstGeom>
          <a:solidFill>
            <a:srgbClr val="00A86A">
              <a:alpha val="22000"/>
            </a:srgbClr>
          </a:solidFill>
          <a:ln w="12700">
            <a:solidFill>
              <a:srgbClr val="00A86A">
                <a:alpha val="0"/>
              </a:srgbClr>
            </a:solidFill>
            <a:prstDash val="solid"/>
          </a:ln>
        </p:spPr>
      </p:sp>
      <p:pic>
        <p:nvPicPr>
          <p:cNvPr id="31" name="Image 2" descr="preencoded.png"/>
          <p:cNvPicPr>
            <a:picLocks noChangeAspect="1"/>
          </p:cNvPicPr>
          <p:nvPr/>
        </p:nvPicPr>
        <p:blipFill>
          <a:blip r:embed="rId5"/>
          <a:stretch>
            <a:fillRect/>
          </a:stretch>
        </p:blipFill>
        <p:spPr>
          <a:xfrm>
            <a:off x="6364224" y="1572768"/>
            <a:ext cx="237744" cy="237744"/>
          </a:xfrm>
          <a:prstGeom prst="rect">
            <a:avLst/>
          </a:prstGeom>
        </p:spPr>
      </p:pic>
      <p:sp>
        <p:nvSpPr>
          <p:cNvPr id="32" name="Text 26"/>
          <p:cNvSpPr txBox="1"/>
          <p:nvPr/>
        </p:nvSpPr>
        <p:spPr>
          <a:xfrm>
            <a:off x="6848856" y="1536192"/>
            <a:ext cx="1783080" cy="320040"/>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Hybride</a:t>
            </a:r>
            <a:endParaRPr lang="en-US" sz="1400" dirty="0"/>
          </a:p>
        </p:txBody>
      </p:sp>
      <p:sp>
        <p:nvSpPr>
          <p:cNvPr id="33" name="Text 27"/>
          <p:cNvSpPr txBox="1"/>
          <p:nvPr/>
        </p:nvSpPr>
        <p:spPr>
          <a:xfrm>
            <a:off x="6254496" y="2057400"/>
            <a:ext cx="2286000" cy="45720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Fusionne les deux classements (Reciprocal Rank Fusion).</a:t>
            </a:r>
            <a:endParaRPr lang="en-US" sz="1150" dirty="0"/>
          </a:p>
        </p:txBody>
      </p:sp>
      <p:sp>
        <p:nvSpPr>
          <p:cNvPr id="34" name="Text 28"/>
          <p:cNvSpPr txBox="1"/>
          <p:nvPr/>
        </p:nvSpPr>
        <p:spPr>
          <a:xfrm>
            <a:off x="6254496" y="2542032"/>
            <a:ext cx="2286000" cy="457200"/>
          </a:xfrm>
          <a:prstGeom prst="rect">
            <a:avLst/>
          </a:prstGeom>
          <a:noFill/>
          <a:ln/>
        </p:spPr>
        <p:txBody>
          <a:bodyPr wrap="square" lIns="0" tIns="0" rIns="0" bIns="0" rtlCol="0" anchor="t"/>
          <a:lstStyle/>
          <a:p>
            <a:pPr marL="0" indent="0">
              <a:buNone/>
            </a:pPr>
            <a:r>
              <a:rPr lang="en-US" sz="1300" b="1" dirty="0">
                <a:solidFill>
                  <a:srgbClr val="00704A"/>
                </a:solidFill>
                <a:latin typeface="Calibri" pitchFamily="34" charset="0"/>
                <a:ea typeface="Calibri" pitchFamily="34" charset="-122"/>
                <a:cs typeface="Calibri" pitchFamily="34" charset="-120"/>
              </a:rPr>
              <a:t>RRF(d) = Σ 1 / (k + rankᵢ(d))</a:t>
            </a:r>
            <a:endParaRPr lang="en-US" sz="1300" dirty="0"/>
          </a:p>
        </p:txBody>
      </p:sp>
      <p:sp>
        <p:nvSpPr>
          <p:cNvPr id="35" name="Shape 29"/>
          <p:cNvSpPr/>
          <p:nvPr/>
        </p:nvSpPr>
        <p:spPr>
          <a:xfrm>
            <a:off x="457200" y="3291840"/>
            <a:ext cx="8229600" cy="1371600"/>
          </a:xfrm>
          <a:prstGeom prst="roundRect">
            <a:avLst>
              <a:gd name="adj" fmla="val 5333"/>
            </a:avLst>
          </a:prstGeom>
          <a:solidFill>
            <a:srgbClr val="F4F7F5"/>
          </a:solidFill>
          <a:ln w="9525">
            <a:solidFill>
              <a:srgbClr val="D5DED9"/>
            </a:solidFill>
            <a:prstDash val="solid"/>
          </a:ln>
        </p:spPr>
      </p:sp>
      <p:sp>
        <p:nvSpPr>
          <p:cNvPr id="36" name="Text 30"/>
          <p:cNvSpPr txBox="1"/>
          <p:nvPr/>
        </p:nvSpPr>
        <p:spPr>
          <a:xfrm>
            <a:off x="685800" y="3429000"/>
            <a:ext cx="2011680" cy="228600"/>
          </a:xfrm>
          <a:prstGeom prst="rect">
            <a:avLst/>
          </a:prstGeom>
          <a:noFill/>
          <a:ln/>
        </p:spPr>
        <p:txBody>
          <a:bodyPr wrap="square" lIns="0" tIns="0" rIns="0" bIns="0" rtlCol="0" anchor="ctr"/>
          <a:lstStyle/>
          <a:p>
            <a:pPr marL="0" indent="0">
              <a:buNone/>
            </a:pPr>
            <a:r>
              <a:rPr lang="en-US" sz="1050" b="1" kern="0" spc="300" dirty="0">
                <a:solidFill>
                  <a:srgbClr val="00704A"/>
                </a:solidFill>
                <a:latin typeface="Calibri" pitchFamily="34" charset="0"/>
                <a:ea typeface="Calibri" pitchFamily="34" charset="-122"/>
                <a:cs typeface="Calibri" pitchFamily="34" charset="-120"/>
              </a:rPr>
              <a:t>RECLASSEMENT</a:t>
            </a:r>
            <a:endParaRPr lang="en-US" sz="1050" dirty="0"/>
          </a:p>
        </p:txBody>
      </p:sp>
      <p:sp>
        <p:nvSpPr>
          <p:cNvPr id="37" name="Text 31"/>
          <p:cNvSpPr txBox="1"/>
          <p:nvPr/>
        </p:nvSpPr>
        <p:spPr>
          <a:xfrm>
            <a:off x="685800" y="3685032"/>
            <a:ext cx="2103120" cy="822960"/>
          </a:xfrm>
          <a:prstGeom prst="rect">
            <a:avLst/>
          </a:prstGeom>
          <a:noFill/>
          <a:ln/>
        </p:spPr>
        <p:txBody>
          <a:bodyPr wrap="square" lIns="0" tIns="0" rIns="0" bIns="0" rtlCol="0" anchor="ctr"/>
          <a:lstStyle/>
          <a:p>
            <a:pPr marL="0" indent="0">
              <a:buNone/>
            </a:pPr>
            <a:r>
              <a:rPr lang="en-US" sz="1250" dirty="0">
                <a:solidFill>
                  <a:srgbClr val="231F20"/>
                </a:solidFill>
                <a:latin typeface="Calibri" pitchFamily="34" charset="0"/>
                <a:ea typeface="Calibri" pitchFamily="34" charset="-122"/>
                <a:cs typeface="Calibri" pitchFamily="34" charset="-120"/>
              </a:rPr>
              <a:t>Recherche en deux temps : d'abord large et rapide, puis notation précise.</a:t>
            </a:r>
            <a:endParaRPr lang="en-US" sz="1250" dirty="0"/>
          </a:p>
        </p:txBody>
      </p:sp>
      <p:sp>
        <p:nvSpPr>
          <p:cNvPr id="38" name="Shape 32"/>
          <p:cNvSpPr/>
          <p:nvPr/>
        </p:nvSpPr>
        <p:spPr>
          <a:xfrm>
            <a:off x="2971800" y="3474720"/>
            <a:ext cx="2103120" cy="1005840"/>
          </a:xfrm>
          <a:prstGeom prst="roundRect">
            <a:avLst>
              <a:gd name="adj" fmla="val 7273"/>
            </a:avLst>
          </a:prstGeom>
          <a:solidFill>
            <a:srgbClr val="FFFFFF"/>
          </a:solidFill>
          <a:ln w="15875">
            <a:solidFill>
              <a:srgbClr val="5E6964"/>
            </a:solidFill>
            <a:prstDash val="solid"/>
          </a:ln>
        </p:spPr>
      </p:sp>
      <p:sp>
        <p:nvSpPr>
          <p:cNvPr id="39" name="Text 33"/>
          <p:cNvSpPr txBox="1"/>
          <p:nvPr/>
        </p:nvSpPr>
        <p:spPr>
          <a:xfrm>
            <a:off x="3063240" y="3547872"/>
            <a:ext cx="1920240" cy="274320"/>
          </a:xfrm>
          <a:prstGeom prst="rect">
            <a:avLst/>
          </a:prstGeom>
          <a:noFill/>
          <a:ln/>
        </p:spPr>
        <p:txBody>
          <a:bodyPr wrap="square" lIns="0" tIns="0" rIns="0" bIns="0" rtlCol="0" anchor="ctr"/>
          <a:lstStyle/>
          <a:p>
            <a:pPr marL="0" indent="0" algn="ctr">
              <a:buNone/>
            </a:pPr>
            <a:r>
              <a:rPr lang="en-US" sz="1150" b="1" dirty="0">
                <a:solidFill>
                  <a:srgbClr val="231F20"/>
                </a:solidFill>
                <a:latin typeface="Calibri" pitchFamily="34" charset="0"/>
                <a:ea typeface="Calibri" pitchFamily="34" charset="-122"/>
                <a:cs typeface="Calibri" pitchFamily="34" charset="-120"/>
              </a:rPr>
              <a:t>Top 50 / 100 candidats</a:t>
            </a:r>
            <a:endParaRPr lang="en-US" sz="1150" dirty="0"/>
          </a:p>
        </p:txBody>
      </p:sp>
      <p:sp>
        <p:nvSpPr>
          <p:cNvPr id="40" name="Text 34"/>
          <p:cNvSpPr txBox="1"/>
          <p:nvPr/>
        </p:nvSpPr>
        <p:spPr>
          <a:xfrm>
            <a:off x="3063240" y="3822192"/>
            <a:ext cx="1920240" cy="594360"/>
          </a:xfrm>
          <a:prstGeom prst="rect">
            <a:avLst/>
          </a:prstGeom>
          <a:noFill/>
          <a:ln/>
        </p:spPr>
        <p:txBody>
          <a:bodyPr wrap="square" lIns="0" tIns="0" rIns="0" bIns="0" rtlCol="0" anchor="t"/>
          <a:lstStyle/>
          <a:p>
            <a:pPr marL="0" indent="0" algn="ctr">
              <a:buNone/>
            </a:pPr>
            <a:r>
              <a:rPr lang="en-US" sz="1000" dirty="0">
                <a:solidFill>
                  <a:srgbClr val="5E6964"/>
                </a:solidFill>
                <a:latin typeface="Calibri" pitchFamily="34" charset="0"/>
                <a:ea typeface="Calibri" pitchFamily="34" charset="-122"/>
                <a:cs typeface="Calibri" pitchFamily="34" charset="-120"/>
              </a:rPr>
              <a:t>Bi-encodeur ou BM25 · rapide</a:t>
            </a:r>
            <a:endParaRPr lang="en-US" sz="1000" dirty="0"/>
          </a:p>
        </p:txBody>
      </p:sp>
      <p:sp>
        <p:nvSpPr>
          <p:cNvPr id="41" name="Shape 35"/>
          <p:cNvSpPr/>
          <p:nvPr/>
        </p:nvSpPr>
        <p:spPr>
          <a:xfrm>
            <a:off x="5102352" y="3977640"/>
            <a:ext cx="173736" cy="914"/>
          </a:xfrm>
          <a:prstGeom prst="line">
            <a:avLst/>
          </a:prstGeom>
          <a:noFill/>
          <a:ln w="19050">
            <a:solidFill>
              <a:srgbClr val="5E6964"/>
            </a:solidFill>
            <a:prstDash val="solid"/>
            <a:tailEnd type="triangle"/>
          </a:ln>
        </p:spPr>
      </p:sp>
      <p:sp>
        <p:nvSpPr>
          <p:cNvPr id="42" name="Shape 36"/>
          <p:cNvSpPr/>
          <p:nvPr/>
        </p:nvSpPr>
        <p:spPr>
          <a:xfrm>
            <a:off x="5303520" y="3557016"/>
            <a:ext cx="1737360" cy="841248"/>
          </a:xfrm>
          <a:prstGeom prst="roundRect">
            <a:avLst>
              <a:gd name="adj" fmla="val 8696"/>
            </a:avLst>
          </a:prstGeom>
          <a:solidFill>
            <a:srgbClr val="E8F5EF"/>
          </a:solidFill>
          <a:ln w="15875">
            <a:solidFill>
              <a:srgbClr val="00A86A"/>
            </a:solidFill>
            <a:prstDash val="solid"/>
          </a:ln>
        </p:spPr>
      </p:sp>
      <p:sp>
        <p:nvSpPr>
          <p:cNvPr id="43" name="Text 37"/>
          <p:cNvSpPr txBox="1"/>
          <p:nvPr/>
        </p:nvSpPr>
        <p:spPr>
          <a:xfrm>
            <a:off x="5394960" y="3630168"/>
            <a:ext cx="1554480" cy="274320"/>
          </a:xfrm>
          <a:prstGeom prst="rect">
            <a:avLst/>
          </a:prstGeom>
          <a:noFill/>
          <a:ln/>
        </p:spPr>
        <p:txBody>
          <a:bodyPr wrap="square" lIns="0" tIns="0" rIns="0" bIns="0" rtlCol="0" anchor="ctr"/>
          <a:lstStyle/>
          <a:p>
            <a:pPr marL="0" indent="0" algn="ctr">
              <a:buNone/>
            </a:pPr>
            <a:r>
              <a:rPr lang="en-US" sz="1150" b="1" dirty="0">
                <a:solidFill>
                  <a:srgbClr val="231F20"/>
                </a:solidFill>
                <a:latin typeface="Calibri" pitchFamily="34" charset="0"/>
                <a:ea typeface="Calibri" pitchFamily="34" charset="-122"/>
                <a:cs typeface="Calibri" pitchFamily="34" charset="-120"/>
              </a:rPr>
              <a:t>Renotation cross-encoder</a:t>
            </a:r>
            <a:endParaRPr lang="en-US" sz="1150" dirty="0"/>
          </a:p>
        </p:txBody>
      </p:sp>
      <p:sp>
        <p:nvSpPr>
          <p:cNvPr id="44" name="Text 38"/>
          <p:cNvSpPr txBox="1"/>
          <p:nvPr/>
        </p:nvSpPr>
        <p:spPr>
          <a:xfrm>
            <a:off x="5394960" y="3904488"/>
            <a:ext cx="1554480" cy="429768"/>
          </a:xfrm>
          <a:prstGeom prst="rect">
            <a:avLst/>
          </a:prstGeom>
          <a:noFill/>
          <a:ln/>
        </p:spPr>
        <p:txBody>
          <a:bodyPr wrap="square" lIns="0" tIns="0" rIns="0" bIns="0" rtlCol="0" anchor="t"/>
          <a:lstStyle/>
          <a:p>
            <a:pPr marL="0" indent="0" algn="ctr">
              <a:buNone/>
            </a:pPr>
            <a:r>
              <a:rPr lang="en-US" sz="1000" dirty="0">
                <a:solidFill>
                  <a:srgbClr val="5E6964"/>
                </a:solidFill>
                <a:latin typeface="Calibri" pitchFamily="34" charset="0"/>
                <a:ea typeface="Calibri" pitchFamily="34" charset="-122"/>
                <a:cs typeface="Calibri" pitchFamily="34" charset="-120"/>
              </a:rPr>
              <a:t>Lit requête + passage ensemble · précis</a:t>
            </a:r>
            <a:endParaRPr lang="en-US" sz="1000" dirty="0"/>
          </a:p>
        </p:txBody>
      </p:sp>
      <p:sp>
        <p:nvSpPr>
          <p:cNvPr id="45" name="Shape 39"/>
          <p:cNvSpPr/>
          <p:nvPr/>
        </p:nvSpPr>
        <p:spPr>
          <a:xfrm>
            <a:off x="7068312" y="3977640"/>
            <a:ext cx="173736" cy="914"/>
          </a:xfrm>
          <a:prstGeom prst="line">
            <a:avLst/>
          </a:prstGeom>
          <a:noFill/>
          <a:ln w="19050">
            <a:solidFill>
              <a:srgbClr val="5E6964"/>
            </a:solidFill>
            <a:prstDash val="solid"/>
            <a:tailEnd type="triangle"/>
          </a:ln>
        </p:spPr>
      </p:sp>
      <p:sp>
        <p:nvSpPr>
          <p:cNvPr id="46" name="Shape 40"/>
          <p:cNvSpPr/>
          <p:nvPr/>
        </p:nvSpPr>
        <p:spPr>
          <a:xfrm>
            <a:off x="7269480" y="3639312"/>
            <a:ext cx="1371600" cy="676656"/>
          </a:xfrm>
          <a:prstGeom prst="roundRect">
            <a:avLst>
              <a:gd name="adj" fmla="val 10811"/>
            </a:avLst>
          </a:prstGeom>
          <a:solidFill>
            <a:srgbClr val="FDF3D7"/>
          </a:solidFill>
          <a:ln w="15875">
            <a:solidFill>
              <a:srgbClr val="D49A00"/>
            </a:solidFill>
            <a:prstDash val="solid"/>
          </a:ln>
        </p:spPr>
      </p:sp>
      <p:sp>
        <p:nvSpPr>
          <p:cNvPr id="47" name="Text 41"/>
          <p:cNvSpPr txBox="1"/>
          <p:nvPr/>
        </p:nvSpPr>
        <p:spPr>
          <a:xfrm>
            <a:off x="7360920" y="3712464"/>
            <a:ext cx="1188720" cy="274320"/>
          </a:xfrm>
          <a:prstGeom prst="rect">
            <a:avLst/>
          </a:prstGeom>
          <a:noFill/>
          <a:ln/>
        </p:spPr>
        <p:txBody>
          <a:bodyPr wrap="square" lIns="0" tIns="0" rIns="0" bIns="0" rtlCol="0" anchor="ctr"/>
          <a:lstStyle/>
          <a:p>
            <a:pPr marL="0" indent="0" algn="ctr">
              <a:buNone/>
            </a:pPr>
            <a:r>
              <a:rPr lang="en-US" sz="1150" b="1" dirty="0">
                <a:solidFill>
                  <a:srgbClr val="231F20"/>
                </a:solidFill>
                <a:latin typeface="Calibri" pitchFamily="34" charset="0"/>
                <a:ea typeface="Calibri" pitchFamily="34" charset="-122"/>
                <a:cs typeface="Calibri" pitchFamily="34" charset="-120"/>
              </a:rPr>
              <a:t>Top 3 à 10</a:t>
            </a:r>
            <a:endParaRPr lang="en-US" sz="1150" dirty="0"/>
          </a:p>
        </p:txBody>
      </p:sp>
      <p:sp>
        <p:nvSpPr>
          <p:cNvPr id="48" name="Text 42"/>
          <p:cNvSpPr txBox="1"/>
          <p:nvPr/>
        </p:nvSpPr>
        <p:spPr>
          <a:xfrm>
            <a:off x="7360920" y="3986784"/>
            <a:ext cx="1188720" cy="265176"/>
          </a:xfrm>
          <a:prstGeom prst="rect">
            <a:avLst/>
          </a:prstGeom>
          <a:noFill/>
          <a:ln/>
        </p:spPr>
        <p:txBody>
          <a:bodyPr wrap="square" lIns="0" tIns="0" rIns="0" bIns="0" rtlCol="0" anchor="t"/>
          <a:lstStyle/>
          <a:p>
            <a:pPr marL="0" indent="0" algn="ctr">
              <a:buNone/>
            </a:pPr>
            <a:r>
              <a:rPr lang="en-US" sz="1000" dirty="0">
                <a:solidFill>
                  <a:srgbClr val="5E6964"/>
                </a:solidFill>
                <a:latin typeface="Calibri" pitchFamily="34" charset="0"/>
                <a:ea typeface="Calibri" pitchFamily="34" charset="-122"/>
                <a:cs typeface="Calibri" pitchFamily="34" charset="-120"/>
              </a:rPr>
              <a:t>Envoyés au LLM</a:t>
            </a:r>
            <a:endParaRPr lang="en-US" sz="100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FONCTIONNEMENT · ÉTAPE 4 GÉNÉRATION</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Construire le prompt augmenté</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00704A"/>
          </a:solidFill>
          <a:ln w="12700">
            <a:solidFill>
              <a:srgbClr val="00704A"/>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694944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ATI · Big Data pour les statistiques macroéconomiques · Maurice, 26–30 oct. 2026   |   BAD · Data Innovation for Africa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9</a:t>
            </a:r>
            <a:endParaRPr lang="en-US" sz="850" dirty="0"/>
          </a:p>
        </p:txBody>
      </p:sp>
      <p:sp>
        <p:nvSpPr>
          <p:cNvPr id="17" name="Shape 14"/>
          <p:cNvSpPr/>
          <p:nvPr/>
        </p:nvSpPr>
        <p:spPr>
          <a:xfrm>
            <a:off x="457200" y="1325880"/>
            <a:ext cx="4206240" cy="3337560"/>
          </a:xfrm>
          <a:prstGeom prst="roundRect">
            <a:avLst>
              <a:gd name="adj" fmla="val 2192"/>
            </a:avLst>
          </a:prstGeom>
          <a:solidFill>
            <a:srgbClr val="E8F5EF"/>
          </a:solidFill>
          <a:ln w="15875">
            <a:solidFill>
              <a:srgbClr val="00A86A"/>
            </a:solidFill>
            <a:prstDash val="solid"/>
          </a:ln>
        </p:spPr>
      </p:sp>
      <p:sp>
        <p:nvSpPr>
          <p:cNvPr id="18" name="Text 15"/>
          <p:cNvSpPr txBox="1"/>
          <p:nvPr/>
        </p:nvSpPr>
        <p:spPr>
          <a:xfrm>
            <a:off x="685800" y="1481328"/>
            <a:ext cx="1371600" cy="201168"/>
          </a:xfrm>
          <a:prstGeom prst="rect">
            <a:avLst/>
          </a:prstGeom>
          <a:noFill/>
          <a:ln/>
        </p:spPr>
        <p:txBody>
          <a:bodyPr wrap="square" lIns="0" tIns="0" rIns="0" bIns="0" rtlCol="0" anchor="ctr"/>
          <a:lstStyle/>
          <a:p>
            <a:pPr marL="0" indent="0">
              <a:buNone/>
            </a:pPr>
            <a:r>
              <a:rPr lang="en-US" sz="1000" b="1" kern="0" spc="200" dirty="0">
                <a:solidFill>
                  <a:srgbClr val="D49A00"/>
                </a:solidFill>
                <a:latin typeface="Courier New" pitchFamily="34" charset="0"/>
                <a:ea typeface="Courier New" pitchFamily="34" charset="-122"/>
                <a:cs typeface="Courier New" pitchFamily="34" charset="-120"/>
              </a:rPr>
              <a:t>SYSTÈME</a:t>
            </a:r>
            <a:endParaRPr lang="en-US" sz="1000" dirty="0"/>
          </a:p>
        </p:txBody>
      </p:sp>
      <p:sp>
        <p:nvSpPr>
          <p:cNvPr id="19" name="Text 16"/>
          <p:cNvSpPr txBox="1"/>
          <p:nvPr/>
        </p:nvSpPr>
        <p:spPr>
          <a:xfrm>
            <a:off x="685800" y="1709928"/>
            <a:ext cx="3749040" cy="685800"/>
          </a:xfrm>
          <a:prstGeom prst="rect">
            <a:avLst/>
          </a:prstGeom>
          <a:noFill/>
          <a:ln/>
        </p:spPr>
        <p:txBody>
          <a:bodyPr wrap="square" lIns="0" tIns="0" rIns="0" bIns="0" rtlCol="0" anchor="t"/>
          <a:lstStyle/>
          <a:p>
            <a:pPr marL="0" indent="0">
              <a:buNone/>
            </a:pPr>
            <a:r>
              <a:rPr lang="en-US" sz="1050" dirty="0">
                <a:solidFill>
                  <a:srgbClr val="231F20"/>
                </a:solidFill>
                <a:latin typeface="Courier New" pitchFamily="34" charset="0"/>
                <a:ea typeface="Courier New" pitchFamily="34" charset="-122"/>
                <a:cs typeface="Courier New" pitchFamily="34" charset="-120"/>
              </a:rPr>
              <a:t>Réponds UNIQUEMENT à partir des sources ; recopie les chiffres avec unité et période. Cite [n]. Sinon : « Information non disponible dans les documents. »</a:t>
            </a:r>
            <a:endParaRPr lang="en-US" sz="1050" dirty="0"/>
          </a:p>
        </p:txBody>
      </p:sp>
      <p:sp>
        <p:nvSpPr>
          <p:cNvPr id="20" name="Text 17"/>
          <p:cNvSpPr txBox="1"/>
          <p:nvPr/>
        </p:nvSpPr>
        <p:spPr>
          <a:xfrm>
            <a:off x="685800" y="2514600"/>
            <a:ext cx="1371600" cy="201168"/>
          </a:xfrm>
          <a:prstGeom prst="rect">
            <a:avLst/>
          </a:prstGeom>
          <a:noFill/>
          <a:ln/>
        </p:spPr>
        <p:txBody>
          <a:bodyPr wrap="square" lIns="0" tIns="0" rIns="0" bIns="0" rtlCol="0" anchor="ctr"/>
          <a:lstStyle/>
          <a:p>
            <a:pPr marL="0" indent="0">
              <a:buNone/>
            </a:pPr>
            <a:r>
              <a:rPr lang="en-US" sz="1000" b="1" kern="0" spc="200" dirty="0">
                <a:solidFill>
                  <a:srgbClr val="00704A"/>
                </a:solidFill>
                <a:latin typeface="Courier New" pitchFamily="34" charset="0"/>
                <a:ea typeface="Courier New" pitchFamily="34" charset="-122"/>
                <a:cs typeface="Courier New" pitchFamily="34" charset="-120"/>
              </a:rPr>
              <a:t>CONTEXTE</a:t>
            </a:r>
            <a:endParaRPr lang="en-US" sz="1000" dirty="0"/>
          </a:p>
        </p:txBody>
      </p:sp>
      <p:sp>
        <p:nvSpPr>
          <p:cNvPr id="21" name="Text 18"/>
          <p:cNvSpPr txBox="1"/>
          <p:nvPr/>
        </p:nvSpPr>
        <p:spPr>
          <a:xfrm>
            <a:off x="685800" y="2743200"/>
            <a:ext cx="3749040" cy="868680"/>
          </a:xfrm>
          <a:prstGeom prst="rect">
            <a:avLst/>
          </a:prstGeom>
          <a:noFill/>
          <a:ln/>
        </p:spPr>
        <p:txBody>
          <a:bodyPr wrap="square" lIns="0" tIns="0" rIns="0" bIns="0" rtlCol="0" anchor="t"/>
          <a:lstStyle/>
          <a:p>
            <a:pPr marL="0" indent="0">
              <a:buNone/>
            </a:pPr>
            <a:r>
              <a:rPr lang="en-US" sz="1050" dirty="0">
                <a:solidFill>
                  <a:srgbClr val="231F20"/>
                </a:solidFill>
                <a:latin typeface="Courier New" pitchFamily="34" charset="0"/>
                <a:ea typeface="Courier New" pitchFamily="34" charset="-122"/>
                <a:cs typeface="Courier New" pitchFamily="34" charset="-120"/>
              </a:rPr>
              <a:t>[1] Rapport sur le marché du travail 2025, tableau 1 — Taux de chômage — T2 : 7,8 %…</a:t>
            </a:r>
            <a:endParaRPr lang="en-US" sz="1050" dirty="0"/>
          </a:p>
          <a:p>
            <a:pPr marL="0" indent="0">
              <a:buNone/>
            </a:pPr>
            <a:r>
              <a:rPr lang="en-US" sz="1050" dirty="0">
                <a:solidFill>
                  <a:srgbClr val="231F20"/>
                </a:solidFill>
                <a:latin typeface="Courier New" pitchFamily="34" charset="0"/>
                <a:ea typeface="Courier New" pitchFamily="34" charset="-122"/>
                <a:cs typeface="Courier New" pitchFamily="34" charset="-120"/>
              </a:rPr>
              <a:t>[2] Rapport 2025, §2 — Taux de chômage moyen annuel : 7,9 %…</a:t>
            </a:r>
            <a:endParaRPr lang="en-US" sz="1050" dirty="0"/>
          </a:p>
        </p:txBody>
      </p:sp>
      <p:sp>
        <p:nvSpPr>
          <p:cNvPr id="22" name="Text 19"/>
          <p:cNvSpPr txBox="1"/>
          <p:nvPr/>
        </p:nvSpPr>
        <p:spPr>
          <a:xfrm>
            <a:off x="685800" y="3730752"/>
            <a:ext cx="1371600" cy="201168"/>
          </a:xfrm>
          <a:prstGeom prst="rect">
            <a:avLst/>
          </a:prstGeom>
          <a:noFill/>
          <a:ln/>
        </p:spPr>
        <p:txBody>
          <a:bodyPr wrap="square" lIns="0" tIns="0" rIns="0" bIns="0" rtlCol="0" anchor="ctr"/>
          <a:lstStyle/>
          <a:p>
            <a:pPr marL="0" indent="0">
              <a:buNone/>
            </a:pPr>
            <a:r>
              <a:rPr lang="en-US" sz="1000" b="1" kern="0" spc="200" dirty="0">
                <a:solidFill>
                  <a:srgbClr val="0E7C86"/>
                </a:solidFill>
                <a:latin typeface="Courier New" pitchFamily="34" charset="0"/>
                <a:ea typeface="Courier New" pitchFamily="34" charset="-122"/>
                <a:cs typeface="Courier New" pitchFamily="34" charset="-120"/>
              </a:rPr>
              <a:t>QUESTION</a:t>
            </a:r>
            <a:endParaRPr lang="en-US" sz="1000" dirty="0"/>
          </a:p>
        </p:txBody>
      </p:sp>
      <p:sp>
        <p:nvSpPr>
          <p:cNvPr id="23" name="Text 20"/>
          <p:cNvSpPr txBox="1"/>
          <p:nvPr/>
        </p:nvSpPr>
        <p:spPr>
          <a:xfrm>
            <a:off x="685800" y="3959352"/>
            <a:ext cx="3749040" cy="365760"/>
          </a:xfrm>
          <a:prstGeom prst="rect">
            <a:avLst/>
          </a:prstGeom>
          <a:noFill/>
          <a:ln/>
        </p:spPr>
        <p:txBody>
          <a:bodyPr wrap="square" lIns="0" tIns="0" rIns="0" bIns="0" rtlCol="0" anchor="t"/>
          <a:lstStyle/>
          <a:p>
            <a:pPr marL="0" indent="0">
              <a:buNone/>
            </a:pPr>
            <a:r>
              <a:rPr lang="en-US" sz="1050" dirty="0">
                <a:solidFill>
                  <a:srgbClr val="231F20"/>
                </a:solidFill>
                <a:latin typeface="Courier New" pitchFamily="34" charset="0"/>
                <a:ea typeface="Courier New" pitchFamily="34" charset="-122"/>
                <a:cs typeface="Courier New" pitchFamily="34" charset="-120"/>
              </a:rPr>
              <a:t>Quel était le taux de chômage au deuxième trimestre 2025 ?</a:t>
            </a:r>
            <a:endParaRPr lang="en-US" sz="1050" dirty="0"/>
          </a:p>
        </p:txBody>
      </p:sp>
      <p:sp>
        <p:nvSpPr>
          <p:cNvPr id="24" name="Text 21"/>
          <p:cNvSpPr txBox="1"/>
          <p:nvPr/>
        </p:nvSpPr>
        <p:spPr>
          <a:xfrm>
            <a:off x="685800" y="4389120"/>
            <a:ext cx="274320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Version simplifiée du prompt du notebook de l'atelier</a:t>
            </a:r>
            <a:endParaRPr lang="en-US" sz="900" dirty="0"/>
          </a:p>
        </p:txBody>
      </p:sp>
      <p:sp>
        <p:nvSpPr>
          <p:cNvPr id="25" name="Shape 22"/>
          <p:cNvSpPr/>
          <p:nvPr/>
        </p:nvSpPr>
        <p:spPr>
          <a:xfrm>
            <a:off x="4937760" y="1362456"/>
            <a:ext cx="457200" cy="457200"/>
          </a:xfrm>
          <a:prstGeom prst="ellipse">
            <a:avLst/>
          </a:prstGeom>
          <a:solidFill>
            <a:srgbClr val="00A86A">
              <a:alpha val="22000"/>
            </a:srgbClr>
          </a:solidFill>
          <a:ln w="12700">
            <a:solidFill>
              <a:srgbClr val="00A86A">
                <a:alpha val="0"/>
              </a:srgbClr>
            </a:solidFill>
            <a:prstDash val="solid"/>
          </a:ln>
        </p:spPr>
      </p:sp>
      <p:pic>
        <p:nvPicPr>
          <p:cNvPr id="26" name="Image 0" descr="preencoded.png"/>
          <p:cNvPicPr>
            <a:picLocks noChangeAspect="1"/>
          </p:cNvPicPr>
          <p:nvPr/>
        </p:nvPicPr>
        <p:blipFill>
          <a:blip r:embed="rId3"/>
          <a:stretch>
            <a:fillRect/>
          </a:stretch>
        </p:blipFill>
        <p:spPr>
          <a:xfrm>
            <a:off x="5047488" y="1472184"/>
            <a:ext cx="237744" cy="237744"/>
          </a:xfrm>
          <a:prstGeom prst="rect">
            <a:avLst/>
          </a:prstGeom>
        </p:spPr>
      </p:pic>
      <p:sp>
        <p:nvSpPr>
          <p:cNvPr id="27" name="Text 23"/>
          <p:cNvSpPr txBox="1"/>
          <p:nvPr/>
        </p:nvSpPr>
        <p:spPr>
          <a:xfrm>
            <a:off x="5532120" y="1325880"/>
            <a:ext cx="3154680" cy="256032"/>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Exiger des citations</a:t>
            </a:r>
            <a:endParaRPr lang="en-US" sz="1400" dirty="0"/>
          </a:p>
        </p:txBody>
      </p:sp>
      <p:sp>
        <p:nvSpPr>
          <p:cNvPr id="28" name="Text 24"/>
          <p:cNvSpPr txBox="1"/>
          <p:nvPr/>
        </p:nvSpPr>
        <p:spPr>
          <a:xfrm>
            <a:off x="5532120" y="1600200"/>
            <a:ext cx="3154680" cy="530352"/>
          </a:xfrm>
          <a:prstGeom prst="rect">
            <a:avLst/>
          </a:prstGeom>
          <a:noFill/>
          <a:ln/>
        </p:spPr>
        <p:txBody>
          <a:bodyPr wrap="square" lIns="0" tIns="0" rIns="0" bIns="0" rtlCol="0" anchor="t"/>
          <a:lstStyle/>
          <a:p>
            <a:pPr marL="0" indent="0">
              <a:buNone/>
            </a:pPr>
            <a:r>
              <a:rPr lang="en-US" sz="1100" dirty="0">
                <a:solidFill>
                  <a:srgbClr val="5E6964"/>
                </a:solidFill>
                <a:latin typeface="Calibri" pitchFamily="34" charset="0"/>
                <a:ea typeface="Calibri" pitchFamily="34" charset="-122"/>
                <a:cs typeface="Calibri" pitchFamily="34" charset="-120"/>
              </a:rPr>
              <a:t>Chaque affirmation renvoie à un fragment vérifiable.</a:t>
            </a:r>
            <a:endParaRPr lang="en-US" sz="1100" dirty="0"/>
          </a:p>
        </p:txBody>
      </p:sp>
      <p:sp>
        <p:nvSpPr>
          <p:cNvPr id="29" name="Shape 25"/>
          <p:cNvSpPr/>
          <p:nvPr/>
        </p:nvSpPr>
        <p:spPr>
          <a:xfrm>
            <a:off x="4937760" y="2203704"/>
            <a:ext cx="457200" cy="457200"/>
          </a:xfrm>
          <a:prstGeom prst="ellipse">
            <a:avLst/>
          </a:prstGeom>
          <a:solidFill>
            <a:srgbClr val="00A86A">
              <a:alpha val="22000"/>
            </a:srgbClr>
          </a:solidFill>
          <a:ln w="12700">
            <a:solidFill>
              <a:srgbClr val="00A86A">
                <a:alpha val="0"/>
              </a:srgbClr>
            </a:solidFill>
            <a:prstDash val="solid"/>
          </a:ln>
        </p:spPr>
      </p:sp>
      <p:pic>
        <p:nvPicPr>
          <p:cNvPr id="30" name="Image 1" descr="preencoded.png"/>
          <p:cNvPicPr>
            <a:picLocks noChangeAspect="1"/>
          </p:cNvPicPr>
          <p:nvPr/>
        </p:nvPicPr>
        <p:blipFill>
          <a:blip r:embed="rId4"/>
          <a:stretch>
            <a:fillRect/>
          </a:stretch>
        </p:blipFill>
        <p:spPr>
          <a:xfrm>
            <a:off x="5047488" y="2313432"/>
            <a:ext cx="237744" cy="237744"/>
          </a:xfrm>
          <a:prstGeom prst="rect">
            <a:avLst/>
          </a:prstGeom>
        </p:spPr>
      </p:pic>
      <p:sp>
        <p:nvSpPr>
          <p:cNvPr id="31" name="Text 26"/>
          <p:cNvSpPr txBox="1"/>
          <p:nvPr/>
        </p:nvSpPr>
        <p:spPr>
          <a:xfrm>
            <a:off x="5532120" y="2167128"/>
            <a:ext cx="3154680" cy="256032"/>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Autoriser l'abstention</a:t>
            </a:r>
            <a:endParaRPr lang="en-US" sz="1400" dirty="0"/>
          </a:p>
        </p:txBody>
      </p:sp>
      <p:sp>
        <p:nvSpPr>
          <p:cNvPr id="32" name="Text 27"/>
          <p:cNvSpPr txBox="1"/>
          <p:nvPr/>
        </p:nvSpPr>
        <p:spPr>
          <a:xfrm>
            <a:off x="5532120" y="2441448"/>
            <a:ext cx="3154680" cy="530352"/>
          </a:xfrm>
          <a:prstGeom prst="rect">
            <a:avLst/>
          </a:prstGeom>
          <a:noFill/>
          <a:ln/>
        </p:spPr>
        <p:txBody>
          <a:bodyPr wrap="square" lIns="0" tIns="0" rIns="0" bIns="0" rtlCol="0" anchor="t"/>
          <a:lstStyle/>
          <a:p>
            <a:pPr marL="0" indent="0">
              <a:buNone/>
            </a:pPr>
            <a:r>
              <a:rPr lang="en-US" sz="1100" dirty="0">
                <a:solidFill>
                  <a:srgbClr val="5E6964"/>
                </a:solidFill>
                <a:latin typeface="Calibri" pitchFamily="34" charset="0"/>
                <a:ea typeface="Calibri" pitchFamily="34" charset="-122"/>
                <a:cs typeface="Calibri" pitchFamily="34" charset="-120"/>
              </a:rPr>
              <a:t>« Je ne sais pas » vaut mieux qu'une hallucination assurée.</a:t>
            </a:r>
            <a:endParaRPr lang="en-US" sz="1100" dirty="0"/>
          </a:p>
        </p:txBody>
      </p:sp>
      <p:sp>
        <p:nvSpPr>
          <p:cNvPr id="33" name="Shape 28"/>
          <p:cNvSpPr/>
          <p:nvPr/>
        </p:nvSpPr>
        <p:spPr>
          <a:xfrm>
            <a:off x="4937760" y="3044952"/>
            <a:ext cx="457200" cy="457200"/>
          </a:xfrm>
          <a:prstGeom prst="ellipse">
            <a:avLst/>
          </a:prstGeom>
          <a:solidFill>
            <a:srgbClr val="00A86A">
              <a:alpha val="22000"/>
            </a:srgbClr>
          </a:solidFill>
          <a:ln w="12700">
            <a:solidFill>
              <a:srgbClr val="00A86A">
                <a:alpha val="0"/>
              </a:srgbClr>
            </a:solidFill>
            <a:prstDash val="solid"/>
          </a:ln>
        </p:spPr>
      </p:sp>
      <p:pic>
        <p:nvPicPr>
          <p:cNvPr id="34" name="Image 2" descr="preencoded.png"/>
          <p:cNvPicPr>
            <a:picLocks noChangeAspect="1"/>
          </p:cNvPicPr>
          <p:nvPr/>
        </p:nvPicPr>
        <p:blipFill>
          <a:blip r:embed="rId5"/>
          <a:stretch>
            <a:fillRect/>
          </a:stretch>
        </p:blipFill>
        <p:spPr>
          <a:xfrm>
            <a:off x="5047488" y="3154680"/>
            <a:ext cx="237744" cy="237744"/>
          </a:xfrm>
          <a:prstGeom prst="rect">
            <a:avLst/>
          </a:prstGeom>
        </p:spPr>
      </p:pic>
      <p:sp>
        <p:nvSpPr>
          <p:cNvPr id="35" name="Text 29"/>
          <p:cNvSpPr txBox="1"/>
          <p:nvPr/>
        </p:nvSpPr>
        <p:spPr>
          <a:xfrm>
            <a:off x="5532120" y="3008376"/>
            <a:ext cx="3154680" cy="256032"/>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L'ordre compte</a:t>
            </a:r>
            <a:endParaRPr lang="en-US" sz="1400" dirty="0"/>
          </a:p>
        </p:txBody>
      </p:sp>
      <p:sp>
        <p:nvSpPr>
          <p:cNvPr id="36" name="Text 30"/>
          <p:cNvSpPr txBox="1"/>
          <p:nvPr/>
        </p:nvSpPr>
        <p:spPr>
          <a:xfrm>
            <a:off x="5532120" y="3282696"/>
            <a:ext cx="3154680" cy="530352"/>
          </a:xfrm>
          <a:prstGeom prst="rect">
            <a:avLst/>
          </a:prstGeom>
          <a:noFill/>
          <a:ln/>
        </p:spPr>
        <p:txBody>
          <a:bodyPr wrap="square" lIns="0" tIns="0" rIns="0" bIns="0" rtlCol="0" anchor="t"/>
          <a:lstStyle/>
          <a:p>
            <a:pPr marL="0" indent="0">
              <a:buNone/>
            </a:pPr>
            <a:r>
              <a:rPr lang="en-US" sz="1100" dirty="0">
                <a:solidFill>
                  <a:srgbClr val="5E6964"/>
                </a:solidFill>
                <a:latin typeface="Calibri" pitchFamily="34" charset="0"/>
                <a:ea typeface="Calibri" pitchFamily="34" charset="-122"/>
                <a:cs typeface="Calibri" pitchFamily="34" charset="-120"/>
              </a:rPr>
              <a:t>Placer les meilleurs éléments en tête : les modèles exploitent mal le milieu des longs contextes (voir Preuves).</a:t>
            </a:r>
            <a:endParaRPr lang="en-US" sz="1100" dirty="0"/>
          </a:p>
        </p:txBody>
      </p:sp>
      <p:sp>
        <p:nvSpPr>
          <p:cNvPr id="37" name="Shape 31"/>
          <p:cNvSpPr/>
          <p:nvPr/>
        </p:nvSpPr>
        <p:spPr>
          <a:xfrm>
            <a:off x="4937760" y="3886200"/>
            <a:ext cx="457200" cy="457200"/>
          </a:xfrm>
          <a:prstGeom prst="ellipse">
            <a:avLst/>
          </a:prstGeom>
          <a:solidFill>
            <a:srgbClr val="00A86A">
              <a:alpha val="22000"/>
            </a:srgbClr>
          </a:solidFill>
          <a:ln w="12700">
            <a:solidFill>
              <a:srgbClr val="00A86A">
                <a:alpha val="0"/>
              </a:srgbClr>
            </a:solidFill>
            <a:prstDash val="solid"/>
          </a:ln>
        </p:spPr>
      </p:sp>
      <p:pic>
        <p:nvPicPr>
          <p:cNvPr id="38" name="Image 3" descr="preencoded.png"/>
          <p:cNvPicPr>
            <a:picLocks noChangeAspect="1"/>
          </p:cNvPicPr>
          <p:nvPr/>
        </p:nvPicPr>
        <p:blipFill>
          <a:blip r:embed="rId6"/>
          <a:stretch>
            <a:fillRect/>
          </a:stretch>
        </p:blipFill>
        <p:spPr>
          <a:xfrm>
            <a:off x="5047488" y="3995928"/>
            <a:ext cx="237744" cy="237744"/>
          </a:xfrm>
          <a:prstGeom prst="rect">
            <a:avLst/>
          </a:prstGeom>
        </p:spPr>
      </p:pic>
      <p:sp>
        <p:nvSpPr>
          <p:cNvPr id="39" name="Text 32"/>
          <p:cNvSpPr txBox="1"/>
          <p:nvPr/>
        </p:nvSpPr>
        <p:spPr>
          <a:xfrm>
            <a:off x="5532120" y="3849624"/>
            <a:ext cx="3154680" cy="256032"/>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Contexte ciblé</a:t>
            </a:r>
            <a:endParaRPr lang="en-US" sz="1400" dirty="0"/>
          </a:p>
        </p:txBody>
      </p:sp>
      <p:sp>
        <p:nvSpPr>
          <p:cNvPr id="40" name="Text 33"/>
          <p:cNvSpPr txBox="1"/>
          <p:nvPr/>
        </p:nvSpPr>
        <p:spPr>
          <a:xfrm>
            <a:off x="5532120" y="4123944"/>
            <a:ext cx="3154680" cy="530352"/>
          </a:xfrm>
          <a:prstGeom prst="rect">
            <a:avLst/>
          </a:prstGeom>
          <a:noFill/>
          <a:ln/>
        </p:spPr>
        <p:txBody>
          <a:bodyPr wrap="square" lIns="0" tIns="0" rIns="0" bIns="0" rtlCol="0" anchor="t"/>
          <a:lstStyle/>
          <a:p>
            <a:pPr marL="0" indent="0">
              <a:buNone/>
            </a:pPr>
            <a:r>
              <a:rPr lang="en-US" sz="1100" dirty="0">
                <a:solidFill>
                  <a:srgbClr val="5E6964"/>
                </a:solidFill>
                <a:latin typeface="Calibri" pitchFamily="34" charset="0"/>
                <a:ea typeface="Calibri" pitchFamily="34" charset="-122"/>
                <a:cs typeface="Calibri" pitchFamily="34" charset="-120"/>
              </a:rPr>
              <a:t>Peu de fragments pertinents valent mieux que beaucoup de bruit.</a:t>
            </a:r>
            <a:endParaRPr lang="en-US" sz="110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0704A"/>
                </a:solidFill>
                <a:latin typeface="Calibri" pitchFamily="34" charset="0"/>
                <a:ea typeface="Calibri" pitchFamily="34" charset="-122"/>
                <a:cs typeface="Calibri" pitchFamily="34" charset="-120"/>
              </a:rPr>
              <a:t>PRATIQUE  ·  MISE EN ROUTE</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Démarrer en trois minutes</a:t>
            </a:r>
            <a:endParaRPr lang="en-US" sz="2800" dirty="0"/>
          </a:p>
        </p:txBody>
      </p:sp>
      <p:sp>
        <p:nvSpPr>
          <p:cNvPr id="14" name="Text 12"/>
          <p:cNvSpPr txBox="1"/>
          <p:nvPr/>
        </p:nvSpPr>
        <p:spPr>
          <a:xfrm>
            <a:off x="457200" y="4846320"/>
            <a:ext cx="694944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ATI · Big Data pour les statistiques macroéconomiques · Maurice, 26–30 oct. 2026   |   BAD · Data Innovation for Africa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10</a:t>
            </a:r>
            <a:endParaRPr lang="en-US" sz="850" dirty="0"/>
          </a:p>
        </p:txBody>
      </p:sp>
      <p:sp>
        <p:nvSpPr>
          <p:cNvPr id="16" name="Rounded Rectangle 15"/>
          <p:cNvSpPr/>
          <p:nvPr/>
        </p:nvSpPr>
        <p:spPr>
          <a:xfrm>
            <a:off x="457200" y="1261872"/>
            <a:ext cx="1920240" cy="2395728"/>
          </a:xfrm>
          <a:prstGeom prst="roundRect">
            <a:avLst>
              <a:gd name="adj" fmla="val 6000"/>
            </a:avLst>
          </a:prstGeom>
          <a:solidFill>
            <a:srgbClr val="F4F7F5"/>
          </a:solidFill>
          <a:ln w="9525">
            <a:solidFill>
              <a:srgbClr val="D5DE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21792" y="1353312"/>
            <a:ext cx="914400" cy="457200"/>
          </a:xfrm>
          <a:prstGeom prst="rect">
            <a:avLst/>
          </a:prstGeom>
          <a:noFill/>
        </p:spPr>
        <p:txBody>
          <a:bodyPr wrap="square" lIns="0" tIns="0" rIns="0" bIns="0" anchor="t">
            <a:spAutoFit/>
          </a:bodyPr>
          <a:lstStyle/>
          <a:p>
            <a:pPr algn="l"/>
            <a:r>
              <a:rPr sz="3000" b="1" i="0">
                <a:solidFill>
                  <a:srgbClr val="7BCBA9"/>
                </a:solidFill>
                <a:latin typeface="Calibri"/>
              </a:rPr>
              <a:t>1</a:t>
            </a:r>
          </a:p>
        </p:txBody>
      </p:sp>
      <p:sp>
        <p:nvSpPr>
          <p:cNvPr id="18" name="Oval 17"/>
          <p:cNvSpPr/>
          <p:nvPr/>
        </p:nvSpPr>
        <p:spPr>
          <a:xfrm>
            <a:off x="1719072" y="1389888"/>
            <a:ext cx="475488" cy="475488"/>
          </a:xfrm>
          <a:prstGeom prst="ellipse">
            <a:avLst/>
          </a:prstGeom>
          <a:solidFill>
            <a:srgbClr val="00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9" name="Picture 18" descr="laptop_w.png"/>
          <p:cNvPicPr>
            <a:picLocks noChangeAspect="1"/>
          </p:cNvPicPr>
          <p:nvPr/>
        </p:nvPicPr>
        <p:blipFill>
          <a:blip r:embed="rId3"/>
          <a:stretch>
            <a:fillRect/>
          </a:stretch>
        </p:blipFill>
        <p:spPr>
          <a:xfrm>
            <a:off x="1837943" y="1508760"/>
            <a:ext cx="237744" cy="237744"/>
          </a:xfrm>
          <a:prstGeom prst="rect">
            <a:avLst/>
          </a:prstGeom>
        </p:spPr>
      </p:pic>
      <p:sp>
        <p:nvSpPr>
          <p:cNvPr id="20" name="TextBox 19"/>
          <p:cNvSpPr txBox="1"/>
          <p:nvPr/>
        </p:nvSpPr>
        <p:spPr>
          <a:xfrm>
            <a:off x="621792" y="1938528"/>
            <a:ext cx="1645920" cy="320040"/>
          </a:xfrm>
          <a:prstGeom prst="rect">
            <a:avLst/>
          </a:prstGeom>
          <a:noFill/>
        </p:spPr>
        <p:txBody>
          <a:bodyPr wrap="square" lIns="0" tIns="0" rIns="0" bIns="0" anchor="t">
            <a:spAutoFit/>
          </a:bodyPr>
          <a:lstStyle/>
          <a:p>
            <a:pPr algn="l"/>
            <a:r>
              <a:rPr sz="1350" b="1" i="0">
                <a:solidFill>
                  <a:srgbClr val="231F20"/>
                </a:solidFill>
                <a:latin typeface="Calibri"/>
              </a:rPr>
              <a:t>Ouvrir dans Colab</a:t>
            </a:r>
          </a:p>
        </p:txBody>
      </p:sp>
      <p:sp>
        <p:nvSpPr>
          <p:cNvPr id="21" name="TextBox 20"/>
          <p:cNvSpPr txBox="1"/>
          <p:nvPr/>
        </p:nvSpPr>
        <p:spPr>
          <a:xfrm>
            <a:off x="621792" y="2286000"/>
            <a:ext cx="1627632" cy="1325880"/>
          </a:xfrm>
          <a:prstGeom prst="rect">
            <a:avLst/>
          </a:prstGeom>
          <a:noFill/>
        </p:spPr>
        <p:txBody>
          <a:bodyPr wrap="square" lIns="0" tIns="0" rIns="0" bIns="0" anchor="t">
            <a:spAutoFit/>
          </a:bodyPr>
          <a:lstStyle/>
          <a:p>
            <a:pPr algn="l"/>
            <a:r>
              <a:rPr sz="1050" b="0" i="0">
                <a:solidFill>
                  <a:srgbClr val="5E6964"/>
                </a:solidFill>
                <a:latin typeface="Calibri"/>
              </a:rPr>
              <a:t>Ouvrez le notebook partagé par les animateurs, connectez-vous à Google, puis Exécution → Tout exécuter.</a:t>
            </a:r>
          </a:p>
        </p:txBody>
      </p:sp>
      <p:sp>
        <p:nvSpPr>
          <p:cNvPr id="22" name="TextBox 21"/>
          <p:cNvSpPr txBox="1"/>
          <p:nvPr/>
        </p:nvSpPr>
        <p:spPr>
          <a:xfrm>
            <a:off x="2377440" y="2240280"/>
            <a:ext cx="182880" cy="274320"/>
          </a:xfrm>
          <a:prstGeom prst="rect">
            <a:avLst/>
          </a:prstGeom>
          <a:noFill/>
        </p:spPr>
        <p:txBody>
          <a:bodyPr wrap="square" lIns="0" tIns="0" rIns="0" bIns="0" anchor="t">
            <a:spAutoFit/>
          </a:bodyPr>
          <a:lstStyle/>
          <a:p>
            <a:pPr algn="ctr"/>
            <a:r>
              <a:rPr sz="2000" b="1" i="0">
                <a:solidFill>
                  <a:srgbClr val="00A86A"/>
                </a:solidFill>
                <a:latin typeface="Calibri"/>
              </a:rPr>
              <a:t>›</a:t>
            </a:r>
          </a:p>
        </p:txBody>
      </p:sp>
      <p:sp>
        <p:nvSpPr>
          <p:cNvPr id="23" name="Rounded Rectangle 22"/>
          <p:cNvSpPr/>
          <p:nvPr/>
        </p:nvSpPr>
        <p:spPr>
          <a:xfrm>
            <a:off x="2560320" y="1261872"/>
            <a:ext cx="1920240" cy="2395728"/>
          </a:xfrm>
          <a:prstGeom prst="roundRect">
            <a:avLst>
              <a:gd name="adj" fmla="val 6000"/>
            </a:avLst>
          </a:prstGeom>
          <a:solidFill>
            <a:srgbClr val="F4F7F5"/>
          </a:solidFill>
          <a:ln w="9525">
            <a:solidFill>
              <a:srgbClr val="D5DE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2724912" y="1353312"/>
            <a:ext cx="914400" cy="457200"/>
          </a:xfrm>
          <a:prstGeom prst="rect">
            <a:avLst/>
          </a:prstGeom>
          <a:noFill/>
        </p:spPr>
        <p:txBody>
          <a:bodyPr wrap="square" lIns="0" tIns="0" rIns="0" bIns="0" anchor="t">
            <a:spAutoFit/>
          </a:bodyPr>
          <a:lstStyle/>
          <a:p>
            <a:pPr algn="l"/>
            <a:r>
              <a:rPr sz="3000" b="1" i="0">
                <a:solidFill>
                  <a:srgbClr val="33AF7C"/>
                </a:solidFill>
                <a:latin typeface="Calibri"/>
              </a:rPr>
              <a:t>2</a:t>
            </a:r>
          </a:p>
        </p:txBody>
      </p:sp>
      <p:sp>
        <p:nvSpPr>
          <p:cNvPr id="25" name="Oval 24"/>
          <p:cNvSpPr/>
          <p:nvPr/>
        </p:nvSpPr>
        <p:spPr>
          <a:xfrm>
            <a:off x="3822191" y="1389888"/>
            <a:ext cx="475488" cy="475488"/>
          </a:xfrm>
          <a:prstGeom prst="ellipse">
            <a:avLst/>
          </a:prstGeom>
          <a:solidFill>
            <a:srgbClr val="00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6" name="Picture 25" descr="key_w.png"/>
          <p:cNvPicPr>
            <a:picLocks noChangeAspect="1"/>
          </p:cNvPicPr>
          <p:nvPr/>
        </p:nvPicPr>
        <p:blipFill>
          <a:blip r:embed="rId4"/>
          <a:stretch>
            <a:fillRect/>
          </a:stretch>
        </p:blipFill>
        <p:spPr>
          <a:xfrm>
            <a:off x="3941063" y="1508760"/>
            <a:ext cx="237744" cy="237744"/>
          </a:xfrm>
          <a:prstGeom prst="rect">
            <a:avLst/>
          </a:prstGeom>
        </p:spPr>
      </p:pic>
      <p:sp>
        <p:nvSpPr>
          <p:cNvPr id="27" name="TextBox 26"/>
          <p:cNvSpPr txBox="1"/>
          <p:nvPr/>
        </p:nvSpPr>
        <p:spPr>
          <a:xfrm>
            <a:off x="2724912" y="1938528"/>
            <a:ext cx="1645920" cy="320040"/>
          </a:xfrm>
          <a:prstGeom prst="rect">
            <a:avLst/>
          </a:prstGeom>
          <a:noFill/>
        </p:spPr>
        <p:txBody>
          <a:bodyPr wrap="square" lIns="0" tIns="0" rIns="0" bIns="0" anchor="t">
            <a:spAutoFit/>
          </a:bodyPr>
          <a:lstStyle/>
          <a:p>
            <a:pPr algn="l"/>
            <a:r>
              <a:rPr sz="1350" b="1" i="0">
                <a:solidFill>
                  <a:srgbClr val="231F20"/>
                </a:solidFill>
                <a:latin typeface="Calibri"/>
              </a:rPr>
              <a:t>Choisir le modèle</a:t>
            </a:r>
          </a:p>
        </p:txBody>
      </p:sp>
      <p:sp>
        <p:nvSpPr>
          <p:cNvPr id="28" name="TextBox 27"/>
          <p:cNvSpPr txBox="1"/>
          <p:nvPr/>
        </p:nvSpPr>
        <p:spPr>
          <a:xfrm>
            <a:off x="2724912" y="2286000"/>
            <a:ext cx="1627632" cy="1325880"/>
          </a:xfrm>
          <a:prstGeom prst="rect">
            <a:avLst/>
          </a:prstGeom>
          <a:noFill/>
        </p:spPr>
        <p:txBody>
          <a:bodyPr wrap="square" lIns="0" tIns="0" rIns="0" bIns="0" anchor="t">
            <a:spAutoFit/>
          </a:bodyPr>
          <a:lstStyle/>
          <a:p>
            <a:pPr algn="l"/>
            <a:r>
              <a:rPr sz="1050" b="0" i="0">
                <a:solidFill>
                  <a:srgbClr val="5E6964"/>
                </a:solidFill>
                <a:latin typeface="Calibri"/>
              </a:rPr>
              <a:t>Le plus rapide en salle : une clé Groq gratuite (étape 0b). Ollama garde tout dans la session.</a:t>
            </a:r>
          </a:p>
        </p:txBody>
      </p:sp>
      <p:sp>
        <p:nvSpPr>
          <p:cNvPr id="29" name="TextBox 28"/>
          <p:cNvSpPr txBox="1"/>
          <p:nvPr/>
        </p:nvSpPr>
        <p:spPr>
          <a:xfrm>
            <a:off x="4480560" y="2240280"/>
            <a:ext cx="182880" cy="274320"/>
          </a:xfrm>
          <a:prstGeom prst="rect">
            <a:avLst/>
          </a:prstGeom>
          <a:noFill/>
        </p:spPr>
        <p:txBody>
          <a:bodyPr wrap="square" lIns="0" tIns="0" rIns="0" bIns="0" anchor="t">
            <a:spAutoFit/>
          </a:bodyPr>
          <a:lstStyle/>
          <a:p>
            <a:pPr algn="ctr"/>
            <a:r>
              <a:rPr sz="2000" b="1" i="0">
                <a:solidFill>
                  <a:srgbClr val="00A86A"/>
                </a:solidFill>
                <a:latin typeface="Calibri"/>
              </a:rPr>
              <a:t>›</a:t>
            </a:r>
          </a:p>
        </p:txBody>
      </p:sp>
      <p:sp>
        <p:nvSpPr>
          <p:cNvPr id="30" name="Rounded Rectangle 29"/>
          <p:cNvSpPr/>
          <p:nvPr/>
        </p:nvSpPr>
        <p:spPr>
          <a:xfrm>
            <a:off x="4663440" y="1261872"/>
            <a:ext cx="1920240" cy="2395728"/>
          </a:xfrm>
          <a:prstGeom prst="roundRect">
            <a:avLst>
              <a:gd name="adj" fmla="val 6000"/>
            </a:avLst>
          </a:prstGeom>
          <a:solidFill>
            <a:srgbClr val="F4F7F5"/>
          </a:solidFill>
          <a:ln w="9525">
            <a:solidFill>
              <a:srgbClr val="D5DE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4828031" y="1353312"/>
            <a:ext cx="914400" cy="457200"/>
          </a:xfrm>
          <a:prstGeom prst="rect">
            <a:avLst/>
          </a:prstGeom>
          <a:noFill/>
        </p:spPr>
        <p:txBody>
          <a:bodyPr wrap="square" lIns="0" tIns="0" rIns="0" bIns="0" anchor="t">
            <a:spAutoFit/>
          </a:bodyPr>
          <a:lstStyle/>
          <a:p>
            <a:pPr algn="l"/>
            <a:r>
              <a:rPr sz="3000" b="1" i="0">
                <a:solidFill>
                  <a:srgbClr val="008A5B"/>
                </a:solidFill>
                <a:latin typeface="Calibri"/>
              </a:rPr>
              <a:t>3</a:t>
            </a:r>
          </a:p>
        </p:txBody>
      </p:sp>
      <p:sp>
        <p:nvSpPr>
          <p:cNvPr id="32" name="Oval 31"/>
          <p:cNvSpPr/>
          <p:nvPr/>
        </p:nvSpPr>
        <p:spPr>
          <a:xfrm>
            <a:off x="5925312" y="1389888"/>
            <a:ext cx="475488" cy="475488"/>
          </a:xfrm>
          <a:prstGeom prst="ellipse">
            <a:avLst/>
          </a:prstGeom>
          <a:solidFill>
            <a:srgbClr val="00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3" name="Picture 32" descr="pdf_w.png"/>
          <p:cNvPicPr>
            <a:picLocks noChangeAspect="1"/>
          </p:cNvPicPr>
          <p:nvPr/>
        </p:nvPicPr>
        <p:blipFill>
          <a:blip r:embed="rId5"/>
          <a:stretch>
            <a:fillRect/>
          </a:stretch>
        </p:blipFill>
        <p:spPr>
          <a:xfrm>
            <a:off x="6044183" y="1508760"/>
            <a:ext cx="237744" cy="237744"/>
          </a:xfrm>
          <a:prstGeom prst="rect">
            <a:avLst/>
          </a:prstGeom>
        </p:spPr>
      </p:pic>
      <p:sp>
        <p:nvSpPr>
          <p:cNvPr id="34" name="TextBox 33"/>
          <p:cNvSpPr txBox="1"/>
          <p:nvPr/>
        </p:nvSpPr>
        <p:spPr>
          <a:xfrm>
            <a:off x="4828031" y="1938528"/>
            <a:ext cx="1645920" cy="320040"/>
          </a:xfrm>
          <a:prstGeom prst="rect">
            <a:avLst/>
          </a:prstGeom>
          <a:noFill/>
        </p:spPr>
        <p:txBody>
          <a:bodyPr wrap="square" lIns="0" tIns="0" rIns="0" bIns="0" anchor="t">
            <a:spAutoFit/>
          </a:bodyPr>
          <a:lstStyle/>
          <a:p>
            <a:pPr algn="l"/>
            <a:r>
              <a:rPr sz="1350" b="1" i="0">
                <a:solidFill>
                  <a:srgbClr val="231F20"/>
                </a:solidFill>
                <a:latin typeface="Calibri"/>
              </a:rPr>
              <a:t>Charger un PDF</a:t>
            </a:r>
          </a:p>
        </p:txBody>
      </p:sp>
      <p:sp>
        <p:nvSpPr>
          <p:cNvPr id="35" name="TextBox 34"/>
          <p:cNvSpPr txBox="1"/>
          <p:nvPr/>
        </p:nvSpPr>
        <p:spPr>
          <a:xfrm>
            <a:off x="4828031" y="2286000"/>
            <a:ext cx="1627632" cy="1325880"/>
          </a:xfrm>
          <a:prstGeom prst="rect">
            <a:avLst/>
          </a:prstGeom>
          <a:noFill/>
        </p:spPr>
        <p:txBody>
          <a:bodyPr wrap="square" lIns="0" tIns="0" rIns="0" bIns="0" anchor="t">
            <a:spAutoFit/>
          </a:bodyPr>
          <a:lstStyle/>
          <a:p>
            <a:pPr algn="l"/>
            <a:r>
              <a:rPr sz="1050" b="0" i="0">
                <a:solidFill>
                  <a:srgbClr val="5E6964"/>
                </a:solidFill>
                <a:latin typeface="Calibri"/>
              </a:rPr>
              <a:t>Par défaut : le guide Data Innovation de la BAD. Puis une publication de votre institution, importée depuis Colab.</a:t>
            </a:r>
          </a:p>
        </p:txBody>
      </p:sp>
      <p:sp>
        <p:nvSpPr>
          <p:cNvPr id="36" name="TextBox 35"/>
          <p:cNvSpPr txBox="1"/>
          <p:nvPr/>
        </p:nvSpPr>
        <p:spPr>
          <a:xfrm>
            <a:off x="6583679" y="2240280"/>
            <a:ext cx="182880" cy="274320"/>
          </a:xfrm>
          <a:prstGeom prst="rect">
            <a:avLst/>
          </a:prstGeom>
          <a:noFill/>
        </p:spPr>
        <p:txBody>
          <a:bodyPr wrap="square" lIns="0" tIns="0" rIns="0" bIns="0" anchor="t">
            <a:spAutoFit/>
          </a:bodyPr>
          <a:lstStyle/>
          <a:p>
            <a:pPr algn="ctr"/>
            <a:r>
              <a:rPr sz="2000" b="1" i="0">
                <a:solidFill>
                  <a:srgbClr val="00A86A"/>
                </a:solidFill>
                <a:latin typeface="Calibri"/>
              </a:rPr>
              <a:t>›</a:t>
            </a:r>
          </a:p>
        </p:txBody>
      </p:sp>
      <p:sp>
        <p:nvSpPr>
          <p:cNvPr id="37" name="Rounded Rectangle 36"/>
          <p:cNvSpPr/>
          <p:nvPr/>
        </p:nvSpPr>
        <p:spPr>
          <a:xfrm>
            <a:off x="6766559" y="1261872"/>
            <a:ext cx="1920240" cy="2395728"/>
          </a:xfrm>
          <a:prstGeom prst="roundRect">
            <a:avLst>
              <a:gd name="adj" fmla="val 6000"/>
            </a:avLst>
          </a:prstGeom>
          <a:solidFill>
            <a:srgbClr val="F4F7F5"/>
          </a:solidFill>
          <a:ln w="9525">
            <a:solidFill>
              <a:srgbClr val="D5DE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6931151" y="1353312"/>
            <a:ext cx="914400" cy="457200"/>
          </a:xfrm>
          <a:prstGeom prst="rect">
            <a:avLst/>
          </a:prstGeom>
          <a:noFill/>
        </p:spPr>
        <p:txBody>
          <a:bodyPr wrap="square" lIns="0" tIns="0" rIns="0" bIns="0" anchor="t">
            <a:spAutoFit/>
          </a:bodyPr>
          <a:lstStyle/>
          <a:p>
            <a:pPr algn="l"/>
            <a:r>
              <a:rPr sz="3000" b="1" i="0">
                <a:solidFill>
                  <a:srgbClr val="00664A"/>
                </a:solidFill>
                <a:latin typeface="Calibri"/>
              </a:rPr>
              <a:t>4</a:t>
            </a:r>
          </a:p>
        </p:txBody>
      </p:sp>
      <p:sp>
        <p:nvSpPr>
          <p:cNvPr id="39" name="Oval 38"/>
          <p:cNvSpPr/>
          <p:nvPr/>
        </p:nvSpPr>
        <p:spPr>
          <a:xfrm>
            <a:off x="8028431" y="1389888"/>
            <a:ext cx="475488" cy="475488"/>
          </a:xfrm>
          <a:prstGeom prst="ellipse">
            <a:avLst/>
          </a:prstGeom>
          <a:solidFill>
            <a:srgbClr val="007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0" name="Picture 39" descr="play_w.png"/>
          <p:cNvPicPr>
            <a:picLocks noChangeAspect="1"/>
          </p:cNvPicPr>
          <p:nvPr/>
        </p:nvPicPr>
        <p:blipFill>
          <a:blip r:embed="rId6"/>
          <a:stretch>
            <a:fillRect/>
          </a:stretch>
        </p:blipFill>
        <p:spPr>
          <a:xfrm>
            <a:off x="8147304" y="1508760"/>
            <a:ext cx="237744" cy="237744"/>
          </a:xfrm>
          <a:prstGeom prst="rect">
            <a:avLst/>
          </a:prstGeom>
        </p:spPr>
      </p:pic>
      <p:sp>
        <p:nvSpPr>
          <p:cNvPr id="41" name="TextBox 40"/>
          <p:cNvSpPr txBox="1"/>
          <p:nvPr/>
        </p:nvSpPr>
        <p:spPr>
          <a:xfrm>
            <a:off x="6931151" y="1938528"/>
            <a:ext cx="1645920" cy="320040"/>
          </a:xfrm>
          <a:prstGeom prst="rect">
            <a:avLst/>
          </a:prstGeom>
          <a:noFill/>
        </p:spPr>
        <p:txBody>
          <a:bodyPr wrap="square" lIns="0" tIns="0" rIns="0" bIns="0" anchor="t">
            <a:spAutoFit/>
          </a:bodyPr>
          <a:lstStyle/>
          <a:p>
            <a:pPr algn="l"/>
            <a:r>
              <a:rPr sz="1350" b="1" i="0">
                <a:solidFill>
                  <a:srgbClr val="231F20"/>
                </a:solidFill>
                <a:latin typeface="Calibri"/>
              </a:rPr>
              <a:t>Parcours express</a:t>
            </a:r>
          </a:p>
        </p:txBody>
      </p:sp>
      <p:sp>
        <p:nvSpPr>
          <p:cNvPr id="42" name="TextBox 41"/>
          <p:cNvSpPr txBox="1"/>
          <p:nvPr/>
        </p:nvSpPr>
        <p:spPr>
          <a:xfrm>
            <a:off x="6931151" y="2286000"/>
            <a:ext cx="1627632" cy="1325880"/>
          </a:xfrm>
          <a:prstGeom prst="rect">
            <a:avLst/>
          </a:prstGeom>
          <a:noFill/>
        </p:spPr>
        <p:txBody>
          <a:bodyPr wrap="square" lIns="0" tIns="0" rIns="0" bIns="0" anchor="t">
            <a:spAutoFit/>
          </a:bodyPr>
          <a:lstStyle/>
          <a:p>
            <a:pPr algn="l"/>
            <a:r>
              <a:rPr sz="1050" b="0" i="0">
                <a:solidFill>
                  <a:srgbClr val="5E6964"/>
                </a:solidFill>
                <a:latin typeface="Calibri"/>
              </a:rPr>
              <a:t>A1 charger · A2 préparer · A3 demander. Sans modèle, le mode extractif cite quand même la bonne phrase.</a:t>
            </a:r>
          </a:p>
        </p:txBody>
      </p:sp>
      <p:sp>
        <p:nvSpPr>
          <p:cNvPr id="43" name="Rounded Rectangle 42"/>
          <p:cNvSpPr/>
          <p:nvPr/>
        </p:nvSpPr>
        <p:spPr>
          <a:xfrm>
            <a:off x="457200" y="3840480"/>
            <a:ext cx="8229600" cy="658368"/>
          </a:xfrm>
          <a:prstGeom prst="roundRect">
            <a:avLst>
              <a:gd name="adj" fmla="val 16000"/>
            </a:avLst>
          </a:prstGeom>
          <a:solidFill>
            <a:srgbClr val="D49A00">
              <a:alpha val="13000"/>
            </a:srgbClr>
          </a:solidFill>
          <a:ln w="15875">
            <a:solidFill>
              <a:srgbClr val="D49A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4" name="Picture 43" descr="lock_o.png"/>
          <p:cNvPicPr>
            <a:picLocks noChangeAspect="1"/>
          </p:cNvPicPr>
          <p:nvPr/>
        </p:nvPicPr>
        <p:blipFill>
          <a:blip r:embed="rId7"/>
          <a:stretch>
            <a:fillRect/>
          </a:stretch>
        </p:blipFill>
        <p:spPr>
          <a:xfrm>
            <a:off x="658368" y="4041648"/>
            <a:ext cx="256032" cy="256032"/>
          </a:xfrm>
          <a:prstGeom prst="rect">
            <a:avLst/>
          </a:prstGeom>
        </p:spPr>
      </p:pic>
      <p:sp>
        <p:nvSpPr>
          <p:cNvPr id="45" name="TextBox 44"/>
          <p:cNvSpPr txBox="1"/>
          <p:nvPr/>
        </p:nvSpPr>
        <p:spPr>
          <a:xfrm>
            <a:off x="1024128" y="3840480"/>
            <a:ext cx="7479792" cy="658368"/>
          </a:xfrm>
          <a:prstGeom prst="rect">
            <a:avLst/>
          </a:prstGeom>
          <a:noFill/>
        </p:spPr>
        <p:txBody>
          <a:bodyPr wrap="square" lIns="0" tIns="0" rIns="0" bIns="0" anchor="ctr">
            <a:spAutoFit/>
          </a:bodyPr>
          <a:lstStyle/>
          <a:p>
            <a:pPr algn="l"/>
            <a:r>
              <a:rPr sz="1150" b="0" i="0">
                <a:solidFill>
                  <a:srgbClr val="231F20"/>
                </a:solidFill>
                <a:latin typeface="Calibri"/>
              </a:rPr>
              <a:t>Confidentialité : avec un modèle en ligne (Groq, OpenAI, Anthropic), uniquement des documents publiés. Les documents non publiés ou sous embargo restent avec Ollama — et pas de lien Gradio public sans mot de passe.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0704A"/>
                </a:solidFill>
                <a:latin typeface="Calibri" pitchFamily="34" charset="0"/>
                <a:ea typeface="Calibri" pitchFamily="34" charset="-122"/>
                <a:cs typeface="Calibri" pitchFamily="34" charset="-120"/>
              </a:rPr>
              <a:t>PRATIQUE  ·  EXERCICES</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Quatre exercices, un par objectif</a:t>
            </a:r>
            <a:endParaRPr lang="en-US" sz="2800" dirty="0"/>
          </a:p>
        </p:txBody>
      </p:sp>
      <p:sp>
        <p:nvSpPr>
          <p:cNvPr id="14" name="Text 12"/>
          <p:cNvSpPr txBox="1"/>
          <p:nvPr/>
        </p:nvSpPr>
        <p:spPr>
          <a:xfrm>
            <a:off x="457200" y="4846320"/>
            <a:ext cx="694944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ATI · Big Data pour les statistiques macroéconomiques · Maurice, 26–30 oct. 2026   |   BAD · Data Innovation for Africa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11</a:t>
            </a:r>
            <a:endParaRPr lang="en-US" sz="850" dirty="0"/>
          </a:p>
        </p:txBody>
      </p:sp>
      <p:sp>
        <p:nvSpPr>
          <p:cNvPr id="16" name="Rounded Rectangle 15"/>
          <p:cNvSpPr/>
          <p:nvPr/>
        </p:nvSpPr>
        <p:spPr>
          <a:xfrm>
            <a:off x="457200" y="1243584"/>
            <a:ext cx="4023360" cy="1298448"/>
          </a:xfrm>
          <a:prstGeom prst="roundRect">
            <a:avLst>
              <a:gd name="adj" fmla="val 6000"/>
            </a:avLst>
          </a:prstGeom>
          <a:solidFill>
            <a:srgbClr val="F4F7F5"/>
          </a:solidFill>
          <a:ln w="9525">
            <a:solidFill>
              <a:srgbClr val="D5DE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ounded Rectangle 16"/>
          <p:cNvSpPr/>
          <p:nvPr/>
        </p:nvSpPr>
        <p:spPr>
          <a:xfrm>
            <a:off x="457200" y="1243584"/>
            <a:ext cx="64008" cy="1298448"/>
          </a:xfrm>
          <a:prstGeom prst="roundRect">
            <a:avLst>
              <a:gd name="adj" fmla="val 0"/>
            </a:avLst>
          </a:prstGeom>
          <a:solidFill>
            <a:srgbClr val="F5C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Oval 17"/>
          <p:cNvSpPr/>
          <p:nvPr/>
        </p:nvSpPr>
        <p:spPr>
          <a:xfrm>
            <a:off x="658368" y="1389888"/>
            <a:ext cx="457200" cy="457200"/>
          </a:xfrm>
          <a:prstGeom prst="ellipse">
            <a:avLst/>
          </a:prstGeom>
          <a:solidFill>
            <a:srgbClr val="00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9" name="Picture 18" descr="tools_w.png"/>
          <p:cNvPicPr>
            <a:picLocks noChangeAspect="1"/>
          </p:cNvPicPr>
          <p:nvPr/>
        </p:nvPicPr>
        <p:blipFill>
          <a:blip r:embed="rId3"/>
          <a:stretch>
            <a:fillRect/>
          </a:stretch>
        </p:blipFill>
        <p:spPr>
          <a:xfrm>
            <a:off x="772668" y="1504188"/>
            <a:ext cx="228600" cy="228600"/>
          </a:xfrm>
          <a:prstGeom prst="rect">
            <a:avLst/>
          </a:prstGeom>
        </p:spPr>
      </p:pic>
      <p:sp>
        <p:nvSpPr>
          <p:cNvPr id="20" name="TextBox 19"/>
          <p:cNvSpPr txBox="1"/>
          <p:nvPr/>
        </p:nvSpPr>
        <p:spPr>
          <a:xfrm>
            <a:off x="1234440" y="1362456"/>
            <a:ext cx="3108960" cy="274320"/>
          </a:xfrm>
          <a:prstGeom prst="rect">
            <a:avLst/>
          </a:prstGeom>
          <a:noFill/>
        </p:spPr>
        <p:txBody>
          <a:bodyPr wrap="square" lIns="0" tIns="0" rIns="0" bIns="0" anchor="t">
            <a:spAutoFit/>
          </a:bodyPr>
          <a:lstStyle/>
          <a:p>
            <a:pPr algn="l"/>
            <a:r>
              <a:rPr sz="1350" b="1" i="0">
                <a:solidFill>
                  <a:srgbClr val="231F20"/>
                </a:solidFill>
                <a:latin typeface="Calibri"/>
              </a:rPr>
              <a:t>1 · Créer votre assistant</a:t>
            </a:r>
          </a:p>
        </p:txBody>
      </p:sp>
      <p:sp>
        <p:nvSpPr>
          <p:cNvPr id="21" name="TextBox 20"/>
          <p:cNvSpPr txBox="1"/>
          <p:nvPr/>
        </p:nvSpPr>
        <p:spPr>
          <a:xfrm>
            <a:off x="1234440" y="1636776"/>
            <a:ext cx="3108960" cy="201168"/>
          </a:xfrm>
          <a:prstGeom prst="rect">
            <a:avLst/>
          </a:prstGeom>
          <a:noFill/>
        </p:spPr>
        <p:txBody>
          <a:bodyPr wrap="square" lIns="0" tIns="0" rIns="0" bIns="0" anchor="t">
            <a:spAutoFit/>
          </a:bodyPr>
          <a:lstStyle/>
          <a:p>
            <a:pPr algn="l"/>
            <a:r>
              <a:rPr sz="950" b="1" i="0">
                <a:solidFill>
                  <a:srgbClr val="D49A00"/>
                </a:solidFill>
                <a:latin typeface="Calibri"/>
              </a:rPr>
              <a:t>NOTEBOOK A1–A2  ·  ≈ 7 MIN</a:t>
            </a:r>
          </a:p>
        </p:txBody>
      </p:sp>
      <p:sp>
        <p:nvSpPr>
          <p:cNvPr id="22" name="TextBox 21"/>
          <p:cNvSpPr txBox="1"/>
          <p:nvPr/>
        </p:nvSpPr>
        <p:spPr>
          <a:xfrm>
            <a:off x="1234440" y="1865376"/>
            <a:ext cx="3127248" cy="658368"/>
          </a:xfrm>
          <a:prstGeom prst="rect">
            <a:avLst/>
          </a:prstGeom>
          <a:noFill/>
        </p:spPr>
        <p:txBody>
          <a:bodyPr wrap="square" lIns="0" tIns="0" rIns="0" bIns="0" anchor="t">
            <a:spAutoFit/>
          </a:bodyPr>
          <a:lstStyle/>
          <a:p>
            <a:pPr algn="l"/>
            <a:r>
              <a:rPr sz="1000" b="0" i="0">
                <a:solidFill>
                  <a:srgbClr val="5E6964"/>
                </a:solidFill>
                <a:latin typeface="Calibri"/>
              </a:rPr>
              <a:t>Sur le guide de la BAD, puis sur une publication de votre institution (note IPC, comptes trimestriels, bulletin BdP, déclaration de politique monétaire). Lire pages, tableaux, pages scannées, seuil.</a:t>
            </a:r>
          </a:p>
        </p:txBody>
      </p:sp>
      <p:sp>
        <p:nvSpPr>
          <p:cNvPr id="23" name="Rounded Rectangle 22"/>
          <p:cNvSpPr/>
          <p:nvPr/>
        </p:nvSpPr>
        <p:spPr>
          <a:xfrm>
            <a:off x="4663440" y="1243584"/>
            <a:ext cx="4023360" cy="1298448"/>
          </a:xfrm>
          <a:prstGeom prst="roundRect">
            <a:avLst>
              <a:gd name="adj" fmla="val 6000"/>
            </a:avLst>
          </a:prstGeom>
          <a:solidFill>
            <a:srgbClr val="F4F7F5"/>
          </a:solidFill>
          <a:ln w="9525">
            <a:solidFill>
              <a:srgbClr val="D5DE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ounded Rectangle 23"/>
          <p:cNvSpPr/>
          <p:nvPr/>
        </p:nvSpPr>
        <p:spPr>
          <a:xfrm>
            <a:off x="4663440" y="1243584"/>
            <a:ext cx="64008" cy="1298448"/>
          </a:xfrm>
          <a:prstGeom prst="roundRect">
            <a:avLst>
              <a:gd name="adj" fmla="val 0"/>
            </a:avLst>
          </a:prstGeom>
          <a:solidFill>
            <a:srgbClr val="F5C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Oval 24"/>
          <p:cNvSpPr/>
          <p:nvPr/>
        </p:nvSpPr>
        <p:spPr>
          <a:xfrm>
            <a:off x="4864607" y="1389888"/>
            <a:ext cx="457200" cy="457200"/>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6" name="Picture 25" descr="chat_w.png"/>
          <p:cNvPicPr>
            <a:picLocks noChangeAspect="1"/>
          </p:cNvPicPr>
          <p:nvPr/>
        </p:nvPicPr>
        <p:blipFill>
          <a:blip r:embed="rId4"/>
          <a:stretch>
            <a:fillRect/>
          </a:stretch>
        </p:blipFill>
        <p:spPr>
          <a:xfrm>
            <a:off x="4978907" y="1504188"/>
            <a:ext cx="228600" cy="228600"/>
          </a:xfrm>
          <a:prstGeom prst="rect">
            <a:avLst/>
          </a:prstGeom>
        </p:spPr>
      </p:pic>
      <p:sp>
        <p:nvSpPr>
          <p:cNvPr id="27" name="TextBox 26"/>
          <p:cNvSpPr txBox="1"/>
          <p:nvPr/>
        </p:nvSpPr>
        <p:spPr>
          <a:xfrm>
            <a:off x="5440679" y="1362456"/>
            <a:ext cx="3108960" cy="274320"/>
          </a:xfrm>
          <a:prstGeom prst="rect">
            <a:avLst/>
          </a:prstGeom>
          <a:noFill/>
        </p:spPr>
        <p:txBody>
          <a:bodyPr wrap="square" lIns="0" tIns="0" rIns="0" bIns="0" anchor="t">
            <a:spAutoFit/>
          </a:bodyPr>
          <a:lstStyle/>
          <a:p>
            <a:pPr algn="l"/>
            <a:r>
              <a:rPr sz="1350" b="1" i="0">
                <a:solidFill>
                  <a:srgbClr val="231F20"/>
                </a:solidFill>
                <a:latin typeface="Calibri"/>
              </a:rPr>
              <a:t>2 · Demander et vérifier</a:t>
            </a:r>
          </a:p>
        </p:txBody>
      </p:sp>
      <p:sp>
        <p:nvSpPr>
          <p:cNvPr id="28" name="TextBox 27"/>
          <p:cNvSpPr txBox="1"/>
          <p:nvPr/>
        </p:nvSpPr>
        <p:spPr>
          <a:xfrm>
            <a:off x="5440679" y="1636776"/>
            <a:ext cx="3108960" cy="201168"/>
          </a:xfrm>
          <a:prstGeom prst="rect">
            <a:avLst/>
          </a:prstGeom>
          <a:noFill/>
        </p:spPr>
        <p:txBody>
          <a:bodyPr wrap="square" lIns="0" tIns="0" rIns="0" bIns="0" anchor="t">
            <a:spAutoFit/>
          </a:bodyPr>
          <a:lstStyle/>
          <a:p>
            <a:pPr algn="l"/>
            <a:r>
              <a:rPr sz="950" b="1" i="0">
                <a:solidFill>
                  <a:srgbClr val="D49A00"/>
                </a:solidFill>
                <a:latin typeface="Calibri"/>
              </a:rPr>
              <a:t>NOTEBOOK A3 · C1  ·  ≈ 6 MIN</a:t>
            </a:r>
          </a:p>
        </p:txBody>
      </p:sp>
      <p:sp>
        <p:nvSpPr>
          <p:cNvPr id="29" name="TextBox 28"/>
          <p:cNvSpPr txBox="1"/>
          <p:nvPr/>
        </p:nvSpPr>
        <p:spPr>
          <a:xfrm>
            <a:off x="5440679" y="1865376"/>
            <a:ext cx="3127248" cy="658368"/>
          </a:xfrm>
          <a:prstGeom prst="rect">
            <a:avLst/>
          </a:prstGeom>
          <a:noFill/>
        </p:spPr>
        <p:txBody>
          <a:bodyPr wrap="square" lIns="0" tIns="0" rIns="0" bIns="0" anchor="t">
            <a:spAutoFit/>
          </a:bodyPr>
          <a:lstStyle/>
          <a:p>
            <a:pPr algn="l"/>
            <a:r>
              <a:rPr sz="1000" b="0" i="0">
                <a:solidFill>
                  <a:srgbClr val="5E6964"/>
                </a:solidFill>
                <a:latin typeface="Calibri"/>
              </a:rPr>
              <a:t>Trois questions : un chiffre de tableau, une question méthodologique, une relance. Vérifier source, vignette de page, contrôle des chiffres et « Compris comme… ».</a:t>
            </a:r>
          </a:p>
        </p:txBody>
      </p:sp>
      <p:sp>
        <p:nvSpPr>
          <p:cNvPr id="30" name="Rounded Rectangle 29"/>
          <p:cNvSpPr/>
          <p:nvPr/>
        </p:nvSpPr>
        <p:spPr>
          <a:xfrm>
            <a:off x="457200" y="2660904"/>
            <a:ext cx="4023360" cy="1298448"/>
          </a:xfrm>
          <a:prstGeom prst="roundRect">
            <a:avLst>
              <a:gd name="adj" fmla="val 6000"/>
            </a:avLst>
          </a:prstGeom>
          <a:solidFill>
            <a:srgbClr val="F4F7F5"/>
          </a:solidFill>
          <a:ln w="9525">
            <a:solidFill>
              <a:srgbClr val="D5DE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ounded Rectangle 30"/>
          <p:cNvSpPr/>
          <p:nvPr/>
        </p:nvSpPr>
        <p:spPr>
          <a:xfrm>
            <a:off x="457200" y="2660904"/>
            <a:ext cx="64008" cy="1298448"/>
          </a:xfrm>
          <a:prstGeom prst="roundRect">
            <a:avLst>
              <a:gd name="adj" fmla="val 0"/>
            </a:avLst>
          </a:prstGeom>
          <a:solidFill>
            <a:srgbClr val="F5C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Oval 31"/>
          <p:cNvSpPr/>
          <p:nvPr/>
        </p:nvSpPr>
        <p:spPr>
          <a:xfrm>
            <a:off x="658368" y="2807208"/>
            <a:ext cx="457200" cy="457200"/>
          </a:xfrm>
          <a:prstGeom prst="ellipse">
            <a:avLst/>
          </a:prstGeom>
          <a:solidFill>
            <a:srgbClr val="00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3" name="Picture 32" descr="scale_w.png"/>
          <p:cNvPicPr>
            <a:picLocks noChangeAspect="1"/>
          </p:cNvPicPr>
          <p:nvPr/>
        </p:nvPicPr>
        <p:blipFill>
          <a:blip r:embed="rId5"/>
          <a:stretch>
            <a:fillRect/>
          </a:stretch>
        </p:blipFill>
        <p:spPr>
          <a:xfrm>
            <a:off x="772668" y="2921508"/>
            <a:ext cx="228600" cy="228600"/>
          </a:xfrm>
          <a:prstGeom prst="rect">
            <a:avLst/>
          </a:prstGeom>
        </p:spPr>
      </p:pic>
      <p:sp>
        <p:nvSpPr>
          <p:cNvPr id="34" name="TextBox 33"/>
          <p:cNvSpPr txBox="1"/>
          <p:nvPr/>
        </p:nvSpPr>
        <p:spPr>
          <a:xfrm>
            <a:off x="1234440" y="2779776"/>
            <a:ext cx="3108960" cy="274320"/>
          </a:xfrm>
          <a:prstGeom prst="rect">
            <a:avLst/>
          </a:prstGeom>
          <a:noFill/>
        </p:spPr>
        <p:txBody>
          <a:bodyPr wrap="square" lIns="0" tIns="0" rIns="0" bIns="0" anchor="t">
            <a:spAutoFit/>
          </a:bodyPr>
          <a:lstStyle/>
          <a:p>
            <a:pPr algn="l"/>
            <a:r>
              <a:rPr sz="1350" b="1" i="0">
                <a:solidFill>
                  <a:srgbClr val="231F20"/>
                </a:solidFill>
                <a:latin typeface="Calibri"/>
              </a:rPr>
              <a:t>3 · Comparer les méthodes</a:t>
            </a:r>
          </a:p>
        </p:txBody>
      </p:sp>
      <p:sp>
        <p:nvSpPr>
          <p:cNvPr id="35" name="TextBox 34"/>
          <p:cNvSpPr txBox="1"/>
          <p:nvPr/>
        </p:nvSpPr>
        <p:spPr>
          <a:xfrm>
            <a:off x="1234440" y="3054096"/>
            <a:ext cx="3108960" cy="201168"/>
          </a:xfrm>
          <a:prstGeom prst="rect">
            <a:avLst/>
          </a:prstGeom>
          <a:noFill/>
        </p:spPr>
        <p:txBody>
          <a:bodyPr wrap="square" lIns="0" tIns="0" rIns="0" bIns="0" anchor="t">
            <a:spAutoFit/>
          </a:bodyPr>
          <a:lstStyle/>
          <a:p>
            <a:pPr algn="l"/>
            <a:r>
              <a:rPr sz="950" b="1" i="0">
                <a:solidFill>
                  <a:srgbClr val="D49A00"/>
                </a:solidFill>
                <a:latin typeface="Calibri"/>
              </a:rPr>
              <a:t>NOTEBOOK B3–B4  ·  ≈ 5 MIN</a:t>
            </a:r>
          </a:p>
        </p:txBody>
      </p:sp>
      <p:sp>
        <p:nvSpPr>
          <p:cNvPr id="36" name="TextBox 35"/>
          <p:cNvSpPr txBox="1"/>
          <p:nvPr/>
        </p:nvSpPr>
        <p:spPr>
          <a:xfrm>
            <a:off x="1234440" y="3282696"/>
            <a:ext cx="3127248" cy="658368"/>
          </a:xfrm>
          <a:prstGeom prst="rect">
            <a:avLst/>
          </a:prstGeom>
          <a:noFill/>
        </p:spPr>
        <p:txBody>
          <a:bodyPr wrap="square" lIns="0" tIns="0" rIns="0" bIns="0" anchor="t">
            <a:spAutoFit/>
          </a:bodyPr>
          <a:lstStyle/>
          <a:p>
            <a:pPr algn="l"/>
            <a:r>
              <a:rPr sz="1000" b="0" i="0">
                <a:solidFill>
                  <a:srgbClr val="5E6964"/>
                </a:solidFill>
                <a:latin typeface="Calibri"/>
              </a:rPr>
              <a:t>Comparer les découpages, puis le banc d'essai sur 3 à 5 questions dont vous connaissez la réponse. L'explication montre ce qu'ont trouvé BM25, le sens et le reclassement.</a:t>
            </a:r>
          </a:p>
        </p:txBody>
      </p:sp>
      <p:sp>
        <p:nvSpPr>
          <p:cNvPr id="37" name="Rounded Rectangle 36"/>
          <p:cNvSpPr/>
          <p:nvPr/>
        </p:nvSpPr>
        <p:spPr>
          <a:xfrm>
            <a:off x="4663440" y="2660904"/>
            <a:ext cx="4023360" cy="1298448"/>
          </a:xfrm>
          <a:prstGeom prst="roundRect">
            <a:avLst>
              <a:gd name="adj" fmla="val 6000"/>
            </a:avLst>
          </a:prstGeom>
          <a:solidFill>
            <a:srgbClr val="F4F7F5"/>
          </a:solidFill>
          <a:ln w="9525">
            <a:solidFill>
              <a:srgbClr val="D5DE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Rounded Rectangle 37"/>
          <p:cNvSpPr/>
          <p:nvPr/>
        </p:nvSpPr>
        <p:spPr>
          <a:xfrm>
            <a:off x="4663440" y="2660904"/>
            <a:ext cx="64008" cy="1298448"/>
          </a:xfrm>
          <a:prstGeom prst="roundRect">
            <a:avLst>
              <a:gd name="adj" fmla="val 0"/>
            </a:avLst>
          </a:prstGeom>
          <a:solidFill>
            <a:srgbClr val="F5C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Oval 38"/>
          <p:cNvSpPr/>
          <p:nvPr/>
        </p:nvSpPr>
        <p:spPr>
          <a:xfrm>
            <a:off x="4864607" y="2807208"/>
            <a:ext cx="457200" cy="457200"/>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0" name="Picture 39" descr="diag_w.png"/>
          <p:cNvPicPr>
            <a:picLocks noChangeAspect="1"/>
          </p:cNvPicPr>
          <p:nvPr/>
        </p:nvPicPr>
        <p:blipFill>
          <a:blip r:embed="rId6"/>
          <a:stretch>
            <a:fillRect/>
          </a:stretch>
        </p:blipFill>
        <p:spPr>
          <a:xfrm>
            <a:off x="4978907" y="2921508"/>
            <a:ext cx="228600" cy="228600"/>
          </a:xfrm>
          <a:prstGeom prst="rect">
            <a:avLst/>
          </a:prstGeom>
        </p:spPr>
      </p:pic>
      <p:sp>
        <p:nvSpPr>
          <p:cNvPr id="41" name="TextBox 40"/>
          <p:cNvSpPr txBox="1"/>
          <p:nvPr/>
        </p:nvSpPr>
        <p:spPr>
          <a:xfrm>
            <a:off x="5440679" y="2779776"/>
            <a:ext cx="3108960" cy="274320"/>
          </a:xfrm>
          <a:prstGeom prst="rect">
            <a:avLst/>
          </a:prstGeom>
          <a:noFill/>
        </p:spPr>
        <p:txBody>
          <a:bodyPr wrap="square" lIns="0" tIns="0" rIns="0" bIns="0" anchor="t">
            <a:spAutoFit/>
          </a:bodyPr>
          <a:lstStyle/>
          <a:p>
            <a:pPr algn="l"/>
            <a:r>
              <a:rPr sz="1350" b="1" i="0">
                <a:solidFill>
                  <a:srgbClr val="231F20"/>
                </a:solidFill>
                <a:latin typeface="Calibri"/>
              </a:rPr>
              <a:t>4 · Diagnostiquer et refuser</a:t>
            </a:r>
          </a:p>
        </p:txBody>
      </p:sp>
      <p:sp>
        <p:nvSpPr>
          <p:cNvPr id="42" name="TextBox 41"/>
          <p:cNvSpPr txBox="1"/>
          <p:nvPr/>
        </p:nvSpPr>
        <p:spPr>
          <a:xfrm>
            <a:off x="5440679" y="3054096"/>
            <a:ext cx="3108960" cy="201168"/>
          </a:xfrm>
          <a:prstGeom prst="rect">
            <a:avLst/>
          </a:prstGeom>
          <a:noFill/>
        </p:spPr>
        <p:txBody>
          <a:bodyPr wrap="square" lIns="0" tIns="0" rIns="0" bIns="0" anchor="t">
            <a:spAutoFit/>
          </a:bodyPr>
          <a:lstStyle/>
          <a:p>
            <a:pPr algn="l"/>
            <a:r>
              <a:rPr sz="950" b="1" i="0">
                <a:solidFill>
                  <a:srgbClr val="D49A00"/>
                </a:solidFill>
                <a:latin typeface="Calibri"/>
              </a:rPr>
              <a:t>NOTEBOOK B5 · B8 · B9  ·  ≈ 5 MIN</a:t>
            </a:r>
          </a:p>
        </p:txBody>
      </p:sp>
      <p:sp>
        <p:nvSpPr>
          <p:cNvPr id="43" name="TextBox 42"/>
          <p:cNvSpPr txBox="1"/>
          <p:nvPr/>
        </p:nvSpPr>
        <p:spPr>
          <a:xfrm>
            <a:off x="5440679" y="3282696"/>
            <a:ext cx="3127248" cy="658368"/>
          </a:xfrm>
          <a:prstGeom prst="rect">
            <a:avLst/>
          </a:prstGeom>
          <a:noFill/>
        </p:spPr>
        <p:txBody>
          <a:bodyPr wrap="square" lIns="0" tIns="0" rIns="0" bIns="0" anchor="t">
            <a:spAutoFit/>
          </a:bodyPr>
          <a:lstStyle/>
          <a:p>
            <a:pPr algn="l"/>
            <a:r>
              <a:rPr sz="1000" b="0" i="0">
                <a:solidFill>
                  <a:srgbClr val="5E6964"/>
                </a:solidFill>
                <a:latin typeface="Calibri"/>
              </a:rPr>
              <a:t>Deux questions hors champ : l'assistant doit refuser. Retracer une réponse fausse, puis écrire un jeu de test de quatre questions.</a:t>
            </a:r>
          </a:p>
        </p:txBody>
      </p:sp>
      <p:sp>
        <p:nvSpPr>
          <p:cNvPr id="44" name="Rounded Rectangle 43"/>
          <p:cNvSpPr/>
          <p:nvPr/>
        </p:nvSpPr>
        <p:spPr>
          <a:xfrm>
            <a:off x="457200" y="4160520"/>
            <a:ext cx="8229600" cy="457200"/>
          </a:xfrm>
          <a:prstGeom prst="roundRect">
            <a:avLst>
              <a:gd name="adj" fmla="val 16000"/>
            </a:avLst>
          </a:prstGeom>
          <a:solidFill>
            <a:srgbClr val="E8F5EF"/>
          </a:solidFill>
          <a:ln w="15875">
            <a:solidFill>
              <a:srgbClr val="00A86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TextBox 44"/>
          <p:cNvSpPr txBox="1"/>
          <p:nvPr/>
        </p:nvSpPr>
        <p:spPr>
          <a:xfrm>
            <a:off x="685800" y="4160520"/>
            <a:ext cx="7818120" cy="457200"/>
          </a:xfrm>
          <a:prstGeom prst="rect">
            <a:avLst/>
          </a:prstGeom>
          <a:noFill/>
        </p:spPr>
        <p:txBody>
          <a:bodyPr wrap="square" lIns="0" tIns="0" rIns="0" bIns="0" anchor="ctr">
            <a:spAutoFit/>
          </a:bodyPr>
          <a:lstStyle/>
          <a:p>
            <a:pPr algn="l"/>
            <a:r>
              <a:rPr sz="1200" b="0" i="0">
                <a:solidFill>
                  <a:srgbClr val="00704A"/>
                </a:solidFill>
                <a:latin typeface="Calibri"/>
              </a:rPr>
              <a:t>Les encadrés dorés du notebook sont ces quatre exercices. Vos notes des exercices 2 et 4 deviennent votre jeu de test.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0704A"/>
                </a:solidFill>
                <a:latin typeface="Calibri" pitchFamily="34" charset="0"/>
                <a:ea typeface="Calibri" pitchFamily="34" charset="-122"/>
                <a:cs typeface="Calibri" pitchFamily="34" charset="-120"/>
              </a:rPr>
              <a:t>06 · PRODUCTION</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Points de défaillance et bonnes pratiques</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B83B2E"/>
          </a:solidFill>
          <a:ln w="12700">
            <a:solidFill>
              <a:srgbClr val="B83B2E"/>
            </a:solidFill>
            <a:prstDash val="solid"/>
          </a:ln>
        </p:spPr>
      </p:sp>
      <p:sp>
        <p:nvSpPr>
          <p:cNvPr id="14" name="Text 12"/>
          <p:cNvSpPr txBox="1"/>
          <p:nvPr/>
        </p:nvSpPr>
        <p:spPr>
          <a:xfrm>
            <a:off x="457200" y="4846320"/>
            <a:ext cx="694944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ATI · Big Data pour les statistiques macroéconomiques · Maurice, 26–30 oct. 2026   |   BAD · Data Innovation for Africa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12</a:t>
            </a:r>
            <a:endParaRPr lang="en-US" sz="850" dirty="0"/>
          </a:p>
        </p:txBody>
      </p:sp>
      <p:sp>
        <p:nvSpPr>
          <p:cNvPr id="17" name="Shape 14"/>
          <p:cNvSpPr/>
          <p:nvPr/>
        </p:nvSpPr>
        <p:spPr>
          <a:xfrm>
            <a:off x="457200" y="1325880"/>
            <a:ext cx="3977640" cy="3337560"/>
          </a:xfrm>
          <a:prstGeom prst="roundRect">
            <a:avLst>
              <a:gd name="adj" fmla="val 2192"/>
            </a:avLst>
          </a:prstGeom>
          <a:solidFill>
            <a:srgbClr val="B83B2E">
              <a:alpha val="7000"/>
            </a:srgbClr>
          </a:solidFill>
          <a:ln w="9525">
            <a:solidFill>
              <a:srgbClr val="B83B2E"/>
            </a:solidFill>
            <a:prstDash val="solid"/>
          </a:ln>
        </p:spPr>
      </p:sp>
      <p:sp>
        <p:nvSpPr>
          <p:cNvPr id="18" name="Shape 15"/>
          <p:cNvSpPr/>
          <p:nvPr/>
        </p:nvSpPr>
        <p:spPr>
          <a:xfrm>
            <a:off x="640080" y="1444752"/>
            <a:ext cx="457200" cy="457200"/>
          </a:xfrm>
          <a:prstGeom prst="ellipse">
            <a:avLst/>
          </a:prstGeom>
          <a:solidFill>
            <a:srgbClr val="B83B2E">
              <a:alpha val="22000"/>
            </a:srgbClr>
          </a:solidFill>
          <a:ln w="12700">
            <a:solidFill>
              <a:srgbClr val="B83B2E">
                <a:alpha val="0"/>
              </a:srgbClr>
            </a:solidFill>
            <a:prstDash val="solid"/>
          </a:ln>
        </p:spPr>
      </p:sp>
      <p:pic>
        <p:nvPicPr>
          <p:cNvPr id="19" name="Image 0" descr="preencoded.png"/>
          <p:cNvPicPr>
            <a:picLocks noChangeAspect="1"/>
          </p:cNvPicPr>
          <p:nvPr/>
        </p:nvPicPr>
        <p:blipFill>
          <a:blip r:embed="rId3"/>
          <a:stretch>
            <a:fillRect/>
          </a:stretch>
        </p:blipFill>
        <p:spPr>
          <a:xfrm>
            <a:off x="749808" y="1554480"/>
            <a:ext cx="237744" cy="237744"/>
          </a:xfrm>
          <a:prstGeom prst="rect">
            <a:avLst/>
          </a:prstGeom>
        </p:spPr>
      </p:pic>
      <p:sp>
        <p:nvSpPr>
          <p:cNvPr id="20" name="Text 16"/>
          <p:cNvSpPr txBox="1"/>
          <p:nvPr/>
        </p:nvSpPr>
        <p:spPr>
          <a:xfrm>
            <a:off x="1234440" y="1463040"/>
            <a:ext cx="3017520" cy="256032"/>
          </a:xfrm>
          <a:prstGeom prst="rect">
            <a:avLst/>
          </a:prstGeom>
          <a:noFill/>
          <a:ln/>
        </p:spPr>
        <p:txBody>
          <a:bodyPr wrap="square" lIns="0" tIns="0" rIns="0" bIns="0" rtlCol="0" anchor="ctr"/>
          <a:lstStyle/>
          <a:p>
            <a:pPr marL="0" indent="0">
              <a:buNone/>
            </a:pPr>
            <a:r>
              <a:rPr lang="en-US" sz="1600" b="1" dirty="0">
                <a:solidFill>
                  <a:srgbClr val="231F20"/>
                </a:solidFill>
                <a:latin typeface="Calibri" pitchFamily="34" charset="0"/>
                <a:ea typeface="Calibri" pitchFamily="34" charset="-122"/>
                <a:cs typeface="Calibri" pitchFamily="34" charset="-120"/>
              </a:rPr>
              <a:t>7 points de défaillance</a:t>
            </a:r>
            <a:endParaRPr lang="en-US" sz="1600" dirty="0"/>
          </a:p>
        </p:txBody>
      </p:sp>
      <p:sp>
        <p:nvSpPr>
          <p:cNvPr id="21" name="Text 17"/>
          <p:cNvSpPr txBox="1"/>
          <p:nvPr/>
        </p:nvSpPr>
        <p:spPr>
          <a:xfrm>
            <a:off x="1234440" y="1719072"/>
            <a:ext cx="3017520" cy="201168"/>
          </a:xfrm>
          <a:prstGeom prst="rect">
            <a:avLst/>
          </a:prstGeom>
          <a:noFill/>
          <a:ln/>
        </p:spPr>
        <p:txBody>
          <a:bodyPr wrap="square" lIns="0" tIns="0" rIns="0" bIns="0" rtlCol="0" anchor="ctr"/>
          <a:lstStyle/>
          <a:p>
            <a:pPr marL="0" indent="0">
              <a:buNone/>
            </a:pPr>
            <a:r>
              <a:rPr lang="en-US" sz="950" i="1" dirty="0">
                <a:solidFill>
                  <a:srgbClr val="5E6964"/>
                </a:solidFill>
                <a:latin typeface="Calibri" pitchFamily="34" charset="0"/>
                <a:ea typeface="Calibri" pitchFamily="34" charset="-122"/>
                <a:cs typeface="Calibri" pitchFamily="34" charset="-120"/>
              </a:rPr>
              <a:t>Barnett et al., 2024</a:t>
            </a:r>
            <a:endParaRPr lang="en-US" sz="950" dirty="0"/>
          </a:p>
        </p:txBody>
      </p:sp>
      <p:sp>
        <p:nvSpPr>
          <p:cNvPr id="22" name="Shape 18"/>
          <p:cNvSpPr/>
          <p:nvPr/>
        </p:nvSpPr>
        <p:spPr>
          <a:xfrm>
            <a:off x="685800" y="2093976"/>
            <a:ext cx="237744" cy="237744"/>
          </a:xfrm>
          <a:prstGeom prst="ellipse">
            <a:avLst/>
          </a:prstGeom>
          <a:solidFill>
            <a:srgbClr val="FFFFFF"/>
          </a:solidFill>
          <a:ln w="12700">
            <a:solidFill>
              <a:srgbClr val="B83B2E"/>
            </a:solidFill>
            <a:prstDash val="solid"/>
          </a:ln>
        </p:spPr>
      </p:sp>
      <p:sp>
        <p:nvSpPr>
          <p:cNvPr id="23" name="Text 19"/>
          <p:cNvSpPr txBox="1"/>
          <p:nvPr/>
        </p:nvSpPr>
        <p:spPr>
          <a:xfrm>
            <a:off x="685800" y="2093976"/>
            <a:ext cx="237744" cy="237744"/>
          </a:xfrm>
          <a:prstGeom prst="rect">
            <a:avLst/>
          </a:prstGeom>
          <a:noFill/>
          <a:ln/>
        </p:spPr>
        <p:txBody>
          <a:bodyPr wrap="square" lIns="0" tIns="0" rIns="0" bIns="0" rtlCol="0" anchor="ctr"/>
          <a:lstStyle/>
          <a:p>
            <a:pPr marL="0" indent="0" algn="ctr">
              <a:buNone/>
            </a:pPr>
            <a:r>
              <a:rPr lang="en-US" sz="1000" b="1" dirty="0">
                <a:solidFill>
                  <a:srgbClr val="B83B2E"/>
                </a:solidFill>
                <a:latin typeface="Calibri" pitchFamily="34" charset="0"/>
                <a:ea typeface="Calibri" pitchFamily="34" charset="-122"/>
                <a:cs typeface="Calibri" pitchFamily="34" charset="-120"/>
              </a:rPr>
              <a:t>1</a:t>
            </a:r>
            <a:endParaRPr lang="en-US" sz="1000" dirty="0"/>
          </a:p>
        </p:txBody>
      </p:sp>
      <p:sp>
        <p:nvSpPr>
          <p:cNvPr id="24" name="Text 20"/>
          <p:cNvSpPr txBox="1"/>
          <p:nvPr/>
        </p:nvSpPr>
        <p:spPr>
          <a:xfrm>
            <a:off x="1051560" y="2057400"/>
            <a:ext cx="3246120" cy="310896"/>
          </a:xfrm>
          <a:prstGeom prst="rect">
            <a:avLst/>
          </a:prstGeom>
          <a:noFill/>
          <a:ln/>
        </p:spPr>
        <p:txBody>
          <a:bodyPr wrap="square" lIns="0" tIns="0" rIns="0" bIns="0" rtlCol="0" anchor="ctr"/>
          <a:lstStyle/>
          <a:p>
            <a:pPr marL="0" indent="0">
              <a:buNone/>
            </a:pPr>
            <a:r>
              <a:rPr lang="en-US" sz="1150" dirty="0">
                <a:solidFill>
                  <a:srgbClr val="231F20"/>
                </a:solidFill>
                <a:latin typeface="Calibri" pitchFamily="34" charset="0"/>
                <a:ea typeface="Calibri" pitchFamily="34" charset="-122"/>
                <a:cs typeface="Calibri" pitchFamily="34" charset="-120"/>
              </a:rPr>
              <a:t>Contenu absent — la réponse n'est pas dans le corpus</a:t>
            </a:r>
            <a:endParaRPr lang="en-US" sz="1150" dirty="0"/>
          </a:p>
        </p:txBody>
      </p:sp>
      <p:sp>
        <p:nvSpPr>
          <p:cNvPr id="25" name="Shape 21"/>
          <p:cNvSpPr/>
          <p:nvPr/>
        </p:nvSpPr>
        <p:spPr>
          <a:xfrm>
            <a:off x="685800" y="2459736"/>
            <a:ext cx="237744" cy="237744"/>
          </a:xfrm>
          <a:prstGeom prst="ellipse">
            <a:avLst/>
          </a:prstGeom>
          <a:solidFill>
            <a:srgbClr val="FFFFFF"/>
          </a:solidFill>
          <a:ln w="12700">
            <a:solidFill>
              <a:srgbClr val="B83B2E"/>
            </a:solidFill>
            <a:prstDash val="solid"/>
          </a:ln>
        </p:spPr>
      </p:sp>
      <p:sp>
        <p:nvSpPr>
          <p:cNvPr id="26" name="Text 22"/>
          <p:cNvSpPr txBox="1"/>
          <p:nvPr/>
        </p:nvSpPr>
        <p:spPr>
          <a:xfrm>
            <a:off x="685800" y="2459736"/>
            <a:ext cx="237744" cy="237744"/>
          </a:xfrm>
          <a:prstGeom prst="rect">
            <a:avLst/>
          </a:prstGeom>
          <a:noFill/>
          <a:ln/>
        </p:spPr>
        <p:txBody>
          <a:bodyPr wrap="square" lIns="0" tIns="0" rIns="0" bIns="0" rtlCol="0" anchor="ctr"/>
          <a:lstStyle/>
          <a:p>
            <a:pPr marL="0" indent="0" algn="ctr">
              <a:buNone/>
            </a:pPr>
            <a:r>
              <a:rPr lang="en-US" sz="1000" b="1" dirty="0">
                <a:solidFill>
                  <a:srgbClr val="B83B2E"/>
                </a:solidFill>
                <a:latin typeface="Calibri" pitchFamily="34" charset="0"/>
                <a:ea typeface="Calibri" pitchFamily="34" charset="-122"/>
                <a:cs typeface="Calibri" pitchFamily="34" charset="-120"/>
              </a:rPr>
              <a:t>2</a:t>
            </a:r>
            <a:endParaRPr lang="en-US" sz="1000" dirty="0"/>
          </a:p>
        </p:txBody>
      </p:sp>
      <p:sp>
        <p:nvSpPr>
          <p:cNvPr id="27" name="Text 23"/>
          <p:cNvSpPr txBox="1"/>
          <p:nvPr/>
        </p:nvSpPr>
        <p:spPr>
          <a:xfrm>
            <a:off x="1051560" y="2423160"/>
            <a:ext cx="3246120" cy="310896"/>
          </a:xfrm>
          <a:prstGeom prst="rect">
            <a:avLst/>
          </a:prstGeom>
          <a:noFill/>
          <a:ln/>
        </p:spPr>
        <p:txBody>
          <a:bodyPr wrap="square" lIns="0" tIns="0" rIns="0" bIns="0" rtlCol="0" anchor="ctr"/>
          <a:lstStyle/>
          <a:p>
            <a:pPr marL="0" indent="0">
              <a:buNone/>
            </a:pPr>
            <a:r>
              <a:rPr lang="en-US" sz="1150" dirty="0">
                <a:solidFill>
                  <a:srgbClr val="231F20"/>
                </a:solidFill>
                <a:latin typeface="Calibri" pitchFamily="34" charset="0"/>
                <a:ea typeface="Calibri" pitchFamily="34" charset="-122"/>
                <a:cs typeface="Calibri" pitchFamily="34" charset="-120"/>
              </a:rPr>
              <a:t>Bons documents mal classés</a:t>
            </a:r>
            <a:endParaRPr lang="en-US" sz="1150" dirty="0"/>
          </a:p>
        </p:txBody>
      </p:sp>
      <p:sp>
        <p:nvSpPr>
          <p:cNvPr id="28" name="Shape 24"/>
          <p:cNvSpPr/>
          <p:nvPr/>
        </p:nvSpPr>
        <p:spPr>
          <a:xfrm>
            <a:off x="685800" y="2825496"/>
            <a:ext cx="237744" cy="237744"/>
          </a:xfrm>
          <a:prstGeom prst="ellipse">
            <a:avLst/>
          </a:prstGeom>
          <a:solidFill>
            <a:srgbClr val="FFFFFF"/>
          </a:solidFill>
          <a:ln w="12700">
            <a:solidFill>
              <a:srgbClr val="B83B2E"/>
            </a:solidFill>
            <a:prstDash val="solid"/>
          </a:ln>
        </p:spPr>
      </p:sp>
      <p:sp>
        <p:nvSpPr>
          <p:cNvPr id="29" name="Text 25"/>
          <p:cNvSpPr txBox="1"/>
          <p:nvPr/>
        </p:nvSpPr>
        <p:spPr>
          <a:xfrm>
            <a:off x="685800" y="2825496"/>
            <a:ext cx="237744" cy="237744"/>
          </a:xfrm>
          <a:prstGeom prst="rect">
            <a:avLst/>
          </a:prstGeom>
          <a:noFill/>
          <a:ln/>
        </p:spPr>
        <p:txBody>
          <a:bodyPr wrap="square" lIns="0" tIns="0" rIns="0" bIns="0" rtlCol="0" anchor="ctr"/>
          <a:lstStyle/>
          <a:p>
            <a:pPr marL="0" indent="0" algn="ctr">
              <a:buNone/>
            </a:pPr>
            <a:r>
              <a:rPr lang="en-US" sz="1000" b="1" dirty="0">
                <a:solidFill>
                  <a:srgbClr val="B83B2E"/>
                </a:solidFill>
                <a:latin typeface="Calibri" pitchFamily="34" charset="0"/>
                <a:ea typeface="Calibri" pitchFamily="34" charset="-122"/>
                <a:cs typeface="Calibri" pitchFamily="34" charset="-120"/>
              </a:rPr>
              <a:t>3</a:t>
            </a:r>
            <a:endParaRPr lang="en-US" sz="1000" dirty="0"/>
          </a:p>
        </p:txBody>
      </p:sp>
      <p:sp>
        <p:nvSpPr>
          <p:cNvPr id="30" name="Text 26"/>
          <p:cNvSpPr txBox="1"/>
          <p:nvPr/>
        </p:nvSpPr>
        <p:spPr>
          <a:xfrm>
            <a:off x="1051560" y="2788920"/>
            <a:ext cx="3246120" cy="310896"/>
          </a:xfrm>
          <a:prstGeom prst="rect">
            <a:avLst/>
          </a:prstGeom>
          <a:noFill/>
          <a:ln/>
        </p:spPr>
        <p:txBody>
          <a:bodyPr wrap="square" lIns="0" tIns="0" rIns="0" bIns="0" rtlCol="0" anchor="ctr"/>
          <a:lstStyle/>
          <a:p>
            <a:pPr marL="0" indent="0">
              <a:buNone/>
            </a:pPr>
            <a:r>
              <a:rPr lang="en-US" sz="1150" dirty="0">
                <a:solidFill>
                  <a:srgbClr val="231F20"/>
                </a:solidFill>
                <a:latin typeface="Calibri" pitchFamily="34" charset="0"/>
                <a:ea typeface="Calibri" pitchFamily="34" charset="-122"/>
                <a:cs typeface="Calibri" pitchFamily="34" charset="-120"/>
              </a:rPr>
              <a:t>Hors contexte — écarté lors de la consolidation</a:t>
            </a:r>
            <a:endParaRPr lang="en-US" sz="1150" dirty="0"/>
          </a:p>
        </p:txBody>
      </p:sp>
      <p:sp>
        <p:nvSpPr>
          <p:cNvPr id="31" name="Shape 27"/>
          <p:cNvSpPr/>
          <p:nvPr/>
        </p:nvSpPr>
        <p:spPr>
          <a:xfrm>
            <a:off x="685800" y="3191256"/>
            <a:ext cx="237744" cy="237744"/>
          </a:xfrm>
          <a:prstGeom prst="ellipse">
            <a:avLst/>
          </a:prstGeom>
          <a:solidFill>
            <a:srgbClr val="FFFFFF"/>
          </a:solidFill>
          <a:ln w="12700">
            <a:solidFill>
              <a:srgbClr val="B83B2E"/>
            </a:solidFill>
            <a:prstDash val="solid"/>
          </a:ln>
        </p:spPr>
      </p:sp>
      <p:sp>
        <p:nvSpPr>
          <p:cNvPr id="32" name="Text 28"/>
          <p:cNvSpPr txBox="1"/>
          <p:nvPr/>
        </p:nvSpPr>
        <p:spPr>
          <a:xfrm>
            <a:off x="685800" y="3191256"/>
            <a:ext cx="237744" cy="237744"/>
          </a:xfrm>
          <a:prstGeom prst="rect">
            <a:avLst/>
          </a:prstGeom>
          <a:noFill/>
          <a:ln/>
        </p:spPr>
        <p:txBody>
          <a:bodyPr wrap="square" lIns="0" tIns="0" rIns="0" bIns="0" rtlCol="0" anchor="ctr"/>
          <a:lstStyle/>
          <a:p>
            <a:pPr marL="0" indent="0" algn="ctr">
              <a:buNone/>
            </a:pPr>
            <a:r>
              <a:rPr lang="en-US" sz="1000" b="1" dirty="0">
                <a:solidFill>
                  <a:srgbClr val="B83B2E"/>
                </a:solidFill>
                <a:latin typeface="Calibri" pitchFamily="34" charset="0"/>
                <a:ea typeface="Calibri" pitchFamily="34" charset="-122"/>
                <a:cs typeface="Calibri" pitchFamily="34" charset="-120"/>
              </a:rPr>
              <a:t>4</a:t>
            </a:r>
            <a:endParaRPr lang="en-US" sz="1000" dirty="0"/>
          </a:p>
        </p:txBody>
      </p:sp>
      <p:sp>
        <p:nvSpPr>
          <p:cNvPr id="33" name="Text 29"/>
          <p:cNvSpPr txBox="1"/>
          <p:nvPr/>
        </p:nvSpPr>
        <p:spPr>
          <a:xfrm>
            <a:off x="1051560" y="3154680"/>
            <a:ext cx="3246120" cy="310896"/>
          </a:xfrm>
          <a:prstGeom prst="rect">
            <a:avLst/>
          </a:prstGeom>
          <a:noFill/>
          <a:ln/>
        </p:spPr>
        <p:txBody>
          <a:bodyPr wrap="square" lIns="0" tIns="0" rIns="0" bIns="0" rtlCol="0" anchor="ctr"/>
          <a:lstStyle/>
          <a:p>
            <a:pPr marL="0" indent="0">
              <a:buNone/>
            </a:pPr>
            <a:r>
              <a:rPr lang="en-US" sz="1150" dirty="0">
                <a:solidFill>
                  <a:srgbClr val="231F20"/>
                </a:solidFill>
                <a:latin typeface="Calibri" pitchFamily="34" charset="0"/>
                <a:ea typeface="Calibri" pitchFamily="34" charset="-122"/>
                <a:cs typeface="Calibri" pitchFamily="34" charset="-120"/>
              </a:rPr>
              <a:t>Non extrait — présent mais ignoré par le LLM</a:t>
            </a:r>
            <a:endParaRPr lang="en-US" sz="1150" dirty="0"/>
          </a:p>
        </p:txBody>
      </p:sp>
      <p:sp>
        <p:nvSpPr>
          <p:cNvPr id="34" name="Shape 30"/>
          <p:cNvSpPr/>
          <p:nvPr/>
        </p:nvSpPr>
        <p:spPr>
          <a:xfrm>
            <a:off x="685800" y="3557016"/>
            <a:ext cx="237744" cy="237744"/>
          </a:xfrm>
          <a:prstGeom prst="ellipse">
            <a:avLst/>
          </a:prstGeom>
          <a:solidFill>
            <a:srgbClr val="FFFFFF"/>
          </a:solidFill>
          <a:ln w="12700">
            <a:solidFill>
              <a:srgbClr val="B83B2E"/>
            </a:solidFill>
            <a:prstDash val="solid"/>
          </a:ln>
        </p:spPr>
      </p:sp>
      <p:sp>
        <p:nvSpPr>
          <p:cNvPr id="35" name="Text 31"/>
          <p:cNvSpPr txBox="1"/>
          <p:nvPr/>
        </p:nvSpPr>
        <p:spPr>
          <a:xfrm>
            <a:off x="685800" y="3557016"/>
            <a:ext cx="237744" cy="237744"/>
          </a:xfrm>
          <a:prstGeom prst="rect">
            <a:avLst/>
          </a:prstGeom>
          <a:noFill/>
          <a:ln/>
        </p:spPr>
        <p:txBody>
          <a:bodyPr wrap="square" lIns="0" tIns="0" rIns="0" bIns="0" rtlCol="0" anchor="ctr"/>
          <a:lstStyle/>
          <a:p>
            <a:pPr marL="0" indent="0" algn="ctr">
              <a:buNone/>
            </a:pPr>
            <a:r>
              <a:rPr lang="en-US" sz="1000" b="1" dirty="0">
                <a:solidFill>
                  <a:srgbClr val="B83B2E"/>
                </a:solidFill>
                <a:latin typeface="Calibri" pitchFamily="34" charset="0"/>
                <a:ea typeface="Calibri" pitchFamily="34" charset="-122"/>
                <a:cs typeface="Calibri" pitchFamily="34" charset="-120"/>
              </a:rPr>
              <a:t>5</a:t>
            </a:r>
            <a:endParaRPr lang="en-US" sz="1000" dirty="0"/>
          </a:p>
        </p:txBody>
      </p:sp>
      <p:sp>
        <p:nvSpPr>
          <p:cNvPr id="36" name="Text 32"/>
          <p:cNvSpPr txBox="1"/>
          <p:nvPr/>
        </p:nvSpPr>
        <p:spPr>
          <a:xfrm>
            <a:off x="1051560" y="3520440"/>
            <a:ext cx="3246120" cy="310896"/>
          </a:xfrm>
          <a:prstGeom prst="rect">
            <a:avLst/>
          </a:prstGeom>
          <a:noFill/>
          <a:ln/>
        </p:spPr>
        <p:txBody>
          <a:bodyPr wrap="square" lIns="0" tIns="0" rIns="0" bIns="0" rtlCol="0" anchor="ctr"/>
          <a:lstStyle/>
          <a:p>
            <a:pPr marL="0" indent="0">
              <a:buNone/>
            </a:pPr>
            <a:r>
              <a:rPr lang="en-US" sz="1150" dirty="0">
                <a:solidFill>
                  <a:srgbClr val="231F20"/>
                </a:solidFill>
                <a:latin typeface="Calibri" pitchFamily="34" charset="0"/>
                <a:ea typeface="Calibri" pitchFamily="34" charset="-122"/>
                <a:cs typeface="Calibri" pitchFamily="34" charset="-120"/>
              </a:rPr>
              <a:t>Mauvais format</a:t>
            </a:r>
            <a:endParaRPr lang="en-US" sz="1150" dirty="0"/>
          </a:p>
        </p:txBody>
      </p:sp>
      <p:sp>
        <p:nvSpPr>
          <p:cNvPr id="37" name="Shape 33"/>
          <p:cNvSpPr/>
          <p:nvPr/>
        </p:nvSpPr>
        <p:spPr>
          <a:xfrm>
            <a:off x="685800" y="3922776"/>
            <a:ext cx="237744" cy="237744"/>
          </a:xfrm>
          <a:prstGeom prst="ellipse">
            <a:avLst/>
          </a:prstGeom>
          <a:solidFill>
            <a:srgbClr val="FFFFFF"/>
          </a:solidFill>
          <a:ln w="12700">
            <a:solidFill>
              <a:srgbClr val="B83B2E"/>
            </a:solidFill>
            <a:prstDash val="solid"/>
          </a:ln>
        </p:spPr>
      </p:sp>
      <p:sp>
        <p:nvSpPr>
          <p:cNvPr id="38" name="Text 34"/>
          <p:cNvSpPr txBox="1"/>
          <p:nvPr/>
        </p:nvSpPr>
        <p:spPr>
          <a:xfrm>
            <a:off x="685800" y="3922776"/>
            <a:ext cx="237744" cy="237744"/>
          </a:xfrm>
          <a:prstGeom prst="rect">
            <a:avLst/>
          </a:prstGeom>
          <a:noFill/>
          <a:ln/>
        </p:spPr>
        <p:txBody>
          <a:bodyPr wrap="square" lIns="0" tIns="0" rIns="0" bIns="0" rtlCol="0" anchor="ctr"/>
          <a:lstStyle/>
          <a:p>
            <a:pPr marL="0" indent="0" algn="ctr">
              <a:buNone/>
            </a:pPr>
            <a:r>
              <a:rPr lang="en-US" sz="1000" b="1" dirty="0">
                <a:solidFill>
                  <a:srgbClr val="B83B2E"/>
                </a:solidFill>
                <a:latin typeface="Calibri" pitchFamily="34" charset="0"/>
                <a:ea typeface="Calibri" pitchFamily="34" charset="-122"/>
                <a:cs typeface="Calibri" pitchFamily="34" charset="-120"/>
              </a:rPr>
              <a:t>6</a:t>
            </a:r>
            <a:endParaRPr lang="en-US" sz="1000" dirty="0"/>
          </a:p>
        </p:txBody>
      </p:sp>
      <p:sp>
        <p:nvSpPr>
          <p:cNvPr id="39" name="Text 35"/>
          <p:cNvSpPr txBox="1"/>
          <p:nvPr/>
        </p:nvSpPr>
        <p:spPr>
          <a:xfrm>
            <a:off x="1051560" y="3886200"/>
            <a:ext cx="3246120" cy="310896"/>
          </a:xfrm>
          <a:prstGeom prst="rect">
            <a:avLst/>
          </a:prstGeom>
          <a:noFill/>
          <a:ln/>
        </p:spPr>
        <p:txBody>
          <a:bodyPr wrap="square" lIns="0" tIns="0" rIns="0" bIns="0" rtlCol="0" anchor="ctr"/>
          <a:lstStyle/>
          <a:p>
            <a:pPr marL="0" indent="0">
              <a:buNone/>
            </a:pPr>
            <a:r>
              <a:rPr lang="en-US" sz="1150" dirty="0">
                <a:solidFill>
                  <a:srgbClr val="231F20"/>
                </a:solidFill>
                <a:latin typeface="Calibri" pitchFamily="34" charset="0"/>
                <a:ea typeface="Calibri" pitchFamily="34" charset="-122"/>
                <a:cs typeface="Calibri" pitchFamily="34" charset="-120"/>
              </a:rPr>
              <a:t>Niveau de détail inadapté</a:t>
            </a:r>
            <a:endParaRPr lang="en-US" sz="1150" dirty="0"/>
          </a:p>
        </p:txBody>
      </p:sp>
      <p:sp>
        <p:nvSpPr>
          <p:cNvPr id="40" name="Shape 36"/>
          <p:cNvSpPr/>
          <p:nvPr/>
        </p:nvSpPr>
        <p:spPr>
          <a:xfrm>
            <a:off x="685800" y="4288536"/>
            <a:ext cx="237744" cy="237744"/>
          </a:xfrm>
          <a:prstGeom prst="ellipse">
            <a:avLst/>
          </a:prstGeom>
          <a:solidFill>
            <a:srgbClr val="FFFFFF"/>
          </a:solidFill>
          <a:ln w="12700">
            <a:solidFill>
              <a:srgbClr val="B83B2E"/>
            </a:solidFill>
            <a:prstDash val="solid"/>
          </a:ln>
        </p:spPr>
      </p:sp>
      <p:sp>
        <p:nvSpPr>
          <p:cNvPr id="41" name="Text 37"/>
          <p:cNvSpPr txBox="1"/>
          <p:nvPr/>
        </p:nvSpPr>
        <p:spPr>
          <a:xfrm>
            <a:off x="685800" y="4288536"/>
            <a:ext cx="237744" cy="237744"/>
          </a:xfrm>
          <a:prstGeom prst="rect">
            <a:avLst/>
          </a:prstGeom>
          <a:noFill/>
          <a:ln/>
        </p:spPr>
        <p:txBody>
          <a:bodyPr wrap="square" lIns="0" tIns="0" rIns="0" bIns="0" rtlCol="0" anchor="ctr"/>
          <a:lstStyle/>
          <a:p>
            <a:pPr marL="0" indent="0" algn="ctr">
              <a:buNone/>
            </a:pPr>
            <a:r>
              <a:rPr lang="en-US" sz="1000" b="1" dirty="0">
                <a:solidFill>
                  <a:srgbClr val="B83B2E"/>
                </a:solidFill>
                <a:latin typeface="Calibri" pitchFamily="34" charset="0"/>
                <a:ea typeface="Calibri" pitchFamily="34" charset="-122"/>
                <a:cs typeface="Calibri" pitchFamily="34" charset="-120"/>
              </a:rPr>
              <a:t>7</a:t>
            </a:r>
            <a:endParaRPr lang="en-US" sz="1000" dirty="0"/>
          </a:p>
        </p:txBody>
      </p:sp>
      <p:sp>
        <p:nvSpPr>
          <p:cNvPr id="42" name="Text 38"/>
          <p:cNvSpPr txBox="1"/>
          <p:nvPr/>
        </p:nvSpPr>
        <p:spPr>
          <a:xfrm>
            <a:off x="1051560" y="4251960"/>
            <a:ext cx="3246120" cy="310896"/>
          </a:xfrm>
          <a:prstGeom prst="rect">
            <a:avLst/>
          </a:prstGeom>
          <a:noFill/>
          <a:ln/>
        </p:spPr>
        <p:txBody>
          <a:bodyPr wrap="square" lIns="0" tIns="0" rIns="0" bIns="0" rtlCol="0" anchor="ctr"/>
          <a:lstStyle/>
          <a:p>
            <a:pPr marL="0" indent="0">
              <a:buNone/>
            </a:pPr>
            <a:r>
              <a:rPr lang="en-US" sz="1150" dirty="0">
                <a:solidFill>
                  <a:srgbClr val="231F20"/>
                </a:solidFill>
                <a:latin typeface="Calibri" pitchFamily="34" charset="0"/>
                <a:ea typeface="Calibri" pitchFamily="34" charset="-122"/>
                <a:cs typeface="Calibri" pitchFamily="34" charset="-120"/>
              </a:rPr>
              <a:t>Réponse incomplète</a:t>
            </a:r>
            <a:endParaRPr lang="en-US" sz="1150" dirty="0"/>
          </a:p>
        </p:txBody>
      </p:sp>
      <p:sp>
        <p:nvSpPr>
          <p:cNvPr id="43" name="Shape 39"/>
          <p:cNvSpPr/>
          <p:nvPr/>
        </p:nvSpPr>
        <p:spPr>
          <a:xfrm>
            <a:off x="4709160" y="1325880"/>
            <a:ext cx="3977640" cy="3337560"/>
          </a:xfrm>
          <a:prstGeom prst="roundRect">
            <a:avLst>
              <a:gd name="adj" fmla="val 2192"/>
            </a:avLst>
          </a:prstGeom>
          <a:solidFill>
            <a:srgbClr val="E8F5EF"/>
          </a:solidFill>
          <a:ln w="15875">
            <a:solidFill>
              <a:srgbClr val="00A86A"/>
            </a:solidFill>
            <a:prstDash val="solid"/>
          </a:ln>
        </p:spPr>
      </p:sp>
      <p:sp>
        <p:nvSpPr>
          <p:cNvPr id="44" name="Shape 40"/>
          <p:cNvSpPr/>
          <p:nvPr/>
        </p:nvSpPr>
        <p:spPr>
          <a:xfrm>
            <a:off x="4892040" y="1444752"/>
            <a:ext cx="457200" cy="457200"/>
          </a:xfrm>
          <a:prstGeom prst="ellipse">
            <a:avLst/>
          </a:prstGeom>
          <a:solidFill>
            <a:srgbClr val="00A86A">
              <a:alpha val="22000"/>
            </a:srgbClr>
          </a:solidFill>
          <a:ln w="12700">
            <a:solidFill>
              <a:srgbClr val="00A86A">
                <a:alpha val="0"/>
              </a:srgbClr>
            </a:solidFill>
            <a:prstDash val="solid"/>
          </a:ln>
        </p:spPr>
      </p:sp>
      <p:pic>
        <p:nvPicPr>
          <p:cNvPr id="45" name="Image 1" descr="preencoded.png"/>
          <p:cNvPicPr>
            <a:picLocks noChangeAspect="1"/>
          </p:cNvPicPr>
          <p:nvPr/>
        </p:nvPicPr>
        <p:blipFill>
          <a:blip r:embed="rId4"/>
          <a:stretch>
            <a:fillRect/>
          </a:stretch>
        </p:blipFill>
        <p:spPr>
          <a:xfrm>
            <a:off x="5001768" y="1554480"/>
            <a:ext cx="237744" cy="237744"/>
          </a:xfrm>
          <a:prstGeom prst="rect">
            <a:avLst/>
          </a:prstGeom>
        </p:spPr>
      </p:pic>
      <p:sp>
        <p:nvSpPr>
          <p:cNvPr id="46" name="Text 41"/>
          <p:cNvSpPr txBox="1"/>
          <p:nvPr/>
        </p:nvSpPr>
        <p:spPr>
          <a:xfrm>
            <a:off x="5486400" y="1463040"/>
            <a:ext cx="3017520" cy="256032"/>
          </a:xfrm>
          <a:prstGeom prst="rect">
            <a:avLst/>
          </a:prstGeom>
          <a:noFill/>
          <a:ln/>
        </p:spPr>
        <p:txBody>
          <a:bodyPr wrap="square" lIns="0" tIns="0" rIns="0" bIns="0" rtlCol="0" anchor="ctr"/>
          <a:lstStyle/>
          <a:p>
            <a:pPr marL="0" indent="0">
              <a:buNone/>
            </a:pPr>
            <a:r>
              <a:rPr lang="en-US" sz="1600" b="1" dirty="0">
                <a:solidFill>
                  <a:srgbClr val="231F20"/>
                </a:solidFill>
                <a:latin typeface="Calibri" pitchFamily="34" charset="0"/>
                <a:ea typeface="Calibri" pitchFamily="34" charset="-122"/>
                <a:cs typeface="Calibri" pitchFamily="34" charset="-120"/>
              </a:rPr>
              <a:t>Bonnes pratiques</a:t>
            </a:r>
            <a:endParaRPr lang="en-US" sz="1600" dirty="0"/>
          </a:p>
        </p:txBody>
      </p:sp>
      <p:sp>
        <p:nvSpPr>
          <p:cNvPr id="47" name="Text 42"/>
          <p:cNvSpPr txBox="1"/>
          <p:nvPr/>
        </p:nvSpPr>
        <p:spPr>
          <a:xfrm>
            <a:off x="5486400" y="1719072"/>
            <a:ext cx="3017520" cy="201168"/>
          </a:xfrm>
          <a:prstGeom prst="rect">
            <a:avLst/>
          </a:prstGeom>
          <a:noFill/>
          <a:ln/>
        </p:spPr>
        <p:txBody>
          <a:bodyPr wrap="square" lIns="0" tIns="0" rIns="0" bIns="0" rtlCol="0" anchor="ctr"/>
          <a:lstStyle/>
          <a:p>
            <a:pPr marL="0" indent="0">
              <a:buNone/>
            </a:pPr>
            <a:r>
              <a:rPr lang="en-US" sz="950" i="1" dirty="0">
                <a:solidFill>
                  <a:srgbClr val="5E6964"/>
                </a:solidFill>
                <a:latin typeface="Calibri" pitchFamily="34" charset="0"/>
                <a:ea typeface="Calibri" pitchFamily="34" charset="-122"/>
                <a:cs typeface="Calibri" pitchFamily="34" charset="-120"/>
              </a:rPr>
              <a:t>Ce qui fonctionne durablement</a:t>
            </a:r>
            <a:endParaRPr lang="en-US" sz="950" dirty="0"/>
          </a:p>
        </p:txBody>
      </p:sp>
      <p:pic>
        <p:nvPicPr>
          <p:cNvPr id="48" name="Image 2" descr="preencoded.png"/>
          <p:cNvPicPr>
            <a:picLocks noChangeAspect="1"/>
          </p:cNvPicPr>
          <p:nvPr/>
        </p:nvPicPr>
        <p:blipFill>
          <a:blip r:embed="rId5"/>
          <a:stretch>
            <a:fillRect/>
          </a:stretch>
        </p:blipFill>
        <p:spPr>
          <a:xfrm>
            <a:off x="4937760" y="2130552"/>
            <a:ext cx="182880" cy="182880"/>
          </a:xfrm>
          <a:prstGeom prst="rect">
            <a:avLst/>
          </a:prstGeom>
        </p:spPr>
      </p:pic>
      <p:sp>
        <p:nvSpPr>
          <p:cNvPr id="49" name="Text 43"/>
          <p:cNvSpPr txBox="1"/>
          <p:nvPr/>
        </p:nvSpPr>
        <p:spPr>
          <a:xfrm>
            <a:off x="5303520" y="2057400"/>
            <a:ext cx="3246120" cy="329184"/>
          </a:xfrm>
          <a:prstGeom prst="rect">
            <a:avLst/>
          </a:prstGeom>
          <a:noFill/>
          <a:ln/>
        </p:spPr>
        <p:txBody>
          <a:bodyPr wrap="square" lIns="0" tIns="0" rIns="0" bIns="0" rtlCol="0" anchor="ctr"/>
          <a:lstStyle/>
          <a:p>
            <a:pPr marL="0" indent="0">
              <a:buNone/>
            </a:pPr>
            <a:r>
              <a:rPr lang="en-US" sz="1200" dirty="0">
                <a:solidFill>
                  <a:srgbClr val="231F20"/>
                </a:solidFill>
                <a:latin typeface="Calibri" pitchFamily="34" charset="0"/>
                <a:ea typeface="Calibri" pitchFamily="34" charset="-122"/>
                <a:cs typeface="Calibri" pitchFamily="34" charset="-120"/>
              </a:rPr>
              <a:t>Créer un jeu d'évaluation avant d'optimiser</a:t>
            </a:r>
            <a:endParaRPr lang="en-US" sz="1200" dirty="0"/>
          </a:p>
        </p:txBody>
      </p:sp>
      <p:pic>
        <p:nvPicPr>
          <p:cNvPr id="50" name="Image 3" descr="preencoded.png"/>
          <p:cNvPicPr>
            <a:picLocks noChangeAspect="1"/>
          </p:cNvPicPr>
          <p:nvPr/>
        </p:nvPicPr>
        <p:blipFill>
          <a:blip r:embed="rId5"/>
          <a:stretch>
            <a:fillRect/>
          </a:stretch>
        </p:blipFill>
        <p:spPr>
          <a:xfrm>
            <a:off x="4937760" y="2551176"/>
            <a:ext cx="182880" cy="182880"/>
          </a:xfrm>
          <a:prstGeom prst="rect">
            <a:avLst/>
          </a:prstGeom>
        </p:spPr>
      </p:pic>
      <p:sp>
        <p:nvSpPr>
          <p:cNvPr id="51" name="Text 44"/>
          <p:cNvSpPr txBox="1"/>
          <p:nvPr/>
        </p:nvSpPr>
        <p:spPr>
          <a:xfrm>
            <a:off x="5303520" y="2478024"/>
            <a:ext cx="3246120" cy="329184"/>
          </a:xfrm>
          <a:prstGeom prst="rect">
            <a:avLst/>
          </a:prstGeom>
          <a:noFill/>
          <a:ln/>
        </p:spPr>
        <p:txBody>
          <a:bodyPr wrap="square" lIns="0" tIns="0" rIns="0" bIns="0" rtlCol="0" anchor="ctr"/>
          <a:lstStyle/>
          <a:p>
            <a:pPr marL="0" indent="0">
              <a:buNone/>
            </a:pPr>
            <a:r>
              <a:rPr lang="en-US" sz="1200" dirty="0">
                <a:solidFill>
                  <a:srgbClr val="231F20"/>
                </a:solidFill>
                <a:latin typeface="Calibri" pitchFamily="34" charset="0"/>
                <a:ea typeface="Calibri" pitchFamily="34" charset="-122"/>
                <a:cs typeface="Calibri" pitchFamily="34" charset="-120"/>
              </a:rPr>
              <a:t>Extraction propre, découpage structuré</a:t>
            </a:r>
            <a:endParaRPr lang="en-US" sz="1200" dirty="0"/>
          </a:p>
        </p:txBody>
      </p:sp>
      <p:pic>
        <p:nvPicPr>
          <p:cNvPr id="52" name="Image 4" descr="preencoded.png"/>
          <p:cNvPicPr>
            <a:picLocks noChangeAspect="1"/>
          </p:cNvPicPr>
          <p:nvPr/>
        </p:nvPicPr>
        <p:blipFill>
          <a:blip r:embed="rId5"/>
          <a:stretch>
            <a:fillRect/>
          </a:stretch>
        </p:blipFill>
        <p:spPr>
          <a:xfrm>
            <a:off x="4937760" y="2971800"/>
            <a:ext cx="182880" cy="182880"/>
          </a:xfrm>
          <a:prstGeom prst="rect">
            <a:avLst/>
          </a:prstGeom>
        </p:spPr>
      </p:pic>
      <p:sp>
        <p:nvSpPr>
          <p:cNvPr id="53" name="Text 45"/>
          <p:cNvSpPr txBox="1"/>
          <p:nvPr/>
        </p:nvSpPr>
        <p:spPr>
          <a:xfrm>
            <a:off x="5303520" y="2898648"/>
            <a:ext cx="3246120" cy="329184"/>
          </a:xfrm>
          <a:prstGeom prst="rect">
            <a:avLst/>
          </a:prstGeom>
          <a:noFill/>
          <a:ln/>
        </p:spPr>
        <p:txBody>
          <a:bodyPr wrap="square" lIns="0" tIns="0" rIns="0" bIns="0" rtlCol="0" anchor="ctr"/>
          <a:lstStyle/>
          <a:p>
            <a:pPr marL="0" indent="0">
              <a:buNone/>
            </a:pPr>
            <a:r>
              <a:rPr lang="en-US" sz="1200" dirty="0">
                <a:solidFill>
                  <a:srgbClr val="231F20"/>
                </a:solidFill>
                <a:latin typeface="Calibri" pitchFamily="34" charset="0"/>
                <a:ea typeface="Calibri" pitchFamily="34" charset="-122"/>
                <a:cs typeface="Calibri" pitchFamily="34" charset="-120"/>
              </a:rPr>
              <a:t>Recherche hybride + reclassement par défaut</a:t>
            </a:r>
            <a:endParaRPr lang="en-US" sz="1200" dirty="0"/>
          </a:p>
        </p:txBody>
      </p:sp>
      <p:pic>
        <p:nvPicPr>
          <p:cNvPr id="54" name="Image 5" descr="preencoded.png"/>
          <p:cNvPicPr>
            <a:picLocks noChangeAspect="1"/>
          </p:cNvPicPr>
          <p:nvPr/>
        </p:nvPicPr>
        <p:blipFill>
          <a:blip r:embed="rId5"/>
          <a:stretch>
            <a:fillRect/>
          </a:stretch>
        </p:blipFill>
        <p:spPr>
          <a:xfrm>
            <a:off x="4937760" y="3392424"/>
            <a:ext cx="182880" cy="182880"/>
          </a:xfrm>
          <a:prstGeom prst="rect">
            <a:avLst/>
          </a:prstGeom>
        </p:spPr>
      </p:pic>
      <p:sp>
        <p:nvSpPr>
          <p:cNvPr id="55" name="Text 46"/>
          <p:cNvSpPr txBox="1"/>
          <p:nvPr/>
        </p:nvSpPr>
        <p:spPr>
          <a:xfrm>
            <a:off x="5303520" y="3319272"/>
            <a:ext cx="3246120" cy="329184"/>
          </a:xfrm>
          <a:prstGeom prst="rect">
            <a:avLst/>
          </a:prstGeom>
          <a:noFill/>
          <a:ln/>
        </p:spPr>
        <p:txBody>
          <a:bodyPr wrap="square" lIns="0" tIns="0" rIns="0" bIns="0" rtlCol="0" anchor="ctr"/>
          <a:lstStyle/>
          <a:p>
            <a:pPr marL="0" indent="0">
              <a:buNone/>
            </a:pPr>
            <a:r>
              <a:rPr lang="en-US" sz="1200" dirty="0">
                <a:solidFill>
                  <a:srgbClr val="231F20"/>
                </a:solidFill>
                <a:latin typeface="Calibri" pitchFamily="34" charset="0"/>
                <a:ea typeface="Calibri" pitchFamily="34" charset="-122"/>
                <a:cs typeface="Calibri" pitchFamily="34" charset="-120"/>
              </a:rPr>
              <a:t>Filtres de métadonnées et contrôle des droits</a:t>
            </a:r>
            <a:endParaRPr lang="en-US" sz="1200" dirty="0"/>
          </a:p>
        </p:txBody>
      </p:sp>
      <p:pic>
        <p:nvPicPr>
          <p:cNvPr id="56" name="Image 6" descr="preencoded.png"/>
          <p:cNvPicPr>
            <a:picLocks noChangeAspect="1"/>
          </p:cNvPicPr>
          <p:nvPr/>
        </p:nvPicPr>
        <p:blipFill>
          <a:blip r:embed="rId5"/>
          <a:stretch>
            <a:fillRect/>
          </a:stretch>
        </p:blipFill>
        <p:spPr>
          <a:xfrm>
            <a:off x="4937760" y="3813048"/>
            <a:ext cx="182880" cy="182880"/>
          </a:xfrm>
          <a:prstGeom prst="rect">
            <a:avLst/>
          </a:prstGeom>
        </p:spPr>
      </p:pic>
      <p:sp>
        <p:nvSpPr>
          <p:cNvPr id="57" name="Text 47"/>
          <p:cNvSpPr txBox="1"/>
          <p:nvPr/>
        </p:nvSpPr>
        <p:spPr>
          <a:xfrm>
            <a:off x="5303520" y="3739896"/>
            <a:ext cx="3246120" cy="329184"/>
          </a:xfrm>
          <a:prstGeom prst="rect">
            <a:avLst/>
          </a:prstGeom>
          <a:noFill/>
          <a:ln/>
        </p:spPr>
        <p:txBody>
          <a:bodyPr wrap="square" lIns="0" tIns="0" rIns="0" bIns="0" rtlCol="0" anchor="ctr"/>
          <a:lstStyle/>
          <a:p>
            <a:pPr marL="0" indent="0">
              <a:buNone/>
            </a:pPr>
            <a:r>
              <a:rPr lang="en-US" sz="1200" dirty="0">
                <a:solidFill>
                  <a:srgbClr val="231F20"/>
                </a:solidFill>
                <a:latin typeface="Calibri" pitchFamily="34" charset="0"/>
                <a:ea typeface="Calibri" pitchFamily="34" charset="-122"/>
                <a:cs typeface="Calibri" pitchFamily="34" charset="-120"/>
              </a:rPr>
              <a:t>Prompt d'ancrage avec citations et abstention</a:t>
            </a:r>
            <a:endParaRPr lang="en-US" sz="1200" dirty="0"/>
          </a:p>
        </p:txBody>
      </p:sp>
      <p:pic>
        <p:nvPicPr>
          <p:cNvPr id="58" name="Image 7" descr="preencoded.png"/>
          <p:cNvPicPr>
            <a:picLocks noChangeAspect="1"/>
          </p:cNvPicPr>
          <p:nvPr/>
        </p:nvPicPr>
        <p:blipFill>
          <a:blip r:embed="rId5"/>
          <a:stretch>
            <a:fillRect/>
          </a:stretch>
        </p:blipFill>
        <p:spPr>
          <a:xfrm>
            <a:off x="4937760" y="4233672"/>
            <a:ext cx="182880" cy="182880"/>
          </a:xfrm>
          <a:prstGeom prst="rect">
            <a:avLst/>
          </a:prstGeom>
        </p:spPr>
      </p:pic>
      <p:sp>
        <p:nvSpPr>
          <p:cNvPr id="59" name="Text 48"/>
          <p:cNvSpPr txBox="1"/>
          <p:nvPr/>
        </p:nvSpPr>
        <p:spPr>
          <a:xfrm>
            <a:off x="5303520" y="4160520"/>
            <a:ext cx="3246120" cy="329184"/>
          </a:xfrm>
          <a:prstGeom prst="rect">
            <a:avLst/>
          </a:prstGeom>
          <a:noFill/>
          <a:ln/>
        </p:spPr>
        <p:txBody>
          <a:bodyPr wrap="square" lIns="0" tIns="0" rIns="0" bIns="0" rtlCol="0" anchor="ctr"/>
          <a:lstStyle/>
          <a:p>
            <a:pPr marL="0" indent="0">
              <a:buNone/>
            </a:pPr>
            <a:r>
              <a:rPr lang="en-US" sz="1200" dirty="0">
                <a:solidFill>
                  <a:srgbClr val="231F20"/>
                </a:solidFill>
                <a:latin typeface="Calibri" pitchFamily="34" charset="0"/>
                <a:ea typeface="Calibri" pitchFamily="34" charset="-122"/>
                <a:cs typeface="Calibri" pitchFamily="34" charset="-120"/>
              </a:rPr>
              <a:t>Surveiller, actualiser l'index, itérer</a:t>
            </a:r>
            <a:endParaRPr lang="en-US" sz="120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0704A"/>
                </a:solidFill>
                <a:latin typeface="Calibri" pitchFamily="34" charset="0"/>
                <a:ea typeface="Calibri" pitchFamily="34" charset="-122"/>
                <a:cs typeface="Calibri" pitchFamily="34" charset="-120"/>
              </a:rPr>
              <a:t>ENSUITE  ·  JEUDI 13 H 45  ·  PROJECT CANVAS</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Du notebook à votre Project Canvas</a:t>
            </a:r>
            <a:endParaRPr lang="en-US" sz="2800" dirty="0"/>
          </a:p>
        </p:txBody>
      </p:sp>
      <p:sp>
        <p:nvSpPr>
          <p:cNvPr id="14" name="Text 12"/>
          <p:cNvSpPr txBox="1"/>
          <p:nvPr/>
        </p:nvSpPr>
        <p:spPr>
          <a:xfrm>
            <a:off x="457200" y="4846320"/>
            <a:ext cx="694944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ATI · Big Data pour les statistiques macroéconomiques · Maurice, 26–30 oct. 2026   |   BAD · Data Innovation for Africa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13</a:t>
            </a:r>
            <a:endParaRPr lang="en-US" sz="850" dirty="0"/>
          </a:p>
        </p:txBody>
      </p:sp>
      <p:sp>
        <p:nvSpPr>
          <p:cNvPr id="16" name="Rounded Rectangle 15"/>
          <p:cNvSpPr/>
          <p:nvPr/>
        </p:nvSpPr>
        <p:spPr>
          <a:xfrm>
            <a:off x="457200" y="1243584"/>
            <a:ext cx="2615184" cy="1234440"/>
          </a:xfrm>
          <a:prstGeom prst="roundRect">
            <a:avLst>
              <a:gd name="adj" fmla="val 6000"/>
            </a:avLst>
          </a:prstGeom>
          <a:solidFill>
            <a:srgbClr val="F4F7F5"/>
          </a:solidFill>
          <a:ln w="9525">
            <a:solidFill>
              <a:srgbClr val="D5DE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640080" y="1408176"/>
            <a:ext cx="420624" cy="420624"/>
          </a:xfrm>
          <a:prstGeom prst="ellipse">
            <a:avLst/>
          </a:prstGeom>
          <a:solidFill>
            <a:srgbClr val="00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8" name="Picture 17" descr="book_w.png"/>
          <p:cNvPicPr>
            <a:picLocks noChangeAspect="1"/>
          </p:cNvPicPr>
          <p:nvPr/>
        </p:nvPicPr>
        <p:blipFill>
          <a:blip r:embed="rId3"/>
          <a:stretch>
            <a:fillRect/>
          </a:stretch>
        </p:blipFill>
        <p:spPr>
          <a:xfrm>
            <a:off x="745236" y="1513332"/>
            <a:ext cx="210312" cy="210312"/>
          </a:xfrm>
          <a:prstGeom prst="rect">
            <a:avLst/>
          </a:prstGeom>
        </p:spPr>
      </p:pic>
      <p:sp>
        <p:nvSpPr>
          <p:cNvPr id="19" name="TextBox 18"/>
          <p:cNvSpPr txBox="1"/>
          <p:nvPr/>
        </p:nvSpPr>
        <p:spPr>
          <a:xfrm>
            <a:off x="1188720" y="1426464"/>
            <a:ext cx="1783080" cy="384048"/>
          </a:xfrm>
          <a:prstGeom prst="rect">
            <a:avLst/>
          </a:prstGeom>
          <a:noFill/>
        </p:spPr>
        <p:txBody>
          <a:bodyPr wrap="square" lIns="0" tIns="0" rIns="0" bIns="0" anchor="ctr">
            <a:spAutoFit/>
          </a:bodyPr>
          <a:lstStyle/>
          <a:p>
            <a:pPr algn="l"/>
            <a:r>
              <a:rPr sz="1250" b="1" i="0">
                <a:solidFill>
                  <a:srgbClr val="231F20"/>
                </a:solidFill>
                <a:latin typeface="Calibri"/>
              </a:rPr>
              <a:t>Assistance méthodologique</a:t>
            </a:r>
          </a:p>
        </p:txBody>
      </p:sp>
      <p:sp>
        <p:nvSpPr>
          <p:cNvPr id="20" name="TextBox 19"/>
          <p:cNvSpPr txBox="1"/>
          <p:nvPr/>
        </p:nvSpPr>
        <p:spPr>
          <a:xfrm>
            <a:off x="640080" y="1901952"/>
            <a:ext cx="2286000" cy="548640"/>
          </a:xfrm>
          <a:prstGeom prst="rect">
            <a:avLst/>
          </a:prstGeom>
          <a:noFill/>
        </p:spPr>
        <p:txBody>
          <a:bodyPr wrap="square" lIns="0" tIns="0" rIns="0" bIns="0" anchor="t">
            <a:spAutoFit/>
          </a:bodyPr>
          <a:lstStyle/>
          <a:p>
            <a:pPr algn="l"/>
            <a:r>
              <a:rPr sz="950" b="0" i="0">
                <a:solidFill>
                  <a:srgbClr val="5E6964"/>
                </a:solidFill>
                <a:latin typeface="Calibri"/>
              </a:rPr>
              <a:t>Manuels et procédures de l'IPC ou des comptes nationaux, pour les compilateurs et les nouveaux agents.</a:t>
            </a:r>
          </a:p>
        </p:txBody>
      </p:sp>
      <p:sp>
        <p:nvSpPr>
          <p:cNvPr id="21" name="Rounded Rectangle 20"/>
          <p:cNvSpPr/>
          <p:nvPr/>
        </p:nvSpPr>
        <p:spPr>
          <a:xfrm>
            <a:off x="3264408" y="1243584"/>
            <a:ext cx="2615184" cy="1234440"/>
          </a:xfrm>
          <a:prstGeom prst="roundRect">
            <a:avLst>
              <a:gd name="adj" fmla="val 6000"/>
            </a:avLst>
          </a:prstGeom>
          <a:solidFill>
            <a:srgbClr val="F4F7F5"/>
          </a:solidFill>
          <a:ln w="9525">
            <a:solidFill>
              <a:srgbClr val="D5DE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Oval 21"/>
          <p:cNvSpPr/>
          <p:nvPr/>
        </p:nvSpPr>
        <p:spPr>
          <a:xfrm>
            <a:off x="3447288" y="1408176"/>
            <a:ext cx="420624" cy="420624"/>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3" name="Picture 22" descr="news_w.png"/>
          <p:cNvPicPr>
            <a:picLocks noChangeAspect="1"/>
          </p:cNvPicPr>
          <p:nvPr/>
        </p:nvPicPr>
        <p:blipFill>
          <a:blip r:embed="rId4"/>
          <a:stretch>
            <a:fillRect/>
          </a:stretch>
        </p:blipFill>
        <p:spPr>
          <a:xfrm>
            <a:off x="3552444" y="1513332"/>
            <a:ext cx="210312" cy="210312"/>
          </a:xfrm>
          <a:prstGeom prst="rect">
            <a:avLst/>
          </a:prstGeom>
        </p:spPr>
      </p:pic>
      <p:sp>
        <p:nvSpPr>
          <p:cNvPr id="24" name="TextBox 23"/>
          <p:cNvSpPr txBox="1"/>
          <p:nvPr/>
        </p:nvSpPr>
        <p:spPr>
          <a:xfrm>
            <a:off x="3995928" y="1426464"/>
            <a:ext cx="1783080" cy="384048"/>
          </a:xfrm>
          <a:prstGeom prst="rect">
            <a:avLst/>
          </a:prstGeom>
          <a:noFill/>
        </p:spPr>
        <p:txBody>
          <a:bodyPr wrap="square" lIns="0" tIns="0" rIns="0" bIns="0" anchor="ctr">
            <a:spAutoFit/>
          </a:bodyPr>
          <a:lstStyle/>
          <a:p>
            <a:pPr algn="l"/>
            <a:r>
              <a:rPr sz="1250" b="1" i="0">
                <a:solidFill>
                  <a:srgbClr val="231F20"/>
                </a:solidFill>
                <a:latin typeface="Calibri"/>
              </a:rPr>
              <a:t>Questions sur les publications</a:t>
            </a:r>
          </a:p>
        </p:txBody>
      </p:sp>
      <p:sp>
        <p:nvSpPr>
          <p:cNvPr id="25" name="TextBox 24"/>
          <p:cNvSpPr txBox="1"/>
          <p:nvPr/>
        </p:nvSpPr>
        <p:spPr>
          <a:xfrm>
            <a:off x="3447288" y="1901952"/>
            <a:ext cx="2286000" cy="548640"/>
          </a:xfrm>
          <a:prstGeom prst="rect">
            <a:avLst/>
          </a:prstGeom>
          <a:noFill/>
        </p:spPr>
        <p:txBody>
          <a:bodyPr wrap="square" lIns="0" tIns="0" rIns="0" bIns="0" anchor="t">
            <a:spAutoFit/>
          </a:bodyPr>
          <a:lstStyle/>
          <a:p>
            <a:pPr algn="l"/>
            <a:r>
              <a:rPr sz="950" b="0" i="0">
                <a:solidFill>
                  <a:srgbClr val="5E6964"/>
                </a:solidFill>
                <a:latin typeface="Calibri"/>
              </a:rPr>
              <a:t>Publications, calendrier de diffusion et politique de révision, pour les usagers et la presse.</a:t>
            </a:r>
          </a:p>
        </p:txBody>
      </p:sp>
      <p:sp>
        <p:nvSpPr>
          <p:cNvPr id="26" name="Rounded Rectangle 25"/>
          <p:cNvSpPr/>
          <p:nvPr/>
        </p:nvSpPr>
        <p:spPr>
          <a:xfrm>
            <a:off x="6071616" y="1243584"/>
            <a:ext cx="2615184" cy="1234440"/>
          </a:xfrm>
          <a:prstGeom prst="roundRect">
            <a:avLst>
              <a:gd name="adj" fmla="val 6000"/>
            </a:avLst>
          </a:prstGeom>
          <a:solidFill>
            <a:srgbClr val="F4F7F5"/>
          </a:solidFill>
          <a:ln w="9525">
            <a:solidFill>
              <a:srgbClr val="D5DE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Oval 26"/>
          <p:cNvSpPr/>
          <p:nvPr/>
        </p:nvSpPr>
        <p:spPr>
          <a:xfrm>
            <a:off x="6254496" y="1408176"/>
            <a:ext cx="420624" cy="420624"/>
          </a:xfrm>
          <a:prstGeom prst="ellipse">
            <a:avLst/>
          </a:prstGeom>
          <a:solidFill>
            <a:srgbClr val="00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8" name="Picture 27" descr="exchange_w.png"/>
          <p:cNvPicPr>
            <a:picLocks noChangeAspect="1"/>
          </p:cNvPicPr>
          <p:nvPr/>
        </p:nvPicPr>
        <p:blipFill>
          <a:blip r:embed="rId5"/>
          <a:stretch>
            <a:fillRect/>
          </a:stretch>
        </p:blipFill>
        <p:spPr>
          <a:xfrm>
            <a:off x="6359652" y="1513332"/>
            <a:ext cx="210312" cy="210312"/>
          </a:xfrm>
          <a:prstGeom prst="rect">
            <a:avLst/>
          </a:prstGeom>
        </p:spPr>
      </p:pic>
      <p:sp>
        <p:nvSpPr>
          <p:cNvPr id="29" name="TextBox 28"/>
          <p:cNvSpPr txBox="1"/>
          <p:nvPr/>
        </p:nvSpPr>
        <p:spPr>
          <a:xfrm>
            <a:off x="6803136" y="1426464"/>
            <a:ext cx="1783080" cy="384048"/>
          </a:xfrm>
          <a:prstGeom prst="rect">
            <a:avLst/>
          </a:prstGeom>
          <a:noFill/>
        </p:spPr>
        <p:txBody>
          <a:bodyPr wrap="square" lIns="0" tIns="0" rIns="0" bIns="0" anchor="ctr">
            <a:spAutoFit/>
          </a:bodyPr>
          <a:lstStyle/>
          <a:p>
            <a:pPr algn="l"/>
            <a:r>
              <a:rPr sz="1250" b="1" i="0">
                <a:solidFill>
                  <a:srgbClr val="231F20"/>
                </a:solidFill>
                <a:latin typeface="Calibri"/>
              </a:rPr>
              <a:t>Appui à la classification BdP</a:t>
            </a:r>
          </a:p>
        </p:txBody>
      </p:sp>
      <p:sp>
        <p:nvSpPr>
          <p:cNvPr id="30" name="TextBox 29"/>
          <p:cNvSpPr txBox="1"/>
          <p:nvPr/>
        </p:nvSpPr>
        <p:spPr>
          <a:xfrm>
            <a:off x="6254496" y="1901952"/>
            <a:ext cx="2286000" cy="548640"/>
          </a:xfrm>
          <a:prstGeom prst="rect">
            <a:avLst/>
          </a:prstGeom>
          <a:noFill/>
        </p:spPr>
        <p:txBody>
          <a:bodyPr wrap="square" lIns="0" tIns="0" rIns="0" bIns="0" anchor="t">
            <a:spAutoFit/>
          </a:bodyPr>
          <a:lstStyle/>
          <a:p>
            <a:pPr algn="l"/>
            <a:r>
              <a:rPr sz="950" b="0" i="0">
                <a:solidFill>
                  <a:srgbClr val="5E6964"/>
                </a:solidFill>
                <a:latin typeface="Calibri"/>
              </a:rPr>
              <a:t>Chapitres du MBP6 et nomenclatures — prolonge la séance de ce matin sur les transactions.</a:t>
            </a:r>
          </a:p>
        </p:txBody>
      </p:sp>
      <p:sp>
        <p:nvSpPr>
          <p:cNvPr id="31" name="Rounded Rectangle 30"/>
          <p:cNvSpPr/>
          <p:nvPr/>
        </p:nvSpPr>
        <p:spPr>
          <a:xfrm>
            <a:off x="457200" y="2587752"/>
            <a:ext cx="2615184" cy="1234440"/>
          </a:xfrm>
          <a:prstGeom prst="roundRect">
            <a:avLst>
              <a:gd name="adj" fmla="val 6000"/>
            </a:avLst>
          </a:prstGeom>
          <a:solidFill>
            <a:srgbClr val="F4F7F5"/>
          </a:solidFill>
          <a:ln w="9525">
            <a:solidFill>
              <a:srgbClr val="D5DE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Oval 31"/>
          <p:cNvSpPr/>
          <p:nvPr/>
        </p:nvSpPr>
        <p:spPr>
          <a:xfrm>
            <a:off x="640080" y="2752344"/>
            <a:ext cx="420624" cy="420624"/>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3" name="Picture 32" descr="bank_w.png"/>
          <p:cNvPicPr>
            <a:picLocks noChangeAspect="1"/>
          </p:cNvPicPr>
          <p:nvPr/>
        </p:nvPicPr>
        <p:blipFill>
          <a:blip r:embed="rId6"/>
          <a:stretch>
            <a:fillRect/>
          </a:stretch>
        </p:blipFill>
        <p:spPr>
          <a:xfrm>
            <a:off x="745236" y="2857500"/>
            <a:ext cx="210312" cy="210312"/>
          </a:xfrm>
          <a:prstGeom prst="rect">
            <a:avLst/>
          </a:prstGeom>
        </p:spPr>
      </p:pic>
      <p:sp>
        <p:nvSpPr>
          <p:cNvPr id="34" name="TextBox 33"/>
          <p:cNvSpPr txBox="1"/>
          <p:nvPr/>
        </p:nvSpPr>
        <p:spPr>
          <a:xfrm>
            <a:off x="1188720" y="2770632"/>
            <a:ext cx="1783080" cy="384048"/>
          </a:xfrm>
          <a:prstGeom prst="rect">
            <a:avLst/>
          </a:prstGeom>
          <a:noFill/>
        </p:spPr>
        <p:txBody>
          <a:bodyPr wrap="square" lIns="0" tIns="0" rIns="0" bIns="0" anchor="ctr">
            <a:spAutoFit/>
          </a:bodyPr>
          <a:lstStyle/>
          <a:p>
            <a:pPr algn="l"/>
            <a:r>
              <a:rPr sz="1250" b="1" i="0">
                <a:solidFill>
                  <a:srgbClr val="231F20"/>
                </a:solidFill>
                <a:latin typeface="Calibri"/>
              </a:rPr>
              <a:t>Politique monétaire</a:t>
            </a:r>
          </a:p>
        </p:txBody>
      </p:sp>
      <p:sp>
        <p:nvSpPr>
          <p:cNvPr id="35" name="TextBox 34"/>
          <p:cNvSpPr txBox="1"/>
          <p:nvPr/>
        </p:nvSpPr>
        <p:spPr>
          <a:xfrm>
            <a:off x="640080" y="3246120"/>
            <a:ext cx="2286000" cy="548640"/>
          </a:xfrm>
          <a:prstGeom prst="rect">
            <a:avLst/>
          </a:prstGeom>
          <a:noFill/>
        </p:spPr>
        <p:txBody>
          <a:bodyPr wrap="square" lIns="0" tIns="0" rIns="0" bIns="0" anchor="t">
            <a:spAutoFit/>
          </a:bodyPr>
          <a:lstStyle/>
          <a:p>
            <a:pPr algn="l"/>
            <a:r>
              <a:rPr sz="950" b="0" i="0">
                <a:solidFill>
                  <a:srgbClr val="5E6964"/>
                </a:solidFill>
                <a:latin typeface="Calibri"/>
              </a:rPr>
              <a:t>Déclarations, procès-verbaux et rapports sur l'inflation, pour les économistes.</a:t>
            </a:r>
          </a:p>
        </p:txBody>
      </p:sp>
      <p:sp>
        <p:nvSpPr>
          <p:cNvPr id="36" name="Rounded Rectangle 35"/>
          <p:cNvSpPr/>
          <p:nvPr/>
        </p:nvSpPr>
        <p:spPr>
          <a:xfrm>
            <a:off x="3264408" y="2587752"/>
            <a:ext cx="2615184" cy="1234440"/>
          </a:xfrm>
          <a:prstGeom prst="roundRect">
            <a:avLst>
              <a:gd name="adj" fmla="val 6000"/>
            </a:avLst>
          </a:prstGeom>
          <a:solidFill>
            <a:srgbClr val="F4F7F5"/>
          </a:solidFill>
          <a:ln w="9525">
            <a:solidFill>
              <a:srgbClr val="D5DE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Oval 36"/>
          <p:cNvSpPr/>
          <p:nvPr/>
        </p:nvSpPr>
        <p:spPr>
          <a:xfrm>
            <a:off x="3447288" y="2752344"/>
            <a:ext cx="420624" cy="420624"/>
          </a:xfrm>
          <a:prstGeom prst="ellipse">
            <a:avLst/>
          </a:prstGeom>
          <a:solidFill>
            <a:srgbClr val="00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8" name="Picture 37" descr="lang_w.png"/>
          <p:cNvPicPr>
            <a:picLocks noChangeAspect="1"/>
          </p:cNvPicPr>
          <p:nvPr/>
        </p:nvPicPr>
        <p:blipFill>
          <a:blip r:embed="rId7"/>
          <a:stretch>
            <a:fillRect/>
          </a:stretch>
        </p:blipFill>
        <p:spPr>
          <a:xfrm>
            <a:off x="3552444" y="2857500"/>
            <a:ext cx="210312" cy="210312"/>
          </a:xfrm>
          <a:prstGeom prst="rect">
            <a:avLst/>
          </a:prstGeom>
        </p:spPr>
      </p:pic>
      <p:sp>
        <p:nvSpPr>
          <p:cNvPr id="39" name="TextBox 38"/>
          <p:cNvSpPr txBox="1"/>
          <p:nvPr/>
        </p:nvSpPr>
        <p:spPr>
          <a:xfrm>
            <a:off x="3995928" y="2770632"/>
            <a:ext cx="1783080" cy="384048"/>
          </a:xfrm>
          <a:prstGeom prst="rect">
            <a:avLst/>
          </a:prstGeom>
          <a:noFill/>
        </p:spPr>
        <p:txBody>
          <a:bodyPr wrap="square" lIns="0" tIns="0" rIns="0" bIns="0" anchor="ctr">
            <a:spAutoFit/>
          </a:bodyPr>
          <a:lstStyle/>
          <a:p>
            <a:pPr algn="l"/>
            <a:r>
              <a:rPr sz="1250" b="1" i="0">
                <a:solidFill>
                  <a:srgbClr val="231F20"/>
                </a:solidFill>
                <a:latin typeface="Calibri"/>
              </a:rPr>
              <a:t>Assistant bilingue</a:t>
            </a:r>
          </a:p>
        </p:txBody>
      </p:sp>
      <p:sp>
        <p:nvSpPr>
          <p:cNvPr id="40" name="TextBox 39"/>
          <p:cNvSpPr txBox="1"/>
          <p:nvPr/>
        </p:nvSpPr>
        <p:spPr>
          <a:xfrm>
            <a:off x="3447288" y="3246120"/>
            <a:ext cx="2286000" cy="548640"/>
          </a:xfrm>
          <a:prstGeom prst="rect">
            <a:avLst/>
          </a:prstGeom>
          <a:noFill/>
        </p:spPr>
        <p:txBody>
          <a:bodyPr wrap="square" lIns="0" tIns="0" rIns="0" bIns="0" anchor="t">
            <a:spAutoFit/>
          </a:bodyPr>
          <a:lstStyle/>
          <a:p>
            <a:pPr algn="l"/>
            <a:r>
              <a:rPr sz="950" b="0" i="0">
                <a:solidFill>
                  <a:srgbClr val="5E6964"/>
                </a:solidFill>
                <a:latin typeface="Calibri"/>
              </a:rPr>
              <a:t>Les mêmes rapports en français et en anglais ; questions dans l'une ou l'autre langue.</a:t>
            </a:r>
          </a:p>
        </p:txBody>
      </p:sp>
      <p:sp>
        <p:nvSpPr>
          <p:cNvPr id="41" name="Rounded Rectangle 40"/>
          <p:cNvSpPr/>
          <p:nvPr/>
        </p:nvSpPr>
        <p:spPr>
          <a:xfrm>
            <a:off x="6071616" y="2587752"/>
            <a:ext cx="2615184" cy="1234440"/>
          </a:xfrm>
          <a:prstGeom prst="roundRect">
            <a:avLst>
              <a:gd name="adj" fmla="val 6000"/>
            </a:avLst>
          </a:prstGeom>
          <a:solidFill>
            <a:srgbClr val="E8F5EF"/>
          </a:solidFill>
          <a:ln w="15875">
            <a:solidFill>
              <a:srgbClr val="00A86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Oval 41"/>
          <p:cNvSpPr/>
          <p:nvPr/>
        </p:nvSpPr>
        <p:spPr>
          <a:xfrm>
            <a:off x="6254496" y="2752344"/>
            <a:ext cx="420624" cy="420624"/>
          </a:xfrm>
          <a:prstGeom prst="ellipse">
            <a:avLst/>
          </a:prstGeom>
          <a:solidFill>
            <a:srgbClr val="007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3" name="Picture 42" descr="check_w.png"/>
          <p:cNvPicPr>
            <a:picLocks noChangeAspect="1"/>
          </p:cNvPicPr>
          <p:nvPr/>
        </p:nvPicPr>
        <p:blipFill>
          <a:blip r:embed="rId8"/>
          <a:stretch>
            <a:fillRect/>
          </a:stretch>
        </p:blipFill>
        <p:spPr>
          <a:xfrm>
            <a:off x="6359652" y="2857500"/>
            <a:ext cx="210312" cy="210312"/>
          </a:xfrm>
          <a:prstGeom prst="rect">
            <a:avLst/>
          </a:prstGeom>
        </p:spPr>
      </p:pic>
      <p:sp>
        <p:nvSpPr>
          <p:cNvPr id="44" name="TextBox 43"/>
          <p:cNvSpPr txBox="1"/>
          <p:nvPr/>
        </p:nvSpPr>
        <p:spPr>
          <a:xfrm>
            <a:off x="6803136" y="2770632"/>
            <a:ext cx="1783080" cy="384048"/>
          </a:xfrm>
          <a:prstGeom prst="rect">
            <a:avLst/>
          </a:prstGeom>
          <a:noFill/>
        </p:spPr>
        <p:txBody>
          <a:bodyPr wrap="square" lIns="0" tIns="0" rIns="0" bIns="0" anchor="ctr">
            <a:spAutoFit/>
          </a:bodyPr>
          <a:lstStyle/>
          <a:p>
            <a:pPr algn="l"/>
            <a:r>
              <a:rPr sz="1250" b="1" i="0">
                <a:solidFill>
                  <a:srgbClr val="00704A"/>
                </a:solidFill>
                <a:latin typeface="Calibri"/>
              </a:rPr>
              <a:t>Ce que l'équipe consigne</a:t>
            </a:r>
          </a:p>
        </p:txBody>
      </p:sp>
      <p:sp>
        <p:nvSpPr>
          <p:cNvPr id="45" name="TextBox 44"/>
          <p:cNvSpPr txBox="1"/>
          <p:nvPr/>
        </p:nvSpPr>
        <p:spPr>
          <a:xfrm>
            <a:off x="6254496" y="3246120"/>
            <a:ext cx="2286000" cy="548640"/>
          </a:xfrm>
          <a:prstGeom prst="rect">
            <a:avLst/>
          </a:prstGeom>
          <a:noFill/>
        </p:spPr>
        <p:txBody>
          <a:bodyPr wrap="square" lIns="0" tIns="0" rIns="0" bIns="0" anchor="t">
            <a:spAutoFit/>
          </a:bodyPr>
          <a:lstStyle/>
          <a:p>
            <a:pPr algn="l"/>
            <a:r>
              <a:rPr sz="950" b="0" i="0">
                <a:solidFill>
                  <a:srgbClr val="5E6964"/>
                </a:solidFill>
                <a:latin typeface="Calibri"/>
              </a:rPr>
              <a:t>Utilisateurs et problème · documents et confidentialité · 10 à 20 questions de test, dont des refus · banc d'essai · suite.</a:t>
            </a:r>
          </a:p>
        </p:txBody>
      </p:sp>
      <p:sp>
        <p:nvSpPr>
          <p:cNvPr id="46" name="Rounded Rectangle 45"/>
          <p:cNvSpPr/>
          <p:nvPr/>
        </p:nvSpPr>
        <p:spPr>
          <a:xfrm>
            <a:off x="457200" y="4023360"/>
            <a:ext cx="8229600" cy="548640"/>
          </a:xfrm>
          <a:prstGeom prst="roundRect">
            <a:avLst>
              <a:gd name="adj" fmla="val 16000"/>
            </a:avLst>
          </a:prstGeom>
          <a:solidFill>
            <a:srgbClr val="E8F5EF"/>
          </a:solidFill>
          <a:ln w="15875">
            <a:solidFill>
              <a:srgbClr val="00A86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p:cNvSpPr txBox="1"/>
          <p:nvPr/>
        </p:nvSpPr>
        <p:spPr>
          <a:xfrm>
            <a:off x="685800" y="4023360"/>
            <a:ext cx="7818120" cy="548640"/>
          </a:xfrm>
          <a:prstGeom prst="rect">
            <a:avLst/>
          </a:prstGeom>
          <a:noFill/>
        </p:spPr>
        <p:txBody>
          <a:bodyPr wrap="square" lIns="0" tIns="0" rIns="0" bIns="0" anchor="ctr">
            <a:spAutoFit/>
          </a:bodyPr>
          <a:lstStyle/>
          <a:p>
            <a:pPr algn="l"/>
            <a:r>
              <a:rPr sz="1150" b="0" i="0">
                <a:solidFill>
                  <a:srgbClr val="00704A"/>
                </a:solidFill>
                <a:latin typeface="Calibri"/>
              </a:rPr>
              <a:t>Après l'atelier, le Laboratoire d'innovation des données de la BAD peut accompagner les institutions qui poursuivent un prototype — adressez-vous aux animateurs BAD.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457200"/>
            <a:ext cx="4572000" cy="274320"/>
          </a:xfrm>
          <a:prstGeom prst="rect">
            <a:avLst/>
          </a:prstGeom>
          <a:noFill/>
          <a:ln/>
        </p:spPr>
        <p:txBody>
          <a:bodyPr wrap="square" lIns="0" tIns="0" rIns="0" bIns="0" rtlCol="0" anchor="ctr"/>
          <a:lstStyle/>
          <a:p>
            <a:pPr marL="0" indent="0">
              <a:buNone/>
            </a:pPr>
            <a:r>
              <a:rPr lang="en-US" sz="1200" b="1" kern="0" spc="400" dirty="0">
                <a:solidFill>
                  <a:srgbClr val="F5C242"/>
                </a:solidFill>
                <a:latin typeface="Calibri" pitchFamily="34" charset="0"/>
                <a:ea typeface="Calibri" pitchFamily="34" charset="-122"/>
                <a:cs typeface="Calibri" pitchFamily="34" charset="-120"/>
              </a:rPr>
              <a:t>À RETENIR</a:t>
            </a:r>
            <a:endParaRPr lang="en-US" sz="1200" dirty="0"/>
          </a:p>
        </p:txBody>
      </p:sp>
      <p:sp>
        <p:nvSpPr>
          <p:cNvPr id="3" name="Text 1"/>
          <p:cNvSpPr txBox="1"/>
          <p:nvPr/>
        </p:nvSpPr>
        <p:spPr>
          <a:xfrm>
            <a:off x="548640" y="777240"/>
            <a:ext cx="8046720" cy="91440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La qualité de la récupération plafonne celle des réponses.</a:t>
            </a:r>
            <a:endParaRPr lang="en-US" sz="3200" dirty="0"/>
          </a:p>
        </p:txBody>
      </p:sp>
      <p:sp>
        <p:nvSpPr>
          <p:cNvPr id="4" name="Shape 2"/>
          <p:cNvSpPr/>
          <p:nvPr/>
        </p:nvSpPr>
        <p:spPr>
          <a:xfrm>
            <a:off x="548640" y="1920240"/>
            <a:ext cx="1874520" cy="2194560"/>
          </a:xfrm>
          <a:prstGeom prst="roundRect">
            <a:avLst>
              <a:gd name="adj" fmla="val 3902"/>
            </a:avLst>
          </a:prstGeom>
          <a:solidFill>
            <a:srgbClr val="FFFFFF">
              <a:alpha val="12000"/>
            </a:srgbClr>
          </a:solidFill>
          <a:ln w="9525">
            <a:solidFill>
              <a:srgbClr val="FFFFFF">
                <a:alpha val="40000"/>
              </a:srgbClr>
            </a:solidFill>
            <a:prstDash val="solid"/>
          </a:ln>
        </p:spPr>
      </p:sp>
      <p:sp>
        <p:nvSpPr>
          <p:cNvPr id="5" name="Shape 3"/>
          <p:cNvSpPr/>
          <p:nvPr/>
        </p:nvSpPr>
        <p:spPr>
          <a:xfrm>
            <a:off x="731520" y="2103120"/>
            <a:ext cx="548640" cy="548640"/>
          </a:xfrm>
          <a:prstGeom prst="ellipse">
            <a:avLst/>
          </a:prstGeom>
          <a:solidFill>
            <a:srgbClr val="FFFFFF"/>
          </a:solidFill>
          <a:ln w="12700">
            <a:solidFill>
              <a:srgbClr val="FFFFFF"/>
            </a:solidFill>
            <a:prstDash val="solid"/>
          </a:ln>
        </p:spPr>
      </p:sp>
      <p:pic>
        <p:nvPicPr>
          <p:cNvPr id="6" name="Image 0" descr="preencoded.png"/>
          <p:cNvPicPr>
            <a:picLocks noChangeAspect="1"/>
          </p:cNvPicPr>
          <p:nvPr/>
        </p:nvPicPr>
        <p:blipFill>
          <a:blip r:embed="rId4"/>
          <a:stretch>
            <a:fillRect/>
          </a:stretch>
        </p:blipFill>
        <p:spPr>
          <a:xfrm>
            <a:off x="863194" y="2234794"/>
            <a:ext cx="285293" cy="285293"/>
          </a:xfrm>
          <a:prstGeom prst="rect">
            <a:avLst/>
          </a:prstGeom>
        </p:spPr>
      </p:pic>
      <p:sp>
        <p:nvSpPr>
          <p:cNvPr id="7" name="Text 4"/>
          <p:cNvSpPr txBox="1"/>
          <p:nvPr/>
        </p:nvSpPr>
        <p:spPr>
          <a:xfrm>
            <a:off x="731520" y="2788920"/>
            <a:ext cx="1600200" cy="32004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Ancré</a:t>
            </a:r>
            <a:endParaRPr lang="en-US" sz="1450" dirty="0"/>
          </a:p>
        </p:txBody>
      </p:sp>
      <p:sp>
        <p:nvSpPr>
          <p:cNvPr id="8" name="Text 5"/>
          <p:cNvSpPr txBox="1"/>
          <p:nvPr/>
        </p:nvSpPr>
        <p:spPr>
          <a:xfrm>
            <a:off x="731520" y="3154680"/>
            <a:ext cx="1554480" cy="914400"/>
          </a:xfrm>
          <a:prstGeom prst="rect">
            <a:avLst/>
          </a:prstGeom>
          <a:noFill/>
          <a:ln/>
        </p:spPr>
        <p:txBody>
          <a:bodyPr wrap="square" lIns="0" tIns="0" rIns="0" bIns="0" rtlCol="0" anchor="t"/>
          <a:lstStyle/>
          <a:p>
            <a:pPr marL="0" indent="0">
              <a:buNone/>
            </a:pPr>
            <a:r>
              <a:rPr lang="en-US" sz="1150" dirty="0">
                <a:solidFill>
                  <a:srgbClr val="E6F6EE"/>
                </a:solidFill>
                <a:latin typeface="Calibri" pitchFamily="34" charset="0"/>
                <a:ea typeface="Calibri" pitchFamily="34" charset="-122"/>
                <a:cs typeface="Calibri" pitchFamily="34" charset="-120"/>
              </a:rPr>
              <a:t>Le RAG donne aux LLM un savoir à jour, privé et citable, sans réentraînement.</a:t>
            </a:r>
            <a:endParaRPr lang="en-US" sz="1150" dirty="0"/>
          </a:p>
        </p:txBody>
      </p:sp>
      <p:sp>
        <p:nvSpPr>
          <p:cNvPr id="9" name="Shape 6"/>
          <p:cNvSpPr/>
          <p:nvPr/>
        </p:nvSpPr>
        <p:spPr>
          <a:xfrm>
            <a:off x="2587752" y="1920240"/>
            <a:ext cx="1874520" cy="2194560"/>
          </a:xfrm>
          <a:prstGeom prst="roundRect">
            <a:avLst>
              <a:gd name="adj" fmla="val 3902"/>
            </a:avLst>
          </a:prstGeom>
          <a:solidFill>
            <a:srgbClr val="FFFFFF">
              <a:alpha val="12000"/>
            </a:srgbClr>
          </a:solidFill>
          <a:ln w="9525">
            <a:solidFill>
              <a:srgbClr val="FFFFFF">
                <a:alpha val="40000"/>
              </a:srgbClr>
            </a:solidFill>
            <a:prstDash val="solid"/>
          </a:ln>
        </p:spPr>
      </p:sp>
      <p:sp>
        <p:nvSpPr>
          <p:cNvPr id="10" name="Shape 7"/>
          <p:cNvSpPr/>
          <p:nvPr/>
        </p:nvSpPr>
        <p:spPr>
          <a:xfrm>
            <a:off x="2770632" y="2103120"/>
            <a:ext cx="548640" cy="548640"/>
          </a:xfrm>
          <a:prstGeom prst="ellipse">
            <a:avLst/>
          </a:prstGeom>
          <a:solidFill>
            <a:srgbClr val="FFFFFF"/>
          </a:solidFill>
          <a:ln w="12700">
            <a:solidFill>
              <a:srgbClr val="FFFFFF"/>
            </a:solidFill>
            <a:prstDash val="solid"/>
          </a:ln>
        </p:spPr>
      </p:sp>
      <p:pic>
        <p:nvPicPr>
          <p:cNvPr id="11" name="Image 1" descr="preencoded.png"/>
          <p:cNvPicPr>
            <a:picLocks noChangeAspect="1"/>
          </p:cNvPicPr>
          <p:nvPr/>
        </p:nvPicPr>
        <p:blipFill>
          <a:blip r:embed="rId5"/>
          <a:stretch>
            <a:fillRect/>
          </a:stretch>
        </p:blipFill>
        <p:spPr>
          <a:xfrm>
            <a:off x="2902306" y="2234794"/>
            <a:ext cx="285293" cy="285293"/>
          </a:xfrm>
          <a:prstGeom prst="rect">
            <a:avLst/>
          </a:prstGeom>
        </p:spPr>
      </p:pic>
      <p:sp>
        <p:nvSpPr>
          <p:cNvPr id="12" name="Text 8"/>
          <p:cNvSpPr txBox="1"/>
          <p:nvPr/>
        </p:nvSpPr>
        <p:spPr>
          <a:xfrm>
            <a:off x="2770632" y="2788920"/>
            <a:ext cx="1600200" cy="32004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Bien chercher</a:t>
            </a:r>
            <a:endParaRPr lang="en-US" sz="1450" dirty="0"/>
          </a:p>
        </p:txBody>
      </p:sp>
      <p:sp>
        <p:nvSpPr>
          <p:cNvPr id="13" name="Text 9"/>
          <p:cNvSpPr txBox="1"/>
          <p:nvPr/>
        </p:nvSpPr>
        <p:spPr>
          <a:xfrm>
            <a:off x="2770632" y="3154680"/>
            <a:ext cx="1554480" cy="914400"/>
          </a:xfrm>
          <a:prstGeom prst="rect">
            <a:avLst/>
          </a:prstGeom>
          <a:noFill/>
          <a:ln/>
        </p:spPr>
        <p:txBody>
          <a:bodyPr wrap="square" lIns="0" tIns="0" rIns="0" bIns="0" rtlCol="0" anchor="t"/>
          <a:lstStyle/>
          <a:p>
            <a:pPr marL="0" indent="0">
              <a:buNone/>
            </a:pPr>
            <a:r>
              <a:rPr lang="en-US" sz="1150" dirty="0">
                <a:solidFill>
                  <a:srgbClr val="E6F6EE"/>
                </a:solidFill>
                <a:latin typeface="Calibri" pitchFamily="34" charset="0"/>
                <a:ea typeface="Calibri" pitchFamily="34" charset="-122"/>
                <a:cs typeface="Calibri" pitchFamily="34" charset="-120"/>
              </a:rPr>
              <a:t>Découpage, recherche hybride et reclassement font l'essentiel des gains.</a:t>
            </a:r>
            <a:endParaRPr lang="en-US" sz="1150" dirty="0"/>
          </a:p>
        </p:txBody>
      </p:sp>
      <p:sp>
        <p:nvSpPr>
          <p:cNvPr id="14" name="Shape 10"/>
          <p:cNvSpPr/>
          <p:nvPr/>
        </p:nvSpPr>
        <p:spPr>
          <a:xfrm>
            <a:off x="4626864" y="1920240"/>
            <a:ext cx="1874520" cy="2194560"/>
          </a:xfrm>
          <a:prstGeom prst="roundRect">
            <a:avLst>
              <a:gd name="adj" fmla="val 3902"/>
            </a:avLst>
          </a:prstGeom>
          <a:solidFill>
            <a:srgbClr val="FFFFFF">
              <a:alpha val="12000"/>
            </a:srgbClr>
          </a:solidFill>
          <a:ln w="9525">
            <a:solidFill>
              <a:srgbClr val="FFFFFF">
                <a:alpha val="40000"/>
              </a:srgbClr>
            </a:solidFill>
            <a:prstDash val="solid"/>
          </a:ln>
        </p:spPr>
      </p:sp>
      <p:sp>
        <p:nvSpPr>
          <p:cNvPr id="15" name="Shape 11"/>
          <p:cNvSpPr/>
          <p:nvPr/>
        </p:nvSpPr>
        <p:spPr>
          <a:xfrm>
            <a:off x="4809744" y="2103120"/>
            <a:ext cx="548640" cy="548640"/>
          </a:xfrm>
          <a:prstGeom prst="ellipse">
            <a:avLst/>
          </a:prstGeom>
          <a:solidFill>
            <a:srgbClr val="FFFFFF"/>
          </a:solidFill>
          <a:ln w="12700">
            <a:solidFill>
              <a:srgbClr val="FFFFFF"/>
            </a:solidFill>
            <a:prstDash val="solid"/>
          </a:ln>
        </p:spPr>
      </p:sp>
      <p:pic>
        <p:nvPicPr>
          <p:cNvPr id="16" name="Image 2" descr="preencoded.png"/>
          <p:cNvPicPr>
            <a:picLocks noChangeAspect="1"/>
          </p:cNvPicPr>
          <p:nvPr/>
        </p:nvPicPr>
        <p:blipFill>
          <a:blip r:embed="rId6"/>
          <a:stretch>
            <a:fillRect/>
          </a:stretch>
        </p:blipFill>
        <p:spPr>
          <a:xfrm>
            <a:off x="4941418" y="2234794"/>
            <a:ext cx="285293" cy="285293"/>
          </a:xfrm>
          <a:prstGeom prst="rect">
            <a:avLst/>
          </a:prstGeom>
        </p:spPr>
      </p:pic>
      <p:sp>
        <p:nvSpPr>
          <p:cNvPr id="17" name="Text 12"/>
          <p:cNvSpPr txBox="1"/>
          <p:nvPr/>
        </p:nvSpPr>
        <p:spPr>
          <a:xfrm>
            <a:off x="4809744" y="2788920"/>
            <a:ext cx="1600200" cy="32004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Mesuré</a:t>
            </a:r>
            <a:endParaRPr lang="en-US" sz="1450" dirty="0"/>
          </a:p>
        </p:txBody>
      </p:sp>
      <p:sp>
        <p:nvSpPr>
          <p:cNvPr id="18" name="Text 13"/>
          <p:cNvSpPr txBox="1"/>
          <p:nvPr/>
        </p:nvSpPr>
        <p:spPr>
          <a:xfrm>
            <a:off x="4809744" y="3154680"/>
            <a:ext cx="1554480" cy="914400"/>
          </a:xfrm>
          <a:prstGeom prst="rect">
            <a:avLst/>
          </a:prstGeom>
          <a:noFill/>
          <a:ln/>
        </p:spPr>
        <p:txBody>
          <a:bodyPr wrap="square" lIns="0" tIns="0" rIns="0" bIns="0" rtlCol="0" anchor="t"/>
          <a:lstStyle/>
          <a:p>
            <a:pPr marL="0" indent="0">
              <a:buNone/>
            </a:pPr>
            <a:r>
              <a:rPr lang="en-US" sz="1150" dirty="0">
                <a:solidFill>
                  <a:srgbClr val="E6F6EE"/>
                </a:solidFill>
                <a:latin typeface="Calibri" pitchFamily="34" charset="0"/>
                <a:ea typeface="Calibri" pitchFamily="34" charset="-122"/>
                <a:cs typeface="Calibri" pitchFamily="34" charset="-120"/>
              </a:rPr>
              <a:t>Évaluer récupération et génération séparément, sur vos données.</a:t>
            </a:r>
            <a:endParaRPr lang="en-US" sz="1150" dirty="0"/>
          </a:p>
        </p:txBody>
      </p:sp>
      <p:sp>
        <p:nvSpPr>
          <p:cNvPr id="19" name="Shape 14"/>
          <p:cNvSpPr/>
          <p:nvPr/>
        </p:nvSpPr>
        <p:spPr>
          <a:xfrm>
            <a:off x="6665976" y="1920240"/>
            <a:ext cx="1874520" cy="2194560"/>
          </a:xfrm>
          <a:prstGeom prst="roundRect">
            <a:avLst>
              <a:gd name="adj" fmla="val 3902"/>
            </a:avLst>
          </a:prstGeom>
          <a:solidFill>
            <a:srgbClr val="FFFFFF">
              <a:alpha val="12000"/>
            </a:srgbClr>
          </a:solidFill>
          <a:ln w="9525">
            <a:solidFill>
              <a:srgbClr val="FFFFFF">
                <a:alpha val="40000"/>
              </a:srgbClr>
            </a:solidFill>
            <a:prstDash val="solid"/>
          </a:ln>
        </p:spPr>
      </p:sp>
      <p:sp>
        <p:nvSpPr>
          <p:cNvPr id="20" name="Shape 15"/>
          <p:cNvSpPr/>
          <p:nvPr/>
        </p:nvSpPr>
        <p:spPr>
          <a:xfrm>
            <a:off x="6848856" y="2103120"/>
            <a:ext cx="548640" cy="548640"/>
          </a:xfrm>
          <a:prstGeom prst="ellipse">
            <a:avLst/>
          </a:prstGeom>
          <a:solidFill>
            <a:srgbClr val="F5C242"/>
          </a:solidFill>
          <a:ln w="12700">
            <a:solidFill>
              <a:srgbClr val="F5C242"/>
            </a:solidFill>
            <a:prstDash val="solid"/>
          </a:ln>
        </p:spPr>
      </p:sp>
      <p:pic>
        <p:nvPicPr>
          <p:cNvPr id="21" name="Image 3" descr="preencoded.png"/>
          <p:cNvPicPr>
            <a:picLocks noChangeAspect="1"/>
          </p:cNvPicPr>
          <p:nvPr/>
        </p:nvPicPr>
        <p:blipFill>
          <a:blip r:embed="rId7"/>
          <a:stretch>
            <a:fillRect/>
          </a:stretch>
        </p:blipFill>
        <p:spPr>
          <a:xfrm>
            <a:off x="6980530" y="2234794"/>
            <a:ext cx="285293" cy="285293"/>
          </a:xfrm>
          <a:prstGeom prst="rect">
            <a:avLst/>
          </a:prstGeom>
        </p:spPr>
      </p:pic>
      <p:sp>
        <p:nvSpPr>
          <p:cNvPr id="22" name="Text 16"/>
          <p:cNvSpPr txBox="1"/>
          <p:nvPr/>
        </p:nvSpPr>
        <p:spPr>
          <a:xfrm>
            <a:off x="6848856" y="2788920"/>
            <a:ext cx="1600200" cy="32004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En évolution</a:t>
            </a:r>
            <a:endParaRPr lang="en-US" sz="1450" dirty="0"/>
          </a:p>
        </p:txBody>
      </p:sp>
      <p:sp>
        <p:nvSpPr>
          <p:cNvPr id="23" name="Text 17"/>
          <p:cNvSpPr txBox="1"/>
          <p:nvPr/>
        </p:nvSpPr>
        <p:spPr>
          <a:xfrm>
            <a:off x="6848856" y="3154680"/>
            <a:ext cx="1554480" cy="914400"/>
          </a:xfrm>
          <a:prstGeom prst="rect">
            <a:avLst/>
          </a:prstGeom>
          <a:noFill/>
          <a:ln/>
        </p:spPr>
        <p:txBody>
          <a:bodyPr wrap="square" lIns="0" tIns="0" rIns="0" bIns="0" rtlCol="0" anchor="t"/>
          <a:lstStyle/>
          <a:p>
            <a:pPr marL="0" indent="0">
              <a:buNone/>
            </a:pPr>
            <a:r>
              <a:rPr lang="en-US" sz="1150" dirty="0">
                <a:solidFill>
                  <a:srgbClr val="E6F6EE"/>
                </a:solidFill>
                <a:latin typeface="Calibri" pitchFamily="34" charset="0"/>
                <a:ea typeface="Calibri" pitchFamily="34" charset="-122"/>
                <a:cs typeface="Calibri" pitchFamily="34" charset="-120"/>
              </a:rPr>
              <a:t>Des chaînes fixes vers une récupération adaptative et agentique.</a:t>
            </a:r>
            <a:endParaRPr lang="en-US" sz="1150" dirty="0"/>
          </a:p>
        </p:txBody>
      </p:sp>
      <p:sp>
        <p:nvSpPr>
          <p:cNvPr id="24" name="Text 18"/>
          <p:cNvSpPr txBox="1"/>
          <p:nvPr/>
        </p:nvSpPr>
        <p:spPr>
          <a:xfrm>
            <a:off x="548640" y="4315968"/>
            <a:ext cx="6400800" cy="365760"/>
          </a:xfrm>
          <a:prstGeom prst="rect">
            <a:avLst/>
          </a:prstGeom>
          <a:noFill/>
          <a:ln/>
        </p:spPr>
        <p:txBody>
          <a:bodyPr wrap="square" lIns="0" tIns="0" rIns="0" bIns="0" rtlCol="0" anchor="ctr"/>
          <a:lstStyle/>
          <a:p>
            <a:pPr marL="0" indent="0">
              <a:buNone/>
            </a:pPr>
            <a:r>
              <a:rPr lang="en-US" sz="1800" i="1" dirty="0">
                <a:solidFill>
                  <a:srgbClr val="E6F6EE"/>
                </a:solidFill>
                <a:latin typeface="Calibri" pitchFamily="34" charset="0"/>
                <a:ea typeface="Calibri" pitchFamily="34" charset="-122"/>
                <a:cs typeface="Calibri" pitchFamily="34" charset="-120"/>
              </a:rPr>
              <a:t>Commencer simple  ·  mesurer sur vos propres questions  ·  l'emporter dans votre Project Canvas.</a:t>
            </a:r>
            <a:endParaRPr lang="en-US" sz="1800" dirty="0"/>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822960"/>
            <a:ext cx="2743200" cy="274320"/>
          </a:xfrm>
          <a:prstGeom prst="rect">
            <a:avLst/>
          </a:prstGeom>
          <a:noFill/>
          <a:ln/>
        </p:spPr>
        <p:txBody>
          <a:bodyPr wrap="square" lIns="0" tIns="0" rIns="0" bIns="0" rtlCol="0" anchor="ctr"/>
          <a:lstStyle/>
          <a:p>
            <a:pPr marL="0" indent="0">
              <a:buNone/>
            </a:pPr>
            <a:r>
              <a:rPr lang="en-US" sz="1200" b="1" kern="0" spc="400" dirty="0">
                <a:solidFill>
                  <a:srgbClr val="F5C242"/>
                </a:solidFill>
                <a:latin typeface="Calibri" pitchFamily="34" charset="0"/>
                <a:ea typeface="Calibri" pitchFamily="34" charset="-122"/>
                <a:cs typeface="Calibri" pitchFamily="34" charset="-120"/>
              </a:rPr>
              <a:t>ANNEXE</a:t>
            </a:r>
            <a:endParaRPr lang="en-US" sz="1200" dirty="0"/>
          </a:p>
        </p:txBody>
      </p:sp>
      <p:sp>
        <p:nvSpPr>
          <p:cNvPr id="3" name="Text 1"/>
          <p:cNvSpPr txBox="1"/>
          <p:nvPr/>
        </p:nvSpPr>
        <p:spPr>
          <a:xfrm>
            <a:off x="502920" y="1051560"/>
            <a:ext cx="2743200" cy="1463040"/>
          </a:xfrm>
          <a:prstGeom prst="rect">
            <a:avLst/>
          </a:prstGeom>
          <a:noFill/>
          <a:ln/>
        </p:spPr>
        <p:txBody>
          <a:bodyPr wrap="square" lIns="0" tIns="0" rIns="0" bIns="0" rtlCol="0" anchor="ctr"/>
          <a:lstStyle/>
          <a:p>
            <a:pPr marL="0" indent="0">
              <a:buNone/>
            </a:pPr>
            <a:r>
              <a:rPr lang="en-US" sz="11000" b="1" dirty="0">
                <a:solidFill>
                  <a:srgbClr val="F5C242"/>
                </a:solidFill>
                <a:latin typeface="Calibri" pitchFamily="34" charset="0"/>
                <a:ea typeface="Calibri" pitchFamily="34" charset="-122"/>
                <a:cs typeface="Calibri" pitchFamily="34" charset="-120"/>
              </a:rPr>
              <a:t>A</a:t>
            </a:r>
            <a:endParaRPr lang="en-US" sz="11000" dirty="0"/>
          </a:p>
        </p:txBody>
      </p:sp>
      <p:sp>
        <p:nvSpPr>
          <p:cNvPr id="4" name="Text 2"/>
          <p:cNvSpPr txBox="1"/>
          <p:nvPr/>
        </p:nvSpPr>
        <p:spPr>
          <a:xfrm>
            <a:off x="548640" y="2606040"/>
            <a:ext cx="5120640" cy="68580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Ressources</a:t>
            </a:r>
            <a:endParaRPr lang="en-US" sz="4000" dirty="0"/>
          </a:p>
        </p:txBody>
      </p:sp>
      <p:sp>
        <p:nvSpPr>
          <p:cNvPr id="5" name="Text 3"/>
          <p:cNvSpPr txBox="1"/>
          <p:nvPr/>
        </p:nvSpPr>
        <p:spPr>
          <a:xfrm>
            <a:off x="548640" y="3337560"/>
            <a:ext cx="5120640" cy="457200"/>
          </a:xfrm>
          <a:prstGeom prst="rect">
            <a:avLst/>
          </a:prstGeom>
          <a:noFill/>
          <a:ln/>
        </p:spPr>
        <p:txBody>
          <a:bodyPr wrap="square" lIns="0" tIns="0" rIns="0" bIns="0" rtlCol="0" anchor="ctr"/>
          <a:lstStyle/>
          <a:p>
            <a:pPr marL="0" indent="0">
              <a:buNone/>
            </a:pPr>
            <a:r>
              <a:rPr lang="en-US" sz="1800" i="1" dirty="0">
                <a:solidFill>
                  <a:srgbClr val="E6F6EE"/>
                </a:solidFill>
                <a:latin typeface="Calibri" pitchFamily="34" charset="0"/>
                <a:ea typeface="Calibri" pitchFamily="34" charset="-122"/>
                <a:cs typeface="Calibri" pitchFamily="34" charset="-120"/>
              </a:rPr>
              <a:t>La présentation RAG complète, pour l'autoformation : fondements, preuves, évolution, techniques, production</a:t>
            </a:r>
            <a:endParaRPr lang="en-US" sz="1800" dirty="0"/>
          </a:p>
        </p:txBody>
      </p:sp>
      <p:sp>
        <p:nvSpPr>
          <p:cNvPr id="12" name="Shape 10"/>
          <p:cNvSpPr/>
          <p:nvPr/>
        </p:nvSpPr>
        <p:spPr>
          <a:xfrm>
            <a:off x="5349240" y="777240"/>
            <a:ext cx="3474720" cy="3474720"/>
          </a:xfrm>
          <a:prstGeom prst="ellipse">
            <a:avLst/>
          </a:prstGeom>
          <a:solidFill>
            <a:srgbClr val="FFFFFF">
              <a:alpha val="0"/>
            </a:srgbClr>
          </a:solidFill>
          <a:ln w="15875">
            <a:solidFill>
              <a:srgbClr val="FFFFFF">
                <a:alpha val="18000"/>
              </a:srgbClr>
            </a:solidFill>
            <a:prstDash val="solid"/>
          </a:ln>
        </p:spPr>
      </p:sp>
      <p:sp>
        <p:nvSpPr>
          <p:cNvPr id="13" name="Shape 11"/>
          <p:cNvSpPr/>
          <p:nvPr/>
        </p:nvSpPr>
        <p:spPr>
          <a:xfrm>
            <a:off x="5760720" y="1188720"/>
            <a:ext cx="2651760" cy="2651760"/>
          </a:xfrm>
          <a:prstGeom prst="ellipse">
            <a:avLst/>
          </a:prstGeom>
          <a:solidFill>
            <a:srgbClr val="FFFFFF">
              <a:alpha val="0"/>
            </a:srgbClr>
          </a:solidFill>
          <a:ln w="15875">
            <a:solidFill>
              <a:srgbClr val="FFFFFF">
                <a:alpha val="30000"/>
              </a:srgbClr>
            </a:solidFill>
            <a:prstDash val="solid"/>
          </a:ln>
        </p:spPr>
      </p:sp>
      <p:sp>
        <p:nvSpPr>
          <p:cNvPr id="14" name="Shape 12"/>
          <p:cNvSpPr/>
          <p:nvPr/>
        </p:nvSpPr>
        <p:spPr>
          <a:xfrm>
            <a:off x="6172200" y="1600200"/>
            <a:ext cx="1828800" cy="1828800"/>
          </a:xfrm>
          <a:prstGeom prst="ellipse">
            <a:avLst/>
          </a:prstGeom>
          <a:solidFill>
            <a:srgbClr val="FFFFFF">
              <a:alpha val="0"/>
            </a:srgbClr>
          </a:solidFill>
          <a:ln w="15875">
            <a:solidFill>
              <a:srgbClr val="FFFFFF">
                <a:alpha val="45000"/>
              </a:srgbClr>
            </a:solidFill>
            <a:prstDash val="solid"/>
          </a:ln>
        </p:spPr>
      </p:sp>
      <p:sp>
        <p:nvSpPr>
          <p:cNvPr id="15" name="Shape 13"/>
          <p:cNvSpPr/>
          <p:nvPr/>
        </p:nvSpPr>
        <p:spPr>
          <a:xfrm>
            <a:off x="6492240" y="1920240"/>
            <a:ext cx="1188720" cy="1188720"/>
          </a:xfrm>
          <a:prstGeom prst="ellipse">
            <a:avLst/>
          </a:prstGeom>
          <a:solidFill>
            <a:srgbClr val="FFFFFF"/>
          </a:solidFill>
          <a:ln w="12700">
            <a:solidFill>
              <a:srgbClr val="FFFFFF"/>
            </a:solidFill>
            <a:prstDash val="solid"/>
          </a:ln>
        </p:spPr>
      </p:sp>
      <p:pic>
        <p:nvPicPr>
          <p:cNvPr id="16" name="Image 0" descr="preencoded.png"/>
          <p:cNvPicPr>
            <a:picLocks noChangeAspect="1"/>
          </p:cNvPicPr>
          <p:nvPr/>
        </p:nvPicPr>
        <p:blipFill>
          <a:blip r:embed="rId4"/>
          <a:stretch>
            <a:fillRect/>
          </a:stretch>
        </p:blipFill>
        <p:spPr>
          <a:xfrm>
            <a:off x="6777533" y="2205533"/>
            <a:ext cx="618134" cy="61813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0704A"/>
                </a:solidFill>
                <a:latin typeface="Calibri" pitchFamily="34" charset="0"/>
                <a:ea typeface="Calibri" pitchFamily="34" charset="-122"/>
                <a:cs typeface="Calibri" pitchFamily="34" charset="-120"/>
              </a:rPr>
              <a:t>ANNEXE  ·  RESSOURCES</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La présentation complète : six parties, du concept à la production</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694944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ATI · Big Data pour les statistiques macroéconomiques · Maurice, 26–30 oct. 2026   |   BAD · Data Innovation for Africa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16</a:t>
            </a:r>
            <a:endParaRPr lang="en-US" sz="850" dirty="0"/>
          </a:p>
        </p:txBody>
      </p:sp>
      <p:sp>
        <p:nvSpPr>
          <p:cNvPr id="17" name="Shape 14"/>
          <p:cNvSpPr/>
          <p:nvPr/>
        </p:nvSpPr>
        <p:spPr>
          <a:xfrm>
            <a:off x="457200" y="1325880"/>
            <a:ext cx="2615184" cy="1481328"/>
          </a:xfrm>
          <a:prstGeom prst="roundRect">
            <a:avLst>
              <a:gd name="adj" fmla="val 4938"/>
            </a:avLst>
          </a:prstGeom>
          <a:solidFill>
            <a:srgbClr val="F4F7F5"/>
          </a:solidFill>
          <a:ln w="9525">
            <a:solidFill>
              <a:srgbClr val="D5DED9"/>
            </a:solidFill>
            <a:prstDash val="solid"/>
          </a:ln>
        </p:spPr>
      </p:sp>
      <p:sp>
        <p:nvSpPr>
          <p:cNvPr id="18" name="Text 15"/>
          <p:cNvSpPr txBox="1"/>
          <p:nvPr/>
        </p:nvSpPr>
        <p:spPr>
          <a:xfrm>
            <a:off x="640080" y="1435608"/>
            <a:ext cx="914400" cy="548640"/>
          </a:xfrm>
          <a:prstGeom prst="rect">
            <a:avLst/>
          </a:prstGeom>
          <a:noFill/>
          <a:ln/>
        </p:spPr>
        <p:txBody>
          <a:bodyPr wrap="square" lIns="0" tIns="0" rIns="0" bIns="0" rtlCol="0" anchor="ctr"/>
          <a:lstStyle/>
          <a:p>
            <a:pPr marL="0" indent="0">
              <a:buNone/>
            </a:pPr>
            <a:r>
              <a:rPr lang="en-US" sz="3200" b="1" dirty="0">
                <a:solidFill>
                  <a:srgbClr val="00A86A"/>
                </a:solidFill>
                <a:latin typeface="Calibri" pitchFamily="34" charset="0"/>
                <a:ea typeface="Calibri" pitchFamily="34" charset="-122"/>
                <a:cs typeface="Calibri" pitchFamily="34" charset="-120"/>
              </a:rPr>
              <a:t>01</a:t>
            </a:r>
            <a:endParaRPr lang="en-US" sz="3200" dirty="0"/>
          </a:p>
        </p:txBody>
      </p:sp>
      <p:sp>
        <p:nvSpPr>
          <p:cNvPr id="19" name="Shape 16"/>
          <p:cNvSpPr/>
          <p:nvPr/>
        </p:nvSpPr>
        <p:spPr>
          <a:xfrm>
            <a:off x="2377440" y="1490472"/>
            <a:ext cx="502920" cy="502920"/>
          </a:xfrm>
          <a:prstGeom prst="ellipse">
            <a:avLst/>
          </a:prstGeom>
          <a:solidFill>
            <a:srgbClr val="00A86A">
              <a:alpha val="22000"/>
            </a:srgbClr>
          </a:solidFill>
          <a:ln w="12700">
            <a:solidFill>
              <a:srgbClr val="00A86A">
                <a:alpha val="0"/>
              </a:srgbClr>
            </a:solidFill>
            <a:prstDash val="solid"/>
          </a:ln>
        </p:spPr>
      </p:sp>
      <p:pic>
        <p:nvPicPr>
          <p:cNvPr id="20" name="Image 0" descr="preencoded.png"/>
          <p:cNvPicPr>
            <a:picLocks noChangeAspect="1"/>
          </p:cNvPicPr>
          <p:nvPr/>
        </p:nvPicPr>
        <p:blipFill>
          <a:blip r:embed="rId3"/>
          <a:stretch>
            <a:fillRect/>
          </a:stretch>
        </p:blipFill>
        <p:spPr>
          <a:xfrm>
            <a:off x="2498141" y="1611173"/>
            <a:ext cx="261518" cy="261518"/>
          </a:xfrm>
          <a:prstGeom prst="rect">
            <a:avLst/>
          </a:prstGeom>
        </p:spPr>
      </p:pic>
      <p:sp>
        <p:nvSpPr>
          <p:cNvPr id="21" name="Text 17"/>
          <p:cNvSpPr txBox="1"/>
          <p:nvPr/>
        </p:nvSpPr>
        <p:spPr>
          <a:xfrm>
            <a:off x="640080" y="2039112"/>
            <a:ext cx="2286000" cy="274320"/>
          </a:xfrm>
          <a:prstGeom prst="rect">
            <a:avLst/>
          </a:prstGeom>
          <a:noFill/>
          <a:ln/>
        </p:spPr>
        <p:txBody>
          <a:bodyPr wrap="square" lIns="0" tIns="0" rIns="0" bIns="0" rtlCol="0" anchor="ctr"/>
          <a:lstStyle/>
          <a:p>
            <a:pPr marL="0" indent="0">
              <a:buNone/>
            </a:pPr>
            <a:r>
              <a:rPr lang="en-US" sz="1500" b="1" dirty="0">
                <a:solidFill>
                  <a:srgbClr val="231F20"/>
                </a:solidFill>
                <a:latin typeface="Calibri" pitchFamily="34" charset="0"/>
                <a:ea typeface="Calibri" pitchFamily="34" charset="-122"/>
                <a:cs typeface="Calibri" pitchFamily="34" charset="-120"/>
              </a:rPr>
              <a:t>Fondements</a:t>
            </a:r>
            <a:endParaRPr lang="en-US" sz="1500" dirty="0"/>
          </a:p>
        </p:txBody>
      </p:sp>
      <p:sp>
        <p:nvSpPr>
          <p:cNvPr id="22" name="Text 18"/>
          <p:cNvSpPr txBox="1"/>
          <p:nvPr/>
        </p:nvSpPr>
        <p:spPr>
          <a:xfrm>
            <a:off x="640080" y="2331720"/>
            <a:ext cx="2286000" cy="41148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Pourquoi le RAG, sa définition, ses usages</a:t>
            </a:r>
            <a:endParaRPr lang="en-US" sz="1050" dirty="0"/>
          </a:p>
        </p:txBody>
      </p:sp>
      <p:sp>
        <p:nvSpPr>
          <p:cNvPr id="23" name="Shape 19"/>
          <p:cNvSpPr/>
          <p:nvPr/>
        </p:nvSpPr>
        <p:spPr>
          <a:xfrm>
            <a:off x="3264408" y="1325880"/>
            <a:ext cx="2615184" cy="1481328"/>
          </a:xfrm>
          <a:prstGeom prst="roundRect">
            <a:avLst>
              <a:gd name="adj" fmla="val 4938"/>
            </a:avLst>
          </a:prstGeom>
          <a:solidFill>
            <a:srgbClr val="F4F7F5"/>
          </a:solidFill>
          <a:ln w="9525">
            <a:solidFill>
              <a:srgbClr val="D5DED9"/>
            </a:solidFill>
            <a:prstDash val="solid"/>
          </a:ln>
        </p:spPr>
      </p:sp>
      <p:sp>
        <p:nvSpPr>
          <p:cNvPr id="24" name="Text 20"/>
          <p:cNvSpPr txBox="1"/>
          <p:nvPr/>
        </p:nvSpPr>
        <p:spPr>
          <a:xfrm>
            <a:off x="3447288" y="1435608"/>
            <a:ext cx="914400" cy="548640"/>
          </a:xfrm>
          <a:prstGeom prst="rect">
            <a:avLst/>
          </a:prstGeom>
          <a:noFill/>
          <a:ln/>
        </p:spPr>
        <p:txBody>
          <a:bodyPr wrap="square" lIns="0" tIns="0" rIns="0" bIns="0" rtlCol="0" anchor="ctr"/>
          <a:lstStyle/>
          <a:p>
            <a:pPr marL="0" indent="0">
              <a:buNone/>
            </a:pPr>
            <a:r>
              <a:rPr lang="en-US" sz="3200" b="1" dirty="0">
                <a:solidFill>
                  <a:srgbClr val="00704A"/>
                </a:solidFill>
                <a:latin typeface="Calibri" pitchFamily="34" charset="0"/>
                <a:ea typeface="Calibri" pitchFamily="34" charset="-122"/>
                <a:cs typeface="Calibri" pitchFamily="34" charset="-120"/>
              </a:rPr>
              <a:t>02</a:t>
            </a:r>
            <a:endParaRPr lang="en-US" sz="3200" dirty="0"/>
          </a:p>
        </p:txBody>
      </p:sp>
      <p:sp>
        <p:nvSpPr>
          <p:cNvPr id="25" name="Shape 21"/>
          <p:cNvSpPr/>
          <p:nvPr/>
        </p:nvSpPr>
        <p:spPr>
          <a:xfrm>
            <a:off x="5184648" y="1490472"/>
            <a:ext cx="502920" cy="502920"/>
          </a:xfrm>
          <a:prstGeom prst="ellipse">
            <a:avLst/>
          </a:prstGeom>
          <a:solidFill>
            <a:srgbClr val="00704A">
              <a:alpha val="22000"/>
            </a:srgbClr>
          </a:solidFill>
          <a:ln w="12700">
            <a:solidFill>
              <a:srgbClr val="00704A">
                <a:alpha val="0"/>
              </a:srgbClr>
            </a:solidFill>
            <a:prstDash val="solid"/>
          </a:ln>
        </p:spPr>
      </p:sp>
      <p:pic>
        <p:nvPicPr>
          <p:cNvPr id="26" name="Image 1" descr="preencoded.png"/>
          <p:cNvPicPr>
            <a:picLocks noChangeAspect="1"/>
          </p:cNvPicPr>
          <p:nvPr/>
        </p:nvPicPr>
        <p:blipFill>
          <a:blip r:embed="rId4"/>
          <a:stretch>
            <a:fillRect/>
          </a:stretch>
        </p:blipFill>
        <p:spPr>
          <a:xfrm>
            <a:off x="5305349" y="1611173"/>
            <a:ext cx="261518" cy="261518"/>
          </a:xfrm>
          <a:prstGeom prst="rect">
            <a:avLst/>
          </a:prstGeom>
        </p:spPr>
      </p:pic>
      <p:sp>
        <p:nvSpPr>
          <p:cNvPr id="27" name="Text 22"/>
          <p:cNvSpPr txBox="1"/>
          <p:nvPr/>
        </p:nvSpPr>
        <p:spPr>
          <a:xfrm>
            <a:off x="3447288" y="2039112"/>
            <a:ext cx="2286000" cy="274320"/>
          </a:xfrm>
          <a:prstGeom prst="rect">
            <a:avLst/>
          </a:prstGeom>
          <a:noFill/>
          <a:ln/>
        </p:spPr>
        <p:txBody>
          <a:bodyPr wrap="square" lIns="0" tIns="0" rIns="0" bIns="0" rtlCol="0" anchor="ctr"/>
          <a:lstStyle/>
          <a:p>
            <a:pPr marL="0" indent="0">
              <a:buNone/>
            </a:pPr>
            <a:r>
              <a:rPr lang="en-US" sz="1500" b="1" dirty="0">
                <a:solidFill>
                  <a:srgbClr val="231F20"/>
                </a:solidFill>
                <a:latin typeface="Calibri" pitchFamily="34" charset="0"/>
                <a:ea typeface="Calibri" pitchFamily="34" charset="-122"/>
                <a:cs typeface="Calibri" pitchFamily="34" charset="-120"/>
              </a:rPr>
              <a:t>Fonctionnement</a:t>
            </a:r>
            <a:endParaRPr lang="en-US" sz="1500" dirty="0"/>
          </a:p>
        </p:txBody>
      </p:sp>
      <p:sp>
        <p:nvSpPr>
          <p:cNvPr id="28" name="Text 23"/>
          <p:cNvSpPr txBox="1"/>
          <p:nvPr/>
        </p:nvSpPr>
        <p:spPr>
          <a:xfrm>
            <a:off x="3447288" y="2331720"/>
            <a:ext cx="2286000" cy="41148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Indexation, découpage, embeddings, récupération, génération</a:t>
            </a:r>
            <a:endParaRPr lang="en-US" sz="1050" dirty="0"/>
          </a:p>
        </p:txBody>
      </p:sp>
      <p:sp>
        <p:nvSpPr>
          <p:cNvPr id="29" name="Shape 24"/>
          <p:cNvSpPr/>
          <p:nvPr/>
        </p:nvSpPr>
        <p:spPr>
          <a:xfrm>
            <a:off x="6071616" y="1325880"/>
            <a:ext cx="2615184" cy="1481328"/>
          </a:xfrm>
          <a:prstGeom prst="roundRect">
            <a:avLst>
              <a:gd name="adj" fmla="val 4938"/>
            </a:avLst>
          </a:prstGeom>
          <a:solidFill>
            <a:srgbClr val="F4F7F5"/>
          </a:solidFill>
          <a:ln w="9525">
            <a:solidFill>
              <a:srgbClr val="D5DED9"/>
            </a:solidFill>
            <a:prstDash val="solid"/>
          </a:ln>
        </p:spPr>
      </p:sp>
      <p:sp>
        <p:nvSpPr>
          <p:cNvPr id="30" name="Text 25"/>
          <p:cNvSpPr txBox="1"/>
          <p:nvPr/>
        </p:nvSpPr>
        <p:spPr>
          <a:xfrm>
            <a:off x="6254496" y="1435608"/>
            <a:ext cx="914400" cy="548640"/>
          </a:xfrm>
          <a:prstGeom prst="rect">
            <a:avLst/>
          </a:prstGeom>
          <a:noFill/>
          <a:ln/>
        </p:spPr>
        <p:txBody>
          <a:bodyPr wrap="square" lIns="0" tIns="0" rIns="0" bIns="0" rtlCol="0" anchor="ctr"/>
          <a:lstStyle/>
          <a:p>
            <a:pPr marL="0" indent="0">
              <a:buNone/>
            </a:pPr>
            <a:r>
              <a:rPr lang="en-US" sz="3200" b="1" dirty="0">
                <a:solidFill>
                  <a:srgbClr val="0E7C86"/>
                </a:solidFill>
                <a:latin typeface="Calibri" pitchFamily="34" charset="0"/>
                <a:ea typeface="Calibri" pitchFamily="34" charset="-122"/>
                <a:cs typeface="Calibri" pitchFamily="34" charset="-120"/>
              </a:rPr>
              <a:t>03</a:t>
            </a:r>
            <a:endParaRPr lang="en-US" sz="3200" dirty="0"/>
          </a:p>
        </p:txBody>
      </p:sp>
      <p:sp>
        <p:nvSpPr>
          <p:cNvPr id="31" name="Shape 26"/>
          <p:cNvSpPr/>
          <p:nvPr/>
        </p:nvSpPr>
        <p:spPr>
          <a:xfrm>
            <a:off x="7991856" y="1490472"/>
            <a:ext cx="502920" cy="502920"/>
          </a:xfrm>
          <a:prstGeom prst="ellipse">
            <a:avLst/>
          </a:prstGeom>
          <a:solidFill>
            <a:srgbClr val="0E7C86">
              <a:alpha val="22000"/>
            </a:srgbClr>
          </a:solidFill>
          <a:ln w="12700">
            <a:solidFill>
              <a:srgbClr val="0E7C86">
                <a:alpha val="0"/>
              </a:srgbClr>
            </a:solidFill>
            <a:prstDash val="solid"/>
          </a:ln>
        </p:spPr>
      </p:sp>
      <p:pic>
        <p:nvPicPr>
          <p:cNvPr id="32" name="Image 2" descr="preencoded.png"/>
          <p:cNvPicPr>
            <a:picLocks noChangeAspect="1"/>
          </p:cNvPicPr>
          <p:nvPr/>
        </p:nvPicPr>
        <p:blipFill>
          <a:blip r:embed="rId5"/>
          <a:stretch>
            <a:fillRect/>
          </a:stretch>
        </p:blipFill>
        <p:spPr>
          <a:xfrm>
            <a:off x="8112557" y="1611173"/>
            <a:ext cx="261518" cy="261518"/>
          </a:xfrm>
          <a:prstGeom prst="rect">
            <a:avLst/>
          </a:prstGeom>
        </p:spPr>
      </p:pic>
      <p:sp>
        <p:nvSpPr>
          <p:cNvPr id="33" name="Text 27"/>
          <p:cNvSpPr txBox="1"/>
          <p:nvPr/>
        </p:nvSpPr>
        <p:spPr>
          <a:xfrm>
            <a:off x="6254496" y="2039112"/>
            <a:ext cx="2286000" cy="274320"/>
          </a:xfrm>
          <a:prstGeom prst="rect">
            <a:avLst/>
          </a:prstGeom>
          <a:noFill/>
          <a:ln/>
        </p:spPr>
        <p:txBody>
          <a:bodyPr wrap="square" lIns="0" tIns="0" rIns="0" bIns="0" rtlCol="0" anchor="ctr"/>
          <a:lstStyle/>
          <a:p>
            <a:pPr marL="0" indent="0">
              <a:buNone/>
            </a:pPr>
            <a:r>
              <a:rPr lang="en-US" sz="1500" b="1" dirty="0">
                <a:solidFill>
                  <a:srgbClr val="231F20"/>
                </a:solidFill>
                <a:latin typeface="Calibri" pitchFamily="34" charset="0"/>
                <a:ea typeface="Calibri" pitchFamily="34" charset="-122"/>
                <a:cs typeface="Calibri" pitchFamily="34" charset="-120"/>
              </a:rPr>
              <a:t>Preuves</a:t>
            </a:r>
            <a:endParaRPr lang="en-US" sz="1500" dirty="0"/>
          </a:p>
        </p:txBody>
      </p:sp>
      <p:sp>
        <p:nvSpPr>
          <p:cNvPr id="34" name="Text 28"/>
          <p:cNvSpPr txBox="1"/>
          <p:nvPr/>
        </p:nvSpPr>
        <p:spPr>
          <a:xfrm>
            <a:off x="6254496" y="2331720"/>
            <a:ext cx="2286000" cy="41148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Résultats publiés qui chiffrent les gains</a:t>
            </a:r>
            <a:endParaRPr lang="en-US" sz="1050" dirty="0"/>
          </a:p>
        </p:txBody>
      </p:sp>
      <p:sp>
        <p:nvSpPr>
          <p:cNvPr id="35" name="Shape 29"/>
          <p:cNvSpPr/>
          <p:nvPr/>
        </p:nvSpPr>
        <p:spPr>
          <a:xfrm>
            <a:off x="457200" y="2971800"/>
            <a:ext cx="2615184" cy="1481328"/>
          </a:xfrm>
          <a:prstGeom prst="roundRect">
            <a:avLst>
              <a:gd name="adj" fmla="val 4938"/>
            </a:avLst>
          </a:prstGeom>
          <a:solidFill>
            <a:srgbClr val="F4F7F5"/>
          </a:solidFill>
          <a:ln w="9525">
            <a:solidFill>
              <a:srgbClr val="D5DED9"/>
            </a:solidFill>
            <a:prstDash val="solid"/>
          </a:ln>
        </p:spPr>
      </p:sp>
      <p:sp>
        <p:nvSpPr>
          <p:cNvPr id="36" name="Text 30"/>
          <p:cNvSpPr txBox="1"/>
          <p:nvPr/>
        </p:nvSpPr>
        <p:spPr>
          <a:xfrm>
            <a:off x="640080" y="3081528"/>
            <a:ext cx="914400" cy="548640"/>
          </a:xfrm>
          <a:prstGeom prst="rect">
            <a:avLst/>
          </a:prstGeom>
          <a:noFill/>
          <a:ln/>
        </p:spPr>
        <p:txBody>
          <a:bodyPr wrap="square" lIns="0" tIns="0" rIns="0" bIns="0" rtlCol="0" anchor="ctr"/>
          <a:lstStyle/>
          <a:p>
            <a:pPr marL="0" indent="0">
              <a:buNone/>
            </a:pPr>
            <a:r>
              <a:rPr lang="en-US" sz="3200" b="1" dirty="0">
                <a:solidFill>
                  <a:srgbClr val="D49A00"/>
                </a:solidFill>
                <a:latin typeface="Calibri" pitchFamily="34" charset="0"/>
                <a:ea typeface="Calibri" pitchFamily="34" charset="-122"/>
                <a:cs typeface="Calibri" pitchFamily="34" charset="-120"/>
              </a:rPr>
              <a:t>04</a:t>
            </a:r>
            <a:endParaRPr lang="en-US" sz="3200" dirty="0"/>
          </a:p>
        </p:txBody>
      </p:sp>
      <p:sp>
        <p:nvSpPr>
          <p:cNvPr id="37" name="Shape 31"/>
          <p:cNvSpPr/>
          <p:nvPr/>
        </p:nvSpPr>
        <p:spPr>
          <a:xfrm>
            <a:off x="2377440" y="3136392"/>
            <a:ext cx="502920" cy="502920"/>
          </a:xfrm>
          <a:prstGeom prst="ellipse">
            <a:avLst/>
          </a:prstGeom>
          <a:solidFill>
            <a:srgbClr val="D49A00">
              <a:alpha val="22000"/>
            </a:srgbClr>
          </a:solidFill>
          <a:ln w="12700">
            <a:solidFill>
              <a:srgbClr val="D49A00">
                <a:alpha val="0"/>
              </a:srgbClr>
            </a:solidFill>
            <a:prstDash val="solid"/>
          </a:ln>
        </p:spPr>
      </p:sp>
      <p:pic>
        <p:nvPicPr>
          <p:cNvPr id="38" name="Image 3" descr="preencoded.png"/>
          <p:cNvPicPr>
            <a:picLocks noChangeAspect="1"/>
          </p:cNvPicPr>
          <p:nvPr/>
        </p:nvPicPr>
        <p:blipFill>
          <a:blip r:embed="rId6"/>
          <a:stretch>
            <a:fillRect/>
          </a:stretch>
        </p:blipFill>
        <p:spPr>
          <a:xfrm>
            <a:off x="2498141" y="3257093"/>
            <a:ext cx="261518" cy="261518"/>
          </a:xfrm>
          <a:prstGeom prst="rect">
            <a:avLst/>
          </a:prstGeom>
        </p:spPr>
      </p:pic>
      <p:sp>
        <p:nvSpPr>
          <p:cNvPr id="39" name="Text 32"/>
          <p:cNvSpPr txBox="1"/>
          <p:nvPr/>
        </p:nvSpPr>
        <p:spPr>
          <a:xfrm>
            <a:off x="640080" y="3685032"/>
            <a:ext cx="2286000" cy="274320"/>
          </a:xfrm>
          <a:prstGeom prst="rect">
            <a:avLst/>
          </a:prstGeom>
          <a:noFill/>
          <a:ln/>
        </p:spPr>
        <p:txBody>
          <a:bodyPr wrap="square" lIns="0" tIns="0" rIns="0" bIns="0" rtlCol="0" anchor="ctr"/>
          <a:lstStyle/>
          <a:p>
            <a:pPr marL="0" indent="0">
              <a:buNone/>
            </a:pPr>
            <a:r>
              <a:rPr lang="en-US" sz="1500" b="1" dirty="0">
                <a:solidFill>
                  <a:srgbClr val="231F20"/>
                </a:solidFill>
                <a:latin typeface="Calibri" pitchFamily="34" charset="0"/>
                <a:ea typeface="Calibri" pitchFamily="34" charset="-122"/>
                <a:cs typeface="Calibri" pitchFamily="34" charset="-120"/>
              </a:rPr>
              <a:t>Évolution du RAG</a:t>
            </a:r>
            <a:endParaRPr lang="en-US" sz="1500" dirty="0"/>
          </a:p>
        </p:txBody>
      </p:sp>
      <p:sp>
        <p:nvSpPr>
          <p:cNvPr id="40" name="Text 33"/>
          <p:cNvSpPr txBox="1"/>
          <p:nvPr/>
        </p:nvSpPr>
        <p:spPr>
          <a:xfrm>
            <a:off x="640080" y="3977640"/>
            <a:ext cx="2286000" cy="41148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Générations, axes de progrès, paradigmes</a:t>
            </a:r>
            <a:endParaRPr lang="en-US" sz="1050" dirty="0"/>
          </a:p>
        </p:txBody>
      </p:sp>
      <p:sp>
        <p:nvSpPr>
          <p:cNvPr id="41" name="Shape 34"/>
          <p:cNvSpPr/>
          <p:nvPr/>
        </p:nvSpPr>
        <p:spPr>
          <a:xfrm>
            <a:off x="3264408" y="2971800"/>
            <a:ext cx="2615184" cy="1481328"/>
          </a:xfrm>
          <a:prstGeom prst="roundRect">
            <a:avLst>
              <a:gd name="adj" fmla="val 4938"/>
            </a:avLst>
          </a:prstGeom>
          <a:solidFill>
            <a:srgbClr val="F4F7F5"/>
          </a:solidFill>
          <a:ln w="9525">
            <a:solidFill>
              <a:srgbClr val="D5DED9"/>
            </a:solidFill>
            <a:prstDash val="solid"/>
          </a:ln>
        </p:spPr>
      </p:sp>
      <p:sp>
        <p:nvSpPr>
          <p:cNvPr id="42" name="Text 35"/>
          <p:cNvSpPr txBox="1"/>
          <p:nvPr/>
        </p:nvSpPr>
        <p:spPr>
          <a:xfrm>
            <a:off x="3447288" y="3081528"/>
            <a:ext cx="914400" cy="548640"/>
          </a:xfrm>
          <a:prstGeom prst="rect">
            <a:avLst/>
          </a:prstGeom>
          <a:noFill/>
          <a:ln/>
        </p:spPr>
        <p:txBody>
          <a:bodyPr wrap="square" lIns="0" tIns="0" rIns="0" bIns="0" rtlCol="0" anchor="ctr"/>
          <a:lstStyle/>
          <a:p>
            <a:pPr marL="0" indent="0">
              <a:buNone/>
            </a:pPr>
            <a:r>
              <a:rPr lang="en-US" sz="3200" b="1" dirty="0">
                <a:solidFill>
                  <a:srgbClr val="C4621D"/>
                </a:solidFill>
                <a:latin typeface="Calibri" pitchFamily="34" charset="0"/>
                <a:ea typeface="Calibri" pitchFamily="34" charset="-122"/>
                <a:cs typeface="Calibri" pitchFamily="34" charset="-120"/>
              </a:rPr>
              <a:t>05</a:t>
            </a:r>
            <a:endParaRPr lang="en-US" sz="3200" dirty="0"/>
          </a:p>
        </p:txBody>
      </p:sp>
      <p:sp>
        <p:nvSpPr>
          <p:cNvPr id="43" name="Shape 36"/>
          <p:cNvSpPr/>
          <p:nvPr/>
        </p:nvSpPr>
        <p:spPr>
          <a:xfrm>
            <a:off x="5184648" y="3136392"/>
            <a:ext cx="502920" cy="502920"/>
          </a:xfrm>
          <a:prstGeom prst="ellipse">
            <a:avLst/>
          </a:prstGeom>
          <a:solidFill>
            <a:srgbClr val="C4621D">
              <a:alpha val="22000"/>
            </a:srgbClr>
          </a:solidFill>
          <a:ln w="12700">
            <a:solidFill>
              <a:srgbClr val="C4621D">
                <a:alpha val="0"/>
              </a:srgbClr>
            </a:solidFill>
            <a:prstDash val="solid"/>
          </a:ln>
        </p:spPr>
      </p:sp>
      <p:pic>
        <p:nvPicPr>
          <p:cNvPr id="44" name="Image 4" descr="preencoded.png"/>
          <p:cNvPicPr>
            <a:picLocks noChangeAspect="1"/>
          </p:cNvPicPr>
          <p:nvPr/>
        </p:nvPicPr>
        <p:blipFill>
          <a:blip r:embed="rId7"/>
          <a:stretch>
            <a:fillRect/>
          </a:stretch>
        </p:blipFill>
        <p:spPr>
          <a:xfrm>
            <a:off x="5305349" y="3257093"/>
            <a:ext cx="261518" cy="261518"/>
          </a:xfrm>
          <a:prstGeom prst="rect">
            <a:avLst/>
          </a:prstGeom>
        </p:spPr>
      </p:pic>
      <p:sp>
        <p:nvSpPr>
          <p:cNvPr id="45" name="Text 37"/>
          <p:cNvSpPr txBox="1"/>
          <p:nvPr/>
        </p:nvSpPr>
        <p:spPr>
          <a:xfrm>
            <a:off x="3447288" y="3685032"/>
            <a:ext cx="2286000" cy="274320"/>
          </a:xfrm>
          <a:prstGeom prst="rect">
            <a:avLst/>
          </a:prstGeom>
          <a:noFill/>
          <a:ln/>
        </p:spPr>
        <p:txBody>
          <a:bodyPr wrap="square" lIns="0" tIns="0" rIns="0" bIns="0" rtlCol="0" anchor="ctr"/>
          <a:lstStyle/>
          <a:p>
            <a:pPr marL="0" indent="0">
              <a:buNone/>
            </a:pPr>
            <a:r>
              <a:rPr lang="en-US" sz="1500" b="1" dirty="0">
                <a:solidFill>
                  <a:srgbClr val="231F20"/>
                </a:solidFill>
                <a:latin typeface="Calibri" pitchFamily="34" charset="0"/>
                <a:ea typeface="Calibri" pitchFamily="34" charset="-122"/>
                <a:cs typeface="Calibri" pitchFamily="34" charset="-120"/>
              </a:rPr>
              <a:t>Techniques avancées</a:t>
            </a:r>
            <a:endParaRPr lang="en-US" sz="1500" dirty="0"/>
          </a:p>
        </p:txBody>
      </p:sp>
      <p:sp>
        <p:nvSpPr>
          <p:cNvPr id="46" name="Text 38"/>
          <p:cNvSpPr txBox="1"/>
          <p:nvPr/>
        </p:nvSpPr>
        <p:spPr>
          <a:xfrm>
            <a:off x="3447288" y="3977640"/>
            <a:ext cx="2286000" cy="41148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Boîte à outils ; RAG, fine-tuning ou contexte long</a:t>
            </a:r>
            <a:endParaRPr lang="en-US" sz="1050" dirty="0"/>
          </a:p>
        </p:txBody>
      </p:sp>
      <p:sp>
        <p:nvSpPr>
          <p:cNvPr id="47" name="Shape 39"/>
          <p:cNvSpPr/>
          <p:nvPr/>
        </p:nvSpPr>
        <p:spPr>
          <a:xfrm>
            <a:off x="6071616" y="2971800"/>
            <a:ext cx="2615184" cy="1481328"/>
          </a:xfrm>
          <a:prstGeom prst="roundRect">
            <a:avLst>
              <a:gd name="adj" fmla="val 4938"/>
            </a:avLst>
          </a:prstGeom>
          <a:solidFill>
            <a:srgbClr val="F4F7F5"/>
          </a:solidFill>
          <a:ln w="9525">
            <a:solidFill>
              <a:srgbClr val="D5DED9"/>
            </a:solidFill>
            <a:prstDash val="solid"/>
          </a:ln>
        </p:spPr>
      </p:sp>
      <p:sp>
        <p:nvSpPr>
          <p:cNvPr id="48" name="Text 40"/>
          <p:cNvSpPr txBox="1"/>
          <p:nvPr/>
        </p:nvSpPr>
        <p:spPr>
          <a:xfrm>
            <a:off x="6254496" y="3081528"/>
            <a:ext cx="914400" cy="548640"/>
          </a:xfrm>
          <a:prstGeom prst="rect">
            <a:avLst/>
          </a:prstGeom>
          <a:noFill/>
          <a:ln/>
        </p:spPr>
        <p:txBody>
          <a:bodyPr wrap="square" lIns="0" tIns="0" rIns="0" bIns="0" rtlCol="0" anchor="ctr"/>
          <a:lstStyle/>
          <a:p>
            <a:pPr marL="0" indent="0">
              <a:buNone/>
            </a:pPr>
            <a:r>
              <a:rPr lang="en-US" sz="3200" b="1" dirty="0">
                <a:solidFill>
                  <a:srgbClr val="B83B2E"/>
                </a:solidFill>
                <a:latin typeface="Calibri" pitchFamily="34" charset="0"/>
                <a:ea typeface="Calibri" pitchFamily="34" charset="-122"/>
                <a:cs typeface="Calibri" pitchFamily="34" charset="-120"/>
              </a:rPr>
              <a:t>06</a:t>
            </a:r>
            <a:endParaRPr lang="en-US" sz="3200" dirty="0"/>
          </a:p>
        </p:txBody>
      </p:sp>
      <p:sp>
        <p:nvSpPr>
          <p:cNvPr id="49" name="Shape 41"/>
          <p:cNvSpPr/>
          <p:nvPr/>
        </p:nvSpPr>
        <p:spPr>
          <a:xfrm>
            <a:off x="7991856" y="3136392"/>
            <a:ext cx="502920" cy="502920"/>
          </a:xfrm>
          <a:prstGeom prst="ellipse">
            <a:avLst/>
          </a:prstGeom>
          <a:solidFill>
            <a:srgbClr val="B83B2E">
              <a:alpha val="22000"/>
            </a:srgbClr>
          </a:solidFill>
          <a:ln w="12700">
            <a:solidFill>
              <a:srgbClr val="B83B2E">
                <a:alpha val="0"/>
              </a:srgbClr>
            </a:solidFill>
            <a:prstDash val="solid"/>
          </a:ln>
        </p:spPr>
      </p:sp>
      <p:pic>
        <p:nvPicPr>
          <p:cNvPr id="50" name="Image 5" descr="preencoded.png"/>
          <p:cNvPicPr>
            <a:picLocks noChangeAspect="1"/>
          </p:cNvPicPr>
          <p:nvPr/>
        </p:nvPicPr>
        <p:blipFill>
          <a:blip r:embed="rId8"/>
          <a:stretch>
            <a:fillRect/>
          </a:stretch>
        </p:blipFill>
        <p:spPr>
          <a:xfrm>
            <a:off x="8112557" y="3257093"/>
            <a:ext cx="261518" cy="261518"/>
          </a:xfrm>
          <a:prstGeom prst="rect">
            <a:avLst/>
          </a:prstGeom>
        </p:spPr>
      </p:pic>
      <p:sp>
        <p:nvSpPr>
          <p:cNvPr id="51" name="Text 42"/>
          <p:cNvSpPr txBox="1"/>
          <p:nvPr/>
        </p:nvSpPr>
        <p:spPr>
          <a:xfrm>
            <a:off x="6254496" y="3685032"/>
            <a:ext cx="2286000" cy="274320"/>
          </a:xfrm>
          <a:prstGeom prst="rect">
            <a:avLst/>
          </a:prstGeom>
          <a:noFill/>
          <a:ln/>
        </p:spPr>
        <p:txBody>
          <a:bodyPr wrap="square" lIns="0" tIns="0" rIns="0" bIns="0" rtlCol="0" anchor="ctr"/>
          <a:lstStyle/>
          <a:p>
            <a:pPr marL="0" indent="0">
              <a:buNone/>
            </a:pPr>
            <a:r>
              <a:rPr lang="en-US" sz="1500" b="1" dirty="0">
                <a:solidFill>
                  <a:srgbClr val="231F20"/>
                </a:solidFill>
                <a:latin typeface="Calibri" pitchFamily="34" charset="0"/>
                <a:ea typeface="Calibri" pitchFamily="34" charset="-122"/>
                <a:cs typeface="Calibri" pitchFamily="34" charset="-120"/>
              </a:rPr>
              <a:t>Production</a:t>
            </a:r>
            <a:endParaRPr lang="en-US" sz="1500" dirty="0"/>
          </a:p>
        </p:txBody>
      </p:sp>
      <p:sp>
        <p:nvSpPr>
          <p:cNvPr id="52" name="Text 43"/>
          <p:cNvSpPr txBox="1"/>
          <p:nvPr/>
        </p:nvSpPr>
        <p:spPr>
          <a:xfrm>
            <a:off x="6254496" y="3977640"/>
            <a:ext cx="2286000" cy="41148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Évaluation, sécurité, outils, points de défaillance</a:t>
            </a:r>
            <a:endParaRPr lang="en-US" sz="1050"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822960"/>
            <a:ext cx="2743200" cy="274320"/>
          </a:xfrm>
          <a:prstGeom prst="rect">
            <a:avLst/>
          </a:prstGeom>
          <a:noFill/>
          <a:ln/>
        </p:spPr>
        <p:txBody>
          <a:bodyPr wrap="square" lIns="0" tIns="0" rIns="0" bIns="0" rtlCol="0" anchor="ctr"/>
          <a:lstStyle/>
          <a:p>
            <a:pPr marL="0" indent="0">
              <a:buNone/>
            </a:pPr>
            <a:r>
              <a:rPr lang="en-US" sz="1200" b="1" kern="0" spc="400" dirty="0">
                <a:solidFill>
                  <a:srgbClr val="F5C242"/>
                </a:solidFill>
                <a:latin typeface="Calibri" pitchFamily="34" charset="0"/>
                <a:ea typeface="Calibri" pitchFamily="34" charset="-122"/>
                <a:cs typeface="Calibri" pitchFamily="34" charset="-120"/>
              </a:rPr>
              <a:t>SECTION</a:t>
            </a:r>
            <a:endParaRPr lang="en-US" sz="1200" dirty="0"/>
          </a:p>
        </p:txBody>
      </p:sp>
      <p:sp>
        <p:nvSpPr>
          <p:cNvPr id="3" name="Text 1"/>
          <p:cNvSpPr txBox="1"/>
          <p:nvPr/>
        </p:nvSpPr>
        <p:spPr>
          <a:xfrm>
            <a:off x="502920" y="1051560"/>
            <a:ext cx="2743200" cy="1463040"/>
          </a:xfrm>
          <a:prstGeom prst="rect">
            <a:avLst/>
          </a:prstGeom>
          <a:noFill/>
          <a:ln/>
        </p:spPr>
        <p:txBody>
          <a:bodyPr wrap="square" lIns="0" tIns="0" rIns="0" bIns="0" rtlCol="0" anchor="ctr"/>
          <a:lstStyle/>
          <a:p>
            <a:pPr marL="0" indent="0">
              <a:buNone/>
            </a:pPr>
            <a:r>
              <a:rPr lang="en-US" sz="11000" b="1" dirty="0">
                <a:solidFill>
                  <a:srgbClr val="F5C242"/>
                </a:solidFill>
                <a:latin typeface="Calibri" pitchFamily="34" charset="0"/>
                <a:ea typeface="Calibri" pitchFamily="34" charset="-122"/>
                <a:cs typeface="Calibri" pitchFamily="34" charset="-120"/>
              </a:rPr>
              <a:t>01</a:t>
            </a:r>
            <a:endParaRPr lang="en-US" sz="11000" dirty="0"/>
          </a:p>
        </p:txBody>
      </p:sp>
      <p:sp>
        <p:nvSpPr>
          <p:cNvPr id="4" name="Text 2"/>
          <p:cNvSpPr txBox="1"/>
          <p:nvPr/>
        </p:nvSpPr>
        <p:spPr>
          <a:xfrm>
            <a:off x="548640" y="2606040"/>
            <a:ext cx="5120640" cy="68580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Fondements</a:t>
            </a:r>
            <a:endParaRPr lang="en-US" sz="4000" dirty="0"/>
          </a:p>
        </p:txBody>
      </p:sp>
      <p:sp>
        <p:nvSpPr>
          <p:cNvPr id="5" name="Text 3"/>
          <p:cNvSpPr txBox="1"/>
          <p:nvPr/>
        </p:nvSpPr>
        <p:spPr>
          <a:xfrm>
            <a:off x="548640" y="3337560"/>
            <a:ext cx="5120640" cy="457200"/>
          </a:xfrm>
          <a:prstGeom prst="rect">
            <a:avLst/>
          </a:prstGeom>
          <a:noFill/>
          <a:ln/>
        </p:spPr>
        <p:txBody>
          <a:bodyPr wrap="square" lIns="0" tIns="0" rIns="0" bIns="0" rtlCol="0" anchor="ctr"/>
          <a:lstStyle/>
          <a:p>
            <a:pPr marL="0" indent="0">
              <a:buNone/>
            </a:pPr>
            <a:r>
              <a:rPr lang="en-US" sz="1800" i="1" dirty="0">
                <a:solidFill>
                  <a:srgbClr val="E6F6EE"/>
                </a:solidFill>
                <a:latin typeface="Calibri" pitchFamily="34" charset="0"/>
                <a:ea typeface="Calibri" pitchFamily="34" charset="-122"/>
                <a:cs typeface="Calibri" pitchFamily="34" charset="-120"/>
              </a:rPr>
              <a:t>Pourquoi les modèles de langage ont-ils besoin d'une mémoire externe ?</a:t>
            </a:r>
            <a:endParaRPr lang="en-US" sz="1800" dirty="0"/>
          </a:p>
        </p:txBody>
      </p:sp>
      <p:sp>
        <p:nvSpPr>
          <p:cNvPr id="6" name="Shape 4"/>
          <p:cNvSpPr/>
          <p:nvPr/>
        </p:nvSpPr>
        <p:spPr>
          <a:xfrm>
            <a:off x="548640" y="4160520"/>
            <a:ext cx="137160" cy="137160"/>
          </a:xfrm>
          <a:prstGeom prst="ellipse">
            <a:avLst/>
          </a:prstGeom>
          <a:solidFill>
            <a:srgbClr val="F5C242"/>
          </a:solidFill>
          <a:ln w="12700">
            <a:solidFill>
              <a:srgbClr val="FFFFFF">
                <a:alpha val="0"/>
              </a:srgbClr>
            </a:solidFill>
            <a:prstDash val="solid"/>
          </a:ln>
        </p:spPr>
      </p:sp>
      <p:sp>
        <p:nvSpPr>
          <p:cNvPr id="7" name="Shape 5"/>
          <p:cNvSpPr/>
          <p:nvPr/>
        </p:nvSpPr>
        <p:spPr>
          <a:xfrm>
            <a:off x="804672" y="4160520"/>
            <a:ext cx="137160" cy="137160"/>
          </a:xfrm>
          <a:prstGeom prst="ellipse">
            <a:avLst/>
          </a:prstGeom>
          <a:solidFill>
            <a:srgbClr val="FFFFFF">
              <a:alpha val="40000"/>
            </a:srgbClr>
          </a:solidFill>
          <a:ln w="12700">
            <a:solidFill>
              <a:srgbClr val="FFFFFF">
                <a:alpha val="0"/>
              </a:srgbClr>
            </a:solidFill>
            <a:prstDash val="solid"/>
          </a:ln>
        </p:spPr>
      </p:sp>
      <p:sp>
        <p:nvSpPr>
          <p:cNvPr id="8" name="Shape 6"/>
          <p:cNvSpPr/>
          <p:nvPr/>
        </p:nvSpPr>
        <p:spPr>
          <a:xfrm>
            <a:off x="1060704" y="4160520"/>
            <a:ext cx="137160" cy="137160"/>
          </a:xfrm>
          <a:prstGeom prst="ellipse">
            <a:avLst/>
          </a:prstGeom>
          <a:solidFill>
            <a:srgbClr val="FFFFFF">
              <a:alpha val="40000"/>
            </a:srgbClr>
          </a:solidFill>
          <a:ln w="12700">
            <a:solidFill>
              <a:srgbClr val="FFFFFF">
                <a:alpha val="0"/>
              </a:srgbClr>
            </a:solidFill>
            <a:prstDash val="solid"/>
          </a:ln>
        </p:spPr>
      </p:sp>
      <p:sp>
        <p:nvSpPr>
          <p:cNvPr id="9" name="Shape 7"/>
          <p:cNvSpPr/>
          <p:nvPr/>
        </p:nvSpPr>
        <p:spPr>
          <a:xfrm>
            <a:off x="1316736" y="4160520"/>
            <a:ext cx="137160" cy="137160"/>
          </a:xfrm>
          <a:prstGeom prst="ellipse">
            <a:avLst/>
          </a:prstGeom>
          <a:solidFill>
            <a:srgbClr val="FFFFFF">
              <a:alpha val="40000"/>
            </a:srgbClr>
          </a:solidFill>
          <a:ln w="12700">
            <a:solidFill>
              <a:srgbClr val="FFFFFF">
                <a:alpha val="0"/>
              </a:srgbClr>
            </a:solidFill>
            <a:prstDash val="solid"/>
          </a:ln>
        </p:spPr>
      </p:sp>
      <p:sp>
        <p:nvSpPr>
          <p:cNvPr id="10" name="Shape 8"/>
          <p:cNvSpPr/>
          <p:nvPr/>
        </p:nvSpPr>
        <p:spPr>
          <a:xfrm>
            <a:off x="1572768" y="4160520"/>
            <a:ext cx="137160" cy="137160"/>
          </a:xfrm>
          <a:prstGeom prst="ellipse">
            <a:avLst/>
          </a:prstGeom>
          <a:solidFill>
            <a:srgbClr val="FFFFFF">
              <a:alpha val="40000"/>
            </a:srgbClr>
          </a:solidFill>
          <a:ln w="12700">
            <a:solidFill>
              <a:srgbClr val="FFFFFF">
                <a:alpha val="0"/>
              </a:srgbClr>
            </a:solidFill>
            <a:prstDash val="solid"/>
          </a:ln>
        </p:spPr>
      </p:sp>
      <p:sp>
        <p:nvSpPr>
          <p:cNvPr id="11" name="Shape 9"/>
          <p:cNvSpPr/>
          <p:nvPr/>
        </p:nvSpPr>
        <p:spPr>
          <a:xfrm>
            <a:off x="1828800" y="4160520"/>
            <a:ext cx="137160" cy="137160"/>
          </a:xfrm>
          <a:prstGeom prst="ellipse">
            <a:avLst/>
          </a:prstGeom>
          <a:solidFill>
            <a:srgbClr val="FFFFFF">
              <a:alpha val="40000"/>
            </a:srgbClr>
          </a:solidFill>
          <a:ln w="12700">
            <a:solidFill>
              <a:srgbClr val="FFFFFF">
                <a:alpha val="0"/>
              </a:srgbClr>
            </a:solidFill>
            <a:prstDash val="solid"/>
          </a:ln>
        </p:spPr>
      </p:sp>
      <p:sp>
        <p:nvSpPr>
          <p:cNvPr id="12" name="Shape 10"/>
          <p:cNvSpPr/>
          <p:nvPr/>
        </p:nvSpPr>
        <p:spPr>
          <a:xfrm>
            <a:off x="5349240" y="777240"/>
            <a:ext cx="3474720" cy="3474720"/>
          </a:xfrm>
          <a:prstGeom prst="ellipse">
            <a:avLst/>
          </a:prstGeom>
          <a:solidFill>
            <a:srgbClr val="FFFFFF">
              <a:alpha val="0"/>
            </a:srgbClr>
          </a:solidFill>
          <a:ln w="15875">
            <a:solidFill>
              <a:srgbClr val="FFFFFF">
                <a:alpha val="18000"/>
              </a:srgbClr>
            </a:solidFill>
            <a:prstDash val="solid"/>
          </a:ln>
        </p:spPr>
      </p:sp>
      <p:sp>
        <p:nvSpPr>
          <p:cNvPr id="13" name="Shape 11"/>
          <p:cNvSpPr/>
          <p:nvPr/>
        </p:nvSpPr>
        <p:spPr>
          <a:xfrm>
            <a:off x="5760720" y="1188720"/>
            <a:ext cx="2651760" cy="2651760"/>
          </a:xfrm>
          <a:prstGeom prst="ellipse">
            <a:avLst/>
          </a:prstGeom>
          <a:solidFill>
            <a:srgbClr val="FFFFFF">
              <a:alpha val="0"/>
            </a:srgbClr>
          </a:solidFill>
          <a:ln w="15875">
            <a:solidFill>
              <a:srgbClr val="FFFFFF">
                <a:alpha val="30000"/>
              </a:srgbClr>
            </a:solidFill>
            <a:prstDash val="solid"/>
          </a:ln>
        </p:spPr>
      </p:sp>
      <p:sp>
        <p:nvSpPr>
          <p:cNvPr id="14" name="Shape 12"/>
          <p:cNvSpPr/>
          <p:nvPr/>
        </p:nvSpPr>
        <p:spPr>
          <a:xfrm>
            <a:off x="6172200" y="1600200"/>
            <a:ext cx="1828800" cy="1828800"/>
          </a:xfrm>
          <a:prstGeom prst="ellipse">
            <a:avLst/>
          </a:prstGeom>
          <a:solidFill>
            <a:srgbClr val="FFFFFF">
              <a:alpha val="0"/>
            </a:srgbClr>
          </a:solidFill>
          <a:ln w="15875">
            <a:solidFill>
              <a:srgbClr val="FFFFFF">
                <a:alpha val="45000"/>
              </a:srgbClr>
            </a:solidFill>
            <a:prstDash val="solid"/>
          </a:ln>
        </p:spPr>
      </p:sp>
      <p:sp>
        <p:nvSpPr>
          <p:cNvPr id="15" name="Shape 13"/>
          <p:cNvSpPr/>
          <p:nvPr/>
        </p:nvSpPr>
        <p:spPr>
          <a:xfrm>
            <a:off x="6492240" y="1920240"/>
            <a:ext cx="1188720" cy="1188720"/>
          </a:xfrm>
          <a:prstGeom prst="ellipse">
            <a:avLst/>
          </a:prstGeom>
          <a:solidFill>
            <a:srgbClr val="FFFFFF"/>
          </a:solidFill>
          <a:ln w="12700">
            <a:solidFill>
              <a:srgbClr val="FFFFFF"/>
            </a:solidFill>
            <a:prstDash val="solid"/>
          </a:ln>
        </p:spPr>
      </p:sp>
      <p:pic>
        <p:nvPicPr>
          <p:cNvPr id="16" name="Image 0" descr="preencoded.png"/>
          <p:cNvPicPr>
            <a:picLocks noChangeAspect="1"/>
          </p:cNvPicPr>
          <p:nvPr/>
        </p:nvPicPr>
        <p:blipFill>
          <a:blip r:embed="rId4"/>
          <a:stretch>
            <a:fillRect/>
          </a:stretch>
        </p:blipFill>
        <p:spPr>
          <a:xfrm>
            <a:off x="6777533" y="2205533"/>
            <a:ext cx="618134" cy="618134"/>
          </a:xfrm>
          <a:prstGeom prst="rect">
            <a:avLst/>
          </a:prstGeom>
        </p:spPr>
      </p:pic>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0704A"/>
                </a:solidFill>
                <a:latin typeface="Calibri" pitchFamily="34" charset="0"/>
                <a:ea typeface="Calibri" pitchFamily="34" charset="-122"/>
                <a:cs typeface="Calibri" pitchFamily="34" charset="-120"/>
              </a:rPr>
              <a:t>01 · FONDEMENTS</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Là où le RAG crée de la valeur</a:t>
            </a:r>
            <a:endParaRPr lang="en-US" sz="2800" dirty="0"/>
          </a:p>
        </p:txBody>
      </p:sp>
      <p:sp>
        <p:nvSpPr>
          <p:cNvPr id="8" name="Shape 6"/>
          <p:cNvSpPr/>
          <p:nvPr/>
        </p:nvSpPr>
        <p:spPr>
          <a:xfrm>
            <a:off x="7790688" y="329184"/>
            <a:ext cx="100584" cy="100584"/>
          </a:xfrm>
          <a:prstGeom prst="ellipse">
            <a:avLst/>
          </a:prstGeom>
          <a:solidFill>
            <a:srgbClr val="00A86A"/>
          </a:solidFill>
          <a:ln w="12700">
            <a:solidFill>
              <a:srgbClr val="00A86A"/>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694944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ATI · Big Data pour les statistiques macroéconomiques · Maurice, 26–30 oct. 2026   |   BAD · Data Innovation for Africa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18</a:t>
            </a:r>
            <a:endParaRPr lang="en-US" sz="850" dirty="0"/>
          </a:p>
        </p:txBody>
      </p:sp>
      <p:sp>
        <p:nvSpPr>
          <p:cNvPr id="17" name="Shape 14"/>
          <p:cNvSpPr/>
          <p:nvPr/>
        </p:nvSpPr>
        <p:spPr>
          <a:xfrm>
            <a:off x="457200" y="1325880"/>
            <a:ext cx="2615184" cy="1298448"/>
          </a:xfrm>
          <a:prstGeom prst="roundRect">
            <a:avLst>
              <a:gd name="adj" fmla="val 5634"/>
            </a:avLst>
          </a:prstGeom>
          <a:solidFill>
            <a:srgbClr val="F4F7F5"/>
          </a:solidFill>
          <a:ln w="9525">
            <a:solidFill>
              <a:srgbClr val="D5DED9"/>
            </a:solidFill>
            <a:prstDash val="solid"/>
          </a:ln>
        </p:spPr>
      </p:sp>
      <p:sp>
        <p:nvSpPr>
          <p:cNvPr id="18" name="Shape 15"/>
          <p:cNvSpPr/>
          <p:nvPr/>
        </p:nvSpPr>
        <p:spPr>
          <a:xfrm>
            <a:off x="640080" y="1508760"/>
            <a:ext cx="457200" cy="457200"/>
          </a:xfrm>
          <a:prstGeom prst="ellipse">
            <a:avLst/>
          </a:prstGeom>
          <a:solidFill>
            <a:srgbClr val="00A86A">
              <a:alpha val="22000"/>
            </a:srgbClr>
          </a:solidFill>
          <a:ln w="12700">
            <a:solidFill>
              <a:srgbClr val="00A86A">
                <a:alpha val="0"/>
              </a:srgbClr>
            </a:solidFill>
            <a:prstDash val="solid"/>
          </a:ln>
        </p:spPr>
      </p:sp>
      <p:pic>
        <p:nvPicPr>
          <p:cNvPr id="19" name="Image 0" descr="preencoded.png"/>
          <p:cNvPicPr>
            <a:picLocks noChangeAspect="1"/>
          </p:cNvPicPr>
          <p:nvPr/>
        </p:nvPicPr>
        <p:blipFill>
          <a:blip r:embed="rId3"/>
          <a:stretch>
            <a:fillRect/>
          </a:stretch>
        </p:blipFill>
        <p:spPr>
          <a:xfrm>
            <a:off x="749808" y="1618488"/>
            <a:ext cx="237744" cy="237744"/>
          </a:xfrm>
          <a:prstGeom prst="rect">
            <a:avLst/>
          </a:prstGeom>
        </p:spPr>
      </p:pic>
      <p:sp>
        <p:nvSpPr>
          <p:cNvPr id="20" name="Text 16"/>
          <p:cNvSpPr txBox="1"/>
          <p:nvPr/>
        </p:nvSpPr>
        <p:spPr>
          <a:xfrm>
            <a:off x="1234440" y="1581912"/>
            <a:ext cx="1737360" cy="320040"/>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Service client</a:t>
            </a:r>
            <a:endParaRPr lang="en-US" sz="1350" dirty="0"/>
          </a:p>
        </p:txBody>
      </p:sp>
      <p:sp>
        <p:nvSpPr>
          <p:cNvPr id="21" name="Text 17"/>
          <p:cNvSpPr txBox="1"/>
          <p:nvPr/>
        </p:nvSpPr>
        <p:spPr>
          <a:xfrm>
            <a:off x="640080" y="2057400"/>
            <a:ext cx="2286000" cy="530352"/>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Des assistants répondent à partir de l'aide en ligne, des politiques et des tickets, avec liens vers les sources.</a:t>
            </a:r>
            <a:endParaRPr lang="en-US" sz="1050" dirty="0"/>
          </a:p>
        </p:txBody>
      </p:sp>
      <p:sp>
        <p:nvSpPr>
          <p:cNvPr id="22" name="Shape 18"/>
          <p:cNvSpPr/>
          <p:nvPr/>
        </p:nvSpPr>
        <p:spPr>
          <a:xfrm>
            <a:off x="3264408" y="1325880"/>
            <a:ext cx="2615184" cy="1298448"/>
          </a:xfrm>
          <a:prstGeom prst="roundRect">
            <a:avLst>
              <a:gd name="adj" fmla="val 5634"/>
            </a:avLst>
          </a:prstGeom>
          <a:solidFill>
            <a:srgbClr val="F4F7F5"/>
          </a:solidFill>
          <a:ln w="9525">
            <a:solidFill>
              <a:srgbClr val="D5DED9"/>
            </a:solidFill>
            <a:prstDash val="solid"/>
          </a:ln>
        </p:spPr>
      </p:sp>
      <p:sp>
        <p:nvSpPr>
          <p:cNvPr id="23" name="Shape 19"/>
          <p:cNvSpPr/>
          <p:nvPr/>
        </p:nvSpPr>
        <p:spPr>
          <a:xfrm>
            <a:off x="3447288" y="1508760"/>
            <a:ext cx="457200" cy="457200"/>
          </a:xfrm>
          <a:prstGeom prst="ellipse">
            <a:avLst/>
          </a:prstGeom>
          <a:solidFill>
            <a:srgbClr val="0E7C86">
              <a:alpha val="22000"/>
            </a:srgbClr>
          </a:solidFill>
          <a:ln w="12700">
            <a:solidFill>
              <a:srgbClr val="0E7C86">
                <a:alpha val="0"/>
              </a:srgbClr>
            </a:solidFill>
            <a:prstDash val="solid"/>
          </a:ln>
        </p:spPr>
      </p:sp>
      <p:pic>
        <p:nvPicPr>
          <p:cNvPr id="24" name="Image 1" descr="preencoded.png"/>
          <p:cNvPicPr>
            <a:picLocks noChangeAspect="1"/>
          </p:cNvPicPr>
          <p:nvPr/>
        </p:nvPicPr>
        <p:blipFill>
          <a:blip r:embed="rId4"/>
          <a:stretch>
            <a:fillRect/>
          </a:stretch>
        </p:blipFill>
        <p:spPr>
          <a:xfrm>
            <a:off x="3557016" y="1618488"/>
            <a:ext cx="237744" cy="237744"/>
          </a:xfrm>
          <a:prstGeom prst="rect">
            <a:avLst/>
          </a:prstGeom>
        </p:spPr>
      </p:pic>
      <p:sp>
        <p:nvSpPr>
          <p:cNvPr id="25" name="Text 20"/>
          <p:cNvSpPr txBox="1"/>
          <p:nvPr/>
        </p:nvSpPr>
        <p:spPr>
          <a:xfrm>
            <a:off x="4041648" y="1581912"/>
            <a:ext cx="1737360" cy="320040"/>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Savoir de l'entreprise</a:t>
            </a:r>
            <a:endParaRPr lang="en-US" sz="1350" dirty="0"/>
          </a:p>
        </p:txBody>
      </p:sp>
      <p:sp>
        <p:nvSpPr>
          <p:cNvPr id="26" name="Text 21"/>
          <p:cNvSpPr txBox="1"/>
          <p:nvPr/>
        </p:nvSpPr>
        <p:spPr>
          <a:xfrm>
            <a:off x="3447288" y="2057400"/>
            <a:ext cx="2286000" cy="530352"/>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Une seule couche de questions-réponses sur wikis, intranets, disques et messageries.</a:t>
            </a:r>
            <a:endParaRPr lang="en-US" sz="1050" dirty="0"/>
          </a:p>
        </p:txBody>
      </p:sp>
      <p:sp>
        <p:nvSpPr>
          <p:cNvPr id="27" name="Shape 22"/>
          <p:cNvSpPr/>
          <p:nvPr/>
        </p:nvSpPr>
        <p:spPr>
          <a:xfrm>
            <a:off x="6071616" y="1325880"/>
            <a:ext cx="2615184" cy="1298448"/>
          </a:xfrm>
          <a:prstGeom prst="roundRect">
            <a:avLst>
              <a:gd name="adj" fmla="val 5634"/>
            </a:avLst>
          </a:prstGeom>
          <a:solidFill>
            <a:srgbClr val="F4F7F5"/>
          </a:solidFill>
          <a:ln w="9525">
            <a:solidFill>
              <a:srgbClr val="D5DED9"/>
            </a:solidFill>
            <a:prstDash val="solid"/>
          </a:ln>
        </p:spPr>
      </p:sp>
      <p:sp>
        <p:nvSpPr>
          <p:cNvPr id="28" name="Shape 23"/>
          <p:cNvSpPr/>
          <p:nvPr/>
        </p:nvSpPr>
        <p:spPr>
          <a:xfrm>
            <a:off x="6254496" y="1508760"/>
            <a:ext cx="457200" cy="457200"/>
          </a:xfrm>
          <a:prstGeom prst="ellipse">
            <a:avLst/>
          </a:prstGeom>
          <a:solidFill>
            <a:srgbClr val="00A86A">
              <a:alpha val="22000"/>
            </a:srgbClr>
          </a:solidFill>
          <a:ln w="12700">
            <a:solidFill>
              <a:srgbClr val="00A86A">
                <a:alpha val="0"/>
              </a:srgbClr>
            </a:solidFill>
            <a:prstDash val="solid"/>
          </a:ln>
        </p:spPr>
      </p:sp>
      <p:pic>
        <p:nvPicPr>
          <p:cNvPr id="29" name="Image 2" descr="preencoded.png"/>
          <p:cNvPicPr>
            <a:picLocks noChangeAspect="1"/>
          </p:cNvPicPr>
          <p:nvPr/>
        </p:nvPicPr>
        <p:blipFill>
          <a:blip r:embed="rId5"/>
          <a:stretch>
            <a:fillRect/>
          </a:stretch>
        </p:blipFill>
        <p:spPr>
          <a:xfrm>
            <a:off x="6364224" y="1618488"/>
            <a:ext cx="237744" cy="237744"/>
          </a:xfrm>
          <a:prstGeom prst="rect">
            <a:avLst/>
          </a:prstGeom>
        </p:spPr>
      </p:pic>
      <p:sp>
        <p:nvSpPr>
          <p:cNvPr id="30" name="Text 24"/>
          <p:cNvSpPr txBox="1"/>
          <p:nvPr/>
        </p:nvSpPr>
        <p:spPr>
          <a:xfrm>
            <a:off x="6848856" y="1581912"/>
            <a:ext cx="1737360" cy="320040"/>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Juridique &amp; conformité</a:t>
            </a:r>
            <a:endParaRPr lang="en-US" sz="1350" dirty="0"/>
          </a:p>
        </p:txBody>
      </p:sp>
      <p:sp>
        <p:nvSpPr>
          <p:cNvPr id="31" name="Text 25"/>
          <p:cNvSpPr txBox="1"/>
          <p:nvPr/>
        </p:nvSpPr>
        <p:spPr>
          <a:xfrm>
            <a:off x="6254496" y="2057400"/>
            <a:ext cx="2286000" cy="530352"/>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Contrats, règlements et dossiers ; chaque affirmation renvoie à une clause.</a:t>
            </a:r>
            <a:endParaRPr lang="en-US" sz="1050" dirty="0"/>
          </a:p>
        </p:txBody>
      </p:sp>
      <p:sp>
        <p:nvSpPr>
          <p:cNvPr id="32" name="Shape 26"/>
          <p:cNvSpPr/>
          <p:nvPr/>
        </p:nvSpPr>
        <p:spPr>
          <a:xfrm>
            <a:off x="457200" y="2743200"/>
            <a:ext cx="2615184" cy="1298448"/>
          </a:xfrm>
          <a:prstGeom prst="roundRect">
            <a:avLst>
              <a:gd name="adj" fmla="val 5634"/>
            </a:avLst>
          </a:prstGeom>
          <a:solidFill>
            <a:srgbClr val="F4F7F5"/>
          </a:solidFill>
          <a:ln w="9525">
            <a:solidFill>
              <a:srgbClr val="D5DED9"/>
            </a:solidFill>
            <a:prstDash val="solid"/>
          </a:ln>
        </p:spPr>
      </p:sp>
      <p:sp>
        <p:nvSpPr>
          <p:cNvPr id="33" name="Shape 27"/>
          <p:cNvSpPr/>
          <p:nvPr/>
        </p:nvSpPr>
        <p:spPr>
          <a:xfrm>
            <a:off x="640080" y="2926080"/>
            <a:ext cx="457200" cy="457200"/>
          </a:xfrm>
          <a:prstGeom prst="ellipse">
            <a:avLst/>
          </a:prstGeom>
          <a:solidFill>
            <a:srgbClr val="0E7C86">
              <a:alpha val="22000"/>
            </a:srgbClr>
          </a:solidFill>
          <a:ln w="12700">
            <a:solidFill>
              <a:srgbClr val="0E7C86">
                <a:alpha val="0"/>
              </a:srgbClr>
            </a:solidFill>
            <a:prstDash val="solid"/>
          </a:ln>
        </p:spPr>
      </p:sp>
      <p:pic>
        <p:nvPicPr>
          <p:cNvPr id="34" name="Image 3" descr="preencoded.png"/>
          <p:cNvPicPr>
            <a:picLocks noChangeAspect="1"/>
          </p:cNvPicPr>
          <p:nvPr/>
        </p:nvPicPr>
        <p:blipFill>
          <a:blip r:embed="rId6"/>
          <a:stretch>
            <a:fillRect/>
          </a:stretch>
        </p:blipFill>
        <p:spPr>
          <a:xfrm>
            <a:off x="749808" y="3035808"/>
            <a:ext cx="237744" cy="237744"/>
          </a:xfrm>
          <a:prstGeom prst="rect">
            <a:avLst/>
          </a:prstGeom>
        </p:spPr>
      </p:pic>
      <p:sp>
        <p:nvSpPr>
          <p:cNvPr id="35" name="Text 28"/>
          <p:cNvSpPr txBox="1"/>
          <p:nvPr/>
        </p:nvSpPr>
        <p:spPr>
          <a:xfrm>
            <a:off x="1234440" y="2999232"/>
            <a:ext cx="1737360" cy="320040"/>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Santé &amp; recherche</a:t>
            </a:r>
            <a:endParaRPr lang="en-US" sz="1350" dirty="0"/>
          </a:p>
        </p:txBody>
      </p:sp>
      <p:sp>
        <p:nvSpPr>
          <p:cNvPr id="36" name="Text 29"/>
          <p:cNvSpPr txBox="1"/>
          <p:nvPr/>
        </p:nvSpPr>
        <p:spPr>
          <a:xfrm>
            <a:off x="640080" y="3474720"/>
            <a:ext cx="2286000" cy="530352"/>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Réponses fondées sur les recommandations et la littérature, pas sur la mémoire du modèle.</a:t>
            </a:r>
            <a:endParaRPr lang="en-US" sz="1050" dirty="0"/>
          </a:p>
        </p:txBody>
      </p:sp>
      <p:sp>
        <p:nvSpPr>
          <p:cNvPr id="37" name="Shape 30"/>
          <p:cNvSpPr/>
          <p:nvPr/>
        </p:nvSpPr>
        <p:spPr>
          <a:xfrm>
            <a:off x="3264408" y="2743200"/>
            <a:ext cx="2615184" cy="1298448"/>
          </a:xfrm>
          <a:prstGeom prst="roundRect">
            <a:avLst>
              <a:gd name="adj" fmla="val 5634"/>
            </a:avLst>
          </a:prstGeom>
          <a:solidFill>
            <a:srgbClr val="F4F7F5"/>
          </a:solidFill>
          <a:ln w="9525">
            <a:solidFill>
              <a:srgbClr val="D5DED9"/>
            </a:solidFill>
            <a:prstDash val="solid"/>
          </a:ln>
        </p:spPr>
      </p:sp>
      <p:sp>
        <p:nvSpPr>
          <p:cNvPr id="38" name="Shape 31"/>
          <p:cNvSpPr/>
          <p:nvPr/>
        </p:nvSpPr>
        <p:spPr>
          <a:xfrm>
            <a:off x="3447288" y="2926080"/>
            <a:ext cx="457200" cy="457200"/>
          </a:xfrm>
          <a:prstGeom prst="ellipse">
            <a:avLst/>
          </a:prstGeom>
          <a:solidFill>
            <a:srgbClr val="00A86A">
              <a:alpha val="22000"/>
            </a:srgbClr>
          </a:solidFill>
          <a:ln w="12700">
            <a:solidFill>
              <a:srgbClr val="00A86A">
                <a:alpha val="0"/>
              </a:srgbClr>
            </a:solidFill>
            <a:prstDash val="solid"/>
          </a:ln>
        </p:spPr>
      </p:sp>
      <p:pic>
        <p:nvPicPr>
          <p:cNvPr id="39" name="Image 4" descr="preencoded.png"/>
          <p:cNvPicPr>
            <a:picLocks noChangeAspect="1"/>
          </p:cNvPicPr>
          <p:nvPr/>
        </p:nvPicPr>
        <p:blipFill>
          <a:blip r:embed="rId7"/>
          <a:stretch>
            <a:fillRect/>
          </a:stretch>
        </p:blipFill>
        <p:spPr>
          <a:xfrm>
            <a:off x="3557016" y="3035808"/>
            <a:ext cx="237744" cy="237744"/>
          </a:xfrm>
          <a:prstGeom prst="rect">
            <a:avLst/>
          </a:prstGeom>
        </p:spPr>
      </p:pic>
      <p:sp>
        <p:nvSpPr>
          <p:cNvPr id="40" name="Text 32"/>
          <p:cNvSpPr txBox="1"/>
          <p:nvPr/>
        </p:nvSpPr>
        <p:spPr>
          <a:xfrm>
            <a:off x="4041648" y="2999232"/>
            <a:ext cx="1737360" cy="320040"/>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Génie logiciel</a:t>
            </a:r>
            <a:endParaRPr lang="en-US" sz="1350" dirty="0"/>
          </a:p>
        </p:txBody>
      </p:sp>
      <p:sp>
        <p:nvSpPr>
          <p:cNvPr id="41" name="Text 33"/>
          <p:cNvSpPr txBox="1"/>
          <p:nvPr/>
        </p:nvSpPr>
        <p:spPr>
          <a:xfrm>
            <a:off x="3447288" y="3474720"/>
            <a:ext cx="2286000" cy="530352"/>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Les assistants de code récupèrent fichiers, API et documentation interne utiles.</a:t>
            </a:r>
            <a:endParaRPr lang="en-US" sz="1050" dirty="0"/>
          </a:p>
        </p:txBody>
      </p:sp>
      <p:sp>
        <p:nvSpPr>
          <p:cNvPr id="42" name="Shape 34"/>
          <p:cNvSpPr/>
          <p:nvPr/>
        </p:nvSpPr>
        <p:spPr>
          <a:xfrm>
            <a:off x="6071616" y="2743200"/>
            <a:ext cx="2615184" cy="1298448"/>
          </a:xfrm>
          <a:prstGeom prst="roundRect">
            <a:avLst>
              <a:gd name="adj" fmla="val 5634"/>
            </a:avLst>
          </a:prstGeom>
          <a:solidFill>
            <a:srgbClr val="F4F7F5"/>
          </a:solidFill>
          <a:ln w="9525">
            <a:solidFill>
              <a:srgbClr val="D5DED9"/>
            </a:solidFill>
            <a:prstDash val="solid"/>
          </a:ln>
        </p:spPr>
      </p:sp>
      <p:sp>
        <p:nvSpPr>
          <p:cNvPr id="43" name="Shape 35"/>
          <p:cNvSpPr/>
          <p:nvPr/>
        </p:nvSpPr>
        <p:spPr>
          <a:xfrm>
            <a:off x="6254496" y="2926080"/>
            <a:ext cx="457200" cy="457200"/>
          </a:xfrm>
          <a:prstGeom prst="ellipse">
            <a:avLst/>
          </a:prstGeom>
          <a:solidFill>
            <a:srgbClr val="0E7C86">
              <a:alpha val="22000"/>
            </a:srgbClr>
          </a:solidFill>
          <a:ln w="12700">
            <a:solidFill>
              <a:srgbClr val="0E7C86">
                <a:alpha val="0"/>
              </a:srgbClr>
            </a:solidFill>
            <a:prstDash val="solid"/>
          </a:ln>
        </p:spPr>
      </p:sp>
      <p:pic>
        <p:nvPicPr>
          <p:cNvPr id="44" name="Image 5" descr="preencoded.png"/>
          <p:cNvPicPr>
            <a:picLocks noChangeAspect="1"/>
          </p:cNvPicPr>
          <p:nvPr/>
        </p:nvPicPr>
        <p:blipFill>
          <a:blip r:embed="rId8"/>
          <a:stretch>
            <a:fillRect/>
          </a:stretch>
        </p:blipFill>
        <p:spPr>
          <a:xfrm>
            <a:off x="6364224" y="3035808"/>
            <a:ext cx="237744" cy="237744"/>
          </a:xfrm>
          <a:prstGeom prst="rect">
            <a:avLst/>
          </a:prstGeom>
        </p:spPr>
      </p:pic>
      <p:sp>
        <p:nvSpPr>
          <p:cNvPr id="45" name="Text 36"/>
          <p:cNvSpPr txBox="1"/>
          <p:nvPr/>
        </p:nvSpPr>
        <p:spPr>
          <a:xfrm>
            <a:off x="6848856" y="2999232"/>
            <a:ext cx="1737360" cy="320040"/>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Finance &amp; analyse</a:t>
            </a:r>
            <a:endParaRPr lang="en-US" sz="1350" dirty="0"/>
          </a:p>
        </p:txBody>
      </p:sp>
      <p:sp>
        <p:nvSpPr>
          <p:cNvPr id="46" name="Text 37"/>
          <p:cNvSpPr txBox="1"/>
          <p:nvPr/>
        </p:nvSpPr>
        <p:spPr>
          <a:xfrm>
            <a:off x="6254496" y="3474720"/>
            <a:ext cx="2286000" cy="530352"/>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Interroger rapports, publications et études de marché qui changent chaque trimestre.</a:t>
            </a:r>
            <a:endParaRPr lang="en-US" sz="1050" dirty="0"/>
          </a:p>
        </p:txBody>
      </p:sp>
      <p:sp>
        <p:nvSpPr>
          <p:cNvPr id="47" name="Shape 38"/>
          <p:cNvSpPr/>
          <p:nvPr/>
        </p:nvSpPr>
        <p:spPr>
          <a:xfrm>
            <a:off x="457200" y="4206240"/>
            <a:ext cx="8229600" cy="457200"/>
          </a:xfrm>
          <a:prstGeom prst="roundRect">
            <a:avLst>
              <a:gd name="adj" fmla="val 16000"/>
            </a:avLst>
          </a:prstGeom>
          <a:solidFill>
            <a:srgbClr val="E8F5EF"/>
          </a:solidFill>
          <a:ln w="15875">
            <a:solidFill>
              <a:srgbClr val="00A86A"/>
            </a:solidFill>
            <a:prstDash val="solid"/>
          </a:ln>
        </p:spPr>
      </p:sp>
      <p:sp>
        <p:nvSpPr>
          <p:cNvPr id="48" name="Text 39"/>
          <p:cNvSpPr txBox="1"/>
          <p:nvPr/>
        </p:nvSpPr>
        <p:spPr>
          <a:xfrm>
            <a:off x="685800" y="4206240"/>
            <a:ext cx="7772400" cy="457200"/>
          </a:xfrm>
          <a:prstGeom prst="rect">
            <a:avLst/>
          </a:prstGeom>
          <a:noFill/>
          <a:ln/>
        </p:spPr>
        <p:txBody>
          <a:bodyPr wrap="square" lIns="0" tIns="0" rIns="0" bIns="0" rtlCol="0" anchor="ctr"/>
          <a:lstStyle/>
          <a:p>
            <a:pPr marL="0" indent="0">
              <a:buNone/>
            </a:pPr>
            <a:r>
              <a:rPr lang="en-US" sz="1300" b="1" dirty="0">
                <a:solidFill>
                  <a:srgbClr val="00704A"/>
                </a:solidFill>
                <a:latin typeface="Calibri" pitchFamily="34" charset="0"/>
                <a:ea typeface="Calibri" pitchFamily="34" charset="-122"/>
                <a:cs typeface="Calibri" pitchFamily="34" charset="-120"/>
              </a:rPr>
              <a:t>Point commun : </a:t>
            </a:r>
            <a:r>
              <a:rPr lang="en-US" sz="1300" dirty="0">
                <a:solidFill>
                  <a:srgbClr val="231F20"/>
                </a:solidFill>
                <a:latin typeface="Calibri" pitchFamily="34" charset="0"/>
                <a:ea typeface="Calibri" pitchFamily="34" charset="-122"/>
                <a:cs typeface="Calibri" pitchFamily="34" charset="-120"/>
              </a:rPr>
              <a:t>un corpus volumineux, évolutif ou confidentiel  +  des réponses que l'on doit pouvoir vérifier.</a:t>
            </a:r>
            <a:endParaRPr lang="en-US" sz="130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822960"/>
            <a:ext cx="2743200" cy="274320"/>
          </a:xfrm>
          <a:prstGeom prst="rect">
            <a:avLst/>
          </a:prstGeom>
          <a:noFill/>
          <a:ln/>
        </p:spPr>
        <p:txBody>
          <a:bodyPr wrap="square" lIns="0" tIns="0" rIns="0" bIns="0" rtlCol="0" anchor="ctr"/>
          <a:lstStyle/>
          <a:p>
            <a:pPr marL="0" indent="0">
              <a:buNone/>
            </a:pPr>
            <a:r>
              <a:rPr lang="en-US" sz="1200" b="1" kern="0" spc="400" dirty="0">
                <a:solidFill>
                  <a:srgbClr val="F5C242"/>
                </a:solidFill>
                <a:latin typeface="Calibri" pitchFamily="34" charset="0"/>
                <a:ea typeface="Calibri" pitchFamily="34" charset="-122"/>
                <a:cs typeface="Calibri" pitchFamily="34" charset="-120"/>
              </a:rPr>
              <a:t>SECTION</a:t>
            </a:r>
            <a:endParaRPr lang="en-US" sz="1200" dirty="0"/>
          </a:p>
        </p:txBody>
      </p:sp>
      <p:sp>
        <p:nvSpPr>
          <p:cNvPr id="3" name="Text 1"/>
          <p:cNvSpPr txBox="1"/>
          <p:nvPr/>
        </p:nvSpPr>
        <p:spPr>
          <a:xfrm>
            <a:off x="502920" y="1051560"/>
            <a:ext cx="2743200" cy="1463040"/>
          </a:xfrm>
          <a:prstGeom prst="rect">
            <a:avLst/>
          </a:prstGeom>
          <a:noFill/>
          <a:ln/>
        </p:spPr>
        <p:txBody>
          <a:bodyPr wrap="square" lIns="0" tIns="0" rIns="0" bIns="0" rtlCol="0" anchor="ctr"/>
          <a:lstStyle/>
          <a:p>
            <a:pPr marL="0" indent="0">
              <a:buNone/>
            </a:pPr>
            <a:r>
              <a:rPr lang="en-US" sz="11000" b="1" dirty="0">
                <a:solidFill>
                  <a:srgbClr val="F5C242"/>
                </a:solidFill>
                <a:latin typeface="Calibri" pitchFamily="34" charset="0"/>
                <a:ea typeface="Calibri" pitchFamily="34" charset="-122"/>
                <a:cs typeface="Calibri" pitchFamily="34" charset="-120"/>
              </a:rPr>
              <a:t>02</a:t>
            </a:r>
            <a:endParaRPr lang="en-US" sz="11000" dirty="0"/>
          </a:p>
        </p:txBody>
      </p:sp>
      <p:sp>
        <p:nvSpPr>
          <p:cNvPr id="4" name="Text 2"/>
          <p:cNvSpPr txBox="1"/>
          <p:nvPr/>
        </p:nvSpPr>
        <p:spPr>
          <a:xfrm>
            <a:off x="548640" y="2606040"/>
            <a:ext cx="5120640" cy="68580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Fonctionnement</a:t>
            </a:r>
            <a:endParaRPr lang="en-US" sz="4000" dirty="0"/>
          </a:p>
        </p:txBody>
      </p:sp>
      <p:sp>
        <p:nvSpPr>
          <p:cNvPr id="5" name="Text 3"/>
          <p:cNvSpPr txBox="1"/>
          <p:nvPr/>
        </p:nvSpPr>
        <p:spPr>
          <a:xfrm>
            <a:off x="548640" y="3337560"/>
            <a:ext cx="5120640" cy="457200"/>
          </a:xfrm>
          <a:prstGeom prst="rect">
            <a:avLst/>
          </a:prstGeom>
          <a:noFill/>
          <a:ln/>
        </p:spPr>
        <p:txBody>
          <a:bodyPr wrap="square" lIns="0" tIns="0" rIns="0" bIns="0" rtlCol="0" anchor="ctr"/>
          <a:lstStyle/>
          <a:p>
            <a:pPr marL="0" indent="0">
              <a:buNone/>
            </a:pPr>
            <a:r>
              <a:rPr lang="en-US" sz="1800" i="1" dirty="0">
                <a:solidFill>
                  <a:srgbClr val="E6F6EE"/>
                </a:solidFill>
                <a:latin typeface="Calibri" pitchFamily="34" charset="0"/>
                <a:ea typeface="Calibri" pitchFamily="34" charset="-122"/>
                <a:cs typeface="Calibri" pitchFamily="34" charset="-120"/>
              </a:rPr>
              <a:t>Que se passe-t-il entre la question et la réponse ?</a:t>
            </a:r>
            <a:endParaRPr lang="en-US" sz="1800" dirty="0"/>
          </a:p>
        </p:txBody>
      </p:sp>
      <p:sp>
        <p:nvSpPr>
          <p:cNvPr id="6" name="Shape 4"/>
          <p:cNvSpPr/>
          <p:nvPr/>
        </p:nvSpPr>
        <p:spPr>
          <a:xfrm>
            <a:off x="548640" y="4160520"/>
            <a:ext cx="137160" cy="137160"/>
          </a:xfrm>
          <a:prstGeom prst="ellipse">
            <a:avLst/>
          </a:prstGeom>
          <a:solidFill>
            <a:srgbClr val="FFFFFF">
              <a:alpha val="40000"/>
            </a:srgbClr>
          </a:solidFill>
          <a:ln w="12700">
            <a:solidFill>
              <a:srgbClr val="FFFFFF">
                <a:alpha val="0"/>
              </a:srgbClr>
            </a:solidFill>
            <a:prstDash val="solid"/>
          </a:ln>
        </p:spPr>
      </p:sp>
      <p:sp>
        <p:nvSpPr>
          <p:cNvPr id="7" name="Shape 5"/>
          <p:cNvSpPr/>
          <p:nvPr/>
        </p:nvSpPr>
        <p:spPr>
          <a:xfrm>
            <a:off x="804672" y="4160520"/>
            <a:ext cx="137160" cy="137160"/>
          </a:xfrm>
          <a:prstGeom prst="ellipse">
            <a:avLst/>
          </a:prstGeom>
          <a:solidFill>
            <a:srgbClr val="F5C242"/>
          </a:solidFill>
          <a:ln w="12700">
            <a:solidFill>
              <a:srgbClr val="FFFFFF">
                <a:alpha val="0"/>
              </a:srgbClr>
            </a:solidFill>
            <a:prstDash val="solid"/>
          </a:ln>
        </p:spPr>
      </p:sp>
      <p:sp>
        <p:nvSpPr>
          <p:cNvPr id="8" name="Shape 6"/>
          <p:cNvSpPr/>
          <p:nvPr/>
        </p:nvSpPr>
        <p:spPr>
          <a:xfrm>
            <a:off x="1060704" y="4160520"/>
            <a:ext cx="137160" cy="137160"/>
          </a:xfrm>
          <a:prstGeom prst="ellipse">
            <a:avLst/>
          </a:prstGeom>
          <a:solidFill>
            <a:srgbClr val="FFFFFF">
              <a:alpha val="40000"/>
            </a:srgbClr>
          </a:solidFill>
          <a:ln w="12700">
            <a:solidFill>
              <a:srgbClr val="FFFFFF">
                <a:alpha val="0"/>
              </a:srgbClr>
            </a:solidFill>
            <a:prstDash val="solid"/>
          </a:ln>
        </p:spPr>
      </p:sp>
      <p:sp>
        <p:nvSpPr>
          <p:cNvPr id="9" name="Shape 7"/>
          <p:cNvSpPr/>
          <p:nvPr/>
        </p:nvSpPr>
        <p:spPr>
          <a:xfrm>
            <a:off x="1316736" y="4160520"/>
            <a:ext cx="137160" cy="137160"/>
          </a:xfrm>
          <a:prstGeom prst="ellipse">
            <a:avLst/>
          </a:prstGeom>
          <a:solidFill>
            <a:srgbClr val="FFFFFF">
              <a:alpha val="40000"/>
            </a:srgbClr>
          </a:solidFill>
          <a:ln w="12700">
            <a:solidFill>
              <a:srgbClr val="FFFFFF">
                <a:alpha val="0"/>
              </a:srgbClr>
            </a:solidFill>
            <a:prstDash val="solid"/>
          </a:ln>
        </p:spPr>
      </p:sp>
      <p:sp>
        <p:nvSpPr>
          <p:cNvPr id="10" name="Shape 8"/>
          <p:cNvSpPr/>
          <p:nvPr/>
        </p:nvSpPr>
        <p:spPr>
          <a:xfrm>
            <a:off x="1572768" y="4160520"/>
            <a:ext cx="137160" cy="137160"/>
          </a:xfrm>
          <a:prstGeom prst="ellipse">
            <a:avLst/>
          </a:prstGeom>
          <a:solidFill>
            <a:srgbClr val="FFFFFF">
              <a:alpha val="40000"/>
            </a:srgbClr>
          </a:solidFill>
          <a:ln w="12700">
            <a:solidFill>
              <a:srgbClr val="FFFFFF">
                <a:alpha val="0"/>
              </a:srgbClr>
            </a:solidFill>
            <a:prstDash val="solid"/>
          </a:ln>
        </p:spPr>
      </p:sp>
      <p:sp>
        <p:nvSpPr>
          <p:cNvPr id="11" name="Shape 9"/>
          <p:cNvSpPr/>
          <p:nvPr/>
        </p:nvSpPr>
        <p:spPr>
          <a:xfrm>
            <a:off x="1828800" y="4160520"/>
            <a:ext cx="137160" cy="137160"/>
          </a:xfrm>
          <a:prstGeom prst="ellipse">
            <a:avLst/>
          </a:prstGeom>
          <a:solidFill>
            <a:srgbClr val="FFFFFF">
              <a:alpha val="40000"/>
            </a:srgbClr>
          </a:solidFill>
          <a:ln w="12700">
            <a:solidFill>
              <a:srgbClr val="FFFFFF">
                <a:alpha val="0"/>
              </a:srgbClr>
            </a:solidFill>
            <a:prstDash val="solid"/>
          </a:ln>
        </p:spPr>
      </p:sp>
      <p:sp>
        <p:nvSpPr>
          <p:cNvPr id="12" name="Shape 10"/>
          <p:cNvSpPr/>
          <p:nvPr/>
        </p:nvSpPr>
        <p:spPr>
          <a:xfrm>
            <a:off x="5349240" y="777240"/>
            <a:ext cx="3474720" cy="3474720"/>
          </a:xfrm>
          <a:prstGeom prst="ellipse">
            <a:avLst/>
          </a:prstGeom>
          <a:solidFill>
            <a:srgbClr val="FFFFFF">
              <a:alpha val="0"/>
            </a:srgbClr>
          </a:solidFill>
          <a:ln w="15875">
            <a:solidFill>
              <a:srgbClr val="FFFFFF">
                <a:alpha val="18000"/>
              </a:srgbClr>
            </a:solidFill>
            <a:prstDash val="solid"/>
          </a:ln>
        </p:spPr>
      </p:sp>
      <p:sp>
        <p:nvSpPr>
          <p:cNvPr id="13" name="Shape 11"/>
          <p:cNvSpPr/>
          <p:nvPr/>
        </p:nvSpPr>
        <p:spPr>
          <a:xfrm>
            <a:off x="5760720" y="1188720"/>
            <a:ext cx="2651760" cy="2651760"/>
          </a:xfrm>
          <a:prstGeom prst="ellipse">
            <a:avLst/>
          </a:prstGeom>
          <a:solidFill>
            <a:srgbClr val="FFFFFF">
              <a:alpha val="0"/>
            </a:srgbClr>
          </a:solidFill>
          <a:ln w="15875">
            <a:solidFill>
              <a:srgbClr val="FFFFFF">
                <a:alpha val="30000"/>
              </a:srgbClr>
            </a:solidFill>
            <a:prstDash val="solid"/>
          </a:ln>
        </p:spPr>
      </p:sp>
      <p:sp>
        <p:nvSpPr>
          <p:cNvPr id="14" name="Shape 12"/>
          <p:cNvSpPr/>
          <p:nvPr/>
        </p:nvSpPr>
        <p:spPr>
          <a:xfrm>
            <a:off x="6172200" y="1600200"/>
            <a:ext cx="1828800" cy="1828800"/>
          </a:xfrm>
          <a:prstGeom prst="ellipse">
            <a:avLst/>
          </a:prstGeom>
          <a:solidFill>
            <a:srgbClr val="FFFFFF">
              <a:alpha val="0"/>
            </a:srgbClr>
          </a:solidFill>
          <a:ln w="15875">
            <a:solidFill>
              <a:srgbClr val="FFFFFF">
                <a:alpha val="45000"/>
              </a:srgbClr>
            </a:solidFill>
            <a:prstDash val="solid"/>
          </a:ln>
        </p:spPr>
      </p:sp>
      <p:sp>
        <p:nvSpPr>
          <p:cNvPr id="15" name="Shape 13"/>
          <p:cNvSpPr/>
          <p:nvPr/>
        </p:nvSpPr>
        <p:spPr>
          <a:xfrm>
            <a:off x="6492240" y="1920240"/>
            <a:ext cx="1188720" cy="1188720"/>
          </a:xfrm>
          <a:prstGeom prst="ellipse">
            <a:avLst/>
          </a:prstGeom>
          <a:solidFill>
            <a:srgbClr val="FFFFFF"/>
          </a:solidFill>
          <a:ln w="12700">
            <a:solidFill>
              <a:srgbClr val="FFFFFF"/>
            </a:solidFill>
            <a:prstDash val="solid"/>
          </a:ln>
        </p:spPr>
      </p:sp>
      <p:pic>
        <p:nvPicPr>
          <p:cNvPr id="16" name="Image 0" descr="preencoded.png"/>
          <p:cNvPicPr>
            <a:picLocks noChangeAspect="1"/>
          </p:cNvPicPr>
          <p:nvPr/>
        </p:nvPicPr>
        <p:blipFill>
          <a:blip r:embed="rId4"/>
          <a:stretch>
            <a:fillRect/>
          </a:stretch>
        </p:blipFill>
        <p:spPr>
          <a:xfrm>
            <a:off x="6777533" y="2205533"/>
            <a:ext cx="618134" cy="618134"/>
          </a:xfrm>
          <a:prstGeom prst="rect">
            <a:avLst/>
          </a:prstGeom>
        </p:spPr>
      </p:pic>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FONCTIONNEMENT · ÉTAPE 1 INDEXATION</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Transformer les documents en savoir interrogeable</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00704A"/>
          </a:solidFill>
          <a:ln w="12700">
            <a:solidFill>
              <a:srgbClr val="00704A"/>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694944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ATI · Big Data pour les statistiques macroéconomiques · Maurice, 26–30 oct. 2026   |   BAD · Data Innovation for Africa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20</a:t>
            </a:r>
            <a:endParaRPr lang="en-US" sz="850" dirty="0"/>
          </a:p>
        </p:txBody>
      </p:sp>
      <p:sp>
        <p:nvSpPr>
          <p:cNvPr id="17" name="Shape 14"/>
          <p:cNvSpPr/>
          <p:nvPr/>
        </p:nvSpPr>
        <p:spPr>
          <a:xfrm>
            <a:off x="457200" y="1325880"/>
            <a:ext cx="1920240" cy="2468880"/>
          </a:xfrm>
          <a:prstGeom prst="roundRect">
            <a:avLst>
              <a:gd name="adj" fmla="val 3810"/>
            </a:avLst>
          </a:prstGeom>
          <a:solidFill>
            <a:srgbClr val="F4F7F5"/>
          </a:solidFill>
          <a:ln w="9525">
            <a:solidFill>
              <a:srgbClr val="D5DED9"/>
            </a:solidFill>
            <a:prstDash val="solid"/>
          </a:ln>
        </p:spPr>
      </p:sp>
      <p:sp>
        <p:nvSpPr>
          <p:cNvPr id="18" name="Text 15"/>
          <p:cNvSpPr txBox="1"/>
          <p:nvPr/>
        </p:nvSpPr>
        <p:spPr>
          <a:xfrm>
            <a:off x="640080" y="1463040"/>
            <a:ext cx="914400" cy="457200"/>
          </a:xfrm>
          <a:prstGeom prst="rect">
            <a:avLst/>
          </a:prstGeom>
          <a:noFill/>
          <a:ln/>
        </p:spPr>
        <p:txBody>
          <a:bodyPr wrap="square" lIns="0" tIns="0" rIns="0" bIns="0" rtlCol="0" anchor="ctr"/>
          <a:lstStyle/>
          <a:p>
            <a:pPr marL="0" indent="0">
              <a:buNone/>
            </a:pPr>
            <a:r>
              <a:rPr lang="en-US" sz="3200" b="1" dirty="0">
                <a:solidFill>
                  <a:srgbClr val="7BCBA9"/>
                </a:solidFill>
                <a:latin typeface="Calibri" pitchFamily="34" charset="0"/>
                <a:ea typeface="Calibri" pitchFamily="34" charset="-122"/>
                <a:cs typeface="Calibri" pitchFamily="34" charset="-120"/>
              </a:rPr>
              <a:t>01</a:t>
            </a:r>
            <a:endParaRPr lang="en-US" sz="3200" dirty="0"/>
          </a:p>
        </p:txBody>
      </p:sp>
      <p:sp>
        <p:nvSpPr>
          <p:cNvPr id="19" name="Shape 16"/>
          <p:cNvSpPr/>
          <p:nvPr/>
        </p:nvSpPr>
        <p:spPr>
          <a:xfrm>
            <a:off x="1691640" y="1481328"/>
            <a:ext cx="502920" cy="502920"/>
          </a:xfrm>
          <a:prstGeom prst="ellipse">
            <a:avLst/>
          </a:prstGeom>
          <a:solidFill>
            <a:srgbClr val="00A86A">
              <a:alpha val="22000"/>
            </a:srgbClr>
          </a:solidFill>
          <a:ln w="12700">
            <a:solidFill>
              <a:srgbClr val="00A86A">
                <a:alpha val="0"/>
              </a:srgbClr>
            </a:solidFill>
            <a:prstDash val="solid"/>
          </a:ln>
        </p:spPr>
      </p:sp>
      <p:pic>
        <p:nvPicPr>
          <p:cNvPr id="20" name="Image 0" descr="preencoded.png"/>
          <p:cNvPicPr>
            <a:picLocks noChangeAspect="1"/>
          </p:cNvPicPr>
          <p:nvPr/>
        </p:nvPicPr>
        <p:blipFill>
          <a:blip r:embed="rId3"/>
          <a:stretch>
            <a:fillRect/>
          </a:stretch>
        </p:blipFill>
        <p:spPr>
          <a:xfrm>
            <a:off x="1812341" y="1602029"/>
            <a:ext cx="261518" cy="261518"/>
          </a:xfrm>
          <a:prstGeom prst="rect">
            <a:avLst/>
          </a:prstGeom>
        </p:spPr>
      </p:pic>
      <p:sp>
        <p:nvSpPr>
          <p:cNvPr id="21" name="Text 17"/>
          <p:cNvSpPr txBox="1"/>
          <p:nvPr/>
        </p:nvSpPr>
        <p:spPr>
          <a:xfrm>
            <a:off x="640080" y="2148840"/>
            <a:ext cx="1645920" cy="320040"/>
          </a:xfrm>
          <a:prstGeom prst="rect">
            <a:avLst/>
          </a:prstGeom>
          <a:noFill/>
          <a:ln/>
        </p:spPr>
        <p:txBody>
          <a:bodyPr wrap="square" lIns="0" tIns="0" rIns="0" bIns="0" rtlCol="0" anchor="ctr"/>
          <a:lstStyle/>
          <a:p>
            <a:pPr marL="0" indent="0">
              <a:buNone/>
            </a:pPr>
            <a:r>
              <a:rPr lang="en-US" sz="1500" b="1" dirty="0">
                <a:solidFill>
                  <a:srgbClr val="231F20"/>
                </a:solidFill>
                <a:latin typeface="Calibri" pitchFamily="34" charset="0"/>
                <a:ea typeface="Calibri" pitchFamily="34" charset="-122"/>
                <a:cs typeface="Calibri" pitchFamily="34" charset="-120"/>
              </a:rPr>
              <a:t>Charger &amp; extraire</a:t>
            </a:r>
            <a:endParaRPr lang="en-US" sz="1500" dirty="0"/>
          </a:p>
        </p:txBody>
      </p:sp>
      <p:sp>
        <p:nvSpPr>
          <p:cNvPr id="22" name="Text 18"/>
          <p:cNvSpPr txBox="1"/>
          <p:nvPr/>
        </p:nvSpPr>
        <p:spPr>
          <a:xfrm>
            <a:off x="640080" y="2560320"/>
            <a:ext cx="1600200" cy="1188720"/>
          </a:xfrm>
          <a:prstGeom prst="rect">
            <a:avLst/>
          </a:prstGeom>
          <a:noFill/>
          <a:ln/>
        </p:spPr>
        <p:txBody>
          <a:bodyPr wrap="square" lIns="0" tIns="0" rIns="0" bIns="0" rtlCol="0" anchor="t"/>
          <a:lstStyle/>
          <a:p>
            <a:pPr marL="0" indent="0">
              <a:buNone/>
            </a:pPr>
            <a:r>
              <a:rPr lang="en-US" sz="1150" dirty="0">
                <a:solidFill>
                  <a:srgbClr val="5E6964"/>
                </a:solidFill>
                <a:latin typeface="Calibri" pitchFamily="34" charset="0"/>
                <a:ea typeface="Calibri" pitchFamily="34" charset="-122"/>
                <a:cs typeface="Calibri" pitchFamily="34" charset="-120"/>
              </a:rPr>
              <a:t>Extraire un texte propre des PDF, pages HTML, fichiers Office, wikis et bases. Préserver tableaux et titres.</a:t>
            </a:r>
            <a:endParaRPr lang="en-US" sz="1150" dirty="0"/>
          </a:p>
        </p:txBody>
      </p:sp>
      <p:sp>
        <p:nvSpPr>
          <p:cNvPr id="23" name="Shape 19"/>
          <p:cNvSpPr/>
          <p:nvPr/>
        </p:nvSpPr>
        <p:spPr>
          <a:xfrm>
            <a:off x="2395728" y="2651760"/>
            <a:ext cx="146304" cy="914"/>
          </a:xfrm>
          <a:prstGeom prst="line">
            <a:avLst/>
          </a:prstGeom>
          <a:noFill/>
          <a:ln w="25400">
            <a:solidFill>
              <a:srgbClr val="5E6964"/>
            </a:solidFill>
            <a:prstDash val="solid"/>
            <a:tailEnd type="triangle"/>
          </a:ln>
        </p:spPr>
      </p:sp>
      <p:sp>
        <p:nvSpPr>
          <p:cNvPr id="24" name="Shape 20"/>
          <p:cNvSpPr/>
          <p:nvPr/>
        </p:nvSpPr>
        <p:spPr>
          <a:xfrm>
            <a:off x="2560320" y="1325880"/>
            <a:ext cx="1920240" cy="2468880"/>
          </a:xfrm>
          <a:prstGeom prst="roundRect">
            <a:avLst>
              <a:gd name="adj" fmla="val 3810"/>
            </a:avLst>
          </a:prstGeom>
          <a:solidFill>
            <a:srgbClr val="F4F7F5"/>
          </a:solidFill>
          <a:ln w="9525">
            <a:solidFill>
              <a:srgbClr val="D5DED9"/>
            </a:solidFill>
            <a:prstDash val="solid"/>
          </a:ln>
        </p:spPr>
      </p:sp>
      <p:sp>
        <p:nvSpPr>
          <p:cNvPr id="25" name="Text 21"/>
          <p:cNvSpPr txBox="1"/>
          <p:nvPr/>
        </p:nvSpPr>
        <p:spPr>
          <a:xfrm>
            <a:off x="2743200" y="1463040"/>
            <a:ext cx="914400" cy="457200"/>
          </a:xfrm>
          <a:prstGeom prst="rect">
            <a:avLst/>
          </a:prstGeom>
          <a:noFill/>
          <a:ln/>
        </p:spPr>
        <p:txBody>
          <a:bodyPr wrap="square" lIns="0" tIns="0" rIns="0" bIns="0" rtlCol="0" anchor="ctr"/>
          <a:lstStyle/>
          <a:p>
            <a:pPr marL="0" indent="0">
              <a:buNone/>
            </a:pPr>
            <a:r>
              <a:rPr lang="en-US" sz="3200" b="1" dirty="0">
                <a:solidFill>
                  <a:srgbClr val="33AF7C"/>
                </a:solidFill>
                <a:latin typeface="Calibri" pitchFamily="34" charset="0"/>
                <a:ea typeface="Calibri" pitchFamily="34" charset="-122"/>
                <a:cs typeface="Calibri" pitchFamily="34" charset="-120"/>
              </a:rPr>
              <a:t>02</a:t>
            </a:r>
            <a:endParaRPr lang="en-US" sz="3200" dirty="0"/>
          </a:p>
        </p:txBody>
      </p:sp>
      <p:sp>
        <p:nvSpPr>
          <p:cNvPr id="26" name="Shape 22"/>
          <p:cNvSpPr/>
          <p:nvPr/>
        </p:nvSpPr>
        <p:spPr>
          <a:xfrm>
            <a:off x="3794760" y="1481328"/>
            <a:ext cx="502920" cy="502920"/>
          </a:xfrm>
          <a:prstGeom prst="ellipse">
            <a:avLst/>
          </a:prstGeom>
          <a:solidFill>
            <a:srgbClr val="00A86A">
              <a:alpha val="22000"/>
            </a:srgbClr>
          </a:solidFill>
          <a:ln w="12700">
            <a:solidFill>
              <a:srgbClr val="00A86A">
                <a:alpha val="0"/>
              </a:srgbClr>
            </a:solidFill>
            <a:prstDash val="solid"/>
          </a:ln>
        </p:spPr>
      </p:sp>
      <p:pic>
        <p:nvPicPr>
          <p:cNvPr id="27" name="Image 1" descr="preencoded.png"/>
          <p:cNvPicPr>
            <a:picLocks noChangeAspect="1"/>
          </p:cNvPicPr>
          <p:nvPr/>
        </p:nvPicPr>
        <p:blipFill>
          <a:blip r:embed="rId4"/>
          <a:stretch>
            <a:fillRect/>
          </a:stretch>
        </p:blipFill>
        <p:spPr>
          <a:xfrm>
            <a:off x="3915461" y="1602029"/>
            <a:ext cx="261518" cy="261518"/>
          </a:xfrm>
          <a:prstGeom prst="rect">
            <a:avLst/>
          </a:prstGeom>
        </p:spPr>
      </p:pic>
      <p:sp>
        <p:nvSpPr>
          <p:cNvPr id="28" name="Text 23"/>
          <p:cNvSpPr txBox="1"/>
          <p:nvPr/>
        </p:nvSpPr>
        <p:spPr>
          <a:xfrm>
            <a:off x="2743200" y="2148840"/>
            <a:ext cx="1645920" cy="320040"/>
          </a:xfrm>
          <a:prstGeom prst="rect">
            <a:avLst/>
          </a:prstGeom>
          <a:noFill/>
          <a:ln/>
        </p:spPr>
        <p:txBody>
          <a:bodyPr wrap="square" lIns="0" tIns="0" rIns="0" bIns="0" rtlCol="0" anchor="ctr"/>
          <a:lstStyle/>
          <a:p>
            <a:pPr marL="0" indent="0">
              <a:buNone/>
            </a:pPr>
            <a:r>
              <a:rPr lang="en-US" sz="1500" b="1" dirty="0">
                <a:solidFill>
                  <a:srgbClr val="231F20"/>
                </a:solidFill>
                <a:latin typeface="Calibri" pitchFamily="34" charset="0"/>
                <a:ea typeface="Calibri" pitchFamily="34" charset="-122"/>
                <a:cs typeface="Calibri" pitchFamily="34" charset="-120"/>
              </a:rPr>
              <a:t>Découper</a:t>
            </a:r>
            <a:endParaRPr lang="en-US" sz="1500" dirty="0"/>
          </a:p>
        </p:txBody>
      </p:sp>
      <p:sp>
        <p:nvSpPr>
          <p:cNvPr id="29" name="Text 24"/>
          <p:cNvSpPr txBox="1"/>
          <p:nvPr/>
        </p:nvSpPr>
        <p:spPr>
          <a:xfrm>
            <a:off x="2743200" y="2560320"/>
            <a:ext cx="1600200" cy="1188720"/>
          </a:xfrm>
          <a:prstGeom prst="rect">
            <a:avLst/>
          </a:prstGeom>
          <a:noFill/>
          <a:ln/>
        </p:spPr>
        <p:txBody>
          <a:bodyPr wrap="square" lIns="0" tIns="0" rIns="0" bIns="0" rtlCol="0" anchor="t"/>
          <a:lstStyle/>
          <a:p>
            <a:pPr marL="0" indent="0">
              <a:buNone/>
            </a:pPr>
            <a:r>
              <a:rPr lang="en-US" sz="1150" dirty="0">
                <a:solidFill>
                  <a:srgbClr val="5E6964"/>
                </a:solidFill>
                <a:latin typeface="Calibri" pitchFamily="34" charset="0"/>
                <a:ea typeface="Calibri" pitchFamily="34" charset="-122"/>
                <a:cs typeface="Calibri" pitchFamily="34" charset="-120"/>
              </a:rPr>
              <a:t>Diviser le texte en passages adaptés à la recherche, souvent quelques centaines de tokens, avec chevauchement.</a:t>
            </a:r>
            <a:endParaRPr lang="en-US" sz="1150" dirty="0"/>
          </a:p>
        </p:txBody>
      </p:sp>
      <p:sp>
        <p:nvSpPr>
          <p:cNvPr id="30" name="Shape 25"/>
          <p:cNvSpPr/>
          <p:nvPr/>
        </p:nvSpPr>
        <p:spPr>
          <a:xfrm>
            <a:off x="4498848" y="2651760"/>
            <a:ext cx="146304" cy="914"/>
          </a:xfrm>
          <a:prstGeom prst="line">
            <a:avLst/>
          </a:prstGeom>
          <a:noFill/>
          <a:ln w="25400">
            <a:solidFill>
              <a:srgbClr val="5E6964"/>
            </a:solidFill>
            <a:prstDash val="solid"/>
            <a:tailEnd type="triangle"/>
          </a:ln>
        </p:spPr>
      </p:sp>
      <p:sp>
        <p:nvSpPr>
          <p:cNvPr id="31" name="Shape 26"/>
          <p:cNvSpPr/>
          <p:nvPr/>
        </p:nvSpPr>
        <p:spPr>
          <a:xfrm>
            <a:off x="4663440" y="1325880"/>
            <a:ext cx="1920240" cy="2468880"/>
          </a:xfrm>
          <a:prstGeom prst="roundRect">
            <a:avLst>
              <a:gd name="adj" fmla="val 3810"/>
            </a:avLst>
          </a:prstGeom>
          <a:solidFill>
            <a:srgbClr val="F4F7F5"/>
          </a:solidFill>
          <a:ln w="9525">
            <a:solidFill>
              <a:srgbClr val="D5DED9"/>
            </a:solidFill>
            <a:prstDash val="solid"/>
          </a:ln>
        </p:spPr>
      </p:sp>
      <p:sp>
        <p:nvSpPr>
          <p:cNvPr id="32" name="Text 27"/>
          <p:cNvSpPr txBox="1"/>
          <p:nvPr/>
        </p:nvSpPr>
        <p:spPr>
          <a:xfrm>
            <a:off x="4846320" y="1463040"/>
            <a:ext cx="914400" cy="457200"/>
          </a:xfrm>
          <a:prstGeom prst="rect">
            <a:avLst/>
          </a:prstGeom>
          <a:noFill/>
          <a:ln/>
        </p:spPr>
        <p:txBody>
          <a:bodyPr wrap="square" lIns="0" tIns="0" rIns="0" bIns="0" rtlCol="0" anchor="ctr"/>
          <a:lstStyle/>
          <a:p>
            <a:pPr marL="0" indent="0">
              <a:buNone/>
            </a:pPr>
            <a:r>
              <a:rPr lang="en-US" sz="3200" b="1" dirty="0">
                <a:solidFill>
                  <a:srgbClr val="008A5B"/>
                </a:solidFill>
                <a:latin typeface="Calibri" pitchFamily="34" charset="0"/>
                <a:ea typeface="Calibri" pitchFamily="34" charset="-122"/>
                <a:cs typeface="Calibri" pitchFamily="34" charset="-120"/>
              </a:rPr>
              <a:t>03</a:t>
            </a:r>
            <a:endParaRPr lang="en-US" sz="3200" dirty="0"/>
          </a:p>
        </p:txBody>
      </p:sp>
      <p:sp>
        <p:nvSpPr>
          <p:cNvPr id="33" name="Shape 28"/>
          <p:cNvSpPr/>
          <p:nvPr/>
        </p:nvSpPr>
        <p:spPr>
          <a:xfrm>
            <a:off x="5897880" y="1481328"/>
            <a:ext cx="502920" cy="502920"/>
          </a:xfrm>
          <a:prstGeom prst="ellipse">
            <a:avLst/>
          </a:prstGeom>
          <a:solidFill>
            <a:srgbClr val="00A86A">
              <a:alpha val="22000"/>
            </a:srgbClr>
          </a:solidFill>
          <a:ln w="12700">
            <a:solidFill>
              <a:srgbClr val="00A86A">
                <a:alpha val="0"/>
              </a:srgbClr>
            </a:solidFill>
            <a:prstDash val="solid"/>
          </a:ln>
        </p:spPr>
      </p:sp>
      <p:pic>
        <p:nvPicPr>
          <p:cNvPr id="34" name="Image 2" descr="preencoded.png"/>
          <p:cNvPicPr>
            <a:picLocks noChangeAspect="1"/>
          </p:cNvPicPr>
          <p:nvPr/>
        </p:nvPicPr>
        <p:blipFill>
          <a:blip r:embed="rId5"/>
          <a:stretch>
            <a:fillRect/>
          </a:stretch>
        </p:blipFill>
        <p:spPr>
          <a:xfrm>
            <a:off x="6018581" y="1602029"/>
            <a:ext cx="261518" cy="261518"/>
          </a:xfrm>
          <a:prstGeom prst="rect">
            <a:avLst/>
          </a:prstGeom>
        </p:spPr>
      </p:pic>
      <p:sp>
        <p:nvSpPr>
          <p:cNvPr id="35" name="Text 29"/>
          <p:cNvSpPr txBox="1"/>
          <p:nvPr/>
        </p:nvSpPr>
        <p:spPr>
          <a:xfrm>
            <a:off x="4846320" y="2148840"/>
            <a:ext cx="1645920" cy="320040"/>
          </a:xfrm>
          <a:prstGeom prst="rect">
            <a:avLst/>
          </a:prstGeom>
          <a:noFill/>
          <a:ln/>
        </p:spPr>
        <p:txBody>
          <a:bodyPr wrap="square" lIns="0" tIns="0" rIns="0" bIns="0" rtlCol="0" anchor="ctr"/>
          <a:lstStyle/>
          <a:p>
            <a:pPr marL="0" indent="0">
              <a:buNone/>
            </a:pPr>
            <a:r>
              <a:rPr lang="en-US" sz="1500" b="1" dirty="0">
                <a:solidFill>
                  <a:srgbClr val="231F20"/>
                </a:solidFill>
                <a:latin typeface="Calibri" pitchFamily="34" charset="0"/>
                <a:ea typeface="Calibri" pitchFamily="34" charset="-122"/>
                <a:cs typeface="Calibri" pitchFamily="34" charset="-120"/>
              </a:rPr>
              <a:t>Encoder</a:t>
            </a:r>
            <a:endParaRPr lang="en-US" sz="1500" dirty="0"/>
          </a:p>
        </p:txBody>
      </p:sp>
      <p:sp>
        <p:nvSpPr>
          <p:cNvPr id="36" name="Text 30"/>
          <p:cNvSpPr txBox="1"/>
          <p:nvPr/>
        </p:nvSpPr>
        <p:spPr>
          <a:xfrm>
            <a:off x="4846320" y="2560320"/>
            <a:ext cx="1600200" cy="1188720"/>
          </a:xfrm>
          <a:prstGeom prst="rect">
            <a:avLst/>
          </a:prstGeom>
          <a:noFill/>
          <a:ln/>
        </p:spPr>
        <p:txBody>
          <a:bodyPr wrap="square" lIns="0" tIns="0" rIns="0" bIns="0" rtlCol="0" anchor="t"/>
          <a:lstStyle/>
          <a:p>
            <a:pPr marL="0" indent="0">
              <a:buNone/>
            </a:pPr>
            <a:r>
              <a:rPr lang="en-US" sz="1150" dirty="0">
                <a:solidFill>
                  <a:srgbClr val="5E6964"/>
                </a:solidFill>
                <a:latin typeface="Calibri" pitchFamily="34" charset="0"/>
                <a:ea typeface="Calibri" pitchFamily="34" charset="-122"/>
                <a:cs typeface="Calibri" pitchFamily="34" charset="-120"/>
              </a:rPr>
              <a:t>Un modèle d'embedding transforme chaque fragment en un vecteur dense qui capture son sens.</a:t>
            </a:r>
            <a:endParaRPr lang="en-US" sz="1150" dirty="0"/>
          </a:p>
        </p:txBody>
      </p:sp>
      <p:sp>
        <p:nvSpPr>
          <p:cNvPr id="37" name="Shape 31"/>
          <p:cNvSpPr/>
          <p:nvPr/>
        </p:nvSpPr>
        <p:spPr>
          <a:xfrm>
            <a:off x="6601968" y="2651760"/>
            <a:ext cx="146304" cy="914"/>
          </a:xfrm>
          <a:prstGeom prst="line">
            <a:avLst/>
          </a:prstGeom>
          <a:noFill/>
          <a:ln w="25400">
            <a:solidFill>
              <a:srgbClr val="5E6964"/>
            </a:solidFill>
            <a:prstDash val="solid"/>
            <a:tailEnd type="triangle"/>
          </a:ln>
        </p:spPr>
      </p:sp>
      <p:sp>
        <p:nvSpPr>
          <p:cNvPr id="38" name="Shape 32"/>
          <p:cNvSpPr/>
          <p:nvPr/>
        </p:nvSpPr>
        <p:spPr>
          <a:xfrm>
            <a:off x="6766560" y="1325880"/>
            <a:ext cx="1920240" cy="2468880"/>
          </a:xfrm>
          <a:prstGeom prst="roundRect">
            <a:avLst>
              <a:gd name="adj" fmla="val 3810"/>
            </a:avLst>
          </a:prstGeom>
          <a:solidFill>
            <a:srgbClr val="F4F7F5"/>
          </a:solidFill>
          <a:ln w="9525">
            <a:solidFill>
              <a:srgbClr val="D5DED9"/>
            </a:solidFill>
            <a:prstDash val="solid"/>
          </a:ln>
        </p:spPr>
      </p:sp>
      <p:sp>
        <p:nvSpPr>
          <p:cNvPr id="39" name="Text 33"/>
          <p:cNvSpPr txBox="1"/>
          <p:nvPr/>
        </p:nvSpPr>
        <p:spPr>
          <a:xfrm>
            <a:off x="6949440" y="1463040"/>
            <a:ext cx="914400" cy="457200"/>
          </a:xfrm>
          <a:prstGeom prst="rect">
            <a:avLst/>
          </a:prstGeom>
          <a:noFill/>
          <a:ln/>
        </p:spPr>
        <p:txBody>
          <a:bodyPr wrap="square" lIns="0" tIns="0" rIns="0" bIns="0" rtlCol="0" anchor="ctr"/>
          <a:lstStyle/>
          <a:p>
            <a:pPr marL="0" indent="0">
              <a:buNone/>
            </a:pPr>
            <a:r>
              <a:rPr lang="en-US" sz="3200" b="1" dirty="0">
                <a:solidFill>
                  <a:srgbClr val="00664A"/>
                </a:solidFill>
                <a:latin typeface="Calibri" pitchFamily="34" charset="0"/>
                <a:ea typeface="Calibri" pitchFamily="34" charset="-122"/>
                <a:cs typeface="Calibri" pitchFamily="34" charset="-120"/>
              </a:rPr>
              <a:t>04</a:t>
            </a:r>
            <a:endParaRPr lang="en-US" sz="3200" dirty="0"/>
          </a:p>
        </p:txBody>
      </p:sp>
      <p:sp>
        <p:nvSpPr>
          <p:cNvPr id="40" name="Shape 34"/>
          <p:cNvSpPr/>
          <p:nvPr/>
        </p:nvSpPr>
        <p:spPr>
          <a:xfrm>
            <a:off x="8001000" y="1481328"/>
            <a:ext cx="502920" cy="502920"/>
          </a:xfrm>
          <a:prstGeom prst="ellipse">
            <a:avLst/>
          </a:prstGeom>
          <a:solidFill>
            <a:srgbClr val="00A86A">
              <a:alpha val="22000"/>
            </a:srgbClr>
          </a:solidFill>
          <a:ln w="12700">
            <a:solidFill>
              <a:srgbClr val="00A86A">
                <a:alpha val="0"/>
              </a:srgbClr>
            </a:solidFill>
            <a:prstDash val="solid"/>
          </a:ln>
        </p:spPr>
      </p:sp>
      <p:pic>
        <p:nvPicPr>
          <p:cNvPr id="41" name="Image 3" descr="preencoded.png"/>
          <p:cNvPicPr>
            <a:picLocks noChangeAspect="1"/>
          </p:cNvPicPr>
          <p:nvPr/>
        </p:nvPicPr>
        <p:blipFill>
          <a:blip r:embed="rId6"/>
          <a:stretch>
            <a:fillRect/>
          </a:stretch>
        </p:blipFill>
        <p:spPr>
          <a:xfrm>
            <a:off x="8121701" y="1602029"/>
            <a:ext cx="261518" cy="261518"/>
          </a:xfrm>
          <a:prstGeom prst="rect">
            <a:avLst/>
          </a:prstGeom>
        </p:spPr>
      </p:pic>
      <p:sp>
        <p:nvSpPr>
          <p:cNvPr id="42" name="Text 35"/>
          <p:cNvSpPr txBox="1"/>
          <p:nvPr/>
        </p:nvSpPr>
        <p:spPr>
          <a:xfrm>
            <a:off x="6949440" y="2148840"/>
            <a:ext cx="1645920" cy="320040"/>
          </a:xfrm>
          <a:prstGeom prst="rect">
            <a:avLst/>
          </a:prstGeom>
          <a:noFill/>
          <a:ln/>
        </p:spPr>
        <p:txBody>
          <a:bodyPr wrap="square" lIns="0" tIns="0" rIns="0" bIns="0" rtlCol="0" anchor="ctr"/>
          <a:lstStyle/>
          <a:p>
            <a:pPr marL="0" indent="0">
              <a:buNone/>
            </a:pPr>
            <a:r>
              <a:rPr lang="en-US" sz="1500" b="1" dirty="0">
                <a:solidFill>
                  <a:srgbClr val="231F20"/>
                </a:solidFill>
                <a:latin typeface="Calibri" pitchFamily="34" charset="0"/>
                <a:ea typeface="Calibri" pitchFamily="34" charset="-122"/>
                <a:cs typeface="Calibri" pitchFamily="34" charset="-120"/>
              </a:rPr>
              <a:t>Stocker &amp; indexer</a:t>
            </a:r>
            <a:endParaRPr lang="en-US" sz="1500" dirty="0"/>
          </a:p>
        </p:txBody>
      </p:sp>
      <p:sp>
        <p:nvSpPr>
          <p:cNvPr id="43" name="Text 36"/>
          <p:cNvSpPr txBox="1"/>
          <p:nvPr/>
        </p:nvSpPr>
        <p:spPr>
          <a:xfrm>
            <a:off x="6949440" y="2560320"/>
            <a:ext cx="1600200" cy="1188720"/>
          </a:xfrm>
          <a:prstGeom prst="rect">
            <a:avLst/>
          </a:prstGeom>
          <a:noFill/>
          <a:ln/>
        </p:spPr>
        <p:txBody>
          <a:bodyPr wrap="square" lIns="0" tIns="0" rIns="0" bIns="0" rtlCol="0" anchor="t"/>
          <a:lstStyle/>
          <a:p>
            <a:pPr marL="0" indent="0">
              <a:buNone/>
            </a:pPr>
            <a:r>
              <a:rPr lang="en-US" sz="1150" dirty="0">
                <a:solidFill>
                  <a:srgbClr val="5E6964"/>
                </a:solidFill>
                <a:latin typeface="Calibri" pitchFamily="34" charset="0"/>
                <a:ea typeface="Calibri" pitchFamily="34" charset="-122"/>
                <a:cs typeface="Calibri" pitchFamily="34" charset="-120"/>
              </a:rPr>
              <a:t>Enregistrer vecteurs + texte + métadonnées (source, date, droits d'accès) dans un index vectoriel.</a:t>
            </a:r>
            <a:endParaRPr lang="en-US" sz="1150" dirty="0"/>
          </a:p>
        </p:txBody>
      </p:sp>
      <p:sp>
        <p:nvSpPr>
          <p:cNvPr id="44" name="Shape 37"/>
          <p:cNvSpPr/>
          <p:nvPr/>
        </p:nvSpPr>
        <p:spPr>
          <a:xfrm>
            <a:off x="457200" y="4023360"/>
            <a:ext cx="8229600" cy="603504"/>
          </a:xfrm>
          <a:prstGeom prst="roundRect">
            <a:avLst>
              <a:gd name="adj" fmla="val 12121"/>
            </a:avLst>
          </a:prstGeom>
          <a:solidFill>
            <a:srgbClr val="D49A00">
              <a:alpha val="13000"/>
            </a:srgbClr>
          </a:solidFill>
          <a:ln w="9525">
            <a:solidFill>
              <a:srgbClr val="D49A00"/>
            </a:solidFill>
            <a:prstDash val="solid"/>
          </a:ln>
        </p:spPr>
      </p:sp>
      <p:pic>
        <p:nvPicPr>
          <p:cNvPr id="45" name="Image 4" descr="preencoded.png"/>
          <p:cNvPicPr>
            <a:picLocks noChangeAspect="1"/>
          </p:cNvPicPr>
          <p:nvPr/>
        </p:nvPicPr>
        <p:blipFill>
          <a:blip r:embed="rId7"/>
          <a:stretch>
            <a:fillRect/>
          </a:stretch>
        </p:blipFill>
        <p:spPr>
          <a:xfrm>
            <a:off x="621792" y="4197096"/>
            <a:ext cx="256032" cy="256032"/>
          </a:xfrm>
          <a:prstGeom prst="rect">
            <a:avLst/>
          </a:prstGeom>
        </p:spPr>
      </p:pic>
      <p:sp>
        <p:nvSpPr>
          <p:cNvPr id="46" name="Text 38"/>
          <p:cNvSpPr txBox="1"/>
          <p:nvPr/>
        </p:nvSpPr>
        <p:spPr>
          <a:xfrm>
            <a:off x="1005840" y="4023360"/>
            <a:ext cx="7498080" cy="603504"/>
          </a:xfrm>
          <a:prstGeom prst="rect">
            <a:avLst/>
          </a:prstGeom>
          <a:noFill/>
          <a:ln/>
        </p:spPr>
        <p:txBody>
          <a:bodyPr wrap="square" lIns="0" tIns="0" rIns="0" bIns="0" rtlCol="0" anchor="ctr"/>
          <a:lstStyle/>
          <a:p>
            <a:pPr marL="0" indent="0">
              <a:buNone/>
            </a:pPr>
            <a:r>
              <a:rPr lang="en-US" sz="1250" b="1" dirty="0">
                <a:solidFill>
                  <a:srgbClr val="D49A00"/>
                </a:solidFill>
                <a:latin typeface="Calibri" pitchFamily="34" charset="0"/>
                <a:ea typeface="Calibri" pitchFamily="34" charset="-122"/>
                <a:cs typeface="Calibri" pitchFamily="34" charset="-120"/>
              </a:rPr>
              <a:t>Règle clé : </a:t>
            </a:r>
            <a:r>
              <a:rPr lang="en-US" sz="1250" dirty="0">
                <a:solidFill>
                  <a:srgbClr val="231F20"/>
                </a:solidFill>
                <a:latin typeface="Calibri" pitchFamily="34" charset="0"/>
                <a:ea typeface="Calibri" pitchFamily="34" charset="-122"/>
                <a:cs typeface="Calibri" pitchFamily="34" charset="-120"/>
              </a:rPr>
              <a:t>utiliser le même modèle d'embedding pour les documents et les requêtes — sinon les vecteurs ne sont pas comparables.</a:t>
            </a:r>
            <a:endParaRPr lang="en-US" sz="1250" dirty="0"/>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FONCTIONNEMENT · DÉCOUPAGE</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Le choix de conception le plus sous-estimé</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00704A"/>
          </a:solidFill>
          <a:ln w="12700">
            <a:solidFill>
              <a:srgbClr val="00704A"/>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694944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ATI · Big Data pour les statistiques macroéconomiques · Maurice, 26–30 oct. 2026   |   BAD · Data Innovation for Africa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21</a:t>
            </a:r>
            <a:endParaRPr lang="en-US" sz="850" dirty="0"/>
          </a:p>
        </p:txBody>
      </p:sp>
      <p:sp>
        <p:nvSpPr>
          <p:cNvPr id="17" name="Shape 14"/>
          <p:cNvSpPr/>
          <p:nvPr/>
        </p:nvSpPr>
        <p:spPr>
          <a:xfrm>
            <a:off x="457200" y="1325880"/>
            <a:ext cx="3017520" cy="3337560"/>
          </a:xfrm>
          <a:prstGeom prst="roundRect">
            <a:avLst>
              <a:gd name="adj" fmla="val 2424"/>
            </a:avLst>
          </a:prstGeom>
          <a:solidFill>
            <a:srgbClr val="F4F7F5"/>
          </a:solidFill>
          <a:ln w="9525">
            <a:solidFill>
              <a:srgbClr val="D5DED9"/>
            </a:solidFill>
            <a:prstDash val="solid"/>
          </a:ln>
        </p:spPr>
      </p:sp>
      <p:sp>
        <p:nvSpPr>
          <p:cNvPr id="18" name="Text 15"/>
          <p:cNvSpPr txBox="1"/>
          <p:nvPr/>
        </p:nvSpPr>
        <p:spPr>
          <a:xfrm>
            <a:off x="640080" y="1435608"/>
            <a:ext cx="2743200" cy="274320"/>
          </a:xfrm>
          <a:prstGeom prst="rect">
            <a:avLst/>
          </a:prstGeom>
          <a:noFill/>
          <a:ln/>
        </p:spPr>
        <p:txBody>
          <a:bodyPr wrap="square" lIns="0" tIns="0" rIns="0" bIns="0" rtlCol="0" anchor="ctr"/>
          <a:lstStyle/>
          <a:p>
            <a:pPr marL="0" indent="0">
              <a:buNone/>
            </a:pPr>
            <a:r>
              <a:rPr lang="en-US" sz="1100" b="1" dirty="0">
                <a:solidFill>
                  <a:srgbClr val="5E6964"/>
                </a:solidFill>
                <a:latin typeface="Calibri" pitchFamily="34" charset="0"/>
                <a:ea typeface="Calibri" pitchFamily="34" charset="-122"/>
                <a:cs typeface="Calibri" pitchFamily="34" charset="-120"/>
              </a:rPr>
              <a:t>Fragments de taille fixe avec chevauchement</a:t>
            </a:r>
            <a:endParaRPr lang="en-US" sz="1100" dirty="0"/>
          </a:p>
        </p:txBody>
      </p:sp>
      <p:sp>
        <p:nvSpPr>
          <p:cNvPr id="19" name="Shape 16"/>
          <p:cNvSpPr/>
          <p:nvPr/>
        </p:nvSpPr>
        <p:spPr>
          <a:xfrm>
            <a:off x="822960" y="1828800"/>
            <a:ext cx="1463040" cy="2331720"/>
          </a:xfrm>
          <a:prstGeom prst="rect">
            <a:avLst/>
          </a:prstGeom>
          <a:solidFill>
            <a:srgbClr val="FFFFFF"/>
          </a:solidFill>
          <a:ln w="12700">
            <a:solidFill>
              <a:srgbClr val="D5DED9"/>
            </a:solidFill>
            <a:prstDash val="solid"/>
          </a:ln>
        </p:spPr>
      </p:sp>
      <p:sp>
        <p:nvSpPr>
          <p:cNvPr id="20" name="Shape 17"/>
          <p:cNvSpPr/>
          <p:nvPr/>
        </p:nvSpPr>
        <p:spPr>
          <a:xfrm>
            <a:off x="932688" y="1938528"/>
            <a:ext cx="1243584" cy="54864"/>
          </a:xfrm>
          <a:prstGeom prst="rect">
            <a:avLst/>
          </a:prstGeom>
          <a:solidFill>
            <a:srgbClr val="D5DED9"/>
          </a:solidFill>
          <a:ln w="12700">
            <a:solidFill>
              <a:srgbClr val="D5DED9"/>
            </a:solidFill>
            <a:prstDash val="solid"/>
          </a:ln>
        </p:spPr>
      </p:sp>
      <p:sp>
        <p:nvSpPr>
          <p:cNvPr id="21" name="Shape 18"/>
          <p:cNvSpPr/>
          <p:nvPr/>
        </p:nvSpPr>
        <p:spPr>
          <a:xfrm>
            <a:off x="932688" y="2121408"/>
            <a:ext cx="1243584" cy="54864"/>
          </a:xfrm>
          <a:prstGeom prst="rect">
            <a:avLst/>
          </a:prstGeom>
          <a:solidFill>
            <a:srgbClr val="D5DED9"/>
          </a:solidFill>
          <a:ln w="12700">
            <a:solidFill>
              <a:srgbClr val="D5DED9"/>
            </a:solidFill>
            <a:prstDash val="solid"/>
          </a:ln>
        </p:spPr>
      </p:sp>
      <p:sp>
        <p:nvSpPr>
          <p:cNvPr id="22" name="Shape 19"/>
          <p:cNvSpPr/>
          <p:nvPr/>
        </p:nvSpPr>
        <p:spPr>
          <a:xfrm>
            <a:off x="932688" y="2304288"/>
            <a:ext cx="1243584" cy="54864"/>
          </a:xfrm>
          <a:prstGeom prst="rect">
            <a:avLst/>
          </a:prstGeom>
          <a:solidFill>
            <a:srgbClr val="D5DED9"/>
          </a:solidFill>
          <a:ln w="12700">
            <a:solidFill>
              <a:srgbClr val="D5DED9"/>
            </a:solidFill>
            <a:prstDash val="solid"/>
          </a:ln>
        </p:spPr>
      </p:sp>
      <p:sp>
        <p:nvSpPr>
          <p:cNvPr id="23" name="Shape 20"/>
          <p:cNvSpPr/>
          <p:nvPr/>
        </p:nvSpPr>
        <p:spPr>
          <a:xfrm>
            <a:off x="932688" y="2487168"/>
            <a:ext cx="822960" cy="54864"/>
          </a:xfrm>
          <a:prstGeom prst="rect">
            <a:avLst/>
          </a:prstGeom>
          <a:solidFill>
            <a:srgbClr val="D5DED9"/>
          </a:solidFill>
          <a:ln w="12700">
            <a:solidFill>
              <a:srgbClr val="D5DED9"/>
            </a:solidFill>
            <a:prstDash val="solid"/>
          </a:ln>
        </p:spPr>
      </p:sp>
      <p:sp>
        <p:nvSpPr>
          <p:cNvPr id="24" name="Shape 21"/>
          <p:cNvSpPr/>
          <p:nvPr/>
        </p:nvSpPr>
        <p:spPr>
          <a:xfrm>
            <a:off x="932688" y="2670048"/>
            <a:ext cx="1243584" cy="54864"/>
          </a:xfrm>
          <a:prstGeom prst="rect">
            <a:avLst/>
          </a:prstGeom>
          <a:solidFill>
            <a:srgbClr val="D5DED9"/>
          </a:solidFill>
          <a:ln w="12700">
            <a:solidFill>
              <a:srgbClr val="D5DED9"/>
            </a:solidFill>
            <a:prstDash val="solid"/>
          </a:ln>
        </p:spPr>
      </p:sp>
      <p:sp>
        <p:nvSpPr>
          <p:cNvPr id="25" name="Shape 22"/>
          <p:cNvSpPr/>
          <p:nvPr/>
        </p:nvSpPr>
        <p:spPr>
          <a:xfrm>
            <a:off x="932688" y="2852928"/>
            <a:ext cx="1243584" cy="54864"/>
          </a:xfrm>
          <a:prstGeom prst="rect">
            <a:avLst/>
          </a:prstGeom>
          <a:solidFill>
            <a:srgbClr val="D5DED9"/>
          </a:solidFill>
          <a:ln w="12700">
            <a:solidFill>
              <a:srgbClr val="D5DED9"/>
            </a:solidFill>
            <a:prstDash val="solid"/>
          </a:ln>
        </p:spPr>
      </p:sp>
      <p:sp>
        <p:nvSpPr>
          <p:cNvPr id="26" name="Shape 23"/>
          <p:cNvSpPr/>
          <p:nvPr/>
        </p:nvSpPr>
        <p:spPr>
          <a:xfrm>
            <a:off x="932688" y="3035808"/>
            <a:ext cx="1243584" cy="54864"/>
          </a:xfrm>
          <a:prstGeom prst="rect">
            <a:avLst/>
          </a:prstGeom>
          <a:solidFill>
            <a:srgbClr val="D5DED9"/>
          </a:solidFill>
          <a:ln w="12700">
            <a:solidFill>
              <a:srgbClr val="D5DED9"/>
            </a:solidFill>
            <a:prstDash val="solid"/>
          </a:ln>
        </p:spPr>
      </p:sp>
      <p:sp>
        <p:nvSpPr>
          <p:cNvPr id="27" name="Shape 24"/>
          <p:cNvSpPr/>
          <p:nvPr/>
        </p:nvSpPr>
        <p:spPr>
          <a:xfrm>
            <a:off x="932688" y="3218688"/>
            <a:ext cx="822960" cy="54864"/>
          </a:xfrm>
          <a:prstGeom prst="rect">
            <a:avLst/>
          </a:prstGeom>
          <a:solidFill>
            <a:srgbClr val="D5DED9"/>
          </a:solidFill>
          <a:ln w="12700">
            <a:solidFill>
              <a:srgbClr val="D5DED9"/>
            </a:solidFill>
            <a:prstDash val="solid"/>
          </a:ln>
        </p:spPr>
      </p:sp>
      <p:sp>
        <p:nvSpPr>
          <p:cNvPr id="28" name="Shape 25"/>
          <p:cNvSpPr/>
          <p:nvPr/>
        </p:nvSpPr>
        <p:spPr>
          <a:xfrm>
            <a:off x="932688" y="3401568"/>
            <a:ext cx="1243584" cy="54864"/>
          </a:xfrm>
          <a:prstGeom prst="rect">
            <a:avLst/>
          </a:prstGeom>
          <a:solidFill>
            <a:srgbClr val="D5DED9"/>
          </a:solidFill>
          <a:ln w="12700">
            <a:solidFill>
              <a:srgbClr val="D5DED9"/>
            </a:solidFill>
            <a:prstDash val="solid"/>
          </a:ln>
        </p:spPr>
      </p:sp>
      <p:sp>
        <p:nvSpPr>
          <p:cNvPr id="29" name="Shape 26"/>
          <p:cNvSpPr/>
          <p:nvPr/>
        </p:nvSpPr>
        <p:spPr>
          <a:xfrm>
            <a:off x="932688" y="3584448"/>
            <a:ext cx="1243584" cy="54864"/>
          </a:xfrm>
          <a:prstGeom prst="rect">
            <a:avLst/>
          </a:prstGeom>
          <a:solidFill>
            <a:srgbClr val="D5DED9"/>
          </a:solidFill>
          <a:ln w="12700">
            <a:solidFill>
              <a:srgbClr val="D5DED9"/>
            </a:solidFill>
            <a:prstDash val="solid"/>
          </a:ln>
        </p:spPr>
      </p:sp>
      <p:sp>
        <p:nvSpPr>
          <p:cNvPr id="30" name="Shape 27"/>
          <p:cNvSpPr/>
          <p:nvPr/>
        </p:nvSpPr>
        <p:spPr>
          <a:xfrm>
            <a:off x="932688" y="3767328"/>
            <a:ext cx="1243584" cy="54864"/>
          </a:xfrm>
          <a:prstGeom prst="rect">
            <a:avLst/>
          </a:prstGeom>
          <a:solidFill>
            <a:srgbClr val="D5DED9"/>
          </a:solidFill>
          <a:ln w="12700">
            <a:solidFill>
              <a:srgbClr val="D5DED9"/>
            </a:solidFill>
            <a:prstDash val="solid"/>
          </a:ln>
        </p:spPr>
      </p:sp>
      <p:sp>
        <p:nvSpPr>
          <p:cNvPr id="31" name="Shape 28"/>
          <p:cNvSpPr/>
          <p:nvPr/>
        </p:nvSpPr>
        <p:spPr>
          <a:xfrm>
            <a:off x="932688" y="3950208"/>
            <a:ext cx="822960" cy="54864"/>
          </a:xfrm>
          <a:prstGeom prst="rect">
            <a:avLst/>
          </a:prstGeom>
          <a:solidFill>
            <a:srgbClr val="D5DED9"/>
          </a:solidFill>
          <a:ln w="12700">
            <a:solidFill>
              <a:srgbClr val="D5DED9"/>
            </a:solidFill>
            <a:prstDash val="solid"/>
          </a:ln>
        </p:spPr>
      </p:sp>
      <p:sp>
        <p:nvSpPr>
          <p:cNvPr id="32" name="Shape 29"/>
          <p:cNvSpPr/>
          <p:nvPr/>
        </p:nvSpPr>
        <p:spPr>
          <a:xfrm>
            <a:off x="2468880" y="1874520"/>
            <a:ext cx="128016" cy="877824"/>
          </a:xfrm>
          <a:prstGeom prst="rect">
            <a:avLst/>
          </a:prstGeom>
          <a:solidFill>
            <a:srgbClr val="00A86A">
              <a:alpha val="80000"/>
            </a:srgbClr>
          </a:solidFill>
          <a:ln w="12700">
            <a:solidFill>
              <a:srgbClr val="00A86A"/>
            </a:solidFill>
            <a:prstDash val="solid"/>
          </a:ln>
        </p:spPr>
      </p:sp>
      <p:sp>
        <p:nvSpPr>
          <p:cNvPr id="33" name="Text 30"/>
          <p:cNvSpPr txBox="1"/>
          <p:nvPr/>
        </p:nvSpPr>
        <p:spPr>
          <a:xfrm>
            <a:off x="2697480" y="2203704"/>
            <a:ext cx="914400" cy="228600"/>
          </a:xfrm>
          <a:prstGeom prst="rect">
            <a:avLst/>
          </a:prstGeom>
          <a:noFill/>
          <a:ln/>
        </p:spPr>
        <p:txBody>
          <a:bodyPr wrap="square" lIns="0" tIns="0" rIns="0" bIns="0" rtlCol="0" anchor="ctr"/>
          <a:lstStyle/>
          <a:p>
            <a:pPr marL="0" indent="0">
              <a:buNone/>
            </a:pPr>
            <a:r>
              <a:rPr lang="en-US" sz="1050" b="1" dirty="0">
                <a:solidFill>
                  <a:srgbClr val="00A86A"/>
                </a:solidFill>
                <a:latin typeface="Calibri" pitchFamily="34" charset="0"/>
                <a:ea typeface="Calibri" pitchFamily="34" charset="-122"/>
                <a:cs typeface="Calibri" pitchFamily="34" charset="-120"/>
              </a:rPr>
              <a:t>Fragment 1</a:t>
            </a:r>
            <a:endParaRPr lang="en-US" sz="1050" dirty="0"/>
          </a:p>
        </p:txBody>
      </p:sp>
      <p:sp>
        <p:nvSpPr>
          <p:cNvPr id="34" name="Shape 31"/>
          <p:cNvSpPr/>
          <p:nvPr/>
        </p:nvSpPr>
        <p:spPr>
          <a:xfrm>
            <a:off x="2514600" y="2569464"/>
            <a:ext cx="128016" cy="877824"/>
          </a:xfrm>
          <a:prstGeom prst="rect">
            <a:avLst/>
          </a:prstGeom>
          <a:solidFill>
            <a:srgbClr val="D49A00">
              <a:alpha val="80000"/>
            </a:srgbClr>
          </a:solidFill>
          <a:ln w="12700">
            <a:solidFill>
              <a:srgbClr val="D49A00"/>
            </a:solidFill>
            <a:prstDash val="solid"/>
          </a:ln>
        </p:spPr>
      </p:sp>
      <p:sp>
        <p:nvSpPr>
          <p:cNvPr id="35" name="Text 32"/>
          <p:cNvSpPr txBox="1"/>
          <p:nvPr/>
        </p:nvSpPr>
        <p:spPr>
          <a:xfrm>
            <a:off x="2743200" y="2898648"/>
            <a:ext cx="914400" cy="228600"/>
          </a:xfrm>
          <a:prstGeom prst="rect">
            <a:avLst/>
          </a:prstGeom>
          <a:noFill/>
          <a:ln/>
        </p:spPr>
        <p:txBody>
          <a:bodyPr wrap="square" lIns="0" tIns="0" rIns="0" bIns="0" rtlCol="0" anchor="ctr"/>
          <a:lstStyle/>
          <a:p>
            <a:pPr marL="0" indent="0">
              <a:buNone/>
            </a:pPr>
            <a:r>
              <a:rPr lang="en-US" sz="1050" b="1" dirty="0">
                <a:solidFill>
                  <a:srgbClr val="D49A00"/>
                </a:solidFill>
                <a:latin typeface="Calibri" pitchFamily="34" charset="0"/>
                <a:ea typeface="Calibri" pitchFamily="34" charset="-122"/>
                <a:cs typeface="Calibri" pitchFamily="34" charset="-120"/>
              </a:rPr>
              <a:t>Fragment 2</a:t>
            </a:r>
            <a:endParaRPr lang="en-US" sz="1050" dirty="0"/>
          </a:p>
        </p:txBody>
      </p:sp>
      <p:sp>
        <p:nvSpPr>
          <p:cNvPr id="36" name="Shape 33"/>
          <p:cNvSpPr/>
          <p:nvPr/>
        </p:nvSpPr>
        <p:spPr>
          <a:xfrm>
            <a:off x="2560320" y="3264408"/>
            <a:ext cx="128016" cy="877824"/>
          </a:xfrm>
          <a:prstGeom prst="rect">
            <a:avLst/>
          </a:prstGeom>
          <a:solidFill>
            <a:srgbClr val="0E7C86">
              <a:alpha val="80000"/>
            </a:srgbClr>
          </a:solidFill>
          <a:ln w="12700">
            <a:solidFill>
              <a:srgbClr val="0E7C86"/>
            </a:solidFill>
            <a:prstDash val="solid"/>
          </a:ln>
        </p:spPr>
      </p:sp>
      <p:sp>
        <p:nvSpPr>
          <p:cNvPr id="37" name="Text 34"/>
          <p:cNvSpPr txBox="1"/>
          <p:nvPr/>
        </p:nvSpPr>
        <p:spPr>
          <a:xfrm>
            <a:off x="2788920" y="3593592"/>
            <a:ext cx="914400" cy="228600"/>
          </a:xfrm>
          <a:prstGeom prst="rect">
            <a:avLst/>
          </a:prstGeom>
          <a:noFill/>
          <a:ln/>
        </p:spPr>
        <p:txBody>
          <a:bodyPr wrap="square" lIns="0" tIns="0" rIns="0" bIns="0" rtlCol="0" anchor="ctr"/>
          <a:lstStyle/>
          <a:p>
            <a:pPr marL="0" indent="0">
              <a:buNone/>
            </a:pPr>
            <a:r>
              <a:rPr lang="en-US" sz="1050" b="1" dirty="0">
                <a:solidFill>
                  <a:srgbClr val="0E7C86"/>
                </a:solidFill>
                <a:latin typeface="Calibri" pitchFamily="34" charset="0"/>
                <a:ea typeface="Calibri" pitchFamily="34" charset="-122"/>
                <a:cs typeface="Calibri" pitchFamily="34" charset="-120"/>
              </a:rPr>
              <a:t>Fragment 3</a:t>
            </a:r>
            <a:endParaRPr lang="en-US" sz="1050" dirty="0"/>
          </a:p>
        </p:txBody>
      </p:sp>
      <p:sp>
        <p:nvSpPr>
          <p:cNvPr id="38" name="Text 35"/>
          <p:cNvSpPr txBox="1"/>
          <p:nvPr/>
        </p:nvSpPr>
        <p:spPr>
          <a:xfrm>
            <a:off x="640080" y="4224528"/>
            <a:ext cx="2743200" cy="384048"/>
          </a:xfrm>
          <a:prstGeom prst="rect">
            <a:avLst/>
          </a:prstGeom>
          <a:noFill/>
          <a:ln/>
        </p:spPr>
        <p:txBody>
          <a:bodyPr wrap="square" lIns="0" tIns="0" rIns="0" bIns="0" rtlCol="0" anchor="ctr"/>
          <a:lstStyle/>
          <a:p>
            <a:pPr marL="0" indent="0">
              <a:buNone/>
            </a:pPr>
            <a:r>
              <a:rPr lang="en-US" sz="1000" i="1" dirty="0">
                <a:solidFill>
                  <a:srgbClr val="5E6964"/>
                </a:solidFill>
                <a:latin typeface="Calibri" pitchFamily="34" charset="0"/>
                <a:ea typeface="Calibri" pitchFamily="34" charset="-122"/>
                <a:cs typeface="Calibri" pitchFamily="34" charset="-120"/>
              </a:rPr>
              <a:t>Le chevauchement préserve les phrases situées à cheval sur deux fragments.</a:t>
            </a:r>
            <a:endParaRPr lang="en-US" sz="1000" dirty="0"/>
          </a:p>
        </p:txBody>
      </p:sp>
      <p:sp>
        <p:nvSpPr>
          <p:cNvPr id="39" name="Text 36"/>
          <p:cNvSpPr txBox="1"/>
          <p:nvPr/>
        </p:nvSpPr>
        <p:spPr>
          <a:xfrm>
            <a:off x="3749040" y="1325880"/>
            <a:ext cx="2743200" cy="274320"/>
          </a:xfrm>
          <a:prstGeom prst="rect">
            <a:avLst/>
          </a:prstGeom>
          <a:noFill/>
          <a:ln/>
        </p:spPr>
        <p:txBody>
          <a:bodyPr wrap="square" lIns="0" tIns="0" rIns="0" bIns="0" rtlCol="0" anchor="ctr"/>
          <a:lstStyle/>
          <a:p>
            <a:pPr marL="0" indent="0">
              <a:buNone/>
            </a:pPr>
            <a:r>
              <a:rPr lang="en-US" sz="1500" b="1" dirty="0">
                <a:solidFill>
                  <a:srgbClr val="231F20"/>
                </a:solidFill>
                <a:latin typeface="Calibri" pitchFamily="34" charset="0"/>
                <a:ea typeface="Calibri" pitchFamily="34" charset="-122"/>
                <a:cs typeface="Calibri" pitchFamily="34" charset="-120"/>
              </a:rPr>
              <a:t>Stratégies courantes</a:t>
            </a:r>
            <a:endParaRPr lang="en-US" sz="1500" dirty="0"/>
          </a:p>
        </p:txBody>
      </p:sp>
      <p:sp>
        <p:nvSpPr>
          <p:cNvPr id="40" name="Shape 37"/>
          <p:cNvSpPr/>
          <p:nvPr/>
        </p:nvSpPr>
        <p:spPr>
          <a:xfrm>
            <a:off x="3749040" y="1746504"/>
            <a:ext cx="274320" cy="274320"/>
          </a:xfrm>
          <a:prstGeom prst="ellipse">
            <a:avLst/>
          </a:prstGeom>
          <a:solidFill>
            <a:srgbClr val="00A86A"/>
          </a:solidFill>
          <a:ln w="12700">
            <a:solidFill>
              <a:srgbClr val="00A86A"/>
            </a:solidFill>
            <a:prstDash val="solid"/>
          </a:ln>
        </p:spPr>
      </p:sp>
      <p:sp>
        <p:nvSpPr>
          <p:cNvPr id="41" name="Text 38"/>
          <p:cNvSpPr txBox="1"/>
          <p:nvPr/>
        </p:nvSpPr>
        <p:spPr>
          <a:xfrm>
            <a:off x="3749040" y="1746504"/>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42" name="Text 39"/>
          <p:cNvSpPr txBox="1"/>
          <p:nvPr/>
        </p:nvSpPr>
        <p:spPr>
          <a:xfrm>
            <a:off x="4160520" y="1691640"/>
            <a:ext cx="4480560" cy="201168"/>
          </a:xfrm>
          <a:prstGeom prst="rect">
            <a:avLst/>
          </a:prstGeom>
          <a:noFill/>
          <a:ln/>
        </p:spPr>
        <p:txBody>
          <a:bodyPr wrap="square" lIns="0" tIns="0" rIns="0" bIns="0" rtlCol="0" anchor="ctr"/>
          <a:lstStyle/>
          <a:p>
            <a:pPr marL="0" indent="0">
              <a:buNone/>
            </a:pPr>
            <a:r>
              <a:rPr lang="en-US" sz="1250" b="1" dirty="0">
                <a:solidFill>
                  <a:srgbClr val="231F20"/>
                </a:solidFill>
                <a:latin typeface="Calibri" pitchFamily="34" charset="0"/>
                <a:ea typeface="Calibri" pitchFamily="34" charset="-122"/>
                <a:cs typeface="Calibri" pitchFamily="34" charset="-120"/>
              </a:rPr>
              <a:t>Taille fixe + chevauchement</a:t>
            </a:r>
            <a:endParaRPr lang="en-US" sz="1250" dirty="0"/>
          </a:p>
        </p:txBody>
      </p:sp>
      <p:sp>
        <p:nvSpPr>
          <p:cNvPr id="43" name="Text 40"/>
          <p:cNvSpPr txBox="1"/>
          <p:nvPr/>
        </p:nvSpPr>
        <p:spPr>
          <a:xfrm>
            <a:off x="4160520" y="1901952"/>
            <a:ext cx="4480560" cy="228600"/>
          </a:xfrm>
          <a:prstGeom prst="rect">
            <a:avLst/>
          </a:prstGeom>
          <a:noFill/>
          <a:ln/>
        </p:spPr>
        <p:txBody>
          <a:bodyPr wrap="square" lIns="0" tIns="0" rIns="0" bIns="0" rtlCol="0" anchor="ctr"/>
          <a:lstStyle/>
          <a:p>
            <a:pPr marL="0" indent="0">
              <a:buNone/>
            </a:pPr>
            <a:r>
              <a:rPr lang="en-US" sz="1100" dirty="0">
                <a:solidFill>
                  <a:srgbClr val="5E6964"/>
                </a:solidFill>
                <a:latin typeface="Calibri" pitchFamily="34" charset="0"/>
                <a:ea typeface="Calibri" pitchFamily="34" charset="-122"/>
                <a:cs typeface="Calibri" pitchFamily="34" charset="-120"/>
              </a:rPr>
              <a:t>Simple et prévisible ; peut couper une idée en pleine phrase.</a:t>
            </a:r>
            <a:endParaRPr lang="en-US" sz="1100" dirty="0"/>
          </a:p>
        </p:txBody>
      </p:sp>
      <p:sp>
        <p:nvSpPr>
          <p:cNvPr id="44" name="Shape 41"/>
          <p:cNvSpPr/>
          <p:nvPr/>
        </p:nvSpPr>
        <p:spPr>
          <a:xfrm>
            <a:off x="3749040" y="2276856"/>
            <a:ext cx="274320" cy="274320"/>
          </a:xfrm>
          <a:prstGeom prst="ellipse">
            <a:avLst/>
          </a:prstGeom>
          <a:solidFill>
            <a:srgbClr val="00A86A"/>
          </a:solidFill>
          <a:ln w="12700">
            <a:solidFill>
              <a:srgbClr val="00A86A"/>
            </a:solidFill>
            <a:prstDash val="solid"/>
          </a:ln>
        </p:spPr>
      </p:sp>
      <p:sp>
        <p:nvSpPr>
          <p:cNvPr id="45" name="Text 42"/>
          <p:cNvSpPr txBox="1"/>
          <p:nvPr/>
        </p:nvSpPr>
        <p:spPr>
          <a:xfrm>
            <a:off x="3749040" y="2276856"/>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46" name="Text 43"/>
          <p:cNvSpPr txBox="1"/>
          <p:nvPr/>
        </p:nvSpPr>
        <p:spPr>
          <a:xfrm>
            <a:off x="4160520" y="2221992"/>
            <a:ext cx="4480560" cy="201168"/>
          </a:xfrm>
          <a:prstGeom prst="rect">
            <a:avLst/>
          </a:prstGeom>
          <a:noFill/>
          <a:ln/>
        </p:spPr>
        <p:txBody>
          <a:bodyPr wrap="square" lIns="0" tIns="0" rIns="0" bIns="0" rtlCol="0" anchor="ctr"/>
          <a:lstStyle/>
          <a:p>
            <a:pPr marL="0" indent="0">
              <a:buNone/>
            </a:pPr>
            <a:r>
              <a:rPr lang="en-US" sz="1250" b="1" dirty="0">
                <a:solidFill>
                  <a:srgbClr val="231F20"/>
                </a:solidFill>
                <a:latin typeface="Calibri" pitchFamily="34" charset="0"/>
                <a:ea typeface="Calibri" pitchFamily="34" charset="-122"/>
                <a:cs typeface="Calibri" pitchFamily="34" charset="-120"/>
              </a:rPr>
              <a:t>Découpage récursif</a:t>
            </a:r>
            <a:endParaRPr lang="en-US" sz="1250" dirty="0"/>
          </a:p>
        </p:txBody>
      </p:sp>
      <p:sp>
        <p:nvSpPr>
          <p:cNvPr id="47" name="Text 44"/>
          <p:cNvSpPr txBox="1"/>
          <p:nvPr/>
        </p:nvSpPr>
        <p:spPr>
          <a:xfrm>
            <a:off x="4160520" y="2432304"/>
            <a:ext cx="4480560" cy="228600"/>
          </a:xfrm>
          <a:prstGeom prst="rect">
            <a:avLst/>
          </a:prstGeom>
          <a:noFill/>
          <a:ln/>
        </p:spPr>
        <p:txBody>
          <a:bodyPr wrap="square" lIns="0" tIns="0" rIns="0" bIns="0" rtlCol="0" anchor="ctr"/>
          <a:lstStyle/>
          <a:p>
            <a:pPr marL="0" indent="0">
              <a:buNone/>
            </a:pPr>
            <a:r>
              <a:rPr lang="en-US" sz="1100" dirty="0">
                <a:solidFill>
                  <a:srgbClr val="5E6964"/>
                </a:solidFill>
                <a:latin typeface="Calibri" pitchFamily="34" charset="0"/>
                <a:ea typeface="Calibri" pitchFamily="34" charset="-122"/>
                <a:cs typeface="Calibri" pitchFamily="34" charset="-120"/>
              </a:rPr>
              <a:t>Coupe par paragraphes, puis phrases, puis mots, jusqu'à la bonne taille.</a:t>
            </a:r>
            <a:endParaRPr lang="en-US" sz="1100" dirty="0"/>
          </a:p>
        </p:txBody>
      </p:sp>
      <p:sp>
        <p:nvSpPr>
          <p:cNvPr id="48" name="Shape 45"/>
          <p:cNvSpPr/>
          <p:nvPr/>
        </p:nvSpPr>
        <p:spPr>
          <a:xfrm>
            <a:off x="3749040" y="2807208"/>
            <a:ext cx="274320" cy="274320"/>
          </a:xfrm>
          <a:prstGeom prst="ellipse">
            <a:avLst/>
          </a:prstGeom>
          <a:solidFill>
            <a:srgbClr val="00A86A"/>
          </a:solidFill>
          <a:ln w="12700">
            <a:solidFill>
              <a:srgbClr val="00A86A"/>
            </a:solidFill>
            <a:prstDash val="solid"/>
          </a:ln>
        </p:spPr>
      </p:sp>
      <p:sp>
        <p:nvSpPr>
          <p:cNvPr id="49" name="Text 46"/>
          <p:cNvSpPr txBox="1"/>
          <p:nvPr/>
        </p:nvSpPr>
        <p:spPr>
          <a:xfrm>
            <a:off x="3749040" y="2807208"/>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50" name="Text 47"/>
          <p:cNvSpPr txBox="1"/>
          <p:nvPr/>
        </p:nvSpPr>
        <p:spPr>
          <a:xfrm>
            <a:off x="4160520" y="2752344"/>
            <a:ext cx="4480560" cy="201168"/>
          </a:xfrm>
          <a:prstGeom prst="rect">
            <a:avLst/>
          </a:prstGeom>
          <a:noFill/>
          <a:ln/>
        </p:spPr>
        <p:txBody>
          <a:bodyPr wrap="square" lIns="0" tIns="0" rIns="0" bIns="0" rtlCol="0" anchor="ctr"/>
          <a:lstStyle/>
          <a:p>
            <a:pPr marL="0" indent="0">
              <a:buNone/>
            </a:pPr>
            <a:r>
              <a:rPr lang="en-US" sz="1250" b="1" dirty="0">
                <a:solidFill>
                  <a:srgbClr val="231F20"/>
                </a:solidFill>
                <a:latin typeface="Calibri" pitchFamily="34" charset="0"/>
                <a:ea typeface="Calibri" pitchFamily="34" charset="-122"/>
                <a:cs typeface="Calibri" pitchFamily="34" charset="-120"/>
              </a:rPr>
              <a:t>Découpage sémantique</a:t>
            </a:r>
            <a:endParaRPr lang="en-US" sz="1250" dirty="0"/>
          </a:p>
        </p:txBody>
      </p:sp>
      <p:sp>
        <p:nvSpPr>
          <p:cNvPr id="51" name="Text 48"/>
          <p:cNvSpPr txBox="1"/>
          <p:nvPr/>
        </p:nvSpPr>
        <p:spPr>
          <a:xfrm>
            <a:off x="4160520" y="2962656"/>
            <a:ext cx="4480560" cy="228600"/>
          </a:xfrm>
          <a:prstGeom prst="rect">
            <a:avLst/>
          </a:prstGeom>
          <a:noFill/>
          <a:ln/>
        </p:spPr>
        <p:txBody>
          <a:bodyPr wrap="square" lIns="0" tIns="0" rIns="0" bIns="0" rtlCol="0" anchor="ctr"/>
          <a:lstStyle/>
          <a:p>
            <a:pPr marL="0" indent="0">
              <a:buNone/>
            </a:pPr>
            <a:r>
              <a:rPr lang="en-US" sz="1100" dirty="0">
                <a:solidFill>
                  <a:srgbClr val="5E6964"/>
                </a:solidFill>
                <a:latin typeface="Calibri" pitchFamily="34" charset="0"/>
                <a:ea typeface="Calibri" pitchFamily="34" charset="-122"/>
                <a:cs typeface="Calibri" pitchFamily="34" charset="-120"/>
              </a:rPr>
              <a:t>Nouveau fragment là où la similarité entre phrases chute.</a:t>
            </a:r>
            <a:endParaRPr lang="en-US" sz="1100" dirty="0"/>
          </a:p>
        </p:txBody>
      </p:sp>
      <p:sp>
        <p:nvSpPr>
          <p:cNvPr id="52" name="Shape 49"/>
          <p:cNvSpPr/>
          <p:nvPr/>
        </p:nvSpPr>
        <p:spPr>
          <a:xfrm>
            <a:off x="3749040" y="3337560"/>
            <a:ext cx="274320" cy="274320"/>
          </a:xfrm>
          <a:prstGeom prst="ellipse">
            <a:avLst/>
          </a:prstGeom>
          <a:solidFill>
            <a:srgbClr val="00A86A"/>
          </a:solidFill>
          <a:ln w="12700">
            <a:solidFill>
              <a:srgbClr val="00A86A"/>
            </a:solidFill>
            <a:prstDash val="solid"/>
          </a:ln>
        </p:spPr>
      </p:sp>
      <p:sp>
        <p:nvSpPr>
          <p:cNvPr id="53" name="Text 50"/>
          <p:cNvSpPr txBox="1"/>
          <p:nvPr/>
        </p:nvSpPr>
        <p:spPr>
          <a:xfrm>
            <a:off x="3749040" y="3337560"/>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54" name="Text 51"/>
          <p:cNvSpPr txBox="1"/>
          <p:nvPr/>
        </p:nvSpPr>
        <p:spPr>
          <a:xfrm>
            <a:off x="4160520" y="3282696"/>
            <a:ext cx="4480560" cy="201168"/>
          </a:xfrm>
          <a:prstGeom prst="rect">
            <a:avLst/>
          </a:prstGeom>
          <a:noFill/>
          <a:ln/>
        </p:spPr>
        <p:txBody>
          <a:bodyPr wrap="square" lIns="0" tIns="0" rIns="0" bIns="0" rtlCol="0" anchor="ctr"/>
          <a:lstStyle/>
          <a:p>
            <a:pPr marL="0" indent="0">
              <a:buNone/>
            </a:pPr>
            <a:r>
              <a:rPr lang="en-US" sz="1250" b="1" dirty="0">
                <a:solidFill>
                  <a:srgbClr val="231F20"/>
                </a:solidFill>
                <a:latin typeface="Calibri" pitchFamily="34" charset="0"/>
                <a:ea typeface="Calibri" pitchFamily="34" charset="-122"/>
                <a:cs typeface="Calibri" pitchFamily="34" charset="-120"/>
              </a:rPr>
              <a:t>Selon la structure</a:t>
            </a:r>
            <a:endParaRPr lang="en-US" sz="1250" dirty="0"/>
          </a:p>
        </p:txBody>
      </p:sp>
      <p:sp>
        <p:nvSpPr>
          <p:cNvPr id="55" name="Text 52"/>
          <p:cNvSpPr txBox="1"/>
          <p:nvPr/>
        </p:nvSpPr>
        <p:spPr>
          <a:xfrm>
            <a:off x="4160520" y="3493008"/>
            <a:ext cx="4480560" cy="228600"/>
          </a:xfrm>
          <a:prstGeom prst="rect">
            <a:avLst/>
          </a:prstGeom>
          <a:noFill/>
          <a:ln/>
        </p:spPr>
        <p:txBody>
          <a:bodyPr wrap="square" lIns="0" tIns="0" rIns="0" bIns="0" rtlCol="0" anchor="ctr"/>
          <a:lstStyle/>
          <a:p>
            <a:pPr marL="0" indent="0">
              <a:buNone/>
            </a:pPr>
            <a:r>
              <a:rPr lang="en-US" sz="1100" dirty="0">
                <a:solidFill>
                  <a:srgbClr val="5E6964"/>
                </a:solidFill>
                <a:latin typeface="Calibri" pitchFamily="34" charset="0"/>
                <a:ea typeface="Calibri" pitchFamily="34" charset="-122"/>
                <a:cs typeface="Calibri" pitchFamily="34" charset="-120"/>
              </a:rPr>
              <a:t>Suit les titres, sections, tableaux, blocs de code ou la structure Markdown.</a:t>
            </a:r>
            <a:endParaRPr lang="en-US" sz="1100" dirty="0"/>
          </a:p>
        </p:txBody>
      </p:sp>
      <p:sp>
        <p:nvSpPr>
          <p:cNvPr id="56" name="Shape 53"/>
          <p:cNvSpPr/>
          <p:nvPr/>
        </p:nvSpPr>
        <p:spPr>
          <a:xfrm>
            <a:off x="3749040" y="3886200"/>
            <a:ext cx="2377440" cy="777240"/>
          </a:xfrm>
          <a:prstGeom prst="roundRect">
            <a:avLst>
              <a:gd name="adj" fmla="val 9412"/>
            </a:avLst>
          </a:prstGeom>
          <a:solidFill>
            <a:srgbClr val="B83B2E">
              <a:alpha val="10000"/>
            </a:srgbClr>
          </a:solidFill>
          <a:ln w="9525">
            <a:solidFill>
              <a:srgbClr val="B83B2E"/>
            </a:solidFill>
            <a:prstDash val="solid"/>
          </a:ln>
        </p:spPr>
      </p:sp>
      <p:sp>
        <p:nvSpPr>
          <p:cNvPr id="57" name="Text 54"/>
          <p:cNvSpPr txBox="1"/>
          <p:nvPr/>
        </p:nvSpPr>
        <p:spPr>
          <a:xfrm>
            <a:off x="3886200" y="3931920"/>
            <a:ext cx="2148840" cy="685800"/>
          </a:xfrm>
          <a:prstGeom prst="rect">
            <a:avLst/>
          </a:prstGeom>
          <a:noFill/>
          <a:ln/>
        </p:spPr>
        <p:txBody>
          <a:bodyPr wrap="square" lIns="0" tIns="0" rIns="0" bIns="0" rtlCol="0" anchor="ctr"/>
          <a:lstStyle/>
          <a:p>
            <a:pPr marL="0" indent="0">
              <a:buNone/>
            </a:pPr>
            <a:r>
              <a:rPr lang="en-US" sz="1150" b="1" dirty="0">
                <a:solidFill>
                  <a:srgbClr val="B83B2E"/>
                </a:solidFill>
                <a:latin typeface="Calibri" pitchFamily="34" charset="0"/>
                <a:ea typeface="Calibri" pitchFamily="34" charset="-122"/>
                <a:cs typeface="Calibri" pitchFamily="34" charset="-120"/>
              </a:rPr>
              <a:t>Trop petits
</a:t>
            </a:r>
            <a:r>
              <a:rPr lang="en-US" sz="1150" dirty="0">
                <a:solidFill>
                  <a:srgbClr val="231F20"/>
                </a:solidFill>
                <a:latin typeface="Calibri" pitchFamily="34" charset="0"/>
                <a:ea typeface="Calibri" pitchFamily="34" charset="-122"/>
                <a:cs typeface="Calibri" pitchFamily="34" charset="-120"/>
              </a:rPr>
              <a:t>Correspondance précise, mais contexte perdu.</a:t>
            </a:r>
            <a:endParaRPr lang="en-US" sz="1150" dirty="0"/>
          </a:p>
        </p:txBody>
      </p:sp>
      <p:sp>
        <p:nvSpPr>
          <p:cNvPr id="58" name="Shape 55"/>
          <p:cNvSpPr/>
          <p:nvPr/>
        </p:nvSpPr>
        <p:spPr>
          <a:xfrm>
            <a:off x="6309360" y="3886200"/>
            <a:ext cx="2377440" cy="777240"/>
          </a:xfrm>
          <a:prstGeom prst="roundRect">
            <a:avLst>
              <a:gd name="adj" fmla="val 9412"/>
            </a:avLst>
          </a:prstGeom>
          <a:solidFill>
            <a:srgbClr val="D49A00">
              <a:alpha val="13000"/>
            </a:srgbClr>
          </a:solidFill>
          <a:ln w="9525">
            <a:solidFill>
              <a:srgbClr val="D49A00"/>
            </a:solidFill>
            <a:prstDash val="solid"/>
          </a:ln>
        </p:spPr>
      </p:sp>
      <p:sp>
        <p:nvSpPr>
          <p:cNvPr id="59" name="Text 56"/>
          <p:cNvSpPr txBox="1"/>
          <p:nvPr/>
        </p:nvSpPr>
        <p:spPr>
          <a:xfrm>
            <a:off x="6446520" y="3931920"/>
            <a:ext cx="2148840" cy="685800"/>
          </a:xfrm>
          <a:prstGeom prst="rect">
            <a:avLst/>
          </a:prstGeom>
          <a:noFill/>
          <a:ln/>
        </p:spPr>
        <p:txBody>
          <a:bodyPr wrap="square" lIns="0" tIns="0" rIns="0" bIns="0" rtlCol="0" anchor="ctr"/>
          <a:lstStyle/>
          <a:p>
            <a:pPr marL="0" indent="0">
              <a:buNone/>
            </a:pPr>
            <a:r>
              <a:rPr lang="en-US" sz="1150" b="1" dirty="0">
                <a:solidFill>
                  <a:srgbClr val="D49A00"/>
                </a:solidFill>
                <a:latin typeface="Calibri" pitchFamily="34" charset="0"/>
                <a:ea typeface="Calibri" pitchFamily="34" charset="-122"/>
                <a:cs typeface="Calibri" pitchFamily="34" charset="-120"/>
              </a:rPr>
              <a:t>Trop grands
</a:t>
            </a:r>
            <a:r>
              <a:rPr lang="en-US" sz="1150" dirty="0">
                <a:solidFill>
                  <a:srgbClr val="231F20"/>
                </a:solidFill>
                <a:latin typeface="Calibri" pitchFamily="34" charset="0"/>
                <a:ea typeface="Calibri" pitchFamily="34" charset="-122"/>
                <a:cs typeface="Calibri" pitchFamily="34" charset="-120"/>
              </a:rPr>
              <a:t>Contexte riche, mais vecteurs dilués et bruités.</a:t>
            </a:r>
            <a:endParaRPr lang="en-US" sz="1150" dirty="0"/>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FONCTIONNEMENT · ÉTAPE 2 RECHERCHE SÉMANTIQUE</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Embeddings : chercher par le sens, pas par les mots</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00704A"/>
          </a:solidFill>
          <a:ln w="12700">
            <a:solidFill>
              <a:srgbClr val="00704A"/>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694944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ATI · Big Data pour les statistiques macroéconomiques · Maurice, 26–30 oct. 2026   |   BAD · Data Innovation for Africa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22</a:t>
            </a:r>
            <a:endParaRPr lang="en-US" sz="850" dirty="0"/>
          </a:p>
        </p:txBody>
      </p:sp>
      <p:sp>
        <p:nvSpPr>
          <p:cNvPr id="17" name="Shape 14"/>
          <p:cNvSpPr/>
          <p:nvPr/>
        </p:nvSpPr>
        <p:spPr>
          <a:xfrm>
            <a:off x="457200" y="1325880"/>
            <a:ext cx="4114800" cy="3337560"/>
          </a:xfrm>
          <a:prstGeom prst="roundRect">
            <a:avLst>
              <a:gd name="adj" fmla="val 2192"/>
            </a:avLst>
          </a:prstGeom>
          <a:solidFill>
            <a:srgbClr val="F4F7F5"/>
          </a:solidFill>
          <a:ln w="9525">
            <a:solidFill>
              <a:srgbClr val="D5DED9"/>
            </a:solidFill>
            <a:prstDash val="solid"/>
          </a:ln>
        </p:spPr>
      </p:sp>
      <p:sp>
        <p:nvSpPr>
          <p:cNvPr id="18" name="Text 15"/>
          <p:cNvSpPr txBox="1"/>
          <p:nvPr/>
        </p:nvSpPr>
        <p:spPr>
          <a:xfrm>
            <a:off x="640080" y="1417320"/>
            <a:ext cx="3749040" cy="228600"/>
          </a:xfrm>
          <a:prstGeom prst="rect">
            <a:avLst/>
          </a:prstGeom>
          <a:noFill/>
          <a:ln/>
        </p:spPr>
        <p:txBody>
          <a:bodyPr wrap="square" lIns="0" tIns="0" rIns="0" bIns="0" rtlCol="0" anchor="ctr"/>
          <a:lstStyle/>
          <a:p>
            <a:pPr marL="0" indent="0">
              <a:buNone/>
            </a:pPr>
            <a:r>
              <a:rPr lang="en-US" sz="1000" i="1" dirty="0">
                <a:solidFill>
                  <a:srgbClr val="5E6964"/>
                </a:solidFill>
                <a:latin typeface="Calibri" pitchFamily="34" charset="0"/>
                <a:ea typeface="Calibri" pitchFamily="34" charset="-122"/>
                <a:cs typeface="Calibri" pitchFamily="34" charset="-120"/>
              </a:rPr>
              <a:t>Espace d'embedding (projection 2D, illustrative)</a:t>
            </a:r>
            <a:endParaRPr lang="en-US" sz="1000" dirty="0"/>
          </a:p>
        </p:txBody>
      </p:sp>
      <p:sp>
        <p:nvSpPr>
          <p:cNvPr id="19" name="Shape 16"/>
          <p:cNvSpPr/>
          <p:nvPr/>
        </p:nvSpPr>
        <p:spPr>
          <a:xfrm>
            <a:off x="1362456" y="2368296"/>
            <a:ext cx="109728" cy="109728"/>
          </a:xfrm>
          <a:prstGeom prst="ellipse">
            <a:avLst/>
          </a:prstGeom>
          <a:solidFill>
            <a:srgbClr val="00A86A"/>
          </a:solidFill>
          <a:ln w="12700">
            <a:solidFill>
              <a:srgbClr val="00A86A"/>
            </a:solidFill>
            <a:prstDash val="solid"/>
          </a:ln>
        </p:spPr>
      </p:sp>
      <p:sp>
        <p:nvSpPr>
          <p:cNvPr id="20" name="Shape 17"/>
          <p:cNvSpPr/>
          <p:nvPr/>
        </p:nvSpPr>
        <p:spPr>
          <a:xfrm>
            <a:off x="1636776" y="2505456"/>
            <a:ext cx="109728" cy="109728"/>
          </a:xfrm>
          <a:prstGeom prst="ellipse">
            <a:avLst/>
          </a:prstGeom>
          <a:solidFill>
            <a:srgbClr val="00A86A"/>
          </a:solidFill>
          <a:ln w="12700">
            <a:solidFill>
              <a:srgbClr val="00A86A"/>
            </a:solidFill>
            <a:prstDash val="solid"/>
          </a:ln>
        </p:spPr>
      </p:sp>
      <p:sp>
        <p:nvSpPr>
          <p:cNvPr id="21" name="Shape 18"/>
          <p:cNvSpPr/>
          <p:nvPr/>
        </p:nvSpPr>
        <p:spPr>
          <a:xfrm>
            <a:off x="1133856" y="2596896"/>
            <a:ext cx="109728" cy="109728"/>
          </a:xfrm>
          <a:prstGeom prst="ellipse">
            <a:avLst/>
          </a:prstGeom>
          <a:solidFill>
            <a:srgbClr val="00A86A"/>
          </a:solidFill>
          <a:ln w="12700">
            <a:solidFill>
              <a:srgbClr val="00A86A"/>
            </a:solidFill>
            <a:prstDash val="solid"/>
          </a:ln>
        </p:spPr>
      </p:sp>
      <p:sp>
        <p:nvSpPr>
          <p:cNvPr id="22" name="Shape 19"/>
          <p:cNvSpPr/>
          <p:nvPr/>
        </p:nvSpPr>
        <p:spPr>
          <a:xfrm>
            <a:off x="1453896" y="2093976"/>
            <a:ext cx="109728" cy="109728"/>
          </a:xfrm>
          <a:prstGeom prst="ellipse">
            <a:avLst/>
          </a:prstGeom>
          <a:solidFill>
            <a:srgbClr val="00A86A"/>
          </a:solidFill>
          <a:ln w="12700">
            <a:solidFill>
              <a:srgbClr val="00A86A"/>
            </a:solidFill>
            <a:prstDash val="solid"/>
          </a:ln>
        </p:spPr>
      </p:sp>
      <p:sp>
        <p:nvSpPr>
          <p:cNvPr id="23" name="Shape 20"/>
          <p:cNvSpPr/>
          <p:nvPr/>
        </p:nvSpPr>
        <p:spPr>
          <a:xfrm>
            <a:off x="1728216" y="2185416"/>
            <a:ext cx="109728" cy="109728"/>
          </a:xfrm>
          <a:prstGeom prst="ellipse">
            <a:avLst/>
          </a:prstGeom>
          <a:solidFill>
            <a:srgbClr val="00A86A"/>
          </a:solidFill>
          <a:ln w="12700">
            <a:solidFill>
              <a:srgbClr val="00A86A"/>
            </a:solidFill>
            <a:prstDash val="solid"/>
          </a:ln>
        </p:spPr>
      </p:sp>
      <p:sp>
        <p:nvSpPr>
          <p:cNvPr id="24" name="Shape 21"/>
          <p:cNvSpPr/>
          <p:nvPr/>
        </p:nvSpPr>
        <p:spPr>
          <a:xfrm>
            <a:off x="1088136" y="2231136"/>
            <a:ext cx="109728" cy="109728"/>
          </a:xfrm>
          <a:prstGeom prst="ellipse">
            <a:avLst/>
          </a:prstGeom>
          <a:solidFill>
            <a:srgbClr val="00A86A"/>
          </a:solidFill>
          <a:ln w="12700">
            <a:solidFill>
              <a:srgbClr val="00A86A"/>
            </a:solidFill>
            <a:prstDash val="solid"/>
          </a:ln>
        </p:spPr>
      </p:sp>
      <p:sp>
        <p:nvSpPr>
          <p:cNvPr id="25" name="Text 22"/>
          <p:cNvSpPr txBox="1"/>
          <p:nvPr/>
        </p:nvSpPr>
        <p:spPr>
          <a:xfrm>
            <a:off x="685800" y="1856232"/>
            <a:ext cx="1463040" cy="201168"/>
          </a:xfrm>
          <a:prstGeom prst="rect">
            <a:avLst/>
          </a:prstGeom>
          <a:noFill/>
          <a:ln/>
        </p:spPr>
        <p:txBody>
          <a:bodyPr wrap="square" lIns="0" tIns="0" rIns="0" bIns="0" rtlCol="0" anchor="ctr"/>
          <a:lstStyle/>
          <a:p>
            <a:pPr marL="0" indent="0" algn="ctr">
              <a:buNone/>
            </a:pPr>
            <a:r>
              <a:rPr lang="en-US" sz="1000" b="1" dirty="0">
                <a:solidFill>
                  <a:srgbClr val="00A86A"/>
                </a:solidFill>
                <a:latin typeface="Calibri" pitchFamily="34" charset="0"/>
                <a:ea typeface="Calibri" pitchFamily="34" charset="-122"/>
                <a:cs typeface="Calibri" pitchFamily="34" charset="-120"/>
              </a:rPr>
              <a:t>Remboursements</a:t>
            </a:r>
            <a:endParaRPr lang="en-US" sz="1000" dirty="0"/>
          </a:p>
        </p:txBody>
      </p:sp>
      <p:sp>
        <p:nvSpPr>
          <p:cNvPr id="26" name="Shape 23"/>
          <p:cNvSpPr/>
          <p:nvPr/>
        </p:nvSpPr>
        <p:spPr>
          <a:xfrm>
            <a:off x="3465576" y="2093976"/>
            <a:ext cx="109728" cy="109728"/>
          </a:xfrm>
          <a:prstGeom prst="ellipse">
            <a:avLst/>
          </a:prstGeom>
          <a:solidFill>
            <a:srgbClr val="D49A00"/>
          </a:solidFill>
          <a:ln w="12700">
            <a:solidFill>
              <a:srgbClr val="D49A00"/>
            </a:solidFill>
            <a:prstDash val="solid"/>
          </a:ln>
        </p:spPr>
      </p:sp>
      <p:sp>
        <p:nvSpPr>
          <p:cNvPr id="27" name="Shape 24"/>
          <p:cNvSpPr/>
          <p:nvPr/>
        </p:nvSpPr>
        <p:spPr>
          <a:xfrm>
            <a:off x="3694176" y="2276856"/>
            <a:ext cx="109728" cy="109728"/>
          </a:xfrm>
          <a:prstGeom prst="ellipse">
            <a:avLst/>
          </a:prstGeom>
          <a:solidFill>
            <a:srgbClr val="D49A00"/>
          </a:solidFill>
          <a:ln w="12700">
            <a:solidFill>
              <a:srgbClr val="D49A00"/>
            </a:solidFill>
            <a:prstDash val="solid"/>
          </a:ln>
        </p:spPr>
      </p:sp>
      <p:sp>
        <p:nvSpPr>
          <p:cNvPr id="28" name="Shape 25"/>
          <p:cNvSpPr/>
          <p:nvPr/>
        </p:nvSpPr>
        <p:spPr>
          <a:xfrm>
            <a:off x="3236976" y="2185416"/>
            <a:ext cx="109728" cy="109728"/>
          </a:xfrm>
          <a:prstGeom prst="ellipse">
            <a:avLst/>
          </a:prstGeom>
          <a:solidFill>
            <a:srgbClr val="D49A00"/>
          </a:solidFill>
          <a:ln w="12700">
            <a:solidFill>
              <a:srgbClr val="D49A00"/>
            </a:solidFill>
            <a:prstDash val="solid"/>
          </a:ln>
        </p:spPr>
      </p:sp>
      <p:sp>
        <p:nvSpPr>
          <p:cNvPr id="29" name="Shape 26"/>
          <p:cNvSpPr/>
          <p:nvPr/>
        </p:nvSpPr>
        <p:spPr>
          <a:xfrm>
            <a:off x="3602736" y="1865376"/>
            <a:ext cx="109728" cy="109728"/>
          </a:xfrm>
          <a:prstGeom prst="ellipse">
            <a:avLst/>
          </a:prstGeom>
          <a:solidFill>
            <a:srgbClr val="D49A00"/>
          </a:solidFill>
          <a:ln w="12700">
            <a:solidFill>
              <a:srgbClr val="D49A00"/>
            </a:solidFill>
            <a:prstDash val="solid"/>
          </a:ln>
        </p:spPr>
      </p:sp>
      <p:sp>
        <p:nvSpPr>
          <p:cNvPr id="30" name="Shape 27"/>
          <p:cNvSpPr/>
          <p:nvPr/>
        </p:nvSpPr>
        <p:spPr>
          <a:xfrm>
            <a:off x="3374136" y="2414016"/>
            <a:ext cx="109728" cy="109728"/>
          </a:xfrm>
          <a:prstGeom prst="ellipse">
            <a:avLst/>
          </a:prstGeom>
          <a:solidFill>
            <a:srgbClr val="D49A00"/>
          </a:solidFill>
          <a:ln w="12700">
            <a:solidFill>
              <a:srgbClr val="D49A00"/>
            </a:solidFill>
            <a:prstDash val="solid"/>
          </a:ln>
        </p:spPr>
      </p:sp>
      <p:sp>
        <p:nvSpPr>
          <p:cNvPr id="31" name="Shape 28"/>
          <p:cNvSpPr/>
          <p:nvPr/>
        </p:nvSpPr>
        <p:spPr>
          <a:xfrm>
            <a:off x="3785616" y="2048256"/>
            <a:ext cx="109728" cy="109728"/>
          </a:xfrm>
          <a:prstGeom prst="ellipse">
            <a:avLst/>
          </a:prstGeom>
          <a:solidFill>
            <a:srgbClr val="D49A00"/>
          </a:solidFill>
          <a:ln w="12700">
            <a:solidFill>
              <a:srgbClr val="D49A00"/>
            </a:solidFill>
            <a:prstDash val="solid"/>
          </a:ln>
        </p:spPr>
      </p:sp>
      <p:sp>
        <p:nvSpPr>
          <p:cNvPr id="32" name="Text 29"/>
          <p:cNvSpPr txBox="1"/>
          <p:nvPr/>
        </p:nvSpPr>
        <p:spPr>
          <a:xfrm>
            <a:off x="2788920" y="2532888"/>
            <a:ext cx="1463040" cy="201168"/>
          </a:xfrm>
          <a:prstGeom prst="rect">
            <a:avLst/>
          </a:prstGeom>
          <a:noFill/>
          <a:ln/>
        </p:spPr>
        <p:txBody>
          <a:bodyPr wrap="square" lIns="0" tIns="0" rIns="0" bIns="0" rtlCol="0" anchor="ctr"/>
          <a:lstStyle/>
          <a:p>
            <a:pPr marL="0" indent="0" algn="ctr">
              <a:buNone/>
            </a:pPr>
            <a:r>
              <a:rPr lang="en-US" sz="1000" b="1" dirty="0">
                <a:solidFill>
                  <a:srgbClr val="D49A00"/>
                </a:solidFill>
                <a:latin typeface="Calibri" pitchFamily="34" charset="0"/>
                <a:ea typeface="Calibri" pitchFamily="34" charset="-122"/>
                <a:cs typeface="Calibri" pitchFamily="34" charset="-120"/>
              </a:rPr>
              <a:t>Délais de livraison</a:t>
            </a:r>
            <a:endParaRPr lang="en-US" sz="1000" dirty="0"/>
          </a:p>
        </p:txBody>
      </p:sp>
      <p:sp>
        <p:nvSpPr>
          <p:cNvPr id="33" name="Shape 30"/>
          <p:cNvSpPr/>
          <p:nvPr/>
        </p:nvSpPr>
        <p:spPr>
          <a:xfrm>
            <a:off x="2962656" y="3557016"/>
            <a:ext cx="109728" cy="109728"/>
          </a:xfrm>
          <a:prstGeom prst="ellipse">
            <a:avLst/>
          </a:prstGeom>
          <a:solidFill>
            <a:srgbClr val="0E7C86"/>
          </a:solidFill>
          <a:ln w="12700">
            <a:solidFill>
              <a:srgbClr val="0E7C86"/>
            </a:solidFill>
            <a:prstDash val="solid"/>
          </a:ln>
        </p:spPr>
      </p:sp>
      <p:sp>
        <p:nvSpPr>
          <p:cNvPr id="34" name="Shape 31"/>
          <p:cNvSpPr/>
          <p:nvPr/>
        </p:nvSpPr>
        <p:spPr>
          <a:xfrm>
            <a:off x="3236976" y="3648456"/>
            <a:ext cx="109728" cy="109728"/>
          </a:xfrm>
          <a:prstGeom prst="ellipse">
            <a:avLst/>
          </a:prstGeom>
          <a:solidFill>
            <a:srgbClr val="0E7C86"/>
          </a:solidFill>
          <a:ln w="12700">
            <a:solidFill>
              <a:srgbClr val="0E7C86"/>
            </a:solidFill>
            <a:prstDash val="solid"/>
          </a:ln>
        </p:spPr>
      </p:sp>
      <p:sp>
        <p:nvSpPr>
          <p:cNvPr id="35" name="Shape 32"/>
          <p:cNvSpPr/>
          <p:nvPr/>
        </p:nvSpPr>
        <p:spPr>
          <a:xfrm>
            <a:off x="2688336" y="3602736"/>
            <a:ext cx="109728" cy="109728"/>
          </a:xfrm>
          <a:prstGeom prst="ellipse">
            <a:avLst/>
          </a:prstGeom>
          <a:solidFill>
            <a:srgbClr val="0E7C86"/>
          </a:solidFill>
          <a:ln w="12700">
            <a:solidFill>
              <a:srgbClr val="0E7C86"/>
            </a:solidFill>
            <a:prstDash val="solid"/>
          </a:ln>
        </p:spPr>
      </p:sp>
      <p:sp>
        <p:nvSpPr>
          <p:cNvPr id="36" name="Shape 33"/>
          <p:cNvSpPr/>
          <p:nvPr/>
        </p:nvSpPr>
        <p:spPr>
          <a:xfrm>
            <a:off x="3054096" y="3328416"/>
            <a:ext cx="109728" cy="109728"/>
          </a:xfrm>
          <a:prstGeom prst="ellipse">
            <a:avLst/>
          </a:prstGeom>
          <a:solidFill>
            <a:srgbClr val="0E7C86"/>
          </a:solidFill>
          <a:ln w="12700">
            <a:solidFill>
              <a:srgbClr val="0E7C86"/>
            </a:solidFill>
            <a:prstDash val="solid"/>
          </a:ln>
        </p:spPr>
      </p:sp>
      <p:sp>
        <p:nvSpPr>
          <p:cNvPr id="37" name="Shape 34"/>
          <p:cNvSpPr/>
          <p:nvPr/>
        </p:nvSpPr>
        <p:spPr>
          <a:xfrm>
            <a:off x="2825496" y="3785616"/>
            <a:ext cx="109728" cy="109728"/>
          </a:xfrm>
          <a:prstGeom prst="ellipse">
            <a:avLst/>
          </a:prstGeom>
          <a:solidFill>
            <a:srgbClr val="0E7C86"/>
          </a:solidFill>
          <a:ln w="12700">
            <a:solidFill>
              <a:srgbClr val="0E7C86"/>
            </a:solidFill>
            <a:prstDash val="solid"/>
          </a:ln>
        </p:spPr>
      </p:sp>
      <p:sp>
        <p:nvSpPr>
          <p:cNvPr id="38" name="Shape 35"/>
          <p:cNvSpPr/>
          <p:nvPr/>
        </p:nvSpPr>
        <p:spPr>
          <a:xfrm>
            <a:off x="3328416" y="3374136"/>
            <a:ext cx="109728" cy="109728"/>
          </a:xfrm>
          <a:prstGeom prst="ellipse">
            <a:avLst/>
          </a:prstGeom>
          <a:solidFill>
            <a:srgbClr val="0E7C86"/>
          </a:solidFill>
          <a:ln w="12700">
            <a:solidFill>
              <a:srgbClr val="0E7C86"/>
            </a:solidFill>
            <a:prstDash val="solid"/>
          </a:ln>
        </p:spPr>
      </p:sp>
      <p:sp>
        <p:nvSpPr>
          <p:cNvPr id="39" name="Text 36"/>
          <p:cNvSpPr txBox="1"/>
          <p:nvPr/>
        </p:nvSpPr>
        <p:spPr>
          <a:xfrm>
            <a:off x="2286000" y="3995928"/>
            <a:ext cx="1463040" cy="201168"/>
          </a:xfrm>
          <a:prstGeom prst="rect">
            <a:avLst/>
          </a:prstGeom>
          <a:noFill/>
          <a:ln/>
        </p:spPr>
        <p:txBody>
          <a:bodyPr wrap="square" lIns="0" tIns="0" rIns="0" bIns="0" rtlCol="0" anchor="ctr"/>
          <a:lstStyle/>
          <a:p>
            <a:pPr marL="0" indent="0" algn="ctr">
              <a:buNone/>
            </a:pPr>
            <a:r>
              <a:rPr lang="en-US" sz="1000" b="1" dirty="0">
                <a:solidFill>
                  <a:srgbClr val="0E7C86"/>
                </a:solidFill>
                <a:latin typeface="Calibri" pitchFamily="34" charset="0"/>
                <a:ea typeface="Calibri" pitchFamily="34" charset="-122"/>
                <a:cs typeface="Calibri" pitchFamily="34" charset="-120"/>
              </a:rPr>
              <a:t>Codes d'erreur API</a:t>
            </a:r>
            <a:endParaRPr lang="en-US" sz="1000" dirty="0"/>
          </a:p>
        </p:txBody>
      </p:sp>
      <p:sp>
        <p:nvSpPr>
          <p:cNvPr id="40" name="Shape 37"/>
          <p:cNvSpPr/>
          <p:nvPr/>
        </p:nvSpPr>
        <p:spPr>
          <a:xfrm>
            <a:off x="1188720" y="2057400"/>
            <a:ext cx="960120" cy="960120"/>
          </a:xfrm>
          <a:prstGeom prst="ellipse">
            <a:avLst/>
          </a:prstGeom>
          <a:solidFill>
            <a:srgbClr val="00A86A">
              <a:alpha val="8000"/>
            </a:srgbClr>
          </a:solidFill>
          <a:ln w="12700">
            <a:solidFill>
              <a:srgbClr val="5E6964"/>
            </a:solidFill>
            <a:prstDash val="dash"/>
          </a:ln>
        </p:spPr>
      </p:sp>
      <p:sp>
        <p:nvSpPr>
          <p:cNvPr id="41" name="Shape 38"/>
          <p:cNvSpPr/>
          <p:nvPr/>
        </p:nvSpPr>
        <p:spPr>
          <a:xfrm>
            <a:off x="1673352" y="2560320"/>
            <a:ext cx="219456" cy="219456"/>
          </a:xfrm>
          <a:prstGeom prst="star5">
            <a:avLst/>
          </a:prstGeom>
          <a:solidFill>
            <a:srgbClr val="B83B2E"/>
          </a:solidFill>
          <a:ln w="9525">
            <a:solidFill>
              <a:srgbClr val="FFFFFF"/>
            </a:solidFill>
            <a:prstDash val="solid"/>
          </a:ln>
        </p:spPr>
      </p:sp>
      <p:sp>
        <p:nvSpPr>
          <p:cNvPr id="42" name="Text 39"/>
          <p:cNvSpPr txBox="1"/>
          <p:nvPr/>
        </p:nvSpPr>
        <p:spPr>
          <a:xfrm>
            <a:off x="640080" y="3108960"/>
            <a:ext cx="2743200" cy="201168"/>
          </a:xfrm>
          <a:prstGeom prst="rect">
            <a:avLst/>
          </a:prstGeom>
          <a:noFill/>
          <a:ln/>
        </p:spPr>
        <p:txBody>
          <a:bodyPr wrap="square" lIns="0" tIns="0" rIns="0" bIns="0" rtlCol="0" anchor="ctr"/>
          <a:lstStyle/>
          <a:p>
            <a:pPr marL="0" indent="0">
              <a:buNone/>
            </a:pPr>
            <a:r>
              <a:rPr lang="en-US" sz="1000" b="1" dirty="0">
                <a:solidFill>
                  <a:srgbClr val="B83B2E"/>
                </a:solidFill>
                <a:latin typeface="Calibri" pitchFamily="34" charset="0"/>
                <a:ea typeface="Calibri" pitchFamily="34" charset="-122"/>
                <a:cs typeface="Calibri" pitchFamily="34" charset="-120"/>
              </a:rPr>
              <a:t>Requête : « Comment récupérer mon argent ? »</a:t>
            </a:r>
            <a:endParaRPr lang="en-US" sz="1000" dirty="0"/>
          </a:p>
        </p:txBody>
      </p:sp>
      <p:sp>
        <p:nvSpPr>
          <p:cNvPr id="43" name="Text 40"/>
          <p:cNvSpPr txBox="1"/>
          <p:nvPr/>
        </p:nvSpPr>
        <p:spPr>
          <a:xfrm>
            <a:off x="640080" y="4251960"/>
            <a:ext cx="3749040" cy="347472"/>
          </a:xfrm>
          <a:prstGeom prst="rect">
            <a:avLst/>
          </a:prstGeom>
          <a:noFill/>
          <a:ln/>
        </p:spPr>
        <p:txBody>
          <a:bodyPr wrap="square" lIns="0" tIns="0" rIns="0" bIns="0" rtlCol="0" anchor="ctr"/>
          <a:lstStyle/>
          <a:p>
            <a:pPr marL="0" indent="0">
              <a:buNone/>
            </a:pPr>
            <a:r>
              <a:rPr lang="en-US" sz="1000" dirty="0">
                <a:solidFill>
                  <a:srgbClr val="5E6964"/>
                </a:solidFill>
                <a:latin typeface="Calibri" pitchFamily="34" charset="0"/>
                <a:ea typeface="Calibri" pitchFamily="34" charset="-122"/>
                <a:cs typeface="Calibri" pitchFamily="34" charset="-120"/>
              </a:rPr>
              <a:t>Aucun mot commun avec « remboursement », et pourtant son vecteur tombe près de ces passages.</a:t>
            </a:r>
            <a:endParaRPr lang="en-US" sz="1000" dirty="0"/>
          </a:p>
        </p:txBody>
      </p:sp>
      <p:sp>
        <p:nvSpPr>
          <p:cNvPr id="44" name="Text 41"/>
          <p:cNvSpPr txBox="1"/>
          <p:nvPr/>
        </p:nvSpPr>
        <p:spPr>
          <a:xfrm>
            <a:off x="4846320" y="1325880"/>
            <a:ext cx="3840480" cy="274320"/>
          </a:xfrm>
          <a:prstGeom prst="rect">
            <a:avLst/>
          </a:prstGeom>
          <a:noFill/>
          <a:ln/>
        </p:spPr>
        <p:txBody>
          <a:bodyPr wrap="square" lIns="0" tIns="0" rIns="0" bIns="0" rtlCol="0" anchor="ctr"/>
          <a:lstStyle/>
          <a:p>
            <a:pPr marL="0" indent="0">
              <a:buNone/>
            </a:pPr>
            <a:r>
              <a:rPr lang="en-US" sz="1500" b="1" dirty="0">
                <a:solidFill>
                  <a:srgbClr val="231F20"/>
                </a:solidFill>
                <a:latin typeface="Calibri" pitchFamily="34" charset="0"/>
                <a:ea typeface="Calibri" pitchFamily="34" charset="-122"/>
                <a:cs typeface="Calibri" pitchFamily="34" charset="-120"/>
              </a:rPr>
              <a:t>Mesure de similarité</a:t>
            </a:r>
            <a:endParaRPr lang="en-US" sz="1500" dirty="0"/>
          </a:p>
        </p:txBody>
      </p:sp>
      <p:sp>
        <p:nvSpPr>
          <p:cNvPr id="45" name="Shape 42"/>
          <p:cNvSpPr/>
          <p:nvPr/>
        </p:nvSpPr>
        <p:spPr>
          <a:xfrm>
            <a:off x="4846320" y="1645920"/>
            <a:ext cx="3840480" cy="530352"/>
          </a:xfrm>
          <a:prstGeom prst="roundRect">
            <a:avLst>
              <a:gd name="adj" fmla="val 13793"/>
            </a:avLst>
          </a:prstGeom>
          <a:solidFill>
            <a:srgbClr val="E8F5EF"/>
          </a:solidFill>
          <a:ln w="15875">
            <a:solidFill>
              <a:srgbClr val="00A86A"/>
            </a:solidFill>
            <a:prstDash val="solid"/>
          </a:ln>
        </p:spPr>
      </p:sp>
      <p:sp>
        <p:nvSpPr>
          <p:cNvPr id="46" name="Text 43"/>
          <p:cNvSpPr txBox="1"/>
          <p:nvPr/>
        </p:nvSpPr>
        <p:spPr>
          <a:xfrm>
            <a:off x="4846320" y="1645920"/>
            <a:ext cx="3840480" cy="530352"/>
          </a:xfrm>
          <a:prstGeom prst="rect">
            <a:avLst/>
          </a:prstGeom>
          <a:noFill/>
          <a:ln/>
        </p:spPr>
        <p:txBody>
          <a:bodyPr wrap="square" lIns="0" tIns="0" rIns="0" bIns="0" rtlCol="0" anchor="ctr"/>
          <a:lstStyle/>
          <a:p>
            <a:pPr marL="0" indent="0" algn="ctr">
              <a:buNone/>
            </a:pPr>
            <a:r>
              <a:rPr lang="en-US" sz="1800" b="1" dirty="0">
                <a:solidFill>
                  <a:srgbClr val="00704A"/>
                </a:solidFill>
                <a:latin typeface="Calibri" pitchFamily="34" charset="0"/>
                <a:ea typeface="Calibri" pitchFamily="34" charset="-122"/>
                <a:cs typeface="Calibri" pitchFamily="34" charset="-120"/>
              </a:rPr>
              <a:t>cos(q, d) = (q · d) / (‖q‖ ‖d‖)</a:t>
            </a:r>
            <a:endParaRPr lang="en-US" sz="1800" dirty="0"/>
          </a:p>
        </p:txBody>
      </p:sp>
      <p:sp>
        <p:nvSpPr>
          <p:cNvPr id="47" name="Text 44"/>
          <p:cNvSpPr txBox="1"/>
          <p:nvPr/>
        </p:nvSpPr>
        <p:spPr>
          <a:xfrm>
            <a:off x="4846320" y="2240280"/>
            <a:ext cx="3840480" cy="384048"/>
          </a:xfrm>
          <a:prstGeom prst="rect">
            <a:avLst/>
          </a:prstGeom>
          <a:noFill/>
          <a:ln/>
        </p:spPr>
        <p:txBody>
          <a:bodyPr wrap="square" lIns="0" tIns="0" rIns="0" bIns="0" rtlCol="0" anchor="ctr"/>
          <a:lstStyle/>
          <a:p>
            <a:pPr marL="0" indent="0">
              <a:buNone/>
            </a:pPr>
            <a:r>
              <a:rPr lang="en-US" sz="1100" dirty="0">
                <a:solidFill>
                  <a:srgbClr val="5E6964"/>
                </a:solidFill>
                <a:latin typeface="Calibri" pitchFamily="34" charset="0"/>
                <a:ea typeface="Calibri" pitchFamily="34" charset="-122"/>
                <a:cs typeface="Calibri" pitchFamily="34" charset="-120"/>
              </a:rPr>
              <a:t>Score proche de 1 = même sens. Produit scalaire et distance euclidienne sont aussi courants.</a:t>
            </a:r>
            <a:endParaRPr lang="en-US" sz="1100" dirty="0"/>
          </a:p>
        </p:txBody>
      </p:sp>
      <p:sp>
        <p:nvSpPr>
          <p:cNvPr id="48" name="Text 45"/>
          <p:cNvSpPr txBox="1"/>
          <p:nvPr/>
        </p:nvSpPr>
        <p:spPr>
          <a:xfrm>
            <a:off x="4846320" y="2724912"/>
            <a:ext cx="3840480" cy="274320"/>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Index de plus proches voisins approchés (ANN)</a:t>
            </a:r>
            <a:endParaRPr lang="en-US" sz="1400" dirty="0"/>
          </a:p>
        </p:txBody>
      </p:sp>
      <p:sp>
        <p:nvSpPr>
          <p:cNvPr id="49" name="Shape 46"/>
          <p:cNvSpPr/>
          <p:nvPr/>
        </p:nvSpPr>
        <p:spPr>
          <a:xfrm>
            <a:off x="4846320" y="3072384"/>
            <a:ext cx="731520" cy="310896"/>
          </a:xfrm>
          <a:prstGeom prst="roundRect">
            <a:avLst>
              <a:gd name="adj" fmla="val 50000"/>
            </a:avLst>
          </a:prstGeom>
          <a:solidFill>
            <a:srgbClr val="00704A">
              <a:alpha val="15000"/>
            </a:srgbClr>
          </a:solidFill>
          <a:ln w="9525">
            <a:solidFill>
              <a:srgbClr val="00704A"/>
            </a:solidFill>
            <a:prstDash val="solid"/>
          </a:ln>
        </p:spPr>
      </p:sp>
      <p:sp>
        <p:nvSpPr>
          <p:cNvPr id="50" name="Text 47"/>
          <p:cNvSpPr txBox="1"/>
          <p:nvPr/>
        </p:nvSpPr>
        <p:spPr>
          <a:xfrm>
            <a:off x="4846320" y="3072384"/>
            <a:ext cx="731520" cy="310896"/>
          </a:xfrm>
          <a:prstGeom prst="rect">
            <a:avLst/>
          </a:prstGeom>
          <a:noFill/>
          <a:ln/>
        </p:spPr>
        <p:txBody>
          <a:bodyPr wrap="square" lIns="0" tIns="0" rIns="0" bIns="0" rtlCol="0" anchor="ctr"/>
          <a:lstStyle/>
          <a:p>
            <a:pPr marL="0" indent="0" algn="ctr">
              <a:buNone/>
            </a:pPr>
            <a:r>
              <a:rPr lang="en-US" sz="1100" b="1" dirty="0">
                <a:solidFill>
                  <a:srgbClr val="00704A"/>
                </a:solidFill>
                <a:latin typeface="Calibri" pitchFamily="34" charset="0"/>
                <a:ea typeface="Calibri" pitchFamily="34" charset="-122"/>
                <a:cs typeface="Calibri" pitchFamily="34" charset="-120"/>
              </a:rPr>
              <a:t>HNSW</a:t>
            </a:r>
            <a:endParaRPr lang="en-US" sz="1100" dirty="0"/>
          </a:p>
        </p:txBody>
      </p:sp>
      <p:sp>
        <p:nvSpPr>
          <p:cNvPr id="51" name="Text 48"/>
          <p:cNvSpPr txBox="1"/>
          <p:nvPr/>
        </p:nvSpPr>
        <p:spPr>
          <a:xfrm>
            <a:off x="5715000" y="3072384"/>
            <a:ext cx="2971800" cy="310896"/>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Graphe de proximité multicouche ; rapide, bon rappel</a:t>
            </a:r>
            <a:endParaRPr lang="en-US" sz="1050" dirty="0"/>
          </a:p>
        </p:txBody>
      </p:sp>
      <p:sp>
        <p:nvSpPr>
          <p:cNvPr id="52" name="Shape 49"/>
          <p:cNvSpPr/>
          <p:nvPr/>
        </p:nvSpPr>
        <p:spPr>
          <a:xfrm>
            <a:off x="4846320" y="3502152"/>
            <a:ext cx="731520" cy="310896"/>
          </a:xfrm>
          <a:prstGeom prst="roundRect">
            <a:avLst>
              <a:gd name="adj" fmla="val 50000"/>
            </a:avLst>
          </a:prstGeom>
          <a:solidFill>
            <a:srgbClr val="00704A">
              <a:alpha val="15000"/>
            </a:srgbClr>
          </a:solidFill>
          <a:ln w="9525">
            <a:solidFill>
              <a:srgbClr val="00704A"/>
            </a:solidFill>
            <a:prstDash val="solid"/>
          </a:ln>
        </p:spPr>
      </p:sp>
      <p:sp>
        <p:nvSpPr>
          <p:cNvPr id="53" name="Text 50"/>
          <p:cNvSpPr txBox="1"/>
          <p:nvPr/>
        </p:nvSpPr>
        <p:spPr>
          <a:xfrm>
            <a:off x="4846320" y="3502152"/>
            <a:ext cx="731520" cy="310896"/>
          </a:xfrm>
          <a:prstGeom prst="rect">
            <a:avLst/>
          </a:prstGeom>
          <a:noFill/>
          <a:ln/>
        </p:spPr>
        <p:txBody>
          <a:bodyPr wrap="square" lIns="0" tIns="0" rIns="0" bIns="0" rtlCol="0" anchor="ctr"/>
          <a:lstStyle/>
          <a:p>
            <a:pPr marL="0" indent="0" algn="ctr">
              <a:buNone/>
            </a:pPr>
            <a:r>
              <a:rPr lang="en-US" sz="1100" b="1" dirty="0">
                <a:solidFill>
                  <a:srgbClr val="00704A"/>
                </a:solidFill>
                <a:latin typeface="Calibri" pitchFamily="34" charset="0"/>
                <a:ea typeface="Calibri" pitchFamily="34" charset="-122"/>
                <a:cs typeface="Calibri" pitchFamily="34" charset="-120"/>
              </a:rPr>
              <a:t>IVF</a:t>
            </a:r>
            <a:endParaRPr lang="en-US" sz="1100" dirty="0"/>
          </a:p>
        </p:txBody>
      </p:sp>
      <p:sp>
        <p:nvSpPr>
          <p:cNvPr id="54" name="Text 51"/>
          <p:cNvSpPr txBox="1"/>
          <p:nvPr/>
        </p:nvSpPr>
        <p:spPr>
          <a:xfrm>
            <a:off x="5715000" y="3502152"/>
            <a:ext cx="2971800" cy="310896"/>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Regroupe les vecteurs ; ne fouille que les groupes proches</a:t>
            </a:r>
            <a:endParaRPr lang="en-US" sz="1050" dirty="0"/>
          </a:p>
        </p:txBody>
      </p:sp>
      <p:sp>
        <p:nvSpPr>
          <p:cNvPr id="55" name="Shape 52"/>
          <p:cNvSpPr/>
          <p:nvPr/>
        </p:nvSpPr>
        <p:spPr>
          <a:xfrm>
            <a:off x="4846320" y="3931920"/>
            <a:ext cx="731520" cy="310896"/>
          </a:xfrm>
          <a:prstGeom prst="roundRect">
            <a:avLst>
              <a:gd name="adj" fmla="val 50000"/>
            </a:avLst>
          </a:prstGeom>
          <a:solidFill>
            <a:srgbClr val="00704A">
              <a:alpha val="15000"/>
            </a:srgbClr>
          </a:solidFill>
          <a:ln w="9525">
            <a:solidFill>
              <a:srgbClr val="00704A"/>
            </a:solidFill>
            <a:prstDash val="solid"/>
          </a:ln>
        </p:spPr>
      </p:sp>
      <p:sp>
        <p:nvSpPr>
          <p:cNvPr id="56" name="Text 53"/>
          <p:cNvSpPr txBox="1"/>
          <p:nvPr/>
        </p:nvSpPr>
        <p:spPr>
          <a:xfrm>
            <a:off x="4846320" y="3931920"/>
            <a:ext cx="731520" cy="310896"/>
          </a:xfrm>
          <a:prstGeom prst="rect">
            <a:avLst/>
          </a:prstGeom>
          <a:noFill/>
          <a:ln/>
        </p:spPr>
        <p:txBody>
          <a:bodyPr wrap="square" lIns="0" tIns="0" rIns="0" bIns="0" rtlCol="0" anchor="ctr"/>
          <a:lstStyle/>
          <a:p>
            <a:pPr marL="0" indent="0" algn="ctr">
              <a:buNone/>
            </a:pPr>
            <a:r>
              <a:rPr lang="en-US" sz="1100" b="1" dirty="0">
                <a:solidFill>
                  <a:srgbClr val="00704A"/>
                </a:solidFill>
                <a:latin typeface="Calibri" pitchFamily="34" charset="0"/>
                <a:ea typeface="Calibri" pitchFamily="34" charset="-122"/>
                <a:cs typeface="Calibri" pitchFamily="34" charset="-120"/>
              </a:rPr>
              <a:t>PQ</a:t>
            </a:r>
            <a:endParaRPr lang="en-US" sz="1100" dirty="0"/>
          </a:p>
        </p:txBody>
      </p:sp>
      <p:sp>
        <p:nvSpPr>
          <p:cNvPr id="57" name="Text 54"/>
          <p:cNvSpPr txBox="1"/>
          <p:nvPr/>
        </p:nvSpPr>
        <p:spPr>
          <a:xfrm>
            <a:off x="5715000" y="3931920"/>
            <a:ext cx="2971800" cy="310896"/>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Compresse les vecteurs pour réduire la mémoire</a:t>
            </a:r>
            <a:endParaRPr lang="en-US" sz="1050" dirty="0"/>
          </a:p>
        </p:txBody>
      </p:sp>
      <p:sp>
        <p:nvSpPr>
          <p:cNvPr id="58" name="Text 55"/>
          <p:cNvSpPr txBox="1"/>
          <p:nvPr/>
        </p:nvSpPr>
        <p:spPr>
          <a:xfrm>
            <a:off x="4846320" y="4416552"/>
            <a:ext cx="384048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L'ANN sacrifie un peu d'exactitude pour chercher en millisecondes parmi des millions de vecteurs.</a:t>
            </a:r>
            <a:endParaRPr lang="en-US" sz="900" dirty="0"/>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822960"/>
            <a:ext cx="2743200" cy="274320"/>
          </a:xfrm>
          <a:prstGeom prst="rect">
            <a:avLst/>
          </a:prstGeom>
          <a:noFill/>
          <a:ln/>
        </p:spPr>
        <p:txBody>
          <a:bodyPr wrap="square" lIns="0" tIns="0" rIns="0" bIns="0" rtlCol="0" anchor="ctr"/>
          <a:lstStyle/>
          <a:p>
            <a:pPr marL="0" indent="0">
              <a:buNone/>
            </a:pPr>
            <a:r>
              <a:rPr lang="en-US" sz="1200" b="1" kern="0" spc="400" dirty="0">
                <a:solidFill>
                  <a:srgbClr val="F5C242"/>
                </a:solidFill>
                <a:latin typeface="Calibri" pitchFamily="34" charset="0"/>
                <a:ea typeface="Calibri" pitchFamily="34" charset="-122"/>
                <a:cs typeface="Calibri" pitchFamily="34" charset="-120"/>
              </a:rPr>
              <a:t>SECTION</a:t>
            </a:r>
            <a:endParaRPr lang="en-US" sz="1200" dirty="0"/>
          </a:p>
        </p:txBody>
      </p:sp>
      <p:sp>
        <p:nvSpPr>
          <p:cNvPr id="3" name="Text 1"/>
          <p:cNvSpPr txBox="1"/>
          <p:nvPr/>
        </p:nvSpPr>
        <p:spPr>
          <a:xfrm>
            <a:off x="502920" y="1051560"/>
            <a:ext cx="2743200" cy="1463040"/>
          </a:xfrm>
          <a:prstGeom prst="rect">
            <a:avLst/>
          </a:prstGeom>
          <a:noFill/>
          <a:ln/>
        </p:spPr>
        <p:txBody>
          <a:bodyPr wrap="square" lIns="0" tIns="0" rIns="0" bIns="0" rtlCol="0" anchor="ctr"/>
          <a:lstStyle/>
          <a:p>
            <a:pPr marL="0" indent="0">
              <a:buNone/>
            </a:pPr>
            <a:r>
              <a:rPr lang="en-US" sz="11000" b="1" dirty="0">
                <a:solidFill>
                  <a:srgbClr val="F5C242"/>
                </a:solidFill>
                <a:latin typeface="Calibri" pitchFamily="34" charset="0"/>
                <a:ea typeface="Calibri" pitchFamily="34" charset="-122"/>
                <a:cs typeface="Calibri" pitchFamily="34" charset="-120"/>
              </a:rPr>
              <a:t>03</a:t>
            </a:r>
            <a:endParaRPr lang="en-US" sz="11000" dirty="0"/>
          </a:p>
        </p:txBody>
      </p:sp>
      <p:sp>
        <p:nvSpPr>
          <p:cNvPr id="4" name="Text 2"/>
          <p:cNvSpPr txBox="1"/>
          <p:nvPr/>
        </p:nvSpPr>
        <p:spPr>
          <a:xfrm>
            <a:off x="548640" y="2606040"/>
            <a:ext cx="5120640" cy="68580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Preuves</a:t>
            </a:r>
            <a:endParaRPr lang="en-US" sz="4000" dirty="0"/>
          </a:p>
        </p:txBody>
      </p:sp>
      <p:sp>
        <p:nvSpPr>
          <p:cNvPr id="5" name="Text 3"/>
          <p:cNvSpPr txBox="1"/>
          <p:nvPr/>
        </p:nvSpPr>
        <p:spPr>
          <a:xfrm>
            <a:off x="548640" y="3337560"/>
            <a:ext cx="5120640" cy="457200"/>
          </a:xfrm>
          <a:prstGeom prst="rect">
            <a:avLst/>
          </a:prstGeom>
          <a:noFill/>
          <a:ln/>
        </p:spPr>
        <p:txBody>
          <a:bodyPr wrap="square" lIns="0" tIns="0" rIns="0" bIns="0" rtlCol="0" anchor="ctr"/>
          <a:lstStyle/>
          <a:p>
            <a:pPr marL="0" indent="0">
              <a:buNone/>
            </a:pPr>
            <a:r>
              <a:rPr lang="en-US" sz="1800" i="1" dirty="0">
                <a:solidFill>
                  <a:srgbClr val="E6F6EE"/>
                </a:solidFill>
                <a:latin typeface="Calibri" pitchFamily="34" charset="0"/>
                <a:ea typeface="Calibri" pitchFamily="34" charset="-122"/>
                <a:cs typeface="Calibri" pitchFamily="34" charset="-120"/>
              </a:rPr>
              <a:t>La récupération améliore-t-elle vraiment les réponses ?</a:t>
            </a:r>
            <a:endParaRPr lang="en-US" sz="1800" dirty="0"/>
          </a:p>
        </p:txBody>
      </p:sp>
      <p:sp>
        <p:nvSpPr>
          <p:cNvPr id="6" name="Shape 4"/>
          <p:cNvSpPr/>
          <p:nvPr/>
        </p:nvSpPr>
        <p:spPr>
          <a:xfrm>
            <a:off x="548640" y="4160520"/>
            <a:ext cx="137160" cy="137160"/>
          </a:xfrm>
          <a:prstGeom prst="ellipse">
            <a:avLst/>
          </a:prstGeom>
          <a:solidFill>
            <a:srgbClr val="FFFFFF">
              <a:alpha val="40000"/>
            </a:srgbClr>
          </a:solidFill>
          <a:ln w="12700">
            <a:solidFill>
              <a:srgbClr val="FFFFFF">
                <a:alpha val="0"/>
              </a:srgbClr>
            </a:solidFill>
            <a:prstDash val="solid"/>
          </a:ln>
        </p:spPr>
      </p:sp>
      <p:sp>
        <p:nvSpPr>
          <p:cNvPr id="7" name="Shape 5"/>
          <p:cNvSpPr/>
          <p:nvPr/>
        </p:nvSpPr>
        <p:spPr>
          <a:xfrm>
            <a:off x="804672" y="4160520"/>
            <a:ext cx="137160" cy="137160"/>
          </a:xfrm>
          <a:prstGeom prst="ellipse">
            <a:avLst/>
          </a:prstGeom>
          <a:solidFill>
            <a:srgbClr val="FFFFFF">
              <a:alpha val="40000"/>
            </a:srgbClr>
          </a:solidFill>
          <a:ln w="12700">
            <a:solidFill>
              <a:srgbClr val="FFFFFF">
                <a:alpha val="0"/>
              </a:srgbClr>
            </a:solidFill>
            <a:prstDash val="solid"/>
          </a:ln>
        </p:spPr>
      </p:sp>
      <p:sp>
        <p:nvSpPr>
          <p:cNvPr id="8" name="Shape 6"/>
          <p:cNvSpPr/>
          <p:nvPr/>
        </p:nvSpPr>
        <p:spPr>
          <a:xfrm>
            <a:off x="1060704" y="4160520"/>
            <a:ext cx="137160" cy="137160"/>
          </a:xfrm>
          <a:prstGeom prst="ellipse">
            <a:avLst/>
          </a:prstGeom>
          <a:solidFill>
            <a:srgbClr val="F5C242"/>
          </a:solidFill>
          <a:ln w="12700">
            <a:solidFill>
              <a:srgbClr val="FFFFFF">
                <a:alpha val="0"/>
              </a:srgbClr>
            </a:solidFill>
            <a:prstDash val="solid"/>
          </a:ln>
        </p:spPr>
      </p:sp>
      <p:sp>
        <p:nvSpPr>
          <p:cNvPr id="9" name="Shape 7"/>
          <p:cNvSpPr/>
          <p:nvPr/>
        </p:nvSpPr>
        <p:spPr>
          <a:xfrm>
            <a:off x="1316736" y="4160520"/>
            <a:ext cx="137160" cy="137160"/>
          </a:xfrm>
          <a:prstGeom prst="ellipse">
            <a:avLst/>
          </a:prstGeom>
          <a:solidFill>
            <a:srgbClr val="FFFFFF">
              <a:alpha val="40000"/>
            </a:srgbClr>
          </a:solidFill>
          <a:ln w="12700">
            <a:solidFill>
              <a:srgbClr val="FFFFFF">
                <a:alpha val="0"/>
              </a:srgbClr>
            </a:solidFill>
            <a:prstDash val="solid"/>
          </a:ln>
        </p:spPr>
      </p:sp>
      <p:sp>
        <p:nvSpPr>
          <p:cNvPr id="10" name="Shape 8"/>
          <p:cNvSpPr/>
          <p:nvPr/>
        </p:nvSpPr>
        <p:spPr>
          <a:xfrm>
            <a:off x="1572768" y="4160520"/>
            <a:ext cx="137160" cy="137160"/>
          </a:xfrm>
          <a:prstGeom prst="ellipse">
            <a:avLst/>
          </a:prstGeom>
          <a:solidFill>
            <a:srgbClr val="FFFFFF">
              <a:alpha val="40000"/>
            </a:srgbClr>
          </a:solidFill>
          <a:ln w="12700">
            <a:solidFill>
              <a:srgbClr val="FFFFFF">
                <a:alpha val="0"/>
              </a:srgbClr>
            </a:solidFill>
            <a:prstDash val="solid"/>
          </a:ln>
        </p:spPr>
      </p:sp>
      <p:sp>
        <p:nvSpPr>
          <p:cNvPr id="11" name="Shape 9"/>
          <p:cNvSpPr/>
          <p:nvPr/>
        </p:nvSpPr>
        <p:spPr>
          <a:xfrm>
            <a:off x="1828800" y="4160520"/>
            <a:ext cx="137160" cy="137160"/>
          </a:xfrm>
          <a:prstGeom prst="ellipse">
            <a:avLst/>
          </a:prstGeom>
          <a:solidFill>
            <a:srgbClr val="FFFFFF">
              <a:alpha val="40000"/>
            </a:srgbClr>
          </a:solidFill>
          <a:ln w="12700">
            <a:solidFill>
              <a:srgbClr val="FFFFFF">
                <a:alpha val="0"/>
              </a:srgbClr>
            </a:solidFill>
            <a:prstDash val="solid"/>
          </a:ln>
        </p:spPr>
      </p:sp>
      <p:sp>
        <p:nvSpPr>
          <p:cNvPr id="12" name="Shape 10"/>
          <p:cNvSpPr/>
          <p:nvPr/>
        </p:nvSpPr>
        <p:spPr>
          <a:xfrm>
            <a:off x="5349240" y="777240"/>
            <a:ext cx="3474720" cy="3474720"/>
          </a:xfrm>
          <a:prstGeom prst="ellipse">
            <a:avLst/>
          </a:prstGeom>
          <a:solidFill>
            <a:srgbClr val="FFFFFF">
              <a:alpha val="0"/>
            </a:srgbClr>
          </a:solidFill>
          <a:ln w="15875">
            <a:solidFill>
              <a:srgbClr val="FFFFFF">
                <a:alpha val="18000"/>
              </a:srgbClr>
            </a:solidFill>
            <a:prstDash val="solid"/>
          </a:ln>
        </p:spPr>
      </p:sp>
      <p:sp>
        <p:nvSpPr>
          <p:cNvPr id="13" name="Shape 11"/>
          <p:cNvSpPr/>
          <p:nvPr/>
        </p:nvSpPr>
        <p:spPr>
          <a:xfrm>
            <a:off x="5760720" y="1188720"/>
            <a:ext cx="2651760" cy="2651760"/>
          </a:xfrm>
          <a:prstGeom prst="ellipse">
            <a:avLst/>
          </a:prstGeom>
          <a:solidFill>
            <a:srgbClr val="FFFFFF">
              <a:alpha val="0"/>
            </a:srgbClr>
          </a:solidFill>
          <a:ln w="15875">
            <a:solidFill>
              <a:srgbClr val="FFFFFF">
                <a:alpha val="30000"/>
              </a:srgbClr>
            </a:solidFill>
            <a:prstDash val="solid"/>
          </a:ln>
        </p:spPr>
      </p:sp>
      <p:sp>
        <p:nvSpPr>
          <p:cNvPr id="14" name="Shape 12"/>
          <p:cNvSpPr/>
          <p:nvPr/>
        </p:nvSpPr>
        <p:spPr>
          <a:xfrm>
            <a:off x="6172200" y="1600200"/>
            <a:ext cx="1828800" cy="1828800"/>
          </a:xfrm>
          <a:prstGeom prst="ellipse">
            <a:avLst/>
          </a:prstGeom>
          <a:solidFill>
            <a:srgbClr val="FFFFFF">
              <a:alpha val="0"/>
            </a:srgbClr>
          </a:solidFill>
          <a:ln w="15875">
            <a:solidFill>
              <a:srgbClr val="FFFFFF">
                <a:alpha val="45000"/>
              </a:srgbClr>
            </a:solidFill>
            <a:prstDash val="solid"/>
          </a:ln>
        </p:spPr>
      </p:sp>
      <p:sp>
        <p:nvSpPr>
          <p:cNvPr id="15" name="Shape 13"/>
          <p:cNvSpPr/>
          <p:nvPr/>
        </p:nvSpPr>
        <p:spPr>
          <a:xfrm>
            <a:off x="6492240" y="1920240"/>
            <a:ext cx="1188720" cy="1188720"/>
          </a:xfrm>
          <a:prstGeom prst="ellipse">
            <a:avLst/>
          </a:prstGeom>
          <a:solidFill>
            <a:srgbClr val="FFFFFF"/>
          </a:solidFill>
          <a:ln w="12700">
            <a:solidFill>
              <a:srgbClr val="FFFFFF"/>
            </a:solidFill>
            <a:prstDash val="solid"/>
          </a:ln>
        </p:spPr>
      </p:sp>
      <p:pic>
        <p:nvPicPr>
          <p:cNvPr id="16" name="Image 0" descr="preencoded.png"/>
          <p:cNvPicPr>
            <a:picLocks noChangeAspect="1"/>
          </p:cNvPicPr>
          <p:nvPr/>
        </p:nvPicPr>
        <p:blipFill>
          <a:blip r:embed="rId4"/>
          <a:stretch>
            <a:fillRect/>
          </a:stretch>
        </p:blipFill>
        <p:spPr>
          <a:xfrm>
            <a:off x="6777533" y="2205533"/>
            <a:ext cx="618134" cy="618134"/>
          </a:xfrm>
          <a:prstGeom prst="rect">
            <a:avLst/>
          </a:prstGeom>
        </p:spPr>
      </p:pic>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PREUVES</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La récupération bat la simple taille du modèle</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0E7C86"/>
          </a:solidFill>
          <a:ln w="12700">
            <a:solidFill>
              <a:srgbClr val="0E7C86"/>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694944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ATI · Big Data pour les statistiques macroéconomiques · Maurice, 26–30 oct. 2026   |   BAD · Data Innovation for Africa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24</a:t>
            </a:r>
            <a:endParaRPr lang="en-US" sz="850" dirty="0"/>
          </a:p>
        </p:txBody>
      </p:sp>
      <p:graphicFrame>
        <p:nvGraphicFramePr>
          <p:cNvPr id="17" name="Chart 0"/>
          <p:cNvGraphicFramePr/>
          <p:nvPr/>
        </p:nvGraphicFramePr>
        <p:xfrm>
          <a:off x="365760" y="1280160"/>
          <a:ext cx="512064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18" name="Shape 14"/>
          <p:cNvSpPr/>
          <p:nvPr/>
        </p:nvSpPr>
        <p:spPr>
          <a:xfrm>
            <a:off x="5760720" y="1325880"/>
            <a:ext cx="2926080" cy="1280160"/>
          </a:xfrm>
          <a:prstGeom prst="roundRect">
            <a:avLst>
              <a:gd name="adj" fmla="val 5714"/>
            </a:avLst>
          </a:prstGeom>
          <a:solidFill>
            <a:srgbClr val="F4F7F5"/>
          </a:solidFill>
          <a:ln w="9525">
            <a:solidFill>
              <a:srgbClr val="D5DED9"/>
            </a:solidFill>
            <a:prstDash val="solid"/>
          </a:ln>
        </p:spPr>
      </p:sp>
      <p:sp>
        <p:nvSpPr>
          <p:cNvPr id="19" name="Text 15"/>
          <p:cNvSpPr txBox="1"/>
          <p:nvPr/>
        </p:nvSpPr>
        <p:spPr>
          <a:xfrm>
            <a:off x="5943600" y="1417320"/>
            <a:ext cx="2651760" cy="566928"/>
          </a:xfrm>
          <a:prstGeom prst="rect">
            <a:avLst/>
          </a:prstGeom>
          <a:noFill/>
          <a:ln/>
        </p:spPr>
        <p:txBody>
          <a:bodyPr wrap="square" lIns="0" tIns="0" rIns="0" bIns="0" rtlCol="0" anchor="ctr"/>
          <a:lstStyle/>
          <a:p>
            <a:pPr marL="0" indent="0">
              <a:buNone/>
            </a:pPr>
            <a:r>
              <a:rPr lang="en-US" sz="4000" b="1" dirty="0">
                <a:solidFill>
                  <a:srgbClr val="00704A"/>
                </a:solidFill>
                <a:latin typeface="Calibri" pitchFamily="34" charset="0"/>
                <a:ea typeface="Calibri" pitchFamily="34" charset="-122"/>
                <a:cs typeface="Calibri" pitchFamily="34" charset="-120"/>
              </a:rPr>
              <a:t>626 M</a:t>
            </a:r>
            <a:endParaRPr lang="en-US" sz="4000" dirty="0"/>
          </a:p>
        </p:txBody>
      </p:sp>
      <p:sp>
        <p:nvSpPr>
          <p:cNvPr id="20" name="Text 16"/>
          <p:cNvSpPr txBox="1"/>
          <p:nvPr/>
        </p:nvSpPr>
        <p:spPr>
          <a:xfrm>
            <a:off x="5943600" y="2011680"/>
            <a:ext cx="2606040" cy="548640"/>
          </a:xfrm>
          <a:prstGeom prst="rect">
            <a:avLst/>
          </a:prstGeom>
          <a:noFill/>
          <a:ln/>
        </p:spPr>
        <p:txBody>
          <a:bodyPr wrap="square" lIns="0" tIns="0" rIns="0" bIns="0" rtlCol="0" anchor="t"/>
          <a:lstStyle/>
          <a:p>
            <a:pPr marL="0" indent="0">
              <a:buNone/>
            </a:pPr>
            <a:r>
              <a:rPr lang="en-US" sz="1100" dirty="0">
                <a:solidFill>
                  <a:srgbClr val="5E6964"/>
                </a:solidFill>
                <a:latin typeface="Calibri" pitchFamily="34" charset="0"/>
                <a:ea typeface="Calibri" pitchFamily="34" charset="-122"/>
                <a:cs typeface="Calibri" pitchFamily="34" charset="-120"/>
              </a:rPr>
              <a:t>paramètres entraînables pour RAG — contre 11 Md pour T5-11B, qu'il surpasse.</a:t>
            </a:r>
            <a:endParaRPr lang="en-US" sz="1100" dirty="0"/>
          </a:p>
        </p:txBody>
      </p:sp>
      <p:sp>
        <p:nvSpPr>
          <p:cNvPr id="21" name="Shape 17"/>
          <p:cNvSpPr/>
          <p:nvPr/>
        </p:nvSpPr>
        <p:spPr>
          <a:xfrm>
            <a:off x="5760720" y="2743200"/>
            <a:ext cx="2926080" cy="1280160"/>
          </a:xfrm>
          <a:prstGeom prst="roundRect">
            <a:avLst>
              <a:gd name="adj" fmla="val 5714"/>
            </a:avLst>
          </a:prstGeom>
          <a:solidFill>
            <a:srgbClr val="F4F7F5"/>
          </a:solidFill>
          <a:ln w="9525">
            <a:solidFill>
              <a:srgbClr val="D5DED9"/>
            </a:solidFill>
            <a:prstDash val="solid"/>
          </a:ln>
        </p:spPr>
      </p:sp>
      <p:sp>
        <p:nvSpPr>
          <p:cNvPr id="22" name="Text 18"/>
          <p:cNvSpPr txBox="1"/>
          <p:nvPr/>
        </p:nvSpPr>
        <p:spPr>
          <a:xfrm>
            <a:off x="5943600" y="2834640"/>
            <a:ext cx="2651760" cy="566928"/>
          </a:xfrm>
          <a:prstGeom prst="rect">
            <a:avLst/>
          </a:prstGeom>
          <a:noFill/>
          <a:ln/>
        </p:spPr>
        <p:txBody>
          <a:bodyPr wrap="square" lIns="0" tIns="0" rIns="0" bIns="0" rtlCol="0" anchor="ctr"/>
          <a:lstStyle/>
          <a:p>
            <a:pPr marL="0" indent="0">
              <a:buNone/>
            </a:pPr>
            <a:r>
              <a:rPr lang="en-US" sz="2800" b="1" dirty="0">
                <a:solidFill>
                  <a:srgbClr val="D49A00"/>
                </a:solidFill>
                <a:latin typeface="Calibri" pitchFamily="34" charset="0"/>
                <a:ea typeface="Calibri" pitchFamily="34" charset="-122"/>
                <a:cs typeface="Calibri" pitchFamily="34" charset="-120"/>
              </a:rPr>
              <a:t>42,7 % vs 7,1 %</a:t>
            </a:r>
            <a:endParaRPr lang="en-US" sz="2800" dirty="0"/>
          </a:p>
        </p:txBody>
      </p:sp>
      <p:sp>
        <p:nvSpPr>
          <p:cNvPr id="23" name="Text 19"/>
          <p:cNvSpPr txBox="1"/>
          <p:nvPr/>
        </p:nvSpPr>
        <p:spPr>
          <a:xfrm>
            <a:off x="5943600" y="3429000"/>
            <a:ext cx="2606040" cy="548640"/>
          </a:xfrm>
          <a:prstGeom prst="rect">
            <a:avLst/>
          </a:prstGeom>
          <a:noFill/>
          <a:ln/>
        </p:spPr>
        <p:txBody>
          <a:bodyPr wrap="square" lIns="0" tIns="0" rIns="0" bIns="0" rtlCol="0" anchor="t"/>
          <a:lstStyle/>
          <a:p>
            <a:pPr marL="0" indent="0">
              <a:buNone/>
            </a:pPr>
            <a:r>
              <a:rPr lang="en-US" sz="1100" dirty="0">
                <a:solidFill>
                  <a:srgbClr val="5E6964"/>
                </a:solidFill>
                <a:latin typeface="Calibri" pitchFamily="34" charset="0"/>
                <a:ea typeface="Calibri" pitchFamily="34" charset="-122"/>
                <a:cs typeface="Calibri" pitchFamily="34" charset="-120"/>
              </a:rPr>
              <a:t>Génération Jeopardy : part des jugements humains trouvant RAG (vs BART) plus factuel.</a:t>
            </a:r>
            <a:endParaRPr lang="en-US" sz="1100" dirty="0"/>
          </a:p>
        </p:txBody>
      </p:sp>
      <p:sp>
        <p:nvSpPr>
          <p:cNvPr id="24" name="Text 20"/>
          <p:cNvSpPr txBox="1"/>
          <p:nvPr/>
        </p:nvSpPr>
        <p:spPr>
          <a:xfrm>
            <a:off x="5760720" y="4206240"/>
            <a:ext cx="292608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Source : Lewis et al., NeurIPS 2020 (tableaux 1 et 4). SSM = pré-entraînement par masquage de segments saillants.</a:t>
            </a:r>
            <a:endParaRPr lang="en-US" sz="900" dirty="0"/>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PREUVES</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 Lost in the Middle » : la position compte</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0E7C86"/>
          </a:solidFill>
          <a:ln w="12700">
            <a:solidFill>
              <a:srgbClr val="0E7C86"/>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694944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ATI · Big Data pour les statistiques macroéconomiques · Maurice, 26–30 oct. 2026   |   BAD · Data Innovation for Africa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25</a:t>
            </a:r>
            <a:endParaRPr lang="en-US" sz="850" dirty="0"/>
          </a:p>
        </p:txBody>
      </p:sp>
      <p:graphicFrame>
        <p:nvGraphicFramePr>
          <p:cNvPr id="17" name="Chart 0"/>
          <p:cNvGraphicFramePr/>
          <p:nvPr/>
        </p:nvGraphicFramePr>
        <p:xfrm>
          <a:off x="365760" y="1280160"/>
          <a:ext cx="5120640" cy="3246120"/>
        </p:xfrm>
        <a:graphic>
          <a:graphicData uri="http://schemas.openxmlformats.org/drawingml/2006/chart">
            <c:chart xmlns:c="http://schemas.openxmlformats.org/drawingml/2006/chart" xmlns:r="http://schemas.openxmlformats.org/officeDocument/2006/relationships" r:id="rId3"/>
          </a:graphicData>
        </a:graphic>
      </p:graphicFrame>
      <p:sp>
        <p:nvSpPr>
          <p:cNvPr id="18" name="Text 14"/>
          <p:cNvSpPr txBox="1"/>
          <p:nvPr/>
        </p:nvSpPr>
        <p:spPr>
          <a:xfrm>
            <a:off x="457200" y="4590288"/>
            <a:ext cx="512064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Source : Liu et al., « Lost in the Middle », TACL 2024 (tableau 6), NaturalQuestions-Open.</a:t>
            </a:r>
            <a:endParaRPr lang="en-US" sz="900" dirty="0"/>
          </a:p>
        </p:txBody>
      </p:sp>
      <p:sp>
        <p:nvSpPr>
          <p:cNvPr id="19" name="Shape 15"/>
          <p:cNvSpPr/>
          <p:nvPr/>
        </p:nvSpPr>
        <p:spPr>
          <a:xfrm>
            <a:off x="5760720" y="1325880"/>
            <a:ext cx="2926080" cy="1051560"/>
          </a:xfrm>
          <a:prstGeom prst="roundRect">
            <a:avLst>
              <a:gd name="adj" fmla="val 6957"/>
            </a:avLst>
          </a:prstGeom>
          <a:solidFill>
            <a:srgbClr val="F4F7F5"/>
          </a:solidFill>
          <a:ln w="9525">
            <a:solidFill>
              <a:srgbClr val="D5DED9"/>
            </a:solidFill>
            <a:prstDash val="solid"/>
          </a:ln>
        </p:spPr>
      </p:sp>
      <p:sp>
        <p:nvSpPr>
          <p:cNvPr id="20" name="Text 16"/>
          <p:cNvSpPr txBox="1"/>
          <p:nvPr/>
        </p:nvSpPr>
        <p:spPr>
          <a:xfrm>
            <a:off x="5943600" y="1371600"/>
            <a:ext cx="2651760" cy="530352"/>
          </a:xfrm>
          <a:prstGeom prst="rect">
            <a:avLst/>
          </a:prstGeom>
          <a:noFill/>
          <a:ln/>
        </p:spPr>
        <p:txBody>
          <a:bodyPr wrap="square" lIns="0" tIns="0" rIns="0" bIns="0" rtlCol="0" anchor="ctr"/>
          <a:lstStyle/>
          <a:p>
            <a:pPr marL="0" indent="0">
              <a:buNone/>
            </a:pPr>
            <a:r>
              <a:rPr lang="en-US" sz="3600" b="1" dirty="0">
                <a:solidFill>
                  <a:srgbClr val="B83B2E"/>
                </a:solidFill>
                <a:latin typeface="Calibri" pitchFamily="34" charset="0"/>
                <a:ea typeface="Calibri" pitchFamily="34" charset="-122"/>
                <a:cs typeface="Calibri" pitchFamily="34" charset="-120"/>
              </a:rPr>
              <a:t>−22 pts</a:t>
            </a:r>
            <a:endParaRPr lang="en-US" sz="3600" dirty="0"/>
          </a:p>
        </p:txBody>
      </p:sp>
      <p:sp>
        <p:nvSpPr>
          <p:cNvPr id="21" name="Text 17"/>
          <p:cNvSpPr txBox="1"/>
          <p:nvPr/>
        </p:nvSpPr>
        <p:spPr>
          <a:xfrm>
            <a:off x="5943600" y="1901952"/>
            <a:ext cx="2606040" cy="438912"/>
          </a:xfrm>
          <a:prstGeom prst="rect">
            <a:avLst/>
          </a:prstGeom>
          <a:noFill/>
          <a:ln/>
        </p:spPr>
        <p:txBody>
          <a:bodyPr wrap="square" lIns="0" tIns="0" rIns="0" bIns="0" rtlCol="0" anchor="ctr"/>
          <a:lstStyle/>
          <a:p>
            <a:pPr marL="0" indent="0">
              <a:buNone/>
            </a:pPr>
            <a:r>
              <a:rPr lang="en-US" sz="1100" dirty="0">
                <a:solidFill>
                  <a:srgbClr val="5E6964"/>
                </a:solidFill>
                <a:latin typeface="Calibri" pitchFamily="34" charset="0"/>
                <a:ea typeface="Calibri" pitchFamily="34" charset="-122"/>
                <a:cs typeface="Calibri" pitchFamily="34" charset="-120"/>
              </a:rPr>
              <a:t>de 75,8 % (réponse en tête) à 53,8 % (réponse au milieu).</a:t>
            </a:r>
            <a:endParaRPr lang="en-US" sz="1100" dirty="0"/>
          </a:p>
        </p:txBody>
      </p:sp>
      <p:sp>
        <p:nvSpPr>
          <p:cNvPr id="22" name="Shape 18"/>
          <p:cNvSpPr/>
          <p:nvPr/>
        </p:nvSpPr>
        <p:spPr>
          <a:xfrm>
            <a:off x="5760720" y="2514600"/>
            <a:ext cx="2926080" cy="1051560"/>
          </a:xfrm>
          <a:prstGeom prst="roundRect">
            <a:avLst>
              <a:gd name="adj" fmla="val 6957"/>
            </a:avLst>
          </a:prstGeom>
          <a:solidFill>
            <a:srgbClr val="F4F7F5"/>
          </a:solidFill>
          <a:ln w="9525">
            <a:solidFill>
              <a:srgbClr val="D5DED9"/>
            </a:solidFill>
            <a:prstDash val="solid"/>
          </a:ln>
        </p:spPr>
      </p:sp>
      <p:sp>
        <p:nvSpPr>
          <p:cNvPr id="23" name="Text 19"/>
          <p:cNvSpPr txBox="1"/>
          <p:nvPr/>
        </p:nvSpPr>
        <p:spPr>
          <a:xfrm>
            <a:off x="5943600" y="2560320"/>
            <a:ext cx="2651760" cy="502920"/>
          </a:xfrm>
          <a:prstGeom prst="rect">
            <a:avLst/>
          </a:prstGeom>
          <a:noFill/>
          <a:ln/>
        </p:spPr>
        <p:txBody>
          <a:bodyPr wrap="square" lIns="0" tIns="0" rIns="0" bIns="0" rtlCol="0" anchor="ctr"/>
          <a:lstStyle/>
          <a:p>
            <a:pPr marL="0" indent="0">
              <a:buNone/>
            </a:pPr>
            <a:r>
              <a:rPr lang="en-US" sz="2400" b="1" dirty="0">
                <a:solidFill>
                  <a:srgbClr val="D49A00"/>
                </a:solidFill>
                <a:latin typeface="Calibri" pitchFamily="34" charset="0"/>
                <a:ea typeface="Calibri" pitchFamily="34" charset="-122"/>
                <a:cs typeface="Calibri" pitchFamily="34" charset="-120"/>
              </a:rPr>
              <a:t>Sous la référence</a:t>
            </a:r>
            <a:endParaRPr lang="en-US" sz="2400" dirty="0"/>
          </a:p>
        </p:txBody>
      </p:sp>
      <p:sp>
        <p:nvSpPr>
          <p:cNvPr id="24" name="Text 20"/>
          <p:cNvSpPr txBox="1"/>
          <p:nvPr/>
        </p:nvSpPr>
        <p:spPr>
          <a:xfrm>
            <a:off x="5943600" y="3063240"/>
            <a:ext cx="2606040" cy="457200"/>
          </a:xfrm>
          <a:prstGeom prst="rect">
            <a:avLst/>
          </a:prstGeom>
          <a:noFill/>
          <a:ln/>
        </p:spPr>
        <p:txBody>
          <a:bodyPr wrap="square" lIns="0" tIns="0" rIns="0" bIns="0" rtlCol="0" anchor="ctr"/>
          <a:lstStyle/>
          <a:p>
            <a:pPr marL="0" indent="0">
              <a:buNone/>
            </a:pPr>
            <a:r>
              <a:rPr lang="en-US" sz="1100" dirty="0">
                <a:solidFill>
                  <a:srgbClr val="5E6964"/>
                </a:solidFill>
                <a:latin typeface="Calibri" pitchFamily="34" charset="0"/>
                <a:ea typeface="Calibri" pitchFamily="34" charset="-122"/>
                <a:cs typeface="Calibri" pitchFamily="34" charset="-120"/>
              </a:rPr>
              <a:t>Au milieu, l'exactitude est pire que sans aucun document (56,1 %).</a:t>
            </a:r>
            <a:endParaRPr lang="en-US" sz="1100" dirty="0"/>
          </a:p>
        </p:txBody>
      </p:sp>
      <p:sp>
        <p:nvSpPr>
          <p:cNvPr id="25" name="Shape 21"/>
          <p:cNvSpPr/>
          <p:nvPr/>
        </p:nvSpPr>
        <p:spPr>
          <a:xfrm>
            <a:off x="5760720" y="3703320"/>
            <a:ext cx="2926080" cy="960120"/>
          </a:xfrm>
          <a:prstGeom prst="roundRect">
            <a:avLst>
              <a:gd name="adj" fmla="val 7619"/>
            </a:avLst>
          </a:prstGeom>
          <a:solidFill>
            <a:srgbClr val="E8F5EF"/>
          </a:solidFill>
          <a:ln w="15875">
            <a:solidFill>
              <a:srgbClr val="00A86A"/>
            </a:solidFill>
            <a:prstDash val="solid"/>
          </a:ln>
        </p:spPr>
      </p:sp>
      <p:sp>
        <p:nvSpPr>
          <p:cNvPr id="26" name="Text 22"/>
          <p:cNvSpPr txBox="1"/>
          <p:nvPr/>
        </p:nvSpPr>
        <p:spPr>
          <a:xfrm>
            <a:off x="5943600" y="3703320"/>
            <a:ext cx="2606040" cy="960120"/>
          </a:xfrm>
          <a:prstGeom prst="rect">
            <a:avLst/>
          </a:prstGeom>
          <a:noFill/>
          <a:ln/>
        </p:spPr>
        <p:txBody>
          <a:bodyPr wrap="square" lIns="0" tIns="0" rIns="0" bIns="0" rtlCol="0" anchor="ctr"/>
          <a:lstStyle/>
          <a:p>
            <a:pPr marL="0" indent="0">
              <a:buNone/>
            </a:pPr>
            <a:r>
              <a:rPr lang="en-US" sz="1200" b="1" dirty="0">
                <a:solidFill>
                  <a:srgbClr val="00704A"/>
                </a:solidFill>
                <a:latin typeface="Calibri" pitchFamily="34" charset="0"/>
                <a:ea typeface="Calibri" pitchFamily="34" charset="-122"/>
                <a:cs typeface="Calibri" pitchFamily="34" charset="-120"/>
              </a:rPr>
              <a:t>Pour le RAG : </a:t>
            </a:r>
            <a:r>
              <a:rPr lang="en-US" sz="1200" dirty="0">
                <a:solidFill>
                  <a:srgbClr val="231F20"/>
                </a:solidFill>
                <a:latin typeface="Calibri" pitchFamily="34" charset="0"/>
                <a:ea typeface="Calibri" pitchFamily="34" charset="-122"/>
                <a:cs typeface="Calibri" pitchFamily="34" charset="-120"/>
              </a:rPr>
              <a:t>reclasser pour mettre les meilleurs éléments en tête, et envoyer moins de fragments, mais meilleurs.</a:t>
            </a:r>
            <a:endParaRPr lang="en-US" sz="1200" dirty="0"/>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PREUVES</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Contextual Retrieval : restaurer le contexte perdu</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0E7C86"/>
          </a:solidFill>
          <a:ln w="12700">
            <a:solidFill>
              <a:srgbClr val="0E7C86"/>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694944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ATI · Big Data pour les statistiques macroéconomiques · Maurice, 26–30 oct. 2026   |   BAD · Data Innovation for Africa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26</a:t>
            </a:r>
            <a:endParaRPr lang="en-US" sz="850" dirty="0"/>
          </a:p>
        </p:txBody>
      </p:sp>
      <p:graphicFrame>
        <p:nvGraphicFramePr>
          <p:cNvPr id="17" name="Chart 0"/>
          <p:cNvGraphicFramePr/>
          <p:nvPr/>
        </p:nvGraphicFramePr>
        <p:xfrm>
          <a:off x="365760" y="1280160"/>
          <a:ext cx="475488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18" name="Text 14"/>
          <p:cNvSpPr txBox="1"/>
          <p:nvPr/>
        </p:nvSpPr>
        <p:spPr>
          <a:xfrm>
            <a:off x="457200" y="4572000"/>
            <a:ext cx="457200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Source : Anthropic, « Introducing Contextual Retrieval », septembre 2024.</a:t>
            </a:r>
            <a:endParaRPr lang="en-US" sz="900" dirty="0"/>
          </a:p>
        </p:txBody>
      </p:sp>
      <p:sp>
        <p:nvSpPr>
          <p:cNvPr id="19" name="Shape 15"/>
          <p:cNvSpPr/>
          <p:nvPr/>
        </p:nvSpPr>
        <p:spPr>
          <a:xfrm>
            <a:off x="5394960" y="1325880"/>
            <a:ext cx="3291840" cy="1463040"/>
          </a:xfrm>
          <a:prstGeom prst="roundRect">
            <a:avLst>
              <a:gd name="adj" fmla="val 5000"/>
            </a:avLst>
          </a:prstGeom>
          <a:solidFill>
            <a:srgbClr val="B83B2E">
              <a:alpha val="8000"/>
            </a:srgbClr>
          </a:solidFill>
          <a:ln w="9525">
            <a:solidFill>
              <a:srgbClr val="B83B2E"/>
            </a:solidFill>
            <a:prstDash val="solid"/>
          </a:ln>
        </p:spPr>
      </p:sp>
      <p:sp>
        <p:nvSpPr>
          <p:cNvPr id="20" name="Text 16"/>
          <p:cNvSpPr txBox="1"/>
          <p:nvPr/>
        </p:nvSpPr>
        <p:spPr>
          <a:xfrm>
            <a:off x="5577840" y="1399032"/>
            <a:ext cx="2926080" cy="256032"/>
          </a:xfrm>
          <a:prstGeom prst="rect">
            <a:avLst/>
          </a:prstGeom>
          <a:noFill/>
          <a:ln/>
        </p:spPr>
        <p:txBody>
          <a:bodyPr wrap="square" lIns="0" tIns="0" rIns="0" bIns="0" rtlCol="0" anchor="ctr"/>
          <a:lstStyle/>
          <a:p>
            <a:pPr marL="0" indent="0">
              <a:buNone/>
            </a:pPr>
            <a:r>
              <a:rPr lang="en-US" sz="1400" b="1" dirty="0">
                <a:solidFill>
                  <a:srgbClr val="B83B2E"/>
                </a:solidFill>
                <a:latin typeface="Calibri" pitchFamily="34" charset="0"/>
                <a:ea typeface="Calibri" pitchFamily="34" charset="-122"/>
                <a:cs typeface="Calibri" pitchFamily="34" charset="-120"/>
              </a:rPr>
              <a:t>Le problème</a:t>
            </a:r>
            <a:endParaRPr lang="en-US" sz="1400" dirty="0"/>
          </a:p>
        </p:txBody>
      </p:sp>
      <p:sp>
        <p:nvSpPr>
          <p:cNvPr id="21" name="Text 17"/>
          <p:cNvSpPr txBox="1"/>
          <p:nvPr/>
        </p:nvSpPr>
        <p:spPr>
          <a:xfrm>
            <a:off x="5577840" y="1673352"/>
            <a:ext cx="2971800" cy="22860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Isolé, un fragment perd son contexte :</a:t>
            </a:r>
            <a:endParaRPr lang="en-US" sz="1100" dirty="0"/>
          </a:p>
        </p:txBody>
      </p:sp>
      <p:sp>
        <p:nvSpPr>
          <p:cNvPr id="22" name="Shape 18"/>
          <p:cNvSpPr/>
          <p:nvPr/>
        </p:nvSpPr>
        <p:spPr>
          <a:xfrm>
            <a:off x="5577840" y="1965960"/>
            <a:ext cx="2926080" cy="713232"/>
          </a:xfrm>
          <a:prstGeom prst="roundRect">
            <a:avLst>
              <a:gd name="adj" fmla="val 10256"/>
            </a:avLst>
          </a:prstGeom>
          <a:solidFill>
            <a:srgbClr val="FFFFFF"/>
          </a:solidFill>
          <a:ln w="9525">
            <a:solidFill>
              <a:srgbClr val="D5DED9"/>
            </a:solidFill>
            <a:prstDash val="solid"/>
          </a:ln>
        </p:spPr>
      </p:sp>
      <p:sp>
        <p:nvSpPr>
          <p:cNvPr id="23" name="Text 19"/>
          <p:cNvSpPr txBox="1"/>
          <p:nvPr/>
        </p:nvSpPr>
        <p:spPr>
          <a:xfrm>
            <a:off x="5669280" y="1965960"/>
            <a:ext cx="2788920" cy="713232"/>
          </a:xfrm>
          <a:prstGeom prst="rect">
            <a:avLst/>
          </a:prstGeom>
          <a:noFill/>
          <a:ln/>
        </p:spPr>
        <p:txBody>
          <a:bodyPr wrap="square" lIns="0" tIns="0" rIns="0" bIns="0" rtlCol="0" anchor="ctr"/>
          <a:lstStyle/>
          <a:p>
            <a:pPr marL="0" indent="0">
              <a:spcAft>
                <a:spcPts val="300"/>
              </a:spcAft>
              <a:buNone/>
            </a:pPr>
            <a:r>
              <a:rPr lang="en-US" sz="1000" b="1" dirty="0">
                <a:solidFill>
                  <a:srgbClr val="B83B2E"/>
                </a:solidFill>
                <a:latin typeface="Calibri" pitchFamily="34" charset="0"/>
                <a:ea typeface="Calibri" pitchFamily="34" charset="-122"/>
                <a:cs typeface="Calibri" pitchFamily="34" charset="-120"/>
              </a:rPr>
              <a:t>Avant : </a:t>
            </a:r>
            <a:r>
              <a:rPr lang="en-US" sz="1000" dirty="0">
                <a:solidFill>
                  <a:srgbClr val="231F20"/>
                </a:solidFill>
                <a:latin typeface="Calibri" pitchFamily="34" charset="0"/>
                <a:ea typeface="Calibri" pitchFamily="34" charset="-122"/>
                <a:cs typeface="Calibri" pitchFamily="34" charset="-120"/>
              </a:rPr>
              <a:t>« Le chiffre d'affaires a progressé de 3 % sur le trimestre. »</a:t>
            </a:r>
            <a:endParaRPr lang="en-US" sz="1000" dirty="0"/>
          </a:p>
          <a:p>
            <a:pPr marL="0" indent="0">
              <a:spcAft>
                <a:spcPts val="300"/>
              </a:spcAft>
              <a:buNone/>
            </a:pPr>
            <a:r>
              <a:rPr lang="en-US" sz="1000" b="1" dirty="0">
                <a:solidFill>
                  <a:srgbClr val="00704A"/>
                </a:solidFill>
                <a:latin typeface="Calibri" pitchFamily="34" charset="0"/>
                <a:ea typeface="Calibri" pitchFamily="34" charset="-122"/>
                <a:cs typeface="Calibri" pitchFamily="34" charset="-120"/>
              </a:rPr>
              <a:t>Après : </a:t>
            </a:r>
            <a:r>
              <a:rPr lang="en-US" sz="1000" dirty="0">
                <a:solidFill>
                  <a:srgbClr val="231F20"/>
                </a:solidFill>
                <a:latin typeface="Calibri" pitchFamily="34" charset="0"/>
                <a:ea typeface="Calibri" pitchFamily="34" charset="-122"/>
                <a:cs typeface="Calibri" pitchFamily="34" charset="-120"/>
              </a:rPr>
              <a:t>« [ACME Corp, rapport T2] Le chiffre d'affaires a progressé de 3 %… »</a:t>
            </a:r>
            <a:endParaRPr lang="en-US" sz="1000" dirty="0"/>
          </a:p>
        </p:txBody>
      </p:sp>
      <p:sp>
        <p:nvSpPr>
          <p:cNvPr id="24" name="Shape 20"/>
          <p:cNvSpPr/>
          <p:nvPr/>
        </p:nvSpPr>
        <p:spPr>
          <a:xfrm>
            <a:off x="5394960" y="2926080"/>
            <a:ext cx="3291840" cy="1737360"/>
          </a:xfrm>
          <a:prstGeom prst="roundRect">
            <a:avLst>
              <a:gd name="adj" fmla="val 4211"/>
            </a:avLst>
          </a:prstGeom>
          <a:solidFill>
            <a:srgbClr val="E8F5EF"/>
          </a:solidFill>
          <a:ln w="15875">
            <a:solidFill>
              <a:srgbClr val="00A86A"/>
            </a:solidFill>
            <a:prstDash val="solid"/>
          </a:ln>
        </p:spPr>
      </p:sp>
      <p:sp>
        <p:nvSpPr>
          <p:cNvPr id="25" name="Text 21"/>
          <p:cNvSpPr txBox="1"/>
          <p:nvPr/>
        </p:nvSpPr>
        <p:spPr>
          <a:xfrm>
            <a:off x="5577840" y="2999232"/>
            <a:ext cx="2926080" cy="256032"/>
          </a:xfrm>
          <a:prstGeom prst="rect">
            <a:avLst/>
          </a:prstGeom>
          <a:noFill/>
          <a:ln/>
        </p:spPr>
        <p:txBody>
          <a:bodyPr wrap="square" lIns="0" tIns="0" rIns="0" bIns="0" rtlCol="0" anchor="ctr"/>
          <a:lstStyle/>
          <a:p>
            <a:pPr marL="0" indent="0">
              <a:buNone/>
            </a:pPr>
            <a:r>
              <a:rPr lang="en-US" sz="1400" b="1" dirty="0">
                <a:solidFill>
                  <a:srgbClr val="00704A"/>
                </a:solidFill>
                <a:latin typeface="Calibri" pitchFamily="34" charset="0"/>
                <a:ea typeface="Calibri" pitchFamily="34" charset="-122"/>
                <a:cs typeface="Calibri" pitchFamily="34" charset="-120"/>
              </a:rPr>
              <a:t>La solution</a:t>
            </a:r>
            <a:endParaRPr lang="en-US" sz="1400" dirty="0"/>
          </a:p>
        </p:txBody>
      </p:sp>
      <p:sp>
        <p:nvSpPr>
          <p:cNvPr id="26" name="Text 22"/>
          <p:cNvSpPr txBox="1"/>
          <p:nvPr/>
        </p:nvSpPr>
        <p:spPr>
          <a:xfrm>
            <a:off x="5577840" y="3291840"/>
            <a:ext cx="2971800" cy="777240"/>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Un LLM rédige un court contexte (≈ 50–100 tokens) situant chaque fragment dans son document, ajouté avant l'embedding et l'indexation BM25.</a:t>
            </a:r>
            <a:endParaRPr lang="en-US" sz="1100" dirty="0"/>
          </a:p>
        </p:txBody>
      </p:sp>
      <p:sp>
        <p:nvSpPr>
          <p:cNvPr id="27" name="Text 23"/>
          <p:cNvSpPr txBox="1"/>
          <p:nvPr/>
        </p:nvSpPr>
        <p:spPr>
          <a:xfrm>
            <a:off x="5577840" y="4160520"/>
            <a:ext cx="3017520" cy="365760"/>
          </a:xfrm>
          <a:prstGeom prst="rect">
            <a:avLst/>
          </a:prstGeom>
          <a:noFill/>
          <a:ln/>
        </p:spPr>
        <p:txBody>
          <a:bodyPr wrap="square" lIns="0" tIns="0" rIns="0" bIns="0" rtlCol="0" anchor="ctr"/>
          <a:lstStyle/>
          <a:p>
            <a:pPr marL="0" indent="0">
              <a:buNone/>
            </a:pPr>
            <a:r>
              <a:rPr lang="en-US" sz="1800" b="1" dirty="0">
                <a:solidFill>
                  <a:srgbClr val="00704A"/>
                </a:solidFill>
                <a:latin typeface="Calibri" pitchFamily="34" charset="0"/>
                <a:ea typeface="Calibri" pitchFamily="34" charset="-122"/>
                <a:cs typeface="Calibri" pitchFamily="34" charset="-120"/>
              </a:rPr>
              <a:t>−49 % </a:t>
            </a:r>
            <a:r>
              <a:rPr lang="en-US" sz="1100" dirty="0">
                <a:solidFill>
                  <a:srgbClr val="5E6964"/>
                </a:solidFill>
                <a:latin typeface="Calibri" pitchFamily="34" charset="0"/>
                <a:ea typeface="Calibri" pitchFamily="34" charset="-122"/>
                <a:cs typeface="Calibri" pitchFamily="34" charset="-120"/>
              </a:rPr>
              <a:t>d'échecs  ·  </a:t>
            </a:r>
            <a:r>
              <a:rPr lang="en-US" sz="1800" b="1" dirty="0">
                <a:solidFill>
                  <a:srgbClr val="00704A"/>
                </a:solidFill>
                <a:latin typeface="Calibri" pitchFamily="34" charset="0"/>
                <a:ea typeface="Calibri" pitchFamily="34" charset="-122"/>
                <a:cs typeface="Calibri" pitchFamily="34" charset="-120"/>
              </a:rPr>
              <a:t>−67 % </a:t>
            </a:r>
            <a:r>
              <a:rPr lang="en-US" sz="1100" dirty="0">
                <a:solidFill>
                  <a:srgbClr val="5E6964"/>
                </a:solidFill>
                <a:latin typeface="Calibri" pitchFamily="34" charset="0"/>
                <a:ea typeface="Calibri" pitchFamily="34" charset="-122"/>
                <a:cs typeface="Calibri" pitchFamily="34" charset="-120"/>
              </a:rPr>
              <a:t>avec reclassement</a:t>
            </a:r>
            <a:endParaRPr lang="en-US" sz="1100" dirty="0"/>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822960"/>
            <a:ext cx="2743200" cy="274320"/>
          </a:xfrm>
          <a:prstGeom prst="rect">
            <a:avLst/>
          </a:prstGeom>
          <a:noFill/>
          <a:ln/>
        </p:spPr>
        <p:txBody>
          <a:bodyPr wrap="square" lIns="0" tIns="0" rIns="0" bIns="0" rtlCol="0" anchor="ctr"/>
          <a:lstStyle/>
          <a:p>
            <a:pPr marL="0" indent="0">
              <a:buNone/>
            </a:pPr>
            <a:r>
              <a:rPr lang="en-US" sz="1200" b="1" kern="0" spc="400" dirty="0">
                <a:solidFill>
                  <a:srgbClr val="F5C242"/>
                </a:solidFill>
                <a:latin typeface="Calibri" pitchFamily="34" charset="0"/>
                <a:ea typeface="Calibri" pitchFamily="34" charset="-122"/>
                <a:cs typeface="Calibri" pitchFamily="34" charset="-120"/>
              </a:rPr>
              <a:t>SECTION</a:t>
            </a:r>
            <a:endParaRPr lang="en-US" sz="1200" dirty="0"/>
          </a:p>
        </p:txBody>
      </p:sp>
      <p:sp>
        <p:nvSpPr>
          <p:cNvPr id="3" name="Text 1"/>
          <p:cNvSpPr txBox="1"/>
          <p:nvPr/>
        </p:nvSpPr>
        <p:spPr>
          <a:xfrm>
            <a:off x="502920" y="1051560"/>
            <a:ext cx="2743200" cy="1463040"/>
          </a:xfrm>
          <a:prstGeom prst="rect">
            <a:avLst/>
          </a:prstGeom>
          <a:noFill/>
          <a:ln/>
        </p:spPr>
        <p:txBody>
          <a:bodyPr wrap="square" lIns="0" tIns="0" rIns="0" bIns="0" rtlCol="0" anchor="ctr"/>
          <a:lstStyle/>
          <a:p>
            <a:pPr marL="0" indent="0">
              <a:buNone/>
            </a:pPr>
            <a:r>
              <a:rPr lang="en-US" sz="11000" b="1" dirty="0">
                <a:solidFill>
                  <a:srgbClr val="F5C242"/>
                </a:solidFill>
                <a:latin typeface="Calibri" pitchFamily="34" charset="0"/>
                <a:ea typeface="Calibri" pitchFamily="34" charset="-122"/>
                <a:cs typeface="Calibri" pitchFamily="34" charset="-120"/>
              </a:rPr>
              <a:t>04</a:t>
            </a:r>
            <a:endParaRPr lang="en-US" sz="11000" dirty="0"/>
          </a:p>
        </p:txBody>
      </p:sp>
      <p:sp>
        <p:nvSpPr>
          <p:cNvPr id="4" name="Text 2"/>
          <p:cNvSpPr txBox="1"/>
          <p:nvPr/>
        </p:nvSpPr>
        <p:spPr>
          <a:xfrm>
            <a:off x="548640" y="2606040"/>
            <a:ext cx="5120640" cy="68580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Évolution du RAG</a:t>
            </a:r>
            <a:endParaRPr lang="en-US" sz="4000" dirty="0"/>
          </a:p>
        </p:txBody>
      </p:sp>
      <p:sp>
        <p:nvSpPr>
          <p:cNvPr id="5" name="Text 3"/>
          <p:cNvSpPr txBox="1"/>
          <p:nvPr/>
        </p:nvSpPr>
        <p:spPr>
          <a:xfrm>
            <a:off x="548640" y="3337560"/>
            <a:ext cx="5120640" cy="457200"/>
          </a:xfrm>
          <a:prstGeom prst="rect">
            <a:avLst/>
          </a:prstGeom>
          <a:noFill/>
          <a:ln/>
        </p:spPr>
        <p:txBody>
          <a:bodyPr wrap="square" lIns="0" tIns="0" rIns="0" bIns="0" rtlCol="0" anchor="ctr"/>
          <a:lstStyle/>
          <a:p>
            <a:pPr marL="0" indent="0">
              <a:buNone/>
            </a:pPr>
            <a:r>
              <a:rPr lang="en-US" sz="1800" i="1" dirty="0">
                <a:solidFill>
                  <a:srgbClr val="E6F6EE"/>
                </a:solidFill>
                <a:latin typeface="Calibri" pitchFamily="34" charset="0"/>
                <a:ea typeface="Calibri" pitchFamily="34" charset="-122"/>
                <a:cs typeface="Calibri" pitchFamily="34" charset="-120"/>
              </a:rPr>
              <a:t>Comment le concept a-t-il mûri depuis 2017 ?</a:t>
            </a:r>
            <a:endParaRPr lang="en-US" sz="1800" dirty="0"/>
          </a:p>
        </p:txBody>
      </p:sp>
      <p:sp>
        <p:nvSpPr>
          <p:cNvPr id="6" name="Shape 4"/>
          <p:cNvSpPr/>
          <p:nvPr/>
        </p:nvSpPr>
        <p:spPr>
          <a:xfrm>
            <a:off x="548640" y="4160520"/>
            <a:ext cx="137160" cy="137160"/>
          </a:xfrm>
          <a:prstGeom prst="ellipse">
            <a:avLst/>
          </a:prstGeom>
          <a:solidFill>
            <a:srgbClr val="FFFFFF">
              <a:alpha val="40000"/>
            </a:srgbClr>
          </a:solidFill>
          <a:ln w="12700">
            <a:solidFill>
              <a:srgbClr val="FFFFFF">
                <a:alpha val="0"/>
              </a:srgbClr>
            </a:solidFill>
            <a:prstDash val="solid"/>
          </a:ln>
        </p:spPr>
      </p:sp>
      <p:sp>
        <p:nvSpPr>
          <p:cNvPr id="7" name="Shape 5"/>
          <p:cNvSpPr/>
          <p:nvPr/>
        </p:nvSpPr>
        <p:spPr>
          <a:xfrm>
            <a:off x="804672" y="4160520"/>
            <a:ext cx="137160" cy="137160"/>
          </a:xfrm>
          <a:prstGeom prst="ellipse">
            <a:avLst/>
          </a:prstGeom>
          <a:solidFill>
            <a:srgbClr val="FFFFFF">
              <a:alpha val="40000"/>
            </a:srgbClr>
          </a:solidFill>
          <a:ln w="12700">
            <a:solidFill>
              <a:srgbClr val="FFFFFF">
                <a:alpha val="0"/>
              </a:srgbClr>
            </a:solidFill>
            <a:prstDash val="solid"/>
          </a:ln>
        </p:spPr>
      </p:sp>
      <p:sp>
        <p:nvSpPr>
          <p:cNvPr id="8" name="Shape 6"/>
          <p:cNvSpPr/>
          <p:nvPr/>
        </p:nvSpPr>
        <p:spPr>
          <a:xfrm>
            <a:off x="1060704" y="4160520"/>
            <a:ext cx="137160" cy="137160"/>
          </a:xfrm>
          <a:prstGeom prst="ellipse">
            <a:avLst/>
          </a:prstGeom>
          <a:solidFill>
            <a:srgbClr val="FFFFFF">
              <a:alpha val="40000"/>
            </a:srgbClr>
          </a:solidFill>
          <a:ln w="12700">
            <a:solidFill>
              <a:srgbClr val="FFFFFF">
                <a:alpha val="0"/>
              </a:srgbClr>
            </a:solidFill>
            <a:prstDash val="solid"/>
          </a:ln>
        </p:spPr>
      </p:sp>
      <p:sp>
        <p:nvSpPr>
          <p:cNvPr id="9" name="Shape 7"/>
          <p:cNvSpPr/>
          <p:nvPr/>
        </p:nvSpPr>
        <p:spPr>
          <a:xfrm>
            <a:off x="1316736" y="4160520"/>
            <a:ext cx="137160" cy="137160"/>
          </a:xfrm>
          <a:prstGeom prst="ellipse">
            <a:avLst/>
          </a:prstGeom>
          <a:solidFill>
            <a:srgbClr val="F5C242"/>
          </a:solidFill>
          <a:ln w="12700">
            <a:solidFill>
              <a:srgbClr val="FFFFFF">
                <a:alpha val="0"/>
              </a:srgbClr>
            </a:solidFill>
            <a:prstDash val="solid"/>
          </a:ln>
        </p:spPr>
      </p:sp>
      <p:sp>
        <p:nvSpPr>
          <p:cNvPr id="10" name="Shape 8"/>
          <p:cNvSpPr/>
          <p:nvPr/>
        </p:nvSpPr>
        <p:spPr>
          <a:xfrm>
            <a:off x="1572768" y="4160520"/>
            <a:ext cx="137160" cy="137160"/>
          </a:xfrm>
          <a:prstGeom prst="ellipse">
            <a:avLst/>
          </a:prstGeom>
          <a:solidFill>
            <a:srgbClr val="FFFFFF">
              <a:alpha val="40000"/>
            </a:srgbClr>
          </a:solidFill>
          <a:ln w="12700">
            <a:solidFill>
              <a:srgbClr val="FFFFFF">
                <a:alpha val="0"/>
              </a:srgbClr>
            </a:solidFill>
            <a:prstDash val="solid"/>
          </a:ln>
        </p:spPr>
      </p:sp>
      <p:sp>
        <p:nvSpPr>
          <p:cNvPr id="11" name="Shape 9"/>
          <p:cNvSpPr/>
          <p:nvPr/>
        </p:nvSpPr>
        <p:spPr>
          <a:xfrm>
            <a:off x="1828800" y="4160520"/>
            <a:ext cx="137160" cy="137160"/>
          </a:xfrm>
          <a:prstGeom prst="ellipse">
            <a:avLst/>
          </a:prstGeom>
          <a:solidFill>
            <a:srgbClr val="FFFFFF">
              <a:alpha val="40000"/>
            </a:srgbClr>
          </a:solidFill>
          <a:ln w="12700">
            <a:solidFill>
              <a:srgbClr val="FFFFFF">
                <a:alpha val="0"/>
              </a:srgbClr>
            </a:solidFill>
            <a:prstDash val="solid"/>
          </a:ln>
        </p:spPr>
      </p:sp>
      <p:sp>
        <p:nvSpPr>
          <p:cNvPr id="12" name="Shape 10"/>
          <p:cNvSpPr/>
          <p:nvPr/>
        </p:nvSpPr>
        <p:spPr>
          <a:xfrm>
            <a:off x="5349240" y="777240"/>
            <a:ext cx="3474720" cy="3474720"/>
          </a:xfrm>
          <a:prstGeom prst="ellipse">
            <a:avLst/>
          </a:prstGeom>
          <a:solidFill>
            <a:srgbClr val="FFFFFF">
              <a:alpha val="0"/>
            </a:srgbClr>
          </a:solidFill>
          <a:ln w="15875">
            <a:solidFill>
              <a:srgbClr val="FFFFFF">
                <a:alpha val="18000"/>
              </a:srgbClr>
            </a:solidFill>
            <a:prstDash val="solid"/>
          </a:ln>
        </p:spPr>
      </p:sp>
      <p:sp>
        <p:nvSpPr>
          <p:cNvPr id="13" name="Shape 11"/>
          <p:cNvSpPr/>
          <p:nvPr/>
        </p:nvSpPr>
        <p:spPr>
          <a:xfrm>
            <a:off x="5760720" y="1188720"/>
            <a:ext cx="2651760" cy="2651760"/>
          </a:xfrm>
          <a:prstGeom prst="ellipse">
            <a:avLst/>
          </a:prstGeom>
          <a:solidFill>
            <a:srgbClr val="FFFFFF">
              <a:alpha val="0"/>
            </a:srgbClr>
          </a:solidFill>
          <a:ln w="15875">
            <a:solidFill>
              <a:srgbClr val="FFFFFF">
                <a:alpha val="30000"/>
              </a:srgbClr>
            </a:solidFill>
            <a:prstDash val="solid"/>
          </a:ln>
        </p:spPr>
      </p:sp>
      <p:sp>
        <p:nvSpPr>
          <p:cNvPr id="14" name="Shape 12"/>
          <p:cNvSpPr/>
          <p:nvPr/>
        </p:nvSpPr>
        <p:spPr>
          <a:xfrm>
            <a:off x="6172200" y="1600200"/>
            <a:ext cx="1828800" cy="1828800"/>
          </a:xfrm>
          <a:prstGeom prst="ellipse">
            <a:avLst/>
          </a:prstGeom>
          <a:solidFill>
            <a:srgbClr val="FFFFFF">
              <a:alpha val="0"/>
            </a:srgbClr>
          </a:solidFill>
          <a:ln w="15875">
            <a:solidFill>
              <a:srgbClr val="FFFFFF">
                <a:alpha val="45000"/>
              </a:srgbClr>
            </a:solidFill>
            <a:prstDash val="solid"/>
          </a:ln>
        </p:spPr>
      </p:sp>
      <p:sp>
        <p:nvSpPr>
          <p:cNvPr id="15" name="Shape 13"/>
          <p:cNvSpPr/>
          <p:nvPr/>
        </p:nvSpPr>
        <p:spPr>
          <a:xfrm>
            <a:off x="6492240" y="1920240"/>
            <a:ext cx="1188720" cy="1188720"/>
          </a:xfrm>
          <a:prstGeom prst="ellipse">
            <a:avLst/>
          </a:prstGeom>
          <a:solidFill>
            <a:srgbClr val="FFFFFF"/>
          </a:solidFill>
          <a:ln w="12700">
            <a:solidFill>
              <a:srgbClr val="FFFFFF"/>
            </a:solidFill>
            <a:prstDash val="solid"/>
          </a:ln>
        </p:spPr>
      </p:sp>
      <p:pic>
        <p:nvPicPr>
          <p:cNvPr id="16" name="Image 0" descr="preencoded.png"/>
          <p:cNvPicPr>
            <a:picLocks noChangeAspect="1"/>
          </p:cNvPicPr>
          <p:nvPr/>
        </p:nvPicPr>
        <p:blipFill>
          <a:blip r:embed="rId4"/>
          <a:stretch>
            <a:fillRect/>
          </a:stretch>
        </p:blipFill>
        <p:spPr>
          <a:xfrm>
            <a:off x="6777533" y="2205533"/>
            <a:ext cx="618134" cy="618134"/>
          </a:xfrm>
          <a:prstGeom prst="rect">
            <a:avLst/>
          </a:prstGeom>
        </p:spPr>
      </p:pic>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ÉVOLUTION DU RAG</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Comment le concept de RAG a progressé</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49A00"/>
          </a:solidFill>
          <a:ln w="12700">
            <a:solidFill>
              <a:srgbClr val="D49A00"/>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694944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ATI · Big Data pour les statistiques macroéconomiques · Maurice, 26–30 oct. 2026   |   BAD · Data Innovation for Africa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28</a:t>
            </a:r>
            <a:endParaRPr lang="en-US" sz="850" dirty="0"/>
          </a:p>
        </p:txBody>
      </p:sp>
      <p:sp>
        <p:nvSpPr>
          <p:cNvPr id="17" name="Shape 14"/>
          <p:cNvSpPr/>
          <p:nvPr/>
        </p:nvSpPr>
        <p:spPr>
          <a:xfrm>
            <a:off x="457200" y="2834640"/>
            <a:ext cx="1097280" cy="1828800"/>
          </a:xfrm>
          <a:prstGeom prst="roundRect">
            <a:avLst>
              <a:gd name="adj" fmla="val 6667"/>
            </a:avLst>
          </a:prstGeom>
          <a:solidFill>
            <a:srgbClr val="F4F7F5"/>
          </a:solidFill>
          <a:ln w="9525">
            <a:solidFill>
              <a:srgbClr val="D5DED9"/>
            </a:solidFill>
            <a:prstDash val="solid"/>
          </a:ln>
        </p:spPr>
      </p:sp>
      <p:sp>
        <p:nvSpPr>
          <p:cNvPr id="18" name="Text 15"/>
          <p:cNvSpPr txBox="1"/>
          <p:nvPr/>
        </p:nvSpPr>
        <p:spPr>
          <a:xfrm>
            <a:off x="548640" y="2926080"/>
            <a:ext cx="914400" cy="274320"/>
          </a:xfrm>
          <a:prstGeom prst="rect">
            <a:avLst/>
          </a:prstGeom>
          <a:noFill/>
          <a:ln/>
        </p:spPr>
        <p:txBody>
          <a:bodyPr wrap="square" lIns="0" tIns="0" rIns="0" bIns="0" rtlCol="0" anchor="ctr"/>
          <a:lstStyle/>
          <a:p>
            <a:pPr marL="0" indent="0">
              <a:buNone/>
            </a:pPr>
            <a:r>
              <a:rPr lang="en-US" sz="1500" b="1" dirty="0">
                <a:solidFill>
                  <a:srgbClr val="7F8C87"/>
                </a:solidFill>
                <a:latin typeface="Calibri" pitchFamily="34" charset="0"/>
                <a:ea typeface="Calibri" pitchFamily="34" charset="-122"/>
                <a:cs typeface="Calibri" pitchFamily="34" charset="-120"/>
              </a:rPr>
              <a:t>2017–19</a:t>
            </a:r>
            <a:endParaRPr lang="en-US" sz="1500" dirty="0"/>
          </a:p>
        </p:txBody>
      </p:sp>
      <p:sp>
        <p:nvSpPr>
          <p:cNvPr id="19" name="Text 16"/>
          <p:cNvSpPr txBox="1"/>
          <p:nvPr/>
        </p:nvSpPr>
        <p:spPr>
          <a:xfrm>
            <a:off x="548640" y="3218688"/>
            <a:ext cx="914400" cy="475488"/>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Chercher, puis lire</a:t>
            </a:r>
            <a:endParaRPr lang="en-US" sz="1050" dirty="0"/>
          </a:p>
        </p:txBody>
      </p:sp>
      <p:sp>
        <p:nvSpPr>
          <p:cNvPr id="20" name="Text 17"/>
          <p:cNvSpPr txBox="1"/>
          <p:nvPr/>
        </p:nvSpPr>
        <p:spPr>
          <a:xfrm>
            <a:off x="548640" y="3703320"/>
            <a:ext cx="914400" cy="68580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Un moteur de recherche alimente un lecteur extractif.</a:t>
            </a:r>
            <a:endParaRPr lang="en-US" sz="950" dirty="0"/>
          </a:p>
        </p:txBody>
      </p:sp>
      <p:sp>
        <p:nvSpPr>
          <p:cNvPr id="21" name="Text 18"/>
          <p:cNvSpPr txBox="1"/>
          <p:nvPr/>
        </p:nvSpPr>
        <p:spPr>
          <a:xfrm>
            <a:off x="548640" y="4114800"/>
            <a:ext cx="914400" cy="475488"/>
          </a:xfrm>
          <a:prstGeom prst="rect">
            <a:avLst/>
          </a:prstGeom>
          <a:noFill/>
          <a:ln/>
        </p:spPr>
        <p:txBody>
          <a:bodyPr wrap="square" lIns="0" tIns="0" rIns="0" bIns="0" rtlCol="0" anchor="b"/>
          <a:lstStyle/>
          <a:p>
            <a:pPr marL="0" indent="0">
              <a:buNone/>
            </a:pPr>
            <a:r>
              <a:rPr lang="en-US" sz="850" b="1" dirty="0">
                <a:solidFill>
                  <a:srgbClr val="00704A"/>
                </a:solidFill>
                <a:latin typeface="Calibri" pitchFamily="34" charset="0"/>
                <a:ea typeface="Calibri" pitchFamily="34" charset="-122"/>
                <a:cs typeface="Calibri" pitchFamily="34" charset="-120"/>
              </a:rPr>
              <a:t>DrQA · ORQA</a:t>
            </a:r>
            <a:endParaRPr lang="en-US" sz="850" dirty="0"/>
          </a:p>
        </p:txBody>
      </p:sp>
      <p:sp>
        <p:nvSpPr>
          <p:cNvPr id="22" name="Shape 19"/>
          <p:cNvSpPr/>
          <p:nvPr/>
        </p:nvSpPr>
        <p:spPr>
          <a:xfrm>
            <a:off x="1645920" y="2615184"/>
            <a:ext cx="1097280" cy="2048256"/>
          </a:xfrm>
          <a:prstGeom prst="roundRect">
            <a:avLst>
              <a:gd name="adj" fmla="val 6667"/>
            </a:avLst>
          </a:prstGeom>
          <a:solidFill>
            <a:srgbClr val="F4F7F5"/>
          </a:solidFill>
          <a:ln w="9525">
            <a:solidFill>
              <a:srgbClr val="D5DED9"/>
            </a:solidFill>
            <a:prstDash val="solid"/>
          </a:ln>
        </p:spPr>
      </p:sp>
      <p:sp>
        <p:nvSpPr>
          <p:cNvPr id="23" name="Text 20"/>
          <p:cNvSpPr txBox="1"/>
          <p:nvPr/>
        </p:nvSpPr>
        <p:spPr>
          <a:xfrm>
            <a:off x="1737360" y="2706624"/>
            <a:ext cx="914400" cy="274320"/>
          </a:xfrm>
          <a:prstGeom prst="rect">
            <a:avLst/>
          </a:prstGeom>
          <a:noFill/>
          <a:ln/>
        </p:spPr>
        <p:txBody>
          <a:bodyPr wrap="square" lIns="0" tIns="0" rIns="0" bIns="0" rtlCol="0" anchor="ctr"/>
          <a:lstStyle/>
          <a:p>
            <a:pPr marL="0" indent="0">
              <a:buNone/>
            </a:pPr>
            <a:r>
              <a:rPr lang="en-US" sz="1500" b="1" dirty="0">
                <a:solidFill>
                  <a:srgbClr val="57BD92"/>
                </a:solidFill>
                <a:latin typeface="Calibri" pitchFamily="34" charset="0"/>
                <a:ea typeface="Calibri" pitchFamily="34" charset="-122"/>
                <a:cs typeface="Calibri" pitchFamily="34" charset="-120"/>
              </a:rPr>
              <a:t>2020</a:t>
            </a:r>
            <a:endParaRPr lang="en-US" sz="1500" dirty="0"/>
          </a:p>
        </p:txBody>
      </p:sp>
      <p:sp>
        <p:nvSpPr>
          <p:cNvPr id="24" name="Text 21"/>
          <p:cNvSpPr txBox="1"/>
          <p:nvPr/>
        </p:nvSpPr>
        <p:spPr>
          <a:xfrm>
            <a:off x="1737360" y="2999232"/>
            <a:ext cx="914400" cy="475488"/>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Entraîné de bout en bout</a:t>
            </a:r>
            <a:endParaRPr lang="en-US" sz="1050" dirty="0"/>
          </a:p>
        </p:txBody>
      </p:sp>
      <p:sp>
        <p:nvSpPr>
          <p:cNvPr id="25" name="Text 22"/>
          <p:cNvSpPr txBox="1"/>
          <p:nvPr/>
        </p:nvSpPr>
        <p:spPr>
          <a:xfrm>
            <a:off x="1737360" y="3483864"/>
            <a:ext cx="914400" cy="68580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Récupérateur et générateur apprennent ensemble.</a:t>
            </a:r>
            <a:endParaRPr lang="en-US" sz="950" dirty="0"/>
          </a:p>
        </p:txBody>
      </p:sp>
      <p:sp>
        <p:nvSpPr>
          <p:cNvPr id="26" name="Text 23"/>
          <p:cNvSpPr txBox="1"/>
          <p:nvPr/>
        </p:nvSpPr>
        <p:spPr>
          <a:xfrm>
            <a:off x="1737360" y="4114800"/>
            <a:ext cx="914400" cy="475488"/>
          </a:xfrm>
          <a:prstGeom prst="rect">
            <a:avLst/>
          </a:prstGeom>
          <a:noFill/>
          <a:ln/>
        </p:spPr>
        <p:txBody>
          <a:bodyPr wrap="square" lIns="0" tIns="0" rIns="0" bIns="0" rtlCol="0" anchor="b"/>
          <a:lstStyle/>
          <a:p>
            <a:pPr marL="0" indent="0">
              <a:buNone/>
            </a:pPr>
            <a:r>
              <a:rPr lang="en-US" sz="850" b="1" dirty="0">
                <a:solidFill>
                  <a:srgbClr val="00704A"/>
                </a:solidFill>
                <a:latin typeface="Calibri" pitchFamily="34" charset="0"/>
                <a:ea typeface="Calibri" pitchFamily="34" charset="-122"/>
                <a:cs typeface="Calibri" pitchFamily="34" charset="-120"/>
              </a:rPr>
              <a:t>REALM · DPR · RAG · FiD</a:t>
            </a:r>
            <a:endParaRPr lang="en-US" sz="850" dirty="0"/>
          </a:p>
        </p:txBody>
      </p:sp>
      <p:sp>
        <p:nvSpPr>
          <p:cNvPr id="27" name="Shape 24"/>
          <p:cNvSpPr/>
          <p:nvPr/>
        </p:nvSpPr>
        <p:spPr>
          <a:xfrm>
            <a:off x="2834640" y="2395728"/>
            <a:ext cx="1097280" cy="2267712"/>
          </a:xfrm>
          <a:prstGeom prst="roundRect">
            <a:avLst>
              <a:gd name="adj" fmla="val 6667"/>
            </a:avLst>
          </a:prstGeom>
          <a:solidFill>
            <a:srgbClr val="F4F7F5"/>
          </a:solidFill>
          <a:ln w="9525">
            <a:solidFill>
              <a:srgbClr val="D5DED9"/>
            </a:solidFill>
            <a:prstDash val="solid"/>
          </a:ln>
        </p:spPr>
      </p:sp>
      <p:sp>
        <p:nvSpPr>
          <p:cNvPr id="28" name="Text 25"/>
          <p:cNvSpPr txBox="1"/>
          <p:nvPr/>
        </p:nvSpPr>
        <p:spPr>
          <a:xfrm>
            <a:off x="2926080" y="2487168"/>
            <a:ext cx="914400" cy="274320"/>
          </a:xfrm>
          <a:prstGeom prst="rect">
            <a:avLst/>
          </a:prstGeom>
          <a:noFill/>
          <a:ln/>
        </p:spPr>
        <p:txBody>
          <a:bodyPr wrap="square" lIns="0" tIns="0" rIns="0" bIns="0" rtlCol="0" anchor="ctr"/>
          <a:lstStyle/>
          <a:p>
            <a:pPr marL="0" indent="0">
              <a:buNone/>
            </a:pPr>
            <a:r>
              <a:rPr lang="en-US" sz="1500" b="1" dirty="0">
                <a:solidFill>
                  <a:srgbClr val="33AF7C"/>
                </a:solidFill>
                <a:latin typeface="Calibri" pitchFamily="34" charset="0"/>
                <a:ea typeface="Calibri" pitchFamily="34" charset="-122"/>
                <a:cs typeface="Calibri" pitchFamily="34" charset="-120"/>
              </a:rPr>
              <a:t>2021–22</a:t>
            </a:r>
            <a:endParaRPr lang="en-US" sz="1500" dirty="0"/>
          </a:p>
        </p:txBody>
      </p:sp>
      <p:sp>
        <p:nvSpPr>
          <p:cNvPr id="29" name="Text 26"/>
          <p:cNvSpPr txBox="1"/>
          <p:nvPr/>
        </p:nvSpPr>
        <p:spPr>
          <a:xfrm>
            <a:off x="2926080" y="2779776"/>
            <a:ext cx="914400" cy="475488"/>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Récupération à grande échelle</a:t>
            </a:r>
            <a:endParaRPr lang="en-US" sz="1050" dirty="0"/>
          </a:p>
        </p:txBody>
      </p:sp>
      <p:sp>
        <p:nvSpPr>
          <p:cNvPr id="30" name="Text 27"/>
          <p:cNvSpPr txBox="1"/>
          <p:nvPr/>
        </p:nvSpPr>
        <p:spPr>
          <a:xfrm>
            <a:off x="2926080" y="3264408"/>
            <a:ext cx="914400" cy="68580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Récupération intégrée aux grands modèles.</a:t>
            </a:r>
            <a:endParaRPr lang="en-US" sz="950" dirty="0"/>
          </a:p>
        </p:txBody>
      </p:sp>
      <p:sp>
        <p:nvSpPr>
          <p:cNvPr id="31" name="Text 28"/>
          <p:cNvSpPr txBox="1"/>
          <p:nvPr/>
        </p:nvSpPr>
        <p:spPr>
          <a:xfrm>
            <a:off x="2926080" y="4114800"/>
            <a:ext cx="914400" cy="475488"/>
          </a:xfrm>
          <a:prstGeom prst="rect">
            <a:avLst/>
          </a:prstGeom>
          <a:noFill/>
          <a:ln/>
        </p:spPr>
        <p:txBody>
          <a:bodyPr wrap="square" lIns="0" tIns="0" rIns="0" bIns="0" rtlCol="0" anchor="b"/>
          <a:lstStyle/>
          <a:p>
            <a:pPr marL="0" indent="0">
              <a:buNone/>
            </a:pPr>
            <a:r>
              <a:rPr lang="en-US" sz="850" b="1" dirty="0">
                <a:solidFill>
                  <a:srgbClr val="00704A"/>
                </a:solidFill>
                <a:latin typeface="Calibri" pitchFamily="34" charset="0"/>
                <a:ea typeface="Calibri" pitchFamily="34" charset="-122"/>
                <a:cs typeface="Calibri" pitchFamily="34" charset="-120"/>
              </a:rPr>
              <a:t>RETRO (2 000 Md tokens) · Atlas</a:t>
            </a:r>
            <a:endParaRPr lang="en-US" sz="850" dirty="0"/>
          </a:p>
        </p:txBody>
      </p:sp>
      <p:sp>
        <p:nvSpPr>
          <p:cNvPr id="32" name="Shape 29"/>
          <p:cNvSpPr/>
          <p:nvPr/>
        </p:nvSpPr>
        <p:spPr>
          <a:xfrm>
            <a:off x="4023360" y="2176272"/>
            <a:ext cx="1097280" cy="2487168"/>
          </a:xfrm>
          <a:prstGeom prst="roundRect">
            <a:avLst>
              <a:gd name="adj" fmla="val 6667"/>
            </a:avLst>
          </a:prstGeom>
          <a:solidFill>
            <a:srgbClr val="F4F7F5"/>
          </a:solidFill>
          <a:ln w="9525">
            <a:solidFill>
              <a:srgbClr val="D5DED9"/>
            </a:solidFill>
            <a:prstDash val="solid"/>
          </a:ln>
        </p:spPr>
      </p:sp>
      <p:sp>
        <p:nvSpPr>
          <p:cNvPr id="33" name="Text 30"/>
          <p:cNvSpPr txBox="1"/>
          <p:nvPr/>
        </p:nvSpPr>
        <p:spPr>
          <a:xfrm>
            <a:off x="4114800" y="2267712"/>
            <a:ext cx="914400" cy="274320"/>
          </a:xfrm>
          <a:prstGeom prst="rect">
            <a:avLst/>
          </a:prstGeom>
          <a:noFill/>
          <a:ln/>
        </p:spPr>
        <p:txBody>
          <a:bodyPr wrap="square" lIns="0" tIns="0" rIns="0" bIns="0" rtlCol="0" anchor="ctr"/>
          <a:lstStyle/>
          <a:p>
            <a:pPr marL="0" indent="0">
              <a:buNone/>
            </a:pPr>
            <a:r>
              <a:rPr lang="en-US" sz="1500" b="1" dirty="0">
                <a:solidFill>
                  <a:srgbClr val="10A06A"/>
                </a:solidFill>
                <a:latin typeface="Calibri" pitchFamily="34" charset="0"/>
                <a:ea typeface="Calibri" pitchFamily="34" charset="-122"/>
                <a:cs typeface="Calibri" pitchFamily="34" charset="-120"/>
              </a:rPr>
              <a:t>2023</a:t>
            </a:r>
            <a:endParaRPr lang="en-US" sz="1500" dirty="0"/>
          </a:p>
        </p:txBody>
      </p:sp>
      <p:sp>
        <p:nvSpPr>
          <p:cNvPr id="34" name="Text 31"/>
          <p:cNvSpPr txBox="1"/>
          <p:nvPr/>
        </p:nvSpPr>
        <p:spPr>
          <a:xfrm>
            <a:off x="4114800" y="2560320"/>
            <a:ext cx="914400" cy="475488"/>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RAG pour tout LLM</a:t>
            </a:r>
            <a:endParaRPr lang="en-US" sz="1050" dirty="0"/>
          </a:p>
        </p:txBody>
      </p:sp>
      <p:sp>
        <p:nvSpPr>
          <p:cNvPr id="35" name="Text 32"/>
          <p:cNvSpPr txBox="1"/>
          <p:nvPr/>
        </p:nvSpPr>
        <p:spPr>
          <a:xfrm>
            <a:off x="4114800" y="3044952"/>
            <a:ext cx="914400" cy="68580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LLM figés, en boîte noire ; les passages vont dans le prompt.</a:t>
            </a:r>
            <a:endParaRPr lang="en-US" sz="950" dirty="0"/>
          </a:p>
        </p:txBody>
      </p:sp>
      <p:sp>
        <p:nvSpPr>
          <p:cNvPr id="36" name="Text 33"/>
          <p:cNvSpPr txBox="1"/>
          <p:nvPr/>
        </p:nvSpPr>
        <p:spPr>
          <a:xfrm>
            <a:off x="4114800" y="4114800"/>
            <a:ext cx="914400" cy="475488"/>
          </a:xfrm>
          <a:prstGeom prst="rect">
            <a:avLst/>
          </a:prstGeom>
          <a:noFill/>
          <a:ln/>
        </p:spPr>
        <p:txBody>
          <a:bodyPr wrap="square" lIns="0" tIns="0" rIns="0" bIns="0" rtlCol="0" anchor="b"/>
          <a:lstStyle/>
          <a:p>
            <a:pPr marL="0" indent="0">
              <a:buNone/>
            </a:pPr>
            <a:r>
              <a:rPr lang="en-US" sz="850" b="1" dirty="0">
                <a:solidFill>
                  <a:srgbClr val="00704A"/>
                </a:solidFill>
                <a:latin typeface="Calibri" pitchFamily="34" charset="0"/>
                <a:ea typeface="Calibri" pitchFamily="34" charset="-122"/>
                <a:cs typeface="Calibri" pitchFamily="34" charset="-120"/>
              </a:rPr>
              <a:t>In-Context RALM · REPLUG</a:t>
            </a:r>
            <a:endParaRPr lang="en-US" sz="850" dirty="0"/>
          </a:p>
        </p:txBody>
      </p:sp>
      <p:sp>
        <p:nvSpPr>
          <p:cNvPr id="37" name="Shape 34"/>
          <p:cNvSpPr/>
          <p:nvPr/>
        </p:nvSpPr>
        <p:spPr>
          <a:xfrm>
            <a:off x="5212080" y="1956816"/>
            <a:ext cx="1097280" cy="2706624"/>
          </a:xfrm>
          <a:prstGeom prst="roundRect">
            <a:avLst>
              <a:gd name="adj" fmla="val 6667"/>
            </a:avLst>
          </a:prstGeom>
          <a:solidFill>
            <a:srgbClr val="F4F7F5"/>
          </a:solidFill>
          <a:ln w="9525">
            <a:solidFill>
              <a:srgbClr val="D5DED9"/>
            </a:solidFill>
            <a:prstDash val="solid"/>
          </a:ln>
        </p:spPr>
      </p:sp>
      <p:sp>
        <p:nvSpPr>
          <p:cNvPr id="38" name="Text 35"/>
          <p:cNvSpPr txBox="1"/>
          <p:nvPr/>
        </p:nvSpPr>
        <p:spPr>
          <a:xfrm>
            <a:off x="5303520" y="2048256"/>
            <a:ext cx="914400" cy="274320"/>
          </a:xfrm>
          <a:prstGeom prst="rect">
            <a:avLst/>
          </a:prstGeom>
          <a:noFill/>
          <a:ln/>
        </p:spPr>
        <p:txBody>
          <a:bodyPr wrap="square" lIns="0" tIns="0" rIns="0" bIns="0" rtlCol="0" anchor="ctr"/>
          <a:lstStyle/>
          <a:p>
            <a:pPr marL="0" indent="0">
              <a:buNone/>
            </a:pPr>
            <a:r>
              <a:rPr lang="en-US" sz="1500" b="1" dirty="0">
                <a:solidFill>
                  <a:srgbClr val="008A5B"/>
                </a:solidFill>
                <a:latin typeface="Calibri" pitchFamily="34" charset="0"/>
                <a:ea typeface="Calibri" pitchFamily="34" charset="-122"/>
                <a:cs typeface="Calibri" pitchFamily="34" charset="-120"/>
              </a:rPr>
              <a:t>2023–24</a:t>
            </a:r>
            <a:endParaRPr lang="en-US" sz="1500" dirty="0"/>
          </a:p>
        </p:txBody>
      </p:sp>
      <p:sp>
        <p:nvSpPr>
          <p:cNvPr id="39" name="Text 36"/>
          <p:cNvSpPr txBox="1"/>
          <p:nvPr/>
        </p:nvSpPr>
        <p:spPr>
          <a:xfrm>
            <a:off x="5303520" y="2340864"/>
            <a:ext cx="914400" cy="475488"/>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Adaptatif &amp; autocorrectif</a:t>
            </a:r>
            <a:endParaRPr lang="en-US" sz="1050" dirty="0"/>
          </a:p>
        </p:txBody>
      </p:sp>
      <p:sp>
        <p:nvSpPr>
          <p:cNvPr id="40" name="Text 37"/>
          <p:cNvSpPr txBox="1"/>
          <p:nvPr/>
        </p:nvSpPr>
        <p:spPr>
          <a:xfrm>
            <a:off x="5303520" y="2825496"/>
            <a:ext cx="914400" cy="68580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Chercher si besoin, vérifier et corriger.</a:t>
            </a:r>
            <a:endParaRPr lang="en-US" sz="950" dirty="0"/>
          </a:p>
        </p:txBody>
      </p:sp>
      <p:sp>
        <p:nvSpPr>
          <p:cNvPr id="41" name="Text 38"/>
          <p:cNvSpPr txBox="1"/>
          <p:nvPr/>
        </p:nvSpPr>
        <p:spPr>
          <a:xfrm>
            <a:off x="5303520" y="4114800"/>
            <a:ext cx="914400" cy="475488"/>
          </a:xfrm>
          <a:prstGeom prst="rect">
            <a:avLst/>
          </a:prstGeom>
          <a:noFill/>
          <a:ln/>
        </p:spPr>
        <p:txBody>
          <a:bodyPr wrap="square" lIns="0" tIns="0" rIns="0" bIns="0" rtlCol="0" anchor="b"/>
          <a:lstStyle/>
          <a:p>
            <a:pPr marL="0" indent="0">
              <a:buNone/>
            </a:pPr>
            <a:r>
              <a:rPr lang="en-US" sz="850" b="1" dirty="0">
                <a:solidFill>
                  <a:srgbClr val="00704A"/>
                </a:solidFill>
                <a:latin typeface="Calibri" pitchFamily="34" charset="0"/>
                <a:ea typeface="Calibri" pitchFamily="34" charset="-122"/>
                <a:cs typeface="Calibri" pitchFamily="34" charset="-120"/>
              </a:rPr>
              <a:t>FLARE · IRCoT · Self-RAG · CRAG · Adaptive-RAG</a:t>
            </a:r>
            <a:endParaRPr lang="en-US" sz="850" dirty="0"/>
          </a:p>
        </p:txBody>
      </p:sp>
      <p:sp>
        <p:nvSpPr>
          <p:cNvPr id="42" name="Shape 39"/>
          <p:cNvSpPr/>
          <p:nvPr/>
        </p:nvSpPr>
        <p:spPr>
          <a:xfrm>
            <a:off x="6400800" y="1737360"/>
            <a:ext cx="1097280" cy="2926080"/>
          </a:xfrm>
          <a:prstGeom prst="roundRect">
            <a:avLst>
              <a:gd name="adj" fmla="val 6667"/>
            </a:avLst>
          </a:prstGeom>
          <a:solidFill>
            <a:srgbClr val="F4F7F5"/>
          </a:solidFill>
          <a:ln w="9525">
            <a:solidFill>
              <a:srgbClr val="D5DED9"/>
            </a:solidFill>
            <a:prstDash val="solid"/>
          </a:ln>
        </p:spPr>
      </p:sp>
      <p:sp>
        <p:nvSpPr>
          <p:cNvPr id="43" name="Text 40"/>
          <p:cNvSpPr txBox="1"/>
          <p:nvPr/>
        </p:nvSpPr>
        <p:spPr>
          <a:xfrm>
            <a:off x="6492240" y="1828800"/>
            <a:ext cx="914400" cy="274320"/>
          </a:xfrm>
          <a:prstGeom prst="rect">
            <a:avLst/>
          </a:prstGeom>
          <a:noFill/>
          <a:ln/>
        </p:spPr>
        <p:txBody>
          <a:bodyPr wrap="square" lIns="0" tIns="0" rIns="0" bIns="0" rtlCol="0" anchor="ctr"/>
          <a:lstStyle/>
          <a:p>
            <a:pPr marL="0" indent="0">
              <a:buNone/>
            </a:pPr>
            <a:r>
              <a:rPr lang="en-US" sz="1500" b="1" dirty="0">
                <a:solidFill>
                  <a:srgbClr val="00664A"/>
                </a:solidFill>
                <a:latin typeface="Calibri" pitchFamily="34" charset="0"/>
                <a:ea typeface="Calibri" pitchFamily="34" charset="-122"/>
                <a:cs typeface="Calibri" pitchFamily="34" charset="-120"/>
              </a:rPr>
              <a:t>2024</a:t>
            </a:r>
            <a:endParaRPr lang="en-US" sz="1500" dirty="0"/>
          </a:p>
        </p:txBody>
      </p:sp>
      <p:sp>
        <p:nvSpPr>
          <p:cNvPr id="44" name="Text 41"/>
          <p:cNvSpPr txBox="1"/>
          <p:nvPr/>
        </p:nvSpPr>
        <p:spPr>
          <a:xfrm>
            <a:off x="6492240" y="2121408"/>
            <a:ext cx="914400" cy="475488"/>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Structuré &amp; multimodal</a:t>
            </a:r>
            <a:endParaRPr lang="en-US" sz="1050" dirty="0"/>
          </a:p>
        </p:txBody>
      </p:sp>
      <p:sp>
        <p:nvSpPr>
          <p:cNvPr id="45" name="Text 42"/>
          <p:cNvSpPr txBox="1"/>
          <p:nvPr/>
        </p:nvSpPr>
        <p:spPr>
          <a:xfrm>
            <a:off x="6492240" y="2606040"/>
            <a:ext cx="914400" cy="68580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Graphes, arbres de résumés, images de pages.</a:t>
            </a:r>
            <a:endParaRPr lang="en-US" sz="950" dirty="0"/>
          </a:p>
        </p:txBody>
      </p:sp>
      <p:sp>
        <p:nvSpPr>
          <p:cNvPr id="46" name="Text 43"/>
          <p:cNvSpPr txBox="1"/>
          <p:nvPr/>
        </p:nvSpPr>
        <p:spPr>
          <a:xfrm>
            <a:off x="6492240" y="4114800"/>
            <a:ext cx="914400" cy="475488"/>
          </a:xfrm>
          <a:prstGeom prst="rect">
            <a:avLst/>
          </a:prstGeom>
          <a:noFill/>
          <a:ln/>
        </p:spPr>
        <p:txBody>
          <a:bodyPr wrap="square" lIns="0" tIns="0" rIns="0" bIns="0" rtlCol="0" anchor="b"/>
          <a:lstStyle/>
          <a:p>
            <a:pPr marL="0" indent="0">
              <a:buNone/>
            </a:pPr>
            <a:r>
              <a:rPr lang="en-US" sz="850" b="1" dirty="0">
                <a:solidFill>
                  <a:srgbClr val="00704A"/>
                </a:solidFill>
                <a:latin typeface="Calibri" pitchFamily="34" charset="0"/>
                <a:ea typeface="Calibri" pitchFamily="34" charset="-122"/>
                <a:cs typeface="Calibri" pitchFamily="34" charset="-120"/>
              </a:rPr>
              <a:t>GraphRAG · RAPTOR · HippoRAG · ColPali</a:t>
            </a:r>
            <a:endParaRPr lang="en-US" sz="850" dirty="0"/>
          </a:p>
        </p:txBody>
      </p:sp>
      <p:sp>
        <p:nvSpPr>
          <p:cNvPr id="47" name="Shape 44"/>
          <p:cNvSpPr/>
          <p:nvPr/>
        </p:nvSpPr>
        <p:spPr>
          <a:xfrm>
            <a:off x="7589520" y="1517904"/>
            <a:ext cx="1097280" cy="3145536"/>
          </a:xfrm>
          <a:prstGeom prst="roundRect">
            <a:avLst>
              <a:gd name="adj" fmla="val 6667"/>
            </a:avLst>
          </a:prstGeom>
          <a:solidFill>
            <a:srgbClr val="E8F5EF"/>
          </a:solidFill>
          <a:ln w="15875">
            <a:solidFill>
              <a:srgbClr val="D49A00"/>
            </a:solidFill>
            <a:prstDash val="solid"/>
          </a:ln>
        </p:spPr>
      </p:sp>
      <p:sp>
        <p:nvSpPr>
          <p:cNvPr id="48" name="Text 45"/>
          <p:cNvSpPr txBox="1"/>
          <p:nvPr/>
        </p:nvSpPr>
        <p:spPr>
          <a:xfrm>
            <a:off x="7680960" y="1609344"/>
            <a:ext cx="914400" cy="274320"/>
          </a:xfrm>
          <a:prstGeom prst="rect">
            <a:avLst/>
          </a:prstGeom>
          <a:noFill/>
          <a:ln/>
        </p:spPr>
        <p:txBody>
          <a:bodyPr wrap="square" lIns="0" tIns="0" rIns="0" bIns="0" rtlCol="0" anchor="ctr"/>
          <a:lstStyle/>
          <a:p>
            <a:pPr marL="0" indent="0">
              <a:buNone/>
            </a:pPr>
            <a:r>
              <a:rPr lang="en-US" sz="1500" b="1" dirty="0">
                <a:solidFill>
                  <a:srgbClr val="D49A00"/>
                </a:solidFill>
                <a:latin typeface="Calibri" pitchFamily="34" charset="0"/>
                <a:ea typeface="Calibri" pitchFamily="34" charset="-122"/>
                <a:cs typeface="Calibri" pitchFamily="34" charset="-120"/>
              </a:rPr>
              <a:t>2025+</a:t>
            </a:r>
            <a:endParaRPr lang="en-US" sz="1500" dirty="0"/>
          </a:p>
        </p:txBody>
      </p:sp>
      <p:sp>
        <p:nvSpPr>
          <p:cNvPr id="49" name="Text 46"/>
          <p:cNvSpPr txBox="1"/>
          <p:nvPr/>
        </p:nvSpPr>
        <p:spPr>
          <a:xfrm>
            <a:off x="7680960" y="1901952"/>
            <a:ext cx="914400" cy="475488"/>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Agentique &amp; entraîné par RL</a:t>
            </a:r>
            <a:endParaRPr lang="en-US" sz="1050" dirty="0"/>
          </a:p>
        </p:txBody>
      </p:sp>
      <p:sp>
        <p:nvSpPr>
          <p:cNvPr id="50" name="Text 47"/>
          <p:cNvSpPr txBox="1"/>
          <p:nvPr/>
        </p:nvSpPr>
        <p:spPr>
          <a:xfrm>
            <a:off x="7680960" y="2386584"/>
            <a:ext cx="914400" cy="68580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Les modèles apprennent à planifier et chercher en plusieurs étapes.</a:t>
            </a:r>
            <a:endParaRPr lang="en-US" sz="950" dirty="0"/>
          </a:p>
        </p:txBody>
      </p:sp>
      <p:sp>
        <p:nvSpPr>
          <p:cNvPr id="51" name="Text 48"/>
          <p:cNvSpPr txBox="1"/>
          <p:nvPr/>
        </p:nvSpPr>
        <p:spPr>
          <a:xfrm>
            <a:off x="7680960" y="4114800"/>
            <a:ext cx="914400" cy="475488"/>
          </a:xfrm>
          <a:prstGeom prst="rect">
            <a:avLst/>
          </a:prstGeom>
          <a:noFill/>
          <a:ln/>
        </p:spPr>
        <p:txBody>
          <a:bodyPr wrap="square" lIns="0" tIns="0" rIns="0" bIns="0" rtlCol="0" anchor="b"/>
          <a:lstStyle/>
          <a:p>
            <a:pPr marL="0" indent="0">
              <a:buNone/>
            </a:pPr>
            <a:r>
              <a:rPr lang="en-US" sz="850" b="1" dirty="0">
                <a:solidFill>
                  <a:srgbClr val="00704A"/>
                </a:solidFill>
                <a:latin typeface="Calibri" pitchFamily="34" charset="0"/>
                <a:ea typeface="Calibri" pitchFamily="34" charset="-122"/>
                <a:cs typeface="Calibri" pitchFamily="34" charset="-120"/>
              </a:rPr>
              <a:t>Search-o1 · Search-R1 · agents « deep research »</a:t>
            </a:r>
            <a:endParaRPr lang="en-US" sz="850" dirty="0"/>
          </a:p>
        </p:txBody>
      </p:sp>
      <p:sp>
        <p:nvSpPr>
          <p:cNvPr id="52" name="Shape 49"/>
          <p:cNvSpPr/>
          <p:nvPr/>
        </p:nvSpPr>
        <p:spPr>
          <a:xfrm flipV="1">
            <a:off x="548640" y="1298448"/>
            <a:ext cx="8001000" cy="1280160"/>
          </a:xfrm>
          <a:prstGeom prst="line">
            <a:avLst/>
          </a:prstGeom>
          <a:noFill/>
          <a:ln w="22225">
            <a:solidFill>
              <a:srgbClr val="D49A00"/>
            </a:solidFill>
            <a:prstDash val="dash"/>
            <a:tailEnd type="triangle"/>
          </a:ln>
        </p:spPr>
      </p:sp>
      <p:sp>
        <p:nvSpPr>
          <p:cNvPr id="53" name="Text 50"/>
          <p:cNvSpPr txBox="1"/>
          <p:nvPr/>
        </p:nvSpPr>
        <p:spPr>
          <a:xfrm>
            <a:off x="457200" y="1325880"/>
            <a:ext cx="4114800" cy="274320"/>
          </a:xfrm>
          <a:prstGeom prst="rect">
            <a:avLst/>
          </a:prstGeom>
          <a:noFill/>
          <a:ln/>
        </p:spPr>
        <p:txBody>
          <a:bodyPr wrap="square" lIns="0" tIns="0" rIns="0" bIns="0" rtlCol="0" anchor="ctr"/>
          <a:lstStyle/>
          <a:p>
            <a:pPr marL="0" indent="0">
              <a:buNone/>
            </a:pPr>
            <a:r>
              <a:rPr lang="en-US" sz="1250" i="1" dirty="0">
                <a:solidFill>
                  <a:srgbClr val="D49A00"/>
                </a:solidFill>
                <a:latin typeface="Calibri" pitchFamily="34" charset="0"/>
                <a:ea typeface="Calibri" pitchFamily="34" charset="-122"/>
                <a:cs typeface="Calibri" pitchFamily="34" charset="-120"/>
              </a:rPr>
              <a:t>Plus adaptatif  ·  plus structuré  ·  plus autonome</a:t>
            </a:r>
            <a:endParaRPr lang="en-US" sz="1250" dirty="0"/>
          </a:p>
        </p:txBody>
      </p:sp>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ÉVOLUTION DU RAG</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Cinq axes de progrès</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49A00"/>
          </a:solidFill>
          <a:ln w="12700">
            <a:solidFill>
              <a:srgbClr val="D49A00"/>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694944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ATI · Big Data pour les statistiques macroéconomiques · Maurice, 26–30 oct. 2026   |   BAD · Data Innovation for Africa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29</a:t>
            </a:r>
            <a:endParaRPr lang="en-US" sz="8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298448"/>
          <a:ext cx="8229600" cy="914400"/>
        </p:xfrm>
        <a:graphic>
          <a:graphicData uri="http://schemas.openxmlformats.org/drawingml/2006/table">
            <a:tbl>
              <a:tblPr/>
              <a:tblGrid>
                <a:gridCol w="164592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tblGrid>
              <a:tr h="365760">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Axe</a:t>
                      </a:r>
                      <a:endParaRPr lang="en-US" sz="12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00553A"/>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RAG initial (2020)</a:t>
                      </a:r>
                      <a:endParaRPr lang="en-US" sz="12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7F8C87"/>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Pratique établie</a:t>
                      </a:r>
                      <a:endParaRPr lang="en-US" sz="12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00A86A"/>
                    </a:solidFill>
                  </a:tcPr>
                </a:tc>
                <a:tc>
                  <a:txBody>
                    <a:bodyPr/>
                    <a:lstStyle/>
                    <a:p>
                      <a:pPr marL="0" indent="0" algn="ctr">
                        <a:buNone/>
                      </a:pPr>
                      <a:r>
                        <a:rPr lang="en-US" sz="1250" b="1" dirty="0">
                          <a:solidFill>
                            <a:srgbClr val="231F20"/>
                          </a:solidFill>
                          <a:latin typeface="Calibri" pitchFamily="34" charset="0"/>
                          <a:ea typeface="Calibri" pitchFamily="34" charset="-122"/>
                          <a:cs typeface="Calibri" pitchFamily="34" charset="-120"/>
                        </a:rPr>
                        <a:t>Frontière</a:t>
                      </a:r>
                      <a:endParaRPr lang="en-US" sz="12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5C242"/>
                    </a:solidFill>
                  </a:tcPr>
                </a:tc>
                <a:extLst>
                  <a:ext uri="{0D108BD9-81ED-4DB2-BD59-A6C34878D82A}">
                    <a16:rowId xmlns:a16="http://schemas.microsoft.com/office/drawing/2014/main" val="10000"/>
                  </a:ext>
                </a:extLst>
              </a:tr>
              <a:tr h="548640">
                <a:tc>
                  <a:txBody>
                    <a:bodyPr/>
                    <a:lstStyle/>
                    <a:p>
                      <a:pPr marL="0" indent="0">
                        <a:buNone/>
                      </a:pPr>
                      <a:r>
                        <a:rPr lang="en-US" sz="1200" b="1" dirty="0">
                          <a:solidFill>
                            <a:srgbClr val="231F20"/>
                          </a:solidFill>
                          <a:latin typeface="Calibri" pitchFamily="34" charset="0"/>
                          <a:ea typeface="Calibri" pitchFamily="34" charset="-122"/>
                          <a:cs typeface="Calibri" pitchFamily="34" charset="-120"/>
                        </a:rPr>
                        <a:t>Quand chercher</a:t>
                      </a:r>
                      <a:endParaRPr lang="en-US" sz="12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marL="0" indent="0">
                        <a:buNone/>
                      </a:pPr>
                      <a:r>
                        <a:rPr lang="en-US" sz="1050" dirty="0">
                          <a:solidFill>
                            <a:srgbClr val="5E6964"/>
                          </a:solidFill>
                          <a:latin typeface="Calibri" pitchFamily="34" charset="0"/>
                          <a:ea typeface="Calibri" pitchFamily="34" charset="-122"/>
                          <a:cs typeface="Calibri" pitchFamily="34" charset="-120"/>
                        </a:rPr>
                        <a:t>Une fois, avant de générer</a:t>
                      </a:r>
                      <a:endParaRPr lang="en-US" sz="10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c>
                  <a:txBody>
                    <a:bodyPr/>
                    <a:lstStyle/>
                    <a:p>
                      <a:pPr marL="0" indent="0">
                        <a:buNone/>
                      </a:pPr>
                      <a:r>
                        <a:rPr lang="en-US" sz="1050" dirty="0">
                          <a:solidFill>
                            <a:srgbClr val="231F20"/>
                          </a:solidFill>
                          <a:latin typeface="Calibri" pitchFamily="34" charset="0"/>
                          <a:ea typeface="Calibri" pitchFamily="34" charset="-122"/>
                          <a:cs typeface="Calibri" pitchFamily="34" charset="-120"/>
                        </a:rPr>
                        <a:t>Plusieurs fois, en alternance avec le raisonnement (IRCoT, FLARE)</a:t>
                      </a:r>
                      <a:endParaRPr lang="en-US" sz="10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tc>
                  <a:txBody>
                    <a:bodyPr/>
                    <a:lstStyle/>
                    <a:p>
                      <a:pPr marL="0" indent="0">
                        <a:buNone/>
                      </a:pPr>
                      <a:r>
                        <a:rPr lang="en-US" sz="1050" b="1" dirty="0">
                          <a:solidFill>
                            <a:srgbClr val="231F20"/>
                          </a:solidFill>
                          <a:latin typeface="Calibri" pitchFamily="34" charset="0"/>
                          <a:ea typeface="Calibri" pitchFamily="34" charset="-122"/>
                          <a:cs typeface="Calibri" pitchFamily="34" charset="-120"/>
                        </a:rPr>
                        <a:t>Le modèle décide si et quand (Self-RAG, Adaptive-RAG)</a:t>
                      </a:r>
                      <a:endParaRPr lang="en-US" sz="10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DF3D7"/>
                    </a:solidFill>
                  </a:tcPr>
                </a:tc>
                <a:extLst>
                  <a:ext uri="{0D108BD9-81ED-4DB2-BD59-A6C34878D82A}">
                    <a16:rowId xmlns:a16="http://schemas.microsoft.com/office/drawing/2014/main" val="10001"/>
                  </a:ext>
                </a:extLst>
              </a:tr>
              <a:tr h="548640">
                <a:tc>
                  <a:txBody>
                    <a:bodyPr/>
                    <a:lstStyle/>
                    <a:p>
                      <a:pPr marL="0" indent="0">
                        <a:buNone/>
                      </a:pPr>
                      <a:r>
                        <a:rPr lang="en-US" sz="1200" b="1" dirty="0">
                          <a:solidFill>
                            <a:srgbClr val="231F20"/>
                          </a:solidFill>
                          <a:latin typeface="Calibri" pitchFamily="34" charset="0"/>
                          <a:ea typeface="Calibri" pitchFamily="34" charset="-122"/>
                          <a:cs typeface="Calibri" pitchFamily="34" charset="-120"/>
                        </a:rPr>
                        <a:t>Quoi récupérer</a:t>
                      </a:r>
                      <a:endParaRPr lang="en-US" sz="12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marL="0" indent="0">
                        <a:buNone/>
                      </a:pPr>
                      <a:r>
                        <a:rPr lang="en-US" sz="1050" dirty="0">
                          <a:solidFill>
                            <a:srgbClr val="5E6964"/>
                          </a:solidFill>
                          <a:latin typeface="Calibri" pitchFamily="34" charset="0"/>
                          <a:ea typeface="Calibri" pitchFamily="34" charset="-122"/>
                          <a:cs typeface="Calibri" pitchFamily="34" charset="-120"/>
                        </a:rPr>
                        <a:t>Passages de taille fixe</a:t>
                      </a:r>
                      <a:endParaRPr lang="en-US" sz="10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c>
                  <a:txBody>
                    <a:bodyPr/>
                    <a:lstStyle/>
                    <a:p>
                      <a:pPr marL="0" indent="0">
                        <a:buNone/>
                      </a:pPr>
                      <a:r>
                        <a:rPr lang="en-US" sz="1050" dirty="0">
                          <a:solidFill>
                            <a:srgbClr val="231F20"/>
                          </a:solidFill>
                          <a:latin typeface="Calibri" pitchFamily="34" charset="0"/>
                          <a:ea typeface="Calibri" pitchFamily="34" charset="-122"/>
                          <a:cs typeface="Calibri" pitchFamily="34" charset="-120"/>
                        </a:rPr>
                        <a:t>Fragments hybrides, reclassés, contextualisés</a:t>
                      </a:r>
                      <a:endParaRPr lang="en-US" sz="10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tc>
                  <a:txBody>
                    <a:bodyPr/>
                    <a:lstStyle/>
                    <a:p>
                      <a:pPr marL="0" indent="0">
                        <a:buNone/>
                      </a:pPr>
                      <a:r>
                        <a:rPr lang="en-US" sz="1050" b="1" dirty="0">
                          <a:solidFill>
                            <a:srgbClr val="231F20"/>
                          </a:solidFill>
                          <a:latin typeface="Calibri" pitchFamily="34" charset="0"/>
                          <a:ea typeface="Calibri" pitchFamily="34" charset="-122"/>
                          <a:cs typeface="Calibri" pitchFamily="34" charset="-120"/>
                        </a:rPr>
                        <a:t>Graphes, arbres de résumés, images de pages (GraphRAG, RAPTOR, ColPali)</a:t>
                      </a:r>
                      <a:endParaRPr lang="en-US" sz="10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DF3D7"/>
                    </a:solidFill>
                  </a:tcPr>
                </a:tc>
                <a:extLst>
                  <a:ext uri="{0D108BD9-81ED-4DB2-BD59-A6C34878D82A}">
                    <a16:rowId xmlns:a16="http://schemas.microsoft.com/office/drawing/2014/main" val="10002"/>
                  </a:ext>
                </a:extLst>
              </a:tr>
              <a:tr h="548640">
                <a:tc>
                  <a:txBody>
                    <a:bodyPr/>
                    <a:lstStyle/>
                    <a:p>
                      <a:pPr marL="0" indent="0">
                        <a:buNone/>
                      </a:pPr>
                      <a:r>
                        <a:rPr lang="en-US" sz="1200" b="1" dirty="0">
                          <a:solidFill>
                            <a:srgbClr val="231F20"/>
                          </a:solidFill>
                          <a:latin typeface="Calibri" pitchFamily="34" charset="0"/>
                          <a:ea typeface="Calibri" pitchFamily="34" charset="-122"/>
                          <a:cs typeface="Calibri" pitchFamily="34" charset="-120"/>
                        </a:rPr>
                        <a:t>Apprentissage de la recherche</a:t>
                      </a:r>
                      <a:endParaRPr lang="en-US" sz="12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marL="0" indent="0">
                        <a:buNone/>
                      </a:pPr>
                      <a:r>
                        <a:rPr lang="en-US" sz="1050" dirty="0">
                          <a:solidFill>
                            <a:srgbClr val="5E6964"/>
                          </a:solidFill>
                          <a:latin typeface="Calibri" pitchFamily="34" charset="0"/>
                          <a:ea typeface="Calibri" pitchFamily="34" charset="-122"/>
                          <a:cs typeface="Calibri" pitchFamily="34" charset="-120"/>
                        </a:rPr>
                        <a:t>Récupérateur entraîné avec un petit générateur</a:t>
                      </a:r>
                      <a:endParaRPr lang="en-US" sz="10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c>
                  <a:txBody>
                    <a:bodyPr/>
                    <a:lstStyle/>
                    <a:p>
                      <a:pPr marL="0" indent="0">
                        <a:buNone/>
                      </a:pPr>
                      <a:r>
                        <a:rPr lang="en-US" sz="1050" dirty="0">
                          <a:solidFill>
                            <a:srgbClr val="231F20"/>
                          </a:solidFill>
                          <a:latin typeface="Calibri" pitchFamily="34" charset="0"/>
                          <a:ea typeface="Calibri" pitchFamily="34" charset="-122"/>
                          <a:cs typeface="Calibri" pitchFamily="34" charset="-120"/>
                        </a:rPr>
                        <a:t>LLM figé ; récupérateur standard ou ajusté via le LLM (REPLUG)</a:t>
                      </a:r>
                      <a:endParaRPr lang="en-US" sz="10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tc>
                  <a:txBody>
                    <a:bodyPr/>
                    <a:lstStyle/>
                    <a:p>
                      <a:pPr marL="0" indent="0">
                        <a:buNone/>
                      </a:pPr>
                      <a:r>
                        <a:rPr lang="en-US" sz="1050" b="1" dirty="0">
                          <a:solidFill>
                            <a:srgbClr val="231F20"/>
                          </a:solidFill>
                          <a:latin typeface="Calibri" pitchFamily="34" charset="0"/>
                          <a:ea typeface="Calibri" pitchFamily="34" charset="-122"/>
                          <a:cs typeface="Calibri" pitchFamily="34" charset="-120"/>
                        </a:rPr>
                        <a:t>LLM entraîné par renforcement à chercher (Search-R1)</a:t>
                      </a:r>
                      <a:endParaRPr lang="en-US" sz="10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DF3D7"/>
                    </a:solidFill>
                  </a:tcPr>
                </a:tc>
                <a:extLst>
                  <a:ext uri="{0D108BD9-81ED-4DB2-BD59-A6C34878D82A}">
                    <a16:rowId xmlns:a16="http://schemas.microsoft.com/office/drawing/2014/main" val="10003"/>
                  </a:ext>
                </a:extLst>
              </a:tr>
              <a:tr h="548640">
                <a:tc>
                  <a:txBody>
                    <a:bodyPr/>
                    <a:lstStyle/>
                    <a:p>
                      <a:pPr marL="0" indent="0">
                        <a:buNone/>
                      </a:pPr>
                      <a:r>
                        <a:rPr lang="en-US" sz="1200" b="1" dirty="0">
                          <a:solidFill>
                            <a:srgbClr val="231F20"/>
                          </a:solidFill>
                          <a:latin typeface="Calibri" pitchFamily="34" charset="0"/>
                          <a:ea typeface="Calibri" pitchFamily="34" charset="-122"/>
                          <a:cs typeface="Calibri" pitchFamily="34" charset="-120"/>
                        </a:rPr>
                        <a:t>Qui pilote le flux</a:t>
                      </a:r>
                      <a:endParaRPr lang="en-US" sz="12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marL="0" indent="0">
                        <a:buNone/>
                      </a:pPr>
                      <a:r>
                        <a:rPr lang="en-US" sz="1050" dirty="0">
                          <a:solidFill>
                            <a:srgbClr val="5E6964"/>
                          </a:solidFill>
                          <a:latin typeface="Calibri" pitchFamily="34" charset="0"/>
                          <a:ea typeface="Calibri" pitchFamily="34" charset="-122"/>
                          <a:cs typeface="Calibri" pitchFamily="34" charset="-120"/>
                        </a:rPr>
                        <a:t>Chaîne linéaire fixe</a:t>
                      </a:r>
                      <a:endParaRPr lang="en-US" sz="10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c>
                  <a:txBody>
                    <a:bodyPr/>
                    <a:lstStyle/>
                    <a:p>
                      <a:pPr marL="0" indent="0">
                        <a:buNone/>
                      </a:pPr>
                      <a:r>
                        <a:rPr lang="en-US" sz="1050" dirty="0">
                          <a:solidFill>
                            <a:srgbClr val="231F20"/>
                          </a:solidFill>
                          <a:latin typeface="Calibri" pitchFamily="34" charset="0"/>
                          <a:ea typeface="Calibri" pitchFamily="34" charset="-122"/>
                          <a:cs typeface="Calibri" pitchFamily="34" charset="-120"/>
                        </a:rPr>
                        <a:t>Chaînes modulaires avec routage</a:t>
                      </a:r>
                      <a:endParaRPr lang="en-US" sz="10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tc>
                  <a:txBody>
                    <a:bodyPr/>
                    <a:lstStyle/>
                    <a:p>
                      <a:pPr marL="0" indent="0">
                        <a:buNone/>
                      </a:pPr>
                      <a:r>
                        <a:rPr lang="en-US" sz="1050" b="1" dirty="0">
                          <a:solidFill>
                            <a:srgbClr val="231F20"/>
                          </a:solidFill>
                          <a:latin typeface="Calibri" pitchFamily="34" charset="0"/>
                          <a:ea typeface="Calibri" pitchFamily="34" charset="-122"/>
                          <a:cs typeface="Calibri" pitchFamily="34" charset="-120"/>
                        </a:rPr>
                        <a:t>Agents qui planifient une recherche en plusieurs étapes</a:t>
                      </a:r>
                      <a:endParaRPr lang="en-US" sz="10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DF3D7"/>
                    </a:solidFill>
                  </a:tcPr>
                </a:tc>
                <a:extLst>
                  <a:ext uri="{0D108BD9-81ED-4DB2-BD59-A6C34878D82A}">
                    <a16:rowId xmlns:a16="http://schemas.microsoft.com/office/drawing/2014/main" val="10004"/>
                  </a:ext>
                </a:extLst>
              </a:tr>
              <a:tr h="548640">
                <a:tc>
                  <a:txBody>
                    <a:bodyPr/>
                    <a:lstStyle/>
                    <a:p>
                      <a:pPr marL="0" indent="0">
                        <a:buNone/>
                      </a:pPr>
                      <a:r>
                        <a:rPr lang="en-US" sz="1200" b="1" dirty="0">
                          <a:solidFill>
                            <a:srgbClr val="231F20"/>
                          </a:solidFill>
                          <a:latin typeface="Calibri" pitchFamily="34" charset="0"/>
                          <a:ea typeface="Calibri" pitchFamily="34" charset="-122"/>
                          <a:cs typeface="Calibri" pitchFamily="34" charset="-120"/>
                        </a:rPr>
                        <a:t>Contrôle qualité</a:t>
                      </a:r>
                      <a:endParaRPr lang="en-US" sz="12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marL="0" indent="0">
                        <a:buNone/>
                      </a:pPr>
                      <a:r>
                        <a:rPr lang="en-US" sz="1050" dirty="0">
                          <a:solidFill>
                            <a:srgbClr val="5E6964"/>
                          </a:solidFill>
                          <a:latin typeface="Calibri" pitchFamily="34" charset="0"/>
                          <a:ea typeface="Calibri" pitchFamily="34" charset="-122"/>
                          <a:cs typeface="Calibri" pitchFamily="34" charset="-120"/>
                        </a:rPr>
                        <a:t>Classement seul</a:t>
                      </a:r>
                      <a:endParaRPr lang="en-US" sz="10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c>
                  <a:txBody>
                    <a:bodyPr/>
                    <a:lstStyle/>
                    <a:p>
                      <a:pPr marL="0" indent="0">
                        <a:buNone/>
                      </a:pPr>
                      <a:r>
                        <a:rPr lang="en-US" sz="1050" dirty="0">
                          <a:solidFill>
                            <a:srgbClr val="231F20"/>
                          </a:solidFill>
                          <a:latin typeface="Calibri" pitchFamily="34" charset="0"/>
                          <a:ea typeface="Calibri" pitchFamily="34" charset="-122"/>
                          <a:cs typeface="Calibri" pitchFamily="34" charset="-120"/>
                        </a:rPr>
                        <a:t>Reclassement, citations, évaluation automatisée (RAGAS)</a:t>
                      </a:r>
                      <a:endParaRPr lang="en-US" sz="10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tc>
                  <a:txBody>
                    <a:bodyPr/>
                    <a:lstStyle/>
                    <a:p>
                      <a:pPr marL="0" indent="0">
                        <a:buNone/>
                      </a:pPr>
                      <a:r>
                        <a:rPr lang="en-US" sz="1050" b="1" dirty="0">
                          <a:solidFill>
                            <a:srgbClr val="231F20"/>
                          </a:solidFill>
                          <a:latin typeface="Calibri" pitchFamily="34" charset="0"/>
                          <a:ea typeface="Calibri" pitchFamily="34" charset="-122"/>
                          <a:cs typeface="Calibri" pitchFamily="34" charset="-120"/>
                        </a:rPr>
                        <a:t>Autocritique et récupération corrective (Self-RAG, CRAG)</a:t>
                      </a:r>
                      <a:endParaRPr lang="en-US" sz="10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DF3D7"/>
                    </a:solidFill>
                  </a:tcPr>
                </a:tc>
                <a:extLst>
                  <a:ext uri="{0D108BD9-81ED-4DB2-BD59-A6C34878D82A}">
                    <a16:rowId xmlns:a16="http://schemas.microsoft.com/office/drawing/2014/main" val="10005"/>
                  </a:ext>
                </a:extLst>
              </a:tr>
            </a:tbl>
          </a:graphicData>
        </a:graphic>
      </p:graphicFrame>
      <p:sp>
        <p:nvSpPr>
          <p:cNvPr id="18" name="Shape 14"/>
          <p:cNvSpPr/>
          <p:nvPr/>
        </p:nvSpPr>
        <p:spPr>
          <a:xfrm>
            <a:off x="2194560" y="4617720"/>
            <a:ext cx="6400800" cy="914"/>
          </a:xfrm>
          <a:prstGeom prst="line">
            <a:avLst/>
          </a:prstGeom>
          <a:noFill/>
          <a:ln w="25400">
            <a:solidFill>
              <a:srgbClr val="D49A00"/>
            </a:solidFill>
            <a:prstDash val="solid"/>
            <a:tailEnd type="triangle"/>
          </a:ln>
        </p:spPr>
      </p:sp>
      <p:sp>
        <p:nvSpPr>
          <p:cNvPr id="19" name="Text 15"/>
          <p:cNvSpPr txBox="1"/>
          <p:nvPr/>
        </p:nvSpPr>
        <p:spPr>
          <a:xfrm>
            <a:off x="457200" y="4507992"/>
            <a:ext cx="1645920" cy="228600"/>
          </a:xfrm>
          <a:prstGeom prst="rect">
            <a:avLst/>
          </a:prstGeom>
          <a:noFill/>
          <a:ln/>
        </p:spPr>
        <p:txBody>
          <a:bodyPr wrap="square" lIns="0" tIns="0" rIns="0" bIns="0" rtlCol="0" anchor="ctr"/>
          <a:lstStyle/>
          <a:p>
            <a:pPr marL="0" indent="0">
              <a:buNone/>
            </a:pPr>
            <a:r>
              <a:rPr lang="en-US" sz="1050" b="1" dirty="0">
                <a:solidFill>
                  <a:srgbClr val="D49A00"/>
                </a:solidFill>
                <a:latin typeface="Calibri" pitchFamily="34" charset="0"/>
                <a:ea typeface="Calibri" pitchFamily="34" charset="-122"/>
                <a:cs typeface="Calibri" pitchFamily="34" charset="-120"/>
              </a:rPr>
              <a:t>Sens du progrès</a:t>
            </a:r>
            <a:endParaRPr lang="en-US" sz="1050" dirty="0"/>
          </a:p>
        </p:txBody>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ÉVOLUTION DU RAG</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Du RAG naïf au RAG avancé, puis modulaire</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49A00"/>
          </a:solidFill>
          <a:ln w="12700">
            <a:solidFill>
              <a:srgbClr val="D49A00"/>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694944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ATI · Big Data pour les statistiques macroéconomiques · Maurice, 26–30 oct. 2026   |   BAD · Data Innovation for Africa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30</a:t>
            </a:r>
            <a:endParaRPr lang="en-US" sz="850" dirty="0"/>
          </a:p>
        </p:txBody>
      </p:sp>
      <p:sp>
        <p:nvSpPr>
          <p:cNvPr id="17" name="Shape 14"/>
          <p:cNvSpPr/>
          <p:nvPr/>
        </p:nvSpPr>
        <p:spPr>
          <a:xfrm>
            <a:off x="457200" y="1325880"/>
            <a:ext cx="2615184" cy="2697480"/>
          </a:xfrm>
          <a:prstGeom prst="roundRect">
            <a:avLst>
              <a:gd name="adj" fmla="val 2797"/>
            </a:avLst>
          </a:prstGeom>
          <a:solidFill>
            <a:srgbClr val="F4F7F5"/>
          </a:solidFill>
          <a:ln w="9525">
            <a:solidFill>
              <a:srgbClr val="D5DED9"/>
            </a:solidFill>
            <a:prstDash val="solid"/>
          </a:ln>
        </p:spPr>
      </p:sp>
      <p:sp>
        <p:nvSpPr>
          <p:cNvPr id="18" name="Shape 15"/>
          <p:cNvSpPr/>
          <p:nvPr/>
        </p:nvSpPr>
        <p:spPr>
          <a:xfrm>
            <a:off x="640080" y="1481328"/>
            <a:ext cx="502920" cy="502920"/>
          </a:xfrm>
          <a:prstGeom prst="ellipse">
            <a:avLst/>
          </a:prstGeom>
          <a:solidFill>
            <a:srgbClr val="7F8C87">
              <a:alpha val="22000"/>
            </a:srgbClr>
          </a:solidFill>
          <a:ln w="12700">
            <a:solidFill>
              <a:srgbClr val="7F8C87">
                <a:alpha val="0"/>
              </a:srgbClr>
            </a:solidFill>
            <a:prstDash val="solid"/>
          </a:ln>
        </p:spPr>
      </p:sp>
      <p:pic>
        <p:nvPicPr>
          <p:cNvPr id="19" name="Image 0" descr="preencoded.png"/>
          <p:cNvPicPr>
            <a:picLocks noChangeAspect="1"/>
          </p:cNvPicPr>
          <p:nvPr/>
        </p:nvPicPr>
        <p:blipFill>
          <a:blip r:embed="rId3"/>
          <a:stretch>
            <a:fillRect/>
          </a:stretch>
        </p:blipFill>
        <p:spPr>
          <a:xfrm>
            <a:off x="760781" y="1602029"/>
            <a:ext cx="261518" cy="261518"/>
          </a:xfrm>
          <a:prstGeom prst="rect">
            <a:avLst/>
          </a:prstGeom>
        </p:spPr>
      </p:pic>
      <p:sp>
        <p:nvSpPr>
          <p:cNvPr id="20" name="Text 16"/>
          <p:cNvSpPr txBox="1"/>
          <p:nvPr/>
        </p:nvSpPr>
        <p:spPr>
          <a:xfrm>
            <a:off x="1280160" y="1581912"/>
            <a:ext cx="1737360" cy="320040"/>
          </a:xfrm>
          <a:prstGeom prst="rect">
            <a:avLst/>
          </a:prstGeom>
          <a:noFill/>
          <a:ln/>
        </p:spPr>
        <p:txBody>
          <a:bodyPr wrap="square" lIns="0" tIns="0" rIns="0" bIns="0" rtlCol="0" anchor="ctr"/>
          <a:lstStyle/>
          <a:p>
            <a:pPr marL="0" indent="0">
              <a:buNone/>
            </a:pPr>
            <a:r>
              <a:rPr lang="en-US" sz="1700" b="1" dirty="0">
                <a:solidFill>
                  <a:srgbClr val="231F20"/>
                </a:solidFill>
                <a:latin typeface="Calibri" pitchFamily="34" charset="0"/>
                <a:ea typeface="Calibri" pitchFamily="34" charset="-122"/>
                <a:cs typeface="Calibri" pitchFamily="34" charset="-120"/>
              </a:rPr>
              <a:t>RAG naïf</a:t>
            </a:r>
            <a:endParaRPr lang="en-US" sz="1700" dirty="0"/>
          </a:p>
        </p:txBody>
      </p:sp>
      <p:sp>
        <p:nvSpPr>
          <p:cNvPr id="21" name="Text 17"/>
          <p:cNvSpPr txBox="1"/>
          <p:nvPr/>
        </p:nvSpPr>
        <p:spPr>
          <a:xfrm>
            <a:off x="640080" y="2148840"/>
            <a:ext cx="2286000" cy="566928"/>
          </a:xfrm>
          <a:prstGeom prst="rect">
            <a:avLst/>
          </a:prstGeom>
          <a:noFill/>
          <a:ln/>
        </p:spPr>
        <p:txBody>
          <a:bodyPr wrap="square" lIns="0" tIns="0" rIns="0" bIns="0" rtlCol="0" anchor="t"/>
          <a:lstStyle/>
          <a:p>
            <a:pPr marL="0" indent="0">
              <a:buNone/>
            </a:pPr>
            <a:r>
              <a:rPr lang="en-US" sz="1200" dirty="0">
                <a:solidFill>
                  <a:srgbClr val="231F20"/>
                </a:solidFill>
                <a:latin typeface="Calibri" pitchFamily="34" charset="0"/>
                <a:ea typeface="Calibri" pitchFamily="34" charset="-122"/>
                <a:cs typeface="Calibri" pitchFamily="34" charset="-120"/>
              </a:rPr>
              <a:t>Indexer → Chercher → Générer, en chaîne linéaire fixe.</a:t>
            </a:r>
            <a:endParaRPr lang="en-US" sz="1200" dirty="0"/>
          </a:p>
        </p:txBody>
      </p:sp>
      <p:sp>
        <p:nvSpPr>
          <p:cNvPr id="22" name="Text 18"/>
          <p:cNvSpPr txBox="1"/>
          <p:nvPr/>
        </p:nvSpPr>
        <p:spPr>
          <a:xfrm>
            <a:off x="640080" y="2788920"/>
            <a:ext cx="2331720" cy="1188720"/>
          </a:xfrm>
          <a:prstGeom prst="rect">
            <a:avLst/>
          </a:prstGeom>
          <a:noFill/>
          <a:ln/>
        </p:spPr>
        <p:txBody>
          <a:bodyPr wrap="square" lIns="0" tIns="0" rIns="0" bIns="0" rtlCol="0" anchor="t"/>
          <a:lstStyle/>
          <a:p>
            <a:pPr marL="152400" indent="-152400">
              <a:spcAft>
                <a:spcPts val="500"/>
              </a:spcAft>
              <a:buSzPct val="100000"/>
              <a:buChar char="•"/>
            </a:pPr>
            <a:r>
              <a:rPr lang="en-US" sz="1050" dirty="0">
                <a:solidFill>
                  <a:srgbClr val="5E6964"/>
                </a:solidFill>
                <a:latin typeface="Calibri" pitchFamily="34" charset="0"/>
                <a:ea typeface="Calibri" pitchFamily="34" charset="-122"/>
                <a:cs typeface="Calibri" pitchFamily="34" charset="-120"/>
              </a:rPr>
              <a:t>Faible précision de recherche</a:t>
            </a:r>
            <a:endParaRPr lang="en-US" sz="1050" dirty="0"/>
          </a:p>
          <a:p>
            <a:pPr marL="152400" indent="-152400">
              <a:spcAft>
                <a:spcPts val="500"/>
              </a:spcAft>
              <a:buSzPct val="100000"/>
              <a:buChar char="•"/>
            </a:pPr>
            <a:r>
              <a:rPr lang="en-US" sz="1050" dirty="0">
                <a:solidFill>
                  <a:srgbClr val="5E6964"/>
                </a:solidFill>
                <a:latin typeface="Calibri" pitchFamily="34" charset="0"/>
                <a:ea typeface="Calibri" pitchFamily="34" charset="-122"/>
                <a:cs typeface="Calibri" pitchFamily="34" charset="-120"/>
              </a:rPr>
              <a:t>Contexte redondant ou bruité</a:t>
            </a:r>
            <a:endParaRPr lang="en-US" sz="1050" dirty="0"/>
          </a:p>
          <a:p>
            <a:pPr marL="152400" indent="-152400">
              <a:spcAft>
                <a:spcPts val="500"/>
              </a:spcAft>
              <a:buSzPct val="100000"/>
              <a:buChar char="•"/>
            </a:pPr>
            <a:r>
              <a:rPr lang="en-US" sz="1050" dirty="0">
                <a:solidFill>
                  <a:srgbClr val="5E6964"/>
                </a:solidFill>
                <a:latin typeface="Calibri" pitchFamily="34" charset="0"/>
                <a:ea typeface="Calibri" pitchFamily="34" charset="-122"/>
                <a:cs typeface="Calibri" pitchFamily="34" charset="-120"/>
              </a:rPr>
              <a:t>Hallucinations persistantes</a:t>
            </a:r>
            <a:endParaRPr lang="en-US" sz="1050" dirty="0"/>
          </a:p>
        </p:txBody>
      </p:sp>
      <p:sp>
        <p:nvSpPr>
          <p:cNvPr id="23" name="Shape 19"/>
          <p:cNvSpPr/>
          <p:nvPr/>
        </p:nvSpPr>
        <p:spPr>
          <a:xfrm>
            <a:off x="3090672" y="2697480"/>
            <a:ext cx="155448" cy="914"/>
          </a:xfrm>
          <a:prstGeom prst="line">
            <a:avLst/>
          </a:prstGeom>
          <a:noFill/>
          <a:ln w="25400">
            <a:solidFill>
              <a:srgbClr val="5E6964"/>
            </a:solidFill>
            <a:prstDash val="solid"/>
            <a:tailEnd type="triangle"/>
          </a:ln>
        </p:spPr>
      </p:sp>
      <p:sp>
        <p:nvSpPr>
          <p:cNvPr id="24" name="Shape 20"/>
          <p:cNvSpPr/>
          <p:nvPr/>
        </p:nvSpPr>
        <p:spPr>
          <a:xfrm>
            <a:off x="3264408" y="1325880"/>
            <a:ext cx="2615184" cy="2697480"/>
          </a:xfrm>
          <a:prstGeom prst="roundRect">
            <a:avLst>
              <a:gd name="adj" fmla="val 2797"/>
            </a:avLst>
          </a:prstGeom>
          <a:solidFill>
            <a:srgbClr val="F4F7F5"/>
          </a:solidFill>
          <a:ln w="9525">
            <a:solidFill>
              <a:srgbClr val="D5DED9"/>
            </a:solidFill>
            <a:prstDash val="solid"/>
          </a:ln>
        </p:spPr>
      </p:sp>
      <p:sp>
        <p:nvSpPr>
          <p:cNvPr id="25" name="Shape 21"/>
          <p:cNvSpPr/>
          <p:nvPr/>
        </p:nvSpPr>
        <p:spPr>
          <a:xfrm>
            <a:off x="3447288" y="1481328"/>
            <a:ext cx="502920" cy="502920"/>
          </a:xfrm>
          <a:prstGeom prst="ellipse">
            <a:avLst/>
          </a:prstGeom>
          <a:solidFill>
            <a:srgbClr val="0E7C86">
              <a:alpha val="22000"/>
            </a:srgbClr>
          </a:solidFill>
          <a:ln w="12700">
            <a:solidFill>
              <a:srgbClr val="0E7C86">
                <a:alpha val="0"/>
              </a:srgbClr>
            </a:solidFill>
            <a:prstDash val="solid"/>
          </a:ln>
        </p:spPr>
      </p:sp>
      <p:pic>
        <p:nvPicPr>
          <p:cNvPr id="26" name="Image 1" descr="preencoded.png"/>
          <p:cNvPicPr>
            <a:picLocks noChangeAspect="1"/>
          </p:cNvPicPr>
          <p:nvPr/>
        </p:nvPicPr>
        <p:blipFill>
          <a:blip r:embed="rId4"/>
          <a:stretch>
            <a:fillRect/>
          </a:stretch>
        </p:blipFill>
        <p:spPr>
          <a:xfrm>
            <a:off x="3567989" y="1602029"/>
            <a:ext cx="261518" cy="261518"/>
          </a:xfrm>
          <a:prstGeom prst="rect">
            <a:avLst/>
          </a:prstGeom>
        </p:spPr>
      </p:pic>
      <p:sp>
        <p:nvSpPr>
          <p:cNvPr id="27" name="Text 22"/>
          <p:cNvSpPr txBox="1"/>
          <p:nvPr/>
        </p:nvSpPr>
        <p:spPr>
          <a:xfrm>
            <a:off x="4087368" y="1581912"/>
            <a:ext cx="1737360" cy="320040"/>
          </a:xfrm>
          <a:prstGeom prst="rect">
            <a:avLst/>
          </a:prstGeom>
          <a:noFill/>
          <a:ln/>
        </p:spPr>
        <p:txBody>
          <a:bodyPr wrap="square" lIns="0" tIns="0" rIns="0" bIns="0" rtlCol="0" anchor="ctr"/>
          <a:lstStyle/>
          <a:p>
            <a:pPr marL="0" indent="0">
              <a:buNone/>
            </a:pPr>
            <a:r>
              <a:rPr lang="en-US" sz="1700" b="1" dirty="0">
                <a:solidFill>
                  <a:srgbClr val="0E7C86"/>
                </a:solidFill>
                <a:latin typeface="Calibri" pitchFamily="34" charset="0"/>
                <a:ea typeface="Calibri" pitchFamily="34" charset="-122"/>
                <a:cs typeface="Calibri" pitchFamily="34" charset="-120"/>
              </a:rPr>
              <a:t>RAG avancé</a:t>
            </a:r>
            <a:endParaRPr lang="en-US" sz="1700" dirty="0"/>
          </a:p>
        </p:txBody>
      </p:sp>
      <p:sp>
        <p:nvSpPr>
          <p:cNvPr id="28" name="Text 23"/>
          <p:cNvSpPr txBox="1"/>
          <p:nvPr/>
        </p:nvSpPr>
        <p:spPr>
          <a:xfrm>
            <a:off x="3447288" y="2148840"/>
            <a:ext cx="2286000" cy="566928"/>
          </a:xfrm>
          <a:prstGeom prst="rect">
            <a:avLst/>
          </a:prstGeom>
          <a:noFill/>
          <a:ln/>
        </p:spPr>
        <p:txBody>
          <a:bodyPr wrap="square" lIns="0" tIns="0" rIns="0" bIns="0" rtlCol="0" anchor="t"/>
          <a:lstStyle/>
          <a:p>
            <a:pPr marL="0" indent="0">
              <a:buNone/>
            </a:pPr>
            <a:r>
              <a:rPr lang="en-US" sz="1200" dirty="0">
                <a:solidFill>
                  <a:srgbClr val="231F20"/>
                </a:solidFill>
                <a:latin typeface="Calibri" pitchFamily="34" charset="0"/>
                <a:ea typeface="Calibri" pitchFamily="34" charset="-122"/>
                <a:cs typeface="Calibri" pitchFamily="34" charset="-120"/>
              </a:rPr>
              <a:t>Ajoute des optimisations avant et après la recherche.</a:t>
            </a:r>
            <a:endParaRPr lang="en-US" sz="1200" dirty="0"/>
          </a:p>
        </p:txBody>
      </p:sp>
      <p:sp>
        <p:nvSpPr>
          <p:cNvPr id="29" name="Text 24"/>
          <p:cNvSpPr txBox="1"/>
          <p:nvPr/>
        </p:nvSpPr>
        <p:spPr>
          <a:xfrm>
            <a:off x="3447288" y="2788920"/>
            <a:ext cx="2331720" cy="1188720"/>
          </a:xfrm>
          <a:prstGeom prst="rect">
            <a:avLst/>
          </a:prstGeom>
          <a:noFill/>
          <a:ln/>
        </p:spPr>
        <p:txBody>
          <a:bodyPr wrap="square" lIns="0" tIns="0" rIns="0" bIns="0" rtlCol="0" anchor="t"/>
          <a:lstStyle/>
          <a:p>
            <a:pPr marL="152400" indent="-152400">
              <a:spcAft>
                <a:spcPts val="500"/>
              </a:spcAft>
              <a:buSzPct val="100000"/>
              <a:buChar char="•"/>
            </a:pPr>
            <a:r>
              <a:rPr lang="en-US" sz="1050" dirty="0">
                <a:solidFill>
                  <a:srgbClr val="5E6964"/>
                </a:solidFill>
                <a:latin typeface="Calibri" pitchFamily="34" charset="0"/>
                <a:ea typeface="Calibri" pitchFamily="34" charset="-122"/>
                <a:cs typeface="Calibri" pitchFamily="34" charset="-120"/>
              </a:rPr>
              <a:t>Avant : reformulation, meilleure indexation</a:t>
            </a:r>
            <a:endParaRPr lang="en-US" sz="1050" dirty="0"/>
          </a:p>
          <a:p>
            <a:pPr marL="152400" indent="-152400">
              <a:spcAft>
                <a:spcPts val="500"/>
              </a:spcAft>
              <a:buSzPct val="100000"/>
              <a:buChar char="•"/>
            </a:pPr>
            <a:r>
              <a:rPr lang="en-US" sz="1050" dirty="0">
                <a:solidFill>
                  <a:srgbClr val="5E6964"/>
                </a:solidFill>
                <a:latin typeface="Calibri" pitchFamily="34" charset="0"/>
                <a:ea typeface="Calibri" pitchFamily="34" charset="-122"/>
                <a:cs typeface="Calibri" pitchFamily="34" charset="-120"/>
              </a:rPr>
              <a:t>Après : reclassement, compression</a:t>
            </a:r>
            <a:endParaRPr lang="en-US" sz="1050" dirty="0"/>
          </a:p>
          <a:p>
            <a:pPr marL="152400" indent="-152400">
              <a:spcAft>
                <a:spcPts val="500"/>
              </a:spcAft>
              <a:buSzPct val="100000"/>
              <a:buChar char="•"/>
            </a:pPr>
            <a:r>
              <a:rPr lang="en-US" sz="1050" dirty="0">
                <a:solidFill>
                  <a:srgbClr val="5E6964"/>
                </a:solidFill>
                <a:latin typeface="Calibri" pitchFamily="34" charset="0"/>
                <a:ea typeface="Calibri" pitchFamily="34" charset="-122"/>
                <a:cs typeface="Calibri" pitchFamily="34" charset="-120"/>
              </a:rPr>
              <a:t>Recherche hybride, filtres de métadonnées</a:t>
            </a:r>
            <a:endParaRPr lang="en-US" sz="1050" dirty="0"/>
          </a:p>
        </p:txBody>
      </p:sp>
      <p:sp>
        <p:nvSpPr>
          <p:cNvPr id="30" name="Shape 25"/>
          <p:cNvSpPr/>
          <p:nvPr/>
        </p:nvSpPr>
        <p:spPr>
          <a:xfrm>
            <a:off x="5897880" y="2697480"/>
            <a:ext cx="155448" cy="914"/>
          </a:xfrm>
          <a:prstGeom prst="line">
            <a:avLst/>
          </a:prstGeom>
          <a:noFill/>
          <a:ln w="25400">
            <a:solidFill>
              <a:srgbClr val="5E6964"/>
            </a:solidFill>
            <a:prstDash val="solid"/>
            <a:tailEnd type="triangle"/>
          </a:ln>
        </p:spPr>
      </p:sp>
      <p:sp>
        <p:nvSpPr>
          <p:cNvPr id="31" name="Shape 26"/>
          <p:cNvSpPr/>
          <p:nvPr/>
        </p:nvSpPr>
        <p:spPr>
          <a:xfrm>
            <a:off x="6071616" y="1325880"/>
            <a:ext cx="2615184" cy="2697480"/>
          </a:xfrm>
          <a:prstGeom prst="roundRect">
            <a:avLst>
              <a:gd name="adj" fmla="val 2797"/>
            </a:avLst>
          </a:prstGeom>
          <a:solidFill>
            <a:srgbClr val="E8F5EF"/>
          </a:solidFill>
          <a:ln w="15875">
            <a:solidFill>
              <a:srgbClr val="00A86A"/>
            </a:solidFill>
            <a:prstDash val="solid"/>
          </a:ln>
        </p:spPr>
      </p:sp>
      <p:sp>
        <p:nvSpPr>
          <p:cNvPr id="32" name="Shape 27"/>
          <p:cNvSpPr/>
          <p:nvPr/>
        </p:nvSpPr>
        <p:spPr>
          <a:xfrm>
            <a:off x="6254496" y="1481328"/>
            <a:ext cx="502920" cy="502920"/>
          </a:xfrm>
          <a:prstGeom prst="ellipse">
            <a:avLst/>
          </a:prstGeom>
          <a:solidFill>
            <a:srgbClr val="00A86A">
              <a:alpha val="22000"/>
            </a:srgbClr>
          </a:solidFill>
          <a:ln w="12700">
            <a:solidFill>
              <a:srgbClr val="00A86A">
                <a:alpha val="0"/>
              </a:srgbClr>
            </a:solidFill>
            <a:prstDash val="solid"/>
          </a:ln>
        </p:spPr>
      </p:sp>
      <p:pic>
        <p:nvPicPr>
          <p:cNvPr id="33" name="Image 2" descr="preencoded.png"/>
          <p:cNvPicPr>
            <a:picLocks noChangeAspect="1"/>
          </p:cNvPicPr>
          <p:nvPr/>
        </p:nvPicPr>
        <p:blipFill>
          <a:blip r:embed="rId5"/>
          <a:stretch>
            <a:fillRect/>
          </a:stretch>
        </p:blipFill>
        <p:spPr>
          <a:xfrm>
            <a:off x="6375197" y="1602029"/>
            <a:ext cx="261518" cy="261518"/>
          </a:xfrm>
          <a:prstGeom prst="rect">
            <a:avLst/>
          </a:prstGeom>
        </p:spPr>
      </p:pic>
      <p:sp>
        <p:nvSpPr>
          <p:cNvPr id="34" name="Text 28"/>
          <p:cNvSpPr txBox="1"/>
          <p:nvPr/>
        </p:nvSpPr>
        <p:spPr>
          <a:xfrm>
            <a:off x="6894576" y="1581912"/>
            <a:ext cx="1737360" cy="320040"/>
          </a:xfrm>
          <a:prstGeom prst="rect">
            <a:avLst/>
          </a:prstGeom>
          <a:noFill/>
          <a:ln/>
        </p:spPr>
        <p:txBody>
          <a:bodyPr wrap="square" lIns="0" tIns="0" rIns="0" bIns="0" rtlCol="0" anchor="ctr"/>
          <a:lstStyle/>
          <a:p>
            <a:pPr marL="0" indent="0">
              <a:buNone/>
            </a:pPr>
            <a:r>
              <a:rPr lang="en-US" sz="1700" b="1" dirty="0">
                <a:solidFill>
                  <a:srgbClr val="00A86A"/>
                </a:solidFill>
                <a:latin typeface="Calibri" pitchFamily="34" charset="0"/>
                <a:ea typeface="Calibri" pitchFamily="34" charset="-122"/>
                <a:cs typeface="Calibri" pitchFamily="34" charset="-120"/>
              </a:rPr>
              <a:t>RAG modulaire</a:t>
            </a:r>
            <a:endParaRPr lang="en-US" sz="1700" dirty="0"/>
          </a:p>
        </p:txBody>
      </p:sp>
      <p:sp>
        <p:nvSpPr>
          <p:cNvPr id="35" name="Text 29"/>
          <p:cNvSpPr txBox="1"/>
          <p:nvPr/>
        </p:nvSpPr>
        <p:spPr>
          <a:xfrm>
            <a:off x="6254496" y="2148840"/>
            <a:ext cx="2286000" cy="566928"/>
          </a:xfrm>
          <a:prstGeom prst="rect">
            <a:avLst/>
          </a:prstGeom>
          <a:noFill/>
          <a:ln/>
        </p:spPr>
        <p:txBody>
          <a:bodyPr wrap="square" lIns="0" tIns="0" rIns="0" bIns="0" rtlCol="0" anchor="t"/>
          <a:lstStyle/>
          <a:p>
            <a:pPr marL="0" indent="0">
              <a:buNone/>
            </a:pPr>
            <a:r>
              <a:rPr lang="en-US" sz="1200" dirty="0">
                <a:solidFill>
                  <a:srgbClr val="231F20"/>
                </a:solidFill>
                <a:latin typeface="Calibri" pitchFamily="34" charset="0"/>
                <a:ea typeface="Calibri" pitchFamily="34" charset="-122"/>
                <a:cs typeface="Calibri" pitchFamily="34" charset="-120"/>
              </a:rPr>
              <a:t>Modules interchangeables et flux flexibles.</a:t>
            </a:r>
            <a:endParaRPr lang="en-US" sz="1200" dirty="0"/>
          </a:p>
        </p:txBody>
      </p:sp>
      <p:sp>
        <p:nvSpPr>
          <p:cNvPr id="36" name="Text 30"/>
          <p:cNvSpPr txBox="1"/>
          <p:nvPr/>
        </p:nvSpPr>
        <p:spPr>
          <a:xfrm>
            <a:off x="6254496" y="2788920"/>
            <a:ext cx="2331720" cy="1188720"/>
          </a:xfrm>
          <a:prstGeom prst="rect">
            <a:avLst/>
          </a:prstGeom>
          <a:noFill/>
          <a:ln/>
        </p:spPr>
        <p:txBody>
          <a:bodyPr wrap="square" lIns="0" tIns="0" rIns="0" bIns="0" rtlCol="0" anchor="t"/>
          <a:lstStyle/>
          <a:p>
            <a:pPr marL="152400" indent="-152400">
              <a:spcAft>
                <a:spcPts val="500"/>
              </a:spcAft>
              <a:buSzPct val="100000"/>
              <a:buChar char="•"/>
            </a:pPr>
            <a:r>
              <a:rPr lang="en-US" sz="1050" dirty="0">
                <a:solidFill>
                  <a:srgbClr val="5E6964"/>
                </a:solidFill>
                <a:latin typeface="Calibri" pitchFamily="34" charset="0"/>
                <a:ea typeface="Calibri" pitchFamily="34" charset="-122"/>
                <a:cs typeface="Calibri" pitchFamily="34" charset="-120"/>
              </a:rPr>
              <a:t>Modules de routage, recherche, mémoire, fusion</a:t>
            </a:r>
            <a:endParaRPr lang="en-US" sz="1050" dirty="0"/>
          </a:p>
          <a:p>
            <a:pPr marL="152400" indent="-152400">
              <a:spcAft>
                <a:spcPts val="500"/>
              </a:spcAft>
              <a:buSzPct val="100000"/>
              <a:buChar char="•"/>
            </a:pPr>
            <a:r>
              <a:rPr lang="en-US" sz="1050" dirty="0">
                <a:solidFill>
                  <a:srgbClr val="5E6964"/>
                </a:solidFill>
                <a:latin typeface="Calibri" pitchFamily="34" charset="0"/>
                <a:ea typeface="Calibri" pitchFamily="34" charset="-122"/>
                <a:cs typeface="Calibri" pitchFamily="34" charset="-120"/>
              </a:rPr>
              <a:t>Récupération itérative et adaptative</a:t>
            </a:r>
            <a:endParaRPr lang="en-US" sz="1050" dirty="0"/>
          </a:p>
          <a:p>
            <a:pPr marL="152400" indent="-152400">
              <a:spcAft>
                <a:spcPts val="500"/>
              </a:spcAft>
              <a:buSzPct val="100000"/>
              <a:buChar char="•"/>
            </a:pPr>
            <a:r>
              <a:rPr lang="en-US" sz="1050" dirty="0">
                <a:solidFill>
                  <a:srgbClr val="5E6964"/>
                </a:solidFill>
                <a:latin typeface="Calibri" pitchFamily="34" charset="0"/>
                <a:ea typeface="Calibri" pitchFamily="34" charset="-122"/>
                <a:cs typeface="Calibri" pitchFamily="34" charset="-120"/>
              </a:rPr>
              <a:t>Orchestration pilotée par des agents</a:t>
            </a:r>
            <a:endParaRPr lang="en-US" sz="1050" dirty="0"/>
          </a:p>
        </p:txBody>
      </p:sp>
      <p:sp>
        <p:nvSpPr>
          <p:cNvPr id="37" name="Shape 31"/>
          <p:cNvSpPr/>
          <p:nvPr/>
        </p:nvSpPr>
        <p:spPr>
          <a:xfrm>
            <a:off x="457200" y="4160520"/>
            <a:ext cx="8229600" cy="457200"/>
          </a:xfrm>
          <a:prstGeom prst="roundRect">
            <a:avLst>
              <a:gd name="adj" fmla="val 16000"/>
            </a:avLst>
          </a:prstGeom>
          <a:solidFill>
            <a:srgbClr val="D49A00">
              <a:alpha val="13000"/>
            </a:srgbClr>
          </a:solidFill>
          <a:ln w="9525">
            <a:solidFill>
              <a:srgbClr val="D49A00"/>
            </a:solidFill>
            <a:prstDash val="solid"/>
          </a:ln>
        </p:spPr>
      </p:sp>
      <p:pic>
        <p:nvPicPr>
          <p:cNvPr id="38" name="Image 3" descr="preencoded.png"/>
          <p:cNvPicPr>
            <a:picLocks noChangeAspect="1"/>
          </p:cNvPicPr>
          <p:nvPr/>
        </p:nvPicPr>
        <p:blipFill>
          <a:blip r:embed="rId6"/>
          <a:stretch>
            <a:fillRect/>
          </a:stretch>
        </p:blipFill>
        <p:spPr>
          <a:xfrm>
            <a:off x="621792" y="4261104"/>
            <a:ext cx="256032" cy="256032"/>
          </a:xfrm>
          <a:prstGeom prst="rect">
            <a:avLst/>
          </a:prstGeom>
        </p:spPr>
      </p:pic>
      <p:sp>
        <p:nvSpPr>
          <p:cNvPr id="39" name="Text 32"/>
          <p:cNvSpPr txBox="1"/>
          <p:nvPr/>
        </p:nvSpPr>
        <p:spPr>
          <a:xfrm>
            <a:off x="1005840" y="4160520"/>
            <a:ext cx="7498080" cy="457200"/>
          </a:xfrm>
          <a:prstGeom prst="rect">
            <a:avLst/>
          </a:prstGeom>
          <a:noFill/>
          <a:ln/>
        </p:spPr>
        <p:txBody>
          <a:bodyPr wrap="square" lIns="0" tIns="0" rIns="0" bIns="0" rtlCol="0" anchor="ctr"/>
          <a:lstStyle/>
          <a:p>
            <a:pPr marL="0" indent="0">
              <a:buNone/>
            </a:pPr>
            <a:r>
              <a:rPr lang="en-US" sz="1250" b="1" dirty="0">
                <a:solidFill>
                  <a:srgbClr val="D49A00"/>
                </a:solidFill>
                <a:latin typeface="Calibri" pitchFamily="34" charset="0"/>
                <a:ea typeface="Calibri" pitchFamily="34" charset="-122"/>
                <a:cs typeface="Calibri" pitchFamily="34" charset="-120"/>
              </a:rPr>
              <a:t>Cumulatif, pas un remplacement : </a:t>
            </a:r>
            <a:r>
              <a:rPr lang="en-US" sz="1250" dirty="0">
                <a:solidFill>
                  <a:srgbClr val="231F20"/>
                </a:solidFill>
                <a:latin typeface="Calibri" pitchFamily="34" charset="0"/>
                <a:ea typeface="Calibri" pitchFamily="34" charset="-122"/>
                <a:cs typeface="Calibri" pitchFamily="34" charset="-120"/>
              </a:rPr>
              <a:t>chaque paradigme s'appuie sur les composants du précédent.</a:t>
            </a:r>
            <a:endParaRPr lang="en-US" sz="1250" dirty="0"/>
          </a:p>
        </p:txBody>
      </p:sp>
      <p:sp>
        <p:nvSpPr>
          <p:cNvPr id="40" name="Text 33"/>
          <p:cNvSpPr txBox="1"/>
          <p:nvPr/>
        </p:nvSpPr>
        <p:spPr>
          <a:xfrm>
            <a:off x="457200" y="4663440"/>
            <a:ext cx="685800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Cadre issu de Gao et al., « Retrieval-Augmented Generation for Large Language Models: A Survey », 2023.</a:t>
            </a:r>
            <a:endParaRPr lang="en-US" sz="900" dirty="0"/>
          </a:p>
        </p:txBody>
      </p:sp>
    </p:spTree>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ÉVOLUTION DU RAG</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D'une chaîne unique à une boucle de raisonnement</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49A00"/>
          </a:solidFill>
          <a:ln w="12700">
            <a:solidFill>
              <a:srgbClr val="D49A00"/>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694944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ATI · Big Data pour les statistiques macroéconomiques · Maurice, 26–30 oct. 2026   |   BAD · Data Innovation for Africa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31</a:t>
            </a:r>
            <a:endParaRPr lang="en-US" sz="850" dirty="0"/>
          </a:p>
        </p:txBody>
      </p:sp>
      <p:sp>
        <p:nvSpPr>
          <p:cNvPr id="17" name="Shape 14"/>
          <p:cNvSpPr/>
          <p:nvPr/>
        </p:nvSpPr>
        <p:spPr>
          <a:xfrm>
            <a:off x="457200" y="1325880"/>
            <a:ext cx="2651760" cy="2651760"/>
          </a:xfrm>
          <a:prstGeom prst="roundRect">
            <a:avLst>
              <a:gd name="adj" fmla="val 2759"/>
            </a:avLst>
          </a:prstGeom>
          <a:solidFill>
            <a:srgbClr val="F4F7F5"/>
          </a:solidFill>
          <a:ln w="9525">
            <a:solidFill>
              <a:srgbClr val="D5DED9"/>
            </a:solidFill>
            <a:prstDash val="solid"/>
          </a:ln>
        </p:spPr>
      </p:sp>
      <p:sp>
        <p:nvSpPr>
          <p:cNvPr id="18" name="Text 15"/>
          <p:cNvSpPr txBox="1"/>
          <p:nvPr/>
        </p:nvSpPr>
        <p:spPr>
          <a:xfrm>
            <a:off x="640080" y="1435608"/>
            <a:ext cx="2286000" cy="228600"/>
          </a:xfrm>
          <a:prstGeom prst="rect">
            <a:avLst/>
          </a:prstGeom>
          <a:noFill/>
          <a:ln/>
        </p:spPr>
        <p:txBody>
          <a:bodyPr wrap="square" lIns="0" tIns="0" rIns="0" bIns="0" rtlCol="0" anchor="ctr"/>
          <a:lstStyle/>
          <a:p>
            <a:pPr marL="0" indent="0">
              <a:buNone/>
            </a:pPr>
            <a:r>
              <a:rPr lang="en-US" sz="1050" b="1" kern="0" spc="200" dirty="0">
                <a:solidFill>
                  <a:srgbClr val="5E6964"/>
                </a:solidFill>
                <a:latin typeface="Calibri" pitchFamily="34" charset="0"/>
                <a:ea typeface="Calibri" pitchFamily="34" charset="-122"/>
                <a:cs typeface="Calibri" pitchFamily="34" charset="-120"/>
              </a:rPr>
              <a:t>AVANT · UN SEUL PASSAGE</a:t>
            </a:r>
            <a:endParaRPr lang="en-US" sz="1050" dirty="0"/>
          </a:p>
        </p:txBody>
      </p:sp>
      <p:sp>
        <p:nvSpPr>
          <p:cNvPr id="19" name="Shape 16"/>
          <p:cNvSpPr/>
          <p:nvPr/>
        </p:nvSpPr>
        <p:spPr>
          <a:xfrm>
            <a:off x="731520" y="1810512"/>
            <a:ext cx="438912" cy="438912"/>
          </a:xfrm>
          <a:prstGeom prst="ellipse">
            <a:avLst/>
          </a:prstGeom>
          <a:solidFill>
            <a:srgbClr val="7F8C87">
              <a:alpha val="22000"/>
            </a:srgbClr>
          </a:solidFill>
          <a:ln w="12700">
            <a:solidFill>
              <a:srgbClr val="7F8C87">
                <a:alpha val="0"/>
              </a:srgbClr>
            </a:solidFill>
            <a:prstDash val="solid"/>
          </a:ln>
        </p:spPr>
      </p:sp>
      <p:pic>
        <p:nvPicPr>
          <p:cNvPr id="20" name="Image 0" descr="preencoded.png"/>
          <p:cNvPicPr>
            <a:picLocks noChangeAspect="1"/>
          </p:cNvPicPr>
          <p:nvPr/>
        </p:nvPicPr>
        <p:blipFill>
          <a:blip r:embed="rId3"/>
          <a:stretch>
            <a:fillRect/>
          </a:stretch>
        </p:blipFill>
        <p:spPr>
          <a:xfrm>
            <a:off x="836859" y="1915851"/>
            <a:ext cx="228234" cy="228234"/>
          </a:xfrm>
          <a:prstGeom prst="rect">
            <a:avLst/>
          </a:prstGeom>
        </p:spPr>
      </p:pic>
      <p:sp>
        <p:nvSpPr>
          <p:cNvPr id="21" name="Text 17"/>
          <p:cNvSpPr txBox="1"/>
          <p:nvPr/>
        </p:nvSpPr>
        <p:spPr>
          <a:xfrm>
            <a:off x="1325880" y="1810512"/>
            <a:ext cx="1645920" cy="438912"/>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Question</a:t>
            </a:r>
            <a:endParaRPr lang="en-US" sz="1300" dirty="0"/>
          </a:p>
        </p:txBody>
      </p:sp>
      <p:sp>
        <p:nvSpPr>
          <p:cNvPr id="22" name="Shape 18"/>
          <p:cNvSpPr/>
          <p:nvPr/>
        </p:nvSpPr>
        <p:spPr>
          <a:xfrm>
            <a:off x="950976" y="2267712"/>
            <a:ext cx="914" cy="182880"/>
          </a:xfrm>
          <a:prstGeom prst="line">
            <a:avLst/>
          </a:prstGeom>
          <a:noFill/>
          <a:ln w="19050">
            <a:solidFill>
              <a:srgbClr val="5E6964"/>
            </a:solidFill>
            <a:prstDash val="solid"/>
            <a:tailEnd type="triangle"/>
          </a:ln>
        </p:spPr>
      </p:sp>
      <p:sp>
        <p:nvSpPr>
          <p:cNvPr id="23" name="Shape 19"/>
          <p:cNvSpPr/>
          <p:nvPr/>
        </p:nvSpPr>
        <p:spPr>
          <a:xfrm>
            <a:off x="731520" y="2468880"/>
            <a:ext cx="438912" cy="438912"/>
          </a:xfrm>
          <a:prstGeom prst="ellipse">
            <a:avLst/>
          </a:prstGeom>
          <a:solidFill>
            <a:srgbClr val="7F8C87">
              <a:alpha val="22000"/>
            </a:srgbClr>
          </a:solidFill>
          <a:ln w="12700">
            <a:solidFill>
              <a:srgbClr val="7F8C87">
                <a:alpha val="0"/>
              </a:srgbClr>
            </a:solidFill>
            <a:prstDash val="solid"/>
          </a:ln>
        </p:spPr>
      </p:sp>
      <p:pic>
        <p:nvPicPr>
          <p:cNvPr id="24" name="Image 1" descr="preencoded.png"/>
          <p:cNvPicPr>
            <a:picLocks noChangeAspect="1"/>
          </p:cNvPicPr>
          <p:nvPr/>
        </p:nvPicPr>
        <p:blipFill>
          <a:blip r:embed="rId4"/>
          <a:stretch>
            <a:fillRect/>
          </a:stretch>
        </p:blipFill>
        <p:spPr>
          <a:xfrm>
            <a:off x="836859" y="2574219"/>
            <a:ext cx="228234" cy="228234"/>
          </a:xfrm>
          <a:prstGeom prst="rect">
            <a:avLst/>
          </a:prstGeom>
        </p:spPr>
      </p:pic>
      <p:sp>
        <p:nvSpPr>
          <p:cNvPr id="25" name="Text 20"/>
          <p:cNvSpPr txBox="1"/>
          <p:nvPr/>
        </p:nvSpPr>
        <p:spPr>
          <a:xfrm>
            <a:off x="1325880" y="2468880"/>
            <a:ext cx="1645920" cy="438912"/>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Une seule recherche</a:t>
            </a:r>
            <a:endParaRPr lang="en-US" sz="1300" dirty="0"/>
          </a:p>
        </p:txBody>
      </p:sp>
      <p:sp>
        <p:nvSpPr>
          <p:cNvPr id="26" name="Shape 21"/>
          <p:cNvSpPr/>
          <p:nvPr/>
        </p:nvSpPr>
        <p:spPr>
          <a:xfrm>
            <a:off x="950976" y="2926080"/>
            <a:ext cx="914" cy="182880"/>
          </a:xfrm>
          <a:prstGeom prst="line">
            <a:avLst/>
          </a:prstGeom>
          <a:noFill/>
          <a:ln w="19050">
            <a:solidFill>
              <a:srgbClr val="5E6964"/>
            </a:solidFill>
            <a:prstDash val="solid"/>
            <a:tailEnd type="triangle"/>
          </a:ln>
        </p:spPr>
      </p:sp>
      <p:sp>
        <p:nvSpPr>
          <p:cNvPr id="27" name="Shape 22"/>
          <p:cNvSpPr/>
          <p:nvPr/>
        </p:nvSpPr>
        <p:spPr>
          <a:xfrm>
            <a:off x="731520" y="3127248"/>
            <a:ext cx="438912" cy="438912"/>
          </a:xfrm>
          <a:prstGeom prst="ellipse">
            <a:avLst/>
          </a:prstGeom>
          <a:solidFill>
            <a:srgbClr val="7F8C87">
              <a:alpha val="22000"/>
            </a:srgbClr>
          </a:solidFill>
          <a:ln w="12700">
            <a:solidFill>
              <a:srgbClr val="7F8C87">
                <a:alpha val="0"/>
              </a:srgbClr>
            </a:solidFill>
            <a:prstDash val="solid"/>
          </a:ln>
        </p:spPr>
      </p:sp>
      <p:pic>
        <p:nvPicPr>
          <p:cNvPr id="28" name="Image 2" descr="preencoded.png"/>
          <p:cNvPicPr>
            <a:picLocks noChangeAspect="1"/>
          </p:cNvPicPr>
          <p:nvPr/>
        </p:nvPicPr>
        <p:blipFill>
          <a:blip r:embed="rId5"/>
          <a:stretch>
            <a:fillRect/>
          </a:stretch>
        </p:blipFill>
        <p:spPr>
          <a:xfrm>
            <a:off x="836859" y="3232587"/>
            <a:ext cx="228234" cy="228234"/>
          </a:xfrm>
          <a:prstGeom prst="rect">
            <a:avLst/>
          </a:prstGeom>
        </p:spPr>
      </p:pic>
      <p:sp>
        <p:nvSpPr>
          <p:cNvPr id="29" name="Text 23"/>
          <p:cNvSpPr txBox="1"/>
          <p:nvPr/>
        </p:nvSpPr>
        <p:spPr>
          <a:xfrm>
            <a:off x="1325880" y="3127248"/>
            <a:ext cx="1645920" cy="438912"/>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Génération</a:t>
            </a:r>
            <a:endParaRPr lang="en-US" sz="1300" dirty="0"/>
          </a:p>
        </p:txBody>
      </p:sp>
      <p:sp>
        <p:nvSpPr>
          <p:cNvPr id="30" name="Text 24"/>
          <p:cNvSpPr txBox="1"/>
          <p:nvPr/>
        </p:nvSpPr>
        <p:spPr>
          <a:xfrm>
            <a:off x="640080" y="3657600"/>
            <a:ext cx="2331720" cy="274320"/>
          </a:xfrm>
          <a:prstGeom prst="rect">
            <a:avLst/>
          </a:prstGeom>
          <a:noFill/>
          <a:ln/>
        </p:spPr>
        <p:txBody>
          <a:bodyPr wrap="square" lIns="0" tIns="0" rIns="0" bIns="0" rtlCol="0" anchor="ctr"/>
          <a:lstStyle/>
          <a:p>
            <a:pPr marL="0" indent="0">
              <a:buNone/>
            </a:pPr>
            <a:r>
              <a:rPr lang="en-US" sz="1000" i="1" dirty="0">
                <a:solidFill>
                  <a:srgbClr val="B83B2E"/>
                </a:solidFill>
                <a:latin typeface="Calibri" pitchFamily="34" charset="0"/>
                <a:ea typeface="Calibri" pitchFamily="34" charset="-122"/>
                <a:cs typeface="Calibri" pitchFamily="34" charset="-120"/>
              </a:rPr>
              <a:t>Recherche ratée = réponse ratée.</a:t>
            </a:r>
            <a:endParaRPr lang="en-US" sz="1000" dirty="0"/>
          </a:p>
        </p:txBody>
      </p:sp>
      <p:sp>
        <p:nvSpPr>
          <p:cNvPr id="31" name="Shape 25"/>
          <p:cNvSpPr/>
          <p:nvPr/>
        </p:nvSpPr>
        <p:spPr>
          <a:xfrm>
            <a:off x="3337560" y="1325880"/>
            <a:ext cx="5349240" cy="2651760"/>
          </a:xfrm>
          <a:prstGeom prst="roundRect">
            <a:avLst>
              <a:gd name="adj" fmla="val 2759"/>
            </a:avLst>
          </a:prstGeom>
          <a:solidFill>
            <a:srgbClr val="E8F5EF"/>
          </a:solidFill>
          <a:ln w="15875">
            <a:solidFill>
              <a:srgbClr val="00A86A"/>
            </a:solidFill>
            <a:prstDash val="solid"/>
          </a:ln>
        </p:spPr>
      </p:sp>
      <p:sp>
        <p:nvSpPr>
          <p:cNvPr id="32" name="Text 26"/>
          <p:cNvSpPr txBox="1"/>
          <p:nvPr/>
        </p:nvSpPr>
        <p:spPr>
          <a:xfrm>
            <a:off x="3520440" y="1435608"/>
            <a:ext cx="4937760" cy="228600"/>
          </a:xfrm>
          <a:prstGeom prst="rect">
            <a:avLst/>
          </a:prstGeom>
          <a:noFill/>
          <a:ln/>
        </p:spPr>
        <p:txBody>
          <a:bodyPr wrap="square" lIns="0" tIns="0" rIns="0" bIns="0" rtlCol="0" anchor="ctr"/>
          <a:lstStyle/>
          <a:p>
            <a:pPr marL="0" indent="0">
              <a:buNone/>
            </a:pPr>
            <a:r>
              <a:rPr lang="en-US" sz="1050" b="1" kern="0" spc="200" dirty="0">
                <a:solidFill>
                  <a:srgbClr val="00704A"/>
                </a:solidFill>
                <a:latin typeface="Calibri" pitchFamily="34" charset="0"/>
                <a:ea typeface="Calibri" pitchFamily="34" charset="-122"/>
                <a:cs typeface="Calibri" pitchFamily="34" charset="-120"/>
              </a:rPr>
              <a:t>AUJOURD'HUI · BOUCLE AGENTIQUE</a:t>
            </a:r>
            <a:endParaRPr lang="en-US" sz="1050" dirty="0"/>
          </a:p>
        </p:txBody>
      </p:sp>
      <p:sp>
        <p:nvSpPr>
          <p:cNvPr id="33" name="Shape 27"/>
          <p:cNvSpPr/>
          <p:nvPr/>
        </p:nvSpPr>
        <p:spPr>
          <a:xfrm>
            <a:off x="4727448" y="2011680"/>
            <a:ext cx="1426464" cy="1426464"/>
          </a:xfrm>
          <a:prstGeom prst="ellipse">
            <a:avLst/>
          </a:prstGeom>
          <a:solidFill>
            <a:srgbClr val="E8F5EF"/>
          </a:solidFill>
          <a:ln w="19050">
            <a:solidFill>
              <a:srgbClr val="00A86A"/>
            </a:solidFill>
            <a:prstDash val="dash"/>
          </a:ln>
        </p:spPr>
      </p:sp>
      <p:sp>
        <p:nvSpPr>
          <p:cNvPr id="34" name="Shape 28"/>
          <p:cNvSpPr/>
          <p:nvPr/>
        </p:nvSpPr>
        <p:spPr>
          <a:xfrm>
            <a:off x="5202936" y="1773936"/>
            <a:ext cx="475488" cy="475488"/>
          </a:xfrm>
          <a:prstGeom prst="ellipse">
            <a:avLst/>
          </a:prstGeom>
          <a:solidFill>
            <a:srgbClr val="FFFFFF"/>
          </a:solidFill>
          <a:ln w="19050">
            <a:solidFill>
              <a:srgbClr val="00A86A"/>
            </a:solidFill>
            <a:prstDash val="solid"/>
          </a:ln>
        </p:spPr>
      </p:sp>
      <p:pic>
        <p:nvPicPr>
          <p:cNvPr id="35" name="Image 3" descr="preencoded.png"/>
          <p:cNvPicPr>
            <a:picLocks noChangeAspect="1"/>
          </p:cNvPicPr>
          <p:nvPr/>
        </p:nvPicPr>
        <p:blipFill>
          <a:blip r:embed="rId6"/>
          <a:stretch>
            <a:fillRect/>
          </a:stretch>
        </p:blipFill>
        <p:spPr>
          <a:xfrm>
            <a:off x="5317053" y="1888053"/>
            <a:ext cx="247254" cy="247254"/>
          </a:xfrm>
          <a:prstGeom prst="rect">
            <a:avLst/>
          </a:prstGeom>
        </p:spPr>
      </p:pic>
      <p:sp>
        <p:nvSpPr>
          <p:cNvPr id="36" name="Text 29"/>
          <p:cNvSpPr txBox="1"/>
          <p:nvPr/>
        </p:nvSpPr>
        <p:spPr>
          <a:xfrm>
            <a:off x="5751576" y="1901952"/>
            <a:ext cx="914400" cy="219456"/>
          </a:xfrm>
          <a:prstGeom prst="rect">
            <a:avLst/>
          </a:prstGeom>
          <a:noFill/>
          <a:ln/>
        </p:spPr>
        <p:txBody>
          <a:bodyPr wrap="square" lIns="0" tIns="0" rIns="0" bIns="0" rtlCol="0" anchor="ctr"/>
          <a:lstStyle/>
          <a:p>
            <a:pPr marL="0" indent="0" algn="l">
              <a:buNone/>
            </a:pPr>
            <a:r>
              <a:rPr lang="en-US" sz="1100" b="1" dirty="0">
                <a:solidFill>
                  <a:srgbClr val="231F20"/>
                </a:solidFill>
                <a:latin typeface="Calibri" pitchFamily="34" charset="0"/>
                <a:ea typeface="Calibri" pitchFamily="34" charset="-122"/>
                <a:cs typeface="Calibri" pitchFamily="34" charset="-120"/>
              </a:rPr>
              <a:t>Planifier</a:t>
            </a:r>
            <a:endParaRPr lang="en-US" sz="1100" dirty="0"/>
          </a:p>
        </p:txBody>
      </p:sp>
      <p:sp>
        <p:nvSpPr>
          <p:cNvPr id="37" name="Shape 30"/>
          <p:cNvSpPr/>
          <p:nvPr/>
        </p:nvSpPr>
        <p:spPr>
          <a:xfrm>
            <a:off x="5916168" y="2487168"/>
            <a:ext cx="475488" cy="475488"/>
          </a:xfrm>
          <a:prstGeom prst="ellipse">
            <a:avLst/>
          </a:prstGeom>
          <a:solidFill>
            <a:srgbClr val="FFFFFF"/>
          </a:solidFill>
          <a:ln w="19050">
            <a:solidFill>
              <a:srgbClr val="00A86A"/>
            </a:solidFill>
            <a:prstDash val="solid"/>
          </a:ln>
        </p:spPr>
      </p:sp>
      <p:pic>
        <p:nvPicPr>
          <p:cNvPr id="38" name="Image 4" descr="preencoded.png"/>
          <p:cNvPicPr>
            <a:picLocks noChangeAspect="1"/>
          </p:cNvPicPr>
          <p:nvPr/>
        </p:nvPicPr>
        <p:blipFill>
          <a:blip r:embed="rId7"/>
          <a:stretch>
            <a:fillRect/>
          </a:stretch>
        </p:blipFill>
        <p:spPr>
          <a:xfrm>
            <a:off x="6030285" y="2601285"/>
            <a:ext cx="247254" cy="247254"/>
          </a:xfrm>
          <a:prstGeom prst="rect">
            <a:avLst/>
          </a:prstGeom>
        </p:spPr>
      </p:pic>
      <p:sp>
        <p:nvSpPr>
          <p:cNvPr id="39" name="Text 31"/>
          <p:cNvSpPr txBox="1"/>
          <p:nvPr/>
        </p:nvSpPr>
        <p:spPr>
          <a:xfrm>
            <a:off x="6464808" y="2615184"/>
            <a:ext cx="914400" cy="219456"/>
          </a:xfrm>
          <a:prstGeom prst="rect">
            <a:avLst/>
          </a:prstGeom>
          <a:noFill/>
          <a:ln/>
        </p:spPr>
        <p:txBody>
          <a:bodyPr wrap="square" lIns="0" tIns="0" rIns="0" bIns="0" rtlCol="0" anchor="ctr"/>
          <a:lstStyle/>
          <a:p>
            <a:pPr marL="0" indent="0" algn="l">
              <a:buNone/>
            </a:pPr>
            <a:r>
              <a:rPr lang="en-US" sz="1100" b="1" dirty="0">
                <a:solidFill>
                  <a:srgbClr val="231F20"/>
                </a:solidFill>
                <a:latin typeface="Calibri" pitchFamily="34" charset="0"/>
                <a:ea typeface="Calibri" pitchFamily="34" charset="-122"/>
                <a:cs typeface="Calibri" pitchFamily="34" charset="-120"/>
              </a:rPr>
              <a:t>Chercher</a:t>
            </a:r>
            <a:endParaRPr lang="en-US" sz="1100" dirty="0"/>
          </a:p>
        </p:txBody>
      </p:sp>
      <p:sp>
        <p:nvSpPr>
          <p:cNvPr id="40" name="Shape 32"/>
          <p:cNvSpPr/>
          <p:nvPr/>
        </p:nvSpPr>
        <p:spPr>
          <a:xfrm>
            <a:off x="5202936" y="3200400"/>
            <a:ext cx="475488" cy="475488"/>
          </a:xfrm>
          <a:prstGeom prst="ellipse">
            <a:avLst/>
          </a:prstGeom>
          <a:solidFill>
            <a:srgbClr val="FFFFFF"/>
          </a:solidFill>
          <a:ln w="19050">
            <a:solidFill>
              <a:srgbClr val="00A86A"/>
            </a:solidFill>
            <a:prstDash val="solid"/>
          </a:ln>
        </p:spPr>
      </p:sp>
      <p:pic>
        <p:nvPicPr>
          <p:cNvPr id="41" name="Image 5" descr="preencoded.png"/>
          <p:cNvPicPr>
            <a:picLocks noChangeAspect="1"/>
          </p:cNvPicPr>
          <p:nvPr/>
        </p:nvPicPr>
        <p:blipFill>
          <a:blip r:embed="rId8"/>
          <a:stretch>
            <a:fillRect/>
          </a:stretch>
        </p:blipFill>
        <p:spPr>
          <a:xfrm>
            <a:off x="5317053" y="3314517"/>
            <a:ext cx="247254" cy="247254"/>
          </a:xfrm>
          <a:prstGeom prst="rect">
            <a:avLst/>
          </a:prstGeom>
        </p:spPr>
      </p:pic>
      <p:sp>
        <p:nvSpPr>
          <p:cNvPr id="42" name="Text 33"/>
          <p:cNvSpPr txBox="1"/>
          <p:nvPr/>
        </p:nvSpPr>
        <p:spPr>
          <a:xfrm>
            <a:off x="5751576" y="3328416"/>
            <a:ext cx="914400" cy="219456"/>
          </a:xfrm>
          <a:prstGeom prst="rect">
            <a:avLst/>
          </a:prstGeom>
          <a:noFill/>
          <a:ln/>
        </p:spPr>
        <p:txBody>
          <a:bodyPr wrap="square" lIns="0" tIns="0" rIns="0" bIns="0" rtlCol="0" anchor="ctr"/>
          <a:lstStyle/>
          <a:p>
            <a:pPr marL="0" indent="0" algn="l">
              <a:buNone/>
            </a:pPr>
            <a:r>
              <a:rPr lang="en-US" sz="1100" b="1" dirty="0">
                <a:solidFill>
                  <a:srgbClr val="231F20"/>
                </a:solidFill>
                <a:latin typeface="Calibri" pitchFamily="34" charset="0"/>
                <a:ea typeface="Calibri" pitchFamily="34" charset="-122"/>
                <a:cs typeface="Calibri" pitchFamily="34" charset="-120"/>
              </a:rPr>
              <a:t>Lire &amp; juger</a:t>
            </a:r>
            <a:endParaRPr lang="en-US" sz="1100" dirty="0"/>
          </a:p>
        </p:txBody>
      </p:sp>
      <p:sp>
        <p:nvSpPr>
          <p:cNvPr id="43" name="Shape 34"/>
          <p:cNvSpPr/>
          <p:nvPr/>
        </p:nvSpPr>
        <p:spPr>
          <a:xfrm>
            <a:off x="4489704" y="2487168"/>
            <a:ext cx="475488" cy="475488"/>
          </a:xfrm>
          <a:prstGeom prst="ellipse">
            <a:avLst/>
          </a:prstGeom>
          <a:solidFill>
            <a:srgbClr val="FFFFFF"/>
          </a:solidFill>
          <a:ln w="19050">
            <a:solidFill>
              <a:srgbClr val="00A86A"/>
            </a:solidFill>
            <a:prstDash val="solid"/>
          </a:ln>
        </p:spPr>
      </p:sp>
      <p:pic>
        <p:nvPicPr>
          <p:cNvPr id="44" name="Image 6" descr="preencoded.png"/>
          <p:cNvPicPr>
            <a:picLocks noChangeAspect="1"/>
          </p:cNvPicPr>
          <p:nvPr/>
        </p:nvPicPr>
        <p:blipFill>
          <a:blip r:embed="rId9"/>
          <a:stretch>
            <a:fillRect/>
          </a:stretch>
        </p:blipFill>
        <p:spPr>
          <a:xfrm>
            <a:off x="4603821" y="2601285"/>
            <a:ext cx="247254" cy="247254"/>
          </a:xfrm>
          <a:prstGeom prst="rect">
            <a:avLst/>
          </a:prstGeom>
        </p:spPr>
      </p:pic>
      <p:sp>
        <p:nvSpPr>
          <p:cNvPr id="45" name="Text 35"/>
          <p:cNvSpPr txBox="1"/>
          <p:nvPr/>
        </p:nvSpPr>
        <p:spPr>
          <a:xfrm>
            <a:off x="3502152" y="2615184"/>
            <a:ext cx="914400" cy="219456"/>
          </a:xfrm>
          <a:prstGeom prst="rect">
            <a:avLst/>
          </a:prstGeom>
          <a:noFill/>
          <a:ln/>
        </p:spPr>
        <p:txBody>
          <a:bodyPr wrap="square" lIns="0" tIns="0" rIns="0" bIns="0" rtlCol="0" anchor="ctr"/>
          <a:lstStyle/>
          <a:p>
            <a:pPr marL="0" indent="0" algn="r">
              <a:buNone/>
            </a:pPr>
            <a:r>
              <a:rPr lang="en-US" sz="1100" b="1" dirty="0">
                <a:solidFill>
                  <a:srgbClr val="231F20"/>
                </a:solidFill>
                <a:latin typeface="Calibri" pitchFamily="34" charset="0"/>
                <a:ea typeface="Calibri" pitchFamily="34" charset="-122"/>
                <a:cs typeface="Calibri" pitchFamily="34" charset="-120"/>
              </a:rPr>
              <a:t>Reformuler</a:t>
            </a:r>
            <a:endParaRPr lang="en-US" sz="1100" dirty="0"/>
          </a:p>
        </p:txBody>
      </p:sp>
      <p:sp>
        <p:nvSpPr>
          <p:cNvPr id="46" name="Text 36"/>
          <p:cNvSpPr txBox="1"/>
          <p:nvPr/>
        </p:nvSpPr>
        <p:spPr>
          <a:xfrm>
            <a:off x="4937760" y="2569464"/>
            <a:ext cx="1005840" cy="310896"/>
          </a:xfrm>
          <a:prstGeom prst="rect">
            <a:avLst/>
          </a:prstGeom>
          <a:noFill/>
          <a:ln/>
        </p:spPr>
        <p:txBody>
          <a:bodyPr wrap="square" lIns="0" tIns="0" rIns="0" bIns="0" rtlCol="0" anchor="ctr"/>
          <a:lstStyle/>
          <a:p>
            <a:pPr marL="0" indent="0" algn="ctr">
              <a:buNone/>
            </a:pPr>
            <a:r>
              <a:rPr lang="en-US" sz="850" i="1" dirty="0">
                <a:solidFill>
                  <a:srgbClr val="5E6964"/>
                </a:solidFill>
                <a:latin typeface="Calibri" pitchFamily="34" charset="0"/>
                <a:ea typeface="Calibri" pitchFamily="34" charset="-122"/>
                <a:cs typeface="Calibri" pitchFamily="34" charset="-120"/>
              </a:rPr>
              <a:t>jusqu'à preuves suffisantes</a:t>
            </a:r>
            <a:endParaRPr lang="en-US" sz="850" dirty="0"/>
          </a:p>
        </p:txBody>
      </p:sp>
      <p:sp>
        <p:nvSpPr>
          <p:cNvPr id="47" name="Shape 37"/>
          <p:cNvSpPr/>
          <p:nvPr/>
        </p:nvSpPr>
        <p:spPr>
          <a:xfrm>
            <a:off x="7132320" y="2724912"/>
            <a:ext cx="274320" cy="914"/>
          </a:xfrm>
          <a:prstGeom prst="line">
            <a:avLst/>
          </a:prstGeom>
          <a:noFill/>
          <a:ln w="25400">
            <a:solidFill>
              <a:srgbClr val="D49A00"/>
            </a:solidFill>
            <a:prstDash val="solid"/>
            <a:tailEnd type="triangle"/>
          </a:ln>
        </p:spPr>
      </p:sp>
      <p:sp>
        <p:nvSpPr>
          <p:cNvPr id="48" name="Shape 38"/>
          <p:cNvSpPr/>
          <p:nvPr/>
        </p:nvSpPr>
        <p:spPr>
          <a:xfrm>
            <a:off x="7452360" y="2441448"/>
            <a:ext cx="566928" cy="566928"/>
          </a:xfrm>
          <a:prstGeom prst="ellipse">
            <a:avLst/>
          </a:prstGeom>
          <a:solidFill>
            <a:srgbClr val="F5C242"/>
          </a:solidFill>
          <a:ln w="12700">
            <a:solidFill>
              <a:srgbClr val="F5C242"/>
            </a:solidFill>
            <a:prstDash val="solid"/>
          </a:ln>
        </p:spPr>
      </p:sp>
      <p:pic>
        <p:nvPicPr>
          <p:cNvPr id="49" name="Image 7" descr="preencoded.png"/>
          <p:cNvPicPr>
            <a:picLocks noChangeAspect="1"/>
          </p:cNvPicPr>
          <p:nvPr/>
        </p:nvPicPr>
        <p:blipFill>
          <a:blip r:embed="rId10"/>
          <a:stretch>
            <a:fillRect/>
          </a:stretch>
        </p:blipFill>
        <p:spPr>
          <a:xfrm>
            <a:off x="7588423" y="2577511"/>
            <a:ext cx="294803" cy="294803"/>
          </a:xfrm>
          <a:prstGeom prst="rect">
            <a:avLst/>
          </a:prstGeom>
        </p:spPr>
      </p:pic>
      <p:sp>
        <p:nvSpPr>
          <p:cNvPr id="50" name="Text 39"/>
          <p:cNvSpPr txBox="1"/>
          <p:nvPr/>
        </p:nvSpPr>
        <p:spPr>
          <a:xfrm>
            <a:off x="7095744" y="3072384"/>
            <a:ext cx="1280160" cy="274320"/>
          </a:xfrm>
          <a:prstGeom prst="rect">
            <a:avLst/>
          </a:prstGeom>
          <a:noFill/>
          <a:ln/>
        </p:spPr>
        <p:txBody>
          <a:bodyPr wrap="square" lIns="0" tIns="0" rIns="0" bIns="0" rtlCol="0" anchor="ctr"/>
          <a:lstStyle/>
          <a:p>
            <a:pPr marL="0" indent="0" algn="ctr">
              <a:buNone/>
            </a:pPr>
            <a:r>
              <a:rPr lang="en-US" sz="1100" b="1" dirty="0">
                <a:solidFill>
                  <a:srgbClr val="00704A"/>
                </a:solidFill>
                <a:latin typeface="Calibri" pitchFamily="34" charset="0"/>
                <a:ea typeface="Calibri" pitchFamily="34" charset="-122"/>
                <a:cs typeface="Calibri" pitchFamily="34" charset="-120"/>
              </a:rPr>
              <a:t>Réponse + sources</a:t>
            </a:r>
            <a:endParaRPr lang="en-US" sz="1100" dirty="0"/>
          </a:p>
        </p:txBody>
      </p:sp>
      <p:sp>
        <p:nvSpPr>
          <p:cNvPr id="51" name="Shape 40"/>
          <p:cNvSpPr/>
          <p:nvPr/>
        </p:nvSpPr>
        <p:spPr>
          <a:xfrm>
            <a:off x="457200" y="4096512"/>
            <a:ext cx="2615184" cy="603504"/>
          </a:xfrm>
          <a:prstGeom prst="roundRect">
            <a:avLst>
              <a:gd name="adj" fmla="val 12121"/>
            </a:avLst>
          </a:prstGeom>
          <a:solidFill>
            <a:srgbClr val="F4F7F5"/>
          </a:solidFill>
          <a:ln w="9525">
            <a:solidFill>
              <a:srgbClr val="D5DED9"/>
            </a:solidFill>
            <a:prstDash val="solid"/>
          </a:ln>
        </p:spPr>
      </p:sp>
      <p:sp>
        <p:nvSpPr>
          <p:cNvPr id="52" name="Text 41"/>
          <p:cNvSpPr txBox="1"/>
          <p:nvPr/>
        </p:nvSpPr>
        <p:spPr>
          <a:xfrm>
            <a:off x="594360" y="4133088"/>
            <a:ext cx="2377440" cy="228600"/>
          </a:xfrm>
          <a:prstGeom prst="rect">
            <a:avLst/>
          </a:prstGeom>
          <a:noFill/>
          <a:ln/>
        </p:spPr>
        <p:txBody>
          <a:bodyPr wrap="square" lIns="0" tIns="0" rIns="0" bIns="0" rtlCol="0" anchor="ctr"/>
          <a:lstStyle/>
          <a:p>
            <a:pPr marL="0" indent="0">
              <a:buNone/>
            </a:pPr>
            <a:r>
              <a:rPr lang="en-US" sz="1250" b="1" dirty="0">
                <a:solidFill>
                  <a:srgbClr val="00704A"/>
                </a:solidFill>
                <a:latin typeface="Calibri" pitchFamily="34" charset="0"/>
                <a:ea typeface="Calibri" pitchFamily="34" charset="-122"/>
                <a:cs typeface="Calibri" pitchFamily="34" charset="-120"/>
              </a:rPr>
              <a:t>IRCoT  </a:t>
            </a:r>
            <a:r>
              <a:rPr lang="en-US" sz="900" i="1" dirty="0">
                <a:solidFill>
                  <a:srgbClr val="5E6964"/>
                </a:solidFill>
                <a:latin typeface="Calibri" pitchFamily="34" charset="0"/>
                <a:ea typeface="Calibri" pitchFamily="34" charset="-122"/>
                <a:cs typeface="Calibri" pitchFamily="34" charset="-120"/>
              </a:rPr>
              <a:t>Trivedi et al., 2023</a:t>
            </a:r>
            <a:endParaRPr lang="en-US" sz="1250" dirty="0"/>
          </a:p>
        </p:txBody>
      </p:sp>
      <p:sp>
        <p:nvSpPr>
          <p:cNvPr id="53" name="Text 42"/>
          <p:cNvSpPr txBox="1"/>
          <p:nvPr/>
        </p:nvSpPr>
        <p:spPr>
          <a:xfrm>
            <a:off x="594360" y="4370832"/>
            <a:ext cx="2377440" cy="310896"/>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Alterne recherche et étapes de raisonnement.</a:t>
            </a:r>
            <a:endParaRPr lang="en-US" sz="1000" dirty="0"/>
          </a:p>
        </p:txBody>
      </p:sp>
      <p:sp>
        <p:nvSpPr>
          <p:cNvPr id="54" name="Shape 43"/>
          <p:cNvSpPr/>
          <p:nvPr/>
        </p:nvSpPr>
        <p:spPr>
          <a:xfrm>
            <a:off x="3264408" y="4096512"/>
            <a:ext cx="2615184" cy="603504"/>
          </a:xfrm>
          <a:prstGeom prst="roundRect">
            <a:avLst>
              <a:gd name="adj" fmla="val 12121"/>
            </a:avLst>
          </a:prstGeom>
          <a:solidFill>
            <a:srgbClr val="F4F7F5"/>
          </a:solidFill>
          <a:ln w="9525">
            <a:solidFill>
              <a:srgbClr val="D5DED9"/>
            </a:solidFill>
            <a:prstDash val="solid"/>
          </a:ln>
        </p:spPr>
      </p:sp>
      <p:sp>
        <p:nvSpPr>
          <p:cNvPr id="55" name="Text 44"/>
          <p:cNvSpPr txBox="1"/>
          <p:nvPr/>
        </p:nvSpPr>
        <p:spPr>
          <a:xfrm>
            <a:off x="3401568" y="4133088"/>
            <a:ext cx="2377440" cy="228600"/>
          </a:xfrm>
          <a:prstGeom prst="rect">
            <a:avLst/>
          </a:prstGeom>
          <a:noFill/>
          <a:ln/>
        </p:spPr>
        <p:txBody>
          <a:bodyPr wrap="square" lIns="0" tIns="0" rIns="0" bIns="0" rtlCol="0" anchor="ctr"/>
          <a:lstStyle/>
          <a:p>
            <a:pPr marL="0" indent="0">
              <a:buNone/>
            </a:pPr>
            <a:r>
              <a:rPr lang="en-US" sz="1250" b="1" dirty="0">
                <a:solidFill>
                  <a:srgbClr val="00704A"/>
                </a:solidFill>
                <a:latin typeface="Calibri" pitchFamily="34" charset="0"/>
                <a:ea typeface="Calibri" pitchFamily="34" charset="-122"/>
                <a:cs typeface="Calibri" pitchFamily="34" charset="-120"/>
              </a:rPr>
              <a:t>FLARE  </a:t>
            </a:r>
            <a:r>
              <a:rPr lang="en-US" sz="900" i="1" dirty="0">
                <a:solidFill>
                  <a:srgbClr val="5E6964"/>
                </a:solidFill>
                <a:latin typeface="Calibri" pitchFamily="34" charset="0"/>
                <a:ea typeface="Calibri" pitchFamily="34" charset="-122"/>
                <a:cs typeface="Calibri" pitchFamily="34" charset="-120"/>
              </a:rPr>
              <a:t>Jiang et al., 2023</a:t>
            </a:r>
            <a:endParaRPr lang="en-US" sz="1250" dirty="0"/>
          </a:p>
        </p:txBody>
      </p:sp>
      <p:sp>
        <p:nvSpPr>
          <p:cNvPr id="56" name="Text 45"/>
          <p:cNvSpPr txBox="1"/>
          <p:nvPr/>
        </p:nvSpPr>
        <p:spPr>
          <a:xfrm>
            <a:off x="3401568" y="4370832"/>
            <a:ext cx="2377440" cy="310896"/>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Cherche quand la phrase suivante contient des tokens peu sûrs.</a:t>
            </a:r>
            <a:endParaRPr lang="en-US" sz="1000" dirty="0"/>
          </a:p>
        </p:txBody>
      </p:sp>
      <p:sp>
        <p:nvSpPr>
          <p:cNvPr id="57" name="Shape 46"/>
          <p:cNvSpPr/>
          <p:nvPr/>
        </p:nvSpPr>
        <p:spPr>
          <a:xfrm>
            <a:off x="6071616" y="4096512"/>
            <a:ext cx="2615184" cy="603504"/>
          </a:xfrm>
          <a:prstGeom prst="roundRect">
            <a:avLst>
              <a:gd name="adj" fmla="val 12121"/>
            </a:avLst>
          </a:prstGeom>
          <a:solidFill>
            <a:srgbClr val="F4F7F5"/>
          </a:solidFill>
          <a:ln w="9525">
            <a:solidFill>
              <a:srgbClr val="D5DED9"/>
            </a:solidFill>
            <a:prstDash val="solid"/>
          </a:ln>
        </p:spPr>
      </p:sp>
      <p:sp>
        <p:nvSpPr>
          <p:cNvPr id="58" name="Text 47"/>
          <p:cNvSpPr txBox="1"/>
          <p:nvPr/>
        </p:nvSpPr>
        <p:spPr>
          <a:xfrm>
            <a:off x="6208776" y="4133088"/>
            <a:ext cx="2377440" cy="228600"/>
          </a:xfrm>
          <a:prstGeom prst="rect">
            <a:avLst/>
          </a:prstGeom>
          <a:noFill/>
          <a:ln/>
        </p:spPr>
        <p:txBody>
          <a:bodyPr wrap="square" lIns="0" tIns="0" rIns="0" bIns="0" rtlCol="0" anchor="ctr"/>
          <a:lstStyle/>
          <a:p>
            <a:pPr marL="0" indent="0">
              <a:buNone/>
            </a:pPr>
            <a:r>
              <a:rPr lang="en-US" sz="1250" b="1" dirty="0">
                <a:solidFill>
                  <a:srgbClr val="00704A"/>
                </a:solidFill>
                <a:latin typeface="Calibri" pitchFamily="34" charset="0"/>
                <a:ea typeface="Calibri" pitchFamily="34" charset="-122"/>
                <a:cs typeface="Calibri" pitchFamily="34" charset="-120"/>
              </a:rPr>
              <a:t>Search-R1  </a:t>
            </a:r>
            <a:r>
              <a:rPr lang="en-US" sz="900" i="1" dirty="0">
                <a:solidFill>
                  <a:srgbClr val="5E6964"/>
                </a:solidFill>
                <a:latin typeface="Calibri" pitchFamily="34" charset="0"/>
                <a:ea typeface="Calibri" pitchFamily="34" charset="-122"/>
                <a:cs typeface="Calibri" pitchFamily="34" charset="-120"/>
              </a:rPr>
              <a:t>Jin et al., 2025</a:t>
            </a:r>
            <a:endParaRPr lang="en-US" sz="1250" dirty="0"/>
          </a:p>
        </p:txBody>
      </p:sp>
      <p:sp>
        <p:nvSpPr>
          <p:cNvPr id="59" name="Text 48"/>
          <p:cNvSpPr txBox="1"/>
          <p:nvPr/>
        </p:nvSpPr>
        <p:spPr>
          <a:xfrm>
            <a:off x="6208776" y="4370832"/>
            <a:ext cx="2377440" cy="310896"/>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LLM entraîné par RL à lancer plusieurs recherches en raisonnant.</a:t>
            </a:r>
            <a:endParaRPr lang="en-US" sz="1000" dirty="0"/>
          </a:p>
        </p:txBody>
      </p:sp>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ÉVOLUTION DU RAG</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Les longs contextes ont changé le rôle du RAG</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49A00"/>
          </a:solidFill>
          <a:ln w="12700">
            <a:solidFill>
              <a:srgbClr val="D49A00"/>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694944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ATI · Big Data pour les statistiques macroéconomiques · Maurice, 26–30 oct. 2026   |   BAD · Data Innovation for Africa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32</a:t>
            </a:r>
            <a:endParaRPr lang="en-US" sz="850" dirty="0"/>
          </a:p>
        </p:txBody>
      </p:sp>
      <p:graphicFrame>
        <p:nvGraphicFramePr>
          <p:cNvPr id="17" name="Chart 0"/>
          <p:cNvGraphicFramePr/>
          <p:nvPr/>
        </p:nvGraphicFramePr>
        <p:xfrm>
          <a:off x="365760" y="1280160"/>
          <a:ext cx="5029200" cy="3310128"/>
        </p:xfrm>
        <a:graphic>
          <a:graphicData uri="http://schemas.openxmlformats.org/drawingml/2006/chart">
            <c:chart xmlns:c="http://schemas.openxmlformats.org/drawingml/2006/chart" xmlns:r="http://schemas.openxmlformats.org/officeDocument/2006/relationships" r:id="rId3"/>
          </a:graphicData>
        </a:graphic>
      </p:graphicFrame>
      <p:sp>
        <p:nvSpPr>
          <p:cNvPr id="18" name="Text 14"/>
          <p:cNvSpPr txBox="1"/>
          <p:nvPr/>
        </p:nvSpPr>
        <p:spPr>
          <a:xfrm>
            <a:off x="457200" y="4617720"/>
            <a:ext cx="457200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Chiffres annoncés par chaque fournisseur.</a:t>
            </a:r>
            <a:endParaRPr lang="en-US" sz="900" dirty="0"/>
          </a:p>
        </p:txBody>
      </p:sp>
      <p:sp>
        <p:nvSpPr>
          <p:cNvPr id="19" name="Shape 15"/>
          <p:cNvSpPr/>
          <p:nvPr/>
        </p:nvSpPr>
        <p:spPr>
          <a:xfrm>
            <a:off x="5623560" y="1325880"/>
            <a:ext cx="3063240" cy="914400"/>
          </a:xfrm>
          <a:prstGeom prst="roundRect">
            <a:avLst>
              <a:gd name="adj" fmla="val 8000"/>
            </a:avLst>
          </a:prstGeom>
          <a:solidFill>
            <a:srgbClr val="F4F7F5"/>
          </a:solidFill>
          <a:ln w="9525">
            <a:solidFill>
              <a:srgbClr val="D5DED9"/>
            </a:solidFill>
            <a:prstDash val="solid"/>
          </a:ln>
        </p:spPr>
      </p:sp>
      <p:sp>
        <p:nvSpPr>
          <p:cNvPr id="20" name="Text 16"/>
          <p:cNvSpPr txBox="1"/>
          <p:nvPr/>
        </p:nvSpPr>
        <p:spPr>
          <a:xfrm>
            <a:off x="5806440" y="1325880"/>
            <a:ext cx="2743200" cy="914400"/>
          </a:xfrm>
          <a:prstGeom prst="rect">
            <a:avLst/>
          </a:prstGeom>
          <a:noFill/>
          <a:ln/>
        </p:spPr>
        <p:txBody>
          <a:bodyPr wrap="square" lIns="0" tIns="0" rIns="0" bIns="0" rtlCol="0" anchor="ctr"/>
          <a:lstStyle/>
          <a:p>
            <a:pPr marL="0" indent="0">
              <a:buNone/>
            </a:pPr>
            <a:r>
              <a:rPr lang="en-US" sz="1150" b="1" dirty="0">
                <a:solidFill>
                  <a:srgbClr val="5E6964"/>
                </a:solidFill>
                <a:latin typeface="Calibri" pitchFamily="34" charset="0"/>
                <a:ea typeface="Calibri" pitchFamily="34" charset="-122"/>
                <a:cs typeface="Calibri" pitchFamily="34" charset="-120"/>
              </a:rPr>
              <a:t>Avant : </a:t>
            </a:r>
            <a:r>
              <a:rPr lang="en-US" sz="1150" dirty="0">
                <a:solidFill>
                  <a:srgbClr val="231F20"/>
                </a:solidFill>
                <a:latin typeface="Calibri" pitchFamily="34" charset="0"/>
                <a:ea typeface="Calibri" pitchFamily="34" charset="-122"/>
                <a:cs typeface="Calibri" pitchFamily="34" charset="-120"/>
              </a:rPr>
              <a:t>le RAG était un palliatif — les modèles ne lisaient que quelques pages à la fois.</a:t>
            </a:r>
            <a:endParaRPr lang="en-US" sz="1150" dirty="0"/>
          </a:p>
        </p:txBody>
      </p:sp>
      <p:sp>
        <p:nvSpPr>
          <p:cNvPr id="21" name="Shape 17"/>
          <p:cNvSpPr/>
          <p:nvPr/>
        </p:nvSpPr>
        <p:spPr>
          <a:xfrm>
            <a:off x="5623560" y="2359152"/>
            <a:ext cx="3063240" cy="1371600"/>
          </a:xfrm>
          <a:prstGeom prst="roundRect">
            <a:avLst>
              <a:gd name="adj" fmla="val 5333"/>
            </a:avLst>
          </a:prstGeom>
          <a:solidFill>
            <a:srgbClr val="E8F5EF"/>
          </a:solidFill>
          <a:ln w="15875">
            <a:solidFill>
              <a:srgbClr val="00A86A"/>
            </a:solidFill>
            <a:prstDash val="solid"/>
          </a:ln>
        </p:spPr>
      </p:sp>
      <p:sp>
        <p:nvSpPr>
          <p:cNvPr id="22" name="Text 18"/>
          <p:cNvSpPr txBox="1"/>
          <p:nvPr/>
        </p:nvSpPr>
        <p:spPr>
          <a:xfrm>
            <a:off x="5806440" y="2359152"/>
            <a:ext cx="2743200" cy="1371600"/>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Constat : </a:t>
            </a:r>
            <a:r>
              <a:rPr lang="en-US" sz="1100" dirty="0">
                <a:solidFill>
                  <a:srgbClr val="231F20"/>
                </a:solidFill>
                <a:latin typeface="Calibri" pitchFamily="34" charset="0"/>
                <a:ea typeface="Calibri" pitchFamily="34" charset="-122"/>
                <a:cs typeface="Calibri" pitchFamily="34" charset="-120"/>
              </a:rPr>
              <a:t>les modèles à long contexte peuvent battre le RAG en moyenne, mais le RAG coûte bien moins cher. Self-Route (Li et al., 2024) tente d'abord le RAG et ne passe au contexte complet qu'en cas de besoin.</a:t>
            </a:r>
            <a:endParaRPr lang="en-US" sz="1100" dirty="0"/>
          </a:p>
        </p:txBody>
      </p:sp>
      <p:sp>
        <p:nvSpPr>
          <p:cNvPr id="23" name="Shape 19"/>
          <p:cNvSpPr/>
          <p:nvPr/>
        </p:nvSpPr>
        <p:spPr>
          <a:xfrm>
            <a:off x="5623560" y="3840480"/>
            <a:ext cx="3063240" cy="822960"/>
          </a:xfrm>
          <a:prstGeom prst="roundRect">
            <a:avLst>
              <a:gd name="adj" fmla="val 8889"/>
            </a:avLst>
          </a:prstGeom>
          <a:solidFill>
            <a:srgbClr val="FDF3D7"/>
          </a:solidFill>
          <a:ln w="15875">
            <a:solidFill>
              <a:srgbClr val="D49A00"/>
            </a:solidFill>
            <a:prstDash val="solid"/>
          </a:ln>
        </p:spPr>
      </p:sp>
      <p:sp>
        <p:nvSpPr>
          <p:cNvPr id="24" name="Text 20"/>
          <p:cNvSpPr txBox="1"/>
          <p:nvPr/>
        </p:nvSpPr>
        <p:spPr>
          <a:xfrm>
            <a:off x="5806440" y="3840480"/>
            <a:ext cx="2743200" cy="822960"/>
          </a:xfrm>
          <a:prstGeom prst="rect">
            <a:avLst/>
          </a:prstGeom>
          <a:noFill/>
          <a:ln/>
        </p:spPr>
        <p:txBody>
          <a:bodyPr wrap="square" lIns="0" tIns="0" rIns="0" bIns="0" rtlCol="0" anchor="ctr"/>
          <a:lstStyle/>
          <a:p>
            <a:pPr marL="0" indent="0">
              <a:buNone/>
            </a:pPr>
            <a:r>
              <a:rPr lang="en-US" sz="1150" b="1" dirty="0">
                <a:solidFill>
                  <a:srgbClr val="D49A00"/>
                </a:solidFill>
                <a:latin typeface="Calibri" pitchFamily="34" charset="0"/>
                <a:ea typeface="Calibri" pitchFamily="34" charset="-122"/>
                <a:cs typeface="Calibri" pitchFamily="34" charset="-120"/>
              </a:rPr>
              <a:t>Aujourd'hui : </a:t>
            </a:r>
            <a:r>
              <a:rPr lang="en-US" sz="1150" dirty="0">
                <a:solidFill>
                  <a:srgbClr val="231F20"/>
                </a:solidFill>
                <a:latin typeface="Calibri" pitchFamily="34" charset="0"/>
                <a:ea typeface="Calibri" pitchFamily="34" charset="-122"/>
                <a:cs typeface="Calibri" pitchFamily="34" charset="-120"/>
              </a:rPr>
              <a:t>le RAG est la couche du coût, de la fraîcheur, du contrôle d'accès et de la précision.</a:t>
            </a:r>
            <a:endParaRPr lang="en-US" sz="1150" dirty="0"/>
          </a:p>
        </p:txBody>
      </p:sp>
    </p:spTree>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822960"/>
            <a:ext cx="2743200" cy="274320"/>
          </a:xfrm>
          <a:prstGeom prst="rect">
            <a:avLst/>
          </a:prstGeom>
          <a:noFill/>
          <a:ln/>
        </p:spPr>
        <p:txBody>
          <a:bodyPr wrap="square" lIns="0" tIns="0" rIns="0" bIns="0" rtlCol="0" anchor="ctr"/>
          <a:lstStyle/>
          <a:p>
            <a:pPr marL="0" indent="0">
              <a:buNone/>
            </a:pPr>
            <a:r>
              <a:rPr lang="en-US" sz="1200" b="1" kern="0" spc="400" dirty="0">
                <a:solidFill>
                  <a:srgbClr val="F5C242"/>
                </a:solidFill>
                <a:latin typeface="Calibri" pitchFamily="34" charset="0"/>
                <a:ea typeface="Calibri" pitchFamily="34" charset="-122"/>
                <a:cs typeface="Calibri" pitchFamily="34" charset="-120"/>
              </a:rPr>
              <a:t>SECTION</a:t>
            </a:r>
            <a:endParaRPr lang="en-US" sz="1200" dirty="0"/>
          </a:p>
        </p:txBody>
      </p:sp>
      <p:sp>
        <p:nvSpPr>
          <p:cNvPr id="3" name="Text 1"/>
          <p:cNvSpPr txBox="1"/>
          <p:nvPr/>
        </p:nvSpPr>
        <p:spPr>
          <a:xfrm>
            <a:off x="502920" y="1051560"/>
            <a:ext cx="2743200" cy="1463040"/>
          </a:xfrm>
          <a:prstGeom prst="rect">
            <a:avLst/>
          </a:prstGeom>
          <a:noFill/>
          <a:ln/>
        </p:spPr>
        <p:txBody>
          <a:bodyPr wrap="square" lIns="0" tIns="0" rIns="0" bIns="0" rtlCol="0" anchor="ctr"/>
          <a:lstStyle/>
          <a:p>
            <a:pPr marL="0" indent="0">
              <a:buNone/>
            </a:pPr>
            <a:r>
              <a:rPr lang="en-US" sz="11000" b="1" dirty="0">
                <a:solidFill>
                  <a:srgbClr val="F5C242"/>
                </a:solidFill>
                <a:latin typeface="Calibri" pitchFamily="34" charset="0"/>
                <a:ea typeface="Calibri" pitchFamily="34" charset="-122"/>
                <a:cs typeface="Calibri" pitchFamily="34" charset="-120"/>
              </a:rPr>
              <a:t>05</a:t>
            </a:r>
            <a:endParaRPr lang="en-US" sz="11000" dirty="0"/>
          </a:p>
        </p:txBody>
      </p:sp>
      <p:sp>
        <p:nvSpPr>
          <p:cNvPr id="4" name="Text 2"/>
          <p:cNvSpPr txBox="1"/>
          <p:nvPr/>
        </p:nvSpPr>
        <p:spPr>
          <a:xfrm>
            <a:off x="548640" y="2606040"/>
            <a:ext cx="5120640" cy="68580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Techniques avancées</a:t>
            </a:r>
            <a:endParaRPr lang="en-US" sz="4000" dirty="0"/>
          </a:p>
        </p:txBody>
      </p:sp>
      <p:sp>
        <p:nvSpPr>
          <p:cNvPr id="5" name="Text 3"/>
          <p:cNvSpPr txBox="1"/>
          <p:nvPr/>
        </p:nvSpPr>
        <p:spPr>
          <a:xfrm>
            <a:off x="548640" y="3337560"/>
            <a:ext cx="5120640" cy="457200"/>
          </a:xfrm>
          <a:prstGeom prst="rect">
            <a:avLst/>
          </a:prstGeom>
          <a:noFill/>
          <a:ln/>
        </p:spPr>
        <p:txBody>
          <a:bodyPr wrap="square" lIns="0" tIns="0" rIns="0" bIns="0" rtlCol="0" anchor="ctr"/>
          <a:lstStyle/>
          <a:p>
            <a:pPr marL="0" indent="0">
              <a:buNone/>
            </a:pPr>
            <a:r>
              <a:rPr lang="en-US" sz="1800" i="1" dirty="0">
                <a:solidFill>
                  <a:srgbClr val="E6F6EE"/>
                </a:solidFill>
                <a:latin typeface="Calibri" pitchFamily="34" charset="0"/>
                <a:ea typeface="Calibri" pitchFamily="34" charset="-122"/>
                <a:cs typeface="Calibri" pitchFamily="34" charset="-120"/>
              </a:rPr>
              <a:t>Quelles techniques améliorent encore la qualité ?</a:t>
            </a:r>
            <a:endParaRPr lang="en-US" sz="1800" dirty="0"/>
          </a:p>
        </p:txBody>
      </p:sp>
      <p:sp>
        <p:nvSpPr>
          <p:cNvPr id="6" name="Shape 4"/>
          <p:cNvSpPr/>
          <p:nvPr/>
        </p:nvSpPr>
        <p:spPr>
          <a:xfrm>
            <a:off x="548640" y="4160520"/>
            <a:ext cx="137160" cy="137160"/>
          </a:xfrm>
          <a:prstGeom prst="ellipse">
            <a:avLst/>
          </a:prstGeom>
          <a:solidFill>
            <a:srgbClr val="FFFFFF">
              <a:alpha val="40000"/>
            </a:srgbClr>
          </a:solidFill>
          <a:ln w="12700">
            <a:solidFill>
              <a:srgbClr val="FFFFFF">
                <a:alpha val="0"/>
              </a:srgbClr>
            </a:solidFill>
            <a:prstDash val="solid"/>
          </a:ln>
        </p:spPr>
      </p:sp>
      <p:sp>
        <p:nvSpPr>
          <p:cNvPr id="7" name="Shape 5"/>
          <p:cNvSpPr/>
          <p:nvPr/>
        </p:nvSpPr>
        <p:spPr>
          <a:xfrm>
            <a:off x="804672" y="4160520"/>
            <a:ext cx="137160" cy="137160"/>
          </a:xfrm>
          <a:prstGeom prst="ellipse">
            <a:avLst/>
          </a:prstGeom>
          <a:solidFill>
            <a:srgbClr val="FFFFFF">
              <a:alpha val="40000"/>
            </a:srgbClr>
          </a:solidFill>
          <a:ln w="12700">
            <a:solidFill>
              <a:srgbClr val="FFFFFF">
                <a:alpha val="0"/>
              </a:srgbClr>
            </a:solidFill>
            <a:prstDash val="solid"/>
          </a:ln>
        </p:spPr>
      </p:sp>
      <p:sp>
        <p:nvSpPr>
          <p:cNvPr id="8" name="Shape 6"/>
          <p:cNvSpPr/>
          <p:nvPr/>
        </p:nvSpPr>
        <p:spPr>
          <a:xfrm>
            <a:off x="1060704" y="4160520"/>
            <a:ext cx="137160" cy="137160"/>
          </a:xfrm>
          <a:prstGeom prst="ellipse">
            <a:avLst/>
          </a:prstGeom>
          <a:solidFill>
            <a:srgbClr val="FFFFFF">
              <a:alpha val="40000"/>
            </a:srgbClr>
          </a:solidFill>
          <a:ln w="12700">
            <a:solidFill>
              <a:srgbClr val="FFFFFF">
                <a:alpha val="0"/>
              </a:srgbClr>
            </a:solidFill>
            <a:prstDash val="solid"/>
          </a:ln>
        </p:spPr>
      </p:sp>
      <p:sp>
        <p:nvSpPr>
          <p:cNvPr id="9" name="Shape 7"/>
          <p:cNvSpPr/>
          <p:nvPr/>
        </p:nvSpPr>
        <p:spPr>
          <a:xfrm>
            <a:off x="1316736" y="4160520"/>
            <a:ext cx="137160" cy="137160"/>
          </a:xfrm>
          <a:prstGeom prst="ellipse">
            <a:avLst/>
          </a:prstGeom>
          <a:solidFill>
            <a:srgbClr val="FFFFFF">
              <a:alpha val="40000"/>
            </a:srgbClr>
          </a:solidFill>
          <a:ln w="12700">
            <a:solidFill>
              <a:srgbClr val="FFFFFF">
                <a:alpha val="0"/>
              </a:srgbClr>
            </a:solidFill>
            <a:prstDash val="solid"/>
          </a:ln>
        </p:spPr>
      </p:sp>
      <p:sp>
        <p:nvSpPr>
          <p:cNvPr id="10" name="Shape 8"/>
          <p:cNvSpPr/>
          <p:nvPr/>
        </p:nvSpPr>
        <p:spPr>
          <a:xfrm>
            <a:off x="1572768" y="4160520"/>
            <a:ext cx="137160" cy="137160"/>
          </a:xfrm>
          <a:prstGeom prst="ellipse">
            <a:avLst/>
          </a:prstGeom>
          <a:solidFill>
            <a:srgbClr val="F5C242"/>
          </a:solidFill>
          <a:ln w="12700">
            <a:solidFill>
              <a:srgbClr val="FFFFFF">
                <a:alpha val="0"/>
              </a:srgbClr>
            </a:solidFill>
            <a:prstDash val="solid"/>
          </a:ln>
        </p:spPr>
      </p:sp>
      <p:sp>
        <p:nvSpPr>
          <p:cNvPr id="11" name="Shape 9"/>
          <p:cNvSpPr/>
          <p:nvPr/>
        </p:nvSpPr>
        <p:spPr>
          <a:xfrm>
            <a:off x="1828800" y="4160520"/>
            <a:ext cx="137160" cy="137160"/>
          </a:xfrm>
          <a:prstGeom prst="ellipse">
            <a:avLst/>
          </a:prstGeom>
          <a:solidFill>
            <a:srgbClr val="FFFFFF">
              <a:alpha val="40000"/>
            </a:srgbClr>
          </a:solidFill>
          <a:ln w="12700">
            <a:solidFill>
              <a:srgbClr val="FFFFFF">
                <a:alpha val="0"/>
              </a:srgbClr>
            </a:solidFill>
            <a:prstDash val="solid"/>
          </a:ln>
        </p:spPr>
      </p:sp>
      <p:sp>
        <p:nvSpPr>
          <p:cNvPr id="12" name="Shape 10"/>
          <p:cNvSpPr/>
          <p:nvPr/>
        </p:nvSpPr>
        <p:spPr>
          <a:xfrm>
            <a:off x="5349240" y="777240"/>
            <a:ext cx="3474720" cy="3474720"/>
          </a:xfrm>
          <a:prstGeom prst="ellipse">
            <a:avLst/>
          </a:prstGeom>
          <a:solidFill>
            <a:srgbClr val="FFFFFF">
              <a:alpha val="0"/>
            </a:srgbClr>
          </a:solidFill>
          <a:ln w="15875">
            <a:solidFill>
              <a:srgbClr val="FFFFFF">
                <a:alpha val="18000"/>
              </a:srgbClr>
            </a:solidFill>
            <a:prstDash val="solid"/>
          </a:ln>
        </p:spPr>
      </p:sp>
      <p:sp>
        <p:nvSpPr>
          <p:cNvPr id="13" name="Shape 11"/>
          <p:cNvSpPr/>
          <p:nvPr/>
        </p:nvSpPr>
        <p:spPr>
          <a:xfrm>
            <a:off x="5760720" y="1188720"/>
            <a:ext cx="2651760" cy="2651760"/>
          </a:xfrm>
          <a:prstGeom prst="ellipse">
            <a:avLst/>
          </a:prstGeom>
          <a:solidFill>
            <a:srgbClr val="FFFFFF">
              <a:alpha val="0"/>
            </a:srgbClr>
          </a:solidFill>
          <a:ln w="15875">
            <a:solidFill>
              <a:srgbClr val="FFFFFF">
                <a:alpha val="30000"/>
              </a:srgbClr>
            </a:solidFill>
            <a:prstDash val="solid"/>
          </a:ln>
        </p:spPr>
      </p:sp>
      <p:sp>
        <p:nvSpPr>
          <p:cNvPr id="14" name="Shape 12"/>
          <p:cNvSpPr/>
          <p:nvPr/>
        </p:nvSpPr>
        <p:spPr>
          <a:xfrm>
            <a:off x="6172200" y="1600200"/>
            <a:ext cx="1828800" cy="1828800"/>
          </a:xfrm>
          <a:prstGeom prst="ellipse">
            <a:avLst/>
          </a:prstGeom>
          <a:solidFill>
            <a:srgbClr val="FFFFFF">
              <a:alpha val="0"/>
            </a:srgbClr>
          </a:solidFill>
          <a:ln w="15875">
            <a:solidFill>
              <a:srgbClr val="FFFFFF">
                <a:alpha val="45000"/>
              </a:srgbClr>
            </a:solidFill>
            <a:prstDash val="solid"/>
          </a:ln>
        </p:spPr>
      </p:sp>
      <p:sp>
        <p:nvSpPr>
          <p:cNvPr id="15" name="Shape 13"/>
          <p:cNvSpPr/>
          <p:nvPr/>
        </p:nvSpPr>
        <p:spPr>
          <a:xfrm>
            <a:off x="6492240" y="1920240"/>
            <a:ext cx="1188720" cy="1188720"/>
          </a:xfrm>
          <a:prstGeom prst="ellipse">
            <a:avLst/>
          </a:prstGeom>
          <a:solidFill>
            <a:srgbClr val="FFFFFF"/>
          </a:solidFill>
          <a:ln w="12700">
            <a:solidFill>
              <a:srgbClr val="FFFFFF"/>
            </a:solidFill>
            <a:prstDash val="solid"/>
          </a:ln>
        </p:spPr>
      </p:sp>
      <p:pic>
        <p:nvPicPr>
          <p:cNvPr id="16" name="Image 0" descr="preencoded.png"/>
          <p:cNvPicPr>
            <a:picLocks noChangeAspect="1"/>
          </p:cNvPicPr>
          <p:nvPr/>
        </p:nvPicPr>
        <p:blipFill>
          <a:blip r:embed="rId4"/>
          <a:stretch>
            <a:fillRect/>
          </a:stretch>
        </p:blipFill>
        <p:spPr>
          <a:xfrm>
            <a:off x="6777533" y="2205533"/>
            <a:ext cx="618134" cy="618134"/>
          </a:xfrm>
          <a:prstGeom prst="rect">
            <a:avLst/>
          </a:prstGeom>
        </p:spPr>
      </p:pic>
    </p:spTree>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TECHNIQUES AVANCÉES</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Techniques RAG avancées en pratique</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C4621D"/>
          </a:solidFill>
          <a:ln w="12700">
            <a:solidFill>
              <a:srgbClr val="C4621D"/>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694944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ATI · Big Data pour les statistiques macroéconomiques · Maurice, 26–30 oct. 2026   |   BAD · Data Innovation for Africa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34</a:t>
            </a:r>
            <a:endParaRPr lang="en-US" sz="850" dirty="0"/>
          </a:p>
        </p:txBody>
      </p:sp>
      <p:sp>
        <p:nvSpPr>
          <p:cNvPr id="17" name="Shape 14"/>
          <p:cNvSpPr/>
          <p:nvPr/>
        </p:nvSpPr>
        <p:spPr>
          <a:xfrm>
            <a:off x="457200" y="1325880"/>
            <a:ext cx="1938528" cy="1463040"/>
          </a:xfrm>
          <a:prstGeom prst="roundRect">
            <a:avLst>
              <a:gd name="adj" fmla="val 5000"/>
            </a:avLst>
          </a:prstGeom>
          <a:solidFill>
            <a:srgbClr val="F4F7F5"/>
          </a:solidFill>
          <a:ln w="9525">
            <a:solidFill>
              <a:srgbClr val="D5DED9"/>
            </a:solidFill>
            <a:prstDash val="solid"/>
          </a:ln>
        </p:spPr>
      </p:sp>
      <p:sp>
        <p:nvSpPr>
          <p:cNvPr id="18" name="Shape 15"/>
          <p:cNvSpPr/>
          <p:nvPr/>
        </p:nvSpPr>
        <p:spPr>
          <a:xfrm>
            <a:off x="594360" y="1463040"/>
            <a:ext cx="411480" cy="411480"/>
          </a:xfrm>
          <a:prstGeom prst="ellipse">
            <a:avLst/>
          </a:prstGeom>
          <a:solidFill>
            <a:srgbClr val="00A86A">
              <a:alpha val="22000"/>
            </a:srgbClr>
          </a:solidFill>
          <a:ln w="12700">
            <a:solidFill>
              <a:srgbClr val="00A86A">
                <a:alpha val="0"/>
              </a:srgbClr>
            </a:solidFill>
            <a:prstDash val="solid"/>
          </a:ln>
        </p:spPr>
      </p:sp>
      <p:pic>
        <p:nvPicPr>
          <p:cNvPr id="19" name="Image 0" descr="preencoded.png"/>
          <p:cNvPicPr>
            <a:picLocks noChangeAspect="1"/>
          </p:cNvPicPr>
          <p:nvPr/>
        </p:nvPicPr>
        <p:blipFill>
          <a:blip r:embed="rId3"/>
          <a:stretch>
            <a:fillRect/>
          </a:stretch>
        </p:blipFill>
        <p:spPr>
          <a:xfrm>
            <a:off x="693115" y="1561795"/>
            <a:ext cx="213970" cy="213970"/>
          </a:xfrm>
          <a:prstGeom prst="rect">
            <a:avLst/>
          </a:prstGeom>
        </p:spPr>
      </p:pic>
      <p:sp>
        <p:nvSpPr>
          <p:cNvPr id="20" name="Text 16"/>
          <p:cNvSpPr txBox="1"/>
          <p:nvPr/>
        </p:nvSpPr>
        <p:spPr>
          <a:xfrm>
            <a:off x="1097280" y="1563624"/>
            <a:ext cx="1234440" cy="228600"/>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Gao et al., 2022</a:t>
            </a:r>
            <a:endParaRPr lang="en-US" sz="900" dirty="0"/>
          </a:p>
        </p:txBody>
      </p:sp>
      <p:sp>
        <p:nvSpPr>
          <p:cNvPr id="21" name="Text 17"/>
          <p:cNvSpPr txBox="1"/>
          <p:nvPr/>
        </p:nvSpPr>
        <p:spPr>
          <a:xfrm>
            <a:off x="594360" y="1947672"/>
            <a:ext cx="1737360" cy="237744"/>
          </a:xfrm>
          <a:prstGeom prst="rect">
            <a:avLst/>
          </a:prstGeom>
          <a:noFill/>
          <a:ln/>
        </p:spPr>
        <p:txBody>
          <a:bodyPr wrap="square" lIns="0" tIns="0" rIns="0" bIns="0" rtlCol="0" anchor="ctr">
            <a:normAutofit/>
          </a:bodyPr>
          <a:lstStyle/>
          <a:p>
            <a:pPr marL="0" indent="0">
              <a:buNone/>
            </a:pPr>
            <a:r>
              <a:rPr lang="en-US" sz="1300" b="1" dirty="0">
                <a:solidFill>
                  <a:srgbClr val="231F20"/>
                </a:solidFill>
                <a:latin typeface="Calibri" pitchFamily="34" charset="0"/>
                <a:ea typeface="Calibri" pitchFamily="34" charset="-122"/>
                <a:cs typeface="Calibri" pitchFamily="34" charset="-120"/>
              </a:rPr>
              <a:t>HyDE</a:t>
            </a:r>
            <a:endParaRPr lang="en-US" sz="1300" dirty="0"/>
          </a:p>
        </p:txBody>
      </p:sp>
      <p:sp>
        <p:nvSpPr>
          <p:cNvPr id="22" name="Text 18"/>
          <p:cNvSpPr txBox="1"/>
          <p:nvPr/>
        </p:nvSpPr>
        <p:spPr>
          <a:xfrm>
            <a:off x="594360" y="2194560"/>
            <a:ext cx="1691640" cy="56692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Le LLM rédige une réponse hypothétique dont l'embedding sert à chercher.</a:t>
            </a:r>
            <a:endParaRPr lang="en-US" sz="950" dirty="0"/>
          </a:p>
        </p:txBody>
      </p:sp>
      <p:sp>
        <p:nvSpPr>
          <p:cNvPr id="23" name="Shape 19"/>
          <p:cNvSpPr/>
          <p:nvPr/>
        </p:nvSpPr>
        <p:spPr>
          <a:xfrm>
            <a:off x="2560320" y="1325880"/>
            <a:ext cx="1938528" cy="1463040"/>
          </a:xfrm>
          <a:prstGeom prst="roundRect">
            <a:avLst>
              <a:gd name="adj" fmla="val 5000"/>
            </a:avLst>
          </a:prstGeom>
          <a:solidFill>
            <a:srgbClr val="F4F7F5"/>
          </a:solidFill>
          <a:ln w="9525">
            <a:solidFill>
              <a:srgbClr val="D5DED9"/>
            </a:solidFill>
            <a:prstDash val="solid"/>
          </a:ln>
        </p:spPr>
      </p:sp>
      <p:sp>
        <p:nvSpPr>
          <p:cNvPr id="24" name="Shape 20"/>
          <p:cNvSpPr/>
          <p:nvPr/>
        </p:nvSpPr>
        <p:spPr>
          <a:xfrm>
            <a:off x="2697480" y="1463040"/>
            <a:ext cx="411480" cy="411480"/>
          </a:xfrm>
          <a:prstGeom prst="ellipse">
            <a:avLst/>
          </a:prstGeom>
          <a:solidFill>
            <a:srgbClr val="00A86A">
              <a:alpha val="22000"/>
            </a:srgbClr>
          </a:solidFill>
          <a:ln w="12700">
            <a:solidFill>
              <a:srgbClr val="00A86A">
                <a:alpha val="0"/>
              </a:srgbClr>
            </a:solidFill>
            <a:prstDash val="solid"/>
          </a:ln>
        </p:spPr>
      </p:sp>
      <p:pic>
        <p:nvPicPr>
          <p:cNvPr id="25" name="Image 1" descr="preencoded.png"/>
          <p:cNvPicPr>
            <a:picLocks noChangeAspect="1"/>
          </p:cNvPicPr>
          <p:nvPr/>
        </p:nvPicPr>
        <p:blipFill>
          <a:blip r:embed="rId4"/>
          <a:stretch>
            <a:fillRect/>
          </a:stretch>
        </p:blipFill>
        <p:spPr>
          <a:xfrm>
            <a:off x="2796235" y="1561795"/>
            <a:ext cx="213970" cy="213970"/>
          </a:xfrm>
          <a:prstGeom prst="rect">
            <a:avLst/>
          </a:prstGeom>
        </p:spPr>
      </p:pic>
      <p:sp>
        <p:nvSpPr>
          <p:cNvPr id="26" name="Text 21"/>
          <p:cNvSpPr txBox="1"/>
          <p:nvPr/>
        </p:nvSpPr>
        <p:spPr>
          <a:xfrm>
            <a:off x="3200400" y="1563624"/>
            <a:ext cx="1234440" cy="228600"/>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Transformation de requête</a:t>
            </a:r>
            <a:endParaRPr lang="en-US" sz="900" dirty="0"/>
          </a:p>
        </p:txBody>
      </p:sp>
      <p:sp>
        <p:nvSpPr>
          <p:cNvPr id="27" name="Text 22"/>
          <p:cNvSpPr txBox="1"/>
          <p:nvPr/>
        </p:nvSpPr>
        <p:spPr>
          <a:xfrm>
            <a:off x="2697480" y="1947672"/>
            <a:ext cx="1737360" cy="237744"/>
          </a:xfrm>
          <a:prstGeom prst="rect">
            <a:avLst/>
          </a:prstGeom>
          <a:noFill/>
          <a:ln/>
        </p:spPr>
        <p:txBody>
          <a:bodyPr wrap="square" lIns="0" tIns="0" rIns="0" bIns="0" rtlCol="0" anchor="ctr">
            <a:normAutofit/>
          </a:bodyPr>
          <a:lstStyle/>
          <a:p>
            <a:pPr marL="0" indent="0">
              <a:buNone/>
            </a:pPr>
            <a:r>
              <a:rPr lang="en-US" sz="1300" b="1" dirty="0">
                <a:solidFill>
                  <a:srgbClr val="231F20"/>
                </a:solidFill>
                <a:latin typeface="Calibri" pitchFamily="34" charset="0"/>
                <a:ea typeface="Calibri" pitchFamily="34" charset="-122"/>
                <a:cs typeface="Calibri" pitchFamily="34" charset="-120"/>
              </a:rPr>
              <a:t>Reformulation multiple</a:t>
            </a:r>
            <a:endParaRPr lang="en-US" sz="1300" dirty="0"/>
          </a:p>
        </p:txBody>
      </p:sp>
      <p:sp>
        <p:nvSpPr>
          <p:cNvPr id="28" name="Text 23"/>
          <p:cNvSpPr txBox="1"/>
          <p:nvPr/>
        </p:nvSpPr>
        <p:spPr>
          <a:xfrm>
            <a:off x="2697480" y="2194560"/>
            <a:ext cx="1691640" cy="56692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Reformule ou scinde la question en sous-requêtes, puis fusionne.</a:t>
            </a:r>
            <a:endParaRPr lang="en-US" sz="950" dirty="0"/>
          </a:p>
        </p:txBody>
      </p:sp>
      <p:sp>
        <p:nvSpPr>
          <p:cNvPr id="29" name="Shape 24"/>
          <p:cNvSpPr/>
          <p:nvPr/>
        </p:nvSpPr>
        <p:spPr>
          <a:xfrm>
            <a:off x="4663440" y="1325880"/>
            <a:ext cx="1938528" cy="1463040"/>
          </a:xfrm>
          <a:prstGeom prst="roundRect">
            <a:avLst>
              <a:gd name="adj" fmla="val 5000"/>
            </a:avLst>
          </a:prstGeom>
          <a:solidFill>
            <a:srgbClr val="F4F7F5"/>
          </a:solidFill>
          <a:ln w="9525">
            <a:solidFill>
              <a:srgbClr val="D5DED9"/>
            </a:solidFill>
            <a:prstDash val="solid"/>
          </a:ln>
        </p:spPr>
      </p:sp>
      <p:sp>
        <p:nvSpPr>
          <p:cNvPr id="30" name="Shape 25"/>
          <p:cNvSpPr/>
          <p:nvPr/>
        </p:nvSpPr>
        <p:spPr>
          <a:xfrm>
            <a:off x="4800600" y="1463040"/>
            <a:ext cx="411480" cy="411480"/>
          </a:xfrm>
          <a:prstGeom prst="ellipse">
            <a:avLst/>
          </a:prstGeom>
          <a:solidFill>
            <a:srgbClr val="00A86A">
              <a:alpha val="22000"/>
            </a:srgbClr>
          </a:solidFill>
          <a:ln w="12700">
            <a:solidFill>
              <a:srgbClr val="00A86A">
                <a:alpha val="0"/>
              </a:srgbClr>
            </a:solidFill>
            <a:prstDash val="solid"/>
          </a:ln>
        </p:spPr>
      </p:sp>
      <p:pic>
        <p:nvPicPr>
          <p:cNvPr id="31" name="Image 2" descr="preencoded.png"/>
          <p:cNvPicPr>
            <a:picLocks noChangeAspect="1"/>
          </p:cNvPicPr>
          <p:nvPr/>
        </p:nvPicPr>
        <p:blipFill>
          <a:blip r:embed="rId5"/>
          <a:stretch>
            <a:fillRect/>
          </a:stretch>
        </p:blipFill>
        <p:spPr>
          <a:xfrm>
            <a:off x="4899355" y="1561795"/>
            <a:ext cx="213970" cy="213970"/>
          </a:xfrm>
          <a:prstGeom prst="rect">
            <a:avLst/>
          </a:prstGeom>
        </p:spPr>
      </p:pic>
      <p:sp>
        <p:nvSpPr>
          <p:cNvPr id="32" name="Text 26"/>
          <p:cNvSpPr txBox="1"/>
          <p:nvPr/>
        </p:nvSpPr>
        <p:spPr>
          <a:xfrm>
            <a:off x="5303520" y="1563624"/>
            <a:ext cx="1234440" cy="228600"/>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Document parent</a:t>
            </a:r>
            <a:endParaRPr lang="en-US" sz="900" dirty="0"/>
          </a:p>
        </p:txBody>
      </p:sp>
      <p:sp>
        <p:nvSpPr>
          <p:cNvPr id="33" name="Text 27"/>
          <p:cNvSpPr txBox="1"/>
          <p:nvPr/>
        </p:nvSpPr>
        <p:spPr>
          <a:xfrm>
            <a:off x="4800600" y="1947672"/>
            <a:ext cx="1737360" cy="237744"/>
          </a:xfrm>
          <a:prstGeom prst="rect">
            <a:avLst/>
          </a:prstGeom>
          <a:noFill/>
          <a:ln/>
        </p:spPr>
        <p:txBody>
          <a:bodyPr wrap="square" lIns="0" tIns="0" rIns="0" bIns="0" rtlCol="0" anchor="ctr">
            <a:normAutofit fontScale="92500"/>
          </a:bodyPr>
          <a:lstStyle/>
          <a:p>
            <a:pPr marL="0" indent="0">
              <a:buNone/>
            </a:pPr>
            <a:r>
              <a:rPr lang="en-US" sz="1300" b="1" dirty="0">
                <a:solidFill>
                  <a:srgbClr val="231F20"/>
                </a:solidFill>
                <a:latin typeface="Calibri" pitchFamily="34" charset="0"/>
                <a:ea typeface="Calibri" pitchFamily="34" charset="-122"/>
                <a:cs typeface="Calibri" pitchFamily="34" charset="-120"/>
              </a:rPr>
              <a:t>Récupération petit-à-grand</a:t>
            </a:r>
            <a:endParaRPr lang="en-US" sz="1300" dirty="0"/>
          </a:p>
        </p:txBody>
      </p:sp>
      <p:sp>
        <p:nvSpPr>
          <p:cNvPr id="34" name="Text 28"/>
          <p:cNvSpPr txBox="1"/>
          <p:nvPr/>
        </p:nvSpPr>
        <p:spPr>
          <a:xfrm>
            <a:off x="4800600" y="2194560"/>
            <a:ext cx="1691640" cy="56692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Cherche sur de petits fragments, renvoie la section parente.</a:t>
            </a:r>
            <a:endParaRPr lang="en-US" sz="950" dirty="0"/>
          </a:p>
        </p:txBody>
      </p:sp>
      <p:sp>
        <p:nvSpPr>
          <p:cNvPr id="35" name="Shape 29"/>
          <p:cNvSpPr/>
          <p:nvPr/>
        </p:nvSpPr>
        <p:spPr>
          <a:xfrm>
            <a:off x="6766560" y="1325880"/>
            <a:ext cx="1938528" cy="1463040"/>
          </a:xfrm>
          <a:prstGeom prst="roundRect">
            <a:avLst>
              <a:gd name="adj" fmla="val 5000"/>
            </a:avLst>
          </a:prstGeom>
          <a:solidFill>
            <a:srgbClr val="F4F7F5"/>
          </a:solidFill>
          <a:ln w="9525">
            <a:solidFill>
              <a:srgbClr val="D5DED9"/>
            </a:solidFill>
            <a:prstDash val="solid"/>
          </a:ln>
        </p:spPr>
      </p:sp>
      <p:sp>
        <p:nvSpPr>
          <p:cNvPr id="36" name="Shape 30"/>
          <p:cNvSpPr/>
          <p:nvPr/>
        </p:nvSpPr>
        <p:spPr>
          <a:xfrm>
            <a:off x="6903720" y="1463040"/>
            <a:ext cx="411480" cy="411480"/>
          </a:xfrm>
          <a:prstGeom prst="ellipse">
            <a:avLst/>
          </a:prstGeom>
          <a:solidFill>
            <a:srgbClr val="0E7C86">
              <a:alpha val="22000"/>
            </a:srgbClr>
          </a:solidFill>
          <a:ln w="12700">
            <a:solidFill>
              <a:srgbClr val="0E7C86">
                <a:alpha val="0"/>
              </a:srgbClr>
            </a:solidFill>
            <a:prstDash val="solid"/>
          </a:ln>
        </p:spPr>
      </p:sp>
      <p:pic>
        <p:nvPicPr>
          <p:cNvPr id="37" name="Image 3" descr="preencoded.png"/>
          <p:cNvPicPr>
            <a:picLocks noChangeAspect="1"/>
          </p:cNvPicPr>
          <p:nvPr/>
        </p:nvPicPr>
        <p:blipFill>
          <a:blip r:embed="rId6"/>
          <a:stretch>
            <a:fillRect/>
          </a:stretch>
        </p:blipFill>
        <p:spPr>
          <a:xfrm>
            <a:off x="7002475" y="1561795"/>
            <a:ext cx="213970" cy="213970"/>
          </a:xfrm>
          <a:prstGeom prst="rect">
            <a:avLst/>
          </a:prstGeom>
        </p:spPr>
      </p:pic>
      <p:sp>
        <p:nvSpPr>
          <p:cNvPr id="38" name="Text 31"/>
          <p:cNvSpPr txBox="1"/>
          <p:nvPr/>
        </p:nvSpPr>
        <p:spPr>
          <a:xfrm>
            <a:off x="7406640" y="1563624"/>
            <a:ext cx="1234440" cy="228600"/>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Asai et al., 2023</a:t>
            </a:r>
            <a:endParaRPr lang="en-US" sz="900" dirty="0"/>
          </a:p>
        </p:txBody>
      </p:sp>
      <p:sp>
        <p:nvSpPr>
          <p:cNvPr id="39" name="Text 32"/>
          <p:cNvSpPr txBox="1"/>
          <p:nvPr/>
        </p:nvSpPr>
        <p:spPr>
          <a:xfrm>
            <a:off x="6903720" y="1947672"/>
            <a:ext cx="1737360" cy="237744"/>
          </a:xfrm>
          <a:prstGeom prst="rect">
            <a:avLst/>
          </a:prstGeom>
          <a:noFill/>
          <a:ln/>
        </p:spPr>
        <p:txBody>
          <a:bodyPr wrap="square" lIns="0" tIns="0" rIns="0" bIns="0" rtlCol="0" anchor="ctr">
            <a:normAutofit/>
          </a:bodyPr>
          <a:lstStyle/>
          <a:p>
            <a:pPr marL="0" indent="0">
              <a:buNone/>
            </a:pPr>
            <a:r>
              <a:rPr lang="en-US" sz="1300" b="1" dirty="0">
                <a:solidFill>
                  <a:srgbClr val="231F20"/>
                </a:solidFill>
                <a:latin typeface="Calibri" pitchFamily="34" charset="0"/>
                <a:ea typeface="Calibri" pitchFamily="34" charset="-122"/>
                <a:cs typeface="Calibri" pitchFamily="34" charset="-120"/>
              </a:rPr>
              <a:t>Self-RAG</a:t>
            </a:r>
            <a:endParaRPr lang="en-US" sz="1300" dirty="0"/>
          </a:p>
        </p:txBody>
      </p:sp>
      <p:sp>
        <p:nvSpPr>
          <p:cNvPr id="40" name="Text 33"/>
          <p:cNvSpPr txBox="1"/>
          <p:nvPr/>
        </p:nvSpPr>
        <p:spPr>
          <a:xfrm>
            <a:off x="6903720" y="2194560"/>
            <a:ext cx="1691640" cy="56692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Le modèle décide quand chercher et critique ses sorties via des tokens de réflexion.</a:t>
            </a:r>
            <a:endParaRPr lang="en-US" sz="950" dirty="0"/>
          </a:p>
        </p:txBody>
      </p:sp>
      <p:sp>
        <p:nvSpPr>
          <p:cNvPr id="41" name="Shape 34"/>
          <p:cNvSpPr/>
          <p:nvPr/>
        </p:nvSpPr>
        <p:spPr>
          <a:xfrm>
            <a:off x="457200" y="2926080"/>
            <a:ext cx="1938528" cy="1463040"/>
          </a:xfrm>
          <a:prstGeom prst="roundRect">
            <a:avLst>
              <a:gd name="adj" fmla="val 5000"/>
            </a:avLst>
          </a:prstGeom>
          <a:solidFill>
            <a:srgbClr val="F4F7F5"/>
          </a:solidFill>
          <a:ln w="9525">
            <a:solidFill>
              <a:srgbClr val="D5DED9"/>
            </a:solidFill>
            <a:prstDash val="solid"/>
          </a:ln>
        </p:spPr>
      </p:sp>
      <p:sp>
        <p:nvSpPr>
          <p:cNvPr id="42" name="Shape 35"/>
          <p:cNvSpPr/>
          <p:nvPr/>
        </p:nvSpPr>
        <p:spPr>
          <a:xfrm>
            <a:off x="594360" y="3063240"/>
            <a:ext cx="411480" cy="411480"/>
          </a:xfrm>
          <a:prstGeom prst="ellipse">
            <a:avLst/>
          </a:prstGeom>
          <a:solidFill>
            <a:srgbClr val="0E7C86">
              <a:alpha val="22000"/>
            </a:srgbClr>
          </a:solidFill>
          <a:ln w="12700">
            <a:solidFill>
              <a:srgbClr val="0E7C86">
                <a:alpha val="0"/>
              </a:srgbClr>
            </a:solidFill>
            <a:prstDash val="solid"/>
          </a:ln>
        </p:spPr>
      </p:sp>
      <p:pic>
        <p:nvPicPr>
          <p:cNvPr id="43" name="Image 4" descr="preencoded.png"/>
          <p:cNvPicPr>
            <a:picLocks noChangeAspect="1"/>
          </p:cNvPicPr>
          <p:nvPr/>
        </p:nvPicPr>
        <p:blipFill>
          <a:blip r:embed="rId7"/>
          <a:stretch>
            <a:fillRect/>
          </a:stretch>
        </p:blipFill>
        <p:spPr>
          <a:xfrm>
            <a:off x="693115" y="3161995"/>
            <a:ext cx="213970" cy="213970"/>
          </a:xfrm>
          <a:prstGeom prst="rect">
            <a:avLst/>
          </a:prstGeom>
        </p:spPr>
      </p:pic>
      <p:sp>
        <p:nvSpPr>
          <p:cNvPr id="44" name="Text 36"/>
          <p:cNvSpPr txBox="1"/>
          <p:nvPr/>
        </p:nvSpPr>
        <p:spPr>
          <a:xfrm>
            <a:off x="1097280" y="3163824"/>
            <a:ext cx="1234440" cy="228600"/>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Yan et al., 2024</a:t>
            </a:r>
            <a:endParaRPr lang="en-US" sz="900" dirty="0"/>
          </a:p>
        </p:txBody>
      </p:sp>
      <p:sp>
        <p:nvSpPr>
          <p:cNvPr id="45" name="Text 37"/>
          <p:cNvSpPr txBox="1"/>
          <p:nvPr/>
        </p:nvSpPr>
        <p:spPr>
          <a:xfrm>
            <a:off x="594360" y="3547872"/>
            <a:ext cx="1737360" cy="237744"/>
          </a:xfrm>
          <a:prstGeom prst="rect">
            <a:avLst/>
          </a:prstGeom>
          <a:noFill/>
          <a:ln/>
        </p:spPr>
        <p:txBody>
          <a:bodyPr wrap="square" lIns="0" tIns="0" rIns="0" bIns="0" rtlCol="0" anchor="ctr">
            <a:normAutofit/>
          </a:bodyPr>
          <a:lstStyle/>
          <a:p>
            <a:pPr marL="0" indent="0">
              <a:buNone/>
            </a:pPr>
            <a:r>
              <a:rPr lang="en-US" sz="1300" b="1" dirty="0">
                <a:solidFill>
                  <a:srgbClr val="231F20"/>
                </a:solidFill>
                <a:latin typeface="Calibri" pitchFamily="34" charset="0"/>
                <a:ea typeface="Calibri" pitchFamily="34" charset="-122"/>
                <a:cs typeface="Calibri" pitchFamily="34" charset="-120"/>
              </a:rPr>
              <a:t>Corrective RAG (CRAG)</a:t>
            </a:r>
            <a:endParaRPr lang="en-US" sz="1300" dirty="0"/>
          </a:p>
        </p:txBody>
      </p:sp>
      <p:sp>
        <p:nvSpPr>
          <p:cNvPr id="46" name="Text 38"/>
          <p:cNvSpPr txBox="1"/>
          <p:nvPr/>
        </p:nvSpPr>
        <p:spPr>
          <a:xfrm>
            <a:off x="594360" y="3794760"/>
            <a:ext cx="1691640" cy="56692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Un évaluateur note les documents et déclenche des corrections (p. ex. recherche web).</a:t>
            </a:r>
            <a:endParaRPr lang="en-US" sz="950" dirty="0"/>
          </a:p>
        </p:txBody>
      </p:sp>
      <p:sp>
        <p:nvSpPr>
          <p:cNvPr id="47" name="Shape 39"/>
          <p:cNvSpPr/>
          <p:nvPr/>
        </p:nvSpPr>
        <p:spPr>
          <a:xfrm>
            <a:off x="2560320" y="2926080"/>
            <a:ext cx="1938528" cy="1463040"/>
          </a:xfrm>
          <a:prstGeom prst="roundRect">
            <a:avLst>
              <a:gd name="adj" fmla="val 5000"/>
            </a:avLst>
          </a:prstGeom>
          <a:solidFill>
            <a:srgbClr val="F4F7F5"/>
          </a:solidFill>
          <a:ln w="9525">
            <a:solidFill>
              <a:srgbClr val="D5DED9"/>
            </a:solidFill>
            <a:prstDash val="solid"/>
          </a:ln>
        </p:spPr>
      </p:sp>
      <p:sp>
        <p:nvSpPr>
          <p:cNvPr id="48" name="Shape 40"/>
          <p:cNvSpPr/>
          <p:nvPr/>
        </p:nvSpPr>
        <p:spPr>
          <a:xfrm>
            <a:off x="2697480" y="3063240"/>
            <a:ext cx="411480" cy="411480"/>
          </a:xfrm>
          <a:prstGeom prst="ellipse">
            <a:avLst/>
          </a:prstGeom>
          <a:solidFill>
            <a:srgbClr val="0E7C86">
              <a:alpha val="22000"/>
            </a:srgbClr>
          </a:solidFill>
          <a:ln w="12700">
            <a:solidFill>
              <a:srgbClr val="0E7C86">
                <a:alpha val="0"/>
              </a:srgbClr>
            </a:solidFill>
            <a:prstDash val="solid"/>
          </a:ln>
        </p:spPr>
      </p:sp>
      <p:pic>
        <p:nvPicPr>
          <p:cNvPr id="49" name="Image 5" descr="preencoded.png"/>
          <p:cNvPicPr>
            <a:picLocks noChangeAspect="1"/>
          </p:cNvPicPr>
          <p:nvPr/>
        </p:nvPicPr>
        <p:blipFill>
          <a:blip r:embed="rId8"/>
          <a:stretch>
            <a:fillRect/>
          </a:stretch>
        </p:blipFill>
        <p:spPr>
          <a:xfrm>
            <a:off x="2796235" y="3161995"/>
            <a:ext cx="213970" cy="213970"/>
          </a:xfrm>
          <a:prstGeom prst="rect">
            <a:avLst/>
          </a:prstGeom>
        </p:spPr>
      </p:pic>
      <p:sp>
        <p:nvSpPr>
          <p:cNvPr id="50" name="Text 41"/>
          <p:cNvSpPr txBox="1"/>
          <p:nvPr/>
        </p:nvSpPr>
        <p:spPr>
          <a:xfrm>
            <a:off x="3200400" y="3163824"/>
            <a:ext cx="1234440" cy="228600"/>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Microsoft, 2024</a:t>
            </a:r>
            <a:endParaRPr lang="en-US" sz="900" dirty="0"/>
          </a:p>
        </p:txBody>
      </p:sp>
      <p:sp>
        <p:nvSpPr>
          <p:cNvPr id="51" name="Text 42"/>
          <p:cNvSpPr txBox="1"/>
          <p:nvPr/>
        </p:nvSpPr>
        <p:spPr>
          <a:xfrm>
            <a:off x="2697480" y="3547872"/>
            <a:ext cx="1737360" cy="237744"/>
          </a:xfrm>
          <a:prstGeom prst="rect">
            <a:avLst/>
          </a:prstGeom>
          <a:noFill/>
          <a:ln/>
        </p:spPr>
        <p:txBody>
          <a:bodyPr wrap="square" lIns="0" tIns="0" rIns="0" bIns="0" rtlCol="0" anchor="ctr">
            <a:normAutofit/>
          </a:bodyPr>
          <a:lstStyle/>
          <a:p>
            <a:pPr marL="0" indent="0">
              <a:buNone/>
            </a:pPr>
            <a:r>
              <a:rPr lang="en-US" sz="1300" b="1" dirty="0">
                <a:solidFill>
                  <a:srgbClr val="231F20"/>
                </a:solidFill>
                <a:latin typeface="Calibri" pitchFamily="34" charset="0"/>
                <a:ea typeface="Calibri" pitchFamily="34" charset="-122"/>
                <a:cs typeface="Calibri" pitchFamily="34" charset="-120"/>
              </a:rPr>
              <a:t>GraphRAG</a:t>
            </a:r>
            <a:endParaRPr lang="en-US" sz="1300" dirty="0"/>
          </a:p>
        </p:txBody>
      </p:sp>
      <p:sp>
        <p:nvSpPr>
          <p:cNvPr id="52" name="Text 43"/>
          <p:cNvSpPr txBox="1"/>
          <p:nvPr/>
        </p:nvSpPr>
        <p:spPr>
          <a:xfrm>
            <a:off x="2697480" y="3794760"/>
            <a:ext cx="1691640" cy="56692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Construit un graphe de connaissances + résumés pour les questions globales.</a:t>
            </a:r>
            <a:endParaRPr lang="en-US" sz="950" dirty="0"/>
          </a:p>
        </p:txBody>
      </p:sp>
      <p:sp>
        <p:nvSpPr>
          <p:cNvPr id="53" name="Shape 44"/>
          <p:cNvSpPr/>
          <p:nvPr/>
        </p:nvSpPr>
        <p:spPr>
          <a:xfrm>
            <a:off x="4663440" y="2926080"/>
            <a:ext cx="1938528" cy="1463040"/>
          </a:xfrm>
          <a:prstGeom prst="roundRect">
            <a:avLst>
              <a:gd name="adj" fmla="val 5000"/>
            </a:avLst>
          </a:prstGeom>
          <a:solidFill>
            <a:srgbClr val="F4F7F5"/>
          </a:solidFill>
          <a:ln w="9525">
            <a:solidFill>
              <a:srgbClr val="D5DED9"/>
            </a:solidFill>
            <a:prstDash val="solid"/>
          </a:ln>
        </p:spPr>
      </p:sp>
      <p:sp>
        <p:nvSpPr>
          <p:cNvPr id="54" name="Shape 45"/>
          <p:cNvSpPr/>
          <p:nvPr/>
        </p:nvSpPr>
        <p:spPr>
          <a:xfrm>
            <a:off x="4800600" y="3063240"/>
            <a:ext cx="411480" cy="411480"/>
          </a:xfrm>
          <a:prstGeom prst="ellipse">
            <a:avLst/>
          </a:prstGeom>
          <a:solidFill>
            <a:srgbClr val="0E7C86">
              <a:alpha val="22000"/>
            </a:srgbClr>
          </a:solidFill>
          <a:ln w="12700">
            <a:solidFill>
              <a:srgbClr val="0E7C86">
                <a:alpha val="0"/>
              </a:srgbClr>
            </a:solidFill>
            <a:prstDash val="solid"/>
          </a:ln>
        </p:spPr>
      </p:sp>
      <p:pic>
        <p:nvPicPr>
          <p:cNvPr id="55" name="Image 6" descr="preencoded.png"/>
          <p:cNvPicPr>
            <a:picLocks noChangeAspect="1"/>
          </p:cNvPicPr>
          <p:nvPr/>
        </p:nvPicPr>
        <p:blipFill>
          <a:blip r:embed="rId9"/>
          <a:stretch>
            <a:fillRect/>
          </a:stretch>
        </p:blipFill>
        <p:spPr>
          <a:xfrm>
            <a:off x="4899355" y="3161995"/>
            <a:ext cx="213970" cy="213970"/>
          </a:xfrm>
          <a:prstGeom prst="rect">
            <a:avLst/>
          </a:prstGeom>
        </p:spPr>
      </p:pic>
      <p:sp>
        <p:nvSpPr>
          <p:cNvPr id="56" name="Text 46"/>
          <p:cNvSpPr txBox="1"/>
          <p:nvPr/>
        </p:nvSpPr>
        <p:spPr>
          <a:xfrm>
            <a:off x="5303520" y="3163824"/>
            <a:ext cx="1234440" cy="228600"/>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Sarthi et al., 2024</a:t>
            </a:r>
            <a:endParaRPr lang="en-US" sz="900" dirty="0"/>
          </a:p>
        </p:txBody>
      </p:sp>
      <p:sp>
        <p:nvSpPr>
          <p:cNvPr id="57" name="Text 47"/>
          <p:cNvSpPr txBox="1"/>
          <p:nvPr/>
        </p:nvSpPr>
        <p:spPr>
          <a:xfrm>
            <a:off x="4800600" y="3547872"/>
            <a:ext cx="1737360" cy="237744"/>
          </a:xfrm>
          <a:prstGeom prst="rect">
            <a:avLst/>
          </a:prstGeom>
          <a:noFill/>
          <a:ln/>
        </p:spPr>
        <p:txBody>
          <a:bodyPr wrap="square" lIns="0" tIns="0" rIns="0" bIns="0" rtlCol="0" anchor="ctr">
            <a:normAutofit/>
          </a:bodyPr>
          <a:lstStyle/>
          <a:p>
            <a:pPr marL="0" indent="0">
              <a:buNone/>
            </a:pPr>
            <a:r>
              <a:rPr lang="en-US" sz="1300" b="1" dirty="0">
                <a:solidFill>
                  <a:srgbClr val="231F20"/>
                </a:solidFill>
                <a:latin typeface="Calibri" pitchFamily="34" charset="0"/>
                <a:ea typeface="Calibri" pitchFamily="34" charset="-122"/>
                <a:cs typeface="Calibri" pitchFamily="34" charset="-120"/>
              </a:rPr>
              <a:t>RAPTOR</a:t>
            </a:r>
            <a:endParaRPr lang="en-US" sz="1300" dirty="0"/>
          </a:p>
        </p:txBody>
      </p:sp>
      <p:sp>
        <p:nvSpPr>
          <p:cNvPr id="58" name="Text 48"/>
          <p:cNvSpPr txBox="1"/>
          <p:nvPr/>
        </p:nvSpPr>
        <p:spPr>
          <a:xfrm>
            <a:off x="4800600" y="3794760"/>
            <a:ext cx="1691640" cy="56692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Arbre récursif de résumés groupés pour une recherche multi-niveaux.</a:t>
            </a:r>
            <a:endParaRPr lang="en-US" sz="950" dirty="0"/>
          </a:p>
        </p:txBody>
      </p:sp>
      <p:sp>
        <p:nvSpPr>
          <p:cNvPr id="59" name="Shape 49"/>
          <p:cNvSpPr/>
          <p:nvPr/>
        </p:nvSpPr>
        <p:spPr>
          <a:xfrm>
            <a:off x="6766560" y="2926080"/>
            <a:ext cx="1938528" cy="1463040"/>
          </a:xfrm>
          <a:prstGeom prst="roundRect">
            <a:avLst>
              <a:gd name="adj" fmla="val 5000"/>
            </a:avLst>
          </a:prstGeom>
          <a:solidFill>
            <a:srgbClr val="F4F7F5"/>
          </a:solidFill>
          <a:ln w="9525">
            <a:solidFill>
              <a:srgbClr val="D5DED9"/>
            </a:solidFill>
            <a:prstDash val="solid"/>
          </a:ln>
        </p:spPr>
      </p:sp>
      <p:sp>
        <p:nvSpPr>
          <p:cNvPr id="60" name="Shape 50"/>
          <p:cNvSpPr/>
          <p:nvPr/>
        </p:nvSpPr>
        <p:spPr>
          <a:xfrm>
            <a:off x="6903720" y="3063240"/>
            <a:ext cx="411480" cy="411480"/>
          </a:xfrm>
          <a:prstGeom prst="ellipse">
            <a:avLst/>
          </a:prstGeom>
          <a:solidFill>
            <a:srgbClr val="D49A00">
              <a:alpha val="22000"/>
            </a:srgbClr>
          </a:solidFill>
          <a:ln w="12700">
            <a:solidFill>
              <a:srgbClr val="D49A00">
                <a:alpha val="0"/>
              </a:srgbClr>
            </a:solidFill>
            <a:prstDash val="solid"/>
          </a:ln>
        </p:spPr>
      </p:sp>
      <p:pic>
        <p:nvPicPr>
          <p:cNvPr id="61" name="Image 7" descr="preencoded.png"/>
          <p:cNvPicPr>
            <a:picLocks noChangeAspect="1"/>
          </p:cNvPicPr>
          <p:nvPr/>
        </p:nvPicPr>
        <p:blipFill>
          <a:blip r:embed="rId10"/>
          <a:stretch>
            <a:fillRect/>
          </a:stretch>
        </p:blipFill>
        <p:spPr>
          <a:xfrm>
            <a:off x="7002475" y="3161995"/>
            <a:ext cx="213970" cy="213970"/>
          </a:xfrm>
          <a:prstGeom prst="rect">
            <a:avLst/>
          </a:prstGeom>
        </p:spPr>
      </p:pic>
      <p:sp>
        <p:nvSpPr>
          <p:cNvPr id="62" name="Text 51"/>
          <p:cNvSpPr txBox="1"/>
          <p:nvPr/>
        </p:nvSpPr>
        <p:spPr>
          <a:xfrm>
            <a:off x="7406640" y="3163824"/>
            <a:ext cx="1234440" cy="228600"/>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Agents + outils</a:t>
            </a:r>
            <a:endParaRPr lang="en-US" sz="900" dirty="0"/>
          </a:p>
        </p:txBody>
      </p:sp>
      <p:sp>
        <p:nvSpPr>
          <p:cNvPr id="63" name="Text 52"/>
          <p:cNvSpPr txBox="1"/>
          <p:nvPr/>
        </p:nvSpPr>
        <p:spPr>
          <a:xfrm>
            <a:off x="6903720" y="3547872"/>
            <a:ext cx="1737360" cy="237744"/>
          </a:xfrm>
          <a:prstGeom prst="rect">
            <a:avLst/>
          </a:prstGeom>
          <a:noFill/>
          <a:ln/>
        </p:spPr>
        <p:txBody>
          <a:bodyPr wrap="square" lIns="0" tIns="0" rIns="0" bIns="0" rtlCol="0" anchor="ctr">
            <a:normAutofit/>
          </a:bodyPr>
          <a:lstStyle/>
          <a:p>
            <a:pPr marL="0" indent="0">
              <a:buNone/>
            </a:pPr>
            <a:r>
              <a:rPr lang="en-US" sz="1300" b="1" dirty="0">
                <a:solidFill>
                  <a:srgbClr val="231F20"/>
                </a:solidFill>
                <a:latin typeface="Calibri" pitchFamily="34" charset="0"/>
                <a:ea typeface="Calibri" pitchFamily="34" charset="-122"/>
                <a:cs typeface="Calibri" pitchFamily="34" charset="-120"/>
              </a:rPr>
              <a:t>RAG agentique</a:t>
            </a:r>
            <a:endParaRPr lang="en-US" sz="1300" dirty="0"/>
          </a:p>
        </p:txBody>
      </p:sp>
      <p:sp>
        <p:nvSpPr>
          <p:cNvPr id="64" name="Text 53"/>
          <p:cNvSpPr txBox="1"/>
          <p:nvPr/>
        </p:nvSpPr>
        <p:spPr>
          <a:xfrm>
            <a:off x="6903720" y="3794760"/>
            <a:ext cx="1691640" cy="56692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Un agent planifie, appelle les outils de recherche en boucle et vérifie avant de répondre.</a:t>
            </a:r>
            <a:endParaRPr lang="en-US" sz="950" dirty="0"/>
          </a:p>
        </p:txBody>
      </p:sp>
      <p:sp>
        <p:nvSpPr>
          <p:cNvPr id="65" name="Shape 54"/>
          <p:cNvSpPr/>
          <p:nvPr/>
        </p:nvSpPr>
        <p:spPr>
          <a:xfrm>
            <a:off x="457200" y="4599432"/>
            <a:ext cx="128016" cy="128016"/>
          </a:xfrm>
          <a:prstGeom prst="ellipse">
            <a:avLst/>
          </a:prstGeom>
          <a:solidFill>
            <a:srgbClr val="00A86A"/>
          </a:solidFill>
          <a:ln w="12700">
            <a:solidFill>
              <a:srgbClr val="00A86A"/>
            </a:solidFill>
            <a:prstDash val="solid"/>
          </a:ln>
        </p:spPr>
      </p:sp>
      <p:sp>
        <p:nvSpPr>
          <p:cNvPr id="66" name="Text 55"/>
          <p:cNvSpPr txBox="1"/>
          <p:nvPr/>
        </p:nvSpPr>
        <p:spPr>
          <a:xfrm>
            <a:off x="658368" y="4553712"/>
            <a:ext cx="1463040" cy="219456"/>
          </a:xfrm>
          <a:prstGeom prst="rect">
            <a:avLst/>
          </a:prstGeom>
          <a:noFill/>
          <a:ln/>
        </p:spPr>
        <p:txBody>
          <a:bodyPr wrap="square" lIns="0" tIns="0" rIns="0" bIns="0" rtlCol="0" anchor="ctr"/>
          <a:lstStyle/>
          <a:p>
            <a:pPr marL="0" indent="0">
              <a:buNone/>
            </a:pPr>
            <a:r>
              <a:rPr lang="en-US" sz="1050" dirty="0">
                <a:solidFill>
                  <a:srgbClr val="5E6964"/>
                </a:solidFill>
                <a:latin typeface="Calibri" pitchFamily="34" charset="0"/>
                <a:ea typeface="Calibri" pitchFamily="34" charset="-122"/>
                <a:cs typeface="Calibri" pitchFamily="34" charset="-120"/>
              </a:rPr>
              <a:t>Requête &amp; indexation</a:t>
            </a:r>
            <a:endParaRPr lang="en-US" sz="1050" dirty="0"/>
          </a:p>
        </p:txBody>
      </p:sp>
      <p:sp>
        <p:nvSpPr>
          <p:cNvPr id="67" name="Shape 56"/>
          <p:cNvSpPr/>
          <p:nvPr/>
        </p:nvSpPr>
        <p:spPr>
          <a:xfrm>
            <a:off x="2194560" y="4599432"/>
            <a:ext cx="128016" cy="128016"/>
          </a:xfrm>
          <a:prstGeom prst="ellipse">
            <a:avLst/>
          </a:prstGeom>
          <a:solidFill>
            <a:srgbClr val="0E7C86"/>
          </a:solidFill>
          <a:ln w="12700">
            <a:solidFill>
              <a:srgbClr val="0E7C86"/>
            </a:solidFill>
            <a:prstDash val="solid"/>
          </a:ln>
        </p:spPr>
      </p:sp>
      <p:sp>
        <p:nvSpPr>
          <p:cNvPr id="68" name="Text 57"/>
          <p:cNvSpPr txBox="1"/>
          <p:nvPr/>
        </p:nvSpPr>
        <p:spPr>
          <a:xfrm>
            <a:off x="2395728" y="4553712"/>
            <a:ext cx="1463040" cy="219456"/>
          </a:xfrm>
          <a:prstGeom prst="rect">
            <a:avLst/>
          </a:prstGeom>
          <a:noFill/>
          <a:ln/>
        </p:spPr>
        <p:txBody>
          <a:bodyPr wrap="square" lIns="0" tIns="0" rIns="0" bIns="0" rtlCol="0" anchor="ctr"/>
          <a:lstStyle/>
          <a:p>
            <a:pPr marL="0" indent="0">
              <a:buNone/>
            </a:pPr>
            <a:r>
              <a:rPr lang="en-US" sz="1050" dirty="0">
                <a:solidFill>
                  <a:srgbClr val="5E6964"/>
                </a:solidFill>
                <a:latin typeface="Calibri" pitchFamily="34" charset="0"/>
                <a:ea typeface="Calibri" pitchFamily="34" charset="-122"/>
                <a:cs typeface="Calibri" pitchFamily="34" charset="-120"/>
              </a:rPr>
              <a:t>Méthodes de recherche</a:t>
            </a:r>
            <a:endParaRPr lang="en-US" sz="1050" dirty="0"/>
          </a:p>
        </p:txBody>
      </p:sp>
      <p:sp>
        <p:nvSpPr>
          <p:cNvPr id="69" name="Shape 58"/>
          <p:cNvSpPr/>
          <p:nvPr/>
        </p:nvSpPr>
        <p:spPr>
          <a:xfrm>
            <a:off x="3931920" y="4599432"/>
            <a:ext cx="128016" cy="128016"/>
          </a:xfrm>
          <a:prstGeom prst="ellipse">
            <a:avLst/>
          </a:prstGeom>
          <a:solidFill>
            <a:srgbClr val="D49A00"/>
          </a:solidFill>
          <a:ln w="12700">
            <a:solidFill>
              <a:srgbClr val="D49A00"/>
            </a:solidFill>
            <a:prstDash val="solid"/>
          </a:ln>
        </p:spPr>
      </p:sp>
      <p:sp>
        <p:nvSpPr>
          <p:cNvPr id="70" name="Text 59"/>
          <p:cNvSpPr txBox="1"/>
          <p:nvPr/>
        </p:nvSpPr>
        <p:spPr>
          <a:xfrm>
            <a:off x="4133088" y="4553712"/>
            <a:ext cx="1463040" cy="219456"/>
          </a:xfrm>
          <a:prstGeom prst="rect">
            <a:avLst/>
          </a:prstGeom>
          <a:noFill/>
          <a:ln/>
        </p:spPr>
        <p:txBody>
          <a:bodyPr wrap="square" lIns="0" tIns="0" rIns="0" bIns="0" rtlCol="0" anchor="ctr"/>
          <a:lstStyle/>
          <a:p>
            <a:pPr marL="0" indent="0">
              <a:buNone/>
            </a:pPr>
            <a:r>
              <a:rPr lang="en-US" sz="1050" dirty="0">
                <a:solidFill>
                  <a:srgbClr val="5E6964"/>
                </a:solidFill>
                <a:latin typeface="Calibri" pitchFamily="34" charset="0"/>
                <a:ea typeface="Calibri" pitchFamily="34" charset="-122"/>
                <a:cs typeface="Calibri" pitchFamily="34" charset="-120"/>
              </a:rPr>
              <a:t>Agentique</a:t>
            </a:r>
            <a:endParaRPr lang="en-US" sz="1050" dirty="0"/>
          </a:p>
        </p:txBody>
      </p:sp>
    </p:spTree>
  </p:cSld>
  <p:clrMapOvr>
    <a:masterClrMapping/>
  </p:clrMapOvr>
  <p:transition spd="med">
    <p:fade/>
  </p:transition>
</p:sld>
</file>

<file path=ppt/slides/slide35.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TECHNIQUES AVANCÉES</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RAG, fine-tuning ou contexte long</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C4621D"/>
          </a:solidFill>
          <a:ln w="12700">
            <a:solidFill>
              <a:srgbClr val="C4621D"/>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694944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ATI · Big Data pour les statistiques macroéconomiques · Maurice, 26–30 oct. 2026   |   BAD · Data Innovation for Africa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35</a:t>
            </a:r>
            <a:endParaRPr lang="en-US" sz="85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57200" y="1298448"/>
          <a:ext cx="8229600" cy="914400"/>
        </p:xfrm>
        <a:graphic>
          <a:graphicData uri="http://schemas.openxmlformats.org/drawingml/2006/table">
            <a:tbl>
              <a:tblPr/>
              <a:tblGrid>
                <a:gridCol w="178308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148840">
                  <a:extLst>
                    <a:ext uri="{9D8B030D-6E8A-4147-A177-3AD203B41FA5}">
                      <a16:colId xmlns:a16="http://schemas.microsoft.com/office/drawing/2014/main" val="20002"/>
                    </a:ext>
                  </a:extLst>
                </a:gridCol>
                <a:gridCol w="2148840">
                  <a:extLst>
                    <a:ext uri="{9D8B030D-6E8A-4147-A177-3AD203B41FA5}">
                      <a16:colId xmlns:a16="http://schemas.microsoft.com/office/drawing/2014/main" val="20003"/>
                    </a:ext>
                  </a:extLst>
                </a:gridCol>
              </a:tblGrid>
              <a:tr h="384048">
                <a:tc>
                  <a:txBody>
                    <a:bodyPr/>
                    <a:lstStyle/>
                    <a:p>
                      <a:pPr marL="0" indent="0" algn="ctr">
                        <a:buNone/>
                      </a:pPr>
                      <a:endParaRPr lang="en-US" sz="13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00553A"/>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RAG</a:t>
                      </a:r>
                      <a:endParaRPr lang="en-US" sz="13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00A86A"/>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Fine-tuning</a:t>
                      </a:r>
                      <a:endParaRPr lang="en-US" sz="13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5E6964"/>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Contexte long</a:t>
                      </a:r>
                      <a:endParaRPr lang="en-US" sz="13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5E6964"/>
                    </a:solidFill>
                  </a:tcPr>
                </a:tc>
                <a:extLst>
                  <a:ext uri="{0D108BD9-81ED-4DB2-BD59-A6C34878D82A}">
                    <a16:rowId xmlns:a16="http://schemas.microsoft.com/office/drawing/2014/main" val="10000"/>
                  </a:ext>
                </a:extLst>
              </a:tr>
              <a:tr h="384048">
                <a:tc>
                  <a:txBody>
                    <a:bodyPr/>
                    <a:lstStyle/>
                    <a:p>
                      <a:pPr marL="0" indent="0">
                        <a:buNone/>
                      </a:pPr>
                      <a:r>
                        <a:rPr lang="en-US" sz="1150" b="1" dirty="0">
                          <a:solidFill>
                            <a:srgbClr val="231F20"/>
                          </a:solidFill>
                          <a:latin typeface="Calibri" pitchFamily="34" charset="0"/>
                          <a:ea typeface="Calibri" pitchFamily="34" charset="-122"/>
                          <a:cs typeface="Calibri" pitchFamily="34" charset="-120"/>
                        </a:rPr>
                        <a:t>Mise à jour du savoir</a:t>
                      </a:r>
                      <a:endParaRPr lang="en-US" sz="11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marL="0" indent="0">
                        <a:buNone/>
                      </a:pPr>
                      <a:r>
                        <a:rPr lang="en-US" sz="1100" b="1" dirty="0">
                          <a:solidFill>
                            <a:srgbClr val="00704A"/>
                          </a:solidFill>
                          <a:latin typeface="Calibri" pitchFamily="34" charset="0"/>
                          <a:ea typeface="Calibri" pitchFamily="34" charset="-122"/>
                          <a:cs typeface="Calibri" pitchFamily="34" charset="-120"/>
                        </a:rPr>
                        <a:t>Réindexer les documents</a:t>
                      </a:r>
                      <a:endParaRPr lang="en-US" sz="11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tc>
                  <a:txBody>
                    <a:bodyPr/>
                    <a:lstStyle/>
                    <a:p>
                      <a:pPr marL="0" indent="0">
                        <a:buNone/>
                      </a:pPr>
                      <a:r>
                        <a:rPr lang="en-US" sz="1100" dirty="0">
                          <a:solidFill>
                            <a:srgbClr val="231F20"/>
                          </a:solidFill>
                          <a:latin typeface="Calibri" pitchFamily="34" charset="0"/>
                          <a:ea typeface="Calibri" pitchFamily="34" charset="-122"/>
                          <a:cs typeface="Calibri" pitchFamily="34" charset="-120"/>
                        </a:rPr>
                        <a:t>Réentraîner le modèle</a:t>
                      </a:r>
                      <a:endParaRPr lang="en-US" sz="11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c>
                  <a:txBody>
                    <a:bodyPr/>
                    <a:lstStyle/>
                    <a:p>
                      <a:pPr marL="0" indent="0">
                        <a:buNone/>
                      </a:pPr>
                      <a:r>
                        <a:rPr lang="en-US" sz="1100" b="1" dirty="0">
                          <a:solidFill>
                            <a:srgbClr val="00704A"/>
                          </a:solidFill>
                          <a:latin typeface="Calibri" pitchFamily="34" charset="0"/>
                          <a:ea typeface="Calibri" pitchFamily="34" charset="-122"/>
                          <a:cs typeface="Calibri" pitchFamily="34" charset="-120"/>
                        </a:rPr>
                        <a:t>Modifier le prompt</a:t>
                      </a:r>
                      <a:endParaRPr lang="en-US" sz="11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extLst>
                  <a:ext uri="{0D108BD9-81ED-4DB2-BD59-A6C34878D82A}">
                    <a16:rowId xmlns:a16="http://schemas.microsoft.com/office/drawing/2014/main" val="10001"/>
                  </a:ext>
                </a:extLst>
              </a:tr>
              <a:tr h="384048">
                <a:tc>
                  <a:txBody>
                    <a:bodyPr/>
                    <a:lstStyle/>
                    <a:p>
                      <a:pPr marL="0" indent="0">
                        <a:buNone/>
                      </a:pPr>
                      <a:r>
                        <a:rPr lang="en-US" sz="1150" b="1" dirty="0">
                          <a:solidFill>
                            <a:srgbClr val="231F20"/>
                          </a:solidFill>
                          <a:latin typeface="Calibri" pitchFamily="34" charset="0"/>
                          <a:ea typeface="Calibri" pitchFamily="34" charset="-122"/>
                          <a:cs typeface="Calibri" pitchFamily="34" charset="-120"/>
                        </a:rPr>
                        <a:t>Citation des sources</a:t>
                      </a:r>
                      <a:endParaRPr lang="en-US" sz="11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marL="0" indent="0">
                        <a:buNone/>
                      </a:pPr>
                      <a:r>
                        <a:rPr lang="en-US" sz="1100" b="1" dirty="0">
                          <a:solidFill>
                            <a:srgbClr val="00704A"/>
                          </a:solidFill>
                          <a:latin typeface="Calibri" pitchFamily="34" charset="0"/>
                          <a:ea typeface="Calibri" pitchFamily="34" charset="-122"/>
                          <a:cs typeface="Calibri" pitchFamily="34" charset="-120"/>
                        </a:rPr>
                        <a:t>Native (fragments récupérés)</a:t>
                      </a:r>
                      <a:endParaRPr lang="en-US" sz="11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tc>
                  <a:txBody>
                    <a:bodyPr/>
                    <a:lstStyle/>
                    <a:p>
                      <a:pPr marL="0" indent="0">
                        <a:buNone/>
                      </a:pPr>
                      <a:r>
                        <a:rPr lang="en-US" sz="1100" dirty="0">
                          <a:solidFill>
                            <a:srgbClr val="231F20"/>
                          </a:solidFill>
                          <a:latin typeface="Calibri" pitchFamily="34" charset="0"/>
                          <a:ea typeface="Calibri" pitchFamily="34" charset="-122"/>
                          <a:cs typeface="Calibri" pitchFamily="34" charset="-120"/>
                        </a:rPr>
                        <a:t>Non disponible</a:t>
                      </a:r>
                      <a:endParaRPr lang="en-US" sz="11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c>
                  <a:txBody>
                    <a:bodyPr/>
                    <a:lstStyle/>
                    <a:p>
                      <a:pPr marL="0" indent="0">
                        <a:buNone/>
                      </a:pPr>
                      <a:r>
                        <a:rPr lang="en-US" sz="1100" dirty="0">
                          <a:solidFill>
                            <a:srgbClr val="231F20"/>
                          </a:solidFill>
                          <a:latin typeface="Calibri" pitchFamily="34" charset="0"/>
                          <a:ea typeface="Calibri" pitchFamily="34" charset="-122"/>
                          <a:cs typeface="Calibri" pitchFamily="34" charset="-120"/>
                        </a:rPr>
                        <a:t>Possible</a:t>
                      </a:r>
                      <a:endParaRPr lang="en-US" sz="11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buNone/>
                      </a:pPr>
                      <a:r>
                        <a:rPr lang="en-US" sz="1150" b="1" dirty="0">
                          <a:solidFill>
                            <a:srgbClr val="231F20"/>
                          </a:solidFill>
                          <a:latin typeface="Calibri" pitchFamily="34" charset="0"/>
                          <a:ea typeface="Calibri" pitchFamily="34" charset="-122"/>
                          <a:cs typeface="Calibri" pitchFamily="34" charset="-120"/>
                        </a:rPr>
                        <a:t>Volume de savoir</a:t>
                      </a:r>
                      <a:endParaRPr lang="en-US" sz="11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marL="0" indent="0">
                        <a:buNone/>
                      </a:pPr>
                      <a:r>
                        <a:rPr lang="en-US" sz="1100" b="1" dirty="0">
                          <a:solidFill>
                            <a:srgbClr val="00704A"/>
                          </a:solidFill>
                          <a:latin typeface="Calibri" pitchFamily="34" charset="0"/>
                          <a:ea typeface="Calibri" pitchFamily="34" charset="-122"/>
                          <a:cs typeface="Calibri" pitchFamily="34" charset="-120"/>
                        </a:rPr>
                        <a:t>Des millions de documents</a:t>
                      </a:r>
                      <a:endParaRPr lang="en-US" sz="11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tc>
                  <a:txBody>
                    <a:bodyPr/>
                    <a:lstStyle/>
                    <a:p>
                      <a:pPr marL="0" indent="0">
                        <a:buNone/>
                      </a:pPr>
                      <a:r>
                        <a:rPr lang="en-US" sz="1100" dirty="0">
                          <a:solidFill>
                            <a:srgbClr val="231F20"/>
                          </a:solidFill>
                          <a:latin typeface="Calibri" pitchFamily="34" charset="0"/>
                          <a:ea typeface="Calibri" pitchFamily="34" charset="-122"/>
                          <a:cs typeface="Calibri" pitchFamily="34" charset="-120"/>
                        </a:rPr>
                        <a:t>Absorbé dans les poids, imprécis</a:t>
                      </a:r>
                      <a:endParaRPr lang="en-US" sz="11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c>
                  <a:txBody>
                    <a:bodyPr/>
                    <a:lstStyle/>
                    <a:p>
                      <a:pPr marL="0" indent="0">
                        <a:buNone/>
                      </a:pPr>
                      <a:r>
                        <a:rPr lang="en-US" sz="1100" dirty="0">
                          <a:solidFill>
                            <a:srgbClr val="231F20"/>
                          </a:solidFill>
                          <a:latin typeface="Calibri" pitchFamily="34" charset="0"/>
                          <a:ea typeface="Calibri" pitchFamily="34" charset="-122"/>
                          <a:cs typeface="Calibri" pitchFamily="34" charset="-120"/>
                        </a:rPr>
                        <a:t>Limité par la fenêtre de contexte</a:t>
                      </a:r>
                      <a:endParaRPr lang="en-US" sz="11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buNone/>
                      </a:pPr>
                      <a:r>
                        <a:rPr lang="en-US" sz="1150" b="1" dirty="0">
                          <a:solidFill>
                            <a:srgbClr val="231F20"/>
                          </a:solidFill>
                          <a:latin typeface="Calibri" pitchFamily="34" charset="0"/>
                          <a:ea typeface="Calibri" pitchFamily="34" charset="-122"/>
                          <a:cs typeface="Calibri" pitchFamily="34" charset="-120"/>
                        </a:rPr>
                        <a:t>Coût par requête</a:t>
                      </a:r>
                      <a:endParaRPr lang="en-US" sz="11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marL="0" indent="0">
                        <a:buNone/>
                      </a:pPr>
                      <a:r>
                        <a:rPr lang="en-US" sz="1100" dirty="0">
                          <a:solidFill>
                            <a:srgbClr val="231F20"/>
                          </a:solidFill>
                          <a:latin typeface="Calibri" pitchFamily="34" charset="0"/>
                          <a:ea typeface="Calibri" pitchFamily="34" charset="-122"/>
                          <a:cs typeface="Calibri" pitchFamily="34" charset="-120"/>
                        </a:rPr>
                        <a:t>Faible — fragments utiles seuls</a:t>
                      </a:r>
                      <a:endParaRPr lang="en-US" sz="11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c>
                  <a:txBody>
                    <a:bodyPr/>
                    <a:lstStyle/>
                    <a:p>
                      <a:pPr marL="0" indent="0">
                        <a:buNone/>
                      </a:pPr>
                      <a:r>
                        <a:rPr lang="en-US" sz="1100" b="1" dirty="0">
                          <a:solidFill>
                            <a:srgbClr val="00704A"/>
                          </a:solidFill>
                          <a:latin typeface="Calibri" pitchFamily="34" charset="0"/>
                          <a:ea typeface="Calibri" pitchFamily="34" charset="-122"/>
                          <a:cs typeface="Calibri" pitchFamily="34" charset="-120"/>
                        </a:rPr>
                        <a:t>Faible</a:t>
                      </a:r>
                      <a:endParaRPr lang="en-US" sz="11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tc>
                  <a:txBody>
                    <a:bodyPr/>
                    <a:lstStyle/>
                    <a:p>
                      <a:pPr marL="0" indent="0">
                        <a:buNone/>
                      </a:pPr>
                      <a:r>
                        <a:rPr lang="en-US" sz="1100" dirty="0">
                          <a:solidFill>
                            <a:srgbClr val="231F20"/>
                          </a:solidFill>
                          <a:latin typeface="Calibri" pitchFamily="34" charset="0"/>
                          <a:ea typeface="Calibri" pitchFamily="34" charset="-122"/>
                          <a:cs typeface="Calibri" pitchFamily="34" charset="-120"/>
                        </a:rPr>
                        <a:t>Élevé pour les longs contextes</a:t>
                      </a:r>
                      <a:endParaRPr lang="en-US" sz="11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a:buNone/>
                      </a:pPr>
                      <a:r>
                        <a:rPr lang="en-US" sz="1150" b="1" dirty="0">
                          <a:solidFill>
                            <a:srgbClr val="231F20"/>
                          </a:solidFill>
                          <a:latin typeface="Calibri" pitchFamily="34" charset="0"/>
                          <a:ea typeface="Calibri" pitchFamily="34" charset="-122"/>
                          <a:cs typeface="Calibri" pitchFamily="34" charset="-120"/>
                        </a:rPr>
                        <a:t>Contrôle d'accès</a:t>
                      </a:r>
                      <a:endParaRPr lang="en-US" sz="11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marL="0" indent="0">
                        <a:buNone/>
                      </a:pPr>
                      <a:r>
                        <a:rPr lang="en-US" sz="1100" b="1" dirty="0">
                          <a:solidFill>
                            <a:srgbClr val="00704A"/>
                          </a:solidFill>
                          <a:latin typeface="Calibri" pitchFamily="34" charset="0"/>
                          <a:ea typeface="Calibri" pitchFamily="34" charset="-122"/>
                          <a:cs typeface="Calibri" pitchFamily="34" charset="-120"/>
                        </a:rPr>
                        <a:t>Filtrage par droits à la recherche</a:t>
                      </a:r>
                      <a:endParaRPr lang="en-US" sz="11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tc>
                  <a:txBody>
                    <a:bodyPr/>
                    <a:lstStyle/>
                    <a:p>
                      <a:pPr marL="0" indent="0">
                        <a:buNone/>
                      </a:pPr>
                      <a:r>
                        <a:rPr lang="en-US" sz="1100" dirty="0">
                          <a:solidFill>
                            <a:srgbClr val="231F20"/>
                          </a:solidFill>
                          <a:latin typeface="Calibri" pitchFamily="34" charset="0"/>
                          <a:ea typeface="Calibri" pitchFamily="34" charset="-122"/>
                          <a:cs typeface="Calibri" pitchFamily="34" charset="-120"/>
                        </a:rPr>
                        <a:t>Très difficile</a:t>
                      </a:r>
                      <a:endParaRPr lang="en-US" sz="11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c>
                  <a:txBody>
                    <a:bodyPr/>
                    <a:lstStyle/>
                    <a:p>
                      <a:pPr marL="0" indent="0">
                        <a:buNone/>
                      </a:pPr>
                      <a:r>
                        <a:rPr lang="en-US" sz="1100" dirty="0">
                          <a:solidFill>
                            <a:srgbClr val="231F20"/>
                          </a:solidFill>
                          <a:latin typeface="Calibri" pitchFamily="34" charset="0"/>
                          <a:ea typeface="Calibri" pitchFamily="34" charset="-122"/>
                          <a:cs typeface="Calibri" pitchFamily="34" charset="-120"/>
                        </a:rPr>
                        <a:t>Par requête</a:t>
                      </a:r>
                      <a:endParaRPr lang="en-US" sz="11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4048">
                <a:tc>
                  <a:txBody>
                    <a:bodyPr/>
                    <a:lstStyle/>
                    <a:p>
                      <a:pPr marL="0" indent="0">
                        <a:buNone/>
                      </a:pPr>
                      <a:r>
                        <a:rPr lang="en-US" sz="1150" b="1" dirty="0">
                          <a:solidFill>
                            <a:srgbClr val="231F20"/>
                          </a:solidFill>
                          <a:latin typeface="Calibri" pitchFamily="34" charset="0"/>
                          <a:ea typeface="Calibri" pitchFamily="34" charset="-122"/>
                          <a:cs typeface="Calibri" pitchFamily="34" charset="-120"/>
                        </a:rPr>
                        <a:t>Idéal pour</a:t>
                      </a:r>
                      <a:endParaRPr lang="en-US" sz="11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marL="0" indent="0">
                        <a:buNone/>
                      </a:pPr>
                      <a:r>
                        <a:rPr lang="en-US" sz="1100" b="1" dirty="0">
                          <a:solidFill>
                            <a:srgbClr val="00704A"/>
                          </a:solidFill>
                          <a:latin typeface="Calibri" pitchFamily="34" charset="0"/>
                          <a:ea typeface="Calibri" pitchFamily="34" charset="-122"/>
                          <a:cs typeface="Calibri" pitchFamily="34" charset="-120"/>
                        </a:rPr>
                        <a:t>Faits privés et évolutifs</a:t>
                      </a:r>
                      <a:endParaRPr lang="en-US" sz="11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tc>
                  <a:txBody>
                    <a:bodyPr/>
                    <a:lstStyle/>
                    <a:p>
                      <a:pPr marL="0" indent="0">
                        <a:buNone/>
                      </a:pPr>
                      <a:r>
                        <a:rPr lang="en-US" sz="1100" b="1" dirty="0">
                          <a:solidFill>
                            <a:srgbClr val="00704A"/>
                          </a:solidFill>
                          <a:latin typeface="Calibri" pitchFamily="34" charset="0"/>
                          <a:ea typeface="Calibri" pitchFamily="34" charset="-122"/>
                          <a:cs typeface="Calibri" pitchFamily="34" charset="-120"/>
                        </a:rPr>
                        <a:t>Style, comportement spécialisé</a:t>
                      </a:r>
                      <a:endParaRPr lang="en-US" sz="11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tc>
                  <a:txBody>
                    <a:bodyPr/>
                    <a:lstStyle/>
                    <a:p>
                      <a:pPr marL="0" indent="0">
                        <a:buNone/>
                      </a:pPr>
                      <a:r>
                        <a:rPr lang="en-US" sz="1100" b="1" dirty="0">
                          <a:solidFill>
                            <a:srgbClr val="00704A"/>
                          </a:solidFill>
                          <a:latin typeface="Calibri" pitchFamily="34" charset="0"/>
                          <a:ea typeface="Calibri" pitchFamily="34" charset="-122"/>
                          <a:cs typeface="Calibri" pitchFamily="34" charset="-120"/>
                        </a:rPr>
                        <a:t>Petits corpus autonomes</a:t>
                      </a:r>
                      <a:endParaRPr lang="en-US" sz="11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extLst>
                  <a:ext uri="{0D108BD9-81ED-4DB2-BD59-A6C34878D82A}">
                    <a16:rowId xmlns:a16="http://schemas.microsoft.com/office/drawing/2014/main" val="10006"/>
                  </a:ext>
                </a:extLst>
              </a:tr>
            </a:tbl>
          </a:graphicData>
        </a:graphic>
      </p:graphicFrame>
      <p:sp>
        <p:nvSpPr>
          <p:cNvPr id="18" name="Shape 14"/>
          <p:cNvSpPr/>
          <p:nvPr/>
        </p:nvSpPr>
        <p:spPr>
          <a:xfrm>
            <a:off x="457200" y="4242816"/>
            <a:ext cx="8229600" cy="420624"/>
          </a:xfrm>
          <a:prstGeom prst="roundRect">
            <a:avLst>
              <a:gd name="adj" fmla="val 17391"/>
            </a:avLst>
          </a:prstGeom>
          <a:solidFill>
            <a:srgbClr val="D49A00">
              <a:alpha val="13000"/>
            </a:srgbClr>
          </a:solidFill>
          <a:ln w="9525">
            <a:solidFill>
              <a:srgbClr val="D49A00"/>
            </a:solidFill>
            <a:prstDash val="solid"/>
          </a:ln>
        </p:spPr>
      </p:sp>
      <p:pic>
        <p:nvPicPr>
          <p:cNvPr id="19" name="Image 0" descr="preencoded.png"/>
          <p:cNvPicPr>
            <a:picLocks noChangeAspect="1"/>
          </p:cNvPicPr>
          <p:nvPr/>
        </p:nvPicPr>
        <p:blipFill>
          <a:blip r:embed="rId3"/>
          <a:stretch>
            <a:fillRect/>
          </a:stretch>
        </p:blipFill>
        <p:spPr>
          <a:xfrm>
            <a:off x="621792" y="4325112"/>
            <a:ext cx="256032" cy="256032"/>
          </a:xfrm>
          <a:prstGeom prst="rect">
            <a:avLst/>
          </a:prstGeom>
        </p:spPr>
      </p:pic>
      <p:sp>
        <p:nvSpPr>
          <p:cNvPr id="20" name="Text 15"/>
          <p:cNvSpPr txBox="1"/>
          <p:nvPr/>
        </p:nvSpPr>
        <p:spPr>
          <a:xfrm>
            <a:off x="1005840" y="4242816"/>
            <a:ext cx="7498080" cy="420624"/>
          </a:xfrm>
          <a:prstGeom prst="rect">
            <a:avLst/>
          </a:prstGeom>
          <a:noFill/>
          <a:ln/>
        </p:spPr>
        <p:txBody>
          <a:bodyPr wrap="square" lIns="0" tIns="0" rIns="0" bIns="0" rtlCol="0" anchor="ctr"/>
          <a:lstStyle/>
          <a:p>
            <a:pPr marL="0" indent="0">
              <a:buNone/>
            </a:pPr>
            <a:r>
              <a:rPr lang="en-US" sz="1200" b="1" dirty="0">
                <a:solidFill>
                  <a:srgbClr val="D49A00"/>
                </a:solidFill>
                <a:latin typeface="Calibri" pitchFamily="34" charset="0"/>
                <a:ea typeface="Calibri" pitchFamily="34" charset="-122"/>
                <a:cs typeface="Calibri" pitchFamily="34" charset="-120"/>
              </a:rPr>
              <a:t>Complémentaires, pas exclusifs : </a:t>
            </a:r>
            <a:r>
              <a:rPr lang="en-US" sz="1200" dirty="0">
                <a:solidFill>
                  <a:srgbClr val="231F20"/>
                </a:solidFill>
                <a:latin typeface="Calibri" pitchFamily="34" charset="0"/>
                <a:ea typeface="Calibri" pitchFamily="34" charset="-122"/>
                <a:cs typeface="Calibri" pitchFamily="34" charset="-120"/>
              </a:rPr>
              <a:t>fine-tuning = comportement, RAG = savoir, contexte long = petits corpus.</a:t>
            </a:r>
            <a:endParaRPr lang="en-US" sz="1200" dirty="0"/>
          </a:p>
        </p:txBody>
      </p:sp>
    </p:spTree>
  </p:cSld>
  <p:clrMapOvr>
    <a:masterClrMapping/>
  </p:clrMapOvr>
  <p:transition spd="med">
    <p:fade/>
  </p:transition>
</p:sld>
</file>

<file path=ppt/slides/slide36.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822960"/>
            <a:ext cx="2743200" cy="274320"/>
          </a:xfrm>
          <a:prstGeom prst="rect">
            <a:avLst/>
          </a:prstGeom>
          <a:noFill/>
          <a:ln/>
        </p:spPr>
        <p:txBody>
          <a:bodyPr wrap="square" lIns="0" tIns="0" rIns="0" bIns="0" rtlCol="0" anchor="ctr"/>
          <a:lstStyle/>
          <a:p>
            <a:pPr marL="0" indent="0">
              <a:buNone/>
            </a:pPr>
            <a:r>
              <a:rPr lang="en-US" sz="1200" b="1" kern="0" spc="400" dirty="0">
                <a:solidFill>
                  <a:srgbClr val="F5C242"/>
                </a:solidFill>
                <a:latin typeface="Calibri" pitchFamily="34" charset="0"/>
                <a:ea typeface="Calibri" pitchFamily="34" charset="-122"/>
                <a:cs typeface="Calibri" pitchFamily="34" charset="-120"/>
              </a:rPr>
              <a:t>SECTION</a:t>
            </a:r>
            <a:endParaRPr lang="en-US" sz="1200" dirty="0"/>
          </a:p>
        </p:txBody>
      </p:sp>
      <p:sp>
        <p:nvSpPr>
          <p:cNvPr id="3" name="Text 1"/>
          <p:cNvSpPr txBox="1"/>
          <p:nvPr/>
        </p:nvSpPr>
        <p:spPr>
          <a:xfrm>
            <a:off x="502920" y="1051560"/>
            <a:ext cx="2743200" cy="1463040"/>
          </a:xfrm>
          <a:prstGeom prst="rect">
            <a:avLst/>
          </a:prstGeom>
          <a:noFill/>
          <a:ln/>
        </p:spPr>
        <p:txBody>
          <a:bodyPr wrap="square" lIns="0" tIns="0" rIns="0" bIns="0" rtlCol="0" anchor="ctr"/>
          <a:lstStyle/>
          <a:p>
            <a:pPr marL="0" indent="0">
              <a:buNone/>
            </a:pPr>
            <a:r>
              <a:rPr lang="en-US" sz="11000" b="1" dirty="0">
                <a:solidFill>
                  <a:srgbClr val="F5C242"/>
                </a:solidFill>
                <a:latin typeface="Calibri" pitchFamily="34" charset="0"/>
                <a:ea typeface="Calibri" pitchFamily="34" charset="-122"/>
                <a:cs typeface="Calibri" pitchFamily="34" charset="-120"/>
              </a:rPr>
              <a:t>06</a:t>
            </a:r>
            <a:endParaRPr lang="en-US" sz="11000" dirty="0"/>
          </a:p>
        </p:txBody>
      </p:sp>
      <p:sp>
        <p:nvSpPr>
          <p:cNvPr id="4" name="Text 2"/>
          <p:cNvSpPr txBox="1"/>
          <p:nvPr/>
        </p:nvSpPr>
        <p:spPr>
          <a:xfrm>
            <a:off x="548640" y="2606040"/>
            <a:ext cx="5120640" cy="68580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Production</a:t>
            </a:r>
            <a:endParaRPr lang="en-US" sz="4000" dirty="0"/>
          </a:p>
        </p:txBody>
      </p:sp>
      <p:sp>
        <p:nvSpPr>
          <p:cNvPr id="5" name="Text 3"/>
          <p:cNvSpPr txBox="1"/>
          <p:nvPr/>
        </p:nvSpPr>
        <p:spPr>
          <a:xfrm>
            <a:off x="548640" y="3337560"/>
            <a:ext cx="5120640" cy="457200"/>
          </a:xfrm>
          <a:prstGeom prst="rect">
            <a:avLst/>
          </a:prstGeom>
          <a:noFill/>
          <a:ln/>
        </p:spPr>
        <p:txBody>
          <a:bodyPr wrap="square" lIns="0" tIns="0" rIns="0" bIns="0" rtlCol="0" anchor="ctr"/>
          <a:lstStyle/>
          <a:p>
            <a:pPr marL="0" indent="0">
              <a:buNone/>
            </a:pPr>
            <a:r>
              <a:rPr lang="en-US" sz="1800" i="1" dirty="0">
                <a:solidFill>
                  <a:srgbClr val="E6F6EE"/>
                </a:solidFill>
                <a:latin typeface="Calibri" pitchFamily="34" charset="0"/>
                <a:ea typeface="Calibri" pitchFamily="34" charset="-122"/>
                <a:cs typeface="Calibri" pitchFamily="34" charset="-120"/>
              </a:rPr>
              <a:t>Comment exploiter le RAG de façon fiable et sûre ?</a:t>
            </a:r>
            <a:endParaRPr lang="en-US" sz="1800" dirty="0"/>
          </a:p>
        </p:txBody>
      </p:sp>
      <p:sp>
        <p:nvSpPr>
          <p:cNvPr id="6" name="Shape 4"/>
          <p:cNvSpPr/>
          <p:nvPr/>
        </p:nvSpPr>
        <p:spPr>
          <a:xfrm>
            <a:off x="548640" y="4160520"/>
            <a:ext cx="137160" cy="137160"/>
          </a:xfrm>
          <a:prstGeom prst="ellipse">
            <a:avLst/>
          </a:prstGeom>
          <a:solidFill>
            <a:srgbClr val="FFFFFF">
              <a:alpha val="40000"/>
            </a:srgbClr>
          </a:solidFill>
          <a:ln w="12700">
            <a:solidFill>
              <a:srgbClr val="FFFFFF">
                <a:alpha val="0"/>
              </a:srgbClr>
            </a:solidFill>
            <a:prstDash val="solid"/>
          </a:ln>
        </p:spPr>
      </p:sp>
      <p:sp>
        <p:nvSpPr>
          <p:cNvPr id="7" name="Shape 5"/>
          <p:cNvSpPr/>
          <p:nvPr/>
        </p:nvSpPr>
        <p:spPr>
          <a:xfrm>
            <a:off x="804672" y="4160520"/>
            <a:ext cx="137160" cy="137160"/>
          </a:xfrm>
          <a:prstGeom prst="ellipse">
            <a:avLst/>
          </a:prstGeom>
          <a:solidFill>
            <a:srgbClr val="FFFFFF">
              <a:alpha val="40000"/>
            </a:srgbClr>
          </a:solidFill>
          <a:ln w="12700">
            <a:solidFill>
              <a:srgbClr val="FFFFFF">
                <a:alpha val="0"/>
              </a:srgbClr>
            </a:solidFill>
            <a:prstDash val="solid"/>
          </a:ln>
        </p:spPr>
      </p:sp>
      <p:sp>
        <p:nvSpPr>
          <p:cNvPr id="8" name="Shape 6"/>
          <p:cNvSpPr/>
          <p:nvPr/>
        </p:nvSpPr>
        <p:spPr>
          <a:xfrm>
            <a:off x="1060704" y="4160520"/>
            <a:ext cx="137160" cy="137160"/>
          </a:xfrm>
          <a:prstGeom prst="ellipse">
            <a:avLst/>
          </a:prstGeom>
          <a:solidFill>
            <a:srgbClr val="FFFFFF">
              <a:alpha val="40000"/>
            </a:srgbClr>
          </a:solidFill>
          <a:ln w="12700">
            <a:solidFill>
              <a:srgbClr val="FFFFFF">
                <a:alpha val="0"/>
              </a:srgbClr>
            </a:solidFill>
            <a:prstDash val="solid"/>
          </a:ln>
        </p:spPr>
      </p:sp>
      <p:sp>
        <p:nvSpPr>
          <p:cNvPr id="9" name="Shape 7"/>
          <p:cNvSpPr/>
          <p:nvPr/>
        </p:nvSpPr>
        <p:spPr>
          <a:xfrm>
            <a:off x="1316736" y="4160520"/>
            <a:ext cx="137160" cy="137160"/>
          </a:xfrm>
          <a:prstGeom prst="ellipse">
            <a:avLst/>
          </a:prstGeom>
          <a:solidFill>
            <a:srgbClr val="FFFFFF">
              <a:alpha val="40000"/>
            </a:srgbClr>
          </a:solidFill>
          <a:ln w="12700">
            <a:solidFill>
              <a:srgbClr val="FFFFFF">
                <a:alpha val="0"/>
              </a:srgbClr>
            </a:solidFill>
            <a:prstDash val="solid"/>
          </a:ln>
        </p:spPr>
      </p:sp>
      <p:sp>
        <p:nvSpPr>
          <p:cNvPr id="10" name="Shape 8"/>
          <p:cNvSpPr/>
          <p:nvPr/>
        </p:nvSpPr>
        <p:spPr>
          <a:xfrm>
            <a:off x="1572768" y="4160520"/>
            <a:ext cx="137160" cy="137160"/>
          </a:xfrm>
          <a:prstGeom prst="ellipse">
            <a:avLst/>
          </a:prstGeom>
          <a:solidFill>
            <a:srgbClr val="FFFFFF">
              <a:alpha val="40000"/>
            </a:srgbClr>
          </a:solidFill>
          <a:ln w="12700">
            <a:solidFill>
              <a:srgbClr val="FFFFFF">
                <a:alpha val="0"/>
              </a:srgbClr>
            </a:solidFill>
            <a:prstDash val="solid"/>
          </a:ln>
        </p:spPr>
      </p:sp>
      <p:sp>
        <p:nvSpPr>
          <p:cNvPr id="11" name="Shape 9"/>
          <p:cNvSpPr/>
          <p:nvPr/>
        </p:nvSpPr>
        <p:spPr>
          <a:xfrm>
            <a:off x="1828800" y="4160520"/>
            <a:ext cx="137160" cy="137160"/>
          </a:xfrm>
          <a:prstGeom prst="ellipse">
            <a:avLst/>
          </a:prstGeom>
          <a:solidFill>
            <a:srgbClr val="F5C242"/>
          </a:solidFill>
          <a:ln w="12700">
            <a:solidFill>
              <a:srgbClr val="FFFFFF">
                <a:alpha val="0"/>
              </a:srgbClr>
            </a:solidFill>
            <a:prstDash val="solid"/>
          </a:ln>
        </p:spPr>
      </p:sp>
      <p:sp>
        <p:nvSpPr>
          <p:cNvPr id="12" name="Shape 10"/>
          <p:cNvSpPr/>
          <p:nvPr/>
        </p:nvSpPr>
        <p:spPr>
          <a:xfrm>
            <a:off x="5349240" y="777240"/>
            <a:ext cx="3474720" cy="3474720"/>
          </a:xfrm>
          <a:prstGeom prst="ellipse">
            <a:avLst/>
          </a:prstGeom>
          <a:solidFill>
            <a:srgbClr val="FFFFFF">
              <a:alpha val="0"/>
            </a:srgbClr>
          </a:solidFill>
          <a:ln w="15875">
            <a:solidFill>
              <a:srgbClr val="FFFFFF">
                <a:alpha val="18000"/>
              </a:srgbClr>
            </a:solidFill>
            <a:prstDash val="solid"/>
          </a:ln>
        </p:spPr>
      </p:sp>
      <p:sp>
        <p:nvSpPr>
          <p:cNvPr id="13" name="Shape 11"/>
          <p:cNvSpPr/>
          <p:nvPr/>
        </p:nvSpPr>
        <p:spPr>
          <a:xfrm>
            <a:off x="5760720" y="1188720"/>
            <a:ext cx="2651760" cy="2651760"/>
          </a:xfrm>
          <a:prstGeom prst="ellipse">
            <a:avLst/>
          </a:prstGeom>
          <a:solidFill>
            <a:srgbClr val="FFFFFF">
              <a:alpha val="0"/>
            </a:srgbClr>
          </a:solidFill>
          <a:ln w="15875">
            <a:solidFill>
              <a:srgbClr val="FFFFFF">
                <a:alpha val="30000"/>
              </a:srgbClr>
            </a:solidFill>
            <a:prstDash val="solid"/>
          </a:ln>
        </p:spPr>
      </p:sp>
      <p:sp>
        <p:nvSpPr>
          <p:cNvPr id="14" name="Shape 12"/>
          <p:cNvSpPr/>
          <p:nvPr/>
        </p:nvSpPr>
        <p:spPr>
          <a:xfrm>
            <a:off x="6172200" y="1600200"/>
            <a:ext cx="1828800" cy="1828800"/>
          </a:xfrm>
          <a:prstGeom prst="ellipse">
            <a:avLst/>
          </a:prstGeom>
          <a:solidFill>
            <a:srgbClr val="FFFFFF">
              <a:alpha val="0"/>
            </a:srgbClr>
          </a:solidFill>
          <a:ln w="15875">
            <a:solidFill>
              <a:srgbClr val="FFFFFF">
                <a:alpha val="45000"/>
              </a:srgbClr>
            </a:solidFill>
            <a:prstDash val="solid"/>
          </a:ln>
        </p:spPr>
      </p:sp>
      <p:sp>
        <p:nvSpPr>
          <p:cNvPr id="15" name="Shape 13"/>
          <p:cNvSpPr/>
          <p:nvPr/>
        </p:nvSpPr>
        <p:spPr>
          <a:xfrm>
            <a:off x="6492240" y="1920240"/>
            <a:ext cx="1188720" cy="1188720"/>
          </a:xfrm>
          <a:prstGeom prst="ellipse">
            <a:avLst/>
          </a:prstGeom>
          <a:solidFill>
            <a:srgbClr val="FFFFFF"/>
          </a:solidFill>
          <a:ln w="12700">
            <a:solidFill>
              <a:srgbClr val="FFFFFF"/>
            </a:solidFill>
            <a:prstDash val="solid"/>
          </a:ln>
        </p:spPr>
      </p:sp>
      <p:pic>
        <p:nvPicPr>
          <p:cNvPr id="16" name="Image 0" descr="preencoded.png"/>
          <p:cNvPicPr>
            <a:picLocks noChangeAspect="1"/>
          </p:cNvPicPr>
          <p:nvPr/>
        </p:nvPicPr>
        <p:blipFill>
          <a:blip r:embed="rId4"/>
          <a:stretch>
            <a:fillRect/>
          </a:stretch>
        </p:blipFill>
        <p:spPr>
          <a:xfrm>
            <a:off x="6777533" y="2205533"/>
            <a:ext cx="618134" cy="618134"/>
          </a:xfrm>
          <a:prstGeom prst="rect">
            <a:avLst/>
          </a:prstGeom>
        </p:spPr>
      </p:pic>
    </p:spTree>
  </p:cSld>
  <p:clrMapOvr>
    <a:masterClrMapping/>
  </p:clrMapOvr>
  <p:transition spd="med">
    <p:fade/>
  </p:transition>
</p:sld>
</file>

<file path=ppt/slides/slide37.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0704A"/>
                </a:solidFill>
                <a:latin typeface="Calibri" pitchFamily="34" charset="0"/>
                <a:ea typeface="Calibri" pitchFamily="34" charset="-122"/>
                <a:cs typeface="Calibri" pitchFamily="34" charset="-120"/>
              </a:rPr>
              <a:t>06 · PRODUCTION</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Mesurer séparément récupération et génération</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B83B2E"/>
          </a:solidFill>
          <a:ln w="12700">
            <a:solidFill>
              <a:srgbClr val="B83B2E"/>
            </a:solidFill>
            <a:prstDash val="solid"/>
          </a:ln>
        </p:spPr>
      </p:sp>
      <p:sp>
        <p:nvSpPr>
          <p:cNvPr id="14" name="Text 12"/>
          <p:cNvSpPr txBox="1"/>
          <p:nvPr/>
        </p:nvSpPr>
        <p:spPr>
          <a:xfrm>
            <a:off x="457200" y="4846320"/>
            <a:ext cx="694944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ATI · Big Data pour les statistiques macroéconomiques · Maurice, 26–30 oct. 2026   |   BAD · Data Innovation for Africa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37</a:t>
            </a:r>
            <a:endParaRPr lang="en-US" sz="850" dirty="0"/>
          </a:p>
        </p:txBody>
      </p:sp>
      <p:sp>
        <p:nvSpPr>
          <p:cNvPr id="17" name="Shape 14"/>
          <p:cNvSpPr/>
          <p:nvPr/>
        </p:nvSpPr>
        <p:spPr>
          <a:xfrm flipH="1">
            <a:off x="1051560" y="1874520"/>
            <a:ext cx="1463040" cy="2103120"/>
          </a:xfrm>
          <a:prstGeom prst="line">
            <a:avLst/>
          </a:prstGeom>
          <a:noFill/>
          <a:ln w="31750">
            <a:solidFill>
              <a:srgbClr val="00A86A"/>
            </a:solidFill>
            <a:prstDash val="solid"/>
          </a:ln>
        </p:spPr>
      </p:sp>
      <p:sp>
        <p:nvSpPr>
          <p:cNvPr id="18" name="Shape 15"/>
          <p:cNvSpPr/>
          <p:nvPr/>
        </p:nvSpPr>
        <p:spPr>
          <a:xfrm>
            <a:off x="868680" y="2761488"/>
            <a:ext cx="1600200" cy="274320"/>
          </a:xfrm>
          <a:prstGeom prst="roundRect">
            <a:avLst>
              <a:gd name="adj" fmla="val 50000"/>
            </a:avLst>
          </a:prstGeom>
          <a:solidFill>
            <a:srgbClr val="FFFFFF"/>
          </a:solidFill>
          <a:ln w="15875">
            <a:solidFill>
              <a:srgbClr val="00A86A"/>
            </a:solidFill>
            <a:prstDash val="solid"/>
          </a:ln>
        </p:spPr>
      </p:sp>
      <p:sp>
        <p:nvSpPr>
          <p:cNvPr id="19" name="Text 16"/>
          <p:cNvSpPr txBox="1"/>
          <p:nvPr/>
        </p:nvSpPr>
        <p:spPr>
          <a:xfrm>
            <a:off x="868680" y="2761488"/>
            <a:ext cx="1600200" cy="274320"/>
          </a:xfrm>
          <a:prstGeom prst="rect">
            <a:avLst/>
          </a:prstGeom>
          <a:noFill/>
          <a:ln/>
        </p:spPr>
        <p:txBody>
          <a:bodyPr wrap="square" lIns="0" tIns="0" rIns="0" bIns="0" rtlCol="0" anchor="ctr"/>
          <a:lstStyle/>
          <a:p>
            <a:pPr marL="0" indent="0" algn="ctr">
              <a:buNone/>
            </a:pPr>
            <a:r>
              <a:rPr lang="en-US" sz="1050" b="1" dirty="0">
                <a:solidFill>
                  <a:srgbClr val="00A86A"/>
                </a:solidFill>
                <a:latin typeface="Calibri" pitchFamily="34" charset="0"/>
                <a:ea typeface="Calibri" pitchFamily="34" charset="-122"/>
                <a:cs typeface="Calibri" pitchFamily="34" charset="-120"/>
              </a:rPr>
              <a:t>Pertinence du contexte</a:t>
            </a:r>
            <a:endParaRPr lang="en-US" sz="1050" dirty="0"/>
          </a:p>
        </p:txBody>
      </p:sp>
      <p:sp>
        <p:nvSpPr>
          <p:cNvPr id="20" name="Shape 17"/>
          <p:cNvSpPr/>
          <p:nvPr/>
        </p:nvSpPr>
        <p:spPr>
          <a:xfrm>
            <a:off x="2514600" y="1874520"/>
            <a:ext cx="1463040" cy="2103120"/>
          </a:xfrm>
          <a:prstGeom prst="line">
            <a:avLst/>
          </a:prstGeom>
          <a:noFill/>
          <a:ln w="31750">
            <a:solidFill>
              <a:srgbClr val="0E7C86"/>
            </a:solidFill>
            <a:prstDash val="solid"/>
          </a:ln>
        </p:spPr>
      </p:sp>
      <p:sp>
        <p:nvSpPr>
          <p:cNvPr id="21" name="Shape 18"/>
          <p:cNvSpPr/>
          <p:nvPr/>
        </p:nvSpPr>
        <p:spPr>
          <a:xfrm>
            <a:off x="2560320" y="2761488"/>
            <a:ext cx="1691640" cy="274320"/>
          </a:xfrm>
          <a:prstGeom prst="roundRect">
            <a:avLst>
              <a:gd name="adj" fmla="val 50000"/>
            </a:avLst>
          </a:prstGeom>
          <a:solidFill>
            <a:srgbClr val="FFFFFF"/>
          </a:solidFill>
          <a:ln w="15875">
            <a:solidFill>
              <a:srgbClr val="0E7C86"/>
            </a:solidFill>
            <a:prstDash val="solid"/>
          </a:ln>
        </p:spPr>
      </p:sp>
      <p:sp>
        <p:nvSpPr>
          <p:cNvPr id="22" name="Text 19"/>
          <p:cNvSpPr txBox="1"/>
          <p:nvPr/>
        </p:nvSpPr>
        <p:spPr>
          <a:xfrm>
            <a:off x="2560320" y="2761488"/>
            <a:ext cx="1691640" cy="274320"/>
          </a:xfrm>
          <a:prstGeom prst="rect">
            <a:avLst/>
          </a:prstGeom>
          <a:noFill/>
          <a:ln/>
        </p:spPr>
        <p:txBody>
          <a:bodyPr wrap="square" lIns="0" tIns="0" rIns="0" bIns="0" rtlCol="0" anchor="ctr"/>
          <a:lstStyle/>
          <a:p>
            <a:pPr marL="0" indent="0" algn="ctr">
              <a:buNone/>
            </a:pPr>
            <a:r>
              <a:rPr lang="en-US" sz="1050" b="1" dirty="0">
                <a:solidFill>
                  <a:srgbClr val="0E7C86"/>
                </a:solidFill>
                <a:latin typeface="Calibri" pitchFamily="34" charset="0"/>
                <a:ea typeface="Calibri" pitchFamily="34" charset="-122"/>
                <a:cs typeface="Calibri" pitchFamily="34" charset="-120"/>
              </a:rPr>
              <a:t>Pertinence de la réponse</a:t>
            </a:r>
            <a:endParaRPr lang="en-US" sz="1050" dirty="0"/>
          </a:p>
        </p:txBody>
      </p:sp>
      <p:sp>
        <p:nvSpPr>
          <p:cNvPr id="23" name="Shape 20"/>
          <p:cNvSpPr/>
          <p:nvPr/>
        </p:nvSpPr>
        <p:spPr>
          <a:xfrm>
            <a:off x="1051560" y="3977640"/>
            <a:ext cx="2926080" cy="914"/>
          </a:xfrm>
          <a:prstGeom prst="line">
            <a:avLst/>
          </a:prstGeom>
          <a:noFill/>
          <a:ln w="31750">
            <a:solidFill>
              <a:srgbClr val="D49A00"/>
            </a:solidFill>
            <a:prstDash val="solid"/>
          </a:ln>
        </p:spPr>
      </p:sp>
      <p:sp>
        <p:nvSpPr>
          <p:cNvPr id="24" name="Shape 21"/>
          <p:cNvSpPr/>
          <p:nvPr/>
        </p:nvSpPr>
        <p:spPr>
          <a:xfrm>
            <a:off x="1508760" y="3840480"/>
            <a:ext cx="1280160" cy="274320"/>
          </a:xfrm>
          <a:prstGeom prst="roundRect">
            <a:avLst>
              <a:gd name="adj" fmla="val 50000"/>
            </a:avLst>
          </a:prstGeom>
          <a:solidFill>
            <a:srgbClr val="FFFFFF"/>
          </a:solidFill>
          <a:ln w="15875">
            <a:solidFill>
              <a:srgbClr val="D49A00"/>
            </a:solidFill>
            <a:prstDash val="solid"/>
          </a:ln>
        </p:spPr>
      </p:sp>
      <p:sp>
        <p:nvSpPr>
          <p:cNvPr id="25" name="Text 22"/>
          <p:cNvSpPr txBox="1"/>
          <p:nvPr/>
        </p:nvSpPr>
        <p:spPr>
          <a:xfrm>
            <a:off x="1508760" y="3840480"/>
            <a:ext cx="1280160" cy="274320"/>
          </a:xfrm>
          <a:prstGeom prst="rect">
            <a:avLst/>
          </a:prstGeom>
          <a:noFill/>
          <a:ln/>
        </p:spPr>
        <p:txBody>
          <a:bodyPr wrap="square" lIns="0" tIns="0" rIns="0" bIns="0" rtlCol="0" anchor="ctr"/>
          <a:lstStyle/>
          <a:p>
            <a:pPr marL="0" indent="0" algn="ctr">
              <a:buNone/>
            </a:pPr>
            <a:r>
              <a:rPr lang="en-US" sz="1050" b="1" dirty="0">
                <a:solidFill>
                  <a:srgbClr val="D49A00"/>
                </a:solidFill>
                <a:latin typeface="Calibri" pitchFamily="34" charset="0"/>
                <a:ea typeface="Calibri" pitchFamily="34" charset="-122"/>
                <a:cs typeface="Calibri" pitchFamily="34" charset="-120"/>
              </a:rPr>
              <a:t>Ancrage</a:t>
            </a:r>
            <a:endParaRPr lang="en-US" sz="1050" dirty="0"/>
          </a:p>
        </p:txBody>
      </p:sp>
      <p:sp>
        <p:nvSpPr>
          <p:cNvPr id="26" name="Shape 23"/>
          <p:cNvSpPr/>
          <p:nvPr/>
        </p:nvSpPr>
        <p:spPr>
          <a:xfrm>
            <a:off x="2148840" y="1508760"/>
            <a:ext cx="731520" cy="731520"/>
          </a:xfrm>
          <a:prstGeom prst="ellipse">
            <a:avLst/>
          </a:prstGeom>
          <a:solidFill>
            <a:srgbClr val="FFFFFF"/>
          </a:solidFill>
          <a:ln w="19050">
            <a:solidFill>
              <a:srgbClr val="00704A"/>
            </a:solidFill>
            <a:prstDash val="solid"/>
          </a:ln>
        </p:spPr>
      </p:sp>
      <p:pic>
        <p:nvPicPr>
          <p:cNvPr id="27" name="Image 0" descr="preencoded.png"/>
          <p:cNvPicPr>
            <a:picLocks noChangeAspect="1"/>
          </p:cNvPicPr>
          <p:nvPr/>
        </p:nvPicPr>
        <p:blipFill>
          <a:blip r:embed="rId3"/>
          <a:stretch>
            <a:fillRect/>
          </a:stretch>
        </p:blipFill>
        <p:spPr>
          <a:xfrm>
            <a:off x="2324405" y="1684325"/>
            <a:ext cx="380390" cy="380390"/>
          </a:xfrm>
          <a:prstGeom prst="rect">
            <a:avLst/>
          </a:prstGeom>
        </p:spPr>
      </p:pic>
      <p:sp>
        <p:nvSpPr>
          <p:cNvPr id="28" name="Text 24"/>
          <p:cNvSpPr txBox="1"/>
          <p:nvPr/>
        </p:nvSpPr>
        <p:spPr>
          <a:xfrm>
            <a:off x="1874520" y="1252728"/>
            <a:ext cx="1280160" cy="228600"/>
          </a:xfrm>
          <a:prstGeom prst="rect">
            <a:avLst/>
          </a:prstGeom>
          <a:noFill/>
          <a:ln/>
        </p:spPr>
        <p:txBody>
          <a:bodyPr wrap="square" lIns="0" tIns="0" rIns="0" bIns="0" rtlCol="0" anchor="ctr"/>
          <a:lstStyle/>
          <a:p>
            <a:pPr marL="0" indent="0" algn="ctr">
              <a:buNone/>
            </a:pPr>
            <a:r>
              <a:rPr lang="en-US" sz="1200" b="1" dirty="0">
                <a:solidFill>
                  <a:srgbClr val="231F20"/>
                </a:solidFill>
                <a:latin typeface="Calibri" pitchFamily="34" charset="0"/>
                <a:ea typeface="Calibri" pitchFamily="34" charset="-122"/>
                <a:cs typeface="Calibri" pitchFamily="34" charset="-120"/>
              </a:rPr>
              <a:t>Question</a:t>
            </a:r>
            <a:endParaRPr lang="en-US" sz="1200" dirty="0"/>
          </a:p>
        </p:txBody>
      </p:sp>
      <p:sp>
        <p:nvSpPr>
          <p:cNvPr id="29" name="Shape 25"/>
          <p:cNvSpPr/>
          <p:nvPr/>
        </p:nvSpPr>
        <p:spPr>
          <a:xfrm>
            <a:off x="685800" y="3611880"/>
            <a:ext cx="731520" cy="731520"/>
          </a:xfrm>
          <a:prstGeom prst="ellipse">
            <a:avLst/>
          </a:prstGeom>
          <a:solidFill>
            <a:srgbClr val="FFFFFF"/>
          </a:solidFill>
          <a:ln w="19050">
            <a:solidFill>
              <a:srgbClr val="00A86A"/>
            </a:solidFill>
            <a:prstDash val="solid"/>
          </a:ln>
        </p:spPr>
      </p:sp>
      <p:pic>
        <p:nvPicPr>
          <p:cNvPr id="30" name="Image 1" descr="preencoded.png"/>
          <p:cNvPicPr>
            <a:picLocks noChangeAspect="1"/>
          </p:cNvPicPr>
          <p:nvPr/>
        </p:nvPicPr>
        <p:blipFill>
          <a:blip r:embed="rId4"/>
          <a:stretch>
            <a:fillRect/>
          </a:stretch>
        </p:blipFill>
        <p:spPr>
          <a:xfrm>
            <a:off x="861365" y="3787445"/>
            <a:ext cx="380390" cy="380390"/>
          </a:xfrm>
          <a:prstGeom prst="rect">
            <a:avLst/>
          </a:prstGeom>
        </p:spPr>
      </p:pic>
      <p:sp>
        <p:nvSpPr>
          <p:cNvPr id="31" name="Text 26"/>
          <p:cNvSpPr txBox="1"/>
          <p:nvPr/>
        </p:nvSpPr>
        <p:spPr>
          <a:xfrm>
            <a:off x="411480" y="4361688"/>
            <a:ext cx="1280160" cy="228600"/>
          </a:xfrm>
          <a:prstGeom prst="rect">
            <a:avLst/>
          </a:prstGeom>
          <a:noFill/>
          <a:ln/>
        </p:spPr>
        <p:txBody>
          <a:bodyPr wrap="square" lIns="0" tIns="0" rIns="0" bIns="0" rtlCol="0" anchor="ctr"/>
          <a:lstStyle/>
          <a:p>
            <a:pPr marL="0" indent="0" algn="ctr">
              <a:buNone/>
            </a:pPr>
            <a:r>
              <a:rPr lang="en-US" sz="1200" b="1" dirty="0">
                <a:solidFill>
                  <a:srgbClr val="231F20"/>
                </a:solidFill>
                <a:latin typeface="Calibri" pitchFamily="34" charset="0"/>
                <a:ea typeface="Calibri" pitchFamily="34" charset="-122"/>
                <a:cs typeface="Calibri" pitchFamily="34" charset="-120"/>
              </a:rPr>
              <a:t>Contexte</a:t>
            </a:r>
            <a:endParaRPr lang="en-US" sz="1200" dirty="0"/>
          </a:p>
        </p:txBody>
      </p:sp>
      <p:sp>
        <p:nvSpPr>
          <p:cNvPr id="32" name="Shape 27"/>
          <p:cNvSpPr/>
          <p:nvPr/>
        </p:nvSpPr>
        <p:spPr>
          <a:xfrm>
            <a:off x="3611880" y="3611880"/>
            <a:ext cx="731520" cy="731520"/>
          </a:xfrm>
          <a:prstGeom prst="ellipse">
            <a:avLst/>
          </a:prstGeom>
          <a:solidFill>
            <a:srgbClr val="FFFFFF"/>
          </a:solidFill>
          <a:ln w="19050">
            <a:solidFill>
              <a:srgbClr val="D49A00"/>
            </a:solidFill>
            <a:prstDash val="solid"/>
          </a:ln>
        </p:spPr>
      </p:sp>
      <p:pic>
        <p:nvPicPr>
          <p:cNvPr id="33" name="Image 2" descr="preencoded.png"/>
          <p:cNvPicPr>
            <a:picLocks noChangeAspect="1"/>
          </p:cNvPicPr>
          <p:nvPr/>
        </p:nvPicPr>
        <p:blipFill>
          <a:blip r:embed="rId5"/>
          <a:stretch>
            <a:fillRect/>
          </a:stretch>
        </p:blipFill>
        <p:spPr>
          <a:xfrm>
            <a:off x="3787445" y="3787445"/>
            <a:ext cx="380390" cy="380390"/>
          </a:xfrm>
          <a:prstGeom prst="rect">
            <a:avLst/>
          </a:prstGeom>
        </p:spPr>
      </p:pic>
      <p:sp>
        <p:nvSpPr>
          <p:cNvPr id="34" name="Text 28"/>
          <p:cNvSpPr txBox="1"/>
          <p:nvPr/>
        </p:nvSpPr>
        <p:spPr>
          <a:xfrm>
            <a:off x="3337560" y="4361688"/>
            <a:ext cx="1280160" cy="228600"/>
          </a:xfrm>
          <a:prstGeom prst="rect">
            <a:avLst/>
          </a:prstGeom>
          <a:noFill/>
          <a:ln/>
        </p:spPr>
        <p:txBody>
          <a:bodyPr wrap="square" lIns="0" tIns="0" rIns="0" bIns="0" rtlCol="0" anchor="ctr"/>
          <a:lstStyle/>
          <a:p>
            <a:pPr marL="0" indent="0" algn="ctr">
              <a:buNone/>
            </a:pPr>
            <a:r>
              <a:rPr lang="en-US" sz="1200" b="1" dirty="0">
                <a:solidFill>
                  <a:srgbClr val="231F20"/>
                </a:solidFill>
                <a:latin typeface="Calibri" pitchFamily="34" charset="0"/>
                <a:ea typeface="Calibri" pitchFamily="34" charset="-122"/>
                <a:cs typeface="Calibri" pitchFamily="34" charset="-120"/>
              </a:rPr>
              <a:t>Réponse</a:t>
            </a:r>
            <a:endParaRPr lang="en-US" sz="1200" dirty="0"/>
          </a:p>
        </p:txBody>
      </p:sp>
      <p:sp>
        <p:nvSpPr>
          <p:cNvPr id="35" name="Text 29"/>
          <p:cNvSpPr txBox="1"/>
          <p:nvPr/>
        </p:nvSpPr>
        <p:spPr>
          <a:xfrm>
            <a:off x="1508760" y="4599432"/>
            <a:ext cx="274320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La « triade RAG » (TruLens)</a:t>
            </a:r>
            <a:endParaRPr lang="en-US" sz="900" dirty="0"/>
          </a:p>
        </p:txBody>
      </p:sp>
      <p:sp>
        <p:nvSpPr>
          <p:cNvPr id="36" name="Shape 30"/>
          <p:cNvSpPr/>
          <p:nvPr/>
        </p:nvSpPr>
        <p:spPr>
          <a:xfrm>
            <a:off x="4846320" y="1325880"/>
            <a:ext cx="3840480" cy="1874520"/>
          </a:xfrm>
          <a:prstGeom prst="roundRect">
            <a:avLst>
              <a:gd name="adj" fmla="val 3902"/>
            </a:avLst>
          </a:prstGeom>
          <a:solidFill>
            <a:srgbClr val="F4F7F5"/>
          </a:solidFill>
          <a:ln w="9525">
            <a:solidFill>
              <a:srgbClr val="D5DED9"/>
            </a:solidFill>
            <a:prstDash val="solid"/>
          </a:ln>
        </p:spPr>
      </p:sp>
      <p:sp>
        <p:nvSpPr>
          <p:cNvPr id="37" name="Text 31"/>
          <p:cNvSpPr txBox="1"/>
          <p:nvPr/>
        </p:nvSpPr>
        <p:spPr>
          <a:xfrm>
            <a:off x="5029200" y="1417320"/>
            <a:ext cx="3566160" cy="274320"/>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Métriques RAGAS (Es et al., 2023)</a:t>
            </a:r>
            <a:endParaRPr lang="en-US" sz="1400" dirty="0"/>
          </a:p>
        </p:txBody>
      </p:sp>
      <p:sp>
        <p:nvSpPr>
          <p:cNvPr id="38" name="Text 32"/>
          <p:cNvSpPr txBox="1"/>
          <p:nvPr/>
        </p:nvSpPr>
        <p:spPr>
          <a:xfrm>
            <a:off x="5029200" y="1755648"/>
            <a:ext cx="3520440" cy="1389888"/>
          </a:xfrm>
          <a:prstGeom prst="rect">
            <a:avLst/>
          </a:prstGeom>
          <a:noFill/>
          <a:ln/>
        </p:spPr>
        <p:txBody>
          <a:bodyPr wrap="square" lIns="0" tIns="0" rIns="0" bIns="0" rtlCol="0" anchor="t"/>
          <a:lstStyle/>
          <a:p>
            <a:pPr marL="0" indent="0">
              <a:spcAft>
                <a:spcPts val="600"/>
              </a:spcAft>
              <a:buNone/>
            </a:pPr>
            <a:r>
              <a:rPr lang="en-US" sz="1100" b="1" dirty="0">
                <a:solidFill>
                  <a:srgbClr val="00704A"/>
                </a:solidFill>
                <a:latin typeface="Calibri" pitchFamily="34" charset="0"/>
                <a:ea typeface="Calibri" pitchFamily="34" charset="-122"/>
                <a:cs typeface="Calibri" pitchFamily="34" charset="-120"/>
              </a:rPr>
              <a:t>Fidélité: </a:t>
            </a:r>
            <a:r>
              <a:rPr lang="en-US" sz="1100" dirty="0">
                <a:solidFill>
                  <a:srgbClr val="231F20"/>
                </a:solidFill>
                <a:latin typeface="Calibri" pitchFamily="34" charset="0"/>
                <a:ea typeface="Calibri" pitchFamily="34" charset="-122"/>
                <a:cs typeface="Calibri" pitchFamily="34" charset="-120"/>
              </a:rPr>
              <a:t>Les affirmations sont-elles étayées par le contexte ?</a:t>
            </a:r>
            <a:endParaRPr lang="en-US" sz="1100" dirty="0"/>
          </a:p>
          <a:p>
            <a:pPr marL="0" indent="0">
              <a:spcAft>
                <a:spcPts val="600"/>
              </a:spcAft>
              <a:buNone/>
            </a:pPr>
            <a:r>
              <a:rPr lang="en-US" sz="1100" b="1" dirty="0">
                <a:solidFill>
                  <a:srgbClr val="00704A"/>
                </a:solidFill>
                <a:latin typeface="Calibri" pitchFamily="34" charset="0"/>
                <a:ea typeface="Calibri" pitchFamily="34" charset="-122"/>
                <a:cs typeface="Calibri" pitchFamily="34" charset="-120"/>
              </a:rPr>
              <a:t>Pertinence de la réponse: </a:t>
            </a:r>
            <a:r>
              <a:rPr lang="en-US" sz="1100" dirty="0">
                <a:solidFill>
                  <a:srgbClr val="231F20"/>
                </a:solidFill>
                <a:latin typeface="Calibri" pitchFamily="34" charset="0"/>
                <a:ea typeface="Calibri" pitchFamily="34" charset="-122"/>
                <a:cs typeface="Calibri" pitchFamily="34" charset="-120"/>
              </a:rPr>
              <a:t>Traite-t-elle bien la question ?</a:t>
            </a:r>
            <a:endParaRPr lang="en-US" sz="1100" dirty="0"/>
          </a:p>
          <a:p>
            <a:pPr marL="0" indent="0">
              <a:spcAft>
                <a:spcPts val="600"/>
              </a:spcAft>
              <a:buNone/>
            </a:pPr>
            <a:r>
              <a:rPr lang="en-US" sz="1100" b="1" dirty="0">
                <a:solidFill>
                  <a:srgbClr val="00704A"/>
                </a:solidFill>
                <a:latin typeface="Calibri" pitchFamily="34" charset="0"/>
                <a:ea typeface="Calibri" pitchFamily="34" charset="-122"/>
                <a:cs typeface="Calibri" pitchFamily="34" charset="-120"/>
              </a:rPr>
              <a:t>Précision du contexte: </a:t>
            </a:r>
            <a:r>
              <a:rPr lang="en-US" sz="1100" dirty="0">
                <a:solidFill>
                  <a:srgbClr val="231F20"/>
                </a:solidFill>
                <a:latin typeface="Calibri" pitchFamily="34" charset="0"/>
                <a:ea typeface="Calibri" pitchFamily="34" charset="-122"/>
                <a:cs typeface="Calibri" pitchFamily="34" charset="-120"/>
              </a:rPr>
              <a:t>Les bons fragments sont-ils en tête ?</a:t>
            </a:r>
            <a:endParaRPr lang="en-US" sz="1100" dirty="0"/>
          </a:p>
          <a:p>
            <a:pPr marL="0" indent="0">
              <a:spcAft>
                <a:spcPts val="600"/>
              </a:spcAft>
              <a:buNone/>
            </a:pPr>
            <a:r>
              <a:rPr lang="en-US" sz="1100" b="1" dirty="0">
                <a:solidFill>
                  <a:srgbClr val="00704A"/>
                </a:solidFill>
                <a:latin typeface="Calibri" pitchFamily="34" charset="0"/>
                <a:ea typeface="Calibri" pitchFamily="34" charset="-122"/>
                <a:cs typeface="Calibri" pitchFamily="34" charset="-120"/>
              </a:rPr>
              <a:t>Rappel du contexte: </a:t>
            </a:r>
            <a:r>
              <a:rPr lang="en-US" sz="1100" dirty="0">
                <a:solidFill>
                  <a:srgbClr val="231F20"/>
                </a:solidFill>
                <a:latin typeface="Calibri" pitchFamily="34" charset="0"/>
                <a:ea typeface="Calibri" pitchFamily="34" charset="-122"/>
                <a:cs typeface="Calibri" pitchFamily="34" charset="-120"/>
              </a:rPr>
              <a:t>Toute l'information utile a-t-elle été récupérée ?</a:t>
            </a:r>
            <a:endParaRPr lang="en-US" sz="1100" dirty="0"/>
          </a:p>
        </p:txBody>
      </p:sp>
      <p:sp>
        <p:nvSpPr>
          <p:cNvPr id="39" name="Shape 33"/>
          <p:cNvSpPr/>
          <p:nvPr/>
        </p:nvSpPr>
        <p:spPr>
          <a:xfrm>
            <a:off x="4846320" y="3310128"/>
            <a:ext cx="3840480" cy="713232"/>
          </a:xfrm>
          <a:prstGeom prst="roundRect">
            <a:avLst>
              <a:gd name="adj" fmla="val 10256"/>
            </a:avLst>
          </a:prstGeom>
          <a:solidFill>
            <a:srgbClr val="F4F7F5"/>
          </a:solidFill>
          <a:ln w="9525">
            <a:solidFill>
              <a:srgbClr val="D5DED9"/>
            </a:solidFill>
            <a:prstDash val="solid"/>
          </a:ln>
        </p:spPr>
      </p:sp>
      <p:sp>
        <p:nvSpPr>
          <p:cNvPr id="40" name="Text 34"/>
          <p:cNvSpPr txBox="1"/>
          <p:nvPr/>
        </p:nvSpPr>
        <p:spPr>
          <a:xfrm>
            <a:off x="5029200" y="3310128"/>
            <a:ext cx="3566160" cy="713232"/>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Métriques de récupération</a:t>
            </a:r>
            <a:endParaRPr lang="en-US" sz="1400" dirty="0"/>
          </a:p>
          <a:p>
            <a:pPr marL="0" indent="0">
              <a:buNone/>
            </a:pPr>
            <a:r>
              <a:rPr lang="en-US" sz="1150" dirty="0">
                <a:solidFill>
                  <a:srgbClr val="5E6964"/>
                </a:solidFill>
                <a:latin typeface="Calibri" pitchFamily="34" charset="0"/>
                <a:ea typeface="Calibri" pitchFamily="34" charset="-122"/>
                <a:cs typeface="Calibri" pitchFamily="34" charset="-120"/>
              </a:rPr>
              <a:t>Recall@k · Precision@k · MRR · nDCG</a:t>
            </a:r>
            <a:endParaRPr lang="en-US" sz="1400" dirty="0"/>
          </a:p>
        </p:txBody>
      </p:sp>
      <p:sp>
        <p:nvSpPr>
          <p:cNvPr id="41" name="Shape 35"/>
          <p:cNvSpPr/>
          <p:nvPr/>
        </p:nvSpPr>
        <p:spPr>
          <a:xfrm>
            <a:off x="4846320" y="4133088"/>
            <a:ext cx="3840480" cy="530352"/>
          </a:xfrm>
          <a:prstGeom prst="roundRect">
            <a:avLst>
              <a:gd name="adj" fmla="val 13793"/>
            </a:avLst>
          </a:prstGeom>
          <a:solidFill>
            <a:srgbClr val="E8F5EF"/>
          </a:solidFill>
          <a:ln w="15875">
            <a:solidFill>
              <a:srgbClr val="00A86A"/>
            </a:solidFill>
            <a:prstDash val="solid"/>
          </a:ln>
        </p:spPr>
      </p:sp>
      <p:sp>
        <p:nvSpPr>
          <p:cNvPr id="42" name="Text 36"/>
          <p:cNvSpPr txBox="1"/>
          <p:nvPr/>
        </p:nvSpPr>
        <p:spPr>
          <a:xfrm>
            <a:off x="5029200" y="4133088"/>
            <a:ext cx="3566160" cy="530352"/>
          </a:xfrm>
          <a:prstGeom prst="rect">
            <a:avLst/>
          </a:prstGeom>
          <a:noFill/>
          <a:ln/>
        </p:spPr>
        <p:txBody>
          <a:bodyPr wrap="square" lIns="0" tIns="0" rIns="0" bIns="0" rtlCol="0" anchor="ctr"/>
          <a:lstStyle/>
          <a:p>
            <a:pPr marL="0" indent="0">
              <a:buNone/>
            </a:pPr>
            <a:r>
              <a:rPr lang="en-US" sz="1200" b="1" dirty="0">
                <a:solidFill>
                  <a:srgbClr val="00704A"/>
                </a:solidFill>
                <a:latin typeface="Calibri" pitchFamily="34" charset="0"/>
                <a:ea typeface="Calibri" pitchFamily="34" charset="-122"/>
                <a:cs typeface="Calibri" pitchFamily="34" charset="-120"/>
              </a:rPr>
              <a:t>Outils : </a:t>
            </a:r>
            <a:r>
              <a:rPr lang="en-US" sz="1200" dirty="0">
                <a:solidFill>
                  <a:srgbClr val="231F20"/>
                </a:solidFill>
                <a:latin typeface="Calibri" pitchFamily="34" charset="0"/>
                <a:ea typeface="Calibri" pitchFamily="34" charset="-122"/>
                <a:cs typeface="Calibri" pitchFamily="34" charset="-120"/>
              </a:rPr>
              <a:t>RAGAS · TruLens · DeepEval · Arize Phoenix</a:t>
            </a:r>
            <a:endParaRPr lang="en-US" sz="1200" dirty="0"/>
          </a:p>
        </p:txBody>
      </p:sp>
    </p:spTree>
  </p:cSld>
  <p:clrMapOvr>
    <a:masterClrMapping/>
  </p:clrMapOvr>
  <p:transition spd="med">
    <p:fade/>
  </p:transition>
</p:sld>
</file>

<file path=ppt/slides/slide38.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0704A"/>
                </a:solidFill>
                <a:latin typeface="Calibri" pitchFamily="34" charset="0"/>
                <a:ea typeface="Calibri" pitchFamily="34" charset="-122"/>
                <a:cs typeface="Calibri" pitchFamily="34" charset="-120"/>
              </a:rPr>
              <a:t>06 · PRODUCTION</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Sécuriser un système RAG</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B83B2E"/>
          </a:solidFill>
          <a:ln w="12700">
            <a:solidFill>
              <a:srgbClr val="B83B2E"/>
            </a:solidFill>
            <a:prstDash val="solid"/>
          </a:ln>
        </p:spPr>
      </p:sp>
      <p:sp>
        <p:nvSpPr>
          <p:cNvPr id="14" name="Text 12"/>
          <p:cNvSpPr txBox="1"/>
          <p:nvPr/>
        </p:nvSpPr>
        <p:spPr>
          <a:xfrm>
            <a:off x="457200" y="4846320"/>
            <a:ext cx="694944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ATI · Big Data pour les statistiques macroéconomiques · Maurice, 26–30 oct. 2026   |   BAD · Data Innovation for Africa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38</a:t>
            </a:r>
            <a:endParaRPr lang="en-US" sz="850" dirty="0"/>
          </a:p>
        </p:txBody>
      </p:sp>
      <p:sp>
        <p:nvSpPr>
          <p:cNvPr id="17" name="Shape 14"/>
          <p:cNvSpPr/>
          <p:nvPr/>
        </p:nvSpPr>
        <p:spPr>
          <a:xfrm>
            <a:off x="457200" y="1325880"/>
            <a:ext cx="2468880" cy="1371600"/>
          </a:xfrm>
          <a:prstGeom prst="roundRect">
            <a:avLst>
              <a:gd name="adj" fmla="val 5333"/>
            </a:avLst>
          </a:prstGeom>
          <a:solidFill>
            <a:srgbClr val="F4F7F5"/>
          </a:solidFill>
          <a:ln w="9525">
            <a:solidFill>
              <a:srgbClr val="D5DED9"/>
            </a:solidFill>
            <a:prstDash val="solid"/>
          </a:ln>
        </p:spPr>
      </p:sp>
      <p:sp>
        <p:nvSpPr>
          <p:cNvPr id="18" name="Shape 15"/>
          <p:cNvSpPr/>
          <p:nvPr/>
        </p:nvSpPr>
        <p:spPr>
          <a:xfrm>
            <a:off x="621792" y="1463040"/>
            <a:ext cx="420624" cy="420624"/>
          </a:xfrm>
          <a:prstGeom prst="ellipse">
            <a:avLst/>
          </a:prstGeom>
          <a:solidFill>
            <a:srgbClr val="B83B2E">
              <a:alpha val="22000"/>
            </a:srgbClr>
          </a:solidFill>
          <a:ln w="12700">
            <a:solidFill>
              <a:srgbClr val="B83B2E">
                <a:alpha val="0"/>
              </a:srgbClr>
            </a:solidFill>
            <a:prstDash val="solid"/>
          </a:ln>
        </p:spPr>
      </p:sp>
      <p:pic>
        <p:nvPicPr>
          <p:cNvPr id="19" name="Image 0" descr="preencoded.png"/>
          <p:cNvPicPr>
            <a:picLocks noChangeAspect="1"/>
          </p:cNvPicPr>
          <p:nvPr/>
        </p:nvPicPr>
        <p:blipFill>
          <a:blip r:embed="rId3"/>
          <a:stretch>
            <a:fillRect/>
          </a:stretch>
        </p:blipFill>
        <p:spPr>
          <a:xfrm>
            <a:off x="722742" y="1563990"/>
            <a:ext cx="218724" cy="218724"/>
          </a:xfrm>
          <a:prstGeom prst="rect">
            <a:avLst/>
          </a:prstGeom>
        </p:spPr>
      </p:pic>
      <p:sp>
        <p:nvSpPr>
          <p:cNvPr id="20" name="Text 16"/>
          <p:cNvSpPr txBox="1"/>
          <p:nvPr/>
        </p:nvSpPr>
        <p:spPr>
          <a:xfrm>
            <a:off x="1143000" y="1472184"/>
            <a:ext cx="1691640" cy="411480"/>
          </a:xfrm>
          <a:prstGeom prst="rect">
            <a:avLst/>
          </a:prstGeom>
          <a:noFill/>
          <a:ln/>
        </p:spPr>
        <p:txBody>
          <a:bodyPr wrap="square" lIns="0" tIns="0" rIns="0" bIns="0" rtlCol="0" anchor="ctr"/>
          <a:lstStyle/>
          <a:p>
            <a:pPr marL="0" indent="0">
              <a:buNone/>
            </a:pPr>
            <a:r>
              <a:rPr lang="en-US" sz="1250" b="1" dirty="0">
                <a:solidFill>
                  <a:srgbClr val="231F20"/>
                </a:solidFill>
                <a:latin typeface="Calibri" pitchFamily="34" charset="0"/>
                <a:ea typeface="Calibri" pitchFamily="34" charset="-122"/>
                <a:cs typeface="Calibri" pitchFamily="34" charset="-120"/>
              </a:rPr>
              <a:t>Injection de prompt indirecte</a:t>
            </a:r>
            <a:endParaRPr lang="en-US" sz="1250" dirty="0"/>
          </a:p>
        </p:txBody>
      </p:sp>
      <p:sp>
        <p:nvSpPr>
          <p:cNvPr id="21" name="Text 17"/>
          <p:cNvSpPr txBox="1"/>
          <p:nvPr/>
        </p:nvSpPr>
        <p:spPr>
          <a:xfrm>
            <a:off x="621792" y="1965960"/>
            <a:ext cx="2194560" cy="713232"/>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Des instructions cachées dans les documents ingérés sont lues par le LLM comme des ordres.</a:t>
            </a:r>
            <a:endParaRPr lang="en-US" sz="1000" dirty="0"/>
          </a:p>
        </p:txBody>
      </p:sp>
      <p:sp>
        <p:nvSpPr>
          <p:cNvPr id="22" name="Shape 18"/>
          <p:cNvSpPr/>
          <p:nvPr/>
        </p:nvSpPr>
        <p:spPr>
          <a:xfrm>
            <a:off x="3063240" y="1325880"/>
            <a:ext cx="2468880" cy="1371600"/>
          </a:xfrm>
          <a:prstGeom prst="roundRect">
            <a:avLst>
              <a:gd name="adj" fmla="val 5333"/>
            </a:avLst>
          </a:prstGeom>
          <a:solidFill>
            <a:srgbClr val="F4F7F5"/>
          </a:solidFill>
          <a:ln w="9525">
            <a:solidFill>
              <a:srgbClr val="D5DED9"/>
            </a:solidFill>
            <a:prstDash val="solid"/>
          </a:ln>
        </p:spPr>
      </p:sp>
      <p:sp>
        <p:nvSpPr>
          <p:cNvPr id="23" name="Shape 19"/>
          <p:cNvSpPr/>
          <p:nvPr/>
        </p:nvSpPr>
        <p:spPr>
          <a:xfrm>
            <a:off x="3227832" y="1463040"/>
            <a:ext cx="420624" cy="420624"/>
          </a:xfrm>
          <a:prstGeom prst="ellipse">
            <a:avLst/>
          </a:prstGeom>
          <a:solidFill>
            <a:srgbClr val="B83B2E">
              <a:alpha val="22000"/>
            </a:srgbClr>
          </a:solidFill>
          <a:ln w="12700">
            <a:solidFill>
              <a:srgbClr val="B83B2E">
                <a:alpha val="0"/>
              </a:srgbClr>
            </a:solidFill>
            <a:prstDash val="solid"/>
          </a:ln>
        </p:spPr>
      </p:sp>
      <p:pic>
        <p:nvPicPr>
          <p:cNvPr id="24" name="Image 1" descr="preencoded.png"/>
          <p:cNvPicPr>
            <a:picLocks noChangeAspect="1"/>
          </p:cNvPicPr>
          <p:nvPr/>
        </p:nvPicPr>
        <p:blipFill>
          <a:blip r:embed="rId4"/>
          <a:stretch>
            <a:fillRect/>
          </a:stretch>
        </p:blipFill>
        <p:spPr>
          <a:xfrm>
            <a:off x="3328782" y="1563990"/>
            <a:ext cx="218724" cy="218724"/>
          </a:xfrm>
          <a:prstGeom prst="rect">
            <a:avLst/>
          </a:prstGeom>
        </p:spPr>
      </p:pic>
      <p:sp>
        <p:nvSpPr>
          <p:cNvPr id="25" name="Text 20"/>
          <p:cNvSpPr txBox="1"/>
          <p:nvPr/>
        </p:nvSpPr>
        <p:spPr>
          <a:xfrm>
            <a:off x="3749040" y="1472184"/>
            <a:ext cx="1691640" cy="411480"/>
          </a:xfrm>
          <a:prstGeom prst="rect">
            <a:avLst/>
          </a:prstGeom>
          <a:noFill/>
          <a:ln/>
        </p:spPr>
        <p:txBody>
          <a:bodyPr wrap="square" lIns="0" tIns="0" rIns="0" bIns="0" rtlCol="0" anchor="ctr"/>
          <a:lstStyle/>
          <a:p>
            <a:pPr marL="0" indent="0">
              <a:buNone/>
            </a:pPr>
            <a:r>
              <a:rPr lang="en-US" sz="1250" b="1" dirty="0">
                <a:solidFill>
                  <a:srgbClr val="231F20"/>
                </a:solidFill>
                <a:latin typeface="Calibri" pitchFamily="34" charset="0"/>
                <a:ea typeface="Calibri" pitchFamily="34" charset="-122"/>
                <a:cs typeface="Calibri" pitchFamily="34" charset="-120"/>
              </a:rPr>
              <a:t>Empoisonnement du savoir</a:t>
            </a:r>
            <a:endParaRPr lang="en-US" sz="1250" dirty="0"/>
          </a:p>
        </p:txBody>
      </p:sp>
      <p:sp>
        <p:nvSpPr>
          <p:cNvPr id="26" name="Text 21"/>
          <p:cNvSpPr txBox="1"/>
          <p:nvPr/>
        </p:nvSpPr>
        <p:spPr>
          <a:xfrm>
            <a:off x="3227832" y="1965960"/>
            <a:ext cx="2194560" cy="713232"/>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PoisonedRAG (Zou et al., 2024) : 5 textes forgés par question cible ont atteint ~90 % de réussite dans un corpus de millions de textes.</a:t>
            </a:r>
            <a:endParaRPr lang="en-US" sz="1000" dirty="0"/>
          </a:p>
        </p:txBody>
      </p:sp>
      <p:sp>
        <p:nvSpPr>
          <p:cNvPr id="27" name="Shape 22"/>
          <p:cNvSpPr/>
          <p:nvPr/>
        </p:nvSpPr>
        <p:spPr>
          <a:xfrm>
            <a:off x="457200" y="2807208"/>
            <a:ext cx="2468880" cy="1371600"/>
          </a:xfrm>
          <a:prstGeom prst="roundRect">
            <a:avLst>
              <a:gd name="adj" fmla="val 5333"/>
            </a:avLst>
          </a:prstGeom>
          <a:solidFill>
            <a:srgbClr val="F4F7F5"/>
          </a:solidFill>
          <a:ln w="9525">
            <a:solidFill>
              <a:srgbClr val="D5DED9"/>
            </a:solidFill>
            <a:prstDash val="solid"/>
          </a:ln>
        </p:spPr>
      </p:sp>
      <p:sp>
        <p:nvSpPr>
          <p:cNvPr id="28" name="Shape 23"/>
          <p:cNvSpPr/>
          <p:nvPr/>
        </p:nvSpPr>
        <p:spPr>
          <a:xfrm>
            <a:off x="621792" y="2944368"/>
            <a:ext cx="420624" cy="420624"/>
          </a:xfrm>
          <a:prstGeom prst="ellipse">
            <a:avLst/>
          </a:prstGeom>
          <a:solidFill>
            <a:srgbClr val="B83B2E">
              <a:alpha val="22000"/>
            </a:srgbClr>
          </a:solidFill>
          <a:ln w="12700">
            <a:solidFill>
              <a:srgbClr val="B83B2E">
                <a:alpha val="0"/>
              </a:srgbClr>
            </a:solidFill>
            <a:prstDash val="solid"/>
          </a:ln>
        </p:spPr>
      </p:sp>
      <p:pic>
        <p:nvPicPr>
          <p:cNvPr id="29" name="Image 2" descr="preencoded.png"/>
          <p:cNvPicPr>
            <a:picLocks noChangeAspect="1"/>
          </p:cNvPicPr>
          <p:nvPr/>
        </p:nvPicPr>
        <p:blipFill>
          <a:blip r:embed="rId5"/>
          <a:stretch>
            <a:fillRect/>
          </a:stretch>
        </p:blipFill>
        <p:spPr>
          <a:xfrm>
            <a:off x="722742" y="3045318"/>
            <a:ext cx="218724" cy="218724"/>
          </a:xfrm>
          <a:prstGeom prst="rect">
            <a:avLst/>
          </a:prstGeom>
        </p:spPr>
      </p:pic>
      <p:sp>
        <p:nvSpPr>
          <p:cNvPr id="30" name="Text 24"/>
          <p:cNvSpPr txBox="1"/>
          <p:nvPr/>
        </p:nvSpPr>
        <p:spPr>
          <a:xfrm>
            <a:off x="1143000" y="2953512"/>
            <a:ext cx="1691640" cy="411480"/>
          </a:xfrm>
          <a:prstGeom prst="rect">
            <a:avLst/>
          </a:prstGeom>
          <a:noFill/>
          <a:ln/>
        </p:spPr>
        <p:txBody>
          <a:bodyPr wrap="square" lIns="0" tIns="0" rIns="0" bIns="0" rtlCol="0" anchor="ctr"/>
          <a:lstStyle/>
          <a:p>
            <a:pPr marL="0" indent="0">
              <a:buNone/>
            </a:pPr>
            <a:r>
              <a:rPr lang="en-US" sz="1250" b="1" dirty="0">
                <a:solidFill>
                  <a:srgbClr val="231F20"/>
                </a:solidFill>
                <a:latin typeface="Calibri" pitchFamily="34" charset="0"/>
                <a:ea typeface="Calibri" pitchFamily="34" charset="-122"/>
                <a:cs typeface="Calibri" pitchFamily="34" charset="-120"/>
              </a:rPr>
              <a:t>Fuite de permissions</a:t>
            </a:r>
            <a:endParaRPr lang="en-US" sz="1250" dirty="0"/>
          </a:p>
        </p:txBody>
      </p:sp>
      <p:sp>
        <p:nvSpPr>
          <p:cNvPr id="31" name="Text 25"/>
          <p:cNvSpPr txBox="1"/>
          <p:nvPr/>
        </p:nvSpPr>
        <p:spPr>
          <a:xfrm>
            <a:off x="621792" y="3447288"/>
            <a:ext cx="2194560" cy="713232"/>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Les vecteurs n'héritent pas des droits des sources : un utilisateur peut récupérer ce qu'il ne devrait pas voir.</a:t>
            </a:r>
            <a:endParaRPr lang="en-US" sz="1000" dirty="0"/>
          </a:p>
        </p:txBody>
      </p:sp>
      <p:sp>
        <p:nvSpPr>
          <p:cNvPr id="32" name="Shape 26"/>
          <p:cNvSpPr/>
          <p:nvPr/>
        </p:nvSpPr>
        <p:spPr>
          <a:xfrm>
            <a:off x="3063240" y="2807208"/>
            <a:ext cx="2468880" cy="1371600"/>
          </a:xfrm>
          <a:prstGeom prst="roundRect">
            <a:avLst>
              <a:gd name="adj" fmla="val 5333"/>
            </a:avLst>
          </a:prstGeom>
          <a:solidFill>
            <a:srgbClr val="F4F7F5"/>
          </a:solidFill>
          <a:ln w="9525">
            <a:solidFill>
              <a:srgbClr val="D5DED9"/>
            </a:solidFill>
            <a:prstDash val="solid"/>
          </a:ln>
        </p:spPr>
      </p:sp>
      <p:sp>
        <p:nvSpPr>
          <p:cNvPr id="33" name="Shape 27"/>
          <p:cNvSpPr/>
          <p:nvPr/>
        </p:nvSpPr>
        <p:spPr>
          <a:xfrm>
            <a:off x="3227832" y="2944368"/>
            <a:ext cx="420624" cy="420624"/>
          </a:xfrm>
          <a:prstGeom prst="ellipse">
            <a:avLst/>
          </a:prstGeom>
          <a:solidFill>
            <a:srgbClr val="B83B2E">
              <a:alpha val="22000"/>
            </a:srgbClr>
          </a:solidFill>
          <a:ln w="12700">
            <a:solidFill>
              <a:srgbClr val="B83B2E">
                <a:alpha val="0"/>
              </a:srgbClr>
            </a:solidFill>
            <a:prstDash val="solid"/>
          </a:ln>
        </p:spPr>
      </p:sp>
      <p:pic>
        <p:nvPicPr>
          <p:cNvPr id="34" name="Image 3" descr="preencoded.png"/>
          <p:cNvPicPr>
            <a:picLocks noChangeAspect="1"/>
          </p:cNvPicPr>
          <p:nvPr/>
        </p:nvPicPr>
        <p:blipFill>
          <a:blip r:embed="rId6"/>
          <a:stretch>
            <a:fillRect/>
          </a:stretch>
        </p:blipFill>
        <p:spPr>
          <a:xfrm>
            <a:off x="3328782" y="3045318"/>
            <a:ext cx="218724" cy="218724"/>
          </a:xfrm>
          <a:prstGeom prst="rect">
            <a:avLst/>
          </a:prstGeom>
        </p:spPr>
      </p:pic>
      <p:sp>
        <p:nvSpPr>
          <p:cNvPr id="35" name="Text 28"/>
          <p:cNvSpPr txBox="1"/>
          <p:nvPr/>
        </p:nvSpPr>
        <p:spPr>
          <a:xfrm>
            <a:off x="3749040" y="2953512"/>
            <a:ext cx="1691640" cy="411480"/>
          </a:xfrm>
          <a:prstGeom prst="rect">
            <a:avLst/>
          </a:prstGeom>
          <a:noFill/>
          <a:ln/>
        </p:spPr>
        <p:txBody>
          <a:bodyPr wrap="square" lIns="0" tIns="0" rIns="0" bIns="0" rtlCol="0" anchor="ctr"/>
          <a:lstStyle/>
          <a:p>
            <a:pPr marL="0" indent="0">
              <a:buNone/>
            </a:pPr>
            <a:r>
              <a:rPr lang="en-US" sz="1250" b="1" dirty="0">
                <a:solidFill>
                  <a:srgbClr val="231F20"/>
                </a:solidFill>
                <a:latin typeface="Calibri" pitchFamily="34" charset="0"/>
                <a:ea typeface="Calibri" pitchFamily="34" charset="-122"/>
                <a:cs typeface="Calibri" pitchFamily="34" charset="-120"/>
              </a:rPr>
              <a:t>Inversion d'embeddings</a:t>
            </a:r>
            <a:endParaRPr lang="en-US" sz="1250" dirty="0"/>
          </a:p>
        </p:txBody>
      </p:sp>
      <p:sp>
        <p:nvSpPr>
          <p:cNvPr id="36" name="Text 29"/>
          <p:cNvSpPr txBox="1"/>
          <p:nvPr/>
        </p:nvSpPr>
        <p:spPr>
          <a:xfrm>
            <a:off x="3227832" y="3447288"/>
            <a:ext cx="2194560" cy="713232"/>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Une grande partie du texte d'origine peut être reconstruite depuis son embedding (Morris et al., 2023).</a:t>
            </a:r>
            <a:endParaRPr lang="en-US" sz="1000" dirty="0"/>
          </a:p>
        </p:txBody>
      </p:sp>
      <p:sp>
        <p:nvSpPr>
          <p:cNvPr id="37" name="Shape 30"/>
          <p:cNvSpPr/>
          <p:nvPr/>
        </p:nvSpPr>
        <p:spPr>
          <a:xfrm>
            <a:off x="5760720" y="1325880"/>
            <a:ext cx="2926080" cy="2852928"/>
          </a:xfrm>
          <a:prstGeom prst="roundRect">
            <a:avLst>
              <a:gd name="adj" fmla="val 2564"/>
            </a:avLst>
          </a:prstGeom>
          <a:solidFill>
            <a:srgbClr val="E8F5EF"/>
          </a:solidFill>
          <a:ln w="15875">
            <a:solidFill>
              <a:srgbClr val="00A86A"/>
            </a:solidFill>
            <a:prstDash val="solid"/>
          </a:ln>
        </p:spPr>
      </p:sp>
      <p:sp>
        <p:nvSpPr>
          <p:cNvPr id="38" name="Shape 31"/>
          <p:cNvSpPr/>
          <p:nvPr/>
        </p:nvSpPr>
        <p:spPr>
          <a:xfrm>
            <a:off x="5943600" y="1463040"/>
            <a:ext cx="457200" cy="457200"/>
          </a:xfrm>
          <a:prstGeom prst="ellipse">
            <a:avLst/>
          </a:prstGeom>
          <a:solidFill>
            <a:srgbClr val="00A86A">
              <a:alpha val="22000"/>
            </a:srgbClr>
          </a:solidFill>
          <a:ln w="12700">
            <a:solidFill>
              <a:srgbClr val="00A86A">
                <a:alpha val="0"/>
              </a:srgbClr>
            </a:solidFill>
            <a:prstDash val="solid"/>
          </a:ln>
        </p:spPr>
      </p:sp>
      <p:pic>
        <p:nvPicPr>
          <p:cNvPr id="39" name="Image 4" descr="preencoded.png"/>
          <p:cNvPicPr>
            <a:picLocks noChangeAspect="1"/>
          </p:cNvPicPr>
          <p:nvPr/>
        </p:nvPicPr>
        <p:blipFill>
          <a:blip r:embed="rId7"/>
          <a:stretch>
            <a:fillRect/>
          </a:stretch>
        </p:blipFill>
        <p:spPr>
          <a:xfrm>
            <a:off x="6053328" y="1572768"/>
            <a:ext cx="237744" cy="237744"/>
          </a:xfrm>
          <a:prstGeom prst="rect">
            <a:avLst/>
          </a:prstGeom>
        </p:spPr>
      </p:pic>
      <p:sp>
        <p:nvSpPr>
          <p:cNvPr id="40" name="Text 32"/>
          <p:cNvSpPr txBox="1"/>
          <p:nvPr/>
        </p:nvSpPr>
        <p:spPr>
          <a:xfrm>
            <a:off x="6510528" y="1536192"/>
            <a:ext cx="2011680" cy="320040"/>
          </a:xfrm>
          <a:prstGeom prst="rect">
            <a:avLst/>
          </a:prstGeom>
          <a:noFill/>
          <a:ln/>
        </p:spPr>
        <p:txBody>
          <a:bodyPr wrap="square" lIns="0" tIns="0" rIns="0" bIns="0" rtlCol="0" anchor="ctr"/>
          <a:lstStyle/>
          <a:p>
            <a:pPr marL="0" indent="0">
              <a:buNone/>
            </a:pPr>
            <a:r>
              <a:rPr lang="en-US" sz="1600" b="1" dirty="0">
                <a:solidFill>
                  <a:srgbClr val="00704A"/>
                </a:solidFill>
                <a:latin typeface="Calibri" pitchFamily="34" charset="0"/>
                <a:ea typeface="Calibri" pitchFamily="34" charset="-122"/>
                <a:cs typeface="Calibri" pitchFamily="34" charset="-120"/>
              </a:rPr>
              <a:t>Parades</a:t>
            </a:r>
            <a:endParaRPr lang="en-US" sz="1600" dirty="0"/>
          </a:p>
        </p:txBody>
      </p:sp>
      <p:sp>
        <p:nvSpPr>
          <p:cNvPr id="41" name="Text 33"/>
          <p:cNvSpPr txBox="1"/>
          <p:nvPr/>
        </p:nvSpPr>
        <p:spPr>
          <a:xfrm>
            <a:off x="5943600" y="2057400"/>
            <a:ext cx="2606040" cy="2057400"/>
          </a:xfrm>
          <a:prstGeom prst="rect">
            <a:avLst/>
          </a:prstGeom>
          <a:noFill/>
          <a:ln/>
        </p:spPr>
        <p:txBody>
          <a:bodyPr wrap="square" lIns="0" tIns="0" rIns="0" bIns="0" rtlCol="0" anchor="t"/>
          <a:lstStyle/>
          <a:p>
            <a:pPr marL="152400" indent="-152400">
              <a:spcAft>
                <a:spcPts val="600"/>
              </a:spcAft>
              <a:buSzPct val="100000"/>
              <a:buChar char="•"/>
            </a:pPr>
            <a:r>
              <a:rPr lang="en-US" sz="1000" dirty="0">
                <a:solidFill>
                  <a:srgbClr val="231F20"/>
                </a:solidFill>
                <a:latin typeface="Calibri" pitchFamily="34" charset="0"/>
                <a:ea typeface="Calibri" pitchFamily="34" charset="-122"/>
                <a:cs typeface="Calibri" pitchFamily="34" charset="-120"/>
              </a:rPr>
              <a:t>Valider et assainir les documents à l'ingestion</a:t>
            </a:r>
            <a:endParaRPr lang="en-US" sz="1000" dirty="0"/>
          </a:p>
          <a:p>
            <a:pPr marL="152400" indent="-152400">
              <a:spcAft>
                <a:spcPts val="600"/>
              </a:spcAft>
              <a:buSzPct val="100000"/>
              <a:buChar char="•"/>
            </a:pPr>
            <a:r>
              <a:rPr lang="en-US" sz="1000" dirty="0">
                <a:solidFill>
                  <a:srgbClr val="231F20"/>
                </a:solidFill>
                <a:latin typeface="Calibri" pitchFamily="34" charset="0"/>
                <a:ea typeface="Calibri" pitchFamily="34" charset="-122"/>
                <a:cs typeface="Calibri" pitchFamily="34" charset="-120"/>
              </a:rPr>
              <a:t>Appliquer les droits à la recherche ; cloisonner les clients</a:t>
            </a:r>
            <a:endParaRPr lang="en-US" sz="1000" dirty="0"/>
          </a:p>
          <a:p>
            <a:pPr marL="152400" indent="-152400">
              <a:spcAft>
                <a:spcPts val="600"/>
              </a:spcAft>
              <a:buSzPct val="100000"/>
              <a:buChar char="•"/>
            </a:pPr>
            <a:r>
              <a:rPr lang="en-US" sz="1000" dirty="0">
                <a:solidFill>
                  <a:srgbClr val="231F20"/>
                </a:solidFill>
                <a:latin typeface="Calibri" pitchFamily="34" charset="0"/>
                <a:ea typeface="Calibri" pitchFamily="34" charset="-122"/>
                <a:cs typeface="Calibri" pitchFamily="34" charset="-120"/>
              </a:rPr>
              <a:t>Traiter le texte récupéré comme des données, jamais comme des ordres</a:t>
            </a:r>
            <a:endParaRPr lang="en-US" sz="1000" dirty="0"/>
          </a:p>
          <a:p>
            <a:pPr marL="152400" indent="-152400">
              <a:spcAft>
                <a:spcPts val="600"/>
              </a:spcAft>
              <a:buSzPct val="100000"/>
              <a:buChar char="•"/>
            </a:pPr>
            <a:r>
              <a:rPr lang="en-US" sz="1000" dirty="0">
                <a:solidFill>
                  <a:srgbClr val="231F20"/>
                </a:solidFill>
                <a:latin typeface="Calibri" pitchFamily="34" charset="0"/>
                <a:ea typeface="Calibri" pitchFamily="34" charset="-122"/>
                <a:cs typeface="Calibri" pitchFamily="34" charset="-120"/>
              </a:rPr>
              <a:t>Limiter les outils et actions que le LLM peut déclencher</a:t>
            </a:r>
            <a:endParaRPr lang="en-US" sz="1000" dirty="0"/>
          </a:p>
          <a:p>
            <a:pPr marL="152400" indent="-152400">
              <a:spcAft>
                <a:spcPts val="600"/>
              </a:spcAft>
              <a:buSzPct val="100000"/>
              <a:buChar char="•"/>
            </a:pPr>
            <a:r>
              <a:rPr lang="en-US" sz="1000" dirty="0">
                <a:solidFill>
                  <a:srgbClr val="231F20"/>
                </a:solidFill>
                <a:latin typeface="Calibri" pitchFamily="34" charset="0"/>
                <a:ea typeface="Calibri" pitchFamily="34" charset="-122"/>
                <a:cs typeface="Calibri" pitchFamily="34" charset="-120"/>
              </a:rPr>
              <a:t>Chiffrer les bases vectorielles ; journaliser et surveiller</a:t>
            </a:r>
            <a:endParaRPr lang="en-US" sz="1000" dirty="0"/>
          </a:p>
        </p:txBody>
      </p:sp>
      <p:sp>
        <p:nvSpPr>
          <p:cNvPr id="42" name="Shape 34"/>
          <p:cNvSpPr/>
          <p:nvPr/>
        </p:nvSpPr>
        <p:spPr>
          <a:xfrm>
            <a:off x="457200" y="4297680"/>
            <a:ext cx="8229600" cy="384048"/>
          </a:xfrm>
          <a:prstGeom prst="roundRect">
            <a:avLst>
              <a:gd name="adj" fmla="val 19048"/>
            </a:avLst>
          </a:prstGeom>
          <a:solidFill>
            <a:srgbClr val="D49A00">
              <a:alpha val="13000"/>
            </a:srgbClr>
          </a:solidFill>
          <a:ln w="9525">
            <a:solidFill>
              <a:srgbClr val="D49A00"/>
            </a:solidFill>
            <a:prstDash val="solid"/>
          </a:ln>
        </p:spPr>
      </p:sp>
      <p:pic>
        <p:nvPicPr>
          <p:cNvPr id="43" name="Image 5" descr="preencoded.png"/>
          <p:cNvPicPr>
            <a:picLocks noChangeAspect="1"/>
          </p:cNvPicPr>
          <p:nvPr/>
        </p:nvPicPr>
        <p:blipFill>
          <a:blip r:embed="rId8"/>
          <a:stretch>
            <a:fillRect/>
          </a:stretch>
        </p:blipFill>
        <p:spPr>
          <a:xfrm>
            <a:off x="621792" y="4361688"/>
            <a:ext cx="256032" cy="256032"/>
          </a:xfrm>
          <a:prstGeom prst="rect">
            <a:avLst/>
          </a:prstGeom>
        </p:spPr>
      </p:pic>
      <p:sp>
        <p:nvSpPr>
          <p:cNvPr id="44" name="Text 35"/>
          <p:cNvSpPr txBox="1"/>
          <p:nvPr/>
        </p:nvSpPr>
        <p:spPr>
          <a:xfrm>
            <a:off x="1005840" y="4297680"/>
            <a:ext cx="7498080" cy="384048"/>
          </a:xfrm>
          <a:prstGeom prst="rect">
            <a:avLst/>
          </a:prstGeom>
          <a:noFill/>
          <a:ln/>
        </p:spPr>
        <p:txBody>
          <a:bodyPr wrap="square" lIns="0" tIns="0" rIns="0" bIns="0" rtlCol="0" anchor="ctr"/>
          <a:lstStyle/>
          <a:p>
            <a:pPr marL="0" indent="0">
              <a:buNone/>
            </a:pPr>
            <a:r>
              <a:rPr lang="en-US" sz="1150" b="1" dirty="0">
                <a:solidFill>
                  <a:srgbClr val="D49A00"/>
                </a:solidFill>
                <a:latin typeface="Calibri" pitchFamily="34" charset="0"/>
                <a:ea typeface="Calibri" pitchFamily="34" charset="-122"/>
                <a:cs typeface="Calibri" pitchFamily="34" charset="-120"/>
              </a:rPr>
              <a:t>OWASP Top 10 for LLM Applications 2025 </a:t>
            </a:r>
            <a:r>
              <a:rPr lang="en-US" sz="1150" dirty="0">
                <a:solidFill>
                  <a:srgbClr val="231F20"/>
                </a:solidFill>
                <a:latin typeface="Calibri" pitchFamily="34" charset="0"/>
                <a:ea typeface="Calibri" pitchFamily="34" charset="-122"/>
                <a:cs typeface="Calibri" pitchFamily="34" charset="-120"/>
              </a:rPr>
              <a:t>inclut désormais « LLM08: Vector and Embedding Weaknesses ».</a:t>
            </a:r>
            <a:endParaRPr lang="en-US" sz="1150" dirty="0"/>
          </a:p>
        </p:txBody>
      </p:sp>
    </p:spTree>
  </p:cSld>
  <p:clrMapOvr>
    <a:masterClrMapping/>
  </p:clrMapOvr>
  <p:transition spd="med">
    <p:fade/>
  </p:transition>
</p:sld>
</file>

<file path=ppt/slides/slide39.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0704A"/>
                </a:solidFill>
                <a:latin typeface="Calibri" pitchFamily="34" charset="0"/>
                <a:ea typeface="Calibri" pitchFamily="34" charset="-122"/>
                <a:cs typeface="Calibri" pitchFamily="34" charset="-120"/>
              </a:rPr>
              <a:t>06 · PRODUCTION</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La pile technologique du RAG</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B83B2E"/>
          </a:solidFill>
          <a:ln w="12700">
            <a:solidFill>
              <a:srgbClr val="B83B2E"/>
            </a:solidFill>
            <a:prstDash val="solid"/>
          </a:ln>
        </p:spPr>
      </p:sp>
      <p:sp>
        <p:nvSpPr>
          <p:cNvPr id="14" name="Text 12"/>
          <p:cNvSpPr txBox="1"/>
          <p:nvPr/>
        </p:nvSpPr>
        <p:spPr>
          <a:xfrm>
            <a:off x="457200" y="4846320"/>
            <a:ext cx="694944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ATI · Big Data pour les statistiques macroéconomiques · Maurice, 26–30 oct. 2026   |   BAD · Data Innovation for Africa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39</a:t>
            </a:r>
            <a:endParaRPr lang="en-US" sz="850" dirty="0"/>
          </a:p>
        </p:txBody>
      </p:sp>
      <p:sp>
        <p:nvSpPr>
          <p:cNvPr id="17" name="Shape 14"/>
          <p:cNvSpPr/>
          <p:nvPr/>
        </p:nvSpPr>
        <p:spPr>
          <a:xfrm>
            <a:off x="457200" y="1325880"/>
            <a:ext cx="1554480" cy="2834640"/>
          </a:xfrm>
          <a:prstGeom prst="roundRect">
            <a:avLst>
              <a:gd name="adj" fmla="val 4706"/>
            </a:avLst>
          </a:prstGeom>
          <a:solidFill>
            <a:srgbClr val="F4F7F5"/>
          </a:solidFill>
          <a:ln w="9525">
            <a:solidFill>
              <a:srgbClr val="D5DED9"/>
            </a:solidFill>
            <a:prstDash val="solid"/>
          </a:ln>
        </p:spPr>
      </p:sp>
      <p:sp>
        <p:nvSpPr>
          <p:cNvPr id="18" name="Shape 15"/>
          <p:cNvSpPr/>
          <p:nvPr/>
        </p:nvSpPr>
        <p:spPr>
          <a:xfrm>
            <a:off x="960120" y="1444752"/>
            <a:ext cx="548640" cy="548640"/>
          </a:xfrm>
          <a:prstGeom prst="ellipse">
            <a:avLst/>
          </a:prstGeom>
          <a:solidFill>
            <a:srgbClr val="00704A">
              <a:alpha val="22000"/>
            </a:srgbClr>
          </a:solidFill>
          <a:ln w="12700">
            <a:solidFill>
              <a:srgbClr val="00704A">
                <a:alpha val="0"/>
              </a:srgbClr>
            </a:solidFill>
            <a:prstDash val="solid"/>
          </a:ln>
        </p:spPr>
      </p:sp>
      <p:pic>
        <p:nvPicPr>
          <p:cNvPr id="19" name="Image 0" descr="preencoded.png"/>
          <p:cNvPicPr>
            <a:picLocks noChangeAspect="1"/>
          </p:cNvPicPr>
          <p:nvPr/>
        </p:nvPicPr>
        <p:blipFill>
          <a:blip r:embed="rId3"/>
          <a:stretch>
            <a:fillRect/>
          </a:stretch>
        </p:blipFill>
        <p:spPr>
          <a:xfrm>
            <a:off x="1091794" y="1576426"/>
            <a:ext cx="285293" cy="285293"/>
          </a:xfrm>
          <a:prstGeom prst="rect">
            <a:avLst/>
          </a:prstGeom>
        </p:spPr>
      </p:pic>
      <p:sp>
        <p:nvSpPr>
          <p:cNvPr id="20" name="Text 16"/>
          <p:cNvSpPr txBox="1"/>
          <p:nvPr/>
        </p:nvSpPr>
        <p:spPr>
          <a:xfrm>
            <a:off x="502920" y="2057400"/>
            <a:ext cx="1463040" cy="274320"/>
          </a:xfrm>
          <a:prstGeom prst="rect">
            <a:avLst/>
          </a:prstGeom>
          <a:noFill/>
          <a:ln/>
        </p:spPr>
        <p:txBody>
          <a:bodyPr wrap="square" lIns="0" tIns="0" rIns="0" bIns="0" rtlCol="0" anchor="ctr"/>
          <a:lstStyle/>
          <a:p>
            <a:pPr marL="0" indent="0" algn="ctr">
              <a:buNone/>
            </a:pPr>
            <a:r>
              <a:rPr lang="en-US" sz="1400" b="1" dirty="0">
                <a:solidFill>
                  <a:srgbClr val="231F20"/>
                </a:solidFill>
                <a:latin typeface="Calibri" pitchFamily="34" charset="0"/>
                <a:ea typeface="Calibri" pitchFamily="34" charset="-122"/>
                <a:cs typeface="Calibri" pitchFamily="34" charset="-120"/>
              </a:rPr>
              <a:t>Orchestration</a:t>
            </a:r>
            <a:endParaRPr lang="en-US" sz="1400" dirty="0"/>
          </a:p>
        </p:txBody>
      </p:sp>
      <p:sp>
        <p:nvSpPr>
          <p:cNvPr id="21" name="Shape 17"/>
          <p:cNvSpPr/>
          <p:nvPr/>
        </p:nvSpPr>
        <p:spPr>
          <a:xfrm>
            <a:off x="566928" y="2432304"/>
            <a:ext cx="1335024" cy="338328"/>
          </a:xfrm>
          <a:prstGeom prst="roundRect">
            <a:avLst>
              <a:gd name="adj" fmla="val 21622"/>
            </a:avLst>
          </a:prstGeom>
          <a:solidFill>
            <a:srgbClr val="FFFFFF"/>
          </a:solidFill>
          <a:ln w="9525">
            <a:solidFill>
              <a:srgbClr val="D5DED9"/>
            </a:solidFill>
            <a:prstDash val="solid"/>
          </a:ln>
        </p:spPr>
      </p:sp>
      <p:sp>
        <p:nvSpPr>
          <p:cNvPr id="22" name="Text 18"/>
          <p:cNvSpPr txBox="1"/>
          <p:nvPr/>
        </p:nvSpPr>
        <p:spPr>
          <a:xfrm>
            <a:off x="566928" y="2432304"/>
            <a:ext cx="1335024" cy="338328"/>
          </a:xfrm>
          <a:prstGeom prst="rect">
            <a:avLst/>
          </a:prstGeom>
          <a:noFill/>
          <a:ln/>
        </p:spPr>
        <p:txBody>
          <a:bodyPr wrap="square" lIns="0" tIns="0" rIns="0" bIns="0" rtlCol="0" anchor="ctr">
            <a:normAutofit/>
          </a:bodyPr>
          <a:lstStyle/>
          <a:p>
            <a:pPr marL="0" indent="0" algn="ctr">
              <a:buNone/>
            </a:pPr>
            <a:r>
              <a:rPr lang="en-US" sz="1000" dirty="0">
                <a:solidFill>
                  <a:srgbClr val="231F20"/>
                </a:solidFill>
                <a:latin typeface="Calibri" pitchFamily="34" charset="0"/>
                <a:ea typeface="Calibri" pitchFamily="34" charset="-122"/>
                <a:cs typeface="Calibri" pitchFamily="34" charset="-120"/>
              </a:rPr>
              <a:t>LangChain</a:t>
            </a:r>
            <a:endParaRPr lang="en-US" sz="1000" dirty="0"/>
          </a:p>
        </p:txBody>
      </p:sp>
      <p:sp>
        <p:nvSpPr>
          <p:cNvPr id="23" name="Shape 19"/>
          <p:cNvSpPr/>
          <p:nvPr/>
        </p:nvSpPr>
        <p:spPr>
          <a:xfrm>
            <a:off x="566928" y="2852928"/>
            <a:ext cx="1335024" cy="338328"/>
          </a:xfrm>
          <a:prstGeom prst="roundRect">
            <a:avLst>
              <a:gd name="adj" fmla="val 21622"/>
            </a:avLst>
          </a:prstGeom>
          <a:solidFill>
            <a:srgbClr val="FFFFFF"/>
          </a:solidFill>
          <a:ln w="9525">
            <a:solidFill>
              <a:srgbClr val="D5DED9"/>
            </a:solidFill>
            <a:prstDash val="solid"/>
          </a:ln>
        </p:spPr>
      </p:sp>
      <p:sp>
        <p:nvSpPr>
          <p:cNvPr id="24" name="Text 20"/>
          <p:cNvSpPr txBox="1"/>
          <p:nvPr/>
        </p:nvSpPr>
        <p:spPr>
          <a:xfrm>
            <a:off x="566928" y="2852928"/>
            <a:ext cx="1335024" cy="338328"/>
          </a:xfrm>
          <a:prstGeom prst="rect">
            <a:avLst/>
          </a:prstGeom>
          <a:noFill/>
          <a:ln/>
        </p:spPr>
        <p:txBody>
          <a:bodyPr wrap="square" lIns="0" tIns="0" rIns="0" bIns="0" rtlCol="0" anchor="ctr">
            <a:normAutofit/>
          </a:bodyPr>
          <a:lstStyle/>
          <a:p>
            <a:pPr marL="0" indent="0" algn="ctr">
              <a:buNone/>
            </a:pPr>
            <a:r>
              <a:rPr lang="en-US" sz="1000" dirty="0">
                <a:solidFill>
                  <a:srgbClr val="231F20"/>
                </a:solidFill>
                <a:latin typeface="Calibri" pitchFamily="34" charset="0"/>
                <a:ea typeface="Calibri" pitchFamily="34" charset="-122"/>
                <a:cs typeface="Calibri" pitchFamily="34" charset="-120"/>
              </a:rPr>
              <a:t>LlamaIndex</a:t>
            </a:r>
            <a:endParaRPr lang="en-US" sz="1000" dirty="0"/>
          </a:p>
        </p:txBody>
      </p:sp>
      <p:sp>
        <p:nvSpPr>
          <p:cNvPr id="25" name="Shape 21"/>
          <p:cNvSpPr/>
          <p:nvPr/>
        </p:nvSpPr>
        <p:spPr>
          <a:xfrm>
            <a:off x="566928" y="3273552"/>
            <a:ext cx="1335024" cy="338328"/>
          </a:xfrm>
          <a:prstGeom prst="roundRect">
            <a:avLst>
              <a:gd name="adj" fmla="val 21622"/>
            </a:avLst>
          </a:prstGeom>
          <a:solidFill>
            <a:srgbClr val="FFFFFF"/>
          </a:solidFill>
          <a:ln w="9525">
            <a:solidFill>
              <a:srgbClr val="D5DED9"/>
            </a:solidFill>
            <a:prstDash val="solid"/>
          </a:ln>
        </p:spPr>
      </p:sp>
      <p:sp>
        <p:nvSpPr>
          <p:cNvPr id="26" name="Text 22"/>
          <p:cNvSpPr txBox="1"/>
          <p:nvPr/>
        </p:nvSpPr>
        <p:spPr>
          <a:xfrm>
            <a:off x="566928" y="3273552"/>
            <a:ext cx="1335024" cy="338328"/>
          </a:xfrm>
          <a:prstGeom prst="rect">
            <a:avLst/>
          </a:prstGeom>
          <a:noFill/>
          <a:ln/>
        </p:spPr>
        <p:txBody>
          <a:bodyPr wrap="square" lIns="0" tIns="0" rIns="0" bIns="0" rtlCol="0" anchor="ctr">
            <a:normAutofit/>
          </a:bodyPr>
          <a:lstStyle/>
          <a:p>
            <a:pPr marL="0" indent="0" algn="ctr">
              <a:buNone/>
            </a:pPr>
            <a:r>
              <a:rPr lang="en-US" sz="1000" dirty="0">
                <a:solidFill>
                  <a:srgbClr val="231F20"/>
                </a:solidFill>
                <a:latin typeface="Calibri" pitchFamily="34" charset="0"/>
                <a:ea typeface="Calibri" pitchFamily="34" charset="-122"/>
                <a:cs typeface="Calibri" pitchFamily="34" charset="-120"/>
              </a:rPr>
              <a:t>Haystack</a:t>
            </a:r>
            <a:endParaRPr lang="en-US" sz="1000" dirty="0"/>
          </a:p>
        </p:txBody>
      </p:sp>
      <p:sp>
        <p:nvSpPr>
          <p:cNvPr id="27" name="Shape 23"/>
          <p:cNvSpPr/>
          <p:nvPr/>
        </p:nvSpPr>
        <p:spPr>
          <a:xfrm>
            <a:off x="566928" y="3694176"/>
            <a:ext cx="1335024" cy="338328"/>
          </a:xfrm>
          <a:prstGeom prst="roundRect">
            <a:avLst>
              <a:gd name="adj" fmla="val 21622"/>
            </a:avLst>
          </a:prstGeom>
          <a:solidFill>
            <a:srgbClr val="FFFFFF"/>
          </a:solidFill>
          <a:ln w="9525">
            <a:solidFill>
              <a:srgbClr val="D5DED9"/>
            </a:solidFill>
            <a:prstDash val="solid"/>
          </a:ln>
        </p:spPr>
      </p:sp>
      <p:sp>
        <p:nvSpPr>
          <p:cNvPr id="28" name="Text 24"/>
          <p:cNvSpPr txBox="1"/>
          <p:nvPr/>
        </p:nvSpPr>
        <p:spPr>
          <a:xfrm>
            <a:off x="566928" y="3694176"/>
            <a:ext cx="1335024" cy="338328"/>
          </a:xfrm>
          <a:prstGeom prst="rect">
            <a:avLst/>
          </a:prstGeom>
          <a:noFill/>
          <a:ln/>
        </p:spPr>
        <p:txBody>
          <a:bodyPr wrap="square" lIns="0" tIns="0" rIns="0" bIns="0" rtlCol="0" anchor="ctr">
            <a:normAutofit/>
          </a:bodyPr>
          <a:lstStyle/>
          <a:p>
            <a:pPr marL="0" indent="0" algn="ctr">
              <a:buNone/>
            </a:pPr>
            <a:r>
              <a:rPr lang="en-US" sz="1000" dirty="0">
                <a:solidFill>
                  <a:srgbClr val="231F20"/>
                </a:solidFill>
                <a:latin typeface="Calibri" pitchFamily="34" charset="0"/>
                <a:ea typeface="Calibri" pitchFamily="34" charset="-122"/>
                <a:cs typeface="Calibri" pitchFamily="34" charset="-120"/>
              </a:rPr>
              <a:t>DSPy</a:t>
            </a:r>
            <a:endParaRPr lang="en-US" sz="1000" dirty="0"/>
          </a:p>
        </p:txBody>
      </p:sp>
      <p:sp>
        <p:nvSpPr>
          <p:cNvPr id="29" name="Shape 25"/>
          <p:cNvSpPr/>
          <p:nvPr/>
        </p:nvSpPr>
        <p:spPr>
          <a:xfrm>
            <a:off x="2139696" y="1325880"/>
            <a:ext cx="1554480" cy="2834640"/>
          </a:xfrm>
          <a:prstGeom prst="roundRect">
            <a:avLst>
              <a:gd name="adj" fmla="val 4706"/>
            </a:avLst>
          </a:prstGeom>
          <a:solidFill>
            <a:srgbClr val="F4F7F5"/>
          </a:solidFill>
          <a:ln w="9525">
            <a:solidFill>
              <a:srgbClr val="D5DED9"/>
            </a:solidFill>
            <a:prstDash val="solid"/>
          </a:ln>
        </p:spPr>
      </p:sp>
      <p:sp>
        <p:nvSpPr>
          <p:cNvPr id="30" name="Shape 26"/>
          <p:cNvSpPr/>
          <p:nvPr/>
        </p:nvSpPr>
        <p:spPr>
          <a:xfrm>
            <a:off x="2642616" y="1444752"/>
            <a:ext cx="548640" cy="548640"/>
          </a:xfrm>
          <a:prstGeom prst="ellipse">
            <a:avLst/>
          </a:prstGeom>
          <a:solidFill>
            <a:srgbClr val="0E7C86">
              <a:alpha val="22000"/>
            </a:srgbClr>
          </a:solidFill>
          <a:ln w="12700">
            <a:solidFill>
              <a:srgbClr val="0E7C86">
                <a:alpha val="0"/>
              </a:srgbClr>
            </a:solidFill>
            <a:prstDash val="solid"/>
          </a:ln>
        </p:spPr>
      </p:sp>
      <p:pic>
        <p:nvPicPr>
          <p:cNvPr id="31" name="Image 1" descr="preencoded.png"/>
          <p:cNvPicPr>
            <a:picLocks noChangeAspect="1"/>
          </p:cNvPicPr>
          <p:nvPr/>
        </p:nvPicPr>
        <p:blipFill>
          <a:blip r:embed="rId4"/>
          <a:stretch>
            <a:fillRect/>
          </a:stretch>
        </p:blipFill>
        <p:spPr>
          <a:xfrm>
            <a:off x="2774290" y="1576426"/>
            <a:ext cx="285293" cy="285293"/>
          </a:xfrm>
          <a:prstGeom prst="rect">
            <a:avLst/>
          </a:prstGeom>
        </p:spPr>
      </p:pic>
      <p:sp>
        <p:nvSpPr>
          <p:cNvPr id="32" name="Text 27"/>
          <p:cNvSpPr txBox="1"/>
          <p:nvPr/>
        </p:nvSpPr>
        <p:spPr>
          <a:xfrm>
            <a:off x="2185416" y="2057400"/>
            <a:ext cx="1463040" cy="274320"/>
          </a:xfrm>
          <a:prstGeom prst="rect">
            <a:avLst/>
          </a:prstGeom>
          <a:noFill/>
          <a:ln/>
        </p:spPr>
        <p:txBody>
          <a:bodyPr wrap="square" lIns="0" tIns="0" rIns="0" bIns="0" rtlCol="0" anchor="ctr"/>
          <a:lstStyle/>
          <a:p>
            <a:pPr marL="0" indent="0" algn="ctr">
              <a:buNone/>
            </a:pPr>
            <a:r>
              <a:rPr lang="en-US" sz="1400" b="1" dirty="0">
                <a:solidFill>
                  <a:srgbClr val="231F20"/>
                </a:solidFill>
                <a:latin typeface="Calibri" pitchFamily="34" charset="0"/>
                <a:ea typeface="Calibri" pitchFamily="34" charset="-122"/>
                <a:cs typeface="Calibri" pitchFamily="34" charset="-120"/>
              </a:rPr>
              <a:t>Extraction</a:t>
            </a:r>
            <a:endParaRPr lang="en-US" sz="1400" dirty="0"/>
          </a:p>
        </p:txBody>
      </p:sp>
      <p:sp>
        <p:nvSpPr>
          <p:cNvPr id="33" name="Shape 28"/>
          <p:cNvSpPr/>
          <p:nvPr/>
        </p:nvSpPr>
        <p:spPr>
          <a:xfrm>
            <a:off x="2249424" y="2432304"/>
            <a:ext cx="1335024" cy="338328"/>
          </a:xfrm>
          <a:prstGeom prst="roundRect">
            <a:avLst>
              <a:gd name="adj" fmla="val 21622"/>
            </a:avLst>
          </a:prstGeom>
          <a:solidFill>
            <a:srgbClr val="FFFFFF"/>
          </a:solidFill>
          <a:ln w="9525">
            <a:solidFill>
              <a:srgbClr val="D5DED9"/>
            </a:solidFill>
            <a:prstDash val="solid"/>
          </a:ln>
        </p:spPr>
      </p:sp>
      <p:sp>
        <p:nvSpPr>
          <p:cNvPr id="34" name="Text 29"/>
          <p:cNvSpPr txBox="1"/>
          <p:nvPr/>
        </p:nvSpPr>
        <p:spPr>
          <a:xfrm>
            <a:off x="2249424" y="2432304"/>
            <a:ext cx="1335024" cy="338328"/>
          </a:xfrm>
          <a:prstGeom prst="rect">
            <a:avLst/>
          </a:prstGeom>
          <a:noFill/>
          <a:ln/>
        </p:spPr>
        <p:txBody>
          <a:bodyPr wrap="square" lIns="0" tIns="0" rIns="0" bIns="0" rtlCol="0" anchor="ctr">
            <a:normAutofit/>
          </a:bodyPr>
          <a:lstStyle/>
          <a:p>
            <a:pPr marL="0" indent="0" algn="ctr">
              <a:buNone/>
            </a:pPr>
            <a:r>
              <a:rPr lang="en-US" sz="1000" dirty="0">
                <a:solidFill>
                  <a:srgbClr val="231F20"/>
                </a:solidFill>
                <a:latin typeface="Calibri" pitchFamily="34" charset="0"/>
                <a:ea typeface="Calibri" pitchFamily="34" charset="-122"/>
                <a:cs typeface="Calibri" pitchFamily="34" charset="-120"/>
              </a:rPr>
              <a:t>Unstructured</a:t>
            </a:r>
            <a:endParaRPr lang="en-US" sz="1000" dirty="0"/>
          </a:p>
        </p:txBody>
      </p:sp>
      <p:sp>
        <p:nvSpPr>
          <p:cNvPr id="35" name="Shape 30"/>
          <p:cNvSpPr/>
          <p:nvPr/>
        </p:nvSpPr>
        <p:spPr>
          <a:xfrm>
            <a:off x="2249424" y="2852928"/>
            <a:ext cx="1335024" cy="338328"/>
          </a:xfrm>
          <a:prstGeom prst="roundRect">
            <a:avLst>
              <a:gd name="adj" fmla="val 21622"/>
            </a:avLst>
          </a:prstGeom>
          <a:solidFill>
            <a:srgbClr val="FFFFFF"/>
          </a:solidFill>
          <a:ln w="9525">
            <a:solidFill>
              <a:srgbClr val="D5DED9"/>
            </a:solidFill>
            <a:prstDash val="solid"/>
          </a:ln>
        </p:spPr>
      </p:sp>
      <p:sp>
        <p:nvSpPr>
          <p:cNvPr id="36" name="Text 31"/>
          <p:cNvSpPr txBox="1"/>
          <p:nvPr/>
        </p:nvSpPr>
        <p:spPr>
          <a:xfrm>
            <a:off x="2249424" y="2852928"/>
            <a:ext cx="1335024" cy="338328"/>
          </a:xfrm>
          <a:prstGeom prst="rect">
            <a:avLst/>
          </a:prstGeom>
          <a:noFill/>
          <a:ln/>
        </p:spPr>
        <p:txBody>
          <a:bodyPr wrap="square" lIns="0" tIns="0" rIns="0" bIns="0" rtlCol="0" anchor="ctr">
            <a:normAutofit/>
          </a:bodyPr>
          <a:lstStyle/>
          <a:p>
            <a:pPr marL="0" indent="0" algn="ctr">
              <a:buNone/>
            </a:pPr>
            <a:r>
              <a:rPr lang="en-US" sz="1000" dirty="0">
                <a:solidFill>
                  <a:srgbClr val="231F20"/>
                </a:solidFill>
                <a:latin typeface="Calibri" pitchFamily="34" charset="0"/>
                <a:ea typeface="Calibri" pitchFamily="34" charset="-122"/>
                <a:cs typeface="Calibri" pitchFamily="34" charset="-120"/>
              </a:rPr>
              <a:t>Docling</a:t>
            </a:r>
            <a:endParaRPr lang="en-US" sz="1000" dirty="0"/>
          </a:p>
        </p:txBody>
      </p:sp>
      <p:sp>
        <p:nvSpPr>
          <p:cNvPr id="37" name="Shape 32"/>
          <p:cNvSpPr/>
          <p:nvPr/>
        </p:nvSpPr>
        <p:spPr>
          <a:xfrm>
            <a:off x="2249424" y="3273552"/>
            <a:ext cx="1335024" cy="338328"/>
          </a:xfrm>
          <a:prstGeom prst="roundRect">
            <a:avLst>
              <a:gd name="adj" fmla="val 21622"/>
            </a:avLst>
          </a:prstGeom>
          <a:solidFill>
            <a:srgbClr val="FFFFFF"/>
          </a:solidFill>
          <a:ln w="9525">
            <a:solidFill>
              <a:srgbClr val="D5DED9"/>
            </a:solidFill>
            <a:prstDash val="solid"/>
          </a:ln>
        </p:spPr>
      </p:sp>
      <p:sp>
        <p:nvSpPr>
          <p:cNvPr id="38" name="Text 33"/>
          <p:cNvSpPr txBox="1"/>
          <p:nvPr/>
        </p:nvSpPr>
        <p:spPr>
          <a:xfrm>
            <a:off x="2249424" y="3273552"/>
            <a:ext cx="1335024" cy="338328"/>
          </a:xfrm>
          <a:prstGeom prst="rect">
            <a:avLst/>
          </a:prstGeom>
          <a:noFill/>
          <a:ln/>
        </p:spPr>
        <p:txBody>
          <a:bodyPr wrap="square" lIns="0" tIns="0" rIns="0" bIns="0" rtlCol="0" anchor="ctr">
            <a:normAutofit/>
          </a:bodyPr>
          <a:lstStyle/>
          <a:p>
            <a:pPr marL="0" indent="0" algn="ctr">
              <a:buNone/>
            </a:pPr>
            <a:r>
              <a:rPr lang="en-US" sz="1000" dirty="0">
                <a:solidFill>
                  <a:srgbClr val="231F20"/>
                </a:solidFill>
                <a:latin typeface="Calibri" pitchFamily="34" charset="0"/>
                <a:ea typeface="Calibri" pitchFamily="34" charset="-122"/>
                <a:cs typeface="Calibri" pitchFamily="34" charset="-120"/>
              </a:rPr>
              <a:t>LlamaParse</a:t>
            </a:r>
            <a:endParaRPr lang="en-US" sz="1000" dirty="0"/>
          </a:p>
        </p:txBody>
      </p:sp>
      <p:sp>
        <p:nvSpPr>
          <p:cNvPr id="39" name="Shape 34"/>
          <p:cNvSpPr/>
          <p:nvPr/>
        </p:nvSpPr>
        <p:spPr>
          <a:xfrm>
            <a:off x="2249424" y="3694176"/>
            <a:ext cx="1335024" cy="338328"/>
          </a:xfrm>
          <a:prstGeom prst="roundRect">
            <a:avLst>
              <a:gd name="adj" fmla="val 21622"/>
            </a:avLst>
          </a:prstGeom>
          <a:solidFill>
            <a:srgbClr val="FFFFFF"/>
          </a:solidFill>
          <a:ln w="9525">
            <a:solidFill>
              <a:srgbClr val="D5DED9"/>
            </a:solidFill>
            <a:prstDash val="solid"/>
          </a:ln>
        </p:spPr>
      </p:sp>
      <p:sp>
        <p:nvSpPr>
          <p:cNvPr id="40" name="Text 35"/>
          <p:cNvSpPr txBox="1"/>
          <p:nvPr/>
        </p:nvSpPr>
        <p:spPr>
          <a:xfrm>
            <a:off x="2249424" y="3694176"/>
            <a:ext cx="1335024" cy="338328"/>
          </a:xfrm>
          <a:prstGeom prst="rect">
            <a:avLst/>
          </a:prstGeom>
          <a:noFill/>
          <a:ln/>
        </p:spPr>
        <p:txBody>
          <a:bodyPr wrap="square" lIns="0" tIns="0" rIns="0" bIns="0" rtlCol="0" anchor="ctr">
            <a:normAutofit/>
          </a:bodyPr>
          <a:lstStyle/>
          <a:p>
            <a:pPr marL="0" indent="0" algn="ctr">
              <a:buNone/>
            </a:pPr>
            <a:r>
              <a:rPr lang="en-US" sz="1000" dirty="0">
                <a:solidFill>
                  <a:srgbClr val="231F20"/>
                </a:solidFill>
                <a:latin typeface="Calibri" pitchFamily="34" charset="0"/>
                <a:ea typeface="Calibri" pitchFamily="34" charset="-122"/>
                <a:cs typeface="Calibri" pitchFamily="34" charset="-120"/>
              </a:rPr>
              <a:t>Apache Tika</a:t>
            </a:r>
            <a:endParaRPr lang="en-US" sz="1000" dirty="0"/>
          </a:p>
        </p:txBody>
      </p:sp>
      <p:sp>
        <p:nvSpPr>
          <p:cNvPr id="41" name="Shape 36"/>
          <p:cNvSpPr/>
          <p:nvPr/>
        </p:nvSpPr>
        <p:spPr>
          <a:xfrm>
            <a:off x="3822192" y="1325880"/>
            <a:ext cx="1554480" cy="2834640"/>
          </a:xfrm>
          <a:prstGeom prst="roundRect">
            <a:avLst>
              <a:gd name="adj" fmla="val 4706"/>
            </a:avLst>
          </a:prstGeom>
          <a:solidFill>
            <a:srgbClr val="F4F7F5"/>
          </a:solidFill>
          <a:ln w="9525">
            <a:solidFill>
              <a:srgbClr val="D5DED9"/>
            </a:solidFill>
            <a:prstDash val="solid"/>
          </a:ln>
        </p:spPr>
      </p:sp>
      <p:sp>
        <p:nvSpPr>
          <p:cNvPr id="42" name="Shape 37"/>
          <p:cNvSpPr/>
          <p:nvPr/>
        </p:nvSpPr>
        <p:spPr>
          <a:xfrm>
            <a:off x="4325112" y="1444752"/>
            <a:ext cx="548640" cy="548640"/>
          </a:xfrm>
          <a:prstGeom prst="ellipse">
            <a:avLst/>
          </a:prstGeom>
          <a:solidFill>
            <a:srgbClr val="00A86A">
              <a:alpha val="22000"/>
            </a:srgbClr>
          </a:solidFill>
          <a:ln w="12700">
            <a:solidFill>
              <a:srgbClr val="00A86A">
                <a:alpha val="0"/>
              </a:srgbClr>
            </a:solidFill>
            <a:prstDash val="solid"/>
          </a:ln>
        </p:spPr>
      </p:sp>
      <p:pic>
        <p:nvPicPr>
          <p:cNvPr id="43" name="Image 2" descr="preencoded.png"/>
          <p:cNvPicPr>
            <a:picLocks noChangeAspect="1"/>
          </p:cNvPicPr>
          <p:nvPr/>
        </p:nvPicPr>
        <p:blipFill>
          <a:blip r:embed="rId5"/>
          <a:stretch>
            <a:fillRect/>
          </a:stretch>
        </p:blipFill>
        <p:spPr>
          <a:xfrm>
            <a:off x="4456786" y="1576426"/>
            <a:ext cx="285293" cy="285293"/>
          </a:xfrm>
          <a:prstGeom prst="rect">
            <a:avLst/>
          </a:prstGeom>
        </p:spPr>
      </p:pic>
      <p:sp>
        <p:nvSpPr>
          <p:cNvPr id="44" name="Text 38"/>
          <p:cNvSpPr txBox="1"/>
          <p:nvPr/>
        </p:nvSpPr>
        <p:spPr>
          <a:xfrm>
            <a:off x="3867912" y="2057400"/>
            <a:ext cx="1463040" cy="274320"/>
          </a:xfrm>
          <a:prstGeom prst="rect">
            <a:avLst/>
          </a:prstGeom>
          <a:noFill/>
          <a:ln/>
        </p:spPr>
        <p:txBody>
          <a:bodyPr wrap="square" lIns="0" tIns="0" rIns="0" bIns="0" rtlCol="0" anchor="ctr"/>
          <a:lstStyle/>
          <a:p>
            <a:pPr marL="0" indent="0" algn="ctr">
              <a:buNone/>
            </a:pPr>
            <a:r>
              <a:rPr lang="en-US" sz="1400" b="1" dirty="0">
                <a:solidFill>
                  <a:srgbClr val="231F20"/>
                </a:solidFill>
                <a:latin typeface="Calibri" pitchFamily="34" charset="0"/>
                <a:ea typeface="Calibri" pitchFamily="34" charset="-122"/>
                <a:cs typeface="Calibri" pitchFamily="34" charset="-120"/>
              </a:rPr>
              <a:t>Embeddings</a:t>
            </a:r>
            <a:endParaRPr lang="en-US" sz="1400" dirty="0"/>
          </a:p>
        </p:txBody>
      </p:sp>
      <p:sp>
        <p:nvSpPr>
          <p:cNvPr id="45" name="Shape 39"/>
          <p:cNvSpPr/>
          <p:nvPr/>
        </p:nvSpPr>
        <p:spPr>
          <a:xfrm>
            <a:off x="3931920" y="2432304"/>
            <a:ext cx="1335024" cy="338328"/>
          </a:xfrm>
          <a:prstGeom prst="roundRect">
            <a:avLst>
              <a:gd name="adj" fmla="val 21622"/>
            </a:avLst>
          </a:prstGeom>
          <a:solidFill>
            <a:srgbClr val="FFFFFF"/>
          </a:solidFill>
          <a:ln w="9525">
            <a:solidFill>
              <a:srgbClr val="D5DED9"/>
            </a:solidFill>
            <a:prstDash val="solid"/>
          </a:ln>
        </p:spPr>
      </p:sp>
      <p:sp>
        <p:nvSpPr>
          <p:cNvPr id="46" name="Text 40"/>
          <p:cNvSpPr txBox="1"/>
          <p:nvPr/>
        </p:nvSpPr>
        <p:spPr>
          <a:xfrm>
            <a:off x="3931920" y="2432304"/>
            <a:ext cx="1335024" cy="338328"/>
          </a:xfrm>
          <a:prstGeom prst="rect">
            <a:avLst/>
          </a:prstGeom>
          <a:noFill/>
          <a:ln/>
        </p:spPr>
        <p:txBody>
          <a:bodyPr wrap="square" lIns="0" tIns="0" rIns="0" bIns="0" rtlCol="0" anchor="ctr">
            <a:normAutofit/>
          </a:bodyPr>
          <a:lstStyle/>
          <a:p>
            <a:pPr marL="0" indent="0" algn="ctr">
              <a:buNone/>
            </a:pPr>
            <a:r>
              <a:rPr lang="en-US" sz="1000" dirty="0">
                <a:solidFill>
                  <a:srgbClr val="231F20"/>
                </a:solidFill>
                <a:latin typeface="Calibri" pitchFamily="34" charset="0"/>
                <a:ea typeface="Calibri" pitchFamily="34" charset="-122"/>
                <a:cs typeface="Calibri" pitchFamily="34" charset="-120"/>
              </a:rPr>
              <a:t>OpenAI text-embedding-3</a:t>
            </a:r>
            <a:endParaRPr lang="en-US" sz="1000" dirty="0"/>
          </a:p>
        </p:txBody>
      </p:sp>
      <p:sp>
        <p:nvSpPr>
          <p:cNvPr id="47" name="Shape 41"/>
          <p:cNvSpPr/>
          <p:nvPr/>
        </p:nvSpPr>
        <p:spPr>
          <a:xfrm>
            <a:off x="3931920" y="2852928"/>
            <a:ext cx="1335024" cy="338328"/>
          </a:xfrm>
          <a:prstGeom prst="roundRect">
            <a:avLst>
              <a:gd name="adj" fmla="val 21622"/>
            </a:avLst>
          </a:prstGeom>
          <a:solidFill>
            <a:srgbClr val="FFFFFF"/>
          </a:solidFill>
          <a:ln w="9525">
            <a:solidFill>
              <a:srgbClr val="D5DED9"/>
            </a:solidFill>
            <a:prstDash val="solid"/>
          </a:ln>
        </p:spPr>
      </p:sp>
      <p:sp>
        <p:nvSpPr>
          <p:cNvPr id="48" name="Text 42"/>
          <p:cNvSpPr txBox="1"/>
          <p:nvPr/>
        </p:nvSpPr>
        <p:spPr>
          <a:xfrm>
            <a:off x="3931920" y="2852928"/>
            <a:ext cx="1335024" cy="338328"/>
          </a:xfrm>
          <a:prstGeom prst="rect">
            <a:avLst/>
          </a:prstGeom>
          <a:noFill/>
          <a:ln/>
        </p:spPr>
        <p:txBody>
          <a:bodyPr wrap="square" lIns="0" tIns="0" rIns="0" bIns="0" rtlCol="0" anchor="ctr">
            <a:normAutofit/>
          </a:bodyPr>
          <a:lstStyle/>
          <a:p>
            <a:pPr marL="0" indent="0" algn="ctr">
              <a:buNone/>
            </a:pPr>
            <a:r>
              <a:rPr lang="en-US" sz="1000" dirty="0">
                <a:solidFill>
                  <a:srgbClr val="231F20"/>
                </a:solidFill>
                <a:latin typeface="Calibri" pitchFamily="34" charset="0"/>
                <a:ea typeface="Calibri" pitchFamily="34" charset="-122"/>
                <a:cs typeface="Calibri" pitchFamily="34" charset="-120"/>
              </a:rPr>
              <a:t>Cohere Embed</a:t>
            </a:r>
            <a:endParaRPr lang="en-US" sz="1000" dirty="0"/>
          </a:p>
        </p:txBody>
      </p:sp>
      <p:sp>
        <p:nvSpPr>
          <p:cNvPr id="49" name="Shape 43"/>
          <p:cNvSpPr/>
          <p:nvPr/>
        </p:nvSpPr>
        <p:spPr>
          <a:xfrm>
            <a:off x="3931920" y="3273552"/>
            <a:ext cx="1335024" cy="338328"/>
          </a:xfrm>
          <a:prstGeom prst="roundRect">
            <a:avLst>
              <a:gd name="adj" fmla="val 21622"/>
            </a:avLst>
          </a:prstGeom>
          <a:solidFill>
            <a:srgbClr val="FFFFFF"/>
          </a:solidFill>
          <a:ln w="9525">
            <a:solidFill>
              <a:srgbClr val="D5DED9"/>
            </a:solidFill>
            <a:prstDash val="solid"/>
          </a:ln>
        </p:spPr>
      </p:sp>
      <p:sp>
        <p:nvSpPr>
          <p:cNvPr id="50" name="Text 44"/>
          <p:cNvSpPr txBox="1"/>
          <p:nvPr/>
        </p:nvSpPr>
        <p:spPr>
          <a:xfrm>
            <a:off x="3931920" y="3273552"/>
            <a:ext cx="1335024" cy="338328"/>
          </a:xfrm>
          <a:prstGeom prst="rect">
            <a:avLst/>
          </a:prstGeom>
          <a:noFill/>
          <a:ln/>
        </p:spPr>
        <p:txBody>
          <a:bodyPr wrap="square" lIns="0" tIns="0" rIns="0" bIns="0" rtlCol="0" anchor="ctr">
            <a:normAutofit/>
          </a:bodyPr>
          <a:lstStyle/>
          <a:p>
            <a:pPr marL="0" indent="0" algn="ctr">
              <a:buNone/>
            </a:pPr>
            <a:r>
              <a:rPr lang="en-US" sz="1000" dirty="0">
                <a:solidFill>
                  <a:srgbClr val="231F20"/>
                </a:solidFill>
                <a:latin typeface="Calibri" pitchFamily="34" charset="0"/>
                <a:ea typeface="Calibri" pitchFamily="34" charset="-122"/>
                <a:cs typeface="Calibri" pitchFamily="34" charset="-120"/>
              </a:rPr>
              <a:t>Voyage AI</a:t>
            </a:r>
            <a:endParaRPr lang="en-US" sz="1000" dirty="0"/>
          </a:p>
        </p:txBody>
      </p:sp>
      <p:sp>
        <p:nvSpPr>
          <p:cNvPr id="51" name="Shape 45"/>
          <p:cNvSpPr/>
          <p:nvPr/>
        </p:nvSpPr>
        <p:spPr>
          <a:xfrm>
            <a:off x="3931920" y="3694176"/>
            <a:ext cx="1335024" cy="338328"/>
          </a:xfrm>
          <a:prstGeom prst="roundRect">
            <a:avLst>
              <a:gd name="adj" fmla="val 21622"/>
            </a:avLst>
          </a:prstGeom>
          <a:solidFill>
            <a:srgbClr val="FFFFFF"/>
          </a:solidFill>
          <a:ln w="9525">
            <a:solidFill>
              <a:srgbClr val="D5DED9"/>
            </a:solidFill>
            <a:prstDash val="solid"/>
          </a:ln>
        </p:spPr>
      </p:sp>
      <p:sp>
        <p:nvSpPr>
          <p:cNvPr id="52" name="Text 46"/>
          <p:cNvSpPr txBox="1"/>
          <p:nvPr/>
        </p:nvSpPr>
        <p:spPr>
          <a:xfrm>
            <a:off x="3931920" y="3694176"/>
            <a:ext cx="1335024" cy="338328"/>
          </a:xfrm>
          <a:prstGeom prst="rect">
            <a:avLst/>
          </a:prstGeom>
          <a:noFill/>
          <a:ln/>
        </p:spPr>
        <p:txBody>
          <a:bodyPr wrap="square" lIns="0" tIns="0" rIns="0" bIns="0" rtlCol="0" anchor="ctr">
            <a:normAutofit/>
          </a:bodyPr>
          <a:lstStyle/>
          <a:p>
            <a:pPr marL="0" indent="0" algn="ctr">
              <a:buNone/>
            </a:pPr>
            <a:r>
              <a:rPr lang="en-US" sz="1000" dirty="0">
                <a:solidFill>
                  <a:srgbClr val="231F20"/>
                </a:solidFill>
                <a:latin typeface="Calibri" pitchFamily="34" charset="0"/>
                <a:ea typeface="Calibri" pitchFamily="34" charset="-122"/>
                <a:cs typeface="Calibri" pitchFamily="34" charset="-120"/>
              </a:rPr>
              <a:t>BGE · E5 (ouverts)</a:t>
            </a:r>
            <a:endParaRPr lang="en-US" sz="1000" dirty="0"/>
          </a:p>
        </p:txBody>
      </p:sp>
      <p:sp>
        <p:nvSpPr>
          <p:cNvPr id="53" name="Shape 47"/>
          <p:cNvSpPr/>
          <p:nvPr/>
        </p:nvSpPr>
        <p:spPr>
          <a:xfrm>
            <a:off x="5504688" y="1325880"/>
            <a:ext cx="1554480" cy="2834640"/>
          </a:xfrm>
          <a:prstGeom prst="roundRect">
            <a:avLst>
              <a:gd name="adj" fmla="val 4706"/>
            </a:avLst>
          </a:prstGeom>
          <a:solidFill>
            <a:srgbClr val="F4F7F5"/>
          </a:solidFill>
          <a:ln w="9525">
            <a:solidFill>
              <a:srgbClr val="D5DED9"/>
            </a:solidFill>
            <a:prstDash val="solid"/>
          </a:ln>
        </p:spPr>
      </p:sp>
      <p:sp>
        <p:nvSpPr>
          <p:cNvPr id="54" name="Shape 48"/>
          <p:cNvSpPr/>
          <p:nvPr/>
        </p:nvSpPr>
        <p:spPr>
          <a:xfrm>
            <a:off x="6007608" y="1444752"/>
            <a:ext cx="548640" cy="548640"/>
          </a:xfrm>
          <a:prstGeom prst="ellipse">
            <a:avLst/>
          </a:prstGeom>
          <a:solidFill>
            <a:srgbClr val="C4621D">
              <a:alpha val="22000"/>
            </a:srgbClr>
          </a:solidFill>
          <a:ln w="12700">
            <a:solidFill>
              <a:srgbClr val="C4621D">
                <a:alpha val="0"/>
              </a:srgbClr>
            </a:solidFill>
            <a:prstDash val="solid"/>
          </a:ln>
        </p:spPr>
      </p:sp>
      <p:pic>
        <p:nvPicPr>
          <p:cNvPr id="55" name="Image 3" descr="preencoded.png"/>
          <p:cNvPicPr>
            <a:picLocks noChangeAspect="1"/>
          </p:cNvPicPr>
          <p:nvPr/>
        </p:nvPicPr>
        <p:blipFill>
          <a:blip r:embed="rId6"/>
          <a:stretch>
            <a:fillRect/>
          </a:stretch>
        </p:blipFill>
        <p:spPr>
          <a:xfrm>
            <a:off x="6139282" y="1576426"/>
            <a:ext cx="285293" cy="285293"/>
          </a:xfrm>
          <a:prstGeom prst="rect">
            <a:avLst/>
          </a:prstGeom>
        </p:spPr>
      </p:pic>
      <p:sp>
        <p:nvSpPr>
          <p:cNvPr id="56" name="Text 49"/>
          <p:cNvSpPr txBox="1"/>
          <p:nvPr/>
        </p:nvSpPr>
        <p:spPr>
          <a:xfrm>
            <a:off x="5550408" y="2057400"/>
            <a:ext cx="1463040" cy="274320"/>
          </a:xfrm>
          <a:prstGeom prst="rect">
            <a:avLst/>
          </a:prstGeom>
          <a:noFill/>
          <a:ln/>
        </p:spPr>
        <p:txBody>
          <a:bodyPr wrap="square" lIns="0" tIns="0" rIns="0" bIns="0" rtlCol="0" anchor="ctr"/>
          <a:lstStyle/>
          <a:p>
            <a:pPr marL="0" indent="0" algn="ctr">
              <a:buNone/>
            </a:pPr>
            <a:r>
              <a:rPr lang="en-US" sz="1400" b="1" dirty="0">
                <a:solidFill>
                  <a:srgbClr val="231F20"/>
                </a:solidFill>
                <a:latin typeface="Calibri" pitchFamily="34" charset="0"/>
                <a:ea typeface="Calibri" pitchFamily="34" charset="-122"/>
                <a:cs typeface="Calibri" pitchFamily="34" charset="-120"/>
              </a:rPr>
              <a:t>Bases vectorielles</a:t>
            </a:r>
            <a:endParaRPr lang="en-US" sz="1400" dirty="0"/>
          </a:p>
        </p:txBody>
      </p:sp>
      <p:sp>
        <p:nvSpPr>
          <p:cNvPr id="57" name="Shape 50"/>
          <p:cNvSpPr/>
          <p:nvPr/>
        </p:nvSpPr>
        <p:spPr>
          <a:xfrm>
            <a:off x="5614416" y="2432304"/>
            <a:ext cx="1335024" cy="338328"/>
          </a:xfrm>
          <a:prstGeom prst="roundRect">
            <a:avLst>
              <a:gd name="adj" fmla="val 21622"/>
            </a:avLst>
          </a:prstGeom>
          <a:solidFill>
            <a:srgbClr val="FFFFFF"/>
          </a:solidFill>
          <a:ln w="9525">
            <a:solidFill>
              <a:srgbClr val="D5DED9"/>
            </a:solidFill>
            <a:prstDash val="solid"/>
          </a:ln>
        </p:spPr>
      </p:sp>
      <p:sp>
        <p:nvSpPr>
          <p:cNvPr id="58" name="Text 51"/>
          <p:cNvSpPr txBox="1"/>
          <p:nvPr/>
        </p:nvSpPr>
        <p:spPr>
          <a:xfrm>
            <a:off x="5614416" y="2432304"/>
            <a:ext cx="1335024" cy="338328"/>
          </a:xfrm>
          <a:prstGeom prst="rect">
            <a:avLst/>
          </a:prstGeom>
          <a:noFill/>
          <a:ln/>
        </p:spPr>
        <p:txBody>
          <a:bodyPr wrap="square" lIns="0" tIns="0" rIns="0" bIns="0" rtlCol="0" anchor="ctr">
            <a:normAutofit/>
          </a:bodyPr>
          <a:lstStyle/>
          <a:p>
            <a:pPr marL="0" indent="0" algn="ctr">
              <a:buNone/>
            </a:pPr>
            <a:r>
              <a:rPr lang="en-US" sz="1000" dirty="0">
                <a:solidFill>
                  <a:srgbClr val="231F20"/>
                </a:solidFill>
                <a:latin typeface="Calibri" pitchFamily="34" charset="0"/>
                <a:ea typeface="Calibri" pitchFamily="34" charset="-122"/>
                <a:cs typeface="Calibri" pitchFamily="34" charset="-120"/>
              </a:rPr>
              <a:t>Pinecone · Weaviate</a:t>
            </a:r>
            <a:endParaRPr lang="en-US" sz="1000" dirty="0"/>
          </a:p>
        </p:txBody>
      </p:sp>
      <p:sp>
        <p:nvSpPr>
          <p:cNvPr id="59" name="Shape 52"/>
          <p:cNvSpPr/>
          <p:nvPr/>
        </p:nvSpPr>
        <p:spPr>
          <a:xfrm>
            <a:off x="5614416" y="2852928"/>
            <a:ext cx="1335024" cy="338328"/>
          </a:xfrm>
          <a:prstGeom prst="roundRect">
            <a:avLst>
              <a:gd name="adj" fmla="val 21622"/>
            </a:avLst>
          </a:prstGeom>
          <a:solidFill>
            <a:srgbClr val="FFFFFF"/>
          </a:solidFill>
          <a:ln w="9525">
            <a:solidFill>
              <a:srgbClr val="D5DED9"/>
            </a:solidFill>
            <a:prstDash val="solid"/>
          </a:ln>
        </p:spPr>
      </p:sp>
      <p:sp>
        <p:nvSpPr>
          <p:cNvPr id="60" name="Text 53"/>
          <p:cNvSpPr txBox="1"/>
          <p:nvPr/>
        </p:nvSpPr>
        <p:spPr>
          <a:xfrm>
            <a:off x="5614416" y="2852928"/>
            <a:ext cx="1335024" cy="338328"/>
          </a:xfrm>
          <a:prstGeom prst="rect">
            <a:avLst/>
          </a:prstGeom>
          <a:noFill/>
          <a:ln/>
        </p:spPr>
        <p:txBody>
          <a:bodyPr wrap="square" lIns="0" tIns="0" rIns="0" bIns="0" rtlCol="0" anchor="ctr">
            <a:normAutofit/>
          </a:bodyPr>
          <a:lstStyle/>
          <a:p>
            <a:pPr marL="0" indent="0" algn="ctr">
              <a:buNone/>
            </a:pPr>
            <a:r>
              <a:rPr lang="en-US" sz="1000" dirty="0">
                <a:solidFill>
                  <a:srgbClr val="231F20"/>
                </a:solidFill>
                <a:latin typeface="Calibri" pitchFamily="34" charset="0"/>
                <a:ea typeface="Calibri" pitchFamily="34" charset="-122"/>
                <a:cs typeface="Calibri" pitchFamily="34" charset="-120"/>
              </a:rPr>
              <a:t>Qdrant · Milvus</a:t>
            </a:r>
            <a:endParaRPr lang="en-US" sz="1000" dirty="0"/>
          </a:p>
        </p:txBody>
      </p:sp>
      <p:sp>
        <p:nvSpPr>
          <p:cNvPr id="61" name="Shape 54"/>
          <p:cNvSpPr/>
          <p:nvPr/>
        </p:nvSpPr>
        <p:spPr>
          <a:xfrm>
            <a:off x="5614416" y="3273552"/>
            <a:ext cx="1335024" cy="338328"/>
          </a:xfrm>
          <a:prstGeom prst="roundRect">
            <a:avLst>
              <a:gd name="adj" fmla="val 21622"/>
            </a:avLst>
          </a:prstGeom>
          <a:solidFill>
            <a:srgbClr val="FFFFFF"/>
          </a:solidFill>
          <a:ln w="9525">
            <a:solidFill>
              <a:srgbClr val="D5DED9"/>
            </a:solidFill>
            <a:prstDash val="solid"/>
          </a:ln>
        </p:spPr>
      </p:sp>
      <p:sp>
        <p:nvSpPr>
          <p:cNvPr id="62" name="Text 55"/>
          <p:cNvSpPr txBox="1"/>
          <p:nvPr/>
        </p:nvSpPr>
        <p:spPr>
          <a:xfrm>
            <a:off x="5614416" y="3273552"/>
            <a:ext cx="1335024" cy="338328"/>
          </a:xfrm>
          <a:prstGeom prst="rect">
            <a:avLst/>
          </a:prstGeom>
          <a:noFill/>
          <a:ln/>
        </p:spPr>
        <p:txBody>
          <a:bodyPr wrap="square" lIns="0" tIns="0" rIns="0" bIns="0" rtlCol="0" anchor="ctr">
            <a:normAutofit/>
          </a:bodyPr>
          <a:lstStyle/>
          <a:p>
            <a:pPr marL="0" indent="0" algn="ctr">
              <a:buNone/>
            </a:pPr>
            <a:r>
              <a:rPr lang="en-US" sz="1000" dirty="0">
                <a:solidFill>
                  <a:srgbClr val="231F20"/>
                </a:solidFill>
                <a:latin typeface="Calibri" pitchFamily="34" charset="0"/>
                <a:ea typeface="Calibri" pitchFamily="34" charset="-122"/>
                <a:cs typeface="Calibri" pitchFamily="34" charset="-120"/>
              </a:rPr>
              <a:t>Chroma · pgvector</a:t>
            </a:r>
            <a:endParaRPr lang="en-US" sz="1000" dirty="0"/>
          </a:p>
        </p:txBody>
      </p:sp>
      <p:sp>
        <p:nvSpPr>
          <p:cNvPr id="63" name="Shape 56"/>
          <p:cNvSpPr/>
          <p:nvPr/>
        </p:nvSpPr>
        <p:spPr>
          <a:xfrm>
            <a:off x="5614416" y="3694176"/>
            <a:ext cx="1335024" cy="338328"/>
          </a:xfrm>
          <a:prstGeom prst="roundRect">
            <a:avLst>
              <a:gd name="adj" fmla="val 21622"/>
            </a:avLst>
          </a:prstGeom>
          <a:solidFill>
            <a:srgbClr val="FFFFFF"/>
          </a:solidFill>
          <a:ln w="9525">
            <a:solidFill>
              <a:srgbClr val="D5DED9"/>
            </a:solidFill>
            <a:prstDash val="solid"/>
          </a:ln>
        </p:spPr>
      </p:sp>
      <p:sp>
        <p:nvSpPr>
          <p:cNvPr id="64" name="Text 57"/>
          <p:cNvSpPr txBox="1"/>
          <p:nvPr/>
        </p:nvSpPr>
        <p:spPr>
          <a:xfrm>
            <a:off x="5614416" y="3694176"/>
            <a:ext cx="1335024" cy="338328"/>
          </a:xfrm>
          <a:prstGeom prst="rect">
            <a:avLst/>
          </a:prstGeom>
          <a:noFill/>
          <a:ln/>
        </p:spPr>
        <p:txBody>
          <a:bodyPr wrap="square" lIns="0" tIns="0" rIns="0" bIns="0" rtlCol="0" anchor="ctr">
            <a:normAutofit/>
          </a:bodyPr>
          <a:lstStyle/>
          <a:p>
            <a:pPr marL="0" indent="0" algn="ctr">
              <a:buNone/>
            </a:pPr>
            <a:r>
              <a:rPr lang="en-US" sz="1000" dirty="0">
                <a:solidFill>
                  <a:srgbClr val="231F20"/>
                </a:solidFill>
                <a:latin typeface="Calibri" pitchFamily="34" charset="0"/>
                <a:ea typeface="Calibri" pitchFamily="34" charset="-122"/>
                <a:cs typeface="Calibri" pitchFamily="34" charset="-120"/>
              </a:rPr>
              <a:t>Elasticsearch · FAISS</a:t>
            </a:r>
            <a:endParaRPr lang="en-US" sz="1000" dirty="0"/>
          </a:p>
        </p:txBody>
      </p:sp>
      <p:sp>
        <p:nvSpPr>
          <p:cNvPr id="65" name="Shape 58"/>
          <p:cNvSpPr/>
          <p:nvPr/>
        </p:nvSpPr>
        <p:spPr>
          <a:xfrm>
            <a:off x="7187184" y="1325880"/>
            <a:ext cx="1554480" cy="2834640"/>
          </a:xfrm>
          <a:prstGeom prst="roundRect">
            <a:avLst>
              <a:gd name="adj" fmla="val 4706"/>
            </a:avLst>
          </a:prstGeom>
          <a:solidFill>
            <a:srgbClr val="F4F7F5"/>
          </a:solidFill>
          <a:ln w="9525">
            <a:solidFill>
              <a:srgbClr val="D5DED9"/>
            </a:solidFill>
            <a:prstDash val="solid"/>
          </a:ln>
        </p:spPr>
      </p:sp>
      <p:sp>
        <p:nvSpPr>
          <p:cNvPr id="66" name="Shape 59"/>
          <p:cNvSpPr/>
          <p:nvPr/>
        </p:nvSpPr>
        <p:spPr>
          <a:xfrm>
            <a:off x="7690104" y="1444752"/>
            <a:ext cx="548640" cy="548640"/>
          </a:xfrm>
          <a:prstGeom prst="ellipse">
            <a:avLst/>
          </a:prstGeom>
          <a:solidFill>
            <a:srgbClr val="D49A00">
              <a:alpha val="22000"/>
            </a:srgbClr>
          </a:solidFill>
          <a:ln w="12700">
            <a:solidFill>
              <a:srgbClr val="D49A00">
                <a:alpha val="0"/>
              </a:srgbClr>
            </a:solidFill>
            <a:prstDash val="solid"/>
          </a:ln>
        </p:spPr>
      </p:sp>
      <p:pic>
        <p:nvPicPr>
          <p:cNvPr id="67" name="Image 4" descr="preencoded.png"/>
          <p:cNvPicPr>
            <a:picLocks noChangeAspect="1"/>
          </p:cNvPicPr>
          <p:nvPr/>
        </p:nvPicPr>
        <p:blipFill>
          <a:blip r:embed="rId7"/>
          <a:stretch>
            <a:fillRect/>
          </a:stretch>
        </p:blipFill>
        <p:spPr>
          <a:xfrm>
            <a:off x="7821778" y="1576426"/>
            <a:ext cx="285293" cy="285293"/>
          </a:xfrm>
          <a:prstGeom prst="rect">
            <a:avLst/>
          </a:prstGeom>
        </p:spPr>
      </p:pic>
      <p:sp>
        <p:nvSpPr>
          <p:cNvPr id="68" name="Text 60"/>
          <p:cNvSpPr txBox="1"/>
          <p:nvPr/>
        </p:nvSpPr>
        <p:spPr>
          <a:xfrm>
            <a:off x="7232904" y="2057400"/>
            <a:ext cx="1463040" cy="274320"/>
          </a:xfrm>
          <a:prstGeom prst="rect">
            <a:avLst/>
          </a:prstGeom>
          <a:noFill/>
          <a:ln/>
        </p:spPr>
        <p:txBody>
          <a:bodyPr wrap="square" lIns="0" tIns="0" rIns="0" bIns="0" rtlCol="0" anchor="ctr"/>
          <a:lstStyle/>
          <a:p>
            <a:pPr marL="0" indent="0" algn="ctr">
              <a:buNone/>
            </a:pPr>
            <a:r>
              <a:rPr lang="en-US" sz="1400" b="1" dirty="0">
                <a:solidFill>
                  <a:srgbClr val="231F20"/>
                </a:solidFill>
                <a:latin typeface="Calibri" pitchFamily="34" charset="0"/>
                <a:ea typeface="Calibri" pitchFamily="34" charset="-122"/>
                <a:cs typeface="Calibri" pitchFamily="34" charset="-120"/>
              </a:rPr>
              <a:t>Reclasseurs</a:t>
            </a:r>
            <a:endParaRPr lang="en-US" sz="1400" dirty="0"/>
          </a:p>
        </p:txBody>
      </p:sp>
      <p:sp>
        <p:nvSpPr>
          <p:cNvPr id="69" name="Shape 61"/>
          <p:cNvSpPr/>
          <p:nvPr/>
        </p:nvSpPr>
        <p:spPr>
          <a:xfrm>
            <a:off x="7296912" y="2432304"/>
            <a:ext cx="1335024" cy="338328"/>
          </a:xfrm>
          <a:prstGeom prst="roundRect">
            <a:avLst>
              <a:gd name="adj" fmla="val 21622"/>
            </a:avLst>
          </a:prstGeom>
          <a:solidFill>
            <a:srgbClr val="FFFFFF"/>
          </a:solidFill>
          <a:ln w="9525">
            <a:solidFill>
              <a:srgbClr val="D5DED9"/>
            </a:solidFill>
            <a:prstDash val="solid"/>
          </a:ln>
        </p:spPr>
      </p:sp>
      <p:sp>
        <p:nvSpPr>
          <p:cNvPr id="70" name="Text 62"/>
          <p:cNvSpPr txBox="1"/>
          <p:nvPr/>
        </p:nvSpPr>
        <p:spPr>
          <a:xfrm>
            <a:off x="7296912" y="2432304"/>
            <a:ext cx="1335024" cy="338328"/>
          </a:xfrm>
          <a:prstGeom prst="rect">
            <a:avLst/>
          </a:prstGeom>
          <a:noFill/>
          <a:ln/>
        </p:spPr>
        <p:txBody>
          <a:bodyPr wrap="square" lIns="0" tIns="0" rIns="0" bIns="0" rtlCol="0" anchor="ctr">
            <a:normAutofit/>
          </a:bodyPr>
          <a:lstStyle/>
          <a:p>
            <a:pPr marL="0" indent="0" algn="ctr">
              <a:buNone/>
            </a:pPr>
            <a:r>
              <a:rPr lang="en-US" sz="1000" dirty="0">
                <a:solidFill>
                  <a:srgbClr val="231F20"/>
                </a:solidFill>
                <a:latin typeface="Calibri" pitchFamily="34" charset="0"/>
                <a:ea typeface="Calibri" pitchFamily="34" charset="-122"/>
                <a:cs typeface="Calibri" pitchFamily="34" charset="-120"/>
              </a:rPr>
              <a:t>Cohere Rerank</a:t>
            </a:r>
            <a:endParaRPr lang="en-US" sz="1000" dirty="0"/>
          </a:p>
        </p:txBody>
      </p:sp>
      <p:sp>
        <p:nvSpPr>
          <p:cNvPr id="71" name="Shape 63"/>
          <p:cNvSpPr/>
          <p:nvPr/>
        </p:nvSpPr>
        <p:spPr>
          <a:xfrm>
            <a:off x="7296912" y="2852928"/>
            <a:ext cx="1335024" cy="338328"/>
          </a:xfrm>
          <a:prstGeom prst="roundRect">
            <a:avLst>
              <a:gd name="adj" fmla="val 21622"/>
            </a:avLst>
          </a:prstGeom>
          <a:solidFill>
            <a:srgbClr val="FFFFFF"/>
          </a:solidFill>
          <a:ln w="9525">
            <a:solidFill>
              <a:srgbClr val="D5DED9"/>
            </a:solidFill>
            <a:prstDash val="solid"/>
          </a:ln>
        </p:spPr>
      </p:sp>
      <p:sp>
        <p:nvSpPr>
          <p:cNvPr id="72" name="Text 64"/>
          <p:cNvSpPr txBox="1"/>
          <p:nvPr/>
        </p:nvSpPr>
        <p:spPr>
          <a:xfrm>
            <a:off x="7296912" y="2852928"/>
            <a:ext cx="1335024" cy="338328"/>
          </a:xfrm>
          <a:prstGeom prst="rect">
            <a:avLst/>
          </a:prstGeom>
          <a:noFill/>
          <a:ln/>
        </p:spPr>
        <p:txBody>
          <a:bodyPr wrap="square" lIns="0" tIns="0" rIns="0" bIns="0" rtlCol="0" anchor="ctr">
            <a:normAutofit/>
          </a:bodyPr>
          <a:lstStyle/>
          <a:p>
            <a:pPr marL="0" indent="0" algn="ctr">
              <a:buNone/>
            </a:pPr>
            <a:r>
              <a:rPr lang="en-US" sz="1000" dirty="0">
                <a:solidFill>
                  <a:srgbClr val="231F20"/>
                </a:solidFill>
                <a:latin typeface="Calibri" pitchFamily="34" charset="0"/>
                <a:ea typeface="Calibri" pitchFamily="34" charset="-122"/>
                <a:cs typeface="Calibri" pitchFamily="34" charset="-120"/>
              </a:rPr>
              <a:t>BGE-reranker</a:t>
            </a:r>
            <a:endParaRPr lang="en-US" sz="1000" dirty="0"/>
          </a:p>
        </p:txBody>
      </p:sp>
      <p:sp>
        <p:nvSpPr>
          <p:cNvPr id="73" name="Shape 65"/>
          <p:cNvSpPr/>
          <p:nvPr/>
        </p:nvSpPr>
        <p:spPr>
          <a:xfrm>
            <a:off x="7296912" y="3273552"/>
            <a:ext cx="1335024" cy="338328"/>
          </a:xfrm>
          <a:prstGeom prst="roundRect">
            <a:avLst>
              <a:gd name="adj" fmla="val 21622"/>
            </a:avLst>
          </a:prstGeom>
          <a:solidFill>
            <a:srgbClr val="FFFFFF"/>
          </a:solidFill>
          <a:ln w="9525">
            <a:solidFill>
              <a:srgbClr val="D5DED9"/>
            </a:solidFill>
            <a:prstDash val="solid"/>
          </a:ln>
        </p:spPr>
      </p:sp>
      <p:sp>
        <p:nvSpPr>
          <p:cNvPr id="74" name="Text 66"/>
          <p:cNvSpPr txBox="1"/>
          <p:nvPr/>
        </p:nvSpPr>
        <p:spPr>
          <a:xfrm>
            <a:off x="7296912" y="3273552"/>
            <a:ext cx="1335024" cy="338328"/>
          </a:xfrm>
          <a:prstGeom prst="rect">
            <a:avLst/>
          </a:prstGeom>
          <a:noFill/>
          <a:ln/>
        </p:spPr>
        <p:txBody>
          <a:bodyPr wrap="square" lIns="0" tIns="0" rIns="0" bIns="0" rtlCol="0" anchor="ctr">
            <a:normAutofit/>
          </a:bodyPr>
          <a:lstStyle/>
          <a:p>
            <a:pPr marL="0" indent="0" algn="ctr">
              <a:buNone/>
            </a:pPr>
            <a:r>
              <a:rPr lang="en-US" sz="1000" dirty="0">
                <a:solidFill>
                  <a:srgbClr val="231F20"/>
                </a:solidFill>
                <a:latin typeface="Calibri" pitchFamily="34" charset="0"/>
                <a:ea typeface="Calibri" pitchFamily="34" charset="-122"/>
                <a:cs typeface="Calibri" pitchFamily="34" charset="-120"/>
              </a:rPr>
              <a:t>ColBERT</a:t>
            </a:r>
            <a:endParaRPr lang="en-US" sz="1000" dirty="0"/>
          </a:p>
        </p:txBody>
      </p:sp>
      <p:sp>
        <p:nvSpPr>
          <p:cNvPr id="75" name="Shape 67"/>
          <p:cNvSpPr/>
          <p:nvPr/>
        </p:nvSpPr>
        <p:spPr>
          <a:xfrm>
            <a:off x="7296912" y="3694176"/>
            <a:ext cx="1335024" cy="338328"/>
          </a:xfrm>
          <a:prstGeom prst="roundRect">
            <a:avLst>
              <a:gd name="adj" fmla="val 21622"/>
            </a:avLst>
          </a:prstGeom>
          <a:solidFill>
            <a:srgbClr val="FFFFFF"/>
          </a:solidFill>
          <a:ln w="9525">
            <a:solidFill>
              <a:srgbClr val="D5DED9"/>
            </a:solidFill>
            <a:prstDash val="solid"/>
          </a:ln>
        </p:spPr>
      </p:sp>
      <p:sp>
        <p:nvSpPr>
          <p:cNvPr id="76" name="Text 68"/>
          <p:cNvSpPr txBox="1"/>
          <p:nvPr/>
        </p:nvSpPr>
        <p:spPr>
          <a:xfrm>
            <a:off x="7296912" y="3694176"/>
            <a:ext cx="1335024" cy="338328"/>
          </a:xfrm>
          <a:prstGeom prst="rect">
            <a:avLst/>
          </a:prstGeom>
          <a:noFill/>
          <a:ln/>
        </p:spPr>
        <p:txBody>
          <a:bodyPr wrap="square" lIns="0" tIns="0" rIns="0" bIns="0" rtlCol="0" anchor="ctr">
            <a:normAutofit/>
          </a:bodyPr>
          <a:lstStyle/>
          <a:p>
            <a:pPr marL="0" indent="0" algn="ctr">
              <a:buNone/>
            </a:pPr>
            <a:r>
              <a:rPr lang="en-US" sz="1000" dirty="0">
                <a:solidFill>
                  <a:srgbClr val="231F20"/>
                </a:solidFill>
                <a:latin typeface="Calibri" pitchFamily="34" charset="0"/>
                <a:ea typeface="Calibri" pitchFamily="34" charset="-122"/>
                <a:cs typeface="Calibri" pitchFamily="34" charset="-120"/>
              </a:rPr>
              <a:t>Cross-encoders</a:t>
            </a:r>
            <a:endParaRPr lang="en-US" sz="1000" dirty="0"/>
          </a:p>
        </p:txBody>
      </p:sp>
      <p:sp>
        <p:nvSpPr>
          <p:cNvPr id="77" name="Shape 69"/>
          <p:cNvSpPr/>
          <p:nvPr/>
        </p:nvSpPr>
        <p:spPr>
          <a:xfrm>
            <a:off x="457200" y="4279392"/>
            <a:ext cx="8229600" cy="402336"/>
          </a:xfrm>
          <a:prstGeom prst="roundRect">
            <a:avLst>
              <a:gd name="adj" fmla="val 18182"/>
            </a:avLst>
          </a:prstGeom>
          <a:solidFill>
            <a:srgbClr val="E8F5EF"/>
          </a:solidFill>
          <a:ln w="15875">
            <a:solidFill>
              <a:srgbClr val="00A86A"/>
            </a:solidFill>
            <a:prstDash val="solid"/>
          </a:ln>
        </p:spPr>
      </p:sp>
      <p:sp>
        <p:nvSpPr>
          <p:cNvPr id="78" name="Text 70"/>
          <p:cNvSpPr txBox="1"/>
          <p:nvPr/>
        </p:nvSpPr>
        <p:spPr>
          <a:xfrm>
            <a:off x="640080" y="4279392"/>
            <a:ext cx="7863840" cy="402336"/>
          </a:xfrm>
          <a:prstGeom prst="rect">
            <a:avLst/>
          </a:prstGeom>
          <a:noFill/>
          <a:ln/>
        </p:spPr>
        <p:txBody>
          <a:bodyPr wrap="square" lIns="0" tIns="0" rIns="0" bIns="0" rtlCol="0" anchor="ctr"/>
          <a:lstStyle/>
          <a:p>
            <a:pPr marL="0" indent="0">
              <a:buNone/>
            </a:pPr>
            <a:r>
              <a:rPr lang="en-US" sz="1200" b="1" dirty="0">
                <a:solidFill>
                  <a:srgbClr val="00704A"/>
                </a:solidFill>
                <a:latin typeface="Calibri" pitchFamily="34" charset="0"/>
                <a:ea typeface="Calibri" pitchFamily="34" charset="-122"/>
                <a:cs typeface="Calibri" pitchFamily="34" charset="-120"/>
              </a:rPr>
              <a:t>Conseil : </a:t>
            </a:r>
            <a:r>
              <a:rPr lang="en-US" sz="1200" dirty="0">
                <a:solidFill>
                  <a:srgbClr val="231F20"/>
                </a:solidFill>
                <a:latin typeface="Calibri" pitchFamily="34" charset="0"/>
                <a:ea typeface="Calibri" pitchFamily="34" charset="-122"/>
                <a:cs typeface="Calibri" pitchFamily="34" charset="-120"/>
              </a:rPr>
              <a:t>comparez les modèles d'embedding sur MTEB, puis validez-les sur vos données et vos langues.</a:t>
            </a:r>
            <a:endParaRPr lang="en-US" sz="1200" dirty="0"/>
          </a:p>
        </p:txBody>
      </p:sp>
    </p:spTree>
  </p:cSld>
  <p:clrMapOvr>
    <a:masterClrMapping/>
  </p:clrMapOvr>
  <p:transition spd="med">
    <p:fade/>
  </p:transition>
</p:sld>
</file>

<file path=ppt/slides/slide40.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0704A"/>
                </a:solidFill>
                <a:latin typeface="Calibri" pitchFamily="34" charset="0"/>
                <a:ea typeface="Calibri" pitchFamily="34" charset="-122"/>
                <a:cs typeface="Calibri" pitchFamily="34" charset="-120"/>
              </a:rPr>
              <a:t>SOURCES</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Références (1/2)</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694944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ATI · Big Data pour les statistiques macroéconomiques · Maurice, 26–30 oct. 2026   |   BAD · Data Innovation for Africa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40</a:t>
            </a:r>
            <a:endParaRPr lang="en-US" sz="850" dirty="0"/>
          </a:p>
        </p:txBody>
      </p:sp>
      <p:sp>
        <p:nvSpPr>
          <p:cNvPr id="17" name="Shape 14"/>
          <p:cNvSpPr/>
          <p:nvPr/>
        </p:nvSpPr>
        <p:spPr>
          <a:xfrm>
            <a:off x="8183880" y="566928"/>
            <a:ext cx="457200" cy="457200"/>
          </a:xfrm>
          <a:prstGeom prst="ellipse">
            <a:avLst/>
          </a:prstGeom>
          <a:solidFill>
            <a:srgbClr val="00A86A">
              <a:alpha val="22000"/>
            </a:srgbClr>
          </a:solidFill>
          <a:ln w="12700">
            <a:solidFill>
              <a:srgbClr val="00A86A">
                <a:alpha val="0"/>
              </a:srgbClr>
            </a:solidFill>
            <a:prstDash val="solid"/>
          </a:ln>
        </p:spPr>
      </p:sp>
      <p:pic>
        <p:nvPicPr>
          <p:cNvPr id="18" name="Image 0" descr="preencoded.png"/>
          <p:cNvPicPr>
            <a:picLocks noChangeAspect="1"/>
          </p:cNvPicPr>
          <p:nvPr/>
        </p:nvPicPr>
        <p:blipFill>
          <a:blip r:embed="rId3"/>
          <a:stretch>
            <a:fillRect/>
          </a:stretch>
        </p:blipFill>
        <p:spPr>
          <a:xfrm>
            <a:off x="8293608" y="676656"/>
            <a:ext cx="237744" cy="237744"/>
          </a:xfrm>
          <a:prstGeom prst="rect">
            <a:avLst/>
          </a:prstGeom>
        </p:spPr>
      </p:pic>
      <p:sp>
        <p:nvSpPr>
          <p:cNvPr id="19" name="Shape 15"/>
          <p:cNvSpPr/>
          <p:nvPr/>
        </p:nvSpPr>
        <p:spPr>
          <a:xfrm>
            <a:off x="457200" y="1298448"/>
            <a:ext cx="4023360" cy="3383280"/>
          </a:xfrm>
          <a:prstGeom prst="roundRect">
            <a:avLst>
              <a:gd name="adj" fmla="val 2162"/>
            </a:avLst>
          </a:prstGeom>
          <a:solidFill>
            <a:srgbClr val="F4F7F5"/>
          </a:solidFill>
          <a:ln w="9525">
            <a:solidFill>
              <a:srgbClr val="D5DED9"/>
            </a:solidFill>
            <a:prstDash val="solid"/>
          </a:ln>
        </p:spPr>
      </p:sp>
      <p:sp>
        <p:nvSpPr>
          <p:cNvPr id="20" name="Text 16"/>
          <p:cNvSpPr txBox="1"/>
          <p:nvPr/>
        </p:nvSpPr>
        <p:spPr>
          <a:xfrm>
            <a:off x="594360" y="1417320"/>
            <a:ext cx="3749040" cy="3154680"/>
          </a:xfrm>
          <a:prstGeom prst="rect">
            <a:avLst/>
          </a:prstGeom>
          <a:noFill/>
          <a:ln/>
        </p:spPr>
        <p:txBody>
          <a:bodyPr wrap="square" lIns="0" tIns="0" rIns="0" bIns="0" rtlCol="0" anchor="t"/>
          <a:lstStyle/>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Chen et al. (2017). Reading Wikipedia to Answer Open-Domain Questions (DrQA). ACL.</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Lee et al. (2019). Latent Retrieval for Weakly Supervised Open Domain QA (ORQA). ACL.</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Guu et al. (2020). REALM: Retrieval-Augmented Language Model Pre-Training. ICML.</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Karpukhin et al. (2020). Dense Passage Retrieval for Open-Domain Question Answering. EMNLP.</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Lewis et al. (2020). Retrieval-Augmented Generation for Knowledge-Intensive NLP Tasks. NeurIPS.</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Izacard &amp; Grave (2021). Leveraging Passage Retrieval with Generative Models (FiD). EACL.</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Borgeaud et al. (2022). Improving Language Models by Retrieving from Trillions of Tokens (RETRO). ICML.</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Izacard et al. (2022). Atlas: Few-shot Learning with Retrieval Augmented Language Models.</a:t>
            </a:r>
            <a:endParaRPr lang="en-US" sz="1000" dirty="0"/>
          </a:p>
        </p:txBody>
      </p:sp>
      <p:sp>
        <p:nvSpPr>
          <p:cNvPr id="21" name="Shape 17"/>
          <p:cNvSpPr/>
          <p:nvPr/>
        </p:nvSpPr>
        <p:spPr>
          <a:xfrm>
            <a:off x="4663440" y="1298448"/>
            <a:ext cx="4023360" cy="3383280"/>
          </a:xfrm>
          <a:prstGeom prst="roundRect">
            <a:avLst>
              <a:gd name="adj" fmla="val 2162"/>
            </a:avLst>
          </a:prstGeom>
          <a:solidFill>
            <a:srgbClr val="F4F7F5"/>
          </a:solidFill>
          <a:ln w="9525">
            <a:solidFill>
              <a:srgbClr val="D5DED9"/>
            </a:solidFill>
            <a:prstDash val="solid"/>
          </a:ln>
        </p:spPr>
      </p:sp>
      <p:sp>
        <p:nvSpPr>
          <p:cNvPr id="22" name="Text 18"/>
          <p:cNvSpPr txBox="1"/>
          <p:nvPr/>
        </p:nvSpPr>
        <p:spPr>
          <a:xfrm>
            <a:off x="4800600" y="1417320"/>
            <a:ext cx="3749040" cy="3154680"/>
          </a:xfrm>
          <a:prstGeom prst="rect">
            <a:avLst/>
          </a:prstGeom>
          <a:noFill/>
          <a:ln/>
        </p:spPr>
        <p:txBody>
          <a:bodyPr wrap="square" lIns="0" tIns="0" rIns="0" bIns="0" rtlCol="0" anchor="t"/>
          <a:lstStyle/>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Gao, Ma et al. (2022). Precise Zero-Shot Dense Retrieval without Relevance Labels (HyDE).</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Ram et al. (2023). In-Context Retrieval-Augmented Language Models. TACL.</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Shi et al. (2023). REPLUG: Retrieval-Augmented Black-Box Language Models.</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Trivedi et al. (2023). Interleaving Retrieval with Chain-of-Thought Reasoning (IRCoT). ACL.</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Jiang et al. (2023). Active Retrieval Augmented Generation (FLARE). EMNLP.</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Asai et al. (2023). Self-RAG: Learning to Retrieve, Generate, and Critique through Self-Reflection.</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Liu et al. (2023). Lost in the Middle: How Language Models Use Long Contexts. TACL 2024.</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Gao, Xiong et al. (2023). Retrieval-Augmented Generation for Large Language Models: A Survey.</a:t>
            </a:r>
            <a:endParaRPr lang="en-US" sz="1000" dirty="0"/>
          </a:p>
        </p:txBody>
      </p:sp>
    </p:spTree>
  </p:cSld>
  <p:clrMapOvr>
    <a:masterClrMapping/>
  </p:clrMapOvr>
  <p:transition spd="med">
    <p:fade/>
  </p:transition>
</p:sld>
</file>

<file path=ppt/slides/slide41.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0704A"/>
                </a:solidFill>
                <a:latin typeface="Calibri" pitchFamily="34" charset="0"/>
                <a:ea typeface="Calibri" pitchFamily="34" charset="-122"/>
                <a:cs typeface="Calibri" pitchFamily="34" charset="-120"/>
              </a:rPr>
              <a:t>SOURCES</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Références (2/2)</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694944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ATI · Big Data pour les statistiques macroéconomiques · Maurice, 26–30 oct. 2026   |   BAD · Data Innovation for Africa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41</a:t>
            </a:r>
            <a:endParaRPr lang="en-US" sz="850" dirty="0"/>
          </a:p>
        </p:txBody>
      </p:sp>
      <p:sp>
        <p:nvSpPr>
          <p:cNvPr id="17" name="Shape 14"/>
          <p:cNvSpPr/>
          <p:nvPr/>
        </p:nvSpPr>
        <p:spPr>
          <a:xfrm>
            <a:off x="8183880" y="566928"/>
            <a:ext cx="457200" cy="457200"/>
          </a:xfrm>
          <a:prstGeom prst="ellipse">
            <a:avLst/>
          </a:prstGeom>
          <a:solidFill>
            <a:srgbClr val="00A86A">
              <a:alpha val="22000"/>
            </a:srgbClr>
          </a:solidFill>
          <a:ln w="12700">
            <a:solidFill>
              <a:srgbClr val="00A86A">
                <a:alpha val="0"/>
              </a:srgbClr>
            </a:solidFill>
            <a:prstDash val="solid"/>
          </a:ln>
        </p:spPr>
      </p:sp>
      <p:pic>
        <p:nvPicPr>
          <p:cNvPr id="18" name="Image 0" descr="preencoded.png"/>
          <p:cNvPicPr>
            <a:picLocks noChangeAspect="1"/>
          </p:cNvPicPr>
          <p:nvPr/>
        </p:nvPicPr>
        <p:blipFill>
          <a:blip r:embed="rId3"/>
          <a:stretch>
            <a:fillRect/>
          </a:stretch>
        </p:blipFill>
        <p:spPr>
          <a:xfrm>
            <a:off x="8293608" y="676656"/>
            <a:ext cx="237744" cy="237744"/>
          </a:xfrm>
          <a:prstGeom prst="rect">
            <a:avLst/>
          </a:prstGeom>
        </p:spPr>
      </p:pic>
      <p:sp>
        <p:nvSpPr>
          <p:cNvPr id="19" name="Shape 15"/>
          <p:cNvSpPr/>
          <p:nvPr/>
        </p:nvSpPr>
        <p:spPr>
          <a:xfrm>
            <a:off x="457200" y="1298448"/>
            <a:ext cx="4023360" cy="3383280"/>
          </a:xfrm>
          <a:prstGeom prst="roundRect">
            <a:avLst>
              <a:gd name="adj" fmla="val 2162"/>
            </a:avLst>
          </a:prstGeom>
          <a:solidFill>
            <a:srgbClr val="F4F7F5"/>
          </a:solidFill>
          <a:ln w="9525">
            <a:solidFill>
              <a:srgbClr val="D5DED9"/>
            </a:solidFill>
            <a:prstDash val="solid"/>
          </a:ln>
        </p:spPr>
      </p:sp>
      <p:sp>
        <p:nvSpPr>
          <p:cNvPr id="20" name="Text 16"/>
          <p:cNvSpPr txBox="1"/>
          <p:nvPr/>
        </p:nvSpPr>
        <p:spPr>
          <a:xfrm>
            <a:off x="594360" y="1417320"/>
            <a:ext cx="3749040" cy="3154680"/>
          </a:xfrm>
          <a:prstGeom prst="rect">
            <a:avLst/>
          </a:prstGeom>
          <a:noFill/>
          <a:ln/>
        </p:spPr>
        <p:txBody>
          <a:bodyPr wrap="square" lIns="0" tIns="0" rIns="0" bIns="0" rtlCol="0" anchor="t"/>
          <a:lstStyle/>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Es et al. (2023). RAGAS: Automated Evaluation of Retrieval Augmented Generation.</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Morris et al. (2023). Text Embeddings Reveal (Almost) As Much As Text. EMNLP.</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Yan et al. (2024). Corrective Retrieval Augmented Generation (CRAG).</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Jeong et al. (2024). Adaptive-RAG: Adapting Retrieval-Augmented LLMs through Question Complexity. NAACL.</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Edge et al. (2024). From Local to Global: A Graph RAG Approach to Query-Focused Summarization. Microsoft.</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Sarthi et al. (2024). RAPTOR: Recursive Abstractive Processing for Tree-Organized Retrieval. ICLR.</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Gutiérrez et al. (2024). HippoRAG: Neurobiologically Inspired Long-Term Memory for LLMs. NeurIPS.</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Faysse et al. (2024). ColPali: Efficient Document Retrieval with Vision Language Models.</a:t>
            </a:r>
            <a:endParaRPr lang="en-US" sz="1000" dirty="0"/>
          </a:p>
        </p:txBody>
      </p:sp>
      <p:sp>
        <p:nvSpPr>
          <p:cNvPr id="21" name="Shape 17"/>
          <p:cNvSpPr/>
          <p:nvPr/>
        </p:nvSpPr>
        <p:spPr>
          <a:xfrm>
            <a:off x="4663440" y="1298448"/>
            <a:ext cx="4023360" cy="3383280"/>
          </a:xfrm>
          <a:prstGeom prst="roundRect">
            <a:avLst>
              <a:gd name="adj" fmla="val 2162"/>
            </a:avLst>
          </a:prstGeom>
          <a:solidFill>
            <a:srgbClr val="F4F7F5"/>
          </a:solidFill>
          <a:ln w="9525">
            <a:solidFill>
              <a:srgbClr val="D5DED9"/>
            </a:solidFill>
            <a:prstDash val="solid"/>
          </a:ln>
        </p:spPr>
      </p:sp>
      <p:sp>
        <p:nvSpPr>
          <p:cNvPr id="22" name="Text 18"/>
          <p:cNvSpPr txBox="1"/>
          <p:nvPr/>
        </p:nvSpPr>
        <p:spPr>
          <a:xfrm>
            <a:off x="4800600" y="1417320"/>
            <a:ext cx="3749040" cy="3154680"/>
          </a:xfrm>
          <a:prstGeom prst="rect">
            <a:avLst/>
          </a:prstGeom>
          <a:noFill/>
          <a:ln/>
        </p:spPr>
        <p:txBody>
          <a:bodyPr wrap="square" lIns="0" tIns="0" rIns="0" bIns="0" rtlCol="0" anchor="t"/>
          <a:lstStyle/>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Li et al. (2024). Retrieval Augmented Generation or Long-Context LLMs? (Self-Route). EMNLP Industry.</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Barnett et al. (2024). Seven Failure Points When Engineering a RAG System.</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Zou et al. (2024). PoisonedRAG: Knowledge Corruption Attacks to RAG of LLMs.</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Anthropic (2024). Introducing Contextual Retrieval.</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Li et al. (2025). Search-o1: Agentic Search-Enhanced Large Reasoning Models.</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Jin et al. (2025). Search-R1: Training LLMs to Reason and Leverage Search Engines with RL.</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OWASP (2025). Top 10 for LLM Applications — LLM08: Vector and Embedding Weaknesses.</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Cormack et al. (2009). Reciprocal Rank Fusion. SIGIR  ·  Malkov &amp; Yashunin (2018). HNSW. IEEE TPAMI.</a:t>
            </a:r>
            <a:endParaRPr lang="en-US" sz="10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7024</Words>
  <Application>Microsoft Office PowerPoint</Application>
  <PresentationFormat>On-screen Show (16:9)</PresentationFormat>
  <Paragraphs>795</Paragraphs>
  <Slides>41</Slides>
  <Notes>41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41</vt:i4>
      </vt:variant>
    </vt:vector>
  </HeadingPairs>
  <TitlesOfParts>
    <vt:vector size="45"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Génération augmentée par récupération (RAG)</dc:title>
  <dc:subject>PptxGenJS Presentation</dc:subject>
  <dc:creator>PptxGenJS</dc:creator>
  <cp:lastModifiedBy>HADJ TAIEB, MOHAMED ALI</cp:lastModifiedBy>
  <cp:revision>4</cp:revision>
  <dcterms:created xsi:type="dcterms:W3CDTF">2026-09-16T09:18:29Z</dcterms:created>
  <dcterms:modified xsi:type="dcterms:W3CDTF">2026-10-17T06:12:37Z</dcterms:modified>
</cp:coreProperties>
</file>