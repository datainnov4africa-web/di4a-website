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cf0b5f82-9d80-f959-e7a4-7f30007e917c}">
          <p14:sldIdLst>
            <p14:sldId id="256"/>
            <p14:sldId id="257"/>
          </p14:sldIdLst>
        </p14:section>
        <p14:section name="Contexte" id="{b9c90e1b-cd57-8277-4815-5912245f60e7}">
          <p14:sldIdLst>
            <p14:sldId id="258"/>
            <p14:sldId id="259"/>
            <p14:sldId id="260"/>
            <p14:sldId id="261"/>
          </p14:sldIdLst>
        </p14:section>
        <p14:section name="L’initiative DIL" id="{75e9f3b1-09f2-cb20-cd4c-56963562c5fc}">
          <p14:sldIdLst>
            <p14:sldId id="262"/>
            <p14:sldId id="263"/>
            <p14:sldId id="264"/>
          </p14:sldIdLst>
        </p14:section>
        <p14:section name="Le modèle de maturité" id="{4e4e621b-717d-2e52-c805-1d03c6e827c8}">
          <p14:sldIdLst>
            <p14:sldId id="265"/>
            <p14:sldId id="266"/>
            <p14:sldId id="267"/>
            <p14:sldId id="268"/>
          </p14:sldIdLst>
        </p14:section>
        <p14:section name="Mise en œuvre" id="{897a2599-47ee-e105-3d55-f0aa23b690aa}">
          <p14:sldIdLst>
            <p14:sldId id="269"/>
            <p14:sldId id="270"/>
            <p14:sldId id="271"/>
          </p14:sldIdLst>
        </p14:section>
        <p14:section name="Expériences pays" id="{86c3dfc3-1424-ca83-4144-c72a376f2360}">
          <p14:sldIdLst>
            <p14:sldId id="272"/>
            <p14:sldId id="273"/>
            <p14:sldId id="274"/>
            <p14:sldId id="275"/>
          </p14:sldIdLst>
        </p14:section>
        <p14:section name="Perspectives" id="{8c19eadc-1419-362e-d32c-9326af418540}">
          <p14:sldIdLst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présentation résume le guide pratique de la BAD sur la création de laboratoires d’innovation des données et l’application de son modèle de maturité en douze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parties : le contexte, l’initiative de la BAD, le modèle de maturité, la mise en œuvre, les expériences pays et les perspectives.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guide part d’un constat : la statistique officielle fait face à une convergence de pressions sans précédent.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guide identifie cinq défis. Le plus structurant est le décalage de temporalité : les usagers attendent de l’immédiat alors que la rigueur prend du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SNDS actuelles visent surtout la modernisation interne du SSN. Le guide plaide pour une transformation systémique de tout l’écosystème de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guide décrit six étapes et rappelle que l’innovation doit partir des équipes qui maîtrisent les processus.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Lancée en 2023 dans le cadre du programme Autoroute africaine de l’information (AIH), l’initiative est à la fois un incubateur et une plateforme de collaboration.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objectifs disent ce que vise l’initiative ; les piliers, comment elle s’organise ; les principes, la façon de travailler.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Catalyseur, facilitateur, innovateur. Le guide insiste : le rôle d’innovateur ne doit pas fonctionner en vase clos.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cœur du guide : un diagnostic en douze dimensions qui sert de point de départ et d’outil de suivi.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dimensions couvrent l’INS mais aussi l’écosystème : cadre juridique, partenariats, usagers, financement. Le modèle ne pondère ni ne classe.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processus prend deux à trois mois par pays. Le guide insiste : le dialogue entre parties prenantes vaut davantage que la couleur attribuée.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facteurs de soutien sont maîtrisés par l’INS ; les facteurs d’orientation le sont moins mais sont décisifs. Le DIL fait le lien entre les deux.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diagnostics ont mis en lumière des choix d’organisation et des freins concrets.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pays ont choisi des formules variées. La bonne réponse se situe souvent entre les deux, à condition de respecter deux règles.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services techniques ont des idées ; il leur manque du temps, de l’expertise et des circuits de décision. Ces quatre pistes y répondent.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pays ont appliqué le modèle entre fin 2023 et 2025 ; l’annexe 7 du guide mentionne aussi le Botswana.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dates proviennent de la présentation du guide. Le chapitre 9 donne mars 2024 pour le Sénégal et avril 2024 pour la Côte d’Ivoire.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Exemples rapportés par le guide. Ils sont décrits sans résultats chiffrés : à documenter lors des prochains diagnostics.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tirés de l’annexe 7 du guide. Ce sont des indicateurs d’activité, pas encore d’impact.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BAD envisage cinq orientations pour étendre l’initiative.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orientations combinent appui direct, extension des diagnostics, auto-évaluation, réseaux et mobilisation continentale.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critique : le guide est riche en outils mais gagnerait à se doter d’un volet de mesure et d’une relecture éditoriale.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Références utilisées pour cette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de clôture : le diagnostic est un point de départ ; la réussite dépend de l’appropriation interne, des partenariats et d’un suivi régulier.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HER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34440" cy="54864"/>
          </a:xfrm>
          <a:prstGeom prst="rect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 d’innovation des données · Modèle de maturité BAD</a:t>
            </a:r>
            <a:endParaRPr lang="en-US" sz="850" dirty="0"/>
          </a:p>
        </p:txBody>
      </p:sp>
      <p:sp>
        <p:nvSpPr>
          <p:cNvPr id="5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DATA INNOVATION FOR AFRICA (DI4A)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laboratoire d’innovation des données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de maturité de la BAD en pratique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D’après le guide pratique du Département des statistiques de la BAD (octobre 2025)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468880" y="1554480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80" y="16687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statistique officielle doit innover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5361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257800" y="155448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6687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L’initiative DIL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piliers et fonctions d’un DIL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5361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8046720" y="1554480"/>
            <a:ext cx="457200" cy="4572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0" y="166878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179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de maturité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Douze dimensions pour évaluer la préparation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0080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2468880" y="3154680"/>
            <a:ext cx="457200" cy="45720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180" y="326898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008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Leçons tirées des pays pilotes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4612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3429000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Shape 24"/>
          <p:cNvSpPr/>
          <p:nvPr/>
        </p:nvSpPr>
        <p:spPr>
          <a:xfrm>
            <a:off x="5257800" y="3154680"/>
            <a:ext cx="457200" cy="45720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3268980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34290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Expériences pays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3429000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et premiers résultats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03504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217920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6" name="Shape 29"/>
          <p:cNvSpPr/>
          <p:nvPr/>
        </p:nvSpPr>
        <p:spPr>
          <a:xfrm>
            <a:off x="8046720" y="3154680"/>
            <a:ext cx="457200" cy="457200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0" y="3268980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2179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6217920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et points d’attention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statistique officielle doit-elle innover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pressions convergent sur les INS africains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0120" y="1536192"/>
            <a:ext cx="502920" cy="50292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661922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" y="214884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Surabondance de données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" y="2670048"/>
            <a:ext cx="1252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statistique officielle doit défendre sa visibilité face à des données plus rapides mais incertaines.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103120" y="13716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E8F5EF"/>
          </a:solidFill>
          <a:ln w="17780">
            <a:solidFill>
              <a:srgbClr val="D49A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06040" y="1536192"/>
            <a:ext cx="502920" cy="50292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770" y="1661922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212848" y="214884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Décalage de temporalité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2231136" y="2670048"/>
            <a:ext cx="1252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usagers veulent des données immédiates et fines ; la rigueur prend du temps.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749040" y="13716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251960" y="1536192"/>
            <a:ext cx="502920" cy="50292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690" y="1661922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858768" y="214884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Accélération technologique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3877056" y="2670048"/>
            <a:ext cx="1252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outils en évolution constante qui exigent veille, souplesse et moyens.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394960" y="13716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897880" y="1536192"/>
            <a:ext cx="502920" cy="50292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1661922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504688" y="214884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rares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5522976" y="2670048"/>
            <a:ext cx="1252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data scientists dans le public, face à la concurrence du privé.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040880" y="137160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543800" y="1536192"/>
            <a:ext cx="502920" cy="50292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530" y="1661922"/>
            <a:ext cx="251460" cy="2514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50608" y="214884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financière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7168896" y="2670048"/>
            <a:ext cx="1252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nationaux tendus, aide extérieure courte et ciblée.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57200" y="4041648"/>
            <a:ext cx="8092440" cy="438912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640080" y="40416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Innover ou disparaître : </a:t>
            </a:r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transformation est désormais une condition de pertinence.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Moderniser ne suffit plus : il faut transformer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3703320" cy="2514600"/>
          </a:xfrm>
          <a:prstGeom prst="roundRect">
            <a:avLst>
              <a:gd name="adj" fmla="val 2909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5E6964">
              <a:alpha val="22000"/>
            </a:srgbClr>
          </a:solidFill>
          <a:ln w="12700">
            <a:solidFill>
              <a:srgbClr val="5E6964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9562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07008" y="1481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 du système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" y="20756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Finalité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554480" y="2075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accessibilité des statistiques officielles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" y="25054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554480" y="25054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Interne, institutionnelle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" y="29352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1554480" y="29352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du SSN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" y="336499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554480" y="3364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Fiabilité, indépendance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983480" y="1371600"/>
            <a:ext cx="3703320" cy="2514600"/>
          </a:xfrm>
          <a:prstGeom prst="roundRect">
            <a:avLst>
              <a:gd name="adj" fmla="val 2909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166360" y="1481328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60" y="1595628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733288" y="1481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de l’écosystème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184648" y="20756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Finalité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6080760" y="2075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ouvert et collaboratif autour des données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5184648" y="25054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6080760" y="25054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Globale, systémique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5184648" y="29352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6080760" y="29352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détenteurs et usagers de données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5184648" y="336499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6080760" y="3364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Interopérabilité, gouvernance, innovation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4270248" y="2423160"/>
            <a:ext cx="603504" cy="411480"/>
          </a:xfrm>
          <a:prstGeom prst="rightArrow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57200" y="404164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00A86A">
              <a:alpha val="15000"/>
            </a:srgbClr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457200" y="4041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Élargir au-delà du SSN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3200400" y="404164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00A86A">
              <a:alpha val="15000"/>
            </a:srgbClr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200400" y="4041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transversale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5943600" y="404164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00A86A">
              <a:alpha val="15000"/>
            </a:srgbClr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5943600" y="4041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Co-construire les solutions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L’innovation à chaque étape de la chaîne de valeur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00A86A"/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1417320" cy="502920"/>
          </a:xfrm>
          <a:prstGeom prst="homePlate">
            <a:avLst/>
          </a:prstGeom>
          <a:solidFill>
            <a:srgbClr val="57BD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2157984"/>
            <a:ext cx="457200" cy="457200"/>
          </a:xfrm>
          <a:prstGeom prst="ellipse">
            <a:avLst/>
          </a:prstGeom>
          <a:solidFill>
            <a:srgbClr val="57BD92">
              <a:alpha val="22000"/>
            </a:srgbClr>
          </a:solidFill>
          <a:ln w="12700">
            <a:solidFill>
              <a:srgbClr val="57BD92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72284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Imagerie satellite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Téléphonie mobile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administratifs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819656" y="1371600"/>
            <a:ext cx="1417320" cy="502920"/>
          </a:xfrm>
          <a:prstGeom prst="chevron">
            <a:avLst/>
          </a:prstGeom>
          <a:solidFill>
            <a:srgbClr val="33AF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929384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837944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231136" y="2157984"/>
            <a:ext cx="457200" cy="457200"/>
          </a:xfrm>
          <a:prstGeom prst="ellipse">
            <a:avLst/>
          </a:prstGeom>
          <a:solidFill>
            <a:srgbClr val="33AF7C">
              <a:alpha val="22000"/>
            </a:srgbClr>
          </a:solidFill>
          <a:ln w="12700">
            <a:solidFill>
              <a:srgbClr val="33AF7C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36" y="2272284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929384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connectés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182112" y="1371600"/>
            <a:ext cx="1417320" cy="502920"/>
          </a:xfrm>
          <a:prstGeom prst="chevron">
            <a:avLst/>
          </a:prstGeom>
          <a:solidFill>
            <a:srgbClr val="10A0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29184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200400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593592" y="2157984"/>
            <a:ext cx="457200" cy="457200"/>
          </a:xfrm>
          <a:prstGeom prst="ellipse">
            <a:avLst/>
          </a:prstGeom>
          <a:solidFill>
            <a:srgbClr val="10A06A">
              <a:alpha val="22000"/>
            </a:srgbClr>
          </a:solidFill>
          <a:ln w="12700">
            <a:solidFill>
              <a:srgbClr val="10A06A">
                <a:alpha val="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892" y="2272284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3291840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automatisée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automatique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44568" y="1371600"/>
            <a:ext cx="1417320" cy="502920"/>
          </a:xfrm>
          <a:prstGeom prst="chevron">
            <a:avLst/>
          </a:prstGeom>
          <a:solidFill>
            <a:srgbClr val="008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654296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562856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956048" y="2157984"/>
            <a:ext cx="457200" cy="457200"/>
          </a:xfrm>
          <a:prstGeom prst="ellipse">
            <a:avLst/>
          </a:prstGeom>
          <a:solidFill>
            <a:srgbClr val="008A5B">
              <a:alpha val="22000"/>
            </a:srgbClr>
          </a:solidFill>
          <a:ln w="12700">
            <a:solidFill>
              <a:srgbClr val="008A5B">
                <a:alpha val="0"/>
              </a:srgbClr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48" y="2272284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654296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Catalogues de données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à grande échelle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907024" y="1371600"/>
            <a:ext cx="1417320" cy="502920"/>
          </a:xfrm>
          <a:prstGeom prst="chevron">
            <a:avLst/>
          </a:prstGeom>
          <a:solidFill>
            <a:srgbClr val="007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016752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925312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318504" y="2157984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2272284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6016752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Portails ouverts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7269480" y="1371600"/>
            <a:ext cx="1417320" cy="502920"/>
          </a:xfrm>
          <a:prstGeom prst="chevron">
            <a:avLst/>
          </a:prstGeom>
          <a:solidFill>
            <a:srgbClr val="0055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7379208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7287768" y="2029968"/>
            <a:ext cx="1280160" cy="187452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7680960" y="2157984"/>
            <a:ext cx="457200" cy="457200"/>
          </a:xfrm>
          <a:prstGeom prst="ellipse">
            <a:avLst/>
          </a:prstGeom>
          <a:solidFill>
            <a:srgbClr val="00553A">
              <a:alpha val="22000"/>
            </a:srgbClr>
          </a:solidFill>
          <a:ln w="12700">
            <a:solidFill>
              <a:srgbClr val="00553A">
                <a:alpha val="0"/>
              </a:srgbClr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2272284"/>
            <a:ext cx="228600" cy="2286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379208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prédictive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Python, R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457200" y="4041648"/>
            <a:ext cx="411480" cy="41148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" y="4144518"/>
            <a:ext cx="205740" cy="20574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05840" y="40416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clé :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l’innovation part des techniciens qui connaissent les outils et les processus.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L’initiative DIL de la BAD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propose la Banque pour accélérer l’innovation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objectifs, deux piliers, quatre principes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L’INITIATIVE DIL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536192"/>
            <a:ext cx="2331720" cy="1344168"/>
          </a:xfrm>
          <a:prstGeom prst="roundRect">
            <a:avLst>
              <a:gd name="adj" fmla="val 544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1700784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815084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77440" y="16733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21792" y="22402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Favoriser l’innovation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21792" y="25054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Banque et dans les pays membres régionaux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926080" y="1536192"/>
            <a:ext cx="2331720" cy="1344168"/>
          </a:xfrm>
          <a:prstGeom prst="roundRect">
            <a:avLst>
              <a:gd name="adj" fmla="val 544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090672" y="1700784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72" y="1815084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46320" y="16733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3090672" y="22402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augmentées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090672" y="25054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rapides, plus fines et moins coûteuses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57200" y="3017520"/>
            <a:ext cx="2331720" cy="1344168"/>
          </a:xfrm>
          <a:prstGeom prst="roundRect">
            <a:avLst>
              <a:gd name="adj" fmla="val 544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21792" y="3182112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29641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37744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621792" y="3721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Démystifier la data science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21792" y="398678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la formation et les projets conjoints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2926080" y="3017520"/>
            <a:ext cx="2331720" cy="1344168"/>
          </a:xfrm>
          <a:prstGeom prst="roundRect">
            <a:avLst>
              <a:gd name="adj" fmla="val 5442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090672" y="3182112"/>
            <a:ext cx="457200" cy="45720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972" y="3296412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84632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3090672" y="3721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open source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090672" y="398678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répertoire testé et réutilisable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553212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532120" y="1536192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17780">
            <a:solidFill>
              <a:srgbClr val="00704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87568" y="15361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pour la valeur et l’impact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532120" y="219456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8F5EF"/>
          </a:solidFill>
          <a:ln w="17780">
            <a:solidFill>
              <a:srgbClr val="00704A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5687568" y="21945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et collaboration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5532120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5532120" y="3182112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00A86A">
              <a:alpha val="15000"/>
            </a:srgbClr>
          </a:solidFill>
          <a:ln w="9525">
            <a:solidFill>
              <a:srgbClr val="00A86A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669280" y="3182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les données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5532120" y="3529584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0E7C86">
              <a:alpha val="15000"/>
            </a:srgbClr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5669280" y="35295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une fois, réutiliser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5532120" y="3877056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D49A00">
              <a:alpha val="15000"/>
            </a:srgbClr>
          </a:solidFill>
          <a:ln w="9525">
            <a:solidFill>
              <a:srgbClr val="D49A00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5669280" y="38770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frictions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5532120" y="4224528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C4621D">
              <a:alpha val="15000"/>
            </a:srgbClr>
          </a:solidFill>
          <a:ln w="9525">
            <a:solidFill>
              <a:srgbClr val="C4621D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5669280" y="4224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partenariat au cœur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DIL joue trois rôles complémentaires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L’INITIATIVE DIL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965960"/>
            <a:ext cx="822960" cy="502920"/>
          </a:xfrm>
          <a:prstGeom prst="line">
            <a:avLst/>
          </a:prstGeom>
          <a:noFill/>
          <a:ln w="15875">
            <a:solidFill>
              <a:srgbClr val="5E696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4800600" y="1965960"/>
            <a:ext cx="822960" cy="502920"/>
          </a:xfrm>
          <a:prstGeom prst="line">
            <a:avLst/>
          </a:prstGeom>
          <a:noFill/>
          <a:ln w="15875">
            <a:solidFill>
              <a:srgbClr val="5E696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3154680"/>
            <a:ext cx="0" cy="365760"/>
          </a:xfrm>
          <a:prstGeom prst="line">
            <a:avLst/>
          </a:prstGeom>
          <a:noFill/>
          <a:ln w="15875">
            <a:solidFill>
              <a:srgbClr val="5E696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31920" y="1920240"/>
            <a:ext cx="1280160" cy="1280160"/>
          </a:xfrm>
          <a:prstGeom prst="ellipse">
            <a:avLst/>
          </a:prstGeom>
          <a:solidFill>
            <a:srgbClr val="00A8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d’innovation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137160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1508760"/>
            <a:ext cx="438912" cy="438912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18488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43000" y="15087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Catalyseur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21792" y="197510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Stimule les idées, encourage l’expérimentation et diffuse une culture de l’innovation.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623560" y="137160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E8F5EF"/>
          </a:solidFill>
          <a:ln w="17780">
            <a:solidFill>
              <a:srgbClr val="0E7C8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60720" y="1508760"/>
            <a:ext cx="438912" cy="438912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618488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09360" y="15087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Facilitateur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788152" y="197510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les acteurs en réseau, renforce les capacités, pose les règles de partage, aide au financement.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044952" y="35204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8F5EF"/>
          </a:solidFill>
          <a:ln w="17780">
            <a:solidFill>
              <a:srgbClr val="C4621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82112" y="3657600"/>
            <a:ext cx="438912" cy="438912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767328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730752" y="36576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Innovateur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3209544" y="41239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 d’essai : IA, géospatial, méthodes agiles, preuves de concept reproductibles.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57200" y="278892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57200" y="278892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D49A00">
              <a:alpha val="13000"/>
            </a:srgbClr>
          </a:solidFill>
          <a:ln w="12700">
            <a:solidFill>
              <a:srgbClr val="D49A0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66928" y="2880360"/>
            <a:ext cx="365760" cy="36576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971800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94360" y="32918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d’innovateur doit répondre aux besoins exprimés par les utilisateurs, sous peine d’isolement.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309360" y="278892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6446520" y="28803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qui réunit administration, université, secteur privé et partenaires du développement.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de maturité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mesurer la préparation d’un écosystème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Douze dimensions pour un diagnostic complet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 MODÈLE DE MATURITÉ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3017520" y="1450442"/>
            <a:ext cx="544328" cy="1457350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3017520" y="1840938"/>
            <a:ext cx="1487130" cy="1066854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3017520" y="2517296"/>
            <a:ext cx="2031458" cy="390496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17520" y="2907792"/>
            <a:ext cx="2031458" cy="390496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17520" y="2907792"/>
            <a:ext cx="1487130" cy="1066854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17520" y="2907792"/>
            <a:ext cx="544328" cy="1457350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2473192" y="2907792"/>
            <a:ext cx="544328" cy="1457350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>
            <a:off x="1530390" y="2907792"/>
            <a:ext cx="1487130" cy="1066854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986062" y="2907792"/>
            <a:ext cx="2031458" cy="390496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6062" y="2517296"/>
            <a:ext cx="2031458" cy="390496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530390" y="1840938"/>
            <a:ext cx="1487130" cy="1066854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73192" y="1450442"/>
            <a:ext cx="544328" cy="1457350"/>
          </a:xfrm>
          <a:prstGeom prst="line">
            <a:avLst/>
          </a:prstGeom>
          <a:noFill/>
          <a:ln w="12700">
            <a:solidFill>
              <a:srgbClr val="D5DE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31720" y="2221992"/>
            <a:ext cx="1371600" cy="1371600"/>
          </a:xfrm>
          <a:prstGeom prst="ellipse">
            <a:avLst/>
          </a:prstGeom>
          <a:solidFill>
            <a:srgbClr val="00A8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395728" y="2359152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à la transformation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081788" y="1267562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A8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04648" y="126756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024590" y="1658058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A8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47450" y="165805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stratégique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68918" y="2334416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70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91778" y="2334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juridique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68918" y="3115408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91778" y="3115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024590" y="3791766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047450" y="379176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081788" y="4182262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D49A0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104648" y="418226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admin.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993132" y="4182262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D49A0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015992" y="418226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non conv.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050330" y="3791766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621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73190" y="379176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06002" y="3115408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0704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28862" y="3115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normes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06002" y="2334416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4621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28862" y="2334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Usagers et comm.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050330" y="1658058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B83B2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73190" y="165805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analyse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993132" y="1267562"/>
            <a:ext cx="960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B83B2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015992" y="126756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pPr algn="ctr"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806440" y="13716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925312" y="1572768"/>
            <a:ext cx="502920" cy="50292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1042" y="1698498"/>
            <a:ext cx="251460" cy="251460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6537960" y="15270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questions ouvertes</a:t>
            </a:r>
            <a:endParaRPr lang="en-US" sz="1300" dirty="0"/>
          </a:p>
        </p:txBody>
      </p:sp>
      <p:sp>
        <p:nvSpPr>
          <p:cNvPr id="53" name="Text 49"/>
          <p:cNvSpPr txBox="1"/>
          <p:nvPr/>
        </p:nvSpPr>
        <p:spPr>
          <a:xfrm>
            <a:off x="653796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adaptables au contexte de chaque pays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5806440" y="2395728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5925312" y="2596896"/>
            <a:ext cx="502920" cy="50292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042" y="2722626"/>
            <a:ext cx="251460" cy="251460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6537960" y="25511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classement</a:t>
            </a:r>
            <a:endParaRPr lang="en-US" sz="1300" dirty="0"/>
          </a:p>
        </p:txBody>
      </p:sp>
      <p:sp>
        <p:nvSpPr>
          <p:cNvPr id="58" name="Text 53"/>
          <p:cNvSpPr txBox="1"/>
          <p:nvPr/>
        </p:nvSpPr>
        <p:spPr>
          <a:xfrm>
            <a:off x="6537960" y="2852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pondération : un outil de dialogue, pas de comparaison</a:t>
            </a:r>
            <a:endParaRPr lang="en-US" sz="1050" dirty="0"/>
          </a:p>
        </p:txBody>
      </p:sp>
      <p:sp>
        <p:nvSpPr>
          <p:cNvPr id="59" name="Shape 54"/>
          <p:cNvSpPr/>
          <p:nvPr/>
        </p:nvSpPr>
        <p:spPr>
          <a:xfrm>
            <a:off x="5806440" y="3419856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5925312" y="3621024"/>
            <a:ext cx="502920" cy="50292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042" y="3746754"/>
            <a:ext cx="251460" cy="251460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6537960" y="35753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Accompagné d’abord</a:t>
            </a:r>
            <a:endParaRPr lang="en-US" sz="1300" dirty="0"/>
          </a:p>
        </p:txBody>
      </p:sp>
      <p:sp>
        <p:nvSpPr>
          <p:cNvPr id="63" name="Text 57"/>
          <p:cNvSpPr txBox="1"/>
          <p:nvPr/>
        </p:nvSpPr>
        <p:spPr>
          <a:xfrm>
            <a:off x="6537960" y="387705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diagnostic avec la BAD, puis suivis par le pays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diagnostic participatif, restitué en feu tricolore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 MODÈLE DE MATURITÉ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1691640"/>
            <a:ext cx="0" cy="1920240"/>
          </a:xfrm>
          <a:prstGeom prst="line">
            <a:avLst/>
          </a:prstGeom>
          <a:noFill/>
          <a:ln w="25400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417320"/>
            <a:ext cx="502920" cy="5029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1673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initiales de l’INS et de ses partenaires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057400"/>
            <a:ext cx="502920" cy="5029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2039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d’expert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313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à six jours au plus, pour mobiliser les équipes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2697480"/>
            <a:ext cx="502920" cy="5029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couleur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2953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couleur par question, en repérant les tendances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2920" y="3337560"/>
            <a:ext cx="502920" cy="5029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319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technique et synthèse pour les décideurs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120640" y="1371600"/>
            <a:ext cx="868680" cy="2514600"/>
          </a:xfrm>
          <a:prstGeom prst="roundRect">
            <a:avLst>
              <a:gd name="adj" fmla="val 15789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257800" y="1536192"/>
            <a:ext cx="594360" cy="5943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1792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621792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favorable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257800" y="2313432"/>
            <a:ext cx="594360" cy="59436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1792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6217920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de progrès, attention soutenue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257800" y="3090672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21792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621792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Réflexion et mesures prioritaires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120640" y="4023360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E8F5EF"/>
          </a:solidFill>
          <a:ln w="17780">
            <a:solidFill>
              <a:srgbClr val="D49A0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257800" y="4023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à 3 mois</a:t>
            </a:r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 pays, du questionnaire au rapport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9436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formats : 12 dimensions pour les décideurs, environ 60 composantes pour le détail.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familles de leviers pour transformer l’écosystème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 MODÈLE DE MATURITÉ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481328"/>
            <a:ext cx="438912" cy="438912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9105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15568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de soutien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115568" y="1737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Maîtrisés par l’INS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360" y="21031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04088" y="2103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interne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2487168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04088" y="24871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94360" y="2871216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04088" y="28712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TIC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94360" y="3255264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04088" y="32552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Expériences innovantes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94360" y="3639312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04088" y="36393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normes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89788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8F5EF"/>
          </a:solidFill>
          <a:ln w="17780">
            <a:solidFill>
              <a:srgbClr val="0E7C8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035040" y="1481328"/>
            <a:ext cx="438912" cy="438912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591056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556248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d’orientation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6556248" y="1737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maîtrisés, mais décisifs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35040" y="21031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144768" y="2103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juridique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035040" y="2487168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44768" y="24871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stratégique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035040" y="2871216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144768" y="28712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035040" y="3255264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144768" y="32552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et usagers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035040" y="3639312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144768" y="36393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035040" y="402336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D5DED9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144768" y="40233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3337560" y="1371600"/>
            <a:ext cx="2331720" cy="640080"/>
          </a:xfrm>
          <a:prstGeom prst="roundRect">
            <a:avLst>
              <a:gd name="adj" fmla="val 14286"/>
            </a:avLst>
          </a:prstGeom>
          <a:solidFill>
            <a:srgbClr val="00553A"/>
          </a:solidFill>
          <a:ln w="12700">
            <a:solidFill>
              <a:srgbClr val="00553A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3383280" y="1371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de l’écosystème de données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4343400" y="2084832"/>
            <a:ext cx="320040" cy="365760"/>
          </a:xfrm>
          <a:prstGeom prst="upArrow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3840480" y="2514600"/>
            <a:ext cx="1325880" cy="1325880"/>
          </a:xfrm>
          <a:prstGeom prst="ellipse">
            <a:avLst/>
          </a:prstGeom>
          <a:solidFill>
            <a:srgbClr val="00A8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3840480" y="25146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innovateur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catalyseur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facilitateur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3200400" y="3017520"/>
            <a:ext cx="566928" cy="320040"/>
          </a:xfrm>
          <a:prstGeom prst="rightArrow">
            <a:avLst/>
          </a:prstGeom>
          <a:solidFill>
            <a:srgbClr val="00A86A">
              <a:alpha val="70000"/>
            </a:srgbClr>
          </a:solidFill>
          <a:ln w="12700">
            <a:solidFill>
              <a:srgbClr val="00A86A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5239512" y="3017520"/>
            <a:ext cx="566928" cy="320040"/>
          </a:xfrm>
          <a:prstGeom prst="leftArrow">
            <a:avLst/>
          </a:prstGeom>
          <a:solidFill>
            <a:srgbClr val="0E7C86">
              <a:alpha val="70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3246120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diagnostic est la première étape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leçons tirer du terrain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physique ou virtuel : un arbitrage à faire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MISE EN ŒUVRE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49A00"/>
          </a:solidFill>
          <a:ln w="12700">
            <a:solidFill>
              <a:srgbClr val="D49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3977640" cy="256032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1490472"/>
            <a:ext cx="475488" cy="475488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0934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physique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234440" y="17647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 dédiée, souvent rattachée à l’informatique ou aux méthodes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51460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25146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dans l’organigramme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Affectations claires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plus simple à gérer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2514600" y="25146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L’unité s’approprie l’innovation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techniques désengagés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0" y="1371600"/>
            <a:ext cx="3977640" cy="256032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36592" y="1490472"/>
            <a:ext cx="475488" cy="475488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609344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349240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virtuel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349240" y="17647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partagée entre services, avec une coordination légère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75488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662940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4754880" y="25146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l’institution mobilisée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au plus près des opérations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6629400" y="251460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Responsabilités diluées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cohérence de la vision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57200" y="4041648"/>
            <a:ext cx="8092440" cy="438912"/>
          </a:xfrm>
          <a:prstGeom prst="roundRect">
            <a:avLst>
              <a:gd name="adj" fmla="val 16667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8640" y="4078224"/>
            <a:ext cx="365760" cy="36576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9664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24128" y="404164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conditions :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l’innovation près des opérations et coordonner tous les investissements.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leçons pour lever les freins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MISE EN ŒUVRE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49A00"/>
          </a:solidFill>
          <a:ln w="12700">
            <a:solidFill>
              <a:srgbClr val="D49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74879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Instituer un « temps d’innovation »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le temps de formation, avec un comité léger qui examine les projets et leurs résultats.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0" y="13716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54880" y="1600200"/>
            <a:ext cx="594360" cy="59436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470" y="174879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53212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référentiel des métiers de la donnée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553212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statut dans la fonction publique, les data scientists restent difficiles à recruter.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29718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3200400"/>
            <a:ext cx="594360" cy="59436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334899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d’un noyau dur de partenaires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1417320" y="3703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des résultats tangibles avec quelques acteurs, puis élargir la coalition.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0" y="29718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54880" y="3200400"/>
            <a:ext cx="594360" cy="594360"/>
          </a:xfrm>
          <a:prstGeom prst="ellipse">
            <a:avLst/>
          </a:prstGeom>
          <a:solidFill>
            <a:srgbClr val="B83B2E">
              <a:alpha val="22000"/>
            </a:srgbClr>
          </a:solidFill>
          <a:ln w="12700">
            <a:solidFill>
              <a:srgbClr val="B83B2E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470" y="3348990"/>
            <a:ext cx="297180" cy="2971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532120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avec l’infrastructure existante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5532120" y="3703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Mutualiser les capacités publiques, la veille et même les achats.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Expériences pays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font déjà les pays pilotes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testé dans six pays pilotes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EXPÉRIENCES PAYS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C4621D"/>
          </a:solidFill>
          <a:ln w="12700">
            <a:solidFill>
              <a:srgbClr val="C462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pic>
        <p:nvPicPr>
          <p:cNvPr id="11" name="Image 0" descr="/home/claude/deck/img/map_f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639312" cy="3200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64608" y="1554480"/>
            <a:ext cx="0" cy="2377440"/>
          </a:xfrm>
          <a:prstGeom prst="line">
            <a:avLst/>
          </a:prstGeom>
          <a:noFill/>
          <a:ln w="25400">
            <a:solidFill>
              <a:srgbClr val="D5DED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4447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120640" y="1371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 2023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09360" y="13898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46520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19019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20640" y="18288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Févr. 2024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09360" y="18470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46520" y="1847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54880" y="23591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120640" y="2286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2024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23042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46520" y="23042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d’Ivoire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754880" y="28163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120640" y="2743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2024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309360" y="27614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46520" y="2761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754880" y="32735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1206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2024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309360" y="32186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46520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754880" y="3730752"/>
            <a:ext cx="219456" cy="219456"/>
          </a:xfrm>
          <a:prstGeom prst="ellipse">
            <a:avLst/>
          </a:prstGeom>
          <a:solidFill>
            <a:srgbClr val="00A8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120640" y="36576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Avr. 2025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309360" y="367588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46520" y="3675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Zambie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475488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Botswana : cité uniquement dans l’annexe 7 du guide.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457200" y="45537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: Natural Earth (domaine public). Dates : guide BAD, octobre 2025.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bonnes pratiques sur toute la chaîne de valeur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EXPÉRIENCES PAYS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C4621D"/>
          </a:solidFill>
          <a:ln w="12700">
            <a:solidFill>
              <a:srgbClr val="C462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611630"/>
            <a:ext cx="205740" cy="2057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197510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d’usage avec les stagiaires de l’ENSAE ; données mobiles pour prévoir la pauvreté ; ciblage algorithmique des ménages.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37560" y="1508760"/>
            <a:ext cx="411480" cy="41148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430" y="1611630"/>
            <a:ext cx="205740" cy="2057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84048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337560" y="197510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mobiles pour la migration interne, validées par le recensement ; partenariat avec le Centre national de télédétection.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9436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80760" y="1508760"/>
            <a:ext cx="411480" cy="41148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630" y="1611630"/>
            <a:ext cx="205740" cy="2057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58368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d’Ivoire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6080760" y="197510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avec un opérateur sur le partage des coûts ; images Sentinel-2 puis commerciales ; « café de l’innovation ».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3166110"/>
            <a:ext cx="205740" cy="2057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97280" y="3063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594360" y="352958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socle de stratégies nationales : données, protection des données, cloud, interopérabilité, open data.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20040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337560" y="3063240"/>
            <a:ext cx="411480" cy="411480"/>
          </a:xfrm>
          <a:prstGeom prst="ellipse">
            <a:avLst/>
          </a:prstGeom>
          <a:solidFill>
            <a:srgbClr val="C4621D">
              <a:alpha val="22000"/>
            </a:srgbClr>
          </a:solidFill>
          <a:ln w="12700">
            <a:solidFill>
              <a:srgbClr val="C4621D">
                <a:alpha val="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430" y="3166110"/>
            <a:ext cx="205740" cy="2057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840480" y="3063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3337560" y="352958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sur les données satellitaires pour la population, ouvert au SSN, aux universités et au privé.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94360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8F5EF"/>
          </a:solidFill>
          <a:ln w="17780">
            <a:solidFill>
              <a:srgbClr val="D49A0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080760" y="3063240"/>
            <a:ext cx="411480" cy="411480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630" y="3166110"/>
            <a:ext cx="205740" cy="20574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583680" y="3063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350" dirty="0"/>
          </a:p>
        </p:txBody>
      </p:sp>
      <p:sp>
        <p:nvSpPr>
          <p:cNvPr id="40" name="Text 31"/>
          <p:cNvSpPr txBox="1"/>
          <p:nvPr/>
        </p:nvSpPr>
        <p:spPr>
          <a:xfrm>
            <a:off x="6080760" y="3529584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à la consommation (Côte d’Ivoire, Cameroun, Sénégal) et offres d’emploi (Côte d’Ivoire).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activités du DIL de la BAD en chiffres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EXPÉRIENCES PAYS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C4621D"/>
          </a:solidFill>
          <a:ln w="12700">
            <a:solidFill>
              <a:srgbClr val="C462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048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· 22 pays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Symposium « Innovate Africa », Kigali 2024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8328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2048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· 13 pays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DIHAP sur les données de santé, 2024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2648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2048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communes analysées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Lumières nocturnes (VIIRS), Burkina Faso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2852928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9626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7856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Webinaires « Brown Bag », 2024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00400" y="2852928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83280" y="29626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29" name="Text 26"/>
          <p:cNvSpPr txBox="1"/>
          <p:nvPr/>
        </p:nvSpPr>
        <p:spPr>
          <a:xfrm>
            <a:off x="338328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réunis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383280" y="37856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STG17 de l’UA, Kigali, sept. 2025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43600" y="2852928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26480" y="29626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8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33" name="Text 30"/>
          <p:cNvSpPr txBox="1"/>
          <p:nvPr/>
        </p:nvSpPr>
        <p:spPr>
          <a:xfrm>
            <a:off x="612648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accords signés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126480" y="37856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d’accès aux données (Meta, JBA)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45537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guide BAD, annexe 7 (activités 2022–2025).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6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passer à l’échelle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7373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0116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4526280"/>
            <a:ext cx="109728" cy="10972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45920" y="4526280"/>
            <a:ext cx="109728" cy="109728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orientations pour la suite de l’initiative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PERSPECTIVES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B83B2E"/>
          </a:solidFill>
          <a:ln w="12700">
            <a:solidFill>
              <a:srgbClr val="B83B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1965960"/>
            <a:ext cx="6766560" cy="0"/>
          </a:xfrm>
          <a:prstGeom prst="line">
            <a:avLst/>
          </a:prstGeom>
          <a:noFill/>
          <a:ln w="31750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14630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6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71907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" y="29260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les plans d’action nationaux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468880" y="14630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04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71907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121408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2167128" y="29260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les diagnostics pays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133088" y="14630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1907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785616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3831336" y="29260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les auto-diagnostics de suivi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797296" y="14630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9A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719072"/>
            <a:ext cx="493776" cy="4937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49824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5495544" y="29260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les réseaux de pays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461504" y="146304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4621D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6" y="1719072"/>
            <a:ext cx="493776" cy="49377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114032" y="260604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2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7159752" y="29260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Mobiliser les acteurs continentaux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457200" y="3794760"/>
            <a:ext cx="8092440" cy="64008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594360" y="388620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4000500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188720" y="37947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engagé : </a:t>
            </a:r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STG17 de l’UA a adopté en septembre 2025 un plan d’action 2026–2030 sur les mégadonnées et l’IA en statistique officielle.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d’attention pour une prochaine édition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PERSPECTIVES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B83B2E"/>
          </a:solidFill>
          <a:ln w="12700">
            <a:solidFill>
              <a:srgbClr val="B83B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D49A00">
              <a:alpha val="12000"/>
            </a:srgbClr>
          </a:solidFill>
          <a:ln w="12700">
            <a:solidFill>
              <a:srgbClr val="D49A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481328"/>
            <a:ext cx="438912" cy="438912"/>
          </a:xfrm>
          <a:prstGeom prst="ellipse">
            <a:avLst/>
          </a:prstGeom>
          <a:solidFill>
            <a:srgbClr val="D49A00">
              <a:alpha val="22000"/>
            </a:srgbClr>
          </a:solidFill>
          <a:ln w="12700">
            <a:solidFill>
              <a:srgbClr val="D49A00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9105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14813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guide ne dit pas encore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17720" y="13716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E8F5EF"/>
          </a:solidFill>
          <a:ln w="17780">
            <a:solidFill>
              <a:srgbClr val="00A86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4880" y="1481328"/>
            <a:ext cx="438912" cy="438912"/>
          </a:xfrm>
          <a:prstGeom prst="ellipse">
            <a:avLst/>
          </a:prstGeom>
          <a:solidFill>
            <a:srgbClr val="00A86A">
              <a:alpha val="22000"/>
            </a:srgbClr>
          </a:solidFill>
          <a:ln w="12700">
            <a:solidFill>
              <a:srgbClr val="00A86A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9105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03520" y="148132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d’amélioration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76272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60120" y="2103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critères pour attribuer les couleurs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7627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120640" y="2103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notation par question</a:t>
            </a:r>
            <a:endParaRPr lang="en-US" sz="11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33472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60120" y="2560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d’indicateurs de suivi-évaluation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33472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120640" y="2560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résultats et indicateurs</a:t>
            </a:r>
            <a:endParaRPr lang="en-US" sz="11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09067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012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d’estimation des coûts</a:t>
            </a:r>
            <a:endParaRPr lang="en-US" sz="11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090672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12064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type d’un DIL sur trois ans</a:t>
            </a:r>
            <a:endParaRPr lang="en-US" sz="11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547872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960120" y="3474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Éthique, vie privée et IA générative peu traitées</a:t>
            </a:r>
            <a:endParaRPr lang="en-US" sz="11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3547872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5120640" y="3474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Volet protection des données et IA</a:t>
            </a:r>
            <a:endParaRPr lang="en-US" sz="11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4005072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960120" y="3931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et chiffres parfois incohérents</a:t>
            </a:r>
            <a:endParaRPr lang="en-US" sz="11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4005072"/>
            <a:ext cx="201168" cy="201168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20640" y="3931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et harmonisation du texte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5" type="title" hasCustomPrompt="1"/>
          </p:nvPr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94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PERSPECTIVES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3524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283464"/>
            <a:ext cx="109728" cy="109728"/>
          </a:xfrm>
          <a:prstGeom prst="ellipse">
            <a:avLst/>
          </a:prstGeom>
          <a:solidFill>
            <a:srgbClr val="D5DED9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283464"/>
            <a:ext cx="109728" cy="109728"/>
          </a:xfrm>
          <a:prstGeom prst="ellipse">
            <a:avLst/>
          </a:prstGeom>
          <a:solidFill>
            <a:srgbClr val="B83B2E"/>
          </a:solidFill>
          <a:ln w="12700">
            <a:solidFill>
              <a:srgbClr val="B83B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80924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71450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14630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africaine de développement, Département des statistiques (octobre 2025)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234440" y="17190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a Data Innovation Lab: A Practical Guide to Applying the AfDB’s Data Innovation Maturity Model.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234440" y="201168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afdb.org/en/documents/data-innovation-africa-di4a-initiative-practical-guide-applying-afdbs-data-innovation-maturity-model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2395728"/>
            <a:ext cx="80924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2624328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738628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34440" y="24871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Earth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234440" y="27432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cartographiques 1:110m, domaine public (carte des pays pilotes).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1234440" y="303580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69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naturalearthdata.com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419856"/>
            <a:ext cx="8092440" cy="91440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" y="3648456"/>
            <a:ext cx="457200" cy="457200"/>
          </a:xfrm>
          <a:prstGeom prst="ellipse">
            <a:avLst/>
          </a:prstGeom>
          <a:solidFill>
            <a:srgbClr val="00704A">
              <a:alpha val="22000"/>
            </a:srgbClr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762756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34440" y="35112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sur la charte graphique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1234440" y="3767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inspirée de l’identité visuelle de la BAD ; ce n’est pas un document officiel de la Banque.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A95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Innover, c’est d’abord cesser de penser à l’ancienne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310896" cy="310896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346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avec les douze dimensions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73552"/>
            <a:ext cx="310896" cy="310896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735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organisation adaptée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12464"/>
            <a:ext cx="310896" cy="310896"/>
          </a:xfrm>
          <a:prstGeom prst="ellipse">
            <a:avLst/>
          </a:prstGeom>
          <a:solidFill>
            <a:srgbClr val="F5C242"/>
          </a:solidFill>
          <a:ln w="12700">
            <a:solidFill>
              <a:srgbClr val="F5C2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7124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Bâtir des coalitions et mesurer les progrès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DB-inspired Institutional">
  <a:themeElements>
    <a:clrScheme name="AfDB-inspired Institutional">
      <a:dk1>
        <a:srgbClr val="231F20"/>
      </a:dk1>
      <a:lt1>
        <a:srgbClr val="FFFFFF"/>
      </a:lt1>
      <a:dk2>
        <a:srgbClr val="00553A"/>
      </a:dk2>
      <a:lt2>
        <a:srgbClr val="F4F7F5"/>
      </a:lt2>
      <a:accent1>
        <a:srgbClr val="00A86A"/>
      </a:accent1>
      <a:accent2>
        <a:srgbClr val="00704A"/>
      </a:accent2>
      <a:accent3>
        <a:srgbClr val="0E7C86"/>
      </a:accent3>
      <a:accent4>
        <a:srgbClr val="D49A00"/>
      </a:accent4>
      <a:accent5>
        <a:srgbClr val="C4621D"/>
      </a:accent5>
      <a:accent6>
        <a:srgbClr val="B83B2E"/>
      </a:accent6>
      <a:hlink>
        <a:srgbClr val="00704A"/>
      </a:hlink>
      <a:folHlink>
        <a:srgbClr val="0E7C86"/>
      </a:folHlink>
    </a:clrScheme>
    <a:fontScheme name="AfDB-inspired Institution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Mettre en place un laboratoire d’innovation des données</dc:title>
  <dc:subject>PptxGenJS Presentation</dc:subject>
  <dc:creator>PptxGenJS</dc:creator>
  <cp:lastModifiedBy>PptxGenJS</cp:lastModifiedBy>
  <cp:revision>1</cp:revision>
  <dcterms:created xsi:type="dcterms:W3CDTF">2026-10-18T09:11:02Z</dcterms:created>
  <dcterms:modified xsi:type="dcterms:W3CDTF">2026-10-18T09:11:02Z</dcterms:modified>
</cp:coreProperties>
</file>