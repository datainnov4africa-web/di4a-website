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b86e2908-73ed-8074-87e8-07c337c96d6f}">
          <p14:sldIdLst>
            <p14:sldId id="256"/>
            <p14:sldId id="257"/>
          </p14:sldIdLst>
        </p14:section>
        <p14:section name="Context" id="{6a557c43-2328-521f-9a00-e4f09f2bd1c7}">
          <p14:sldIdLst>
            <p14:sldId id="258"/>
            <p14:sldId id="259"/>
            <p14:sldId id="260"/>
            <p14:sldId id="261"/>
          </p14:sldIdLst>
        </p14:section>
        <p14:section name="The DIL initiative" id="{32c1147b-2fa3-0f96-b093-78fb9453f44f}">
          <p14:sldIdLst>
            <p14:sldId id="262"/>
            <p14:sldId id="263"/>
            <p14:sldId id="264"/>
          </p14:sldIdLst>
        </p14:section>
        <p14:section name="The maturity model" id="{4f97ef97-6f52-3067-6740-ac912ed7b67c}">
          <p14:sldIdLst>
            <p14:sldId id="265"/>
            <p14:sldId id="266"/>
            <p14:sldId id="267"/>
            <p14:sldId id="268"/>
          </p14:sldIdLst>
        </p14:section>
        <p14:section name="Implementation" id="{616a420b-7d70-b2c9-42f1-00771c3d1cb2}">
          <p14:sldIdLst>
            <p14:sldId id="269"/>
            <p14:sldId id="270"/>
            <p14:sldId id="271"/>
          </p14:sldIdLst>
        </p14:section>
        <p14:section name="Country experiences" id="{378b2cd6-a820-de9f-c037-9625278f5a10}">
          <p14:sldIdLst>
            <p14:sldId id="272"/>
            <p14:sldId id="273"/>
            <p14:sldId id="274"/>
            <p14:sldId id="275"/>
          </p14:sldIdLst>
        </p14:section>
        <p14:section name="Way forward" id="{52979219-59fd-6ab5-faf5-85e597263a93}">
          <p14:sldIdLst>
            <p14:sldId id="276"/>
            <p14:sldId id="277"/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presentation summarises the AfDB practical guide on setting up Data Innovation Labs and applying its twelve-dimension maturity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parts: context, the AfDB initiative, the maturity model, implementation, country experiences and the way forward.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guide starts from one observation: official statistics face an unprecedented convergence of pressures.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guide identifies five challenges. The most structural is the timeliness gap: users expect immediacy while rigour takes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Current NSDSs mostly target internal modernisation of the NSS. The guide argues for a systemic transformation of the whole data ecosystem.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guide describes six stages and stresses that innovation should start with the teams who run the processes.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Launched in 2023 under the Africa Information Highway (AIH) programme, the initiative is both an incubator and a collaboration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Objectives state what the initiative aims for; pillars how it is organised; principles how it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Catalyst, facilitator, innovator. The guide insists the innovator role must not operate in isolation.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of the guide: a twelve-dimension diagnostic that serves as a baseline and a monitoring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dimensions cover the NSO and the wider ecosystem: legal framework, partnerships, users and funding. The model neither weights nor ranks.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process takes two to three months per country. The guide stresses that stakeholder dialogue matters more than the colour assigned.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Supporting factors are within the NSO’s control; steering factors less so, but they are decisive. The DIL links the two.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diagnostics highlighted organisational choices and concrete bottlenecks.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Countries chose different set-ups. The right answer often lies in between, provided two rules are respected.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departments have ideas; they lack time, expertise and decision channels. These four avenues address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countries applied the model between late 2023 and 2025; Annex 7 of the guide also lists Botswana.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Dates come from the guide’s introduction. Chapter 9 gives March 2024 for Senegal and April 2024 for Côte d’Ivoire.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Examples reported in the guide. They are described without measured results, which future diagnostics should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from Annex 7 of the guide. They measure activity rather than impact.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AfDB foresees five directions to expand the initiative.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directions combine direct support, more diagnostics, self-assessment, networks and continental mobilisation.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Critical reading: the guide is rich in tools but would gain from a measurement component and an editorial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References used for this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message: the diagnostic is a starting point; success depends on internal ownership, partnerships and regular monitoring.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HERO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6A"/>
          </a:solidFill>
          <a:ln w="12700">
            <a:solidFill>
              <a:srgbClr val="00A8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34440" cy="54864"/>
          </a:xfrm>
          <a:prstGeom prst="rect">
            <a:avLst/>
          </a:prstGeom>
          <a:solidFill>
            <a:srgbClr val="F5C242"/>
          </a:solidFill>
          <a:ln w="12700">
            <a:solidFill>
              <a:srgbClr val="F5C2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Innovation Lab · AfDB Maturity Model</a:t>
            </a:r>
            <a:endParaRPr lang="en-US" sz="850" dirty="0"/>
          </a:p>
        </p:txBody>
      </p:sp>
      <p:sp>
        <p:nvSpPr>
          <p:cNvPr id="5" name="Text 3"/>
          <p:cNvSpPr/>
          <p:nvPr>
            <p:ph idx="105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A95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F5C242"/>
          </a:solidFill>
          <a:ln w="12700">
            <a:solidFill>
              <a:srgbClr val="F5C242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A95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image" Target="../media/image-23-9.png"/><Relationship Id="rId10" Type="http://schemas.openxmlformats.org/officeDocument/2006/relationships/image" Target="../media/image-23-10.png"/><Relationship Id="rId11" Type="http://schemas.openxmlformats.org/officeDocument/2006/relationships/image" Target="../media/image-23-11.png"/><Relationship Id="rId12" Type="http://schemas.openxmlformats.org/officeDocument/2006/relationships/image" Target="../media/image-23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C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INNOVATION FOR AFRICA (DI4A) INITIATIVE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5852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Establishing a Data Innovation Lab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E6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the AfDB’s Data Innovation Maturity Model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690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 practical guide by the AfDB Statistics Department (October 2025)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5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1945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3619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468880" y="1554480"/>
            <a:ext cx="457200" cy="457200"/>
          </a:xfrm>
          <a:prstGeom prst="ellipse">
            <a:avLst/>
          </a:prstGeom>
          <a:solidFill>
            <a:srgbClr val="00A86A">
              <a:alpha val="22000"/>
            </a:srgbClr>
          </a:solidFill>
          <a:ln w="12700">
            <a:solidFill>
              <a:srgbClr val="00A86A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83180" y="1668780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3500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official statistics must innovate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46120" y="137160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29000" y="153619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5257800" y="1554480"/>
            <a:ext cx="457200" cy="457200"/>
          </a:xfrm>
          <a:prstGeom prst="ellipse">
            <a:avLst/>
          </a:prstGeom>
          <a:solidFill>
            <a:srgbClr val="00704A">
              <a:alpha val="22000"/>
            </a:srgbClr>
          </a:solidFill>
          <a:ln w="12700">
            <a:solidFill>
              <a:srgbClr val="00704A">
                <a:alpha val="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100" y="1668780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42900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DIL initiative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429000" y="23500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Objectives, pillars and functions of a DIL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35040" y="137160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217920" y="153619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Shape 14"/>
          <p:cNvSpPr/>
          <p:nvPr/>
        </p:nvSpPr>
        <p:spPr>
          <a:xfrm>
            <a:off x="8046720" y="1554480"/>
            <a:ext cx="457200" cy="457200"/>
          </a:xfrm>
          <a:prstGeom prst="ellipse">
            <a:avLst/>
          </a:prstGeom>
          <a:solidFill>
            <a:srgbClr val="0E7C86">
              <a:alpha val="22000"/>
            </a:srgbClr>
          </a:solidFill>
          <a:ln w="12700">
            <a:solidFill>
              <a:srgbClr val="0E7C86">
                <a:alpha val="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1020" y="1668780"/>
            <a:ext cx="228600" cy="2286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21792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maturity model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6217920" y="23500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dimensions to assess readiness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57200" y="297180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40080" y="313639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D4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24" name="Shape 19"/>
          <p:cNvSpPr/>
          <p:nvPr/>
        </p:nvSpPr>
        <p:spPr>
          <a:xfrm>
            <a:off x="2468880" y="3154680"/>
            <a:ext cx="457200" cy="457200"/>
          </a:xfrm>
          <a:prstGeom prst="ellipse">
            <a:avLst/>
          </a:prstGeom>
          <a:solidFill>
            <a:srgbClr val="D49A00">
              <a:alpha val="22000"/>
            </a:srgbClr>
          </a:solidFill>
          <a:ln w="12700">
            <a:solidFill>
              <a:srgbClr val="D49A00">
                <a:alpha val="0"/>
              </a:srgbClr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3180" y="3268980"/>
            <a:ext cx="228600" cy="2286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4008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640080" y="39502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from the pilot countries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3246120" y="297180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3429000" y="313639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462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30" name="Shape 24"/>
          <p:cNvSpPr/>
          <p:nvPr/>
        </p:nvSpPr>
        <p:spPr>
          <a:xfrm>
            <a:off x="5257800" y="3154680"/>
            <a:ext cx="457200" cy="457200"/>
          </a:xfrm>
          <a:prstGeom prst="ellipse">
            <a:avLst/>
          </a:prstGeom>
          <a:solidFill>
            <a:srgbClr val="C4621D">
              <a:alpha val="22000"/>
            </a:srgbClr>
          </a:solidFill>
          <a:ln w="12700">
            <a:solidFill>
              <a:srgbClr val="C4621D">
                <a:alpha val="0"/>
              </a:srgbClr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2100" y="3268980"/>
            <a:ext cx="228600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342900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experiences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3429000" y="39502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practices and early results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6035040" y="297180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6217920" y="313639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8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000" dirty="0"/>
          </a:p>
        </p:txBody>
      </p:sp>
      <p:sp>
        <p:nvSpPr>
          <p:cNvPr id="36" name="Shape 29"/>
          <p:cNvSpPr/>
          <p:nvPr/>
        </p:nvSpPr>
        <p:spPr>
          <a:xfrm>
            <a:off x="8046720" y="3154680"/>
            <a:ext cx="457200" cy="457200"/>
          </a:xfrm>
          <a:prstGeom prst="ellipse">
            <a:avLst/>
          </a:prstGeom>
          <a:solidFill>
            <a:srgbClr val="B83B2E">
              <a:alpha val="22000"/>
            </a:srgbClr>
          </a:solidFill>
          <a:ln w="12700">
            <a:solidFill>
              <a:srgbClr val="B83B2E">
                <a:alpha val="0"/>
              </a:srgbClr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1020" y="3268980"/>
            <a:ext cx="228600" cy="228600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621792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forward</a:t>
            </a:r>
            <a:endParaRPr lang="en-US" sz="1400" dirty="0"/>
          </a:p>
        </p:txBody>
      </p:sp>
      <p:sp>
        <p:nvSpPr>
          <p:cNvPr id="39" name="Text 31"/>
          <p:cNvSpPr txBox="1"/>
          <p:nvPr/>
        </p:nvSpPr>
        <p:spPr>
          <a:xfrm>
            <a:off x="6217920" y="39502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and points of attention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A95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85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5C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632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E6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must official statistics innovate?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394960" y="1005840"/>
            <a:ext cx="3108960" cy="310896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0" y="1371600"/>
            <a:ext cx="2377440" cy="237744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0" y="1737360"/>
            <a:ext cx="1645920" cy="164592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201168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2286000"/>
            <a:ext cx="548640" cy="5486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8640" y="4526280"/>
            <a:ext cx="109728" cy="109728"/>
          </a:xfrm>
          <a:prstGeom prst="ellipse">
            <a:avLst/>
          </a:prstGeom>
          <a:solidFill>
            <a:srgbClr val="F5C242"/>
          </a:solidFill>
          <a:ln w="12700">
            <a:solidFill>
              <a:srgbClr val="F5C24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8096" y="4526280"/>
            <a:ext cx="109728" cy="10972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87552" y="4526280"/>
            <a:ext cx="109728" cy="10972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207008" y="4526280"/>
            <a:ext cx="109728" cy="10972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26464" y="4526280"/>
            <a:ext cx="109728" cy="10972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645920" y="4526280"/>
            <a:ext cx="109728" cy="10972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5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pressures are converging on African NSOs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1945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635240" y="283464"/>
            <a:ext cx="109728" cy="109728"/>
          </a:xfrm>
          <a:prstGeom prst="ellipse">
            <a:avLst/>
          </a:prstGeom>
          <a:solidFill>
            <a:srgbClr val="00A86A"/>
          </a:solidFill>
          <a:ln w="12700">
            <a:solidFill>
              <a:srgbClr val="00A8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1812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0100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388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4964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1371600"/>
            <a:ext cx="1508760" cy="2514600"/>
          </a:xfrm>
          <a:prstGeom prst="roundRect">
            <a:avLst>
              <a:gd name="adj" fmla="val 4848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60120" y="1536192"/>
            <a:ext cx="502920" cy="502920"/>
          </a:xfrm>
          <a:prstGeom prst="ellipse">
            <a:avLst/>
          </a:prstGeom>
          <a:solidFill>
            <a:srgbClr val="00A86A">
              <a:alpha val="22000"/>
            </a:srgbClr>
          </a:solidFill>
          <a:ln w="12700">
            <a:solidFill>
              <a:srgbClr val="00A86A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1661922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66928" y="2148840"/>
            <a:ext cx="1289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deluge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585216" y="2670048"/>
            <a:ext cx="12527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statistics must defend their visibility against faster but less reliable data.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2103120" y="1371600"/>
            <a:ext cx="1508760" cy="2514600"/>
          </a:xfrm>
          <a:prstGeom prst="roundRect">
            <a:avLst>
              <a:gd name="adj" fmla="val 4848"/>
            </a:avLst>
          </a:prstGeom>
          <a:solidFill>
            <a:srgbClr val="E8F5EF"/>
          </a:solidFill>
          <a:ln w="17780">
            <a:solidFill>
              <a:srgbClr val="D49A0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606040" y="1536192"/>
            <a:ext cx="502920" cy="502920"/>
          </a:xfrm>
          <a:prstGeom prst="ellipse">
            <a:avLst/>
          </a:prstGeom>
          <a:solidFill>
            <a:srgbClr val="D49A00">
              <a:alpha val="22000"/>
            </a:srgbClr>
          </a:solidFill>
          <a:ln w="12700">
            <a:solidFill>
              <a:srgbClr val="D49A00">
                <a:alpha val="0"/>
              </a:srgbClr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770" y="1661922"/>
            <a:ext cx="251460" cy="2514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2212848" y="2148840"/>
            <a:ext cx="1289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Timeliness gap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2231136" y="2670048"/>
            <a:ext cx="12527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want immediate, granular data; rigour takes time.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3749040" y="1371600"/>
            <a:ext cx="1508760" cy="2514600"/>
          </a:xfrm>
          <a:prstGeom prst="roundRect">
            <a:avLst>
              <a:gd name="adj" fmla="val 4848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251960" y="1536192"/>
            <a:ext cx="502920" cy="502920"/>
          </a:xfrm>
          <a:prstGeom prst="ellipse">
            <a:avLst/>
          </a:prstGeom>
          <a:solidFill>
            <a:srgbClr val="00A86A">
              <a:alpha val="22000"/>
            </a:srgbClr>
          </a:solidFill>
          <a:ln w="12700">
            <a:solidFill>
              <a:srgbClr val="00A86A">
                <a:alpha val="0"/>
              </a:srgbClr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7690" y="1661922"/>
            <a:ext cx="251460" cy="25146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3858768" y="2148840"/>
            <a:ext cx="1289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Fast-moving technology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3877056" y="2670048"/>
            <a:ext cx="12527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evolve constantly, requiring monitoring, agility and resources.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5394960" y="1371600"/>
            <a:ext cx="1508760" cy="2514600"/>
          </a:xfrm>
          <a:prstGeom prst="roundRect">
            <a:avLst>
              <a:gd name="adj" fmla="val 4848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5897880" y="1536192"/>
            <a:ext cx="502920" cy="502920"/>
          </a:xfrm>
          <a:prstGeom prst="ellipse">
            <a:avLst/>
          </a:prstGeom>
          <a:solidFill>
            <a:srgbClr val="00A86A">
              <a:alpha val="22000"/>
            </a:srgbClr>
          </a:solidFill>
          <a:ln w="12700">
            <a:solidFill>
              <a:srgbClr val="00A86A">
                <a:alpha val="0"/>
              </a:srgbClr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3610" y="1661922"/>
            <a:ext cx="251460" cy="25146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504688" y="2148840"/>
            <a:ext cx="1289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Scarce skills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5522976" y="2670048"/>
            <a:ext cx="12527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data scientists in the public sector, facing private-sector competition.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7040880" y="1371600"/>
            <a:ext cx="1508760" cy="2514600"/>
          </a:xfrm>
          <a:prstGeom prst="roundRect">
            <a:avLst>
              <a:gd name="adj" fmla="val 4848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7543800" y="1536192"/>
            <a:ext cx="502920" cy="502920"/>
          </a:xfrm>
          <a:prstGeom prst="ellipse">
            <a:avLst/>
          </a:prstGeom>
          <a:solidFill>
            <a:srgbClr val="00A86A">
              <a:alpha val="22000"/>
            </a:srgbClr>
          </a:solidFill>
          <a:ln w="12700">
            <a:solidFill>
              <a:srgbClr val="00A86A">
                <a:alpha val="0"/>
              </a:srgbClr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9530" y="1661922"/>
            <a:ext cx="251460" cy="25146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7150608" y="2148840"/>
            <a:ext cx="1289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budgets</a:t>
            </a:r>
            <a:endParaRPr lang="en-US" sz="1300" dirty="0"/>
          </a:p>
        </p:txBody>
      </p:sp>
      <p:sp>
        <p:nvSpPr>
          <p:cNvPr id="35" name="Text 27"/>
          <p:cNvSpPr txBox="1"/>
          <p:nvPr/>
        </p:nvSpPr>
        <p:spPr>
          <a:xfrm>
            <a:off x="7168896" y="2670048"/>
            <a:ext cx="12527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Strained national budgets; short-term, narrowly targeted aid.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457200" y="4041648"/>
            <a:ext cx="8092440" cy="438912"/>
          </a:xfrm>
          <a:prstGeom prst="roundRect">
            <a:avLst>
              <a:gd name="adj" fmla="val 16667"/>
            </a:avLst>
          </a:prstGeom>
          <a:solidFill>
            <a:srgbClr val="E8F5EF"/>
          </a:solidFill>
          <a:ln w="17780">
            <a:solidFill>
              <a:srgbClr val="00A86A"/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640080" y="40416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Innovate or die: </a:t>
            </a:r>
            <a:pPr indent="0" marL="0">
              <a:buNone/>
            </a:pPr>
            <a:r>
              <a:rPr lang="en-US" sz="13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is now a condition for relevance.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A95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5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Modernising is no longer enough: transform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1945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635240" y="283464"/>
            <a:ext cx="109728" cy="109728"/>
          </a:xfrm>
          <a:prstGeom prst="ellipse">
            <a:avLst/>
          </a:prstGeom>
          <a:solidFill>
            <a:srgbClr val="00A86A"/>
          </a:solidFill>
          <a:ln w="12700">
            <a:solidFill>
              <a:srgbClr val="00A8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1812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0100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388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4964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1371600"/>
            <a:ext cx="3703320" cy="2514600"/>
          </a:xfrm>
          <a:prstGeom prst="roundRect">
            <a:avLst>
              <a:gd name="adj" fmla="val 2909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1481328"/>
            <a:ext cx="457200" cy="457200"/>
          </a:xfrm>
          <a:prstGeom prst="ellipse">
            <a:avLst/>
          </a:prstGeom>
          <a:solidFill>
            <a:srgbClr val="5E6964">
              <a:alpha val="22000"/>
            </a:srgbClr>
          </a:solidFill>
          <a:ln w="12700">
            <a:solidFill>
              <a:srgbClr val="5E6964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595628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207008" y="1481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modernisation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658368" y="207568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1554480" y="20756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and accessibility of official statistics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658368" y="250545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1554480" y="250545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Internal, institutional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658368" y="293522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1554480" y="293522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NSS members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658368" y="336499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issues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1554480" y="33649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Reliability, independence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983480" y="1371600"/>
            <a:ext cx="3703320" cy="2514600"/>
          </a:xfrm>
          <a:prstGeom prst="roundRect">
            <a:avLst>
              <a:gd name="adj" fmla="val 2909"/>
            </a:avLst>
          </a:prstGeom>
          <a:solidFill>
            <a:srgbClr val="E8F5EF"/>
          </a:solidFill>
          <a:ln w="17780">
            <a:solidFill>
              <a:srgbClr val="00A86A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166360" y="1481328"/>
            <a:ext cx="457200" cy="457200"/>
          </a:xfrm>
          <a:prstGeom prst="ellipse">
            <a:avLst/>
          </a:prstGeom>
          <a:solidFill>
            <a:srgbClr val="00A86A">
              <a:alpha val="22000"/>
            </a:srgbClr>
          </a:solidFill>
          <a:ln w="12700">
            <a:solidFill>
              <a:srgbClr val="00A86A">
                <a:alpha val="0"/>
              </a:srgbClr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0660" y="1595628"/>
            <a:ext cx="228600" cy="22860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5733288" y="1481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transformation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5184648" y="207568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50" dirty="0"/>
          </a:p>
        </p:txBody>
      </p:sp>
      <p:sp>
        <p:nvSpPr>
          <p:cNvPr id="28" name="Text 23"/>
          <p:cNvSpPr txBox="1"/>
          <p:nvPr/>
        </p:nvSpPr>
        <p:spPr>
          <a:xfrm>
            <a:off x="6080760" y="20756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open, collaborative environment around data</a:t>
            </a:r>
            <a:endParaRPr lang="en-US" sz="1100" dirty="0"/>
          </a:p>
        </p:txBody>
      </p:sp>
      <p:sp>
        <p:nvSpPr>
          <p:cNvPr id="29" name="Text 24"/>
          <p:cNvSpPr txBox="1"/>
          <p:nvPr/>
        </p:nvSpPr>
        <p:spPr>
          <a:xfrm>
            <a:off x="5184648" y="250545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6080760" y="250545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Global, systemic</a:t>
            </a:r>
            <a:endParaRPr lang="en-US" sz="1100" dirty="0"/>
          </a:p>
        </p:txBody>
      </p:sp>
      <p:sp>
        <p:nvSpPr>
          <p:cNvPr id="31" name="Text 26"/>
          <p:cNvSpPr txBox="1"/>
          <p:nvPr/>
        </p:nvSpPr>
        <p:spPr>
          <a:xfrm>
            <a:off x="5184648" y="293522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050" dirty="0"/>
          </a:p>
        </p:txBody>
      </p:sp>
      <p:sp>
        <p:nvSpPr>
          <p:cNvPr id="32" name="Text 27"/>
          <p:cNvSpPr txBox="1"/>
          <p:nvPr/>
        </p:nvSpPr>
        <p:spPr>
          <a:xfrm>
            <a:off x="6080760" y="293522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holders and users</a:t>
            </a:r>
            <a:endParaRPr lang="en-US" sz="1100" dirty="0"/>
          </a:p>
        </p:txBody>
      </p:sp>
      <p:sp>
        <p:nvSpPr>
          <p:cNvPr id="33" name="Text 28"/>
          <p:cNvSpPr txBox="1"/>
          <p:nvPr/>
        </p:nvSpPr>
        <p:spPr>
          <a:xfrm>
            <a:off x="5184648" y="336499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issues</a:t>
            </a:r>
            <a:endParaRPr lang="en-US" sz="1050" dirty="0"/>
          </a:p>
        </p:txBody>
      </p:sp>
      <p:sp>
        <p:nvSpPr>
          <p:cNvPr id="34" name="Text 29"/>
          <p:cNvSpPr txBox="1"/>
          <p:nvPr/>
        </p:nvSpPr>
        <p:spPr>
          <a:xfrm>
            <a:off x="6080760" y="33649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Interoperability, governance, innovation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4270248" y="2423160"/>
            <a:ext cx="603504" cy="411480"/>
          </a:xfrm>
          <a:prstGeom prst="rightArrow">
            <a:avLst/>
          </a:prstGeom>
          <a:solidFill>
            <a:srgbClr val="F5C242"/>
          </a:solidFill>
          <a:ln w="12700">
            <a:solidFill>
              <a:srgbClr val="F5C242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457200" y="4041648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00A86A">
              <a:alpha val="15000"/>
            </a:srgbClr>
          </a:solidFill>
          <a:ln w="9525">
            <a:solidFill>
              <a:srgbClr val="00A86A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457200" y="40416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beyond the NSS</a:t>
            </a:r>
            <a:endParaRPr lang="en-US" sz="1150" dirty="0"/>
          </a:p>
        </p:txBody>
      </p:sp>
      <p:sp>
        <p:nvSpPr>
          <p:cNvPr id="38" name="Shape 33"/>
          <p:cNvSpPr/>
          <p:nvPr/>
        </p:nvSpPr>
        <p:spPr>
          <a:xfrm>
            <a:off x="3200400" y="4041648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00A86A">
              <a:alpha val="15000"/>
            </a:srgbClr>
          </a:solidFill>
          <a:ln w="9525">
            <a:solidFill>
              <a:srgbClr val="00A86A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3200400" y="40416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innovation</a:t>
            </a:r>
            <a:endParaRPr lang="en-US" sz="1150" dirty="0"/>
          </a:p>
        </p:txBody>
      </p:sp>
      <p:sp>
        <p:nvSpPr>
          <p:cNvPr id="40" name="Shape 35"/>
          <p:cNvSpPr/>
          <p:nvPr/>
        </p:nvSpPr>
        <p:spPr>
          <a:xfrm>
            <a:off x="5943600" y="4041648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00A86A">
              <a:alpha val="15000"/>
            </a:srgbClr>
          </a:solidFill>
          <a:ln w="9525">
            <a:solidFill>
              <a:srgbClr val="00A86A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5943600" y="40416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Co-create solutions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A95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5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at every stage of the value chain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1945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635240" y="283464"/>
            <a:ext cx="109728" cy="109728"/>
          </a:xfrm>
          <a:prstGeom prst="ellipse">
            <a:avLst/>
          </a:prstGeom>
          <a:solidFill>
            <a:srgbClr val="00A86A"/>
          </a:solidFill>
          <a:ln w="12700">
            <a:solidFill>
              <a:srgbClr val="00A8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1812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0100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388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4964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1371600"/>
            <a:ext cx="1417320" cy="502920"/>
          </a:xfrm>
          <a:prstGeom prst="homePlate">
            <a:avLst/>
          </a:prstGeom>
          <a:solidFill>
            <a:srgbClr val="57BD9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66928" y="13716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5488" y="2029968"/>
            <a:ext cx="1280160" cy="1874520"/>
          </a:xfrm>
          <a:prstGeom prst="roundRect">
            <a:avLst>
              <a:gd name="adj" fmla="val 5714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68680" y="2157984"/>
            <a:ext cx="457200" cy="457200"/>
          </a:xfrm>
          <a:prstGeom prst="ellipse">
            <a:avLst/>
          </a:prstGeom>
          <a:solidFill>
            <a:srgbClr val="57BD92">
              <a:alpha val="22000"/>
            </a:srgbClr>
          </a:solidFill>
          <a:ln w="12700">
            <a:solidFill>
              <a:srgbClr val="57BD92">
                <a:alpha val="0"/>
              </a:srgbClr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272284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66928" y="2743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imagery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phone data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records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1819656" y="1371600"/>
            <a:ext cx="1417320" cy="502920"/>
          </a:xfrm>
          <a:prstGeom prst="chevron">
            <a:avLst/>
          </a:prstGeom>
          <a:solidFill>
            <a:srgbClr val="33AF7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1929384" y="13716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1837944" y="2029968"/>
            <a:ext cx="1280160" cy="1874520"/>
          </a:xfrm>
          <a:prstGeom prst="roundRect">
            <a:avLst>
              <a:gd name="adj" fmla="val 5714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2231136" y="2157984"/>
            <a:ext cx="457200" cy="457200"/>
          </a:xfrm>
          <a:prstGeom prst="ellipse">
            <a:avLst/>
          </a:prstGeom>
          <a:solidFill>
            <a:srgbClr val="33AF7C">
              <a:alpha val="22000"/>
            </a:srgbClr>
          </a:solidFill>
          <a:ln w="12700">
            <a:solidFill>
              <a:srgbClr val="33AF7C">
                <a:alpha val="0"/>
              </a:srgbClr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436" y="2272284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929384" y="2743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of things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3182112" y="1371600"/>
            <a:ext cx="1417320" cy="502920"/>
          </a:xfrm>
          <a:prstGeom prst="chevron">
            <a:avLst/>
          </a:prstGeom>
          <a:solidFill>
            <a:srgbClr val="10A0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3291840" y="13716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3200400" y="2029968"/>
            <a:ext cx="1280160" cy="1874520"/>
          </a:xfrm>
          <a:prstGeom prst="roundRect">
            <a:avLst>
              <a:gd name="adj" fmla="val 5714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3593592" y="2157984"/>
            <a:ext cx="457200" cy="457200"/>
          </a:xfrm>
          <a:prstGeom prst="ellipse">
            <a:avLst/>
          </a:prstGeom>
          <a:solidFill>
            <a:srgbClr val="10A06A">
              <a:alpha val="22000"/>
            </a:srgbClr>
          </a:solidFill>
          <a:ln w="12700">
            <a:solidFill>
              <a:srgbClr val="10A06A">
                <a:alpha val="0"/>
              </a:srgbClr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892" y="2272284"/>
            <a:ext cx="228600" cy="2286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3291840" y="2743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validation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pipelines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4544568" y="1371600"/>
            <a:ext cx="1417320" cy="502920"/>
          </a:xfrm>
          <a:prstGeom prst="chevron">
            <a:avLst/>
          </a:prstGeom>
          <a:solidFill>
            <a:srgbClr val="00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4654296" y="13716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4562856" y="2029968"/>
            <a:ext cx="1280160" cy="1874520"/>
          </a:xfrm>
          <a:prstGeom prst="roundRect">
            <a:avLst>
              <a:gd name="adj" fmla="val 5714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4956048" y="2157984"/>
            <a:ext cx="457200" cy="457200"/>
          </a:xfrm>
          <a:prstGeom prst="ellipse">
            <a:avLst/>
          </a:prstGeom>
          <a:solidFill>
            <a:srgbClr val="008A5B">
              <a:alpha val="22000"/>
            </a:srgbClr>
          </a:solidFill>
          <a:ln w="12700">
            <a:solidFill>
              <a:srgbClr val="008A5B">
                <a:alpha val="0"/>
              </a:srgbClr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0348" y="2272284"/>
            <a:ext cx="228600" cy="22860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4654296" y="2743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catalogues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databases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5907024" y="1371600"/>
            <a:ext cx="1417320" cy="502920"/>
          </a:xfrm>
          <a:prstGeom prst="chevron">
            <a:avLst/>
          </a:prstGeom>
          <a:solidFill>
            <a:srgbClr val="0070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6016752" y="13716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Dissemination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5925312" y="2029968"/>
            <a:ext cx="1280160" cy="1874520"/>
          </a:xfrm>
          <a:prstGeom prst="roundRect">
            <a:avLst>
              <a:gd name="adj" fmla="val 5714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6318504" y="2157984"/>
            <a:ext cx="457200" cy="457200"/>
          </a:xfrm>
          <a:prstGeom prst="ellipse">
            <a:avLst/>
          </a:prstGeom>
          <a:solidFill>
            <a:srgbClr val="00704A">
              <a:alpha val="22000"/>
            </a:srgbClr>
          </a:solidFill>
          <a:ln w="12700">
            <a:solidFill>
              <a:srgbClr val="00704A">
                <a:alpha val="0"/>
              </a:srgbClr>
            </a:solidFill>
            <a:prstDash val="solid"/>
          </a:ln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2804" y="2272284"/>
            <a:ext cx="228600" cy="228600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6016752" y="2743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data portals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050" dirty="0"/>
          </a:p>
        </p:txBody>
      </p:sp>
      <p:sp>
        <p:nvSpPr>
          <p:cNvPr id="41" name="Shape 33"/>
          <p:cNvSpPr/>
          <p:nvPr/>
        </p:nvSpPr>
        <p:spPr>
          <a:xfrm>
            <a:off x="7269480" y="1371600"/>
            <a:ext cx="1417320" cy="502920"/>
          </a:xfrm>
          <a:prstGeom prst="chevron">
            <a:avLst/>
          </a:prstGeom>
          <a:solidFill>
            <a:srgbClr val="0055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34"/>
          <p:cNvSpPr txBox="1"/>
          <p:nvPr/>
        </p:nvSpPr>
        <p:spPr>
          <a:xfrm>
            <a:off x="7379208" y="13716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43" name="Shape 35"/>
          <p:cNvSpPr/>
          <p:nvPr/>
        </p:nvSpPr>
        <p:spPr>
          <a:xfrm>
            <a:off x="7287768" y="2029968"/>
            <a:ext cx="1280160" cy="1874520"/>
          </a:xfrm>
          <a:prstGeom prst="roundRect">
            <a:avLst>
              <a:gd name="adj" fmla="val 5714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7680960" y="2157984"/>
            <a:ext cx="457200" cy="457200"/>
          </a:xfrm>
          <a:prstGeom prst="ellipse">
            <a:avLst/>
          </a:prstGeom>
          <a:solidFill>
            <a:srgbClr val="00553A">
              <a:alpha val="22000"/>
            </a:srgbClr>
          </a:solidFill>
          <a:ln w="12700">
            <a:solidFill>
              <a:srgbClr val="00553A">
                <a:alpha val="0"/>
              </a:srgbClr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5260" y="2272284"/>
            <a:ext cx="228600" cy="228600"/>
          </a:xfrm>
          <a:prstGeom prst="rect">
            <a:avLst/>
          </a:prstGeom>
        </p:spPr>
      </p:pic>
      <p:sp>
        <p:nvSpPr>
          <p:cNvPr id="46" name="Text 37"/>
          <p:cNvSpPr txBox="1"/>
          <p:nvPr/>
        </p:nvSpPr>
        <p:spPr>
          <a:xfrm>
            <a:off x="7379208" y="2743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Python, R</a:t>
            </a:r>
            <a:endParaRPr lang="en-US" sz="1050" dirty="0"/>
          </a:p>
        </p:txBody>
      </p:sp>
      <p:sp>
        <p:nvSpPr>
          <p:cNvPr id="47" name="Shape 38"/>
          <p:cNvSpPr/>
          <p:nvPr/>
        </p:nvSpPr>
        <p:spPr>
          <a:xfrm>
            <a:off x="457200" y="4041648"/>
            <a:ext cx="411480" cy="411480"/>
          </a:xfrm>
          <a:prstGeom prst="ellipse">
            <a:avLst/>
          </a:prstGeom>
          <a:solidFill>
            <a:srgbClr val="D49A00">
              <a:alpha val="22000"/>
            </a:srgbClr>
          </a:solidFill>
          <a:ln w="12700">
            <a:solidFill>
              <a:srgbClr val="D49A00">
                <a:alpha val="0"/>
              </a:srgbClr>
            </a:solidFill>
            <a:prstDash val="solid"/>
          </a:ln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070" y="4144518"/>
            <a:ext cx="205740" cy="205740"/>
          </a:xfrm>
          <a:prstGeom prst="rect">
            <a:avLst/>
          </a:prstGeom>
        </p:spPr>
      </p:pic>
      <p:sp>
        <p:nvSpPr>
          <p:cNvPr id="49" name="Text 39"/>
          <p:cNvSpPr txBox="1"/>
          <p:nvPr/>
        </p:nvSpPr>
        <p:spPr>
          <a:xfrm>
            <a:off x="1005840" y="40416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principle: </a:t>
            </a:r>
            <a:pPr indent="0" marL="0"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starts with the technicians who know the tools and processes.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A95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85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5C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AfDB DIL initiative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632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E6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Bank offer to accelerate innovation?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394960" y="1005840"/>
            <a:ext cx="3108960" cy="310896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0" y="1371600"/>
            <a:ext cx="2377440" cy="237744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0" y="1737360"/>
            <a:ext cx="1645920" cy="164592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201168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2286000"/>
            <a:ext cx="548640" cy="5486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8640" y="4526280"/>
            <a:ext cx="109728" cy="10972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8096" y="4526280"/>
            <a:ext cx="109728" cy="109728"/>
          </a:xfrm>
          <a:prstGeom prst="ellipse">
            <a:avLst/>
          </a:prstGeom>
          <a:solidFill>
            <a:srgbClr val="F5C242"/>
          </a:solidFill>
          <a:ln w="12700">
            <a:solidFill>
              <a:srgbClr val="F5C24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87552" y="4526280"/>
            <a:ext cx="109728" cy="10972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207008" y="4526280"/>
            <a:ext cx="109728" cy="10972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26464" y="4526280"/>
            <a:ext cx="109728" cy="10972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645920" y="4526280"/>
            <a:ext cx="109728" cy="10972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5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objectives, two pillars, four principles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1945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DIL INITIATIVE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63524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18120" y="283464"/>
            <a:ext cx="109728" cy="109728"/>
          </a:xfrm>
          <a:prstGeom prst="ellipse">
            <a:avLst/>
          </a:prstGeom>
          <a:solidFill>
            <a:srgbClr val="00704A"/>
          </a:solidFill>
          <a:ln w="12700">
            <a:solidFill>
              <a:srgbClr val="0070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0100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388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4964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12618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536192"/>
            <a:ext cx="2331720" cy="1344168"/>
          </a:xfrm>
          <a:prstGeom prst="roundRect">
            <a:avLst>
              <a:gd name="adj" fmla="val 5442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1792" y="1700784"/>
            <a:ext cx="457200" cy="457200"/>
          </a:xfrm>
          <a:prstGeom prst="ellipse">
            <a:avLst/>
          </a:prstGeom>
          <a:solidFill>
            <a:srgbClr val="00A86A">
              <a:alpha val="22000"/>
            </a:srgbClr>
          </a:solidFill>
          <a:ln w="12700">
            <a:solidFill>
              <a:srgbClr val="00A86A">
                <a:alpha val="0"/>
              </a:srgbClr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1815084"/>
            <a:ext cx="228600" cy="2286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377440" y="167335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5C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621792" y="224028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innovation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621792" y="250545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the Bank and Regional Member Countries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2926080" y="1536192"/>
            <a:ext cx="2331720" cy="1344168"/>
          </a:xfrm>
          <a:prstGeom prst="roundRect">
            <a:avLst>
              <a:gd name="adj" fmla="val 5442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090672" y="1700784"/>
            <a:ext cx="457200" cy="457200"/>
          </a:xfrm>
          <a:prstGeom prst="ellipse">
            <a:avLst/>
          </a:prstGeom>
          <a:solidFill>
            <a:srgbClr val="00A86A">
              <a:alpha val="22000"/>
            </a:srgbClr>
          </a:solidFill>
          <a:ln w="12700">
            <a:solidFill>
              <a:srgbClr val="00A86A">
                <a:alpha val="0"/>
              </a:srgbClr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972" y="1815084"/>
            <a:ext cx="228600" cy="2286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846320" y="167335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5C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2" name="Text 17"/>
          <p:cNvSpPr txBox="1"/>
          <p:nvPr/>
        </p:nvSpPr>
        <p:spPr>
          <a:xfrm>
            <a:off x="3090672" y="224028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data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3090672" y="250545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more granular and cheaper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457200" y="3017520"/>
            <a:ext cx="2331720" cy="1344168"/>
          </a:xfrm>
          <a:prstGeom prst="roundRect">
            <a:avLst>
              <a:gd name="adj" fmla="val 5442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21792" y="3182112"/>
            <a:ext cx="457200" cy="457200"/>
          </a:xfrm>
          <a:prstGeom prst="ellipse">
            <a:avLst/>
          </a:prstGeom>
          <a:solidFill>
            <a:srgbClr val="00A86A">
              <a:alpha val="22000"/>
            </a:srgbClr>
          </a:solidFill>
          <a:ln w="12700">
            <a:solidFill>
              <a:srgbClr val="00A86A">
                <a:alpha val="0"/>
              </a:srgbClr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3296412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2377440" y="3154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5C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8" name="Text 22"/>
          <p:cNvSpPr txBox="1"/>
          <p:nvPr/>
        </p:nvSpPr>
        <p:spPr>
          <a:xfrm>
            <a:off x="621792" y="372160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Demystify data science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621792" y="398678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training and joint projects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2926080" y="3017520"/>
            <a:ext cx="2331720" cy="1344168"/>
          </a:xfrm>
          <a:prstGeom prst="roundRect">
            <a:avLst>
              <a:gd name="adj" fmla="val 5442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3090672" y="3182112"/>
            <a:ext cx="457200" cy="457200"/>
          </a:xfrm>
          <a:prstGeom prst="ellipse">
            <a:avLst/>
          </a:prstGeom>
          <a:solidFill>
            <a:srgbClr val="00A86A">
              <a:alpha val="22000"/>
            </a:srgbClr>
          </a:solidFill>
          <a:ln w="12700">
            <a:solidFill>
              <a:srgbClr val="00A86A">
                <a:alpha val="0"/>
              </a:srgbClr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4972" y="3296412"/>
            <a:ext cx="228600" cy="22860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4846320" y="3154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5C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4" name="Text 27"/>
          <p:cNvSpPr txBox="1"/>
          <p:nvPr/>
        </p:nvSpPr>
        <p:spPr>
          <a:xfrm>
            <a:off x="3090672" y="372160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tools</a:t>
            </a:r>
            <a:endParaRPr lang="en-US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3090672" y="398678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tested, reusable repository</a:t>
            </a:r>
            <a:endParaRPr lang="en-US" sz="1050" dirty="0"/>
          </a:p>
        </p:txBody>
      </p:sp>
      <p:sp>
        <p:nvSpPr>
          <p:cNvPr id="36" name="Text 29"/>
          <p:cNvSpPr txBox="1"/>
          <p:nvPr/>
        </p:nvSpPr>
        <p:spPr>
          <a:xfrm>
            <a:off x="5532120" y="12618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PILLARS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5532120" y="1536192"/>
            <a:ext cx="3017520" cy="548640"/>
          </a:xfrm>
          <a:prstGeom prst="roundRect">
            <a:avLst>
              <a:gd name="adj" fmla="val 13333"/>
            </a:avLst>
          </a:prstGeom>
          <a:solidFill>
            <a:srgbClr val="E8F5EF"/>
          </a:solidFill>
          <a:ln w="17780">
            <a:solidFill>
              <a:srgbClr val="00704A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87568" y="153619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for value and impact</a:t>
            </a:r>
            <a:endParaRPr lang="en-US" sz="1200" dirty="0"/>
          </a:p>
        </p:txBody>
      </p:sp>
      <p:sp>
        <p:nvSpPr>
          <p:cNvPr id="39" name="Shape 32"/>
          <p:cNvSpPr/>
          <p:nvPr/>
        </p:nvSpPr>
        <p:spPr>
          <a:xfrm>
            <a:off x="5532120" y="2194560"/>
            <a:ext cx="3017520" cy="548640"/>
          </a:xfrm>
          <a:prstGeom prst="roundRect">
            <a:avLst>
              <a:gd name="adj" fmla="val 13333"/>
            </a:avLst>
          </a:prstGeom>
          <a:solidFill>
            <a:srgbClr val="E8F5EF"/>
          </a:solidFill>
          <a:ln w="17780">
            <a:solidFill>
              <a:srgbClr val="00704A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5687568" y="219456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and collaboration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5532120" y="29077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</a:t>
            </a:r>
            <a:endParaRPr lang="en-US" sz="1000" dirty="0"/>
          </a:p>
        </p:txBody>
      </p:sp>
      <p:sp>
        <p:nvSpPr>
          <p:cNvPr id="42" name="Shape 35"/>
          <p:cNvSpPr/>
          <p:nvPr/>
        </p:nvSpPr>
        <p:spPr>
          <a:xfrm>
            <a:off x="5532120" y="3182112"/>
            <a:ext cx="3017520" cy="292608"/>
          </a:xfrm>
          <a:prstGeom prst="roundRect">
            <a:avLst>
              <a:gd name="adj" fmla="val 50000"/>
            </a:avLst>
          </a:prstGeom>
          <a:solidFill>
            <a:srgbClr val="00A86A">
              <a:alpha val="15000"/>
            </a:srgbClr>
          </a:solidFill>
          <a:ln w="9525">
            <a:solidFill>
              <a:srgbClr val="00A86A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5669280" y="318211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</a:t>
            </a:r>
            <a:endParaRPr lang="en-US" sz="1100" dirty="0"/>
          </a:p>
        </p:txBody>
      </p:sp>
      <p:sp>
        <p:nvSpPr>
          <p:cNvPr id="44" name="Shape 37"/>
          <p:cNvSpPr/>
          <p:nvPr/>
        </p:nvSpPr>
        <p:spPr>
          <a:xfrm>
            <a:off x="5532120" y="3529584"/>
            <a:ext cx="3017520" cy="292608"/>
          </a:xfrm>
          <a:prstGeom prst="roundRect">
            <a:avLst>
              <a:gd name="adj" fmla="val 50000"/>
            </a:avLst>
          </a:prstGeom>
          <a:solidFill>
            <a:srgbClr val="0E7C86">
              <a:alpha val="15000"/>
            </a:srgbClr>
          </a:solidFill>
          <a:ln w="9525">
            <a:solidFill>
              <a:srgbClr val="0E7C86"/>
            </a:solidFill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5669280" y="352958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once, reuse</a:t>
            </a:r>
            <a:endParaRPr lang="en-US" sz="1100" dirty="0"/>
          </a:p>
        </p:txBody>
      </p:sp>
      <p:sp>
        <p:nvSpPr>
          <p:cNvPr id="46" name="Shape 39"/>
          <p:cNvSpPr/>
          <p:nvPr/>
        </p:nvSpPr>
        <p:spPr>
          <a:xfrm>
            <a:off x="5532120" y="3877056"/>
            <a:ext cx="3017520" cy="292608"/>
          </a:xfrm>
          <a:prstGeom prst="roundRect">
            <a:avLst>
              <a:gd name="adj" fmla="val 50000"/>
            </a:avLst>
          </a:prstGeom>
          <a:solidFill>
            <a:srgbClr val="D49A00">
              <a:alpha val="15000"/>
            </a:srgbClr>
          </a:solidFill>
          <a:ln w="9525">
            <a:solidFill>
              <a:srgbClr val="D49A00"/>
            </a:solidFill>
            <a:prstDash val="solid"/>
          </a:ln>
        </p:spPr>
      </p:sp>
      <p:sp>
        <p:nvSpPr>
          <p:cNvPr id="47" name="Text 40"/>
          <p:cNvSpPr txBox="1"/>
          <p:nvPr/>
        </p:nvSpPr>
        <p:spPr>
          <a:xfrm>
            <a:off x="5669280" y="387705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friction</a:t>
            </a:r>
            <a:endParaRPr lang="en-US" sz="1100" dirty="0"/>
          </a:p>
        </p:txBody>
      </p:sp>
      <p:sp>
        <p:nvSpPr>
          <p:cNvPr id="48" name="Shape 41"/>
          <p:cNvSpPr/>
          <p:nvPr/>
        </p:nvSpPr>
        <p:spPr>
          <a:xfrm>
            <a:off x="5532120" y="4224528"/>
            <a:ext cx="3017520" cy="292608"/>
          </a:xfrm>
          <a:prstGeom prst="roundRect">
            <a:avLst>
              <a:gd name="adj" fmla="val 50000"/>
            </a:avLst>
          </a:prstGeom>
          <a:solidFill>
            <a:srgbClr val="C4621D">
              <a:alpha val="15000"/>
            </a:srgbClr>
          </a:solidFill>
          <a:ln w="9525">
            <a:solidFill>
              <a:srgbClr val="C4621D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5669280" y="42245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at the core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A95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5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DIL plays three complementary roles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1945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DIL INITIATIVE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63524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18120" y="283464"/>
            <a:ext cx="109728" cy="109728"/>
          </a:xfrm>
          <a:prstGeom prst="ellipse">
            <a:avLst/>
          </a:prstGeom>
          <a:solidFill>
            <a:srgbClr val="00704A"/>
          </a:solidFill>
          <a:ln w="12700">
            <a:solidFill>
              <a:srgbClr val="0070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0100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388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4964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20440" y="1965960"/>
            <a:ext cx="822960" cy="502920"/>
          </a:xfrm>
          <a:prstGeom prst="line">
            <a:avLst/>
          </a:prstGeom>
          <a:noFill/>
          <a:ln w="15875">
            <a:solidFill>
              <a:srgbClr val="5E696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flipH="1">
            <a:off x="4800600" y="1965960"/>
            <a:ext cx="822960" cy="502920"/>
          </a:xfrm>
          <a:prstGeom prst="line">
            <a:avLst/>
          </a:prstGeom>
          <a:noFill/>
          <a:ln w="15875">
            <a:solidFill>
              <a:srgbClr val="5E696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0" y="3154680"/>
            <a:ext cx="0" cy="365760"/>
          </a:xfrm>
          <a:prstGeom prst="line">
            <a:avLst/>
          </a:prstGeom>
          <a:noFill/>
          <a:ln w="15875">
            <a:solidFill>
              <a:srgbClr val="5E696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931920" y="1920240"/>
            <a:ext cx="1280160" cy="1280160"/>
          </a:xfrm>
          <a:prstGeom prst="ellipse">
            <a:avLst/>
          </a:prstGeom>
          <a:solidFill>
            <a:srgbClr val="00A86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9319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1371600"/>
            <a:ext cx="3063240" cy="1188720"/>
          </a:xfrm>
          <a:prstGeom prst="roundRect">
            <a:avLst>
              <a:gd name="adj" fmla="val 6154"/>
            </a:avLst>
          </a:prstGeom>
          <a:solidFill>
            <a:srgbClr val="E8F5EF"/>
          </a:solidFill>
          <a:ln w="17780">
            <a:solidFill>
              <a:srgbClr val="00A86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4360" y="1508760"/>
            <a:ext cx="438912" cy="438912"/>
          </a:xfrm>
          <a:prstGeom prst="ellipse">
            <a:avLst/>
          </a:prstGeom>
          <a:solidFill>
            <a:srgbClr val="00A86A">
              <a:alpha val="22000"/>
            </a:srgbClr>
          </a:solidFill>
          <a:ln w="12700">
            <a:solidFill>
              <a:srgbClr val="00A86A">
                <a:alpha val="0"/>
              </a:srgbClr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618488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143000" y="150876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Catalyst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621792" y="1975104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Sparks ideas, encourages experimentation and spreads an innovation culture.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5623560" y="1371600"/>
            <a:ext cx="3063240" cy="1188720"/>
          </a:xfrm>
          <a:prstGeom prst="roundRect">
            <a:avLst>
              <a:gd name="adj" fmla="val 6154"/>
            </a:avLst>
          </a:prstGeom>
          <a:solidFill>
            <a:srgbClr val="E8F5EF"/>
          </a:solidFill>
          <a:ln w="17780">
            <a:solidFill>
              <a:srgbClr val="0E7C86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760720" y="1508760"/>
            <a:ext cx="438912" cy="438912"/>
          </a:xfrm>
          <a:prstGeom prst="ellipse">
            <a:avLst/>
          </a:prstGeom>
          <a:solidFill>
            <a:srgbClr val="0E7C86">
              <a:alpha val="22000"/>
            </a:srgbClr>
          </a:solidFill>
          <a:ln w="12700">
            <a:solidFill>
              <a:srgbClr val="0E7C86">
                <a:alpha val="0"/>
              </a:srgbClr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1618488"/>
            <a:ext cx="219456" cy="219456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309360" y="150876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5788152" y="1975104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actors, builds capacity, sets sharing rules, helps mobilise funding.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3044952" y="3520440"/>
            <a:ext cx="3063240" cy="960120"/>
          </a:xfrm>
          <a:prstGeom prst="roundRect">
            <a:avLst>
              <a:gd name="adj" fmla="val 7619"/>
            </a:avLst>
          </a:prstGeom>
          <a:solidFill>
            <a:srgbClr val="E8F5EF"/>
          </a:solidFill>
          <a:ln w="17780">
            <a:solidFill>
              <a:srgbClr val="C4621D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3182112" y="3657600"/>
            <a:ext cx="438912" cy="438912"/>
          </a:xfrm>
          <a:prstGeom prst="ellipse">
            <a:avLst/>
          </a:prstGeom>
          <a:solidFill>
            <a:srgbClr val="C4621D">
              <a:alpha val="22000"/>
            </a:srgbClr>
          </a:solidFill>
          <a:ln w="12700">
            <a:solidFill>
              <a:srgbClr val="C4621D">
                <a:alpha val="0"/>
              </a:srgbClr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3767328"/>
            <a:ext cx="219456" cy="219456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3730752" y="365760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62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Innovator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3209544" y="4123944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Testbed for AI, geospatial and agile methods; reproducible proofs of concept.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457200" y="2788920"/>
            <a:ext cx="2377440" cy="1234440"/>
          </a:xfrm>
          <a:prstGeom prst="roundRect">
            <a:avLst>
              <a:gd name="adj" fmla="val 5926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457200" y="2788920"/>
            <a:ext cx="2377440" cy="1234440"/>
          </a:xfrm>
          <a:prstGeom prst="roundRect">
            <a:avLst>
              <a:gd name="adj" fmla="val 5926"/>
            </a:avLst>
          </a:prstGeom>
          <a:solidFill>
            <a:srgbClr val="D49A00">
              <a:alpha val="13000"/>
            </a:srgbClr>
          </a:solidFill>
          <a:ln w="12700">
            <a:solidFill>
              <a:srgbClr val="D49A00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566928" y="2880360"/>
            <a:ext cx="365760" cy="365760"/>
          </a:xfrm>
          <a:prstGeom prst="ellipse">
            <a:avLst/>
          </a:prstGeom>
          <a:solidFill>
            <a:srgbClr val="D49A00">
              <a:alpha val="22000"/>
            </a:srgbClr>
          </a:solidFill>
          <a:ln w="12700">
            <a:solidFill>
              <a:srgbClr val="D49A00">
                <a:alpha val="0"/>
              </a:srgbClr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2971800"/>
            <a:ext cx="182880" cy="182880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594360" y="32918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innovator role must respond to needs expressed by users, or risk isolation.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6309360" y="278892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6446520" y="288036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 bringing together government, academia, the private sector and development partners.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A95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85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5C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maturity model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632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E6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ready is a data ecosystem to transform?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394960" y="1005840"/>
            <a:ext cx="3108960" cy="310896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0" y="1371600"/>
            <a:ext cx="2377440" cy="237744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0" y="1737360"/>
            <a:ext cx="1645920" cy="164592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201168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2286000"/>
            <a:ext cx="548640" cy="5486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8640" y="4526280"/>
            <a:ext cx="109728" cy="10972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8096" y="4526280"/>
            <a:ext cx="109728" cy="10972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87552" y="4526280"/>
            <a:ext cx="109728" cy="109728"/>
          </a:xfrm>
          <a:prstGeom prst="ellipse">
            <a:avLst/>
          </a:prstGeom>
          <a:solidFill>
            <a:srgbClr val="F5C242"/>
          </a:solidFill>
          <a:ln w="12700">
            <a:solidFill>
              <a:srgbClr val="F5C2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207008" y="4526280"/>
            <a:ext cx="109728" cy="10972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26464" y="4526280"/>
            <a:ext cx="109728" cy="10972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645920" y="4526280"/>
            <a:ext cx="109728" cy="10972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5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dimensions for a full diagnostic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1945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THE MATURITY MODEL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63524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1812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01000" y="283464"/>
            <a:ext cx="109728" cy="10972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388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4964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flipH="1">
            <a:off x="3017520" y="1450442"/>
            <a:ext cx="544328" cy="1457350"/>
          </a:xfrm>
          <a:prstGeom prst="line">
            <a:avLst/>
          </a:prstGeom>
          <a:noFill/>
          <a:ln w="12700">
            <a:solidFill>
              <a:srgbClr val="D5DED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flipH="1">
            <a:off x="3017520" y="1840938"/>
            <a:ext cx="1487130" cy="1066854"/>
          </a:xfrm>
          <a:prstGeom prst="line">
            <a:avLst/>
          </a:prstGeom>
          <a:noFill/>
          <a:ln w="12700">
            <a:solidFill>
              <a:srgbClr val="D5DED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flipH="1">
            <a:off x="3017520" y="2517296"/>
            <a:ext cx="2031458" cy="390496"/>
          </a:xfrm>
          <a:prstGeom prst="line">
            <a:avLst/>
          </a:prstGeom>
          <a:noFill/>
          <a:ln w="12700">
            <a:solidFill>
              <a:srgbClr val="D5DED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017520" y="2907792"/>
            <a:ext cx="2031458" cy="390496"/>
          </a:xfrm>
          <a:prstGeom prst="line">
            <a:avLst/>
          </a:prstGeom>
          <a:noFill/>
          <a:ln w="12700">
            <a:solidFill>
              <a:srgbClr val="D5DED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017520" y="2907792"/>
            <a:ext cx="1487130" cy="1066854"/>
          </a:xfrm>
          <a:prstGeom prst="line">
            <a:avLst/>
          </a:prstGeom>
          <a:noFill/>
          <a:ln w="12700">
            <a:solidFill>
              <a:srgbClr val="D5DE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017520" y="2907792"/>
            <a:ext cx="544328" cy="1457350"/>
          </a:xfrm>
          <a:prstGeom prst="line">
            <a:avLst/>
          </a:prstGeom>
          <a:noFill/>
          <a:ln w="12700">
            <a:solidFill>
              <a:srgbClr val="D5DED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flipH="1">
            <a:off x="2473192" y="2907792"/>
            <a:ext cx="544328" cy="1457350"/>
          </a:xfrm>
          <a:prstGeom prst="line">
            <a:avLst/>
          </a:prstGeom>
          <a:noFill/>
          <a:ln w="12700">
            <a:solidFill>
              <a:srgbClr val="D5DED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 flipH="1">
            <a:off x="1530390" y="2907792"/>
            <a:ext cx="1487130" cy="1066854"/>
          </a:xfrm>
          <a:prstGeom prst="line">
            <a:avLst/>
          </a:prstGeom>
          <a:noFill/>
          <a:ln w="12700">
            <a:solidFill>
              <a:srgbClr val="D5DED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flipH="1">
            <a:off x="986062" y="2907792"/>
            <a:ext cx="2031458" cy="390496"/>
          </a:xfrm>
          <a:prstGeom prst="line">
            <a:avLst/>
          </a:prstGeom>
          <a:noFill/>
          <a:ln w="12700">
            <a:solidFill>
              <a:srgbClr val="D5DED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86062" y="2517296"/>
            <a:ext cx="2031458" cy="390496"/>
          </a:xfrm>
          <a:prstGeom prst="line">
            <a:avLst/>
          </a:prstGeom>
          <a:noFill/>
          <a:ln w="12700">
            <a:solidFill>
              <a:srgbClr val="D5DED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530390" y="1840938"/>
            <a:ext cx="1487130" cy="1066854"/>
          </a:xfrm>
          <a:prstGeom prst="line">
            <a:avLst/>
          </a:prstGeom>
          <a:noFill/>
          <a:ln w="12700">
            <a:solidFill>
              <a:srgbClr val="D5DED9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473192" y="1450442"/>
            <a:ext cx="544328" cy="1457350"/>
          </a:xfrm>
          <a:prstGeom prst="line">
            <a:avLst/>
          </a:prstGeom>
          <a:noFill/>
          <a:ln w="12700">
            <a:solidFill>
              <a:srgbClr val="D5DE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331720" y="2221992"/>
            <a:ext cx="1371600" cy="1371600"/>
          </a:xfrm>
          <a:prstGeom prst="ellipse">
            <a:avLst/>
          </a:prstGeom>
          <a:solidFill>
            <a:srgbClr val="00A86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395728" y="2359152"/>
            <a:ext cx="12435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for transformation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3081788" y="1267562"/>
            <a:ext cx="960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00A86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104648" y="126756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</a:t>
            </a:r>
            <a:pPr algn="ctr" indent="0" marL="0">
              <a:buNone/>
            </a:pPr>
            <a:r>
              <a:rPr lang="en-US" sz="9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024590" y="1658058"/>
            <a:ext cx="960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00A86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047450" y="165805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</a:t>
            </a:r>
            <a:pPr algn="ctr" indent="0" marL="0">
              <a:buNone/>
            </a:pPr>
            <a:r>
              <a:rPr lang="en-US" sz="9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vision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568918" y="2334416"/>
            <a:ext cx="960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00704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591778" y="233441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</a:t>
            </a:r>
            <a:pPr algn="ctr" indent="0" marL="0">
              <a:buNone/>
            </a:pPr>
            <a:r>
              <a:rPr lang="en-US" sz="9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framework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568918" y="3115408"/>
            <a:ext cx="960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0E7C8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591778" y="31154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</a:t>
            </a:r>
            <a:pPr algn="ctr" indent="0" marL="0">
              <a:buNone/>
            </a:pPr>
            <a:r>
              <a:rPr lang="en-US" sz="9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resources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4024590" y="3791766"/>
            <a:ext cx="960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0E7C8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047450" y="379176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</a:t>
            </a:r>
            <a:pPr algn="ctr" indent="0" marL="0">
              <a:buNone/>
            </a:pPr>
            <a:r>
              <a:rPr lang="en-US" sz="9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capacity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3081788" y="4182262"/>
            <a:ext cx="960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D49A0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3104648" y="418226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</a:t>
            </a:r>
            <a:pPr algn="ctr" indent="0" marL="0">
              <a:buNone/>
            </a:pPr>
            <a:r>
              <a:rPr lang="en-US" sz="9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Admin. data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1993132" y="4182262"/>
            <a:ext cx="960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D49A00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2015992" y="418226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</a:t>
            </a:r>
            <a:pPr algn="ctr" indent="0" marL="0">
              <a:buNone/>
            </a:pPr>
            <a:r>
              <a:rPr lang="en-US" sz="9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Non-conv. sources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1050330" y="3791766"/>
            <a:ext cx="960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C4621D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073190" y="379176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62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</a:t>
            </a:r>
            <a:pPr algn="ctr" indent="0" marL="0">
              <a:buNone/>
            </a:pPr>
            <a:r>
              <a:rPr lang="en-US" sz="9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506002" y="3115408"/>
            <a:ext cx="960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00704A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28862" y="31154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</a:t>
            </a:r>
            <a:pPr algn="ctr" indent="0" marL="0">
              <a:buNone/>
            </a:pPr>
            <a:r>
              <a:rPr lang="en-US" sz="9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norms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506002" y="2334416"/>
            <a:ext cx="960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C4621D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528862" y="233441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62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</a:t>
            </a:r>
            <a:pPr algn="ctr" indent="0" marL="0">
              <a:buNone/>
            </a:pPr>
            <a:r>
              <a:rPr lang="en-US" sz="9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comms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1050330" y="1658058"/>
            <a:ext cx="960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B83B2E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1073190" y="165805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</a:t>
            </a:r>
            <a:pPr algn="ctr" indent="0" marL="0">
              <a:buNone/>
            </a:pPr>
            <a:r>
              <a:rPr lang="en-US" sz="9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analysis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1993132" y="1267562"/>
            <a:ext cx="960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B83B2E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2015992" y="126756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</a:t>
            </a:r>
            <a:pPr algn="ctr" indent="0" marL="0">
              <a:buNone/>
            </a:pPr>
            <a:r>
              <a:rPr lang="en-US" sz="9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5806440" y="137160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E8F5EF"/>
          </a:solidFill>
          <a:ln w="17780">
            <a:solidFill>
              <a:srgbClr val="00A86A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5925312" y="1572768"/>
            <a:ext cx="502920" cy="502920"/>
          </a:xfrm>
          <a:prstGeom prst="ellipse">
            <a:avLst/>
          </a:prstGeom>
          <a:solidFill>
            <a:srgbClr val="00704A">
              <a:alpha val="22000"/>
            </a:srgbClr>
          </a:solidFill>
          <a:ln w="12700">
            <a:solidFill>
              <a:srgbClr val="00704A">
                <a:alpha val="0"/>
              </a:srgbClr>
            </a:solidFill>
            <a:prstDash val="solid"/>
          </a:ln>
        </p:spPr>
      </p:sp>
      <p:pic>
        <p:nvPicPr>
          <p:cNvPr id="5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1042" y="1698498"/>
            <a:ext cx="251460" cy="251460"/>
          </a:xfrm>
          <a:prstGeom prst="rect">
            <a:avLst/>
          </a:prstGeom>
        </p:spPr>
      </p:pic>
      <p:sp>
        <p:nvSpPr>
          <p:cNvPr id="52" name="Text 48"/>
          <p:cNvSpPr txBox="1"/>
          <p:nvPr/>
        </p:nvSpPr>
        <p:spPr>
          <a:xfrm>
            <a:off x="6537960" y="152704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 open questions</a:t>
            </a:r>
            <a:endParaRPr lang="en-US" sz="1300" dirty="0"/>
          </a:p>
        </p:txBody>
      </p:sp>
      <p:sp>
        <p:nvSpPr>
          <p:cNvPr id="53" name="Text 49"/>
          <p:cNvSpPr txBox="1"/>
          <p:nvPr/>
        </p:nvSpPr>
        <p:spPr>
          <a:xfrm>
            <a:off x="6537960" y="18288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adaptable to each country’s context</a:t>
            </a:r>
            <a:endParaRPr lang="en-US" sz="1050" dirty="0"/>
          </a:p>
        </p:txBody>
      </p:sp>
      <p:sp>
        <p:nvSpPr>
          <p:cNvPr id="54" name="Shape 50"/>
          <p:cNvSpPr/>
          <p:nvPr/>
        </p:nvSpPr>
        <p:spPr>
          <a:xfrm>
            <a:off x="5806440" y="2395728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5925312" y="2596896"/>
            <a:ext cx="502920" cy="502920"/>
          </a:xfrm>
          <a:prstGeom prst="ellipse">
            <a:avLst/>
          </a:prstGeom>
          <a:solidFill>
            <a:srgbClr val="00704A">
              <a:alpha val="22000"/>
            </a:srgbClr>
          </a:solidFill>
          <a:ln w="12700">
            <a:solidFill>
              <a:srgbClr val="00704A">
                <a:alpha val="0"/>
              </a:srgbClr>
            </a:solidFill>
            <a:prstDash val="solid"/>
          </a:ln>
        </p:spPr>
      </p:sp>
      <p:pic>
        <p:nvPicPr>
          <p:cNvPr id="5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1042" y="2722626"/>
            <a:ext cx="251460" cy="251460"/>
          </a:xfrm>
          <a:prstGeom prst="rect">
            <a:avLst/>
          </a:prstGeom>
        </p:spPr>
      </p:pic>
      <p:sp>
        <p:nvSpPr>
          <p:cNvPr id="57" name="Text 52"/>
          <p:cNvSpPr txBox="1"/>
          <p:nvPr/>
        </p:nvSpPr>
        <p:spPr>
          <a:xfrm>
            <a:off x="6537960" y="255117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weighting, no ranking</a:t>
            </a:r>
            <a:endParaRPr lang="en-US" sz="1300" dirty="0"/>
          </a:p>
        </p:txBody>
      </p:sp>
      <p:sp>
        <p:nvSpPr>
          <p:cNvPr id="58" name="Text 53"/>
          <p:cNvSpPr txBox="1"/>
          <p:nvPr/>
        </p:nvSpPr>
        <p:spPr>
          <a:xfrm>
            <a:off x="6537960" y="285292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dialogue tool, not a benchmark</a:t>
            </a:r>
            <a:endParaRPr lang="en-US" sz="1050" dirty="0"/>
          </a:p>
        </p:txBody>
      </p:sp>
      <p:sp>
        <p:nvSpPr>
          <p:cNvPr id="59" name="Shape 54"/>
          <p:cNvSpPr/>
          <p:nvPr/>
        </p:nvSpPr>
        <p:spPr>
          <a:xfrm>
            <a:off x="5806440" y="3419856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>
            <a:off x="5925312" y="3621024"/>
            <a:ext cx="502920" cy="502920"/>
          </a:xfrm>
          <a:prstGeom prst="ellipse">
            <a:avLst/>
          </a:prstGeom>
          <a:solidFill>
            <a:srgbClr val="00704A">
              <a:alpha val="22000"/>
            </a:srgbClr>
          </a:solidFill>
          <a:ln w="12700">
            <a:solidFill>
              <a:srgbClr val="00704A">
                <a:alpha val="0"/>
              </a:srgbClr>
            </a:solidFill>
            <a:prstDash val="solid"/>
          </a:ln>
        </p:spPr>
      </p:sp>
      <p:pic>
        <p:nvPicPr>
          <p:cNvPr id="6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1042" y="3746754"/>
            <a:ext cx="251460" cy="251460"/>
          </a:xfrm>
          <a:prstGeom prst="rect">
            <a:avLst/>
          </a:prstGeom>
        </p:spPr>
      </p:pic>
      <p:sp>
        <p:nvSpPr>
          <p:cNvPr id="62" name="Text 56"/>
          <p:cNvSpPr txBox="1"/>
          <p:nvPr/>
        </p:nvSpPr>
        <p:spPr>
          <a:xfrm>
            <a:off x="6537960" y="357530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first</a:t>
            </a:r>
            <a:endParaRPr lang="en-US" sz="1300" dirty="0"/>
          </a:p>
        </p:txBody>
      </p:sp>
      <p:sp>
        <p:nvSpPr>
          <p:cNvPr id="63" name="Text 57"/>
          <p:cNvSpPr txBox="1"/>
          <p:nvPr/>
        </p:nvSpPr>
        <p:spPr>
          <a:xfrm>
            <a:off x="6537960" y="3877056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diagnostic with the AfDB, then country-led follow-ups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A95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5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participatory diagnostic, reported as a traffic light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1945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THE MATURITY MODEL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63524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1812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01000" y="283464"/>
            <a:ext cx="109728" cy="10972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388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4964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9808" y="1691640"/>
            <a:ext cx="0" cy="1920240"/>
          </a:xfrm>
          <a:prstGeom prst="line">
            <a:avLst/>
          </a:prstGeom>
          <a:noFill/>
          <a:ln w="25400">
            <a:solidFill>
              <a:srgbClr val="D5DED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1417320"/>
            <a:ext cx="502920" cy="502920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13990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16733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answers from the NSO and its partners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02920" y="2057400"/>
            <a:ext cx="502920" cy="502920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0292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188720" y="20391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mission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1188720" y="23134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to six days at most, to mobilise teams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02920" y="2697480"/>
            <a:ext cx="502920" cy="502920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0292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188720" y="2679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coding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1188720" y="29535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colour per question, looking for trends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02920" y="3337560"/>
            <a:ext cx="502920" cy="502920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0292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1188720" y="33192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350" dirty="0"/>
          </a:p>
        </p:txBody>
      </p:sp>
      <p:sp>
        <p:nvSpPr>
          <p:cNvPr id="27" name="Text 24"/>
          <p:cNvSpPr txBox="1"/>
          <p:nvPr/>
        </p:nvSpPr>
        <p:spPr>
          <a:xfrm>
            <a:off x="1188720" y="35935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analysis and summary for decision-makers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120640" y="1371600"/>
            <a:ext cx="868680" cy="2514600"/>
          </a:xfrm>
          <a:prstGeom prst="roundRect">
            <a:avLst>
              <a:gd name="adj" fmla="val 15789"/>
            </a:avLst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257800" y="1536192"/>
            <a:ext cx="594360" cy="59436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217920" y="1554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1350" dirty="0"/>
          </a:p>
        </p:txBody>
      </p:sp>
      <p:sp>
        <p:nvSpPr>
          <p:cNvPr id="31" name="Text 28"/>
          <p:cNvSpPr txBox="1"/>
          <p:nvPr/>
        </p:nvSpPr>
        <p:spPr>
          <a:xfrm>
            <a:off x="6217920" y="18288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Favourable situation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257800" y="2313432"/>
            <a:ext cx="594360" cy="594360"/>
          </a:xfrm>
          <a:prstGeom prst="ellipse">
            <a:avLst/>
          </a:prstGeom>
          <a:solidFill>
            <a:srgbClr val="E8A31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217920" y="2331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1350" dirty="0"/>
          </a:p>
        </p:txBody>
      </p:sp>
      <p:sp>
        <p:nvSpPr>
          <p:cNvPr id="34" name="Text 31"/>
          <p:cNvSpPr txBox="1"/>
          <p:nvPr/>
        </p:nvSpPr>
        <p:spPr>
          <a:xfrm>
            <a:off x="6217920" y="26060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for improvement, sustained attention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257800" y="3090672"/>
            <a:ext cx="594360" cy="5943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217920" y="3108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350" dirty="0"/>
          </a:p>
        </p:txBody>
      </p:sp>
      <p:sp>
        <p:nvSpPr>
          <p:cNvPr id="37" name="Text 34"/>
          <p:cNvSpPr txBox="1"/>
          <p:nvPr/>
        </p:nvSpPr>
        <p:spPr>
          <a:xfrm>
            <a:off x="6217920" y="33832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reflection and priority measures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5120640" y="4023360"/>
            <a:ext cx="3429000" cy="457200"/>
          </a:xfrm>
          <a:prstGeom prst="roundRect">
            <a:avLst>
              <a:gd name="adj" fmla="val 16000"/>
            </a:avLst>
          </a:prstGeom>
          <a:solidFill>
            <a:srgbClr val="E8F5EF"/>
          </a:solidFill>
          <a:ln w="17780">
            <a:solidFill>
              <a:srgbClr val="D49A00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257800" y="40233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months</a:t>
            </a:r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per country, end to end</a:t>
            </a:r>
            <a:endParaRPr lang="en-US" sz="1800" dirty="0"/>
          </a:p>
        </p:txBody>
      </p:sp>
      <p:sp>
        <p:nvSpPr>
          <p:cNvPr id="40" name="Shape 37"/>
          <p:cNvSpPr/>
          <p:nvPr/>
        </p:nvSpPr>
        <p:spPr>
          <a:xfrm>
            <a:off x="457200" y="4023360"/>
            <a:ext cx="4434840" cy="457200"/>
          </a:xfrm>
          <a:prstGeom prst="roundRect">
            <a:avLst>
              <a:gd name="adj" fmla="val 16000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94360" y="40233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formats: 12 dimensions for decision-makers, about 60 components for detail.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A95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5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families of levers to transform the ecosystem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1945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THE MATURITY MODEL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63524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1812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01000" y="283464"/>
            <a:ext cx="109728" cy="10972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388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4964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137160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E8F5EF"/>
          </a:solidFill>
          <a:ln w="17780">
            <a:solidFill>
              <a:srgbClr val="00A86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4360" y="1481328"/>
            <a:ext cx="438912" cy="438912"/>
          </a:xfrm>
          <a:prstGeom prst="ellipse">
            <a:avLst/>
          </a:prstGeom>
          <a:solidFill>
            <a:srgbClr val="00A86A">
              <a:alpha val="22000"/>
            </a:srgbClr>
          </a:solidFill>
          <a:ln w="12700">
            <a:solidFill>
              <a:srgbClr val="00A86A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591056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115568" y="1463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0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factors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1115568" y="17373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the NSO’s control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94360" y="2103120"/>
            <a:ext cx="237744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04088" y="210312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vision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94360" y="2487168"/>
            <a:ext cx="237744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04088" y="248716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resources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94360" y="2871216"/>
            <a:ext cx="237744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04088" y="2871216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infrastructure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94360" y="3255264"/>
            <a:ext cx="237744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704088" y="325526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experiences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594360" y="3639312"/>
            <a:ext cx="237744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04088" y="363931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and standards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5897880" y="137160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E8F5EF"/>
          </a:solidFill>
          <a:ln w="17780">
            <a:solidFill>
              <a:srgbClr val="0E7C86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035040" y="1481328"/>
            <a:ext cx="438912" cy="438912"/>
          </a:xfrm>
          <a:prstGeom prst="ellipse">
            <a:avLst/>
          </a:prstGeom>
          <a:solidFill>
            <a:srgbClr val="0E7C86">
              <a:alpha val="22000"/>
            </a:srgbClr>
          </a:solidFill>
          <a:ln w="12700">
            <a:solidFill>
              <a:srgbClr val="0E7C86">
                <a:alpha val="0"/>
              </a:srgbClr>
            </a:solidFill>
            <a:prstDash val="solid"/>
          </a:ln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591056"/>
            <a:ext cx="219456" cy="219456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6556248" y="1463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factors</a:t>
            </a:r>
            <a:endParaRPr lang="en-US" sz="1350" dirty="0"/>
          </a:p>
        </p:txBody>
      </p:sp>
      <p:sp>
        <p:nvSpPr>
          <p:cNvPr id="30" name="Text 25"/>
          <p:cNvSpPr txBox="1"/>
          <p:nvPr/>
        </p:nvSpPr>
        <p:spPr>
          <a:xfrm>
            <a:off x="6556248" y="17373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control, but decisive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6035040" y="2103120"/>
            <a:ext cx="237744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6144768" y="210312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framework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6035040" y="2487168"/>
            <a:ext cx="237744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6144768" y="248716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framework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6035040" y="2871216"/>
            <a:ext cx="237744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6144768" y="2871216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6035040" y="3255264"/>
            <a:ext cx="237744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6144768" y="325526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and users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6035040" y="3639312"/>
            <a:ext cx="237744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6144768" y="363931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</a:t>
            </a:r>
            <a:endParaRPr lang="en-US" sz="1100" dirty="0"/>
          </a:p>
        </p:txBody>
      </p:sp>
      <p:sp>
        <p:nvSpPr>
          <p:cNvPr id="41" name="Shape 36"/>
          <p:cNvSpPr/>
          <p:nvPr/>
        </p:nvSpPr>
        <p:spPr>
          <a:xfrm>
            <a:off x="6035040" y="4023360"/>
            <a:ext cx="237744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6144768" y="402336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</a:t>
            </a:r>
            <a:endParaRPr lang="en-US" sz="1100" dirty="0"/>
          </a:p>
        </p:txBody>
      </p:sp>
      <p:sp>
        <p:nvSpPr>
          <p:cNvPr id="43" name="Shape 38"/>
          <p:cNvSpPr/>
          <p:nvPr/>
        </p:nvSpPr>
        <p:spPr>
          <a:xfrm>
            <a:off x="3337560" y="1371600"/>
            <a:ext cx="2331720" cy="640080"/>
          </a:xfrm>
          <a:prstGeom prst="roundRect">
            <a:avLst>
              <a:gd name="adj" fmla="val 14286"/>
            </a:avLst>
          </a:prstGeom>
          <a:solidFill>
            <a:srgbClr val="00553A"/>
          </a:solidFill>
          <a:ln w="12700">
            <a:solidFill>
              <a:srgbClr val="00553A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3383280" y="13716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of the data ecosystem</a:t>
            </a:r>
            <a:endParaRPr lang="en-US" sz="1200" dirty="0"/>
          </a:p>
        </p:txBody>
      </p:sp>
      <p:sp>
        <p:nvSpPr>
          <p:cNvPr id="45" name="Shape 40"/>
          <p:cNvSpPr/>
          <p:nvPr/>
        </p:nvSpPr>
        <p:spPr>
          <a:xfrm>
            <a:off x="4343400" y="2084832"/>
            <a:ext cx="320040" cy="365760"/>
          </a:xfrm>
          <a:prstGeom prst="upArrow">
            <a:avLst/>
          </a:prstGeom>
          <a:solidFill>
            <a:srgbClr val="F5C242"/>
          </a:solidFill>
          <a:ln w="12700">
            <a:solidFill>
              <a:srgbClr val="F5C242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3840480" y="2514600"/>
            <a:ext cx="1325880" cy="1325880"/>
          </a:xfrm>
          <a:prstGeom prst="ellipse">
            <a:avLst/>
          </a:prstGeom>
          <a:solidFill>
            <a:srgbClr val="00A86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3840480" y="2514600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catalyst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</a:t>
            </a:r>
            <a:endParaRPr lang="en-US" sz="1050" dirty="0"/>
          </a:p>
        </p:txBody>
      </p:sp>
      <p:sp>
        <p:nvSpPr>
          <p:cNvPr id="48" name="Shape 43"/>
          <p:cNvSpPr/>
          <p:nvPr/>
        </p:nvSpPr>
        <p:spPr>
          <a:xfrm>
            <a:off x="3200400" y="3017520"/>
            <a:ext cx="566928" cy="320040"/>
          </a:xfrm>
          <a:prstGeom prst="rightArrow">
            <a:avLst/>
          </a:prstGeom>
          <a:solidFill>
            <a:srgbClr val="00A86A">
              <a:alpha val="70000"/>
            </a:srgbClr>
          </a:solidFill>
          <a:ln w="12700">
            <a:solidFill>
              <a:srgbClr val="00A86A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5239512" y="3017520"/>
            <a:ext cx="566928" cy="320040"/>
          </a:xfrm>
          <a:prstGeom prst="leftArrow">
            <a:avLst/>
          </a:prstGeom>
          <a:solidFill>
            <a:srgbClr val="0E7C86">
              <a:alpha val="70000"/>
            </a:srgbClr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3246120" y="39776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diagnostic is the first step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A95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85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5C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632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E6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have the pilots taught us?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394960" y="1005840"/>
            <a:ext cx="3108960" cy="310896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0" y="1371600"/>
            <a:ext cx="2377440" cy="237744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0" y="1737360"/>
            <a:ext cx="1645920" cy="164592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201168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2286000"/>
            <a:ext cx="548640" cy="5486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8640" y="4526280"/>
            <a:ext cx="109728" cy="10972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8096" y="4526280"/>
            <a:ext cx="109728" cy="10972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87552" y="4526280"/>
            <a:ext cx="109728" cy="10972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207008" y="4526280"/>
            <a:ext cx="109728" cy="109728"/>
          </a:xfrm>
          <a:prstGeom prst="ellipse">
            <a:avLst/>
          </a:prstGeom>
          <a:solidFill>
            <a:srgbClr val="F5C242"/>
          </a:solidFill>
          <a:ln w="12700">
            <a:solidFill>
              <a:srgbClr val="F5C24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26464" y="4526280"/>
            <a:ext cx="109728" cy="10972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645920" y="4526280"/>
            <a:ext cx="109728" cy="10972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5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or virtual DIL: a trade-off to make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1945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IMPLEMENTATION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63524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1812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0100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3880" y="283464"/>
            <a:ext cx="109728" cy="109728"/>
          </a:xfrm>
          <a:prstGeom prst="ellipse">
            <a:avLst/>
          </a:prstGeom>
          <a:solidFill>
            <a:srgbClr val="D49A00"/>
          </a:solidFill>
          <a:ln w="12700">
            <a:solidFill>
              <a:srgbClr val="D49A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4964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1371600"/>
            <a:ext cx="3977640" cy="2560320"/>
          </a:xfrm>
          <a:prstGeom prst="roundRect">
            <a:avLst>
              <a:gd name="adj" fmla="val 2857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1792" y="1490472"/>
            <a:ext cx="475488" cy="475488"/>
          </a:xfrm>
          <a:prstGeom prst="ellipse">
            <a:avLst/>
          </a:prstGeom>
          <a:solidFill>
            <a:srgbClr val="00A86A">
              <a:alpha val="22000"/>
            </a:srgbClr>
          </a:solidFill>
          <a:ln w="12700">
            <a:solidFill>
              <a:srgbClr val="00A86A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609344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234440" y="14630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DIL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1234440" y="176479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unit, often under IT or methods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640080" y="2240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2514600" y="2240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640080" y="2514600"/>
            <a:ext cx="1783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in the organisation chart</a:t>
            </a:r>
            <a:endParaRPr lang="en-US" sz="10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staff assignments</a:t>
            </a:r>
            <a:endParaRPr lang="en-US" sz="10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budget management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2514600" y="2514600"/>
            <a:ext cx="1783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 monopolises innovation</a:t>
            </a:r>
            <a:endParaRPr lang="en-US" sz="10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departments disengage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572000" y="1371600"/>
            <a:ext cx="3977640" cy="2560320"/>
          </a:xfrm>
          <a:prstGeom prst="roundRect">
            <a:avLst>
              <a:gd name="adj" fmla="val 2857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736592" y="1490472"/>
            <a:ext cx="475488" cy="475488"/>
          </a:xfrm>
          <a:prstGeom prst="ellipse">
            <a:avLst/>
          </a:prstGeom>
          <a:solidFill>
            <a:srgbClr val="0E7C86">
              <a:alpha val="22000"/>
            </a:srgbClr>
          </a:solidFill>
          <a:ln w="12700">
            <a:solidFill>
              <a:srgbClr val="0E7C86">
                <a:alpha val="0"/>
              </a:srgbClr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464" y="1609344"/>
            <a:ext cx="237744" cy="237744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349240" y="14630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DIL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5349240" y="176479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responsibility across departments, light coordination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4754880" y="2240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6629400" y="2240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4754880" y="2514600"/>
            <a:ext cx="1783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institution engaged</a:t>
            </a:r>
            <a:endParaRPr lang="en-US" sz="10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close to operations</a:t>
            </a:r>
            <a:endParaRPr lang="en-US" sz="1050" dirty="0"/>
          </a:p>
        </p:txBody>
      </p:sp>
      <p:sp>
        <p:nvSpPr>
          <p:cNvPr id="28" name="Text 23"/>
          <p:cNvSpPr txBox="1"/>
          <p:nvPr/>
        </p:nvSpPr>
        <p:spPr>
          <a:xfrm>
            <a:off x="6629400" y="2514600"/>
            <a:ext cx="1783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Diluted responsibilities</a:t>
            </a:r>
            <a:endParaRPr lang="en-US" sz="10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overall coherence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457200" y="4041648"/>
            <a:ext cx="8092440" cy="438912"/>
          </a:xfrm>
          <a:prstGeom prst="roundRect">
            <a:avLst>
              <a:gd name="adj" fmla="val 16667"/>
            </a:avLst>
          </a:prstGeom>
          <a:solidFill>
            <a:srgbClr val="E8F5EF"/>
          </a:solidFill>
          <a:ln w="17780">
            <a:solidFill>
              <a:srgbClr val="00A86A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548640" y="4078224"/>
            <a:ext cx="365760" cy="365760"/>
          </a:xfrm>
          <a:prstGeom prst="ellipse">
            <a:avLst/>
          </a:prstGeom>
          <a:solidFill>
            <a:srgbClr val="00A86A">
              <a:alpha val="22000"/>
            </a:srgbClr>
          </a:solidFill>
          <a:ln w="12700">
            <a:solidFill>
              <a:srgbClr val="00A86A">
                <a:alpha val="0"/>
              </a:srgbClr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69664"/>
            <a:ext cx="182880" cy="18288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1024128" y="4041648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conditions: </a:t>
            </a:r>
            <a:pPr indent="0" marL="0"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innovation close to operations and coordinate all investments.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A95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5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lessons to remove bottlenecks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1945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IMPLEMENTATION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63524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1812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0100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3880" y="283464"/>
            <a:ext cx="109728" cy="109728"/>
          </a:xfrm>
          <a:prstGeom prst="ellipse">
            <a:avLst/>
          </a:prstGeom>
          <a:solidFill>
            <a:srgbClr val="D49A00"/>
          </a:solidFill>
          <a:ln w="12700">
            <a:solidFill>
              <a:srgbClr val="D49A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4964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137160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1600200"/>
            <a:ext cx="594360" cy="594360"/>
          </a:xfrm>
          <a:prstGeom prst="ellipse">
            <a:avLst/>
          </a:prstGeom>
          <a:solidFill>
            <a:srgbClr val="0E7C86">
              <a:alpha val="22000"/>
            </a:srgbClr>
          </a:solidFill>
          <a:ln w="12700">
            <a:solidFill>
              <a:srgbClr val="0E7C86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670" y="1748790"/>
            <a:ext cx="297180" cy="2971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417320" y="15544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“innovation time”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1417320" y="2103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training time, with a light committee reviewing projects and results.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0" y="137160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754880" y="1600200"/>
            <a:ext cx="594360" cy="594360"/>
          </a:xfrm>
          <a:prstGeom prst="ellipse">
            <a:avLst/>
          </a:prstGeom>
          <a:solidFill>
            <a:srgbClr val="D49A00">
              <a:alpha val="22000"/>
            </a:srgbClr>
          </a:solidFill>
          <a:ln w="12700">
            <a:solidFill>
              <a:srgbClr val="D49A00">
                <a:alpha val="0"/>
              </a:srgbClr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3470" y="1748790"/>
            <a:ext cx="297180" cy="2971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532120" y="15544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data-roles competency framework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5532120" y="2103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civil-service status, data scientists remain hard to recruit.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57200" y="297180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40080" y="3200400"/>
            <a:ext cx="594360" cy="594360"/>
          </a:xfrm>
          <a:prstGeom prst="ellipse">
            <a:avLst/>
          </a:prstGeom>
          <a:solidFill>
            <a:srgbClr val="C4621D">
              <a:alpha val="22000"/>
            </a:srgbClr>
          </a:solidFill>
          <a:ln w="12700">
            <a:solidFill>
              <a:srgbClr val="C4621D">
                <a:alpha val="0"/>
              </a:srgbClr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670" y="3348990"/>
            <a:ext cx="297180" cy="29718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417320" y="31546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core group of partners</a:t>
            </a:r>
            <a:endParaRPr lang="en-US" sz="1350" dirty="0"/>
          </a:p>
        </p:txBody>
      </p:sp>
      <p:sp>
        <p:nvSpPr>
          <p:cNvPr id="25" name="Text 19"/>
          <p:cNvSpPr txBox="1"/>
          <p:nvPr/>
        </p:nvSpPr>
        <p:spPr>
          <a:xfrm>
            <a:off x="1417320" y="37033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tangible results with a few actors, then expand the coalition.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572000" y="297180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754880" y="3200400"/>
            <a:ext cx="594360" cy="594360"/>
          </a:xfrm>
          <a:prstGeom prst="ellipse">
            <a:avLst/>
          </a:prstGeom>
          <a:solidFill>
            <a:srgbClr val="B83B2E">
              <a:alpha val="22000"/>
            </a:srgbClr>
          </a:solidFill>
          <a:ln w="12700">
            <a:solidFill>
              <a:srgbClr val="B83B2E">
                <a:alpha val="0"/>
              </a:srgbClr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3470" y="3348990"/>
            <a:ext cx="297180" cy="29718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532120" y="31546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existing infrastructure</a:t>
            </a:r>
            <a:endParaRPr lang="en-US" sz="1350" dirty="0"/>
          </a:p>
        </p:txBody>
      </p:sp>
      <p:sp>
        <p:nvSpPr>
          <p:cNvPr id="30" name="Text 23"/>
          <p:cNvSpPr txBox="1"/>
          <p:nvPr/>
        </p:nvSpPr>
        <p:spPr>
          <a:xfrm>
            <a:off x="5532120" y="37033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public capacity, technology watch and even purchases.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A95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85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5C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experiences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632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E6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pilot countries are already doing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394960" y="1005840"/>
            <a:ext cx="3108960" cy="310896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0" y="1371600"/>
            <a:ext cx="2377440" cy="237744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0" y="1737360"/>
            <a:ext cx="1645920" cy="164592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201168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2286000"/>
            <a:ext cx="548640" cy="5486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8640" y="4526280"/>
            <a:ext cx="109728" cy="10972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8096" y="4526280"/>
            <a:ext cx="109728" cy="10972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87552" y="4526280"/>
            <a:ext cx="109728" cy="10972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207008" y="4526280"/>
            <a:ext cx="109728" cy="10972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26464" y="4526280"/>
            <a:ext cx="109728" cy="109728"/>
          </a:xfrm>
          <a:prstGeom prst="ellipse">
            <a:avLst/>
          </a:prstGeom>
          <a:solidFill>
            <a:srgbClr val="F5C242"/>
          </a:solidFill>
          <a:ln w="12700">
            <a:solidFill>
              <a:srgbClr val="F5C24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645920" y="4526280"/>
            <a:ext cx="109728" cy="10972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5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tested in six pilot countries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1945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COUNTRY EXPERIENCES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63524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1812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0100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388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283464"/>
            <a:ext cx="109728" cy="109728"/>
          </a:xfrm>
          <a:prstGeom prst="ellipse">
            <a:avLst/>
          </a:prstGeom>
          <a:solidFill>
            <a:srgbClr val="C4621D"/>
          </a:solidFill>
          <a:ln w="12700">
            <a:solidFill>
              <a:srgbClr val="C4621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4964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pic>
        <p:nvPicPr>
          <p:cNvPr id="11" name="Image 0" descr="/home/claude/deck/img/map_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3639312" cy="32004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864608" y="1554480"/>
            <a:ext cx="0" cy="2377440"/>
          </a:xfrm>
          <a:prstGeom prst="line">
            <a:avLst/>
          </a:prstGeom>
          <a:noFill/>
          <a:ln w="25400">
            <a:solidFill>
              <a:srgbClr val="D5DED9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754880" y="1444752"/>
            <a:ext cx="219456" cy="219456"/>
          </a:xfrm>
          <a:prstGeom prst="ellipse">
            <a:avLst/>
          </a:prstGeom>
          <a:solidFill>
            <a:srgbClr val="00A86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120640" y="13716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2023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309360" y="1389888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446520" y="13898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Tunisia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754880" y="1901952"/>
            <a:ext cx="219456" cy="219456"/>
          </a:xfrm>
          <a:prstGeom prst="ellipse">
            <a:avLst/>
          </a:prstGeom>
          <a:solidFill>
            <a:srgbClr val="00A86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120640" y="18288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2024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309360" y="1847088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446520" y="18470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Senegal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754880" y="2359152"/>
            <a:ext cx="219456" cy="219456"/>
          </a:xfrm>
          <a:prstGeom prst="ellipse">
            <a:avLst/>
          </a:prstGeom>
          <a:solidFill>
            <a:srgbClr val="00A86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5120640" y="22860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2024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6309360" y="2304288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446520" y="23042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Côte d’Ivoire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4754880" y="2816352"/>
            <a:ext cx="219456" cy="219456"/>
          </a:xfrm>
          <a:prstGeom prst="ellipse">
            <a:avLst/>
          </a:prstGeom>
          <a:solidFill>
            <a:srgbClr val="00A86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5120640" y="27432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2024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6309360" y="2761488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446520" y="27614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4754880" y="3273552"/>
            <a:ext cx="219456" cy="219456"/>
          </a:xfrm>
          <a:prstGeom prst="ellipse">
            <a:avLst/>
          </a:prstGeom>
          <a:solidFill>
            <a:srgbClr val="00A86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512064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2024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6309360" y="3218688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6446520" y="32186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Cameroon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4754880" y="3730752"/>
            <a:ext cx="219456" cy="219456"/>
          </a:xfrm>
          <a:prstGeom prst="ellipse">
            <a:avLst/>
          </a:prstGeom>
          <a:solidFill>
            <a:srgbClr val="00A86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5120640" y="36576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2025</a:t>
            </a:r>
            <a:endParaRPr lang="en-US" sz="1150" dirty="0"/>
          </a:p>
        </p:txBody>
      </p:sp>
      <p:sp>
        <p:nvSpPr>
          <p:cNvPr id="35" name="Shape 31"/>
          <p:cNvSpPr/>
          <p:nvPr/>
        </p:nvSpPr>
        <p:spPr>
          <a:xfrm>
            <a:off x="6309360" y="3675888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6446520" y="36758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Zambia</a:t>
            </a:r>
            <a:endParaRPr lang="en-US" sz="1200" dirty="0"/>
          </a:p>
        </p:txBody>
      </p:sp>
      <p:sp>
        <p:nvSpPr>
          <p:cNvPr id="37" name="Text 33"/>
          <p:cNvSpPr txBox="1"/>
          <p:nvPr/>
        </p:nvSpPr>
        <p:spPr>
          <a:xfrm>
            <a:off x="4754880" y="4160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Botswana: listed only in Annex 7 of the guide.</a:t>
            </a:r>
            <a:endParaRPr lang="en-US" sz="900" dirty="0"/>
          </a:p>
        </p:txBody>
      </p:sp>
      <p:sp>
        <p:nvSpPr>
          <p:cNvPr id="38" name="Text 34"/>
          <p:cNvSpPr txBox="1"/>
          <p:nvPr/>
        </p:nvSpPr>
        <p:spPr>
          <a:xfrm>
            <a:off x="457200" y="455371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Map: Natural Earth (public domain). Dates: AfDB guide, October 2025.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A95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5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practices across the value chain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1945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COUNTRY EXPERIENCES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63524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1812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0100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388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283464"/>
            <a:ext cx="109728" cy="109728"/>
          </a:xfrm>
          <a:prstGeom prst="ellipse">
            <a:avLst/>
          </a:prstGeom>
          <a:solidFill>
            <a:srgbClr val="C4621D"/>
          </a:solidFill>
          <a:ln w="12700">
            <a:solidFill>
              <a:srgbClr val="C4621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4964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13716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4360" y="1508760"/>
            <a:ext cx="411480" cy="411480"/>
          </a:xfrm>
          <a:prstGeom prst="ellipse">
            <a:avLst/>
          </a:prstGeom>
          <a:solidFill>
            <a:srgbClr val="00A86A">
              <a:alpha val="22000"/>
            </a:srgbClr>
          </a:solidFill>
          <a:ln w="12700">
            <a:solidFill>
              <a:srgbClr val="00A86A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230" y="1611630"/>
            <a:ext cx="205740" cy="2057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97280" y="15087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Senegal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594360" y="1975104"/>
            <a:ext cx="2359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with ENSAE interns; mobile data to predict poverty indicators; algorithmic household targeting.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200400" y="13716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337560" y="1508760"/>
            <a:ext cx="411480" cy="411480"/>
          </a:xfrm>
          <a:prstGeom prst="ellipse">
            <a:avLst/>
          </a:prstGeom>
          <a:solidFill>
            <a:srgbClr val="00704A">
              <a:alpha val="22000"/>
            </a:srgbClr>
          </a:solidFill>
          <a:ln w="12700">
            <a:solidFill>
              <a:srgbClr val="00704A">
                <a:alpha val="0"/>
              </a:srgbClr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0430" y="1611630"/>
            <a:ext cx="205740" cy="2057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840480" y="15087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Tunisia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3337560" y="1975104"/>
            <a:ext cx="2359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data for internal migration, validated against the census; partnership with the national remote-sensing centre.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943600" y="13716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080760" y="1508760"/>
            <a:ext cx="411480" cy="411480"/>
          </a:xfrm>
          <a:prstGeom prst="ellipse">
            <a:avLst/>
          </a:prstGeom>
          <a:solidFill>
            <a:srgbClr val="0E7C86">
              <a:alpha val="22000"/>
            </a:srgbClr>
          </a:solidFill>
          <a:ln w="12700">
            <a:solidFill>
              <a:srgbClr val="0E7C86">
                <a:alpha val="0"/>
              </a:srgbClr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3630" y="1611630"/>
            <a:ext cx="205740" cy="2057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583680" y="15087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Côte d’Ivoire</a:t>
            </a:r>
            <a:endParaRPr lang="en-US" sz="1350" dirty="0"/>
          </a:p>
        </p:txBody>
      </p:sp>
      <p:sp>
        <p:nvSpPr>
          <p:cNvPr id="25" name="Text 19"/>
          <p:cNvSpPr txBox="1"/>
          <p:nvPr/>
        </p:nvSpPr>
        <p:spPr>
          <a:xfrm>
            <a:off x="6080760" y="1975104"/>
            <a:ext cx="2359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Talks with an operator on cost-sharing; Sentinel-2 then commercial imagery; an “innovation café”.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457200" y="292608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594360" y="3063240"/>
            <a:ext cx="411480" cy="411480"/>
          </a:xfrm>
          <a:prstGeom prst="ellipse">
            <a:avLst/>
          </a:prstGeom>
          <a:solidFill>
            <a:srgbClr val="D49A00">
              <a:alpha val="22000"/>
            </a:srgbClr>
          </a:solidFill>
          <a:ln w="12700">
            <a:solidFill>
              <a:srgbClr val="D49A00">
                <a:alpha val="0"/>
              </a:srgbClr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" y="3166110"/>
            <a:ext cx="205740" cy="20574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097280" y="30632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</a:t>
            </a:r>
            <a:endParaRPr lang="en-US" sz="1350" dirty="0"/>
          </a:p>
        </p:txBody>
      </p:sp>
      <p:sp>
        <p:nvSpPr>
          <p:cNvPr id="30" name="Text 23"/>
          <p:cNvSpPr txBox="1"/>
          <p:nvPr/>
        </p:nvSpPr>
        <p:spPr>
          <a:xfrm>
            <a:off x="594360" y="3529584"/>
            <a:ext cx="2359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of national strategies: data, data protection, cloud, interoperability, open data.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3200400" y="292608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3337560" y="3063240"/>
            <a:ext cx="411480" cy="411480"/>
          </a:xfrm>
          <a:prstGeom prst="ellipse">
            <a:avLst/>
          </a:prstGeom>
          <a:solidFill>
            <a:srgbClr val="C4621D">
              <a:alpha val="22000"/>
            </a:srgbClr>
          </a:solidFill>
          <a:ln w="12700">
            <a:solidFill>
              <a:srgbClr val="C4621D">
                <a:alpha val="0"/>
              </a:srgbClr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0430" y="3166110"/>
            <a:ext cx="205740" cy="20574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3840480" y="30632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Cameroon</a:t>
            </a:r>
            <a:endParaRPr lang="en-US" sz="1350" dirty="0"/>
          </a:p>
        </p:txBody>
      </p:sp>
      <p:sp>
        <p:nvSpPr>
          <p:cNvPr id="35" name="Text 27"/>
          <p:cNvSpPr txBox="1"/>
          <p:nvPr/>
        </p:nvSpPr>
        <p:spPr>
          <a:xfrm>
            <a:off x="3337560" y="3529584"/>
            <a:ext cx="2359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on satellite data for population statistics, open to the NSS, universities and private sector.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5943600" y="292608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8F5EF"/>
          </a:solidFill>
          <a:ln w="17780">
            <a:solidFill>
              <a:srgbClr val="D49A00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6080760" y="3063240"/>
            <a:ext cx="411480" cy="411480"/>
          </a:xfrm>
          <a:prstGeom prst="ellipse">
            <a:avLst/>
          </a:prstGeom>
          <a:solidFill>
            <a:srgbClr val="D49A00">
              <a:alpha val="22000"/>
            </a:srgbClr>
          </a:solidFill>
          <a:ln w="12700">
            <a:solidFill>
              <a:srgbClr val="D49A00">
                <a:alpha val="0"/>
              </a:srgbClr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3630" y="3166110"/>
            <a:ext cx="205740" cy="205740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6583680" y="30632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</a:t>
            </a:r>
            <a:endParaRPr lang="en-US" sz="1350" dirty="0"/>
          </a:p>
        </p:txBody>
      </p:sp>
      <p:sp>
        <p:nvSpPr>
          <p:cNvPr id="40" name="Text 31"/>
          <p:cNvSpPr txBox="1"/>
          <p:nvPr/>
        </p:nvSpPr>
        <p:spPr>
          <a:xfrm>
            <a:off x="6080760" y="3529584"/>
            <a:ext cx="2359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prices (Côte d’Ivoire, Cameroon, Senegal) and job vacancies (Côte d’Ivoire).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A95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5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AfDB DIL’s activities in figures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1945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COUNTRY EXPERIENCES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63524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1812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0100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388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283464"/>
            <a:ext cx="109728" cy="109728"/>
          </a:xfrm>
          <a:prstGeom prst="ellipse">
            <a:avLst/>
          </a:prstGeom>
          <a:solidFill>
            <a:srgbClr val="C4621D"/>
          </a:solidFill>
          <a:ln w="12700">
            <a:solidFill>
              <a:srgbClr val="C4621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4964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137160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14813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0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20482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· 22 countries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23042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“Innovate Africa” symposium, Kigali 2024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200400" y="137160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383280" y="14813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4000" dirty="0"/>
          </a:p>
        </p:txBody>
      </p:sp>
      <p:sp>
        <p:nvSpPr>
          <p:cNvPr id="17" name="Text 14"/>
          <p:cNvSpPr txBox="1"/>
          <p:nvPr/>
        </p:nvSpPr>
        <p:spPr>
          <a:xfrm>
            <a:off x="3383280" y="20482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· 13 countries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3383280" y="23042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DIHAP health-data programme, 2024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943600" y="137160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126480" y="14813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351</a:t>
            </a:r>
            <a:endParaRPr lang="en-US" sz="4000" dirty="0"/>
          </a:p>
        </p:txBody>
      </p:sp>
      <p:sp>
        <p:nvSpPr>
          <p:cNvPr id="21" name="Text 18"/>
          <p:cNvSpPr txBox="1"/>
          <p:nvPr/>
        </p:nvSpPr>
        <p:spPr>
          <a:xfrm>
            <a:off x="6126480" y="20482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communes analysed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126480" y="23042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Night-time lights (VIIRS), Burkina Faso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57200" y="2852928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296265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D4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</a:t>
            </a:r>
            <a:endParaRPr lang="en-US" sz="4000" dirty="0"/>
          </a:p>
        </p:txBody>
      </p:sp>
      <p:sp>
        <p:nvSpPr>
          <p:cNvPr id="25" name="Text 22"/>
          <p:cNvSpPr txBox="1"/>
          <p:nvPr/>
        </p:nvSpPr>
        <p:spPr>
          <a:xfrm>
            <a:off x="640080" y="35295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378561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“Brown Bag” webinar series, 2024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200400" y="2852928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383280" y="296265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462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4000" dirty="0"/>
          </a:p>
        </p:txBody>
      </p:sp>
      <p:sp>
        <p:nvSpPr>
          <p:cNvPr id="29" name="Text 26"/>
          <p:cNvSpPr txBox="1"/>
          <p:nvPr/>
        </p:nvSpPr>
        <p:spPr>
          <a:xfrm>
            <a:off x="3383280" y="35295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convened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3383280" y="378561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STG17 group, Kigali, Sep 2025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943600" y="2852928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126480" y="296265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B8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33" name="Text 30"/>
          <p:cNvSpPr txBox="1"/>
          <p:nvPr/>
        </p:nvSpPr>
        <p:spPr>
          <a:xfrm>
            <a:off x="6126480" y="35295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agreements signed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6126480" y="378561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licence agreements (Meta, JBA)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457200" y="455371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AfDB guide, Annex 7 (activities 2022–2025).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A95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85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5C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forward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632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E6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the initiative scale up?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394960" y="1005840"/>
            <a:ext cx="3108960" cy="310896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0" y="1371600"/>
            <a:ext cx="2377440" cy="237744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0" y="1737360"/>
            <a:ext cx="1645920" cy="164592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201168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2286000"/>
            <a:ext cx="548640" cy="5486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8640" y="4526280"/>
            <a:ext cx="109728" cy="10972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8096" y="4526280"/>
            <a:ext cx="109728" cy="10972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87552" y="4526280"/>
            <a:ext cx="109728" cy="10972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207008" y="4526280"/>
            <a:ext cx="109728" cy="10972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26464" y="4526280"/>
            <a:ext cx="109728" cy="10972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645920" y="4526280"/>
            <a:ext cx="109728" cy="109728"/>
          </a:xfrm>
          <a:prstGeom prst="ellipse">
            <a:avLst/>
          </a:prstGeom>
          <a:solidFill>
            <a:srgbClr val="F5C242"/>
          </a:solidFill>
          <a:ln w="12700">
            <a:solidFill>
              <a:srgbClr val="F5C242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5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directions for the initiative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1945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WAY FORWARD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63524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1812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0100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388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49640" y="283464"/>
            <a:ext cx="109728" cy="109728"/>
          </a:xfrm>
          <a:prstGeom prst="ellipse">
            <a:avLst/>
          </a:prstGeom>
          <a:solidFill>
            <a:srgbClr val="B83B2E"/>
          </a:solidFill>
          <a:ln w="12700">
            <a:solidFill>
              <a:srgbClr val="B83B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97280" y="1965960"/>
            <a:ext cx="6766560" cy="0"/>
          </a:xfrm>
          <a:prstGeom prst="line">
            <a:avLst/>
          </a:prstGeom>
          <a:noFill/>
          <a:ln w="31750">
            <a:solidFill>
              <a:srgbClr val="D5DED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04672" y="1463040"/>
            <a:ext cx="1005840" cy="10058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A86A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1719072"/>
            <a:ext cx="493776" cy="49377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7200" y="2606040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502920" y="2926080"/>
            <a:ext cx="1609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national action plans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2468880" y="1463040"/>
            <a:ext cx="1005840" cy="10058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704A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912" y="1719072"/>
            <a:ext cx="493776" cy="49377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2121408" y="2606040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2926080"/>
            <a:ext cx="1609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country diagnostics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133088" y="1463040"/>
            <a:ext cx="1005840" cy="10058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7C86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719072"/>
            <a:ext cx="493776" cy="49377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3785616" y="2606040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3831336" y="2926080"/>
            <a:ext cx="1609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follow-up self-diagnostics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797296" y="1463040"/>
            <a:ext cx="1005840" cy="10058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49A0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3328" y="1719072"/>
            <a:ext cx="493776" cy="49377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449824" y="2606040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5495544" y="2926080"/>
            <a:ext cx="1609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country networks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7461504" y="1463040"/>
            <a:ext cx="1005840" cy="10058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4621D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7536" y="1719072"/>
            <a:ext cx="493776" cy="493776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7114032" y="2606040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2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1" name="Text 23"/>
          <p:cNvSpPr txBox="1"/>
          <p:nvPr/>
        </p:nvSpPr>
        <p:spPr>
          <a:xfrm>
            <a:off x="7159752" y="2926080"/>
            <a:ext cx="1609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Mobilise continental actors</a:t>
            </a:r>
            <a:endParaRPr lang="en-US" sz="1200" dirty="0"/>
          </a:p>
        </p:txBody>
      </p:sp>
      <p:sp>
        <p:nvSpPr>
          <p:cNvPr id="32" name="Shape 24"/>
          <p:cNvSpPr/>
          <p:nvPr/>
        </p:nvSpPr>
        <p:spPr>
          <a:xfrm>
            <a:off x="457200" y="3794760"/>
            <a:ext cx="8092440" cy="640080"/>
          </a:xfrm>
          <a:prstGeom prst="roundRect">
            <a:avLst>
              <a:gd name="adj" fmla="val 11429"/>
            </a:avLst>
          </a:prstGeom>
          <a:solidFill>
            <a:srgbClr val="E8F5EF"/>
          </a:solidFill>
          <a:ln w="17780">
            <a:solidFill>
              <a:srgbClr val="00A86A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594360" y="3886200"/>
            <a:ext cx="457200" cy="457200"/>
          </a:xfrm>
          <a:prstGeom prst="ellipse">
            <a:avLst/>
          </a:prstGeom>
          <a:solidFill>
            <a:srgbClr val="00704A">
              <a:alpha val="22000"/>
            </a:srgbClr>
          </a:solidFill>
          <a:ln w="12700">
            <a:solidFill>
              <a:srgbClr val="00704A">
                <a:alpha val="0"/>
              </a:srgbClr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" y="4000500"/>
            <a:ext cx="228600" cy="228600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1188720" y="379476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under way: </a:t>
            </a:r>
            <a:pPr indent="0" marL="0">
              <a:buNone/>
            </a:pPr>
            <a:r>
              <a:rPr lang="en-US" sz="11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September 2025 the AU STG17 group adopted a 2026–2030 action plan on big data and AI in official statistics.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A95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5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of attention for a future edition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1945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WAY FORWARD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63524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1812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0100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388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49640" y="283464"/>
            <a:ext cx="109728" cy="109728"/>
          </a:xfrm>
          <a:prstGeom prst="ellipse">
            <a:avLst/>
          </a:prstGeom>
          <a:solidFill>
            <a:srgbClr val="B83B2E"/>
          </a:solidFill>
          <a:ln w="12700">
            <a:solidFill>
              <a:srgbClr val="B83B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1371600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D49A00">
              <a:alpha val="12000"/>
            </a:srgbClr>
          </a:solidFill>
          <a:ln w="12700">
            <a:solidFill>
              <a:srgbClr val="D49A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4360" y="1481328"/>
            <a:ext cx="438912" cy="438912"/>
          </a:xfrm>
          <a:prstGeom prst="ellipse">
            <a:avLst/>
          </a:prstGeom>
          <a:solidFill>
            <a:srgbClr val="D49A00">
              <a:alpha val="22000"/>
            </a:srgbClr>
          </a:solidFill>
          <a:ln w="12700">
            <a:solidFill>
              <a:srgbClr val="D49A00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591056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143000" y="1481328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guide does not yet say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617720" y="1371600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E8F5EF"/>
          </a:solidFill>
          <a:ln w="17780">
            <a:solidFill>
              <a:srgbClr val="00A86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754880" y="1481328"/>
            <a:ext cx="438912" cy="438912"/>
          </a:xfrm>
          <a:prstGeom prst="ellipse">
            <a:avLst/>
          </a:prstGeom>
          <a:solidFill>
            <a:srgbClr val="00A86A">
              <a:alpha val="22000"/>
            </a:srgbClr>
          </a:solidFill>
          <a:ln w="12700">
            <a:solidFill>
              <a:srgbClr val="00A86A">
                <a:alpha val="0"/>
              </a:srgbClr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591056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303520" y="1481328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improvements</a:t>
            </a:r>
            <a:endParaRPr lang="en-US" sz="14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76272"/>
            <a:ext cx="201168" cy="20116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60120" y="21031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criteria for assigning colours</a:t>
            </a:r>
            <a:endParaRPr lang="en-US" sz="11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176272"/>
            <a:ext cx="201168" cy="20116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120640" y="21031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scoring rubric per question</a:t>
            </a:r>
            <a:endParaRPr lang="en-US" sz="115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633472"/>
            <a:ext cx="201168" cy="201168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960120" y="25603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monitoring and evaluation indicators</a:t>
            </a:r>
            <a:endParaRPr lang="en-US" sz="115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2633472"/>
            <a:ext cx="201168" cy="201168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5120640" y="25603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results framework with indicators</a:t>
            </a:r>
            <a:endParaRPr lang="en-US" sz="115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090672"/>
            <a:ext cx="201168" cy="201168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960120" y="30175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cost estimates</a:t>
            </a:r>
            <a:endParaRPr lang="en-US" sz="115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3090672"/>
            <a:ext cx="201168" cy="201168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5120640" y="30175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three-year DIL budget</a:t>
            </a:r>
            <a:endParaRPr lang="en-US" sz="115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3547872"/>
            <a:ext cx="201168" cy="201168"/>
          </a:xfrm>
          <a:prstGeom prst="rect">
            <a:avLst/>
          </a:prstGeom>
        </p:spPr>
      </p:pic>
      <p:sp>
        <p:nvSpPr>
          <p:cNvPr id="32" name="Text 20"/>
          <p:cNvSpPr txBox="1"/>
          <p:nvPr/>
        </p:nvSpPr>
        <p:spPr>
          <a:xfrm>
            <a:off x="960120" y="34747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Ethics, privacy and generative AI barely covered</a:t>
            </a:r>
            <a:endParaRPr lang="en-US" sz="1150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00600" y="3547872"/>
            <a:ext cx="201168" cy="201168"/>
          </a:xfrm>
          <a:prstGeom prst="rect">
            <a:avLst/>
          </a:prstGeom>
        </p:spPr>
      </p:pic>
      <p:sp>
        <p:nvSpPr>
          <p:cNvPr id="34" name="Text 21"/>
          <p:cNvSpPr txBox="1"/>
          <p:nvPr/>
        </p:nvSpPr>
        <p:spPr>
          <a:xfrm>
            <a:off x="5120640" y="34747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data-protection and AI component</a:t>
            </a:r>
            <a:endParaRPr lang="en-US" sz="1150" dirty="0"/>
          </a:p>
        </p:txBody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" y="4005072"/>
            <a:ext cx="201168" cy="201168"/>
          </a:xfrm>
          <a:prstGeom prst="rect">
            <a:avLst/>
          </a:prstGeom>
        </p:spPr>
      </p:pic>
      <p:sp>
        <p:nvSpPr>
          <p:cNvPr id="36" name="Text 22"/>
          <p:cNvSpPr txBox="1"/>
          <p:nvPr/>
        </p:nvSpPr>
        <p:spPr>
          <a:xfrm>
            <a:off x="960120" y="39319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inconsistent dates and figures</a:t>
            </a:r>
            <a:endParaRPr lang="en-US" sz="1150" dirty="0"/>
          </a:p>
        </p:txBody>
      </p:sp>
      <p:pic>
        <p:nvPicPr>
          <p:cNvPr id="3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00600" y="4005072"/>
            <a:ext cx="201168" cy="201168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5120640" y="39319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 review and harmonisation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A95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5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1945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WAY FORWARD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63524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1812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0100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388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49640" y="283464"/>
            <a:ext cx="109728" cy="109728"/>
          </a:xfrm>
          <a:prstGeom prst="ellipse">
            <a:avLst/>
          </a:prstGeom>
          <a:solidFill>
            <a:srgbClr val="B83B2E"/>
          </a:solidFill>
          <a:ln w="12700">
            <a:solidFill>
              <a:srgbClr val="B83B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1371600"/>
            <a:ext cx="8092440" cy="91440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4360" y="1600200"/>
            <a:ext cx="457200" cy="457200"/>
          </a:xfrm>
          <a:prstGeom prst="ellipse">
            <a:avLst/>
          </a:prstGeom>
          <a:solidFill>
            <a:srgbClr val="00704A">
              <a:alpha val="22000"/>
            </a:srgbClr>
          </a:solidFill>
          <a:ln w="12700">
            <a:solidFill>
              <a:srgbClr val="00704A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714500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234440" y="146304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Development Bank, Statistics Department (October 2025)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1234440" y="171907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Establishing a Data Innovation Lab: A Practical Guide to Applying the AfDB’s Data Innovation Maturity Model.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1234440" y="2011680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afdb.org/en/documents/data-innovation-africa-di4a-initiative-practical-guide-applying-afdbs-data-innovation-maturity-model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57200" y="2395728"/>
            <a:ext cx="8092440" cy="91440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94360" y="2624328"/>
            <a:ext cx="457200" cy="457200"/>
          </a:xfrm>
          <a:prstGeom prst="ellipse">
            <a:avLst/>
          </a:prstGeom>
          <a:solidFill>
            <a:srgbClr val="00704A">
              <a:alpha val="22000"/>
            </a:srgbClr>
          </a:solidFill>
          <a:ln w="12700">
            <a:solidFill>
              <a:srgbClr val="00704A">
                <a:alpha val="0"/>
              </a:srgbClr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2738628"/>
            <a:ext cx="228600" cy="2286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234440" y="248716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Earth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1234440" y="27432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1:110m cartographic data, public domain (pilot-country map).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1234440" y="3035808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naturalearthdata.com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57200" y="3419856"/>
            <a:ext cx="8092440" cy="91440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94360" y="3648456"/>
            <a:ext cx="457200" cy="457200"/>
          </a:xfrm>
          <a:prstGeom prst="ellipse">
            <a:avLst/>
          </a:prstGeom>
          <a:solidFill>
            <a:srgbClr val="00704A">
              <a:alpha val="22000"/>
            </a:srgbClr>
          </a:solidFill>
          <a:ln w="12700">
            <a:solidFill>
              <a:srgbClr val="00704A">
                <a:alpha val="0"/>
              </a:srgbClr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3762756"/>
            <a:ext cx="228600" cy="2286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234440" y="351129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on visual identity</a:t>
            </a:r>
            <a:endParaRPr lang="en-US" sz="1250" dirty="0"/>
          </a:p>
        </p:txBody>
      </p:sp>
      <p:sp>
        <p:nvSpPr>
          <p:cNvPr id="27" name="Text 21"/>
          <p:cNvSpPr txBox="1"/>
          <p:nvPr/>
        </p:nvSpPr>
        <p:spPr>
          <a:xfrm>
            <a:off x="1234440" y="376732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inspired by the AfDB visual identity; this is not an official Bank document.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A95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C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SUMMARY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starts by letting go of old ways of thinking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310896" cy="310896"/>
          </a:xfrm>
          <a:prstGeom prst="ellipse">
            <a:avLst/>
          </a:prstGeom>
          <a:solidFill>
            <a:srgbClr val="F5C242"/>
          </a:solidFill>
          <a:ln w="12700">
            <a:solidFill>
              <a:srgbClr val="F5C2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83464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with the twelve dimensions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273552"/>
            <a:ext cx="310896" cy="310896"/>
          </a:xfrm>
          <a:prstGeom prst="ellipse">
            <a:avLst/>
          </a:prstGeom>
          <a:solidFill>
            <a:srgbClr val="F5C242"/>
          </a:solidFill>
          <a:ln w="12700">
            <a:solidFill>
              <a:srgbClr val="F5C2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273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27355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fitting organisation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712464"/>
            <a:ext cx="310896" cy="310896"/>
          </a:xfrm>
          <a:prstGeom prst="ellipse">
            <a:avLst/>
          </a:prstGeom>
          <a:solidFill>
            <a:srgbClr val="F5C242"/>
          </a:solidFill>
          <a:ln w="12700">
            <a:solidFill>
              <a:srgbClr val="F5C24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712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71246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coalitions and measure progress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21031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fDB-inspired Institutional">
  <a:themeElements>
    <a:clrScheme name="AfDB-inspired Institutional">
      <a:dk1>
        <a:srgbClr val="231F20"/>
      </a:dk1>
      <a:lt1>
        <a:srgbClr val="FFFFFF"/>
      </a:lt1>
      <a:dk2>
        <a:srgbClr val="00553A"/>
      </a:dk2>
      <a:lt2>
        <a:srgbClr val="F4F7F5"/>
      </a:lt2>
      <a:accent1>
        <a:srgbClr val="00A86A"/>
      </a:accent1>
      <a:accent2>
        <a:srgbClr val="00704A"/>
      </a:accent2>
      <a:accent3>
        <a:srgbClr val="0E7C86"/>
      </a:accent3>
      <a:accent4>
        <a:srgbClr val="D49A00"/>
      </a:accent4>
      <a:accent5>
        <a:srgbClr val="C4621D"/>
      </a:accent5>
      <a:accent6>
        <a:srgbClr val="B83B2E"/>
      </a:accent6>
      <a:hlink>
        <a:srgbClr val="00704A"/>
      </a:hlink>
      <a:folHlink>
        <a:srgbClr val="0E7C86"/>
      </a:folHlink>
    </a:clrScheme>
    <a:fontScheme name="AfDB-inspired Institutiona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Establishing a Data Innovation Lab</dc:title>
  <dc:subject>PptxGenJS Presentation</dc:subject>
  <dc:creator>PptxGenJS</dc:creator>
  <cp:lastModifiedBy>PptxGenJS</cp:lastModifiedBy>
  <cp:revision>1</cp:revision>
  <dcterms:created xsi:type="dcterms:W3CDTF">2026-10-18T09:11:02Z</dcterms:created>
  <dcterms:modified xsi:type="dcterms:W3CDTF">2026-10-18T09:11:02Z</dcterms:modified>
</cp:coreProperties>
</file>