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5.xml" ContentType="application/vnd.openxmlformats-officedocument.drawingml.chart+xml"/>
  <Override PartName="/ppt/notesSlides/notesSlide26.xml" ContentType="application/vnd.openxmlformats-officedocument.presentationml.notesSlide+xml"/>
  <Override PartName="/ppt/charts/chart6.xml" ContentType="application/vnd.openxmlformats-officedocument.drawingml.chart+xml"/>
  <Override PartName="/ppt/notesSlides/notesSlide27.xml" ContentType="application/vnd.openxmlformats-officedocument.presentationml.notesSlide+xml"/>
  <Override PartName="/ppt/charts/chart7.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13A163-3A4B-E7C7-6127-E23A5B4428DF}">
          <p14:sldIdLst>
            <p14:sldId id="256"/>
            <p14:sldId id="257"/>
            <p14:sldId id="258"/>
          </p14:sldIdLst>
        </p14:section>
        <p14:section name="Understanding the CPI" id="{DBE41C08-1645-0354-B438-2458A2B41360}">
          <p14:sldIdLst>
            <p14:sldId id="259"/>
            <p14:sldId id="260"/>
            <p14:sldId id="261"/>
            <p14:sldId id="262"/>
            <p14:sldId id="263"/>
          </p14:sldIdLst>
        </p14:section>
        <p14:section name="Basket and COICOP" id="{48FF6B4A-757F-96F4-F7F2-A4850A0C921B}">
          <p14:sldIdLst>
            <p14:sldId id="264"/>
            <p14:sldId id="265"/>
            <p14:sldId id="266"/>
            <p14:sldId id="267"/>
            <p14:sldId id="268"/>
          </p14:sldIdLst>
        </p14:section>
        <p14:section name="Compiling the index" id="{B5BD3C45-F578-A19F-716E-EC3A57425793}">
          <p14:sldIdLst>
            <p14:sldId id="269"/>
            <p14:sldId id="270"/>
            <p14:sldId id="271"/>
            <p14:sldId id="272"/>
            <p14:sldId id="273"/>
            <p14:sldId id="274"/>
          </p14:sldIdLst>
        </p14:section>
        <p14:section name="Lab" id="{144691A8-439D-C0AB-6668-BF0367E8B217}">
          <p14:sldIdLst>
            <p14:sldId id="275"/>
            <p14:sldId id="276"/>
            <p14:sldId id="277"/>
            <p14:sldId id="278"/>
            <p14:sldId id="279"/>
            <p14:sldId id="280"/>
            <p14:sldId id="281"/>
            <p14:sldId id="282"/>
            <p14:sldId id="283"/>
            <p14:sldId id="284"/>
          </p14:sldIdLst>
        </p14:section>
        <p14:section name="Challenges and conclusion" id="{D0345A7F-EF42-9177-7AB5-9A8C46F2C4A1}">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WAEMU, 2019-2025</a:t>
            </a:r>
          </a:p>
        </c:rich>
      </c:tx>
      <c:overlay val="0"/>
    </c:title>
    <c:autoTitleDeleted val="0"/>
    <c:plotArea>
      <c:layout/>
      <c:lineChart>
        <c:grouping val="standard"/>
        <c:varyColors val="0"/>
        <c:ser>
          <c:idx val="0"/>
          <c:order val="0"/>
          <c:tx>
            <c:strRef>
              <c:f>Sheet1!$B$1</c:f>
              <c:strCache>
                <c:ptCount val="1"/>
                <c:pt idx="0">
                  <c:v>WAEMU</c:v>
                </c:pt>
              </c:strCache>
            </c:strRef>
          </c:tx>
          <c:spPr>
            <a:ln w="38100" cap="flat">
              <a:solidFill>
                <a:srgbClr val="00A86A"/>
              </a:solidFill>
              <a:prstDash val="solid"/>
              <a:round/>
            </a:ln>
            <a:effectLst/>
          </c:spPr>
          <c:marker>
            <c:symbol val="circle"/>
            <c:size val="8"/>
            <c:spPr>
              <a:solidFill>
                <a:srgbClr val="00A86A"/>
              </a:solidFill>
              <a:ln w="9525" cap="flat">
                <a:solidFill>
                  <a:srgbClr val="00A86A"/>
                </a:solidFill>
                <a:prstDash val="solid"/>
                <a:round/>
              </a:ln>
              <a:effectLst/>
            </c:spPr>
          </c:marker>
          <c:dLbls>
            <c:numFmt formatCode="0.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-0.7</c:v>
                </c:pt>
                <c:pt idx="1">
                  <c:v>2.1</c:v>
                </c:pt>
                <c:pt idx="2">
                  <c:v>3.6</c:v>
                </c:pt>
                <c:pt idx="3">
                  <c:v>7.4</c:v>
                </c:pt>
                <c:pt idx="4">
                  <c:v>3.7</c:v>
                </c:pt>
                <c:pt idx="5">
                  <c:v>3.5</c:v>
                </c:pt>
                <c:pt idx="6">
                  <c:v>0</c:v>
                </c:pt>
              </c:numCache>
            </c:numRef>
          </c:val>
          <c:smooth val="0"/>
          <c:extLst>
            <c:ext xmlns:c16="http://schemas.microsoft.com/office/drawing/2014/chart" uri="{C3380CC4-5D6E-409C-BE32-E72D297353CC}">
              <c16:uniqueId val="{00000000-86A3-4C5B-80E5-D6999C7C2E5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
          <c:min val="-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Côte d'Ivoire and Senegal, 2022-2025</a:t>
            </a:r>
          </a:p>
        </c:rich>
      </c:tx>
      <c:overlay val="0"/>
    </c:title>
    <c:autoTitleDeleted val="0"/>
    <c:plotArea>
      <c:layout/>
      <c:barChart>
        <c:barDir val="col"/>
        <c:grouping val="clustered"/>
        <c:varyColors val="0"/>
        <c:ser>
          <c:idx val="0"/>
          <c:order val="0"/>
          <c:tx>
            <c:strRef>
              <c:f>Sheet1!$B$1</c:f>
              <c:strCache>
                <c:ptCount val="1"/>
                <c:pt idx="0">
                  <c:v>Côte d'Ivoire</c:v>
                </c:pt>
              </c:strCache>
            </c:strRef>
          </c:tx>
          <c:spPr>
            <a:solidFill>
              <a:srgbClr val="00A86A"/>
            </a:solidFill>
            <a:effectLst/>
          </c:spPr>
          <c:invertIfNegative val="0"/>
          <c:dLbls>
            <c:numFmt formatCode="0.0"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5.2</c:v>
                </c:pt>
                <c:pt idx="1">
                  <c:v>4.4000000000000004</c:v>
                </c:pt>
                <c:pt idx="2">
                  <c:v>3.5</c:v>
                </c:pt>
                <c:pt idx="3">
                  <c:v>0.1</c:v>
                </c:pt>
              </c:numCache>
            </c:numRef>
          </c:val>
          <c:extLst>
            <c:ext xmlns:c16="http://schemas.microsoft.com/office/drawing/2014/chart" uri="{C3380CC4-5D6E-409C-BE32-E72D297353CC}">
              <c16:uniqueId val="{00000000-B8EC-4237-B8A3-A7B058094958}"/>
            </c:ext>
          </c:extLst>
        </c:ser>
        <c:ser>
          <c:idx val="1"/>
          <c:order val="1"/>
          <c:tx>
            <c:strRef>
              <c:f>Sheet1!$C$1</c:f>
              <c:strCache>
                <c:ptCount val="1"/>
                <c:pt idx="0">
                  <c:v>Senegal</c:v>
                </c:pt>
              </c:strCache>
            </c:strRef>
          </c:tx>
          <c:spPr>
            <a:solidFill>
              <a:srgbClr val="00553A"/>
            </a:solidFill>
            <a:effectLst/>
          </c:spPr>
          <c:invertIfNegative val="0"/>
          <c:dLbls>
            <c:numFmt formatCode="0.0"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Sheet1!$C$2:$C$5</c:f>
              <c:numCache>
                <c:formatCode>General</c:formatCode>
                <c:ptCount val="4"/>
                <c:pt idx="0">
                  <c:v>9.6999999999999993</c:v>
                </c:pt>
                <c:pt idx="1">
                  <c:v>5.9</c:v>
                </c:pt>
                <c:pt idx="2">
                  <c:v>0.8</c:v>
                </c:pt>
                <c:pt idx="3">
                  <c:v>1.4</c:v>
                </c:pt>
              </c:numCache>
            </c:numRef>
          </c:val>
          <c:extLst>
            <c:ext xmlns:c16="http://schemas.microsoft.com/office/drawing/2014/chart" uri="{C3380CC4-5D6E-409C-BE32-E72D297353CC}">
              <c16:uniqueId val="{00000001-B8EC-4237-B8A3-A7B05809495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2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c:v>
                </c:pt>
              </c:strCache>
            </c:strRef>
          </c:tx>
          <c:spPr>
            <a:solidFill>
              <a:srgbClr val="00A86A"/>
            </a:solidFill>
            <a:effectLst/>
          </c:spPr>
          <c:invertIfNegative val="0"/>
          <c:dLbls>
            <c:numFmt formatCode="0.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12 Insurance and finance</c:v>
                </c:pt>
                <c:pt idx="1">
                  <c:v>02 Alcohol, tobacco</c:v>
                </c:pt>
                <c:pt idx="2">
                  <c:v>09 Recreation, sport, culture</c:v>
                </c:pt>
                <c:pt idx="3">
                  <c:v>10 Education</c:v>
                </c:pt>
                <c:pt idx="4">
                  <c:v>06 Health</c:v>
                </c:pt>
                <c:pt idx="5">
                  <c:v>03 Clothing, footwear</c:v>
                </c:pt>
                <c:pt idx="6">
                  <c:v>13 Personal care, misc.</c:v>
                </c:pt>
                <c:pt idx="7">
                  <c:v>05 Furnishings, equipment</c:v>
                </c:pt>
                <c:pt idx="8">
                  <c:v>07 Transport</c:v>
                </c:pt>
                <c:pt idx="9">
                  <c:v>08 Information, communication</c:v>
                </c:pt>
                <c:pt idx="10">
                  <c:v>04 Housing, energy</c:v>
                </c:pt>
                <c:pt idx="11">
                  <c:v>11 Restaurants, accommodation</c:v>
                </c:pt>
                <c:pt idx="12">
                  <c:v>01 Food</c:v>
                </c:pt>
              </c:strCache>
            </c:strRef>
          </c:cat>
          <c:val>
            <c:numRef>
              <c:f>Sheet1!$B$2:$B$14</c:f>
              <c:numCache>
                <c:formatCode>General</c:formatCode>
                <c:ptCount val="13"/>
                <c:pt idx="0">
                  <c:v>0.14000000000000001</c:v>
                </c:pt>
                <c:pt idx="1">
                  <c:v>0.22</c:v>
                </c:pt>
                <c:pt idx="2">
                  <c:v>1.02</c:v>
                </c:pt>
                <c:pt idx="3">
                  <c:v>1.75</c:v>
                </c:pt>
                <c:pt idx="4">
                  <c:v>4.21</c:v>
                </c:pt>
                <c:pt idx="5">
                  <c:v>4.7699999999999996</c:v>
                </c:pt>
                <c:pt idx="6">
                  <c:v>4.88</c:v>
                </c:pt>
                <c:pt idx="7">
                  <c:v>5.67</c:v>
                </c:pt>
                <c:pt idx="8">
                  <c:v>6.06</c:v>
                </c:pt>
                <c:pt idx="9">
                  <c:v>7.46</c:v>
                </c:pt>
                <c:pt idx="10">
                  <c:v>9.16</c:v>
                </c:pt>
                <c:pt idx="11">
                  <c:v>9.1999999999999993</c:v>
                </c:pt>
                <c:pt idx="12">
                  <c:v>45.47</c:v>
                </c:pt>
              </c:numCache>
            </c:numRef>
          </c:val>
          <c:extLst>
            <c:ext xmlns:c16="http://schemas.microsoft.com/office/drawing/2014/chart" uri="{C3380CC4-5D6E-409C-BE32-E72D297353CC}">
              <c16:uniqueId val="{00000000-F289-41E3-B4F5-4EEEF05E5588}"/>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2"/>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Elementary index by formula</a:t>
            </a:r>
          </a:p>
        </c:rich>
      </c:tx>
      <c:overlay val="0"/>
    </c:title>
    <c:autoTitleDeleted val="0"/>
    <c:plotArea>
      <c:layout/>
      <c:lineChart>
        <c:grouping val="standard"/>
        <c:varyColors val="0"/>
        <c:ser>
          <c:idx val="0"/>
          <c:order val="0"/>
          <c:tx>
            <c:strRef>
              <c:f>Sheet1!$B$1</c:f>
              <c:strCache>
                <c:ptCount val="1"/>
                <c:pt idx="0">
                  <c:v>Chained Carli</c:v>
                </c:pt>
              </c:strCache>
            </c:strRef>
          </c:tx>
          <c:spPr>
            <a:ln w="38100" cap="flat">
              <a:solidFill>
                <a:srgbClr val="B83B2E"/>
              </a:solidFill>
              <a:prstDash val="solid"/>
              <a:round/>
            </a:ln>
            <a:effectLst/>
          </c:spPr>
          <c:marker>
            <c:symbol val="circle"/>
            <c:size val="8"/>
            <c:spPr>
              <a:solidFill>
                <a:srgbClr val="B83B2E"/>
              </a:solidFill>
              <a:ln w="9525" cap="flat">
                <a:solidFill>
                  <a:srgbClr val="B83B2E"/>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 0</c:v>
                </c:pt>
                <c:pt idx="1">
                  <c:v>Month 1</c:v>
                </c:pt>
                <c:pt idx="2">
                  <c:v>Month 2</c:v>
                </c:pt>
              </c:strCache>
            </c:strRef>
          </c:cat>
          <c:val>
            <c:numRef>
              <c:f>Sheet1!$B$2:$B$4</c:f>
              <c:numCache>
                <c:formatCode>General</c:formatCode>
                <c:ptCount val="3"/>
                <c:pt idx="0">
                  <c:v>100</c:v>
                </c:pt>
                <c:pt idx="1">
                  <c:v>125</c:v>
                </c:pt>
                <c:pt idx="2">
                  <c:v>156.25</c:v>
                </c:pt>
              </c:numCache>
            </c:numRef>
          </c:val>
          <c:smooth val="0"/>
          <c:extLst>
            <c:ext xmlns:c16="http://schemas.microsoft.com/office/drawing/2014/chart" uri="{C3380CC4-5D6E-409C-BE32-E72D297353CC}">
              <c16:uniqueId val="{00000000-86B5-40D2-9B72-2C783B8CA96D}"/>
            </c:ext>
          </c:extLst>
        </c:ser>
        <c:ser>
          <c:idx val="1"/>
          <c:order val="1"/>
          <c:tx>
            <c:strRef>
              <c:f>Sheet1!$C$1</c:f>
              <c:strCache>
                <c:ptCount val="1"/>
                <c:pt idx="0">
                  <c:v>Dutot</c:v>
                </c:pt>
              </c:strCache>
            </c:strRef>
          </c:tx>
          <c:spPr>
            <a:ln w="38100" cap="flat">
              <a:solidFill>
                <a:srgbClr val="0E7C86"/>
              </a:solidFill>
              <a:prstDash val="solid"/>
              <a:round/>
            </a:ln>
            <a:effectLst/>
          </c:spPr>
          <c:marker>
            <c:symbol val="circle"/>
            <c:size val="8"/>
            <c:spPr>
              <a:solidFill>
                <a:srgbClr val="0E7C86"/>
              </a:solidFill>
              <a:ln w="9525" cap="flat">
                <a:solidFill>
                  <a:srgbClr val="0E7C86"/>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 0</c:v>
                </c:pt>
                <c:pt idx="1">
                  <c:v>Month 1</c:v>
                </c:pt>
                <c:pt idx="2">
                  <c:v>Month 2</c:v>
                </c:pt>
              </c:strCache>
            </c:strRef>
          </c:cat>
          <c:val>
            <c:numRef>
              <c:f>Sheet1!$C$2:$C$4</c:f>
              <c:numCache>
                <c:formatCode>General</c:formatCode>
                <c:ptCount val="3"/>
                <c:pt idx="0">
                  <c:v>100</c:v>
                </c:pt>
                <c:pt idx="1">
                  <c:v>125</c:v>
                </c:pt>
                <c:pt idx="2">
                  <c:v>100</c:v>
                </c:pt>
              </c:numCache>
            </c:numRef>
          </c:val>
          <c:smooth val="0"/>
          <c:extLst>
            <c:ext xmlns:c16="http://schemas.microsoft.com/office/drawing/2014/chart" uri="{C3380CC4-5D6E-409C-BE32-E72D297353CC}">
              <c16:uniqueId val="{00000001-86B5-40D2-9B72-2C783B8CA96D}"/>
            </c:ext>
          </c:extLst>
        </c:ser>
        <c:ser>
          <c:idx val="2"/>
          <c:order val="2"/>
          <c:tx>
            <c:strRef>
              <c:f>Sheet1!$D$1</c:f>
              <c:strCache>
                <c:ptCount val="1"/>
                <c:pt idx="0">
                  <c:v>Jevons</c:v>
                </c:pt>
              </c:strCache>
            </c:strRef>
          </c:tx>
          <c:spPr>
            <a:ln w="38100" cap="flat">
              <a:solidFill>
                <a:srgbClr val="00A86A"/>
              </a:solidFill>
              <a:prstDash val="solid"/>
              <a:round/>
            </a:ln>
            <a:effectLst/>
          </c:spPr>
          <c:marker>
            <c:symbol val="circle"/>
            <c:size val="8"/>
            <c:spPr>
              <a:solidFill>
                <a:srgbClr val="00A86A"/>
              </a:solidFill>
              <a:ln w="9525" cap="flat">
                <a:solidFill>
                  <a:srgbClr val="00A86A"/>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 0</c:v>
                </c:pt>
                <c:pt idx="1">
                  <c:v>Month 1</c:v>
                </c:pt>
                <c:pt idx="2">
                  <c:v>Month 2</c:v>
                </c:pt>
              </c:strCache>
            </c:strRef>
          </c:cat>
          <c:val>
            <c:numRef>
              <c:f>Sheet1!$D$2:$D$4</c:f>
              <c:numCache>
                <c:formatCode>General</c:formatCode>
                <c:ptCount val="3"/>
                <c:pt idx="0">
                  <c:v>100</c:v>
                </c:pt>
                <c:pt idx="1">
                  <c:v>100</c:v>
                </c:pt>
                <c:pt idx="2">
                  <c:v>100</c:v>
                </c:pt>
              </c:numCache>
            </c:numRef>
          </c:val>
          <c:smooth val="0"/>
          <c:extLst>
            <c:ext xmlns:c16="http://schemas.microsoft.com/office/drawing/2014/chart" uri="{C3380CC4-5D6E-409C-BE32-E72D297353CC}">
              <c16:uniqueId val="{00000002-86B5-40D2-9B72-2C783B8CA96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70"/>
          <c:min val="8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Products</c:v>
                </c:pt>
              </c:strCache>
            </c:strRef>
          </c:tx>
          <c:spPr>
            <a:solidFill>
              <a:srgbClr val="00A86A"/>
            </a:solidFill>
            <a:effectLst/>
          </c:spPr>
          <c:invertIfNegative val="0"/>
          <c:dLbls>
            <c:numFmt formatCode="#,##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01</c:v>
                </c:pt>
                <c:pt idx="1">
                  <c:v>05</c:v>
                </c:pt>
                <c:pt idx="2">
                  <c:v>08</c:v>
                </c:pt>
                <c:pt idx="3">
                  <c:v>13</c:v>
                </c:pt>
                <c:pt idx="4">
                  <c:v>03</c:v>
                </c:pt>
                <c:pt idx="5">
                  <c:v>09</c:v>
                </c:pt>
                <c:pt idx="6">
                  <c:v>04</c:v>
                </c:pt>
                <c:pt idx="7">
                  <c:v>06</c:v>
                </c:pt>
                <c:pt idx="8">
                  <c:v>02</c:v>
                </c:pt>
                <c:pt idx="9">
                  <c:v>07</c:v>
                </c:pt>
              </c:strCache>
            </c:strRef>
          </c:cat>
          <c:val>
            <c:numRef>
              <c:f>Sheet1!$B$2:$B$11</c:f>
              <c:numCache>
                <c:formatCode>General</c:formatCode>
                <c:ptCount val="10"/>
                <c:pt idx="0">
                  <c:v>3164</c:v>
                </c:pt>
                <c:pt idx="1">
                  <c:v>2374</c:v>
                </c:pt>
                <c:pt idx="2">
                  <c:v>1753</c:v>
                </c:pt>
                <c:pt idx="3">
                  <c:v>1639</c:v>
                </c:pt>
                <c:pt idx="4">
                  <c:v>911</c:v>
                </c:pt>
                <c:pt idx="5">
                  <c:v>539</c:v>
                </c:pt>
                <c:pt idx="6">
                  <c:v>87</c:v>
                </c:pt>
                <c:pt idx="7">
                  <c:v>33</c:v>
                </c:pt>
                <c:pt idx="8">
                  <c:v>5</c:v>
                </c:pt>
                <c:pt idx="9">
                  <c:v>3</c:v>
                </c:pt>
              </c:numCache>
            </c:numRef>
          </c:val>
          <c:extLst>
            <c:ext xmlns:c16="http://schemas.microsoft.com/office/drawing/2014/chart" uri="{C3380CC4-5D6E-409C-BE32-E72D297353CC}">
              <c16:uniqueId val="{00000000-518C-495E-AA70-E26F60BEF41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200" b="0" i="0" u="none" strike="noStrike">
                    <a:solidFill>
                      <a:srgbClr val="5E6964"/>
                    </a:solidFill>
                    <a:latin typeface="Arial"/>
                  </a:defRPr>
                </a:pPr>
                <a:r>
                  <a:rPr sz="1200" b="0" i="0" u="none" strike="noStrike">
                    <a:solidFill>
                      <a:srgbClr val="5E6964"/>
                    </a:solidFill>
                    <a:latin typeface="Arial"/>
                  </a:rPr>
                  <a:t>COICOP division</a:t>
                </a:r>
              </a:p>
            </c:rich>
          </c:tx>
          <c:overlay val="0"/>
        </c:title>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Where each classification comes from (products)</a:t>
            </a:r>
          </a:p>
        </c:rich>
      </c:tx>
      <c:overlay val="0"/>
    </c:title>
    <c:autoTitleDeleted val="0"/>
    <c:plotArea>
      <c:layout/>
      <c:barChart>
        <c:barDir val="bar"/>
        <c:grouping val="clustered"/>
        <c:varyColors val="0"/>
        <c:ser>
          <c:idx val="0"/>
          <c:order val="0"/>
          <c:tx>
            <c:strRef>
              <c:f>Sheet1!$B$1</c:f>
              <c:strCache>
                <c:ptCount val="1"/>
                <c:pt idx="0">
                  <c:v>Products</c:v>
                </c:pt>
              </c:strCache>
            </c:strRef>
          </c:tx>
          <c:spPr>
            <a:solidFill>
              <a:srgbClr val="00704A"/>
            </a:solidFill>
            <a:effectLst/>
          </c:spPr>
          <c:invertIfNegative val="0"/>
          <c:dLbls>
            <c:numFmt formatCode="#,##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Model (Groq)</c:v>
                </c:pt>
                <c:pt idx="1">
                  <c:v>Model, rules fallback</c:v>
                </c:pt>
                <c:pt idx="2">
                  <c:v>Site category</c:v>
                </c:pt>
                <c:pt idx="3">
                  <c:v>Rules</c:v>
                </c:pt>
              </c:strCache>
            </c:strRef>
          </c:cat>
          <c:val>
            <c:numRef>
              <c:f>Sheet1!$B$2:$B$5</c:f>
              <c:numCache>
                <c:formatCode>General</c:formatCode>
                <c:ptCount val="4"/>
                <c:pt idx="0">
                  <c:v>241</c:v>
                </c:pt>
                <c:pt idx="1">
                  <c:v>260</c:v>
                </c:pt>
                <c:pt idx="2">
                  <c:v>1903</c:v>
                </c:pt>
                <c:pt idx="3">
                  <c:v>8104</c:v>
                </c:pt>
              </c:numCache>
            </c:numRef>
          </c:val>
          <c:extLst>
            <c:ext xmlns:c16="http://schemas.microsoft.com/office/drawing/2014/chart" uri="{C3380CC4-5D6E-409C-BE32-E72D297353CC}">
              <c16:uniqueId val="{00000000-ED3C-4790-A22E-73FDFF8513F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8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on discount</c:v>
                </c:pt>
              </c:strCache>
            </c:strRef>
          </c:tx>
          <c:spPr>
            <a:solidFill>
              <a:srgbClr val="D49A00"/>
            </a:solidFill>
            <a:effectLst/>
          </c:spPr>
          <c:invertIfNegative val="0"/>
          <c:dLbls>
            <c:numFmt formatCode="0&quot;%&quot;"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04 Housing, energy</c:v>
                </c:pt>
                <c:pt idx="1">
                  <c:v>01 Food</c:v>
                </c:pt>
                <c:pt idx="2">
                  <c:v>06 Health</c:v>
                </c:pt>
                <c:pt idx="3">
                  <c:v>05 Household equipment</c:v>
                </c:pt>
                <c:pt idx="4">
                  <c:v>09 Recreation, culture</c:v>
                </c:pt>
                <c:pt idx="5">
                  <c:v>08 Information, comm.</c:v>
                </c:pt>
                <c:pt idx="6">
                  <c:v>13 Personal care, misc.</c:v>
                </c:pt>
                <c:pt idx="7">
                  <c:v>03 Clothing</c:v>
                </c:pt>
              </c:strCache>
            </c:strRef>
          </c:cat>
          <c:val>
            <c:numRef>
              <c:f>Sheet1!$B$2:$B$9</c:f>
              <c:numCache>
                <c:formatCode>General</c:formatCode>
                <c:ptCount val="8"/>
                <c:pt idx="0">
                  <c:v>5</c:v>
                </c:pt>
                <c:pt idx="1">
                  <c:v>9</c:v>
                </c:pt>
                <c:pt idx="2">
                  <c:v>52</c:v>
                </c:pt>
                <c:pt idx="3">
                  <c:v>65</c:v>
                </c:pt>
                <c:pt idx="4">
                  <c:v>70</c:v>
                </c:pt>
                <c:pt idx="5">
                  <c:v>72</c:v>
                </c:pt>
                <c:pt idx="6">
                  <c:v>80</c:v>
                </c:pt>
                <c:pt idx="7">
                  <c:v>83</c:v>
                </c:pt>
              </c:numCache>
            </c:numRef>
          </c:val>
          <c:extLst>
            <c:ext xmlns:c16="http://schemas.microsoft.com/office/drawing/2014/chart" uri="{C3380CC4-5D6E-409C-BE32-E72D297353CC}">
              <c16:uniqueId val="{00000000-EC89-4BCC-ADF0-F025F577813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3179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starts with the indicator itself, the CPI, then moves to how it is built: the basket, the COICOP 2018 classification, price collection and compilation. It ends with a hands-on lab, tested on 14 October 2026 in Côte d'Ivoire, showing what online prices and prices published by institutions can bring to a CPI, and what they cannot.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guide the presentation. First, the CPI has direct consequences for public and private decisions. Second, its quality depends on the basket and the weights, which COICOP 2018 organises. Third, new sources are promising, but our own lab shows they leave whole parts of the basket out of reach.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of acronyms. The BCEAO is the central bank shared by the eight WAEMU states; in the Union, each state's national CPI is the HCPI. The EHCVM is the household survey that provides the weights of the base-2023 HCPI. OCPV, ANARE-CI, CRSE and ARTP are the institutions whose publications feed the lab. French acronyms are kept because they are the official names.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indicator itself, its uses, and what it says about recent inflation.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based on the Consumer Price Index Manual (2020), published jointly by the international statistical organisations. The two key words are "fixed basket" and "constant quality": the CPI compares the prices of the same things over time. The four scope choices are specific to each country. In Senegal, for example, HCPI price collection covers six areas (Dakar, Thiès, Kaolack, Diourbel, Saint-Louis, Kolda), urban and rural.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use has its own requirements: the central bank wants a timely index comparable across countries; indexation requires an index that is never revised; national accounts want consistency with household consumption. Hence the importance of a documented methodology.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WAEMU, the national CPI is the HCPI: its methodology is harmonised across the eight states to support multilateral surveillance. The European HICP pursues the same goal in the EU. The deflator belongs to the national accounts: its weights change every period, so it is not suited to indexation.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BCEAO figures, annual averages. After the 2022 shock (7.4% in WAEMU, 9.7% in Senegal), inflation fell back to 0.0% on average in the Union in 2025. Côte d'Ivoire: 0.1% in 2025; Senegal: 1.4%. Note: year on year, WAEMU inflation was −0.8% in December 2025. Low inflation makes measurement quality even more important: an error of a few tenths changes the diagnosis.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basket, the real heart of the CPI.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Senegal, the weights of the base-2023 HCPI come from the EHCVM 2021-2022, and the classification used (NCOA 2018) is derived from COICOP 2018, with 13 divisions. The item example is illustrative. The basket is fixed between rebasings: that is what makes it possible to compare the prices of the same things over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Division 01 accounts for 4,547 points out of 10,000. The top three divisions total 63.8% of the basket; the four smallest, 3.1%. In practice, an index that tracks electronics very well but food poorly says almost nothing about the cost of living. Division 08 weighs 7.46%, a figure we will meet again in the lab. A comparison with Côte d'Ivoire and WAEMU is possible: the BCEAO 2025 report publishes a "food" share (31.9% in Côte d'Ivoire, 45.7% in Senegal, 37.1% in WAEMU), but without defining exactly what this aggregate covers; quote with caution.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of the COICOP 2018 structure, endorsed by the UN Statistical Commission in March 2018: 15 divisions, 63 groups, 186 classes, 338 subclasses. The product type makes it possible to compute aggregates such as goods and services, closely watched by central banks. Divisions 14 and 15 cover services provided free of charge to households (by non-profits or the state): with no price paid by the household, they are outside the CPI scope.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CPI, the main contribution of COICOP 2018 is the separation of goods and services. Example: a refrigerator delivered and installed used to give one price; now the good, the delivery and the installation fall into different items. The European experience is reassuring: well prepared, the migration changed euro area headline inflation by at most 0.1 point, through rounding. Revisions are concentrated in unprocessed food (up to 1.2 points), because chilled and frozen products were reclassified.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compiling the index, month after month.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steps form the base of the index and only change at rebasing (2023 for the WAEMU HCPI). The last three are repeated every month. The lab presented later works on collection, then reproduces the compilation and aggregation steps on a small scale.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uses online prices (Jumia) and prices published by institutions (administered prices, and market prices collected by the OCPV in Côte d'Ivoire). Scanner data are widely used in Europe; in West Africa, their coverage is limited to large retailers.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month 2, both prices are back exactly to their starting level: the index should be 100. Jevons gives 100 every month: a 50% fall (relative 0.5) and a doubling (relative 2) cancel out exactly. Dutot returns to 100 but depends on price levels. Chained Carli drifts to 156: as an arithmetic mean of price relatives, it systematically overstates when prices bounce, for example with discounts. That is exactly the situation of online prices, hence the choice of Jevons in the lab, which also computes Carli to show this drift.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Young formula uses expenditure weights from a period earlier than the price base period, which is the case for most CPIs. ANSD's methodological note states that Young indices are preferred over Laspeyres. In practice, the difference lies in whether the weights are price-updated.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challenges are amplified for online prices: the catalogue turns over very fast and discounts are everywhere. The lab gives a concrete measure for Côte d'Ivoire: more than 80% of clothing items showed a struck-through price in the October 2026 collection.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the lab. All figures shown come from the actual run of the notebooks on 14 October 2026.</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from a technical finding: collection must start from a workstation, not a data centre. The analysis notebook never touches a retail site: it only reads files, so it can run on Colab with nothing to install. The archive carries a provenance manifest and a checksum guaranteeing the quotes have not been altered.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13 October 2026, ten of fourteen Jumia sites answered HTTP 403 from Colab within 14 to 20 milliseconds. Such a fast reply cannot come from a server in Abidjan: the request was refused by the nearest CDN node, based only on the outgoing address. The same day, from a workstation, jumia.ci and jumia.sn served 11,358 rows. The notebook therefore first checks where requests come from. Ethical principle: a Disallow rule, a captcha or a login wall are the publisher's decisions; they are logged, not bypassed.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2 targets items that online retail cannot measure. Electricity is an administered price: there is no market to observe, the published tariffs must be read. OCPV prices cover the same products as Jumia, but through other channels and for other buyers. The ARTP index is different in nature: it is already an index, base 100 in 2023, the same base as the HCPI. It is therefore kept separate, to be linked at division level.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brought price quotes in divisions 01, 03, 04, 05, 08, 09 and 13, according to the notebook 3 log. Weighted with Senegal's HCPI weights, since no Ivorian weights by division were available, these seven divisions represent 78.4% of the basket. But covering a division does not mean covering it well: online food, for example, mostly reflects packaged products bought by urban consumers. Four divisions, 17.2% of the weight, require field collection or an institutional data exchange. Divisions 02 and 06 have only a few products (5 and 33).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merged archives total 10,523 quotes: 7,759 from Jumia and 2,764 from institutional sources. Fifteen duplicates were removed. Food dominates thanks to OCPV market prices, followed by household equipment and information-communication, which are well represented online. The checksums of both files were verified on loading.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10,508 products, 8,104 were classified by rules, 1,903 by the site category, and about 500 by the language model (Groq, gpt-oss-120b), of which 260 fell back to rules when the API was rate-limited (HTTP 429 errors). Key point: the benchmark ran on the synthetic set. Rules score 99% there because they share its vocabulary; the notebook says so itself. To decide, a sample of real quotes must be annotated: the notebook has prepared 94, stratified by division. Allow one to two hours per hundred products.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the values of the heatmap produced by notebook 3 for October 2026. Struck-through prices are everywhere online for clothing, personal care and electronics, but rare for food and energy, where prices come mostly from markets and tariffs. A struck-through price is not always a real discount: it is often a reference price shown permanently. Hence the value of computing the index on both bases and taking several quotes per month.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be transparent about the lab's status. With a single collection, the notebook shows an index of 100: an index compares two periods. The weights used in the test were equal shares, which makes it a trend indicator, not a measure comparable to the CPI. The 2,900 figure comes from the catalogue turnover chart produced by the notebook. The five checks in the box repeat those of the notebook, plus the two-month condition.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1 and 2 run on the office workstation, notebook 3 on Colab. The demo data set lets you run notebook 3 with no data to see a complete result. Warning from a related project: an Excel workbook silently reduced 970 products to 130 by retyping codes. Hence the Parquet archive with a manifest. Equivalent command without a notebook: python scripts/collect.py --country CI --contact you@institute.org --max-pages 10.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current debates around the CPI, then the summary and next steps.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owner-occupied housing, the ECB noted in 2026 that this item is not yet included in the new HICP classification, and that European statisticians are studying several approaches. On perceived inflation, food weighs 45.5% of the basket in Senegal: a low-income household spends more on it, and therefore feels a rise in food prices more strongly than the average index shows.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Rents are the heaviest non-food item in an African basket: the project registry identifies thirteen rent sources, three of them already collected elsewhere. This is the extension that would add the most. Comparison with the official HCPI is built into notebook 3: just provide the official series as a CSV.</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 this presentation come from these sources. Lab results are those of the actual run on 14 October 2026; the worked example of elementary formulas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lvl1pPr marL="0" indent="0">
              <a:buNone/>
              <a:defRPr lang="en-US" sz="1500" b="1" kern="0" spc="300" dirty="0">
                <a:solidFill>
                  <a:srgbClr val="F5C242"/>
                </a:solidFill>
              </a:defRPr>
            </a:lvl1pPr>
          </a:lstStyle>
          <a:p>
            <a:pPr marL="0" indent="0">
              <a:buNone/>
            </a:pP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lstStyle>
            <a:lvl1pPr marL="0" indent="0" algn="l">
              <a:buNone/>
              <a:defRPr lang="en-US" sz="4200" b="1" dirty="0">
                <a:solidFill>
                  <a:srgbClr val="FFFFFF"/>
                </a:solidFill>
              </a:defRPr>
            </a:lvl1pPr>
          </a:lstStyle>
          <a:p>
            <a:pPr marL="0" indent="0" algn="l">
              <a:buNone/>
            </a:pP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lstStyle>
            <a:lvl1pPr marL="0" indent="0">
              <a:buNone/>
              <a:defRPr lang="en-US" sz="1900" i="1" dirty="0">
                <a:solidFill>
                  <a:srgbClr val="E6F6EE"/>
                </a:solidFill>
              </a:defRPr>
            </a:lvl1pPr>
          </a:lstStyle>
          <a:p>
            <a:pPr marL="0" indent="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lstStyle>
            <a:lvl1pPr marL="0" indent="0">
              <a:buNone/>
              <a:defRPr lang="en-US" sz="11000" b="1" dirty="0">
                <a:solidFill>
                  <a:srgbClr val="F5C242"/>
                </a:solidFill>
              </a:defRPr>
            </a:lvl1pPr>
          </a:lstStyle>
          <a:p>
            <a:pPr marL="0" indent="0">
              <a:buNone/>
            </a:pP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lstStyle>
            <a:lvl1pPr marL="0" indent="0" algn="l">
              <a:buNone/>
              <a:defRPr lang="en-US" sz="4200" b="1" dirty="0">
                <a:solidFill>
                  <a:srgbClr val="FFFFFF"/>
                </a:solidFill>
              </a:defRPr>
            </a:lvl1pPr>
          </a:lstStyle>
          <a:p>
            <a:pPr marL="0" indent="0" algn="l">
              <a:buNone/>
            </a:pP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lstStyle>
            <a:lvl1pPr marL="0" indent="0">
              <a:buNone/>
              <a:defRPr lang="en-US" sz="1900" i="1" dirty="0">
                <a:solidFill>
                  <a:srgbClr val="E6F6EE"/>
                </a:solidFill>
              </a:defRPr>
            </a:lvl1pPr>
          </a:lstStyle>
          <a:p>
            <a:pPr marL="0" indent="0">
              <a:buNone/>
            </a:pPr>
            <a:endParaRPr lang="en-US" sz="1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86A"/>
          </a:solidFill>
          <a:ln/>
        </p:spPr>
      </p:sp>
      <p:sp>
        <p:nvSpPr>
          <p:cNvPr id="3" name="Shape 1"/>
          <p:cNvSpPr/>
          <p:nvPr/>
        </p:nvSpPr>
        <p:spPr>
          <a:xfrm>
            <a:off x="0" y="0"/>
            <a:ext cx="1645920" cy="73152"/>
          </a:xfrm>
          <a:prstGeom prst="rect">
            <a:avLst/>
          </a:prstGeom>
          <a:solidFill>
            <a:srgbClr val="F5C242"/>
          </a:solidFill>
          <a:ln/>
        </p:spPr>
      </p:sp>
      <p:sp>
        <p:nvSpPr>
          <p:cNvPr id="4" name="Text 2"/>
          <p:cNvSpPr>
            <a:spLocks noGrp="1"/>
          </p:cNvSpPr>
          <p:nvPr>
            <p:ph type="body" idx="102" hasCustomPrompt="1"/>
          </p:nvPr>
        </p:nvSpPr>
        <p:spPr>
          <a:xfrm>
            <a:off x="502920" y="292608"/>
            <a:ext cx="8229600" cy="274320"/>
          </a:xfrm>
          <a:prstGeom prst="rect">
            <a:avLst/>
          </a:prstGeom>
          <a:noFill/>
          <a:ln/>
        </p:spPr>
        <p:txBody>
          <a:bodyPr wrap="square" rtlCol="0"/>
          <a:lstStyle>
            <a:lvl1pPr marL="0" indent="0">
              <a:buNone/>
              <a:defRPr lang="en-US" sz="1200" b="1" kern="0" spc="300" dirty="0">
                <a:solidFill>
                  <a:srgbClr val="00704A"/>
                </a:solidFill>
              </a:defRPr>
            </a:lvl1pPr>
          </a:lstStyle>
          <a:p>
            <a:pPr marL="0" indent="0">
              <a:buNone/>
            </a:pPr>
            <a:endParaRPr lang="en-US" sz="1200" dirty="0"/>
          </a:p>
        </p:txBody>
      </p:sp>
      <p:sp>
        <p:nvSpPr>
          <p:cNvPr id="5" name="Text 2"/>
          <p:cNvSpPr>
            <a:spLocks noGrp="1"/>
          </p:cNvSpPr>
          <p:nvPr>
            <p:ph type="title" idx="103" hasCustomPrompt="1"/>
          </p:nvPr>
        </p:nvSpPr>
        <p:spPr>
          <a:xfrm>
            <a:off x="502920" y="566928"/>
            <a:ext cx="11155680" cy="566928"/>
          </a:xfrm>
          <a:prstGeom prst="rect">
            <a:avLst/>
          </a:prstGeom>
          <a:noFill/>
          <a:ln/>
        </p:spPr>
        <p:txBody>
          <a:bodyPr wrap="square" rtlCol="0"/>
          <a:lstStyle>
            <a:lvl1pPr marL="0" indent="0" algn="l">
              <a:buNone/>
              <a:defRPr lang="en-US" sz="3000" b="1" dirty="0">
                <a:solidFill>
                  <a:srgbClr val="231F20"/>
                </a:solidFill>
              </a:defRPr>
            </a:lvl1pPr>
          </a:lstStyle>
          <a:p>
            <a:pPr marL="0" indent="0" algn="l">
              <a:buNone/>
            </a:pPr>
            <a:endParaRPr lang="en-US" sz="3000" dirty="0"/>
          </a:p>
        </p:txBody>
      </p:sp>
      <p:sp>
        <p:nvSpPr>
          <p:cNvPr id="6" name="Text 2"/>
          <p:cNvSpPr>
            <a:spLocks noGrp="1"/>
          </p:cNvSpPr>
          <p:nvPr>
            <p:ph type="body" idx="104" hasCustomPrompt="1"/>
          </p:nvPr>
        </p:nvSpPr>
        <p:spPr>
          <a:xfrm>
            <a:off x="502920" y="1143000"/>
            <a:ext cx="11155680" cy="384048"/>
          </a:xfrm>
          <a:prstGeom prst="rect">
            <a:avLst/>
          </a:prstGeom>
          <a:noFill/>
          <a:ln/>
        </p:spPr>
        <p:txBody>
          <a:bodyPr wrap="square" rtlCol="0"/>
          <a:lstStyle>
            <a:lvl1pPr marL="0" indent="0">
              <a:buNone/>
              <a:defRPr lang="en-US" sz="1500" i="1" dirty="0">
                <a:solidFill>
                  <a:srgbClr val="5E6964"/>
                </a:solidFill>
              </a:defRPr>
            </a:lvl1pPr>
          </a:lstStyle>
          <a:p>
            <a:pPr marL="0" indent="0">
              <a:buNone/>
            </a:pPr>
            <a:endParaRPr lang="en-US" sz="1500" dirty="0"/>
          </a:p>
        </p:txBody>
      </p:sp>
      <p:sp>
        <p:nvSpPr>
          <p:cNvPr id="7" name="Text 2"/>
          <p:cNvSpPr/>
          <p:nvPr/>
        </p:nvSpPr>
        <p:spPr>
          <a:xfrm>
            <a:off x="502920" y="6446520"/>
            <a:ext cx="8229600" cy="256032"/>
          </a:xfrm>
          <a:prstGeom prst="rect">
            <a:avLst/>
          </a:prstGeom>
          <a:noFill/>
          <a:ln/>
        </p:spPr>
        <p:txBody>
          <a:bodyPr wrap="square" lIns="0" tIns="0" rIns="0" bIns="0" rtlCol="0" anchor="ctr"/>
          <a:lstStyle/>
          <a:p>
            <a:pPr marL="0" indent="0">
              <a:buNone/>
            </a:pPr>
            <a:r>
              <a:rPr lang="en-US" sz="1000" dirty="0">
                <a:solidFill>
                  <a:srgbClr val="8A9590"/>
                </a:solidFill>
              </a:rPr>
              <a:t>The consumer price index · from COICOP 2018 to online prices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19.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p>
            <a:pPr marL="0" indent="0">
              <a:buNone/>
            </a:pPr>
            <a:r>
              <a:rPr lang="en-US" sz="1500" b="1" kern="0" spc="300" dirty="0">
                <a:solidFill>
                  <a:srgbClr val="F5C242"/>
                </a:solidFill>
              </a:rPr>
              <a:t>PRICE STATISTICS</a:t>
            </a: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nchor="t"/>
          <a:lstStyle/>
          <a:p>
            <a:pPr marL="0" indent="0" algn="l">
              <a:buNone/>
            </a:pPr>
            <a:r>
              <a:rPr lang="en-US" sz="4200" b="1" dirty="0">
                <a:solidFill>
                  <a:srgbClr val="FFFFFF"/>
                </a:solidFill>
              </a:rPr>
              <a:t>The consumer price index: from COICOP 2018 to online prices</a:t>
            </a: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nchor="t"/>
          <a:lstStyle/>
          <a:p>
            <a:pPr marL="0" indent="0">
              <a:buNone/>
            </a:pPr>
            <a:r>
              <a:rPr lang="en-US" sz="1900" i="1" dirty="0">
                <a:solidFill>
                  <a:srgbClr val="E6F6EE"/>
                </a:solidFill>
              </a:rPr>
              <a:t>Definition, basket, compilation methods, and a hands-on lab in Côte d'Ivoire and Senegal</a:t>
            </a:r>
            <a:endParaRPr lang="en-US" sz="1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INTRODUCTION</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Three key messages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The CPI is a policy instrument before it is a calculation</a:t>
            </a:r>
            <a:endParaRPr lang="en-US" sz="1500" dirty="0"/>
          </a:p>
        </p:txBody>
      </p:sp>
      <p:sp>
        <p:nvSpPr>
          <p:cNvPr id="10" name="Message card 1"/>
          <p:cNvSpPr/>
          <p:nvPr/>
        </p:nvSpPr>
        <p:spPr>
          <a:xfrm>
            <a:off x="502920" y="1828800"/>
            <a:ext cx="3566160" cy="3749040"/>
          </a:xfrm>
          <a:prstGeom prst="roundRect">
            <a:avLst>
              <a:gd name="adj" fmla="val 2051"/>
            </a:avLst>
          </a:prstGeom>
          <a:solidFill>
            <a:srgbClr val="F4F7F5"/>
          </a:solidFill>
          <a:ln w="9525">
            <a:solidFill>
              <a:srgbClr val="D5DED9"/>
            </a:solidFill>
            <a:prstDash val="solid"/>
          </a:ln>
        </p:spPr>
      </p:sp>
      <p:sp>
        <p:nvSpPr>
          <p:cNvPr id="11" name="Message 1 circle"/>
          <p:cNvSpPr/>
          <p:nvPr/>
        </p:nvSpPr>
        <p:spPr>
          <a:xfrm>
            <a:off x="822960" y="2148840"/>
            <a:ext cx="822960" cy="822960"/>
          </a:xfrm>
          <a:prstGeom prst="ellipse">
            <a:avLst/>
          </a:prstGeom>
          <a:solidFill>
            <a:srgbClr val="00A86A">
              <a:alpha val="22000"/>
            </a:srgbClr>
          </a:solidFill>
          <a:ln/>
        </p:spPr>
      </p:sp>
      <p:pic>
        <p:nvPicPr>
          <p:cNvPr id="12" name="Message 1 icon" descr="preencoded.png"/>
          <p:cNvPicPr>
            <a:picLocks noChangeAspect="1"/>
          </p:cNvPicPr>
          <p:nvPr/>
        </p:nvPicPr>
        <p:blipFill>
          <a:blip r:embed="rId3"/>
          <a:stretch>
            <a:fillRect/>
          </a:stretch>
        </p:blipFill>
        <p:spPr>
          <a:xfrm>
            <a:off x="1028700" y="2354580"/>
            <a:ext cx="411480" cy="411480"/>
          </a:xfrm>
          <a:prstGeom prst="rect">
            <a:avLst/>
          </a:prstGeom>
        </p:spPr>
      </p:pic>
      <p:sp>
        <p:nvSpPr>
          <p:cNvPr id="13" name="Text 10"/>
          <p:cNvSpPr txBox="1"/>
          <p:nvPr/>
        </p:nvSpPr>
        <p:spPr>
          <a:xfrm>
            <a:off x="822960"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A high-stakes indicator</a:t>
            </a:r>
            <a:endParaRPr lang="en-US" sz="1900" dirty="0"/>
          </a:p>
        </p:txBody>
      </p:sp>
      <p:sp>
        <p:nvSpPr>
          <p:cNvPr id="14" name="Text 11"/>
          <p:cNvSpPr txBox="1"/>
          <p:nvPr/>
        </p:nvSpPr>
        <p:spPr>
          <a:xfrm>
            <a:off x="822960"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The CPI guides monetary policy, indexes wages and contracts, and deflates the national accounts. A one-point error is paid for everywhere.</a:t>
            </a:r>
            <a:endParaRPr lang="en-US" sz="1500" dirty="0"/>
          </a:p>
        </p:txBody>
      </p:sp>
      <p:sp>
        <p:nvSpPr>
          <p:cNvPr id="15" name="Message card 2"/>
          <p:cNvSpPr/>
          <p:nvPr/>
        </p:nvSpPr>
        <p:spPr>
          <a:xfrm>
            <a:off x="4325112" y="1828800"/>
            <a:ext cx="3566160" cy="3749040"/>
          </a:xfrm>
          <a:prstGeom prst="roundRect">
            <a:avLst>
              <a:gd name="adj" fmla="val 2051"/>
            </a:avLst>
          </a:prstGeom>
          <a:solidFill>
            <a:srgbClr val="F4F7F5"/>
          </a:solidFill>
          <a:ln w="9525">
            <a:solidFill>
              <a:srgbClr val="D5DED9"/>
            </a:solidFill>
            <a:prstDash val="solid"/>
          </a:ln>
        </p:spPr>
      </p:sp>
      <p:sp>
        <p:nvSpPr>
          <p:cNvPr id="16" name="Message 2 circle"/>
          <p:cNvSpPr/>
          <p:nvPr/>
        </p:nvSpPr>
        <p:spPr>
          <a:xfrm>
            <a:off x="4645152" y="2148840"/>
            <a:ext cx="822960" cy="822960"/>
          </a:xfrm>
          <a:prstGeom prst="ellipse">
            <a:avLst/>
          </a:prstGeom>
          <a:solidFill>
            <a:srgbClr val="00704A">
              <a:alpha val="22000"/>
            </a:srgbClr>
          </a:solidFill>
          <a:ln/>
        </p:spPr>
      </p:sp>
      <p:pic>
        <p:nvPicPr>
          <p:cNvPr id="17" name="Message 2 icon" descr="preencoded.png"/>
          <p:cNvPicPr>
            <a:picLocks noChangeAspect="1"/>
          </p:cNvPicPr>
          <p:nvPr/>
        </p:nvPicPr>
        <p:blipFill>
          <a:blip r:embed="rId4"/>
          <a:stretch>
            <a:fillRect/>
          </a:stretch>
        </p:blipFill>
        <p:spPr>
          <a:xfrm>
            <a:off x="4850892" y="2354580"/>
            <a:ext cx="411480" cy="411480"/>
          </a:xfrm>
          <a:prstGeom prst="rect">
            <a:avLst/>
          </a:prstGeom>
        </p:spPr>
      </p:pic>
      <p:sp>
        <p:nvSpPr>
          <p:cNvPr id="18" name="Text 14"/>
          <p:cNvSpPr txBox="1"/>
          <p:nvPr/>
        </p:nvSpPr>
        <p:spPr>
          <a:xfrm>
            <a:off x="4645152"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It all starts with the basket</a:t>
            </a:r>
            <a:endParaRPr lang="en-US" sz="1900" dirty="0"/>
          </a:p>
        </p:txBody>
      </p:sp>
      <p:sp>
        <p:nvSpPr>
          <p:cNvPr id="19" name="Text 15"/>
          <p:cNvSpPr txBox="1"/>
          <p:nvPr/>
        </p:nvSpPr>
        <p:spPr>
          <a:xfrm>
            <a:off x="4645152"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What we measure depends on what goes into the basket and how much weight it gets. COICOP 2018 structures the basket across WAEMU since the 2023 base.</a:t>
            </a:r>
            <a:endParaRPr lang="en-US" sz="1500" dirty="0"/>
          </a:p>
        </p:txBody>
      </p:sp>
      <p:sp>
        <p:nvSpPr>
          <p:cNvPr id="20" name="Message card 3"/>
          <p:cNvSpPr/>
          <p:nvPr/>
        </p:nvSpPr>
        <p:spPr>
          <a:xfrm>
            <a:off x="8147304" y="1828800"/>
            <a:ext cx="3566160" cy="3749040"/>
          </a:xfrm>
          <a:prstGeom prst="roundRect">
            <a:avLst>
              <a:gd name="adj" fmla="val 2051"/>
            </a:avLst>
          </a:prstGeom>
          <a:solidFill>
            <a:srgbClr val="F4F7F5"/>
          </a:solidFill>
          <a:ln w="9525">
            <a:solidFill>
              <a:srgbClr val="D5DED9"/>
            </a:solidFill>
            <a:prstDash val="solid"/>
          </a:ln>
        </p:spPr>
      </p:sp>
      <p:sp>
        <p:nvSpPr>
          <p:cNvPr id="21" name="Message 3 circle"/>
          <p:cNvSpPr/>
          <p:nvPr/>
        </p:nvSpPr>
        <p:spPr>
          <a:xfrm>
            <a:off x="8467344" y="2148840"/>
            <a:ext cx="822960" cy="822960"/>
          </a:xfrm>
          <a:prstGeom prst="ellipse">
            <a:avLst/>
          </a:prstGeom>
          <a:solidFill>
            <a:srgbClr val="D49A00">
              <a:alpha val="22000"/>
            </a:srgbClr>
          </a:solidFill>
          <a:ln/>
        </p:spPr>
      </p:sp>
      <p:pic>
        <p:nvPicPr>
          <p:cNvPr id="22" name="Message 3 icon" descr="preencoded.png"/>
          <p:cNvPicPr>
            <a:picLocks noChangeAspect="1"/>
          </p:cNvPicPr>
          <p:nvPr/>
        </p:nvPicPr>
        <p:blipFill>
          <a:blip r:embed="rId5"/>
          <a:stretch>
            <a:fillRect/>
          </a:stretch>
        </p:blipFill>
        <p:spPr>
          <a:xfrm>
            <a:off x="8673084" y="2354580"/>
            <a:ext cx="411480" cy="411480"/>
          </a:xfrm>
          <a:prstGeom prst="rect">
            <a:avLst/>
          </a:prstGeom>
        </p:spPr>
      </p:pic>
      <p:sp>
        <p:nvSpPr>
          <p:cNvPr id="23" name="Text 18"/>
          <p:cNvSpPr txBox="1"/>
          <p:nvPr/>
        </p:nvSpPr>
        <p:spPr>
          <a:xfrm>
            <a:off x="8467344"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New sources</a:t>
            </a:r>
            <a:endParaRPr lang="en-US" sz="1900" dirty="0"/>
          </a:p>
        </p:txBody>
      </p:sp>
      <p:sp>
        <p:nvSpPr>
          <p:cNvPr id="24" name="Text 19"/>
          <p:cNvSpPr txBox="1"/>
          <p:nvPr/>
        </p:nvSpPr>
        <p:spPr>
          <a:xfrm>
            <a:off x="8467344"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In our lab, online prices and prices published by institutions cover 7 of 13 divisions. A useful complement, not a substitute.</a:t>
            </a:r>
            <a:endParaRPr lang="en-US" sz="15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INTRODUCTION</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Acronyms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Institutions and technical terms used in this presentation</a:t>
            </a:r>
            <a:endParaRPr lang="en-US" sz="1500" dirty="0"/>
          </a:p>
        </p:txBody>
      </p:sp>
      <p:sp>
        <p:nvSpPr>
          <p:cNvPr id="10" name="Acronym CPI"/>
          <p:cNvSpPr/>
          <p:nvPr/>
        </p:nvSpPr>
        <p:spPr>
          <a:xfrm>
            <a:off x="502920" y="1691640"/>
            <a:ext cx="5440680" cy="521208"/>
          </a:xfrm>
          <a:prstGeom prst="roundRect">
            <a:avLst>
              <a:gd name="adj" fmla="val 14035"/>
            </a:avLst>
          </a:prstGeom>
          <a:solidFill>
            <a:srgbClr val="F4F7F5"/>
          </a:solidFill>
          <a:ln w="9525">
            <a:solidFill>
              <a:srgbClr val="D5DED9"/>
            </a:solidFill>
            <a:prstDash val="solid"/>
          </a:ln>
        </p:spPr>
      </p:sp>
      <p:sp>
        <p:nvSpPr>
          <p:cNvPr id="11" name="Chip CPI"/>
          <p:cNvSpPr txBox="1"/>
          <p:nvPr/>
        </p:nvSpPr>
        <p:spPr>
          <a:xfrm>
            <a:off x="612648" y="1783080"/>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CPI</a:t>
            </a:r>
            <a:endParaRPr lang="en-US" sz="1200" dirty="0"/>
          </a:p>
        </p:txBody>
      </p:sp>
      <p:sp>
        <p:nvSpPr>
          <p:cNvPr id="12" name="Text 10"/>
          <p:cNvSpPr txBox="1"/>
          <p:nvPr/>
        </p:nvSpPr>
        <p:spPr>
          <a:xfrm>
            <a:off x="1965960" y="1691640"/>
            <a:ext cx="3886200" cy="521208"/>
          </a:xfrm>
          <a:prstGeom prst="rect">
            <a:avLst/>
          </a:prstGeom>
          <a:noFill/>
          <a:ln/>
        </p:spPr>
        <p:txBody>
          <a:bodyPr wrap="square" lIns="0" tIns="0" rIns="0" bIns="0" rtlCol="0" anchor="ctr"/>
          <a:lstStyle/>
          <a:p>
            <a:pPr marL="0" indent="0">
              <a:buNone/>
            </a:pPr>
            <a:r>
              <a:rPr lang="en-US" sz="1300" dirty="0">
                <a:solidFill>
                  <a:srgbClr val="231F20"/>
                </a:solidFill>
              </a:rPr>
              <a:t>Consumer price index</a:t>
            </a:r>
            <a:endParaRPr lang="en-US" sz="1300" dirty="0"/>
          </a:p>
        </p:txBody>
      </p:sp>
      <p:sp>
        <p:nvSpPr>
          <p:cNvPr id="13" name="Acronym HCPI"/>
          <p:cNvSpPr/>
          <p:nvPr/>
        </p:nvSpPr>
        <p:spPr>
          <a:xfrm>
            <a:off x="6172200" y="1691640"/>
            <a:ext cx="5440680" cy="521208"/>
          </a:xfrm>
          <a:prstGeom prst="roundRect">
            <a:avLst>
              <a:gd name="adj" fmla="val 14035"/>
            </a:avLst>
          </a:prstGeom>
          <a:solidFill>
            <a:srgbClr val="F4F7F5"/>
          </a:solidFill>
          <a:ln w="9525">
            <a:solidFill>
              <a:srgbClr val="D5DED9"/>
            </a:solidFill>
            <a:prstDash val="solid"/>
          </a:ln>
        </p:spPr>
      </p:sp>
      <p:sp>
        <p:nvSpPr>
          <p:cNvPr id="14" name="Chip HCPI"/>
          <p:cNvSpPr txBox="1"/>
          <p:nvPr/>
        </p:nvSpPr>
        <p:spPr>
          <a:xfrm>
            <a:off x="6281928" y="1783080"/>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HCPI</a:t>
            </a:r>
            <a:endParaRPr lang="en-US" sz="1200" dirty="0"/>
          </a:p>
        </p:txBody>
      </p:sp>
      <p:sp>
        <p:nvSpPr>
          <p:cNvPr id="15" name="Text 13"/>
          <p:cNvSpPr txBox="1"/>
          <p:nvPr/>
        </p:nvSpPr>
        <p:spPr>
          <a:xfrm>
            <a:off x="7635240" y="1691640"/>
            <a:ext cx="3886200" cy="521208"/>
          </a:xfrm>
          <a:prstGeom prst="rect">
            <a:avLst/>
          </a:prstGeom>
          <a:noFill/>
          <a:ln/>
        </p:spPr>
        <p:txBody>
          <a:bodyPr wrap="square" lIns="0" tIns="0" rIns="0" bIns="0" rtlCol="0" anchor="ctr"/>
          <a:lstStyle/>
          <a:p>
            <a:pPr marL="0" indent="0">
              <a:buNone/>
            </a:pPr>
            <a:r>
              <a:rPr lang="en-US" sz="1300" dirty="0">
                <a:solidFill>
                  <a:srgbClr val="231F20"/>
                </a:solidFill>
              </a:rPr>
              <a:t>Harmonised consumer price index (WAEMU)</a:t>
            </a:r>
            <a:endParaRPr lang="en-US" sz="1300" dirty="0"/>
          </a:p>
        </p:txBody>
      </p:sp>
      <p:sp>
        <p:nvSpPr>
          <p:cNvPr id="16" name="Acronym HICP"/>
          <p:cNvSpPr/>
          <p:nvPr/>
        </p:nvSpPr>
        <p:spPr>
          <a:xfrm>
            <a:off x="502920" y="2304288"/>
            <a:ext cx="5440680" cy="521208"/>
          </a:xfrm>
          <a:prstGeom prst="roundRect">
            <a:avLst>
              <a:gd name="adj" fmla="val 14035"/>
            </a:avLst>
          </a:prstGeom>
          <a:solidFill>
            <a:srgbClr val="F4F7F5"/>
          </a:solidFill>
          <a:ln w="9525">
            <a:solidFill>
              <a:srgbClr val="D5DED9"/>
            </a:solidFill>
            <a:prstDash val="solid"/>
          </a:ln>
        </p:spPr>
      </p:sp>
      <p:sp>
        <p:nvSpPr>
          <p:cNvPr id="17" name="Chip HICP"/>
          <p:cNvSpPr txBox="1"/>
          <p:nvPr/>
        </p:nvSpPr>
        <p:spPr>
          <a:xfrm>
            <a:off x="612648" y="2395728"/>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HICP</a:t>
            </a:r>
            <a:endParaRPr lang="en-US" sz="1200" dirty="0"/>
          </a:p>
        </p:txBody>
      </p:sp>
      <p:sp>
        <p:nvSpPr>
          <p:cNvPr id="18" name="Text 16"/>
          <p:cNvSpPr txBox="1"/>
          <p:nvPr/>
        </p:nvSpPr>
        <p:spPr>
          <a:xfrm>
            <a:off x="1965960" y="2304288"/>
            <a:ext cx="3886200" cy="521208"/>
          </a:xfrm>
          <a:prstGeom prst="rect">
            <a:avLst/>
          </a:prstGeom>
          <a:noFill/>
          <a:ln/>
        </p:spPr>
        <p:txBody>
          <a:bodyPr wrap="square" lIns="0" tIns="0" rIns="0" bIns="0" rtlCol="0" anchor="ctr"/>
          <a:lstStyle/>
          <a:p>
            <a:pPr marL="0" indent="0">
              <a:buNone/>
            </a:pPr>
            <a:r>
              <a:rPr lang="en-US" sz="1300" dirty="0">
                <a:solidFill>
                  <a:srgbClr val="231F20"/>
                </a:solidFill>
              </a:rPr>
              <a:t>Harmonised index of consumer prices (European Union)</a:t>
            </a:r>
            <a:endParaRPr lang="en-US" sz="1300" dirty="0"/>
          </a:p>
        </p:txBody>
      </p:sp>
      <p:sp>
        <p:nvSpPr>
          <p:cNvPr id="19" name="Acronym COICOP"/>
          <p:cNvSpPr/>
          <p:nvPr/>
        </p:nvSpPr>
        <p:spPr>
          <a:xfrm>
            <a:off x="6172200" y="2304288"/>
            <a:ext cx="5440680" cy="521208"/>
          </a:xfrm>
          <a:prstGeom prst="roundRect">
            <a:avLst>
              <a:gd name="adj" fmla="val 14035"/>
            </a:avLst>
          </a:prstGeom>
          <a:solidFill>
            <a:srgbClr val="F4F7F5"/>
          </a:solidFill>
          <a:ln w="9525">
            <a:solidFill>
              <a:srgbClr val="D5DED9"/>
            </a:solidFill>
            <a:prstDash val="solid"/>
          </a:ln>
        </p:spPr>
      </p:sp>
      <p:sp>
        <p:nvSpPr>
          <p:cNvPr id="20" name="Chip COICOP"/>
          <p:cNvSpPr txBox="1"/>
          <p:nvPr/>
        </p:nvSpPr>
        <p:spPr>
          <a:xfrm>
            <a:off x="6281928" y="2395728"/>
            <a:ext cx="1188720" cy="338328"/>
          </a:xfrm>
          <a:prstGeom prst="roundRect">
            <a:avLst>
              <a:gd name="adj" fmla="val 21622"/>
            </a:avLst>
          </a:prstGeom>
          <a:solidFill>
            <a:srgbClr val="00704A"/>
          </a:solidFill>
          <a:ln/>
        </p:spPr>
        <p:txBody>
          <a:bodyPr wrap="square" lIns="0" tIns="0" rIns="0" bIns="0" rtlCol="0" anchor="ctr"/>
          <a:lstStyle/>
          <a:p>
            <a:pPr marL="0" indent="0" algn="ctr">
              <a:buNone/>
            </a:pPr>
            <a:r>
              <a:rPr lang="en-US" sz="1200" b="1" dirty="0">
                <a:solidFill>
                  <a:srgbClr val="FFFFFF"/>
                </a:solidFill>
              </a:rPr>
              <a:t>COICOP</a:t>
            </a:r>
            <a:endParaRPr lang="en-US" sz="1200" dirty="0"/>
          </a:p>
        </p:txBody>
      </p:sp>
      <p:sp>
        <p:nvSpPr>
          <p:cNvPr id="21" name="Text 19"/>
          <p:cNvSpPr txBox="1"/>
          <p:nvPr/>
        </p:nvSpPr>
        <p:spPr>
          <a:xfrm>
            <a:off x="7635240" y="2304288"/>
            <a:ext cx="3886200" cy="521208"/>
          </a:xfrm>
          <a:prstGeom prst="rect">
            <a:avLst/>
          </a:prstGeom>
          <a:noFill/>
          <a:ln/>
        </p:spPr>
        <p:txBody>
          <a:bodyPr wrap="square" lIns="0" tIns="0" rIns="0" bIns="0" rtlCol="0" anchor="ctr"/>
          <a:lstStyle/>
          <a:p>
            <a:pPr marL="0" indent="0">
              <a:buNone/>
            </a:pPr>
            <a:r>
              <a:rPr lang="en-US" sz="1300" dirty="0">
                <a:solidFill>
                  <a:srgbClr val="231F20"/>
                </a:solidFill>
              </a:rPr>
              <a:t>Classification of Individual Consumption According to Purpose (United Nations)</a:t>
            </a:r>
            <a:endParaRPr lang="en-US" sz="1300" dirty="0"/>
          </a:p>
        </p:txBody>
      </p:sp>
      <p:sp>
        <p:nvSpPr>
          <p:cNvPr id="22" name="Acronym WAEMU"/>
          <p:cNvSpPr/>
          <p:nvPr/>
        </p:nvSpPr>
        <p:spPr>
          <a:xfrm>
            <a:off x="502920" y="2916936"/>
            <a:ext cx="5440680" cy="521208"/>
          </a:xfrm>
          <a:prstGeom prst="roundRect">
            <a:avLst>
              <a:gd name="adj" fmla="val 14035"/>
            </a:avLst>
          </a:prstGeom>
          <a:solidFill>
            <a:srgbClr val="F4F7F5"/>
          </a:solidFill>
          <a:ln w="9525">
            <a:solidFill>
              <a:srgbClr val="D5DED9"/>
            </a:solidFill>
            <a:prstDash val="solid"/>
          </a:ln>
        </p:spPr>
      </p:sp>
      <p:sp>
        <p:nvSpPr>
          <p:cNvPr id="23" name="Chip WAEMU"/>
          <p:cNvSpPr txBox="1"/>
          <p:nvPr/>
        </p:nvSpPr>
        <p:spPr>
          <a:xfrm>
            <a:off x="612648" y="3008376"/>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WAEMU</a:t>
            </a:r>
            <a:endParaRPr lang="en-US" sz="1200" dirty="0"/>
          </a:p>
        </p:txBody>
      </p:sp>
      <p:sp>
        <p:nvSpPr>
          <p:cNvPr id="24" name="Text 22"/>
          <p:cNvSpPr txBox="1"/>
          <p:nvPr/>
        </p:nvSpPr>
        <p:spPr>
          <a:xfrm>
            <a:off x="1965960" y="2916936"/>
            <a:ext cx="3886200" cy="521208"/>
          </a:xfrm>
          <a:prstGeom prst="rect">
            <a:avLst/>
          </a:prstGeom>
          <a:noFill/>
          <a:ln/>
        </p:spPr>
        <p:txBody>
          <a:bodyPr wrap="square" lIns="0" tIns="0" rIns="0" bIns="0" rtlCol="0" anchor="ctr"/>
          <a:lstStyle/>
          <a:p>
            <a:pPr marL="0" indent="0">
              <a:buNone/>
            </a:pPr>
            <a:r>
              <a:rPr lang="en-US" sz="1300" dirty="0">
                <a:solidFill>
                  <a:srgbClr val="231F20"/>
                </a:solidFill>
              </a:rPr>
              <a:t>West African Economic and Monetary Union</a:t>
            </a:r>
            <a:endParaRPr lang="en-US" sz="1300" dirty="0"/>
          </a:p>
        </p:txBody>
      </p:sp>
      <p:sp>
        <p:nvSpPr>
          <p:cNvPr id="25" name="Acronym BCEAO"/>
          <p:cNvSpPr/>
          <p:nvPr/>
        </p:nvSpPr>
        <p:spPr>
          <a:xfrm>
            <a:off x="6172200" y="2916936"/>
            <a:ext cx="5440680" cy="521208"/>
          </a:xfrm>
          <a:prstGeom prst="roundRect">
            <a:avLst>
              <a:gd name="adj" fmla="val 14035"/>
            </a:avLst>
          </a:prstGeom>
          <a:solidFill>
            <a:srgbClr val="F4F7F5"/>
          </a:solidFill>
          <a:ln w="9525">
            <a:solidFill>
              <a:srgbClr val="D5DED9"/>
            </a:solidFill>
            <a:prstDash val="solid"/>
          </a:ln>
        </p:spPr>
      </p:sp>
      <p:sp>
        <p:nvSpPr>
          <p:cNvPr id="26" name="Chip BCEAO"/>
          <p:cNvSpPr txBox="1"/>
          <p:nvPr/>
        </p:nvSpPr>
        <p:spPr>
          <a:xfrm>
            <a:off x="6281928" y="3008376"/>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BCEAO</a:t>
            </a:r>
            <a:endParaRPr lang="en-US" sz="1200" dirty="0"/>
          </a:p>
        </p:txBody>
      </p:sp>
      <p:sp>
        <p:nvSpPr>
          <p:cNvPr id="27" name="Text 25"/>
          <p:cNvSpPr txBox="1"/>
          <p:nvPr/>
        </p:nvSpPr>
        <p:spPr>
          <a:xfrm>
            <a:off x="7635240" y="2916936"/>
            <a:ext cx="3886200" cy="521208"/>
          </a:xfrm>
          <a:prstGeom prst="rect">
            <a:avLst/>
          </a:prstGeom>
          <a:noFill/>
          <a:ln/>
        </p:spPr>
        <p:txBody>
          <a:bodyPr wrap="square" lIns="0" tIns="0" rIns="0" bIns="0" rtlCol="0" anchor="ctr"/>
          <a:lstStyle/>
          <a:p>
            <a:pPr marL="0" indent="0">
              <a:buNone/>
            </a:pPr>
            <a:r>
              <a:rPr lang="en-US" sz="1300" dirty="0">
                <a:solidFill>
                  <a:srgbClr val="231F20"/>
                </a:solidFill>
              </a:rPr>
              <a:t>Central Bank of West African States</a:t>
            </a:r>
            <a:endParaRPr lang="en-US" sz="1300" dirty="0"/>
          </a:p>
        </p:txBody>
      </p:sp>
      <p:sp>
        <p:nvSpPr>
          <p:cNvPr id="28" name="Acronym ECB"/>
          <p:cNvSpPr/>
          <p:nvPr/>
        </p:nvSpPr>
        <p:spPr>
          <a:xfrm>
            <a:off x="502920" y="3529584"/>
            <a:ext cx="5440680" cy="521208"/>
          </a:xfrm>
          <a:prstGeom prst="roundRect">
            <a:avLst>
              <a:gd name="adj" fmla="val 14035"/>
            </a:avLst>
          </a:prstGeom>
          <a:solidFill>
            <a:srgbClr val="F4F7F5"/>
          </a:solidFill>
          <a:ln w="9525">
            <a:solidFill>
              <a:srgbClr val="D5DED9"/>
            </a:solidFill>
            <a:prstDash val="solid"/>
          </a:ln>
        </p:spPr>
      </p:sp>
      <p:sp>
        <p:nvSpPr>
          <p:cNvPr id="29" name="Chip ECB"/>
          <p:cNvSpPr txBox="1"/>
          <p:nvPr/>
        </p:nvSpPr>
        <p:spPr>
          <a:xfrm>
            <a:off x="612648" y="3621024"/>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ECB</a:t>
            </a:r>
            <a:endParaRPr lang="en-US" sz="1200" dirty="0"/>
          </a:p>
        </p:txBody>
      </p:sp>
      <p:sp>
        <p:nvSpPr>
          <p:cNvPr id="30" name="Text 28"/>
          <p:cNvSpPr txBox="1"/>
          <p:nvPr/>
        </p:nvSpPr>
        <p:spPr>
          <a:xfrm>
            <a:off x="1965960" y="3529584"/>
            <a:ext cx="3886200" cy="521208"/>
          </a:xfrm>
          <a:prstGeom prst="rect">
            <a:avLst/>
          </a:prstGeom>
          <a:noFill/>
          <a:ln/>
        </p:spPr>
        <p:txBody>
          <a:bodyPr wrap="square" lIns="0" tIns="0" rIns="0" bIns="0" rtlCol="0" anchor="ctr"/>
          <a:lstStyle/>
          <a:p>
            <a:pPr marL="0" indent="0">
              <a:buNone/>
            </a:pPr>
            <a:r>
              <a:rPr lang="en-US" sz="1300" dirty="0">
                <a:solidFill>
                  <a:srgbClr val="231F20"/>
                </a:solidFill>
              </a:rPr>
              <a:t>European Central Bank</a:t>
            </a:r>
            <a:endParaRPr lang="en-US" sz="1300" dirty="0"/>
          </a:p>
        </p:txBody>
      </p:sp>
      <p:sp>
        <p:nvSpPr>
          <p:cNvPr id="31" name="Acronym EHCVM"/>
          <p:cNvSpPr/>
          <p:nvPr/>
        </p:nvSpPr>
        <p:spPr>
          <a:xfrm>
            <a:off x="6172200" y="3529584"/>
            <a:ext cx="5440680" cy="521208"/>
          </a:xfrm>
          <a:prstGeom prst="roundRect">
            <a:avLst>
              <a:gd name="adj" fmla="val 14035"/>
            </a:avLst>
          </a:prstGeom>
          <a:solidFill>
            <a:srgbClr val="F4F7F5"/>
          </a:solidFill>
          <a:ln w="9525">
            <a:solidFill>
              <a:srgbClr val="D5DED9"/>
            </a:solidFill>
            <a:prstDash val="solid"/>
          </a:ln>
        </p:spPr>
      </p:sp>
      <p:sp>
        <p:nvSpPr>
          <p:cNvPr id="32" name="Chip EHCVM"/>
          <p:cNvSpPr txBox="1"/>
          <p:nvPr/>
        </p:nvSpPr>
        <p:spPr>
          <a:xfrm>
            <a:off x="6281928" y="3621024"/>
            <a:ext cx="1188720" cy="338328"/>
          </a:xfrm>
          <a:prstGeom prst="roundRect">
            <a:avLst>
              <a:gd name="adj" fmla="val 21622"/>
            </a:avLst>
          </a:prstGeom>
          <a:solidFill>
            <a:srgbClr val="00704A"/>
          </a:solidFill>
          <a:ln/>
        </p:spPr>
        <p:txBody>
          <a:bodyPr wrap="square" lIns="0" tIns="0" rIns="0" bIns="0" rtlCol="0" anchor="ctr"/>
          <a:lstStyle/>
          <a:p>
            <a:pPr marL="0" indent="0" algn="ctr">
              <a:buNone/>
            </a:pPr>
            <a:r>
              <a:rPr lang="en-US" sz="1200" b="1" dirty="0">
                <a:solidFill>
                  <a:srgbClr val="FFFFFF"/>
                </a:solidFill>
              </a:rPr>
              <a:t>EHCVM</a:t>
            </a:r>
            <a:endParaRPr lang="en-US" sz="1200" dirty="0"/>
          </a:p>
        </p:txBody>
      </p:sp>
      <p:sp>
        <p:nvSpPr>
          <p:cNvPr id="33" name="Text 31"/>
          <p:cNvSpPr txBox="1"/>
          <p:nvPr/>
        </p:nvSpPr>
        <p:spPr>
          <a:xfrm>
            <a:off x="7635240" y="3529584"/>
            <a:ext cx="3886200" cy="521208"/>
          </a:xfrm>
          <a:prstGeom prst="rect">
            <a:avLst/>
          </a:prstGeom>
          <a:noFill/>
          <a:ln/>
        </p:spPr>
        <p:txBody>
          <a:bodyPr wrap="square" lIns="0" tIns="0" rIns="0" bIns="0" rtlCol="0" anchor="ctr"/>
          <a:lstStyle/>
          <a:p>
            <a:pPr marL="0" indent="0">
              <a:buNone/>
            </a:pPr>
            <a:r>
              <a:rPr lang="en-US" sz="1300" dirty="0">
                <a:solidFill>
                  <a:srgbClr val="231F20"/>
                </a:solidFill>
              </a:rPr>
              <a:t>Harmonised survey on household living conditions (WAEMU)</a:t>
            </a:r>
            <a:endParaRPr lang="en-US" sz="1300" dirty="0"/>
          </a:p>
        </p:txBody>
      </p:sp>
      <p:sp>
        <p:nvSpPr>
          <p:cNvPr id="34" name="Acronym ANSD"/>
          <p:cNvSpPr/>
          <p:nvPr/>
        </p:nvSpPr>
        <p:spPr>
          <a:xfrm>
            <a:off x="502920" y="4142232"/>
            <a:ext cx="5440680" cy="521208"/>
          </a:xfrm>
          <a:prstGeom prst="roundRect">
            <a:avLst>
              <a:gd name="adj" fmla="val 14035"/>
            </a:avLst>
          </a:prstGeom>
          <a:solidFill>
            <a:srgbClr val="F4F7F5"/>
          </a:solidFill>
          <a:ln w="9525">
            <a:solidFill>
              <a:srgbClr val="D5DED9"/>
            </a:solidFill>
            <a:prstDash val="solid"/>
          </a:ln>
        </p:spPr>
      </p:sp>
      <p:sp>
        <p:nvSpPr>
          <p:cNvPr id="35" name="Chip ANSD"/>
          <p:cNvSpPr txBox="1"/>
          <p:nvPr/>
        </p:nvSpPr>
        <p:spPr>
          <a:xfrm>
            <a:off x="612648" y="4233672"/>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ANSD</a:t>
            </a:r>
            <a:endParaRPr lang="en-US" sz="1200" dirty="0"/>
          </a:p>
        </p:txBody>
      </p:sp>
      <p:sp>
        <p:nvSpPr>
          <p:cNvPr id="36" name="Text 34"/>
          <p:cNvSpPr txBox="1"/>
          <p:nvPr/>
        </p:nvSpPr>
        <p:spPr>
          <a:xfrm>
            <a:off x="1965960" y="4142232"/>
            <a:ext cx="3886200" cy="521208"/>
          </a:xfrm>
          <a:prstGeom prst="rect">
            <a:avLst/>
          </a:prstGeom>
          <a:noFill/>
          <a:ln/>
        </p:spPr>
        <p:txBody>
          <a:bodyPr wrap="square" lIns="0" tIns="0" rIns="0" bIns="0" rtlCol="0" anchor="ctr"/>
          <a:lstStyle/>
          <a:p>
            <a:pPr marL="0" indent="0">
              <a:buNone/>
            </a:pPr>
            <a:r>
              <a:rPr lang="en-US" sz="1300" dirty="0">
                <a:solidFill>
                  <a:srgbClr val="231F20"/>
                </a:solidFill>
              </a:rPr>
              <a:t>National Agency of Statistics and Demography (Senegal)</a:t>
            </a:r>
            <a:endParaRPr lang="en-US" sz="1300" dirty="0"/>
          </a:p>
        </p:txBody>
      </p:sp>
      <p:sp>
        <p:nvSpPr>
          <p:cNvPr id="37" name="Acronym OCPV"/>
          <p:cNvSpPr/>
          <p:nvPr/>
        </p:nvSpPr>
        <p:spPr>
          <a:xfrm>
            <a:off x="6172200" y="4142232"/>
            <a:ext cx="5440680" cy="521208"/>
          </a:xfrm>
          <a:prstGeom prst="roundRect">
            <a:avLst>
              <a:gd name="adj" fmla="val 14035"/>
            </a:avLst>
          </a:prstGeom>
          <a:solidFill>
            <a:srgbClr val="F4F7F5"/>
          </a:solidFill>
          <a:ln w="9525">
            <a:solidFill>
              <a:srgbClr val="D5DED9"/>
            </a:solidFill>
            <a:prstDash val="solid"/>
          </a:ln>
        </p:spPr>
      </p:sp>
      <p:sp>
        <p:nvSpPr>
          <p:cNvPr id="38" name="Chip OCPV"/>
          <p:cNvSpPr txBox="1"/>
          <p:nvPr/>
        </p:nvSpPr>
        <p:spPr>
          <a:xfrm>
            <a:off x="6281928" y="4233672"/>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OCPV</a:t>
            </a:r>
            <a:endParaRPr lang="en-US" sz="1200" dirty="0"/>
          </a:p>
        </p:txBody>
      </p:sp>
      <p:sp>
        <p:nvSpPr>
          <p:cNvPr id="39" name="Text 37"/>
          <p:cNvSpPr txBox="1"/>
          <p:nvPr/>
        </p:nvSpPr>
        <p:spPr>
          <a:xfrm>
            <a:off x="7635240" y="4142232"/>
            <a:ext cx="3886200" cy="521208"/>
          </a:xfrm>
          <a:prstGeom prst="rect">
            <a:avLst/>
          </a:prstGeom>
          <a:noFill/>
          <a:ln/>
        </p:spPr>
        <p:txBody>
          <a:bodyPr wrap="square" lIns="0" tIns="0" rIns="0" bIns="0" rtlCol="0" anchor="ctr"/>
          <a:lstStyle/>
          <a:p>
            <a:pPr marL="0" indent="0">
              <a:buNone/>
            </a:pPr>
            <a:r>
              <a:rPr lang="en-US" sz="1300" dirty="0">
                <a:solidFill>
                  <a:srgbClr val="231F20"/>
                </a:solidFill>
              </a:rPr>
              <a:t>Food products marketing support office (Côte d'Ivoire)</a:t>
            </a:r>
            <a:endParaRPr lang="en-US" sz="1300" dirty="0"/>
          </a:p>
        </p:txBody>
      </p:sp>
      <p:sp>
        <p:nvSpPr>
          <p:cNvPr id="40" name="Acronym ANARE-CI"/>
          <p:cNvSpPr/>
          <p:nvPr/>
        </p:nvSpPr>
        <p:spPr>
          <a:xfrm>
            <a:off x="502920" y="4754880"/>
            <a:ext cx="5440680" cy="521208"/>
          </a:xfrm>
          <a:prstGeom prst="roundRect">
            <a:avLst>
              <a:gd name="adj" fmla="val 14035"/>
            </a:avLst>
          </a:prstGeom>
          <a:solidFill>
            <a:srgbClr val="F4F7F5"/>
          </a:solidFill>
          <a:ln w="9525">
            <a:solidFill>
              <a:srgbClr val="D5DED9"/>
            </a:solidFill>
            <a:prstDash val="solid"/>
          </a:ln>
        </p:spPr>
      </p:sp>
      <p:sp>
        <p:nvSpPr>
          <p:cNvPr id="41" name="Chip ANARE-CI"/>
          <p:cNvSpPr txBox="1"/>
          <p:nvPr/>
        </p:nvSpPr>
        <p:spPr>
          <a:xfrm>
            <a:off x="612648" y="4846320"/>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ANARE-CI</a:t>
            </a:r>
            <a:endParaRPr lang="en-US" sz="1200" dirty="0"/>
          </a:p>
        </p:txBody>
      </p:sp>
      <p:sp>
        <p:nvSpPr>
          <p:cNvPr id="42" name="Text 40"/>
          <p:cNvSpPr txBox="1"/>
          <p:nvPr/>
        </p:nvSpPr>
        <p:spPr>
          <a:xfrm>
            <a:off x="1965960" y="4754880"/>
            <a:ext cx="3886200" cy="521208"/>
          </a:xfrm>
          <a:prstGeom prst="rect">
            <a:avLst/>
          </a:prstGeom>
          <a:noFill/>
          <a:ln/>
        </p:spPr>
        <p:txBody>
          <a:bodyPr wrap="square" lIns="0" tIns="0" rIns="0" bIns="0" rtlCol="0" anchor="ctr"/>
          <a:lstStyle/>
          <a:p>
            <a:pPr marL="0" indent="0">
              <a:buNone/>
            </a:pPr>
            <a:r>
              <a:rPr lang="en-US" sz="1300" dirty="0">
                <a:solidFill>
                  <a:srgbClr val="231F20"/>
                </a:solidFill>
              </a:rPr>
              <a:t>National electricity sector regulatory authority (Côte d'Ivoire)</a:t>
            </a:r>
            <a:endParaRPr lang="en-US" sz="1300" dirty="0"/>
          </a:p>
        </p:txBody>
      </p:sp>
      <p:sp>
        <p:nvSpPr>
          <p:cNvPr id="43" name="Acronym CRSE"/>
          <p:cNvSpPr/>
          <p:nvPr/>
        </p:nvSpPr>
        <p:spPr>
          <a:xfrm>
            <a:off x="6172200" y="4754880"/>
            <a:ext cx="5440680" cy="521208"/>
          </a:xfrm>
          <a:prstGeom prst="roundRect">
            <a:avLst>
              <a:gd name="adj" fmla="val 14035"/>
            </a:avLst>
          </a:prstGeom>
          <a:solidFill>
            <a:srgbClr val="F4F7F5"/>
          </a:solidFill>
          <a:ln w="9525">
            <a:solidFill>
              <a:srgbClr val="D5DED9"/>
            </a:solidFill>
            <a:prstDash val="solid"/>
          </a:ln>
        </p:spPr>
      </p:sp>
      <p:sp>
        <p:nvSpPr>
          <p:cNvPr id="44" name="Chip CRSE"/>
          <p:cNvSpPr txBox="1"/>
          <p:nvPr/>
        </p:nvSpPr>
        <p:spPr>
          <a:xfrm>
            <a:off x="6281928" y="4846320"/>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CRSE</a:t>
            </a:r>
            <a:endParaRPr lang="en-US" sz="1200" dirty="0"/>
          </a:p>
        </p:txBody>
      </p:sp>
      <p:sp>
        <p:nvSpPr>
          <p:cNvPr id="45" name="Text 43"/>
          <p:cNvSpPr txBox="1"/>
          <p:nvPr/>
        </p:nvSpPr>
        <p:spPr>
          <a:xfrm>
            <a:off x="7635240" y="4754880"/>
            <a:ext cx="3886200" cy="521208"/>
          </a:xfrm>
          <a:prstGeom prst="rect">
            <a:avLst/>
          </a:prstGeom>
          <a:noFill/>
          <a:ln/>
        </p:spPr>
        <p:txBody>
          <a:bodyPr wrap="square" lIns="0" tIns="0" rIns="0" bIns="0" rtlCol="0" anchor="ctr"/>
          <a:lstStyle/>
          <a:p>
            <a:pPr marL="0" indent="0">
              <a:buNone/>
            </a:pPr>
            <a:r>
              <a:rPr lang="en-US" sz="1300" dirty="0">
                <a:solidFill>
                  <a:srgbClr val="231F20"/>
                </a:solidFill>
              </a:rPr>
              <a:t>Energy sector regulatory commission (Senegal)</a:t>
            </a:r>
            <a:endParaRPr lang="en-US" sz="1300" dirty="0"/>
          </a:p>
        </p:txBody>
      </p:sp>
      <p:sp>
        <p:nvSpPr>
          <p:cNvPr id="46" name="Acronym ARTP"/>
          <p:cNvSpPr/>
          <p:nvPr/>
        </p:nvSpPr>
        <p:spPr>
          <a:xfrm>
            <a:off x="502920" y="5367528"/>
            <a:ext cx="5440680" cy="521208"/>
          </a:xfrm>
          <a:prstGeom prst="roundRect">
            <a:avLst>
              <a:gd name="adj" fmla="val 14035"/>
            </a:avLst>
          </a:prstGeom>
          <a:solidFill>
            <a:srgbClr val="F4F7F5"/>
          </a:solidFill>
          <a:ln w="9525">
            <a:solidFill>
              <a:srgbClr val="D5DED9"/>
            </a:solidFill>
            <a:prstDash val="solid"/>
          </a:ln>
        </p:spPr>
      </p:sp>
      <p:sp>
        <p:nvSpPr>
          <p:cNvPr id="47" name="Chip ARTP"/>
          <p:cNvSpPr txBox="1"/>
          <p:nvPr/>
        </p:nvSpPr>
        <p:spPr>
          <a:xfrm>
            <a:off x="612648" y="5458968"/>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ARTP</a:t>
            </a:r>
            <a:endParaRPr lang="en-US" sz="1200" dirty="0"/>
          </a:p>
        </p:txBody>
      </p:sp>
      <p:sp>
        <p:nvSpPr>
          <p:cNvPr id="48" name="Text 46"/>
          <p:cNvSpPr txBox="1"/>
          <p:nvPr/>
        </p:nvSpPr>
        <p:spPr>
          <a:xfrm>
            <a:off x="1965960" y="5367528"/>
            <a:ext cx="3886200" cy="521208"/>
          </a:xfrm>
          <a:prstGeom prst="rect">
            <a:avLst/>
          </a:prstGeom>
          <a:noFill/>
          <a:ln/>
        </p:spPr>
        <p:txBody>
          <a:bodyPr wrap="square" lIns="0" tIns="0" rIns="0" bIns="0" rtlCol="0" anchor="ctr"/>
          <a:lstStyle/>
          <a:p>
            <a:pPr marL="0" indent="0">
              <a:buNone/>
            </a:pPr>
            <a:r>
              <a:rPr lang="en-US" sz="1300" dirty="0">
                <a:solidFill>
                  <a:srgbClr val="231F20"/>
                </a:solidFill>
              </a:rPr>
              <a:t>Telecommunications and postal regulatory authority (Senegal)</a:t>
            </a:r>
            <a:endParaRPr lang="en-US" sz="1300" dirty="0"/>
          </a:p>
        </p:txBody>
      </p:sp>
      <p:sp>
        <p:nvSpPr>
          <p:cNvPr id="49" name="Acronym NPISHs"/>
          <p:cNvSpPr/>
          <p:nvPr/>
        </p:nvSpPr>
        <p:spPr>
          <a:xfrm>
            <a:off x="6172200" y="5367528"/>
            <a:ext cx="5440680" cy="521208"/>
          </a:xfrm>
          <a:prstGeom prst="roundRect">
            <a:avLst>
              <a:gd name="adj" fmla="val 14035"/>
            </a:avLst>
          </a:prstGeom>
          <a:solidFill>
            <a:srgbClr val="F4F7F5"/>
          </a:solidFill>
          <a:ln w="9525">
            <a:solidFill>
              <a:srgbClr val="D5DED9"/>
            </a:solidFill>
            <a:prstDash val="solid"/>
          </a:ln>
        </p:spPr>
      </p:sp>
      <p:sp>
        <p:nvSpPr>
          <p:cNvPr id="50" name="Chip NPISHs"/>
          <p:cNvSpPr txBox="1"/>
          <p:nvPr/>
        </p:nvSpPr>
        <p:spPr>
          <a:xfrm>
            <a:off x="6281928" y="5458968"/>
            <a:ext cx="1188720" cy="338328"/>
          </a:xfrm>
          <a:prstGeom prst="roundRect">
            <a:avLst>
              <a:gd name="adj" fmla="val 21622"/>
            </a:avLst>
          </a:prstGeom>
          <a:solidFill>
            <a:srgbClr val="C4621D"/>
          </a:solidFill>
          <a:ln/>
        </p:spPr>
        <p:txBody>
          <a:bodyPr wrap="square" lIns="0" tIns="0" rIns="0" bIns="0" rtlCol="0" anchor="ctr"/>
          <a:lstStyle/>
          <a:p>
            <a:pPr marL="0" indent="0" algn="ctr">
              <a:buNone/>
            </a:pPr>
            <a:r>
              <a:rPr lang="en-US" sz="1200" b="1" dirty="0">
                <a:solidFill>
                  <a:srgbClr val="FFFFFF"/>
                </a:solidFill>
              </a:rPr>
              <a:t>NPISHs</a:t>
            </a:r>
            <a:endParaRPr lang="en-US" sz="1200" dirty="0"/>
          </a:p>
        </p:txBody>
      </p:sp>
      <p:sp>
        <p:nvSpPr>
          <p:cNvPr id="51" name="Text 49"/>
          <p:cNvSpPr txBox="1"/>
          <p:nvPr/>
        </p:nvSpPr>
        <p:spPr>
          <a:xfrm>
            <a:off x="7635240" y="5367528"/>
            <a:ext cx="3886200" cy="521208"/>
          </a:xfrm>
          <a:prstGeom prst="rect">
            <a:avLst/>
          </a:prstGeom>
          <a:noFill/>
          <a:ln/>
        </p:spPr>
        <p:txBody>
          <a:bodyPr wrap="square" lIns="0" tIns="0" rIns="0" bIns="0" rtlCol="0" anchor="ctr"/>
          <a:lstStyle/>
          <a:p>
            <a:pPr marL="0" indent="0">
              <a:buNone/>
            </a:pPr>
            <a:r>
              <a:rPr lang="en-US" sz="1300" dirty="0">
                <a:solidFill>
                  <a:srgbClr val="231F20"/>
                </a:solidFill>
              </a:rPr>
              <a:t>Non-profit institutions serving households</a:t>
            </a:r>
            <a:endParaRPr lang="en-US" sz="1300" dirty="0"/>
          </a:p>
        </p:txBody>
      </p:sp>
      <p:sp>
        <p:nvSpPr>
          <p:cNvPr id="5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01</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Understanding the CPI</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What does the CPI really measure, and what is it for?</a:t>
            </a:r>
            <a:endParaRPr lang="en-US" sz="1900" dirty="0"/>
          </a:p>
        </p:txBody>
      </p:sp>
      <p:sp>
        <p:nvSpPr>
          <p:cNvPr id="5" name="Section icon circle"/>
          <p:cNvSpPr/>
          <p:nvPr/>
        </p:nvSpPr>
        <p:spPr>
          <a:xfrm>
            <a:off x="9079992" y="2340864"/>
            <a:ext cx="1280160" cy="1280160"/>
          </a:xfrm>
          <a:prstGeom prst="ellipse">
            <a:avLst/>
          </a:prstGeom>
          <a:solidFill>
            <a:srgbClr val="FFFFFF"/>
          </a:solidFill>
          <a:ln/>
        </p:spPr>
      </p:sp>
      <p:pic>
        <p:nvPicPr>
          <p:cNvPr id="6" name="Section ic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rogress dot 1"/>
          <p:cNvSpPr/>
          <p:nvPr/>
        </p:nvSpPr>
        <p:spPr>
          <a:xfrm>
            <a:off x="731520" y="5989320"/>
            <a:ext cx="155448" cy="155448"/>
          </a:xfrm>
          <a:prstGeom prst="ellipse">
            <a:avLst/>
          </a:prstGeom>
          <a:solidFill>
            <a:srgbClr val="F5C242"/>
          </a:solidFill>
          <a:ln/>
        </p:spPr>
      </p:sp>
      <p:sp>
        <p:nvSpPr>
          <p:cNvPr id="8" name="Progress dot 2"/>
          <p:cNvSpPr/>
          <p:nvPr/>
        </p:nvSpPr>
        <p:spPr>
          <a:xfrm>
            <a:off x="1024128" y="5989320"/>
            <a:ext cx="155448" cy="155448"/>
          </a:xfrm>
          <a:prstGeom prst="ellipse">
            <a:avLst/>
          </a:prstGeom>
          <a:solidFill>
            <a:srgbClr val="FFFFFF">
              <a:alpha val="40000"/>
            </a:srgbClr>
          </a:solidFill>
          <a:ln/>
        </p:spPr>
      </p:sp>
      <p:sp>
        <p:nvSpPr>
          <p:cNvPr id="9" name="Progress dot 3"/>
          <p:cNvSpPr/>
          <p:nvPr/>
        </p:nvSpPr>
        <p:spPr>
          <a:xfrm>
            <a:off x="1316736" y="5989320"/>
            <a:ext cx="155448" cy="155448"/>
          </a:xfrm>
          <a:prstGeom prst="ellipse">
            <a:avLst/>
          </a:prstGeom>
          <a:solidFill>
            <a:srgbClr val="FFFFFF">
              <a:alpha val="40000"/>
            </a:srgbClr>
          </a:solidFill>
          <a:ln/>
        </p:spPr>
      </p:sp>
      <p:sp>
        <p:nvSpPr>
          <p:cNvPr id="10" name="Progress dot 4"/>
          <p:cNvSpPr/>
          <p:nvPr/>
        </p:nvSpPr>
        <p:spPr>
          <a:xfrm>
            <a:off x="1609344" y="5989320"/>
            <a:ext cx="155448" cy="155448"/>
          </a:xfrm>
          <a:prstGeom prst="ellipse">
            <a:avLst/>
          </a:prstGeom>
          <a:solidFill>
            <a:srgbClr val="FFFFFF">
              <a:alpha val="40000"/>
            </a:srgbClr>
          </a:solidFill>
          <a:ln/>
        </p:spPr>
      </p:sp>
      <p:sp>
        <p:nvSpPr>
          <p:cNvPr id="11" name="Progress dot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UNDERSTANDING THE CPI</a:t>
            </a:r>
            <a:endParaRPr lang="en-US" sz="1200" dirty="0"/>
          </a:p>
        </p:txBody>
      </p:sp>
      <p:sp>
        <p:nvSpPr>
          <p:cNvPr id="3" name="Progress dot 1"/>
          <p:cNvSpPr/>
          <p:nvPr/>
        </p:nvSpPr>
        <p:spPr>
          <a:xfrm>
            <a:off x="10561320" y="365760"/>
            <a:ext cx="128016" cy="128016"/>
          </a:xfrm>
          <a:prstGeom prst="ellipse">
            <a:avLst/>
          </a:prstGeom>
          <a:solidFill>
            <a:srgbClr val="00A86A"/>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What is the consumer price index?</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 short definition, and four scope choices that make it operational</a:t>
            </a:r>
            <a:endParaRPr lang="en-US" sz="1500" dirty="0"/>
          </a:p>
        </p:txBody>
      </p:sp>
      <p:sp>
        <p:nvSpPr>
          <p:cNvPr id="10" name="Definition banner"/>
          <p:cNvSpPr/>
          <p:nvPr/>
        </p:nvSpPr>
        <p:spPr>
          <a:xfrm>
            <a:off x="502920" y="1737360"/>
            <a:ext cx="11155680" cy="1143000"/>
          </a:xfrm>
          <a:prstGeom prst="roundRect">
            <a:avLst>
              <a:gd name="adj" fmla="val 6400"/>
            </a:avLst>
          </a:prstGeom>
          <a:solidFill>
            <a:srgbClr val="E8F5EF"/>
          </a:solidFill>
          <a:ln w="19050">
            <a:solidFill>
              <a:srgbClr val="00A86A"/>
            </a:solidFill>
            <a:prstDash val="solid"/>
          </a:ln>
        </p:spPr>
      </p:sp>
      <p:sp>
        <p:nvSpPr>
          <p:cNvPr id="11" name="Text 9"/>
          <p:cNvSpPr txBox="1"/>
          <p:nvPr/>
        </p:nvSpPr>
        <p:spPr>
          <a:xfrm>
            <a:off x="822960" y="1737360"/>
            <a:ext cx="10515600" cy="1143000"/>
          </a:xfrm>
          <a:prstGeom prst="rect">
            <a:avLst/>
          </a:prstGeom>
          <a:noFill/>
          <a:ln/>
        </p:spPr>
        <p:txBody>
          <a:bodyPr wrap="square" lIns="0" tIns="0" rIns="0" bIns="0" rtlCol="0" anchor="ctr"/>
          <a:lstStyle/>
          <a:p>
            <a:pPr marL="0" indent="0">
              <a:buNone/>
            </a:pPr>
            <a:r>
              <a:rPr lang="en-US" sz="2100" dirty="0">
                <a:solidFill>
                  <a:srgbClr val="231F20"/>
                </a:solidFill>
              </a:rPr>
              <a:t>The CPI measures the average change, between two periods, in the prices of a fixed basket of goods and services </a:t>
            </a:r>
            <a:r>
              <a:rPr lang="en-US" sz="2100" b="1" dirty="0">
                <a:solidFill>
                  <a:srgbClr val="00704A"/>
                </a:solidFill>
              </a:rPr>
              <a:t>acquired by households for consumption</a:t>
            </a:r>
            <a:r>
              <a:rPr lang="en-US" sz="2100" dirty="0">
                <a:solidFill>
                  <a:srgbClr val="231F20"/>
                </a:solidFill>
              </a:rPr>
              <a:t>, at constant quality.</a:t>
            </a:r>
            <a:endParaRPr lang="en-US" sz="2100" dirty="0"/>
          </a:p>
        </p:txBody>
      </p:sp>
      <p:sp>
        <p:nvSpPr>
          <p:cNvPr id="12" name="Scope card 1"/>
          <p:cNvSpPr/>
          <p:nvPr/>
        </p:nvSpPr>
        <p:spPr>
          <a:xfrm>
            <a:off x="502920" y="3200400"/>
            <a:ext cx="2651760" cy="2743200"/>
          </a:xfrm>
          <a:prstGeom prst="roundRect">
            <a:avLst>
              <a:gd name="adj" fmla="val 2759"/>
            </a:avLst>
          </a:prstGeom>
          <a:solidFill>
            <a:srgbClr val="F4F7F5"/>
          </a:solidFill>
          <a:ln w="9525">
            <a:solidFill>
              <a:srgbClr val="D5DED9"/>
            </a:solidFill>
            <a:prstDash val="solid"/>
          </a:ln>
        </p:spPr>
      </p:sp>
      <p:sp>
        <p:nvSpPr>
          <p:cNvPr id="13" name="Scope 1 circle"/>
          <p:cNvSpPr/>
          <p:nvPr/>
        </p:nvSpPr>
        <p:spPr>
          <a:xfrm>
            <a:off x="777240" y="3474720"/>
            <a:ext cx="685800" cy="685800"/>
          </a:xfrm>
          <a:prstGeom prst="ellipse">
            <a:avLst/>
          </a:prstGeom>
          <a:solidFill>
            <a:srgbClr val="00A86A">
              <a:alpha val="22000"/>
            </a:srgbClr>
          </a:solidFill>
          <a:ln/>
        </p:spPr>
      </p:sp>
      <p:pic>
        <p:nvPicPr>
          <p:cNvPr id="14" name="Scope 1 icon" descr="preencoded.png"/>
          <p:cNvPicPr>
            <a:picLocks noChangeAspect="1"/>
          </p:cNvPicPr>
          <p:nvPr/>
        </p:nvPicPr>
        <p:blipFill>
          <a:blip r:embed="rId3"/>
          <a:stretch>
            <a:fillRect/>
          </a:stretch>
        </p:blipFill>
        <p:spPr>
          <a:xfrm>
            <a:off x="948690" y="3646170"/>
            <a:ext cx="342900" cy="342900"/>
          </a:xfrm>
          <a:prstGeom prst="rect">
            <a:avLst/>
          </a:prstGeom>
        </p:spPr>
      </p:pic>
      <p:sp>
        <p:nvSpPr>
          <p:cNvPr id="15" name="Text 12"/>
          <p:cNvSpPr txBox="1"/>
          <p:nvPr/>
        </p:nvSpPr>
        <p:spPr>
          <a:xfrm>
            <a:off x="160020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Who?</a:t>
            </a:r>
            <a:endParaRPr lang="en-US" sz="1900" dirty="0"/>
          </a:p>
        </p:txBody>
      </p:sp>
      <p:sp>
        <p:nvSpPr>
          <p:cNvPr id="16" name="Text 13"/>
          <p:cNvSpPr txBox="1"/>
          <p:nvPr/>
        </p:nvSpPr>
        <p:spPr>
          <a:xfrm>
            <a:off x="77724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Reference population: all resident households, or a group (urban, wage earners).</a:t>
            </a:r>
            <a:endParaRPr lang="en-US" sz="1400" dirty="0"/>
          </a:p>
        </p:txBody>
      </p:sp>
      <p:sp>
        <p:nvSpPr>
          <p:cNvPr id="17" name="Scope card 2"/>
          <p:cNvSpPr/>
          <p:nvPr/>
        </p:nvSpPr>
        <p:spPr>
          <a:xfrm>
            <a:off x="3337560" y="3200400"/>
            <a:ext cx="2651760" cy="2743200"/>
          </a:xfrm>
          <a:prstGeom prst="roundRect">
            <a:avLst>
              <a:gd name="adj" fmla="val 2759"/>
            </a:avLst>
          </a:prstGeom>
          <a:solidFill>
            <a:srgbClr val="F4F7F5"/>
          </a:solidFill>
          <a:ln w="9525">
            <a:solidFill>
              <a:srgbClr val="D5DED9"/>
            </a:solidFill>
            <a:prstDash val="solid"/>
          </a:ln>
        </p:spPr>
      </p:sp>
      <p:sp>
        <p:nvSpPr>
          <p:cNvPr id="18" name="Scope 2 circle"/>
          <p:cNvSpPr/>
          <p:nvPr/>
        </p:nvSpPr>
        <p:spPr>
          <a:xfrm>
            <a:off x="3611880" y="3474720"/>
            <a:ext cx="685800" cy="685800"/>
          </a:xfrm>
          <a:prstGeom prst="ellipse">
            <a:avLst/>
          </a:prstGeom>
          <a:solidFill>
            <a:srgbClr val="0E7C86">
              <a:alpha val="22000"/>
            </a:srgbClr>
          </a:solidFill>
          <a:ln/>
        </p:spPr>
      </p:sp>
      <p:pic>
        <p:nvPicPr>
          <p:cNvPr id="19" name="Scope 2 icon" descr="preencoded.png"/>
          <p:cNvPicPr>
            <a:picLocks noChangeAspect="1"/>
          </p:cNvPicPr>
          <p:nvPr/>
        </p:nvPicPr>
        <p:blipFill>
          <a:blip r:embed="rId4"/>
          <a:stretch>
            <a:fillRect/>
          </a:stretch>
        </p:blipFill>
        <p:spPr>
          <a:xfrm>
            <a:off x="3783330" y="3646170"/>
            <a:ext cx="342900" cy="342900"/>
          </a:xfrm>
          <a:prstGeom prst="rect">
            <a:avLst/>
          </a:prstGeom>
        </p:spPr>
      </p:pic>
      <p:sp>
        <p:nvSpPr>
          <p:cNvPr id="20" name="Text 16"/>
          <p:cNvSpPr txBox="1"/>
          <p:nvPr/>
        </p:nvSpPr>
        <p:spPr>
          <a:xfrm>
            <a:off x="443484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Where?</a:t>
            </a:r>
            <a:endParaRPr lang="en-US" sz="1900" dirty="0"/>
          </a:p>
        </p:txBody>
      </p:sp>
      <p:sp>
        <p:nvSpPr>
          <p:cNvPr id="21" name="Text 17"/>
          <p:cNvSpPr txBox="1"/>
          <p:nvPr/>
        </p:nvSpPr>
        <p:spPr>
          <a:xfrm>
            <a:off x="361188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Geographic coverage: capital, main cities or whole country, urban and rural.</a:t>
            </a:r>
            <a:endParaRPr lang="en-US" sz="1400" dirty="0"/>
          </a:p>
        </p:txBody>
      </p:sp>
      <p:sp>
        <p:nvSpPr>
          <p:cNvPr id="22" name="Scope card 3"/>
          <p:cNvSpPr/>
          <p:nvPr/>
        </p:nvSpPr>
        <p:spPr>
          <a:xfrm>
            <a:off x="6172200" y="3200400"/>
            <a:ext cx="2651760" cy="2743200"/>
          </a:xfrm>
          <a:prstGeom prst="roundRect">
            <a:avLst>
              <a:gd name="adj" fmla="val 2759"/>
            </a:avLst>
          </a:prstGeom>
          <a:solidFill>
            <a:srgbClr val="F4F7F5"/>
          </a:solidFill>
          <a:ln w="9525">
            <a:solidFill>
              <a:srgbClr val="D5DED9"/>
            </a:solidFill>
            <a:prstDash val="solid"/>
          </a:ln>
        </p:spPr>
      </p:sp>
      <p:sp>
        <p:nvSpPr>
          <p:cNvPr id="23" name="Scope 3 circle"/>
          <p:cNvSpPr/>
          <p:nvPr/>
        </p:nvSpPr>
        <p:spPr>
          <a:xfrm>
            <a:off x="6446520" y="3474720"/>
            <a:ext cx="685800" cy="685800"/>
          </a:xfrm>
          <a:prstGeom prst="ellipse">
            <a:avLst/>
          </a:prstGeom>
          <a:solidFill>
            <a:srgbClr val="00A86A">
              <a:alpha val="22000"/>
            </a:srgbClr>
          </a:solidFill>
          <a:ln/>
        </p:spPr>
      </p:sp>
      <p:pic>
        <p:nvPicPr>
          <p:cNvPr id="24" name="Scope 3 icon" descr="preencoded.png"/>
          <p:cNvPicPr>
            <a:picLocks noChangeAspect="1"/>
          </p:cNvPicPr>
          <p:nvPr/>
        </p:nvPicPr>
        <p:blipFill>
          <a:blip r:embed="rId5"/>
          <a:stretch>
            <a:fillRect/>
          </a:stretch>
        </p:blipFill>
        <p:spPr>
          <a:xfrm>
            <a:off x="6617970" y="3646170"/>
            <a:ext cx="342900" cy="342900"/>
          </a:xfrm>
          <a:prstGeom prst="rect">
            <a:avLst/>
          </a:prstGeom>
        </p:spPr>
      </p:pic>
      <p:sp>
        <p:nvSpPr>
          <p:cNvPr id="25" name="Text 20"/>
          <p:cNvSpPr txBox="1"/>
          <p:nvPr/>
        </p:nvSpPr>
        <p:spPr>
          <a:xfrm>
            <a:off x="726948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What?</a:t>
            </a:r>
            <a:endParaRPr lang="en-US" sz="1900" dirty="0"/>
          </a:p>
        </p:txBody>
      </p:sp>
      <p:sp>
        <p:nvSpPr>
          <p:cNvPr id="26" name="Text 21"/>
          <p:cNvSpPr txBox="1"/>
          <p:nvPr/>
        </p:nvSpPr>
        <p:spPr>
          <a:xfrm>
            <a:off x="644652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Consumer goods and services, classified by COICOP. Not investment, not savings.</a:t>
            </a:r>
            <a:endParaRPr lang="en-US" sz="1400" dirty="0"/>
          </a:p>
        </p:txBody>
      </p:sp>
      <p:sp>
        <p:nvSpPr>
          <p:cNvPr id="27" name="Scope card 4"/>
          <p:cNvSpPr/>
          <p:nvPr/>
        </p:nvSpPr>
        <p:spPr>
          <a:xfrm>
            <a:off x="9006840" y="3200400"/>
            <a:ext cx="2651760" cy="2743200"/>
          </a:xfrm>
          <a:prstGeom prst="roundRect">
            <a:avLst>
              <a:gd name="adj" fmla="val 2759"/>
            </a:avLst>
          </a:prstGeom>
          <a:solidFill>
            <a:srgbClr val="F4F7F5"/>
          </a:solidFill>
          <a:ln w="9525">
            <a:solidFill>
              <a:srgbClr val="D5DED9"/>
            </a:solidFill>
            <a:prstDash val="solid"/>
          </a:ln>
        </p:spPr>
      </p:sp>
      <p:sp>
        <p:nvSpPr>
          <p:cNvPr id="28" name="Scope 4 circle"/>
          <p:cNvSpPr/>
          <p:nvPr/>
        </p:nvSpPr>
        <p:spPr>
          <a:xfrm>
            <a:off x="9281160" y="3474720"/>
            <a:ext cx="685800" cy="685800"/>
          </a:xfrm>
          <a:prstGeom prst="ellipse">
            <a:avLst/>
          </a:prstGeom>
          <a:solidFill>
            <a:srgbClr val="0E7C86">
              <a:alpha val="22000"/>
            </a:srgbClr>
          </a:solidFill>
          <a:ln/>
        </p:spPr>
      </p:sp>
      <p:pic>
        <p:nvPicPr>
          <p:cNvPr id="29" name="Scope 4 icon" descr="preencoded.png"/>
          <p:cNvPicPr>
            <a:picLocks noChangeAspect="1"/>
          </p:cNvPicPr>
          <p:nvPr/>
        </p:nvPicPr>
        <p:blipFill>
          <a:blip r:embed="rId6"/>
          <a:stretch>
            <a:fillRect/>
          </a:stretch>
        </p:blipFill>
        <p:spPr>
          <a:xfrm>
            <a:off x="9452610" y="3646170"/>
            <a:ext cx="342900" cy="342900"/>
          </a:xfrm>
          <a:prstGeom prst="rect">
            <a:avLst/>
          </a:prstGeom>
        </p:spPr>
      </p:pic>
      <p:sp>
        <p:nvSpPr>
          <p:cNvPr id="30" name="Text 24"/>
          <p:cNvSpPr txBox="1"/>
          <p:nvPr/>
        </p:nvSpPr>
        <p:spPr>
          <a:xfrm>
            <a:off x="1010412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Which prices?</a:t>
            </a:r>
            <a:endParaRPr lang="en-US" sz="1900" dirty="0"/>
          </a:p>
        </p:txBody>
      </p:sp>
      <p:sp>
        <p:nvSpPr>
          <p:cNvPr id="31" name="Text 25"/>
          <p:cNvSpPr txBox="1"/>
          <p:nvPr/>
        </p:nvSpPr>
        <p:spPr>
          <a:xfrm>
            <a:off x="928116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Purchase prices actually paid, taxes included, including discounts and administered prices.</a:t>
            </a:r>
            <a:endParaRPr lang="en-US" sz="1400" dirty="0"/>
          </a:p>
        </p:txBody>
      </p:sp>
      <p:sp>
        <p:nvSpPr>
          <p:cNvPr id="3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UNDERSTANDING THE CPI</a:t>
            </a:r>
            <a:endParaRPr lang="en-US" sz="1200" dirty="0"/>
          </a:p>
        </p:txBody>
      </p:sp>
      <p:sp>
        <p:nvSpPr>
          <p:cNvPr id="3" name="Progress dot 1"/>
          <p:cNvSpPr/>
          <p:nvPr/>
        </p:nvSpPr>
        <p:spPr>
          <a:xfrm>
            <a:off x="10561320" y="365760"/>
            <a:ext cx="128016" cy="128016"/>
          </a:xfrm>
          <a:prstGeom prst="ellipse">
            <a:avLst/>
          </a:prstGeom>
          <a:solidFill>
            <a:srgbClr val="00A86A"/>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One indicator, five uses that drive decisions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The variety of uses is what demands high standards of quality and transparency</a:t>
            </a:r>
            <a:endParaRPr lang="en-US" sz="1500" dirty="0"/>
          </a:p>
        </p:txBody>
      </p:sp>
      <p:sp>
        <p:nvSpPr>
          <p:cNvPr id="10" name="Use card 1"/>
          <p:cNvSpPr/>
          <p:nvPr/>
        </p:nvSpPr>
        <p:spPr>
          <a:xfrm>
            <a:off x="502920" y="1828800"/>
            <a:ext cx="2103120" cy="4023360"/>
          </a:xfrm>
          <a:prstGeom prst="roundRect">
            <a:avLst>
              <a:gd name="adj" fmla="val 3478"/>
            </a:avLst>
          </a:prstGeom>
          <a:solidFill>
            <a:srgbClr val="E8F5EF"/>
          </a:solidFill>
          <a:ln w="19050">
            <a:solidFill>
              <a:srgbClr val="00A86A"/>
            </a:solidFill>
            <a:prstDash val="solid"/>
          </a:ln>
        </p:spPr>
      </p:sp>
      <p:sp>
        <p:nvSpPr>
          <p:cNvPr id="11" name="Use 1 circle"/>
          <p:cNvSpPr/>
          <p:nvPr/>
        </p:nvSpPr>
        <p:spPr>
          <a:xfrm>
            <a:off x="1143000" y="2148840"/>
            <a:ext cx="822960" cy="822960"/>
          </a:xfrm>
          <a:prstGeom prst="ellipse">
            <a:avLst/>
          </a:prstGeom>
          <a:solidFill>
            <a:srgbClr val="00A86A">
              <a:alpha val="22000"/>
            </a:srgbClr>
          </a:solidFill>
          <a:ln/>
        </p:spPr>
      </p:sp>
      <p:pic>
        <p:nvPicPr>
          <p:cNvPr id="12" name="Use 1 icon" descr="preencoded.png"/>
          <p:cNvPicPr>
            <a:picLocks noChangeAspect="1"/>
          </p:cNvPicPr>
          <p:nvPr/>
        </p:nvPicPr>
        <p:blipFill>
          <a:blip r:embed="rId3"/>
          <a:stretch>
            <a:fillRect/>
          </a:stretch>
        </p:blipFill>
        <p:spPr>
          <a:xfrm>
            <a:off x="1348740" y="2354580"/>
            <a:ext cx="411480" cy="411480"/>
          </a:xfrm>
          <a:prstGeom prst="rect">
            <a:avLst/>
          </a:prstGeom>
        </p:spPr>
      </p:pic>
      <p:sp>
        <p:nvSpPr>
          <p:cNvPr id="13" name="Text 10"/>
          <p:cNvSpPr txBox="1"/>
          <p:nvPr/>
        </p:nvSpPr>
        <p:spPr>
          <a:xfrm>
            <a:off x="640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Monetary policy</a:t>
            </a:r>
            <a:endParaRPr lang="en-US" sz="1700" dirty="0"/>
          </a:p>
        </p:txBody>
      </p:sp>
      <p:sp>
        <p:nvSpPr>
          <p:cNvPr id="14" name="Text 11"/>
          <p:cNvSpPr txBox="1"/>
          <p:nvPr/>
        </p:nvSpPr>
        <p:spPr>
          <a:xfrm>
            <a:off x="667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The BCEAO sets its rates based on WAEMU inflation, measured by the HCPI.</a:t>
            </a:r>
            <a:endParaRPr lang="en-US" sz="1400" dirty="0"/>
          </a:p>
        </p:txBody>
      </p:sp>
      <p:sp>
        <p:nvSpPr>
          <p:cNvPr id="15" name="Use card 2"/>
          <p:cNvSpPr/>
          <p:nvPr/>
        </p:nvSpPr>
        <p:spPr>
          <a:xfrm>
            <a:off x="2788920" y="1828800"/>
            <a:ext cx="2103120" cy="4023360"/>
          </a:xfrm>
          <a:prstGeom prst="roundRect">
            <a:avLst>
              <a:gd name="adj" fmla="val 3478"/>
            </a:avLst>
          </a:prstGeom>
          <a:solidFill>
            <a:srgbClr val="F4F7F5"/>
          </a:solidFill>
          <a:ln w="9525">
            <a:solidFill>
              <a:srgbClr val="D5DED9"/>
            </a:solidFill>
            <a:prstDash val="solid"/>
          </a:ln>
        </p:spPr>
      </p:sp>
      <p:sp>
        <p:nvSpPr>
          <p:cNvPr id="16" name="Use 2 circle"/>
          <p:cNvSpPr/>
          <p:nvPr/>
        </p:nvSpPr>
        <p:spPr>
          <a:xfrm>
            <a:off x="3429000" y="2148840"/>
            <a:ext cx="822960" cy="822960"/>
          </a:xfrm>
          <a:prstGeom prst="ellipse">
            <a:avLst/>
          </a:prstGeom>
          <a:solidFill>
            <a:srgbClr val="00704A">
              <a:alpha val="22000"/>
            </a:srgbClr>
          </a:solidFill>
          <a:ln/>
        </p:spPr>
      </p:sp>
      <p:pic>
        <p:nvPicPr>
          <p:cNvPr id="17" name="Use 2 icon" descr="preencoded.png"/>
          <p:cNvPicPr>
            <a:picLocks noChangeAspect="1"/>
          </p:cNvPicPr>
          <p:nvPr/>
        </p:nvPicPr>
        <p:blipFill>
          <a:blip r:embed="rId4"/>
          <a:stretch>
            <a:fillRect/>
          </a:stretch>
        </p:blipFill>
        <p:spPr>
          <a:xfrm>
            <a:off x="3634740" y="2354580"/>
            <a:ext cx="411480" cy="411480"/>
          </a:xfrm>
          <a:prstGeom prst="rect">
            <a:avLst/>
          </a:prstGeom>
        </p:spPr>
      </p:pic>
      <p:sp>
        <p:nvSpPr>
          <p:cNvPr id="18" name="Text 14"/>
          <p:cNvSpPr txBox="1"/>
          <p:nvPr/>
        </p:nvSpPr>
        <p:spPr>
          <a:xfrm>
            <a:off x="2926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Indexation</a:t>
            </a:r>
            <a:endParaRPr lang="en-US" sz="1700" dirty="0"/>
          </a:p>
        </p:txBody>
      </p:sp>
      <p:sp>
        <p:nvSpPr>
          <p:cNvPr id="19" name="Text 15"/>
          <p:cNvSpPr txBox="1"/>
          <p:nvPr/>
        </p:nvSpPr>
        <p:spPr>
          <a:xfrm>
            <a:off x="2953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Minimum wages, pensions, rents and contracts are adjusted in line with the CPI.</a:t>
            </a:r>
            <a:endParaRPr lang="en-US" sz="1400" dirty="0"/>
          </a:p>
        </p:txBody>
      </p:sp>
      <p:sp>
        <p:nvSpPr>
          <p:cNvPr id="20" name="Use card 3"/>
          <p:cNvSpPr/>
          <p:nvPr/>
        </p:nvSpPr>
        <p:spPr>
          <a:xfrm>
            <a:off x="5074920" y="1828800"/>
            <a:ext cx="2103120" cy="4023360"/>
          </a:xfrm>
          <a:prstGeom prst="roundRect">
            <a:avLst>
              <a:gd name="adj" fmla="val 3478"/>
            </a:avLst>
          </a:prstGeom>
          <a:solidFill>
            <a:srgbClr val="F4F7F5"/>
          </a:solidFill>
          <a:ln w="9525">
            <a:solidFill>
              <a:srgbClr val="D5DED9"/>
            </a:solidFill>
            <a:prstDash val="solid"/>
          </a:ln>
        </p:spPr>
      </p:sp>
      <p:sp>
        <p:nvSpPr>
          <p:cNvPr id="21" name="Use 3 circle"/>
          <p:cNvSpPr/>
          <p:nvPr/>
        </p:nvSpPr>
        <p:spPr>
          <a:xfrm>
            <a:off x="5715000" y="2148840"/>
            <a:ext cx="822960" cy="822960"/>
          </a:xfrm>
          <a:prstGeom prst="ellipse">
            <a:avLst/>
          </a:prstGeom>
          <a:solidFill>
            <a:srgbClr val="0E7C86">
              <a:alpha val="22000"/>
            </a:srgbClr>
          </a:solidFill>
          <a:ln/>
        </p:spPr>
      </p:sp>
      <p:pic>
        <p:nvPicPr>
          <p:cNvPr id="22" name="Use 3 icon" descr="preencoded.png"/>
          <p:cNvPicPr>
            <a:picLocks noChangeAspect="1"/>
          </p:cNvPicPr>
          <p:nvPr/>
        </p:nvPicPr>
        <p:blipFill>
          <a:blip r:embed="rId5"/>
          <a:stretch>
            <a:fillRect/>
          </a:stretch>
        </p:blipFill>
        <p:spPr>
          <a:xfrm>
            <a:off x="5920740" y="2354580"/>
            <a:ext cx="411480" cy="411480"/>
          </a:xfrm>
          <a:prstGeom prst="rect">
            <a:avLst/>
          </a:prstGeom>
        </p:spPr>
      </p:pic>
      <p:sp>
        <p:nvSpPr>
          <p:cNvPr id="23" name="Text 18"/>
          <p:cNvSpPr txBox="1"/>
          <p:nvPr/>
        </p:nvSpPr>
        <p:spPr>
          <a:xfrm>
            <a:off x="5212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National accounts</a:t>
            </a:r>
            <a:endParaRPr lang="en-US" sz="1700" dirty="0"/>
          </a:p>
        </p:txBody>
      </p:sp>
      <p:sp>
        <p:nvSpPr>
          <p:cNvPr id="24" name="Text 19"/>
          <p:cNvSpPr txBox="1"/>
          <p:nvPr/>
        </p:nvSpPr>
        <p:spPr>
          <a:xfrm>
            <a:off x="5239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Price indices deflate consumption to obtain volumes.</a:t>
            </a:r>
            <a:endParaRPr lang="en-US" sz="1400" dirty="0"/>
          </a:p>
        </p:txBody>
      </p:sp>
      <p:sp>
        <p:nvSpPr>
          <p:cNvPr id="25" name="Use card 4"/>
          <p:cNvSpPr/>
          <p:nvPr/>
        </p:nvSpPr>
        <p:spPr>
          <a:xfrm>
            <a:off x="7360920" y="1828800"/>
            <a:ext cx="2103120" cy="4023360"/>
          </a:xfrm>
          <a:prstGeom prst="roundRect">
            <a:avLst>
              <a:gd name="adj" fmla="val 3478"/>
            </a:avLst>
          </a:prstGeom>
          <a:solidFill>
            <a:srgbClr val="F4F7F5"/>
          </a:solidFill>
          <a:ln w="9525">
            <a:solidFill>
              <a:srgbClr val="D5DED9"/>
            </a:solidFill>
            <a:prstDash val="solid"/>
          </a:ln>
        </p:spPr>
      </p:sp>
      <p:sp>
        <p:nvSpPr>
          <p:cNvPr id="26" name="Use 4 circle"/>
          <p:cNvSpPr/>
          <p:nvPr/>
        </p:nvSpPr>
        <p:spPr>
          <a:xfrm>
            <a:off x="8001000" y="2148840"/>
            <a:ext cx="822960" cy="822960"/>
          </a:xfrm>
          <a:prstGeom prst="ellipse">
            <a:avLst/>
          </a:prstGeom>
          <a:solidFill>
            <a:srgbClr val="D49A00">
              <a:alpha val="22000"/>
            </a:srgbClr>
          </a:solidFill>
          <a:ln/>
        </p:spPr>
      </p:sp>
      <p:pic>
        <p:nvPicPr>
          <p:cNvPr id="27" name="Use 4 icon" descr="preencoded.png"/>
          <p:cNvPicPr>
            <a:picLocks noChangeAspect="1"/>
          </p:cNvPicPr>
          <p:nvPr/>
        </p:nvPicPr>
        <p:blipFill>
          <a:blip r:embed="rId6"/>
          <a:stretch>
            <a:fillRect/>
          </a:stretch>
        </p:blipFill>
        <p:spPr>
          <a:xfrm>
            <a:off x="8206740" y="2354580"/>
            <a:ext cx="411480" cy="411480"/>
          </a:xfrm>
          <a:prstGeom prst="rect">
            <a:avLst/>
          </a:prstGeom>
        </p:spPr>
      </p:pic>
      <p:sp>
        <p:nvSpPr>
          <p:cNvPr id="28" name="Text 22"/>
          <p:cNvSpPr txBox="1"/>
          <p:nvPr/>
        </p:nvSpPr>
        <p:spPr>
          <a:xfrm>
            <a:off x="7498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Multilateral surveillance</a:t>
            </a:r>
            <a:endParaRPr lang="en-US" sz="1700" dirty="0"/>
          </a:p>
        </p:txBody>
      </p:sp>
      <p:sp>
        <p:nvSpPr>
          <p:cNvPr id="29" name="Text 23"/>
          <p:cNvSpPr txBox="1"/>
          <p:nvPr/>
        </p:nvSpPr>
        <p:spPr>
          <a:xfrm>
            <a:off x="7525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The WAEMU inflation criterion is read from each member state's HCPI.</a:t>
            </a:r>
            <a:endParaRPr lang="en-US" sz="1400" dirty="0"/>
          </a:p>
        </p:txBody>
      </p:sp>
      <p:sp>
        <p:nvSpPr>
          <p:cNvPr id="30" name="Use card 5"/>
          <p:cNvSpPr/>
          <p:nvPr/>
        </p:nvSpPr>
        <p:spPr>
          <a:xfrm>
            <a:off x="9646920" y="1828800"/>
            <a:ext cx="2103120" cy="4023360"/>
          </a:xfrm>
          <a:prstGeom prst="roundRect">
            <a:avLst>
              <a:gd name="adj" fmla="val 3478"/>
            </a:avLst>
          </a:prstGeom>
          <a:solidFill>
            <a:srgbClr val="F4F7F5"/>
          </a:solidFill>
          <a:ln w="9525">
            <a:solidFill>
              <a:srgbClr val="D5DED9"/>
            </a:solidFill>
            <a:prstDash val="solid"/>
          </a:ln>
        </p:spPr>
      </p:sp>
      <p:sp>
        <p:nvSpPr>
          <p:cNvPr id="31" name="Use 5 circle"/>
          <p:cNvSpPr/>
          <p:nvPr/>
        </p:nvSpPr>
        <p:spPr>
          <a:xfrm>
            <a:off x="10287000" y="2148840"/>
            <a:ext cx="822960" cy="822960"/>
          </a:xfrm>
          <a:prstGeom prst="ellipse">
            <a:avLst/>
          </a:prstGeom>
          <a:solidFill>
            <a:srgbClr val="C4621D">
              <a:alpha val="22000"/>
            </a:srgbClr>
          </a:solidFill>
          <a:ln/>
        </p:spPr>
      </p:sp>
      <p:pic>
        <p:nvPicPr>
          <p:cNvPr id="32" name="Use 5 icon" descr="preencoded.png"/>
          <p:cNvPicPr>
            <a:picLocks noChangeAspect="1"/>
          </p:cNvPicPr>
          <p:nvPr/>
        </p:nvPicPr>
        <p:blipFill>
          <a:blip r:embed="rId7"/>
          <a:stretch>
            <a:fillRect/>
          </a:stretch>
        </p:blipFill>
        <p:spPr>
          <a:xfrm>
            <a:off x="10492740" y="2354580"/>
            <a:ext cx="411480" cy="411480"/>
          </a:xfrm>
          <a:prstGeom prst="rect">
            <a:avLst/>
          </a:prstGeom>
        </p:spPr>
      </p:pic>
      <p:sp>
        <p:nvSpPr>
          <p:cNvPr id="33" name="Text 26"/>
          <p:cNvSpPr txBox="1"/>
          <p:nvPr/>
        </p:nvSpPr>
        <p:spPr>
          <a:xfrm>
            <a:off x="9784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Purchasing power</a:t>
            </a:r>
            <a:endParaRPr lang="en-US" sz="1700" dirty="0"/>
          </a:p>
        </p:txBody>
      </p:sp>
      <p:sp>
        <p:nvSpPr>
          <p:cNvPr id="34" name="Text 27"/>
          <p:cNvSpPr txBox="1"/>
          <p:nvPr/>
        </p:nvSpPr>
        <p:spPr>
          <a:xfrm>
            <a:off x="9811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Public debate, wage bargaining, cost-of-living measurement.</a:t>
            </a:r>
            <a:endParaRPr lang="en-US" sz="14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UNDERSTANDING THE CPI</a:t>
            </a:r>
            <a:endParaRPr lang="en-US" sz="1200" dirty="0"/>
          </a:p>
        </p:txBody>
      </p:sp>
      <p:sp>
        <p:nvSpPr>
          <p:cNvPr id="3" name="Progress dot 1"/>
          <p:cNvSpPr/>
          <p:nvPr/>
        </p:nvSpPr>
        <p:spPr>
          <a:xfrm>
            <a:off x="10561320" y="365760"/>
            <a:ext cx="128016" cy="128016"/>
          </a:xfrm>
          <a:prstGeom prst="ellipse">
            <a:avLst/>
          </a:prstGeom>
          <a:solidFill>
            <a:srgbClr val="00A86A"/>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HCPI, HICP, deflator: cousins, not twins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Three measures of consumer prices, three frameworks, three uses</a:t>
            </a:r>
            <a:endParaRPr lang="en-US" sz="1500" dirty="0"/>
          </a:p>
        </p:txBody>
      </p:sp>
      <p:sp>
        <p:nvSpPr>
          <p:cNvPr id="10" name="Header HCPI (WAEMU)"/>
          <p:cNvSpPr/>
          <p:nvPr/>
        </p:nvSpPr>
        <p:spPr>
          <a:xfrm>
            <a:off x="2606040" y="1691640"/>
            <a:ext cx="2898648" cy="502920"/>
          </a:xfrm>
          <a:prstGeom prst="roundRect">
            <a:avLst>
              <a:gd name="adj" fmla="val 10909"/>
            </a:avLst>
          </a:prstGeom>
          <a:solidFill>
            <a:srgbClr val="00A86A">
              <a:alpha val="18000"/>
            </a:srgbClr>
          </a:solidFill>
          <a:ln w="12700">
            <a:solidFill>
              <a:srgbClr val="00A86A"/>
            </a:solidFill>
            <a:prstDash val="solid"/>
          </a:ln>
        </p:spPr>
      </p:sp>
      <p:sp>
        <p:nvSpPr>
          <p:cNvPr id="11" name="Text 9"/>
          <p:cNvSpPr txBox="1"/>
          <p:nvPr/>
        </p:nvSpPr>
        <p:spPr>
          <a:xfrm>
            <a:off x="2606040"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HCPI (WAEMU)</a:t>
            </a:r>
            <a:endParaRPr lang="en-US" sz="1500" dirty="0"/>
          </a:p>
        </p:txBody>
      </p:sp>
      <p:sp>
        <p:nvSpPr>
          <p:cNvPr id="12" name="Header HICP (European Union)"/>
          <p:cNvSpPr/>
          <p:nvPr/>
        </p:nvSpPr>
        <p:spPr>
          <a:xfrm>
            <a:off x="5641848" y="1691640"/>
            <a:ext cx="2898648" cy="502920"/>
          </a:xfrm>
          <a:prstGeom prst="roundRect">
            <a:avLst>
              <a:gd name="adj" fmla="val 10909"/>
            </a:avLst>
          </a:prstGeom>
          <a:solidFill>
            <a:srgbClr val="00704A">
              <a:alpha val="18000"/>
            </a:srgbClr>
          </a:solidFill>
          <a:ln w="12700">
            <a:solidFill>
              <a:srgbClr val="00704A"/>
            </a:solidFill>
            <a:prstDash val="solid"/>
          </a:ln>
        </p:spPr>
      </p:sp>
      <p:sp>
        <p:nvSpPr>
          <p:cNvPr id="13" name="Text 11"/>
          <p:cNvSpPr txBox="1"/>
          <p:nvPr/>
        </p:nvSpPr>
        <p:spPr>
          <a:xfrm>
            <a:off x="5641848"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HICP (European Union)</a:t>
            </a:r>
            <a:endParaRPr lang="en-US" sz="1500" dirty="0"/>
          </a:p>
        </p:txBody>
      </p:sp>
      <p:sp>
        <p:nvSpPr>
          <p:cNvPr id="14" name="Header Consumption deflator"/>
          <p:cNvSpPr/>
          <p:nvPr/>
        </p:nvSpPr>
        <p:spPr>
          <a:xfrm>
            <a:off x="8677656" y="1691640"/>
            <a:ext cx="2898648" cy="502920"/>
          </a:xfrm>
          <a:prstGeom prst="roundRect">
            <a:avLst>
              <a:gd name="adj" fmla="val 10909"/>
            </a:avLst>
          </a:prstGeom>
          <a:solidFill>
            <a:srgbClr val="0E7C86">
              <a:alpha val="18000"/>
            </a:srgbClr>
          </a:solidFill>
          <a:ln w="12700">
            <a:solidFill>
              <a:srgbClr val="0E7C86"/>
            </a:solidFill>
            <a:prstDash val="solid"/>
          </a:ln>
        </p:spPr>
      </p:sp>
      <p:sp>
        <p:nvSpPr>
          <p:cNvPr id="15" name="Text 13"/>
          <p:cNvSpPr txBox="1"/>
          <p:nvPr/>
        </p:nvSpPr>
        <p:spPr>
          <a:xfrm>
            <a:off x="8677656"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Consumption deflator</a:t>
            </a:r>
            <a:endParaRPr lang="en-US" sz="1500" dirty="0"/>
          </a:p>
        </p:txBody>
      </p:sp>
      <p:sp>
        <p:nvSpPr>
          <p:cNvPr id="16" name="Text 14"/>
          <p:cNvSpPr txBox="1"/>
          <p:nvPr/>
        </p:nvSpPr>
        <p:spPr>
          <a:xfrm>
            <a:off x="502920" y="23317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What it is</a:t>
            </a:r>
            <a:endParaRPr lang="en-US" sz="1400" dirty="0"/>
          </a:p>
        </p:txBody>
      </p:sp>
      <p:sp>
        <p:nvSpPr>
          <p:cNvPr id="17" name="Cell 0-0"/>
          <p:cNvSpPr/>
          <p:nvPr/>
        </p:nvSpPr>
        <p:spPr>
          <a:xfrm>
            <a:off x="2606040" y="2331720"/>
            <a:ext cx="2898648" cy="804672"/>
          </a:xfrm>
          <a:prstGeom prst="roundRect">
            <a:avLst>
              <a:gd name="adj" fmla="val 9091"/>
            </a:avLst>
          </a:prstGeom>
          <a:solidFill>
            <a:srgbClr val="F4F7F5"/>
          </a:solidFill>
          <a:ln w="9525">
            <a:solidFill>
              <a:srgbClr val="D5DED9"/>
            </a:solidFill>
            <a:prstDash val="solid"/>
          </a:ln>
        </p:spPr>
      </p:sp>
      <p:sp>
        <p:nvSpPr>
          <p:cNvPr id="18" name="Text 16"/>
          <p:cNvSpPr txBox="1"/>
          <p:nvPr/>
        </p:nvSpPr>
        <p:spPr>
          <a:xfrm>
            <a:off x="2743200"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The national CPI of each member state, harmonised across the eight countries</a:t>
            </a:r>
            <a:endParaRPr lang="en-US" sz="1250" dirty="0"/>
          </a:p>
        </p:txBody>
      </p:sp>
      <p:sp>
        <p:nvSpPr>
          <p:cNvPr id="19" name="Cell 0-1"/>
          <p:cNvSpPr/>
          <p:nvPr/>
        </p:nvSpPr>
        <p:spPr>
          <a:xfrm>
            <a:off x="5641848" y="2331720"/>
            <a:ext cx="2898648" cy="804672"/>
          </a:xfrm>
          <a:prstGeom prst="roundRect">
            <a:avLst>
              <a:gd name="adj" fmla="val 9091"/>
            </a:avLst>
          </a:prstGeom>
          <a:solidFill>
            <a:srgbClr val="F4F7F5"/>
          </a:solidFill>
          <a:ln w="9525">
            <a:solidFill>
              <a:srgbClr val="D5DED9"/>
            </a:solidFill>
            <a:prstDash val="solid"/>
          </a:ln>
        </p:spPr>
      </p:sp>
      <p:sp>
        <p:nvSpPr>
          <p:cNvPr id="20" name="Text 18"/>
          <p:cNvSpPr txBox="1"/>
          <p:nvPr/>
        </p:nvSpPr>
        <p:spPr>
          <a:xfrm>
            <a:off x="5779008"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Harmonised index of EU countries, published by Eurostat</a:t>
            </a:r>
            <a:endParaRPr lang="en-US" sz="1250" dirty="0"/>
          </a:p>
        </p:txBody>
      </p:sp>
      <p:sp>
        <p:nvSpPr>
          <p:cNvPr id="21" name="Cell 0-2"/>
          <p:cNvSpPr/>
          <p:nvPr/>
        </p:nvSpPr>
        <p:spPr>
          <a:xfrm>
            <a:off x="8677656" y="2331720"/>
            <a:ext cx="2898648" cy="804672"/>
          </a:xfrm>
          <a:prstGeom prst="roundRect">
            <a:avLst>
              <a:gd name="adj" fmla="val 9091"/>
            </a:avLst>
          </a:prstGeom>
          <a:solidFill>
            <a:srgbClr val="F4F7F5"/>
          </a:solidFill>
          <a:ln w="9525">
            <a:solidFill>
              <a:srgbClr val="D5DED9"/>
            </a:solidFill>
            <a:prstDash val="solid"/>
          </a:ln>
        </p:spPr>
      </p:sp>
      <p:sp>
        <p:nvSpPr>
          <p:cNvPr id="22" name="Text 20"/>
          <p:cNvSpPr txBox="1"/>
          <p:nvPr/>
        </p:nvSpPr>
        <p:spPr>
          <a:xfrm>
            <a:off x="8814816"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Ratio of consumption at current prices to volume, in the national accounts</a:t>
            </a:r>
            <a:endParaRPr lang="en-US" sz="1250" dirty="0"/>
          </a:p>
        </p:txBody>
      </p:sp>
      <p:sp>
        <p:nvSpPr>
          <p:cNvPr id="23" name="Text 21"/>
          <p:cNvSpPr txBox="1"/>
          <p:nvPr/>
        </p:nvSpPr>
        <p:spPr>
          <a:xfrm>
            <a:off x="502920" y="32461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Classification</a:t>
            </a:r>
            <a:endParaRPr lang="en-US" sz="1400" dirty="0"/>
          </a:p>
        </p:txBody>
      </p:sp>
      <p:sp>
        <p:nvSpPr>
          <p:cNvPr id="24" name="Cell 1-0"/>
          <p:cNvSpPr/>
          <p:nvPr/>
        </p:nvSpPr>
        <p:spPr>
          <a:xfrm>
            <a:off x="2606040" y="3246120"/>
            <a:ext cx="2898648" cy="804672"/>
          </a:xfrm>
          <a:prstGeom prst="roundRect">
            <a:avLst>
              <a:gd name="adj" fmla="val 9091"/>
            </a:avLst>
          </a:prstGeom>
          <a:solidFill>
            <a:srgbClr val="F4F7F5"/>
          </a:solidFill>
          <a:ln w="9525">
            <a:solidFill>
              <a:srgbClr val="D5DED9"/>
            </a:solidFill>
            <a:prstDash val="solid"/>
          </a:ln>
        </p:spPr>
      </p:sp>
      <p:sp>
        <p:nvSpPr>
          <p:cNvPr id="25" name="Text 23"/>
          <p:cNvSpPr txBox="1"/>
          <p:nvPr/>
        </p:nvSpPr>
        <p:spPr>
          <a:xfrm>
            <a:off x="2743200"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Classification derived from COICOP 2018, 13 divisions, base 2023</a:t>
            </a:r>
            <a:endParaRPr lang="en-US" sz="1250" dirty="0"/>
          </a:p>
        </p:txBody>
      </p:sp>
      <p:sp>
        <p:nvSpPr>
          <p:cNvPr id="26" name="Cell 1-1"/>
          <p:cNvSpPr/>
          <p:nvPr/>
        </p:nvSpPr>
        <p:spPr>
          <a:xfrm>
            <a:off x="5641848" y="3246120"/>
            <a:ext cx="2898648" cy="804672"/>
          </a:xfrm>
          <a:prstGeom prst="roundRect">
            <a:avLst>
              <a:gd name="adj" fmla="val 9091"/>
            </a:avLst>
          </a:prstGeom>
          <a:solidFill>
            <a:srgbClr val="F4F7F5"/>
          </a:solidFill>
          <a:ln w="9525">
            <a:solidFill>
              <a:srgbClr val="D5DED9"/>
            </a:solidFill>
            <a:prstDash val="solid"/>
          </a:ln>
        </p:spPr>
      </p:sp>
      <p:sp>
        <p:nvSpPr>
          <p:cNvPr id="27" name="Text 25"/>
          <p:cNvSpPr txBox="1"/>
          <p:nvPr/>
        </p:nvSpPr>
        <p:spPr>
          <a:xfrm>
            <a:off x="5779008"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ECOICOP version 2, identical to COICOP 2018, since January 2026</a:t>
            </a:r>
            <a:endParaRPr lang="en-US" sz="1250" dirty="0"/>
          </a:p>
        </p:txBody>
      </p:sp>
      <p:sp>
        <p:nvSpPr>
          <p:cNvPr id="28" name="Cell 1-2"/>
          <p:cNvSpPr/>
          <p:nvPr/>
        </p:nvSpPr>
        <p:spPr>
          <a:xfrm>
            <a:off x="8677656" y="3246120"/>
            <a:ext cx="2898648" cy="804672"/>
          </a:xfrm>
          <a:prstGeom prst="roundRect">
            <a:avLst>
              <a:gd name="adj" fmla="val 9091"/>
            </a:avLst>
          </a:prstGeom>
          <a:solidFill>
            <a:srgbClr val="F4F7F5"/>
          </a:solidFill>
          <a:ln w="9525">
            <a:solidFill>
              <a:srgbClr val="D5DED9"/>
            </a:solidFill>
            <a:prstDash val="solid"/>
          </a:ln>
        </p:spPr>
      </p:sp>
      <p:sp>
        <p:nvSpPr>
          <p:cNvPr id="29" name="Text 27"/>
          <p:cNvSpPr txBox="1"/>
          <p:nvPr/>
        </p:nvSpPr>
        <p:spPr>
          <a:xfrm>
            <a:off x="8814816"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COICOP 2018 in EU national accounts since 2024</a:t>
            </a:r>
            <a:endParaRPr lang="en-US" sz="1250" dirty="0"/>
          </a:p>
        </p:txBody>
      </p:sp>
      <p:sp>
        <p:nvSpPr>
          <p:cNvPr id="30" name="Text 28"/>
          <p:cNvSpPr txBox="1"/>
          <p:nvPr/>
        </p:nvSpPr>
        <p:spPr>
          <a:xfrm>
            <a:off x="502920" y="41605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Weights</a:t>
            </a:r>
            <a:endParaRPr lang="en-US" sz="1400" dirty="0"/>
          </a:p>
        </p:txBody>
      </p:sp>
      <p:sp>
        <p:nvSpPr>
          <p:cNvPr id="31" name="Cell 2-0"/>
          <p:cNvSpPr/>
          <p:nvPr/>
        </p:nvSpPr>
        <p:spPr>
          <a:xfrm>
            <a:off x="2606040" y="4160520"/>
            <a:ext cx="2898648" cy="804672"/>
          </a:xfrm>
          <a:prstGeom prst="roundRect">
            <a:avLst>
              <a:gd name="adj" fmla="val 9091"/>
            </a:avLst>
          </a:prstGeom>
          <a:solidFill>
            <a:srgbClr val="F4F7F5"/>
          </a:solidFill>
          <a:ln w="9525">
            <a:solidFill>
              <a:srgbClr val="D5DED9"/>
            </a:solidFill>
            <a:prstDash val="solid"/>
          </a:ln>
        </p:spPr>
      </p:sp>
      <p:sp>
        <p:nvSpPr>
          <p:cNvPr id="32" name="Text 30"/>
          <p:cNvSpPr txBox="1"/>
          <p:nvPr/>
        </p:nvSpPr>
        <p:spPr>
          <a:xfrm>
            <a:off x="2743200"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EHCVM 2021-2022 household survey</a:t>
            </a:r>
            <a:endParaRPr lang="en-US" sz="1250" dirty="0"/>
          </a:p>
        </p:txBody>
      </p:sp>
      <p:sp>
        <p:nvSpPr>
          <p:cNvPr id="33" name="Cell 2-1"/>
          <p:cNvSpPr/>
          <p:nvPr/>
        </p:nvSpPr>
        <p:spPr>
          <a:xfrm>
            <a:off x="5641848" y="4160520"/>
            <a:ext cx="2898648" cy="804672"/>
          </a:xfrm>
          <a:prstGeom prst="roundRect">
            <a:avLst>
              <a:gd name="adj" fmla="val 9091"/>
            </a:avLst>
          </a:prstGeom>
          <a:solidFill>
            <a:srgbClr val="F4F7F5"/>
          </a:solidFill>
          <a:ln w="9525">
            <a:solidFill>
              <a:srgbClr val="D5DED9"/>
            </a:solidFill>
            <a:prstDash val="solid"/>
          </a:ln>
        </p:spPr>
      </p:sp>
      <p:sp>
        <p:nvSpPr>
          <p:cNvPr id="34" name="Text 32"/>
          <p:cNvSpPr txBox="1"/>
          <p:nvPr/>
        </p:nvSpPr>
        <p:spPr>
          <a:xfrm>
            <a:off x="5779008"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National accounts, updated every year</a:t>
            </a:r>
            <a:endParaRPr lang="en-US" sz="1250" dirty="0"/>
          </a:p>
        </p:txBody>
      </p:sp>
      <p:sp>
        <p:nvSpPr>
          <p:cNvPr id="35" name="Cell 2-2"/>
          <p:cNvSpPr/>
          <p:nvPr/>
        </p:nvSpPr>
        <p:spPr>
          <a:xfrm>
            <a:off x="8677656" y="4160520"/>
            <a:ext cx="2898648" cy="804672"/>
          </a:xfrm>
          <a:prstGeom prst="roundRect">
            <a:avLst>
              <a:gd name="adj" fmla="val 9091"/>
            </a:avLst>
          </a:prstGeom>
          <a:solidFill>
            <a:srgbClr val="F4F7F5"/>
          </a:solidFill>
          <a:ln w="9525">
            <a:solidFill>
              <a:srgbClr val="D5DED9"/>
            </a:solidFill>
            <a:prstDash val="solid"/>
          </a:ln>
        </p:spPr>
      </p:sp>
      <p:sp>
        <p:nvSpPr>
          <p:cNvPr id="36" name="Text 34"/>
          <p:cNvSpPr txBox="1"/>
          <p:nvPr/>
        </p:nvSpPr>
        <p:spPr>
          <a:xfrm>
            <a:off x="8814816"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Change every period (Paasche-type formula)</a:t>
            </a:r>
            <a:endParaRPr lang="en-US" sz="1250" dirty="0"/>
          </a:p>
        </p:txBody>
      </p:sp>
      <p:sp>
        <p:nvSpPr>
          <p:cNvPr id="37" name="Text 35"/>
          <p:cNvSpPr txBox="1"/>
          <p:nvPr/>
        </p:nvSpPr>
        <p:spPr>
          <a:xfrm>
            <a:off x="502920" y="50749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Main use</a:t>
            </a:r>
            <a:endParaRPr lang="en-US" sz="1400" dirty="0"/>
          </a:p>
        </p:txBody>
      </p:sp>
      <p:sp>
        <p:nvSpPr>
          <p:cNvPr id="38" name="Cell 3-0"/>
          <p:cNvSpPr/>
          <p:nvPr/>
        </p:nvSpPr>
        <p:spPr>
          <a:xfrm>
            <a:off x="2606040" y="5074920"/>
            <a:ext cx="2898648" cy="804672"/>
          </a:xfrm>
          <a:prstGeom prst="roundRect">
            <a:avLst>
              <a:gd name="adj" fmla="val 9091"/>
            </a:avLst>
          </a:prstGeom>
          <a:solidFill>
            <a:srgbClr val="F4F7F5"/>
          </a:solidFill>
          <a:ln w="9525">
            <a:solidFill>
              <a:srgbClr val="D5DED9"/>
            </a:solidFill>
            <a:prstDash val="solid"/>
          </a:ln>
        </p:spPr>
      </p:sp>
      <p:sp>
        <p:nvSpPr>
          <p:cNvPr id="39" name="Text 37"/>
          <p:cNvSpPr txBox="1"/>
          <p:nvPr/>
        </p:nvSpPr>
        <p:spPr>
          <a:xfrm>
            <a:off x="2743200"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BCEAO monetary policy, convergence criterion</a:t>
            </a:r>
            <a:endParaRPr lang="en-US" sz="1250" dirty="0"/>
          </a:p>
        </p:txBody>
      </p:sp>
      <p:sp>
        <p:nvSpPr>
          <p:cNvPr id="40" name="Cell 3-1"/>
          <p:cNvSpPr/>
          <p:nvPr/>
        </p:nvSpPr>
        <p:spPr>
          <a:xfrm>
            <a:off x="5641848" y="5074920"/>
            <a:ext cx="2898648" cy="804672"/>
          </a:xfrm>
          <a:prstGeom prst="roundRect">
            <a:avLst>
              <a:gd name="adj" fmla="val 9091"/>
            </a:avLst>
          </a:prstGeom>
          <a:solidFill>
            <a:srgbClr val="F4F7F5"/>
          </a:solidFill>
          <a:ln w="9525">
            <a:solidFill>
              <a:srgbClr val="D5DED9"/>
            </a:solidFill>
            <a:prstDash val="solid"/>
          </a:ln>
        </p:spPr>
      </p:sp>
      <p:sp>
        <p:nvSpPr>
          <p:cNvPr id="41" name="Text 39"/>
          <p:cNvSpPr txBox="1"/>
          <p:nvPr/>
        </p:nvSpPr>
        <p:spPr>
          <a:xfrm>
            <a:off x="5779008"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ECB 2% inflation target</a:t>
            </a:r>
            <a:endParaRPr lang="en-US" sz="1250" dirty="0"/>
          </a:p>
        </p:txBody>
      </p:sp>
      <p:sp>
        <p:nvSpPr>
          <p:cNvPr id="42" name="Cell 3-2"/>
          <p:cNvSpPr/>
          <p:nvPr/>
        </p:nvSpPr>
        <p:spPr>
          <a:xfrm>
            <a:off x="8677656" y="5074920"/>
            <a:ext cx="2898648" cy="804672"/>
          </a:xfrm>
          <a:prstGeom prst="roundRect">
            <a:avLst>
              <a:gd name="adj" fmla="val 9091"/>
            </a:avLst>
          </a:prstGeom>
          <a:solidFill>
            <a:srgbClr val="F4F7F5"/>
          </a:solidFill>
          <a:ln w="9525">
            <a:solidFill>
              <a:srgbClr val="D5DED9"/>
            </a:solidFill>
            <a:prstDash val="solid"/>
          </a:ln>
        </p:spPr>
      </p:sp>
      <p:sp>
        <p:nvSpPr>
          <p:cNvPr id="43" name="Text 41"/>
          <p:cNvSpPr txBox="1"/>
          <p:nvPr/>
        </p:nvSpPr>
        <p:spPr>
          <a:xfrm>
            <a:off x="8814816"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Macroeconomic analysis, consumption volumes</a:t>
            </a:r>
            <a:endParaRPr lang="en-US" sz="1250" dirty="0"/>
          </a:p>
        </p:txBody>
      </p:sp>
      <p:sp>
        <p:nvSpPr>
          <p:cNvPr id="44" name="Text 42"/>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Sources: BCEAO, annual report on consumer prices in WAEMU in 2025; ANSD, HCPI March 2026; Eurostat; ECB.</a:t>
            </a:r>
            <a:endParaRPr lang="en-US" sz="1000" dirty="0"/>
          </a:p>
        </p:txBody>
      </p:sp>
      <p:sp>
        <p:nvSpPr>
          <p:cNvPr id="4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UNDERSTANDING THE CPI</a:t>
            </a:r>
            <a:endParaRPr lang="en-US" sz="1200" dirty="0"/>
          </a:p>
        </p:txBody>
      </p:sp>
      <p:sp>
        <p:nvSpPr>
          <p:cNvPr id="3" name="Progress dot 1"/>
          <p:cNvSpPr/>
          <p:nvPr/>
        </p:nvSpPr>
        <p:spPr>
          <a:xfrm>
            <a:off x="10561320" y="365760"/>
            <a:ext cx="128016" cy="128016"/>
          </a:xfrm>
          <a:prstGeom prst="ellipse">
            <a:avLst/>
          </a:prstGeom>
          <a:solidFill>
            <a:srgbClr val="00A86A"/>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WAEMU: from the 2022 peak to stable prices in 2025</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Annual average inflation measured by the HCPI, %</a:t>
            </a:r>
            <a:endParaRPr lang="en-US" sz="1500" dirty="0"/>
          </a:p>
        </p:txBody>
      </p:sp>
      <p:sp>
        <p:nvSpPr>
          <p:cNvPr id="10" name="WAEMU chart frame"/>
          <p:cNvSpPr/>
          <p:nvPr/>
        </p:nvSpPr>
        <p:spPr>
          <a:xfrm>
            <a:off x="502920" y="1691640"/>
            <a:ext cx="5486400" cy="4343400"/>
          </a:xfrm>
          <a:prstGeom prst="roundRect">
            <a:avLst>
              <a:gd name="adj" fmla="val 1684"/>
            </a:avLst>
          </a:prstGeom>
          <a:solidFill>
            <a:srgbClr val="F4F7F5"/>
          </a:solidFill>
          <a:ln w="9525">
            <a:solidFill>
              <a:srgbClr val="D5DED9"/>
            </a:solidFill>
            <a:prstDash val="solid"/>
          </a:ln>
        </p:spPr>
      </p:sp>
      <p:graphicFrame>
        <p:nvGraphicFramePr>
          <p:cNvPr id="11" name="WAEMU inflation chart"/>
          <p:cNvGraphicFramePr/>
          <p:nvPr/>
        </p:nvGraphicFramePr>
        <p:xfrm>
          <a:off x="640080" y="1783080"/>
          <a:ext cx="52120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Country chart frame"/>
          <p:cNvSpPr/>
          <p:nvPr/>
        </p:nvSpPr>
        <p:spPr>
          <a:xfrm>
            <a:off x="6172200" y="1691640"/>
            <a:ext cx="5486400" cy="4343400"/>
          </a:xfrm>
          <a:prstGeom prst="roundRect">
            <a:avLst>
              <a:gd name="adj" fmla="val 1684"/>
            </a:avLst>
          </a:prstGeom>
          <a:solidFill>
            <a:srgbClr val="F4F7F5"/>
          </a:solidFill>
          <a:ln w="9525">
            <a:solidFill>
              <a:srgbClr val="D5DED9"/>
            </a:solidFill>
            <a:prstDash val="solid"/>
          </a:ln>
        </p:spPr>
      </p:sp>
      <p:graphicFrame>
        <p:nvGraphicFramePr>
          <p:cNvPr id="13" name="CI SN inflation chart"/>
          <p:cNvGraphicFramePr/>
          <p:nvPr/>
        </p:nvGraphicFramePr>
        <p:xfrm>
          <a:off x="6309360" y="1783080"/>
          <a:ext cx="521208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BCEAO, Annual report on consumer prices in WAEMU in 2025 (June 2026), annex 1 and table 1. Annual averages.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02</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The basket and COICOP 2018</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What goes into the basket, with what weight, and under which framework?</a:t>
            </a:r>
            <a:endParaRPr lang="en-US" sz="1900" dirty="0"/>
          </a:p>
        </p:txBody>
      </p:sp>
      <p:sp>
        <p:nvSpPr>
          <p:cNvPr id="5" name="Section icon circle"/>
          <p:cNvSpPr/>
          <p:nvPr/>
        </p:nvSpPr>
        <p:spPr>
          <a:xfrm>
            <a:off x="9079992" y="2340864"/>
            <a:ext cx="1280160" cy="1280160"/>
          </a:xfrm>
          <a:prstGeom prst="ellipse">
            <a:avLst/>
          </a:prstGeom>
          <a:solidFill>
            <a:srgbClr val="FFFFFF"/>
          </a:solidFill>
          <a:ln/>
        </p:spPr>
      </p:sp>
      <p:pic>
        <p:nvPicPr>
          <p:cNvPr id="6" name="Section ic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rogress dot 1"/>
          <p:cNvSpPr/>
          <p:nvPr/>
        </p:nvSpPr>
        <p:spPr>
          <a:xfrm>
            <a:off x="731520" y="5989320"/>
            <a:ext cx="155448" cy="155448"/>
          </a:xfrm>
          <a:prstGeom prst="ellipse">
            <a:avLst/>
          </a:prstGeom>
          <a:solidFill>
            <a:srgbClr val="FFFFFF">
              <a:alpha val="40000"/>
            </a:srgbClr>
          </a:solidFill>
          <a:ln/>
        </p:spPr>
      </p:sp>
      <p:sp>
        <p:nvSpPr>
          <p:cNvPr id="8" name="Progress dot 2"/>
          <p:cNvSpPr/>
          <p:nvPr/>
        </p:nvSpPr>
        <p:spPr>
          <a:xfrm>
            <a:off x="1024128" y="5989320"/>
            <a:ext cx="155448" cy="155448"/>
          </a:xfrm>
          <a:prstGeom prst="ellipse">
            <a:avLst/>
          </a:prstGeom>
          <a:solidFill>
            <a:srgbClr val="F5C242"/>
          </a:solidFill>
          <a:ln/>
        </p:spPr>
      </p:sp>
      <p:sp>
        <p:nvSpPr>
          <p:cNvPr id="9" name="Progress dot 3"/>
          <p:cNvSpPr/>
          <p:nvPr/>
        </p:nvSpPr>
        <p:spPr>
          <a:xfrm>
            <a:off x="1316736" y="5989320"/>
            <a:ext cx="155448" cy="155448"/>
          </a:xfrm>
          <a:prstGeom prst="ellipse">
            <a:avLst/>
          </a:prstGeom>
          <a:solidFill>
            <a:srgbClr val="FFFFFF">
              <a:alpha val="40000"/>
            </a:srgbClr>
          </a:solidFill>
          <a:ln/>
        </p:spPr>
      </p:sp>
      <p:sp>
        <p:nvSpPr>
          <p:cNvPr id="10" name="Progress dot 4"/>
          <p:cNvSpPr/>
          <p:nvPr/>
        </p:nvSpPr>
        <p:spPr>
          <a:xfrm>
            <a:off x="1609344" y="5989320"/>
            <a:ext cx="155448" cy="155448"/>
          </a:xfrm>
          <a:prstGeom prst="ellipse">
            <a:avLst/>
          </a:prstGeom>
          <a:solidFill>
            <a:srgbClr val="FFFFFF">
              <a:alpha val="40000"/>
            </a:srgbClr>
          </a:solidFill>
          <a:ln/>
        </p:spPr>
      </p:sp>
      <p:sp>
        <p:nvSpPr>
          <p:cNvPr id="11" name="Progress dot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THE BASKET AND COICOP 2018</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00704A"/>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The basket, a snapshot of consumption</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From household budgets to items priced each month: the example of Senegal's HCPI, base 2023</a:t>
            </a:r>
            <a:endParaRPr lang="en-US" sz="1500" dirty="0"/>
          </a:p>
        </p:txBody>
      </p:sp>
      <p:sp>
        <p:nvSpPr>
          <p:cNvPr id="10" name="Basket step card 1"/>
          <p:cNvSpPr/>
          <p:nvPr/>
        </p:nvSpPr>
        <p:spPr>
          <a:xfrm>
            <a:off x="502920" y="1783080"/>
            <a:ext cx="2514600" cy="2606040"/>
          </a:xfrm>
          <a:prstGeom prst="roundRect">
            <a:avLst>
              <a:gd name="adj" fmla="val 2909"/>
            </a:avLst>
          </a:prstGeom>
          <a:solidFill>
            <a:srgbClr val="F4F7F5"/>
          </a:solidFill>
          <a:ln w="9525">
            <a:solidFill>
              <a:srgbClr val="D5DED9"/>
            </a:solidFill>
            <a:prstDash val="solid"/>
          </a:ln>
        </p:spPr>
      </p:sp>
      <p:sp>
        <p:nvSpPr>
          <p:cNvPr id="11" name="Basket step 1 circle"/>
          <p:cNvSpPr/>
          <p:nvPr/>
        </p:nvSpPr>
        <p:spPr>
          <a:xfrm>
            <a:off x="777240" y="2011680"/>
            <a:ext cx="685800" cy="685800"/>
          </a:xfrm>
          <a:prstGeom prst="ellipse">
            <a:avLst/>
          </a:prstGeom>
          <a:solidFill>
            <a:srgbClr val="00704A">
              <a:alpha val="22000"/>
            </a:srgbClr>
          </a:solidFill>
          <a:ln/>
        </p:spPr>
      </p:sp>
      <p:pic>
        <p:nvPicPr>
          <p:cNvPr id="12" name="Basket step 1 icon" descr="preencoded.png"/>
          <p:cNvPicPr>
            <a:picLocks noChangeAspect="1"/>
          </p:cNvPicPr>
          <p:nvPr/>
        </p:nvPicPr>
        <p:blipFill>
          <a:blip r:embed="rId3"/>
          <a:stretch>
            <a:fillRect/>
          </a:stretch>
        </p:blipFill>
        <p:spPr>
          <a:xfrm>
            <a:off x="948690" y="2183130"/>
            <a:ext cx="342900" cy="342900"/>
          </a:xfrm>
          <a:prstGeom prst="rect">
            <a:avLst/>
          </a:prstGeom>
        </p:spPr>
      </p:pic>
      <p:sp>
        <p:nvSpPr>
          <p:cNvPr id="13" name="Text 10"/>
          <p:cNvSpPr txBox="1"/>
          <p:nvPr/>
        </p:nvSpPr>
        <p:spPr>
          <a:xfrm>
            <a:off x="77724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Budget survey</a:t>
            </a:r>
            <a:endParaRPr lang="en-US" sz="1700" dirty="0"/>
          </a:p>
        </p:txBody>
      </p:sp>
      <p:sp>
        <p:nvSpPr>
          <p:cNvPr id="14" name="Text 11"/>
          <p:cNvSpPr txBox="1"/>
          <p:nvPr/>
        </p:nvSpPr>
        <p:spPr>
          <a:xfrm>
            <a:off x="77724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EHCVM 2021-2022: what households spend, item by item</a:t>
            </a:r>
            <a:endParaRPr lang="en-US" sz="1400" dirty="0"/>
          </a:p>
        </p:txBody>
      </p:sp>
      <p:pic>
        <p:nvPicPr>
          <p:cNvPr id="15" name="Basket arrow 1" descr="preencoded.png"/>
          <p:cNvPicPr>
            <a:picLocks noChangeAspect="1"/>
          </p:cNvPicPr>
          <p:nvPr/>
        </p:nvPicPr>
        <p:blipFill>
          <a:blip r:embed="rId4"/>
          <a:stretch>
            <a:fillRect/>
          </a:stretch>
        </p:blipFill>
        <p:spPr>
          <a:xfrm>
            <a:off x="3081528" y="2926080"/>
            <a:ext cx="237744" cy="237744"/>
          </a:xfrm>
          <a:prstGeom prst="rect">
            <a:avLst/>
          </a:prstGeom>
        </p:spPr>
      </p:pic>
      <p:sp>
        <p:nvSpPr>
          <p:cNvPr id="16" name="Basket step card 2"/>
          <p:cNvSpPr/>
          <p:nvPr/>
        </p:nvSpPr>
        <p:spPr>
          <a:xfrm>
            <a:off x="3383280" y="1783080"/>
            <a:ext cx="2514600" cy="2606040"/>
          </a:xfrm>
          <a:prstGeom prst="roundRect">
            <a:avLst>
              <a:gd name="adj" fmla="val 2909"/>
            </a:avLst>
          </a:prstGeom>
          <a:solidFill>
            <a:srgbClr val="F4F7F5"/>
          </a:solidFill>
          <a:ln w="9525">
            <a:solidFill>
              <a:srgbClr val="D5DED9"/>
            </a:solidFill>
            <a:prstDash val="solid"/>
          </a:ln>
        </p:spPr>
      </p:sp>
      <p:sp>
        <p:nvSpPr>
          <p:cNvPr id="17" name="Basket step 2 circle"/>
          <p:cNvSpPr/>
          <p:nvPr/>
        </p:nvSpPr>
        <p:spPr>
          <a:xfrm>
            <a:off x="3657600" y="2011680"/>
            <a:ext cx="685800" cy="685800"/>
          </a:xfrm>
          <a:prstGeom prst="ellipse">
            <a:avLst/>
          </a:prstGeom>
          <a:solidFill>
            <a:srgbClr val="00704A">
              <a:alpha val="22000"/>
            </a:srgbClr>
          </a:solidFill>
          <a:ln/>
        </p:spPr>
      </p:sp>
      <p:pic>
        <p:nvPicPr>
          <p:cNvPr id="18" name="Basket step 2 icon" descr="preencoded.png"/>
          <p:cNvPicPr>
            <a:picLocks noChangeAspect="1"/>
          </p:cNvPicPr>
          <p:nvPr/>
        </p:nvPicPr>
        <p:blipFill>
          <a:blip r:embed="rId5"/>
          <a:stretch>
            <a:fillRect/>
          </a:stretch>
        </p:blipFill>
        <p:spPr>
          <a:xfrm>
            <a:off x="3829050" y="2183130"/>
            <a:ext cx="342900" cy="342900"/>
          </a:xfrm>
          <a:prstGeom prst="rect">
            <a:avLst/>
          </a:prstGeom>
        </p:spPr>
      </p:pic>
      <p:sp>
        <p:nvSpPr>
          <p:cNvPr id="19" name="Text 14"/>
          <p:cNvSpPr txBox="1"/>
          <p:nvPr/>
        </p:nvSpPr>
        <p:spPr>
          <a:xfrm>
            <a:off x="365760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Classification</a:t>
            </a:r>
            <a:endParaRPr lang="en-US" sz="1700" dirty="0"/>
          </a:p>
        </p:txBody>
      </p:sp>
      <p:sp>
        <p:nvSpPr>
          <p:cNvPr id="20" name="Text 15"/>
          <p:cNvSpPr txBox="1"/>
          <p:nvPr/>
        </p:nvSpPr>
        <p:spPr>
          <a:xfrm>
            <a:off x="365760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Spending coded in a classification derived from COICOP 2018: 13 divisions</a:t>
            </a:r>
            <a:endParaRPr lang="en-US" sz="1400" dirty="0"/>
          </a:p>
        </p:txBody>
      </p:sp>
      <p:pic>
        <p:nvPicPr>
          <p:cNvPr id="21" name="Basket arrow 2" descr="preencoded.png"/>
          <p:cNvPicPr>
            <a:picLocks noChangeAspect="1"/>
          </p:cNvPicPr>
          <p:nvPr/>
        </p:nvPicPr>
        <p:blipFill>
          <a:blip r:embed="rId4"/>
          <a:stretch>
            <a:fillRect/>
          </a:stretch>
        </p:blipFill>
        <p:spPr>
          <a:xfrm>
            <a:off x="5961888" y="2926080"/>
            <a:ext cx="237744" cy="237744"/>
          </a:xfrm>
          <a:prstGeom prst="rect">
            <a:avLst/>
          </a:prstGeom>
        </p:spPr>
      </p:pic>
      <p:sp>
        <p:nvSpPr>
          <p:cNvPr id="22" name="Basket step card 3"/>
          <p:cNvSpPr/>
          <p:nvPr/>
        </p:nvSpPr>
        <p:spPr>
          <a:xfrm>
            <a:off x="6263640" y="1783080"/>
            <a:ext cx="2514600" cy="2606040"/>
          </a:xfrm>
          <a:prstGeom prst="roundRect">
            <a:avLst>
              <a:gd name="adj" fmla="val 2909"/>
            </a:avLst>
          </a:prstGeom>
          <a:solidFill>
            <a:srgbClr val="F4F7F5"/>
          </a:solidFill>
          <a:ln w="9525">
            <a:solidFill>
              <a:srgbClr val="D5DED9"/>
            </a:solidFill>
            <a:prstDash val="solid"/>
          </a:ln>
        </p:spPr>
      </p:sp>
      <p:sp>
        <p:nvSpPr>
          <p:cNvPr id="23" name="Basket step 3 circle"/>
          <p:cNvSpPr/>
          <p:nvPr/>
        </p:nvSpPr>
        <p:spPr>
          <a:xfrm>
            <a:off x="6537960" y="2011680"/>
            <a:ext cx="685800" cy="685800"/>
          </a:xfrm>
          <a:prstGeom prst="ellipse">
            <a:avLst/>
          </a:prstGeom>
          <a:solidFill>
            <a:srgbClr val="00704A">
              <a:alpha val="22000"/>
            </a:srgbClr>
          </a:solidFill>
          <a:ln/>
        </p:spPr>
      </p:sp>
      <p:pic>
        <p:nvPicPr>
          <p:cNvPr id="24" name="Basket step 3 icon" descr="preencoded.png"/>
          <p:cNvPicPr>
            <a:picLocks noChangeAspect="1"/>
          </p:cNvPicPr>
          <p:nvPr/>
        </p:nvPicPr>
        <p:blipFill>
          <a:blip r:embed="rId6"/>
          <a:stretch>
            <a:fillRect/>
          </a:stretch>
        </p:blipFill>
        <p:spPr>
          <a:xfrm>
            <a:off x="6709410" y="2183130"/>
            <a:ext cx="342900" cy="342900"/>
          </a:xfrm>
          <a:prstGeom prst="rect">
            <a:avLst/>
          </a:prstGeom>
        </p:spPr>
      </p:pic>
      <p:sp>
        <p:nvSpPr>
          <p:cNvPr id="25" name="Text 18"/>
          <p:cNvSpPr txBox="1"/>
          <p:nvPr/>
        </p:nvSpPr>
        <p:spPr>
          <a:xfrm>
            <a:off x="653796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Weights</a:t>
            </a:r>
            <a:endParaRPr lang="en-US" sz="1700" dirty="0"/>
          </a:p>
        </p:txBody>
      </p:sp>
      <p:sp>
        <p:nvSpPr>
          <p:cNvPr id="26" name="Text 19"/>
          <p:cNvSpPr txBox="1"/>
          <p:nvPr/>
        </p:nvSpPr>
        <p:spPr>
          <a:xfrm>
            <a:off x="653796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Share of each item in total spending, out of 10,000</a:t>
            </a:r>
            <a:endParaRPr lang="en-US" sz="1400" dirty="0"/>
          </a:p>
        </p:txBody>
      </p:sp>
      <p:pic>
        <p:nvPicPr>
          <p:cNvPr id="27" name="Basket arrow 3" descr="preencoded.png"/>
          <p:cNvPicPr>
            <a:picLocks noChangeAspect="1"/>
          </p:cNvPicPr>
          <p:nvPr/>
        </p:nvPicPr>
        <p:blipFill>
          <a:blip r:embed="rId4"/>
          <a:stretch>
            <a:fillRect/>
          </a:stretch>
        </p:blipFill>
        <p:spPr>
          <a:xfrm>
            <a:off x="8842248" y="2926080"/>
            <a:ext cx="237744" cy="237744"/>
          </a:xfrm>
          <a:prstGeom prst="rect">
            <a:avLst/>
          </a:prstGeom>
        </p:spPr>
      </p:pic>
      <p:sp>
        <p:nvSpPr>
          <p:cNvPr id="28" name="Basket step card 4"/>
          <p:cNvSpPr/>
          <p:nvPr/>
        </p:nvSpPr>
        <p:spPr>
          <a:xfrm>
            <a:off x="9144000" y="1783080"/>
            <a:ext cx="2514600" cy="2606040"/>
          </a:xfrm>
          <a:prstGeom prst="roundRect">
            <a:avLst>
              <a:gd name="adj" fmla="val 2909"/>
            </a:avLst>
          </a:prstGeom>
          <a:solidFill>
            <a:srgbClr val="E8F5EF"/>
          </a:solidFill>
          <a:ln w="19050">
            <a:solidFill>
              <a:srgbClr val="00A86A"/>
            </a:solidFill>
            <a:prstDash val="solid"/>
          </a:ln>
        </p:spPr>
      </p:sp>
      <p:sp>
        <p:nvSpPr>
          <p:cNvPr id="29" name="Basket step 4 circle"/>
          <p:cNvSpPr/>
          <p:nvPr/>
        </p:nvSpPr>
        <p:spPr>
          <a:xfrm>
            <a:off x="9418320" y="2011680"/>
            <a:ext cx="685800" cy="685800"/>
          </a:xfrm>
          <a:prstGeom prst="ellipse">
            <a:avLst/>
          </a:prstGeom>
          <a:solidFill>
            <a:srgbClr val="00A86A">
              <a:alpha val="22000"/>
            </a:srgbClr>
          </a:solidFill>
          <a:ln/>
        </p:spPr>
      </p:sp>
      <p:pic>
        <p:nvPicPr>
          <p:cNvPr id="30" name="Basket step 4 icon" descr="preencoded.png"/>
          <p:cNvPicPr>
            <a:picLocks noChangeAspect="1"/>
          </p:cNvPicPr>
          <p:nvPr/>
        </p:nvPicPr>
        <p:blipFill>
          <a:blip r:embed="rId7"/>
          <a:stretch>
            <a:fillRect/>
          </a:stretch>
        </p:blipFill>
        <p:spPr>
          <a:xfrm>
            <a:off x="9589770" y="2183130"/>
            <a:ext cx="342900" cy="342900"/>
          </a:xfrm>
          <a:prstGeom prst="rect">
            <a:avLst/>
          </a:prstGeom>
        </p:spPr>
      </p:pic>
      <p:sp>
        <p:nvSpPr>
          <p:cNvPr id="31" name="Text 22"/>
          <p:cNvSpPr txBox="1"/>
          <p:nvPr/>
        </p:nvSpPr>
        <p:spPr>
          <a:xfrm>
            <a:off x="941832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Items</a:t>
            </a:r>
            <a:endParaRPr lang="en-US" sz="1700" dirty="0"/>
          </a:p>
        </p:txBody>
      </p:sp>
      <p:sp>
        <p:nvSpPr>
          <p:cNvPr id="32" name="Text 23"/>
          <p:cNvSpPr txBox="1"/>
          <p:nvPr/>
        </p:nvSpPr>
        <p:spPr>
          <a:xfrm>
            <a:off x="941832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Specific products priced each month: "imported broken rice, 1 kg"</a:t>
            </a:r>
            <a:endParaRPr lang="en-US" sz="1400" dirty="0"/>
          </a:p>
        </p:txBody>
      </p:sp>
      <p:sp>
        <p:nvSpPr>
          <p:cNvPr id="33" name="Text 24"/>
          <p:cNvSpPr txBox="1"/>
          <p:nvPr/>
        </p:nvSpPr>
        <p:spPr>
          <a:xfrm>
            <a:off x="502920" y="4617720"/>
            <a:ext cx="10972800" cy="411480"/>
          </a:xfrm>
          <a:prstGeom prst="rect">
            <a:avLst/>
          </a:prstGeom>
          <a:noFill/>
          <a:ln/>
        </p:spPr>
        <p:txBody>
          <a:bodyPr wrap="square" lIns="0" tIns="0" rIns="0" bIns="0" rtlCol="0" anchor="ctr"/>
          <a:lstStyle/>
          <a:p>
            <a:pPr marL="0" indent="0">
              <a:buNone/>
            </a:pPr>
            <a:r>
              <a:rPr lang="en-US" sz="1800" b="1" dirty="0">
                <a:solidFill>
                  <a:srgbClr val="231F20"/>
                </a:solidFill>
              </a:rPr>
              <a:t>Three rules for a good basket</a:t>
            </a:r>
            <a:endParaRPr lang="en-US" sz="1800" dirty="0"/>
          </a:p>
        </p:txBody>
      </p:sp>
      <p:sp>
        <p:nvSpPr>
          <p:cNvPr id="34" name="Text 25"/>
          <p:cNvSpPr txBox="1"/>
          <p:nvPr/>
        </p:nvSpPr>
        <p:spPr>
          <a:xfrm>
            <a:off x="502920" y="5029200"/>
            <a:ext cx="1115568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5E6964"/>
                </a:solidFill>
              </a:rPr>
              <a:t>Representative: selected items reflect what households really buy, including at open-air markets.</a:t>
            </a:r>
            <a:endParaRPr lang="en-US" sz="1500" dirty="0"/>
          </a:p>
          <a:p>
            <a:pPr marL="342900" indent="-342900">
              <a:spcAft>
                <a:spcPts val="400"/>
              </a:spcAft>
              <a:buSzPct val="100000"/>
              <a:buChar char="•"/>
            </a:pPr>
            <a:r>
              <a:rPr lang="en-US" sz="1500" dirty="0">
                <a:solidFill>
                  <a:srgbClr val="5E6964"/>
                </a:solidFill>
              </a:rPr>
              <a:t>Stable but updated: the basket is fixed between two rebasings, then renewed to follow consumption.</a:t>
            </a:r>
            <a:endParaRPr lang="en-US" sz="1500" dirty="0"/>
          </a:p>
          <a:p>
            <a:pPr marL="342900" indent="-342900">
              <a:spcAft>
                <a:spcPts val="400"/>
              </a:spcAft>
              <a:buSzPct val="100000"/>
              <a:buChar char="•"/>
            </a:pPr>
            <a:r>
              <a:rPr lang="en-US" sz="1500" dirty="0">
                <a:solidFill>
                  <a:srgbClr val="5E6964"/>
                </a:solidFill>
              </a:rPr>
              <a:t>Traceable: each item is linked to a COICOP subclass, which ensures international comparability.</a:t>
            </a:r>
            <a:endParaRPr lang="en-US" sz="15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THE BASKET AND COICOP 2018</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00704A"/>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Weights: a highly concentrated basket</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Weight of the 13 divisions in Senegal's HCPI, base 2023, % of spending</a:t>
            </a:r>
            <a:endParaRPr lang="en-US" sz="1500" dirty="0"/>
          </a:p>
        </p:txBody>
      </p:sp>
      <p:sp>
        <p:nvSpPr>
          <p:cNvPr id="10" name="Weights chart frame"/>
          <p:cNvSpPr/>
          <p:nvPr/>
        </p:nvSpPr>
        <p:spPr>
          <a:xfrm>
            <a:off x="502920" y="1645920"/>
            <a:ext cx="7315200" cy="4434840"/>
          </a:xfrm>
          <a:prstGeom prst="roundRect">
            <a:avLst>
              <a:gd name="adj" fmla="val 1649"/>
            </a:avLst>
          </a:prstGeom>
          <a:solidFill>
            <a:srgbClr val="F4F7F5"/>
          </a:solidFill>
          <a:ln w="9525">
            <a:solidFill>
              <a:srgbClr val="D5DED9"/>
            </a:solidFill>
            <a:prstDash val="solid"/>
          </a:ln>
        </p:spPr>
      </p:sp>
      <p:graphicFrame>
        <p:nvGraphicFramePr>
          <p:cNvPr id="11" name="Senegal weights chart"/>
          <p:cNvGraphicFramePr/>
          <p:nvPr/>
        </p:nvGraphicFramePr>
        <p:xfrm>
          <a:off x="594360" y="1691640"/>
          <a:ext cx="71323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8046720" y="1783080"/>
            <a:ext cx="1691640" cy="914400"/>
          </a:xfrm>
          <a:prstGeom prst="rect">
            <a:avLst/>
          </a:prstGeom>
          <a:noFill/>
          <a:ln/>
        </p:spPr>
        <p:txBody>
          <a:bodyPr wrap="square" lIns="0" tIns="0" rIns="0" bIns="0" rtlCol="0" anchor="ctr"/>
          <a:lstStyle/>
          <a:p>
            <a:pPr marL="0" indent="0">
              <a:buNone/>
            </a:pPr>
            <a:r>
              <a:rPr lang="en-US" sz="3400" b="1" dirty="0">
                <a:solidFill>
                  <a:srgbClr val="00A86A"/>
                </a:solidFill>
              </a:rPr>
              <a:t>45.5%</a:t>
            </a:r>
            <a:endParaRPr lang="en-US" sz="3400" dirty="0"/>
          </a:p>
        </p:txBody>
      </p:sp>
      <p:sp>
        <p:nvSpPr>
          <p:cNvPr id="13" name="Text 10"/>
          <p:cNvSpPr txBox="1"/>
          <p:nvPr/>
        </p:nvSpPr>
        <p:spPr>
          <a:xfrm>
            <a:off x="9738360" y="17830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for food: almost half of the basket</a:t>
            </a:r>
            <a:endParaRPr lang="en-US" sz="1300" dirty="0"/>
          </a:p>
        </p:txBody>
      </p:sp>
      <p:sp>
        <p:nvSpPr>
          <p:cNvPr id="14" name="Text 11"/>
          <p:cNvSpPr txBox="1"/>
          <p:nvPr/>
        </p:nvSpPr>
        <p:spPr>
          <a:xfrm>
            <a:off x="8046720" y="3154680"/>
            <a:ext cx="1691640" cy="914400"/>
          </a:xfrm>
          <a:prstGeom prst="rect">
            <a:avLst/>
          </a:prstGeom>
          <a:noFill/>
          <a:ln/>
        </p:spPr>
        <p:txBody>
          <a:bodyPr wrap="square" lIns="0" tIns="0" rIns="0" bIns="0" rtlCol="0" anchor="ctr"/>
          <a:lstStyle/>
          <a:p>
            <a:pPr marL="0" indent="0">
              <a:buNone/>
            </a:pPr>
            <a:r>
              <a:rPr lang="en-US" sz="3400" b="1" dirty="0">
                <a:solidFill>
                  <a:srgbClr val="00704A"/>
                </a:solidFill>
              </a:rPr>
              <a:t>64%</a:t>
            </a:r>
            <a:endParaRPr lang="en-US" sz="3400" dirty="0"/>
          </a:p>
        </p:txBody>
      </p:sp>
      <p:sp>
        <p:nvSpPr>
          <p:cNvPr id="15" name="Text 12"/>
          <p:cNvSpPr txBox="1"/>
          <p:nvPr/>
        </p:nvSpPr>
        <p:spPr>
          <a:xfrm>
            <a:off x="9738360" y="31546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in three divisions: food, restaurants, housing-energy</a:t>
            </a:r>
            <a:endParaRPr lang="en-US" sz="1300" dirty="0"/>
          </a:p>
        </p:txBody>
      </p:sp>
      <p:sp>
        <p:nvSpPr>
          <p:cNvPr id="16" name="Text 13"/>
          <p:cNvSpPr txBox="1"/>
          <p:nvPr/>
        </p:nvSpPr>
        <p:spPr>
          <a:xfrm>
            <a:off x="8046720" y="4526280"/>
            <a:ext cx="1691640" cy="914400"/>
          </a:xfrm>
          <a:prstGeom prst="rect">
            <a:avLst/>
          </a:prstGeom>
          <a:noFill/>
          <a:ln/>
        </p:spPr>
        <p:txBody>
          <a:bodyPr wrap="square" lIns="0" tIns="0" rIns="0" bIns="0" rtlCol="0" anchor="ctr"/>
          <a:lstStyle/>
          <a:p>
            <a:pPr marL="0" indent="0">
              <a:buNone/>
            </a:pPr>
            <a:r>
              <a:rPr lang="en-US" sz="3400" b="1" dirty="0">
                <a:solidFill>
                  <a:srgbClr val="0E7C86"/>
                </a:solidFill>
              </a:rPr>
              <a:t>3%</a:t>
            </a:r>
            <a:endParaRPr lang="en-US" sz="3400" dirty="0"/>
          </a:p>
        </p:txBody>
      </p:sp>
      <p:sp>
        <p:nvSpPr>
          <p:cNvPr id="17" name="Text 14"/>
          <p:cNvSpPr txBox="1"/>
          <p:nvPr/>
        </p:nvSpPr>
        <p:spPr>
          <a:xfrm>
            <a:off x="9738360" y="45262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for the four smallest: insurance, alcohol-tobacco, recreation, education</a:t>
            </a:r>
            <a:endParaRPr lang="en-US" sz="1300" dirty="0"/>
          </a:p>
        </p:txBody>
      </p:sp>
      <p:sp>
        <p:nvSpPr>
          <p:cNvPr id="18" name="Text 15"/>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ANSD, HCPI March 2026, table 1 (weights out of 10,000, converted to %).</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THE BASKET AND COICOP 2018</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00704A"/>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COICOP 2018, the framework behind the basket</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Four nested levels and a product type for each subclass</a:t>
            </a:r>
            <a:endParaRPr lang="en-US" sz="1500" dirty="0"/>
          </a:p>
        </p:txBody>
      </p:sp>
      <p:sp>
        <p:nvSpPr>
          <p:cNvPr id="10" name="Level code 1"/>
          <p:cNvSpPr txBox="1"/>
          <p:nvPr/>
        </p:nvSpPr>
        <p:spPr>
          <a:xfrm>
            <a:off x="502920" y="1783080"/>
            <a:ext cx="1600200" cy="777240"/>
          </a:xfrm>
          <a:prstGeom prst="roundRect">
            <a:avLst>
              <a:gd name="adj" fmla="val 9412"/>
            </a:avLst>
          </a:prstGeom>
          <a:solidFill>
            <a:srgbClr val="00553A"/>
          </a:solid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11" name="Text 9"/>
          <p:cNvSpPr txBox="1"/>
          <p:nvPr/>
        </p:nvSpPr>
        <p:spPr>
          <a:xfrm>
            <a:off x="2286000" y="1783080"/>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Division  </a:t>
            </a:r>
            <a:r>
              <a:rPr lang="en-US" sz="1300" dirty="0">
                <a:solidFill>
                  <a:srgbClr val="5E6964"/>
                </a:solidFill>
              </a:rPr>
              <a:t>15 items</a:t>
            </a:r>
            <a:endParaRPr lang="en-US" sz="1900" dirty="0"/>
          </a:p>
        </p:txBody>
      </p:sp>
      <p:sp>
        <p:nvSpPr>
          <p:cNvPr id="12" name="Text 10"/>
          <p:cNvSpPr txBox="1"/>
          <p:nvPr/>
        </p:nvSpPr>
        <p:spPr>
          <a:xfrm>
            <a:off x="2286000" y="2167128"/>
            <a:ext cx="4572000" cy="384048"/>
          </a:xfrm>
          <a:prstGeom prst="rect">
            <a:avLst/>
          </a:prstGeom>
          <a:noFill/>
          <a:ln/>
        </p:spPr>
        <p:txBody>
          <a:bodyPr wrap="square" lIns="0" tIns="0" rIns="0" bIns="0" rtlCol="0" anchor="ctr"/>
          <a:lstStyle/>
          <a:p>
            <a:pPr marL="0" indent="0">
              <a:buNone/>
            </a:pPr>
            <a:r>
              <a:rPr lang="en-US" sz="1400" dirty="0">
                <a:solidFill>
                  <a:srgbClr val="5E6964"/>
                </a:solidFill>
              </a:rPr>
              <a:t>Food and non-alcoholic beverages</a:t>
            </a:r>
            <a:endParaRPr lang="en-US" sz="1400" dirty="0"/>
          </a:p>
        </p:txBody>
      </p:sp>
      <p:sp>
        <p:nvSpPr>
          <p:cNvPr id="13" name="Level code 2"/>
          <p:cNvSpPr txBox="1"/>
          <p:nvPr/>
        </p:nvSpPr>
        <p:spPr>
          <a:xfrm>
            <a:off x="914400" y="2807208"/>
            <a:ext cx="1600200" cy="777240"/>
          </a:xfrm>
          <a:prstGeom prst="roundRect">
            <a:avLst>
              <a:gd name="adj" fmla="val 9412"/>
            </a:avLst>
          </a:prstGeom>
          <a:solidFill>
            <a:srgbClr val="00704A"/>
          </a:solidFill>
          <a:ln/>
        </p:spPr>
        <p:txBody>
          <a:bodyPr wrap="square" lIns="0" tIns="0" rIns="0" bIns="0" rtlCol="0" anchor="ctr"/>
          <a:lstStyle/>
          <a:p>
            <a:pPr marL="0" indent="0" algn="ctr">
              <a:buNone/>
            </a:pPr>
            <a:r>
              <a:rPr lang="en-US" sz="2000" b="1" dirty="0">
                <a:solidFill>
                  <a:srgbClr val="FFFFFF"/>
                </a:solidFill>
              </a:rPr>
              <a:t>01.1</a:t>
            </a:r>
            <a:endParaRPr lang="en-US" sz="2000" dirty="0"/>
          </a:p>
        </p:txBody>
      </p:sp>
      <p:sp>
        <p:nvSpPr>
          <p:cNvPr id="14" name="Text 12"/>
          <p:cNvSpPr txBox="1"/>
          <p:nvPr/>
        </p:nvSpPr>
        <p:spPr>
          <a:xfrm>
            <a:off x="2697480" y="2807208"/>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Group  </a:t>
            </a:r>
            <a:r>
              <a:rPr lang="en-US" sz="1300" dirty="0">
                <a:solidFill>
                  <a:srgbClr val="5E6964"/>
                </a:solidFill>
              </a:rPr>
              <a:t>63 items</a:t>
            </a:r>
            <a:endParaRPr lang="en-US" sz="1900" dirty="0"/>
          </a:p>
        </p:txBody>
      </p:sp>
      <p:sp>
        <p:nvSpPr>
          <p:cNvPr id="15" name="Text 13"/>
          <p:cNvSpPr txBox="1"/>
          <p:nvPr/>
        </p:nvSpPr>
        <p:spPr>
          <a:xfrm>
            <a:off x="2697480" y="3191256"/>
            <a:ext cx="4572000" cy="384048"/>
          </a:xfrm>
          <a:prstGeom prst="rect">
            <a:avLst/>
          </a:prstGeom>
          <a:noFill/>
          <a:ln/>
        </p:spPr>
        <p:txBody>
          <a:bodyPr wrap="square" lIns="0" tIns="0" rIns="0" bIns="0" rtlCol="0" anchor="ctr"/>
          <a:lstStyle/>
          <a:p>
            <a:pPr marL="0" indent="0">
              <a:buNone/>
            </a:pPr>
            <a:r>
              <a:rPr lang="en-US" sz="1400" dirty="0">
                <a:solidFill>
                  <a:srgbClr val="5E6964"/>
                </a:solidFill>
              </a:rPr>
              <a:t>Food</a:t>
            </a:r>
            <a:endParaRPr lang="en-US" sz="1400" dirty="0"/>
          </a:p>
        </p:txBody>
      </p:sp>
      <p:sp>
        <p:nvSpPr>
          <p:cNvPr id="16" name="Level code 3"/>
          <p:cNvSpPr txBox="1"/>
          <p:nvPr/>
        </p:nvSpPr>
        <p:spPr>
          <a:xfrm>
            <a:off x="1325880" y="3831336"/>
            <a:ext cx="1600200" cy="777240"/>
          </a:xfrm>
          <a:prstGeom prst="roundRect">
            <a:avLst>
              <a:gd name="adj" fmla="val 9412"/>
            </a:avLst>
          </a:prstGeom>
          <a:solidFill>
            <a:srgbClr val="0E7C86"/>
          </a:solidFill>
          <a:ln/>
        </p:spPr>
        <p:txBody>
          <a:bodyPr wrap="square" lIns="0" tIns="0" rIns="0" bIns="0" rtlCol="0" anchor="ctr"/>
          <a:lstStyle/>
          <a:p>
            <a:pPr marL="0" indent="0" algn="ctr">
              <a:buNone/>
            </a:pPr>
            <a:r>
              <a:rPr lang="en-US" sz="2000" b="1" dirty="0">
                <a:solidFill>
                  <a:srgbClr val="FFFFFF"/>
                </a:solidFill>
              </a:rPr>
              <a:t>01.1.4</a:t>
            </a:r>
            <a:endParaRPr lang="en-US" sz="2000" dirty="0"/>
          </a:p>
        </p:txBody>
      </p:sp>
      <p:sp>
        <p:nvSpPr>
          <p:cNvPr id="17" name="Text 15"/>
          <p:cNvSpPr txBox="1"/>
          <p:nvPr/>
        </p:nvSpPr>
        <p:spPr>
          <a:xfrm>
            <a:off x="3108960" y="3831336"/>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Class  </a:t>
            </a:r>
            <a:r>
              <a:rPr lang="en-US" sz="1300" dirty="0">
                <a:solidFill>
                  <a:srgbClr val="5E6964"/>
                </a:solidFill>
              </a:rPr>
              <a:t>186 items</a:t>
            </a:r>
            <a:endParaRPr lang="en-US" sz="1900" dirty="0"/>
          </a:p>
        </p:txBody>
      </p:sp>
      <p:sp>
        <p:nvSpPr>
          <p:cNvPr id="18" name="Text 16"/>
          <p:cNvSpPr txBox="1"/>
          <p:nvPr/>
        </p:nvSpPr>
        <p:spPr>
          <a:xfrm>
            <a:off x="3108960" y="4215384"/>
            <a:ext cx="4572000" cy="384048"/>
          </a:xfrm>
          <a:prstGeom prst="rect">
            <a:avLst/>
          </a:prstGeom>
          <a:noFill/>
          <a:ln/>
        </p:spPr>
        <p:txBody>
          <a:bodyPr wrap="square" lIns="0" tIns="0" rIns="0" bIns="0" rtlCol="0" anchor="ctr"/>
          <a:lstStyle/>
          <a:p>
            <a:pPr marL="0" indent="0">
              <a:buNone/>
            </a:pPr>
            <a:r>
              <a:rPr lang="en-US" sz="1400" dirty="0">
                <a:solidFill>
                  <a:srgbClr val="5E6964"/>
                </a:solidFill>
              </a:rPr>
              <a:t>Milk, other dairy products and eggs</a:t>
            </a:r>
            <a:endParaRPr lang="en-US" sz="1400" dirty="0"/>
          </a:p>
        </p:txBody>
      </p:sp>
      <p:sp>
        <p:nvSpPr>
          <p:cNvPr id="19" name="Level code 4"/>
          <p:cNvSpPr txBox="1"/>
          <p:nvPr/>
        </p:nvSpPr>
        <p:spPr>
          <a:xfrm>
            <a:off x="1737360" y="4855464"/>
            <a:ext cx="1600200" cy="777240"/>
          </a:xfrm>
          <a:prstGeom prst="roundRect">
            <a:avLst>
              <a:gd name="adj" fmla="val 9412"/>
            </a:avLst>
          </a:prstGeom>
          <a:solidFill>
            <a:srgbClr val="00A86A"/>
          </a:solidFill>
          <a:ln/>
        </p:spPr>
        <p:txBody>
          <a:bodyPr wrap="square" lIns="0" tIns="0" rIns="0" bIns="0" rtlCol="0" anchor="ctr"/>
          <a:lstStyle/>
          <a:p>
            <a:pPr marL="0" indent="0" algn="ctr">
              <a:buNone/>
            </a:pPr>
            <a:r>
              <a:rPr lang="en-US" sz="2000" b="1" dirty="0">
                <a:solidFill>
                  <a:srgbClr val="FFFFFF"/>
                </a:solidFill>
              </a:rPr>
              <a:t>01.1.4.2</a:t>
            </a:r>
            <a:endParaRPr lang="en-US" sz="2000" dirty="0"/>
          </a:p>
        </p:txBody>
      </p:sp>
      <p:sp>
        <p:nvSpPr>
          <p:cNvPr id="20" name="Text 18"/>
          <p:cNvSpPr txBox="1"/>
          <p:nvPr/>
        </p:nvSpPr>
        <p:spPr>
          <a:xfrm>
            <a:off x="3520440" y="4855464"/>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Subclass  </a:t>
            </a:r>
            <a:r>
              <a:rPr lang="en-US" sz="1300" b="1" dirty="0">
                <a:solidFill>
                  <a:srgbClr val="00A86A"/>
                </a:solidFill>
              </a:rPr>
              <a:t>338 items · new in 2018</a:t>
            </a:r>
            <a:endParaRPr lang="en-US" sz="1900" dirty="0"/>
          </a:p>
        </p:txBody>
      </p:sp>
      <p:sp>
        <p:nvSpPr>
          <p:cNvPr id="21" name="Text 19"/>
          <p:cNvSpPr txBox="1"/>
          <p:nvPr/>
        </p:nvSpPr>
        <p:spPr>
          <a:xfrm>
            <a:off x="3520440" y="5239512"/>
            <a:ext cx="4572000" cy="384048"/>
          </a:xfrm>
          <a:prstGeom prst="rect">
            <a:avLst/>
          </a:prstGeom>
          <a:noFill/>
          <a:ln/>
        </p:spPr>
        <p:txBody>
          <a:bodyPr wrap="square" lIns="0" tIns="0" rIns="0" bIns="0" rtlCol="0" anchor="ctr"/>
          <a:lstStyle/>
          <a:p>
            <a:pPr marL="0" indent="0">
              <a:buNone/>
            </a:pPr>
            <a:r>
              <a:rPr lang="en-US" sz="1400" dirty="0">
                <a:solidFill>
                  <a:srgbClr val="5E6964"/>
                </a:solidFill>
              </a:rPr>
              <a:t>Skimmed milk</a:t>
            </a:r>
            <a:endParaRPr lang="en-US" sz="1400" dirty="0"/>
          </a:p>
        </p:txBody>
      </p:sp>
      <p:sp>
        <p:nvSpPr>
          <p:cNvPr id="22" name="Types box"/>
          <p:cNvSpPr/>
          <p:nvPr/>
        </p:nvSpPr>
        <p:spPr>
          <a:xfrm>
            <a:off x="7680960" y="1691640"/>
            <a:ext cx="3977640" cy="4069080"/>
          </a:xfrm>
          <a:prstGeom prst="roundRect">
            <a:avLst>
              <a:gd name="adj" fmla="val 1839"/>
            </a:avLst>
          </a:prstGeom>
          <a:solidFill>
            <a:srgbClr val="F4F7F5"/>
          </a:solidFill>
          <a:ln w="9525">
            <a:solidFill>
              <a:srgbClr val="D5DED9"/>
            </a:solidFill>
            <a:prstDash val="solid"/>
          </a:ln>
        </p:spPr>
      </p:sp>
      <p:sp>
        <p:nvSpPr>
          <p:cNvPr id="23" name="Text 21"/>
          <p:cNvSpPr txBox="1"/>
          <p:nvPr/>
        </p:nvSpPr>
        <p:spPr>
          <a:xfrm>
            <a:off x="7909560" y="1828800"/>
            <a:ext cx="3657600" cy="365760"/>
          </a:xfrm>
          <a:prstGeom prst="rect">
            <a:avLst/>
          </a:prstGeom>
          <a:noFill/>
          <a:ln/>
        </p:spPr>
        <p:txBody>
          <a:bodyPr wrap="square" lIns="0" tIns="0" rIns="0" bIns="0" rtlCol="0" anchor="ctr"/>
          <a:lstStyle/>
          <a:p>
            <a:pPr marL="0" indent="0">
              <a:buNone/>
            </a:pPr>
            <a:r>
              <a:rPr lang="en-US" sz="1600" b="1" dirty="0">
                <a:solidFill>
                  <a:srgbClr val="231F20"/>
                </a:solidFill>
              </a:rPr>
              <a:t>Subclass product type</a:t>
            </a:r>
            <a:endParaRPr lang="en-US" sz="1600" dirty="0"/>
          </a:p>
        </p:txBody>
      </p:sp>
      <p:sp>
        <p:nvSpPr>
          <p:cNvPr id="24" name="Type ND"/>
          <p:cNvSpPr txBox="1"/>
          <p:nvPr/>
        </p:nvSpPr>
        <p:spPr>
          <a:xfrm>
            <a:off x="7909560" y="2331720"/>
            <a:ext cx="685800" cy="640080"/>
          </a:xfrm>
          <a:prstGeom prst="roundRect">
            <a:avLst>
              <a:gd name="adj" fmla="val 11429"/>
            </a:avLst>
          </a:prstGeom>
          <a:solidFill>
            <a:srgbClr val="B83B2E"/>
          </a:solidFill>
          <a:ln/>
        </p:spPr>
        <p:txBody>
          <a:bodyPr wrap="square" lIns="0" tIns="0" rIns="0" bIns="0" rtlCol="0" anchor="ctr"/>
          <a:lstStyle/>
          <a:p>
            <a:pPr marL="0" indent="0" algn="ctr">
              <a:buNone/>
            </a:pPr>
            <a:r>
              <a:rPr lang="en-US" sz="1800" b="1" dirty="0">
                <a:solidFill>
                  <a:srgbClr val="FFFFFF"/>
                </a:solidFill>
              </a:rPr>
              <a:t>ND</a:t>
            </a:r>
            <a:endParaRPr lang="en-US" sz="1800" dirty="0"/>
          </a:p>
        </p:txBody>
      </p:sp>
      <p:sp>
        <p:nvSpPr>
          <p:cNvPr id="25" name="Text 23"/>
          <p:cNvSpPr txBox="1"/>
          <p:nvPr/>
        </p:nvSpPr>
        <p:spPr>
          <a:xfrm>
            <a:off x="8778240" y="2331720"/>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Non-durable goods</a:t>
            </a:r>
            <a:endParaRPr lang="en-US" sz="1450" dirty="0"/>
          </a:p>
        </p:txBody>
      </p:sp>
      <p:sp>
        <p:nvSpPr>
          <p:cNvPr id="26" name="Text 24"/>
          <p:cNvSpPr txBox="1"/>
          <p:nvPr/>
        </p:nvSpPr>
        <p:spPr>
          <a:xfrm>
            <a:off x="8778240" y="2660904"/>
            <a:ext cx="2743200" cy="310896"/>
          </a:xfrm>
          <a:prstGeom prst="rect">
            <a:avLst/>
          </a:prstGeom>
          <a:noFill/>
          <a:ln/>
        </p:spPr>
        <p:txBody>
          <a:bodyPr wrap="square" lIns="0" tIns="0" rIns="0" bIns="0" rtlCol="0" anchor="ctr"/>
          <a:lstStyle/>
          <a:p>
            <a:pPr marL="0" indent="0">
              <a:buNone/>
            </a:pPr>
            <a:r>
              <a:rPr lang="en-US" sz="1300" dirty="0">
                <a:solidFill>
                  <a:srgbClr val="5E6964"/>
                </a:solidFill>
              </a:rPr>
              <a:t>bread, milk, fuel</a:t>
            </a:r>
            <a:endParaRPr lang="en-US" sz="1300" dirty="0"/>
          </a:p>
        </p:txBody>
      </p:sp>
      <p:sp>
        <p:nvSpPr>
          <p:cNvPr id="27" name="Type SD"/>
          <p:cNvSpPr txBox="1"/>
          <p:nvPr/>
        </p:nvSpPr>
        <p:spPr>
          <a:xfrm>
            <a:off x="7909560" y="3172968"/>
            <a:ext cx="685800" cy="640080"/>
          </a:xfrm>
          <a:prstGeom prst="roundRect">
            <a:avLst>
              <a:gd name="adj" fmla="val 11429"/>
            </a:avLst>
          </a:prstGeom>
          <a:solidFill>
            <a:srgbClr val="D49A00"/>
          </a:solidFill>
          <a:ln/>
        </p:spPr>
        <p:txBody>
          <a:bodyPr wrap="square" lIns="0" tIns="0" rIns="0" bIns="0" rtlCol="0" anchor="ctr"/>
          <a:lstStyle/>
          <a:p>
            <a:pPr marL="0" indent="0" algn="ctr">
              <a:buNone/>
            </a:pPr>
            <a:r>
              <a:rPr lang="en-US" sz="1800" b="1" dirty="0">
                <a:solidFill>
                  <a:srgbClr val="FFFFFF"/>
                </a:solidFill>
              </a:rPr>
              <a:t>SD</a:t>
            </a:r>
            <a:endParaRPr lang="en-US" sz="1800" dirty="0"/>
          </a:p>
        </p:txBody>
      </p:sp>
      <p:sp>
        <p:nvSpPr>
          <p:cNvPr id="28" name="Text 26"/>
          <p:cNvSpPr txBox="1"/>
          <p:nvPr/>
        </p:nvSpPr>
        <p:spPr>
          <a:xfrm>
            <a:off x="8778240" y="3172968"/>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Semi-durable goods</a:t>
            </a:r>
            <a:endParaRPr lang="en-US" sz="1450" dirty="0"/>
          </a:p>
        </p:txBody>
      </p:sp>
      <p:sp>
        <p:nvSpPr>
          <p:cNvPr id="29" name="Text 27"/>
          <p:cNvSpPr txBox="1"/>
          <p:nvPr/>
        </p:nvSpPr>
        <p:spPr>
          <a:xfrm>
            <a:off x="8778240" y="3502152"/>
            <a:ext cx="2743200" cy="310896"/>
          </a:xfrm>
          <a:prstGeom prst="rect">
            <a:avLst/>
          </a:prstGeom>
          <a:noFill/>
          <a:ln/>
        </p:spPr>
        <p:txBody>
          <a:bodyPr wrap="square" lIns="0" tIns="0" rIns="0" bIns="0" rtlCol="0" anchor="ctr"/>
          <a:lstStyle/>
          <a:p>
            <a:pPr marL="0" indent="0">
              <a:buNone/>
            </a:pPr>
            <a:r>
              <a:rPr lang="en-US" sz="1300" dirty="0">
                <a:solidFill>
                  <a:srgbClr val="5E6964"/>
                </a:solidFill>
              </a:rPr>
              <a:t>clothing, small appliances</a:t>
            </a:r>
            <a:endParaRPr lang="en-US" sz="1300" dirty="0"/>
          </a:p>
        </p:txBody>
      </p:sp>
      <p:sp>
        <p:nvSpPr>
          <p:cNvPr id="30" name="Type D"/>
          <p:cNvSpPr txBox="1"/>
          <p:nvPr/>
        </p:nvSpPr>
        <p:spPr>
          <a:xfrm>
            <a:off x="7909560" y="4014216"/>
            <a:ext cx="685800" cy="640080"/>
          </a:xfrm>
          <a:prstGeom prst="roundRect">
            <a:avLst>
              <a:gd name="adj" fmla="val 11429"/>
            </a:avLst>
          </a:prstGeom>
          <a:solidFill>
            <a:srgbClr val="00A86A"/>
          </a:solid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31" name="Text 29"/>
          <p:cNvSpPr txBox="1"/>
          <p:nvPr/>
        </p:nvSpPr>
        <p:spPr>
          <a:xfrm>
            <a:off x="8778240" y="4014216"/>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Durable goods</a:t>
            </a:r>
            <a:endParaRPr lang="en-US" sz="1450" dirty="0"/>
          </a:p>
        </p:txBody>
      </p:sp>
      <p:sp>
        <p:nvSpPr>
          <p:cNvPr id="32" name="Text 30"/>
          <p:cNvSpPr txBox="1"/>
          <p:nvPr/>
        </p:nvSpPr>
        <p:spPr>
          <a:xfrm>
            <a:off x="8778240" y="4343400"/>
            <a:ext cx="2743200" cy="310896"/>
          </a:xfrm>
          <a:prstGeom prst="rect">
            <a:avLst/>
          </a:prstGeom>
          <a:noFill/>
          <a:ln/>
        </p:spPr>
        <p:txBody>
          <a:bodyPr wrap="square" lIns="0" tIns="0" rIns="0" bIns="0" rtlCol="0" anchor="ctr"/>
          <a:lstStyle/>
          <a:p>
            <a:pPr marL="0" indent="0">
              <a:buNone/>
            </a:pPr>
            <a:r>
              <a:rPr lang="en-US" sz="1300" dirty="0">
                <a:solidFill>
                  <a:srgbClr val="5E6964"/>
                </a:solidFill>
              </a:rPr>
              <a:t>car, refrigerator</a:t>
            </a:r>
            <a:endParaRPr lang="en-US" sz="1300" dirty="0"/>
          </a:p>
        </p:txBody>
      </p:sp>
      <p:sp>
        <p:nvSpPr>
          <p:cNvPr id="33" name="Type S"/>
          <p:cNvSpPr txBox="1"/>
          <p:nvPr/>
        </p:nvSpPr>
        <p:spPr>
          <a:xfrm>
            <a:off x="7909560" y="4855464"/>
            <a:ext cx="685800" cy="640080"/>
          </a:xfrm>
          <a:prstGeom prst="roundRect">
            <a:avLst>
              <a:gd name="adj" fmla="val 11429"/>
            </a:avLst>
          </a:prstGeom>
          <a:solidFill>
            <a:srgbClr val="0E7C86"/>
          </a:solidFill>
          <a:ln/>
        </p:spPr>
        <p:txBody>
          <a:bodyPr wrap="square" lIns="0" tIns="0" rIns="0" bIns="0" rtlCol="0" anchor="ctr"/>
          <a:lstStyle/>
          <a:p>
            <a:pPr marL="0" indent="0" algn="ctr">
              <a:buNone/>
            </a:pPr>
            <a:r>
              <a:rPr lang="en-US" sz="1800" b="1" dirty="0">
                <a:solidFill>
                  <a:srgbClr val="FFFFFF"/>
                </a:solidFill>
              </a:rPr>
              <a:t>S</a:t>
            </a:r>
            <a:endParaRPr lang="en-US" sz="1800" dirty="0"/>
          </a:p>
        </p:txBody>
      </p:sp>
      <p:sp>
        <p:nvSpPr>
          <p:cNvPr id="34" name="Text 32"/>
          <p:cNvSpPr txBox="1"/>
          <p:nvPr/>
        </p:nvSpPr>
        <p:spPr>
          <a:xfrm>
            <a:off x="8778240" y="4855464"/>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Services</a:t>
            </a:r>
            <a:endParaRPr lang="en-US" sz="1450" dirty="0"/>
          </a:p>
        </p:txBody>
      </p:sp>
      <p:sp>
        <p:nvSpPr>
          <p:cNvPr id="35" name="Text 33"/>
          <p:cNvSpPr txBox="1"/>
          <p:nvPr/>
        </p:nvSpPr>
        <p:spPr>
          <a:xfrm>
            <a:off x="8778240" y="5184648"/>
            <a:ext cx="2743200" cy="310896"/>
          </a:xfrm>
          <a:prstGeom prst="rect">
            <a:avLst/>
          </a:prstGeom>
          <a:noFill/>
          <a:ln/>
        </p:spPr>
        <p:txBody>
          <a:bodyPr wrap="square" lIns="0" tIns="0" rIns="0" bIns="0" rtlCol="0" anchor="ctr"/>
          <a:lstStyle/>
          <a:p>
            <a:pPr marL="0" indent="0">
              <a:buNone/>
            </a:pPr>
            <a:r>
              <a:rPr lang="en-US" sz="1300" dirty="0">
                <a:solidFill>
                  <a:srgbClr val="5E6964"/>
                </a:solidFill>
              </a:rPr>
              <a:t>rent, transport, repair</a:t>
            </a:r>
            <a:endParaRPr lang="en-US" sz="1300" dirty="0"/>
          </a:p>
        </p:txBody>
      </p:sp>
      <p:sp>
        <p:nvSpPr>
          <p:cNvPr id="36" name="Text 34"/>
          <p:cNvSpPr txBox="1"/>
          <p:nvPr/>
        </p:nvSpPr>
        <p:spPr>
          <a:xfrm>
            <a:off x="502920" y="5897880"/>
            <a:ext cx="11155680" cy="365760"/>
          </a:xfrm>
          <a:prstGeom prst="rect">
            <a:avLst/>
          </a:prstGeom>
          <a:noFill/>
          <a:ln/>
        </p:spPr>
        <p:txBody>
          <a:bodyPr wrap="square" lIns="0" tIns="0" rIns="0" bIns="0" rtlCol="0" anchor="ctr"/>
          <a:lstStyle/>
          <a:p>
            <a:pPr marL="0" indent="0">
              <a:buNone/>
            </a:pPr>
            <a:r>
              <a:rPr lang="en-US" sz="1300" i="1" dirty="0">
                <a:solidFill>
                  <a:srgbClr val="5E6964"/>
                </a:solidFill>
              </a:rPr>
              <a:t>The CPI covers divisions 01 to 13; divisions 14 and 15 cover individual consumption by NPISHs and general government.</a:t>
            </a:r>
            <a:endParaRPr lang="en-US" sz="1300" dirty="0"/>
          </a:p>
        </p:txBody>
      </p:sp>
      <p:sp>
        <p:nvSpPr>
          <p:cNvPr id="37"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THE BASKET AND COICOP 2018</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00704A"/>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What COICOP 2018 changes for a CPI</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Services better identified, and a European migration that left headline inflation intact</a:t>
            </a:r>
            <a:endParaRPr lang="en-US" sz="1500" dirty="0"/>
          </a:p>
        </p:txBody>
      </p:sp>
      <p:sp>
        <p:nvSpPr>
          <p:cNvPr id="10" name="Change 1 circle"/>
          <p:cNvSpPr/>
          <p:nvPr/>
        </p:nvSpPr>
        <p:spPr>
          <a:xfrm>
            <a:off x="502920" y="1828800"/>
            <a:ext cx="685800" cy="685800"/>
          </a:xfrm>
          <a:prstGeom prst="ellipse">
            <a:avLst/>
          </a:prstGeom>
          <a:solidFill>
            <a:srgbClr val="00A86A">
              <a:alpha val="22000"/>
            </a:srgbClr>
          </a:solidFill>
          <a:ln/>
        </p:spPr>
      </p:sp>
      <p:pic>
        <p:nvPicPr>
          <p:cNvPr id="11" name="Change 1 icon" descr="preencoded.png"/>
          <p:cNvPicPr>
            <a:picLocks noChangeAspect="1"/>
          </p:cNvPicPr>
          <p:nvPr/>
        </p:nvPicPr>
        <p:blipFill>
          <a:blip r:embed="rId3"/>
          <a:stretch>
            <a:fillRect/>
          </a:stretch>
        </p:blipFill>
        <p:spPr>
          <a:xfrm>
            <a:off x="674370" y="2000250"/>
            <a:ext cx="342900" cy="342900"/>
          </a:xfrm>
          <a:prstGeom prst="rect">
            <a:avLst/>
          </a:prstGeom>
        </p:spPr>
      </p:pic>
      <p:sp>
        <p:nvSpPr>
          <p:cNvPr id="12" name="Text 9"/>
          <p:cNvSpPr txBox="1"/>
          <p:nvPr/>
        </p:nvSpPr>
        <p:spPr>
          <a:xfrm>
            <a:off x="1371600" y="1783080"/>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Goods and services separated</a:t>
            </a:r>
            <a:endParaRPr lang="en-US" sz="1700" dirty="0"/>
          </a:p>
        </p:txBody>
      </p:sp>
      <p:sp>
        <p:nvSpPr>
          <p:cNvPr id="13" name="Text 10"/>
          <p:cNvSpPr txBox="1"/>
          <p:nvPr/>
        </p:nvSpPr>
        <p:spPr>
          <a:xfrm>
            <a:off x="1371600" y="2148840"/>
            <a:ext cx="4846320" cy="502920"/>
          </a:xfrm>
          <a:prstGeom prst="rect">
            <a:avLst/>
          </a:prstGeom>
          <a:noFill/>
          <a:ln/>
        </p:spPr>
        <p:txBody>
          <a:bodyPr wrap="square" lIns="0" tIns="0" rIns="0" bIns="0" rtlCol="0" anchor="t"/>
          <a:lstStyle/>
          <a:p>
            <a:pPr marL="0" indent="0">
              <a:buNone/>
            </a:pPr>
            <a:r>
              <a:rPr lang="en-US" sz="1400" dirty="0">
                <a:solidFill>
                  <a:srgbClr val="5E6964"/>
                </a:solidFill>
              </a:rPr>
              <a:t>Repair, rental and installation get their own service items.</a:t>
            </a:r>
            <a:endParaRPr lang="en-US" sz="1400" dirty="0"/>
          </a:p>
        </p:txBody>
      </p:sp>
      <p:sp>
        <p:nvSpPr>
          <p:cNvPr id="14" name="Change 2 circle"/>
          <p:cNvSpPr/>
          <p:nvPr/>
        </p:nvSpPr>
        <p:spPr>
          <a:xfrm>
            <a:off x="502920" y="2907792"/>
            <a:ext cx="685800" cy="685800"/>
          </a:xfrm>
          <a:prstGeom prst="ellipse">
            <a:avLst/>
          </a:prstGeom>
          <a:solidFill>
            <a:srgbClr val="00704A">
              <a:alpha val="22000"/>
            </a:srgbClr>
          </a:solidFill>
          <a:ln/>
        </p:spPr>
      </p:sp>
      <p:pic>
        <p:nvPicPr>
          <p:cNvPr id="15" name="Change 2 icon" descr="preencoded.png"/>
          <p:cNvPicPr>
            <a:picLocks noChangeAspect="1"/>
          </p:cNvPicPr>
          <p:nvPr/>
        </p:nvPicPr>
        <p:blipFill>
          <a:blip r:embed="rId4"/>
          <a:stretch>
            <a:fillRect/>
          </a:stretch>
        </p:blipFill>
        <p:spPr>
          <a:xfrm>
            <a:off x="674370" y="3079242"/>
            <a:ext cx="342900" cy="342900"/>
          </a:xfrm>
          <a:prstGeom prst="rect">
            <a:avLst/>
          </a:prstGeom>
        </p:spPr>
      </p:pic>
      <p:sp>
        <p:nvSpPr>
          <p:cNvPr id="16" name="Text 12"/>
          <p:cNvSpPr txBox="1"/>
          <p:nvPr/>
        </p:nvSpPr>
        <p:spPr>
          <a:xfrm>
            <a:off x="1371600" y="2862072"/>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Delivery identified</a:t>
            </a:r>
            <a:endParaRPr lang="en-US" sz="1700" dirty="0"/>
          </a:p>
        </p:txBody>
      </p:sp>
      <p:sp>
        <p:nvSpPr>
          <p:cNvPr id="17" name="Text 13"/>
          <p:cNvSpPr txBox="1"/>
          <p:nvPr/>
        </p:nvSpPr>
        <p:spPr>
          <a:xfrm>
            <a:off x="1371600" y="3227832"/>
            <a:ext cx="4846320" cy="502920"/>
          </a:xfrm>
          <a:prstGeom prst="rect">
            <a:avLst/>
          </a:prstGeom>
          <a:noFill/>
          <a:ln/>
        </p:spPr>
        <p:txBody>
          <a:bodyPr wrap="square" lIns="0" tIns="0" rIns="0" bIns="0" rtlCol="0" anchor="t"/>
          <a:lstStyle/>
          <a:p>
            <a:pPr marL="0" indent="0">
              <a:buNone/>
            </a:pPr>
            <a:r>
              <a:rPr lang="en-US" sz="1400" dirty="0">
                <a:solidFill>
                  <a:srgbClr val="5E6964"/>
                </a:solidFill>
              </a:rPr>
              <a:t>Separately invoiced delivery fees and parcels become distinct services.</a:t>
            </a:r>
            <a:endParaRPr lang="en-US" sz="1400" dirty="0"/>
          </a:p>
        </p:txBody>
      </p:sp>
      <p:sp>
        <p:nvSpPr>
          <p:cNvPr id="18" name="Change 3 circle"/>
          <p:cNvSpPr/>
          <p:nvPr/>
        </p:nvSpPr>
        <p:spPr>
          <a:xfrm>
            <a:off x="502920" y="3986784"/>
            <a:ext cx="685800" cy="685800"/>
          </a:xfrm>
          <a:prstGeom prst="ellipse">
            <a:avLst/>
          </a:prstGeom>
          <a:solidFill>
            <a:srgbClr val="0E7C86">
              <a:alpha val="22000"/>
            </a:srgbClr>
          </a:solidFill>
          <a:ln/>
        </p:spPr>
      </p:sp>
      <p:pic>
        <p:nvPicPr>
          <p:cNvPr id="19" name="Change 3 icon" descr="preencoded.png"/>
          <p:cNvPicPr>
            <a:picLocks noChangeAspect="1"/>
          </p:cNvPicPr>
          <p:nvPr/>
        </p:nvPicPr>
        <p:blipFill>
          <a:blip r:embed="rId5"/>
          <a:stretch>
            <a:fillRect/>
          </a:stretch>
        </p:blipFill>
        <p:spPr>
          <a:xfrm>
            <a:off x="674370" y="4158234"/>
            <a:ext cx="342900" cy="342900"/>
          </a:xfrm>
          <a:prstGeom prst="rect">
            <a:avLst/>
          </a:prstGeom>
        </p:spPr>
      </p:pic>
      <p:sp>
        <p:nvSpPr>
          <p:cNvPr id="20" name="Text 15"/>
          <p:cNvSpPr txBox="1"/>
          <p:nvPr/>
        </p:nvSpPr>
        <p:spPr>
          <a:xfrm>
            <a:off x="1371600" y="3941064"/>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Digital division 08</a:t>
            </a:r>
            <a:endParaRPr lang="en-US" sz="1700" dirty="0"/>
          </a:p>
        </p:txBody>
      </p:sp>
      <p:sp>
        <p:nvSpPr>
          <p:cNvPr id="21" name="Text 16"/>
          <p:cNvSpPr txBox="1"/>
          <p:nvPr/>
        </p:nvSpPr>
        <p:spPr>
          <a:xfrm>
            <a:off x="1371600" y="4306824"/>
            <a:ext cx="4846320" cy="502920"/>
          </a:xfrm>
          <a:prstGeom prst="rect">
            <a:avLst/>
          </a:prstGeom>
          <a:noFill/>
          <a:ln/>
        </p:spPr>
        <p:txBody>
          <a:bodyPr wrap="square" lIns="0" tIns="0" rIns="0" bIns="0" rtlCol="0" anchor="t"/>
          <a:lstStyle/>
          <a:p>
            <a:pPr marL="0" indent="0">
              <a:buNone/>
            </a:pPr>
            <a:r>
              <a:rPr lang="en-US" sz="1400" dirty="0">
                <a:solidFill>
                  <a:srgbClr val="5E6964"/>
                </a:solidFill>
              </a:rPr>
              <a:t>IT hardware and software join information and communication.</a:t>
            </a:r>
            <a:endParaRPr lang="en-US" sz="1400" dirty="0"/>
          </a:p>
        </p:txBody>
      </p:sp>
      <p:sp>
        <p:nvSpPr>
          <p:cNvPr id="22" name="Change 4 circle"/>
          <p:cNvSpPr/>
          <p:nvPr/>
        </p:nvSpPr>
        <p:spPr>
          <a:xfrm>
            <a:off x="502920" y="5065776"/>
            <a:ext cx="685800" cy="685800"/>
          </a:xfrm>
          <a:prstGeom prst="ellipse">
            <a:avLst/>
          </a:prstGeom>
          <a:solidFill>
            <a:srgbClr val="D49A00">
              <a:alpha val="22000"/>
            </a:srgbClr>
          </a:solidFill>
          <a:ln/>
        </p:spPr>
      </p:sp>
      <p:pic>
        <p:nvPicPr>
          <p:cNvPr id="23" name="Change 4 icon" descr="preencoded.png"/>
          <p:cNvPicPr>
            <a:picLocks noChangeAspect="1"/>
          </p:cNvPicPr>
          <p:nvPr/>
        </p:nvPicPr>
        <p:blipFill>
          <a:blip r:embed="rId6"/>
          <a:stretch>
            <a:fillRect/>
          </a:stretch>
        </p:blipFill>
        <p:spPr>
          <a:xfrm>
            <a:off x="674370" y="5237226"/>
            <a:ext cx="342900" cy="342900"/>
          </a:xfrm>
          <a:prstGeom prst="rect">
            <a:avLst/>
          </a:prstGeom>
        </p:spPr>
      </p:pic>
      <p:sp>
        <p:nvSpPr>
          <p:cNvPr id="24" name="Text 18"/>
          <p:cNvSpPr txBox="1"/>
          <p:nvPr/>
        </p:nvSpPr>
        <p:spPr>
          <a:xfrm>
            <a:off x="1371600" y="5020056"/>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Dedicated division 12</a:t>
            </a:r>
            <a:endParaRPr lang="en-US" sz="1700" dirty="0"/>
          </a:p>
        </p:txBody>
      </p:sp>
      <p:sp>
        <p:nvSpPr>
          <p:cNvPr id="25" name="Text 19"/>
          <p:cNvSpPr txBox="1"/>
          <p:nvPr/>
        </p:nvSpPr>
        <p:spPr>
          <a:xfrm>
            <a:off x="1371600" y="5385816"/>
            <a:ext cx="4846320" cy="502920"/>
          </a:xfrm>
          <a:prstGeom prst="rect">
            <a:avLst/>
          </a:prstGeom>
          <a:noFill/>
          <a:ln/>
        </p:spPr>
        <p:txBody>
          <a:bodyPr wrap="square" lIns="0" tIns="0" rIns="0" bIns="0" rtlCol="0" anchor="t"/>
          <a:lstStyle/>
          <a:p>
            <a:pPr marL="0" indent="0">
              <a:buNone/>
            </a:pPr>
            <a:r>
              <a:rPr lang="en-US" sz="1400" dirty="0">
                <a:solidFill>
                  <a:srgbClr val="5E6964"/>
                </a:solidFill>
              </a:rPr>
              <a:t>Insurance and financial services leave "miscellaneous goods and services".</a:t>
            </a:r>
            <a:endParaRPr lang="en-US" sz="1400" dirty="0"/>
          </a:p>
        </p:txBody>
      </p:sp>
      <p:sp>
        <p:nvSpPr>
          <p:cNvPr id="26" name="EU lessons box"/>
          <p:cNvSpPr/>
          <p:nvPr/>
        </p:nvSpPr>
        <p:spPr>
          <a:xfrm>
            <a:off x="6583680" y="1783080"/>
            <a:ext cx="5074920" cy="4206240"/>
          </a:xfrm>
          <a:prstGeom prst="roundRect">
            <a:avLst>
              <a:gd name="adj" fmla="val 1739"/>
            </a:avLst>
          </a:prstGeom>
          <a:solidFill>
            <a:srgbClr val="E8F5EF"/>
          </a:solidFill>
          <a:ln w="19050">
            <a:solidFill>
              <a:srgbClr val="00A86A"/>
            </a:solidFill>
            <a:prstDash val="solid"/>
          </a:ln>
        </p:spPr>
      </p:sp>
      <p:sp>
        <p:nvSpPr>
          <p:cNvPr id="27" name="Text 21"/>
          <p:cNvSpPr txBox="1"/>
          <p:nvPr/>
        </p:nvSpPr>
        <p:spPr>
          <a:xfrm>
            <a:off x="6858000" y="1965960"/>
            <a:ext cx="4572000" cy="411480"/>
          </a:xfrm>
          <a:prstGeom prst="rect">
            <a:avLst/>
          </a:prstGeom>
          <a:noFill/>
          <a:ln/>
        </p:spPr>
        <p:txBody>
          <a:bodyPr wrap="square" lIns="0" tIns="0" rIns="0" bIns="0" rtlCol="0" anchor="ctr"/>
          <a:lstStyle/>
          <a:p>
            <a:pPr marL="0" indent="0">
              <a:buNone/>
            </a:pPr>
            <a:r>
              <a:rPr lang="en-US" sz="1700" b="1" dirty="0">
                <a:solidFill>
                  <a:srgbClr val="231F20"/>
                </a:solidFill>
              </a:rPr>
              <a:t>Lessons learned: the January 2026 HICP</a:t>
            </a:r>
            <a:endParaRPr lang="en-US" sz="1700" dirty="0"/>
          </a:p>
        </p:txBody>
      </p:sp>
      <p:sp>
        <p:nvSpPr>
          <p:cNvPr id="28" name="Text 22"/>
          <p:cNvSpPr txBox="1"/>
          <p:nvPr/>
        </p:nvSpPr>
        <p:spPr>
          <a:xfrm>
            <a:off x="6858000" y="2560320"/>
            <a:ext cx="1828800" cy="822960"/>
          </a:xfrm>
          <a:prstGeom prst="rect">
            <a:avLst/>
          </a:prstGeom>
          <a:noFill/>
          <a:ln/>
        </p:spPr>
        <p:txBody>
          <a:bodyPr wrap="square" lIns="0" tIns="0" rIns="0" bIns="0" rtlCol="0" anchor="ctr"/>
          <a:lstStyle/>
          <a:p>
            <a:pPr marL="0" indent="0">
              <a:buNone/>
            </a:pPr>
            <a:r>
              <a:rPr lang="en-US" sz="3000" b="1" dirty="0">
                <a:solidFill>
                  <a:srgbClr val="00A86A"/>
                </a:solidFill>
              </a:rPr>
              <a:t>≤ 0.1 pp</a:t>
            </a:r>
            <a:endParaRPr lang="en-US" sz="3000" dirty="0"/>
          </a:p>
        </p:txBody>
      </p:sp>
      <p:sp>
        <p:nvSpPr>
          <p:cNvPr id="29" name="Text 23"/>
          <p:cNvSpPr txBox="1"/>
          <p:nvPr/>
        </p:nvSpPr>
        <p:spPr>
          <a:xfrm>
            <a:off x="8686800" y="2560320"/>
            <a:ext cx="2697480" cy="822960"/>
          </a:xfrm>
          <a:prstGeom prst="rect">
            <a:avLst/>
          </a:prstGeom>
          <a:noFill/>
          <a:ln/>
        </p:spPr>
        <p:txBody>
          <a:bodyPr wrap="square" lIns="0" tIns="0" rIns="0" bIns="0" rtlCol="0" anchor="ctr"/>
          <a:lstStyle/>
          <a:p>
            <a:pPr marL="0" indent="0">
              <a:buNone/>
            </a:pPr>
            <a:r>
              <a:rPr lang="en-US" sz="1300" dirty="0">
                <a:solidFill>
                  <a:srgbClr val="5E6964"/>
                </a:solidFill>
              </a:rPr>
              <a:t>difference in euro area headline inflation</a:t>
            </a:r>
            <a:endParaRPr lang="en-US" sz="1300" dirty="0"/>
          </a:p>
        </p:txBody>
      </p:sp>
      <p:sp>
        <p:nvSpPr>
          <p:cNvPr id="30" name="Text 24"/>
          <p:cNvSpPr txBox="1"/>
          <p:nvPr/>
        </p:nvSpPr>
        <p:spPr>
          <a:xfrm>
            <a:off x="6858000" y="3657600"/>
            <a:ext cx="1828800" cy="822960"/>
          </a:xfrm>
          <a:prstGeom prst="rect">
            <a:avLst/>
          </a:prstGeom>
          <a:noFill/>
          <a:ln/>
        </p:spPr>
        <p:txBody>
          <a:bodyPr wrap="square" lIns="0" tIns="0" rIns="0" bIns="0" rtlCol="0" anchor="ctr"/>
          <a:lstStyle/>
          <a:p>
            <a:pPr marL="0" indent="0">
              <a:buNone/>
            </a:pPr>
            <a:r>
              <a:rPr lang="en-US" sz="3000" b="1" dirty="0">
                <a:solidFill>
                  <a:srgbClr val="D49A00"/>
                </a:solidFill>
              </a:rPr>
              <a:t>1.2 pp</a:t>
            </a:r>
            <a:endParaRPr lang="en-US" sz="3000" dirty="0"/>
          </a:p>
        </p:txBody>
      </p:sp>
      <p:sp>
        <p:nvSpPr>
          <p:cNvPr id="31" name="Text 25"/>
          <p:cNvSpPr txBox="1"/>
          <p:nvPr/>
        </p:nvSpPr>
        <p:spPr>
          <a:xfrm>
            <a:off x="8686800" y="3657600"/>
            <a:ext cx="2697480" cy="822960"/>
          </a:xfrm>
          <a:prstGeom prst="rect">
            <a:avLst/>
          </a:prstGeom>
          <a:noFill/>
          <a:ln/>
        </p:spPr>
        <p:txBody>
          <a:bodyPr wrap="square" lIns="0" tIns="0" rIns="0" bIns="0" rtlCol="0" anchor="ctr"/>
          <a:lstStyle/>
          <a:p>
            <a:pPr marL="0" indent="0">
              <a:buNone/>
            </a:pPr>
            <a:r>
              <a:rPr lang="en-US" sz="1300" dirty="0">
                <a:solidFill>
                  <a:srgbClr val="5E6964"/>
                </a:solidFill>
              </a:rPr>
              <a:t>maximum revision to unprocessed food</a:t>
            </a:r>
            <a:endParaRPr lang="en-US" sz="1300" dirty="0"/>
          </a:p>
        </p:txBody>
      </p:sp>
      <p:sp>
        <p:nvSpPr>
          <p:cNvPr id="32" name="Text 26"/>
          <p:cNvSpPr txBox="1"/>
          <p:nvPr/>
        </p:nvSpPr>
        <p:spPr>
          <a:xfrm>
            <a:off x="6858000" y="4754880"/>
            <a:ext cx="1828800" cy="822960"/>
          </a:xfrm>
          <a:prstGeom prst="rect">
            <a:avLst/>
          </a:prstGeom>
          <a:noFill/>
          <a:ln/>
        </p:spPr>
        <p:txBody>
          <a:bodyPr wrap="square" lIns="0" tIns="0" rIns="0" bIns="0" rtlCol="0" anchor="ctr"/>
          <a:lstStyle/>
          <a:p>
            <a:pPr marL="0" indent="0">
              <a:buNone/>
            </a:pPr>
            <a:r>
              <a:rPr lang="en-US" sz="3000" b="1" dirty="0">
                <a:solidFill>
                  <a:srgbClr val="0E7C86"/>
                </a:solidFill>
              </a:rPr>
              <a:t>≈ 1%</a:t>
            </a:r>
            <a:endParaRPr lang="en-US" sz="3000" dirty="0"/>
          </a:p>
        </p:txBody>
      </p:sp>
      <p:sp>
        <p:nvSpPr>
          <p:cNvPr id="33" name="Text 27"/>
          <p:cNvSpPr txBox="1"/>
          <p:nvPr/>
        </p:nvSpPr>
        <p:spPr>
          <a:xfrm>
            <a:off x="8686800" y="4754880"/>
            <a:ext cx="2697480" cy="822960"/>
          </a:xfrm>
          <a:prstGeom prst="rect">
            <a:avLst/>
          </a:prstGeom>
          <a:noFill/>
          <a:ln/>
        </p:spPr>
        <p:txBody>
          <a:bodyPr wrap="square" lIns="0" tIns="0" rIns="0" bIns="0" rtlCol="0" anchor="ctr"/>
          <a:lstStyle/>
          <a:p>
            <a:pPr marL="0" indent="0">
              <a:buNone/>
            </a:pPr>
            <a:r>
              <a:rPr lang="en-US" sz="1300" dirty="0">
                <a:solidFill>
                  <a:srgbClr val="5E6964"/>
                </a:solidFill>
              </a:rPr>
              <a:t>weight of games of chance, a new HICP item</a:t>
            </a:r>
            <a:endParaRPr lang="en-US" sz="1300" dirty="0"/>
          </a:p>
        </p:txBody>
      </p:sp>
      <p:sp>
        <p:nvSpPr>
          <p:cNvPr id="34" name="Text 28"/>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Sources: United Nations (UNSD), COICOP 2018; ECB, Economic Bulletin 3/2026, box "What's new in the HICP?".</a:t>
            </a:r>
            <a:endParaRPr lang="en-US" sz="10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03</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Compiling the index</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How do thousands of price quotes become a single published index?</a:t>
            </a:r>
            <a:endParaRPr lang="en-US" sz="1900" dirty="0"/>
          </a:p>
        </p:txBody>
      </p:sp>
      <p:sp>
        <p:nvSpPr>
          <p:cNvPr id="5" name="Section icon circle"/>
          <p:cNvSpPr/>
          <p:nvPr/>
        </p:nvSpPr>
        <p:spPr>
          <a:xfrm>
            <a:off x="9079992" y="2340864"/>
            <a:ext cx="1280160" cy="1280160"/>
          </a:xfrm>
          <a:prstGeom prst="ellipse">
            <a:avLst/>
          </a:prstGeom>
          <a:solidFill>
            <a:srgbClr val="FFFFFF"/>
          </a:solidFill>
          <a:ln/>
        </p:spPr>
      </p:sp>
      <p:pic>
        <p:nvPicPr>
          <p:cNvPr id="6" name="Section ic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rogress dot 1"/>
          <p:cNvSpPr/>
          <p:nvPr/>
        </p:nvSpPr>
        <p:spPr>
          <a:xfrm>
            <a:off x="731520" y="5989320"/>
            <a:ext cx="155448" cy="155448"/>
          </a:xfrm>
          <a:prstGeom prst="ellipse">
            <a:avLst/>
          </a:prstGeom>
          <a:solidFill>
            <a:srgbClr val="FFFFFF">
              <a:alpha val="40000"/>
            </a:srgbClr>
          </a:solidFill>
          <a:ln/>
        </p:spPr>
      </p:sp>
      <p:sp>
        <p:nvSpPr>
          <p:cNvPr id="8" name="Progress dot 2"/>
          <p:cNvSpPr/>
          <p:nvPr/>
        </p:nvSpPr>
        <p:spPr>
          <a:xfrm>
            <a:off x="1024128" y="5989320"/>
            <a:ext cx="155448" cy="155448"/>
          </a:xfrm>
          <a:prstGeom prst="ellipse">
            <a:avLst/>
          </a:prstGeom>
          <a:solidFill>
            <a:srgbClr val="FFFFFF">
              <a:alpha val="40000"/>
            </a:srgbClr>
          </a:solidFill>
          <a:ln/>
        </p:spPr>
      </p:sp>
      <p:sp>
        <p:nvSpPr>
          <p:cNvPr id="9" name="Progress dot 3"/>
          <p:cNvSpPr/>
          <p:nvPr/>
        </p:nvSpPr>
        <p:spPr>
          <a:xfrm>
            <a:off x="1316736" y="5989320"/>
            <a:ext cx="155448" cy="155448"/>
          </a:xfrm>
          <a:prstGeom prst="ellipse">
            <a:avLst/>
          </a:prstGeom>
          <a:solidFill>
            <a:srgbClr val="F5C242"/>
          </a:solidFill>
          <a:ln/>
        </p:spPr>
      </p:sp>
      <p:sp>
        <p:nvSpPr>
          <p:cNvPr id="10" name="Progress dot 4"/>
          <p:cNvSpPr/>
          <p:nvPr/>
        </p:nvSpPr>
        <p:spPr>
          <a:xfrm>
            <a:off x="1609344" y="5989320"/>
            <a:ext cx="155448" cy="155448"/>
          </a:xfrm>
          <a:prstGeom prst="ellipse">
            <a:avLst/>
          </a:prstGeom>
          <a:solidFill>
            <a:srgbClr val="FFFFFF">
              <a:alpha val="40000"/>
            </a:srgbClr>
          </a:solidFill>
          <a:ln/>
        </p:spPr>
      </p:sp>
      <p:sp>
        <p:nvSpPr>
          <p:cNvPr id="11" name="Progress dot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COMPILING THE INDEX</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0E7C86"/>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The CPI production chain</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Two rhythms: a base set every five to ten years, production repeated every month</a:t>
            </a:r>
            <a:endParaRPr lang="en-US" sz="1500" dirty="0"/>
          </a:p>
        </p:txBody>
      </p:sp>
      <p:sp>
        <p:nvSpPr>
          <p:cNvPr id="10" name="Text 8"/>
          <p:cNvSpPr txBox="1"/>
          <p:nvPr/>
        </p:nvSpPr>
        <p:spPr>
          <a:xfrm>
            <a:off x="502920" y="1645920"/>
            <a:ext cx="5394960" cy="320040"/>
          </a:xfrm>
          <a:prstGeom prst="rect">
            <a:avLst/>
          </a:prstGeom>
          <a:noFill/>
          <a:ln/>
        </p:spPr>
        <p:txBody>
          <a:bodyPr wrap="square" lIns="0" tIns="0" rIns="0" bIns="0" rtlCol="0" anchor="ctr"/>
          <a:lstStyle/>
          <a:p>
            <a:pPr marL="0" indent="0">
              <a:buNone/>
            </a:pPr>
            <a:r>
              <a:rPr lang="en-US" sz="1200" b="1" kern="0" spc="200" dirty="0">
                <a:solidFill>
                  <a:srgbClr val="5E6964"/>
                </a:solidFill>
              </a:rPr>
              <a:t>EVERY 5 TO 10 YEARS · REBASING</a:t>
            </a:r>
            <a:endParaRPr lang="en-US" sz="1200" dirty="0"/>
          </a:p>
        </p:txBody>
      </p:sp>
      <p:sp>
        <p:nvSpPr>
          <p:cNvPr id="11" name="Text 9"/>
          <p:cNvSpPr txBox="1"/>
          <p:nvPr/>
        </p:nvSpPr>
        <p:spPr>
          <a:xfrm>
            <a:off x="6153912" y="1645920"/>
            <a:ext cx="5394960" cy="320040"/>
          </a:xfrm>
          <a:prstGeom prst="rect">
            <a:avLst/>
          </a:prstGeom>
          <a:noFill/>
          <a:ln/>
        </p:spPr>
        <p:txBody>
          <a:bodyPr wrap="square" lIns="0" tIns="0" rIns="0" bIns="0" rtlCol="0" anchor="ctr"/>
          <a:lstStyle/>
          <a:p>
            <a:pPr marL="0" indent="0">
              <a:buNone/>
            </a:pPr>
            <a:r>
              <a:rPr lang="en-US" sz="1200" b="1" kern="0" spc="200" dirty="0">
                <a:solidFill>
                  <a:srgbClr val="00704A"/>
                </a:solidFill>
              </a:rPr>
              <a:t>EVERY MONTH · PRODUCTION</a:t>
            </a:r>
            <a:endParaRPr lang="en-US" sz="1200" dirty="0"/>
          </a:p>
        </p:txBody>
      </p:sp>
      <p:sp>
        <p:nvSpPr>
          <p:cNvPr id="12" name="Chain card 1"/>
          <p:cNvSpPr/>
          <p:nvPr/>
        </p:nvSpPr>
        <p:spPr>
          <a:xfrm>
            <a:off x="502920" y="2057400"/>
            <a:ext cx="1664208" cy="2377440"/>
          </a:xfrm>
          <a:prstGeom prst="roundRect">
            <a:avLst>
              <a:gd name="adj" fmla="val 4396"/>
            </a:avLst>
          </a:prstGeom>
          <a:solidFill>
            <a:srgbClr val="F4F7F5"/>
          </a:solidFill>
          <a:ln w="9525">
            <a:solidFill>
              <a:srgbClr val="D5DED9"/>
            </a:solidFill>
            <a:prstDash val="solid"/>
          </a:ln>
        </p:spPr>
      </p:sp>
      <p:sp>
        <p:nvSpPr>
          <p:cNvPr id="13" name="Chain 1 circle"/>
          <p:cNvSpPr/>
          <p:nvPr/>
        </p:nvSpPr>
        <p:spPr>
          <a:xfrm>
            <a:off x="960120" y="2240280"/>
            <a:ext cx="749808" cy="749808"/>
          </a:xfrm>
          <a:prstGeom prst="ellipse">
            <a:avLst/>
          </a:prstGeom>
          <a:solidFill>
            <a:srgbClr val="5E6964">
              <a:alpha val="22000"/>
            </a:srgbClr>
          </a:solidFill>
          <a:ln/>
        </p:spPr>
      </p:sp>
      <p:pic>
        <p:nvPicPr>
          <p:cNvPr id="14" name="Chain 1 icon" descr="preencoded.png"/>
          <p:cNvPicPr>
            <a:picLocks noChangeAspect="1"/>
          </p:cNvPicPr>
          <p:nvPr/>
        </p:nvPicPr>
        <p:blipFill>
          <a:blip r:embed="rId3"/>
          <a:stretch>
            <a:fillRect/>
          </a:stretch>
        </p:blipFill>
        <p:spPr>
          <a:xfrm>
            <a:off x="1147572" y="2427732"/>
            <a:ext cx="374904" cy="374904"/>
          </a:xfrm>
          <a:prstGeom prst="rect">
            <a:avLst/>
          </a:prstGeom>
        </p:spPr>
      </p:pic>
      <p:sp>
        <p:nvSpPr>
          <p:cNvPr id="15" name="Text 12"/>
          <p:cNvSpPr txBox="1"/>
          <p:nvPr/>
        </p:nvSpPr>
        <p:spPr>
          <a:xfrm>
            <a:off x="594360"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Budget survey</a:t>
            </a:r>
            <a:endParaRPr lang="en-US" sz="1500" dirty="0"/>
          </a:p>
        </p:txBody>
      </p:sp>
      <p:sp>
        <p:nvSpPr>
          <p:cNvPr id="16" name="Text 13"/>
          <p:cNvSpPr txBox="1"/>
          <p:nvPr/>
        </p:nvSpPr>
        <p:spPr>
          <a:xfrm>
            <a:off x="594360"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Household spending</a:t>
            </a:r>
            <a:endParaRPr lang="en-US" sz="1200" dirty="0"/>
          </a:p>
        </p:txBody>
      </p:sp>
      <p:pic>
        <p:nvPicPr>
          <p:cNvPr id="17" name="Chain arrow 1" descr="preencoded.png"/>
          <p:cNvPicPr>
            <a:picLocks noChangeAspect="1"/>
          </p:cNvPicPr>
          <p:nvPr/>
        </p:nvPicPr>
        <p:blipFill>
          <a:blip r:embed="rId4"/>
          <a:stretch>
            <a:fillRect/>
          </a:stretch>
        </p:blipFill>
        <p:spPr>
          <a:xfrm>
            <a:off x="2185416" y="3127248"/>
            <a:ext cx="182880" cy="182880"/>
          </a:xfrm>
          <a:prstGeom prst="rect">
            <a:avLst/>
          </a:prstGeom>
        </p:spPr>
      </p:pic>
      <p:sp>
        <p:nvSpPr>
          <p:cNvPr id="18" name="Chain card 2"/>
          <p:cNvSpPr/>
          <p:nvPr/>
        </p:nvSpPr>
        <p:spPr>
          <a:xfrm>
            <a:off x="2386584" y="2057400"/>
            <a:ext cx="1664208" cy="2377440"/>
          </a:xfrm>
          <a:prstGeom prst="roundRect">
            <a:avLst>
              <a:gd name="adj" fmla="val 4396"/>
            </a:avLst>
          </a:prstGeom>
          <a:solidFill>
            <a:srgbClr val="F4F7F5"/>
          </a:solidFill>
          <a:ln w="9525">
            <a:solidFill>
              <a:srgbClr val="D5DED9"/>
            </a:solidFill>
            <a:prstDash val="solid"/>
          </a:ln>
        </p:spPr>
      </p:sp>
      <p:sp>
        <p:nvSpPr>
          <p:cNvPr id="19" name="Chain 2 circle"/>
          <p:cNvSpPr/>
          <p:nvPr/>
        </p:nvSpPr>
        <p:spPr>
          <a:xfrm>
            <a:off x="2843784" y="2240280"/>
            <a:ext cx="749808" cy="749808"/>
          </a:xfrm>
          <a:prstGeom prst="ellipse">
            <a:avLst/>
          </a:prstGeom>
          <a:solidFill>
            <a:srgbClr val="5E6964">
              <a:alpha val="22000"/>
            </a:srgbClr>
          </a:solidFill>
          <a:ln/>
        </p:spPr>
      </p:sp>
      <p:pic>
        <p:nvPicPr>
          <p:cNvPr id="20" name="Chain 2 icon" descr="preencoded.png"/>
          <p:cNvPicPr>
            <a:picLocks noChangeAspect="1"/>
          </p:cNvPicPr>
          <p:nvPr/>
        </p:nvPicPr>
        <p:blipFill>
          <a:blip r:embed="rId5"/>
          <a:stretch>
            <a:fillRect/>
          </a:stretch>
        </p:blipFill>
        <p:spPr>
          <a:xfrm>
            <a:off x="3031236" y="2427732"/>
            <a:ext cx="374904" cy="374904"/>
          </a:xfrm>
          <a:prstGeom prst="rect">
            <a:avLst/>
          </a:prstGeom>
        </p:spPr>
      </p:pic>
      <p:sp>
        <p:nvSpPr>
          <p:cNvPr id="21" name="Text 16"/>
          <p:cNvSpPr txBox="1"/>
          <p:nvPr/>
        </p:nvSpPr>
        <p:spPr>
          <a:xfrm>
            <a:off x="2478024"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Basket and weights</a:t>
            </a:r>
            <a:endParaRPr lang="en-US" sz="1500" dirty="0"/>
          </a:p>
        </p:txBody>
      </p:sp>
      <p:sp>
        <p:nvSpPr>
          <p:cNvPr id="22" name="Text 17"/>
          <p:cNvSpPr txBox="1"/>
          <p:nvPr/>
        </p:nvSpPr>
        <p:spPr>
          <a:xfrm>
            <a:off x="2478024"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Items and weights</a:t>
            </a:r>
            <a:endParaRPr lang="en-US" sz="1200" dirty="0"/>
          </a:p>
        </p:txBody>
      </p:sp>
      <p:pic>
        <p:nvPicPr>
          <p:cNvPr id="23" name="Chain arrow 2" descr="preencoded.png"/>
          <p:cNvPicPr>
            <a:picLocks noChangeAspect="1"/>
          </p:cNvPicPr>
          <p:nvPr/>
        </p:nvPicPr>
        <p:blipFill>
          <a:blip r:embed="rId4"/>
          <a:stretch>
            <a:fillRect/>
          </a:stretch>
        </p:blipFill>
        <p:spPr>
          <a:xfrm>
            <a:off x="4069080" y="3127248"/>
            <a:ext cx="182880" cy="182880"/>
          </a:xfrm>
          <a:prstGeom prst="rect">
            <a:avLst/>
          </a:prstGeom>
        </p:spPr>
      </p:pic>
      <p:sp>
        <p:nvSpPr>
          <p:cNvPr id="24" name="Chain card 3"/>
          <p:cNvSpPr/>
          <p:nvPr/>
        </p:nvSpPr>
        <p:spPr>
          <a:xfrm>
            <a:off x="4270248" y="2057400"/>
            <a:ext cx="1664208" cy="2377440"/>
          </a:xfrm>
          <a:prstGeom prst="roundRect">
            <a:avLst>
              <a:gd name="adj" fmla="val 4396"/>
            </a:avLst>
          </a:prstGeom>
          <a:solidFill>
            <a:srgbClr val="F4F7F5"/>
          </a:solidFill>
          <a:ln w="9525">
            <a:solidFill>
              <a:srgbClr val="D5DED9"/>
            </a:solidFill>
            <a:prstDash val="solid"/>
          </a:ln>
        </p:spPr>
      </p:sp>
      <p:sp>
        <p:nvSpPr>
          <p:cNvPr id="25" name="Chain 3 circle"/>
          <p:cNvSpPr/>
          <p:nvPr/>
        </p:nvSpPr>
        <p:spPr>
          <a:xfrm>
            <a:off x="4727448" y="2240280"/>
            <a:ext cx="749808" cy="749808"/>
          </a:xfrm>
          <a:prstGeom prst="ellipse">
            <a:avLst/>
          </a:prstGeom>
          <a:solidFill>
            <a:srgbClr val="5E6964">
              <a:alpha val="22000"/>
            </a:srgbClr>
          </a:solidFill>
          <a:ln/>
        </p:spPr>
      </p:sp>
      <p:pic>
        <p:nvPicPr>
          <p:cNvPr id="26" name="Chain 3 icon" descr="preencoded.png"/>
          <p:cNvPicPr>
            <a:picLocks noChangeAspect="1"/>
          </p:cNvPicPr>
          <p:nvPr/>
        </p:nvPicPr>
        <p:blipFill>
          <a:blip r:embed="rId6"/>
          <a:stretch>
            <a:fillRect/>
          </a:stretch>
        </p:blipFill>
        <p:spPr>
          <a:xfrm>
            <a:off x="4914900" y="2427732"/>
            <a:ext cx="374904" cy="374904"/>
          </a:xfrm>
          <a:prstGeom prst="rect">
            <a:avLst/>
          </a:prstGeom>
        </p:spPr>
      </p:pic>
      <p:sp>
        <p:nvSpPr>
          <p:cNvPr id="27" name="Text 20"/>
          <p:cNvSpPr txBox="1"/>
          <p:nvPr/>
        </p:nvSpPr>
        <p:spPr>
          <a:xfrm>
            <a:off x="4361688"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Sample</a:t>
            </a:r>
            <a:endParaRPr lang="en-US" sz="1500" dirty="0"/>
          </a:p>
        </p:txBody>
      </p:sp>
      <p:sp>
        <p:nvSpPr>
          <p:cNvPr id="28" name="Text 21"/>
          <p:cNvSpPr txBox="1"/>
          <p:nvPr/>
        </p:nvSpPr>
        <p:spPr>
          <a:xfrm>
            <a:off x="4361688"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Outlets, localities</a:t>
            </a:r>
            <a:endParaRPr lang="en-US" sz="1200" dirty="0"/>
          </a:p>
        </p:txBody>
      </p:sp>
      <p:pic>
        <p:nvPicPr>
          <p:cNvPr id="29" name="Chain arrow 3" descr="preencoded.png"/>
          <p:cNvPicPr>
            <a:picLocks noChangeAspect="1"/>
          </p:cNvPicPr>
          <p:nvPr/>
        </p:nvPicPr>
        <p:blipFill>
          <a:blip r:embed="rId4"/>
          <a:stretch>
            <a:fillRect/>
          </a:stretch>
        </p:blipFill>
        <p:spPr>
          <a:xfrm>
            <a:off x="5952744" y="3127248"/>
            <a:ext cx="182880" cy="182880"/>
          </a:xfrm>
          <a:prstGeom prst="rect">
            <a:avLst/>
          </a:prstGeom>
        </p:spPr>
      </p:pic>
      <p:sp>
        <p:nvSpPr>
          <p:cNvPr id="30" name="Chain card 4"/>
          <p:cNvSpPr/>
          <p:nvPr/>
        </p:nvSpPr>
        <p:spPr>
          <a:xfrm>
            <a:off x="6153912" y="2057400"/>
            <a:ext cx="1664208" cy="2377440"/>
          </a:xfrm>
          <a:prstGeom prst="roundRect">
            <a:avLst>
              <a:gd name="adj" fmla="val 4396"/>
            </a:avLst>
          </a:prstGeom>
          <a:solidFill>
            <a:srgbClr val="E8F5EF"/>
          </a:solidFill>
          <a:ln w="19050">
            <a:solidFill>
              <a:srgbClr val="00A86A"/>
            </a:solidFill>
            <a:prstDash val="solid"/>
          </a:ln>
        </p:spPr>
      </p:sp>
      <p:sp>
        <p:nvSpPr>
          <p:cNvPr id="31" name="Chain 4 circle"/>
          <p:cNvSpPr/>
          <p:nvPr/>
        </p:nvSpPr>
        <p:spPr>
          <a:xfrm>
            <a:off x="6611112" y="2240280"/>
            <a:ext cx="749808" cy="749808"/>
          </a:xfrm>
          <a:prstGeom prst="ellipse">
            <a:avLst/>
          </a:prstGeom>
          <a:solidFill>
            <a:srgbClr val="00A86A">
              <a:alpha val="22000"/>
            </a:srgbClr>
          </a:solidFill>
          <a:ln/>
        </p:spPr>
      </p:sp>
      <p:pic>
        <p:nvPicPr>
          <p:cNvPr id="32" name="Chain 4 icon" descr="preencoded.png"/>
          <p:cNvPicPr>
            <a:picLocks noChangeAspect="1"/>
          </p:cNvPicPr>
          <p:nvPr/>
        </p:nvPicPr>
        <p:blipFill>
          <a:blip r:embed="rId7"/>
          <a:stretch>
            <a:fillRect/>
          </a:stretch>
        </p:blipFill>
        <p:spPr>
          <a:xfrm>
            <a:off x="6798564" y="2427732"/>
            <a:ext cx="374904" cy="374904"/>
          </a:xfrm>
          <a:prstGeom prst="rect">
            <a:avLst/>
          </a:prstGeom>
        </p:spPr>
      </p:pic>
      <p:sp>
        <p:nvSpPr>
          <p:cNvPr id="33" name="Text 24"/>
          <p:cNvSpPr txBox="1"/>
          <p:nvPr/>
        </p:nvSpPr>
        <p:spPr>
          <a:xfrm>
            <a:off x="6245352"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Collection</a:t>
            </a:r>
            <a:endParaRPr lang="en-US" sz="1500" dirty="0"/>
          </a:p>
        </p:txBody>
      </p:sp>
      <p:sp>
        <p:nvSpPr>
          <p:cNvPr id="34" name="Text 25"/>
          <p:cNvSpPr txBox="1"/>
          <p:nvPr/>
        </p:nvSpPr>
        <p:spPr>
          <a:xfrm>
            <a:off x="6245352"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Monthly price quotes</a:t>
            </a:r>
            <a:endParaRPr lang="en-US" sz="1200" dirty="0"/>
          </a:p>
        </p:txBody>
      </p:sp>
      <p:pic>
        <p:nvPicPr>
          <p:cNvPr id="35" name="Chain arrow 4" descr="preencoded.png"/>
          <p:cNvPicPr>
            <a:picLocks noChangeAspect="1"/>
          </p:cNvPicPr>
          <p:nvPr/>
        </p:nvPicPr>
        <p:blipFill>
          <a:blip r:embed="rId4"/>
          <a:stretch>
            <a:fillRect/>
          </a:stretch>
        </p:blipFill>
        <p:spPr>
          <a:xfrm>
            <a:off x="7836408" y="3127248"/>
            <a:ext cx="182880" cy="182880"/>
          </a:xfrm>
          <a:prstGeom prst="rect">
            <a:avLst/>
          </a:prstGeom>
        </p:spPr>
      </p:pic>
      <p:sp>
        <p:nvSpPr>
          <p:cNvPr id="36" name="Chain card 5"/>
          <p:cNvSpPr/>
          <p:nvPr/>
        </p:nvSpPr>
        <p:spPr>
          <a:xfrm>
            <a:off x="8037576" y="2057400"/>
            <a:ext cx="1664208" cy="2377440"/>
          </a:xfrm>
          <a:prstGeom prst="roundRect">
            <a:avLst>
              <a:gd name="adj" fmla="val 4396"/>
            </a:avLst>
          </a:prstGeom>
          <a:solidFill>
            <a:srgbClr val="E8F5EF"/>
          </a:solidFill>
          <a:ln w="19050">
            <a:solidFill>
              <a:srgbClr val="00A86A"/>
            </a:solidFill>
            <a:prstDash val="solid"/>
          </a:ln>
        </p:spPr>
      </p:sp>
      <p:sp>
        <p:nvSpPr>
          <p:cNvPr id="37" name="Chain 5 circle"/>
          <p:cNvSpPr/>
          <p:nvPr/>
        </p:nvSpPr>
        <p:spPr>
          <a:xfrm>
            <a:off x="8494776" y="2240280"/>
            <a:ext cx="749808" cy="749808"/>
          </a:xfrm>
          <a:prstGeom prst="ellipse">
            <a:avLst/>
          </a:prstGeom>
          <a:solidFill>
            <a:srgbClr val="00A86A">
              <a:alpha val="22000"/>
            </a:srgbClr>
          </a:solidFill>
          <a:ln/>
        </p:spPr>
      </p:sp>
      <p:pic>
        <p:nvPicPr>
          <p:cNvPr id="38" name="Chain 5 icon" descr="preencoded.png"/>
          <p:cNvPicPr>
            <a:picLocks noChangeAspect="1"/>
          </p:cNvPicPr>
          <p:nvPr/>
        </p:nvPicPr>
        <p:blipFill>
          <a:blip r:embed="rId8"/>
          <a:stretch>
            <a:fillRect/>
          </a:stretch>
        </p:blipFill>
        <p:spPr>
          <a:xfrm>
            <a:off x="8682228" y="2427732"/>
            <a:ext cx="374904" cy="374904"/>
          </a:xfrm>
          <a:prstGeom prst="rect">
            <a:avLst/>
          </a:prstGeom>
        </p:spPr>
      </p:pic>
      <p:sp>
        <p:nvSpPr>
          <p:cNvPr id="39" name="Text 28"/>
          <p:cNvSpPr txBox="1"/>
          <p:nvPr/>
        </p:nvSpPr>
        <p:spPr>
          <a:xfrm>
            <a:off x="8129016"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Elementary indices</a:t>
            </a:r>
            <a:endParaRPr lang="en-US" sz="1500" dirty="0"/>
          </a:p>
        </p:txBody>
      </p:sp>
      <p:sp>
        <p:nvSpPr>
          <p:cNvPr id="40" name="Text 29"/>
          <p:cNvSpPr txBox="1"/>
          <p:nvPr/>
        </p:nvSpPr>
        <p:spPr>
          <a:xfrm>
            <a:off x="8129016"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Jevons by item and locality</a:t>
            </a:r>
            <a:endParaRPr lang="en-US" sz="1200" dirty="0"/>
          </a:p>
        </p:txBody>
      </p:sp>
      <p:pic>
        <p:nvPicPr>
          <p:cNvPr id="41" name="Chain arrow 5" descr="preencoded.png"/>
          <p:cNvPicPr>
            <a:picLocks noChangeAspect="1"/>
          </p:cNvPicPr>
          <p:nvPr/>
        </p:nvPicPr>
        <p:blipFill>
          <a:blip r:embed="rId4"/>
          <a:stretch>
            <a:fillRect/>
          </a:stretch>
        </p:blipFill>
        <p:spPr>
          <a:xfrm>
            <a:off x="9720072" y="3127248"/>
            <a:ext cx="182880" cy="182880"/>
          </a:xfrm>
          <a:prstGeom prst="rect">
            <a:avLst/>
          </a:prstGeom>
        </p:spPr>
      </p:pic>
      <p:sp>
        <p:nvSpPr>
          <p:cNvPr id="42" name="Chain card 6"/>
          <p:cNvSpPr/>
          <p:nvPr/>
        </p:nvSpPr>
        <p:spPr>
          <a:xfrm>
            <a:off x="9921240" y="2057400"/>
            <a:ext cx="1664208" cy="2377440"/>
          </a:xfrm>
          <a:prstGeom prst="roundRect">
            <a:avLst>
              <a:gd name="adj" fmla="val 4396"/>
            </a:avLst>
          </a:prstGeom>
          <a:solidFill>
            <a:srgbClr val="E8F5EF"/>
          </a:solidFill>
          <a:ln w="19050">
            <a:solidFill>
              <a:srgbClr val="00A86A"/>
            </a:solidFill>
            <a:prstDash val="solid"/>
          </a:ln>
        </p:spPr>
      </p:sp>
      <p:sp>
        <p:nvSpPr>
          <p:cNvPr id="43" name="Chain 6 circle"/>
          <p:cNvSpPr/>
          <p:nvPr/>
        </p:nvSpPr>
        <p:spPr>
          <a:xfrm>
            <a:off x="10378440" y="2240280"/>
            <a:ext cx="749808" cy="749808"/>
          </a:xfrm>
          <a:prstGeom prst="ellipse">
            <a:avLst/>
          </a:prstGeom>
          <a:solidFill>
            <a:srgbClr val="00A86A">
              <a:alpha val="22000"/>
            </a:srgbClr>
          </a:solidFill>
          <a:ln/>
        </p:spPr>
      </p:sp>
      <p:pic>
        <p:nvPicPr>
          <p:cNvPr id="44" name="Chain 6 icon" descr="preencoded.png"/>
          <p:cNvPicPr>
            <a:picLocks noChangeAspect="1"/>
          </p:cNvPicPr>
          <p:nvPr/>
        </p:nvPicPr>
        <p:blipFill>
          <a:blip r:embed="rId9"/>
          <a:stretch>
            <a:fillRect/>
          </a:stretch>
        </p:blipFill>
        <p:spPr>
          <a:xfrm>
            <a:off x="10565892" y="2427732"/>
            <a:ext cx="374904" cy="374904"/>
          </a:xfrm>
          <a:prstGeom prst="rect">
            <a:avLst/>
          </a:prstGeom>
        </p:spPr>
      </p:pic>
      <p:sp>
        <p:nvSpPr>
          <p:cNvPr id="45" name="Text 32"/>
          <p:cNvSpPr txBox="1"/>
          <p:nvPr/>
        </p:nvSpPr>
        <p:spPr>
          <a:xfrm>
            <a:off x="10012680"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Aggregation</a:t>
            </a:r>
            <a:endParaRPr lang="en-US" sz="1500" dirty="0"/>
          </a:p>
        </p:txBody>
      </p:sp>
      <p:sp>
        <p:nvSpPr>
          <p:cNvPr id="46" name="Text 33"/>
          <p:cNvSpPr txBox="1"/>
          <p:nvPr/>
        </p:nvSpPr>
        <p:spPr>
          <a:xfrm>
            <a:off x="10012680"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Weighting, release</a:t>
            </a:r>
            <a:endParaRPr lang="en-US" sz="1200" dirty="0"/>
          </a:p>
        </p:txBody>
      </p:sp>
      <p:sp>
        <p:nvSpPr>
          <p:cNvPr id="47" name="Checks box"/>
          <p:cNvSpPr/>
          <p:nvPr/>
        </p:nvSpPr>
        <p:spPr>
          <a:xfrm>
            <a:off x="502920" y="4754880"/>
            <a:ext cx="11155680" cy="1234440"/>
          </a:xfrm>
          <a:prstGeom prst="roundRect">
            <a:avLst>
              <a:gd name="adj" fmla="val 5926"/>
            </a:avLst>
          </a:prstGeom>
          <a:solidFill>
            <a:srgbClr val="F4F7F5"/>
          </a:solidFill>
          <a:ln w="9525">
            <a:solidFill>
              <a:srgbClr val="D5DED9"/>
            </a:solidFill>
            <a:prstDash val="solid"/>
          </a:ln>
        </p:spPr>
      </p:sp>
      <p:sp>
        <p:nvSpPr>
          <p:cNvPr id="48" name="Checks circle"/>
          <p:cNvSpPr/>
          <p:nvPr/>
        </p:nvSpPr>
        <p:spPr>
          <a:xfrm>
            <a:off x="731520" y="4983480"/>
            <a:ext cx="777240" cy="777240"/>
          </a:xfrm>
          <a:prstGeom prst="ellipse">
            <a:avLst/>
          </a:prstGeom>
          <a:solidFill>
            <a:srgbClr val="00A86A">
              <a:alpha val="22000"/>
            </a:srgbClr>
          </a:solidFill>
          <a:ln/>
        </p:spPr>
      </p:sp>
      <p:pic>
        <p:nvPicPr>
          <p:cNvPr id="49" name="Checks icon" descr="preencoded.png"/>
          <p:cNvPicPr>
            <a:picLocks noChangeAspect="1"/>
          </p:cNvPicPr>
          <p:nvPr/>
        </p:nvPicPr>
        <p:blipFill>
          <a:blip r:embed="rId10"/>
          <a:stretch>
            <a:fillRect/>
          </a:stretch>
        </p:blipFill>
        <p:spPr>
          <a:xfrm>
            <a:off x="925830" y="5177790"/>
            <a:ext cx="388620" cy="388620"/>
          </a:xfrm>
          <a:prstGeom prst="rect">
            <a:avLst/>
          </a:prstGeom>
        </p:spPr>
      </p:pic>
      <p:sp>
        <p:nvSpPr>
          <p:cNvPr id="50" name="Text 36"/>
          <p:cNvSpPr txBox="1"/>
          <p:nvPr/>
        </p:nvSpPr>
        <p:spPr>
          <a:xfrm>
            <a:off x="1737360" y="4754880"/>
            <a:ext cx="9692640" cy="1234440"/>
          </a:xfrm>
          <a:prstGeom prst="rect">
            <a:avLst/>
          </a:prstGeom>
          <a:noFill/>
          <a:ln/>
        </p:spPr>
        <p:txBody>
          <a:bodyPr wrap="square" lIns="0" tIns="0" rIns="0" bIns="0" rtlCol="0" anchor="ctr"/>
          <a:lstStyle/>
          <a:p>
            <a:pPr marL="0" indent="0">
              <a:buNone/>
            </a:pPr>
            <a:r>
              <a:rPr lang="en-US" sz="1500" b="1" dirty="0">
                <a:solidFill>
                  <a:srgbClr val="231F20"/>
                </a:solidFill>
              </a:rPr>
              <a:t>Checks at every stage: </a:t>
            </a:r>
            <a:r>
              <a:rPr lang="en-US" sz="1500" dirty="0">
                <a:solidFill>
                  <a:srgbClr val="5E6964"/>
                </a:solidFill>
              </a:rPr>
              <a:t>outlier prices, missing items, replacements, consistency across localities and with the previous month. Discrepancies are documented before release.</a:t>
            </a:r>
            <a:endParaRPr lang="en-US" sz="1500" dirty="0"/>
          </a:p>
        </p:txBody>
      </p:sp>
      <p:sp>
        <p:nvSpPr>
          <p:cNvPr id="51"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COMPILING THE INDEX</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0E7C86"/>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Collecting prices: four complementary sources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Field collection remains the backbone; digital sources extend it</a:t>
            </a:r>
            <a:endParaRPr lang="en-US" sz="1500" dirty="0"/>
          </a:p>
        </p:txBody>
      </p:sp>
      <p:sp>
        <p:nvSpPr>
          <p:cNvPr id="10" name="Source card 1"/>
          <p:cNvSpPr/>
          <p:nvPr/>
        </p:nvSpPr>
        <p:spPr>
          <a:xfrm>
            <a:off x="502920" y="1783080"/>
            <a:ext cx="2651760" cy="4251960"/>
          </a:xfrm>
          <a:prstGeom prst="roundRect">
            <a:avLst>
              <a:gd name="adj" fmla="val 2759"/>
            </a:avLst>
          </a:prstGeom>
          <a:solidFill>
            <a:srgbClr val="F4F7F5"/>
          </a:solidFill>
          <a:ln w="9525">
            <a:solidFill>
              <a:srgbClr val="D5DED9"/>
            </a:solidFill>
            <a:prstDash val="solid"/>
          </a:ln>
        </p:spPr>
      </p:sp>
      <p:sp>
        <p:nvSpPr>
          <p:cNvPr id="11" name="Source 1 circle"/>
          <p:cNvSpPr/>
          <p:nvPr/>
        </p:nvSpPr>
        <p:spPr>
          <a:xfrm>
            <a:off x="777240" y="2057400"/>
            <a:ext cx="731520" cy="731520"/>
          </a:xfrm>
          <a:prstGeom prst="ellipse">
            <a:avLst/>
          </a:prstGeom>
          <a:solidFill>
            <a:srgbClr val="00704A">
              <a:alpha val="22000"/>
            </a:srgbClr>
          </a:solidFill>
          <a:ln/>
        </p:spPr>
      </p:sp>
      <p:pic>
        <p:nvPicPr>
          <p:cNvPr id="12" name="Source 1 icon" descr="preencoded.png"/>
          <p:cNvPicPr>
            <a:picLocks noChangeAspect="1"/>
          </p:cNvPicPr>
          <p:nvPr/>
        </p:nvPicPr>
        <p:blipFill>
          <a:blip r:embed="rId3"/>
          <a:stretch>
            <a:fillRect/>
          </a:stretch>
        </p:blipFill>
        <p:spPr>
          <a:xfrm>
            <a:off x="960120" y="2240280"/>
            <a:ext cx="365760" cy="365760"/>
          </a:xfrm>
          <a:prstGeom prst="rect">
            <a:avLst/>
          </a:prstGeom>
        </p:spPr>
      </p:pic>
      <p:sp>
        <p:nvSpPr>
          <p:cNvPr id="13" name="Text 10"/>
          <p:cNvSpPr txBox="1"/>
          <p:nvPr/>
        </p:nvSpPr>
        <p:spPr>
          <a:xfrm>
            <a:off x="77724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Field collection</a:t>
            </a:r>
            <a:endParaRPr lang="en-US" sz="1700" dirty="0"/>
          </a:p>
        </p:txBody>
      </p:sp>
      <p:sp>
        <p:nvSpPr>
          <p:cNvPr id="14" name="Text 11"/>
          <p:cNvSpPr txBox="1"/>
          <p:nvPr/>
        </p:nvSpPr>
        <p:spPr>
          <a:xfrm>
            <a:off x="77724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Price collectors record prices at markets and in shops, on a fixed schedule.</a:t>
            </a:r>
            <a:endParaRPr lang="en-US" sz="1300" dirty="0"/>
          </a:p>
        </p:txBody>
      </p:sp>
      <p:sp>
        <p:nvSpPr>
          <p:cNvPr id="15" name="Text 12"/>
          <p:cNvSpPr txBox="1"/>
          <p:nvPr/>
        </p:nvSpPr>
        <p:spPr>
          <a:xfrm>
            <a:off x="77724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Covers informal and rural markets</a:t>
            </a:r>
            <a:endParaRPr lang="en-US" sz="1300" dirty="0"/>
          </a:p>
        </p:txBody>
      </p:sp>
      <p:sp>
        <p:nvSpPr>
          <p:cNvPr id="16" name="Text 13"/>
          <p:cNvSpPr txBox="1"/>
          <p:nvPr/>
        </p:nvSpPr>
        <p:spPr>
          <a:xfrm>
            <a:off x="77724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Costly, limited sample</a:t>
            </a:r>
            <a:endParaRPr lang="en-US" sz="1300" dirty="0"/>
          </a:p>
        </p:txBody>
      </p:sp>
      <p:sp>
        <p:nvSpPr>
          <p:cNvPr id="17" name="Source card 2"/>
          <p:cNvSpPr/>
          <p:nvPr/>
        </p:nvSpPr>
        <p:spPr>
          <a:xfrm>
            <a:off x="3337560" y="1783080"/>
            <a:ext cx="2651760" cy="4251960"/>
          </a:xfrm>
          <a:prstGeom prst="roundRect">
            <a:avLst>
              <a:gd name="adj" fmla="val 2759"/>
            </a:avLst>
          </a:prstGeom>
          <a:solidFill>
            <a:srgbClr val="F4F7F5"/>
          </a:solidFill>
          <a:ln w="9525">
            <a:solidFill>
              <a:srgbClr val="D5DED9"/>
            </a:solidFill>
            <a:prstDash val="solid"/>
          </a:ln>
        </p:spPr>
      </p:sp>
      <p:sp>
        <p:nvSpPr>
          <p:cNvPr id="18" name="Source 2 circle"/>
          <p:cNvSpPr/>
          <p:nvPr/>
        </p:nvSpPr>
        <p:spPr>
          <a:xfrm>
            <a:off x="3611880" y="2057400"/>
            <a:ext cx="731520" cy="731520"/>
          </a:xfrm>
          <a:prstGeom prst="ellipse">
            <a:avLst/>
          </a:prstGeom>
          <a:solidFill>
            <a:srgbClr val="0E7C86">
              <a:alpha val="22000"/>
            </a:srgbClr>
          </a:solidFill>
          <a:ln/>
        </p:spPr>
      </p:sp>
      <p:pic>
        <p:nvPicPr>
          <p:cNvPr id="19" name="Source 2 icon" descr="preencoded.png"/>
          <p:cNvPicPr>
            <a:picLocks noChangeAspect="1"/>
          </p:cNvPicPr>
          <p:nvPr/>
        </p:nvPicPr>
        <p:blipFill>
          <a:blip r:embed="rId4"/>
          <a:stretch>
            <a:fillRect/>
          </a:stretch>
        </p:blipFill>
        <p:spPr>
          <a:xfrm>
            <a:off x="3794760" y="2240280"/>
            <a:ext cx="365760" cy="365760"/>
          </a:xfrm>
          <a:prstGeom prst="rect">
            <a:avLst/>
          </a:prstGeom>
        </p:spPr>
      </p:pic>
      <p:sp>
        <p:nvSpPr>
          <p:cNvPr id="20" name="Text 16"/>
          <p:cNvSpPr txBox="1"/>
          <p:nvPr/>
        </p:nvSpPr>
        <p:spPr>
          <a:xfrm>
            <a:off x="361188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Administered prices</a:t>
            </a:r>
            <a:endParaRPr lang="en-US" sz="1700" dirty="0"/>
          </a:p>
        </p:txBody>
      </p:sp>
      <p:sp>
        <p:nvSpPr>
          <p:cNvPr id="21" name="Text 17"/>
          <p:cNvSpPr txBox="1"/>
          <p:nvPr/>
        </p:nvSpPr>
        <p:spPr>
          <a:xfrm>
            <a:off x="361188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Tariffs set and published: electricity, water, fuel, regulated transport.</a:t>
            </a:r>
            <a:endParaRPr lang="en-US" sz="1300" dirty="0"/>
          </a:p>
        </p:txBody>
      </p:sp>
      <p:sp>
        <p:nvSpPr>
          <p:cNvPr id="22" name="Text 18"/>
          <p:cNvSpPr txBox="1"/>
          <p:nvPr/>
        </p:nvSpPr>
        <p:spPr>
          <a:xfrm>
            <a:off x="361188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Comprehensive and official</a:t>
            </a:r>
            <a:endParaRPr lang="en-US" sz="1300" dirty="0"/>
          </a:p>
        </p:txBody>
      </p:sp>
      <p:sp>
        <p:nvSpPr>
          <p:cNvPr id="23" name="Text 19"/>
          <p:cNvSpPr txBox="1"/>
          <p:nvPr/>
        </p:nvSpPr>
        <p:spPr>
          <a:xfrm>
            <a:off x="361188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Rarely change: a revision is easily missed</a:t>
            </a:r>
            <a:endParaRPr lang="en-US" sz="1300" dirty="0"/>
          </a:p>
        </p:txBody>
      </p:sp>
      <p:sp>
        <p:nvSpPr>
          <p:cNvPr id="24" name="Source card 3"/>
          <p:cNvSpPr/>
          <p:nvPr/>
        </p:nvSpPr>
        <p:spPr>
          <a:xfrm>
            <a:off x="6172200" y="1783080"/>
            <a:ext cx="2651760" cy="4251960"/>
          </a:xfrm>
          <a:prstGeom prst="roundRect">
            <a:avLst>
              <a:gd name="adj" fmla="val 2759"/>
            </a:avLst>
          </a:prstGeom>
          <a:solidFill>
            <a:srgbClr val="F4F7F5"/>
          </a:solidFill>
          <a:ln w="9525">
            <a:solidFill>
              <a:srgbClr val="D5DED9"/>
            </a:solidFill>
            <a:prstDash val="solid"/>
          </a:ln>
        </p:spPr>
      </p:sp>
      <p:sp>
        <p:nvSpPr>
          <p:cNvPr id="25" name="Source 3 circle"/>
          <p:cNvSpPr/>
          <p:nvPr/>
        </p:nvSpPr>
        <p:spPr>
          <a:xfrm>
            <a:off x="6446520" y="2057400"/>
            <a:ext cx="731520" cy="731520"/>
          </a:xfrm>
          <a:prstGeom prst="ellipse">
            <a:avLst/>
          </a:prstGeom>
          <a:solidFill>
            <a:srgbClr val="C4621D">
              <a:alpha val="22000"/>
            </a:srgbClr>
          </a:solidFill>
          <a:ln/>
        </p:spPr>
      </p:sp>
      <p:pic>
        <p:nvPicPr>
          <p:cNvPr id="26" name="Source 3 icon" descr="preencoded.png"/>
          <p:cNvPicPr>
            <a:picLocks noChangeAspect="1"/>
          </p:cNvPicPr>
          <p:nvPr/>
        </p:nvPicPr>
        <p:blipFill>
          <a:blip r:embed="rId5"/>
          <a:stretch>
            <a:fillRect/>
          </a:stretch>
        </p:blipFill>
        <p:spPr>
          <a:xfrm>
            <a:off x="6629400" y="2240280"/>
            <a:ext cx="365760" cy="365760"/>
          </a:xfrm>
          <a:prstGeom prst="rect">
            <a:avLst/>
          </a:prstGeom>
        </p:spPr>
      </p:pic>
      <p:sp>
        <p:nvSpPr>
          <p:cNvPr id="27" name="Text 22"/>
          <p:cNvSpPr txBox="1"/>
          <p:nvPr/>
        </p:nvSpPr>
        <p:spPr>
          <a:xfrm>
            <a:off x="644652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Scanner data</a:t>
            </a:r>
            <a:endParaRPr lang="en-US" sz="1700" dirty="0"/>
          </a:p>
        </p:txBody>
      </p:sp>
      <p:sp>
        <p:nvSpPr>
          <p:cNvPr id="28" name="Text 23"/>
          <p:cNvSpPr txBox="1"/>
          <p:nvPr/>
        </p:nvSpPr>
        <p:spPr>
          <a:xfrm>
            <a:off x="644652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Supermarket transactions: prices and quantities actually sold.</a:t>
            </a:r>
            <a:endParaRPr lang="en-US" sz="1300" dirty="0"/>
          </a:p>
        </p:txBody>
      </p:sp>
      <p:sp>
        <p:nvSpPr>
          <p:cNvPr id="29" name="Text 24"/>
          <p:cNvSpPr txBox="1"/>
          <p:nvPr/>
        </p:nvSpPr>
        <p:spPr>
          <a:xfrm>
            <a:off x="644652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Huge volumes, known quantities</a:t>
            </a:r>
            <a:endParaRPr lang="en-US" sz="1300" dirty="0"/>
          </a:p>
        </p:txBody>
      </p:sp>
      <p:sp>
        <p:nvSpPr>
          <p:cNvPr id="30" name="Text 25"/>
          <p:cNvSpPr txBox="1"/>
          <p:nvPr/>
        </p:nvSpPr>
        <p:spPr>
          <a:xfrm>
            <a:off x="644652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Agreements to negotiate, large retailers only</a:t>
            </a:r>
            <a:endParaRPr lang="en-US" sz="1300" dirty="0"/>
          </a:p>
        </p:txBody>
      </p:sp>
      <p:sp>
        <p:nvSpPr>
          <p:cNvPr id="31" name="Source card 4"/>
          <p:cNvSpPr/>
          <p:nvPr/>
        </p:nvSpPr>
        <p:spPr>
          <a:xfrm>
            <a:off x="9006840" y="1783080"/>
            <a:ext cx="2651760" cy="4251960"/>
          </a:xfrm>
          <a:prstGeom prst="roundRect">
            <a:avLst>
              <a:gd name="adj" fmla="val 2759"/>
            </a:avLst>
          </a:prstGeom>
          <a:solidFill>
            <a:srgbClr val="F4F7F5"/>
          </a:solidFill>
          <a:ln w="9525">
            <a:solidFill>
              <a:srgbClr val="D5DED9"/>
            </a:solidFill>
            <a:prstDash val="solid"/>
          </a:ln>
        </p:spPr>
      </p:sp>
      <p:sp>
        <p:nvSpPr>
          <p:cNvPr id="32" name="Source 4 circle"/>
          <p:cNvSpPr/>
          <p:nvPr/>
        </p:nvSpPr>
        <p:spPr>
          <a:xfrm>
            <a:off x="9281160" y="2057400"/>
            <a:ext cx="731520" cy="731520"/>
          </a:xfrm>
          <a:prstGeom prst="ellipse">
            <a:avLst/>
          </a:prstGeom>
          <a:solidFill>
            <a:srgbClr val="00A86A">
              <a:alpha val="22000"/>
            </a:srgbClr>
          </a:solidFill>
          <a:ln/>
        </p:spPr>
      </p:sp>
      <p:pic>
        <p:nvPicPr>
          <p:cNvPr id="33" name="Source 4 icon" descr="preencoded.png"/>
          <p:cNvPicPr>
            <a:picLocks noChangeAspect="1"/>
          </p:cNvPicPr>
          <p:nvPr/>
        </p:nvPicPr>
        <p:blipFill>
          <a:blip r:embed="rId6"/>
          <a:stretch>
            <a:fillRect/>
          </a:stretch>
        </p:blipFill>
        <p:spPr>
          <a:xfrm>
            <a:off x="9464040" y="2240280"/>
            <a:ext cx="365760" cy="365760"/>
          </a:xfrm>
          <a:prstGeom prst="rect">
            <a:avLst/>
          </a:prstGeom>
        </p:spPr>
      </p:pic>
      <p:sp>
        <p:nvSpPr>
          <p:cNvPr id="34" name="Text 28"/>
          <p:cNvSpPr txBox="1"/>
          <p:nvPr/>
        </p:nvSpPr>
        <p:spPr>
          <a:xfrm>
            <a:off x="928116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Online prices</a:t>
            </a:r>
            <a:endParaRPr lang="en-US" sz="1700" dirty="0"/>
          </a:p>
        </p:txBody>
      </p:sp>
      <p:sp>
        <p:nvSpPr>
          <p:cNvPr id="35" name="Text 29"/>
          <p:cNvSpPr txBox="1"/>
          <p:nvPr/>
        </p:nvSpPr>
        <p:spPr>
          <a:xfrm>
            <a:off x="928116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Automated collection of prices shown on retail websites.</a:t>
            </a:r>
            <a:endParaRPr lang="en-US" sz="1300" dirty="0"/>
          </a:p>
        </p:txBody>
      </p:sp>
      <p:sp>
        <p:nvSpPr>
          <p:cNvPr id="36" name="Text 30"/>
          <p:cNvSpPr txBox="1"/>
          <p:nvPr/>
        </p:nvSpPr>
        <p:spPr>
          <a:xfrm>
            <a:off x="928116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Daily, low-cost, very detailed</a:t>
            </a:r>
            <a:endParaRPr lang="en-US" sz="1300" dirty="0"/>
          </a:p>
        </p:txBody>
      </p:sp>
      <p:sp>
        <p:nvSpPr>
          <p:cNvPr id="37" name="Text 31"/>
          <p:cNvSpPr txBox="1"/>
          <p:nvPr/>
        </p:nvSpPr>
        <p:spPr>
          <a:xfrm>
            <a:off x="928116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Posted prices, urban buyers, frequent discounts</a:t>
            </a:r>
            <a:endParaRPr lang="en-US" sz="1300" dirty="0"/>
          </a:p>
        </p:txBody>
      </p:sp>
      <p:sp>
        <p:nvSpPr>
          <p:cNvPr id="38"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COMPILING THE INDEX</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0E7C86"/>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Elementary indices: why choose Jevons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Worked example: two products on alternating discount, whose prices return to their starting level</a:t>
            </a:r>
            <a:endParaRPr lang="en-US" sz="1500" dirty="0"/>
          </a:p>
        </p:txBody>
      </p:sp>
      <p:graphicFrame>
        <p:nvGraphicFramePr>
          <p:cNvPr id="18" name="Example price table"/>
          <p:cNvGraphicFramePr>
            <a:graphicFrameLocks noGrp="1"/>
          </p:cNvGraphicFramePr>
          <p:nvPr>
            <p:extLst>
              <p:ext uri="{D42A27DB-BD31-4B8C-83A1-F6EECF244321}">
                <p14:modId xmlns:p14="http://schemas.microsoft.com/office/powerpoint/2010/main" val="1579011935"/>
              </p:ext>
            </p:extLst>
          </p:nvPr>
        </p:nvGraphicFramePr>
        <p:xfrm>
          <a:off x="502920" y="1783080"/>
          <a:ext cx="51206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lgn="ctr">
                        <a:buNone/>
                      </a:pPr>
                      <a:r>
                        <a:rPr lang="en-US" sz="1300" b="1" dirty="0">
                          <a:solidFill>
                            <a:srgbClr val="231F20"/>
                          </a:solidFill>
                        </a:rPr>
                        <a:t>Price (CFA francs)</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Month 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Month 1</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Month 2</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0"/>
                  </a:ext>
                </a:extLst>
              </a:tr>
              <a:tr h="384048">
                <a:tc>
                  <a:txBody>
                    <a:bodyPr/>
                    <a:lstStyle/>
                    <a:p>
                      <a:pPr marL="0" indent="0" algn="ctr">
                        <a:buNone/>
                      </a:pPr>
                      <a:r>
                        <a:rPr lang="en-US" sz="1300" b="1" dirty="0">
                          <a:solidFill>
                            <a:srgbClr val="231F20"/>
                          </a:solidFill>
                        </a:rPr>
                        <a:t>Product A</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50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384048">
                <a:tc>
                  <a:txBody>
                    <a:bodyPr/>
                    <a:lstStyle/>
                    <a:p>
                      <a:pPr marL="0" indent="0" algn="ctr">
                        <a:buNone/>
                      </a:pPr>
                      <a:r>
                        <a:rPr lang="en-US" sz="1300" b="1" dirty="0">
                          <a:solidFill>
                            <a:srgbClr val="231F20"/>
                          </a:solidFill>
                        </a:rPr>
                        <a:t>Product B</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200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2"/>
                  </a:ext>
                </a:extLst>
              </a:tr>
            </a:tbl>
          </a:graphicData>
        </a:graphic>
      </p:graphicFrame>
      <p:sp>
        <p:nvSpPr>
          <p:cNvPr id="11" name="Formula Jevons"/>
          <p:cNvSpPr txBox="1"/>
          <p:nvPr/>
        </p:nvSpPr>
        <p:spPr>
          <a:xfrm>
            <a:off x="502920" y="3154680"/>
            <a:ext cx="1600200" cy="731520"/>
          </a:xfrm>
          <a:prstGeom prst="roundRect">
            <a:avLst>
              <a:gd name="adj" fmla="val 10000"/>
            </a:avLst>
          </a:prstGeom>
          <a:solidFill>
            <a:srgbClr val="00A86A"/>
          </a:solidFill>
          <a:ln/>
        </p:spPr>
        <p:txBody>
          <a:bodyPr wrap="square" lIns="0" tIns="0" rIns="0" bIns="0" rtlCol="0" anchor="ctr"/>
          <a:lstStyle/>
          <a:p>
            <a:pPr marL="0" indent="0" algn="ctr">
              <a:buNone/>
            </a:pPr>
            <a:r>
              <a:rPr lang="en-US" sz="1500" b="1" dirty="0">
                <a:solidFill>
                  <a:srgbClr val="FFFFFF"/>
                </a:solidFill>
              </a:rPr>
              <a:t>Jevons</a:t>
            </a:r>
            <a:endParaRPr lang="en-US" sz="1500" dirty="0"/>
          </a:p>
        </p:txBody>
      </p:sp>
      <p:sp>
        <p:nvSpPr>
          <p:cNvPr id="12" name="Text 9"/>
          <p:cNvSpPr txBox="1"/>
          <p:nvPr/>
        </p:nvSpPr>
        <p:spPr>
          <a:xfrm>
            <a:off x="2286000" y="3154680"/>
            <a:ext cx="3337560" cy="365760"/>
          </a:xfrm>
          <a:prstGeom prst="rect">
            <a:avLst/>
          </a:prstGeom>
          <a:noFill/>
          <a:ln/>
        </p:spPr>
        <p:txBody>
          <a:bodyPr wrap="square" lIns="0" tIns="0" rIns="0" bIns="0" rtlCol="0" anchor="ctr"/>
          <a:lstStyle/>
          <a:p>
            <a:pPr marL="0" indent="0">
              <a:buNone/>
            </a:pPr>
            <a:r>
              <a:rPr lang="en-US" sz="1300" dirty="0">
                <a:solidFill>
                  <a:srgbClr val="5E6964"/>
                </a:solidFill>
              </a:rPr>
              <a:t>geometric mean of price relatives</a:t>
            </a:r>
            <a:endParaRPr lang="en-US" sz="1300" dirty="0"/>
          </a:p>
        </p:txBody>
      </p:sp>
      <p:sp>
        <p:nvSpPr>
          <p:cNvPr id="13" name="Text 10"/>
          <p:cNvSpPr txBox="1"/>
          <p:nvPr/>
        </p:nvSpPr>
        <p:spPr>
          <a:xfrm>
            <a:off x="2286000" y="352044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100 → 100</a:t>
            </a:r>
            <a:endParaRPr lang="en-US" sz="1600" dirty="0"/>
          </a:p>
        </p:txBody>
      </p:sp>
      <p:sp>
        <p:nvSpPr>
          <p:cNvPr id="14" name="Formula Dutot"/>
          <p:cNvSpPr txBox="1"/>
          <p:nvPr/>
        </p:nvSpPr>
        <p:spPr>
          <a:xfrm>
            <a:off x="502920" y="4114800"/>
            <a:ext cx="1600200" cy="731520"/>
          </a:xfrm>
          <a:prstGeom prst="roundRect">
            <a:avLst>
              <a:gd name="adj" fmla="val 10000"/>
            </a:avLst>
          </a:prstGeom>
          <a:solidFill>
            <a:srgbClr val="0E7C86"/>
          </a:solidFill>
          <a:ln/>
        </p:spPr>
        <p:txBody>
          <a:bodyPr wrap="square" lIns="0" tIns="0" rIns="0" bIns="0" rtlCol="0" anchor="ctr"/>
          <a:lstStyle/>
          <a:p>
            <a:pPr marL="0" indent="0" algn="ctr">
              <a:buNone/>
            </a:pPr>
            <a:r>
              <a:rPr lang="en-US" sz="1500" b="1" dirty="0">
                <a:solidFill>
                  <a:srgbClr val="FFFFFF"/>
                </a:solidFill>
              </a:rPr>
              <a:t>Dutot</a:t>
            </a:r>
            <a:endParaRPr lang="en-US" sz="1500" dirty="0"/>
          </a:p>
        </p:txBody>
      </p:sp>
      <p:sp>
        <p:nvSpPr>
          <p:cNvPr id="15" name="Text 12"/>
          <p:cNvSpPr txBox="1"/>
          <p:nvPr/>
        </p:nvSpPr>
        <p:spPr>
          <a:xfrm>
            <a:off x="2286000" y="4114800"/>
            <a:ext cx="3337560" cy="365760"/>
          </a:xfrm>
          <a:prstGeom prst="rect">
            <a:avLst/>
          </a:prstGeom>
          <a:noFill/>
          <a:ln/>
        </p:spPr>
        <p:txBody>
          <a:bodyPr wrap="square" lIns="0" tIns="0" rIns="0" bIns="0" rtlCol="0" anchor="ctr"/>
          <a:lstStyle/>
          <a:p>
            <a:pPr marL="0" indent="0">
              <a:buNone/>
            </a:pPr>
            <a:r>
              <a:rPr lang="en-US" sz="1300" dirty="0">
                <a:solidFill>
                  <a:srgbClr val="5E6964"/>
                </a:solidFill>
              </a:rPr>
              <a:t>ratio of average prices</a:t>
            </a:r>
            <a:endParaRPr lang="en-US" sz="1300" dirty="0"/>
          </a:p>
        </p:txBody>
      </p:sp>
      <p:sp>
        <p:nvSpPr>
          <p:cNvPr id="16" name="Text 13"/>
          <p:cNvSpPr txBox="1"/>
          <p:nvPr/>
        </p:nvSpPr>
        <p:spPr>
          <a:xfrm>
            <a:off x="2286000" y="448056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125 → 100</a:t>
            </a:r>
            <a:endParaRPr lang="en-US" sz="1600" dirty="0"/>
          </a:p>
        </p:txBody>
      </p:sp>
      <p:sp>
        <p:nvSpPr>
          <p:cNvPr id="17" name="Formula Chained Carli"/>
          <p:cNvSpPr txBox="1"/>
          <p:nvPr/>
        </p:nvSpPr>
        <p:spPr>
          <a:xfrm>
            <a:off x="502920" y="5074920"/>
            <a:ext cx="1600200" cy="731520"/>
          </a:xfrm>
          <a:prstGeom prst="roundRect">
            <a:avLst>
              <a:gd name="adj" fmla="val 10000"/>
            </a:avLst>
          </a:prstGeom>
          <a:solidFill>
            <a:srgbClr val="B83B2E"/>
          </a:solidFill>
          <a:ln/>
        </p:spPr>
        <p:txBody>
          <a:bodyPr wrap="square" lIns="0" tIns="0" rIns="0" bIns="0" rtlCol="0" anchor="ctr"/>
          <a:lstStyle/>
          <a:p>
            <a:pPr marL="0" indent="0" algn="ctr">
              <a:buNone/>
            </a:pPr>
            <a:r>
              <a:rPr lang="en-US" sz="1500" b="1" dirty="0">
                <a:solidFill>
                  <a:srgbClr val="FFFFFF"/>
                </a:solidFill>
              </a:rPr>
              <a:t>Chained Carli</a:t>
            </a:r>
            <a:endParaRPr lang="en-US" sz="1500" dirty="0"/>
          </a:p>
        </p:txBody>
      </p:sp>
      <p:sp>
        <p:nvSpPr>
          <p:cNvPr id="10" name="Text 15"/>
          <p:cNvSpPr txBox="1"/>
          <p:nvPr/>
        </p:nvSpPr>
        <p:spPr>
          <a:xfrm>
            <a:off x="2286000" y="5074920"/>
            <a:ext cx="3337560" cy="365760"/>
          </a:xfrm>
          <a:prstGeom prst="rect">
            <a:avLst/>
          </a:prstGeom>
          <a:noFill/>
          <a:ln/>
        </p:spPr>
        <p:txBody>
          <a:bodyPr wrap="square" lIns="0" tIns="0" rIns="0" bIns="0" rtlCol="0" anchor="ctr"/>
          <a:lstStyle/>
          <a:p>
            <a:pPr marL="0" indent="0">
              <a:buNone/>
            </a:pPr>
            <a:r>
              <a:rPr lang="en-US" sz="1300" dirty="0">
                <a:solidFill>
                  <a:srgbClr val="5E6964"/>
                </a:solidFill>
              </a:rPr>
              <a:t>arithmetic mean of price relatives</a:t>
            </a:r>
            <a:endParaRPr lang="en-US" sz="1300" dirty="0"/>
          </a:p>
        </p:txBody>
      </p:sp>
      <p:sp>
        <p:nvSpPr>
          <p:cNvPr id="19" name="Text 16"/>
          <p:cNvSpPr txBox="1"/>
          <p:nvPr/>
        </p:nvSpPr>
        <p:spPr>
          <a:xfrm>
            <a:off x="2286000" y="544068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125 → 156</a:t>
            </a:r>
            <a:endParaRPr lang="en-US" sz="1600" dirty="0"/>
          </a:p>
        </p:txBody>
      </p:sp>
      <p:sp>
        <p:nvSpPr>
          <p:cNvPr id="20" name="Formula chart frame"/>
          <p:cNvSpPr/>
          <p:nvPr/>
        </p:nvSpPr>
        <p:spPr>
          <a:xfrm>
            <a:off x="5943600" y="1691640"/>
            <a:ext cx="5715000" cy="4389120"/>
          </a:xfrm>
          <a:prstGeom prst="roundRect">
            <a:avLst>
              <a:gd name="adj" fmla="val 1667"/>
            </a:avLst>
          </a:prstGeom>
          <a:solidFill>
            <a:srgbClr val="F4F7F5"/>
          </a:solidFill>
          <a:ln w="9525">
            <a:solidFill>
              <a:srgbClr val="D5DED9"/>
            </a:solidFill>
            <a:prstDash val="solid"/>
          </a:ln>
        </p:spPr>
      </p:sp>
      <p:graphicFrame>
        <p:nvGraphicFramePr>
          <p:cNvPr id="21" name="Elementary formula chart"/>
          <p:cNvGraphicFramePr/>
          <p:nvPr/>
        </p:nvGraphicFramePr>
        <p:xfrm>
          <a:off x="6035040" y="1783080"/>
          <a:ext cx="5532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8"/>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Illustrative example. Reference: Consumer Price Index Manual (2020), chapter on elementary indices.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COMPILING THE INDEX</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0E7C86"/>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Aggregating, chaining, rebasing</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From elementary indices to the all-items index released every month</a:t>
            </a:r>
            <a:endParaRPr lang="en-US" sz="1500" dirty="0"/>
          </a:p>
        </p:txBody>
      </p:sp>
      <p:sp>
        <p:nvSpPr>
          <p:cNvPr id="10" name="Formula banner"/>
          <p:cNvSpPr/>
          <p:nvPr/>
        </p:nvSpPr>
        <p:spPr>
          <a:xfrm>
            <a:off x="502920" y="1783080"/>
            <a:ext cx="11155680" cy="1234440"/>
          </a:xfrm>
          <a:prstGeom prst="roundRect">
            <a:avLst>
              <a:gd name="adj" fmla="val 5926"/>
            </a:avLst>
          </a:prstGeom>
          <a:solidFill>
            <a:srgbClr val="E8F5EF"/>
          </a:solidFill>
          <a:ln w="19050">
            <a:solidFill>
              <a:srgbClr val="00A86A"/>
            </a:solidFill>
            <a:prstDash val="solid"/>
          </a:ln>
        </p:spPr>
      </p:sp>
      <p:sp>
        <p:nvSpPr>
          <p:cNvPr id="11" name="Text 9"/>
          <p:cNvSpPr txBox="1"/>
          <p:nvPr/>
        </p:nvSpPr>
        <p:spPr>
          <a:xfrm>
            <a:off x="822960" y="1783080"/>
            <a:ext cx="10607040" cy="1234440"/>
          </a:xfrm>
          <a:prstGeom prst="rect">
            <a:avLst/>
          </a:prstGeom>
          <a:noFill/>
          <a:ln/>
        </p:spPr>
        <p:txBody>
          <a:bodyPr wrap="square" lIns="0" tIns="0" rIns="0" bIns="0" rtlCol="0" anchor="ctr"/>
          <a:lstStyle/>
          <a:p>
            <a:pPr marL="0" indent="0">
              <a:buNone/>
            </a:pPr>
            <a:r>
              <a:rPr lang="en-US" sz="3000" b="1" dirty="0">
                <a:solidFill>
                  <a:srgbClr val="00704A"/>
                </a:solidFill>
              </a:rPr>
              <a:t>Iₜ = Σ wᵢ × Iᵢ,ₜ</a:t>
            </a:r>
            <a:endParaRPr lang="en-US" sz="3000" dirty="0"/>
          </a:p>
          <a:p>
            <a:pPr marL="0" indent="0">
              <a:buNone/>
            </a:pPr>
            <a:r>
              <a:rPr lang="en-US" sz="1500" dirty="0">
                <a:solidFill>
                  <a:srgbClr val="231F20"/>
                </a:solidFill>
              </a:rPr>
              <a:t>The all-items index is the average of elementary indices Iᵢ, weighted by expenditure shares wᵢ from the budget survey.</a:t>
            </a:r>
            <a:endParaRPr lang="en-US" sz="3000" dirty="0"/>
          </a:p>
        </p:txBody>
      </p:sp>
      <p:sp>
        <p:nvSpPr>
          <p:cNvPr id="12" name="Aggregation card 1"/>
          <p:cNvSpPr/>
          <p:nvPr/>
        </p:nvSpPr>
        <p:spPr>
          <a:xfrm>
            <a:off x="502920" y="3291840"/>
            <a:ext cx="3566160" cy="2697480"/>
          </a:xfrm>
          <a:prstGeom prst="roundRect">
            <a:avLst>
              <a:gd name="adj" fmla="val 2712"/>
            </a:avLst>
          </a:prstGeom>
          <a:solidFill>
            <a:srgbClr val="F4F7F5"/>
          </a:solidFill>
          <a:ln w="9525">
            <a:solidFill>
              <a:srgbClr val="D5DED9"/>
            </a:solidFill>
            <a:prstDash val="solid"/>
          </a:ln>
        </p:spPr>
      </p:sp>
      <p:sp>
        <p:nvSpPr>
          <p:cNvPr id="13" name="Aggregation 1 circle"/>
          <p:cNvSpPr/>
          <p:nvPr/>
        </p:nvSpPr>
        <p:spPr>
          <a:xfrm>
            <a:off x="777240" y="3566160"/>
            <a:ext cx="685800" cy="685800"/>
          </a:xfrm>
          <a:prstGeom prst="ellipse">
            <a:avLst/>
          </a:prstGeom>
          <a:solidFill>
            <a:srgbClr val="00A86A">
              <a:alpha val="22000"/>
            </a:srgbClr>
          </a:solidFill>
          <a:ln/>
        </p:spPr>
      </p:sp>
      <p:pic>
        <p:nvPicPr>
          <p:cNvPr id="14" name="Aggregation 1 icon" descr="preencoded.png"/>
          <p:cNvPicPr>
            <a:picLocks noChangeAspect="1"/>
          </p:cNvPicPr>
          <p:nvPr/>
        </p:nvPicPr>
        <p:blipFill>
          <a:blip r:embed="rId3"/>
          <a:stretch>
            <a:fillRect/>
          </a:stretch>
        </p:blipFill>
        <p:spPr>
          <a:xfrm>
            <a:off x="948690" y="3737610"/>
            <a:ext cx="342900" cy="342900"/>
          </a:xfrm>
          <a:prstGeom prst="rect">
            <a:avLst/>
          </a:prstGeom>
        </p:spPr>
      </p:pic>
      <p:sp>
        <p:nvSpPr>
          <p:cNvPr id="15" name="Text 12"/>
          <p:cNvSpPr txBox="1"/>
          <p:nvPr/>
        </p:nvSpPr>
        <p:spPr>
          <a:xfrm>
            <a:off x="1600200"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Young or Laspeyres formula</a:t>
            </a:r>
            <a:endParaRPr lang="en-US" sz="1700" dirty="0"/>
          </a:p>
        </p:txBody>
      </p:sp>
      <p:sp>
        <p:nvSpPr>
          <p:cNvPr id="16" name="Text 13"/>
          <p:cNvSpPr txBox="1"/>
          <p:nvPr/>
        </p:nvSpPr>
        <p:spPr>
          <a:xfrm>
            <a:off x="777240"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Weights come from the budget survey, earlier than the price base period. ANSD uses the Young formula for Senegal's HCPI.</a:t>
            </a:r>
            <a:endParaRPr lang="en-US" sz="1400" dirty="0"/>
          </a:p>
        </p:txBody>
      </p:sp>
      <p:sp>
        <p:nvSpPr>
          <p:cNvPr id="17" name="Aggregation card 2"/>
          <p:cNvSpPr/>
          <p:nvPr/>
        </p:nvSpPr>
        <p:spPr>
          <a:xfrm>
            <a:off x="4325112" y="3291840"/>
            <a:ext cx="3566160" cy="2697480"/>
          </a:xfrm>
          <a:prstGeom prst="roundRect">
            <a:avLst>
              <a:gd name="adj" fmla="val 2712"/>
            </a:avLst>
          </a:prstGeom>
          <a:solidFill>
            <a:srgbClr val="F4F7F5"/>
          </a:solidFill>
          <a:ln w="9525">
            <a:solidFill>
              <a:srgbClr val="D5DED9"/>
            </a:solidFill>
            <a:prstDash val="solid"/>
          </a:ln>
        </p:spPr>
      </p:sp>
      <p:sp>
        <p:nvSpPr>
          <p:cNvPr id="18" name="Aggregation 2 circle"/>
          <p:cNvSpPr/>
          <p:nvPr/>
        </p:nvSpPr>
        <p:spPr>
          <a:xfrm>
            <a:off x="4599432" y="3566160"/>
            <a:ext cx="685800" cy="685800"/>
          </a:xfrm>
          <a:prstGeom prst="ellipse">
            <a:avLst/>
          </a:prstGeom>
          <a:solidFill>
            <a:srgbClr val="00704A">
              <a:alpha val="22000"/>
            </a:srgbClr>
          </a:solidFill>
          <a:ln/>
        </p:spPr>
      </p:sp>
      <p:pic>
        <p:nvPicPr>
          <p:cNvPr id="19" name="Aggregation 2 icon" descr="preencoded.png"/>
          <p:cNvPicPr>
            <a:picLocks noChangeAspect="1"/>
          </p:cNvPicPr>
          <p:nvPr/>
        </p:nvPicPr>
        <p:blipFill>
          <a:blip r:embed="rId4"/>
          <a:stretch>
            <a:fillRect/>
          </a:stretch>
        </p:blipFill>
        <p:spPr>
          <a:xfrm>
            <a:off x="4770882" y="3737610"/>
            <a:ext cx="342900" cy="342900"/>
          </a:xfrm>
          <a:prstGeom prst="rect">
            <a:avLst/>
          </a:prstGeom>
        </p:spPr>
      </p:pic>
      <p:sp>
        <p:nvSpPr>
          <p:cNvPr id="20" name="Text 16"/>
          <p:cNvSpPr txBox="1"/>
          <p:nvPr/>
        </p:nvSpPr>
        <p:spPr>
          <a:xfrm>
            <a:off x="5422392"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Chaining</a:t>
            </a:r>
            <a:endParaRPr lang="en-US" sz="1700" dirty="0"/>
          </a:p>
        </p:txBody>
      </p:sp>
      <p:sp>
        <p:nvSpPr>
          <p:cNvPr id="21" name="Text 17"/>
          <p:cNvSpPr txBox="1"/>
          <p:nvPr/>
        </p:nvSpPr>
        <p:spPr>
          <a:xfrm>
            <a:off x="4599432"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Weights are renewed at each rebasing, and series are linked to stay continuous over time.</a:t>
            </a:r>
            <a:endParaRPr lang="en-US" sz="1400" dirty="0"/>
          </a:p>
        </p:txBody>
      </p:sp>
      <p:sp>
        <p:nvSpPr>
          <p:cNvPr id="22" name="Aggregation card 3"/>
          <p:cNvSpPr/>
          <p:nvPr/>
        </p:nvSpPr>
        <p:spPr>
          <a:xfrm>
            <a:off x="8147304" y="3291840"/>
            <a:ext cx="3566160" cy="2697480"/>
          </a:xfrm>
          <a:prstGeom prst="roundRect">
            <a:avLst>
              <a:gd name="adj" fmla="val 2712"/>
            </a:avLst>
          </a:prstGeom>
          <a:solidFill>
            <a:srgbClr val="F4F7F5"/>
          </a:solidFill>
          <a:ln w="9525">
            <a:solidFill>
              <a:srgbClr val="D5DED9"/>
            </a:solidFill>
            <a:prstDash val="solid"/>
          </a:ln>
        </p:spPr>
      </p:sp>
      <p:sp>
        <p:nvSpPr>
          <p:cNvPr id="23" name="Aggregation 3 circle"/>
          <p:cNvSpPr/>
          <p:nvPr/>
        </p:nvSpPr>
        <p:spPr>
          <a:xfrm>
            <a:off x="8421624" y="3566160"/>
            <a:ext cx="685800" cy="685800"/>
          </a:xfrm>
          <a:prstGeom prst="ellipse">
            <a:avLst/>
          </a:prstGeom>
          <a:solidFill>
            <a:srgbClr val="0E7C86">
              <a:alpha val="22000"/>
            </a:srgbClr>
          </a:solidFill>
          <a:ln/>
        </p:spPr>
      </p:sp>
      <p:pic>
        <p:nvPicPr>
          <p:cNvPr id="24" name="Aggregation 3 icon" descr="preencoded.png"/>
          <p:cNvPicPr>
            <a:picLocks noChangeAspect="1"/>
          </p:cNvPicPr>
          <p:nvPr/>
        </p:nvPicPr>
        <p:blipFill>
          <a:blip r:embed="rId5"/>
          <a:stretch>
            <a:fillRect/>
          </a:stretch>
        </p:blipFill>
        <p:spPr>
          <a:xfrm>
            <a:off x="8593074" y="3737610"/>
            <a:ext cx="342900" cy="342900"/>
          </a:xfrm>
          <a:prstGeom prst="rect">
            <a:avLst/>
          </a:prstGeom>
        </p:spPr>
      </p:pic>
      <p:sp>
        <p:nvSpPr>
          <p:cNvPr id="25" name="Text 20"/>
          <p:cNvSpPr txBox="1"/>
          <p:nvPr/>
        </p:nvSpPr>
        <p:spPr>
          <a:xfrm>
            <a:off x="9244584"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Rebasing</a:t>
            </a:r>
            <a:endParaRPr lang="en-US" sz="1700" dirty="0"/>
          </a:p>
        </p:txBody>
      </p:sp>
      <p:sp>
        <p:nvSpPr>
          <p:cNvPr id="26" name="Text 21"/>
          <p:cNvSpPr txBox="1"/>
          <p:nvPr/>
        </p:nvSpPr>
        <p:spPr>
          <a:xfrm>
            <a:off x="8421624"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Every 5 to 10 years: new survey, new basket, new classification. In WAEMU, the base is 2023 = 100.</a:t>
            </a:r>
            <a:endParaRPr lang="en-US" sz="1400" dirty="0"/>
          </a:p>
        </p:txBody>
      </p:sp>
      <p:sp>
        <p:nvSpPr>
          <p:cNvPr id="27"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COMPILING THE INDEX</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0E7C86"/>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Four challenges that define CPI quality</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Measuring at constant quality when products, seasons and discounts change</a:t>
            </a:r>
            <a:endParaRPr lang="en-US" sz="1500" dirty="0"/>
          </a:p>
        </p:txBody>
      </p:sp>
      <p:sp>
        <p:nvSpPr>
          <p:cNvPr id="10" name="Quality card 1"/>
          <p:cNvSpPr/>
          <p:nvPr/>
        </p:nvSpPr>
        <p:spPr>
          <a:xfrm>
            <a:off x="502920" y="1783080"/>
            <a:ext cx="5440680" cy="1965960"/>
          </a:xfrm>
          <a:prstGeom prst="roundRect">
            <a:avLst>
              <a:gd name="adj" fmla="val 3721"/>
            </a:avLst>
          </a:prstGeom>
          <a:solidFill>
            <a:srgbClr val="F4F7F5"/>
          </a:solidFill>
          <a:ln w="9525">
            <a:solidFill>
              <a:srgbClr val="D5DED9"/>
            </a:solidFill>
            <a:prstDash val="solid"/>
          </a:ln>
        </p:spPr>
      </p:sp>
      <p:sp>
        <p:nvSpPr>
          <p:cNvPr id="11" name="Quality 1 circle"/>
          <p:cNvSpPr/>
          <p:nvPr/>
        </p:nvSpPr>
        <p:spPr>
          <a:xfrm>
            <a:off x="777240" y="2057400"/>
            <a:ext cx="777240" cy="777240"/>
          </a:xfrm>
          <a:prstGeom prst="ellipse">
            <a:avLst/>
          </a:prstGeom>
          <a:solidFill>
            <a:srgbClr val="00704A">
              <a:alpha val="22000"/>
            </a:srgbClr>
          </a:solidFill>
          <a:ln/>
        </p:spPr>
      </p:sp>
      <p:pic>
        <p:nvPicPr>
          <p:cNvPr id="12" name="Quality 1 icon" descr="preencoded.png"/>
          <p:cNvPicPr>
            <a:picLocks noChangeAspect="1"/>
          </p:cNvPicPr>
          <p:nvPr/>
        </p:nvPicPr>
        <p:blipFill>
          <a:blip r:embed="rId3"/>
          <a:stretch>
            <a:fillRect/>
          </a:stretch>
        </p:blipFill>
        <p:spPr>
          <a:xfrm>
            <a:off x="971550" y="2251710"/>
            <a:ext cx="388620" cy="388620"/>
          </a:xfrm>
          <a:prstGeom prst="rect">
            <a:avLst/>
          </a:prstGeom>
        </p:spPr>
      </p:pic>
      <p:sp>
        <p:nvSpPr>
          <p:cNvPr id="13" name="Text 10"/>
          <p:cNvSpPr txBox="1"/>
          <p:nvPr/>
        </p:nvSpPr>
        <p:spPr>
          <a:xfrm>
            <a:off x="178308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Missing products</a:t>
            </a:r>
            <a:endParaRPr lang="en-US" sz="1700" dirty="0"/>
          </a:p>
        </p:txBody>
      </p:sp>
      <p:sp>
        <p:nvSpPr>
          <p:cNvPr id="14" name="Text 11"/>
          <p:cNvSpPr txBox="1"/>
          <p:nvPr/>
        </p:nvSpPr>
        <p:spPr>
          <a:xfrm>
            <a:off x="178308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Out of stock, outlet closed: impute the price from comparable products rather than carrying it forward.</a:t>
            </a:r>
            <a:endParaRPr lang="en-US" sz="1400" dirty="0"/>
          </a:p>
        </p:txBody>
      </p:sp>
      <p:sp>
        <p:nvSpPr>
          <p:cNvPr id="15" name="Quality card 2"/>
          <p:cNvSpPr/>
          <p:nvPr/>
        </p:nvSpPr>
        <p:spPr>
          <a:xfrm>
            <a:off x="6172200" y="1783080"/>
            <a:ext cx="5440680" cy="1965960"/>
          </a:xfrm>
          <a:prstGeom prst="roundRect">
            <a:avLst>
              <a:gd name="adj" fmla="val 3721"/>
            </a:avLst>
          </a:prstGeom>
          <a:solidFill>
            <a:srgbClr val="F4F7F5"/>
          </a:solidFill>
          <a:ln w="9525">
            <a:solidFill>
              <a:srgbClr val="D5DED9"/>
            </a:solidFill>
            <a:prstDash val="solid"/>
          </a:ln>
        </p:spPr>
      </p:sp>
      <p:sp>
        <p:nvSpPr>
          <p:cNvPr id="16" name="Quality 2 circle"/>
          <p:cNvSpPr/>
          <p:nvPr/>
        </p:nvSpPr>
        <p:spPr>
          <a:xfrm>
            <a:off x="6446520" y="2057400"/>
            <a:ext cx="777240" cy="777240"/>
          </a:xfrm>
          <a:prstGeom prst="ellipse">
            <a:avLst/>
          </a:prstGeom>
          <a:solidFill>
            <a:srgbClr val="0E7C86">
              <a:alpha val="22000"/>
            </a:srgbClr>
          </a:solidFill>
          <a:ln/>
        </p:spPr>
      </p:sp>
      <p:pic>
        <p:nvPicPr>
          <p:cNvPr id="17" name="Quality 2 icon" descr="preencoded.png"/>
          <p:cNvPicPr>
            <a:picLocks noChangeAspect="1"/>
          </p:cNvPicPr>
          <p:nvPr/>
        </p:nvPicPr>
        <p:blipFill>
          <a:blip r:embed="rId4"/>
          <a:stretch>
            <a:fillRect/>
          </a:stretch>
        </p:blipFill>
        <p:spPr>
          <a:xfrm>
            <a:off x="6640830" y="2251710"/>
            <a:ext cx="388620" cy="388620"/>
          </a:xfrm>
          <a:prstGeom prst="rect">
            <a:avLst/>
          </a:prstGeom>
        </p:spPr>
      </p:pic>
      <p:sp>
        <p:nvSpPr>
          <p:cNvPr id="18" name="Text 14"/>
          <p:cNvSpPr txBox="1"/>
          <p:nvPr/>
        </p:nvSpPr>
        <p:spPr>
          <a:xfrm>
            <a:off x="745236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Replacements and quality</a:t>
            </a:r>
            <a:endParaRPr lang="en-US" sz="1700" dirty="0"/>
          </a:p>
        </p:txBody>
      </p:sp>
      <p:sp>
        <p:nvSpPr>
          <p:cNvPr id="19" name="Text 15"/>
          <p:cNvSpPr txBox="1"/>
          <p:nvPr/>
        </p:nvSpPr>
        <p:spPr>
          <a:xfrm>
            <a:off x="745236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One model replaces another: separate the price rise from the quality gain, for example with hedonic methods.</a:t>
            </a:r>
            <a:endParaRPr lang="en-US" sz="1400" dirty="0"/>
          </a:p>
        </p:txBody>
      </p:sp>
      <p:sp>
        <p:nvSpPr>
          <p:cNvPr id="20" name="Quality card 3"/>
          <p:cNvSpPr/>
          <p:nvPr/>
        </p:nvSpPr>
        <p:spPr>
          <a:xfrm>
            <a:off x="502920" y="3977640"/>
            <a:ext cx="5440680" cy="1965960"/>
          </a:xfrm>
          <a:prstGeom prst="roundRect">
            <a:avLst>
              <a:gd name="adj" fmla="val 3721"/>
            </a:avLst>
          </a:prstGeom>
          <a:solidFill>
            <a:srgbClr val="F4F7F5"/>
          </a:solidFill>
          <a:ln w="9525">
            <a:solidFill>
              <a:srgbClr val="D5DED9"/>
            </a:solidFill>
            <a:prstDash val="solid"/>
          </a:ln>
        </p:spPr>
      </p:sp>
      <p:sp>
        <p:nvSpPr>
          <p:cNvPr id="21" name="Quality 3 circle"/>
          <p:cNvSpPr/>
          <p:nvPr/>
        </p:nvSpPr>
        <p:spPr>
          <a:xfrm>
            <a:off x="777240" y="4251960"/>
            <a:ext cx="777240" cy="777240"/>
          </a:xfrm>
          <a:prstGeom prst="ellipse">
            <a:avLst/>
          </a:prstGeom>
          <a:solidFill>
            <a:srgbClr val="00A86A">
              <a:alpha val="22000"/>
            </a:srgbClr>
          </a:solidFill>
          <a:ln/>
        </p:spPr>
      </p:sp>
      <p:pic>
        <p:nvPicPr>
          <p:cNvPr id="22" name="Quality 3 icon" descr="preencoded.png"/>
          <p:cNvPicPr>
            <a:picLocks noChangeAspect="1"/>
          </p:cNvPicPr>
          <p:nvPr/>
        </p:nvPicPr>
        <p:blipFill>
          <a:blip r:embed="rId5"/>
          <a:stretch>
            <a:fillRect/>
          </a:stretch>
        </p:blipFill>
        <p:spPr>
          <a:xfrm>
            <a:off x="971550" y="4446270"/>
            <a:ext cx="388620" cy="388620"/>
          </a:xfrm>
          <a:prstGeom prst="rect">
            <a:avLst/>
          </a:prstGeom>
        </p:spPr>
      </p:pic>
      <p:sp>
        <p:nvSpPr>
          <p:cNvPr id="23" name="Text 18"/>
          <p:cNvSpPr txBox="1"/>
          <p:nvPr/>
        </p:nvSpPr>
        <p:spPr>
          <a:xfrm>
            <a:off x="178308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Seasonal products</a:t>
            </a:r>
            <a:endParaRPr lang="en-US" sz="1700" dirty="0"/>
          </a:p>
        </p:txBody>
      </p:sp>
      <p:sp>
        <p:nvSpPr>
          <p:cNvPr id="24" name="Text 19"/>
          <p:cNvSpPr txBox="1"/>
          <p:nvPr/>
        </p:nvSpPr>
        <p:spPr>
          <a:xfrm>
            <a:off x="178308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Fruit and vegetables missing part of the year: variable baskets or seasonal imputation.</a:t>
            </a:r>
            <a:endParaRPr lang="en-US" sz="1400" dirty="0"/>
          </a:p>
        </p:txBody>
      </p:sp>
      <p:sp>
        <p:nvSpPr>
          <p:cNvPr id="25" name="Quality card 4"/>
          <p:cNvSpPr/>
          <p:nvPr/>
        </p:nvSpPr>
        <p:spPr>
          <a:xfrm>
            <a:off x="6172200" y="3977640"/>
            <a:ext cx="5440680" cy="1965960"/>
          </a:xfrm>
          <a:prstGeom prst="roundRect">
            <a:avLst>
              <a:gd name="adj" fmla="val 3721"/>
            </a:avLst>
          </a:prstGeom>
          <a:solidFill>
            <a:srgbClr val="F4F7F5"/>
          </a:solidFill>
          <a:ln w="9525">
            <a:solidFill>
              <a:srgbClr val="D5DED9"/>
            </a:solidFill>
            <a:prstDash val="solid"/>
          </a:ln>
        </p:spPr>
      </p:sp>
      <p:sp>
        <p:nvSpPr>
          <p:cNvPr id="26" name="Quality 4 circle"/>
          <p:cNvSpPr/>
          <p:nvPr/>
        </p:nvSpPr>
        <p:spPr>
          <a:xfrm>
            <a:off x="6446520" y="4251960"/>
            <a:ext cx="777240" cy="777240"/>
          </a:xfrm>
          <a:prstGeom prst="ellipse">
            <a:avLst/>
          </a:prstGeom>
          <a:solidFill>
            <a:srgbClr val="D49A00">
              <a:alpha val="22000"/>
            </a:srgbClr>
          </a:solidFill>
          <a:ln/>
        </p:spPr>
      </p:sp>
      <p:pic>
        <p:nvPicPr>
          <p:cNvPr id="27" name="Quality 4 icon" descr="preencoded.png"/>
          <p:cNvPicPr>
            <a:picLocks noChangeAspect="1"/>
          </p:cNvPicPr>
          <p:nvPr/>
        </p:nvPicPr>
        <p:blipFill>
          <a:blip r:embed="rId6"/>
          <a:stretch>
            <a:fillRect/>
          </a:stretch>
        </p:blipFill>
        <p:spPr>
          <a:xfrm>
            <a:off x="6640830" y="4446270"/>
            <a:ext cx="388620" cy="388620"/>
          </a:xfrm>
          <a:prstGeom prst="rect">
            <a:avLst/>
          </a:prstGeom>
        </p:spPr>
      </p:pic>
      <p:sp>
        <p:nvSpPr>
          <p:cNvPr id="28" name="Text 22"/>
          <p:cNvSpPr txBox="1"/>
          <p:nvPr/>
        </p:nvSpPr>
        <p:spPr>
          <a:xfrm>
            <a:off x="745236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Discounts</a:t>
            </a:r>
            <a:endParaRPr lang="en-US" sz="1700" dirty="0"/>
          </a:p>
        </p:txBody>
      </p:sp>
      <p:sp>
        <p:nvSpPr>
          <p:cNvPr id="29" name="Text 23"/>
          <p:cNvSpPr txBox="1"/>
          <p:nvPr/>
        </p:nvSpPr>
        <p:spPr>
          <a:xfrm>
            <a:off x="745236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Struck-through prices make series bounce: several quotes per month, geometric mean, and the Jevons formula.</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04</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An online price index</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Tested in Côte d'Ivoire: what can online prices and prices published by institutions bring to a CPI?</a:t>
            </a:r>
            <a:endParaRPr lang="en-US" sz="1900" dirty="0"/>
          </a:p>
        </p:txBody>
      </p:sp>
      <p:sp>
        <p:nvSpPr>
          <p:cNvPr id="5" name="Section icon circle"/>
          <p:cNvSpPr/>
          <p:nvPr/>
        </p:nvSpPr>
        <p:spPr>
          <a:xfrm>
            <a:off x="9079992" y="2340864"/>
            <a:ext cx="1280160" cy="1280160"/>
          </a:xfrm>
          <a:prstGeom prst="ellipse">
            <a:avLst/>
          </a:prstGeom>
          <a:solidFill>
            <a:srgbClr val="FFFFFF"/>
          </a:solidFill>
          <a:ln/>
        </p:spPr>
      </p:sp>
      <p:pic>
        <p:nvPicPr>
          <p:cNvPr id="6" name="Section ic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rogress dot 1"/>
          <p:cNvSpPr/>
          <p:nvPr/>
        </p:nvSpPr>
        <p:spPr>
          <a:xfrm>
            <a:off x="731520" y="5989320"/>
            <a:ext cx="155448" cy="155448"/>
          </a:xfrm>
          <a:prstGeom prst="ellipse">
            <a:avLst/>
          </a:prstGeom>
          <a:solidFill>
            <a:srgbClr val="FFFFFF">
              <a:alpha val="40000"/>
            </a:srgbClr>
          </a:solidFill>
          <a:ln/>
        </p:spPr>
      </p:sp>
      <p:sp>
        <p:nvSpPr>
          <p:cNvPr id="8" name="Progress dot 2"/>
          <p:cNvSpPr/>
          <p:nvPr/>
        </p:nvSpPr>
        <p:spPr>
          <a:xfrm>
            <a:off x="1024128" y="5989320"/>
            <a:ext cx="155448" cy="155448"/>
          </a:xfrm>
          <a:prstGeom prst="ellipse">
            <a:avLst/>
          </a:prstGeom>
          <a:solidFill>
            <a:srgbClr val="FFFFFF">
              <a:alpha val="40000"/>
            </a:srgbClr>
          </a:solidFill>
          <a:ln/>
        </p:spPr>
      </p:sp>
      <p:sp>
        <p:nvSpPr>
          <p:cNvPr id="9" name="Progress dot 3"/>
          <p:cNvSpPr/>
          <p:nvPr/>
        </p:nvSpPr>
        <p:spPr>
          <a:xfrm>
            <a:off x="1316736" y="5989320"/>
            <a:ext cx="155448" cy="155448"/>
          </a:xfrm>
          <a:prstGeom prst="ellipse">
            <a:avLst/>
          </a:prstGeom>
          <a:solidFill>
            <a:srgbClr val="FFFFFF">
              <a:alpha val="40000"/>
            </a:srgbClr>
          </a:solidFill>
          <a:ln/>
        </p:spPr>
      </p:sp>
      <p:sp>
        <p:nvSpPr>
          <p:cNvPr id="10" name="Progress dot 4"/>
          <p:cNvSpPr/>
          <p:nvPr/>
        </p:nvSpPr>
        <p:spPr>
          <a:xfrm>
            <a:off x="1609344" y="5989320"/>
            <a:ext cx="155448" cy="155448"/>
          </a:xfrm>
          <a:prstGeom prst="ellipse">
            <a:avLst/>
          </a:prstGeom>
          <a:solidFill>
            <a:srgbClr val="F5C242"/>
          </a:solidFill>
          <a:ln/>
        </p:spPr>
      </p:sp>
      <p:sp>
        <p:nvSpPr>
          <p:cNvPr id="11" name="Progress dot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Architecture: collect on site, analyse anywhere</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Collection and compilation are separate: only a file travels between them</a:t>
            </a:r>
            <a:endParaRPr lang="en-US" sz="1500" dirty="0"/>
          </a:p>
        </p:txBody>
      </p:sp>
      <p:sp>
        <p:nvSpPr>
          <p:cNvPr id="10" name="Office workstation area"/>
          <p:cNvSpPr/>
          <p:nvPr/>
        </p:nvSpPr>
        <p:spPr>
          <a:xfrm>
            <a:off x="502920" y="1737360"/>
            <a:ext cx="5486400" cy="4297680"/>
          </a:xfrm>
          <a:prstGeom prst="roundRect">
            <a:avLst>
              <a:gd name="adj" fmla="val 2128"/>
            </a:avLst>
          </a:prstGeom>
          <a:solidFill>
            <a:srgbClr val="F4F7F5"/>
          </a:solidFill>
          <a:ln w="12700">
            <a:solidFill>
              <a:srgbClr val="D5DED9"/>
            </a:solidFill>
            <a:prstDash val="dash"/>
          </a:ln>
        </p:spPr>
      </p:sp>
      <p:sp>
        <p:nvSpPr>
          <p:cNvPr id="11" name="Text 9"/>
          <p:cNvSpPr txBox="1"/>
          <p:nvPr/>
        </p:nvSpPr>
        <p:spPr>
          <a:xfrm>
            <a:off x="777240" y="1874520"/>
            <a:ext cx="4937760" cy="320040"/>
          </a:xfrm>
          <a:prstGeom prst="rect">
            <a:avLst/>
          </a:prstGeom>
          <a:noFill/>
          <a:ln/>
        </p:spPr>
        <p:txBody>
          <a:bodyPr wrap="square" lIns="0" tIns="0" rIns="0" bIns="0" rtlCol="0" anchor="ctr"/>
          <a:lstStyle/>
          <a:p>
            <a:pPr marL="0" indent="0">
              <a:buNone/>
            </a:pPr>
            <a:r>
              <a:rPr lang="en-US" sz="1200" b="1" kern="0" spc="200" dirty="0">
                <a:solidFill>
                  <a:srgbClr val="5E6964"/>
                </a:solidFill>
              </a:rPr>
              <a:t>ON THE OFFICE WORKSTATION</a:t>
            </a:r>
            <a:endParaRPr lang="en-US" sz="1200" dirty="0"/>
          </a:p>
        </p:txBody>
      </p:sp>
      <p:sp>
        <p:nvSpPr>
          <p:cNvPr id="12" name="Notebook card 1"/>
          <p:cNvSpPr/>
          <p:nvPr/>
        </p:nvSpPr>
        <p:spPr>
          <a:xfrm>
            <a:off x="777240" y="2377440"/>
            <a:ext cx="4937760" cy="1554480"/>
          </a:xfrm>
          <a:prstGeom prst="roundRect">
            <a:avLst>
              <a:gd name="adj" fmla="val 4706"/>
            </a:avLst>
          </a:prstGeom>
          <a:solidFill>
            <a:srgbClr val="FFFFFF"/>
          </a:solidFill>
          <a:ln w="9525">
            <a:solidFill>
              <a:srgbClr val="D5DED9"/>
            </a:solidFill>
            <a:prstDash val="solid"/>
          </a:ln>
        </p:spPr>
      </p:sp>
      <p:sp>
        <p:nvSpPr>
          <p:cNvPr id="13" name="Notebook number 1"/>
          <p:cNvSpPr txBox="1"/>
          <p:nvPr/>
        </p:nvSpPr>
        <p:spPr>
          <a:xfrm>
            <a:off x="1005840" y="2743200"/>
            <a:ext cx="731520" cy="822960"/>
          </a:xfrm>
          <a:prstGeom prst="roundRect">
            <a:avLst>
              <a:gd name="adj" fmla="val 10000"/>
            </a:avLst>
          </a:prstGeom>
          <a:solidFill>
            <a:srgbClr val="00704A"/>
          </a:solid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14" name="Text 12"/>
          <p:cNvSpPr txBox="1"/>
          <p:nvPr/>
        </p:nvSpPr>
        <p:spPr>
          <a:xfrm>
            <a:off x="1965960" y="2606040"/>
            <a:ext cx="3566160" cy="457200"/>
          </a:xfrm>
          <a:prstGeom prst="rect">
            <a:avLst/>
          </a:prstGeom>
          <a:noFill/>
          <a:ln/>
        </p:spPr>
        <p:txBody>
          <a:bodyPr wrap="square" lIns="0" tIns="0" rIns="0" bIns="0" rtlCol="0" anchor="ctr"/>
          <a:lstStyle/>
          <a:p>
            <a:pPr marL="0" indent="0">
              <a:buNone/>
            </a:pPr>
            <a:r>
              <a:rPr lang="en-US" sz="1800" b="1" dirty="0">
                <a:solidFill>
                  <a:srgbClr val="231F20"/>
                </a:solidFill>
              </a:rPr>
              <a:t>Jumia collection</a:t>
            </a:r>
            <a:endParaRPr lang="en-US" sz="1800" dirty="0"/>
          </a:p>
        </p:txBody>
      </p:sp>
      <p:sp>
        <p:nvSpPr>
          <p:cNvPr id="15" name="Text 13"/>
          <p:cNvSpPr txBox="1"/>
          <p:nvPr/>
        </p:nvSpPr>
        <p:spPr>
          <a:xfrm>
            <a:off x="1965960" y="3063240"/>
            <a:ext cx="3566160" cy="685800"/>
          </a:xfrm>
          <a:prstGeom prst="rect">
            <a:avLst/>
          </a:prstGeom>
          <a:noFill/>
          <a:ln/>
        </p:spPr>
        <p:txBody>
          <a:bodyPr wrap="square" lIns="0" tIns="0" rIns="0" bIns="0" rtlCol="0" anchor="t"/>
          <a:lstStyle/>
          <a:p>
            <a:pPr marL="0" indent="0">
              <a:buNone/>
            </a:pPr>
            <a:r>
              <a:rPr lang="en-US" sz="1400" dirty="0">
                <a:solidFill>
                  <a:srgbClr val="5E6964"/>
                </a:solidFill>
              </a:rPr>
              <a:t>Online prices, robots.txt respected, crawler identified</a:t>
            </a:r>
            <a:endParaRPr lang="en-US" sz="1400" dirty="0"/>
          </a:p>
        </p:txBody>
      </p:sp>
      <p:sp>
        <p:nvSpPr>
          <p:cNvPr id="16" name="Notebook card 2"/>
          <p:cNvSpPr/>
          <p:nvPr/>
        </p:nvSpPr>
        <p:spPr>
          <a:xfrm>
            <a:off x="777240" y="4160520"/>
            <a:ext cx="4937760" cy="1554480"/>
          </a:xfrm>
          <a:prstGeom prst="roundRect">
            <a:avLst>
              <a:gd name="adj" fmla="val 4706"/>
            </a:avLst>
          </a:prstGeom>
          <a:solidFill>
            <a:srgbClr val="FFFFFF"/>
          </a:solidFill>
          <a:ln w="9525">
            <a:solidFill>
              <a:srgbClr val="D5DED9"/>
            </a:solidFill>
            <a:prstDash val="solid"/>
          </a:ln>
        </p:spPr>
      </p:sp>
      <p:sp>
        <p:nvSpPr>
          <p:cNvPr id="17" name="Notebook number 2"/>
          <p:cNvSpPr txBox="1"/>
          <p:nvPr/>
        </p:nvSpPr>
        <p:spPr>
          <a:xfrm>
            <a:off x="1005840" y="4526280"/>
            <a:ext cx="731520" cy="822960"/>
          </a:xfrm>
          <a:prstGeom prst="roundRect">
            <a:avLst>
              <a:gd name="adj" fmla="val 10000"/>
            </a:avLst>
          </a:prstGeom>
          <a:solidFill>
            <a:srgbClr val="00704A"/>
          </a:solid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8" name="Text 16"/>
          <p:cNvSpPr txBox="1"/>
          <p:nvPr/>
        </p:nvSpPr>
        <p:spPr>
          <a:xfrm>
            <a:off x="1965960" y="4389120"/>
            <a:ext cx="3566160" cy="457200"/>
          </a:xfrm>
          <a:prstGeom prst="rect">
            <a:avLst/>
          </a:prstGeom>
          <a:noFill/>
          <a:ln/>
        </p:spPr>
        <p:txBody>
          <a:bodyPr wrap="square" lIns="0" tIns="0" rIns="0" bIns="0" rtlCol="0" anchor="ctr"/>
          <a:lstStyle/>
          <a:p>
            <a:pPr marL="0" indent="0">
              <a:buNone/>
            </a:pPr>
            <a:r>
              <a:rPr lang="en-US" sz="1800" b="1" dirty="0">
                <a:solidFill>
                  <a:srgbClr val="231F20"/>
                </a:solidFill>
              </a:rPr>
              <a:t>Institutional sources</a:t>
            </a:r>
            <a:endParaRPr lang="en-US" sz="1800" dirty="0"/>
          </a:p>
        </p:txBody>
      </p:sp>
      <p:sp>
        <p:nvSpPr>
          <p:cNvPr id="19" name="Text 17"/>
          <p:cNvSpPr txBox="1"/>
          <p:nvPr/>
        </p:nvSpPr>
        <p:spPr>
          <a:xfrm>
            <a:off x="1965960" y="4846320"/>
            <a:ext cx="3566160" cy="685800"/>
          </a:xfrm>
          <a:prstGeom prst="rect">
            <a:avLst/>
          </a:prstGeom>
          <a:noFill/>
          <a:ln/>
        </p:spPr>
        <p:txBody>
          <a:bodyPr wrap="square" lIns="0" tIns="0" rIns="0" bIns="0" rtlCol="0" anchor="t"/>
          <a:lstStyle/>
          <a:p>
            <a:pPr marL="0" indent="0">
              <a:buNone/>
            </a:pPr>
            <a:r>
              <a:rPr lang="en-US" sz="1400" dirty="0">
                <a:solidFill>
                  <a:srgbClr val="5E6964"/>
                </a:solidFill>
              </a:rPr>
              <a:t>Electricity tariffs, market prices, telecoms index</a:t>
            </a:r>
            <a:endParaRPr lang="en-US" sz="1400" dirty="0"/>
          </a:p>
        </p:txBody>
      </p:sp>
      <p:sp>
        <p:nvSpPr>
          <p:cNvPr id="20" name="Archive circle"/>
          <p:cNvSpPr/>
          <p:nvPr/>
        </p:nvSpPr>
        <p:spPr>
          <a:xfrm>
            <a:off x="6400800" y="3017520"/>
            <a:ext cx="868680" cy="868680"/>
          </a:xfrm>
          <a:prstGeom prst="ellipse">
            <a:avLst/>
          </a:prstGeom>
          <a:solidFill>
            <a:srgbClr val="D49A00">
              <a:alpha val="22000"/>
            </a:srgbClr>
          </a:solidFill>
          <a:ln/>
        </p:spPr>
      </p:sp>
      <p:pic>
        <p:nvPicPr>
          <p:cNvPr id="21" name="Archive icon" descr="preencoded.png"/>
          <p:cNvPicPr>
            <a:picLocks noChangeAspect="1"/>
          </p:cNvPicPr>
          <p:nvPr/>
        </p:nvPicPr>
        <p:blipFill>
          <a:blip r:embed="rId3"/>
          <a:stretch>
            <a:fillRect/>
          </a:stretch>
        </p:blipFill>
        <p:spPr>
          <a:xfrm>
            <a:off x="6617970" y="3234690"/>
            <a:ext cx="434340" cy="434340"/>
          </a:xfrm>
          <a:prstGeom prst="rect">
            <a:avLst/>
          </a:prstGeom>
        </p:spPr>
      </p:pic>
      <p:pic>
        <p:nvPicPr>
          <p:cNvPr id="22" name="Arrow to archive" descr="preencoded.png"/>
          <p:cNvPicPr>
            <a:picLocks noChangeAspect="1"/>
          </p:cNvPicPr>
          <p:nvPr/>
        </p:nvPicPr>
        <p:blipFill>
          <a:blip r:embed="rId4"/>
          <a:stretch>
            <a:fillRect/>
          </a:stretch>
        </p:blipFill>
        <p:spPr>
          <a:xfrm>
            <a:off x="6053328" y="3310128"/>
            <a:ext cx="274320" cy="274320"/>
          </a:xfrm>
          <a:prstGeom prst="rect">
            <a:avLst/>
          </a:prstGeom>
        </p:spPr>
      </p:pic>
      <p:pic>
        <p:nvPicPr>
          <p:cNvPr id="23" name="Arrow to analysis" descr="preencoded.png"/>
          <p:cNvPicPr>
            <a:picLocks noChangeAspect="1"/>
          </p:cNvPicPr>
          <p:nvPr/>
        </p:nvPicPr>
        <p:blipFill>
          <a:blip r:embed="rId4"/>
          <a:stretch>
            <a:fillRect/>
          </a:stretch>
        </p:blipFill>
        <p:spPr>
          <a:xfrm>
            <a:off x="7360920" y="3310128"/>
            <a:ext cx="274320" cy="274320"/>
          </a:xfrm>
          <a:prstGeom prst="rect">
            <a:avLst/>
          </a:prstGeom>
        </p:spPr>
      </p:pic>
      <p:sp>
        <p:nvSpPr>
          <p:cNvPr id="24" name="Text 19"/>
          <p:cNvSpPr txBox="1"/>
          <p:nvPr/>
        </p:nvSpPr>
        <p:spPr>
          <a:xfrm>
            <a:off x="6035040" y="3977640"/>
            <a:ext cx="1645920" cy="822960"/>
          </a:xfrm>
          <a:prstGeom prst="rect">
            <a:avLst/>
          </a:prstGeom>
          <a:noFill/>
          <a:ln/>
        </p:spPr>
        <p:txBody>
          <a:bodyPr wrap="square" lIns="0" tIns="0" rIns="0" bIns="0" rtlCol="0" anchor="t"/>
          <a:lstStyle/>
          <a:p>
            <a:pPr marL="0" indent="0" algn="ctr">
              <a:buNone/>
            </a:pPr>
            <a:r>
              <a:rPr lang="en-US" sz="1200" dirty="0">
                <a:solidFill>
                  <a:srgbClr val="5E6964"/>
                </a:solidFill>
              </a:rPr>
              <a:t>.zip archive: Parquet, Excel, manifest</a:t>
            </a:r>
            <a:endParaRPr lang="en-US" sz="1200" dirty="0"/>
          </a:p>
        </p:txBody>
      </p:sp>
      <p:sp>
        <p:nvSpPr>
          <p:cNvPr id="25" name="Analysis area"/>
          <p:cNvSpPr/>
          <p:nvPr/>
        </p:nvSpPr>
        <p:spPr>
          <a:xfrm>
            <a:off x="7772400" y="1737360"/>
            <a:ext cx="3886200" cy="4297680"/>
          </a:xfrm>
          <a:prstGeom prst="roundRect">
            <a:avLst>
              <a:gd name="adj" fmla="val 1882"/>
            </a:avLst>
          </a:prstGeom>
          <a:solidFill>
            <a:srgbClr val="E8F5EF"/>
          </a:solidFill>
          <a:ln w="19050">
            <a:solidFill>
              <a:srgbClr val="00A86A"/>
            </a:solidFill>
            <a:prstDash val="solid"/>
          </a:ln>
        </p:spPr>
      </p:sp>
      <p:sp>
        <p:nvSpPr>
          <p:cNvPr id="26" name="Text 21"/>
          <p:cNvSpPr txBox="1"/>
          <p:nvPr/>
        </p:nvSpPr>
        <p:spPr>
          <a:xfrm>
            <a:off x="8046720" y="1874520"/>
            <a:ext cx="3474720" cy="320040"/>
          </a:xfrm>
          <a:prstGeom prst="rect">
            <a:avLst/>
          </a:prstGeom>
          <a:noFill/>
          <a:ln/>
        </p:spPr>
        <p:txBody>
          <a:bodyPr wrap="square" lIns="0" tIns="0" rIns="0" bIns="0" rtlCol="0" anchor="ctr"/>
          <a:lstStyle/>
          <a:p>
            <a:pPr marL="0" indent="0">
              <a:buNone/>
            </a:pPr>
            <a:r>
              <a:rPr lang="en-US" sz="1200" b="1" kern="0" spc="200" dirty="0">
                <a:solidFill>
                  <a:srgbClr val="00704A"/>
                </a:solidFill>
              </a:rPr>
              <a:t>ON COLAB OR ON SITE</a:t>
            </a:r>
            <a:endParaRPr lang="en-US" sz="1200" dirty="0"/>
          </a:p>
        </p:txBody>
      </p:sp>
      <p:sp>
        <p:nvSpPr>
          <p:cNvPr id="27" name="Notebook number 3"/>
          <p:cNvSpPr txBox="1"/>
          <p:nvPr/>
        </p:nvSpPr>
        <p:spPr>
          <a:xfrm>
            <a:off x="8046720" y="2377440"/>
            <a:ext cx="731520" cy="822960"/>
          </a:xfrm>
          <a:prstGeom prst="roundRect">
            <a:avLst>
              <a:gd name="adj" fmla="val 10000"/>
            </a:avLst>
          </a:prstGeom>
          <a:solidFill>
            <a:srgbClr val="00A86A"/>
          </a:solid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28" name="Text 23"/>
          <p:cNvSpPr txBox="1"/>
          <p:nvPr/>
        </p:nvSpPr>
        <p:spPr>
          <a:xfrm>
            <a:off x="8961120" y="2377440"/>
            <a:ext cx="2560320" cy="822960"/>
          </a:xfrm>
          <a:prstGeom prst="rect">
            <a:avLst/>
          </a:prstGeom>
          <a:noFill/>
          <a:ln/>
        </p:spPr>
        <p:txBody>
          <a:bodyPr wrap="square" lIns="0" tIns="0" rIns="0" bIns="0" rtlCol="0" anchor="ctr"/>
          <a:lstStyle/>
          <a:p>
            <a:pPr marL="0" indent="0">
              <a:buNone/>
            </a:pPr>
            <a:r>
              <a:rPr lang="en-US" sz="2000" b="1" dirty="0">
                <a:solidFill>
                  <a:srgbClr val="231F20"/>
                </a:solidFill>
              </a:rPr>
              <a:t>Analysis</a:t>
            </a:r>
            <a:endParaRPr lang="en-US" sz="2000" dirty="0"/>
          </a:p>
        </p:txBody>
      </p:sp>
      <p:sp>
        <p:nvSpPr>
          <p:cNvPr id="29" name="Text 24"/>
          <p:cNvSpPr txBox="1"/>
          <p:nvPr/>
        </p:nvSpPr>
        <p:spPr>
          <a:xfrm>
            <a:off x="8046720" y="3383280"/>
            <a:ext cx="342900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31F20"/>
                </a:solidFill>
              </a:rPr>
              <a:t>Merges and checks the archives</a:t>
            </a:r>
            <a:endParaRPr lang="en-US" sz="1400" dirty="0"/>
          </a:p>
          <a:p>
            <a:pPr marL="342900" indent="-342900">
              <a:spcAft>
                <a:spcPts val="600"/>
              </a:spcAft>
              <a:buSzPct val="100000"/>
              <a:buChar char="•"/>
            </a:pPr>
            <a:r>
              <a:rPr lang="en-US" sz="1400" dirty="0">
                <a:solidFill>
                  <a:srgbClr val="231F20"/>
                </a:solidFill>
              </a:rPr>
              <a:t>Classifies products by COICOP</a:t>
            </a:r>
            <a:endParaRPr lang="en-US" sz="1400" dirty="0"/>
          </a:p>
          <a:p>
            <a:pPr marL="342900" indent="-342900">
              <a:spcAft>
                <a:spcPts val="600"/>
              </a:spcAft>
              <a:buSzPct val="100000"/>
              <a:buChar char="•"/>
            </a:pPr>
            <a:r>
              <a:rPr lang="en-US" sz="1400" dirty="0">
                <a:solidFill>
                  <a:srgbClr val="231F20"/>
                </a:solidFill>
              </a:rPr>
              <a:t>Compares classification methods</a:t>
            </a:r>
            <a:endParaRPr lang="en-US" sz="1400" dirty="0"/>
          </a:p>
          <a:p>
            <a:pPr marL="342900" indent="-342900">
              <a:spcAft>
                <a:spcPts val="600"/>
              </a:spcAft>
              <a:buSzPct val="100000"/>
              <a:buChar char="•"/>
            </a:pPr>
            <a:r>
              <a:rPr lang="en-US" sz="1400" dirty="0">
                <a:solidFill>
                  <a:srgbClr val="231F20"/>
                </a:solidFill>
              </a:rPr>
              <a:t>Weights and computes Jevons, Carli, GEKS</a:t>
            </a:r>
            <a:endParaRPr lang="en-US" sz="1400" dirty="0"/>
          </a:p>
          <a:p>
            <a:pPr marL="342900" indent="-342900">
              <a:spcAft>
                <a:spcPts val="600"/>
              </a:spcAft>
              <a:buSzPct val="100000"/>
              <a:buChar char="•"/>
            </a:pPr>
            <a:r>
              <a:rPr lang="en-US" sz="1400" dirty="0">
                <a:solidFill>
                  <a:srgbClr val="231F20"/>
                </a:solidFill>
              </a:rPr>
              <a:t>Produces a standalone HTML report</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Notebook 1: collecting online prices without forcing anything</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Notebook screenshot (in French): collection must run from the office workstation</a:t>
            </a:r>
            <a:endParaRPr lang="en-US" sz="1500" dirty="0"/>
          </a:p>
        </p:txBody>
      </p:sp>
      <p:sp>
        <p:nvSpPr>
          <p:cNvPr id="10" name="Notebook 1 screenshot frame"/>
          <p:cNvSpPr/>
          <p:nvPr/>
        </p:nvSpPr>
        <p:spPr>
          <a:xfrm>
            <a:off x="493776" y="1682496"/>
            <a:ext cx="7059168" cy="2923822"/>
          </a:xfrm>
          <a:prstGeom prst="rect">
            <a:avLst/>
          </a:prstGeom>
          <a:solidFill>
            <a:srgbClr val="FFFFFF"/>
          </a:solidFill>
          <a:ln w="9525">
            <a:solidFill>
              <a:srgbClr val="D5DED9"/>
            </a:solidFill>
            <a:prstDash val="solid"/>
          </a:ln>
        </p:spPr>
      </p:sp>
      <p:pic>
        <p:nvPicPr>
          <p:cNvPr id="11" name="Notebook 1 screenshot" descr="Notebook 1 screenshot"/>
          <p:cNvPicPr>
            <a:picLocks noChangeAspect="1"/>
          </p:cNvPicPr>
          <p:nvPr/>
        </p:nvPicPr>
        <p:blipFill>
          <a:blip r:embed="rId3"/>
          <a:stretch>
            <a:fillRect/>
          </a:stretch>
        </p:blipFill>
        <p:spPr>
          <a:xfrm>
            <a:off x="548640" y="1737360"/>
            <a:ext cx="6949440" cy="2814094"/>
          </a:xfrm>
          <a:prstGeom prst="rect">
            <a:avLst/>
          </a:prstGeom>
        </p:spPr>
      </p:pic>
      <p:sp>
        <p:nvSpPr>
          <p:cNvPr id="12" name="Text 9"/>
          <p:cNvSpPr txBox="1"/>
          <p:nvPr/>
        </p:nvSpPr>
        <p:spPr>
          <a:xfrm>
            <a:off x="7955280" y="1737360"/>
            <a:ext cx="3657600" cy="594360"/>
          </a:xfrm>
          <a:prstGeom prst="rect">
            <a:avLst/>
          </a:prstGeom>
          <a:noFill/>
          <a:ln/>
        </p:spPr>
        <p:txBody>
          <a:bodyPr wrap="square" lIns="0" tIns="0" rIns="0" bIns="0" rtlCol="0" anchor="ctr"/>
          <a:lstStyle/>
          <a:p>
            <a:pPr marL="0" indent="0">
              <a:buNone/>
            </a:pPr>
            <a:r>
              <a:rPr lang="en-US" sz="3400" b="1" dirty="0">
                <a:solidFill>
                  <a:srgbClr val="B83B2E"/>
                </a:solidFill>
              </a:rPr>
              <a:t>10 / 14</a:t>
            </a:r>
            <a:endParaRPr lang="en-US" sz="3400" dirty="0"/>
          </a:p>
        </p:txBody>
      </p:sp>
      <p:sp>
        <p:nvSpPr>
          <p:cNvPr id="13" name="Text 10"/>
          <p:cNvSpPr txBox="1"/>
          <p:nvPr/>
        </p:nvSpPr>
        <p:spPr>
          <a:xfrm>
            <a:off x="11612880" y="1737360"/>
            <a:ext cx="0" cy="594360"/>
          </a:xfrm>
          <a:prstGeom prst="rect">
            <a:avLst/>
          </a:prstGeom>
          <a:noFill/>
          <a:ln/>
        </p:spPr>
        <p:txBody>
          <a:bodyPr wrap="square" lIns="0" tIns="0" rIns="0" bIns="0" rtlCol="0" anchor="ctr"/>
          <a:lstStyle/>
          <a:p>
            <a:pPr marL="0" indent="0">
              <a:buNone/>
            </a:pPr>
            <a:endParaRPr lang="en-US" sz="1300" dirty="0"/>
          </a:p>
        </p:txBody>
      </p:sp>
      <p:sp>
        <p:nvSpPr>
          <p:cNvPr id="14" name="Text 11"/>
          <p:cNvSpPr txBox="1"/>
          <p:nvPr/>
        </p:nvSpPr>
        <p:spPr>
          <a:xfrm>
            <a:off x="7955280" y="2331720"/>
            <a:ext cx="3657600" cy="731520"/>
          </a:xfrm>
          <a:prstGeom prst="rect">
            <a:avLst/>
          </a:prstGeom>
          <a:noFill/>
          <a:ln/>
        </p:spPr>
        <p:txBody>
          <a:bodyPr wrap="square" lIns="0" tIns="0" rIns="0" bIns="0" rtlCol="0" anchor="t"/>
          <a:lstStyle/>
          <a:p>
            <a:pPr marL="0" indent="0">
              <a:buNone/>
            </a:pPr>
            <a:r>
              <a:rPr lang="en-US" sz="1300" dirty="0">
                <a:solidFill>
                  <a:srgbClr val="5E6964"/>
                </a:solidFill>
              </a:rPr>
              <a:t>Jumia sites refused from Colab, in 14 to 20 ms: blocked by the content delivery network (CDN), not by Jumia</a:t>
            </a:r>
            <a:endParaRPr lang="en-US" sz="1300" dirty="0"/>
          </a:p>
        </p:txBody>
      </p:sp>
      <p:sp>
        <p:nvSpPr>
          <p:cNvPr id="15" name="Text 12"/>
          <p:cNvSpPr txBox="1"/>
          <p:nvPr/>
        </p:nvSpPr>
        <p:spPr>
          <a:xfrm>
            <a:off x="7955280" y="3154680"/>
            <a:ext cx="3657600" cy="594360"/>
          </a:xfrm>
          <a:prstGeom prst="rect">
            <a:avLst/>
          </a:prstGeom>
          <a:noFill/>
          <a:ln/>
        </p:spPr>
        <p:txBody>
          <a:bodyPr wrap="square" lIns="0" tIns="0" rIns="0" bIns="0" rtlCol="0" anchor="ctr"/>
          <a:lstStyle/>
          <a:p>
            <a:pPr marL="0" indent="0">
              <a:buNone/>
            </a:pPr>
            <a:r>
              <a:rPr lang="en-US" sz="3400" b="1" dirty="0">
                <a:solidFill>
                  <a:srgbClr val="00A86A"/>
                </a:solidFill>
              </a:rPr>
              <a:t>11,358</a:t>
            </a:r>
            <a:endParaRPr lang="en-US" sz="3400" dirty="0"/>
          </a:p>
        </p:txBody>
      </p:sp>
      <p:sp>
        <p:nvSpPr>
          <p:cNvPr id="16" name="Text 13"/>
          <p:cNvSpPr txBox="1"/>
          <p:nvPr/>
        </p:nvSpPr>
        <p:spPr>
          <a:xfrm>
            <a:off x="11612880" y="3154680"/>
            <a:ext cx="0" cy="594360"/>
          </a:xfrm>
          <a:prstGeom prst="rect">
            <a:avLst/>
          </a:prstGeom>
          <a:noFill/>
          <a:ln/>
        </p:spPr>
        <p:txBody>
          <a:bodyPr wrap="square" lIns="0" tIns="0" rIns="0" bIns="0" rtlCol="0" anchor="ctr"/>
          <a:lstStyle/>
          <a:p>
            <a:pPr marL="0" indent="0">
              <a:buNone/>
            </a:pPr>
            <a:endParaRPr lang="en-US" sz="1300" dirty="0"/>
          </a:p>
        </p:txBody>
      </p:sp>
      <p:sp>
        <p:nvSpPr>
          <p:cNvPr id="17" name="Text 14"/>
          <p:cNvSpPr txBox="1"/>
          <p:nvPr/>
        </p:nvSpPr>
        <p:spPr>
          <a:xfrm>
            <a:off x="7955280" y="3749040"/>
            <a:ext cx="3657600" cy="731520"/>
          </a:xfrm>
          <a:prstGeom prst="rect">
            <a:avLst/>
          </a:prstGeom>
          <a:noFill/>
          <a:ln/>
        </p:spPr>
        <p:txBody>
          <a:bodyPr wrap="square" lIns="0" tIns="0" rIns="0" bIns="0" rtlCol="0" anchor="t"/>
          <a:lstStyle/>
          <a:p>
            <a:pPr marL="0" indent="0">
              <a:buNone/>
            </a:pPr>
            <a:r>
              <a:rPr lang="en-US" sz="1300" dirty="0">
                <a:solidFill>
                  <a:srgbClr val="5E6964"/>
                </a:solidFill>
              </a:rPr>
              <a:t>rows served the same day by jumia.ci and jumia.sn to a workstation</a:t>
            </a:r>
            <a:endParaRPr lang="en-US" sz="1300" dirty="0"/>
          </a:p>
        </p:txBody>
      </p:sp>
      <p:sp>
        <p:nvSpPr>
          <p:cNvPr id="18" name="Text 15"/>
          <p:cNvSpPr txBox="1"/>
          <p:nvPr/>
        </p:nvSpPr>
        <p:spPr>
          <a:xfrm>
            <a:off x="7955280" y="4572000"/>
            <a:ext cx="370332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1F20"/>
                </a:solidFill>
              </a:rPr>
              <a:t>The crawler identifies itself with a contact address</a:t>
            </a:r>
            <a:endParaRPr lang="en-US" sz="1400" dirty="0"/>
          </a:p>
          <a:p>
            <a:pPr marL="342900" indent="-342900">
              <a:spcAft>
                <a:spcPts val="400"/>
              </a:spcAft>
              <a:buSzPct val="100000"/>
              <a:buChar char="•"/>
            </a:pPr>
            <a:r>
              <a:rPr lang="en-US" sz="1400" dirty="0">
                <a:solidFill>
                  <a:srgbClr val="231F20"/>
                </a:solidFill>
              </a:rPr>
              <a:t>robots.txt and the delay between requests are respected</a:t>
            </a:r>
            <a:endParaRPr lang="en-US" sz="1400" dirty="0"/>
          </a:p>
          <a:p>
            <a:pPr marL="342900" indent="-342900">
              <a:spcAft>
                <a:spcPts val="400"/>
              </a:spcAft>
              <a:buSzPct val="100000"/>
              <a:buChar char="•"/>
            </a:pPr>
            <a:r>
              <a:rPr lang="en-US" sz="1400" dirty="0">
                <a:solidFill>
                  <a:srgbClr val="231F20"/>
                </a:solidFill>
              </a:rPr>
              <a:t>A refusal is logged, never bypassed</a:t>
            </a:r>
            <a:endParaRPr lang="en-US" sz="14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Notebook 2: reaching what e-commerce cannot see</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Administered and market prices already published by Ivorian and Senegalese institutions</a:t>
            </a:r>
            <a:endParaRPr lang="en-US" sz="1500" dirty="0"/>
          </a:p>
        </p:txBody>
      </p:sp>
      <p:sp>
        <p:nvSpPr>
          <p:cNvPr id="10" name="Notebook 2 screenshot frame"/>
          <p:cNvSpPr/>
          <p:nvPr/>
        </p:nvSpPr>
        <p:spPr>
          <a:xfrm>
            <a:off x="493776" y="1682496"/>
            <a:ext cx="5870448" cy="3239008"/>
          </a:xfrm>
          <a:prstGeom prst="rect">
            <a:avLst/>
          </a:prstGeom>
          <a:solidFill>
            <a:srgbClr val="FFFFFF"/>
          </a:solidFill>
          <a:ln w="9525">
            <a:solidFill>
              <a:srgbClr val="D5DED9"/>
            </a:solidFill>
            <a:prstDash val="solid"/>
          </a:ln>
        </p:spPr>
      </p:sp>
      <p:pic>
        <p:nvPicPr>
          <p:cNvPr id="11" name="Notebook 2 screenshot" descr="Notebook 2 screenshot"/>
          <p:cNvPicPr>
            <a:picLocks noChangeAspect="1"/>
          </p:cNvPicPr>
          <p:nvPr/>
        </p:nvPicPr>
        <p:blipFill>
          <a:blip r:embed="rId3"/>
          <a:stretch>
            <a:fillRect/>
          </a:stretch>
        </p:blipFill>
        <p:spPr>
          <a:xfrm>
            <a:off x="548640" y="1737360"/>
            <a:ext cx="5760720" cy="3129280"/>
          </a:xfrm>
          <a:prstGeom prst="rect">
            <a:avLst/>
          </a:prstGeom>
        </p:spPr>
      </p:pic>
      <p:sp>
        <p:nvSpPr>
          <p:cNvPr id="12" name="Division 04"/>
          <p:cNvSpPr txBox="1"/>
          <p:nvPr/>
        </p:nvSpPr>
        <p:spPr>
          <a:xfrm>
            <a:off x="6812280" y="1874520"/>
            <a:ext cx="777240" cy="685800"/>
          </a:xfrm>
          <a:prstGeom prst="roundRect">
            <a:avLst>
              <a:gd name="adj" fmla="val 10667"/>
            </a:avLst>
          </a:prstGeom>
          <a:solidFill>
            <a:srgbClr val="0E7C86"/>
          </a:solidFill>
          <a:ln/>
        </p:spPr>
        <p:txBody>
          <a:bodyPr wrap="square" lIns="0" tIns="0" rIns="0" bIns="0" rtlCol="0" anchor="ctr"/>
          <a:lstStyle/>
          <a:p>
            <a:pPr marL="0" indent="0" algn="ctr">
              <a:buNone/>
            </a:pPr>
            <a:r>
              <a:rPr lang="en-US" sz="2000" b="1" dirty="0">
                <a:solidFill>
                  <a:srgbClr val="FFFFFF"/>
                </a:solidFill>
              </a:rPr>
              <a:t>04</a:t>
            </a:r>
            <a:endParaRPr lang="en-US" sz="2000" dirty="0"/>
          </a:p>
        </p:txBody>
      </p:sp>
      <p:sp>
        <p:nvSpPr>
          <p:cNvPr id="13" name="Text 10"/>
          <p:cNvSpPr txBox="1"/>
          <p:nvPr/>
        </p:nvSpPr>
        <p:spPr>
          <a:xfrm>
            <a:off x="7772400" y="178308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Electricity</a:t>
            </a:r>
            <a:endParaRPr lang="en-US" sz="1700" dirty="0"/>
          </a:p>
        </p:txBody>
      </p:sp>
      <p:sp>
        <p:nvSpPr>
          <p:cNvPr id="14" name="Text 11"/>
          <p:cNvSpPr txBox="1"/>
          <p:nvPr/>
        </p:nvSpPr>
        <p:spPr>
          <a:xfrm>
            <a:off x="7772400" y="2194560"/>
            <a:ext cx="3886200" cy="731520"/>
          </a:xfrm>
          <a:prstGeom prst="rect">
            <a:avLst/>
          </a:prstGeom>
          <a:noFill/>
          <a:ln/>
        </p:spPr>
        <p:txBody>
          <a:bodyPr wrap="square" lIns="0" tIns="0" rIns="0" bIns="0" rtlCol="0" anchor="t"/>
          <a:lstStyle/>
          <a:p>
            <a:pPr marL="0" indent="0">
              <a:buNone/>
            </a:pPr>
            <a:r>
              <a:rPr lang="en-US" sz="1300" dirty="0">
                <a:solidFill>
                  <a:srgbClr val="5E6964"/>
                </a:solidFill>
              </a:rPr>
              <a:t>ANARE-CI and CRSE tariffs: administered prices, set and published</a:t>
            </a:r>
            <a:endParaRPr lang="en-US" sz="1300" dirty="0"/>
          </a:p>
        </p:txBody>
      </p:sp>
      <p:sp>
        <p:nvSpPr>
          <p:cNvPr id="15" name="Division 01"/>
          <p:cNvSpPr txBox="1"/>
          <p:nvPr/>
        </p:nvSpPr>
        <p:spPr>
          <a:xfrm>
            <a:off x="6812280" y="3154680"/>
            <a:ext cx="777240" cy="685800"/>
          </a:xfrm>
          <a:prstGeom prst="roundRect">
            <a:avLst>
              <a:gd name="adj" fmla="val 10667"/>
            </a:avLst>
          </a:prstGeom>
          <a:solidFill>
            <a:srgbClr val="00A86A"/>
          </a:solid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16" name="Text 13"/>
          <p:cNvSpPr txBox="1"/>
          <p:nvPr/>
        </p:nvSpPr>
        <p:spPr>
          <a:xfrm>
            <a:off x="7772400" y="306324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Physical markets</a:t>
            </a:r>
            <a:endParaRPr lang="en-US" sz="1700" dirty="0"/>
          </a:p>
        </p:txBody>
      </p:sp>
      <p:sp>
        <p:nvSpPr>
          <p:cNvPr id="17" name="Text 14"/>
          <p:cNvSpPr txBox="1"/>
          <p:nvPr/>
        </p:nvSpPr>
        <p:spPr>
          <a:xfrm>
            <a:off x="7772400" y="3474720"/>
            <a:ext cx="3886200" cy="731520"/>
          </a:xfrm>
          <a:prstGeom prst="rect">
            <a:avLst/>
          </a:prstGeom>
          <a:noFill/>
          <a:ln/>
        </p:spPr>
        <p:txBody>
          <a:bodyPr wrap="square" lIns="0" tIns="0" rIns="0" bIns="0" rtlCol="0" anchor="t"/>
          <a:lstStyle/>
          <a:p>
            <a:pPr marL="0" indent="0">
              <a:buNone/>
            </a:pPr>
            <a:r>
              <a:rPr lang="en-US" sz="1300" dirty="0">
                <a:solidFill>
                  <a:srgbClr val="5E6964"/>
                </a:solidFill>
              </a:rPr>
              <a:t>OCPV and Sikafinance retail prices: the exact complement to Jumia</a:t>
            </a:r>
            <a:endParaRPr lang="en-US" sz="1300" dirty="0"/>
          </a:p>
        </p:txBody>
      </p:sp>
      <p:sp>
        <p:nvSpPr>
          <p:cNvPr id="18" name="Division 08"/>
          <p:cNvSpPr txBox="1"/>
          <p:nvPr/>
        </p:nvSpPr>
        <p:spPr>
          <a:xfrm>
            <a:off x="6812280" y="4434840"/>
            <a:ext cx="777240" cy="685800"/>
          </a:xfrm>
          <a:prstGeom prst="roundRect">
            <a:avLst>
              <a:gd name="adj" fmla="val 10667"/>
            </a:avLst>
          </a:prstGeom>
          <a:solidFill>
            <a:srgbClr val="00704A"/>
          </a:solidFill>
          <a:ln/>
        </p:spPr>
        <p:txBody>
          <a:bodyPr wrap="square" lIns="0" tIns="0" rIns="0" bIns="0" rtlCol="0" anchor="ctr"/>
          <a:lstStyle/>
          <a:p>
            <a:pPr marL="0" indent="0" algn="ctr">
              <a:buNone/>
            </a:pPr>
            <a:r>
              <a:rPr lang="en-US" sz="2000" b="1" dirty="0">
                <a:solidFill>
                  <a:srgbClr val="FFFFFF"/>
                </a:solidFill>
              </a:rPr>
              <a:t>08</a:t>
            </a:r>
            <a:endParaRPr lang="en-US" sz="2000" dirty="0"/>
          </a:p>
        </p:txBody>
      </p:sp>
      <p:sp>
        <p:nvSpPr>
          <p:cNvPr id="19" name="Text 16"/>
          <p:cNvSpPr txBox="1"/>
          <p:nvPr/>
        </p:nvSpPr>
        <p:spPr>
          <a:xfrm>
            <a:off x="7772400" y="434340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Mobile services</a:t>
            </a:r>
            <a:endParaRPr lang="en-US" sz="1700" dirty="0"/>
          </a:p>
        </p:txBody>
      </p:sp>
      <p:sp>
        <p:nvSpPr>
          <p:cNvPr id="20" name="Text 17"/>
          <p:cNvSpPr txBox="1"/>
          <p:nvPr/>
        </p:nvSpPr>
        <p:spPr>
          <a:xfrm>
            <a:off x="7772400" y="4754880"/>
            <a:ext cx="3886200" cy="731520"/>
          </a:xfrm>
          <a:prstGeom prst="rect">
            <a:avLst/>
          </a:prstGeom>
          <a:noFill/>
          <a:ln/>
        </p:spPr>
        <p:txBody>
          <a:bodyPr wrap="square" lIns="0" tIns="0" rIns="0" bIns="0" rtlCol="0" anchor="t"/>
          <a:lstStyle/>
          <a:p>
            <a:pPr marL="0" indent="0">
              <a:buNone/>
            </a:pPr>
            <a:r>
              <a:rPr lang="en-US" sz="1300" dirty="0">
                <a:solidFill>
                  <a:srgbClr val="5E6964"/>
                </a:solidFill>
              </a:rPr>
              <a:t>ARTP index, base 2023: 7.46% of Senegal's basket, kept separate</a:t>
            </a:r>
            <a:endParaRPr lang="en-US" sz="1300" dirty="0"/>
          </a:p>
        </p:txBody>
      </p:sp>
      <p:sp>
        <p:nvSpPr>
          <p:cNvPr id="21" name="Index of indices box"/>
          <p:cNvSpPr/>
          <p:nvPr/>
        </p:nvSpPr>
        <p:spPr>
          <a:xfrm>
            <a:off x="6812280" y="5486400"/>
            <a:ext cx="4846320" cy="548640"/>
          </a:xfrm>
          <a:prstGeom prst="roundRect">
            <a:avLst>
              <a:gd name="adj" fmla="val 13333"/>
            </a:avLst>
          </a:prstGeom>
          <a:solidFill>
            <a:srgbClr val="D49A00">
              <a:alpha val="13000"/>
            </a:srgbClr>
          </a:solidFill>
          <a:ln w="12700">
            <a:solidFill>
              <a:srgbClr val="D49A00"/>
            </a:solidFill>
            <a:prstDash val="solid"/>
          </a:ln>
        </p:spPr>
      </p:sp>
      <p:pic>
        <p:nvPicPr>
          <p:cNvPr id="22" name="Index of indices box icon" descr="preencoded.png"/>
          <p:cNvPicPr>
            <a:picLocks noChangeAspect="1"/>
          </p:cNvPicPr>
          <p:nvPr/>
        </p:nvPicPr>
        <p:blipFill>
          <a:blip r:embed="rId4"/>
          <a:stretch>
            <a:fillRect/>
          </a:stretch>
        </p:blipFill>
        <p:spPr>
          <a:xfrm>
            <a:off x="6995160" y="5614416"/>
            <a:ext cx="292608" cy="292608"/>
          </a:xfrm>
          <a:prstGeom prst="rect">
            <a:avLst/>
          </a:prstGeom>
        </p:spPr>
      </p:pic>
      <p:sp>
        <p:nvSpPr>
          <p:cNvPr id="23" name="Text 19"/>
          <p:cNvSpPr txBox="1"/>
          <p:nvPr/>
        </p:nvSpPr>
        <p:spPr>
          <a:xfrm>
            <a:off x="7406640" y="5486400"/>
            <a:ext cx="4114800" cy="548640"/>
          </a:xfrm>
          <a:prstGeom prst="rect">
            <a:avLst/>
          </a:prstGeom>
          <a:noFill/>
          <a:ln/>
        </p:spPr>
        <p:txBody>
          <a:bodyPr wrap="square" lIns="0" tIns="0" rIns="0" bIns="0" rtlCol="0" anchor="ctr"/>
          <a:lstStyle/>
          <a:p>
            <a:pPr marL="0" indent="0">
              <a:buNone/>
            </a:pPr>
            <a:r>
              <a:rPr lang="en-US" sz="1300" dirty="0">
                <a:solidFill>
                  <a:srgbClr val="231F20"/>
                </a:solidFill>
              </a:rPr>
              <a:t>A ready-made index is not mixed with prices: that would compute an index of indices.</a:t>
            </a:r>
            <a:endParaRPr lang="en-US" sz="13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Coverage: 7 of 13 divisions, 78% of the weight</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Divisions reached by the 14 October 2026 collection, with each one's weight in Senegal's HCPI (illustration)</a:t>
            </a:r>
            <a:endParaRPr lang="en-US" sz="1500" dirty="0"/>
          </a:p>
        </p:txBody>
      </p:sp>
      <p:sp>
        <p:nvSpPr>
          <p:cNvPr id="10" name="Division tile 01"/>
          <p:cNvSpPr/>
          <p:nvPr/>
        </p:nvSpPr>
        <p:spPr>
          <a:xfrm>
            <a:off x="502920" y="1737360"/>
            <a:ext cx="1325880" cy="1234440"/>
          </a:xfrm>
          <a:prstGeom prst="roundRect">
            <a:avLst>
              <a:gd name="adj" fmla="val 5926"/>
            </a:avLst>
          </a:prstGeom>
          <a:solidFill>
            <a:srgbClr val="00553A"/>
          </a:solidFill>
          <a:ln/>
        </p:spPr>
      </p:sp>
      <p:sp>
        <p:nvSpPr>
          <p:cNvPr id="11" name="Text 9"/>
          <p:cNvSpPr txBox="1"/>
          <p:nvPr/>
        </p:nvSpPr>
        <p:spPr>
          <a:xfrm>
            <a:off x="61264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01</a:t>
            </a:r>
            <a:endParaRPr lang="en-US" sz="2000" dirty="0"/>
          </a:p>
        </p:txBody>
      </p:sp>
      <p:sp>
        <p:nvSpPr>
          <p:cNvPr id="12" name="Text 10"/>
          <p:cNvSpPr txBox="1"/>
          <p:nvPr/>
        </p:nvSpPr>
        <p:spPr>
          <a:xfrm>
            <a:off x="105156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45.5%</a:t>
            </a:r>
            <a:endParaRPr lang="en-US" sz="1100" dirty="0"/>
          </a:p>
        </p:txBody>
      </p:sp>
      <p:sp>
        <p:nvSpPr>
          <p:cNvPr id="13" name="Text 11"/>
          <p:cNvSpPr txBox="1"/>
          <p:nvPr/>
        </p:nvSpPr>
        <p:spPr>
          <a:xfrm>
            <a:off x="61264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Food</a:t>
            </a:r>
            <a:endParaRPr lang="en-US" sz="1200" dirty="0"/>
          </a:p>
        </p:txBody>
      </p:sp>
      <p:sp>
        <p:nvSpPr>
          <p:cNvPr id="14" name="Division tile 02"/>
          <p:cNvSpPr/>
          <p:nvPr/>
        </p:nvSpPr>
        <p:spPr>
          <a:xfrm>
            <a:off x="1965960" y="1737360"/>
            <a:ext cx="1325880" cy="1234440"/>
          </a:xfrm>
          <a:prstGeom prst="roundRect">
            <a:avLst>
              <a:gd name="adj" fmla="val 5926"/>
            </a:avLst>
          </a:prstGeom>
          <a:solidFill>
            <a:srgbClr val="A9B5B0"/>
          </a:solidFill>
          <a:ln/>
        </p:spPr>
      </p:sp>
      <p:sp>
        <p:nvSpPr>
          <p:cNvPr id="15" name="Text 13"/>
          <p:cNvSpPr txBox="1"/>
          <p:nvPr/>
        </p:nvSpPr>
        <p:spPr>
          <a:xfrm>
            <a:off x="207568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02</a:t>
            </a:r>
            <a:endParaRPr lang="en-US" sz="2000" dirty="0"/>
          </a:p>
        </p:txBody>
      </p:sp>
      <p:sp>
        <p:nvSpPr>
          <p:cNvPr id="16" name="Text 14"/>
          <p:cNvSpPr txBox="1"/>
          <p:nvPr/>
        </p:nvSpPr>
        <p:spPr>
          <a:xfrm>
            <a:off x="251460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0.2%</a:t>
            </a:r>
            <a:endParaRPr lang="en-US" sz="1100" dirty="0"/>
          </a:p>
        </p:txBody>
      </p:sp>
      <p:sp>
        <p:nvSpPr>
          <p:cNvPr id="17" name="Text 15"/>
          <p:cNvSpPr txBox="1"/>
          <p:nvPr/>
        </p:nvSpPr>
        <p:spPr>
          <a:xfrm>
            <a:off x="207568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Alcohol, tobacco</a:t>
            </a:r>
            <a:endParaRPr lang="en-US" sz="1200" dirty="0"/>
          </a:p>
        </p:txBody>
      </p:sp>
      <p:sp>
        <p:nvSpPr>
          <p:cNvPr id="18" name="Division tile 03"/>
          <p:cNvSpPr/>
          <p:nvPr/>
        </p:nvSpPr>
        <p:spPr>
          <a:xfrm>
            <a:off x="3429000" y="1737360"/>
            <a:ext cx="1325880" cy="1234440"/>
          </a:xfrm>
          <a:prstGeom prst="roundRect">
            <a:avLst>
              <a:gd name="adj" fmla="val 5926"/>
            </a:avLst>
          </a:prstGeom>
          <a:solidFill>
            <a:srgbClr val="00A86A"/>
          </a:solidFill>
          <a:ln/>
        </p:spPr>
      </p:sp>
      <p:sp>
        <p:nvSpPr>
          <p:cNvPr id="19" name="Text 17"/>
          <p:cNvSpPr txBox="1"/>
          <p:nvPr/>
        </p:nvSpPr>
        <p:spPr>
          <a:xfrm>
            <a:off x="353872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03</a:t>
            </a:r>
            <a:endParaRPr lang="en-US" sz="2000" dirty="0"/>
          </a:p>
        </p:txBody>
      </p:sp>
      <p:sp>
        <p:nvSpPr>
          <p:cNvPr id="20" name="Text 18"/>
          <p:cNvSpPr txBox="1"/>
          <p:nvPr/>
        </p:nvSpPr>
        <p:spPr>
          <a:xfrm>
            <a:off x="397764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4.8%</a:t>
            </a:r>
            <a:endParaRPr lang="en-US" sz="1100" dirty="0"/>
          </a:p>
        </p:txBody>
      </p:sp>
      <p:sp>
        <p:nvSpPr>
          <p:cNvPr id="21" name="Text 19"/>
          <p:cNvSpPr txBox="1"/>
          <p:nvPr/>
        </p:nvSpPr>
        <p:spPr>
          <a:xfrm>
            <a:off x="353872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Clothing</a:t>
            </a:r>
            <a:endParaRPr lang="en-US" sz="1200" dirty="0"/>
          </a:p>
        </p:txBody>
      </p:sp>
      <p:sp>
        <p:nvSpPr>
          <p:cNvPr id="22" name="Division tile 04"/>
          <p:cNvSpPr/>
          <p:nvPr/>
        </p:nvSpPr>
        <p:spPr>
          <a:xfrm>
            <a:off x="4892040" y="1737360"/>
            <a:ext cx="1325880" cy="1234440"/>
          </a:xfrm>
          <a:prstGeom prst="roundRect">
            <a:avLst>
              <a:gd name="adj" fmla="val 5926"/>
            </a:avLst>
          </a:prstGeom>
          <a:solidFill>
            <a:srgbClr val="0E7C86"/>
          </a:solidFill>
          <a:ln/>
        </p:spPr>
      </p:sp>
      <p:sp>
        <p:nvSpPr>
          <p:cNvPr id="23" name="Text 21"/>
          <p:cNvSpPr txBox="1"/>
          <p:nvPr/>
        </p:nvSpPr>
        <p:spPr>
          <a:xfrm>
            <a:off x="500176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04</a:t>
            </a:r>
            <a:endParaRPr lang="en-US" sz="2000" dirty="0"/>
          </a:p>
        </p:txBody>
      </p:sp>
      <p:sp>
        <p:nvSpPr>
          <p:cNvPr id="24" name="Text 22"/>
          <p:cNvSpPr txBox="1"/>
          <p:nvPr/>
        </p:nvSpPr>
        <p:spPr>
          <a:xfrm>
            <a:off x="544068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9.2%</a:t>
            </a:r>
            <a:endParaRPr lang="en-US" sz="1100" dirty="0"/>
          </a:p>
        </p:txBody>
      </p:sp>
      <p:sp>
        <p:nvSpPr>
          <p:cNvPr id="25" name="Text 23"/>
          <p:cNvSpPr txBox="1"/>
          <p:nvPr/>
        </p:nvSpPr>
        <p:spPr>
          <a:xfrm>
            <a:off x="500176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Housing, energy</a:t>
            </a:r>
            <a:endParaRPr lang="en-US" sz="1200" dirty="0"/>
          </a:p>
        </p:txBody>
      </p:sp>
      <p:sp>
        <p:nvSpPr>
          <p:cNvPr id="26" name="Division tile 05"/>
          <p:cNvSpPr/>
          <p:nvPr/>
        </p:nvSpPr>
        <p:spPr>
          <a:xfrm>
            <a:off x="6355080" y="1737360"/>
            <a:ext cx="1325880" cy="1234440"/>
          </a:xfrm>
          <a:prstGeom prst="roundRect">
            <a:avLst>
              <a:gd name="adj" fmla="val 5926"/>
            </a:avLst>
          </a:prstGeom>
          <a:solidFill>
            <a:srgbClr val="00A86A"/>
          </a:solidFill>
          <a:ln/>
        </p:spPr>
      </p:sp>
      <p:sp>
        <p:nvSpPr>
          <p:cNvPr id="27" name="Text 25"/>
          <p:cNvSpPr txBox="1"/>
          <p:nvPr/>
        </p:nvSpPr>
        <p:spPr>
          <a:xfrm>
            <a:off x="646480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05</a:t>
            </a:r>
            <a:endParaRPr lang="en-US" sz="2000" dirty="0"/>
          </a:p>
        </p:txBody>
      </p:sp>
      <p:sp>
        <p:nvSpPr>
          <p:cNvPr id="28" name="Text 26"/>
          <p:cNvSpPr txBox="1"/>
          <p:nvPr/>
        </p:nvSpPr>
        <p:spPr>
          <a:xfrm>
            <a:off x="690372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5.7%</a:t>
            </a:r>
            <a:endParaRPr lang="en-US" sz="1100" dirty="0"/>
          </a:p>
        </p:txBody>
      </p:sp>
      <p:sp>
        <p:nvSpPr>
          <p:cNvPr id="29" name="Text 27"/>
          <p:cNvSpPr txBox="1"/>
          <p:nvPr/>
        </p:nvSpPr>
        <p:spPr>
          <a:xfrm>
            <a:off x="646480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Equipment</a:t>
            </a:r>
            <a:endParaRPr lang="en-US" sz="1200" dirty="0"/>
          </a:p>
        </p:txBody>
      </p:sp>
      <p:sp>
        <p:nvSpPr>
          <p:cNvPr id="30" name="Division tile 06"/>
          <p:cNvSpPr/>
          <p:nvPr/>
        </p:nvSpPr>
        <p:spPr>
          <a:xfrm>
            <a:off x="502920" y="3108960"/>
            <a:ext cx="1325880" cy="1234440"/>
          </a:xfrm>
          <a:prstGeom prst="roundRect">
            <a:avLst>
              <a:gd name="adj" fmla="val 5926"/>
            </a:avLst>
          </a:prstGeom>
          <a:solidFill>
            <a:srgbClr val="A9B5B0"/>
          </a:solidFill>
          <a:ln/>
        </p:spPr>
      </p:sp>
      <p:sp>
        <p:nvSpPr>
          <p:cNvPr id="31" name="Text 29"/>
          <p:cNvSpPr txBox="1"/>
          <p:nvPr/>
        </p:nvSpPr>
        <p:spPr>
          <a:xfrm>
            <a:off x="61264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06</a:t>
            </a:r>
            <a:endParaRPr lang="en-US" sz="2000" dirty="0"/>
          </a:p>
        </p:txBody>
      </p:sp>
      <p:sp>
        <p:nvSpPr>
          <p:cNvPr id="32" name="Text 30"/>
          <p:cNvSpPr txBox="1"/>
          <p:nvPr/>
        </p:nvSpPr>
        <p:spPr>
          <a:xfrm>
            <a:off x="105156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4.2%</a:t>
            </a:r>
            <a:endParaRPr lang="en-US" sz="1100" dirty="0"/>
          </a:p>
        </p:txBody>
      </p:sp>
      <p:sp>
        <p:nvSpPr>
          <p:cNvPr id="33" name="Text 31"/>
          <p:cNvSpPr txBox="1"/>
          <p:nvPr/>
        </p:nvSpPr>
        <p:spPr>
          <a:xfrm>
            <a:off x="61264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Health</a:t>
            </a:r>
            <a:endParaRPr lang="en-US" sz="1200" dirty="0"/>
          </a:p>
        </p:txBody>
      </p:sp>
      <p:sp>
        <p:nvSpPr>
          <p:cNvPr id="34" name="Division tile 07"/>
          <p:cNvSpPr/>
          <p:nvPr/>
        </p:nvSpPr>
        <p:spPr>
          <a:xfrm>
            <a:off x="1965960" y="3108960"/>
            <a:ext cx="1325880" cy="1234440"/>
          </a:xfrm>
          <a:prstGeom prst="roundRect">
            <a:avLst>
              <a:gd name="adj" fmla="val 5926"/>
            </a:avLst>
          </a:prstGeom>
          <a:solidFill>
            <a:srgbClr val="F6DEDA"/>
          </a:solidFill>
          <a:ln/>
        </p:spPr>
      </p:sp>
      <p:sp>
        <p:nvSpPr>
          <p:cNvPr id="35" name="Text 33"/>
          <p:cNvSpPr txBox="1"/>
          <p:nvPr/>
        </p:nvSpPr>
        <p:spPr>
          <a:xfrm>
            <a:off x="2075688" y="31821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07</a:t>
            </a:r>
            <a:endParaRPr lang="en-US" sz="2000" dirty="0"/>
          </a:p>
        </p:txBody>
      </p:sp>
      <p:sp>
        <p:nvSpPr>
          <p:cNvPr id="36" name="Text 34"/>
          <p:cNvSpPr txBox="1"/>
          <p:nvPr/>
        </p:nvSpPr>
        <p:spPr>
          <a:xfrm>
            <a:off x="2514600" y="32004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6.1%</a:t>
            </a:r>
            <a:endParaRPr lang="en-US" sz="1100" dirty="0"/>
          </a:p>
        </p:txBody>
      </p:sp>
      <p:sp>
        <p:nvSpPr>
          <p:cNvPr id="37" name="Text 35"/>
          <p:cNvSpPr txBox="1"/>
          <p:nvPr/>
        </p:nvSpPr>
        <p:spPr>
          <a:xfrm>
            <a:off x="2075688" y="3657600"/>
            <a:ext cx="1143000" cy="594360"/>
          </a:xfrm>
          <a:prstGeom prst="rect">
            <a:avLst/>
          </a:prstGeom>
          <a:noFill/>
          <a:ln/>
        </p:spPr>
        <p:txBody>
          <a:bodyPr wrap="square" lIns="0" tIns="0" rIns="0" bIns="0" rtlCol="0" anchor="t"/>
          <a:lstStyle/>
          <a:p>
            <a:pPr marL="0" indent="0">
              <a:buNone/>
            </a:pPr>
            <a:r>
              <a:rPr lang="en-US" sz="1200" dirty="0">
                <a:solidFill>
                  <a:srgbClr val="B83B2E"/>
                </a:solidFill>
              </a:rPr>
              <a:t>Transport</a:t>
            </a:r>
            <a:endParaRPr lang="en-US" sz="1200" dirty="0"/>
          </a:p>
        </p:txBody>
      </p:sp>
      <p:sp>
        <p:nvSpPr>
          <p:cNvPr id="38" name="Division tile 08"/>
          <p:cNvSpPr/>
          <p:nvPr/>
        </p:nvSpPr>
        <p:spPr>
          <a:xfrm>
            <a:off x="3429000" y="3108960"/>
            <a:ext cx="1325880" cy="1234440"/>
          </a:xfrm>
          <a:prstGeom prst="roundRect">
            <a:avLst>
              <a:gd name="adj" fmla="val 5926"/>
            </a:avLst>
          </a:prstGeom>
          <a:solidFill>
            <a:srgbClr val="00553A"/>
          </a:solidFill>
          <a:ln/>
        </p:spPr>
      </p:sp>
      <p:sp>
        <p:nvSpPr>
          <p:cNvPr id="39" name="Text 37"/>
          <p:cNvSpPr txBox="1"/>
          <p:nvPr/>
        </p:nvSpPr>
        <p:spPr>
          <a:xfrm>
            <a:off x="353872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08</a:t>
            </a:r>
            <a:endParaRPr lang="en-US" sz="2000" dirty="0"/>
          </a:p>
        </p:txBody>
      </p:sp>
      <p:sp>
        <p:nvSpPr>
          <p:cNvPr id="40" name="Text 38"/>
          <p:cNvSpPr txBox="1"/>
          <p:nvPr/>
        </p:nvSpPr>
        <p:spPr>
          <a:xfrm>
            <a:off x="397764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7.5%</a:t>
            </a:r>
            <a:endParaRPr lang="en-US" sz="1100" dirty="0"/>
          </a:p>
        </p:txBody>
      </p:sp>
      <p:sp>
        <p:nvSpPr>
          <p:cNvPr id="41" name="Text 39"/>
          <p:cNvSpPr txBox="1"/>
          <p:nvPr/>
        </p:nvSpPr>
        <p:spPr>
          <a:xfrm>
            <a:off x="353872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Information, comm.</a:t>
            </a:r>
            <a:endParaRPr lang="en-US" sz="1200" dirty="0"/>
          </a:p>
        </p:txBody>
      </p:sp>
      <p:sp>
        <p:nvSpPr>
          <p:cNvPr id="42" name="Division tile 09"/>
          <p:cNvSpPr/>
          <p:nvPr/>
        </p:nvSpPr>
        <p:spPr>
          <a:xfrm>
            <a:off x="4892040" y="3108960"/>
            <a:ext cx="1325880" cy="1234440"/>
          </a:xfrm>
          <a:prstGeom prst="roundRect">
            <a:avLst>
              <a:gd name="adj" fmla="val 5926"/>
            </a:avLst>
          </a:prstGeom>
          <a:solidFill>
            <a:srgbClr val="00A86A"/>
          </a:solidFill>
          <a:ln/>
        </p:spPr>
      </p:sp>
      <p:sp>
        <p:nvSpPr>
          <p:cNvPr id="43" name="Text 41"/>
          <p:cNvSpPr txBox="1"/>
          <p:nvPr/>
        </p:nvSpPr>
        <p:spPr>
          <a:xfrm>
            <a:off x="500176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09</a:t>
            </a:r>
            <a:endParaRPr lang="en-US" sz="2000" dirty="0"/>
          </a:p>
        </p:txBody>
      </p:sp>
      <p:sp>
        <p:nvSpPr>
          <p:cNvPr id="44" name="Text 42"/>
          <p:cNvSpPr txBox="1"/>
          <p:nvPr/>
        </p:nvSpPr>
        <p:spPr>
          <a:xfrm>
            <a:off x="544068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1.0%</a:t>
            </a:r>
            <a:endParaRPr lang="en-US" sz="1100" dirty="0"/>
          </a:p>
        </p:txBody>
      </p:sp>
      <p:sp>
        <p:nvSpPr>
          <p:cNvPr id="45" name="Text 43"/>
          <p:cNvSpPr txBox="1"/>
          <p:nvPr/>
        </p:nvSpPr>
        <p:spPr>
          <a:xfrm>
            <a:off x="500176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Recreation, culture</a:t>
            </a:r>
            <a:endParaRPr lang="en-US" sz="1200" dirty="0"/>
          </a:p>
        </p:txBody>
      </p:sp>
      <p:sp>
        <p:nvSpPr>
          <p:cNvPr id="46" name="Division tile 10"/>
          <p:cNvSpPr/>
          <p:nvPr/>
        </p:nvSpPr>
        <p:spPr>
          <a:xfrm>
            <a:off x="6355080" y="3108960"/>
            <a:ext cx="1325880" cy="1234440"/>
          </a:xfrm>
          <a:prstGeom prst="roundRect">
            <a:avLst>
              <a:gd name="adj" fmla="val 5926"/>
            </a:avLst>
          </a:prstGeom>
          <a:solidFill>
            <a:srgbClr val="F6DEDA"/>
          </a:solidFill>
          <a:ln/>
        </p:spPr>
      </p:sp>
      <p:sp>
        <p:nvSpPr>
          <p:cNvPr id="47" name="Text 45"/>
          <p:cNvSpPr txBox="1"/>
          <p:nvPr/>
        </p:nvSpPr>
        <p:spPr>
          <a:xfrm>
            <a:off x="6464808" y="31821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10</a:t>
            </a:r>
            <a:endParaRPr lang="en-US" sz="2000" dirty="0"/>
          </a:p>
        </p:txBody>
      </p:sp>
      <p:sp>
        <p:nvSpPr>
          <p:cNvPr id="48" name="Text 46"/>
          <p:cNvSpPr txBox="1"/>
          <p:nvPr/>
        </p:nvSpPr>
        <p:spPr>
          <a:xfrm>
            <a:off x="6903720" y="32004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1.8%</a:t>
            </a:r>
            <a:endParaRPr lang="en-US" sz="1100" dirty="0"/>
          </a:p>
        </p:txBody>
      </p:sp>
      <p:sp>
        <p:nvSpPr>
          <p:cNvPr id="49" name="Text 47"/>
          <p:cNvSpPr txBox="1"/>
          <p:nvPr/>
        </p:nvSpPr>
        <p:spPr>
          <a:xfrm>
            <a:off x="6464808" y="3657600"/>
            <a:ext cx="1143000" cy="594360"/>
          </a:xfrm>
          <a:prstGeom prst="rect">
            <a:avLst/>
          </a:prstGeom>
          <a:noFill/>
          <a:ln/>
        </p:spPr>
        <p:txBody>
          <a:bodyPr wrap="square" lIns="0" tIns="0" rIns="0" bIns="0" rtlCol="0" anchor="t"/>
          <a:lstStyle/>
          <a:p>
            <a:pPr marL="0" indent="0">
              <a:buNone/>
            </a:pPr>
            <a:r>
              <a:rPr lang="en-US" sz="1200" dirty="0">
                <a:solidFill>
                  <a:srgbClr val="B83B2E"/>
                </a:solidFill>
              </a:rPr>
              <a:t>Education</a:t>
            </a:r>
            <a:endParaRPr lang="en-US" sz="1200" dirty="0"/>
          </a:p>
        </p:txBody>
      </p:sp>
      <p:sp>
        <p:nvSpPr>
          <p:cNvPr id="50" name="Division tile 11"/>
          <p:cNvSpPr/>
          <p:nvPr/>
        </p:nvSpPr>
        <p:spPr>
          <a:xfrm>
            <a:off x="502920" y="4480560"/>
            <a:ext cx="1325880" cy="1234440"/>
          </a:xfrm>
          <a:prstGeom prst="roundRect">
            <a:avLst>
              <a:gd name="adj" fmla="val 5926"/>
            </a:avLst>
          </a:prstGeom>
          <a:solidFill>
            <a:srgbClr val="F6DEDA"/>
          </a:solidFill>
          <a:ln/>
        </p:spPr>
      </p:sp>
      <p:sp>
        <p:nvSpPr>
          <p:cNvPr id="51" name="Text 49"/>
          <p:cNvSpPr txBox="1"/>
          <p:nvPr/>
        </p:nvSpPr>
        <p:spPr>
          <a:xfrm>
            <a:off x="612648" y="45537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11</a:t>
            </a:r>
            <a:endParaRPr lang="en-US" sz="2000" dirty="0"/>
          </a:p>
        </p:txBody>
      </p:sp>
      <p:sp>
        <p:nvSpPr>
          <p:cNvPr id="52" name="Text 50"/>
          <p:cNvSpPr txBox="1"/>
          <p:nvPr/>
        </p:nvSpPr>
        <p:spPr>
          <a:xfrm>
            <a:off x="1051560" y="45720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9.2%</a:t>
            </a:r>
            <a:endParaRPr lang="en-US" sz="1100" dirty="0"/>
          </a:p>
        </p:txBody>
      </p:sp>
      <p:sp>
        <p:nvSpPr>
          <p:cNvPr id="53" name="Text 51"/>
          <p:cNvSpPr txBox="1"/>
          <p:nvPr/>
        </p:nvSpPr>
        <p:spPr>
          <a:xfrm>
            <a:off x="612648" y="5029200"/>
            <a:ext cx="1143000" cy="594360"/>
          </a:xfrm>
          <a:prstGeom prst="rect">
            <a:avLst/>
          </a:prstGeom>
          <a:noFill/>
          <a:ln/>
        </p:spPr>
        <p:txBody>
          <a:bodyPr wrap="square" lIns="0" tIns="0" rIns="0" bIns="0" rtlCol="0" anchor="t"/>
          <a:lstStyle/>
          <a:p>
            <a:pPr marL="0" indent="0">
              <a:buNone/>
            </a:pPr>
            <a:r>
              <a:rPr lang="en-US" sz="1200" dirty="0">
                <a:solidFill>
                  <a:srgbClr val="B83B2E"/>
                </a:solidFill>
              </a:rPr>
              <a:t>Restaurants</a:t>
            </a:r>
            <a:endParaRPr lang="en-US" sz="1200" dirty="0"/>
          </a:p>
        </p:txBody>
      </p:sp>
      <p:sp>
        <p:nvSpPr>
          <p:cNvPr id="54" name="Division tile 12"/>
          <p:cNvSpPr/>
          <p:nvPr/>
        </p:nvSpPr>
        <p:spPr>
          <a:xfrm>
            <a:off x="1965960" y="4480560"/>
            <a:ext cx="1325880" cy="1234440"/>
          </a:xfrm>
          <a:prstGeom prst="roundRect">
            <a:avLst>
              <a:gd name="adj" fmla="val 5926"/>
            </a:avLst>
          </a:prstGeom>
          <a:solidFill>
            <a:srgbClr val="F6DEDA"/>
          </a:solidFill>
          <a:ln/>
        </p:spPr>
      </p:sp>
      <p:sp>
        <p:nvSpPr>
          <p:cNvPr id="55" name="Text 53"/>
          <p:cNvSpPr txBox="1"/>
          <p:nvPr/>
        </p:nvSpPr>
        <p:spPr>
          <a:xfrm>
            <a:off x="2075688" y="45537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12</a:t>
            </a:r>
            <a:endParaRPr lang="en-US" sz="2000" dirty="0"/>
          </a:p>
        </p:txBody>
      </p:sp>
      <p:sp>
        <p:nvSpPr>
          <p:cNvPr id="56" name="Text 54"/>
          <p:cNvSpPr txBox="1"/>
          <p:nvPr/>
        </p:nvSpPr>
        <p:spPr>
          <a:xfrm>
            <a:off x="2514600" y="45720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0.1%</a:t>
            </a:r>
            <a:endParaRPr lang="en-US" sz="1100" dirty="0"/>
          </a:p>
        </p:txBody>
      </p:sp>
      <p:sp>
        <p:nvSpPr>
          <p:cNvPr id="57" name="Text 55"/>
          <p:cNvSpPr txBox="1"/>
          <p:nvPr/>
        </p:nvSpPr>
        <p:spPr>
          <a:xfrm>
            <a:off x="2075688" y="5029200"/>
            <a:ext cx="1143000" cy="594360"/>
          </a:xfrm>
          <a:prstGeom prst="rect">
            <a:avLst/>
          </a:prstGeom>
          <a:noFill/>
          <a:ln/>
        </p:spPr>
        <p:txBody>
          <a:bodyPr wrap="square" lIns="0" tIns="0" rIns="0" bIns="0" rtlCol="0" anchor="t"/>
          <a:lstStyle/>
          <a:p>
            <a:pPr marL="0" indent="0">
              <a:buNone/>
            </a:pPr>
            <a:r>
              <a:rPr lang="en-US" sz="1200" dirty="0">
                <a:solidFill>
                  <a:srgbClr val="B83B2E"/>
                </a:solidFill>
              </a:rPr>
              <a:t>Insurance</a:t>
            </a:r>
            <a:endParaRPr lang="en-US" sz="1200" dirty="0"/>
          </a:p>
        </p:txBody>
      </p:sp>
      <p:sp>
        <p:nvSpPr>
          <p:cNvPr id="58" name="Division tile 13"/>
          <p:cNvSpPr/>
          <p:nvPr/>
        </p:nvSpPr>
        <p:spPr>
          <a:xfrm>
            <a:off x="3429000" y="4480560"/>
            <a:ext cx="1325880" cy="1234440"/>
          </a:xfrm>
          <a:prstGeom prst="roundRect">
            <a:avLst>
              <a:gd name="adj" fmla="val 5926"/>
            </a:avLst>
          </a:prstGeom>
          <a:solidFill>
            <a:srgbClr val="00A86A"/>
          </a:solidFill>
          <a:ln/>
        </p:spPr>
      </p:sp>
      <p:sp>
        <p:nvSpPr>
          <p:cNvPr id="59" name="Text 57"/>
          <p:cNvSpPr txBox="1"/>
          <p:nvPr/>
        </p:nvSpPr>
        <p:spPr>
          <a:xfrm>
            <a:off x="3538728" y="45537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13</a:t>
            </a:r>
            <a:endParaRPr lang="en-US" sz="2000" dirty="0"/>
          </a:p>
        </p:txBody>
      </p:sp>
      <p:sp>
        <p:nvSpPr>
          <p:cNvPr id="60" name="Text 58"/>
          <p:cNvSpPr txBox="1"/>
          <p:nvPr/>
        </p:nvSpPr>
        <p:spPr>
          <a:xfrm>
            <a:off x="3977640" y="45720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4.9%</a:t>
            </a:r>
            <a:endParaRPr lang="en-US" sz="1100" dirty="0"/>
          </a:p>
        </p:txBody>
      </p:sp>
      <p:sp>
        <p:nvSpPr>
          <p:cNvPr id="61" name="Text 59"/>
          <p:cNvSpPr txBox="1"/>
          <p:nvPr/>
        </p:nvSpPr>
        <p:spPr>
          <a:xfrm>
            <a:off x="3538728" y="5029200"/>
            <a:ext cx="1143000" cy="594360"/>
          </a:xfrm>
          <a:prstGeom prst="rect">
            <a:avLst/>
          </a:prstGeom>
          <a:noFill/>
          <a:ln/>
        </p:spPr>
        <p:txBody>
          <a:bodyPr wrap="square" lIns="0" tIns="0" rIns="0" bIns="0" rtlCol="0" anchor="t"/>
          <a:lstStyle/>
          <a:p>
            <a:pPr marL="0" indent="0">
              <a:buNone/>
            </a:pPr>
            <a:r>
              <a:rPr lang="en-US" sz="1200" dirty="0">
                <a:solidFill>
                  <a:srgbClr val="FFFFFF"/>
                </a:solidFill>
              </a:rPr>
              <a:t>Personal care, misc.</a:t>
            </a:r>
            <a:endParaRPr lang="en-US" sz="1200" dirty="0"/>
          </a:p>
        </p:txBody>
      </p:sp>
      <p:sp>
        <p:nvSpPr>
          <p:cNvPr id="62" name="Legend E-commerce and institutions"/>
          <p:cNvSpPr/>
          <p:nvPr/>
        </p:nvSpPr>
        <p:spPr>
          <a:xfrm>
            <a:off x="502920" y="5961888"/>
            <a:ext cx="182880" cy="182880"/>
          </a:xfrm>
          <a:prstGeom prst="roundRect">
            <a:avLst>
              <a:gd name="adj" fmla="val 15000"/>
            </a:avLst>
          </a:prstGeom>
          <a:solidFill>
            <a:srgbClr val="00553A"/>
          </a:solidFill>
          <a:ln/>
        </p:spPr>
      </p:sp>
      <p:sp>
        <p:nvSpPr>
          <p:cNvPr id="63" name="Text 61"/>
          <p:cNvSpPr txBox="1"/>
          <p:nvPr/>
        </p:nvSpPr>
        <p:spPr>
          <a:xfrm>
            <a:off x="74980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E-commerce and institutions</a:t>
            </a:r>
            <a:endParaRPr lang="en-US" sz="1000" dirty="0"/>
          </a:p>
        </p:txBody>
      </p:sp>
      <p:sp>
        <p:nvSpPr>
          <p:cNvPr id="64" name="Legend E-commerce (Jumia)"/>
          <p:cNvSpPr/>
          <p:nvPr/>
        </p:nvSpPr>
        <p:spPr>
          <a:xfrm>
            <a:off x="1965960" y="5961888"/>
            <a:ext cx="182880" cy="182880"/>
          </a:xfrm>
          <a:prstGeom prst="roundRect">
            <a:avLst>
              <a:gd name="adj" fmla="val 15000"/>
            </a:avLst>
          </a:prstGeom>
          <a:solidFill>
            <a:srgbClr val="00A86A"/>
          </a:solidFill>
          <a:ln/>
        </p:spPr>
      </p:sp>
      <p:sp>
        <p:nvSpPr>
          <p:cNvPr id="65" name="Text 63"/>
          <p:cNvSpPr txBox="1"/>
          <p:nvPr/>
        </p:nvSpPr>
        <p:spPr>
          <a:xfrm>
            <a:off x="221284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E-commerce (Jumia)</a:t>
            </a:r>
            <a:endParaRPr lang="en-US" sz="1000" dirty="0"/>
          </a:p>
        </p:txBody>
      </p:sp>
      <p:sp>
        <p:nvSpPr>
          <p:cNvPr id="66" name="Legend Institutions"/>
          <p:cNvSpPr/>
          <p:nvPr/>
        </p:nvSpPr>
        <p:spPr>
          <a:xfrm>
            <a:off x="3429000" y="5961888"/>
            <a:ext cx="182880" cy="182880"/>
          </a:xfrm>
          <a:prstGeom prst="roundRect">
            <a:avLst>
              <a:gd name="adj" fmla="val 15000"/>
            </a:avLst>
          </a:prstGeom>
          <a:solidFill>
            <a:srgbClr val="0E7C86"/>
          </a:solidFill>
          <a:ln/>
        </p:spPr>
      </p:sp>
      <p:sp>
        <p:nvSpPr>
          <p:cNvPr id="67" name="Text 65"/>
          <p:cNvSpPr txBox="1"/>
          <p:nvPr/>
        </p:nvSpPr>
        <p:spPr>
          <a:xfrm>
            <a:off x="367588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Institutions</a:t>
            </a:r>
            <a:endParaRPr lang="en-US" sz="1000" dirty="0"/>
          </a:p>
        </p:txBody>
      </p:sp>
      <p:sp>
        <p:nvSpPr>
          <p:cNvPr id="68" name="Legend Only a few products"/>
          <p:cNvSpPr/>
          <p:nvPr/>
        </p:nvSpPr>
        <p:spPr>
          <a:xfrm>
            <a:off x="4892040" y="5961888"/>
            <a:ext cx="182880" cy="182880"/>
          </a:xfrm>
          <a:prstGeom prst="roundRect">
            <a:avLst>
              <a:gd name="adj" fmla="val 15000"/>
            </a:avLst>
          </a:prstGeom>
          <a:solidFill>
            <a:srgbClr val="A9B5B0"/>
          </a:solidFill>
          <a:ln/>
        </p:spPr>
      </p:sp>
      <p:sp>
        <p:nvSpPr>
          <p:cNvPr id="69" name="Text 67"/>
          <p:cNvSpPr txBox="1"/>
          <p:nvPr/>
        </p:nvSpPr>
        <p:spPr>
          <a:xfrm>
            <a:off x="513892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Only a few products</a:t>
            </a:r>
            <a:endParaRPr lang="en-US" sz="1000" dirty="0"/>
          </a:p>
        </p:txBody>
      </p:sp>
      <p:sp>
        <p:nvSpPr>
          <p:cNvPr id="70" name="Legend Out of reach"/>
          <p:cNvSpPr/>
          <p:nvPr/>
        </p:nvSpPr>
        <p:spPr>
          <a:xfrm>
            <a:off x="6355080" y="5961888"/>
            <a:ext cx="182880" cy="182880"/>
          </a:xfrm>
          <a:prstGeom prst="roundRect">
            <a:avLst>
              <a:gd name="adj" fmla="val 15000"/>
            </a:avLst>
          </a:prstGeom>
          <a:solidFill>
            <a:srgbClr val="F6DEDA"/>
          </a:solidFill>
          <a:ln/>
        </p:spPr>
      </p:sp>
      <p:sp>
        <p:nvSpPr>
          <p:cNvPr id="71" name="Text 69"/>
          <p:cNvSpPr txBox="1"/>
          <p:nvPr/>
        </p:nvSpPr>
        <p:spPr>
          <a:xfrm>
            <a:off x="660196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Out of reach</a:t>
            </a:r>
            <a:endParaRPr lang="en-US" sz="1000" dirty="0"/>
          </a:p>
        </p:txBody>
      </p:sp>
      <p:sp>
        <p:nvSpPr>
          <p:cNvPr id="72" name="Text 70"/>
          <p:cNvSpPr txBox="1"/>
          <p:nvPr/>
        </p:nvSpPr>
        <p:spPr>
          <a:xfrm>
            <a:off x="8001000" y="1783080"/>
            <a:ext cx="1508760" cy="1005840"/>
          </a:xfrm>
          <a:prstGeom prst="rect">
            <a:avLst/>
          </a:prstGeom>
          <a:noFill/>
          <a:ln/>
        </p:spPr>
        <p:txBody>
          <a:bodyPr wrap="square" lIns="0" tIns="0" rIns="0" bIns="0" rtlCol="0" anchor="ctr"/>
          <a:lstStyle/>
          <a:p>
            <a:pPr marL="0" indent="0">
              <a:buNone/>
            </a:pPr>
            <a:r>
              <a:rPr lang="en-US" sz="3800" b="1" dirty="0">
                <a:solidFill>
                  <a:srgbClr val="00A86A"/>
                </a:solidFill>
              </a:rPr>
              <a:t>78%</a:t>
            </a:r>
            <a:endParaRPr lang="en-US" sz="3800" dirty="0"/>
          </a:p>
        </p:txBody>
      </p:sp>
      <p:sp>
        <p:nvSpPr>
          <p:cNvPr id="73" name="Text 71"/>
          <p:cNvSpPr txBox="1"/>
          <p:nvPr/>
        </p:nvSpPr>
        <p:spPr>
          <a:xfrm>
            <a:off x="9509760" y="17830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of the basket weight reached by the 7 covered divisions</a:t>
            </a:r>
            <a:endParaRPr lang="en-US" sz="1300" dirty="0"/>
          </a:p>
        </p:txBody>
      </p:sp>
      <p:sp>
        <p:nvSpPr>
          <p:cNvPr id="74" name="Text 72"/>
          <p:cNvSpPr txBox="1"/>
          <p:nvPr/>
        </p:nvSpPr>
        <p:spPr>
          <a:xfrm>
            <a:off x="8001000" y="3154680"/>
            <a:ext cx="1508760" cy="1005840"/>
          </a:xfrm>
          <a:prstGeom prst="rect">
            <a:avLst/>
          </a:prstGeom>
          <a:noFill/>
          <a:ln/>
        </p:spPr>
        <p:txBody>
          <a:bodyPr wrap="square" lIns="0" tIns="0" rIns="0" bIns="0" rtlCol="0" anchor="ctr"/>
          <a:lstStyle/>
          <a:p>
            <a:pPr marL="0" indent="0">
              <a:buNone/>
            </a:pPr>
            <a:r>
              <a:rPr lang="en-US" sz="3800" b="1" dirty="0">
                <a:solidFill>
                  <a:srgbClr val="B83B2E"/>
                </a:solidFill>
              </a:rPr>
              <a:t>17%</a:t>
            </a:r>
            <a:endParaRPr lang="en-US" sz="3800" dirty="0"/>
          </a:p>
        </p:txBody>
      </p:sp>
      <p:sp>
        <p:nvSpPr>
          <p:cNvPr id="75" name="Text 73"/>
          <p:cNvSpPr txBox="1"/>
          <p:nvPr/>
        </p:nvSpPr>
        <p:spPr>
          <a:xfrm>
            <a:off x="9509760" y="31546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in 4 divisions out of reach: transport, education, restaurants, insurance</a:t>
            </a:r>
            <a:endParaRPr lang="en-US" sz="1300" dirty="0"/>
          </a:p>
        </p:txBody>
      </p:sp>
      <p:sp>
        <p:nvSpPr>
          <p:cNvPr id="76" name="Text 74"/>
          <p:cNvSpPr txBox="1"/>
          <p:nvPr/>
        </p:nvSpPr>
        <p:spPr>
          <a:xfrm>
            <a:off x="8001000" y="4526280"/>
            <a:ext cx="1508760" cy="1005840"/>
          </a:xfrm>
          <a:prstGeom prst="rect">
            <a:avLst/>
          </a:prstGeom>
          <a:noFill/>
          <a:ln/>
        </p:spPr>
        <p:txBody>
          <a:bodyPr wrap="square" lIns="0" tIns="0" rIns="0" bIns="0" rtlCol="0" anchor="ctr"/>
          <a:lstStyle/>
          <a:p>
            <a:pPr marL="0" indent="0">
              <a:buNone/>
            </a:pPr>
            <a:r>
              <a:rPr lang="en-US" sz="3800" b="1" dirty="0">
                <a:solidFill>
                  <a:srgbClr val="A9B5B0"/>
                </a:solidFill>
              </a:rPr>
              <a:t>4%</a:t>
            </a:r>
            <a:endParaRPr lang="en-US" sz="3800" dirty="0"/>
          </a:p>
        </p:txBody>
      </p:sp>
      <p:sp>
        <p:nvSpPr>
          <p:cNvPr id="77" name="Text 75"/>
          <p:cNvSpPr txBox="1"/>
          <p:nvPr/>
        </p:nvSpPr>
        <p:spPr>
          <a:xfrm>
            <a:off x="9509760" y="45262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in 2 divisions barely touched: alcohol-tobacco and health</a:t>
            </a:r>
            <a:endParaRPr lang="en-US" sz="1300" dirty="0"/>
          </a:p>
        </p:txBody>
      </p:sp>
      <p:sp>
        <p:nvSpPr>
          <p:cNvPr id="78"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First collection: 10,523 price quotes in one day</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Côte d'Ivoire, 14 October 2026: distinct products by COICOP division after classification</a:t>
            </a:r>
            <a:endParaRPr lang="en-US" sz="1500" dirty="0"/>
          </a:p>
        </p:txBody>
      </p:sp>
      <p:sp>
        <p:nvSpPr>
          <p:cNvPr id="10" name="Products chart frame"/>
          <p:cNvSpPr/>
          <p:nvPr/>
        </p:nvSpPr>
        <p:spPr>
          <a:xfrm>
            <a:off x="502920" y="1691640"/>
            <a:ext cx="6766560" cy="4343400"/>
          </a:xfrm>
          <a:prstGeom prst="roundRect">
            <a:avLst>
              <a:gd name="adj" fmla="val 1684"/>
            </a:avLst>
          </a:prstGeom>
          <a:solidFill>
            <a:srgbClr val="F4F7F5"/>
          </a:solidFill>
          <a:ln w="9525">
            <a:solidFill>
              <a:srgbClr val="D5DED9"/>
            </a:solidFill>
            <a:prstDash val="solid"/>
          </a:ln>
        </p:spPr>
      </p:sp>
      <p:graphicFrame>
        <p:nvGraphicFramePr>
          <p:cNvPr id="11" name="Products by division chart"/>
          <p:cNvGraphicFramePr/>
          <p:nvPr/>
        </p:nvGraphicFramePr>
        <p:xfrm>
          <a:off x="594360" y="1783080"/>
          <a:ext cx="65836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7589520" y="1783080"/>
            <a:ext cx="1828800" cy="822960"/>
          </a:xfrm>
          <a:prstGeom prst="rect">
            <a:avLst/>
          </a:prstGeom>
          <a:noFill/>
          <a:ln/>
        </p:spPr>
        <p:txBody>
          <a:bodyPr wrap="square" lIns="0" tIns="0" rIns="0" bIns="0" rtlCol="0" anchor="ctr"/>
          <a:lstStyle/>
          <a:p>
            <a:pPr marL="0" indent="0">
              <a:buNone/>
            </a:pPr>
            <a:r>
              <a:rPr lang="en-US" sz="3000" b="1" dirty="0">
                <a:solidFill>
                  <a:srgbClr val="00A86A"/>
                </a:solidFill>
              </a:rPr>
              <a:t>7,759</a:t>
            </a:r>
            <a:endParaRPr lang="en-US" sz="3000" dirty="0"/>
          </a:p>
        </p:txBody>
      </p:sp>
      <p:sp>
        <p:nvSpPr>
          <p:cNvPr id="13" name="Text 10"/>
          <p:cNvSpPr txBox="1"/>
          <p:nvPr/>
        </p:nvSpPr>
        <p:spPr>
          <a:xfrm>
            <a:off x="9418320" y="1783080"/>
            <a:ext cx="2240280" cy="822960"/>
          </a:xfrm>
          <a:prstGeom prst="rect">
            <a:avLst/>
          </a:prstGeom>
          <a:noFill/>
          <a:ln/>
        </p:spPr>
        <p:txBody>
          <a:bodyPr wrap="square" lIns="0" tIns="0" rIns="0" bIns="0" rtlCol="0" anchor="ctr"/>
          <a:lstStyle/>
          <a:p>
            <a:pPr marL="0" indent="0">
              <a:buNone/>
            </a:pPr>
            <a:r>
              <a:rPr lang="en-US" sz="1300" dirty="0">
                <a:solidFill>
                  <a:srgbClr val="5E6964"/>
                </a:solidFill>
              </a:rPr>
              <a:t>Jumia quotes (notebook 1)</a:t>
            </a:r>
            <a:endParaRPr lang="en-US" sz="1300" dirty="0"/>
          </a:p>
        </p:txBody>
      </p:sp>
      <p:sp>
        <p:nvSpPr>
          <p:cNvPr id="14" name="Text 11"/>
          <p:cNvSpPr txBox="1"/>
          <p:nvPr/>
        </p:nvSpPr>
        <p:spPr>
          <a:xfrm>
            <a:off x="7589520" y="2834640"/>
            <a:ext cx="1828800" cy="822960"/>
          </a:xfrm>
          <a:prstGeom prst="rect">
            <a:avLst/>
          </a:prstGeom>
          <a:noFill/>
          <a:ln/>
        </p:spPr>
        <p:txBody>
          <a:bodyPr wrap="square" lIns="0" tIns="0" rIns="0" bIns="0" rtlCol="0" anchor="ctr"/>
          <a:lstStyle/>
          <a:p>
            <a:pPr marL="0" indent="0">
              <a:buNone/>
            </a:pPr>
            <a:r>
              <a:rPr lang="en-US" sz="3000" b="1" dirty="0">
                <a:solidFill>
                  <a:srgbClr val="0E7C86"/>
                </a:solidFill>
              </a:rPr>
              <a:t>2,764</a:t>
            </a:r>
            <a:endParaRPr lang="en-US" sz="3000" dirty="0"/>
          </a:p>
        </p:txBody>
      </p:sp>
      <p:sp>
        <p:nvSpPr>
          <p:cNvPr id="15" name="Text 12"/>
          <p:cNvSpPr txBox="1"/>
          <p:nvPr/>
        </p:nvSpPr>
        <p:spPr>
          <a:xfrm>
            <a:off x="9418320" y="2834640"/>
            <a:ext cx="2240280" cy="822960"/>
          </a:xfrm>
          <a:prstGeom prst="rect">
            <a:avLst/>
          </a:prstGeom>
          <a:noFill/>
          <a:ln/>
        </p:spPr>
        <p:txBody>
          <a:bodyPr wrap="square" lIns="0" tIns="0" rIns="0" bIns="0" rtlCol="0" anchor="ctr"/>
          <a:lstStyle/>
          <a:p>
            <a:pPr marL="0" indent="0">
              <a:buNone/>
            </a:pPr>
            <a:r>
              <a:rPr lang="en-US" sz="1300" dirty="0">
                <a:solidFill>
                  <a:srgbClr val="5E6964"/>
                </a:solidFill>
              </a:rPr>
              <a:t>institutional quotes: OCPV, Sikafinance, tariffs (notebook 2)</a:t>
            </a:r>
            <a:endParaRPr lang="en-US" sz="1300" dirty="0"/>
          </a:p>
        </p:txBody>
      </p:sp>
      <p:sp>
        <p:nvSpPr>
          <p:cNvPr id="16" name="Text 13"/>
          <p:cNvSpPr txBox="1"/>
          <p:nvPr/>
        </p:nvSpPr>
        <p:spPr>
          <a:xfrm>
            <a:off x="7589520" y="3886200"/>
            <a:ext cx="1828800" cy="822960"/>
          </a:xfrm>
          <a:prstGeom prst="rect">
            <a:avLst/>
          </a:prstGeom>
          <a:noFill/>
          <a:ln/>
        </p:spPr>
        <p:txBody>
          <a:bodyPr wrap="square" lIns="0" tIns="0" rIns="0" bIns="0" rtlCol="0" anchor="ctr"/>
          <a:lstStyle/>
          <a:p>
            <a:pPr marL="0" indent="0">
              <a:buNone/>
            </a:pPr>
            <a:r>
              <a:rPr lang="en-US" sz="3000" b="1" dirty="0">
                <a:solidFill>
                  <a:srgbClr val="D49A00"/>
                </a:solidFill>
              </a:rPr>
              <a:t>15</a:t>
            </a:r>
            <a:endParaRPr lang="en-US" sz="3000" dirty="0"/>
          </a:p>
        </p:txBody>
      </p:sp>
      <p:sp>
        <p:nvSpPr>
          <p:cNvPr id="17" name="Text 14"/>
          <p:cNvSpPr txBox="1"/>
          <p:nvPr/>
        </p:nvSpPr>
        <p:spPr>
          <a:xfrm>
            <a:off x="9418320" y="3886200"/>
            <a:ext cx="2240280" cy="822960"/>
          </a:xfrm>
          <a:prstGeom prst="rect">
            <a:avLst/>
          </a:prstGeom>
          <a:noFill/>
          <a:ln/>
        </p:spPr>
        <p:txBody>
          <a:bodyPr wrap="square" lIns="0" tIns="0" rIns="0" bIns="0" rtlCol="0" anchor="ctr"/>
          <a:lstStyle/>
          <a:p>
            <a:pPr marL="0" indent="0">
              <a:buNone/>
            </a:pPr>
            <a:r>
              <a:rPr lang="en-US" sz="1300" dirty="0">
                <a:solidFill>
                  <a:srgbClr val="5E6964"/>
                </a:solidFill>
              </a:rPr>
              <a:t>duplicates detected and removed when merging</a:t>
            </a:r>
            <a:endParaRPr lang="en-US" sz="1300" dirty="0"/>
          </a:p>
        </p:txBody>
      </p:sp>
      <p:sp>
        <p:nvSpPr>
          <p:cNvPr id="18" name="Text 15"/>
          <p:cNvSpPr txBox="1"/>
          <p:nvPr/>
        </p:nvSpPr>
        <p:spPr>
          <a:xfrm>
            <a:off x="7589520" y="4937760"/>
            <a:ext cx="1828800" cy="822960"/>
          </a:xfrm>
          <a:prstGeom prst="rect">
            <a:avLst/>
          </a:prstGeom>
          <a:noFill/>
          <a:ln/>
        </p:spPr>
        <p:txBody>
          <a:bodyPr wrap="square" lIns="0" tIns="0" rIns="0" bIns="0" rtlCol="0" anchor="ctr"/>
          <a:lstStyle/>
          <a:p>
            <a:pPr marL="0" indent="0">
              <a:buNone/>
            </a:pPr>
            <a:r>
              <a:rPr lang="en-US" sz="3000" b="1" dirty="0">
                <a:solidFill>
                  <a:srgbClr val="00704A"/>
                </a:solidFill>
              </a:rPr>
              <a:t>100%</a:t>
            </a:r>
            <a:endParaRPr lang="en-US" sz="3000" dirty="0"/>
          </a:p>
        </p:txBody>
      </p:sp>
      <p:sp>
        <p:nvSpPr>
          <p:cNvPr id="19" name="Text 16"/>
          <p:cNvSpPr txBox="1"/>
          <p:nvPr/>
        </p:nvSpPr>
        <p:spPr>
          <a:xfrm>
            <a:off x="9418320" y="4937760"/>
            <a:ext cx="2240280" cy="822960"/>
          </a:xfrm>
          <a:prstGeom prst="rect">
            <a:avLst/>
          </a:prstGeom>
          <a:noFill/>
          <a:ln/>
        </p:spPr>
        <p:txBody>
          <a:bodyPr wrap="square" lIns="0" tIns="0" rIns="0" bIns="0" rtlCol="0" anchor="ctr"/>
          <a:lstStyle/>
          <a:p>
            <a:pPr marL="0" indent="0">
              <a:buNone/>
            </a:pPr>
            <a:r>
              <a:rPr lang="en-US" sz="1300" dirty="0">
                <a:solidFill>
                  <a:srgbClr val="5E6964"/>
                </a:solidFill>
              </a:rPr>
              <a:t>of the 10,508 products assigned to a COICOP class</a:t>
            </a:r>
            <a:endParaRPr lang="en-US" sz="1300" dirty="0"/>
          </a:p>
        </p:txBody>
      </p:sp>
      <p:sp>
        <p:nvSpPr>
          <p:cNvPr id="20" name="Text 17"/>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notebook 3 run (jumia-cpi 1.0.0), archives panel_CI_2026-10-14_1331.zip and officiel_CI_2026-10-14_1418.zip.</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Classifying by COICOP: rules, model and benchmark</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 method is not chosen in advance: it is measured on a set whose correct answer is known</a:t>
            </a:r>
            <a:endParaRPr lang="en-US" sz="1500" dirty="0"/>
          </a:p>
        </p:txBody>
      </p:sp>
      <p:sp>
        <p:nvSpPr>
          <p:cNvPr id="10" name="Classification sources chart frame"/>
          <p:cNvSpPr/>
          <p:nvPr/>
        </p:nvSpPr>
        <p:spPr>
          <a:xfrm>
            <a:off x="502920" y="1691640"/>
            <a:ext cx="4114800" cy="2743200"/>
          </a:xfrm>
          <a:prstGeom prst="roundRect">
            <a:avLst>
              <a:gd name="adj" fmla="val 2667"/>
            </a:avLst>
          </a:prstGeom>
          <a:solidFill>
            <a:srgbClr val="F4F7F5"/>
          </a:solidFill>
          <a:ln w="9525">
            <a:solidFill>
              <a:srgbClr val="D5DED9"/>
            </a:solidFill>
            <a:prstDash val="solid"/>
          </a:ln>
        </p:spPr>
      </p:sp>
      <p:graphicFrame>
        <p:nvGraphicFramePr>
          <p:cNvPr id="11" name="Classification sources chart"/>
          <p:cNvGraphicFramePr/>
          <p:nvPr/>
        </p:nvGraphicFramePr>
        <p:xfrm>
          <a:off x="548640" y="1737360"/>
          <a:ext cx="40233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2" name="Benchmark screenshot frame"/>
          <p:cNvSpPr/>
          <p:nvPr/>
        </p:nvSpPr>
        <p:spPr>
          <a:xfrm>
            <a:off x="4837176" y="1865376"/>
            <a:ext cx="6876288" cy="2006729"/>
          </a:xfrm>
          <a:prstGeom prst="rect">
            <a:avLst/>
          </a:prstGeom>
          <a:solidFill>
            <a:srgbClr val="FFFFFF"/>
          </a:solidFill>
          <a:ln w="9525">
            <a:solidFill>
              <a:srgbClr val="D5DED9"/>
            </a:solidFill>
            <a:prstDash val="solid"/>
          </a:ln>
        </p:spPr>
      </p:sp>
      <p:pic>
        <p:nvPicPr>
          <p:cNvPr id="13" name="Benchmark screenshot" descr="Benchmark screenshot"/>
          <p:cNvPicPr>
            <a:picLocks noChangeAspect="1"/>
          </p:cNvPicPr>
          <p:nvPr/>
        </p:nvPicPr>
        <p:blipFill>
          <a:blip r:embed="rId4"/>
          <a:stretch>
            <a:fillRect/>
          </a:stretch>
        </p:blipFill>
        <p:spPr>
          <a:xfrm>
            <a:off x="4892040" y="1920240"/>
            <a:ext cx="6766560" cy="1897001"/>
          </a:xfrm>
          <a:prstGeom prst="rect">
            <a:avLst/>
          </a:prstGeom>
        </p:spPr>
      </p:pic>
      <p:sp>
        <p:nvSpPr>
          <p:cNvPr id="14" name="Text 10"/>
          <p:cNvSpPr txBox="1"/>
          <p:nvPr/>
        </p:nvSpPr>
        <p:spPr>
          <a:xfrm>
            <a:off x="502920" y="4663440"/>
            <a:ext cx="1691640" cy="868680"/>
          </a:xfrm>
          <a:prstGeom prst="rect">
            <a:avLst/>
          </a:prstGeom>
          <a:noFill/>
          <a:ln/>
        </p:spPr>
        <p:txBody>
          <a:bodyPr wrap="square" lIns="0" tIns="0" rIns="0" bIns="0" rtlCol="0" anchor="ctr"/>
          <a:lstStyle/>
          <a:p>
            <a:pPr marL="0" indent="0">
              <a:buNone/>
            </a:pPr>
            <a:r>
              <a:rPr lang="en-US" sz="2800" b="1" dirty="0">
                <a:solidFill>
                  <a:srgbClr val="D49A00"/>
                </a:solidFill>
              </a:rPr>
              <a:t>99%</a:t>
            </a:r>
            <a:endParaRPr lang="en-US" sz="2800" dirty="0"/>
          </a:p>
        </p:txBody>
      </p:sp>
      <p:sp>
        <p:nvSpPr>
          <p:cNvPr id="15" name="Text 11"/>
          <p:cNvSpPr txBox="1"/>
          <p:nvPr/>
        </p:nvSpPr>
        <p:spPr>
          <a:xfrm>
            <a:off x="2194560"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rules F1 on the synthetic set: a pipeline check, not proof</a:t>
            </a:r>
            <a:endParaRPr lang="en-US" sz="1300" dirty="0"/>
          </a:p>
        </p:txBody>
      </p:sp>
      <p:sp>
        <p:nvSpPr>
          <p:cNvPr id="16" name="Text 12"/>
          <p:cNvSpPr txBox="1"/>
          <p:nvPr/>
        </p:nvSpPr>
        <p:spPr>
          <a:xfrm>
            <a:off x="4325112" y="4663440"/>
            <a:ext cx="1691640" cy="868680"/>
          </a:xfrm>
          <a:prstGeom prst="rect">
            <a:avLst/>
          </a:prstGeom>
          <a:noFill/>
          <a:ln/>
        </p:spPr>
        <p:txBody>
          <a:bodyPr wrap="square" lIns="0" tIns="0" rIns="0" bIns="0" rtlCol="0" anchor="ctr"/>
          <a:lstStyle/>
          <a:p>
            <a:pPr marL="0" indent="0">
              <a:buNone/>
            </a:pPr>
            <a:r>
              <a:rPr lang="en-US" sz="2800" b="1" dirty="0">
                <a:solidFill>
                  <a:srgbClr val="0E7C86"/>
                </a:solidFill>
              </a:rPr>
              <a:t>92%</a:t>
            </a:r>
            <a:endParaRPr lang="en-US" sz="2800" dirty="0"/>
          </a:p>
        </p:txBody>
      </p:sp>
      <p:sp>
        <p:nvSpPr>
          <p:cNvPr id="17" name="Text 13"/>
          <p:cNvSpPr txBox="1"/>
          <p:nvPr/>
        </p:nvSpPr>
        <p:spPr>
          <a:xfrm>
            <a:off x="6016752"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language model macro F1, with transport / housing confusions</a:t>
            </a:r>
            <a:endParaRPr lang="en-US" sz="1300" dirty="0"/>
          </a:p>
        </p:txBody>
      </p:sp>
      <p:sp>
        <p:nvSpPr>
          <p:cNvPr id="18" name="Text 14"/>
          <p:cNvSpPr txBox="1"/>
          <p:nvPr/>
        </p:nvSpPr>
        <p:spPr>
          <a:xfrm>
            <a:off x="8147304" y="4663440"/>
            <a:ext cx="1691640" cy="868680"/>
          </a:xfrm>
          <a:prstGeom prst="rect">
            <a:avLst/>
          </a:prstGeom>
          <a:noFill/>
          <a:ln/>
        </p:spPr>
        <p:txBody>
          <a:bodyPr wrap="square" lIns="0" tIns="0" rIns="0" bIns="0" rtlCol="0" anchor="ctr"/>
          <a:lstStyle/>
          <a:p>
            <a:pPr marL="0" indent="0">
              <a:buNone/>
            </a:pPr>
            <a:r>
              <a:rPr lang="en-US" sz="2800" b="1" dirty="0">
                <a:solidFill>
                  <a:srgbClr val="00A86A"/>
                </a:solidFill>
              </a:rPr>
              <a:t>× 3,894</a:t>
            </a:r>
            <a:endParaRPr lang="en-US" sz="2800" dirty="0"/>
          </a:p>
        </p:txBody>
      </p:sp>
      <p:sp>
        <p:nvSpPr>
          <p:cNvPr id="19" name="Text 15"/>
          <p:cNvSpPr txBox="1"/>
          <p:nvPr/>
        </p:nvSpPr>
        <p:spPr>
          <a:xfrm>
            <a:off x="9838944"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rules speed compared with the model: hours saved on 10,000 products</a:t>
            </a:r>
            <a:endParaRPr lang="en-US" sz="1300" dirty="0"/>
          </a:p>
        </p:txBody>
      </p:sp>
      <p:sp>
        <p:nvSpPr>
          <p:cNvPr id="20" name="Text 16"/>
          <p:cNvSpPr txBox="1"/>
          <p:nvPr/>
        </p:nvSpPr>
        <p:spPr>
          <a:xfrm>
            <a:off x="502920" y="5806440"/>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notebook 3, benchmark on 380 annotated products and 29 classes (demo set). 94 real products are ready to be annotated for a conclusive benchmark.</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Discounts: the specific challenge of online prices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Share of products showing a struck-through price, by division, October 2026 collection in Côte d'Ivoire</a:t>
            </a:r>
            <a:endParaRPr lang="en-US" sz="1500" dirty="0"/>
          </a:p>
        </p:txBody>
      </p:sp>
      <p:sp>
        <p:nvSpPr>
          <p:cNvPr id="10" name="Discounts chart frame"/>
          <p:cNvSpPr/>
          <p:nvPr/>
        </p:nvSpPr>
        <p:spPr>
          <a:xfrm>
            <a:off x="502920" y="1691640"/>
            <a:ext cx="6949440" cy="4343400"/>
          </a:xfrm>
          <a:prstGeom prst="roundRect">
            <a:avLst>
              <a:gd name="adj" fmla="val 1684"/>
            </a:avLst>
          </a:prstGeom>
          <a:solidFill>
            <a:srgbClr val="F4F7F5"/>
          </a:solidFill>
          <a:ln w="9525">
            <a:solidFill>
              <a:srgbClr val="D5DED9"/>
            </a:solidFill>
            <a:prstDash val="solid"/>
          </a:ln>
        </p:spPr>
      </p:sp>
      <p:graphicFrame>
        <p:nvGraphicFramePr>
          <p:cNvPr id="11" name="Struck-through prices chart"/>
          <p:cNvGraphicFramePr/>
          <p:nvPr/>
        </p:nvGraphicFramePr>
        <p:xfrm>
          <a:off x="594360" y="1783080"/>
          <a:ext cx="67665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7818120" y="1783080"/>
            <a:ext cx="3840480" cy="914400"/>
          </a:xfrm>
          <a:prstGeom prst="rect">
            <a:avLst/>
          </a:prstGeom>
          <a:noFill/>
          <a:ln/>
        </p:spPr>
        <p:txBody>
          <a:bodyPr wrap="square" lIns="0" tIns="0" rIns="0" bIns="0" rtlCol="0" anchor="ctr"/>
          <a:lstStyle/>
          <a:p>
            <a:pPr marL="0" indent="0">
              <a:buNone/>
            </a:pPr>
            <a:r>
              <a:rPr lang="en-US" sz="5200" b="1" dirty="0">
                <a:solidFill>
                  <a:srgbClr val="D49A00"/>
                </a:solidFill>
              </a:rPr>
              <a:t>83%</a:t>
            </a:r>
            <a:endParaRPr lang="en-US" sz="5200" dirty="0"/>
          </a:p>
        </p:txBody>
      </p:sp>
      <p:sp>
        <p:nvSpPr>
          <p:cNvPr id="13" name="Text 10"/>
          <p:cNvSpPr txBox="1"/>
          <p:nvPr/>
        </p:nvSpPr>
        <p:spPr>
          <a:xfrm>
            <a:off x="7818120" y="2697480"/>
            <a:ext cx="3840480" cy="685800"/>
          </a:xfrm>
          <a:prstGeom prst="rect">
            <a:avLst/>
          </a:prstGeom>
          <a:noFill/>
          <a:ln/>
        </p:spPr>
        <p:txBody>
          <a:bodyPr wrap="square" lIns="0" tIns="0" rIns="0" bIns="0" rtlCol="0" anchor="t"/>
          <a:lstStyle/>
          <a:p>
            <a:pPr marL="0" indent="0">
              <a:buNone/>
            </a:pPr>
            <a:r>
              <a:rPr lang="en-US" sz="1500" dirty="0">
                <a:solidFill>
                  <a:srgbClr val="5E6964"/>
                </a:solidFill>
              </a:rPr>
              <a:t>of clothing items show a struck-through price, against 9% for food</a:t>
            </a:r>
            <a:endParaRPr lang="en-US" sz="1500" dirty="0"/>
          </a:p>
        </p:txBody>
      </p:sp>
      <p:sp>
        <p:nvSpPr>
          <p:cNvPr id="14" name="Lab box"/>
          <p:cNvSpPr/>
          <p:nvPr/>
        </p:nvSpPr>
        <p:spPr>
          <a:xfrm>
            <a:off x="7818120" y="3566160"/>
            <a:ext cx="3840480" cy="2377440"/>
          </a:xfrm>
          <a:prstGeom prst="roundRect">
            <a:avLst>
              <a:gd name="adj" fmla="val 3077"/>
            </a:avLst>
          </a:prstGeom>
          <a:solidFill>
            <a:srgbClr val="E8F5EF"/>
          </a:solidFill>
          <a:ln w="19050">
            <a:solidFill>
              <a:srgbClr val="00A86A"/>
            </a:solidFill>
            <a:prstDash val="solid"/>
          </a:ln>
        </p:spPr>
      </p:sp>
      <p:sp>
        <p:nvSpPr>
          <p:cNvPr id="15" name="Text 12"/>
          <p:cNvSpPr txBox="1"/>
          <p:nvPr/>
        </p:nvSpPr>
        <p:spPr>
          <a:xfrm>
            <a:off x="8046720" y="3657600"/>
            <a:ext cx="3474720" cy="365760"/>
          </a:xfrm>
          <a:prstGeom prst="rect">
            <a:avLst/>
          </a:prstGeom>
          <a:noFill/>
          <a:ln/>
        </p:spPr>
        <p:txBody>
          <a:bodyPr wrap="square" lIns="0" tIns="0" rIns="0" bIns="0" rtlCol="0" anchor="ctr"/>
          <a:lstStyle/>
          <a:p>
            <a:pPr marL="0" indent="0">
              <a:buNone/>
            </a:pPr>
            <a:r>
              <a:rPr lang="en-US" sz="1600" b="1" dirty="0">
                <a:solidFill>
                  <a:srgbClr val="231F20"/>
                </a:solidFill>
              </a:rPr>
              <a:t>What the lab does</a:t>
            </a:r>
            <a:endParaRPr lang="en-US" sz="1600" dirty="0"/>
          </a:p>
        </p:txBody>
      </p:sp>
      <p:sp>
        <p:nvSpPr>
          <p:cNvPr id="16" name="Text 13"/>
          <p:cNvSpPr txBox="1"/>
          <p:nvPr/>
        </p:nvSpPr>
        <p:spPr>
          <a:xfrm>
            <a:off x="8046720" y="4069080"/>
            <a:ext cx="3474720" cy="18288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31F20"/>
                </a:solidFill>
              </a:rPr>
              <a:t>Computes the index on posted prices and on regular prices</a:t>
            </a:r>
            <a:endParaRPr lang="en-US" sz="1350" dirty="0"/>
          </a:p>
          <a:p>
            <a:pPr marL="342900" indent="-342900">
              <a:spcAft>
                <a:spcPts val="500"/>
              </a:spcAft>
              <a:buSzPct val="100000"/>
              <a:buChar char="•"/>
            </a:pPr>
            <a:r>
              <a:rPr lang="en-US" sz="1350" dirty="0">
                <a:solidFill>
                  <a:srgbClr val="231F20"/>
                </a:solidFill>
              </a:rPr>
              <a:t>Recommends three quotes per month, combined by geometric mean</a:t>
            </a:r>
            <a:endParaRPr lang="en-US" sz="1350" dirty="0"/>
          </a:p>
          <a:p>
            <a:pPr marL="342900" indent="-342900">
              <a:spcAft>
                <a:spcPts val="500"/>
              </a:spcAft>
              <a:buSzPct val="100000"/>
              <a:buChar char="•"/>
            </a:pPr>
            <a:r>
              <a:rPr lang="en-US" sz="1350" dirty="0">
                <a:solidFill>
                  <a:srgbClr val="231F20"/>
                </a:solidFill>
              </a:rPr>
              <a:t>Uses Jevons, and shows the Carli drift</a:t>
            </a:r>
            <a:endParaRPr lang="en-US" sz="1350" dirty="0"/>
          </a:p>
        </p:txBody>
      </p:sp>
      <p:sp>
        <p:nvSpPr>
          <p:cNvPr id="17" name="Text 14"/>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notebook 3, figure "Frequency of struck-through prices by division and month". Divisions 02 and 07 excluded (fewer than 10 products).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What this index measures, and what it does not</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 complement to the official CPI, to be presented with its limits</a:t>
            </a:r>
            <a:endParaRPr lang="en-US" sz="1500" dirty="0"/>
          </a:p>
        </p:txBody>
      </p:sp>
      <p:sp>
        <p:nvSpPr>
          <p:cNvPr id="10" name="Limit 1"/>
          <p:cNvSpPr/>
          <p:nvPr/>
        </p:nvSpPr>
        <p:spPr>
          <a:xfrm>
            <a:off x="502920" y="1737360"/>
            <a:ext cx="6675120" cy="804672"/>
          </a:xfrm>
          <a:prstGeom prst="roundRect">
            <a:avLst>
              <a:gd name="adj" fmla="val 9091"/>
            </a:avLst>
          </a:prstGeom>
          <a:solidFill>
            <a:srgbClr val="F4F7F5"/>
          </a:solidFill>
          <a:ln w="9525">
            <a:solidFill>
              <a:srgbClr val="D5DED9"/>
            </a:solidFill>
            <a:prstDash val="solid"/>
          </a:ln>
        </p:spPr>
      </p:sp>
      <p:sp>
        <p:nvSpPr>
          <p:cNvPr id="11" name="Limit 1 circle"/>
          <p:cNvSpPr/>
          <p:nvPr/>
        </p:nvSpPr>
        <p:spPr>
          <a:xfrm>
            <a:off x="658368" y="1865376"/>
            <a:ext cx="548640" cy="548640"/>
          </a:xfrm>
          <a:prstGeom prst="ellipse">
            <a:avLst/>
          </a:prstGeom>
          <a:solidFill>
            <a:srgbClr val="B83B2E">
              <a:alpha val="22000"/>
            </a:srgbClr>
          </a:solidFill>
          <a:ln/>
        </p:spPr>
      </p:sp>
      <p:pic>
        <p:nvPicPr>
          <p:cNvPr id="12" name="Limit 1 icon" descr="preencoded.png"/>
          <p:cNvPicPr>
            <a:picLocks noChangeAspect="1"/>
          </p:cNvPicPr>
          <p:nvPr/>
        </p:nvPicPr>
        <p:blipFill>
          <a:blip r:embed="rId3"/>
          <a:stretch>
            <a:fillRect/>
          </a:stretch>
        </p:blipFill>
        <p:spPr>
          <a:xfrm>
            <a:off x="795528" y="2002536"/>
            <a:ext cx="274320" cy="274320"/>
          </a:xfrm>
          <a:prstGeom prst="rect">
            <a:avLst/>
          </a:prstGeom>
        </p:spPr>
      </p:pic>
      <p:sp>
        <p:nvSpPr>
          <p:cNvPr id="13" name="Text 10"/>
          <p:cNvSpPr txBox="1"/>
          <p:nvPr/>
        </p:nvSpPr>
        <p:spPr>
          <a:xfrm>
            <a:off x="1371600" y="1737360"/>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Urban, connected buyers : </a:t>
            </a:r>
            <a:r>
              <a:rPr lang="en-US" sz="1400" dirty="0">
                <a:solidFill>
                  <a:srgbClr val="5E6964"/>
                </a:solidFill>
              </a:rPr>
              <a:t>open-air markets and the informal sector are covered only through the OCPV</a:t>
            </a:r>
            <a:endParaRPr lang="en-US" sz="1400" dirty="0"/>
          </a:p>
        </p:txBody>
      </p:sp>
      <p:sp>
        <p:nvSpPr>
          <p:cNvPr id="14" name="Limit 2"/>
          <p:cNvSpPr/>
          <p:nvPr/>
        </p:nvSpPr>
        <p:spPr>
          <a:xfrm>
            <a:off x="502920" y="2670048"/>
            <a:ext cx="6675120" cy="804672"/>
          </a:xfrm>
          <a:prstGeom prst="roundRect">
            <a:avLst>
              <a:gd name="adj" fmla="val 9091"/>
            </a:avLst>
          </a:prstGeom>
          <a:solidFill>
            <a:srgbClr val="F4F7F5"/>
          </a:solidFill>
          <a:ln w="9525">
            <a:solidFill>
              <a:srgbClr val="D5DED9"/>
            </a:solidFill>
            <a:prstDash val="solid"/>
          </a:ln>
        </p:spPr>
      </p:sp>
      <p:sp>
        <p:nvSpPr>
          <p:cNvPr id="15" name="Limit 2 circle"/>
          <p:cNvSpPr/>
          <p:nvPr/>
        </p:nvSpPr>
        <p:spPr>
          <a:xfrm>
            <a:off x="658368" y="2798064"/>
            <a:ext cx="548640" cy="548640"/>
          </a:xfrm>
          <a:prstGeom prst="ellipse">
            <a:avLst/>
          </a:prstGeom>
          <a:solidFill>
            <a:srgbClr val="B83B2E">
              <a:alpha val="22000"/>
            </a:srgbClr>
          </a:solidFill>
          <a:ln/>
        </p:spPr>
      </p:sp>
      <p:pic>
        <p:nvPicPr>
          <p:cNvPr id="16" name="Limit 2 icon" descr="preencoded.png"/>
          <p:cNvPicPr>
            <a:picLocks noChangeAspect="1"/>
          </p:cNvPicPr>
          <p:nvPr/>
        </p:nvPicPr>
        <p:blipFill>
          <a:blip r:embed="rId4"/>
          <a:stretch>
            <a:fillRect/>
          </a:stretch>
        </p:blipFill>
        <p:spPr>
          <a:xfrm>
            <a:off x="795528" y="2935224"/>
            <a:ext cx="274320" cy="274320"/>
          </a:xfrm>
          <a:prstGeom prst="rect">
            <a:avLst/>
          </a:prstGeom>
        </p:spPr>
      </p:pic>
      <p:sp>
        <p:nvSpPr>
          <p:cNvPr id="17" name="Text 13"/>
          <p:cNvSpPr txBox="1"/>
          <p:nvPr/>
        </p:nvSpPr>
        <p:spPr>
          <a:xfrm>
            <a:off x="1371600" y="2670048"/>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Mostly goods : </a:t>
            </a:r>
            <a:r>
              <a:rPr lang="en-US" sz="1400" dirty="0">
                <a:solidFill>
                  <a:srgbClr val="5E6964"/>
                </a:solidFill>
              </a:rPr>
              <a:t>housing, transport, health and education remain barely or not covered</a:t>
            </a:r>
            <a:endParaRPr lang="en-US" sz="1400" dirty="0"/>
          </a:p>
        </p:txBody>
      </p:sp>
      <p:sp>
        <p:nvSpPr>
          <p:cNvPr id="18" name="Limit 3"/>
          <p:cNvSpPr/>
          <p:nvPr/>
        </p:nvSpPr>
        <p:spPr>
          <a:xfrm>
            <a:off x="502920" y="3602736"/>
            <a:ext cx="6675120" cy="804672"/>
          </a:xfrm>
          <a:prstGeom prst="roundRect">
            <a:avLst>
              <a:gd name="adj" fmla="val 9091"/>
            </a:avLst>
          </a:prstGeom>
          <a:solidFill>
            <a:srgbClr val="F4F7F5"/>
          </a:solidFill>
          <a:ln w="9525">
            <a:solidFill>
              <a:srgbClr val="D5DED9"/>
            </a:solidFill>
            <a:prstDash val="solid"/>
          </a:ln>
        </p:spPr>
      </p:sp>
      <p:sp>
        <p:nvSpPr>
          <p:cNvPr id="19" name="Limit 3 circle"/>
          <p:cNvSpPr/>
          <p:nvPr/>
        </p:nvSpPr>
        <p:spPr>
          <a:xfrm>
            <a:off x="658368" y="3730752"/>
            <a:ext cx="548640" cy="548640"/>
          </a:xfrm>
          <a:prstGeom prst="ellipse">
            <a:avLst/>
          </a:prstGeom>
          <a:solidFill>
            <a:srgbClr val="B83B2E">
              <a:alpha val="22000"/>
            </a:srgbClr>
          </a:solidFill>
          <a:ln/>
        </p:spPr>
      </p:sp>
      <p:pic>
        <p:nvPicPr>
          <p:cNvPr id="20" name="Limit 3 icon" descr="preencoded.png"/>
          <p:cNvPicPr>
            <a:picLocks noChangeAspect="1"/>
          </p:cNvPicPr>
          <p:nvPr/>
        </p:nvPicPr>
        <p:blipFill>
          <a:blip r:embed="rId5"/>
          <a:stretch>
            <a:fillRect/>
          </a:stretch>
        </p:blipFill>
        <p:spPr>
          <a:xfrm>
            <a:off x="795528" y="3867912"/>
            <a:ext cx="274320" cy="274320"/>
          </a:xfrm>
          <a:prstGeom prst="rect">
            <a:avLst/>
          </a:prstGeom>
        </p:spPr>
      </p:pic>
      <p:sp>
        <p:nvSpPr>
          <p:cNvPr id="21" name="Text 16"/>
          <p:cNvSpPr txBox="1"/>
          <p:nvPr/>
        </p:nvSpPr>
        <p:spPr>
          <a:xfrm>
            <a:off x="1371600" y="3602736"/>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Posted, not paid, prices : </a:t>
            </a:r>
            <a:r>
              <a:rPr lang="en-US" sz="1400" dirty="0">
                <a:solidFill>
                  <a:srgbClr val="5E6964"/>
                </a:solidFill>
              </a:rPr>
              <a:t>no quantities sold; discounts weigh heavily</a:t>
            </a:r>
            <a:endParaRPr lang="en-US" sz="1400" dirty="0"/>
          </a:p>
        </p:txBody>
      </p:sp>
      <p:sp>
        <p:nvSpPr>
          <p:cNvPr id="22" name="Limit 4"/>
          <p:cNvSpPr/>
          <p:nvPr/>
        </p:nvSpPr>
        <p:spPr>
          <a:xfrm>
            <a:off x="502920" y="4535424"/>
            <a:ext cx="6675120" cy="804672"/>
          </a:xfrm>
          <a:prstGeom prst="roundRect">
            <a:avLst>
              <a:gd name="adj" fmla="val 9091"/>
            </a:avLst>
          </a:prstGeom>
          <a:solidFill>
            <a:srgbClr val="F4F7F5"/>
          </a:solidFill>
          <a:ln w="9525">
            <a:solidFill>
              <a:srgbClr val="D5DED9"/>
            </a:solidFill>
            <a:prstDash val="solid"/>
          </a:ln>
        </p:spPr>
      </p:sp>
      <p:sp>
        <p:nvSpPr>
          <p:cNvPr id="23" name="Limit 4 circle"/>
          <p:cNvSpPr/>
          <p:nvPr/>
        </p:nvSpPr>
        <p:spPr>
          <a:xfrm>
            <a:off x="658368" y="4663440"/>
            <a:ext cx="548640" cy="548640"/>
          </a:xfrm>
          <a:prstGeom prst="ellipse">
            <a:avLst/>
          </a:prstGeom>
          <a:solidFill>
            <a:srgbClr val="B83B2E">
              <a:alpha val="22000"/>
            </a:srgbClr>
          </a:solidFill>
          <a:ln/>
        </p:spPr>
      </p:sp>
      <p:pic>
        <p:nvPicPr>
          <p:cNvPr id="24" name="Limit 4 icon" descr="preencoded.png"/>
          <p:cNvPicPr>
            <a:picLocks noChangeAspect="1"/>
          </p:cNvPicPr>
          <p:nvPr/>
        </p:nvPicPr>
        <p:blipFill>
          <a:blip r:embed="rId6"/>
          <a:stretch>
            <a:fillRect/>
          </a:stretch>
        </p:blipFill>
        <p:spPr>
          <a:xfrm>
            <a:off x="795528" y="4800600"/>
            <a:ext cx="274320" cy="274320"/>
          </a:xfrm>
          <a:prstGeom prst="rect">
            <a:avLst/>
          </a:prstGeom>
        </p:spPr>
      </p:pic>
      <p:sp>
        <p:nvSpPr>
          <p:cNvPr id="25" name="Text 19"/>
          <p:cNvSpPr txBox="1"/>
          <p:nvPr/>
        </p:nvSpPr>
        <p:spPr>
          <a:xfrm>
            <a:off x="1371600" y="4535424"/>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Fast-moving catalogue : </a:t>
            </a:r>
            <a:r>
              <a:rPr lang="en-US" sz="1400" dirty="0">
                <a:solidFill>
                  <a:srgbClr val="5E6964"/>
                </a:solidFill>
              </a:rPr>
              <a:t>2,900 new products in October; new items only enter the following month</a:t>
            </a:r>
            <a:endParaRPr lang="en-US" sz="1400" dirty="0"/>
          </a:p>
        </p:txBody>
      </p:sp>
      <p:sp>
        <p:nvSpPr>
          <p:cNvPr id="26" name="Before release box"/>
          <p:cNvSpPr/>
          <p:nvPr/>
        </p:nvSpPr>
        <p:spPr>
          <a:xfrm>
            <a:off x="7498080" y="1737360"/>
            <a:ext cx="4160520" cy="3611880"/>
          </a:xfrm>
          <a:prstGeom prst="roundRect">
            <a:avLst>
              <a:gd name="adj" fmla="val 2025"/>
            </a:avLst>
          </a:prstGeom>
          <a:solidFill>
            <a:srgbClr val="E8F5EF"/>
          </a:solidFill>
          <a:ln w="19050">
            <a:solidFill>
              <a:srgbClr val="00A86A"/>
            </a:solidFill>
            <a:prstDash val="solid"/>
          </a:ln>
        </p:spPr>
      </p:sp>
      <p:sp>
        <p:nvSpPr>
          <p:cNvPr id="27" name="Text 21"/>
          <p:cNvSpPr txBox="1"/>
          <p:nvPr/>
        </p:nvSpPr>
        <p:spPr>
          <a:xfrm>
            <a:off x="7772400" y="1874520"/>
            <a:ext cx="3657600" cy="411480"/>
          </a:xfrm>
          <a:prstGeom prst="rect">
            <a:avLst/>
          </a:prstGeom>
          <a:noFill/>
          <a:ln/>
        </p:spPr>
        <p:txBody>
          <a:bodyPr wrap="square" lIns="0" tIns="0" rIns="0" bIns="0" rtlCol="0" anchor="ctr"/>
          <a:lstStyle/>
          <a:p>
            <a:pPr marL="0" indent="0">
              <a:buNone/>
            </a:pPr>
            <a:r>
              <a:rPr lang="en-US" sz="1700" b="1" dirty="0">
                <a:solidFill>
                  <a:srgbClr val="231F20"/>
                </a:solidFill>
              </a:rPr>
              <a:t>Before releasing a figure</a:t>
            </a:r>
            <a:endParaRPr lang="en-US" sz="1700" dirty="0"/>
          </a:p>
        </p:txBody>
      </p:sp>
      <p:sp>
        <p:nvSpPr>
          <p:cNvPr id="28" name="Text 22"/>
          <p:cNvSpPr txBox="1"/>
          <p:nvPr/>
        </p:nvSpPr>
        <p:spPr>
          <a:xfrm>
            <a:off x="7772400" y="2377440"/>
            <a:ext cx="3657600" cy="28346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231F20"/>
                </a:solidFill>
              </a:rPr>
              <a:t>The institute's weights, not equal shares</a:t>
            </a:r>
            <a:endParaRPr lang="en-US" sz="1450" dirty="0"/>
          </a:p>
          <a:p>
            <a:pPr marL="342900" indent="-342900">
              <a:spcAft>
                <a:spcPts val="800"/>
              </a:spcAft>
              <a:buSzPct val="100000"/>
              <a:buChar char="•"/>
            </a:pPr>
            <a:r>
              <a:rPr lang="en-US" sz="1450" dirty="0">
                <a:solidFill>
                  <a:srgbClr val="231F20"/>
                </a:solidFill>
              </a:rPr>
              <a:t>File with a provenance manifest</a:t>
            </a:r>
            <a:endParaRPr lang="en-US" sz="1450" dirty="0"/>
          </a:p>
          <a:p>
            <a:pPr marL="342900" indent="-342900">
              <a:spcAft>
                <a:spcPts val="800"/>
              </a:spcAft>
              <a:buSzPct val="100000"/>
              <a:buChar char="•"/>
            </a:pPr>
            <a:r>
              <a:rPr lang="en-US" sz="1450" dirty="0">
                <a:solidFill>
                  <a:srgbClr val="231F20"/>
                </a:solidFill>
              </a:rPr>
              <a:t>Not the demo data set</a:t>
            </a:r>
            <a:endParaRPr lang="en-US" sz="1450" dirty="0"/>
          </a:p>
          <a:p>
            <a:pPr marL="342900" indent="-342900">
              <a:spcAft>
                <a:spcPts val="800"/>
              </a:spcAft>
              <a:buSzPct val="100000"/>
              <a:buChar char="•"/>
            </a:pPr>
            <a:r>
              <a:rPr lang="en-US" sz="1450" dirty="0">
                <a:solidFill>
                  <a:srgbClr val="231F20"/>
                </a:solidFill>
              </a:rPr>
              <a:t>Benchmark on your own data</a:t>
            </a:r>
            <a:endParaRPr lang="en-US" sz="1450" dirty="0"/>
          </a:p>
          <a:p>
            <a:pPr marL="342900" indent="-342900">
              <a:spcAft>
                <a:spcPts val="800"/>
              </a:spcAft>
              <a:buSzPct val="100000"/>
              <a:buChar char="•"/>
            </a:pPr>
            <a:r>
              <a:rPr lang="en-US" sz="1450" dirty="0">
                <a:solidFill>
                  <a:srgbClr val="231F20"/>
                </a:solidFill>
              </a:rPr>
              <a:t>At least two months of quotes</a:t>
            </a:r>
            <a:endParaRPr lang="en-US" sz="1450" dirty="0"/>
          </a:p>
        </p:txBody>
      </p:sp>
      <p:sp>
        <p:nvSpPr>
          <p:cNvPr id="29" name="Lab status box"/>
          <p:cNvSpPr/>
          <p:nvPr/>
        </p:nvSpPr>
        <p:spPr>
          <a:xfrm>
            <a:off x="502920" y="5559552"/>
            <a:ext cx="11155680" cy="548640"/>
          </a:xfrm>
          <a:prstGeom prst="roundRect">
            <a:avLst>
              <a:gd name="adj" fmla="val 13333"/>
            </a:avLst>
          </a:prstGeom>
          <a:solidFill>
            <a:srgbClr val="D49A00">
              <a:alpha val="13000"/>
            </a:srgbClr>
          </a:solidFill>
          <a:ln w="12700">
            <a:solidFill>
              <a:srgbClr val="D49A00"/>
            </a:solidFill>
            <a:prstDash val="solid"/>
          </a:ln>
        </p:spPr>
      </p:sp>
      <p:pic>
        <p:nvPicPr>
          <p:cNvPr id="30" name="Lab status box icon" descr="preencoded.png"/>
          <p:cNvPicPr>
            <a:picLocks noChangeAspect="1"/>
          </p:cNvPicPr>
          <p:nvPr/>
        </p:nvPicPr>
        <p:blipFill>
          <a:blip r:embed="rId7"/>
          <a:stretch>
            <a:fillRect/>
          </a:stretch>
        </p:blipFill>
        <p:spPr>
          <a:xfrm>
            <a:off x="685800" y="5687568"/>
            <a:ext cx="292608" cy="292608"/>
          </a:xfrm>
          <a:prstGeom prst="rect">
            <a:avLst/>
          </a:prstGeom>
        </p:spPr>
      </p:pic>
      <p:sp>
        <p:nvSpPr>
          <p:cNvPr id="31" name="Text 24"/>
          <p:cNvSpPr txBox="1"/>
          <p:nvPr/>
        </p:nvSpPr>
        <p:spPr>
          <a:xfrm>
            <a:off x="1097280" y="5559552"/>
            <a:ext cx="10424160" cy="548640"/>
          </a:xfrm>
          <a:prstGeom prst="rect">
            <a:avLst/>
          </a:prstGeom>
          <a:noFill/>
          <a:ln/>
        </p:spPr>
        <p:txBody>
          <a:bodyPr wrap="square" lIns="0" tIns="0" rIns="0" bIns="0" rtlCol="0" anchor="ctr"/>
          <a:lstStyle/>
          <a:p>
            <a:pPr marL="0" indent="0">
              <a:buNone/>
            </a:pPr>
            <a:r>
              <a:rPr lang="en-US" sz="1300" dirty="0">
                <a:solidFill>
                  <a:srgbClr val="231F20"/>
                </a:solidFill>
              </a:rPr>
              <a:t>Status on 14 October 2026: a single collection, so the index stands at 100. A second collection, the following month, is needed to measure a change.</a:t>
            </a:r>
            <a:endParaRPr lang="en-US" sz="1300" dirty="0"/>
          </a:p>
        </p:txBody>
      </p:sp>
      <p:sp>
        <p:nvSpPr>
          <p:cNvPr id="3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49A00"/>
          </a:solidFill>
          <a:ln/>
        </p:spPr>
      </p:sp>
      <p:sp>
        <p:nvSpPr>
          <p:cNvPr id="7" name="Progress dot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Testing the lab in six steps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From setup to report; collection is repeated every month at the same time</a:t>
            </a:r>
            <a:endParaRPr lang="en-US" sz="1500" dirty="0"/>
          </a:p>
        </p:txBody>
      </p:sp>
      <p:sp>
        <p:nvSpPr>
          <p:cNvPr id="10" name="Step card 1"/>
          <p:cNvSpPr/>
          <p:nvPr/>
        </p:nvSpPr>
        <p:spPr>
          <a:xfrm>
            <a:off x="502920" y="1783080"/>
            <a:ext cx="3566160" cy="1965960"/>
          </a:xfrm>
          <a:prstGeom prst="roundRect">
            <a:avLst>
              <a:gd name="adj" fmla="val 3721"/>
            </a:avLst>
          </a:prstGeom>
          <a:solidFill>
            <a:srgbClr val="F4F7F5"/>
          </a:solidFill>
          <a:ln w="9525">
            <a:solidFill>
              <a:srgbClr val="D5DED9"/>
            </a:solidFill>
            <a:prstDash val="solid"/>
          </a:ln>
        </p:spPr>
      </p:sp>
      <p:sp>
        <p:nvSpPr>
          <p:cNvPr id="11" name="Text 9"/>
          <p:cNvSpPr txBox="1"/>
          <p:nvPr/>
        </p:nvSpPr>
        <p:spPr>
          <a:xfrm>
            <a:off x="777240"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01</a:t>
            </a:r>
            <a:endParaRPr lang="en-US" sz="3200" dirty="0"/>
          </a:p>
        </p:txBody>
      </p:sp>
      <p:sp>
        <p:nvSpPr>
          <p:cNvPr id="12" name="Step 1 circle"/>
          <p:cNvSpPr/>
          <p:nvPr/>
        </p:nvSpPr>
        <p:spPr>
          <a:xfrm>
            <a:off x="3291840" y="2057400"/>
            <a:ext cx="548640" cy="548640"/>
          </a:xfrm>
          <a:prstGeom prst="ellipse">
            <a:avLst/>
          </a:prstGeom>
          <a:solidFill>
            <a:srgbClr val="00704A">
              <a:alpha val="22000"/>
            </a:srgbClr>
          </a:solidFill>
          <a:ln/>
        </p:spPr>
      </p:sp>
      <p:pic>
        <p:nvPicPr>
          <p:cNvPr id="13" name="Step 1 icon" descr="preencoded.png"/>
          <p:cNvPicPr>
            <a:picLocks noChangeAspect="1"/>
          </p:cNvPicPr>
          <p:nvPr/>
        </p:nvPicPr>
        <p:blipFill>
          <a:blip r:embed="rId3"/>
          <a:stretch>
            <a:fillRect/>
          </a:stretch>
        </p:blipFill>
        <p:spPr>
          <a:xfrm>
            <a:off x="3429000" y="2194560"/>
            <a:ext cx="274320" cy="274320"/>
          </a:xfrm>
          <a:prstGeom prst="rect">
            <a:avLst/>
          </a:prstGeom>
        </p:spPr>
      </p:pic>
      <p:sp>
        <p:nvSpPr>
          <p:cNvPr id="14" name="Text 11"/>
          <p:cNvSpPr txBox="1"/>
          <p:nvPr/>
        </p:nvSpPr>
        <p:spPr>
          <a:xfrm>
            <a:off x="1508760"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Set up</a:t>
            </a:r>
            <a:endParaRPr lang="en-US" sz="1700" dirty="0"/>
          </a:p>
        </p:txBody>
      </p:sp>
      <p:sp>
        <p:nvSpPr>
          <p:cNvPr id="15" name="Text 12"/>
          <p:cNvSpPr txBox="1"/>
          <p:nvPr/>
        </p:nvSpPr>
        <p:spPr>
          <a:xfrm>
            <a:off x="777240"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Run preparer.bat in the jumia-cpi folder: it creates a dedicated environment.</a:t>
            </a:r>
            <a:endParaRPr lang="en-US" sz="1400" dirty="0"/>
          </a:p>
        </p:txBody>
      </p:sp>
      <p:sp>
        <p:nvSpPr>
          <p:cNvPr id="16" name="Step card 2"/>
          <p:cNvSpPr/>
          <p:nvPr/>
        </p:nvSpPr>
        <p:spPr>
          <a:xfrm>
            <a:off x="4325112" y="1783080"/>
            <a:ext cx="3566160" cy="1965960"/>
          </a:xfrm>
          <a:prstGeom prst="roundRect">
            <a:avLst>
              <a:gd name="adj" fmla="val 3721"/>
            </a:avLst>
          </a:prstGeom>
          <a:solidFill>
            <a:srgbClr val="F4F7F5"/>
          </a:solidFill>
          <a:ln w="9525">
            <a:solidFill>
              <a:srgbClr val="D5DED9"/>
            </a:solidFill>
            <a:prstDash val="solid"/>
          </a:ln>
        </p:spPr>
      </p:sp>
      <p:sp>
        <p:nvSpPr>
          <p:cNvPr id="17" name="Text 14"/>
          <p:cNvSpPr txBox="1"/>
          <p:nvPr/>
        </p:nvSpPr>
        <p:spPr>
          <a:xfrm>
            <a:off x="4599432"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02</a:t>
            </a:r>
            <a:endParaRPr lang="en-US" sz="3200" dirty="0"/>
          </a:p>
        </p:txBody>
      </p:sp>
      <p:sp>
        <p:nvSpPr>
          <p:cNvPr id="18" name="Step 2 circle"/>
          <p:cNvSpPr/>
          <p:nvPr/>
        </p:nvSpPr>
        <p:spPr>
          <a:xfrm>
            <a:off x="7114032" y="2057400"/>
            <a:ext cx="548640" cy="548640"/>
          </a:xfrm>
          <a:prstGeom prst="ellipse">
            <a:avLst/>
          </a:prstGeom>
          <a:solidFill>
            <a:srgbClr val="00704A">
              <a:alpha val="22000"/>
            </a:srgbClr>
          </a:solidFill>
          <a:ln/>
        </p:spPr>
      </p:sp>
      <p:pic>
        <p:nvPicPr>
          <p:cNvPr id="19" name="Step 2 icon" descr="preencoded.png"/>
          <p:cNvPicPr>
            <a:picLocks noChangeAspect="1"/>
          </p:cNvPicPr>
          <p:nvPr/>
        </p:nvPicPr>
        <p:blipFill>
          <a:blip r:embed="rId4"/>
          <a:stretch>
            <a:fillRect/>
          </a:stretch>
        </p:blipFill>
        <p:spPr>
          <a:xfrm>
            <a:off x="7251192" y="2194560"/>
            <a:ext cx="274320" cy="274320"/>
          </a:xfrm>
          <a:prstGeom prst="rect">
            <a:avLst/>
          </a:prstGeom>
        </p:spPr>
      </p:pic>
      <p:sp>
        <p:nvSpPr>
          <p:cNvPr id="20" name="Text 16"/>
          <p:cNvSpPr txBox="1"/>
          <p:nvPr/>
        </p:nvSpPr>
        <p:spPr>
          <a:xfrm>
            <a:off x="5330952"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Collect online</a:t>
            </a:r>
            <a:endParaRPr lang="en-US" sz="1700" dirty="0"/>
          </a:p>
        </p:txBody>
      </p:sp>
      <p:sp>
        <p:nvSpPr>
          <p:cNvPr id="21" name="Text 17"/>
          <p:cNvSpPr txBox="1"/>
          <p:nvPr/>
        </p:nvSpPr>
        <p:spPr>
          <a:xfrm>
            <a:off x="4599432"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1 on the workstation: choose the country, fill in CONTACT_EMAIL.</a:t>
            </a:r>
            <a:endParaRPr lang="en-US" sz="1400" dirty="0"/>
          </a:p>
        </p:txBody>
      </p:sp>
      <p:sp>
        <p:nvSpPr>
          <p:cNvPr id="22" name="Step card 3"/>
          <p:cNvSpPr/>
          <p:nvPr/>
        </p:nvSpPr>
        <p:spPr>
          <a:xfrm>
            <a:off x="8147304" y="1783080"/>
            <a:ext cx="3566160" cy="1965960"/>
          </a:xfrm>
          <a:prstGeom prst="roundRect">
            <a:avLst>
              <a:gd name="adj" fmla="val 3721"/>
            </a:avLst>
          </a:prstGeom>
          <a:solidFill>
            <a:srgbClr val="F4F7F5"/>
          </a:solidFill>
          <a:ln w="9525">
            <a:solidFill>
              <a:srgbClr val="D5DED9"/>
            </a:solidFill>
            <a:prstDash val="solid"/>
          </a:ln>
        </p:spPr>
      </p:sp>
      <p:sp>
        <p:nvSpPr>
          <p:cNvPr id="23" name="Text 19"/>
          <p:cNvSpPr txBox="1"/>
          <p:nvPr/>
        </p:nvSpPr>
        <p:spPr>
          <a:xfrm>
            <a:off x="8421624"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03</a:t>
            </a:r>
            <a:endParaRPr lang="en-US" sz="3200" dirty="0"/>
          </a:p>
        </p:txBody>
      </p:sp>
      <p:sp>
        <p:nvSpPr>
          <p:cNvPr id="24" name="Step 3 circle"/>
          <p:cNvSpPr/>
          <p:nvPr/>
        </p:nvSpPr>
        <p:spPr>
          <a:xfrm>
            <a:off x="10936224" y="2057400"/>
            <a:ext cx="548640" cy="548640"/>
          </a:xfrm>
          <a:prstGeom prst="ellipse">
            <a:avLst/>
          </a:prstGeom>
          <a:solidFill>
            <a:srgbClr val="00704A">
              <a:alpha val="22000"/>
            </a:srgbClr>
          </a:solidFill>
          <a:ln/>
        </p:spPr>
      </p:sp>
      <p:pic>
        <p:nvPicPr>
          <p:cNvPr id="25" name="Step 3 icon" descr="preencoded.png"/>
          <p:cNvPicPr>
            <a:picLocks noChangeAspect="1"/>
          </p:cNvPicPr>
          <p:nvPr/>
        </p:nvPicPr>
        <p:blipFill>
          <a:blip r:embed="rId5"/>
          <a:stretch>
            <a:fillRect/>
          </a:stretch>
        </p:blipFill>
        <p:spPr>
          <a:xfrm>
            <a:off x="11073384" y="2194560"/>
            <a:ext cx="274320" cy="274320"/>
          </a:xfrm>
          <a:prstGeom prst="rect">
            <a:avLst/>
          </a:prstGeom>
        </p:spPr>
      </p:pic>
      <p:sp>
        <p:nvSpPr>
          <p:cNvPr id="26" name="Text 21"/>
          <p:cNvSpPr txBox="1"/>
          <p:nvPr/>
        </p:nvSpPr>
        <p:spPr>
          <a:xfrm>
            <a:off x="9153144"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Complete</a:t>
            </a:r>
            <a:endParaRPr lang="en-US" sz="1700" dirty="0"/>
          </a:p>
        </p:txBody>
      </p:sp>
      <p:sp>
        <p:nvSpPr>
          <p:cNvPr id="27" name="Text 22"/>
          <p:cNvSpPr txBox="1"/>
          <p:nvPr/>
        </p:nvSpPr>
        <p:spPr>
          <a:xfrm>
            <a:off x="8421624"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2: administered and market prices for Côte d'Ivoire or Senegal.</a:t>
            </a:r>
            <a:endParaRPr lang="en-US" sz="1400" dirty="0"/>
          </a:p>
        </p:txBody>
      </p:sp>
      <p:sp>
        <p:nvSpPr>
          <p:cNvPr id="28" name="Step card 4"/>
          <p:cNvSpPr/>
          <p:nvPr/>
        </p:nvSpPr>
        <p:spPr>
          <a:xfrm>
            <a:off x="502920" y="3977640"/>
            <a:ext cx="3566160" cy="1965960"/>
          </a:xfrm>
          <a:prstGeom prst="roundRect">
            <a:avLst>
              <a:gd name="adj" fmla="val 3721"/>
            </a:avLst>
          </a:prstGeom>
          <a:solidFill>
            <a:srgbClr val="F4F7F5"/>
          </a:solidFill>
          <a:ln w="9525">
            <a:solidFill>
              <a:srgbClr val="D5DED9"/>
            </a:solidFill>
            <a:prstDash val="solid"/>
          </a:ln>
        </p:spPr>
      </p:sp>
      <p:sp>
        <p:nvSpPr>
          <p:cNvPr id="29" name="Text 24"/>
          <p:cNvSpPr txBox="1"/>
          <p:nvPr/>
        </p:nvSpPr>
        <p:spPr>
          <a:xfrm>
            <a:off x="777240"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04</a:t>
            </a:r>
            <a:endParaRPr lang="en-US" sz="3200" dirty="0"/>
          </a:p>
        </p:txBody>
      </p:sp>
      <p:sp>
        <p:nvSpPr>
          <p:cNvPr id="30" name="Step 4 circle"/>
          <p:cNvSpPr/>
          <p:nvPr/>
        </p:nvSpPr>
        <p:spPr>
          <a:xfrm>
            <a:off x="3291840" y="4251960"/>
            <a:ext cx="548640" cy="548640"/>
          </a:xfrm>
          <a:prstGeom prst="ellipse">
            <a:avLst/>
          </a:prstGeom>
          <a:solidFill>
            <a:srgbClr val="00704A">
              <a:alpha val="22000"/>
            </a:srgbClr>
          </a:solidFill>
          <a:ln/>
        </p:spPr>
      </p:sp>
      <p:pic>
        <p:nvPicPr>
          <p:cNvPr id="31" name="Step 4 icon" descr="preencoded.png"/>
          <p:cNvPicPr>
            <a:picLocks noChangeAspect="1"/>
          </p:cNvPicPr>
          <p:nvPr/>
        </p:nvPicPr>
        <p:blipFill>
          <a:blip r:embed="rId6"/>
          <a:stretch>
            <a:fillRect/>
          </a:stretch>
        </p:blipFill>
        <p:spPr>
          <a:xfrm>
            <a:off x="3429000" y="4389120"/>
            <a:ext cx="274320" cy="274320"/>
          </a:xfrm>
          <a:prstGeom prst="rect">
            <a:avLst/>
          </a:prstGeom>
        </p:spPr>
      </p:pic>
      <p:sp>
        <p:nvSpPr>
          <p:cNvPr id="32" name="Text 26"/>
          <p:cNvSpPr txBox="1"/>
          <p:nvPr/>
        </p:nvSpPr>
        <p:spPr>
          <a:xfrm>
            <a:off x="1508760"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Share</a:t>
            </a:r>
            <a:endParaRPr lang="en-US" sz="1700" dirty="0"/>
          </a:p>
        </p:txBody>
      </p:sp>
      <p:sp>
        <p:nvSpPr>
          <p:cNvPr id="33" name="Text 27"/>
          <p:cNvSpPr txBox="1"/>
          <p:nvPr/>
        </p:nvSpPr>
        <p:spPr>
          <a:xfrm>
            <a:off x="777240"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Share the .zip archives, never the Excel file alone: it can retype codes.</a:t>
            </a:r>
            <a:endParaRPr lang="en-US" sz="1400" dirty="0"/>
          </a:p>
        </p:txBody>
      </p:sp>
      <p:sp>
        <p:nvSpPr>
          <p:cNvPr id="34" name="Step card 5"/>
          <p:cNvSpPr/>
          <p:nvPr/>
        </p:nvSpPr>
        <p:spPr>
          <a:xfrm>
            <a:off x="4325112" y="3977640"/>
            <a:ext cx="3566160" cy="1965960"/>
          </a:xfrm>
          <a:prstGeom prst="roundRect">
            <a:avLst>
              <a:gd name="adj" fmla="val 3721"/>
            </a:avLst>
          </a:prstGeom>
          <a:solidFill>
            <a:srgbClr val="F4F7F5"/>
          </a:solidFill>
          <a:ln w="9525">
            <a:solidFill>
              <a:srgbClr val="D5DED9"/>
            </a:solidFill>
            <a:prstDash val="solid"/>
          </a:ln>
        </p:spPr>
      </p:sp>
      <p:sp>
        <p:nvSpPr>
          <p:cNvPr id="35" name="Text 29"/>
          <p:cNvSpPr txBox="1"/>
          <p:nvPr/>
        </p:nvSpPr>
        <p:spPr>
          <a:xfrm>
            <a:off x="4599432"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05</a:t>
            </a:r>
            <a:endParaRPr lang="en-US" sz="3200" dirty="0"/>
          </a:p>
        </p:txBody>
      </p:sp>
      <p:sp>
        <p:nvSpPr>
          <p:cNvPr id="36" name="Step 5 circle"/>
          <p:cNvSpPr/>
          <p:nvPr/>
        </p:nvSpPr>
        <p:spPr>
          <a:xfrm>
            <a:off x="7114032" y="4251960"/>
            <a:ext cx="548640" cy="548640"/>
          </a:xfrm>
          <a:prstGeom prst="ellipse">
            <a:avLst/>
          </a:prstGeom>
          <a:solidFill>
            <a:srgbClr val="00704A">
              <a:alpha val="22000"/>
            </a:srgbClr>
          </a:solidFill>
          <a:ln/>
        </p:spPr>
      </p:sp>
      <p:pic>
        <p:nvPicPr>
          <p:cNvPr id="37" name="Step 5 icon" descr="preencoded.png"/>
          <p:cNvPicPr>
            <a:picLocks noChangeAspect="1"/>
          </p:cNvPicPr>
          <p:nvPr/>
        </p:nvPicPr>
        <p:blipFill>
          <a:blip r:embed="rId7"/>
          <a:stretch>
            <a:fillRect/>
          </a:stretch>
        </p:blipFill>
        <p:spPr>
          <a:xfrm>
            <a:off x="7251192" y="4389120"/>
            <a:ext cx="274320" cy="274320"/>
          </a:xfrm>
          <a:prstGeom prst="rect">
            <a:avLst/>
          </a:prstGeom>
        </p:spPr>
      </p:pic>
      <p:sp>
        <p:nvSpPr>
          <p:cNvPr id="38" name="Text 31"/>
          <p:cNvSpPr txBox="1"/>
          <p:nvPr/>
        </p:nvSpPr>
        <p:spPr>
          <a:xfrm>
            <a:off x="5330952"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Analyse</a:t>
            </a:r>
            <a:endParaRPr lang="en-US" sz="1700" dirty="0"/>
          </a:p>
        </p:txBody>
      </p:sp>
      <p:sp>
        <p:nvSpPr>
          <p:cNvPr id="39" name="Text 32"/>
          <p:cNvSpPr txBox="1"/>
          <p:nvPr/>
        </p:nvSpPr>
        <p:spPr>
          <a:xfrm>
            <a:off x="4599432"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3 on Colab: official weights, benchmark on your data.</a:t>
            </a:r>
            <a:endParaRPr lang="en-US" sz="1400" dirty="0"/>
          </a:p>
        </p:txBody>
      </p:sp>
      <p:sp>
        <p:nvSpPr>
          <p:cNvPr id="40" name="Step card 6"/>
          <p:cNvSpPr/>
          <p:nvPr/>
        </p:nvSpPr>
        <p:spPr>
          <a:xfrm>
            <a:off x="8147304" y="3977640"/>
            <a:ext cx="3566160" cy="1965960"/>
          </a:xfrm>
          <a:prstGeom prst="roundRect">
            <a:avLst>
              <a:gd name="adj" fmla="val 3721"/>
            </a:avLst>
          </a:prstGeom>
          <a:solidFill>
            <a:srgbClr val="F4F7F5"/>
          </a:solidFill>
          <a:ln w="9525">
            <a:solidFill>
              <a:srgbClr val="D5DED9"/>
            </a:solidFill>
            <a:prstDash val="solid"/>
          </a:ln>
        </p:spPr>
      </p:sp>
      <p:sp>
        <p:nvSpPr>
          <p:cNvPr id="41" name="Text 34"/>
          <p:cNvSpPr txBox="1"/>
          <p:nvPr/>
        </p:nvSpPr>
        <p:spPr>
          <a:xfrm>
            <a:off x="8421624"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06</a:t>
            </a:r>
            <a:endParaRPr lang="en-US" sz="3200" dirty="0"/>
          </a:p>
        </p:txBody>
      </p:sp>
      <p:sp>
        <p:nvSpPr>
          <p:cNvPr id="42" name="Step 6 circle"/>
          <p:cNvSpPr/>
          <p:nvPr/>
        </p:nvSpPr>
        <p:spPr>
          <a:xfrm>
            <a:off x="10936224" y="4251960"/>
            <a:ext cx="548640" cy="548640"/>
          </a:xfrm>
          <a:prstGeom prst="ellipse">
            <a:avLst/>
          </a:prstGeom>
          <a:solidFill>
            <a:srgbClr val="00704A">
              <a:alpha val="22000"/>
            </a:srgbClr>
          </a:solidFill>
          <a:ln/>
        </p:spPr>
      </p:sp>
      <p:pic>
        <p:nvPicPr>
          <p:cNvPr id="43" name="Step 6 icon" descr="preencoded.png"/>
          <p:cNvPicPr>
            <a:picLocks noChangeAspect="1"/>
          </p:cNvPicPr>
          <p:nvPr/>
        </p:nvPicPr>
        <p:blipFill>
          <a:blip r:embed="rId8"/>
          <a:stretch>
            <a:fillRect/>
          </a:stretch>
        </p:blipFill>
        <p:spPr>
          <a:xfrm>
            <a:off x="11073384" y="4389120"/>
            <a:ext cx="274320" cy="274320"/>
          </a:xfrm>
          <a:prstGeom prst="rect">
            <a:avLst/>
          </a:prstGeom>
        </p:spPr>
      </p:pic>
      <p:sp>
        <p:nvSpPr>
          <p:cNvPr id="44" name="Text 36"/>
          <p:cNvSpPr txBox="1"/>
          <p:nvPr/>
        </p:nvSpPr>
        <p:spPr>
          <a:xfrm>
            <a:off x="9153144"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Publish</a:t>
            </a:r>
            <a:endParaRPr lang="en-US" sz="1700" dirty="0"/>
          </a:p>
        </p:txBody>
      </p:sp>
      <p:sp>
        <p:nvSpPr>
          <p:cNvPr id="45" name="Text 37"/>
          <p:cNvSpPr txBox="1"/>
          <p:nvPr/>
        </p:nvSpPr>
        <p:spPr>
          <a:xfrm>
            <a:off x="8421624"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Download rapport.html: charts included, it opens anywhere.</a:t>
            </a:r>
            <a:endParaRPr lang="en-US" sz="1400" dirty="0"/>
          </a:p>
        </p:txBody>
      </p:sp>
      <p:sp>
        <p:nvSpPr>
          <p:cNvPr id="46"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05</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Challenges and conclusion</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What challenges remain for measuring prices reliably?</a:t>
            </a:r>
            <a:endParaRPr lang="en-US" sz="1900" dirty="0"/>
          </a:p>
        </p:txBody>
      </p:sp>
      <p:sp>
        <p:nvSpPr>
          <p:cNvPr id="5" name="Section icon circle"/>
          <p:cNvSpPr/>
          <p:nvPr/>
        </p:nvSpPr>
        <p:spPr>
          <a:xfrm>
            <a:off x="9079992" y="2340864"/>
            <a:ext cx="1280160" cy="1280160"/>
          </a:xfrm>
          <a:prstGeom prst="ellipse">
            <a:avLst/>
          </a:prstGeom>
          <a:solidFill>
            <a:srgbClr val="FFFFFF"/>
          </a:solidFill>
          <a:ln/>
        </p:spPr>
      </p:sp>
      <p:pic>
        <p:nvPicPr>
          <p:cNvPr id="6" name="Section ic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rogress dot 1"/>
          <p:cNvSpPr/>
          <p:nvPr/>
        </p:nvSpPr>
        <p:spPr>
          <a:xfrm>
            <a:off x="731520" y="5989320"/>
            <a:ext cx="155448" cy="155448"/>
          </a:xfrm>
          <a:prstGeom prst="ellipse">
            <a:avLst/>
          </a:prstGeom>
          <a:solidFill>
            <a:srgbClr val="FFFFFF">
              <a:alpha val="40000"/>
            </a:srgbClr>
          </a:solidFill>
          <a:ln/>
        </p:spPr>
      </p:sp>
      <p:sp>
        <p:nvSpPr>
          <p:cNvPr id="8" name="Progress dot 2"/>
          <p:cNvSpPr/>
          <p:nvPr/>
        </p:nvSpPr>
        <p:spPr>
          <a:xfrm>
            <a:off x="1024128" y="5989320"/>
            <a:ext cx="155448" cy="155448"/>
          </a:xfrm>
          <a:prstGeom prst="ellipse">
            <a:avLst/>
          </a:prstGeom>
          <a:solidFill>
            <a:srgbClr val="FFFFFF">
              <a:alpha val="40000"/>
            </a:srgbClr>
          </a:solidFill>
          <a:ln/>
        </p:spPr>
      </p:sp>
      <p:sp>
        <p:nvSpPr>
          <p:cNvPr id="9" name="Progress dot 3"/>
          <p:cNvSpPr/>
          <p:nvPr/>
        </p:nvSpPr>
        <p:spPr>
          <a:xfrm>
            <a:off x="1316736" y="5989320"/>
            <a:ext cx="155448" cy="155448"/>
          </a:xfrm>
          <a:prstGeom prst="ellipse">
            <a:avLst/>
          </a:prstGeom>
          <a:solidFill>
            <a:srgbClr val="FFFFFF">
              <a:alpha val="40000"/>
            </a:srgbClr>
          </a:solidFill>
          <a:ln/>
        </p:spPr>
      </p:sp>
      <p:sp>
        <p:nvSpPr>
          <p:cNvPr id="10" name="Progress dot 4"/>
          <p:cNvSpPr/>
          <p:nvPr/>
        </p:nvSpPr>
        <p:spPr>
          <a:xfrm>
            <a:off x="1609344" y="5989320"/>
            <a:ext cx="155448" cy="155448"/>
          </a:xfrm>
          <a:prstGeom prst="ellipse">
            <a:avLst/>
          </a:prstGeom>
          <a:solidFill>
            <a:srgbClr val="FFFFFF">
              <a:alpha val="40000"/>
            </a:srgbClr>
          </a:solidFill>
          <a:ln/>
        </p:spPr>
      </p:sp>
      <p:sp>
        <p:nvSpPr>
          <p:cNvPr id="11" name="Progress dot 5"/>
          <p:cNvSpPr/>
          <p:nvPr/>
        </p:nvSpPr>
        <p:spPr>
          <a:xfrm>
            <a:off x="1901952" y="5989320"/>
            <a:ext cx="155448" cy="155448"/>
          </a:xfrm>
          <a:prstGeom prst="ellipse">
            <a:avLst/>
          </a:prstGeom>
          <a:solidFill>
            <a:srgbClr val="F5C242"/>
          </a:solidFill>
          <a:ln/>
        </p:spPr>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CHALLENGES AND CONCLUSION</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Current challenges for the CPI</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Four debates every CPI compiler should be able to explain</a:t>
            </a:r>
            <a:endParaRPr lang="en-US" sz="1500" dirty="0"/>
          </a:p>
        </p:txBody>
      </p:sp>
      <p:sp>
        <p:nvSpPr>
          <p:cNvPr id="10" name="Challenge card 1"/>
          <p:cNvSpPr/>
          <p:nvPr/>
        </p:nvSpPr>
        <p:spPr>
          <a:xfrm>
            <a:off x="502920" y="1783080"/>
            <a:ext cx="5440680" cy="1965960"/>
          </a:xfrm>
          <a:prstGeom prst="roundRect">
            <a:avLst>
              <a:gd name="adj" fmla="val 3721"/>
            </a:avLst>
          </a:prstGeom>
          <a:solidFill>
            <a:srgbClr val="F4F7F5"/>
          </a:solidFill>
          <a:ln w="9525">
            <a:solidFill>
              <a:srgbClr val="D5DED9"/>
            </a:solidFill>
            <a:prstDash val="solid"/>
          </a:ln>
        </p:spPr>
      </p:sp>
      <p:sp>
        <p:nvSpPr>
          <p:cNvPr id="11" name="Challenge 1 circle"/>
          <p:cNvSpPr/>
          <p:nvPr/>
        </p:nvSpPr>
        <p:spPr>
          <a:xfrm>
            <a:off x="777240" y="2057400"/>
            <a:ext cx="777240" cy="777240"/>
          </a:xfrm>
          <a:prstGeom prst="ellipse">
            <a:avLst/>
          </a:prstGeom>
          <a:solidFill>
            <a:srgbClr val="B83B2E">
              <a:alpha val="22000"/>
            </a:srgbClr>
          </a:solidFill>
          <a:ln/>
        </p:spPr>
      </p:sp>
      <p:pic>
        <p:nvPicPr>
          <p:cNvPr id="12" name="Challenge 1 icon" descr="preencoded.png"/>
          <p:cNvPicPr>
            <a:picLocks noChangeAspect="1"/>
          </p:cNvPicPr>
          <p:nvPr/>
        </p:nvPicPr>
        <p:blipFill>
          <a:blip r:embed="rId3"/>
          <a:stretch>
            <a:fillRect/>
          </a:stretch>
        </p:blipFill>
        <p:spPr>
          <a:xfrm>
            <a:off x="971550" y="2251710"/>
            <a:ext cx="388620" cy="388620"/>
          </a:xfrm>
          <a:prstGeom prst="rect">
            <a:avLst/>
          </a:prstGeom>
        </p:spPr>
      </p:pic>
      <p:sp>
        <p:nvSpPr>
          <p:cNvPr id="13" name="Text 10"/>
          <p:cNvSpPr txBox="1"/>
          <p:nvPr/>
        </p:nvSpPr>
        <p:spPr>
          <a:xfrm>
            <a:off x="178308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Measurement bias</a:t>
            </a:r>
            <a:endParaRPr lang="en-US" sz="1700" dirty="0"/>
          </a:p>
        </p:txBody>
      </p:sp>
      <p:sp>
        <p:nvSpPr>
          <p:cNvPr id="14" name="Text 11"/>
          <p:cNvSpPr txBox="1"/>
          <p:nvPr/>
        </p:nvSpPr>
        <p:spPr>
          <a:xfrm>
            <a:off x="178308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Product substitution, new products, quality effects, outlet changes: the CPI tends to slightly overstate inflation.</a:t>
            </a:r>
            <a:endParaRPr lang="en-US" sz="1400" dirty="0"/>
          </a:p>
        </p:txBody>
      </p:sp>
      <p:sp>
        <p:nvSpPr>
          <p:cNvPr id="15" name="Challenge card 2"/>
          <p:cNvSpPr/>
          <p:nvPr/>
        </p:nvSpPr>
        <p:spPr>
          <a:xfrm>
            <a:off x="6172200" y="1783080"/>
            <a:ext cx="5440680" cy="1965960"/>
          </a:xfrm>
          <a:prstGeom prst="roundRect">
            <a:avLst>
              <a:gd name="adj" fmla="val 3721"/>
            </a:avLst>
          </a:prstGeom>
          <a:solidFill>
            <a:srgbClr val="F4F7F5"/>
          </a:solidFill>
          <a:ln w="9525">
            <a:solidFill>
              <a:srgbClr val="D5DED9"/>
            </a:solidFill>
            <a:prstDash val="solid"/>
          </a:ln>
        </p:spPr>
      </p:sp>
      <p:sp>
        <p:nvSpPr>
          <p:cNvPr id="16" name="Challenge 2 circle"/>
          <p:cNvSpPr/>
          <p:nvPr/>
        </p:nvSpPr>
        <p:spPr>
          <a:xfrm>
            <a:off x="6446520" y="2057400"/>
            <a:ext cx="777240" cy="777240"/>
          </a:xfrm>
          <a:prstGeom prst="ellipse">
            <a:avLst/>
          </a:prstGeom>
          <a:solidFill>
            <a:srgbClr val="00704A">
              <a:alpha val="22000"/>
            </a:srgbClr>
          </a:solidFill>
          <a:ln/>
        </p:spPr>
      </p:sp>
      <p:pic>
        <p:nvPicPr>
          <p:cNvPr id="17" name="Challenge 2 icon" descr="preencoded.png"/>
          <p:cNvPicPr>
            <a:picLocks noChangeAspect="1"/>
          </p:cNvPicPr>
          <p:nvPr/>
        </p:nvPicPr>
        <p:blipFill>
          <a:blip r:embed="rId4"/>
          <a:stretch>
            <a:fillRect/>
          </a:stretch>
        </p:blipFill>
        <p:spPr>
          <a:xfrm>
            <a:off x="6640830" y="2251710"/>
            <a:ext cx="388620" cy="388620"/>
          </a:xfrm>
          <a:prstGeom prst="rect">
            <a:avLst/>
          </a:prstGeom>
        </p:spPr>
      </p:pic>
      <p:sp>
        <p:nvSpPr>
          <p:cNvPr id="18" name="Text 14"/>
          <p:cNvSpPr txBox="1"/>
          <p:nvPr/>
        </p:nvSpPr>
        <p:spPr>
          <a:xfrm>
            <a:off x="745236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Owner-occupied housing</a:t>
            </a:r>
            <a:endParaRPr lang="en-US" sz="1700" dirty="0"/>
          </a:p>
        </p:txBody>
      </p:sp>
      <p:sp>
        <p:nvSpPr>
          <p:cNvPr id="19" name="Text 15"/>
          <p:cNvSpPr txBox="1"/>
          <p:nvPr/>
        </p:nvSpPr>
        <p:spPr>
          <a:xfrm>
            <a:off x="745236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Owner-occupiers' housing costs are not yet in the European HICP; approaches are still debated.</a:t>
            </a:r>
            <a:endParaRPr lang="en-US" sz="1400" dirty="0"/>
          </a:p>
        </p:txBody>
      </p:sp>
      <p:sp>
        <p:nvSpPr>
          <p:cNvPr id="20" name="Challenge card 3"/>
          <p:cNvSpPr/>
          <p:nvPr/>
        </p:nvSpPr>
        <p:spPr>
          <a:xfrm>
            <a:off x="502920" y="3977640"/>
            <a:ext cx="5440680" cy="1965960"/>
          </a:xfrm>
          <a:prstGeom prst="roundRect">
            <a:avLst>
              <a:gd name="adj" fmla="val 3721"/>
            </a:avLst>
          </a:prstGeom>
          <a:solidFill>
            <a:srgbClr val="F4F7F5"/>
          </a:solidFill>
          <a:ln w="9525">
            <a:solidFill>
              <a:srgbClr val="D5DED9"/>
            </a:solidFill>
            <a:prstDash val="solid"/>
          </a:ln>
        </p:spPr>
      </p:sp>
      <p:sp>
        <p:nvSpPr>
          <p:cNvPr id="21" name="Challenge 3 circle"/>
          <p:cNvSpPr/>
          <p:nvPr/>
        </p:nvSpPr>
        <p:spPr>
          <a:xfrm>
            <a:off x="777240" y="4251960"/>
            <a:ext cx="777240" cy="777240"/>
          </a:xfrm>
          <a:prstGeom prst="ellipse">
            <a:avLst/>
          </a:prstGeom>
          <a:solidFill>
            <a:srgbClr val="D49A00">
              <a:alpha val="22000"/>
            </a:srgbClr>
          </a:solidFill>
          <a:ln/>
        </p:spPr>
      </p:sp>
      <p:pic>
        <p:nvPicPr>
          <p:cNvPr id="22" name="Challenge 3 icon" descr="preencoded.png"/>
          <p:cNvPicPr>
            <a:picLocks noChangeAspect="1"/>
          </p:cNvPicPr>
          <p:nvPr/>
        </p:nvPicPr>
        <p:blipFill>
          <a:blip r:embed="rId5"/>
          <a:stretch>
            <a:fillRect/>
          </a:stretch>
        </p:blipFill>
        <p:spPr>
          <a:xfrm>
            <a:off x="971550" y="4446270"/>
            <a:ext cx="388620" cy="388620"/>
          </a:xfrm>
          <a:prstGeom prst="rect">
            <a:avLst/>
          </a:prstGeom>
        </p:spPr>
      </p:pic>
      <p:sp>
        <p:nvSpPr>
          <p:cNvPr id="23" name="Text 18"/>
          <p:cNvSpPr txBox="1"/>
          <p:nvPr/>
        </p:nvSpPr>
        <p:spPr>
          <a:xfrm>
            <a:off x="178308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E-commerce</a:t>
            </a:r>
            <a:endParaRPr lang="en-US" sz="1700" dirty="0"/>
          </a:p>
        </p:txBody>
      </p:sp>
      <p:sp>
        <p:nvSpPr>
          <p:cNvPr id="24" name="Text 19"/>
          <p:cNvSpPr txBox="1"/>
          <p:nvPr/>
        </p:nvSpPr>
        <p:spPr>
          <a:xfrm>
            <a:off x="178308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A growing share of purchases, very volatile prices, and delivery fees now identified by COICOP 2018.</a:t>
            </a:r>
            <a:endParaRPr lang="en-US" sz="1400" dirty="0"/>
          </a:p>
        </p:txBody>
      </p:sp>
      <p:sp>
        <p:nvSpPr>
          <p:cNvPr id="25" name="Challenge card 4"/>
          <p:cNvSpPr/>
          <p:nvPr/>
        </p:nvSpPr>
        <p:spPr>
          <a:xfrm>
            <a:off x="6172200" y="3977640"/>
            <a:ext cx="5440680" cy="1965960"/>
          </a:xfrm>
          <a:prstGeom prst="roundRect">
            <a:avLst>
              <a:gd name="adj" fmla="val 3721"/>
            </a:avLst>
          </a:prstGeom>
          <a:solidFill>
            <a:srgbClr val="F4F7F5"/>
          </a:solidFill>
          <a:ln w="9525">
            <a:solidFill>
              <a:srgbClr val="D5DED9"/>
            </a:solidFill>
            <a:prstDash val="solid"/>
          </a:ln>
        </p:spPr>
      </p:sp>
      <p:sp>
        <p:nvSpPr>
          <p:cNvPr id="26" name="Challenge 4 circle"/>
          <p:cNvSpPr/>
          <p:nvPr/>
        </p:nvSpPr>
        <p:spPr>
          <a:xfrm>
            <a:off x="6446520" y="4251960"/>
            <a:ext cx="777240" cy="777240"/>
          </a:xfrm>
          <a:prstGeom prst="ellipse">
            <a:avLst/>
          </a:prstGeom>
          <a:solidFill>
            <a:srgbClr val="0E7C86">
              <a:alpha val="22000"/>
            </a:srgbClr>
          </a:solidFill>
          <a:ln/>
        </p:spPr>
      </p:sp>
      <p:pic>
        <p:nvPicPr>
          <p:cNvPr id="27" name="Challenge 4 icon" descr="preencoded.png"/>
          <p:cNvPicPr>
            <a:picLocks noChangeAspect="1"/>
          </p:cNvPicPr>
          <p:nvPr/>
        </p:nvPicPr>
        <p:blipFill>
          <a:blip r:embed="rId6"/>
          <a:stretch>
            <a:fillRect/>
          </a:stretch>
        </p:blipFill>
        <p:spPr>
          <a:xfrm>
            <a:off x="6640830" y="4446270"/>
            <a:ext cx="388620" cy="388620"/>
          </a:xfrm>
          <a:prstGeom prst="rect">
            <a:avLst/>
          </a:prstGeom>
        </p:spPr>
      </p:pic>
      <p:sp>
        <p:nvSpPr>
          <p:cNvPr id="28" name="Text 22"/>
          <p:cNvSpPr txBox="1"/>
          <p:nvPr/>
        </p:nvSpPr>
        <p:spPr>
          <a:xfrm>
            <a:off x="745236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Perceived inflation</a:t>
            </a:r>
            <a:endParaRPr lang="en-US" sz="1700" dirty="0"/>
          </a:p>
        </p:txBody>
      </p:sp>
      <p:sp>
        <p:nvSpPr>
          <p:cNvPr id="29" name="Text 23"/>
          <p:cNvSpPr txBox="1"/>
          <p:nvPr/>
        </p:nvSpPr>
        <p:spPr>
          <a:xfrm>
            <a:off x="745236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Frequent purchases, low-income households more exposed to food: the gap with the average index fuels distrust.</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CHALLENGES AND CONCLUSION</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In summary</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A reliable CPI rests on a well-built basket, a documented method and diverse sources</a:t>
            </a:r>
            <a:endParaRPr lang="en-US" sz="1500" dirty="0"/>
          </a:p>
        </p:txBody>
      </p:sp>
      <p:sp>
        <p:nvSpPr>
          <p:cNvPr id="10" name="Conclusion chip 01"/>
          <p:cNvSpPr txBox="1"/>
          <p:nvPr/>
        </p:nvSpPr>
        <p:spPr>
          <a:xfrm>
            <a:off x="502920" y="1828800"/>
            <a:ext cx="914400" cy="914400"/>
          </a:xfrm>
          <a:prstGeom prst="roundRect">
            <a:avLst>
              <a:gd name="adj" fmla="val 8000"/>
            </a:avLst>
          </a:prstGeom>
          <a:solidFill>
            <a:srgbClr val="00A86A"/>
          </a:solidFill>
          <a:ln/>
        </p:spPr>
        <p:txBody>
          <a:bodyPr wrap="square" lIns="0" tIns="0" rIns="0" bIns="0" rtlCol="0" anchor="ctr"/>
          <a:lstStyle/>
          <a:p>
            <a:pPr marL="0" indent="0" algn="ctr">
              <a:buNone/>
            </a:pPr>
            <a:r>
              <a:rPr lang="en-US" sz="2600" b="1" dirty="0">
                <a:solidFill>
                  <a:srgbClr val="FFFFFF"/>
                </a:solidFill>
              </a:rPr>
              <a:t>01</a:t>
            </a:r>
            <a:endParaRPr lang="en-US" sz="2600" dirty="0"/>
          </a:p>
        </p:txBody>
      </p:sp>
      <p:sp>
        <p:nvSpPr>
          <p:cNvPr id="11" name="Text 9"/>
          <p:cNvSpPr txBox="1"/>
          <p:nvPr/>
        </p:nvSpPr>
        <p:spPr>
          <a:xfrm>
            <a:off x="1691640" y="18288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The CPI drives decisions</a:t>
            </a:r>
            <a:endParaRPr lang="en-US" sz="2000" dirty="0"/>
          </a:p>
        </p:txBody>
      </p:sp>
      <p:sp>
        <p:nvSpPr>
          <p:cNvPr id="12" name="Text 10"/>
          <p:cNvSpPr txBox="1"/>
          <p:nvPr/>
        </p:nvSpPr>
        <p:spPr>
          <a:xfrm>
            <a:off x="1691640" y="2240280"/>
            <a:ext cx="5852160" cy="548640"/>
          </a:xfrm>
          <a:prstGeom prst="rect">
            <a:avLst/>
          </a:prstGeom>
          <a:noFill/>
          <a:ln/>
        </p:spPr>
        <p:txBody>
          <a:bodyPr wrap="square" lIns="0" tIns="0" rIns="0" bIns="0" rtlCol="0" anchor="t"/>
          <a:lstStyle/>
          <a:p>
            <a:pPr marL="0" indent="0">
              <a:buNone/>
            </a:pPr>
            <a:r>
              <a:rPr lang="en-US" sz="1500" dirty="0">
                <a:solidFill>
                  <a:srgbClr val="5E6964"/>
                </a:solidFill>
              </a:rPr>
              <a:t>Monetary policy, indexation, national accounts: measurement quality has a real cost.</a:t>
            </a:r>
            <a:endParaRPr lang="en-US" sz="1500" dirty="0"/>
          </a:p>
        </p:txBody>
      </p:sp>
      <p:sp>
        <p:nvSpPr>
          <p:cNvPr id="13" name="Conclusion chip 02"/>
          <p:cNvSpPr txBox="1"/>
          <p:nvPr/>
        </p:nvSpPr>
        <p:spPr>
          <a:xfrm>
            <a:off x="502920" y="3200400"/>
            <a:ext cx="914400" cy="914400"/>
          </a:xfrm>
          <a:prstGeom prst="roundRect">
            <a:avLst>
              <a:gd name="adj" fmla="val 8000"/>
            </a:avLst>
          </a:prstGeom>
          <a:solidFill>
            <a:srgbClr val="00704A"/>
          </a:solidFill>
          <a:ln/>
        </p:spPr>
        <p:txBody>
          <a:bodyPr wrap="square" lIns="0" tIns="0" rIns="0" bIns="0" rtlCol="0" anchor="ctr"/>
          <a:lstStyle/>
          <a:p>
            <a:pPr marL="0" indent="0" algn="ctr">
              <a:buNone/>
            </a:pPr>
            <a:r>
              <a:rPr lang="en-US" sz="2600" b="1" dirty="0">
                <a:solidFill>
                  <a:srgbClr val="FFFFFF"/>
                </a:solidFill>
              </a:rPr>
              <a:t>02</a:t>
            </a:r>
            <a:endParaRPr lang="en-US" sz="2600" dirty="0"/>
          </a:p>
        </p:txBody>
      </p:sp>
      <p:sp>
        <p:nvSpPr>
          <p:cNvPr id="14" name="Text 12"/>
          <p:cNvSpPr txBox="1"/>
          <p:nvPr/>
        </p:nvSpPr>
        <p:spPr>
          <a:xfrm>
            <a:off x="1691640" y="32004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COICOP 2018 structures the basket</a:t>
            </a:r>
            <a:endParaRPr lang="en-US" sz="2000" dirty="0"/>
          </a:p>
        </p:txBody>
      </p:sp>
      <p:sp>
        <p:nvSpPr>
          <p:cNvPr id="15" name="Text 13"/>
          <p:cNvSpPr txBox="1"/>
          <p:nvPr/>
        </p:nvSpPr>
        <p:spPr>
          <a:xfrm>
            <a:off x="1691640" y="3611880"/>
            <a:ext cx="5852160" cy="548640"/>
          </a:xfrm>
          <a:prstGeom prst="rect">
            <a:avLst/>
          </a:prstGeom>
          <a:noFill/>
          <a:ln/>
        </p:spPr>
        <p:txBody>
          <a:bodyPr wrap="square" lIns="0" tIns="0" rIns="0" bIns="0" rtlCol="0" anchor="t"/>
          <a:lstStyle/>
          <a:p>
            <a:pPr marL="0" indent="0">
              <a:buNone/>
            </a:pPr>
            <a:r>
              <a:rPr lang="en-US" sz="1500" dirty="0">
                <a:solidFill>
                  <a:srgbClr val="5E6964"/>
                </a:solidFill>
              </a:rPr>
              <a:t>Thirteen divisions, services better identified, a 2023 base shared across WAEMU.</a:t>
            </a:r>
            <a:endParaRPr lang="en-US" sz="1500" dirty="0"/>
          </a:p>
        </p:txBody>
      </p:sp>
      <p:sp>
        <p:nvSpPr>
          <p:cNvPr id="16" name="Conclusion chip 03"/>
          <p:cNvSpPr txBox="1"/>
          <p:nvPr/>
        </p:nvSpPr>
        <p:spPr>
          <a:xfrm>
            <a:off x="502920" y="4572000"/>
            <a:ext cx="914400" cy="914400"/>
          </a:xfrm>
          <a:prstGeom prst="roundRect">
            <a:avLst>
              <a:gd name="adj" fmla="val 8000"/>
            </a:avLst>
          </a:prstGeom>
          <a:solidFill>
            <a:srgbClr val="0E7C86"/>
          </a:solidFill>
          <a:ln/>
        </p:spPr>
        <p:txBody>
          <a:bodyPr wrap="square" lIns="0" tIns="0" rIns="0" bIns="0" rtlCol="0" anchor="ctr"/>
          <a:lstStyle/>
          <a:p>
            <a:pPr marL="0" indent="0" algn="ctr">
              <a:buNone/>
            </a:pPr>
            <a:r>
              <a:rPr lang="en-US" sz="2600" b="1" dirty="0">
                <a:solidFill>
                  <a:srgbClr val="FFFFFF"/>
                </a:solidFill>
              </a:rPr>
              <a:t>03</a:t>
            </a:r>
            <a:endParaRPr lang="en-US" sz="2600" dirty="0"/>
          </a:p>
        </p:txBody>
      </p:sp>
      <p:sp>
        <p:nvSpPr>
          <p:cNvPr id="17" name="Text 15"/>
          <p:cNvSpPr txBox="1"/>
          <p:nvPr/>
        </p:nvSpPr>
        <p:spPr>
          <a:xfrm>
            <a:off x="1691640" y="45720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New sources complement</a:t>
            </a:r>
            <a:endParaRPr lang="en-US" sz="2000" dirty="0"/>
          </a:p>
        </p:txBody>
      </p:sp>
      <p:sp>
        <p:nvSpPr>
          <p:cNvPr id="18" name="Text 16"/>
          <p:cNvSpPr txBox="1"/>
          <p:nvPr/>
        </p:nvSpPr>
        <p:spPr>
          <a:xfrm>
            <a:off x="1691640" y="4983480"/>
            <a:ext cx="5852160" cy="548640"/>
          </a:xfrm>
          <a:prstGeom prst="rect">
            <a:avLst/>
          </a:prstGeom>
          <a:noFill/>
          <a:ln/>
        </p:spPr>
        <p:txBody>
          <a:bodyPr wrap="square" lIns="0" tIns="0" rIns="0" bIns="0" rtlCol="0" anchor="t"/>
          <a:lstStyle/>
          <a:p>
            <a:pPr marL="0" indent="0">
              <a:buNone/>
            </a:pPr>
            <a:r>
              <a:rPr lang="en-US" sz="1500" dirty="0">
                <a:solidFill>
                  <a:srgbClr val="5E6964"/>
                </a:solidFill>
              </a:rPr>
              <a:t>78% of the weight reached in the lab, but four divisions still require field collection.</a:t>
            </a:r>
            <a:endParaRPr lang="en-US" sz="1500" dirty="0"/>
          </a:p>
        </p:txBody>
      </p:sp>
      <p:sp>
        <p:nvSpPr>
          <p:cNvPr id="19" name="Next steps box"/>
          <p:cNvSpPr/>
          <p:nvPr/>
        </p:nvSpPr>
        <p:spPr>
          <a:xfrm>
            <a:off x="8138160" y="1828800"/>
            <a:ext cx="3520440" cy="3657600"/>
          </a:xfrm>
          <a:prstGeom prst="roundRect">
            <a:avLst>
              <a:gd name="adj" fmla="val 2078"/>
            </a:avLst>
          </a:prstGeom>
          <a:solidFill>
            <a:srgbClr val="E8F5EF"/>
          </a:solidFill>
          <a:ln w="19050">
            <a:solidFill>
              <a:srgbClr val="00A86A"/>
            </a:solidFill>
            <a:prstDash val="solid"/>
          </a:ln>
        </p:spPr>
      </p:sp>
      <p:sp>
        <p:nvSpPr>
          <p:cNvPr id="20" name="Text 18"/>
          <p:cNvSpPr txBox="1"/>
          <p:nvPr/>
        </p:nvSpPr>
        <p:spPr>
          <a:xfrm>
            <a:off x="8412480" y="2011680"/>
            <a:ext cx="3017520" cy="457200"/>
          </a:xfrm>
          <a:prstGeom prst="rect">
            <a:avLst/>
          </a:prstGeom>
          <a:noFill/>
          <a:ln/>
        </p:spPr>
        <p:txBody>
          <a:bodyPr wrap="square" lIns="0" tIns="0" rIns="0" bIns="0" rtlCol="0" anchor="ctr"/>
          <a:lstStyle/>
          <a:p>
            <a:pPr marL="0" indent="0">
              <a:buNone/>
            </a:pPr>
            <a:r>
              <a:rPr lang="en-US" sz="1900" b="1" dirty="0">
                <a:solidFill>
                  <a:srgbClr val="00704A"/>
                </a:solidFill>
              </a:rPr>
              <a:t>Next steps</a:t>
            </a:r>
            <a:endParaRPr lang="en-US" sz="1900" dirty="0"/>
          </a:p>
        </p:txBody>
      </p:sp>
      <p:sp>
        <p:nvSpPr>
          <p:cNvPr id="21" name="Text 19"/>
          <p:cNvSpPr txBox="1"/>
          <p:nvPr/>
        </p:nvSpPr>
        <p:spPr>
          <a:xfrm>
            <a:off x="8412480" y="2560320"/>
            <a:ext cx="306324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31F20"/>
                </a:solidFill>
              </a:rPr>
              <a:t>Second collection in November</a:t>
            </a:r>
            <a:endParaRPr lang="en-US" sz="1500" dirty="0"/>
          </a:p>
          <a:p>
            <a:pPr marL="342900" indent="-342900">
              <a:spcAft>
                <a:spcPts val="600"/>
              </a:spcAft>
              <a:buSzPct val="100000"/>
              <a:buChar char="•"/>
            </a:pPr>
            <a:r>
              <a:rPr lang="en-US" sz="1500" dirty="0">
                <a:solidFill>
                  <a:srgbClr val="231F20"/>
                </a:solidFill>
              </a:rPr>
              <a:t>Official weights for Côte d'Ivoire</a:t>
            </a:r>
            <a:endParaRPr lang="en-US" sz="1500" dirty="0"/>
          </a:p>
          <a:p>
            <a:pPr marL="342900" indent="-342900">
              <a:spcAft>
                <a:spcPts val="600"/>
              </a:spcAft>
              <a:buSzPct val="100000"/>
              <a:buChar char="•"/>
            </a:pPr>
            <a:r>
              <a:rPr lang="en-US" sz="1500" dirty="0">
                <a:solidFill>
                  <a:srgbClr val="231F20"/>
                </a:solidFill>
              </a:rPr>
              <a:t>Annotate the 94 benchmark products</a:t>
            </a:r>
            <a:endParaRPr lang="en-US" sz="1500" dirty="0"/>
          </a:p>
          <a:p>
            <a:pPr marL="342900" indent="-342900">
              <a:spcAft>
                <a:spcPts val="600"/>
              </a:spcAft>
              <a:buSzPct val="100000"/>
              <a:buChar char="•"/>
            </a:pPr>
            <a:r>
              <a:rPr lang="en-US" sz="1500" dirty="0">
                <a:solidFill>
                  <a:srgbClr val="231F20"/>
                </a:solidFill>
              </a:rPr>
              <a:t>Add rents (division 04)</a:t>
            </a:r>
            <a:endParaRPr lang="en-US" sz="1500" dirty="0"/>
          </a:p>
          <a:p>
            <a:pPr marL="342900" indent="-342900">
              <a:spcAft>
                <a:spcPts val="600"/>
              </a:spcAft>
              <a:buSzPct val="100000"/>
              <a:buChar char="•"/>
            </a:pPr>
            <a:r>
              <a:rPr lang="en-US" sz="1500" dirty="0">
                <a:solidFill>
                  <a:srgbClr val="231F20"/>
                </a:solidFill>
              </a:rPr>
              <a:t>Compare with the official HCPI</a:t>
            </a:r>
            <a:endParaRPr lang="en-US" sz="15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CHALLENGES AND CONCLUSION</a:t>
            </a:r>
            <a:endParaRPr lang="en-US" sz="1200" dirty="0"/>
          </a:p>
        </p:txBody>
      </p:sp>
      <p:sp>
        <p:nvSpPr>
          <p:cNvPr id="3" name="Progress dot 1"/>
          <p:cNvSpPr/>
          <p:nvPr/>
        </p:nvSpPr>
        <p:spPr>
          <a:xfrm>
            <a:off x="10561320" y="365760"/>
            <a:ext cx="128016" cy="128016"/>
          </a:xfrm>
          <a:prstGeom prst="ellipse">
            <a:avLst/>
          </a:prstGeom>
          <a:solidFill>
            <a:srgbClr val="D5DED9"/>
          </a:solidFill>
          <a:ln/>
        </p:spPr>
      </p:sp>
      <p:sp>
        <p:nvSpPr>
          <p:cNvPr id="4" name="Progress dot 2"/>
          <p:cNvSpPr/>
          <p:nvPr/>
        </p:nvSpPr>
        <p:spPr>
          <a:xfrm>
            <a:off x="10789920" y="365760"/>
            <a:ext cx="128016" cy="128016"/>
          </a:xfrm>
          <a:prstGeom prst="ellipse">
            <a:avLst/>
          </a:prstGeom>
          <a:solidFill>
            <a:srgbClr val="D5DED9"/>
          </a:solidFill>
          <a:ln/>
        </p:spPr>
      </p:sp>
      <p:sp>
        <p:nvSpPr>
          <p:cNvPr id="5" name="Progress dot 3"/>
          <p:cNvSpPr/>
          <p:nvPr/>
        </p:nvSpPr>
        <p:spPr>
          <a:xfrm>
            <a:off x="11018520" y="365760"/>
            <a:ext cx="128016" cy="128016"/>
          </a:xfrm>
          <a:prstGeom prst="ellipse">
            <a:avLst/>
          </a:prstGeom>
          <a:solidFill>
            <a:srgbClr val="D5DED9"/>
          </a:solidFill>
          <a:ln/>
        </p:spPr>
      </p:sp>
      <p:sp>
        <p:nvSpPr>
          <p:cNvPr id="6" name="Progress dot 4"/>
          <p:cNvSpPr/>
          <p:nvPr/>
        </p:nvSpPr>
        <p:spPr>
          <a:xfrm>
            <a:off x="11247120" y="365760"/>
            <a:ext cx="128016" cy="128016"/>
          </a:xfrm>
          <a:prstGeom prst="ellipse">
            <a:avLst/>
          </a:prstGeom>
          <a:solidFill>
            <a:srgbClr val="D5DED9"/>
          </a:solidFill>
          <a:ln/>
        </p:spPr>
      </p:sp>
      <p:sp>
        <p:nvSpPr>
          <p:cNvPr id="7" name="Progress dot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Sources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Reference documents and data used in this presentation</a:t>
            </a:r>
            <a:endParaRPr lang="en-US" sz="1500" dirty="0"/>
          </a:p>
        </p:txBody>
      </p:sp>
      <p:sp>
        <p:nvSpPr>
          <p:cNvPr id="10" name="Reference 1"/>
          <p:cNvSpPr/>
          <p:nvPr/>
        </p:nvSpPr>
        <p:spPr>
          <a:xfrm>
            <a:off x="502920" y="1783080"/>
            <a:ext cx="5440680" cy="1280160"/>
          </a:xfrm>
          <a:prstGeom prst="roundRect">
            <a:avLst>
              <a:gd name="adj" fmla="val 5714"/>
            </a:avLst>
          </a:prstGeom>
          <a:solidFill>
            <a:srgbClr val="F4F7F5"/>
          </a:solidFill>
          <a:ln w="9525">
            <a:solidFill>
              <a:srgbClr val="D5DED9"/>
            </a:solidFill>
            <a:prstDash val="solid"/>
          </a:ln>
        </p:spPr>
      </p:sp>
      <p:sp>
        <p:nvSpPr>
          <p:cNvPr id="11" name="Text 9"/>
          <p:cNvSpPr txBox="1"/>
          <p:nvPr/>
        </p:nvSpPr>
        <p:spPr>
          <a:xfrm>
            <a:off x="731520" y="192024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Consumer Price Index Manual (2020)</a:t>
            </a:r>
            <a:endParaRPr lang="en-US" sz="1400" dirty="0"/>
          </a:p>
        </p:txBody>
      </p:sp>
      <p:sp>
        <p:nvSpPr>
          <p:cNvPr id="12" name="Text 10"/>
          <p:cNvSpPr txBox="1"/>
          <p:nvPr/>
        </p:nvSpPr>
        <p:spPr>
          <a:xfrm>
            <a:off x="731520" y="2240280"/>
            <a:ext cx="5029200" cy="548640"/>
          </a:xfrm>
          <a:prstGeom prst="rect">
            <a:avLst/>
          </a:prstGeom>
          <a:noFill/>
          <a:ln/>
        </p:spPr>
        <p:txBody>
          <a:bodyPr wrap="square" lIns="0" tIns="0" rIns="0" bIns="0" rtlCol="0" anchor="t"/>
          <a:lstStyle/>
          <a:p>
            <a:pPr marL="0" indent="0">
              <a:buNone/>
            </a:pPr>
            <a:r>
              <a:rPr lang="en-US" sz="1200" dirty="0">
                <a:solidFill>
                  <a:srgbClr val="5E6964"/>
                </a:solidFill>
              </a:rPr>
              <a:t>Concepts and Methods. Joint publication of the international statistical organisations.</a:t>
            </a:r>
            <a:endParaRPr lang="en-US" sz="1200" dirty="0"/>
          </a:p>
        </p:txBody>
      </p:sp>
      <p:sp>
        <p:nvSpPr>
          <p:cNvPr id="13" name="Text 11"/>
          <p:cNvSpPr txBox="1"/>
          <p:nvPr/>
        </p:nvSpPr>
        <p:spPr>
          <a:xfrm>
            <a:off x="731520" y="276148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imf.org</a:t>
            </a:r>
            <a:endParaRPr lang="en-US" sz="1100" dirty="0"/>
          </a:p>
        </p:txBody>
      </p:sp>
      <p:sp>
        <p:nvSpPr>
          <p:cNvPr id="14" name="Reference 2"/>
          <p:cNvSpPr/>
          <p:nvPr/>
        </p:nvSpPr>
        <p:spPr>
          <a:xfrm>
            <a:off x="6172200" y="1783080"/>
            <a:ext cx="5440680" cy="1280160"/>
          </a:xfrm>
          <a:prstGeom prst="roundRect">
            <a:avLst>
              <a:gd name="adj" fmla="val 5714"/>
            </a:avLst>
          </a:prstGeom>
          <a:solidFill>
            <a:srgbClr val="F4F7F5"/>
          </a:solidFill>
          <a:ln w="9525">
            <a:solidFill>
              <a:srgbClr val="D5DED9"/>
            </a:solidFill>
            <a:prstDash val="solid"/>
          </a:ln>
        </p:spPr>
      </p:sp>
      <p:sp>
        <p:nvSpPr>
          <p:cNvPr id="15" name="Text 13"/>
          <p:cNvSpPr txBox="1"/>
          <p:nvPr/>
        </p:nvSpPr>
        <p:spPr>
          <a:xfrm>
            <a:off x="6400800" y="192024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BCEAO (2026)</a:t>
            </a:r>
            <a:endParaRPr lang="en-US" sz="1400" dirty="0"/>
          </a:p>
        </p:txBody>
      </p:sp>
      <p:sp>
        <p:nvSpPr>
          <p:cNvPr id="16" name="Text 14"/>
          <p:cNvSpPr txBox="1"/>
          <p:nvPr/>
        </p:nvSpPr>
        <p:spPr>
          <a:xfrm>
            <a:off x="6400800" y="2240280"/>
            <a:ext cx="5029200" cy="548640"/>
          </a:xfrm>
          <a:prstGeom prst="rect">
            <a:avLst/>
          </a:prstGeom>
          <a:noFill/>
          <a:ln/>
        </p:spPr>
        <p:txBody>
          <a:bodyPr wrap="square" lIns="0" tIns="0" rIns="0" bIns="0" rtlCol="0" anchor="t"/>
          <a:lstStyle/>
          <a:p>
            <a:pPr marL="0" indent="0">
              <a:buNone/>
            </a:pPr>
            <a:r>
              <a:rPr lang="en-US" sz="1200" dirty="0">
                <a:solidFill>
                  <a:srgbClr val="5E6964"/>
                </a:solidFill>
              </a:rPr>
              <a:t>Annual report on consumer prices in WAEMU in 2025 (in French).</a:t>
            </a:r>
            <a:endParaRPr lang="en-US" sz="1200" dirty="0"/>
          </a:p>
        </p:txBody>
      </p:sp>
      <p:sp>
        <p:nvSpPr>
          <p:cNvPr id="17" name="Text 15"/>
          <p:cNvSpPr txBox="1"/>
          <p:nvPr/>
        </p:nvSpPr>
        <p:spPr>
          <a:xfrm>
            <a:off x="6400800" y="276148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bceao.int</a:t>
            </a:r>
            <a:endParaRPr lang="en-US" sz="1100" dirty="0"/>
          </a:p>
        </p:txBody>
      </p:sp>
      <p:sp>
        <p:nvSpPr>
          <p:cNvPr id="18" name="Reference 3"/>
          <p:cNvSpPr/>
          <p:nvPr/>
        </p:nvSpPr>
        <p:spPr>
          <a:xfrm>
            <a:off x="502920" y="3246120"/>
            <a:ext cx="5440680" cy="1280160"/>
          </a:xfrm>
          <a:prstGeom prst="roundRect">
            <a:avLst>
              <a:gd name="adj" fmla="val 5714"/>
            </a:avLst>
          </a:prstGeom>
          <a:solidFill>
            <a:srgbClr val="F4F7F5"/>
          </a:solidFill>
          <a:ln w="9525">
            <a:solidFill>
              <a:srgbClr val="D5DED9"/>
            </a:solidFill>
            <a:prstDash val="solid"/>
          </a:ln>
        </p:spPr>
      </p:sp>
      <p:sp>
        <p:nvSpPr>
          <p:cNvPr id="19" name="Text 17"/>
          <p:cNvSpPr txBox="1"/>
          <p:nvPr/>
        </p:nvSpPr>
        <p:spPr>
          <a:xfrm>
            <a:off x="731520" y="338328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ANSD (2026)</a:t>
            </a:r>
            <a:endParaRPr lang="en-US" sz="1400" dirty="0"/>
          </a:p>
        </p:txBody>
      </p:sp>
      <p:sp>
        <p:nvSpPr>
          <p:cNvPr id="20" name="Text 18"/>
          <p:cNvSpPr txBox="1"/>
          <p:nvPr/>
        </p:nvSpPr>
        <p:spPr>
          <a:xfrm>
            <a:off x="731520" y="3703320"/>
            <a:ext cx="5029200" cy="548640"/>
          </a:xfrm>
          <a:prstGeom prst="rect">
            <a:avLst/>
          </a:prstGeom>
          <a:noFill/>
          <a:ln/>
        </p:spPr>
        <p:txBody>
          <a:bodyPr wrap="square" lIns="0" tIns="0" rIns="0" bIns="0" rtlCol="0" anchor="t"/>
          <a:lstStyle/>
          <a:p>
            <a:pPr marL="0" indent="0">
              <a:buNone/>
            </a:pPr>
            <a:r>
              <a:rPr lang="en-US" sz="1200" dirty="0">
                <a:solidFill>
                  <a:srgbClr val="5E6964"/>
                </a:solidFill>
              </a:rPr>
              <a:t>Harmonised consumer price index, March 2026: base-2023 weights and methodological note (in French).</a:t>
            </a:r>
            <a:endParaRPr lang="en-US" sz="1200" dirty="0"/>
          </a:p>
        </p:txBody>
      </p:sp>
      <p:sp>
        <p:nvSpPr>
          <p:cNvPr id="21" name="Text 19"/>
          <p:cNvSpPr txBox="1"/>
          <p:nvPr/>
        </p:nvSpPr>
        <p:spPr>
          <a:xfrm>
            <a:off x="731520" y="422452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ansd.sn</a:t>
            </a:r>
            <a:endParaRPr lang="en-US" sz="1100" dirty="0"/>
          </a:p>
        </p:txBody>
      </p:sp>
      <p:sp>
        <p:nvSpPr>
          <p:cNvPr id="22" name="Reference 4"/>
          <p:cNvSpPr/>
          <p:nvPr/>
        </p:nvSpPr>
        <p:spPr>
          <a:xfrm>
            <a:off x="6172200" y="3246120"/>
            <a:ext cx="5440680" cy="1280160"/>
          </a:xfrm>
          <a:prstGeom prst="roundRect">
            <a:avLst>
              <a:gd name="adj" fmla="val 5714"/>
            </a:avLst>
          </a:prstGeom>
          <a:solidFill>
            <a:srgbClr val="F4F7F5"/>
          </a:solidFill>
          <a:ln w="9525">
            <a:solidFill>
              <a:srgbClr val="D5DED9"/>
            </a:solidFill>
            <a:prstDash val="solid"/>
          </a:ln>
        </p:spPr>
      </p:sp>
      <p:sp>
        <p:nvSpPr>
          <p:cNvPr id="23" name="Text 21"/>
          <p:cNvSpPr txBox="1"/>
          <p:nvPr/>
        </p:nvSpPr>
        <p:spPr>
          <a:xfrm>
            <a:off x="6400800" y="338328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United Nations, UNSD (2018)</a:t>
            </a:r>
            <a:endParaRPr lang="en-US" sz="1400" dirty="0"/>
          </a:p>
        </p:txBody>
      </p:sp>
      <p:sp>
        <p:nvSpPr>
          <p:cNvPr id="24" name="Text 22"/>
          <p:cNvSpPr txBox="1"/>
          <p:nvPr/>
        </p:nvSpPr>
        <p:spPr>
          <a:xfrm>
            <a:off x="6400800" y="3703320"/>
            <a:ext cx="5029200" cy="548640"/>
          </a:xfrm>
          <a:prstGeom prst="rect">
            <a:avLst/>
          </a:prstGeom>
          <a:noFill/>
          <a:ln/>
        </p:spPr>
        <p:txBody>
          <a:bodyPr wrap="square" lIns="0" tIns="0" rIns="0" bIns="0" rtlCol="0" anchor="t"/>
          <a:lstStyle/>
          <a:p>
            <a:pPr marL="0" indent="0">
              <a:buNone/>
            </a:pPr>
            <a:r>
              <a:rPr lang="en-US" sz="1200" dirty="0">
                <a:solidFill>
                  <a:srgbClr val="5E6964"/>
                </a:solidFill>
              </a:rPr>
              <a:t>Classification of Individual Consumption According to Purpose (COICOP) 2018.</a:t>
            </a:r>
            <a:endParaRPr lang="en-US" sz="1200" dirty="0"/>
          </a:p>
        </p:txBody>
      </p:sp>
      <p:sp>
        <p:nvSpPr>
          <p:cNvPr id="25" name="Text 23"/>
          <p:cNvSpPr txBox="1"/>
          <p:nvPr/>
        </p:nvSpPr>
        <p:spPr>
          <a:xfrm>
            <a:off x="6400800" y="422452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unstats.un.org/unsd/classifications</a:t>
            </a:r>
            <a:endParaRPr lang="en-US" sz="1100" dirty="0"/>
          </a:p>
        </p:txBody>
      </p:sp>
      <p:sp>
        <p:nvSpPr>
          <p:cNvPr id="26" name="Reference 5"/>
          <p:cNvSpPr/>
          <p:nvPr/>
        </p:nvSpPr>
        <p:spPr>
          <a:xfrm>
            <a:off x="502920" y="4709160"/>
            <a:ext cx="5440680" cy="1280160"/>
          </a:xfrm>
          <a:prstGeom prst="roundRect">
            <a:avLst>
              <a:gd name="adj" fmla="val 5714"/>
            </a:avLst>
          </a:prstGeom>
          <a:solidFill>
            <a:srgbClr val="F4F7F5"/>
          </a:solidFill>
          <a:ln w="9525">
            <a:solidFill>
              <a:srgbClr val="D5DED9"/>
            </a:solidFill>
            <a:prstDash val="solid"/>
          </a:ln>
        </p:spPr>
      </p:sp>
      <p:sp>
        <p:nvSpPr>
          <p:cNvPr id="27" name="Text 25"/>
          <p:cNvSpPr txBox="1"/>
          <p:nvPr/>
        </p:nvSpPr>
        <p:spPr>
          <a:xfrm>
            <a:off x="731520" y="484632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ECB (2026)</a:t>
            </a:r>
            <a:endParaRPr lang="en-US" sz="1400" dirty="0"/>
          </a:p>
        </p:txBody>
      </p:sp>
      <p:sp>
        <p:nvSpPr>
          <p:cNvPr id="28" name="Text 26"/>
          <p:cNvSpPr txBox="1"/>
          <p:nvPr/>
        </p:nvSpPr>
        <p:spPr>
          <a:xfrm>
            <a:off x="731520" y="5166360"/>
            <a:ext cx="5029200" cy="548640"/>
          </a:xfrm>
          <a:prstGeom prst="rect">
            <a:avLst/>
          </a:prstGeom>
          <a:noFill/>
          <a:ln/>
        </p:spPr>
        <p:txBody>
          <a:bodyPr wrap="square" lIns="0" tIns="0" rIns="0" bIns="0" rtlCol="0" anchor="t"/>
          <a:lstStyle/>
          <a:p>
            <a:pPr marL="0" indent="0">
              <a:buNone/>
            </a:pPr>
            <a:r>
              <a:rPr lang="en-US" sz="1200" dirty="0">
                <a:solidFill>
                  <a:srgbClr val="5E6964"/>
                </a:solidFill>
              </a:rPr>
              <a:t>What's new in the HICP? The 2026 classification update. Economic Bulletin 3/2026.</a:t>
            </a:r>
            <a:endParaRPr lang="en-US" sz="1200" dirty="0"/>
          </a:p>
        </p:txBody>
      </p:sp>
      <p:sp>
        <p:nvSpPr>
          <p:cNvPr id="29" name="Text 27"/>
          <p:cNvSpPr txBox="1"/>
          <p:nvPr/>
        </p:nvSpPr>
        <p:spPr>
          <a:xfrm>
            <a:off x="731520" y="568756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ecb.europa.eu</a:t>
            </a:r>
            <a:endParaRPr lang="en-US" sz="1100" dirty="0"/>
          </a:p>
        </p:txBody>
      </p:sp>
      <p:sp>
        <p:nvSpPr>
          <p:cNvPr id="30" name="Reference 6"/>
          <p:cNvSpPr/>
          <p:nvPr/>
        </p:nvSpPr>
        <p:spPr>
          <a:xfrm>
            <a:off x="6172200" y="4709160"/>
            <a:ext cx="5440680" cy="1280160"/>
          </a:xfrm>
          <a:prstGeom prst="roundRect">
            <a:avLst>
              <a:gd name="adj" fmla="val 5714"/>
            </a:avLst>
          </a:prstGeom>
          <a:solidFill>
            <a:srgbClr val="F4F7F5"/>
          </a:solidFill>
          <a:ln w="9525">
            <a:solidFill>
              <a:srgbClr val="D5DED9"/>
            </a:solidFill>
            <a:prstDash val="solid"/>
          </a:ln>
        </p:spPr>
      </p:sp>
      <p:sp>
        <p:nvSpPr>
          <p:cNvPr id="31" name="Text 29"/>
          <p:cNvSpPr txBox="1"/>
          <p:nvPr/>
        </p:nvSpPr>
        <p:spPr>
          <a:xfrm>
            <a:off x="6400800" y="484632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jumia-cpi 1.0.0 lab (2026)</a:t>
            </a:r>
            <a:endParaRPr lang="en-US" sz="1400" dirty="0"/>
          </a:p>
        </p:txBody>
      </p:sp>
      <p:sp>
        <p:nvSpPr>
          <p:cNvPr id="32" name="Text 30"/>
          <p:cNvSpPr txBox="1"/>
          <p:nvPr/>
        </p:nvSpPr>
        <p:spPr>
          <a:xfrm>
            <a:off x="6400800" y="5166360"/>
            <a:ext cx="5029200" cy="548640"/>
          </a:xfrm>
          <a:prstGeom prst="rect">
            <a:avLst/>
          </a:prstGeom>
          <a:noFill/>
          <a:ln/>
        </p:spPr>
        <p:txBody>
          <a:bodyPr wrap="square" lIns="0" tIns="0" rIns="0" bIns="0" rtlCol="0" anchor="t"/>
          <a:lstStyle/>
          <a:p>
            <a:pPr marL="0" indent="0">
              <a:buNone/>
            </a:pPr>
            <a:r>
              <a:rPr lang="en-US" sz="1200" dirty="0">
                <a:solidFill>
                  <a:srgbClr val="5E6964"/>
                </a:solidFill>
              </a:rPr>
              <a:t>Collection and analysis notebooks; run of 14 October 2026 in Côte d'Ivoire.</a:t>
            </a:r>
            <a:endParaRPr lang="en-US" sz="1200" dirty="0"/>
          </a:p>
        </p:txBody>
      </p:sp>
      <p:sp>
        <p:nvSpPr>
          <p:cNvPr id="33" name="Text 31"/>
          <p:cNvSpPr txBox="1"/>
          <p:nvPr/>
        </p:nvSpPr>
        <p:spPr>
          <a:xfrm>
            <a:off x="6400800" y="568756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notebooks 1, 2 and 3</a:t>
            </a:r>
            <a:endParaRPr lang="en-US" sz="1100" dirty="0"/>
          </a:p>
        </p:txBody>
      </p:sp>
      <p:sp>
        <p:nvSpPr>
          <p:cNvPr id="34"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p>
            <a:pPr marL="0" indent="0">
              <a:buNone/>
            </a:pPr>
            <a:r>
              <a:rPr lang="en-US" sz="1500" b="1" kern="0" spc="300" dirty="0">
                <a:solidFill>
                  <a:srgbClr val="F5C242"/>
                </a:solidFill>
              </a:rPr>
              <a:t>THE CONSUMER PRICE INDEX</a:t>
            </a: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nchor="t"/>
          <a:lstStyle/>
          <a:p>
            <a:pPr marL="0" indent="0" algn="l">
              <a:buNone/>
            </a:pPr>
            <a:r>
              <a:rPr lang="en-US" sz="4200" b="1" dirty="0">
                <a:solidFill>
                  <a:srgbClr val="FFFFFF"/>
                </a:solidFill>
              </a:rPr>
              <a:t>Thank you</a:t>
            </a: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nchor="t"/>
          <a:lstStyle/>
          <a:p>
            <a:pPr marL="0" indent="0">
              <a:buNone/>
            </a:pPr>
            <a:r>
              <a:rPr lang="en-US" sz="1900" i="1" dirty="0">
                <a:solidFill>
                  <a:srgbClr val="E6F6EE"/>
                </a:solidFill>
              </a:rPr>
              <a:t>Measuring prices rigorously, and opening the CPI to new data sources</a:t>
            </a:r>
            <a:endParaRPr lang="en-US" sz="1900" dirty="0"/>
          </a:p>
        </p:txBody>
      </p:sp>
    </p:spTree>
  </p:cSld>
  <p:clrMapOvr>
    <a:masterClrMapping/>
  </p:clrMapOvr>
  <p:transition spd="med">
    <p:fade/>
  </p:transition>
</p:sld>
</file>

<file path=ppt/theme/theme1.xml><?xml version="1.0" encoding="utf-8"?>
<a:theme xmlns:a="http://schemas.openxmlformats.org/drawingml/2006/main" name="AfDB-inspired Institutional">
  <a:themeElements>
    <a:clrScheme name="AfDB-inspired Institutional">
      <a:dk1>
        <a:srgbClr val="231F20"/>
      </a:dk1>
      <a:lt1>
        <a:srgbClr val="FFFFFF"/>
      </a:lt1>
      <a:dk2>
        <a:srgbClr val="5E6964"/>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inspired Institut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5396</Words>
  <Application>Microsoft Office PowerPoint</Application>
  <PresentationFormat>Widescreen</PresentationFormat>
  <Paragraphs>582</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AfDB-inspired Institutional</vt:lpstr>
      <vt:lpstr>The consumer price index: from COICOP 2018 to online prices</vt:lpstr>
      <vt:lpstr>Three key messages</vt:lpstr>
      <vt:lpstr>Acronyms</vt:lpstr>
      <vt:lpstr>Understanding the CPI</vt:lpstr>
      <vt:lpstr>What is the consumer price index?</vt:lpstr>
      <vt:lpstr>One indicator, five uses that drive decisions</vt:lpstr>
      <vt:lpstr>HCPI, HICP, deflator: cousins, not twins</vt:lpstr>
      <vt:lpstr>WAEMU: from the 2022 peak to stable prices in 2025</vt:lpstr>
      <vt:lpstr>The basket and COICOP 2018</vt:lpstr>
      <vt:lpstr>The basket, a snapshot of consumption</vt:lpstr>
      <vt:lpstr>Weights: a highly concentrated basket</vt:lpstr>
      <vt:lpstr>COICOP 2018, the framework behind the basket</vt:lpstr>
      <vt:lpstr>What COICOP 2018 changes for a CPI</vt:lpstr>
      <vt:lpstr>Compiling the index</vt:lpstr>
      <vt:lpstr>The CPI production chain</vt:lpstr>
      <vt:lpstr>Collecting prices: four complementary sources</vt:lpstr>
      <vt:lpstr>Elementary indices: why choose Jevons</vt:lpstr>
      <vt:lpstr>Aggregating, chaining, rebasing</vt:lpstr>
      <vt:lpstr>Four challenges that define CPI quality</vt:lpstr>
      <vt:lpstr>An online price index</vt:lpstr>
      <vt:lpstr>Architecture: collect on site, analyse anywhere</vt:lpstr>
      <vt:lpstr>Notebook 1: collecting online prices without forcing anything</vt:lpstr>
      <vt:lpstr>Notebook 2: reaching what e-commerce cannot see</vt:lpstr>
      <vt:lpstr>Coverage: 7 of 13 divisions, 78% of the weight</vt:lpstr>
      <vt:lpstr>First collection: 10,523 price quotes in one day</vt:lpstr>
      <vt:lpstr>Classifying by COICOP: rules, model and benchmark</vt:lpstr>
      <vt:lpstr>Discounts: the specific challenge of online prices</vt:lpstr>
      <vt:lpstr>What this index measures, and what it does not</vt:lpstr>
      <vt:lpstr>Testing the lab in six steps</vt:lpstr>
      <vt:lpstr>Challenges and conclusion</vt:lpstr>
      <vt:lpstr>Current challenges for the CPI</vt:lpstr>
      <vt:lpstr>In summary</vt:lpstr>
      <vt:lpstr>Sources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consumer price index: from COICOP 2018 to online prices</dc:title>
  <dc:subject>Consumer price index (CPI)</dc:subject>
  <dc:creator>Mohamed Ali Hadj Taieb</dc:creator>
  <cp:lastModifiedBy>HADJ TAIEB, MOHAMED ALI</cp:lastModifiedBy>
  <cp:revision>2</cp:revision>
  <dcterms:created xsi:type="dcterms:W3CDTF">2026-10-19T06:26:47Z</dcterms:created>
  <dcterms:modified xsi:type="dcterms:W3CDTF">2026-10-19T07:48:02Z</dcterms:modified>
</cp:coreProperties>
</file>