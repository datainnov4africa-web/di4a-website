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3.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4.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rts/chart5.xml" ContentType="application/vnd.openxmlformats-officedocument.drawingml.chart+xml"/>
  <Override PartName="/ppt/notesSlides/notesSlide26.xml" ContentType="application/vnd.openxmlformats-officedocument.presentationml.notesSlide+xml"/>
  <Override PartName="/ppt/charts/chart6.xml" ContentType="application/vnd.openxmlformats-officedocument.drawingml.chart+xml"/>
  <Override PartName="/ppt/notesSlides/notesSlide27.xml" ContentType="application/vnd.openxmlformats-officedocument.presentationml.notesSlide+xml"/>
  <Override PartName="/ppt/charts/chart7.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2E9C9692-FDFF-04B9-8322-9E9D06306E19}">
          <p14:sldIdLst>
            <p14:sldId id="256"/>
            <p14:sldId id="257"/>
            <p14:sldId id="258"/>
          </p14:sldIdLst>
        </p14:section>
        <p14:section name="Comprendre l'IPC" id="{FA4746CF-E235-D312-92B0-C076EEA178F7}">
          <p14:sldIdLst>
            <p14:sldId id="259"/>
            <p14:sldId id="260"/>
            <p14:sldId id="261"/>
            <p14:sldId id="262"/>
            <p14:sldId id="263"/>
          </p14:sldIdLst>
        </p14:section>
        <p14:section name="Panier et COICOP" id="{315D4FD9-F2AD-F43A-E5CC-316B8B9289F1}">
          <p14:sldIdLst>
            <p14:sldId id="264"/>
            <p14:sldId id="265"/>
            <p14:sldId id="266"/>
            <p14:sldId id="267"/>
            <p14:sldId id="268"/>
          </p14:sldIdLst>
        </p14:section>
        <p14:section name="Produire l'indice" id="{BC338236-F7BA-9A47-5CFC-136828A83C22}">
          <p14:sldIdLst>
            <p14:sldId id="269"/>
            <p14:sldId id="270"/>
            <p14:sldId id="271"/>
            <p14:sldId id="272"/>
            <p14:sldId id="273"/>
            <p14:sldId id="274"/>
          </p14:sldIdLst>
        </p14:section>
        <p14:section name="Laboratoire" id="{1E771AF8-AC46-D553-B342-F0C88BBDBD59}">
          <p14:sldIdLst>
            <p14:sldId id="275"/>
            <p14:sldId id="276"/>
            <p14:sldId id="277"/>
            <p14:sldId id="278"/>
            <p14:sldId id="279"/>
            <p14:sldId id="280"/>
            <p14:sldId id="281"/>
            <p14:sldId id="282"/>
            <p14:sldId id="283"/>
            <p14:sldId id="284"/>
          </p14:sldIdLst>
        </p14:section>
        <p14:section name="Enjeux et conclusion" id="{3C7F736D-D514-CF74-0EC7-7E85E10F1720}">
          <p14:sldIdLst>
            <p14:sldId id="285"/>
            <p14:sldId id="286"/>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31F20"/>
                </a:solidFill>
                <a:latin typeface="Calibri"/>
              </a:defRPr>
            </a:pPr>
            <a:r>
              <a:rPr sz="1400" b="0" i="0" u="none" strike="noStrike">
                <a:solidFill>
                  <a:srgbClr val="231F20"/>
                </a:solidFill>
                <a:latin typeface="Calibri"/>
              </a:rPr>
              <a:t>UEMOA, 2019-2025</a:t>
            </a:r>
          </a:p>
        </c:rich>
      </c:tx>
      <c:overlay val="0"/>
    </c:title>
    <c:autoTitleDeleted val="0"/>
    <c:plotArea>
      <c:layout/>
      <c:lineChart>
        <c:grouping val="standard"/>
        <c:varyColors val="0"/>
        <c:ser>
          <c:idx val="0"/>
          <c:order val="0"/>
          <c:tx>
            <c:strRef>
              <c:f>Sheet1!$B$1</c:f>
              <c:strCache>
                <c:ptCount val="1"/>
                <c:pt idx="0">
                  <c:v>UEMOA</c:v>
                </c:pt>
              </c:strCache>
            </c:strRef>
          </c:tx>
          <c:spPr>
            <a:ln w="38100" cap="flat">
              <a:solidFill>
                <a:srgbClr val="00A86A"/>
              </a:solidFill>
              <a:prstDash val="solid"/>
              <a:round/>
            </a:ln>
            <a:effectLst/>
          </c:spPr>
          <c:marker>
            <c:symbol val="circle"/>
            <c:size val="8"/>
            <c:spPr>
              <a:solidFill>
                <a:srgbClr val="00A86A"/>
              </a:solidFill>
              <a:ln w="9525" cap="flat">
                <a:solidFill>
                  <a:srgbClr val="00A86A"/>
                </a:solidFill>
                <a:prstDash val="solid"/>
                <a:round/>
              </a:ln>
              <a:effectLst/>
            </c:spPr>
          </c:marker>
          <c:dLbls>
            <c:numFmt formatCode="0&quot;,&quot;0" sourceLinked="0"/>
            <c:spPr>
              <a:noFill/>
              <a:ln>
                <a:noFill/>
              </a:ln>
              <a:effectLst/>
            </c:spPr>
            <c:txPr>
              <a:bodyPr/>
              <a:lstStyle/>
              <a:p>
                <a:pPr>
                  <a:defRPr sz="1200" b="0" i="0" u="none" strike="noStrike">
                    <a:solidFill>
                      <a:srgbClr val="231F20"/>
                    </a:solidFill>
                    <a:latin typeface="Calibri"/>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2019</c:v>
                </c:pt>
                <c:pt idx="1">
                  <c:v>2020</c:v>
                </c:pt>
                <c:pt idx="2">
                  <c:v>2021</c:v>
                </c:pt>
                <c:pt idx="3">
                  <c:v>2022</c:v>
                </c:pt>
                <c:pt idx="4">
                  <c:v>2023</c:v>
                </c:pt>
                <c:pt idx="5">
                  <c:v>2024</c:v>
                </c:pt>
                <c:pt idx="6">
                  <c:v>2025</c:v>
                </c:pt>
              </c:strCache>
            </c:strRef>
          </c:cat>
          <c:val>
            <c:numRef>
              <c:f>Sheet1!$B$2:$B$8</c:f>
              <c:numCache>
                <c:formatCode>General</c:formatCode>
                <c:ptCount val="7"/>
                <c:pt idx="0">
                  <c:v>-7</c:v>
                </c:pt>
                <c:pt idx="1">
                  <c:v>21</c:v>
                </c:pt>
                <c:pt idx="2">
                  <c:v>36</c:v>
                </c:pt>
                <c:pt idx="3">
                  <c:v>74</c:v>
                </c:pt>
                <c:pt idx="4">
                  <c:v>37</c:v>
                </c:pt>
                <c:pt idx="5">
                  <c:v>35</c:v>
                </c:pt>
                <c:pt idx="6">
                  <c:v>0</c:v>
                </c:pt>
              </c:numCache>
            </c:numRef>
          </c:val>
          <c:smooth val="0"/>
          <c:extLst>
            <c:ext xmlns:c16="http://schemas.microsoft.com/office/drawing/2014/chart" uri="{C3380CC4-5D6E-409C-BE32-E72D297353CC}">
              <c16:uniqueId val="{00000000-3A58-4030-807A-BEED85E1C87F}"/>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D5DED9"/>
            </a:solidFill>
            <a:prstDash val="solid"/>
            <a:round/>
          </a:ln>
        </c:spPr>
        <c:txPr>
          <a:bodyPr/>
          <a:lstStyle/>
          <a:p>
            <a:pPr>
              <a:defRPr sz="12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90"/>
          <c:min val="-2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31F20"/>
                </a:solidFill>
                <a:latin typeface="Calibri"/>
              </a:defRPr>
            </a:pPr>
            <a:r>
              <a:rPr sz="1400" b="0" i="0" u="none" strike="noStrike">
                <a:solidFill>
                  <a:srgbClr val="231F20"/>
                </a:solidFill>
                <a:latin typeface="Calibri"/>
              </a:rPr>
              <a:t>Côte d'Ivoire et Sénégal, 2022-2025</a:t>
            </a:r>
          </a:p>
        </c:rich>
      </c:tx>
      <c:overlay val="0"/>
    </c:title>
    <c:autoTitleDeleted val="0"/>
    <c:plotArea>
      <c:layout/>
      <c:barChart>
        <c:barDir val="col"/>
        <c:grouping val="clustered"/>
        <c:varyColors val="0"/>
        <c:ser>
          <c:idx val="0"/>
          <c:order val="0"/>
          <c:tx>
            <c:strRef>
              <c:f>Sheet1!$B$1</c:f>
              <c:strCache>
                <c:ptCount val="1"/>
                <c:pt idx="0">
                  <c:v>Côte d'Ivoire</c:v>
                </c:pt>
              </c:strCache>
            </c:strRef>
          </c:tx>
          <c:spPr>
            <a:solidFill>
              <a:srgbClr val="00A86A"/>
            </a:solidFill>
            <a:effectLst/>
          </c:spPr>
          <c:invertIfNegative val="0"/>
          <c:dLbls>
            <c:numFmt formatCode="0&quot;,&quot;0" sourceLinked="0"/>
            <c:spPr>
              <a:noFill/>
              <a:ln>
                <a:noFill/>
              </a:ln>
              <a:effectLst/>
            </c:spPr>
            <c:txPr>
              <a:bodyPr/>
              <a:lstStyle/>
              <a:p>
                <a:pPr>
                  <a:defRPr sz="1200" b="0" i="0" u="none" strike="noStrike">
                    <a:solidFill>
                      <a:srgbClr val="231F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2022</c:v>
                </c:pt>
                <c:pt idx="1">
                  <c:v>2023</c:v>
                </c:pt>
                <c:pt idx="2">
                  <c:v>2024</c:v>
                </c:pt>
                <c:pt idx="3">
                  <c:v>2025</c:v>
                </c:pt>
              </c:strCache>
            </c:strRef>
          </c:cat>
          <c:val>
            <c:numRef>
              <c:f>Sheet1!$B$2:$B$5</c:f>
              <c:numCache>
                <c:formatCode>General</c:formatCode>
                <c:ptCount val="4"/>
                <c:pt idx="0">
                  <c:v>52</c:v>
                </c:pt>
                <c:pt idx="1">
                  <c:v>44</c:v>
                </c:pt>
                <c:pt idx="2">
                  <c:v>35</c:v>
                </c:pt>
                <c:pt idx="3">
                  <c:v>1</c:v>
                </c:pt>
              </c:numCache>
            </c:numRef>
          </c:val>
          <c:extLst>
            <c:ext xmlns:c16="http://schemas.microsoft.com/office/drawing/2014/chart" uri="{C3380CC4-5D6E-409C-BE32-E72D297353CC}">
              <c16:uniqueId val="{00000000-83DC-4E72-808A-A3144B58CD9F}"/>
            </c:ext>
          </c:extLst>
        </c:ser>
        <c:ser>
          <c:idx val="1"/>
          <c:order val="1"/>
          <c:tx>
            <c:strRef>
              <c:f>Sheet1!$C$1</c:f>
              <c:strCache>
                <c:ptCount val="1"/>
                <c:pt idx="0">
                  <c:v>Sénégal</c:v>
                </c:pt>
              </c:strCache>
            </c:strRef>
          </c:tx>
          <c:spPr>
            <a:solidFill>
              <a:srgbClr val="00553A"/>
            </a:solidFill>
            <a:effectLst/>
          </c:spPr>
          <c:invertIfNegative val="0"/>
          <c:dLbls>
            <c:numFmt formatCode="0&quot;,&quot;0" sourceLinked="0"/>
            <c:spPr>
              <a:noFill/>
              <a:ln>
                <a:noFill/>
              </a:ln>
              <a:effectLst/>
            </c:spPr>
            <c:txPr>
              <a:bodyPr/>
              <a:lstStyle/>
              <a:p>
                <a:pPr>
                  <a:defRPr sz="1200" b="0" i="0" u="none" strike="noStrike">
                    <a:solidFill>
                      <a:srgbClr val="231F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2022</c:v>
                </c:pt>
                <c:pt idx="1">
                  <c:v>2023</c:v>
                </c:pt>
                <c:pt idx="2">
                  <c:v>2024</c:v>
                </c:pt>
                <c:pt idx="3">
                  <c:v>2025</c:v>
                </c:pt>
              </c:strCache>
            </c:strRef>
          </c:cat>
          <c:val>
            <c:numRef>
              <c:f>Sheet1!$C$2:$C$5</c:f>
              <c:numCache>
                <c:formatCode>General</c:formatCode>
                <c:ptCount val="4"/>
                <c:pt idx="0">
                  <c:v>97</c:v>
                </c:pt>
                <c:pt idx="1">
                  <c:v>59</c:v>
                </c:pt>
                <c:pt idx="2">
                  <c:v>8</c:v>
                </c:pt>
                <c:pt idx="3">
                  <c:v>14</c:v>
                </c:pt>
              </c:numCache>
            </c:numRef>
          </c:val>
          <c:extLst>
            <c:ext xmlns:c16="http://schemas.microsoft.com/office/drawing/2014/chart" uri="{C3380CC4-5D6E-409C-BE32-E72D297353CC}">
              <c16:uniqueId val="{00000001-83DC-4E72-808A-A3144B58CD9F}"/>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D5DED9"/>
            </a:solidFill>
            <a:prstDash val="solid"/>
            <a:round/>
          </a:ln>
        </c:spPr>
        <c:txPr>
          <a:bodyPr/>
          <a:lstStyle/>
          <a:p>
            <a:pPr>
              <a:defRPr sz="12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11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t"/>
      <c:overlay val="0"/>
      <c:txPr>
        <a:bodyPr/>
        <a:lstStyle/>
        <a:p>
          <a:pPr>
            <a:defRPr sz="1200">
              <a:solidFill>
                <a:srgbClr val="5E6964"/>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Poids</c:v>
                </c:pt>
              </c:strCache>
            </c:strRef>
          </c:tx>
          <c:spPr>
            <a:solidFill>
              <a:srgbClr val="00A86A"/>
            </a:solidFill>
            <a:effectLst/>
          </c:spPr>
          <c:invertIfNegative val="0"/>
          <c:dLbls>
            <c:numFmt formatCode="0&quot;,&quot;0" sourceLinked="0"/>
            <c:spPr>
              <a:noFill/>
              <a:ln>
                <a:noFill/>
              </a:ln>
              <a:effectLst/>
            </c:spPr>
            <c:txPr>
              <a:bodyPr/>
              <a:lstStyle/>
              <a:p>
                <a:pPr>
                  <a:defRPr sz="1100" b="0" i="0" u="none" strike="noStrike">
                    <a:solidFill>
                      <a:srgbClr val="231F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Sheet1!$A$2:$A$14</c:f>
              <c:strCache>
                <c:ptCount val="13"/>
                <c:pt idx="0">
                  <c:v>12 Assurances et finance</c:v>
                </c:pt>
                <c:pt idx="1">
                  <c:v>02 Alcool, tabac</c:v>
                </c:pt>
                <c:pt idx="2">
                  <c:v>09 Loisirs, sport, culture</c:v>
                </c:pt>
                <c:pt idx="3">
                  <c:v>10 Enseignement</c:v>
                </c:pt>
                <c:pt idx="4">
                  <c:v>06 Santé</c:v>
                </c:pt>
                <c:pt idx="5">
                  <c:v>03 Vêtements, chaussures</c:v>
                </c:pt>
                <c:pt idx="6">
                  <c:v>13 Soins personnels, divers</c:v>
                </c:pt>
                <c:pt idx="7">
                  <c:v>05 Ameublement, équipement</c:v>
                </c:pt>
                <c:pt idx="8">
                  <c:v>07 Transports</c:v>
                </c:pt>
                <c:pt idx="9">
                  <c:v>08 Information, communication</c:v>
                </c:pt>
                <c:pt idx="10">
                  <c:v>04 Logement, énergie</c:v>
                </c:pt>
                <c:pt idx="11">
                  <c:v>11 Restaurants, hébergement</c:v>
                </c:pt>
                <c:pt idx="12">
                  <c:v>01 Alimentation</c:v>
                </c:pt>
              </c:strCache>
            </c:strRef>
          </c:cat>
          <c:val>
            <c:numRef>
              <c:f>Sheet1!$B$2:$B$14</c:f>
              <c:numCache>
                <c:formatCode>General</c:formatCode>
                <c:ptCount val="13"/>
                <c:pt idx="0">
                  <c:v>1</c:v>
                </c:pt>
                <c:pt idx="1">
                  <c:v>2</c:v>
                </c:pt>
                <c:pt idx="2">
                  <c:v>10</c:v>
                </c:pt>
                <c:pt idx="3">
                  <c:v>18</c:v>
                </c:pt>
                <c:pt idx="4">
                  <c:v>42</c:v>
                </c:pt>
                <c:pt idx="5">
                  <c:v>48</c:v>
                </c:pt>
                <c:pt idx="6">
                  <c:v>49</c:v>
                </c:pt>
                <c:pt idx="7">
                  <c:v>57</c:v>
                </c:pt>
                <c:pt idx="8">
                  <c:v>61</c:v>
                </c:pt>
                <c:pt idx="9">
                  <c:v>75</c:v>
                </c:pt>
                <c:pt idx="10">
                  <c:v>92</c:v>
                </c:pt>
                <c:pt idx="11">
                  <c:v>92</c:v>
                </c:pt>
                <c:pt idx="12">
                  <c:v>455</c:v>
                </c:pt>
              </c:numCache>
            </c:numRef>
          </c:val>
          <c:extLst>
            <c:ext xmlns:c16="http://schemas.microsoft.com/office/drawing/2014/chart" uri="{C3380CC4-5D6E-409C-BE32-E72D297353CC}">
              <c16:uniqueId val="{00000000-4998-458C-BAC4-C8FCD03C43D6}"/>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D5DED9"/>
            </a:solidFill>
            <a:prstDash val="solid"/>
            <a:round/>
          </a:ln>
        </c:spPr>
        <c:txPr>
          <a:bodyPr/>
          <a:lstStyle/>
          <a:p>
            <a:pPr>
              <a:defRPr sz="11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52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31F20"/>
                </a:solidFill>
                <a:latin typeface="Calibri"/>
              </a:defRPr>
            </a:pPr>
            <a:r>
              <a:rPr sz="1400" b="0" i="0" u="none" strike="noStrike">
                <a:solidFill>
                  <a:srgbClr val="231F20"/>
                </a:solidFill>
                <a:latin typeface="Calibri"/>
              </a:rPr>
              <a:t>Indice élémentaire selon la formule</a:t>
            </a:r>
          </a:p>
        </c:rich>
      </c:tx>
      <c:overlay val="0"/>
    </c:title>
    <c:autoTitleDeleted val="0"/>
    <c:plotArea>
      <c:layout/>
      <c:lineChart>
        <c:grouping val="standard"/>
        <c:varyColors val="0"/>
        <c:ser>
          <c:idx val="0"/>
          <c:order val="0"/>
          <c:tx>
            <c:strRef>
              <c:f>Sheet1!$B$1</c:f>
              <c:strCache>
                <c:ptCount val="1"/>
                <c:pt idx="0">
                  <c:v>Carli chaîné</c:v>
                </c:pt>
              </c:strCache>
            </c:strRef>
          </c:tx>
          <c:spPr>
            <a:ln w="38100" cap="flat">
              <a:solidFill>
                <a:srgbClr val="B83B2E"/>
              </a:solidFill>
              <a:prstDash val="solid"/>
              <a:round/>
            </a:ln>
            <a:effectLst/>
          </c:spPr>
          <c:marker>
            <c:symbol val="circle"/>
            <c:size val="8"/>
            <c:spPr>
              <a:solidFill>
                <a:srgbClr val="B83B2E"/>
              </a:solidFill>
              <a:ln w="9525" cap="flat">
                <a:solidFill>
                  <a:srgbClr val="B83B2E"/>
                </a:solidFill>
                <a:prstDash val="solid"/>
                <a:round/>
              </a:ln>
              <a:effectLst/>
            </c:spPr>
          </c:marker>
          <c:dLbls>
            <c:numFmt formatCode="0" sourceLinked="0"/>
            <c:spPr>
              <a:noFill/>
              <a:ln>
                <a:noFill/>
              </a:ln>
              <a:effectLst/>
            </c:spPr>
            <c:txPr>
              <a:bodyPr/>
              <a:lstStyle/>
              <a:p>
                <a:pPr>
                  <a:defRPr sz="1200" b="0" i="0" u="none" strike="noStrike">
                    <a:solidFill>
                      <a:srgbClr val="231F20"/>
                    </a:solidFill>
                    <a:latin typeface="Calibri"/>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Mois 0</c:v>
                </c:pt>
                <c:pt idx="1">
                  <c:v>Mois 1</c:v>
                </c:pt>
                <c:pt idx="2">
                  <c:v>Mois 2</c:v>
                </c:pt>
              </c:strCache>
            </c:strRef>
          </c:cat>
          <c:val>
            <c:numRef>
              <c:f>Sheet1!$B$2:$B$4</c:f>
              <c:numCache>
                <c:formatCode>General</c:formatCode>
                <c:ptCount val="3"/>
                <c:pt idx="0">
                  <c:v>100</c:v>
                </c:pt>
                <c:pt idx="1">
                  <c:v>125</c:v>
                </c:pt>
                <c:pt idx="2">
                  <c:v>156.25</c:v>
                </c:pt>
              </c:numCache>
            </c:numRef>
          </c:val>
          <c:smooth val="0"/>
          <c:extLst>
            <c:ext xmlns:c16="http://schemas.microsoft.com/office/drawing/2014/chart" uri="{C3380CC4-5D6E-409C-BE32-E72D297353CC}">
              <c16:uniqueId val="{00000000-82A1-450E-B574-91510A53701F}"/>
            </c:ext>
          </c:extLst>
        </c:ser>
        <c:ser>
          <c:idx val="1"/>
          <c:order val="1"/>
          <c:tx>
            <c:strRef>
              <c:f>Sheet1!$C$1</c:f>
              <c:strCache>
                <c:ptCount val="1"/>
                <c:pt idx="0">
                  <c:v>Dutot</c:v>
                </c:pt>
              </c:strCache>
            </c:strRef>
          </c:tx>
          <c:spPr>
            <a:ln w="38100" cap="flat">
              <a:solidFill>
                <a:srgbClr val="0E7C86"/>
              </a:solidFill>
              <a:prstDash val="solid"/>
              <a:round/>
            </a:ln>
            <a:effectLst/>
          </c:spPr>
          <c:marker>
            <c:symbol val="circle"/>
            <c:size val="8"/>
            <c:spPr>
              <a:solidFill>
                <a:srgbClr val="0E7C86"/>
              </a:solidFill>
              <a:ln w="9525" cap="flat">
                <a:solidFill>
                  <a:srgbClr val="0E7C86"/>
                </a:solidFill>
                <a:prstDash val="solid"/>
                <a:round/>
              </a:ln>
              <a:effectLst/>
            </c:spPr>
          </c:marker>
          <c:dLbls>
            <c:numFmt formatCode="0" sourceLinked="0"/>
            <c:spPr>
              <a:noFill/>
              <a:ln>
                <a:noFill/>
              </a:ln>
              <a:effectLst/>
            </c:spPr>
            <c:txPr>
              <a:bodyPr/>
              <a:lstStyle/>
              <a:p>
                <a:pPr>
                  <a:defRPr sz="1200" b="0" i="0" u="none" strike="noStrike">
                    <a:solidFill>
                      <a:srgbClr val="231F20"/>
                    </a:solidFill>
                    <a:latin typeface="Calibri"/>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Mois 0</c:v>
                </c:pt>
                <c:pt idx="1">
                  <c:v>Mois 1</c:v>
                </c:pt>
                <c:pt idx="2">
                  <c:v>Mois 2</c:v>
                </c:pt>
              </c:strCache>
            </c:strRef>
          </c:cat>
          <c:val>
            <c:numRef>
              <c:f>Sheet1!$C$2:$C$4</c:f>
              <c:numCache>
                <c:formatCode>General</c:formatCode>
                <c:ptCount val="3"/>
                <c:pt idx="0">
                  <c:v>100</c:v>
                </c:pt>
                <c:pt idx="1">
                  <c:v>125</c:v>
                </c:pt>
                <c:pt idx="2">
                  <c:v>100</c:v>
                </c:pt>
              </c:numCache>
            </c:numRef>
          </c:val>
          <c:smooth val="0"/>
          <c:extLst>
            <c:ext xmlns:c16="http://schemas.microsoft.com/office/drawing/2014/chart" uri="{C3380CC4-5D6E-409C-BE32-E72D297353CC}">
              <c16:uniqueId val="{00000001-82A1-450E-B574-91510A53701F}"/>
            </c:ext>
          </c:extLst>
        </c:ser>
        <c:ser>
          <c:idx val="2"/>
          <c:order val="2"/>
          <c:tx>
            <c:strRef>
              <c:f>Sheet1!$D$1</c:f>
              <c:strCache>
                <c:ptCount val="1"/>
                <c:pt idx="0">
                  <c:v>Jevons</c:v>
                </c:pt>
              </c:strCache>
            </c:strRef>
          </c:tx>
          <c:spPr>
            <a:ln w="38100" cap="flat">
              <a:solidFill>
                <a:srgbClr val="00A86A"/>
              </a:solidFill>
              <a:prstDash val="solid"/>
              <a:round/>
            </a:ln>
            <a:effectLst/>
          </c:spPr>
          <c:marker>
            <c:symbol val="circle"/>
            <c:size val="8"/>
            <c:spPr>
              <a:solidFill>
                <a:srgbClr val="00A86A"/>
              </a:solidFill>
              <a:ln w="9525" cap="flat">
                <a:solidFill>
                  <a:srgbClr val="00A86A"/>
                </a:solidFill>
                <a:prstDash val="solid"/>
                <a:round/>
              </a:ln>
              <a:effectLst/>
            </c:spPr>
          </c:marker>
          <c:dLbls>
            <c:numFmt formatCode="0" sourceLinked="0"/>
            <c:spPr>
              <a:noFill/>
              <a:ln>
                <a:noFill/>
              </a:ln>
              <a:effectLst/>
            </c:spPr>
            <c:txPr>
              <a:bodyPr/>
              <a:lstStyle/>
              <a:p>
                <a:pPr>
                  <a:defRPr sz="1200" b="0" i="0" u="none" strike="noStrike">
                    <a:solidFill>
                      <a:srgbClr val="231F20"/>
                    </a:solidFill>
                    <a:latin typeface="Calibri"/>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Mois 0</c:v>
                </c:pt>
                <c:pt idx="1">
                  <c:v>Mois 1</c:v>
                </c:pt>
                <c:pt idx="2">
                  <c:v>Mois 2</c:v>
                </c:pt>
              </c:strCache>
            </c:strRef>
          </c:cat>
          <c:val>
            <c:numRef>
              <c:f>Sheet1!$D$2:$D$4</c:f>
              <c:numCache>
                <c:formatCode>General</c:formatCode>
                <c:ptCount val="3"/>
                <c:pt idx="0">
                  <c:v>100</c:v>
                </c:pt>
                <c:pt idx="1">
                  <c:v>100</c:v>
                </c:pt>
                <c:pt idx="2">
                  <c:v>100</c:v>
                </c:pt>
              </c:numCache>
            </c:numRef>
          </c:val>
          <c:smooth val="0"/>
          <c:extLst>
            <c:ext xmlns:c16="http://schemas.microsoft.com/office/drawing/2014/chart" uri="{C3380CC4-5D6E-409C-BE32-E72D297353CC}">
              <c16:uniqueId val="{00000002-82A1-450E-B574-91510A53701F}"/>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D5DED9"/>
            </a:solidFill>
            <a:prstDash val="solid"/>
            <a:round/>
          </a:ln>
        </c:spPr>
        <c:txPr>
          <a:bodyPr/>
          <a:lstStyle/>
          <a:p>
            <a:pPr>
              <a:defRPr sz="12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170"/>
          <c:min val="8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200">
              <a:solidFill>
                <a:srgbClr val="5E6964"/>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Produits</c:v>
                </c:pt>
              </c:strCache>
            </c:strRef>
          </c:tx>
          <c:spPr>
            <a:solidFill>
              <a:srgbClr val="00A86A"/>
            </a:solidFill>
            <a:effectLst/>
          </c:spPr>
          <c:invertIfNegative val="0"/>
          <c:dLbls>
            <c:numFmt formatCode="#\ ##0" sourceLinked="0"/>
            <c:spPr>
              <a:noFill/>
              <a:ln>
                <a:noFill/>
              </a:ln>
              <a:effectLst/>
            </c:spPr>
            <c:txPr>
              <a:bodyPr/>
              <a:lstStyle/>
              <a:p>
                <a:pPr>
                  <a:defRPr sz="1100" b="0" i="0" u="none" strike="noStrike">
                    <a:solidFill>
                      <a:srgbClr val="231F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01</c:v>
                </c:pt>
                <c:pt idx="1">
                  <c:v>05</c:v>
                </c:pt>
                <c:pt idx="2">
                  <c:v>08</c:v>
                </c:pt>
                <c:pt idx="3">
                  <c:v>13</c:v>
                </c:pt>
                <c:pt idx="4">
                  <c:v>03</c:v>
                </c:pt>
                <c:pt idx="5">
                  <c:v>09</c:v>
                </c:pt>
                <c:pt idx="6">
                  <c:v>04</c:v>
                </c:pt>
                <c:pt idx="7">
                  <c:v>06</c:v>
                </c:pt>
                <c:pt idx="8">
                  <c:v>02</c:v>
                </c:pt>
                <c:pt idx="9">
                  <c:v>07</c:v>
                </c:pt>
              </c:strCache>
            </c:strRef>
          </c:cat>
          <c:val>
            <c:numRef>
              <c:f>Sheet1!$B$2:$B$11</c:f>
              <c:numCache>
                <c:formatCode>General</c:formatCode>
                <c:ptCount val="10"/>
                <c:pt idx="0">
                  <c:v>3164</c:v>
                </c:pt>
                <c:pt idx="1">
                  <c:v>2374</c:v>
                </c:pt>
                <c:pt idx="2">
                  <c:v>1753</c:v>
                </c:pt>
                <c:pt idx="3">
                  <c:v>1639</c:v>
                </c:pt>
                <c:pt idx="4">
                  <c:v>911</c:v>
                </c:pt>
                <c:pt idx="5">
                  <c:v>539</c:v>
                </c:pt>
                <c:pt idx="6">
                  <c:v>87</c:v>
                </c:pt>
                <c:pt idx="7">
                  <c:v>33</c:v>
                </c:pt>
                <c:pt idx="8">
                  <c:v>5</c:v>
                </c:pt>
                <c:pt idx="9">
                  <c:v>3</c:v>
                </c:pt>
              </c:numCache>
            </c:numRef>
          </c:val>
          <c:extLst>
            <c:ext xmlns:c16="http://schemas.microsoft.com/office/drawing/2014/chart" uri="{C3380CC4-5D6E-409C-BE32-E72D297353CC}">
              <c16:uniqueId val="{00000000-6924-4566-AB70-9E7AF84678D0}"/>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title>
          <c:tx>
            <c:rich>
              <a:bodyPr/>
              <a:lstStyle/>
              <a:p>
                <a:pPr>
                  <a:defRPr sz="1200" b="0" i="0" u="none" strike="noStrike">
                    <a:solidFill>
                      <a:srgbClr val="5E6964"/>
                    </a:solidFill>
                    <a:latin typeface="Arial"/>
                  </a:defRPr>
                </a:pPr>
                <a:r>
                  <a:rPr sz="1200" b="0" i="0" u="none" strike="noStrike">
                    <a:solidFill>
                      <a:srgbClr val="5E6964"/>
                    </a:solidFill>
                    <a:latin typeface="Arial"/>
                  </a:rPr>
                  <a:t>Division COICOP</a:t>
                </a:r>
              </a:p>
            </c:rich>
          </c:tx>
          <c:overlay val="0"/>
        </c:title>
        <c:numFmt formatCode="General" sourceLinked="1"/>
        <c:majorTickMark val="out"/>
        <c:minorTickMark val="none"/>
        <c:tickLblPos val="low"/>
        <c:spPr>
          <a:ln w="12700" cap="flat">
            <a:solidFill>
              <a:srgbClr val="D5DED9"/>
            </a:solidFill>
            <a:prstDash val="solid"/>
            <a:round/>
          </a:ln>
        </c:spPr>
        <c:txPr>
          <a:bodyPr/>
          <a:lstStyle/>
          <a:p>
            <a:pPr>
              <a:defRPr sz="12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31F20"/>
                </a:solidFill>
                <a:latin typeface="Calibri"/>
              </a:defRPr>
            </a:pPr>
            <a:r>
              <a:rPr sz="1400" b="0" i="0" u="none" strike="noStrike">
                <a:solidFill>
                  <a:srgbClr val="231F20"/>
                </a:solidFill>
                <a:latin typeface="Calibri"/>
              </a:rPr>
              <a:t>D'où vient chaque classement (produits)</a:t>
            </a:r>
          </a:p>
        </c:rich>
      </c:tx>
      <c:overlay val="0"/>
    </c:title>
    <c:autoTitleDeleted val="0"/>
    <c:plotArea>
      <c:layout/>
      <c:barChart>
        <c:barDir val="bar"/>
        <c:grouping val="clustered"/>
        <c:varyColors val="0"/>
        <c:ser>
          <c:idx val="0"/>
          <c:order val="0"/>
          <c:tx>
            <c:strRef>
              <c:f>Sheet1!$B$1</c:f>
              <c:strCache>
                <c:ptCount val="1"/>
                <c:pt idx="0">
                  <c:v>Produits</c:v>
                </c:pt>
              </c:strCache>
            </c:strRef>
          </c:tx>
          <c:spPr>
            <a:solidFill>
              <a:srgbClr val="00704A"/>
            </a:solidFill>
            <a:effectLst/>
          </c:spPr>
          <c:invertIfNegative val="0"/>
          <c:dLbls>
            <c:numFmt formatCode="#\ ##0" sourceLinked="0"/>
            <c:spPr>
              <a:noFill/>
              <a:ln>
                <a:noFill/>
              </a:ln>
              <a:effectLst/>
            </c:spPr>
            <c:txPr>
              <a:bodyPr/>
              <a:lstStyle/>
              <a:p>
                <a:pPr>
                  <a:defRPr sz="1100" b="0" i="0" u="none" strike="noStrike">
                    <a:solidFill>
                      <a:srgbClr val="231F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Modèle (Groq)</c:v>
                </c:pt>
                <c:pt idx="1">
                  <c:v>Modèle, repli règles</c:v>
                </c:pt>
                <c:pt idx="2">
                  <c:v>Catégorie du site</c:v>
                </c:pt>
                <c:pt idx="3">
                  <c:v>Règles</c:v>
                </c:pt>
              </c:strCache>
            </c:strRef>
          </c:cat>
          <c:val>
            <c:numRef>
              <c:f>Sheet1!$B$2:$B$5</c:f>
              <c:numCache>
                <c:formatCode>General</c:formatCode>
                <c:ptCount val="4"/>
                <c:pt idx="0">
                  <c:v>241</c:v>
                </c:pt>
                <c:pt idx="1">
                  <c:v>260</c:v>
                </c:pt>
                <c:pt idx="2">
                  <c:v>1903</c:v>
                </c:pt>
                <c:pt idx="3">
                  <c:v>8104</c:v>
                </c:pt>
              </c:numCache>
            </c:numRef>
          </c:val>
          <c:extLst>
            <c:ext xmlns:c16="http://schemas.microsoft.com/office/drawing/2014/chart" uri="{C3380CC4-5D6E-409C-BE32-E72D297353CC}">
              <c16:uniqueId val="{00000000-F53B-465C-9ED7-2D80095701B9}"/>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D5DED9"/>
            </a:solidFill>
            <a:prstDash val="solid"/>
            <a:round/>
          </a:ln>
        </c:spPr>
        <c:txPr>
          <a:bodyPr/>
          <a:lstStyle/>
          <a:p>
            <a:pPr>
              <a:defRPr sz="12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980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 en promotion</c:v>
                </c:pt>
              </c:strCache>
            </c:strRef>
          </c:tx>
          <c:spPr>
            <a:solidFill>
              <a:srgbClr val="D49A00"/>
            </a:solidFill>
            <a:effectLst/>
          </c:spPr>
          <c:invertIfNegative val="0"/>
          <c:dLbls>
            <c:numFmt formatCode="0&quot; %&quot;" sourceLinked="0"/>
            <c:spPr>
              <a:noFill/>
              <a:ln>
                <a:noFill/>
              </a:ln>
              <a:effectLst/>
            </c:spPr>
            <c:txPr>
              <a:bodyPr/>
              <a:lstStyle/>
              <a:p>
                <a:pPr>
                  <a:defRPr sz="1200" b="0" i="0" u="none" strike="noStrike">
                    <a:solidFill>
                      <a:srgbClr val="231F20"/>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04 Logement, énergie</c:v>
                </c:pt>
                <c:pt idx="1">
                  <c:v>01 Alimentation</c:v>
                </c:pt>
                <c:pt idx="2">
                  <c:v>06 Santé</c:v>
                </c:pt>
                <c:pt idx="3">
                  <c:v>05 Équipement ménager</c:v>
                </c:pt>
                <c:pt idx="4">
                  <c:v>09 Loisirs, culture</c:v>
                </c:pt>
                <c:pt idx="5">
                  <c:v>08 Information, comm.</c:v>
                </c:pt>
                <c:pt idx="6">
                  <c:v>13 Soins, divers</c:v>
                </c:pt>
                <c:pt idx="7">
                  <c:v>03 Habillement</c:v>
                </c:pt>
              </c:strCache>
            </c:strRef>
          </c:cat>
          <c:val>
            <c:numRef>
              <c:f>Sheet1!$B$2:$B$9</c:f>
              <c:numCache>
                <c:formatCode>General</c:formatCode>
                <c:ptCount val="8"/>
                <c:pt idx="0">
                  <c:v>5</c:v>
                </c:pt>
                <c:pt idx="1">
                  <c:v>9</c:v>
                </c:pt>
                <c:pt idx="2">
                  <c:v>52</c:v>
                </c:pt>
                <c:pt idx="3">
                  <c:v>65</c:v>
                </c:pt>
                <c:pt idx="4">
                  <c:v>70</c:v>
                </c:pt>
                <c:pt idx="5">
                  <c:v>72</c:v>
                </c:pt>
                <c:pt idx="6">
                  <c:v>80</c:v>
                </c:pt>
                <c:pt idx="7">
                  <c:v>83</c:v>
                </c:pt>
              </c:numCache>
            </c:numRef>
          </c:val>
          <c:extLst>
            <c:ext xmlns:c16="http://schemas.microsoft.com/office/drawing/2014/chart" uri="{C3380CC4-5D6E-409C-BE32-E72D297353CC}">
              <c16:uniqueId val="{00000000-66C2-44E0-8D6C-28931B18E54C}"/>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D5DED9"/>
            </a:solidFill>
            <a:prstDash val="solid"/>
            <a:round/>
          </a:ln>
        </c:spPr>
        <c:txPr>
          <a:bodyPr/>
          <a:lstStyle/>
          <a:p>
            <a:pPr>
              <a:defRPr sz="1200" b="0" i="0" u="none" strike="noStrike">
                <a:solidFill>
                  <a:srgbClr val="5E6964"/>
                </a:solidFill>
                <a:latin typeface="Calibri"/>
              </a:defRPr>
            </a:pPr>
            <a:endParaRPr lang="en-US"/>
          </a:p>
        </c:txPr>
        <c:crossAx val="2094734552"/>
        <c:crosses val="autoZero"/>
        <c:auto val="1"/>
        <c:lblAlgn val="ctr"/>
        <c:lblOffset val="100"/>
        <c:noMultiLvlLbl val="1"/>
      </c:catAx>
      <c:valAx>
        <c:axId val="2094734552"/>
        <c:scaling>
          <c:orientation val="minMax"/>
          <c:max val="10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24879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présentation part de l'indicateur lui-même, l'IPC, puis descend vers sa fabrication : le panier, la classification COICOP 2018, la collecte et le calcul. Elle se termine par un laboratoire pratique, testé le 14 octobre 2026 en Côte d'Ivoire, qui montre ce que les prix en ligne et les prix publiés par les institutions peuvent apporter à un IPC, et ce qu'ils ne peuvent pas apporter.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idées guident la présentation. D'abord, l'IPC a des conséquences directes sur les décisions publiques et privées. Ensuite, sa qualité dépend du panier et des pondérations, que la COICOP 2018 organise. Enfin, les sources nouvelles sont prometteuses, mais notre propre laboratoire montre qu'elles laissent des pans entiers du panier hors d'atteinte.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 des sigles utilisés. La BCEAO est la banque centrale commune aux huit États de l'UEMOA ; dans l'Union, l'IPC national de chaque État est l'IHPC. L'EHCVM est l'enquête auprès des ménages qui fournit les pondérations de l'IHPC base 2023. OCPV, ANARE-CI, CRSE et ARTP sont les institutions dont les publications alimentent le laboratoire.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partie : l'indicateur lui-même, ses usages, et ce qu'il dit de l'inflation récente.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Définition fondée sur le Manuel de l'indice des prix à la consommation (2020), publié conjointement par les organisations internationales de statistique. Les deux mots clés sont « panier fixe » et « qualité constante » : l'IPC compare les prix des mêmes choses dans le temps. Les quatre choix de champ sont propres à chaque pays. Au Sénégal, par exemple, la collecte de l'IHPC couvre six zones (Dakar, Thiès, Kaolack, Diourbel, Saint-Louis, Kolda), urbaines et rurales.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usage a ses propres exigences : la banque centrale veut un indice réactif et comparable entre pays ; l'indexation exige un indice jamais révisé ; les comptes nationaux veulent une cohérence avec la consommation des ménages. D'où l'importance d'une méthodologie documentée.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Dans l'UEMOA, l'IPC national est l'IHPC : il est harmonisé dans sa méthode entre les huit États pour permettre la surveillance multilatérale. L'IPCH européen poursuit le même objectif dans l'UE. Le déflateur, lui, appartient aux comptes nationaux : ses pondérations changent à chaque période, il n'est donc pas adapté à l'indexation.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Chiffres officiels de la BCEAO, en moyenne annuelle. Après le choc de 2022 (7,4 % dans l'UEMOA, 9,7 % au Sénégal), l'inflation est revenue à 0,0 % en moyenne dans l'Union en 2025. Côte d'Ivoire : 0,1 % en 2025 ; Sénégal : 1,4 %. Attention : en glissement annuel, l'inflation de l'UEMOA était de −0,8 % en décembre 2025. Une inflation basse rend la qualité de la mesure encore plus importante : une erreur de quelques dixièmes change le diagnostic.</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partie : le panier, véritable cœur de l'IPC.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Sénégal, les pondérations de l'IHPC base 2023 viennent de l'EHCVM 2021-2022, et la nomenclature utilisée (NCOA 2018) est tirée de la COICOP 2018, avec 13 divisions. L'exemple de variété est illustratif. Le panier est fixe entre deux changements de base : c'est ce qui permet de comparer les prix des mêmes choses dans le temps.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division 01 représente 4 547 points sur 10 000. Les trois premières divisions totalisent 63,8 % du panier ; les quatre plus petites, 3,1 %. Conséquence pratique : un indice qui suit très bien l'électronique mais mal l'alimentation ne dit presque rien du coût de la vie. La division 08 pèse 7,46 %, chiffre que l'on retrouvera dans le laboratoire. Comparaison possible avec la Côte d'Ivoire et l'UEMOA : le rapport 2025 de la BCEAO publie une part « alimentaire » (31,9 % en Côte d'Ivoire, 45,7 % au Sénégal, 37,1 % dans l'UEMOA), mais sans définir précisément le contenu de cet agrégat ; à citer avec prudence.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 de la structure COICOP 2018, adoptée par la Commission de statistique des Nations unies en mars 2018 : 15 divisions, 63 groupes, 186 classes, 338 sous-classes. Le type de produit permet de calculer des agrégats comme « biens » et « services », très suivis par les banques centrales. Les divisions 14 et 15 portent sur des services fournis gratuitement aux ménages (par des associations ou par l'État) : sans prix payé par le ménage, elles sont hors du champ de l'IPC.</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un IPC, l'apport principal de la COICOP 2018 est la séparation des biens et des services. Exemple : un réfrigérateur livré et installé donnait un seul prix ; désormais le bien, la livraison et l'installation relèvent de postes différents. Le retour d'expérience européen est rassurant : bien préparée, la migration n'a modifié l'inflation d'ensemble de la zone euro que de 0,1 point au plus, par effet d'arrondi. Les révisions se concentrent sur l'alimentation non transformée (jusqu'à 1,2 point), parce que des produits réfrigérés et surgelés ont été reclassés.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Troisième partie : la fabrication de l'indice, mois après mois.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trois premières étapes forment la base de l'indice et ne changent qu'au changement de base (2023 pour l'IHPC de l'UEMOA). Les trois dernières se répètent chaque mois. Le laboratoire présenté plus loin intervient dans la collecte, puis reproduit, à petite échelle, les étapes de calcul et d'agrégation.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deux dernières sources sont celles que le laboratoire mobilise : les prix en ligne (Jumia) et les prix publiés par les institutions (prix administrés, prix relevés sur les marchés par l'OCPV en Côte d'Ivoire). Les données de caisse sont très utilisées en Europe ; en Afrique de l'Ouest, leur couverture se limite à la grande distribution.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 mois 2, les deux prix sont revenus exactement à leur niveau de départ : l'indice devrait valoir 100. Le Jevons donne 100 à chaque mois : une baisse de 50 % (rapport 0,5) et un doublement (rapport 2) se compensent exactement. Le Dutot retombe à 100 mais dépend des niveaux de prix. Le Carli chaîné dérive à 156 : moyenne arithmétique des rapports de prix, il surestime systématiquement quand les prix oscillent, par exemple avec des promotions. C'est exactement la situation des prix en ligne, d'où le choix du Jevons dans le laboratoire, qui calcule aussi le Carli pour montrer cette dérive.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formule de Young utilise des pondérations de dépense d'une période antérieure à la période de base des prix, ce qui est le cas de la plupart des IPC. La note méthodologique de l'ANSD indique que les indices de Young sont privilégiés plutôt que ceux de Laspeyres. Dans la pratique, la nuance tient à la mise à jour des prix des pondérations.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quatre difficultés sont amplifiées pour les prix en ligne : le catalogue se renouvelle très vite et les promotions sont omniprésentes. Le laboratoire en donne une mesure concrète sur la Côte d'Ivoire : plus de 80 % des articles d'habillement affichaient un prix barré lors de la collecte d'octobre 2026.</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Quatrième partie : le laboratoire. Tous les chiffres présentés viennent de l'exécution réelle des notebooks le 14 octobre 2026.</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choix d'architecture découle d'un constat technique : la collecte doit partir d'un poste de travail, pas d'un centre de données. Le notebook d'analyse, lui, ne touche jamais un site marchand : il ne lit que des fichiers, et peut donc tourner sur Colab sans rien installer. L'archive porte un manifeste de provenance et une empreinte qui garantissent que les relevés n'ont pas été modifiés.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13 octobre 2026, dix sites Jumia sur quatorze ont répondu HTTP 403 depuis Colab en 14 à 20 millisecondes. Une réponse aussi rapide ne peut pas venir d'un serveur à Abidjan : la requête a été refusée par le nœud de CDN le plus proche, sur la seule base de l'adresse de sortie. Le même jour, depuis un poste de travail, jumia.ci et jumia.sn ont servi 11 358 lignes. Le notebook vérifie donc d'abord d'où partent les requêtes. Principe éthique : une règle Disallow, un captcha ou un portail sont des décisions de l'éditeur ; elles sont consignées, pas contournées.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notebook 2 cible les postes que le commerce en ligne ne peut pas mesurer. L'électricité est un prix administré : il n'y a pas de marché à relever, il faut lire les tarifs publiés. Les prix de l'OCPV portent sur les mêmes produits que Jumia, mais sur d'autres circuits et pour d'autres acheteurs. L'indice ARTP est d'une autre nature : c'est déjà un indice, base 100 en 2023, la même base que l'IHPC. Il est donc conservé à part, à raccorder au niveau de la division.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laboratoire a apporté des relevés dans les divisions 01, 03, 04, 05, 08, 09 et 13, selon le journal du notebook 3. Pondérées avec les poids de l'IHPC du Sénégal, faute de pondérations ivoiriennes par division, ces sept divisions représentent 78,4 % du panier. Mais couvrir une division ne veut pas dire la couvrir bien : l'alimentation en ligne, par exemple, reflète surtout les produits emballés des consommateurs urbains. Quatre divisions, soit 17,2 % du poids, demandent un relevé de terrain ou un échange institutionnel. Les divisions 02 et 06 n'ont que quelques produits (5 et 33).</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deux archives agrégées totalisent 10 523 relevés : 7 759 issus de Jumia et 2 764 des sources institutionnelles. Quinze doublons ont été écartés. L'alimentation domine grâce aux prix des marchés de l'OCPV, suivie de l'équipement ménager et de l'information-communication, très présents en ligne. Les empreintes des deux fichiers ont été vérifiées à l'ouverture.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10 508 produits, 8 104 ont été classés par les règles, 1 903 par la catégorie du site, et environ 500 par le modèle de langage (Groq, gpt-oss-120b), dont 260 renvoyés aux règles quand l'API a saturé (erreurs HTTP 429). Point essentiel : le banc d'essai a tourné sur le jeu synthétique. Les règles y obtiennent 99 % parce qu'elles partagent son vocabulaire ; le notebook l'affiche lui-même. Pour trancher, il faut annoter un échantillon de vrais relevés : le notebook en a préparé 94, stratifiés par division. Comptez une à deux heures pour cent produits.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graphique reprend les valeurs de la carte de chaleur produite par le notebook 3 pour octobre 2026. Les prix barrés sont omniprésents en ligne pour l'habillement, les soins personnels et l'électronique, mais rares pour l'alimentation et l'énergie, où les prix viennent surtout des marchés et des tarifs. Un prix barré n'est pas toujours une vraie promotion : c'est souvent un prix de référence affiché en permanence. D'où l'intérêt de calculer l'indice sur les deux bases et de multiplier les relevés dans le mois.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faut être transparent sur l'état du laboratoire. Avec une seule collecte, le notebook affiche un indice de 100 : un indice compare deux périodes. Les pondérations utilisées lors du test étaient des parts égales, ce qui en fait un indicateur de tendance, pas une mesure comparable à l'IPC. Le chiffre de 2 900 entrées vient de la figure de renouvellement du catalogue produite par le notebook. Les cinq vérifications de l'encadré reprennent celles du notebook, auxquelles s'ajoute la condition des deux mois.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notebooks 1 et 2 tournent sur le poste de l'institut, le notebook 3 sur Colab. Le jeu de démonstration permet de lancer le notebook 3 sans aucune donnée pour voir un résultat complet. Avertissement tiré d'un projet voisin : un classeur Excel a ramené 970 produits à 130 en retypant les codes, silencieusement. D'où l'archive Parquet avec manifeste. Commande équivalente sans notebook : python scripts/collect.py --country CI --contact vous@institut.org --max-pages 10.</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Cinquième partie : les débats actuels autour de l'IPC, puis la synthèse et les prochaines étapes.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 le logement des propriétaires, la BCE rappelait en 2026 que ce poste n'est pas encore intégré dans la nouvelle classification de l'IPCH, et que les statisticiens européens étudient plusieurs approches. Sur l'inflation ressentie, l'alimentation pèse 45,5 % du panier au Sénégal : un ménage modeste y consacre davantage, et ressent donc plus fortement une hausse des prix alimentaires que ce que montre l'indice moyen.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loyers sont le poste non alimentaire le plus lourd d'un panier africain : le registre du projet identifie treize sources de loyers, dont trois déjà collectées ailleurs. C'est l'extension qui apporterait le plus. La comparaison avec l'IHPC officiel est prévue dans le notebook 3 : il suffit de fournir la série officielle en CSV.</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Tous les chiffres de la présentation proviennent de ces sources. Les résultats du laboratoire sont ceux de l'exécution réelle du 14 octobre 2026 ; l'exemple chiffré des formules élémentaires est illustratif.</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Diapositive de clôture.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He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417320"/>
            <a:ext cx="8229600" cy="411480"/>
          </a:xfrm>
          <a:prstGeom prst="rect">
            <a:avLst/>
          </a:prstGeom>
          <a:noFill/>
          <a:ln/>
        </p:spPr>
        <p:txBody>
          <a:bodyPr wrap="square" rtlCol="0"/>
          <a:lstStyle>
            <a:lvl1pPr marL="0" indent="0">
              <a:buNone/>
              <a:defRPr lang="en-US" sz="1500" b="1" kern="0" spc="300" dirty="0">
                <a:solidFill>
                  <a:srgbClr val="F5C242"/>
                </a:solidFill>
              </a:defRPr>
            </a:lvl1pPr>
          </a:lstStyle>
          <a:p>
            <a:pPr marL="0" indent="0">
              <a:buNone/>
            </a:pPr>
            <a:endParaRPr lang="en-US" sz="1500" dirty="0"/>
          </a:p>
        </p:txBody>
      </p:sp>
      <p:sp>
        <p:nvSpPr>
          <p:cNvPr id="3" name="Text 0"/>
          <p:cNvSpPr>
            <a:spLocks noGrp="1"/>
          </p:cNvSpPr>
          <p:nvPr>
            <p:ph type="title" idx="101" hasCustomPrompt="1"/>
          </p:nvPr>
        </p:nvSpPr>
        <p:spPr>
          <a:xfrm>
            <a:off x="731520" y="1874520"/>
            <a:ext cx="8412480" cy="2103120"/>
          </a:xfrm>
          <a:prstGeom prst="rect">
            <a:avLst/>
          </a:prstGeom>
          <a:noFill/>
          <a:ln/>
        </p:spPr>
        <p:txBody>
          <a:bodyPr wrap="square" rtlCol="0"/>
          <a:lstStyle>
            <a:lvl1pPr marL="0" indent="0" algn="l">
              <a:buNone/>
              <a:defRPr lang="en-US" sz="4200" b="1" dirty="0">
                <a:solidFill>
                  <a:srgbClr val="FFFFFF"/>
                </a:solidFill>
              </a:defRPr>
            </a:lvl1pPr>
          </a:lstStyle>
          <a:p>
            <a:pPr marL="0" indent="0" algn="l">
              <a:buNone/>
            </a:pPr>
            <a:endParaRPr lang="en-US" sz="4200" dirty="0"/>
          </a:p>
        </p:txBody>
      </p:sp>
      <p:sp>
        <p:nvSpPr>
          <p:cNvPr id="4" name="Text 0"/>
          <p:cNvSpPr>
            <a:spLocks noGrp="1"/>
          </p:cNvSpPr>
          <p:nvPr>
            <p:ph type="body" idx="102" hasCustomPrompt="1"/>
          </p:nvPr>
        </p:nvSpPr>
        <p:spPr>
          <a:xfrm>
            <a:off x="731520" y="4206240"/>
            <a:ext cx="7863840" cy="914400"/>
          </a:xfrm>
          <a:prstGeom prst="rect">
            <a:avLst/>
          </a:prstGeom>
          <a:noFill/>
          <a:ln/>
        </p:spPr>
        <p:txBody>
          <a:bodyPr wrap="square" rtlCol="0"/>
          <a:lstStyle>
            <a:lvl1pPr marL="0" indent="0">
              <a:buNone/>
              <a:defRPr lang="en-US" sz="1900" i="1" dirty="0">
                <a:solidFill>
                  <a:srgbClr val="E6F6EE"/>
                </a:solidFill>
              </a:defRPr>
            </a:lvl1pPr>
          </a:lstStyle>
          <a:p>
            <a:pPr marL="0" indent="0">
              <a:buNone/>
            </a:pPr>
            <a:endParaRPr lang="en-US" sz="19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097280"/>
            <a:ext cx="3200400" cy="1463040"/>
          </a:xfrm>
          <a:prstGeom prst="rect">
            <a:avLst/>
          </a:prstGeom>
          <a:noFill/>
          <a:ln/>
        </p:spPr>
        <p:txBody>
          <a:bodyPr wrap="square" rtlCol="0"/>
          <a:lstStyle>
            <a:lvl1pPr marL="0" indent="0">
              <a:buNone/>
              <a:defRPr lang="en-US" sz="11000" b="1" dirty="0">
                <a:solidFill>
                  <a:srgbClr val="F5C242"/>
                </a:solidFill>
              </a:defRPr>
            </a:lvl1pPr>
          </a:lstStyle>
          <a:p>
            <a:pPr marL="0" indent="0">
              <a:buNone/>
            </a:pPr>
            <a:endParaRPr lang="en-US" sz="11000" dirty="0"/>
          </a:p>
        </p:txBody>
      </p:sp>
      <p:sp>
        <p:nvSpPr>
          <p:cNvPr id="3" name="Text 0"/>
          <p:cNvSpPr>
            <a:spLocks noGrp="1"/>
          </p:cNvSpPr>
          <p:nvPr>
            <p:ph type="title" idx="101" hasCustomPrompt="1"/>
          </p:nvPr>
        </p:nvSpPr>
        <p:spPr>
          <a:xfrm>
            <a:off x="731520" y="2743200"/>
            <a:ext cx="7315200" cy="1188720"/>
          </a:xfrm>
          <a:prstGeom prst="rect">
            <a:avLst/>
          </a:prstGeom>
          <a:noFill/>
          <a:ln/>
        </p:spPr>
        <p:txBody>
          <a:bodyPr wrap="square" rtlCol="0"/>
          <a:lstStyle>
            <a:lvl1pPr marL="0" indent="0" algn="l">
              <a:buNone/>
              <a:defRPr lang="en-US" sz="4200" b="1" dirty="0">
                <a:solidFill>
                  <a:srgbClr val="FFFFFF"/>
                </a:solidFill>
              </a:defRPr>
            </a:lvl1pPr>
          </a:lstStyle>
          <a:p>
            <a:pPr marL="0" indent="0" algn="l">
              <a:buNone/>
            </a:pPr>
            <a:endParaRPr lang="en-US" sz="4200" dirty="0"/>
          </a:p>
        </p:txBody>
      </p:sp>
      <p:sp>
        <p:nvSpPr>
          <p:cNvPr id="4" name="Text 0"/>
          <p:cNvSpPr>
            <a:spLocks noGrp="1"/>
          </p:cNvSpPr>
          <p:nvPr>
            <p:ph type="body" idx="102" hasCustomPrompt="1"/>
          </p:nvPr>
        </p:nvSpPr>
        <p:spPr>
          <a:xfrm>
            <a:off x="731520" y="3977640"/>
            <a:ext cx="7589520" cy="822960"/>
          </a:xfrm>
          <a:prstGeom prst="rect">
            <a:avLst/>
          </a:prstGeom>
          <a:noFill/>
          <a:ln/>
        </p:spPr>
        <p:txBody>
          <a:bodyPr wrap="square" rtlCol="0"/>
          <a:lstStyle>
            <a:lvl1pPr marL="0" indent="0">
              <a:buNone/>
              <a:defRPr lang="en-US" sz="1900" i="1" dirty="0">
                <a:solidFill>
                  <a:srgbClr val="E6F6EE"/>
                </a:solidFill>
              </a:defRPr>
            </a:lvl1pPr>
          </a:lstStyle>
          <a:p>
            <a:pPr marL="0" indent="0">
              <a:buNone/>
            </a:pPr>
            <a:endParaRPr lang="en-US" sz="19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u">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0"/>
            <a:ext cx="12191695" cy="73152"/>
          </a:xfrm>
          <a:prstGeom prst="rect">
            <a:avLst/>
          </a:prstGeom>
          <a:solidFill>
            <a:srgbClr val="00A86A"/>
          </a:solidFill>
          <a:ln/>
        </p:spPr>
      </p:sp>
      <p:sp>
        <p:nvSpPr>
          <p:cNvPr id="3" name="Shape 1"/>
          <p:cNvSpPr/>
          <p:nvPr/>
        </p:nvSpPr>
        <p:spPr>
          <a:xfrm>
            <a:off x="0" y="0"/>
            <a:ext cx="1645920" cy="73152"/>
          </a:xfrm>
          <a:prstGeom prst="rect">
            <a:avLst/>
          </a:prstGeom>
          <a:solidFill>
            <a:srgbClr val="F5C242"/>
          </a:solidFill>
          <a:ln/>
        </p:spPr>
      </p:sp>
      <p:sp>
        <p:nvSpPr>
          <p:cNvPr id="4" name="Text 2"/>
          <p:cNvSpPr>
            <a:spLocks noGrp="1"/>
          </p:cNvSpPr>
          <p:nvPr>
            <p:ph type="body" idx="102" hasCustomPrompt="1"/>
          </p:nvPr>
        </p:nvSpPr>
        <p:spPr>
          <a:xfrm>
            <a:off x="502920" y="292608"/>
            <a:ext cx="8229600" cy="274320"/>
          </a:xfrm>
          <a:prstGeom prst="rect">
            <a:avLst/>
          </a:prstGeom>
          <a:noFill/>
          <a:ln/>
        </p:spPr>
        <p:txBody>
          <a:bodyPr wrap="square" rtlCol="0"/>
          <a:lstStyle>
            <a:lvl1pPr marL="0" indent="0">
              <a:buNone/>
              <a:defRPr lang="en-US" sz="1200" b="1" kern="0" spc="300" dirty="0">
                <a:solidFill>
                  <a:srgbClr val="00704A"/>
                </a:solidFill>
              </a:defRPr>
            </a:lvl1pPr>
          </a:lstStyle>
          <a:p>
            <a:pPr marL="0" indent="0">
              <a:buNone/>
            </a:pPr>
            <a:endParaRPr lang="en-US" sz="1200" dirty="0"/>
          </a:p>
        </p:txBody>
      </p:sp>
      <p:sp>
        <p:nvSpPr>
          <p:cNvPr id="5" name="Text 2"/>
          <p:cNvSpPr>
            <a:spLocks noGrp="1"/>
          </p:cNvSpPr>
          <p:nvPr>
            <p:ph type="title" idx="103" hasCustomPrompt="1"/>
          </p:nvPr>
        </p:nvSpPr>
        <p:spPr>
          <a:xfrm>
            <a:off x="502920" y="566928"/>
            <a:ext cx="11155680" cy="566928"/>
          </a:xfrm>
          <a:prstGeom prst="rect">
            <a:avLst/>
          </a:prstGeom>
          <a:noFill/>
          <a:ln/>
        </p:spPr>
        <p:txBody>
          <a:bodyPr wrap="square" rtlCol="0"/>
          <a:lstStyle>
            <a:lvl1pPr marL="0" indent="0" algn="l">
              <a:buNone/>
              <a:defRPr lang="en-US" sz="3000" b="1" dirty="0">
                <a:solidFill>
                  <a:srgbClr val="231F20"/>
                </a:solidFill>
              </a:defRPr>
            </a:lvl1pPr>
          </a:lstStyle>
          <a:p>
            <a:pPr marL="0" indent="0" algn="l">
              <a:buNone/>
            </a:pPr>
            <a:endParaRPr lang="en-US" sz="3000" dirty="0"/>
          </a:p>
        </p:txBody>
      </p:sp>
      <p:sp>
        <p:nvSpPr>
          <p:cNvPr id="6" name="Text 2"/>
          <p:cNvSpPr>
            <a:spLocks noGrp="1"/>
          </p:cNvSpPr>
          <p:nvPr>
            <p:ph type="body" idx="104" hasCustomPrompt="1"/>
          </p:nvPr>
        </p:nvSpPr>
        <p:spPr>
          <a:xfrm>
            <a:off x="502920" y="1143000"/>
            <a:ext cx="11155680" cy="384048"/>
          </a:xfrm>
          <a:prstGeom prst="rect">
            <a:avLst/>
          </a:prstGeom>
          <a:noFill/>
          <a:ln/>
        </p:spPr>
        <p:txBody>
          <a:bodyPr wrap="square" rtlCol="0"/>
          <a:lstStyle>
            <a:lvl1pPr marL="0" indent="0">
              <a:buNone/>
              <a:defRPr lang="en-US" sz="1500" i="1" dirty="0">
                <a:solidFill>
                  <a:srgbClr val="5E6964"/>
                </a:solidFill>
              </a:defRPr>
            </a:lvl1pPr>
          </a:lstStyle>
          <a:p>
            <a:pPr marL="0" indent="0">
              <a:buNone/>
            </a:pPr>
            <a:endParaRPr lang="en-US" sz="1500" dirty="0"/>
          </a:p>
        </p:txBody>
      </p:sp>
      <p:sp>
        <p:nvSpPr>
          <p:cNvPr id="7" name="Text 2"/>
          <p:cNvSpPr/>
          <p:nvPr/>
        </p:nvSpPr>
        <p:spPr>
          <a:xfrm>
            <a:off x="502920" y="6446520"/>
            <a:ext cx="8229600" cy="256032"/>
          </a:xfrm>
          <a:prstGeom prst="rect">
            <a:avLst/>
          </a:prstGeom>
          <a:noFill/>
          <a:ln/>
        </p:spPr>
        <p:txBody>
          <a:bodyPr wrap="square" lIns="0" tIns="0" rIns="0" bIns="0" rtlCol="0" anchor="ctr"/>
          <a:lstStyle/>
          <a:p>
            <a:pPr marL="0" indent="0">
              <a:buNone/>
            </a:pPr>
            <a:r>
              <a:rPr lang="en-US" sz="1000" dirty="0">
                <a:solidFill>
                  <a:srgbClr val="8A9590"/>
                </a:solidFill>
              </a:rPr>
              <a:t>L'indice des prix à la consommation · de la COICOP 2018 aux prix en ligne</a:t>
            </a:r>
            <a:endParaRPr lang="en-US" sz="1000" dirty="0"/>
          </a:p>
        </p:txBody>
      </p:sp>
      <p:sp>
        <p:nvSpPr>
          <p:cNvPr id="25"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chart" Target="../charts/chart2.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7.png"/><Relationship Id="rId7"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29.png"/><Relationship Id="rId5" Type="http://schemas.openxmlformats.org/officeDocument/2006/relationships/image" Target="../media/image28.png"/><Relationship Id="rId10" Type="http://schemas.openxmlformats.org/officeDocument/2006/relationships/image" Target="../media/image32.png"/><Relationship Id="rId4" Type="http://schemas.openxmlformats.org/officeDocument/2006/relationships/image" Target="../media/image19.png"/><Relationship Id="rId9"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39.png"/><Relationship Id="rId4" Type="http://schemas.openxmlformats.org/officeDocument/2006/relationships/image" Target="../media/image38.png"/></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48.png"/></Relationships>
</file>

<file path=ppt/slides/_rels/slide27.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47.png"/><Relationship Id="rId2" Type="http://schemas.openxmlformats.org/officeDocument/2006/relationships/notesSlide" Target="../notesSlides/notesSlide28.xml"/><Relationship Id="rId1" Type="http://schemas.openxmlformats.org/officeDocument/2006/relationships/slideLayout" Target="../slideLayouts/slideLayout4.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29.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notesSlide" Target="../notesSlides/notesSlide29.xml"/><Relationship Id="rId1" Type="http://schemas.openxmlformats.org/officeDocument/2006/relationships/slideLayout" Target="../slideLayouts/slideLayout4.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30.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1.xml"/><Relationship Id="rId1" Type="http://schemas.openxmlformats.org/officeDocument/2006/relationships/slideLayout" Target="../slideLayouts/slideLayout4.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417320"/>
            <a:ext cx="8229600" cy="411480"/>
          </a:xfrm>
          <a:prstGeom prst="rect">
            <a:avLst/>
          </a:prstGeom>
          <a:noFill/>
          <a:ln/>
        </p:spPr>
        <p:txBody>
          <a:bodyPr wrap="square" rtlCol="0"/>
          <a:lstStyle/>
          <a:p>
            <a:pPr marL="0" indent="0">
              <a:buNone/>
            </a:pPr>
            <a:r>
              <a:rPr lang="en-US" sz="1500" b="1" kern="0" spc="300" dirty="0">
                <a:solidFill>
                  <a:srgbClr val="F5C242"/>
                </a:solidFill>
              </a:rPr>
              <a:t>STATISTIQUES DES PRIX</a:t>
            </a:r>
            <a:endParaRPr lang="en-US" sz="1500" dirty="0"/>
          </a:p>
        </p:txBody>
      </p:sp>
      <p:sp>
        <p:nvSpPr>
          <p:cNvPr id="3" name="Text 0"/>
          <p:cNvSpPr>
            <a:spLocks noGrp="1"/>
          </p:cNvSpPr>
          <p:nvPr>
            <p:ph type="title" idx="101" hasCustomPrompt="1"/>
          </p:nvPr>
        </p:nvSpPr>
        <p:spPr>
          <a:xfrm>
            <a:off x="731520" y="1874520"/>
            <a:ext cx="8412480" cy="2103120"/>
          </a:xfrm>
          <a:prstGeom prst="rect">
            <a:avLst/>
          </a:prstGeom>
          <a:noFill/>
          <a:ln/>
        </p:spPr>
        <p:txBody>
          <a:bodyPr wrap="square" rtlCol="0" anchor="t"/>
          <a:lstStyle/>
          <a:p>
            <a:pPr marL="0" indent="0" algn="l">
              <a:buNone/>
            </a:pPr>
            <a:r>
              <a:rPr lang="en-US" sz="4200" b="1" dirty="0">
                <a:solidFill>
                  <a:srgbClr val="FFFFFF"/>
                </a:solidFill>
              </a:rPr>
              <a:t>L'indice des prix à la consommation : de la COICOP 2018 aux prix en ligne</a:t>
            </a:r>
            <a:endParaRPr lang="en-US" sz="4200" dirty="0"/>
          </a:p>
        </p:txBody>
      </p:sp>
      <p:sp>
        <p:nvSpPr>
          <p:cNvPr id="4" name="Text 0"/>
          <p:cNvSpPr>
            <a:spLocks noGrp="1"/>
          </p:cNvSpPr>
          <p:nvPr>
            <p:ph type="body" idx="102" hasCustomPrompt="1"/>
          </p:nvPr>
        </p:nvSpPr>
        <p:spPr>
          <a:xfrm>
            <a:off x="731520" y="4206240"/>
            <a:ext cx="7863840" cy="914400"/>
          </a:xfrm>
          <a:prstGeom prst="rect">
            <a:avLst/>
          </a:prstGeom>
          <a:noFill/>
          <a:ln/>
        </p:spPr>
        <p:txBody>
          <a:bodyPr wrap="square" rtlCol="0" anchor="t"/>
          <a:lstStyle/>
          <a:p>
            <a:pPr marL="0" indent="0">
              <a:buNone/>
            </a:pPr>
            <a:r>
              <a:rPr lang="en-US" sz="1900" i="1" dirty="0">
                <a:solidFill>
                  <a:srgbClr val="E6F6EE"/>
                </a:solidFill>
              </a:rPr>
              <a:t>Définition, panier, méthodologie de calcul, et un laboratoire pratique en Côte d'Ivoire et au Sénégal</a:t>
            </a:r>
            <a:endParaRPr lang="en-US" sz="1900" dirty="0"/>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INTRODUCTION</a:t>
            </a:r>
            <a:endParaRPr lang="en-US" sz="1200" dirty="0"/>
          </a:p>
        </p:txBody>
      </p:sp>
      <p:sp>
        <p:nvSpPr>
          <p:cNvPr id="3" name="Point de progression 1"/>
          <p:cNvSpPr/>
          <p:nvPr/>
        </p:nvSpPr>
        <p:spPr>
          <a:xfrm>
            <a:off x="10561320" y="365760"/>
            <a:ext cx="128016" cy="128016"/>
          </a:xfrm>
          <a:prstGeom prst="ellipse">
            <a:avLst/>
          </a:prstGeom>
          <a:solidFill>
            <a:srgbClr val="D5DED9"/>
          </a:solidFill>
          <a:ln/>
        </p:spPr>
      </p:sp>
      <p:sp>
        <p:nvSpPr>
          <p:cNvPr id="4" name="Point de progression 2"/>
          <p:cNvSpPr/>
          <p:nvPr/>
        </p:nvSpPr>
        <p:spPr>
          <a:xfrm>
            <a:off x="10789920" y="365760"/>
            <a:ext cx="128016" cy="128016"/>
          </a:xfrm>
          <a:prstGeom prst="ellipse">
            <a:avLst/>
          </a:prstGeom>
          <a:solidFill>
            <a:srgbClr val="D5DED9"/>
          </a:solidFill>
          <a:ln/>
        </p:spPr>
      </p:sp>
      <p:sp>
        <p:nvSpPr>
          <p:cNvPr id="5" name="Point de progression 3"/>
          <p:cNvSpPr/>
          <p:nvPr/>
        </p:nvSpPr>
        <p:spPr>
          <a:xfrm>
            <a:off x="11018520" y="365760"/>
            <a:ext cx="128016" cy="128016"/>
          </a:xfrm>
          <a:prstGeom prst="ellipse">
            <a:avLst/>
          </a:prstGeom>
          <a:solidFill>
            <a:srgbClr val="D5DED9"/>
          </a:solidFill>
          <a:ln/>
        </p:spPr>
      </p:sp>
      <p:sp>
        <p:nvSpPr>
          <p:cNvPr id="6" name="Point de progression 4"/>
          <p:cNvSpPr/>
          <p:nvPr/>
        </p:nvSpPr>
        <p:spPr>
          <a:xfrm>
            <a:off x="11247120" y="365760"/>
            <a:ext cx="128016" cy="128016"/>
          </a:xfrm>
          <a:prstGeom prst="ellipse">
            <a:avLst/>
          </a:prstGeom>
          <a:solidFill>
            <a:srgbClr val="D5DED9"/>
          </a:solidFill>
          <a:ln/>
        </p:spPr>
      </p:sp>
      <p:sp>
        <p:nvSpPr>
          <p:cNvPr id="7" name="Point de progression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Trois messages à retenir</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L'IPC est un instrument de politique publique avant d'être un calcul</a:t>
            </a:r>
            <a:endParaRPr lang="en-US" sz="1500" dirty="0"/>
          </a:p>
        </p:txBody>
      </p:sp>
      <p:sp>
        <p:nvSpPr>
          <p:cNvPr id="10" name="Carte message 1"/>
          <p:cNvSpPr/>
          <p:nvPr/>
        </p:nvSpPr>
        <p:spPr>
          <a:xfrm>
            <a:off x="502920" y="1828800"/>
            <a:ext cx="3566160" cy="3749040"/>
          </a:xfrm>
          <a:prstGeom prst="roundRect">
            <a:avLst>
              <a:gd name="adj" fmla="val 2051"/>
            </a:avLst>
          </a:prstGeom>
          <a:solidFill>
            <a:srgbClr val="F4F7F5"/>
          </a:solidFill>
          <a:ln w="9525">
            <a:solidFill>
              <a:srgbClr val="D5DED9"/>
            </a:solidFill>
            <a:prstDash val="solid"/>
          </a:ln>
        </p:spPr>
      </p:sp>
      <p:sp>
        <p:nvSpPr>
          <p:cNvPr id="11" name="Message 1 cercle"/>
          <p:cNvSpPr/>
          <p:nvPr/>
        </p:nvSpPr>
        <p:spPr>
          <a:xfrm>
            <a:off x="822960" y="2148840"/>
            <a:ext cx="822960" cy="822960"/>
          </a:xfrm>
          <a:prstGeom prst="ellipse">
            <a:avLst/>
          </a:prstGeom>
          <a:solidFill>
            <a:srgbClr val="00A86A">
              <a:alpha val="22000"/>
            </a:srgbClr>
          </a:solidFill>
          <a:ln/>
        </p:spPr>
      </p:sp>
      <p:pic>
        <p:nvPicPr>
          <p:cNvPr id="12" name="Message 1 icône" descr="preencoded.png"/>
          <p:cNvPicPr>
            <a:picLocks noChangeAspect="1"/>
          </p:cNvPicPr>
          <p:nvPr/>
        </p:nvPicPr>
        <p:blipFill>
          <a:blip r:embed="rId3"/>
          <a:stretch>
            <a:fillRect/>
          </a:stretch>
        </p:blipFill>
        <p:spPr>
          <a:xfrm>
            <a:off x="1028700" y="2354580"/>
            <a:ext cx="411480" cy="411480"/>
          </a:xfrm>
          <a:prstGeom prst="rect">
            <a:avLst/>
          </a:prstGeom>
        </p:spPr>
      </p:pic>
      <p:sp>
        <p:nvSpPr>
          <p:cNvPr id="13" name="Text 10"/>
          <p:cNvSpPr txBox="1"/>
          <p:nvPr/>
        </p:nvSpPr>
        <p:spPr>
          <a:xfrm>
            <a:off x="822960" y="3154680"/>
            <a:ext cx="2926080" cy="457200"/>
          </a:xfrm>
          <a:prstGeom prst="rect">
            <a:avLst/>
          </a:prstGeom>
          <a:noFill/>
          <a:ln/>
        </p:spPr>
        <p:txBody>
          <a:bodyPr wrap="square" lIns="0" tIns="0" rIns="0" bIns="0" rtlCol="0" anchor="t"/>
          <a:lstStyle/>
          <a:p>
            <a:pPr marL="0" indent="0">
              <a:buNone/>
            </a:pPr>
            <a:r>
              <a:rPr lang="en-US" sz="1900" b="1" dirty="0">
                <a:solidFill>
                  <a:srgbClr val="231F20"/>
                </a:solidFill>
              </a:rPr>
              <a:t>Un indicateur qui engage</a:t>
            </a:r>
            <a:endParaRPr lang="en-US" sz="1900" dirty="0"/>
          </a:p>
        </p:txBody>
      </p:sp>
      <p:sp>
        <p:nvSpPr>
          <p:cNvPr id="14" name="Text 11"/>
          <p:cNvSpPr txBox="1"/>
          <p:nvPr/>
        </p:nvSpPr>
        <p:spPr>
          <a:xfrm>
            <a:off x="822960" y="3657600"/>
            <a:ext cx="2926080" cy="1737360"/>
          </a:xfrm>
          <a:prstGeom prst="rect">
            <a:avLst/>
          </a:prstGeom>
          <a:noFill/>
          <a:ln/>
        </p:spPr>
        <p:txBody>
          <a:bodyPr wrap="square" lIns="0" tIns="0" rIns="0" bIns="0" rtlCol="0" anchor="t"/>
          <a:lstStyle/>
          <a:p>
            <a:pPr marL="0" indent="0">
              <a:buNone/>
            </a:pPr>
            <a:r>
              <a:rPr lang="en-US" sz="1500" dirty="0">
                <a:solidFill>
                  <a:srgbClr val="5E6964"/>
                </a:solidFill>
              </a:rPr>
              <a:t>L'IPC guide la politique monétaire, indexe salaires et contrats, et déflate les comptes nationaux. Une erreur d'un point se paie partout.</a:t>
            </a:r>
            <a:endParaRPr lang="en-US" sz="1500" dirty="0"/>
          </a:p>
        </p:txBody>
      </p:sp>
      <p:sp>
        <p:nvSpPr>
          <p:cNvPr id="15" name="Carte message 2"/>
          <p:cNvSpPr/>
          <p:nvPr/>
        </p:nvSpPr>
        <p:spPr>
          <a:xfrm>
            <a:off x="4325112" y="1828800"/>
            <a:ext cx="3566160" cy="3749040"/>
          </a:xfrm>
          <a:prstGeom prst="roundRect">
            <a:avLst>
              <a:gd name="adj" fmla="val 2051"/>
            </a:avLst>
          </a:prstGeom>
          <a:solidFill>
            <a:srgbClr val="F4F7F5"/>
          </a:solidFill>
          <a:ln w="9525">
            <a:solidFill>
              <a:srgbClr val="D5DED9"/>
            </a:solidFill>
            <a:prstDash val="solid"/>
          </a:ln>
        </p:spPr>
      </p:sp>
      <p:sp>
        <p:nvSpPr>
          <p:cNvPr id="16" name="Message 2 cercle"/>
          <p:cNvSpPr/>
          <p:nvPr/>
        </p:nvSpPr>
        <p:spPr>
          <a:xfrm>
            <a:off x="4645152" y="2148840"/>
            <a:ext cx="822960" cy="822960"/>
          </a:xfrm>
          <a:prstGeom prst="ellipse">
            <a:avLst/>
          </a:prstGeom>
          <a:solidFill>
            <a:srgbClr val="00704A">
              <a:alpha val="22000"/>
            </a:srgbClr>
          </a:solidFill>
          <a:ln/>
        </p:spPr>
      </p:sp>
      <p:pic>
        <p:nvPicPr>
          <p:cNvPr id="17" name="Message 2 icône" descr="preencoded.png"/>
          <p:cNvPicPr>
            <a:picLocks noChangeAspect="1"/>
          </p:cNvPicPr>
          <p:nvPr/>
        </p:nvPicPr>
        <p:blipFill>
          <a:blip r:embed="rId4"/>
          <a:stretch>
            <a:fillRect/>
          </a:stretch>
        </p:blipFill>
        <p:spPr>
          <a:xfrm>
            <a:off x="4850892" y="2354580"/>
            <a:ext cx="411480" cy="411480"/>
          </a:xfrm>
          <a:prstGeom prst="rect">
            <a:avLst/>
          </a:prstGeom>
        </p:spPr>
      </p:pic>
      <p:sp>
        <p:nvSpPr>
          <p:cNvPr id="18" name="Text 14"/>
          <p:cNvSpPr txBox="1"/>
          <p:nvPr/>
        </p:nvSpPr>
        <p:spPr>
          <a:xfrm>
            <a:off x="4645152" y="3154680"/>
            <a:ext cx="2926080" cy="457200"/>
          </a:xfrm>
          <a:prstGeom prst="rect">
            <a:avLst/>
          </a:prstGeom>
          <a:noFill/>
          <a:ln/>
        </p:spPr>
        <p:txBody>
          <a:bodyPr wrap="square" lIns="0" tIns="0" rIns="0" bIns="0" rtlCol="0" anchor="t"/>
          <a:lstStyle/>
          <a:p>
            <a:pPr marL="0" indent="0">
              <a:buNone/>
            </a:pPr>
            <a:r>
              <a:rPr lang="en-US" sz="1900" b="1" dirty="0">
                <a:solidFill>
                  <a:srgbClr val="231F20"/>
                </a:solidFill>
              </a:rPr>
              <a:t>Tout part du panier</a:t>
            </a:r>
            <a:endParaRPr lang="en-US" sz="1900" dirty="0"/>
          </a:p>
        </p:txBody>
      </p:sp>
      <p:sp>
        <p:nvSpPr>
          <p:cNvPr id="19" name="Text 15"/>
          <p:cNvSpPr txBox="1"/>
          <p:nvPr/>
        </p:nvSpPr>
        <p:spPr>
          <a:xfrm>
            <a:off x="4645152" y="3657600"/>
            <a:ext cx="2926080" cy="1737360"/>
          </a:xfrm>
          <a:prstGeom prst="rect">
            <a:avLst/>
          </a:prstGeom>
          <a:noFill/>
          <a:ln/>
        </p:spPr>
        <p:txBody>
          <a:bodyPr wrap="square" lIns="0" tIns="0" rIns="0" bIns="0" rtlCol="0" anchor="t"/>
          <a:lstStyle/>
          <a:p>
            <a:pPr marL="0" indent="0">
              <a:buNone/>
            </a:pPr>
            <a:r>
              <a:rPr lang="en-US" sz="1500" dirty="0">
                <a:solidFill>
                  <a:srgbClr val="5E6964"/>
                </a:solidFill>
              </a:rPr>
              <a:t>Ce que l'on mesure dépend de ce que l'on met dans le panier et du poids qu'on lui donne. La COICOP 2018 structure ce panier dans toute l'UEMOA depuis la base 2023.</a:t>
            </a:r>
            <a:endParaRPr lang="en-US" sz="1500" dirty="0"/>
          </a:p>
        </p:txBody>
      </p:sp>
      <p:sp>
        <p:nvSpPr>
          <p:cNvPr id="20" name="Carte message 3"/>
          <p:cNvSpPr/>
          <p:nvPr/>
        </p:nvSpPr>
        <p:spPr>
          <a:xfrm>
            <a:off x="8147304" y="1828800"/>
            <a:ext cx="3566160" cy="3749040"/>
          </a:xfrm>
          <a:prstGeom prst="roundRect">
            <a:avLst>
              <a:gd name="adj" fmla="val 2051"/>
            </a:avLst>
          </a:prstGeom>
          <a:solidFill>
            <a:srgbClr val="F4F7F5"/>
          </a:solidFill>
          <a:ln w="9525">
            <a:solidFill>
              <a:srgbClr val="D5DED9"/>
            </a:solidFill>
            <a:prstDash val="solid"/>
          </a:ln>
        </p:spPr>
      </p:sp>
      <p:sp>
        <p:nvSpPr>
          <p:cNvPr id="21" name="Message 3 cercle"/>
          <p:cNvSpPr/>
          <p:nvPr/>
        </p:nvSpPr>
        <p:spPr>
          <a:xfrm>
            <a:off x="8467344" y="2148840"/>
            <a:ext cx="822960" cy="822960"/>
          </a:xfrm>
          <a:prstGeom prst="ellipse">
            <a:avLst/>
          </a:prstGeom>
          <a:solidFill>
            <a:srgbClr val="D49A00">
              <a:alpha val="22000"/>
            </a:srgbClr>
          </a:solidFill>
          <a:ln/>
        </p:spPr>
      </p:sp>
      <p:pic>
        <p:nvPicPr>
          <p:cNvPr id="22" name="Message 3 icône" descr="preencoded.png"/>
          <p:cNvPicPr>
            <a:picLocks noChangeAspect="1"/>
          </p:cNvPicPr>
          <p:nvPr/>
        </p:nvPicPr>
        <p:blipFill>
          <a:blip r:embed="rId5"/>
          <a:stretch>
            <a:fillRect/>
          </a:stretch>
        </p:blipFill>
        <p:spPr>
          <a:xfrm>
            <a:off x="8673084" y="2354580"/>
            <a:ext cx="411480" cy="411480"/>
          </a:xfrm>
          <a:prstGeom prst="rect">
            <a:avLst/>
          </a:prstGeom>
        </p:spPr>
      </p:pic>
      <p:sp>
        <p:nvSpPr>
          <p:cNvPr id="23" name="Text 18"/>
          <p:cNvSpPr txBox="1"/>
          <p:nvPr/>
        </p:nvSpPr>
        <p:spPr>
          <a:xfrm>
            <a:off x="8467344" y="3154680"/>
            <a:ext cx="2926080" cy="457200"/>
          </a:xfrm>
          <a:prstGeom prst="rect">
            <a:avLst/>
          </a:prstGeom>
          <a:noFill/>
          <a:ln/>
        </p:spPr>
        <p:txBody>
          <a:bodyPr wrap="square" lIns="0" tIns="0" rIns="0" bIns="0" rtlCol="0" anchor="t"/>
          <a:lstStyle/>
          <a:p>
            <a:pPr marL="0" indent="0">
              <a:buNone/>
            </a:pPr>
            <a:r>
              <a:rPr lang="en-US" sz="1900" b="1" dirty="0">
                <a:solidFill>
                  <a:srgbClr val="231F20"/>
                </a:solidFill>
              </a:rPr>
              <a:t>Sources nouvelles</a:t>
            </a:r>
            <a:endParaRPr lang="en-US" sz="1900" dirty="0"/>
          </a:p>
        </p:txBody>
      </p:sp>
      <p:sp>
        <p:nvSpPr>
          <p:cNvPr id="24" name="Text 19"/>
          <p:cNvSpPr txBox="1"/>
          <p:nvPr/>
        </p:nvSpPr>
        <p:spPr>
          <a:xfrm>
            <a:off x="8467344" y="3657600"/>
            <a:ext cx="2926080" cy="1737360"/>
          </a:xfrm>
          <a:prstGeom prst="rect">
            <a:avLst/>
          </a:prstGeom>
          <a:noFill/>
          <a:ln/>
        </p:spPr>
        <p:txBody>
          <a:bodyPr wrap="square" lIns="0" tIns="0" rIns="0" bIns="0" rtlCol="0" anchor="t"/>
          <a:lstStyle/>
          <a:p>
            <a:pPr marL="0" indent="0">
              <a:buNone/>
            </a:pPr>
            <a:r>
              <a:rPr lang="en-US" sz="1500" dirty="0">
                <a:solidFill>
                  <a:srgbClr val="5E6964"/>
                </a:solidFill>
              </a:rPr>
              <a:t>Dans notre laboratoire, les prix en ligne et les prix publiés par les institutions couvrent 7 divisions sur 13. C'est un complément utile, pas un substitut.</a:t>
            </a:r>
            <a:endParaRPr lang="en-US" sz="1500" dirty="0"/>
          </a:p>
        </p:txBody>
      </p:sp>
      <p:sp>
        <p:nvSpPr>
          <p:cNvPr id="25"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2</a:t>
            </a:fld>
            <a:endParaRPr lang="en-US"/>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INTRODUCTION</a:t>
            </a:r>
            <a:endParaRPr lang="en-US" sz="1200" dirty="0"/>
          </a:p>
        </p:txBody>
      </p:sp>
      <p:sp>
        <p:nvSpPr>
          <p:cNvPr id="3" name="Point de progression 1"/>
          <p:cNvSpPr/>
          <p:nvPr/>
        </p:nvSpPr>
        <p:spPr>
          <a:xfrm>
            <a:off x="10561320" y="365760"/>
            <a:ext cx="128016" cy="128016"/>
          </a:xfrm>
          <a:prstGeom prst="ellipse">
            <a:avLst/>
          </a:prstGeom>
          <a:solidFill>
            <a:srgbClr val="D5DED9"/>
          </a:solidFill>
          <a:ln/>
        </p:spPr>
      </p:sp>
      <p:sp>
        <p:nvSpPr>
          <p:cNvPr id="4" name="Point de progression 2"/>
          <p:cNvSpPr/>
          <p:nvPr/>
        </p:nvSpPr>
        <p:spPr>
          <a:xfrm>
            <a:off x="10789920" y="365760"/>
            <a:ext cx="128016" cy="128016"/>
          </a:xfrm>
          <a:prstGeom prst="ellipse">
            <a:avLst/>
          </a:prstGeom>
          <a:solidFill>
            <a:srgbClr val="D5DED9"/>
          </a:solidFill>
          <a:ln/>
        </p:spPr>
      </p:sp>
      <p:sp>
        <p:nvSpPr>
          <p:cNvPr id="5" name="Point de progression 3"/>
          <p:cNvSpPr/>
          <p:nvPr/>
        </p:nvSpPr>
        <p:spPr>
          <a:xfrm>
            <a:off x="11018520" y="365760"/>
            <a:ext cx="128016" cy="128016"/>
          </a:xfrm>
          <a:prstGeom prst="ellipse">
            <a:avLst/>
          </a:prstGeom>
          <a:solidFill>
            <a:srgbClr val="D5DED9"/>
          </a:solidFill>
          <a:ln/>
        </p:spPr>
      </p:sp>
      <p:sp>
        <p:nvSpPr>
          <p:cNvPr id="6" name="Point de progression 4"/>
          <p:cNvSpPr/>
          <p:nvPr/>
        </p:nvSpPr>
        <p:spPr>
          <a:xfrm>
            <a:off x="11247120" y="365760"/>
            <a:ext cx="128016" cy="128016"/>
          </a:xfrm>
          <a:prstGeom prst="ellipse">
            <a:avLst/>
          </a:prstGeom>
          <a:solidFill>
            <a:srgbClr val="D5DED9"/>
          </a:solidFill>
          <a:ln/>
        </p:spPr>
      </p:sp>
      <p:sp>
        <p:nvSpPr>
          <p:cNvPr id="7" name="Point de progression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Sigles utilisés</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Les institutions et les termes techniques cités dans la présentation</a:t>
            </a:r>
            <a:endParaRPr lang="en-US" sz="1500" dirty="0"/>
          </a:p>
        </p:txBody>
      </p:sp>
      <p:sp>
        <p:nvSpPr>
          <p:cNvPr id="10" name="Sigle IPC"/>
          <p:cNvSpPr/>
          <p:nvPr/>
        </p:nvSpPr>
        <p:spPr>
          <a:xfrm>
            <a:off x="502920" y="1691640"/>
            <a:ext cx="5440680" cy="521208"/>
          </a:xfrm>
          <a:prstGeom prst="roundRect">
            <a:avLst>
              <a:gd name="adj" fmla="val 14035"/>
            </a:avLst>
          </a:prstGeom>
          <a:solidFill>
            <a:srgbClr val="F4F7F5"/>
          </a:solidFill>
          <a:ln w="9525">
            <a:solidFill>
              <a:srgbClr val="D5DED9"/>
            </a:solidFill>
            <a:prstDash val="solid"/>
          </a:ln>
        </p:spPr>
      </p:sp>
      <p:sp>
        <p:nvSpPr>
          <p:cNvPr id="11" name="Pastille IPC"/>
          <p:cNvSpPr txBox="1"/>
          <p:nvPr/>
        </p:nvSpPr>
        <p:spPr>
          <a:xfrm>
            <a:off x="612648" y="1783080"/>
            <a:ext cx="1188720" cy="338328"/>
          </a:xfrm>
          <a:prstGeom prst="roundRect">
            <a:avLst>
              <a:gd name="adj" fmla="val 21622"/>
            </a:avLst>
          </a:prstGeom>
          <a:solidFill>
            <a:srgbClr val="00A86A"/>
          </a:solidFill>
          <a:ln/>
        </p:spPr>
        <p:txBody>
          <a:bodyPr wrap="square" lIns="0" tIns="0" rIns="0" bIns="0" rtlCol="0" anchor="ctr"/>
          <a:lstStyle/>
          <a:p>
            <a:pPr marL="0" indent="0" algn="ctr">
              <a:buNone/>
            </a:pPr>
            <a:r>
              <a:rPr lang="en-US" sz="1200" b="1" dirty="0">
                <a:solidFill>
                  <a:srgbClr val="FFFFFF"/>
                </a:solidFill>
              </a:rPr>
              <a:t>IPC</a:t>
            </a:r>
            <a:endParaRPr lang="en-US" sz="1200" dirty="0"/>
          </a:p>
        </p:txBody>
      </p:sp>
      <p:sp>
        <p:nvSpPr>
          <p:cNvPr id="12" name="Text 10"/>
          <p:cNvSpPr txBox="1"/>
          <p:nvPr/>
        </p:nvSpPr>
        <p:spPr>
          <a:xfrm>
            <a:off x="1965960" y="1691640"/>
            <a:ext cx="3886200" cy="521208"/>
          </a:xfrm>
          <a:prstGeom prst="rect">
            <a:avLst/>
          </a:prstGeom>
          <a:noFill/>
          <a:ln/>
        </p:spPr>
        <p:txBody>
          <a:bodyPr wrap="square" lIns="0" tIns="0" rIns="0" bIns="0" rtlCol="0" anchor="ctr"/>
          <a:lstStyle/>
          <a:p>
            <a:pPr marL="0" indent="0">
              <a:buNone/>
            </a:pPr>
            <a:r>
              <a:rPr lang="en-US" sz="1300" dirty="0">
                <a:solidFill>
                  <a:srgbClr val="231F20"/>
                </a:solidFill>
              </a:rPr>
              <a:t>Indice des prix à la consommation</a:t>
            </a:r>
            <a:endParaRPr lang="en-US" sz="1300" dirty="0"/>
          </a:p>
        </p:txBody>
      </p:sp>
      <p:sp>
        <p:nvSpPr>
          <p:cNvPr id="13" name="Sigle IHPC"/>
          <p:cNvSpPr/>
          <p:nvPr/>
        </p:nvSpPr>
        <p:spPr>
          <a:xfrm>
            <a:off x="6172200" y="1691640"/>
            <a:ext cx="5440680" cy="521208"/>
          </a:xfrm>
          <a:prstGeom prst="roundRect">
            <a:avLst>
              <a:gd name="adj" fmla="val 14035"/>
            </a:avLst>
          </a:prstGeom>
          <a:solidFill>
            <a:srgbClr val="F4F7F5"/>
          </a:solidFill>
          <a:ln w="9525">
            <a:solidFill>
              <a:srgbClr val="D5DED9"/>
            </a:solidFill>
            <a:prstDash val="solid"/>
          </a:ln>
        </p:spPr>
      </p:sp>
      <p:sp>
        <p:nvSpPr>
          <p:cNvPr id="14" name="Pastille IHPC"/>
          <p:cNvSpPr txBox="1"/>
          <p:nvPr/>
        </p:nvSpPr>
        <p:spPr>
          <a:xfrm>
            <a:off x="6281928" y="1783080"/>
            <a:ext cx="1188720" cy="338328"/>
          </a:xfrm>
          <a:prstGeom prst="roundRect">
            <a:avLst>
              <a:gd name="adj" fmla="val 21622"/>
            </a:avLst>
          </a:prstGeom>
          <a:solidFill>
            <a:srgbClr val="00A86A"/>
          </a:solidFill>
          <a:ln/>
        </p:spPr>
        <p:txBody>
          <a:bodyPr wrap="square" lIns="0" tIns="0" rIns="0" bIns="0" rtlCol="0" anchor="ctr"/>
          <a:lstStyle/>
          <a:p>
            <a:pPr marL="0" indent="0" algn="ctr">
              <a:buNone/>
            </a:pPr>
            <a:r>
              <a:rPr lang="en-US" sz="1200" b="1" dirty="0">
                <a:solidFill>
                  <a:srgbClr val="FFFFFF"/>
                </a:solidFill>
              </a:rPr>
              <a:t>IHPC</a:t>
            </a:r>
            <a:endParaRPr lang="en-US" sz="1200" dirty="0"/>
          </a:p>
        </p:txBody>
      </p:sp>
      <p:sp>
        <p:nvSpPr>
          <p:cNvPr id="15" name="Text 13"/>
          <p:cNvSpPr txBox="1"/>
          <p:nvPr/>
        </p:nvSpPr>
        <p:spPr>
          <a:xfrm>
            <a:off x="7635240" y="1691640"/>
            <a:ext cx="3886200" cy="521208"/>
          </a:xfrm>
          <a:prstGeom prst="rect">
            <a:avLst/>
          </a:prstGeom>
          <a:noFill/>
          <a:ln/>
        </p:spPr>
        <p:txBody>
          <a:bodyPr wrap="square" lIns="0" tIns="0" rIns="0" bIns="0" rtlCol="0" anchor="ctr"/>
          <a:lstStyle/>
          <a:p>
            <a:pPr marL="0" indent="0">
              <a:buNone/>
            </a:pPr>
            <a:r>
              <a:rPr lang="en-US" sz="1300" dirty="0">
                <a:solidFill>
                  <a:srgbClr val="231F20"/>
                </a:solidFill>
              </a:rPr>
              <a:t>Indice harmonisé des prix à la consommation (UEMOA)</a:t>
            </a:r>
            <a:endParaRPr lang="en-US" sz="1300" dirty="0"/>
          </a:p>
        </p:txBody>
      </p:sp>
      <p:sp>
        <p:nvSpPr>
          <p:cNvPr id="16" name="Sigle IPCH"/>
          <p:cNvSpPr/>
          <p:nvPr/>
        </p:nvSpPr>
        <p:spPr>
          <a:xfrm>
            <a:off x="502920" y="2304288"/>
            <a:ext cx="5440680" cy="521208"/>
          </a:xfrm>
          <a:prstGeom prst="roundRect">
            <a:avLst>
              <a:gd name="adj" fmla="val 14035"/>
            </a:avLst>
          </a:prstGeom>
          <a:solidFill>
            <a:srgbClr val="F4F7F5"/>
          </a:solidFill>
          <a:ln w="9525">
            <a:solidFill>
              <a:srgbClr val="D5DED9"/>
            </a:solidFill>
            <a:prstDash val="solid"/>
          </a:ln>
        </p:spPr>
      </p:sp>
      <p:sp>
        <p:nvSpPr>
          <p:cNvPr id="17" name="Pastille IPCH"/>
          <p:cNvSpPr txBox="1"/>
          <p:nvPr/>
        </p:nvSpPr>
        <p:spPr>
          <a:xfrm>
            <a:off x="612648" y="2395728"/>
            <a:ext cx="1188720" cy="338328"/>
          </a:xfrm>
          <a:prstGeom prst="roundRect">
            <a:avLst>
              <a:gd name="adj" fmla="val 21622"/>
            </a:avLst>
          </a:prstGeom>
          <a:solidFill>
            <a:srgbClr val="00A86A"/>
          </a:solidFill>
          <a:ln/>
        </p:spPr>
        <p:txBody>
          <a:bodyPr wrap="square" lIns="0" tIns="0" rIns="0" bIns="0" rtlCol="0" anchor="ctr"/>
          <a:lstStyle/>
          <a:p>
            <a:pPr marL="0" indent="0" algn="ctr">
              <a:buNone/>
            </a:pPr>
            <a:r>
              <a:rPr lang="en-US" sz="1200" b="1" dirty="0">
                <a:solidFill>
                  <a:srgbClr val="FFFFFF"/>
                </a:solidFill>
              </a:rPr>
              <a:t>IPCH</a:t>
            </a:r>
            <a:endParaRPr lang="en-US" sz="1200" dirty="0"/>
          </a:p>
        </p:txBody>
      </p:sp>
      <p:sp>
        <p:nvSpPr>
          <p:cNvPr id="18" name="Text 16"/>
          <p:cNvSpPr txBox="1"/>
          <p:nvPr/>
        </p:nvSpPr>
        <p:spPr>
          <a:xfrm>
            <a:off x="1965960" y="2304288"/>
            <a:ext cx="3886200" cy="521208"/>
          </a:xfrm>
          <a:prstGeom prst="rect">
            <a:avLst/>
          </a:prstGeom>
          <a:noFill/>
          <a:ln/>
        </p:spPr>
        <p:txBody>
          <a:bodyPr wrap="square" lIns="0" tIns="0" rIns="0" bIns="0" rtlCol="0" anchor="ctr"/>
          <a:lstStyle/>
          <a:p>
            <a:pPr marL="0" indent="0">
              <a:buNone/>
            </a:pPr>
            <a:r>
              <a:rPr lang="en-US" sz="1300" dirty="0">
                <a:solidFill>
                  <a:srgbClr val="231F20"/>
                </a:solidFill>
              </a:rPr>
              <a:t>Indice des prix à la consommation harmonisé (Union européenne)</a:t>
            </a:r>
            <a:endParaRPr lang="en-US" sz="1300" dirty="0"/>
          </a:p>
        </p:txBody>
      </p:sp>
      <p:sp>
        <p:nvSpPr>
          <p:cNvPr id="19" name="Sigle COICOP"/>
          <p:cNvSpPr/>
          <p:nvPr/>
        </p:nvSpPr>
        <p:spPr>
          <a:xfrm>
            <a:off x="6172200" y="2304288"/>
            <a:ext cx="5440680" cy="521208"/>
          </a:xfrm>
          <a:prstGeom prst="roundRect">
            <a:avLst>
              <a:gd name="adj" fmla="val 14035"/>
            </a:avLst>
          </a:prstGeom>
          <a:solidFill>
            <a:srgbClr val="F4F7F5"/>
          </a:solidFill>
          <a:ln w="9525">
            <a:solidFill>
              <a:srgbClr val="D5DED9"/>
            </a:solidFill>
            <a:prstDash val="solid"/>
          </a:ln>
        </p:spPr>
      </p:sp>
      <p:sp>
        <p:nvSpPr>
          <p:cNvPr id="20" name="Pastille COICOP"/>
          <p:cNvSpPr txBox="1"/>
          <p:nvPr/>
        </p:nvSpPr>
        <p:spPr>
          <a:xfrm>
            <a:off x="6281928" y="2395728"/>
            <a:ext cx="1188720" cy="338328"/>
          </a:xfrm>
          <a:prstGeom prst="roundRect">
            <a:avLst>
              <a:gd name="adj" fmla="val 21622"/>
            </a:avLst>
          </a:prstGeom>
          <a:solidFill>
            <a:srgbClr val="00704A"/>
          </a:solidFill>
          <a:ln/>
        </p:spPr>
        <p:txBody>
          <a:bodyPr wrap="square" lIns="0" tIns="0" rIns="0" bIns="0" rtlCol="0" anchor="ctr"/>
          <a:lstStyle/>
          <a:p>
            <a:pPr marL="0" indent="0" algn="ctr">
              <a:buNone/>
            </a:pPr>
            <a:r>
              <a:rPr lang="en-US" sz="1200" b="1" dirty="0">
                <a:solidFill>
                  <a:srgbClr val="FFFFFF"/>
                </a:solidFill>
              </a:rPr>
              <a:t>COICOP</a:t>
            </a:r>
            <a:endParaRPr lang="en-US" sz="1200" dirty="0"/>
          </a:p>
        </p:txBody>
      </p:sp>
      <p:sp>
        <p:nvSpPr>
          <p:cNvPr id="21" name="Text 19"/>
          <p:cNvSpPr txBox="1"/>
          <p:nvPr/>
        </p:nvSpPr>
        <p:spPr>
          <a:xfrm>
            <a:off x="7635240" y="2304288"/>
            <a:ext cx="3886200" cy="521208"/>
          </a:xfrm>
          <a:prstGeom prst="rect">
            <a:avLst/>
          </a:prstGeom>
          <a:noFill/>
          <a:ln/>
        </p:spPr>
        <p:txBody>
          <a:bodyPr wrap="square" lIns="0" tIns="0" rIns="0" bIns="0" rtlCol="0" anchor="ctr"/>
          <a:lstStyle/>
          <a:p>
            <a:pPr marL="0" indent="0">
              <a:buNone/>
            </a:pPr>
            <a:r>
              <a:rPr lang="en-US" sz="1300" dirty="0">
                <a:solidFill>
                  <a:srgbClr val="231F20"/>
                </a:solidFill>
              </a:rPr>
              <a:t>Classification des fonctions de consommation individuelle (Nations unies)</a:t>
            </a:r>
            <a:endParaRPr lang="en-US" sz="1300" dirty="0"/>
          </a:p>
        </p:txBody>
      </p:sp>
      <p:sp>
        <p:nvSpPr>
          <p:cNvPr id="22" name="Sigle UEMOA"/>
          <p:cNvSpPr/>
          <p:nvPr/>
        </p:nvSpPr>
        <p:spPr>
          <a:xfrm>
            <a:off x="502920" y="2916936"/>
            <a:ext cx="5440680" cy="521208"/>
          </a:xfrm>
          <a:prstGeom prst="roundRect">
            <a:avLst>
              <a:gd name="adj" fmla="val 14035"/>
            </a:avLst>
          </a:prstGeom>
          <a:solidFill>
            <a:srgbClr val="F4F7F5"/>
          </a:solidFill>
          <a:ln w="9525">
            <a:solidFill>
              <a:srgbClr val="D5DED9"/>
            </a:solidFill>
            <a:prstDash val="solid"/>
          </a:ln>
        </p:spPr>
      </p:sp>
      <p:sp>
        <p:nvSpPr>
          <p:cNvPr id="23" name="Pastille UEMOA"/>
          <p:cNvSpPr txBox="1"/>
          <p:nvPr/>
        </p:nvSpPr>
        <p:spPr>
          <a:xfrm>
            <a:off x="612648" y="3008376"/>
            <a:ext cx="1188720" cy="338328"/>
          </a:xfrm>
          <a:prstGeom prst="roundRect">
            <a:avLst>
              <a:gd name="adj" fmla="val 21622"/>
            </a:avLst>
          </a:prstGeom>
          <a:solidFill>
            <a:srgbClr val="0E7C86"/>
          </a:solidFill>
          <a:ln/>
        </p:spPr>
        <p:txBody>
          <a:bodyPr wrap="square" lIns="0" tIns="0" rIns="0" bIns="0" rtlCol="0" anchor="ctr"/>
          <a:lstStyle/>
          <a:p>
            <a:pPr marL="0" indent="0" algn="ctr">
              <a:buNone/>
            </a:pPr>
            <a:r>
              <a:rPr lang="en-US" sz="1200" b="1" dirty="0">
                <a:solidFill>
                  <a:srgbClr val="FFFFFF"/>
                </a:solidFill>
              </a:rPr>
              <a:t>UEMOA</a:t>
            </a:r>
            <a:endParaRPr lang="en-US" sz="1200" dirty="0"/>
          </a:p>
        </p:txBody>
      </p:sp>
      <p:sp>
        <p:nvSpPr>
          <p:cNvPr id="24" name="Text 22"/>
          <p:cNvSpPr txBox="1"/>
          <p:nvPr/>
        </p:nvSpPr>
        <p:spPr>
          <a:xfrm>
            <a:off x="1965960" y="2916936"/>
            <a:ext cx="3886200" cy="521208"/>
          </a:xfrm>
          <a:prstGeom prst="rect">
            <a:avLst/>
          </a:prstGeom>
          <a:noFill/>
          <a:ln/>
        </p:spPr>
        <p:txBody>
          <a:bodyPr wrap="square" lIns="0" tIns="0" rIns="0" bIns="0" rtlCol="0" anchor="ctr"/>
          <a:lstStyle/>
          <a:p>
            <a:pPr marL="0" indent="0">
              <a:buNone/>
            </a:pPr>
            <a:r>
              <a:rPr lang="en-US" sz="1300" dirty="0">
                <a:solidFill>
                  <a:srgbClr val="231F20"/>
                </a:solidFill>
              </a:rPr>
              <a:t>Union économique et monétaire ouest-africaine</a:t>
            </a:r>
            <a:endParaRPr lang="en-US" sz="1300" dirty="0"/>
          </a:p>
        </p:txBody>
      </p:sp>
      <p:sp>
        <p:nvSpPr>
          <p:cNvPr id="25" name="Sigle BCEAO"/>
          <p:cNvSpPr/>
          <p:nvPr/>
        </p:nvSpPr>
        <p:spPr>
          <a:xfrm>
            <a:off x="6172200" y="2916936"/>
            <a:ext cx="5440680" cy="521208"/>
          </a:xfrm>
          <a:prstGeom prst="roundRect">
            <a:avLst>
              <a:gd name="adj" fmla="val 14035"/>
            </a:avLst>
          </a:prstGeom>
          <a:solidFill>
            <a:srgbClr val="F4F7F5"/>
          </a:solidFill>
          <a:ln w="9525">
            <a:solidFill>
              <a:srgbClr val="D5DED9"/>
            </a:solidFill>
            <a:prstDash val="solid"/>
          </a:ln>
        </p:spPr>
      </p:sp>
      <p:sp>
        <p:nvSpPr>
          <p:cNvPr id="26" name="Pastille BCEAO"/>
          <p:cNvSpPr txBox="1"/>
          <p:nvPr/>
        </p:nvSpPr>
        <p:spPr>
          <a:xfrm>
            <a:off x="6281928" y="3008376"/>
            <a:ext cx="1188720" cy="338328"/>
          </a:xfrm>
          <a:prstGeom prst="roundRect">
            <a:avLst>
              <a:gd name="adj" fmla="val 21622"/>
            </a:avLst>
          </a:prstGeom>
          <a:solidFill>
            <a:srgbClr val="0E7C86"/>
          </a:solidFill>
          <a:ln/>
        </p:spPr>
        <p:txBody>
          <a:bodyPr wrap="square" lIns="0" tIns="0" rIns="0" bIns="0" rtlCol="0" anchor="ctr"/>
          <a:lstStyle/>
          <a:p>
            <a:pPr marL="0" indent="0" algn="ctr">
              <a:buNone/>
            </a:pPr>
            <a:r>
              <a:rPr lang="en-US" sz="1200" b="1" dirty="0">
                <a:solidFill>
                  <a:srgbClr val="FFFFFF"/>
                </a:solidFill>
              </a:rPr>
              <a:t>BCEAO</a:t>
            </a:r>
            <a:endParaRPr lang="en-US" sz="1200" dirty="0"/>
          </a:p>
        </p:txBody>
      </p:sp>
      <p:sp>
        <p:nvSpPr>
          <p:cNvPr id="27" name="Text 25"/>
          <p:cNvSpPr txBox="1"/>
          <p:nvPr/>
        </p:nvSpPr>
        <p:spPr>
          <a:xfrm>
            <a:off x="7635240" y="2916936"/>
            <a:ext cx="3886200" cy="521208"/>
          </a:xfrm>
          <a:prstGeom prst="rect">
            <a:avLst/>
          </a:prstGeom>
          <a:noFill/>
          <a:ln/>
        </p:spPr>
        <p:txBody>
          <a:bodyPr wrap="square" lIns="0" tIns="0" rIns="0" bIns="0" rtlCol="0" anchor="ctr"/>
          <a:lstStyle/>
          <a:p>
            <a:pPr marL="0" indent="0">
              <a:buNone/>
            </a:pPr>
            <a:r>
              <a:rPr lang="en-US" sz="1300" dirty="0">
                <a:solidFill>
                  <a:srgbClr val="231F20"/>
                </a:solidFill>
              </a:rPr>
              <a:t>Banque centrale des États de l'Afrique de l'Ouest</a:t>
            </a:r>
            <a:endParaRPr lang="en-US" sz="1300" dirty="0"/>
          </a:p>
        </p:txBody>
      </p:sp>
      <p:sp>
        <p:nvSpPr>
          <p:cNvPr id="28" name="Sigle BCE"/>
          <p:cNvSpPr/>
          <p:nvPr/>
        </p:nvSpPr>
        <p:spPr>
          <a:xfrm>
            <a:off x="502920" y="3529584"/>
            <a:ext cx="5440680" cy="521208"/>
          </a:xfrm>
          <a:prstGeom prst="roundRect">
            <a:avLst>
              <a:gd name="adj" fmla="val 14035"/>
            </a:avLst>
          </a:prstGeom>
          <a:solidFill>
            <a:srgbClr val="F4F7F5"/>
          </a:solidFill>
          <a:ln w="9525">
            <a:solidFill>
              <a:srgbClr val="D5DED9"/>
            </a:solidFill>
            <a:prstDash val="solid"/>
          </a:ln>
        </p:spPr>
      </p:sp>
      <p:sp>
        <p:nvSpPr>
          <p:cNvPr id="29" name="Pastille BCE"/>
          <p:cNvSpPr txBox="1"/>
          <p:nvPr/>
        </p:nvSpPr>
        <p:spPr>
          <a:xfrm>
            <a:off x="612648" y="3621024"/>
            <a:ext cx="1188720" cy="338328"/>
          </a:xfrm>
          <a:prstGeom prst="roundRect">
            <a:avLst>
              <a:gd name="adj" fmla="val 21622"/>
            </a:avLst>
          </a:prstGeom>
          <a:solidFill>
            <a:srgbClr val="0E7C86"/>
          </a:solidFill>
          <a:ln/>
        </p:spPr>
        <p:txBody>
          <a:bodyPr wrap="square" lIns="0" tIns="0" rIns="0" bIns="0" rtlCol="0" anchor="ctr"/>
          <a:lstStyle/>
          <a:p>
            <a:pPr marL="0" indent="0" algn="ctr">
              <a:buNone/>
            </a:pPr>
            <a:r>
              <a:rPr lang="en-US" sz="1200" b="1" dirty="0">
                <a:solidFill>
                  <a:srgbClr val="FFFFFF"/>
                </a:solidFill>
              </a:rPr>
              <a:t>BCE</a:t>
            </a:r>
            <a:endParaRPr lang="en-US" sz="1200" dirty="0"/>
          </a:p>
        </p:txBody>
      </p:sp>
      <p:sp>
        <p:nvSpPr>
          <p:cNvPr id="30" name="Text 28"/>
          <p:cNvSpPr txBox="1"/>
          <p:nvPr/>
        </p:nvSpPr>
        <p:spPr>
          <a:xfrm>
            <a:off x="1965960" y="3529584"/>
            <a:ext cx="3886200" cy="521208"/>
          </a:xfrm>
          <a:prstGeom prst="rect">
            <a:avLst/>
          </a:prstGeom>
          <a:noFill/>
          <a:ln/>
        </p:spPr>
        <p:txBody>
          <a:bodyPr wrap="square" lIns="0" tIns="0" rIns="0" bIns="0" rtlCol="0" anchor="ctr"/>
          <a:lstStyle/>
          <a:p>
            <a:pPr marL="0" indent="0">
              <a:buNone/>
            </a:pPr>
            <a:r>
              <a:rPr lang="en-US" sz="1300" dirty="0">
                <a:solidFill>
                  <a:srgbClr val="231F20"/>
                </a:solidFill>
              </a:rPr>
              <a:t>Banque centrale européenne</a:t>
            </a:r>
            <a:endParaRPr lang="en-US" sz="1300" dirty="0"/>
          </a:p>
        </p:txBody>
      </p:sp>
      <p:sp>
        <p:nvSpPr>
          <p:cNvPr id="31" name="Sigle EHCVM"/>
          <p:cNvSpPr/>
          <p:nvPr/>
        </p:nvSpPr>
        <p:spPr>
          <a:xfrm>
            <a:off x="6172200" y="3529584"/>
            <a:ext cx="5440680" cy="521208"/>
          </a:xfrm>
          <a:prstGeom prst="roundRect">
            <a:avLst>
              <a:gd name="adj" fmla="val 14035"/>
            </a:avLst>
          </a:prstGeom>
          <a:solidFill>
            <a:srgbClr val="F4F7F5"/>
          </a:solidFill>
          <a:ln w="9525">
            <a:solidFill>
              <a:srgbClr val="D5DED9"/>
            </a:solidFill>
            <a:prstDash val="solid"/>
          </a:ln>
        </p:spPr>
      </p:sp>
      <p:sp>
        <p:nvSpPr>
          <p:cNvPr id="32" name="Pastille EHCVM"/>
          <p:cNvSpPr txBox="1"/>
          <p:nvPr/>
        </p:nvSpPr>
        <p:spPr>
          <a:xfrm>
            <a:off x="6281928" y="3621024"/>
            <a:ext cx="1188720" cy="338328"/>
          </a:xfrm>
          <a:prstGeom prst="roundRect">
            <a:avLst>
              <a:gd name="adj" fmla="val 21622"/>
            </a:avLst>
          </a:prstGeom>
          <a:solidFill>
            <a:srgbClr val="00704A"/>
          </a:solidFill>
          <a:ln/>
        </p:spPr>
        <p:txBody>
          <a:bodyPr wrap="square" lIns="0" tIns="0" rIns="0" bIns="0" rtlCol="0" anchor="ctr"/>
          <a:lstStyle/>
          <a:p>
            <a:pPr marL="0" indent="0" algn="ctr">
              <a:buNone/>
            </a:pPr>
            <a:r>
              <a:rPr lang="en-US" sz="1200" b="1" dirty="0">
                <a:solidFill>
                  <a:srgbClr val="FFFFFF"/>
                </a:solidFill>
              </a:rPr>
              <a:t>EHCVM</a:t>
            </a:r>
            <a:endParaRPr lang="en-US" sz="1200" dirty="0"/>
          </a:p>
        </p:txBody>
      </p:sp>
      <p:sp>
        <p:nvSpPr>
          <p:cNvPr id="33" name="Text 31"/>
          <p:cNvSpPr txBox="1"/>
          <p:nvPr/>
        </p:nvSpPr>
        <p:spPr>
          <a:xfrm>
            <a:off x="7635240" y="3529584"/>
            <a:ext cx="3886200" cy="521208"/>
          </a:xfrm>
          <a:prstGeom prst="rect">
            <a:avLst/>
          </a:prstGeom>
          <a:noFill/>
          <a:ln/>
        </p:spPr>
        <p:txBody>
          <a:bodyPr wrap="square" lIns="0" tIns="0" rIns="0" bIns="0" rtlCol="0" anchor="ctr"/>
          <a:lstStyle/>
          <a:p>
            <a:pPr marL="0" indent="0">
              <a:buNone/>
            </a:pPr>
            <a:r>
              <a:rPr lang="en-US" sz="1300" dirty="0">
                <a:solidFill>
                  <a:srgbClr val="231F20"/>
                </a:solidFill>
              </a:rPr>
              <a:t>Enquête harmonisée sur les conditions de vie des ménages</a:t>
            </a:r>
            <a:endParaRPr lang="en-US" sz="1300" dirty="0"/>
          </a:p>
        </p:txBody>
      </p:sp>
      <p:sp>
        <p:nvSpPr>
          <p:cNvPr id="34" name="Sigle ANSD"/>
          <p:cNvSpPr/>
          <p:nvPr/>
        </p:nvSpPr>
        <p:spPr>
          <a:xfrm>
            <a:off x="502920" y="4142232"/>
            <a:ext cx="5440680" cy="521208"/>
          </a:xfrm>
          <a:prstGeom prst="roundRect">
            <a:avLst>
              <a:gd name="adj" fmla="val 14035"/>
            </a:avLst>
          </a:prstGeom>
          <a:solidFill>
            <a:srgbClr val="F4F7F5"/>
          </a:solidFill>
          <a:ln w="9525">
            <a:solidFill>
              <a:srgbClr val="D5DED9"/>
            </a:solidFill>
            <a:prstDash val="solid"/>
          </a:ln>
        </p:spPr>
      </p:sp>
      <p:sp>
        <p:nvSpPr>
          <p:cNvPr id="35" name="Pastille ANSD"/>
          <p:cNvSpPr txBox="1"/>
          <p:nvPr/>
        </p:nvSpPr>
        <p:spPr>
          <a:xfrm>
            <a:off x="612648" y="4233672"/>
            <a:ext cx="1188720" cy="338328"/>
          </a:xfrm>
          <a:prstGeom prst="roundRect">
            <a:avLst>
              <a:gd name="adj" fmla="val 21622"/>
            </a:avLst>
          </a:prstGeom>
          <a:solidFill>
            <a:srgbClr val="D49A00"/>
          </a:solidFill>
          <a:ln/>
        </p:spPr>
        <p:txBody>
          <a:bodyPr wrap="square" lIns="0" tIns="0" rIns="0" bIns="0" rtlCol="0" anchor="ctr"/>
          <a:lstStyle/>
          <a:p>
            <a:pPr marL="0" indent="0" algn="ctr">
              <a:buNone/>
            </a:pPr>
            <a:r>
              <a:rPr lang="en-US" sz="1200" b="1" dirty="0">
                <a:solidFill>
                  <a:srgbClr val="FFFFFF"/>
                </a:solidFill>
              </a:rPr>
              <a:t>ANSD</a:t>
            </a:r>
            <a:endParaRPr lang="en-US" sz="1200" dirty="0"/>
          </a:p>
        </p:txBody>
      </p:sp>
      <p:sp>
        <p:nvSpPr>
          <p:cNvPr id="36" name="Text 34"/>
          <p:cNvSpPr txBox="1"/>
          <p:nvPr/>
        </p:nvSpPr>
        <p:spPr>
          <a:xfrm>
            <a:off x="1965960" y="4142232"/>
            <a:ext cx="3886200" cy="521208"/>
          </a:xfrm>
          <a:prstGeom prst="rect">
            <a:avLst/>
          </a:prstGeom>
          <a:noFill/>
          <a:ln/>
        </p:spPr>
        <p:txBody>
          <a:bodyPr wrap="square" lIns="0" tIns="0" rIns="0" bIns="0" rtlCol="0" anchor="ctr"/>
          <a:lstStyle/>
          <a:p>
            <a:pPr marL="0" indent="0">
              <a:buNone/>
            </a:pPr>
            <a:r>
              <a:rPr lang="en-US" sz="1300" dirty="0">
                <a:solidFill>
                  <a:srgbClr val="231F20"/>
                </a:solidFill>
              </a:rPr>
              <a:t>Agence nationale de la statistique et de la démographie (Sénégal)</a:t>
            </a:r>
            <a:endParaRPr lang="en-US" sz="1300" dirty="0"/>
          </a:p>
        </p:txBody>
      </p:sp>
      <p:sp>
        <p:nvSpPr>
          <p:cNvPr id="37" name="Sigle OCPV"/>
          <p:cNvSpPr/>
          <p:nvPr/>
        </p:nvSpPr>
        <p:spPr>
          <a:xfrm>
            <a:off x="6172200" y="4142232"/>
            <a:ext cx="5440680" cy="521208"/>
          </a:xfrm>
          <a:prstGeom prst="roundRect">
            <a:avLst>
              <a:gd name="adj" fmla="val 14035"/>
            </a:avLst>
          </a:prstGeom>
          <a:solidFill>
            <a:srgbClr val="F4F7F5"/>
          </a:solidFill>
          <a:ln w="9525">
            <a:solidFill>
              <a:srgbClr val="D5DED9"/>
            </a:solidFill>
            <a:prstDash val="solid"/>
          </a:ln>
        </p:spPr>
      </p:sp>
      <p:sp>
        <p:nvSpPr>
          <p:cNvPr id="38" name="Pastille OCPV"/>
          <p:cNvSpPr txBox="1"/>
          <p:nvPr/>
        </p:nvSpPr>
        <p:spPr>
          <a:xfrm>
            <a:off x="6281928" y="4233672"/>
            <a:ext cx="1188720" cy="338328"/>
          </a:xfrm>
          <a:prstGeom prst="roundRect">
            <a:avLst>
              <a:gd name="adj" fmla="val 21622"/>
            </a:avLst>
          </a:prstGeom>
          <a:solidFill>
            <a:srgbClr val="D49A00"/>
          </a:solidFill>
          <a:ln/>
        </p:spPr>
        <p:txBody>
          <a:bodyPr wrap="square" lIns="0" tIns="0" rIns="0" bIns="0" rtlCol="0" anchor="ctr"/>
          <a:lstStyle/>
          <a:p>
            <a:pPr marL="0" indent="0" algn="ctr">
              <a:buNone/>
            </a:pPr>
            <a:r>
              <a:rPr lang="en-US" sz="1200" b="1" dirty="0">
                <a:solidFill>
                  <a:srgbClr val="FFFFFF"/>
                </a:solidFill>
              </a:rPr>
              <a:t>OCPV</a:t>
            </a:r>
            <a:endParaRPr lang="en-US" sz="1200" dirty="0"/>
          </a:p>
        </p:txBody>
      </p:sp>
      <p:sp>
        <p:nvSpPr>
          <p:cNvPr id="39" name="Text 37"/>
          <p:cNvSpPr txBox="1"/>
          <p:nvPr/>
        </p:nvSpPr>
        <p:spPr>
          <a:xfrm>
            <a:off x="7635240" y="4142232"/>
            <a:ext cx="3886200" cy="521208"/>
          </a:xfrm>
          <a:prstGeom prst="rect">
            <a:avLst/>
          </a:prstGeom>
          <a:noFill/>
          <a:ln/>
        </p:spPr>
        <p:txBody>
          <a:bodyPr wrap="square" lIns="0" tIns="0" rIns="0" bIns="0" rtlCol="0" anchor="ctr"/>
          <a:lstStyle/>
          <a:p>
            <a:pPr marL="0" indent="0">
              <a:buNone/>
            </a:pPr>
            <a:r>
              <a:rPr lang="en-US" sz="1300" dirty="0">
                <a:solidFill>
                  <a:srgbClr val="231F20"/>
                </a:solidFill>
              </a:rPr>
              <a:t>Office d'aide à la commercialisation des produits vivriers (Côte d'Ivoire)</a:t>
            </a:r>
            <a:endParaRPr lang="en-US" sz="1300" dirty="0"/>
          </a:p>
        </p:txBody>
      </p:sp>
      <p:sp>
        <p:nvSpPr>
          <p:cNvPr id="40" name="Sigle ANARE-CI"/>
          <p:cNvSpPr/>
          <p:nvPr/>
        </p:nvSpPr>
        <p:spPr>
          <a:xfrm>
            <a:off x="502920" y="4754880"/>
            <a:ext cx="5440680" cy="521208"/>
          </a:xfrm>
          <a:prstGeom prst="roundRect">
            <a:avLst>
              <a:gd name="adj" fmla="val 14035"/>
            </a:avLst>
          </a:prstGeom>
          <a:solidFill>
            <a:srgbClr val="F4F7F5"/>
          </a:solidFill>
          <a:ln w="9525">
            <a:solidFill>
              <a:srgbClr val="D5DED9"/>
            </a:solidFill>
            <a:prstDash val="solid"/>
          </a:ln>
        </p:spPr>
      </p:sp>
      <p:sp>
        <p:nvSpPr>
          <p:cNvPr id="41" name="Pastille ANARE-CI"/>
          <p:cNvSpPr txBox="1"/>
          <p:nvPr/>
        </p:nvSpPr>
        <p:spPr>
          <a:xfrm>
            <a:off x="612648" y="4846320"/>
            <a:ext cx="1188720" cy="338328"/>
          </a:xfrm>
          <a:prstGeom prst="roundRect">
            <a:avLst>
              <a:gd name="adj" fmla="val 21622"/>
            </a:avLst>
          </a:prstGeom>
          <a:solidFill>
            <a:srgbClr val="D49A00"/>
          </a:solidFill>
          <a:ln/>
        </p:spPr>
        <p:txBody>
          <a:bodyPr wrap="square" lIns="0" tIns="0" rIns="0" bIns="0" rtlCol="0" anchor="ctr"/>
          <a:lstStyle/>
          <a:p>
            <a:pPr marL="0" indent="0" algn="ctr">
              <a:buNone/>
            </a:pPr>
            <a:r>
              <a:rPr lang="en-US" sz="1200" b="1" dirty="0">
                <a:solidFill>
                  <a:srgbClr val="FFFFFF"/>
                </a:solidFill>
              </a:rPr>
              <a:t>ANARE-CI</a:t>
            </a:r>
            <a:endParaRPr lang="en-US" sz="1200" dirty="0"/>
          </a:p>
        </p:txBody>
      </p:sp>
      <p:sp>
        <p:nvSpPr>
          <p:cNvPr id="42" name="Text 40"/>
          <p:cNvSpPr txBox="1"/>
          <p:nvPr/>
        </p:nvSpPr>
        <p:spPr>
          <a:xfrm>
            <a:off x="1965960" y="4754880"/>
            <a:ext cx="3886200" cy="521208"/>
          </a:xfrm>
          <a:prstGeom prst="rect">
            <a:avLst/>
          </a:prstGeom>
          <a:noFill/>
          <a:ln/>
        </p:spPr>
        <p:txBody>
          <a:bodyPr wrap="square" lIns="0" tIns="0" rIns="0" bIns="0" rtlCol="0" anchor="ctr"/>
          <a:lstStyle/>
          <a:p>
            <a:pPr marL="0" indent="0">
              <a:buNone/>
            </a:pPr>
            <a:r>
              <a:rPr lang="en-US" sz="1300" dirty="0">
                <a:solidFill>
                  <a:srgbClr val="231F20"/>
                </a:solidFill>
              </a:rPr>
              <a:t>Autorité nationale de régulation du secteur de l'électricité (Côte d'Ivoire)</a:t>
            </a:r>
            <a:endParaRPr lang="en-US" sz="1300" dirty="0"/>
          </a:p>
        </p:txBody>
      </p:sp>
      <p:sp>
        <p:nvSpPr>
          <p:cNvPr id="43" name="Sigle CRSE"/>
          <p:cNvSpPr/>
          <p:nvPr/>
        </p:nvSpPr>
        <p:spPr>
          <a:xfrm>
            <a:off x="6172200" y="4754880"/>
            <a:ext cx="5440680" cy="521208"/>
          </a:xfrm>
          <a:prstGeom prst="roundRect">
            <a:avLst>
              <a:gd name="adj" fmla="val 14035"/>
            </a:avLst>
          </a:prstGeom>
          <a:solidFill>
            <a:srgbClr val="F4F7F5"/>
          </a:solidFill>
          <a:ln w="9525">
            <a:solidFill>
              <a:srgbClr val="D5DED9"/>
            </a:solidFill>
            <a:prstDash val="solid"/>
          </a:ln>
        </p:spPr>
      </p:sp>
      <p:sp>
        <p:nvSpPr>
          <p:cNvPr id="44" name="Pastille CRSE"/>
          <p:cNvSpPr txBox="1"/>
          <p:nvPr/>
        </p:nvSpPr>
        <p:spPr>
          <a:xfrm>
            <a:off x="6281928" y="4846320"/>
            <a:ext cx="1188720" cy="338328"/>
          </a:xfrm>
          <a:prstGeom prst="roundRect">
            <a:avLst>
              <a:gd name="adj" fmla="val 21622"/>
            </a:avLst>
          </a:prstGeom>
          <a:solidFill>
            <a:srgbClr val="D49A00"/>
          </a:solidFill>
          <a:ln/>
        </p:spPr>
        <p:txBody>
          <a:bodyPr wrap="square" lIns="0" tIns="0" rIns="0" bIns="0" rtlCol="0" anchor="ctr"/>
          <a:lstStyle/>
          <a:p>
            <a:pPr marL="0" indent="0" algn="ctr">
              <a:buNone/>
            </a:pPr>
            <a:r>
              <a:rPr lang="en-US" sz="1200" b="1" dirty="0">
                <a:solidFill>
                  <a:srgbClr val="FFFFFF"/>
                </a:solidFill>
              </a:rPr>
              <a:t>CRSE</a:t>
            </a:r>
            <a:endParaRPr lang="en-US" sz="1200" dirty="0"/>
          </a:p>
        </p:txBody>
      </p:sp>
      <p:sp>
        <p:nvSpPr>
          <p:cNvPr id="45" name="Text 43"/>
          <p:cNvSpPr txBox="1"/>
          <p:nvPr/>
        </p:nvSpPr>
        <p:spPr>
          <a:xfrm>
            <a:off x="7635240" y="4754880"/>
            <a:ext cx="3886200" cy="521208"/>
          </a:xfrm>
          <a:prstGeom prst="rect">
            <a:avLst/>
          </a:prstGeom>
          <a:noFill/>
          <a:ln/>
        </p:spPr>
        <p:txBody>
          <a:bodyPr wrap="square" lIns="0" tIns="0" rIns="0" bIns="0" rtlCol="0" anchor="ctr"/>
          <a:lstStyle/>
          <a:p>
            <a:pPr marL="0" indent="0">
              <a:buNone/>
            </a:pPr>
            <a:r>
              <a:rPr lang="en-US" sz="1300" dirty="0">
                <a:solidFill>
                  <a:srgbClr val="231F20"/>
                </a:solidFill>
              </a:rPr>
              <a:t>Commission de régulation du secteur de l'énergie (Sénégal)</a:t>
            </a:r>
            <a:endParaRPr lang="en-US" sz="1300" dirty="0"/>
          </a:p>
        </p:txBody>
      </p:sp>
      <p:sp>
        <p:nvSpPr>
          <p:cNvPr id="46" name="Sigle ARTP"/>
          <p:cNvSpPr/>
          <p:nvPr/>
        </p:nvSpPr>
        <p:spPr>
          <a:xfrm>
            <a:off x="502920" y="5367528"/>
            <a:ext cx="5440680" cy="521208"/>
          </a:xfrm>
          <a:prstGeom prst="roundRect">
            <a:avLst>
              <a:gd name="adj" fmla="val 14035"/>
            </a:avLst>
          </a:prstGeom>
          <a:solidFill>
            <a:srgbClr val="F4F7F5"/>
          </a:solidFill>
          <a:ln w="9525">
            <a:solidFill>
              <a:srgbClr val="D5DED9"/>
            </a:solidFill>
            <a:prstDash val="solid"/>
          </a:ln>
        </p:spPr>
      </p:sp>
      <p:sp>
        <p:nvSpPr>
          <p:cNvPr id="47" name="Pastille ARTP"/>
          <p:cNvSpPr txBox="1"/>
          <p:nvPr/>
        </p:nvSpPr>
        <p:spPr>
          <a:xfrm>
            <a:off x="612648" y="5458968"/>
            <a:ext cx="1188720" cy="338328"/>
          </a:xfrm>
          <a:prstGeom prst="roundRect">
            <a:avLst>
              <a:gd name="adj" fmla="val 21622"/>
            </a:avLst>
          </a:prstGeom>
          <a:solidFill>
            <a:srgbClr val="D49A00"/>
          </a:solidFill>
          <a:ln/>
        </p:spPr>
        <p:txBody>
          <a:bodyPr wrap="square" lIns="0" tIns="0" rIns="0" bIns="0" rtlCol="0" anchor="ctr"/>
          <a:lstStyle/>
          <a:p>
            <a:pPr marL="0" indent="0" algn="ctr">
              <a:buNone/>
            </a:pPr>
            <a:r>
              <a:rPr lang="en-US" sz="1200" b="1" dirty="0">
                <a:solidFill>
                  <a:srgbClr val="FFFFFF"/>
                </a:solidFill>
              </a:rPr>
              <a:t>ARTP</a:t>
            </a:r>
            <a:endParaRPr lang="en-US" sz="1200" dirty="0"/>
          </a:p>
        </p:txBody>
      </p:sp>
      <p:sp>
        <p:nvSpPr>
          <p:cNvPr id="48" name="Text 46"/>
          <p:cNvSpPr txBox="1"/>
          <p:nvPr/>
        </p:nvSpPr>
        <p:spPr>
          <a:xfrm>
            <a:off x="1965960" y="5367528"/>
            <a:ext cx="3886200" cy="521208"/>
          </a:xfrm>
          <a:prstGeom prst="rect">
            <a:avLst/>
          </a:prstGeom>
          <a:noFill/>
          <a:ln/>
        </p:spPr>
        <p:txBody>
          <a:bodyPr wrap="square" lIns="0" tIns="0" rIns="0" bIns="0" rtlCol="0" anchor="ctr"/>
          <a:lstStyle/>
          <a:p>
            <a:pPr marL="0" indent="0">
              <a:buNone/>
            </a:pPr>
            <a:r>
              <a:rPr lang="en-US" sz="1300" dirty="0">
                <a:solidFill>
                  <a:srgbClr val="231F20"/>
                </a:solidFill>
              </a:rPr>
              <a:t>Autorité de régulation des télécommunications et des postes (Sénégal)</a:t>
            </a:r>
            <a:endParaRPr lang="en-US" sz="1300" dirty="0"/>
          </a:p>
        </p:txBody>
      </p:sp>
      <p:sp>
        <p:nvSpPr>
          <p:cNvPr id="49" name="Sigle ISBLSM"/>
          <p:cNvSpPr/>
          <p:nvPr/>
        </p:nvSpPr>
        <p:spPr>
          <a:xfrm>
            <a:off x="6172200" y="5367528"/>
            <a:ext cx="5440680" cy="521208"/>
          </a:xfrm>
          <a:prstGeom prst="roundRect">
            <a:avLst>
              <a:gd name="adj" fmla="val 14035"/>
            </a:avLst>
          </a:prstGeom>
          <a:solidFill>
            <a:srgbClr val="F4F7F5"/>
          </a:solidFill>
          <a:ln w="9525">
            <a:solidFill>
              <a:srgbClr val="D5DED9"/>
            </a:solidFill>
            <a:prstDash val="solid"/>
          </a:ln>
        </p:spPr>
      </p:sp>
      <p:sp>
        <p:nvSpPr>
          <p:cNvPr id="50" name="Pastille ISBLSM"/>
          <p:cNvSpPr txBox="1"/>
          <p:nvPr/>
        </p:nvSpPr>
        <p:spPr>
          <a:xfrm>
            <a:off x="6281928" y="5458968"/>
            <a:ext cx="1188720" cy="338328"/>
          </a:xfrm>
          <a:prstGeom prst="roundRect">
            <a:avLst>
              <a:gd name="adj" fmla="val 21622"/>
            </a:avLst>
          </a:prstGeom>
          <a:solidFill>
            <a:srgbClr val="C4621D"/>
          </a:solidFill>
          <a:ln/>
        </p:spPr>
        <p:txBody>
          <a:bodyPr wrap="square" lIns="0" tIns="0" rIns="0" bIns="0" rtlCol="0" anchor="ctr"/>
          <a:lstStyle/>
          <a:p>
            <a:pPr marL="0" indent="0" algn="ctr">
              <a:buNone/>
            </a:pPr>
            <a:r>
              <a:rPr lang="en-US" sz="1200" b="1" dirty="0">
                <a:solidFill>
                  <a:srgbClr val="FFFFFF"/>
                </a:solidFill>
              </a:rPr>
              <a:t>ISBLSM</a:t>
            </a:r>
            <a:endParaRPr lang="en-US" sz="1200" dirty="0"/>
          </a:p>
        </p:txBody>
      </p:sp>
      <p:sp>
        <p:nvSpPr>
          <p:cNvPr id="51" name="Text 49"/>
          <p:cNvSpPr txBox="1"/>
          <p:nvPr/>
        </p:nvSpPr>
        <p:spPr>
          <a:xfrm>
            <a:off x="7635240" y="5367528"/>
            <a:ext cx="3886200" cy="521208"/>
          </a:xfrm>
          <a:prstGeom prst="rect">
            <a:avLst/>
          </a:prstGeom>
          <a:noFill/>
          <a:ln/>
        </p:spPr>
        <p:txBody>
          <a:bodyPr wrap="square" lIns="0" tIns="0" rIns="0" bIns="0" rtlCol="0" anchor="ctr"/>
          <a:lstStyle/>
          <a:p>
            <a:pPr marL="0" indent="0">
              <a:buNone/>
            </a:pPr>
            <a:r>
              <a:rPr lang="en-US" sz="1300" dirty="0">
                <a:solidFill>
                  <a:srgbClr val="231F20"/>
                </a:solidFill>
              </a:rPr>
              <a:t>Institutions sans but lucratif au service des ménages</a:t>
            </a:r>
            <a:endParaRPr lang="en-US" sz="1300" dirty="0"/>
          </a:p>
        </p:txBody>
      </p:sp>
      <p:sp>
        <p:nvSpPr>
          <p:cNvPr id="52"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3</a:t>
            </a:fld>
            <a:endParaRPr lang="en-US"/>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097280"/>
            <a:ext cx="3200400" cy="1463040"/>
          </a:xfrm>
          <a:prstGeom prst="rect">
            <a:avLst/>
          </a:prstGeom>
          <a:noFill/>
          <a:ln/>
        </p:spPr>
        <p:txBody>
          <a:bodyPr wrap="square" rtlCol="0" anchor="b"/>
          <a:lstStyle/>
          <a:p>
            <a:pPr marL="0" indent="0">
              <a:buNone/>
            </a:pPr>
            <a:r>
              <a:rPr lang="en-US" sz="11000" b="1" dirty="0">
                <a:solidFill>
                  <a:srgbClr val="F5C242"/>
                </a:solidFill>
              </a:rPr>
              <a:t>01</a:t>
            </a:r>
            <a:endParaRPr lang="en-US" sz="11000" dirty="0"/>
          </a:p>
        </p:txBody>
      </p:sp>
      <p:sp>
        <p:nvSpPr>
          <p:cNvPr id="3" name="Text 0"/>
          <p:cNvSpPr>
            <a:spLocks noGrp="1"/>
          </p:cNvSpPr>
          <p:nvPr>
            <p:ph type="title" idx="101" hasCustomPrompt="1"/>
          </p:nvPr>
        </p:nvSpPr>
        <p:spPr>
          <a:xfrm>
            <a:off x="731520" y="2743200"/>
            <a:ext cx="7315200" cy="1188720"/>
          </a:xfrm>
          <a:prstGeom prst="rect">
            <a:avLst/>
          </a:prstGeom>
          <a:noFill/>
          <a:ln/>
        </p:spPr>
        <p:txBody>
          <a:bodyPr wrap="square" rtlCol="0" anchor="t"/>
          <a:lstStyle/>
          <a:p>
            <a:pPr marL="0" indent="0" algn="l">
              <a:buNone/>
            </a:pPr>
            <a:r>
              <a:rPr lang="en-US" sz="4200" b="1" dirty="0">
                <a:solidFill>
                  <a:srgbClr val="FFFFFF"/>
                </a:solidFill>
              </a:rPr>
              <a:t>Comprendre l'IPC</a:t>
            </a:r>
            <a:endParaRPr lang="en-US" sz="4200" dirty="0"/>
          </a:p>
        </p:txBody>
      </p:sp>
      <p:sp>
        <p:nvSpPr>
          <p:cNvPr id="4" name="Text 0"/>
          <p:cNvSpPr>
            <a:spLocks noGrp="1"/>
          </p:cNvSpPr>
          <p:nvPr>
            <p:ph type="body" idx="102" hasCustomPrompt="1"/>
          </p:nvPr>
        </p:nvSpPr>
        <p:spPr>
          <a:xfrm>
            <a:off x="731520" y="3977640"/>
            <a:ext cx="7589520" cy="822960"/>
          </a:xfrm>
          <a:prstGeom prst="rect">
            <a:avLst/>
          </a:prstGeom>
          <a:noFill/>
          <a:ln/>
        </p:spPr>
        <p:txBody>
          <a:bodyPr wrap="square" rtlCol="0" anchor="t"/>
          <a:lstStyle/>
          <a:p>
            <a:pPr marL="0" indent="0">
              <a:buNone/>
            </a:pPr>
            <a:r>
              <a:rPr lang="en-US" sz="1900" i="1" dirty="0">
                <a:solidFill>
                  <a:srgbClr val="E6F6EE"/>
                </a:solidFill>
              </a:rPr>
              <a:t>Que mesure vraiment l'indice des prix à la consommation, et à quoi sert-il ?</a:t>
            </a:r>
            <a:endParaRPr lang="en-US" sz="1900" dirty="0"/>
          </a:p>
        </p:txBody>
      </p:sp>
      <p:sp>
        <p:nvSpPr>
          <p:cNvPr id="5" name="Cercle icône section"/>
          <p:cNvSpPr/>
          <p:nvPr/>
        </p:nvSpPr>
        <p:spPr>
          <a:xfrm>
            <a:off x="9079992" y="2340864"/>
            <a:ext cx="1280160" cy="1280160"/>
          </a:xfrm>
          <a:prstGeom prst="ellipse">
            <a:avLst/>
          </a:prstGeom>
          <a:solidFill>
            <a:srgbClr val="FFFFFF"/>
          </a:solidFill>
          <a:ln/>
        </p:spPr>
      </p:sp>
      <p:pic>
        <p:nvPicPr>
          <p:cNvPr id="6" name="Icône section" descr="preencoded.png"/>
          <p:cNvPicPr>
            <a:picLocks noChangeAspect="1"/>
          </p:cNvPicPr>
          <p:nvPr/>
        </p:nvPicPr>
        <p:blipFill>
          <a:blip r:embed="rId3"/>
          <a:stretch>
            <a:fillRect/>
          </a:stretch>
        </p:blipFill>
        <p:spPr>
          <a:xfrm>
            <a:off x="9372600" y="2633472"/>
            <a:ext cx="694944" cy="694944"/>
          </a:xfrm>
          <a:prstGeom prst="rect">
            <a:avLst/>
          </a:prstGeom>
        </p:spPr>
      </p:pic>
      <p:sp>
        <p:nvSpPr>
          <p:cNvPr id="7" name="Point de progression 1"/>
          <p:cNvSpPr/>
          <p:nvPr/>
        </p:nvSpPr>
        <p:spPr>
          <a:xfrm>
            <a:off x="731520" y="5989320"/>
            <a:ext cx="155448" cy="155448"/>
          </a:xfrm>
          <a:prstGeom prst="ellipse">
            <a:avLst/>
          </a:prstGeom>
          <a:solidFill>
            <a:srgbClr val="F5C242"/>
          </a:solidFill>
          <a:ln/>
        </p:spPr>
      </p:sp>
      <p:sp>
        <p:nvSpPr>
          <p:cNvPr id="8" name="Point de progression 2"/>
          <p:cNvSpPr/>
          <p:nvPr/>
        </p:nvSpPr>
        <p:spPr>
          <a:xfrm>
            <a:off x="1024128" y="5989320"/>
            <a:ext cx="155448" cy="155448"/>
          </a:xfrm>
          <a:prstGeom prst="ellipse">
            <a:avLst/>
          </a:prstGeom>
          <a:solidFill>
            <a:srgbClr val="FFFFFF">
              <a:alpha val="40000"/>
            </a:srgbClr>
          </a:solidFill>
          <a:ln/>
        </p:spPr>
      </p:sp>
      <p:sp>
        <p:nvSpPr>
          <p:cNvPr id="9" name="Point de progression 3"/>
          <p:cNvSpPr/>
          <p:nvPr/>
        </p:nvSpPr>
        <p:spPr>
          <a:xfrm>
            <a:off x="1316736" y="5989320"/>
            <a:ext cx="155448" cy="155448"/>
          </a:xfrm>
          <a:prstGeom prst="ellipse">
            <a:avLst/>
          </a:prstGeom>
          <a:solidFill>
            <a:srgbClr val="FFFFFF">
              <a:alpha val="40000"/>
            </a:srgbClr>
          </a:solidFill>
          <a:ln/>
        </p:spPr>
      </p:sp>
      <p:sp>
        <p:nvSpPr>
          <p:cNvPr id="10" name="Point de progression 4"/>
          <p:cNvSpPr/>
          <p:nvPr/>
        </p:nvSpPr>
        <p:spPr>
          <a:xfrm>
            <a:off x="1609344" y="5989320"/>
            <a:ext cx="155448" cy="155448"/>
          </a:xfrm>
          <a:prstGeom prst="ellipse">
            <a:avLst/>
          </a:prstGeom>
          <a:solidFill>
            <a:srgbClr val="FFFFFF">
              <a:alpha val="40000"/>
            </a:srgbClr>
          </a:solidFill>
          <a:ln/>
        </p:spPr>
      </p:sp>
      <p:sp>
        <p:nvSpPr>
          <p:cNvPr id="11" name="Point de progression 5"/>
          <p:cNvSpPr/>
          <p:nvPr/>
        </p:nvSpPr>
        <p:spPr>
          <a:xfrm>
            <a:off x="1901952" y="5989320"/>
            <a:ext cx="155448" cy="155448"/>
          </a:xfrm>
          <a:prstGeom prst="ellipse">
            <a:avLst/>
          </a:prstGeom>
          <a:solidFill>
            <a:srgbClr val="FFFFFF">
              <a:alpha val="40000"/>
            </a:srgbClr>
          </a:solidFill>
          <a:ln/>
        </p:spPr>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01 · COMPRENDRE L'IPC</a:t>
            </a:r>
            <a:endParaRPr lang="en-US" sz="1200" dirty="0"/>
          </a:p>
        </p:txBody>
      </p:sp>
      <p:sp>
        <p:nvSpPr>
          <p:cNvPr id="3" name="Point de progression 1"/>
          <p:cNvSpPr/>
          <p:nvPr/>
        </p:nvSpPr>
        <p:spPr>
          <a:xfrm>
            <a:off x="10561320" y="365760"/>
            <a:ext cx="128016" cy="128016"/>
          </a:xfrm>
          <a:prstGeom prst="ellipse">
            <a:avLst/>
          </a:prstGeom>
          <a:solidFill>
            <a:srgbClr val="00A86A"/>
          </a:solidFill>
          <a:ln/>
        </p:spPr>
      </p:sp>
      <p:sp>
        <p:nvSpPr>
          <p:cNvPr id="4" name="Point de progression 2"/>
          <p:cNvSpPr/>
          <p:nvPr/>
        </p:nvSpPr>
        <p:spPr>
          <a:xfrm>
            <a:off x="10789920" y="365760"/>
            <a:ext cx="128016" cy="128016"/>
          </a:xfrm>
          <a:prstGeom prst="ellipse">
            <a:avLst/>
          </a:prstGeom>
          <a:solidFill>
            <a:srgbClr val="D5DED9"/>
          </a:solidFill>
          <a:ln/>
        </p:spPr>
      </p:sp>
      <p:sp>
        <p:nvSpPr>
          <p:cNvPr id="5" name="Point de progression 3"/>
          <p:cNvSpPr/>
          <p:nvPr/>
        </p:nvSpPr>
        <p:spPr>
          <a:xfrm>
            <a:off x="11018520" y="365760"/>
            <a:ext cx="128016" cy="128016"/>
          </a:xfrm>
          <a:prstGeom prst="ellipse">
            <a:avLst/>
          </a:prstGeom>
          <a:solidFill>
            <a:srgbClr val="D5DED9"/>
          </a:solidFill>
          <a:ln/>
        </p:spPr>
      </p:sp>
      <p:sp>
        <p:nvSpPr>
          <p:cNvPr id="6" name="Point de progression 4"/>
          <p:cNvSpPr/>
          <p:nvPr/>
        </p:nvSpPr>
        <p:spPr>
          <a:xfrm>
            <a:off x="11247120" y="365760"/>
            <a:ext cx="128016" cy="128016"/>
          </a:xfrm>
          <a:prstGeom prst="ellipse">
            <a:avLst/>
          </a:prstGeom>
          <a:solidFill>
            <a:srgbClr val="D5DED9"/>
          </a:solidFill>
          <a:ln/>
        </p:spPr>
      </p:sp>
      <p:sp>
        <p:nvSpPr>
          <p:cNvPr id="7" name="Point de progression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Qu'est-ce que l'indice des prix à la consommation ?</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Une définition courte, et quatre choix de champ qui la rendent opérationnelle</a:t>
            </a:r>
            <a:endParaRPr lang="en-US" sz="1500" dirty="0"/>
          </a:p>
        </p:txBody>
      </p:sp>
      <p:sp>
        <p:nvSpPr>
          <p:cNvPr id="10" name="Bandeau définition"/>
          <p:cNvSpPr/>
          <p:nvPr/>
        </p:nvSpPr>
        <p:spPr>
          <a:xfrm>
            <a:off x="502920" y="1737360"/>
            <a:ext cx="11155680" cy="1143000"/>
          </a:xfrm>
          <a:prstGeom prst="roundRect">
            <a:avLst>
              <a:gd name="adj" fmla="val 6400"/>
            </a:avLst>
          </a:prstGeom>
          <a:solidFill>
            <a:srgbClr val="E8F5EF"/>
          </a:solidFill>
          <a:ln w="19050">
            <a:solidFill>
              <a:srgbClr val="00A86A"/>
            </a:solidFill>
            <a:prstDash val="solid"/>
          </a:ln>
        </p:spPr>
      </p:sp>
      <p:sp>
        <p:nvSpPr>
          <p:cNvPr id="11" name="Text 9"/>
          <p:cNvSpPr txBox="1"/>
          <p:nvPr/>
        </p:nvSpPr>
        <p:spPr>
          <a:xfrm>
            <a:off x="822960" y="1737360"/>
            <a:ext cx="10515600" cy="1143000"/>
          </a:xfrm>
          <a:prstGeom prst="rect">
            <a:avLst/>
          </a:prstGeom>
          <a:noFill/>
          <a:ln/>
        </p:spPr>
        <p:txBody>
          <a:bodyPr wrap="square" lIns="0" tIns="0" rIns="0" bIns="0" rtlCol="0" anchor="ctr"/>
          <a:lstStyle/>
          <a:p>
            <a:pPr marL="0" indent="0">
              <a:buNone/>
            </a:pPr>
            <a:r>
              <a:rPr lang="en-US" sz="2100" dirty="0">
                <a:solidFill>
                  <a:srgbClr val="231F20"/>
                </a:solidFill>
              </a:rPr>
              <a:t>L'IPC mesure l'évolution moyenne, entre deux périodes, des prix d'un panier fixe de biens et services </a:t>
            </a:r>
            <a:r>
              <a:rPr lang="en-US" sz="2100" b="1" dirty="0">
                <a:solidFill>
                  <a:srgbClr val="00704A"/>
                </a:solidFill>
              </a:rPr>
              <a:t>acquis par les ménages pour leur consommation</a:t>
            </a:r>
            <a:r>
              <a:rPr lang="en-US" sz="2100" dirty="0">
                <a:solidFill>
                  <a:srgbClr val="231F20"/>
                </a:solidFill>
              </a:rPr>
              <a:t>, à qualité constante.</a:t>
            </a:r>
            <a:endParaRPr lang="en-US" sz="2100" dirty="0"/>
          </a:p>
        </p:txBody>
      </p:sp>
      <p:sp>
        <p:nvSpPr>
          <p:cNvPr id="12" name="Carte champ 1"/>
          <p:cNvSpPr/>
          <p:nvPr/>
        </p:nvSpPr>
        <p:spPr>
          <a:xfrm>
            <a:off x="502920" y="3200400"/>
            <a:ext cx="2651760" cy="2743200"/>
          </a:xfrm>
          <a:prstGeom prst="roundRect">
            <a:avLst>
              <a:gd name="adj" fmla="val 2759"/>
            </a:avLst>
          </a:prstGeom>
          <a:solidFill>
            <a:srgbClr val="F4F7F5"/>
          </a:solidFill>
          <a:ln w="9525">
            <a:solidFill>
              <a:srgbClr val="D5DED9"/>
            </a:solidFill>
            <a:prstDash val="solid"/>
          </a:ln>
        </p:spPr>
      </p:sp>
      <p:sp>
        <p:nvSpPr>
          <p:cNvPr id="13" name="Champ 1 cercle"/>
          <p:cNvSpPr/>
          <p:nvPr/>
        </p:nvSpPr>
        <p:spPr>
          <a:xfrm>
            <a:off x="777240" y="3474720"/>
            <a:ext cx="685800" cy="685800"/>
          </a:xfrm>
          <a:prstGeom prst="ellipse">
            <a:avLst/>
          </a:prstGeom>
          <a:solidFill>
            <a:srgbClr val="00A86A">
              <a:alpha val="22000"/>
            </a:srgbClr>
          </a:solidFill>
          <a:ln/>
        </p:spPr>
      </p:sp>
      <p:pic>
        <p:nvPicPr>
          <p:cNvPr id="14" name="Champ 1 icône" descr="preencoded.png"/>
          <p:cNvPicPr>
            <a:picLocks noChangeAspect="1"/>
          </p:cNvPicPr>
          <p:nvPr/>
        </p:nvPicPr>
        <p:blipFill>
          <a:blip r:embed="rId3"/>
          <a:stretch>
            <a:fillRect/>
          </a:stretch>
        </p:blipFill>
        <p:spPr>
          <a:xfrm>
            <a:off x="948690" y="3646170"/>
            <a:ext cx="342900" cy="342900"/>
          </a:xfrm>
          <a:prstGeom prst="rect">
            <a:avLst/>
          </a:prstGeom>
        </p:spPr>
      </p:pic>
      <p:sp>
        <p:nvSpPr>
          <p:cNvPr id="15" name="Text 12"/>
          <p:cNvSpPr txBox="1"/>
          <p:nvPr/>
        </p:nvSpPr>
        <p:spPr>
          <a:xfrm>
            <a:off x="1600200" y="3474720"/>
            <a:ext cx="1463040" cy="685800"/>
          </a:xfrm>
          <a:prstGeom prst="rect">
            <a:avLst/>
          </a:prstGeom>
          <a:noFill/>
          <a:ln/>
        </p:spPr>
        <p:txBody>
          <a:bodyPr wrap="square" lIns="0" tIns="0" rIns="0" bIns="0" rtlCol="0" anchor="ctr"/>
          <a:lstStyle/>
          <a:p>
            <a:pPr marL="0" indent="0">
              <a:buNone/>
            </a:pPr>
            <a:r>
              <a:rPr lang="en-US" sz="1900" b="1" dirty="0">
                <a:solidFill>
                  <a:srgbClr val="231F20"/>
                </a:solidFill>
              </a:rPr>
              <a:t>Qui ?</a:t>
            </a:r>
            <a:endParaRPr lang="en-US" sz="1900" dirty="0"/>
          </a:p>
        </p:txBody>
      </p:sp>
      <p:sp>
        <p:nvSpPr>
          <p:cNvPr id="16" name="Text 13"/>
          <p:cNvSpPr txBox="1"/>
          <p:nvPr/>
        </p:nvSpPr>
        <p:spPr>
          <a:xfrm>
            <a:off x="777240" y="4297680"/>
            <a:ext cx="2148840" cy="1554480"/>
          </a:xfrm>
          <a:prstGeom prst="rect">
            <a:avLst/>
          </a:prstGeom>
          <a:noFill/>
          <a:ln/>
        </p:spPr>
        <p:txBody>
          <a:bodyPr wrap="square" lIns="0" tIns="0" rIns="0" bIns="0" rtlCol="0" anchor="t"/>
          <a:lstStyle/>
          <a:p>
            <a:pPr marL="0" indent="0">
              <a:buNone/>
            </a:pPr>
            <a:r>
              <a:rPr lang="en-US" sz="1400" dirty="0">
                <a:solidFill>
                  <a:srgbClr val="5E6964"/>
                </a:solidFill>
              </a:rPr>
              <a:t>Population de référence : tous les ménages résidents, ou une catégorie (urbains, salariés).</a:t>
            </a:r>
            <a:endParaRPr lang="en-US" sz="1400" dirty="0"/>
          </a:p>
        </p:txBody>
      </p:sp>
      <p:sp>
        <p:nvSpPr>
          <p:cNvPr id="17" name="Carte champ 2"/>
          <p:cNvSpPr/>
          <p:nvPr/>
        </p:nvSpPr>
        <p:spPr>
          <a:xfrm>
            <a:off x="3337560" y="3200400"/>
            <a:ext cx="2651760" cy="2743200"/>
          </a:xfrm>
          <a:prstGeom prst="roundRect">
            <a:avLst>
              <a:gd name="adj" fmla="val 2759"/>
            </a:avLst>
          </a:prstGeom>
          <a:solidFill>
            <a:srgbClr val="F4F7F5"/>
          </a:solidFill>
          <a:ln w="9525">
            <a:solidFill>
              <a:srgbClr val="D5DED9"/>
            </a:solidFill>
            <a:prstDash val="solid"/>
          </a:ln>
        </p:spPr>
      </p:sp>
      <p:sp>
        <p:nvSpPr>
          <p:cNvPr id="18" name="Champ 2 cercle"/>
          <p:cNvSpPr/>
          <p:nvPr/>
        </p:nvSpPr>
        <p:spPr>
          <a:xfrm>
            <a:off x="3611880" y="3474720"/>
            <a:ext cx="685800" cy="685800"/>
          </a:xfrm>
          <a:prstGeom prst="ellipse">
            <a:avLst/>
          </a:prstGeom>
          <a:solidFill>
            <a:srgbClr val="0E7C86">
              <a:alpha val="22000"/>
            </a:srgbClr>
          </a:solidFill>
          <a:ln/>
        </p:spPr>
      </p:sp>
      <p:pic>
        <p:nvPicPr>
          <p:cNvPr id="19" name="Champ 2 icône" descr="preencoded.png"/>
          <p:cNvPicPr>
            <a:picLocks noChangeAspect="1"/>
          </p:cNvPicPr>
          <p:nvPr/>
        </p:nvPicPr>
        <p:blipFill>
          <a:blip r:embed="rId4"/>
          <a:stretch>
            <a:fillRect/>
          </a:stretch>
        </p:blipFill>
        <p:spPr>
          <a:xfrm>
            <a:off x="3783330" y="3646170"/>
            <a:ext cx="342900" cy="342900"/>
          </a:xfrm>
          <a:prstGeom prst="rect">
            <a:avLst/>
          </a:prstGeom>
        </p:spPr>
      </p:pic>
      <p:sp>
        <p:nvSpPr>
          <p:cNvPr id="20" name="Text 16"/>
          <p:cNvSpPr txBox="1"/>
          <p:nvPr/>
        </p:nvSpPr>
        <p:spPr>
          <a:xfrm>
            <a:off x="4434840" y="3474720"/>
            <a:ext cx="1463040" cy="685800"/>
          </a:xfrm>
          <a:prstGeom prst="rect">
            <a:avLst/>
          </a:prstGeom>
          <a:noFill/>
          <a:ln/>
        </p:spPr>
        <p:txBody>
          <a:bodyPr wrap="square" lIns="0" tIns="0" rIns="0" bIns="0" rtlCol="0" anchor="ctr"/>
          <a:lstStyle/>
          <a:p>
            <a:pPr marL="0" indent="0">
              <a:buNone/>
            </a:pPr>
            <a:r>
              <a:rPr lang="en-US" sz="1900" b="1" dirty="0">
                <a:solidFill>
                  <a:srgbClr val="231F20"/>
                </a:solidFill>
              </a:rPr>
              <a:t>Où ?</a:t>
            </a:r>
            <a:endParaRPr lang="en-US" sz="1900" dirty="0"/>
          </a:p>
        </p:txBody>
      </p:sp>
      <p:sp>
        <p:nvSpPr>
          <p:cNvPr id="21" name="Text 17"/>
          <p:cNvSpPr txBox="1"/>
          <p:nvPr/>
        </p:nvSpPr>
        <p:spPr>
          <a:xfrm>
            <a:off x="3611880" y="4297680"/>
            <a:ext cx="2148840" cy="1554480"/>
          </a:xfrm>
          <a:prstGeom prst="rect">
            <a:avLst/>
          </a:prstGeom>
          <a:noFill/>
          <a:ln/>
        </p:spPr>
        <p:txBody>
          <a:bodyPr wrap="square" lIns="0" tIns="0" rIns="0" bIns="0" rtlCol="0" anchor="t"/>
          <a:lstStyle/>
          <a:p>
            <a:pPr marL="0" indent="0">
              <a:buNone/>
            </a:pPr>
            <a:r>
              <a:rPr lang="en-US" sz="1400" dirty="0">
                <a:solidFill>
                  <a:srgbClr val="5E6964"/>
                </a:solidFill>
              </a:rPr>
              <a:t>Couverture géographique : capitale, villes principales ou pays entier, urbain et rural.</a:t>
            </a:r>
            <a:endParaRPr lang="en-US" sz="1400" dirty="0"/>
          </a:p>
        </p:txBody>
      </p:sp>
      <p:sp>
        <p:nvSpPr>
          <p:cNvPr id="22" name="Carte champ 3"/>
          <p:cNvSpPr/>
          <p:nvPr/>
        </p:nvSpPr>
        <p:spPr>
          <a:xfrm>
            <a:off x="6172200" y="3200400"/>
            <a:ext cx="2651760" cy="2743200"/>
          </a:xfrm>
          <a:prstGeom prst="roundRect">
            <a:avLst>
              <a:gd name="adj" fmla="val 2759"/>
            </a:avLst>
          </a:prstGeom>
          <a:solidFill>
            <a:srgbClr val="F4F7F5"/>
          </a:solidFill>
          <a:ln w="9525">
            <a:solidFill>
              <a:srgbClr val="D5DED9"/>
            </a:solidFill>
            <a:prstDash val="solid"/>
          </a:ln>
        </p:spPr>
      </p:sp>
      <p:sp>
        <p:nvSpPr>
          <p:cNvPr id="23" name="Champ 3 cercle"/>
          <p:cNvSpPr/>
          <p:nvPr/>
        </p:nvSpPr>
        <p:spPr>
          <a:xfrm>
            <a:off x="6446520" y="3474720"/>
            <a:ext cx="685800" cy="685800"/>
          </a:xfrm>
          <a:prstGeom prst="ellipse">
            <a:avLst/>
          </a:prstGeom>
          <a:solidFill>
            <a:srgbClr val="00A86A">
              <a:alpha val="22000"/>
            </a:srgbClr>
          </a:solidFill>
          <a:ln/>
        </p:spPr>
      </p:sp>
      <p:pic>
        <p:nvPicPr>
          <p:cNvPr id="24" name="Champ 3 icône" descr="preencoded.png"/>
          <p:cNvPicPr>
            <a:picLocks noChangeAspect="1"/>
          </p:cNvPicPr>
          <p:nvPr/>
        </p:nvPicPr>
        <p:blipFill>
          <a:blip r:embed="rId5"/>
          <a:stretch>
            <a:fillRect/>
          </a:stretch>
        </p:blipFill>
        <p:spPr>
          <a:xfrm>
            <a:off x="6617970" y="3646170"/>
            <a:ext cx="342900" cy="342900"/>
          </a:xfrm>
          <a:prstGeom prst="rect">
            <a:avLst/>
          </a:prstGeom>
        </p:spPr>
      </p:pic>
      <p:sp>
        <p:nvSpPr>
          <p:cNvPr id="25" name="Text 20"/>
          <p:cNvSpPr txBox="1"/>
          <p:nvPr/>
        </p:nvSpPr>
        <p:spPr>
          <a:xfrm>
            <a:off x="7269480" y="3474720"/>
            <a:ext cx="1463040" cy="685800"/>
          </a:xfrm>
          <a:prstGeom prst="rect">
            <a:avLst/>
          </a:prstGeom>
          <a:noFill/>
          <a:ln/>
        </p:spPr>
        <p:txBody>
          <a:bodyPr wrap="square" lIns="0" tIns="0" rIns="0" bIns="0" rtlCol="0" anchor="ctr"/>
          <a:lstStyle/>
          <a:p>
            <a:pPr marL="0" indent="0">
              <a:buNone/>
            </a:pPr>
            <a:r>
              <a:rPr lang="en-US" sz="1900" b="1" dirty="0">
                <a:solidFill>
                  <a:srgbClr val="231F20"/>
                </a:solidFill>
              </a:rPr>
              <a:t>Quoi ?</a:t>
            </a:r>
            <a:endParaRPr lang="en-US" sz="1900" dirty="0"/>
          </a:p>
        </p:txBody>
      </p:sp>
      <p:sp>
        <p:nvSpPr>
          <p:cNvPr id="26" name="Text 21"/>
          <p:cNvSpPr txBox="1"/>
          <p:nvPr/>
        </p:nvSpPr>
        <p:spPr>
          <a:xfrm>
            <a:off x="6446520" y="4297680"/>
            <a:ext cx="2148840" cy="1554480"/>
          </a:xfrm>
          <a:prstGeom prst="rect">
            <a:avLst/>
          </a:prstGeom>
          <a:noFill/>
          <a:ln/>
        </p:spPr>
        <p:txBody>
          <a:bodyPr wrap="square" lIns="0" tIns="0" rIns="0" bIns="0" rtlCol="0" anchor="t"/>
          <a:lstStyle/>
          <a:p>
            <a:pPr marL="0" indent="0">
              <a:buNone/>
            </a:pPr>
            <a:r>
              <a:rPr lang="en-US" sz="1400" dirty="0">
                <a:solidFill>
                  <a:srgbClr val="5E6964"/>
                </a:solidFill>
              </a:rPr>
              <a:t>Biens et services de consommation, classés en COICOP. Pas l'investissement, pas l'épargne.</a:t>
            </a:r>
            <a:endParaRPr lang="en-US" sz="1400" dirty="0"/>
          </a:p>
        </p:txBody>
      </p:sp>
      <p:sp>
        <p:nvSpPr>
          <p:cNvPr id="27" name="Carte champ 4"/>
          <p:cNvSpPr/>
          <p:nvPr/>
        </p:nvSpPr>
        <p:spPr>
          <a:xfrm>
            <a:off x="9006840" y="3200400"/>
            <a:ext cx="2651760" cy="2743200"/>
          </a:xfrm>
          <a:prstGeom prst="roundRect">
            <a:avLst>
              <a:gd name="adj" fmla="val 2759"/>
            </a:avLst>
          </a:prstGeom>
          <a:solidFill>
            <a:srgbClr val="F4F7F5"/>
          </a:solidFill>
          <a:ln w="9525">
            <a:solidFill>
              <a:srgbClr val="D5DED9"/>
            </a:solidFill>
            <a:prstDash val="solid"/>
          </a:ln>
        </p:spPr>
      </p:sp>
      <p:sp>
        <p:nvSpPr>
          <p:cNvPr id="28" name="Champ 4 cercle"/>
          <p:cNvSpPr/>
          <p:nvPr/>
        </p:nvSpPr>
        <p:spPr>
          <a:xfrm>
            <a:off x="9281160" y="3474720"/>
            <a:ext cx="685800" cy="685800"/>
          </a:xfrm>
          <a:prstGeom prst="ellipse">
            <a:avLst/>
          </a:prstGeom>
          <a:solidFill>
            <a:srgbClr val="0E7C86">
              <a:alpha val="22000"/>
            </a:srgbClr>
          </a:solidFill>
          <a:ln/>
        </p:spPr>
      </p:sp>
      <p:pic>
        <p:nvPicPr>
          <p:cNvPr id="29" name="Champ 4 icône" descr="preencoded.png"/>
          <p:cNvPicPr>
            <a:picLocks noChangeAspect="1"/>
          </p:cNvPicPr>
          <p:nvPr/>
        </p:nvPicPr>
        <p:blipFill>
          <a:blip r:embed="rId6"/>
          <a:stretch>
            <a:fillRect/>
          </a:stretch>
        </p:blipFill>
        <p:spPr>
          <a:xfrm>
            <a:off x="9452610" y="3646170"/>
            <a:ext cx="342900" cy="342900"/>
          </a:xfrm>
          <a:prstGeom prst="rect">
            <a:avLst/>
          </a:prstGeom>
        </p:spPr>
      </p:pic>
      <p:sp>
        <p:nvSpPr>
          <p:cNvPr id="30" name="Text 24"/>
          <p:cNvSpPr txBox="1"/>
          <p:nvPr/>
        </p:nvSpPr>
        <p:spPr>
          <a:xfrm>
            <a:off x="10104120" y="3474720"/>
            <a:ext cx="1463040" cy="685800"/>
          </a:xfrm>
          <a:prstGeom prst="rect">
            <a:avLst/>
          </a:prstGeom>
          <a:noFill/>
          <a:ln/>
        </p:spPr>
        <p:txBody>
          <a:bodyPr wrap="square" lIns="0" tIns="0" rIns="0" bIns="0" rtlCol="0" anchor="ctr"/>
          <a:lstStyle/>
          <a:p>
            <a:pPr marL="0" indent="0">
              <a:buNone/>
            </a:pPr>
            <a:r>
              <a:rPr lang="en-US" sz="1900" b="1" dirty="0">
                <a:solidFill>
                  <a:srgbClr val="231F20"/>
                </a:solidFill>
              </a:rPr>
              <a:t>Quels prix ?</a:t>
            </a:r>
            <a:endParaRPr lang="en-US" sz="1900" dirty="0"/>
          </a:p>
        </p:txBody>
      </p:sp>
      <p:sp>
        <p:nvSpPr>
          <p:cNvPr id="31" name="Text 25"/>
          <p:cNvSpPr txBox="1"/>
          <p:nvPr/>
        </p:nvSpPr>
        <p:spPr>
          <a:xfrm>
            <a:off x="9281160" y="4297680"/>
            <a:ext cx="2148840" cy="1554480"/>
          </a:xfrm>
          <a:prstGeom prst="rect">
            <a:avLst/>
          </a:prstGeom>
          <a:noFill/>
          <a:ln/>
        </p:spPr>
        <p:txBody>
          <a:bodyPr wrap="square" lIns="0" tIns="0" rIns="0" bIns="0" rtlCol="0" anchor="t"/>
          <a:lstStyle/>
          <a:p>
            <a:pPr marL="0" indent="0">
              <a:buNone/>
            </a:pPr>
            <a:r>
              <a:rPr lang="en-US" sz="1400" dirty="0">
                <a:solidFill>
                  <a:srgbClr val="5E6964"/>
                </a:solidFill>
              </a:rPr>
              <a:t>Prix d'acquisition effectivement payés, taxes comprises, y compris promotions et prix administrés.</a:t>
            </a:r>
            <a:endParaRPr lang="en-US" sz="1400" dirty="0"/>
          </a:p>
        </p:txBody>
      </p:sp>
      <p:sp>
        <p:nvSpPr>
          <p:cNvPr id="32"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5</a:t>
            </a:fld>
            <a:endParaRPr lang="en-US"/>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01 · COMPRENDRE L'IPC</a:t>
            </a:r>
            <a:endParaRPr lang="en-US" sz="1200" dirty="0"/>
          </a:p>
        </p:txBody>
      </p:sp>
      <p:sp>
        <p:nvSpPr>
          <p:cNvPr id="3" name="Point de progression 1"/>
          <p:cNvSpPr/>
          <p:nvPr/>
        </p:nvSpPr>
        <p:spPr>
          <a:xfrm>
            <a:off x="10561320" y="365760"/>
            <a:ext cx="128016" cy="128016"/>
          </a:xfrm>
          <a:prstGeom prst="ellipse">
            <a:avLst/>
          </a:prstGeom>
          <a:solidFill>
            <a:srgbClr val="00A86A"/>
          </a:solidFill>
          <a:ln/>
        </p:spPr>
      </p:sp>
      <p:sp>
        <p:nvSpPr>
          <p:cNvPr id="4" name="Point de progression 2"/>
          <p:cNvSpPr/>
          <p:nvPr/>
        </p:nvSpPr>
        <p:spPr>
          <a:xfrm>
            <a:off x="10789920" y="365760"/>
            <a:ext cx="128016" cy="128016"/>
          </a:xfrm>
          <a:prstGeom prst="ellipse">
            <a:avLst/>
          </a:prstGeom>
          <a:solidFill>
            <a:srgbClr val="D5DED9"/>
          </a:solidFill>
          <a:ln/>
        </p:spPr>
      </p:sp>
      <p:sp>
        <p:nvSpPr>
          <p:cNvPr id="5" name="Point de progression 3"/>
          <p:cNvSpPr/>
          <p:nvPr/>
        </p:nvSpPr>
        <p:spPr>
          <a:xfrm>
            <a:off x="11018520" y="365760"/>
            <a:ext cx="128016" cy="128016"/>
          </a:xfrm>
          <a:prstGeom prst="ellipse">
            <a:avLst/>
          </a:prstGeom>
          <a:solidFill>
            <a:srgbClr val="D5DED9"/>
          </a:solidFill>
          <a:ln/>
        </p:spPr>
      </p:sp>
      <p:sp>
        <p:nvSpPr>
          <p:cNvPr id="6" name="Point de progression 4"/>
          <p:cNvSpPr/>
          <p:nvPr/>
        </p:nvSpPr>
        <p:spPr>
          <a:xfrm>
            <a:off x="11247120" y="365760"/>
            <a:ext cx="128016" cy="128016"/>
          </a:xfrm>
          <a:prstGeom prst="ellipse">
            <a:avLst/>
          </a:prstGeom>
          <a:solidFill>
            <a:srgbClr val="D5DED9"/>
          </a:solidFill>
          <a:ln/>
        </p:spPr>
      </p:sp>
      <p:sp>
        <p:nvSpPr>
          <p:cNvPr id="7" name="Point de progression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Un indicateur, cinq usages qui engagent des décisions</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C'est la diversité des usages qui impose des exigences fortes de qualité et de transparence</a:t>
            </a:r>
            <a:endParaRPr lang="en-US" sz="1500" dirty="0"/>
          </a:p>
        </p:txBody>
      </p:sp>
      <p:sp>
        <p:nvSpPr>
          <p:cNvPr id="10" name="Carte usage 1"/>
          <p:cNvSpPr/>
          <p:nvPr/>
        </p:nvSpPr>
        <p:spPr>
          <a:xfrm>
            <a:off x="502920" y="1828800"/>
            <a:ext cx="2103120" cy="4023360"/>
          </a:xfrm>
          <a:prstGeom prst="roundRect">
            <a:avLst>
              <a:gd name="adj" fmla="val 3478"/>
            </a:avLst>
          </a:prstGeom>
          <a:solidFill>
            <a:srgbClr val="E8F5EF"/>
          </a:solidFill>
          <a:ln w="19050">
            <a:solidFill>
              <a:srgbClr val="00A86A"/>
            </a:solidFill>
            <a:prstDash val="solid"/>
          </a:ln>
        </p:spPr>
      </p:sp>
      <p:sp>
        <p:nvSpPr>
          <p:cNvPr id="11" name="Usage 1 cercle"/>
          <p:cNvSpPr/>
          <p:nvPr/>
        </p:nvSpPr>
        <p:spPr>
          <a:xfrm>
            <a:off x="1143000" y="2148840"/>
            <a:ext cx="822960" cy="822960"/>
          </a:xfrm>
          <a:prstGeom prst="ellipse">
            <a:avLst/>
          </a:prstGeom>
          <a:solidFill>
            <a:srgbClr val="00A86A">
              <a:alpha val="22000"/>
            </a:srgbClr>
          </a:solidFill>
          <a:ln/>
        </p:spPr>
      </p:sp>
      <p:pic>
        <p:nvPicPr>
          <p:cNvPr id="12" name="Usage 1 icône" descr="preencoded.png"/>
          <p:cNvPicPr>
            <a:picLocks noChangeAspect="1"/>
          </p:cNvPicPr>
          <p:nvPr/>
        </p:nvPicPr>
        <p:blipFill>
          <a:blip r:embed="rId3"/>
          <a:stretch>
            <a:fillRect/>
          </a:stretch>
        </p:blipFill>
        <p:spPr>
          <a:xfrm>
            <a:off x="1348740" y="2354580"/>
            <a:ext cx="411480" cy="411480"/>
          </a:xfrm>
          <a:prstGeom prst="rect">
            <a:avLst/>
          </a:prstGeom>
        </p:spPr>
      </p:pic>
      <p:sp>
        <p:nvSpPr>
          <p:cNvPr id="13" name="Text 10"/>
          <p:cNvSpPr txBox="1"/>
          <p:nvPr/>
        </p:nvSpPr>
        <p:spPr>
          <a:xfrm>
            <a:off x="640080" y="3154680"/>
            <a:ext cx="1828800" cy="685800"/>
          </a:xfrm>
          <a:prstGeom prst="rect">
            <a:avLst/>
          </a:prstGeom>
          <a:noFill/>
          <a:ln/>
        </p:spPr>
        <p:txBody>
          <a:bodyPr wrap="square" lIns="0" tIns="0" rIns="0" bIns="0" rtlCol="0" anchor="ctr"/>
          <a:lstStyle/>
          <a:p>
            <a:pPr marL="0" indent="0" algn="ctr">
              <a:buNone/>
            </a:pPr>
            <a:r>
              <a:rPr lang="en-US" sz="1700" b="1" dirty="0">
                <a:solidFill>
                  <a:srgbClr val="231F20"/>
                </a:solidFill>
              </a:rPr>
              <a:t>Politique monétaire</a:t>
            </a:r>
            <a:endParaRPr lang="en-US" sz="1700" dirty="0"/>
          </a:p>
        </p:txBody>
      </p:sp>
      <p:sp>
        <p:nvSpPr>
          <p:cNvPr id="14" name="Text 11"/>
          <p:cNvSpPr txBox="1"/>
          <p:nvPr/>
        </p:nvSpPr>
        <p:spPr>
          <a:xfrm>
            <a:off x="667512" y="3931920"/>
            <a:ext cx="1773936" cy="1737360"/>
          </a:xfrm>
          <a:prstGeom prst="rect">
            <a:avLst/>
          </a:prstGeom>
          <a:noFill/>
          <a:ln/>
        </p:spPr>
        <p:txBody>
          <a:bodyPr wrap="square" lIns="0" tIns="0" rIns="0" bIns="0" rtlCol="0" anchor="t"/>
          <a:lstStyle/>
          <a:p>
            <a:pPr marL="0" indent="0" algn="l">
              <a:buNone/>
            </a:pPr>
            <a:r>
              <a:rPr lang="en-US" sz="1400" dirty="0">
                <a:solidFill>
                  <a:srgbClr val="5E6964"/>
                </a:solidFill>
              </a:rPr>
              <a:t>La BCEAO pilote ses taux sur l'inflation de l'UEMOA, mesurée par l'IHPC.</a:t>
            </a:r>
            <a:endParaRPr lang="en-US" sz="1400" dirty="0"/>
          </a:p>
        </p:txBody>
      </p:sp>
      <p:sp>
        <p:nvSpPr>
          <p:cNvPr id="15" name="Carte usage 2"/>
          <p:cNvSpPr/>
          <p:nvPr/>
        </p:nvSpPr>
        <p:spPr>
          <a:xfrm>
            <a:off x="2788920" y="1828800"/>
            <a:ext cx="2103120" cy="4023360"/>
          </a:xfrm>
          <a:prstGeom prst="roundRect">
            <a:avLst>
              <a:gd name="adj" fmla="val 3478"/>
            </a:avLst>
          </a:prstGeom>
          <a:solidFill>
            <a:srgbClr val="F4F7F5"/>
          </a:solidFill>
          <a:ln w="9525">
            <a:solidFill>
              <a:srgbClr val="D5DED9"/>
            </a:solidFill>
            <a:prstDash val="solid"/>
          </a:ln>
        </p:spPr>
      </p:sp>
      <p:sp>
        <p:nvSpPr>
          <p:cNvPr id="16" name="Usage 2 cercle"/>
          <p:cNvSpPr/>
          <p:nvPr/>
        </p:nvSpPr>
        <p:spPr>
          <a:xfrm>
            <a:off x="3429000" y="2148840"/>
            <a:ext cx="822960" cy="822960"/>
          </a:xfrm>
          <a:prstGeom prst="ellipse">
            <a:avLst/>
          </a:prstGeom>
          <a:solidFill>
            <a:srgbClr val="00704A">
              <a:alpha val="22000"/>
            </a:srgbClr>
          </a:solidFill>
          <a:ln/>
        </p:spPr>
      </p:sp>
      <p:pic>
        <p:nvPicPr>
          <p:cNvPr id="17" name="Usage 2 icône" descr="preencoded.png"/>
          <p:cNvPicPr>
            <a:picLocks noChangeAspect="1"/>
          </p:cNvPicPr>
          <p:nvPr/>
        </p:nvPicPr>
        <p:blipFill>
          <a:blip r:embed="rId4"/>
          <a:stretch>
            <a:fillRect/>
          </a:stretch>
        </p:blipFill>
        <p:spPr>
          <a:xfrm>
            <a:off x="3634740" y="2354580"/>
            <a:ext cx="411480" cy="411480"/>
          </a:xfrm>
          <a:prstGeom prst="rect">
            <a:avLst/>
          </a:prstGeom>
        </p:spPr>
      </p:pic>
      <p:sp>
        <p:nvSpPr>
          <p:cNvPr id="18" name="Text 14"/>
          <p:cNvSpPr txBox="1"/>
          <p:nvPr/>
        </p:nvSpPr>
        <p:spPr>
          <a:xfrm>
            <a:off x="2926080" y="3154680"/>
            <a:ext cx="1828800" cy="685800"/>
          </a:xfrm>
          <a:prstGeom prst="rect">
            <a:avLst/>
          </a:prstGeom>
          <a:noFill/>
          <a:ln/>
        </p:spPr>
        <p:txBody>
          <a:bodyPr wrap="square" lIns="0" tIns="0" rIns="0" bIns="0" rtlCol="0" anchor="ctr"/>
          <a:lstStyle/>
          <a:p>
            <a:pPr marL="0" indent="0" algn="ctr">
              <a:buNone/>
            </a:pPr>
            <a:r>
              <a:rPr lang="en-US" sz="1700" b="1" dirty="0">
                <a:solidFill>
                  <a:srgbClr val="231F20"/>
                </a:solidFill>
              </a:rPr>
              <a:t>Indexation</a:t>
            </a:r>
            <a:endParaRPr lang="en-US" sz="1700" dirty="0"/>
          </a:p>
        </p:txBody>
      </p:sp>
      <p:sp>
        <p:nvSpPr>
          <p:cNvPr id="19" name="Text 15"/>
          <p:cNvSpPr txBox="1"/>
          <p:nvPr/>
        </p:nvSpPr>
        <p:spPr>
          <a:xfrm>
            <a:off x="2953512" y="3931920"/>
            <a:ext cx="1773936" cy="1737360"/>
          </a:xfrm>
          <a:prstGeom prst="rect">
            <a:avLst/>
          </a:prstGeom>
          <a:noFill/>
          <a:ln/>
        </p:spPr>
        <p:txBody>
          <a:bodyPr wrap="square" lIns="0" tIns="0" rIns="0" bIns="0" rtlCol="0" anchor="t"/>
          <a:lstStyle/>
          <a:p>
            <a:pPr marL="0" indent="0" algn="l">
              <a:buNone/>
            </a:pPr>
            <a:r>
              <a:rPr lang="en-US" sz="1400" dirty="0">
                <a:solidFill>
                  <a:srgbClr val="5E6964"/>
                </a:solidFill>
              </a:rPr>
              <a:t>Salaires minimums, pensions, loyers et contrats sont revalorisés selon l'IPC.</a:t>
            </a:r>
            <a:endParaRPr lang="en-US" sz="1400" dirty="0"/>
          </a:p>
        </p:txBody>
      </p:sp>
      <p:sp>
        <p:nvSpPr>
          <p:cNvPr id="20" name="Carte usage 3"/>
          <p:cNvSpPr/>
          <p:nvPr/>
        </p:nvSpPr>
        <p:spPr>
          <a:xfrm>
            <a:off x="5074920" y="1828800"/>
            <a:ext cx="2103120" cy="4023360"/>
          </a:xfrm>
          <a:prstGeom prst="roundRect">
            <a:avLst>
              <a:gd name="adj" fmla="val 3478"/>
            </a:avLst>
          </a:prstGeom>
          <a:solidFill>
            <a:srgbClr val="F4F7F5"/>
          </a:solidFill>
          <a:ln w="9525">
            <a:solidFill>
              <a:srgbClr val="D5DED9"/>
            </a:solidFill>
            <a:prstDash val="solid"/>
          </a:ln>
        </p:spPr>
      </p:sp>
      <p:sp>
        <p:nvSpPr>
          <p:cNvPr id="21" name="Usage 3 cercle"/>
          <p:cNvSpPr/>
          <p:nvPr/>
        </p:nvSpPr>
        <p:spPr>
          <a:xfrm>
            <a:off x="5715000" y="2148840"/>
            <a:ext cx="822960" cy="822960"/>
          </a:xfrm>
          <a:prstGeom prst="ellipse">
            <a:avLst/>
          </a:prstGeom>
          <a:solidFill>
            <a:srgbClr val="0E7C86">
              <a:alpha val="22000"/>
            </a:srgbClr>
          </a:solidFill>
          <a:ln/>
        </p:spPr>
      </p:sp>
      <p:pic>
        <p:nvPicPr>
          <p:cNvPr id="22" name="Usage 3 icône" descr="preencoded.png"/>
          <p:cNvPicPr>
            <a:picLocks noChangeAspect="1"/>
          </p:cNvPicPr>
          <p:nvPr/>
        </p:nvPicPr>
        <p:blipFill>
          <a:blip r:embed="rId5"/>
          <a:stretch>
            <a:fillRect/>
          </a:stretch>
        </p:blipFill>
        <p:spPr>
          <a:xfrm>
            <a:off x="5920740" y="2354580"/>
            <a:ext cx="411480" cy="411480"/>
          </a:xfrm>
          <a:prstGeom prst="rect">
            <a:avLst/>
          </a:prstGeom>
        </p:spPr>
      </p:pic>
      <p:sp>
        <p:nvSpPr>
          <p:cNvPr id="23" name="Text 18"/>
          <p:cNvSpPr txBox="1"/>
          <p:nvPr/>
        </p:nvSpPr>
        <p:spPr>
          <a:xfrm>
            <a:off x="5212080" y="3154680"/>
            <a:ext cx="1828800" cy="685800"/>
          </a:xfrm>
          <a:prstGeom prst="rect">
            <a:avLst/>
          </a:prstGeom>
          <a:noFill/>
          <a:ln/>
        </p:spPr>
        <p:txBody>
          <a:bodyPr wrap="square" lIns="0" tIns="0" rIns="0" bIns="0" rtlCol="0" anchor="ctr"/>
          <a:lstStyle/>
          <a:p>
            <a:pPr marL="0" indent="0" algn="ctr">
              <a:buNone/>
            </a:pPr>
            <a:r>
              <a:rPr lang="en-US" sz="1700" b="1" dirty="0">
                <a:solidFill>
                  <a:srgbClr val="231F20"/>
                </a:solidFill>
              </a:rPr>
              <a:t>Comptes nationaux</a:t>
            </a:r>
            <a:endParaRPr lang="en-US" sz="1700" dirty="0"/>
          </a:p>
        </p:txBody>
      </p:sp>
      <p:sp>
        <p:nvSpPr>
          <p:cNvPr id="24" name="Text 19"/>
          <p:cNvSpPr txBox="1"/>
          <p:nvPr/>
        </p:nvSpPr>
        <p:spPr>
          <a:xfrm>
            <a:off x="5239512" y="3931920"/>
            <a:ext cx="1773936" cy="1737360"/>
          </a:xfrm>
          <a:prstGeom prst="rect">
            <a:avLst/>
          </a:prstGeom>
          <a:noFill/>
          <a:ln/>
        </p:spPr>
        <p:txBody>
          <a:bodyPr wrap="square" lIns="0" tIns="0" rIns="0" bIns="0" rtlCol="0" anchor="t"/>
          <a:lstStyle/>
          <a:p>
            <a:pPr marL="0" indent="0" algn="l">
              <a:buNone/>
            </a:pPr>
            <a:r>
              <a:rPr lang="en-US" sz="1400" dirty="0">
                <a:solidFill>
                  <a:srgbClr val="5E6964"/>
                </a:solidFill>
              </a:rPr>
              <a:t>Les indices de prix déflatent la consommation pour obtenir des volumes.</a:t>
            </a:r>
            <a:endParaRPr lang="en-US" sz="1400" dirty="0"/>
          </a:p>
        </p:txBody>
      </p:sp>
      <p:sp>
        <p:nvSpPr>
          <p:cNvPr id="25" name="Carte usage 4"/>
          <p:cNvSpPr/>
          <p:nvPr/>
        </p:nvSpPr>
        <p:spPr>
          <a:xfrm>
            <a:off x="7360920" y="1828800"/>
            <a:ext cx="2103120" cy="4023360"/>
          </a:xfrm>
          <a:prstGeom prst="roundRect">
            <a:avLst>
              <a:gd name="adj" fmla="val 3478"/>
            </a:avLst>
          </a:prstGeom>
          <a:solidFill>
            <a:srgbClr val="F4F7F5"/>
          </a:solidFill>
          <a:ln w="9525">
            <a:solidFill>
              <a:srgbClr val="D5DED9"/>
            </a:solidFill>
            <a:prstDash val="solid"/>
          </a:ln>
        </p:spPr>
      </p:sp>
      <p:sp>
        <p:nvSpPr>
          <p:cNvPr id="26" name="Usage 4 cercle"/>
          <p:cNvSpPr/>
          <p:nvPr/>
        </p:nvSpPr>
        <p:spPr>
          <a:xfrm>
            <a:off x="8001000" y="2148840"/>
            <a:ext cx="822960" cy="822960"/>
          </a:xfrm>
          <a:prstGeom prst="ellipse">
            <a:avLst/>
          </a:prstGeom>
          <a:solidFill>
            <a:srgbClr val="D49A00">
              <a:alpha val="22000"/>
            </a:srgbClr>
          </a:solidFill>
          <a:ln/>
        </p:spPr>
      </p:sp>
      <p:pic>
        <p:nvPicPr>
          <p:cNvPr id="27" name="Usage 4 icône" descr="preencoded.png"/>
          <p:cNvPicPr>
            <a:picLocks noChangeAspect="1"/>
          </p:cNvPicPr>
          <p:nvPr/>
        </p:nvPicPr>
        <p:blipFill>
          <a:blip r:embed="rId6"/>
          <a:stretch>
            <a:fillRect/>
          </a:stretch>
        </p:blipFill>
        <p:spPr>
          <a:xfrm>
            <a:off x="8206740" y="2354580"/>
            <a:ext cx="411480" cy="411480"/>
          </a:xfrm>
          <a:prstGeom prst="rect">
            <a:avLst/>
          </a:prstGeom>
        </p:spPr>
      </p:pic>
      <p:sp>
        <p:nvSpPr>
          <p:cNvPr id="28" name="Text 22"/>
          <p:cNvSpPr txBox="1"/>
          <p:nvPr/>
        </p:nvSpPr>
        <p:spPr>
          <a:xfrm>
            <a:off x="7498080" y="3154680"/>
            <a:ext cx="1828800" cy="685800"/>
          </a:xfrm>
          <a:prstGeom prst="rect">
            <a:avLst/>
          </a:prstGeom>
          <a:noFill/>
          <a:ln/>
        </p:spPr>
        <p:txBody>
          <a:bodyPr wrap="square" lIns="0" tIns="0" rIns="0" bIns="0" rtlCol="0" anchor="ctr"/>
          <a:lstStyle/>
          <a:p>
            <a:pPr marL="0" indent="0" algn="ctr">
              <a:buNone/>
            </a:pPr>
            <a:r>
              <a:rPr lang="en-US" sz="1700" b="1" dirty="0">
                <a:solidFill>
                  <a:srgbClr val="231F20"/>
                </a:solidFill>
              </a:rPr>
              <a:t>Surveillance multilatérale</a:t>
            </a:r>
            <a:endParaRPr lang="en-US" sz="1700" dirty="0"/>
          </a:p>
        </p:txBody>
      </p:sp>
      <p:sp>
        <p:nvSpPr>
          <p:cNvPr id="29" name="Text 23"/>
          <p:cNvSpPr txBox="1"/>
          <p:nvPr/>
        </p:nvSpPr>
        <p:spPr>
          <a:xfrm>
            <a:off x="7525512" y="3931920"/>
            <a:ext cx="1773936" cy="1737360"/>
          </a:xfrm>
          <a:prstGeom prst="rect">
            <a:avLst/>
          </a:prstGeom>
          <a:noFill/>
          <a:ln/>
        </p:spPr>
        <p:txBody>
          <a:bodyPr wrap="square" lIns="0" tIns="0" rIns="0" bIns="0" rtlCol="0" anchor="t"/>
          <a:lstStyle/>
          <a:p>
            <a:pPr marL="0" indent="0" algn="l">
              <a:buNone/>
            </a:pPr>
            <a:r>
              <a:rPr lang="en-US" sz="1400" dirty="0">
                <a:solidFill>
                  <a:srgbClr val="5E6964"/>
                </a:solidFill>
              </a:rPr>
              <a:t>Le critère d'inflation de l'UEMOA se lit sur l'IHPC de chaque État.</a:t>
            </a:r>
            <a:endParaRPr lang="en-US" sz="1400" dirty="0"/>
          </a:p>
        </p:txBody>
      </p:sp>
      <p:sp>
        <p:nvSpPr>
          <p:cNvPr id="30" name="Carte usage 5"/>
          <p:cNvSpPr/>
          <p:nvPr/>
        </p:nvSpPr>
        <p:spPr>
          <a:xfrm>
            <a:off x="9646920" y="1828800"/>
            <a:ext cx="2103120" cy="4023360"/>
          </a:xfrm>
          <a:prstGeom prst="roundRect">
            <a:avLst>
              <a:gd name="adj" fmla="val 3478"/>
            </a:avLst>
          </a:prstGeom>
          <a:solidFill>
            <a:srgbClr val="F4F7F5"/>
          </a:solidFill>
          <a:ln w="9525">
            <a:solidFill>
              <a:srgbClr val="D5DED9"/>
            </a:solidFill>
            <a:prstDash val="solid"/>
          </a:ln>
        </p:spPr>
      </p:sp>
      <p:sp>
        <p:nvSpPr>
          <p:cNvPr id="31" name="Usage 5 cercle"/>
          <p:cNvSpPr/>
          <p:nvPr/>
        </p:nvSpPr>
        <p:spPr>
          <a:xfrm>
            <a:off x="10287000" y="2148840"/>
            <a:ext cx="822960" cy="822960"/>
          </a:xfrm>
          <a:prstGeom prst="ellipse">
            <a:avLst/>
          </a:prstGeom>
          <a:solidFill>
            <a:srgbClr val="C4621D">
              <a:alpha val="22000"/>
            </a:srgbClr>
          </a:solidFill>
          <a:ln/>
        </p:spPr>
      </p:sp>
      <p:pic>
        <p:nvPicPr>
          <p:cNvPr id="32" name="Usage 5 icône" descr="preencoded.png"/>
          <p:cNvPicPr>
            <a:picLocks noChangeAspect="1"/>
          </p:cNvPicPr>
          <p:nvPr/>
        </p:nvPicPr>
        <p:blipFill>
          <a:blip r:embed="rId7"/>
          <a:stretch>
            <a:fillRect/>
          </a:stretch>
        </p:blipFill>
        <p:spPr>
          <a:xfrm>
            <a:off x="10492740" y="2354580"/>
            <a:ext cx="411480" cy="411480"/>
          </a:xfrm>
          <a:prstGeom prst="rect">
            <a:avLst/>
          </a:prstGeom>
        </p:spPr>
      </p:pic>
      <p:sp>
        <p:nvSpPr>
          <p:cNvPr id="33" name="Text 26"/>
          <p:cNvSpPr txBox="1"/>
          <p:nvPr/>
        </p:nvSpPr>
        <p:spPr>
          <a:xfrm>
            <a:off x="9784080" y="3154680"/>
            <a:ext cx="1828800" cy="685800"/>
          </a:xfrm>
          <a:prstGeom prst="rect">
            <a:avLst/>
          </a:prstGeom>
          <a:noFill/>
          <a:ln/>
        </p:spPr>
        <p:txBody>
          <a:bodyPr wrap="square" lIns="0" tIns="0" rIns="0" bIns="0" rtlCol="0" anchor="ctr"/>
          <a:lstStyle/>
          <a:p>
            <a:pPr marL="0" indent="0" algn="ctr">
              <a:buNone/>
            </a:pPr>
            <a:r>
              <a:rPr lang="en-US" sz="1700" b="1" dirty="0">
                <a:solidFill>
                  <a:srgbClr val="231F20"/>
                </a:solidFill>
              </a:rPr>
              <a:t>Pouvoir d'achat</a:t>
            </a:r>
            <a:endParaRPr lang="en-US" sz="1700" dirty="0"/>
          </a:p>
        </p:txBody>
      </p:sp>
      <p:sp>
        <p:nvSpPr>
          <p:cNvPr id="34" name="Text 27"/>
          <p:cNvSpPr txBox="1"/>
          <p:nvPr/>
        </p:nvSpPr>
        <p:spPr>
          <a:xfrm>
            <a:off x="9811512" y="3931920"/>
            <a:ext cx="1773936" cy="1737360"/>
          </a:xfrm>
          <a:prstGeom prst="rect">
            <a:avLst/>
          </a:prstGeom>
          <a:noFill/>
          <a:ln/>
        </p:spPr>
        <p:txBody>
          <a:bodyPr wrap="square" lIns="0" tIns="0" rIns="0" bIns="0" rtlCol="0" anchor="t"/>
          <a:lstStyle/>
          <a:p>
            <a:pPr marL="0" indent="0" algn="l">
              <a:buNone/>
            </a:pPr>
            <a:r>
              <a:rPr lang="en-US" sz="1400" dirty="0">
                <a:solidFill>
                  <a:srgbClr val="5E6964"/>
                </a:solidFill>
              </a:rPr>
              <a:t>Débat public, négociations sociales, mesure du coût de la vie.</a:t>
            </a:r>
            <a:endParaRPr lang="en-US" sz="1400" dirty="0"/>
          </a:p>
        </p:txBody>
      </p:sp>
      <p:sp>
        <p:nvSpPr>
          <p:cNvPr id="35"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6</a:t>
            </a:fld>
            <a:endParaRPr lang="en-US"/>
          </a:p>
        </p:txBody>
      </p:sp>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01 · COMPRENDRE L'IPC</a:t>
            </a:r>
            <a:endParaRPr lang="en-US" sz="1200" dirty="0"/>
          </a:p>
        </p:txBody>
      </p:sp>
      <p:sp>
        <p:nvSpPr>
          <p:cNvPr id="3" name="Point de progression 1"/>
          <p:cNvSpPr/>
          <p:nvPr/>
        </p:nvSpPr>
        <p:spPr>
          <a:xfrm>
            <a:off x="10561320" y="365760"/>
            <a:ext cx="128016" cy="128016"/>
          </a:xfrm>
          <a:prstGeom prst="ellipse">
            <a:avLst/>
          </a:prstGeom>
          <a:solidFill>
            <a:srgbClr val="00A86A"/>
          </a:solidFill>
          <a:ln/>
        </p:spPr>
      </p:sp>
      <p:sp>
        <p:nvSpPr>
          <p:cNvPr id="4" name="Point de progression 2"/>
          <p:cNvSpPr/>
          <p:nvPr/>
        </p:nvSpPr>
        <p:spPr>
          <a:xfrm>
            <a:off x="10789920" y="365760"/>
            <a:ext cx="128016" cy="128016"/>
          </a:xfrm>
          <a:prstGeom prst="ellipse">
            <a:avLst/>
          </a:prstGeom>
          <a:solidFill>
            <a:srgbClr val="D5DED9"/>
          </a:solidFill>
          <a:ln/>
        </p:spPr>
      </p:sp>
      <p:sp>
        <p:nvSpPr>
          <p:cNvPr id="5" name="Point de progression 3"/>
          <p:cNvSpPr/>
          <p:nvPr/>
        </p:nvSpPr>
        <p:spPr>
          <a:xfrm>
            <a:off x="11018520" y="365760"/>
            <a:ext cx="128016" cy="128016"/>
          </a:xfrm>
          <a:prstGeom prst="ellipse">
            <a:avLst/>
          </a:prstGeom>
          <a:solidFill>
            <a:srgbClr val="D5DED9"/>
          </a:solidFill>
          <a:ln/>
        </p:spPr>
      </p:sp>
      <p:sp>
        <p:nvSpPr>
          <p:cNvPr id="6" name="Point de progression 4"/>
          <p:cNvSpPr/>
          <p:nvPr/>
        </p:nvSpPr>
        <p:spPr>
          <a:xfrm>
            <a:off x="11247120" y="365760"/>
            <a:ext cx="128016" cy="128016"/>
          </a:xfrm>
          <a:prstGeom prst="ellipse">
            <a:avLst/>
          </a:prstGeom>
          <a:solidFill>
            <a:srgbClr val="D5DED9"/>
          </a:solidFill>
          <a:ln/>
        </p:spPr>
      </p:sp>
      <p:sp>
        <p:nvSpPr>
          <p:cNvPr id="7" name="Point de progression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IHPC, IPCH, déflateur : des cousins, pas des jumeaux</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Trois mesures de prix de la consommation, trois cadres et trois usages</a:t>
            </a:r>
            <a:endParaRPr lang="en-US" sz="1500" dirty="0"/>
          </a:p>
        </p:txBody>
      </p:sp>
      <p:sp>
        <p:nvSpPr>
          <p:cNvPr id="10" name="En-tête IHPC (UEMOA)"/>
          <p:cNvSpPr/>
          <p:nvPr/>
        </p:nvSpPr>
        <p:spPr>
          <a:xfrm>
            <a:off x="2606040" y="1691640"/>
            <a:ext cx="2898648" cy="502920"/>
          </a:xfrm>
          <a:prstGeom prst="roundRect">
            <a:avLst>
              <a:gd name="adj" fmla="val 10909"/>
            </a:avLst>
          </a:prstGeom>
          <a:solidFill>
            <a:srgbClr val="00A86A">
              <a:alpha val="18000"/>
            </a:srgbClr>
          </a:solidFill>
          <a:ln w="12700">
            <a:solidFill>
              <a:srgbClr val="00A86A"/>
            </a:solidFill>
            <a:prstDash val="solid"/>
          </a:ln>
        </p:spPr>
      </p:sp>
      <p:sp>
        <p:nvSpPr>
          <p:cNvPr id="11" name="Text 9"/>
          <p:cNvSpPr txBox="1"/>
          <p:nvPr/>
        </p:nvSpPr>
        <p:spPr>
          <a:xfrm>
            <a:off x="2606040" y="1691640"/>
            <a:ext cx="2898648" cy="502920"/>
          </a:xfrm>
          <a:prstGeom prst="rect">
            <a:avLst/>
          </a:prstGeom>
          <a:noFill/>
          <a:ln/>
        </p:spPr>
        <p:txBody>
          <a:bodyPr wrap="square" lIns="0" tIns="0" rIns="0" bIns="0" rtlCol="0" anchor="ctr"/>
          <a:lstStyle/>
          <a:p>
            <a:pPr marL="0" indent="0" algn="ctr">
              <a:buNone/>
            </a:pPr>
            <a:r>
              <a:rPr lang="en-US" sz="1500" b="1" dirty="0">
                <a:solidFill>
                  <a:srgbClr val="231F20"/>
                </a:solidFill>
              </a:rPr>
              <a:t>IHPC (UEMOA)</a:t>
            </a:r>
            <a:endParaRPr lang="en-US" sz="1500" dirty="0"/>
          </a:p>
        </p:txBody>
      </p:sp>
      <p:sp>
        <p:nvSpPr>
          <p:cNvPr id="12" name="En-tête IPCH (Union européenne)"/>
          <p:cNvSpPr/>
          <p:nvPr/>
        </p:nvSpPr>
        <p:spPr>
          <a:xfrm>
            <a:off x="5641848" y="1691640"/>
            <a:ext cx="2898648" cy="502920"/>
          </a:xfrm>
          <a:prstGeom prst="roundRect">
            <a:avLst>
              <a:gd name="adj" fmla="val 10909"/>
            </a:avLst>
          </a:prstGeom>
          <a:solidFill>
            <a:srgbClr val="00704A">
              <a:alpha val="18000"/>
            </a:srgbClr>
          </a:solidFill>
          <a:ln w="12700">
            <a:solidFill>
              <a:srgbClr val="00704A"/>
            </a:solidFill>
            <a:prstDash val="solid"/>
          </a:ln>
        </p:spPr>
      </p:sp>
      <p:sp>
        <p:nvSpPr>
          <p:cNvPr id="13" name="Text 11"/>
          <p:cNvSpPr txBox="1"/>
          <p:nvPr/>
        </p:nvSpPr>
        <p:spPr>
          <a:xfrm>
            <a:off x="5641848" y="1691640"/>
            <a:ext cx="2898648" cy="502920"/>
          </a:xfrm>
          <a:prstGeom prst="rect">
            <a:avLst/>
          </a:prstGeom>
          <a:noFill/>
          <a:ln/>
        </p:spPr>
        <p:txBody>
          <a:bodyPr wrap="square" lIns="0" tIns="0" rIns="0" bIns="0" rtlCol="0" anchor="ctr"/>
          <a:lstStyle/>
          <a:p>
            <a:pPr marL="0" indent="0" algn="ctr">
              <a:buNone/>
            </a:pPr>
            <a:r>
              <a:rPr lang="en-US" sz="1500" b="1" dirty="0">
                <a:solidFill>
                  <a:srgbClr val="231F20"/>
                </a:solidFill>
              </a:rPr>
              <a:t>IPCH (Union européenne)</a:t>
            </a:r>
            <a:endParaRPr lang="en-US" sz="1500" dirty="0"/>
          </a:p>
        </p:txBody>
      </p:sp>
      <p:sp>
        <p:nvSpPr>
          <p:cNvPr id="14" name="En-tête Déflateur de la consommation"/>
          <p:cNvSpPr/>
          <p:nvPr/>
        </p:nvSpPr>
        <p:spPr>
          <a:xfrm>
            <a:off x="8677656" y="1691640"/>
            <a:ext cx="2898648" cy="502920"/>
          </a:xfrm>
          <a:prstGeom prst="roundRect">
            <a:avLst>
              <a:gd name="adj" fmla="val 10909"/>
            </a:avLst>
          </a:prstGeom>
          <a:solidFill>
            <a:srgbClr val="0E7C86">
              <a:alpha val="18000"/>
            </a:srgbClr>
          </a:solidFill>
          <a:ln w="12700">
            <a:solidFill>
              <a:srgbClr val="0E7C86"/>
            </a:solidFill>
            <a:prstDash val="solid"/>
          </a:ln>
        </p:spPr>
      </p:sp>
      <p:sp>
        <p:nvSpPr>
          <p:cNvPr id="15" name="Text 13"/>
          <p:cNvSpPr txBox="1"/>
          <p:nvPr/>
        </p:nvSpPr>
        <p:spPr>
          <a:xfrm>
            <a:off x="8677656" y="1691640"/>
            <a:ext cx="2898648" cy="502920"/>
          </a:xfrm>
          <a:prstGeom prst="rect">
            <a:avLst/>
          </a:prstGeom>
          <a:noFill/>
          <a:ln/>
        </p:spPr>
        <p:txBody>
          <a:bodyPr wrap="square" lIns="0" tIns="0" rIns="0" bIns="0" rtlCol="0" anchor="ctr"/>
          <a:lstStyle/>
          <a:p>
            <a:pPr marL="0" indent="0" algn="ctr">
              <a:buNone/>
            </a:pPr>
            <a:r>
              <a:rPr lang="en-US" sz="1500" b="1" dirty="0">
                <a:solidFill>
                  <a:srgbClr val="231F20"/>
                </a:solidFill>
              </a:rPr>
              <a:t>Déflateur de la consommation</a:t>
            </a:r>
            <a:endParaRPr lang="en-US" sz="1500" dirty="0"/>
          </a:p>
        </p:txBody>
      </p:sp>
      <p:sp>
        <p:nvSpPr>
          <p:cNvPr id="16" name="Text 14"/>
          <p:cNvSpPr txBox="1"/>
          <p:nvPr/>
        </p:nvSpPr>
        <p:spPr>
          <a:xfrm>
            <a:off x="502920" y="2331720"/>
            <a:ext cx="1965960" cy="804672"/>
          </a:xfrm>
          <a:prstGeom prst="rect">
            <a:avLst/>
          </a:prstGeom>
          <a:noFill/>
          <a:ln/>
        </p:spPr>
        <p:txBody>
          <a:bodyPr wrap="square" lIns="0" tIns="0" rIns="0" bIns="0" rtlCol="0" anchor="ctr"/>
          <a:lstStyle/>
          <a:p>
            <a:pPr marL="0" indent="0">
              <a:buNone/>
            </a:pPr>
            <a:r>
              <a:rPr lang="en-US" sz="1400" b="1" dirty="0">
                <a:solidFill>
                  <a:srgbClr val="00704A"/>
                </a:solidFill>
              </a:rPr>
              <a:t>Ce que c'est</a:t>
            </a:r>
            <a:endParaRPr lang="en-US" sz="1400" dirty="0"/>
          </a:p>
        </p:txBody>
      </p:sp>
      <p:sp>
        <p:nvSpPr>
          <p:cNvPr id="17" name="Cellule 0-0"/>
          <p:cNvSpPr/>
          <p:nvPr/>
        </p:nvSpPr>
        <p:spPr>
          <a:xfrm>
            <a:off x="2606040" y="2331720"/>
            <a:ext cx="2898648" cy="804672"/>
          </a:xfrm>
          <a:prstGeom prst="roundRect">
            <a:avLst>
              <a:gd name="adj" fmla="val 9091"/>
            </a:avLst>
          </a:prstGeom>
          <a:solidFill>
            <a:srgbClr val="F4F7F5"/>
          </a:solidFill>
          <a:ln w="9525">
            <a:solidFill>
              <a:srgbClr val="D5DED9"/>
            </a:solidFill>
            <a:prstDash val="solid"/>
          </a:ln>
        </p:spPr>
      </p:sp>
      <p:sp>
        <p:nvSpPr>
          <p:cNvPr id="18" name="Text 16"/>
          <p:cNvSpPr txBox="1"/>
          <p:nvPr/>
        </p:nvSpPr>
        <p:spPr>
          <a:xfrm>
            <a:off x="2743200" y="2331720"/>
            <a:ext cx="2651760" cy="804672"/>
          </a:xfrm>
          <a:prstGeom prst="rect">
            <a:avLst/>
          </a:prstGeom>
          <a:noFill/>
          <a:ln/>
        </p:spPr>
        <p:txBody>
          <a:bodyPr wrap="square" lIns="0" tIns="0" rIns="0" bIns="0" rtlCol="0" anchor="ctr"/>
          <a:lstStyle/>
          <a:p>
            <a:pPr marL="0" indent="0">
              <a:buNone/>
            </a:pPr>
            <a:r>
              <a:rPr lang="en-US" sz="1250" dirty="0">
                <a:solidFill>
                  <a:srgbClr val="231F20"/>
                </a:solidFill>
              </a:rPr>
              <a:t>L'IPC national de chaque État membre, harmonisé entre les huit pays</a:t>
            </a:r>
            <a:endParaRPr lang="en-US" sz="1250" dirty="0"/>
          </a:p>
        </p:txBody>
      </p:sp>
      <p:sp>
        <p:nvSpPr>
          <p:cNvPr id="19" name="Cellule 0-1"/>
          <p:cNvSpPr/>
          <p:nvPr/>
        </p:nvSpPr>
        <p:spPr>
          <a:xfrm>
            <a:off x="5641848" y="2331720"/>
            <a:ext cx="2898648" cy="804672"/>
          </a:xfrm>
          <a:prstGeom prst="roundRect">
            <a:avLst>
              <a:gd name="adj" fmla="val 9091"/>
            </a:avLst>
          </a:prstGeom>
          <a:solidFill>
            <a:srgbClr val="F4F7F5"/>
          </a:solidFill>
          <a:ln w="9525">
            <a:solidFill>
              <a:srgbClr val="D5DED9"/>
            </a:solidFill>
            <a:prstDash val="solid"/>
          </a:ln>
        </p:spPr>
      </p:sp>
      <p:sp>
        <p:nvSpPr>
          <p:cNvPr id="20" name="Text 18"/>
          <p:cNvSpPr txBox="1"/>
          <p:nvPr/>
        </p:nvSpPr>
        <p:spPr>
          <a:xfrm>
            <a:off x="5779008" y="2331720"/>
            <a:ext cx="2651760" cy="804672"/>
          </a:xfrm>
          <a:prstGeom prst="rect">
            <a:avLst/>
          </a:prstGeom>
          <a:noFill/>
          <a:ln/>
        </p:spPr>
        <p:txBody>
          <a:bodyPr wrap="square" lIns="0" tIns="0" rIns="0" bIns="0" rtlCol="0" anchor="ctr"/>
          <a:lstStyle/>
          <a:p>
            <a:pPr marL="0" indent="0">
              <a:buNone/>
            </a:pPr>
            <a:r>
              <a:rPr lang="en-US" sz="1250" dirty="0">
                <a:solidFill>
                  <a:srgbClr val="231F20"/>
                </a:solidFill>
              </a:rPr>
              <a:t>Indice harmonisé des pays de l'UE, publié par Eurostat</a:t>
            </a:r>
            <a:endParaRPr lang="en-US" sz="1250" dirty="0"/>
          </a:p>
        </p:txBody>
      </p:sp>
      <p:sp>
        <p:nvSpPr>
          <p:cNvPr id="21" name="Cellule 0-2"/>
          <p:cNvSpPr/>
          <p:nvPr/>
        </p:nvSpPr>
        <p:spPr>
          <a:xfrm>
            <a:off x="8677656" y="2331720"/>
            <a:ext cx="2898648" cy="804672"/>
          </a:xfrm>
          <a:prstGeom prst="roundRect">
            <a:avLst>
              <a:gd name="adj" fmla="val 9091"/>
            </a:avLst>
          </a:prstGeom>
          <a:solidFill>
            <a:srgbClr val="F4F7F5"/>
          </a:solidFill>
          <a:ln w="9525">
            <a:solidFill>
              <a:srgbClr val="D5DED9"/>
            </a:solidFill>
            <a:prstDash val="solid"/>
          </a:ln>
        </p:spPr>
      </p:sp>
      <p:sp>
        <p:nvSpPr>
          <p:cNvPr id="22" name="Text 20"/>
          <p:cNvSpPr txBox="1"/>
          <p:nvPr/>
        </p:nvSpPr>
        <p:spPr>
          <a:xfrm>
            <a:off x="8814816" y="2331720"/>
            <a:ext cx="2651760" cy="804672"/>
          </a:xfrm>
          <a:prstGeom prst="rect">
            <a:avLst/>
          </a:prstGeom>
          <a:noFill/>
          <a:ln/>
        </p:spPr>
        <p:txBody>
          <a:bodyPr wrap="square" lIns="0" tIns="0" rIns="0" bIns="0" rtlCol="0" anchor="ctr"/>
          <a:lstStyle/>
          <a:p>
            <a:pPr marL="0" indent="0">
              <a:buNone/>
            </a:pPr>
            <a:r>
              <a:rPr lang="en-US" sz="1250" dirty="0">
                <a:solidFill>
                  <a:srgbClr val="231F20"/>
                </a:solidFill>
              </a:rPr>
              <a:t>Rapport entre consommation en valeur et en volume, dans les comptes nationaux</a:t>
            </a:r>
            <a:endParaRPr lang="en-US" sz="1250" dirty="0"/>
          </a:p>
        </p:txBody>
      </p:sp>
      <p:sp>
        <p:nvSpPr>
          <p:cNvPr id="23" name="Text 21"/>
          <p:cNvSpPr txBox="1"/>
          <p:nvPr/>
        </p:nvSpPr>
        <p:spPr>
          <a:xfrm>
            <a:off x="502920" y="3246120"/>
            <a:ext cx="1965960" cy="804672"/>
          </a:xfrm>
          <a:prstGeom prst="rect">
            <a:avLst/>
          </a:prstGeom>
          <a:noFill/>
          <a:ln/>
        </p:spPr>
        <p:txBody>
          <a:bodyPr wrap="square" lIns="0" tIns="0" rIns="0" bIns="0" rtlCol="0" anchor="ctr"/>
          <a:lstStyle/>
          <a:p>
            <a:pPr marL="0" indent="0">
              <a:buNone/>
            </a:pPr>
            <a:r>
              <a:rPr lang="en-US" sz="1400" b="1" dirty="0">
                <a:solidFill>
                  <a:srgbClr val="00704A"/>
                </a:solidFill>
              </a:rPr>
              <a:t>Classification</a:t>
            </a:r>
            <a:endParaRPr lang="en-US" sz="1400" dirty="0"/>
          </a:p>
        </p:txBody>
      </p:sp>
      <p:sp>
        <p:nvSpPr>
          <p:cNvPr id="24" name="Cellule 1-0"/>
          <p:cNvSpPr/>
          <p:nvPr/>
        </p:nvSpPr>
        <p:spPr>
          <a:xfrm>
            <a:off x="2606040" y="3246120"/>
            <a:ext cx="2898648" cy="804672"/>
          </a:xfrm>
          <a:prstGeom prst="roundRect">
            <a:avLst>
              <a:gd name="adj" fmla="val 9091"/>
            </a:avLst>
          </a:prstGeom>
          <a:solidFill>
            <a:srgbClr val="F4F7F5"/>
          </a:solidFill>
          <a:ln w="9525">
            <a:solidFill>
              <a:srgbClr val="D5DED9"/>
            </a:solidFill>
            <a:prstDash val="solid"/>
          </a:ln>
        </p:spPr>
      </p:sp>
      <p:sp>
        <p:nvSpPr>
          <p:cNvPr id="25" name="Text 23"/>
          <p:cNvSpPr txBox="1"/>
          <p:nvPr/>
        </p:nvSpPr>
        <p:spPr>
          <a:xfrm>
            <a:off x="2743200" y="3246120"/>
            <a:ext cx="2651760" cy="804672"/>
          </a:xfrm>
          <a:prstGeom prst="rect">
            <a:avLst/>
          </a:prstGeom>
          <a:noFill/>
          <a:ln/>
        </p:spPr>
        <p:txBody>
          <a:bodyPr wrap="square" lIns="0" tIns="0" rIns="0" bIns="0" rtlCol="0" anchor="ctr"/>
          <a:lstStyle/>
          <a:p>
            <a:pPr marL="0" indent="0">
              <a:buNone/>
            </a:pPr>
            <a:r>
              <a:rPr lang="en-US" sz="1250" dirty="0">
                <a:solidFill>
                  <a:srgbClr val="231F20"/>
                </a:solidFill>
              </a:rPr>
              <a:t>Nomenclature tirée de la COICOP 2018, 13 divisions, base 2023</a:t>
            </a:r>
            <a:endParaRPr lang="en-US" sz="1250" dirty="0"/>
          </a:p>
        </p:txBody>
      </p:sp>
      <p:sp>
        <p:nvSpPr>
          <p:cNvPr id="26" name="Cellule 1-1"/>
          <p:cNvSpPr/>
          <p:nvPr/>
        </p:nvSpPr>
        <p:spPr>
          <a:xfrm>
            <a:off x="5641848" y="3246120"/>
            <a:ext cx="2898648" cy="804672"/>
          </a:xfrm>
          <a:prstGeom prst="roundRect">
            <a:avLst>
              <a:gd name="adj" fmla="val 9091"/>
            </a:avLst>
          </a:prstGeom>
          <a:solidFill>
            <a:srgbClr val="F4F7F5"/>
          </a:solidFill>
          <a:ln w="9525">
            <a:solidFill>
              <a:srgbClr val="D5DED9"/>
            </a:solidFill>
            <a:prstDash val="solid"/>
          </a:ln>
        </p:spPr>
      </p:sp>
      <p:sp>
        <p:nvSpPr>
          <p:cNvPr id="27" name="Text 25"/>
          <p:cNvSpPr txBox="1"/>
          <p:nvPr/>
        </p:nvSpPr>
        <p:spPr>
          <a:xfrm>
            <a:off x="5779008" y="3246120"/>
            <a:ext cx="2651760" cy="804672"/>
          </a:xfrm>
          <a:prstGeom prst="rect">
            <a:avLst/>
          </a:prstGeom>
          <a:noFill/>
          <a:ln/>
        </p:spPr>
        <p:txBody>
          <a:bodyPr wrap="square" lIns="0" tIns="0" rIns="0" bIns="0" rtlCol="0" anchor="ctr"/>
          <a:lstStyle/>
          <a:p>
            <a:pPr marL="0" indent="0">
              <a:buNone/>
            </a:pPr>
            <a:r>
              <a:rPr lang="en-US" sz="1250" dirty="0">
                <a:solidFill>
                  <a:srgbClr val="231F20"/>
                </a:solidFill>
              </a:rPr>
              <a:t>ECOICOP version 2, identique à la COICOP 2018, depuis janvier 2026</a:t>
            </a:r>
            <a:endParaRPr lang="en-US" sz="1250" dirty="0"/>
          </a:p>
        </p:txBody>
      </p:sp>
      <p:sp>
        <p:nvSpPr>
          <p:cNvPr id="28" name="Cellule 1-2"/>
          <p:cNvSpPr/>
          <p:nvPr/>
        </p:nvSpPr>
        <p:spPr>
          <a:xfrm>
            <a:off x="8677656" y="3246120"/>
            <a:ext cx="2898648" cy="804672"/>
          </a:xfrm>
          <a:prstGeom prst="roundRect">
            <a:avLst>
              <a:gd name="adj" fmla="val 9091"/>
            </a:avLst>
          </a:prstGeom>
          <a:solidFill>
            <a:srgbClr val="F4F7F5"/>
          </a:solidFill>
          <a:ln w="9525">
            <a:solidFill>
              <a:srgbClr val="D5DED9"/>
            </a:solidFill>
            <a:prstDash val="solid"/>
          </a:ln>
        </p:spPr>
      </p:sp>
      <p:sp>
        <p:nvSpPr>
          <p:cNvPr id="29" name="Text 27"/>
          <p:cNvSpPr txBox="1"/>
          <p:nvPr/>
        </p:nvSpPr>
        <p:spPr>
          <a:xfrm>
            <a:off x="8814816" y="3246120"/>
            <a:ext cx="2651760" cy="804672"/>
          </a:xfrm>
          <a:prstGeom prst="rect">
            <a:avLst/>
          </a:prstGeom>
          <a:noFill/>
          <a:ln/>
        </p:spPr>
        <p:txBody>
          <a:bodyPr wrap="square" lIns="0" tIns="0" rIns="0" bIns="0" rtlCol="0" anchor="ctr"/>
          <a:lstStyle/>
          <a:p>
            <a:pPr marL="0" indent="0">
              <a:buNone/>
            </a:pPr>
            <a:r>
              <a:rPr lang="en-US" sz="1250" dirty="0">
                <a:solidFill>
                  <a:srgbClr val="231F20"/>
                </a:solidFill>
              </a:rPr>
              <a:t>COICOP 2018 dans les comptes de l'UE depuis 2024</a:t>
            </a:r>
            <a:endParaRPr lang="en-US" sz="1250" dirty="0"/>
          </a:p>
        </p:txBody>
      </p:sp>
      <p:sp>
        <p:nvSpPr>
          <p:cNvPr id="30" name="Text 28"/>
          <p:cNvSpPr txBox="1"/>
          <p:nvPr/>
        </p:nvSpPr>
        <p:spPr>
          <a:xfrm>
            <a:off x="502920" y="4160520"/>
            <a:ext cx="1965960" cy="804672"/>
          </a:xfrm>
          <a:prstGeom prst="rect">
            <a:avLst/>
          </a:prstGeom>
          <a:noFill/>
          <a:ln/>
        </p:spPr>
        <p:txBody>
          <a:bodyPr wrap="square" lIns="0" tIns="0" rIns="0" bIns="0" rtlCol="0" anchor="ctr"/>
          <a:lstStyle/>
          <a:p>
            <a:pPr marL="0" indent="0">
              <a:buNone/>
            </a:pPr>
            <a:r>
              <a:rPr lang="en-US" sz="1400" b="1" dirty="0">
                <a:solidFill>
                  <a:srgbClr val="00704A"/>
                </a:solidFill>
              </a:rPr>
              <a:t>Pondérations</a:t>
            </a:r>
            <a:endParaRPr lang="en-US" sz="1400" dirty="0"/>
          </a:p>
        </p:txBody>
      </p:sp>
      <p:sp>
        <p:nvSpPr>
          <p:cNvPr id="31" name="Cellule 2-0"/>
          <p:cNvSpPr/>
          <p:nvPr/>
        </p:nvSpPr>
        <p:spPr>
          <a:xfrm>
            <a:off x="2606040" y="4160520"/>
            <a:ext cx="2898648" cy="804672"/>
          </a:xfrm>
          <a:prstGeom prst="roundRect">
            <a:avLst>
              <a:gd name="adj" fmla="val 9091"/>
            </a:avLst>
          </a:prstGeom>
          <a:solidFill>
            <a:srgbClr val="F4F7F5"/>
          </a:solidFill>
          <a:ln w="9525">
            <a:solidFill>
              <a:srgbClr val="D5DED9"/>
            </a:solidFill>
            <a:prstDash val="solid"/>
          </a:ln>
        </p:spPr>
      </p:sp>
      <p:sp>
        <p:nvSpPr>
          <p:cNvPr id="32" name="Text 30"/>
          <p:cNvSpPr txBox="1"/>
          <p:nvPr/>
        </p:nvSpPr>
        <p:spPr>
          <a:xfrm>
            <a:off x="2743200" y="4160520"/>
            <a:ext cx="2651760" cy="804672"/>
          </a:xfrm>
          <a:prstGeom prst="rect">
            <a:avLst/>
          </a:prstGeom>
          <a:noFill/>
          <a:ln/>
        </p:spPr>
        <p:txBody>
          <a:bodyPr wrap="square" lIns="0" tIns="0" rIns="0" bIns="0" rtlCol="0" anchor="ctr"/>
          <a:lstStyle/>
          <a:p>
            <a:pPr marL="0" indent="0">
              <a:buNone/>
            </a:pPr>
            <a:r>
              <a:rPr lang="en-US" sz="1250" dirty="0">
                <a:solidFill>
                  <a:srgbClr val="231F20"/>
                </a:solidFill>
              </a:rPr>
              <a:t>EHCVM 2021-2022, enquête auprès des ménages</a:t>
            </a:r>
            <a:endParaRPr lang="en-US" sz="1250" dirty="0"/>
          </a:p>
        </p:txBody>
      </p:sp>
      <p:sp>
        <p:nvSpPr>
          <p:cNvPr id="33" name="Cellule 2-1"/>
          <p:cNvSpPr/>
          <p:nvPr/>
        </p:nvSpPr>
        <p:spPr>
          <a:xfrm>
            <a:off x="5641848" y="4160520"/>
            <a:ext cx="2898648" cy="804672"/>
          </a:xfrm>
          <a:prstGeom prst="roundRect">
            <a:avLst>
              <a:gd name="adj" fmla="val 9091"/>
            </a:avLst>
          </a:prstGeom>
          <a:solidFill>
            <a:srgbClr val="F4F7F5"/>
          </a:solidFill>
          <a:ln w="9525">
            <a:solidFill>
              <a:srgbClr val="D5DED9"/>
            </a:solidFill>
            <a:prstDash val="solid"/>
          </a:ln>
        </p:spPr>
      </p:sp>
      <p:sp>
        <p:nvSpPr>
          <p:cNvPr id="34" name="Text 32"/>
          <p:cNvSpPr txBox="1"/>
          <p:nvPr/>
        </p:nvSpPr>
        <p:spPr>
          <a:xfrm>
            <a:off x="5779008" y="4160520"/>
            <a:ext cx="2651760" cy="804672"/>
          </a:xfrm>
          <a:prstGeom prst="rect">
            <a:avLst/>
          </a:prstGeom>
          <a:noFill/>
          <a:ln/>
        </p:spPr>
        <p:txBody>
          <a:bodyPr wrap="square" lIns="0" tIns="0" rIns="0" bIns="0" rtlCol="0" anchor="ctr"/>
          <a:lstStyle/>
          <a:p>
            <a:pPr marL="0" indent="0">
              <a:buNone/>
            </a:pPr>
            <a:r>
              <a:rPr lang="en-US" sz="1250" dirty="0">
                <a:solidFill>
                  <a:srgbClr val="231F20"/>
                </a:solidFill>
              </a:rPr>
              <a:t>Comptes nationaux, mises à jour chaque année</a:t>
            </a:r>
            <a:endParaRPr lang="en-US" sz="1250" dirty="0"/>
          </a:p>
        </p:txBody>
      </p:sp>
      <p:sp>
        <p:nvSpPr>
          <p:cNvPr id="35" name="Cellule 2-2"/>
          <p:cNvSpPr/>
          <p:nvPr/>
        </p:nvSpPr>
        <p:spPr>
          <a:xfrm>
            <a:off x="8677656" y="4160520"/>
            <a:ext cx="2898648" cy="804672"/>
          </a:xfrm>
          <a:prstGeom prst="roundRect">
            <a:avLst>
              <a:gd name="adj" fmla="val 9091"/>
            </a:avLst>
          </a:prstGeom>
          <a:solidFill>
            <a:srgbClr val="F4F7F5"/>
          </a:solidFill>
          <a:ln w="9525">
            <a:solidFill>
              <a:srgbClr val="D5DED9"/>
            </a:solidFill>
            <a:prstDash val="solid"/>
          </a:ln>
        </p:spPr>
      </p:sp>
      <p:sp>
        <p:nvSpPr>
          <p:cNvPr id="36" name="Text 34"/>
          <p:cNvSpPr txBox="1"/>
          <p:nvPr/>
        </p:nvSpPr>
        <p:spPr>
          <a:xfrm>
            <a:off x="8814816" y="4160520"/>
            <a:ext cx="2651760" cy="804672"/>
          </a:xfrm>
          <a:prstGeom prst="rect">
            <a:avLst/>
          </a:prstGeom>
          <a:noFill/>
          <a:ln/>
        </p:spPr>
        <p:txBody>
          <a:bodyPr wrap="square" lIns="0" tIns="0" rIns="0" bIns="0" rtlCol="0" anchor="ctr"/>
          <a:lstStyle/>
          <a:p>
            <a:pPr marL="0" indent="0">
              <a:buNone/>
            </a:pPr>
            <a:r>
              <a:rPr lang="en-US" sz="1250" dirty="0">
                <a:solidFill>
                  <a:srgbClr val="231F20"/>
                </a:solidFill>
              </a:rPr>
              <a:t>Variables chaque période (formule de type Paasche)</a:t>
            </a:r>
            <a:endParaRPr lang="en-US" sz="1250" dirty="0"/>
          </a:p>
        </p:txBody>
      </p:sp>
      <p:sp>
        <p:nvSpPr>
          <p:cNvPr id="37" name="Text 35"/>
          <p:cNvSpPr txBox="1"/>
          <p:nvPr/>
        </p:nvSpPr>
        <p:spPr>
          <a:xfrm>
            <a:off x="502920" y="5074920"/>
            <a:ext cx="1965960" cy="804672"/>
          </a:xfrm>
          <a:prstGeom prst="rect">
            <a:avLst/>
          </a:prstGeom>
          <a:noFill/>
          <a:ln/>
        </p:spPr>
        <p:txBody>
          <a:bodyPr wrap="square" lIns="0" tIns="0" rIns="0" bIns="0" rtlCol="0" anchor="ctr"/>
          <a:lstStyle/>
          <a:p>
            <a:pPr marL="0" indent="0">
              <a:buNone/>
            </a:pPr>
            <a:r>
              <a:rPr lang="en-US" sz="1400" b="1" dirty="0">
                <a:solidFill>
                  <a:srgbClr val="00704A"/>
                </a:solidFill>
              </a:rPr>
              <a:t>Usage principal</a:t>
            </a:r>
            <a:endParaRPr lang="en-US" sz="1400" dirty="0"/>
          </a:p>
        </p:txBody>
      </p:sp>
      <p:sp>
        <p:nvSpPr>
          <p:cNvPr id="38" name="Cellule 3-0"/>
          <p:cNvSpPr/>
          <p:nvPr/>
        </p:nvSpPr>
        <p:spPr>
          <a:xfrm>
            <a:off x="2606040" y="5074920"/>
            <a:ext cx="2898648" cy="804672"/>
          </a:xfrm>
          <a:prstGeom prst="roundRect">
            <a:avLst>
              <a:gd name="adj" fmla="val 9091"/>
            </a:avLst>
          </a:prstGeom>
          <a:solidFill>
            <a:srgbClr val="F4F7F5"/>
          </a:solidFill>
          <a:ln w="9525">
            <a:solidFill>
              <a:srgbClr val="D5DED9"/>
            </a:solidFill>
            <a:prstDash val="solid"/>
          </a:ln>
        </p:spPr>
      </p:sp>
      <p:sp>
        <p:nvSpPr>
          <p:cNvPr id="39" name="Text 37"/>
          <p:cNvSpPr txBox="1"/>
          <p:nvPr/>
        </p:nvSpPr>
        <p:spPr>
          <a:xfrm>
            <a:off x="2743200" y="5074920"/>
            <a:ext cx="2651760" cy="804672"/>
          </a:xfrm>
          <a:prstGeom prst="rect">
            <a:avLst/>
          </a:prstGeom>
          <a:noFill/>
          <a:ln/>
        </p:spPr>
        <p:txBody>
          <a:bodyPr wrap="square" lIns="0" tIns="0" rIns="0" bIns="0" rtlCol="0" anchor="ctr"/>
          <a:lstStyle/>
          <a:p>
            <a:pPr marL="0" indent="0">
              <a:buNone/>
            </a:pPr>
            <a:r>
              <a:rPr lang="en-US" sz="1250" dirty="0">
                <a:solidFill>
                  <a:srgbClr val="231F20"/>
                </a:solidFill>
              </a:rPr>
              <a:t>Politique monétaire de la BCEAO, critère de convergence</a:t>
            </a:r>
            <a:endParaRPr lang="en-US" sz="1250" dirty="0"/>
          </a:p>
        </p:txBody>
      </p:sp>
      <p:sp>
        <p:nvSpPr>
          <p:cNvPr id="40" name="Cellule 3-1"/>
          <p:cNvSpPr/>
          <p:nvPr/>
        </p:nvSpPr>
        <p:spPr>
          <a:xfrm>
            <a:off x="5641848" y="5074920"/>
            <a:ext cx="2898648" cy="804672"/>
          </a:xfrm>
          <a:prstGeom prst="roundRect">
            <a:avLst>
              <a:gd name="adj" fmla="val 9091"/>
            </a:avLst>
          </a:prstGeom>
          <a:solidFill>
            <a:srgbClr val="F4F7F5"/>
          </a:solidFill>
          <a:ln w="9525">
            <a:solidFill>
              <a:srgbClr val="D5DED9"/>
            </a:solidFill>
            <a:prstDash val="solid"/>
          </a:ln>
        </p:spPr>
      </p:sp>
      <p:sp>
        <p:nvSpPr>
          <p:cNvPr id="41" name="Text 39"/>
          <p:cNvSpPr txBox="1"/>
          <p:nvPr/>
        </p:nvSpPr>
        <p:spPr>
          <a:xfrm>
            <a:off x="5779008" y="5074920"/>
            <a:ext cx="2651760" cy="804672"/>
          </a:xfrm>
          <a:prstGeom prst="rect">
            <a:avLst/>
          </a:prstGeom>
          <a:noFill/>
          <a:ln/>
        </p:spPr>
        <p:txBody>
          <a:bodyPr wrap="square" lIns="0" tIns="0" rIns="0" bIns="0" rtlCol="0" anchor="ctr"/>
          <a:lstStyle/>
          <a:p>
            <a:pPr marL="0" indent="0">
              <a:buNone/>
            </a:pPr>
            <a:r>
              <a:rPr lang="en-US" sz="1250" dirty="0">
                <a:solidFill>
                  <a:srgbClr val="231F20"/>
                </a:solidFill>
              </a:rPr>
              <a:t>Cible d'inflation de 2 % de la BCE</a:t>
            </a:r>
            <a:endParaRPr lang="en-US" sz="1250" dirty="0"/>
          </a:p>
        </p:txBody>
      </p:sp>
      <p:sp>
        <p:nvSpPr>
          <p:cNvPr id="42" name="Cellule 3-2"/>
          <p:cNvSpPr/>
          <p:nvPr/>
        </p:nvSpPr>
        <p:spPr>
          <a:xfrm>
            <a:off x="8677656" y="5074920"/>
            <a:ext cx="2898648" cy="804672"/>
          </a:xfrm>
          <a:prstGeom prst="roundRect">
            <a:avLst>
              <a:gd name="adj" fmla="val 9091"/>
            </a:avLst>
          </a:prstGeom>
          <a:solidFill>
            <a:srgbClr val="F4F7F5"/>
          </a:solidFill>
          <a:ln w="9525">
            <a:solidFill>
              <a:srgbClr val="D5DED9"/>
            </a:solidFill>
            <a:prstDash val="solid"/>
          </a:ln>
        </p:spPr>
      </p:sp>
      <p:sp>
        <p:nvSpPr>
          <p:cNvPr id="43" name="Text 41"/>
          <p:cNvSpPr txBox="1"/>
          <p:nvPr/>
        </p:nvSpPr>
        <p:spPr>
          <a:xfrm>
            <a:off x="8814816" y="5074920"/>
            <a:ext cx="2651760" cy="804672"/>
          </a:xfrm>
          <a:prstGeom prst="rect">
            <a:avLst/>
          </a:prstGeom>
          <a:noFill/>
          <a:ln/>
        </p:spPr>
        <p:txBody>
          <a:bodyPr wrap="square" lIns="0" tIns="0" rIns="0" bIns="0" rtlCol="0" anchor="ctr"/>
          <a:lstStyle/>
          <a:p>
            <a:pPr marL="0" indent="0">
              <a:buNone/>
            </a:pPr>
            <a:r>
              <a:rPr lang="en-US" sz="1250" dirty="0">
                <a:solidFill>
                  <a:srgbClr val="231F20"/>
                </a:solidFill>
              </a:rPr>
              <a:t>Analyse macroéconomique, volumes de consommation</a:t>
            </a:r>
            <a:endParaRPr lang="en-US" sz="1250" dirty="0"/>
          </a:p>
        </p:txBody>
      </p:sp>
      <p:sp>
        <p:nvSpPr>
          <p:cNvPr id="44" name="Text 42"/>
          <p:cNvSpPr txBox="1"/>
          <p:nvPr/>
        </p:nvSpPr>
        <p:spPr>
          <a:xfrm>
            <a:off x="502920" y="6108192"/>
            <a:ext cx="10607040" cy="274320"/>
          </a:xfrm>
          <a:prstGeom prst="rect">
            <a:avLst/>
          </a:prstGeom>
          <a:noFill/>
          <a:ln/>
        </p:spPr>
        <p:txBody>
          <a:bodyPr wrap="square" lIns="0" tIns="0" rIns="0" bIns="0" rtlCol="0" anchor="ctr"/>
          <a:lstStyle/>
          <a:p>
            <a:pPr marL="0" indent="0">
              <a:buNone/>
            </a:pPr>
            <a:r>
              <a:rPr lang="en-US" sz="1000" i="1" dirty="0">
                <a:solidFill>
                  <a:srgbClr val="5E6964"/>
                </a:solidFill>
              </a:rPr>
              <a:t>Sources : BCEAO, rapport annuel sur l'évolution des prix dans l'UEMOA en 2025 ; ANSD, IHPC mars 2026 ; Eurostat ; BCE.</a:t>
            </a:r>
            <a:endParaRPr lang="en-US" sz="1000" dirty="0"/>
          </a:p>
        </p:txBody>
      </p:sp>
      <p:sp>
        <p:nvSpPr>
          <p:cNvPr id="45"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7</a:t>
            </a:fld>
            <a:endParaRPr lang="en-US"/>
          </a:p>
        </p:txBody>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01 · COMPRENDRE L'IPC</a:t>
            </a:r>
            <a:endParaRPr lang="en-US" sz="1200" dirty="0"/>
          </a:p>
        </p:txBody>
      </p:sp>
      <p:sp>
        <p:nvSpPr>
          <p:cNvPr id="3" name="Point de progression 1"/>
          <p:cNvSpPr/>
          <p:nvPr/>
        </p:nvSpPr>
        <p:spPr>
          <a:xfrm>
            <a:off x="10561320" y="365760"/>
            <a:ext cx="128016" cy="128016"/>
          </a:xfrm>
          <a:prstGeom prst="ellipse">
            <a:avLst/>
          </a:prstGeom>
          <a:solidFill>
            <a:srgbClr val="00A86A"/>
          </a:solidFill>
          <a:ln/>
        </p:spPr>
      </p:sp>
      <p:sp>
        <p:nvSpPr>
          <p:cNvPr id="4" name="Point de progression 2"/>
          <p:cNvSpPr/>
          <p:nvPr/>
        </p:nvSpPr>
        <p:spPr>
          <a:xfrm>
            <a:off x="10789920" y="365760"/>
            <a:ext cx="128016" cy="128016"/>
          </a:xfrm>
          <a:prstGeom prst="ellipse">
            <a:avLst/>
          </a:prstGeom>
          <a:solidFill>
            <a:srgbClr val="D5DED9"/>
          </a:solidFill>
          <a:ln/>
        </p:spPr>
      </p:sp>
      <p:sp>
        <p:nvSpPr>
          <p:cNvPr id="5" name="Point de progression 3"/>
          <p:cNvSpPr/>
          <p:nvPr/>
        </p:nvSpPr>
        <p:spPr>
          <a:xfrm>
            <a:off x="11018520" y="365760"/>
            <a:ext cx="128016" cy="128016"/>
          </a:xfrm>
          <a:prstGeom prst="ellipse">
            <a:avLst/>
          </a:prstGeom>
          <a:solidFill>
            <a:srgbClr val="D5DED9"/>
          </a:solidFill>
          <a:ln/>
        </p:spPr>
      </p:sp>
      <p:sp>
        <p:nvSpPr>
          <p:cNvPr id="6" name="Point de progression 4"/>
          <p:cNvSpPr/>
          <p:nvPr/>
        </p:nvSpPr>
        <p:spPr>
          <a:xfrm>
            <a:off x="11247120" y="365760"/>
            <a:ext cx="128016" cy="128016"/>
          </a:xfrm>
          <a:prstGeom prst="ellipse">
            <a:avLst/>
          </a:prstGeom>
          <a:solidFill>
            <a:srgbClr val="D5DED9"/>
          </a:solidFill>
          <a:ln/>
        </p:spPr>
      </p:sp>
      <p:sp>
        <p:nvSpPr>
          <p:cNvPr id="7" name="Point de progression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UEMOA : du pic de 2022 à la stabilité de 2025</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Taux d'inflation annuels moyens mesurés par l'IHPC, en %</a:t>
            </a:r>
            <a:endParaRPr lang="en-US" sz="1500" dirty="0"/>
          </a:p>
        </p:txBody>
      </p:sp>
      <p:sp>
        <p:nvSpPr>
          <p:cNvPr id="10" name="Cadre graphique UEMOA"/>
          <p:cNvSpPr/>
          <p:nvPr/>
        </p:nvSpPr>
        <p:spPr>
          <a:xfrm>
            <a:off x="502920" y="1691640"/>
            <a:ext cx="5486400" cy="4343400"/>
          </a:xfrm>
          <a:prstGeom prst="roundRect">
            <a:avLst>
              <a:gd name="adj" fmla="val 1684"/>
            </a:avLst>
          </a:prstGeom>
          <a:solidFill>
            <a:srgbClr val="F4F7F5"/>
          </a:solidFill>
          <a:ln w="9525">
            <a:solidFill>
              <a:srgbClr val="D5DED9"/>
            </a:solidFill>
            <a:prstDash val="solid"/>
          </a:ln>
        </p:spPr>
      </p:sp>
      <p:graphicFrame>
        <p:nvGraphicFramePr>
          <p:cNvPr id="11" name="Graphique inflation UEMOA"/>
          <p:cNvGraphicFramePr/>
          <p:nvPr/>
        </p:nvGraphicFramePr>
        <p:xfrm>
          <a:off x="640080" y="1783080"/>
          <a:ext cx="521208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12" name="Cadre graphique pays"/>
          <p:cNvSpPr/>
          <p:nvPr/>
        </p:nvSpPr>
        <p:spPr>
          <a:xfrm>
            <a:off x="6172200" y="1691640"/>
            <a:ext cx="5486400" cy="4343400"/>
          </a:xfrm>
          <a:prstGeom prst="roundRect">
            <a:avLst>
              <a:gd name="adj" fmla="val 1684"/>
            </a:avLst>
          </a:prstGeom>
          <a:solidFill>
            <a:srgbClr val="F4F7F5"/>
          </a:solidFill>
          <a:ln w="9525">
            <a:solidFill>
              <a:srgbClr val="D5DED9"/>
            </a:solidFill>
            <a:prstDash val="solid"/>
          </a:ln>
        </p:spPr>
      </p:sp>
      <p:graphicFrame>
        <p:nvGraphicFramePr>
          <p:cNvPr id="13" name="Graphique inflation CI SN"/>
          <p:cNvGraphicFramePr/>
          <p:nvPr/>
        </p:nvGraphicFramePr>
        <p:xfrm>
          <a:off x="6309360" y="1783080"/>
          <a:ext cx="5212080" cy="4160520"/>
        </p:xfrm>
        <a:graphic>
          <a:graphicData uri="http://schemas.openxmlformats.org/drawingml/2006/chart">
            <c:chart xmlns:c="http://schemas.openxmlformats.org/drawingml/2006/chart" xmlns:r="http://schemas.openxmlformats.org/officeDocument/2006/relationships" r:id="rId4"/>
          </a:graphicData>
        </a:graphic>
      </p:graphicFrame>
      <p:sp>
        <p:nvSpPr>
          <p:cNvPr id="14" name="Text 10"/>
          <p:cNvSpPr txBox="1"/>
          <p:nvPr/>
        </p:nvSpPr>
        <p:spPr>
          <a:xfrm>
            <a:off x="502920" y="6108192"/>
            <a:ext cx="10607040" cy="274320"/>
          </a:xfrm>
          <a:prstGeom prst="rect">
            <a:avLst/>
          </a:prstGeom>
          <a:noFill/>
          <a:ln/>
        </p:spPr>
        <p:txBody>
          <a:bodyPr wrap="square" lIns="0" tIns="0" rIns="0" bIns="0" rtlCol="0" anchor="ctr"/>
          <a:lstStyle/>
          <a:p>
            <a:pPr marL="0" indent="0">
              <a:buNone/>
            </a:pPr>
            <a:r>
              <a:rPr lang="en-US" sz="1000" i="1" dirty="0">
                <a:solidFill>
                  <a:srgbClr val="5E6964"/>
                </a:solidFill>
              </a:rPr>
              <a:t>Source : BCEAO, Rapport annuel sur l'évolution des prix à la consommation dans l'UEMOA en 2025 (juin 2026), annexe 1 et tableau 1. Moyennes annuelles.</a:t>
            </a:r>
            <a:endParaRPr lang="en-US" sz="1000" dirty="0"/>
          </a:p>
        </p:txBody>
      </p:sp>
      <p:sp>
        <p:nvSpPr>
          <p:cNvPr id="25"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8</a:t>
            </a:fld>
            <a:endParaRPr lang="en-US"/>
          </a:p>
        </p:txBody>
      </p:sp>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097280"/>
            <a:ext cx="3200400" cy="1463040"/>
          </a:xfrm>
          <a:prstGeom prst="rect">
            <a:avLst/>
          </a:prstGeom>
          <a:noFill/>
          <a:ln/>
        </p:spPr>
        <p:txBody>
          <a:bodyPr wrap="square" rtlCol="0" anchor="b"/>
          <a:lstStyle/>
          <a:p>
            <a:pPr marL="0" indent="0">
              <a:buNone/>
            </a:pPr>
            <a:r>
              <a:rPr lang="en-US" sz="11000" b="1" dirty="0">
                <a:solidFill>
                  <a:srgbClr val="F5C242"/>
                </a:solidFill>
              </a:rPr>
              <a:t>02</a:t>
            </a:r>
            <a:endParaRPr lang="en-US" sz="11000" dirty="0"/>
          </a:p>
        </p:txBody>
      </p:sp>
      <p:sp>
        <p:nvSpPr>
          <p:cNvPr id="3" name="Text 0"/>
          <p:cNvSpPr>
            <a:spLocks noGrp="1"/>
          </p:cNvSpPr>
          <p:nvPr>
            <p:ph type="title" idx="101" hasCustomPrompt="1"/>
          </p:nvPr>
        </p:nvSpPr>
        <p:spPr>
          <a:xfrm>
            <a:off x="731520" y="2743200"/>
            <a:ext cx="7315200" cy="1188720"/>
          </a:xfrm>
          <a:prstGeom prst="rect">
            <a:avLst/>
          </a:prstGeom>
          <a:noFill/>
          <a:ln/>
        </p:spPr>
        <p:txBody>
          <a:bodyPr wrap="square" rtlCol="0" anchor="t"/>
          <a:lstStyle/>
          <a:p>
            <a:pPr marL="0" indent="0" algn="l">
              <a:buNone/>
            </a:pPr>
            <a:r>
              <a:rPr lang="en-US" sz="4200" b="1" dirty="0">
                <a:solidFill>
                  <a:srgbClr val="FFFFFF"/>
                </a:solidFill>
              </a:rPr>
              <a:t>Le panier et la COICOP 2018</a:t>
            </a:r>
            <a:endParaRPr lang="en-US" sz="4200" dirty="0"/>
          </a:p>
        </p:txBody>
      </p:sp>
      <p:sp>
        <p:nvSpPr>
          <p:cNvPr id="4" name="Text 0"/>
          <p:cNvSpPr>
            <a:spLocks noGrp="1"/>
          </p:cNvSpPr>
          <p:nvPr>
            <p:ph type="body" idx="102" hasCustomPrompt="1"/>
          </p:nvPr>
        </p:nvSpPr>
        <p:spPr>
          <a:xfrm>
            <a:off x="731520" y="3977640"/>
            <a:ext cx="7589520" cy="822960"/>
          </a:xfrm>
          <a:prstGeom prst="rect">
            <a:avLst/>
          </a:prstGeom>
          <a:noFill/>
          <a:ln/>
        </p:spPr>
        <p:txBody>
          <a:bodyPr wrap="square" rtlCol="0" anchor="t"/>
          <a:lstStyle/>
          <a:p>
            <a:pPr marL="0" indent="0">
              <a:buNone/>
            </a:pPr>
            <a:r>
              <a:rPr lang="en-US" sz="1900" i="1" dirty="0">
                <a:solidFill>
                  <a:srgbClr val="E6F6EE"/>
                </a:solidFill>
              </a:rPr>
              <a:t>Que met-on dans le panier, avec quel poids, et selon quelle grille ?</a:t>
            </a:r>
            <a:endParaRPr lang="en-US" sz="1900" dirty="0"/>
          </a:p>
        </p:txBody>
      </p:sp>
      <p:sp>
        <p:nvSpPr>
          <p:cNvPr id="5" name="Cercle icône section"/>
          <p:cNvSpPr/>
          <p:nvPr/>
        </p:nvSpPr>
        <p:spPr>
          <a:xfrm>
            <a:off x="9079992" y="2340864"/>
            <a:ext cx="1280160" cy="1280160"/>
          </a:xfrm>
          <a:prstGeom prst="ellipse">
            <a:avLst/>
          </a:prstGeom>
          <a:solidFill>
            <a:srgbClr val="FFFFFF"/>
          </a:solidFill>
          <a:ln/>
        </p:spPr>
      </p:sp>
      <p:pic>
        <p:nvPicPr>
          <p:cNvPr id="6" name="Icône section" descr="preencoded.png"/>
          <p:cNvPicPr>
            <a:picLocks noChangeAspect="1"/>
          </p:cNvPicPr>
          <p:nvPr/>
        </p:nvPicPr>
        <p:blipFill>
          <a:blip r:embed="rId3"/>
          <a:stretch>
            <a:fillRect/>
          </a:stretch>
        </p:blipFill>
        <p:spPr>
          <a:xfrm>
            <a:off x="9372600" y="2633472"/>
            <a:ext cx="694944" cy="694944"/>
          </a:xfrm>
          <a:prstGeom prst="rect">
            <a:avLst/>
          </a:prstGeom>
        </p:spPr>
      </p:pic>
      <p:sp>
        <p:nvSpPr>
          <p:cNvPr id="7" name="Point de progression 1"/>
          <p:cNvSpPr/>
          <p:nvPr/>
        </p:nvSpPr>
        <p:spPr>
          <a:xfrm>
            <a:off x="731520" y="5989320"/>
            <a:ext cx="155448" cy="155448"/>
          </a:xfrm>
          <a:prstGeom prst="ellipse">
            <a:avLst/>
          </a:prstGeom>
          <a:solidFill>
            <a:srgbClr val="FFFFFF">
              <a:alpha val="40000"/>
            </a:srgbClr>
          </a:solidFill>
          <a:ln/>
        </p:spPr>
      </p:sp>
      <p:sp>
        <p:nvSpPr>
          <p:cNvPr id="8" name="Point de progression 2"/>
          <p:cNvSpPr/>
          <p:nvPr/>
        </p:nvSpPr>
        <p:spPr>
          <a:xfrm>
            <a:off x="1024128" y="5989320"/>
            <a:ext cx="155448" cy="155448"/>
          </a:xfrm>
          <a:prstGeom prst="ellipse">
            <a:avLst/>
          </a:prstGeom>
          <a:solidFill>
            <a:srgbClr val="F5C242"/>
          </a:solidFill>
          <a:ln/>
        </p:spPr>
      </p:sp>
      <p:sp>
        <p:nvSpPr>
          <p:cNvPr id="9" name="Point de progression 3"/>
          <p:cNvSpPr/>
          <p:nvPr/>
        </p:nvSpPr>
        <p:spPr>
          <a:xfrm>
            <a:off x="1316736" y="5989320"/>
            <a:ext cx="155448" cy="155448"/>
          </a:xfrm>
          <a:prstGeom prst="ellipse">
            <a:avLst/>
          </a:prstGeom>
          <a:solidFill>
            <a:srgbClr val="FFFFFF">
              <a:alpha val="40000"/>
            </a:srgbClr>
          </a:solidFill>
          <a:ln/>
        </p:spPr>
      </p:sp>
      <p:sp>
        <p:nvSpPr>
          <p:cNvPr id="10" name="Point de progression 4"/>
          <p:cNvSpPr/>
          <p:nvPr/>
        </p:nvSpPr>
        <p:spPr>
          <a:xfrm>
            <a:off x="1609344" y="5989320"/>
            <a:ext cx="155448" cy="155448"/>
          </a:xfrm>
          <a:prstGeom prst="ellipse">
            <a:avLst/>
          </a:prstGeom>
          <a:solidFill>
            <a:srgbClr val="FFFFFF">
              <a:alpha val="40000"/>
            </a:srgbClr>
          </a:solidFill>
          <a:ln/>
        </p:spPr>
      </p:sp>
      <p:sp>
        <p:nvSpPr>
          <p:cNvPr id="11" name="Point de progression 5"/>
          <p:cNvSpPr/>
          <p:nvPr/>
        </p:nvSpPr>
        <p:spPr>
          <a:xfrm>
            <a:off x="1901952" y="5989320"/>
            <a:ext cx="155448" cy="155448"/>
          </a:xfrm>
          <a:prstGeom prst="ellipse">
            <a:avLst/>
          </a:prstGeom>
          <a:solidFill>
            <a:srgbClr val="FFFFFF">
              <a:alpha val="40000"/>
            </a:srgbClr>
          </a:solidFill>
          <a:ln/>
        </p:spPr>
      </p:sp>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02 · LE PANIER ET LA COICOP 2018</a:t>
            </a:r>
            <a:endParaRPr lang="en-US" sz="1200" dirty="0"/>
          </a:p>
        </p:txBody>
      </p:sp>
      <p:sp>
        <p:nvSpPr>
          <p:cNvPr id="3" name="Point de progression 1"/>
          <p:cNvSpPr/>
          <p:nvPr/>
        </p:nvSpPr>
        <p:spPr>
          <a:xfrm>
            <a:off x="10561320" y="365760"/>
            <a:ext cx="128016" cy="128016"/>
          </a:xfrm>
          <a:prstGeom prst="ellipse">
            <a:avLst/>
          </a:prstGeom>
          <a:solidFill>
            <a:srgbClr val="D5DED9"/>
          </a:solidFill>
          <a:ln/>
        </p:spPr>
      </p:sp>
      <p:sp>
        <p:nvSpPr>
          <p:cNvPr id="4" name="Point de progression 2"/>
          <p:cNvSpPr/>
          <p:nvPr/>
        </p:nvSpPr>
        <p:spPr>
          <a:xfrm>
            <a:off x="10789920" y="365760"/>
            <a:ext cx="128016" cy="128016"/>
          </a:xfrm>
          <a:prstGeom prst="ellipse">
            <a:avLst/>
          </a:prstGeom>
          <a:solidFill>
            <a:srgbClr val="00704A"/>
          </a:solidFill>
          <a:ln/>
        </p:spPr>
      </p:sp>
      <p:sp>
        <p:nvSpPr>
          <p:cNvPr id="5" name="Point de progression 3"/>
          <p:cNvSpPr/>
          <p:nvPr/>
        </p:nvSpPr>
        <p:spPr>
          <a:xfrm>
            <a:off x="11018520" y="365760"/>
            <a:ext cx="128016" cy="128016"/>
          </a:xfrm>
          <a:prstGeom prst="ellipse">
            <a:avLst/>
          </a:prstGeom>
          <a:solidFill>
            <a:srgbClr val="D5DED9"/>
          </a:solidFill>
          <a:ln/>
        </p:spPr>
      </p:sp>
      <p:sp>
        <p:nvSpPr>
          <p:cNvPr id="6" name="Point de progression 4"/>
          <p:cNvSpPr/>
          <p:nvPr/>
        </p:nvSpPr>
        <p:spPr>
          <a:xfrm>
            <a:off x="11247120" y="365760"/>
            <a:ext cx="128016" cy="128016"/>
          </a:xfrm>
          <a:prstGeom prst="ellipse">
            <a:avLst/>
          </a:prstGeom>
          <a:solidFill>
            <a:srgbClr val="D5DED9"/>
          </a:solidFill>
          <a:ln/>
        </p:spPr>
      </p:sp>
      <p:sp>
        <p:nvSpPr>
          <p:cNvPr id="7" name="Point de progression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Le panier, photographie de la consommation</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Du budget des ménages aux variétés suivies chaque mois : l'exemple de l'IHPC du Sénégal, base 2023</a:t>
            </a:r>
            <a:endParaRPr lang="en-US" sz="1500" dirty="0"/>
          </a:p>
        </p:txBody>
      </p:sp>
      <p:sp>
        <p:nvSpPr>
          <p:cNvPr id="10" name="Carte étape panier 1"/>
          <p:cNvSpPr/>
          <p:nvPr/>
        </p:nvSpPr>
        <p:spPr>
          <a:xfrm>
            <a:off x="502920" y="1783080"/>
            <a:ext cx="2514600" cy="2606040"/>
          </a:xfrm>
          <a:prstGeom prst="roundRect">
            <a:avLst>
              <a:gd name="adj" fmla="val 2909"/>
            </a:avLst>
          </a:prstGeom>
          <a:solidFill>
            <a:srgbClr val="F4F7F5"/>
          </a:solidFill>
          <a:ln w="9525">
            <a:solidFill>
              <a:srgbClr val="D5DED9"/>
            </a:solidFill>
            <a:prstDash val="solid"/>
          </a:ln>
        </p:spPr>
      </p:sp>
      <p:sp>
        <p:nvSpPr>
          <p:cNvPr id="11" name="Étape panier 1 cercle"/>
          <p:cNvSpPr/>
          <p:nvPr/>
        </p:nvSpPr>
        <p:spPr>
          <a:xfrm>
            <a:off x="777240" y="2011680"/>
            <a:ext cx="685800" cy="685800"/>
          </a:xfrm>
          <a:prstGeom prst="ellipse">
            <a:avLst/>
          </a:prstGeom>
          <a:solidFill>
            <a:srgbClr val="00704A">
              <a:alpha val="22000"/>
            </a:srgbClr>
          </a:solidFill>
          <a:ln/>
        </p:spPr>
      </p:sp>
      <p:pic>
        <p:nvPicPr>
          <p:cNvPr id="12" name="Étape panier 1 icône" descr="preencoded.png"/>
          <p:cNvPicPr>
            <a:picLocks noChangeAspect="1"/>
          </p:cNvPicPr>
          <p:nvPr/>
        </p:nvPicPr>
        <p:blipFill>
          <a:blip r:embed="rId3"/>
          <a:stretch>
            <a:fillRect/>
          </a:stretch>
        </p:blipFill>
        <p:spPr>
          <a:xfrm>
            <a:off x="948690" y="2183130"/>
            <a:ext cx="342900" cy="342900"/>
          </a:xfrm>
          <a:prstGeom prst="rect">
            <a:avLst/>
          </a:prstGeom>
        </p:spPr>
      </p:pic>
      <p:sp>
        <p:nvSpPr>
          <p:cNvPr id="13" name="Text 10"/>
          <p:cNvSpPr txBox="1"/>
          <p:nvPr/>
        </p:nvSpPr>
        <p:spPr>
          <a:xfrm>
            <a:off x="777240" y="2788920"/>
            <a:ext cx="2011680" cy="411480"/>
          </a:xfrm>
          <a:prstGeom prst="rect">
            <a:avLst/>
          </a:prstGeom>
          <a:noFill/>
          <a:ln/>
        </p:spPr>
        <p:txBody>
          <a:bodyPr wrap="square" lIns="0" tIns="0" rIns="0" bIns="0" rtlCol="0" anchor="ctr"/>
          <a:lstStyle/>
          <a:p>
            <a:pPr marL="0" indent="0">
              <a:buNone/>
            </a:pPr>
            <a:r>
              <a:rPr lang="en-US" sz="1700" b="1" dirty="0">
                <a:solidFill>
                  <a:srgbClr val="231F20"/>
                </a:solidFill>
              </a:rPr>
              <a:t>Enquête budget</a:t>
            </a:r>
            <a:endParaRPr lang="en-US" sz="1700" dirty="0"/>
          </a:p>
        </p:txBody>
      </p:sp>
      <p:sp>
        <p:nvSpPr>
          <p:cNvPr id="14" name="Text 11"/>
          <p:cNvSpPr txBox="1"/>
          <p:nvPr/>
        </p:nvSpPr>
        <p:spPr>
          <a:xfrm>
            <a:off x="777240" y="3200400"/>
            <a:ext cx="2011680" cy="1097280"/>
          </a:xfrm>
          <a:prstGeom prst="rect">
            <a:avLst/>
          </a:prstGeom>
          <a:noFill/>
          <a:ln/>
        </p:spPr>
        <p:txBody>
          <a:bodyPr wrap="square" lIns="0" tIns="0" rIns="0" bIns="0" rtlCol="0" anchor="t"/>
          <a:lstStyle/>
          <a:p>
            <a:pPr marL="0" indent="0">
              <a:buNone/>
            </a:pPr>
            <a:r>
              <a:rPr lang="en-US" sz="1400" dirty="0">
                <a:solidFill>
                  <a:srgbClr val="5E6964"/>
                </a:solidFill>
              </a:rPr>
              <a:t>EHCVM 2021-2022 : ce que les ménages dépensent, poste par poste</a:t>
            </a:r>
            <a:endParaRPr lang="en-US" sz="1400" dirty="0"/>
          </a:p>
        </p:txBody>
      </p:sp>
      <p:pic>
        <p:nvPicPr>
          <p:cNvPr id="15" name="Flèche panier 1" descr="preencoded.png"/>
          <p:cNvPicPr>
            <a:picLocks noChangeAspect="1"/>
          </p:cNvPicPr>
          <p:nvPr/>
        </p:nvPicPr>
        <p:blipFill>
          <a:blip r:embed="rId4"/>
          <a:stretch>
            <a:fillRect/>
          </a:stretch>
        </p:blipFill>
        <p:spPr>
          <a:xfrm>
            <a:off x="3081528" y="2926080"/>
            <a:ext cx="237744" cy="237744"/>
          </a:xfrm>
          <a:prstGeom prst="rect">
            <a:avLst/>
          </a:prstGeom>
        </p:spPr>
      </p:pic>
      <p:sp>
        <p:nvSpPr>
          <p:cNvPr id="16" name="Carte étape panier 2"/>
          <p:cNvSpPr/>
          <p:nvPr/>
        </p:nvSpPr>
        <p:spPr>
          <a:xfrm>
            <a:off x="3383280" y="1783080"/>
            <a:ext cx="2514600" cy="2606040"/>
          </a:xfrm>
          <a:prstGeom prst="roundRect">
            <a:avLst>
              <a:gd name="adj" fmla="val 2909"/>
            </a:avLst>
          </a:prstGeom>
          <a:solidFill>
            <a:srgbClr val="F4F7F5"/>
          </a:solidFill>
          <a:ln w="9525">
            <a:solidFill>
              <a:srgbClr val="D5DED9"/>
            </a:solidFill>
            <a:prstDash val="solid"/>
          </a:ln>
        </p:spPr>
      </p:sp>
      <p:sp>
        <p:nvSpPr>
          <p:cNvPr id="17" name="Étape panier 2 cercle"/>
          <p:cNvSpPr/>
          <p:nvPr/>
        </p:nvSpPr>
        <p:spPr>
          <a:xfrm>
            <a:off x="3657600" y="2011680"/>
            <a:ext cx="685800" cy="685800"/>
          </a:xfrm>
          <a:prstGeom prst="ellipse">
            <a:avLst/>
          </a:prstGeom>
          <a:solidFill>
            <a:srgbClr val="00704A">
              <a:alpha val="22000"/>
            </a:srgbClr>
          </a:solidFill>
          <a:ln/>
        </p:spPr>
      </p:sp>
      <p:pic>
        <p:nvPicPr>
          <p:cNvPr id="18" name="Étape panier 2 icône" descr="preencoded.png"/>
          <p:cNvPicPr>
            <a:picLocks noChangeAspect="1"/>
          </p:cNvPicPr>
          <p:nvPr/>
        </p:nvPicPr>
        <p:blipFill>
          <a:blip r:embed="rId5"/>
          <a:stretch>
            <a:fillRect/>
          </a:stretch>
        </p:blipFill>
        <p:spPr>
          <a:xfrm>
            <a:off x="3829050" y="2183130"/>
            <a:ext cx="342900" cy="342900"/>
          </a:xfrm>
          <a:prstGeom prst="rect">
            <a:avLst/>
          </a:prstGeom>
        </p:spPr>
      </p:pic>
      <p:sp>
        <p:nvSpPr>
          <p:cNvPr id="19" name="Text 14"/>
          <p:cNvSpPr txBox="1"/>
          <p:nvPr/>
        </p:nvSpPr>
        <p:spPr>
          <a:xfrm>
            <a:off x="3657600" y="2788920"/>
            <a:ext cx="2011680" cy="411480"/>
          </a:xfrm>
          <a:prstGeom prst="rect">
            <a:avLst/>
          </a:prstGeom>
          <a:noFill/>
          <a:ln/>
        </p:spPr>
        <p:txBody>
          <a:bodyPr wrap="square" lIns="0" tIns="0" rIns="0" bIns="0" rtlCol="0" anchor="ctr"/>
          <a:lstStyle/>
          <a:p>
            <a:pPr marL="0" indent="0">
              <a:buNone/>
            </a:pPr>
            <a:r>
              <a:rPr lang="en-US" sz="1700" b="1" dirty="0">
                <a:solidFill>
                  <a:srgbClr val="231F20"/>
                </a:solidFill>
              </a:rPr>
              <a:t>Classification</a:t>
            </a:r>
            <a:endParaRPr lang="en-US" sz="1700" dirty="0"/>
          </a:p>
        </p:txBody>
      </p:sp>
      <p:sp>
        <p:nvSpPr>
          <p:cNvPr id="20" name="Text 15"/>
          <p:cNvSpPr txBox="1"/>
          <p:nvPr/>
        </p:nvSpPr>
        <p:spPr>
          <a:xfrm>
            <a:off x="3657600" y="3200400"/>
            <a:ext cx="2011680" cy="1097280"/>
          </a:xfrm>
          <a:prstGeom prst="rect">
            <a:avLst/>
          </a:prstGeom>
          <a:noFill/>
          <a:ln/>
        </p:spPr>
        <p:txBody>
          <a:bodyPr wrap="square" lIns="0" tIns="0" rIns="0" bIns="0" rtlCol="0" anchor="t"/>
          <a:lstStyle/>
          <a:p>
            <a:pPr marL="0" indent="0">
              <a:buNone/>
            </a:pPr>
            <a:r>
              <a:rPr lang="en-US" sz="1400" dirty="0">
                <a:solidFill>
                  <a:srgbClr val="5E6964"/>
                </a:solidFill>
              </a:rPr>
              <a:t>Dépenses codées dans une nomenclature tirée de la COICOP 2018 : 13 divisions</a:t>
            </a:r>
            <a:endParaRPr lang="en-US" sz="1400" dirty="0"/>
          </a:p>
        </p:txBody>
      </p:sp>
      <p:pic>
        <p:nvPicPr>
          <p:cNvPr id="21" name="Flèche panier 2" descr="preencoded.png"/>
          <p:cNvPicPr>
            <a:picLocks noChangeAspect="1"/>
          </p:cNvPicPr>
          <p:nvPr/>
        </p:nvPicPr>
        <p:blipFill>
          <a:blip r:embed="rId4"/>
          <a:stretch>
            <a:fillRect/>
          </a:stretch>
        </p:blipFill>
        <p:spPr>
          <a:xfrm>
            <a:off x="5961888" y="2926080"/>
            <a:ext cx="237744" cy="237744"/>
          </a:xfrm>
          <a:prstGeom prst="rect">
            <a:avLst/>
          </a:prstGeom>
        </p:spPr>
      </p:pic>
      <p:sp>
        <p:nvSpPr>
          <p:cNvPr id="22" name="Carte étape panier 3"/>
          <p:cNvSpPr/>
          <p:nvPr/>
        </p:nvSpPr>
        <p:spPr>
          <a:xfrm>
            <a:off x="6263640" y="1783080"/>
            <a:ext cx="2514600" cy="2606040"/>
          </a:xfrm>
          <a:prstGeom prst="roundRect">
            <a:avLst>
              <a:gd name="adj" fmla="val 2909"/>
            </a:avLst>
          </a:prstGeom>
          <a:solidFill>
            <a:srgbClr val="F4F7F5"/>
          </a:solidFill>
          <a:ln w="9525">
            <a:solidFill>
              <a:srgbClr val="D5DED9"/>
            </a:solidFill>
            <a:prstDash val="solid"/>
          </a:ln>
        </p:spPr>
      </p:sp>
      <p:sp>
        <p:nvSpPr>
          <p:cNvPr id="23" name="Étape panier 3 cercle"/>
          <p:cNvSpPr/>
          <p:nvPr/>
        </p:nvSpPr>
        <p:spPr>
          <a:xfrm>
            <a:off x="6537960" y="2011680"/>
            <a:ext cx="685800" cy="685800"/>
          </a:xfrm>
          <a:prstGeom prst="ellipse">
            <a:avLst/>
          </a:prstGeom>
          <a:solidFill>
            <a:srgbClr val="00704A">
              <a:alpha val="22000"/>
            </a:srgbClr>
          </a:solidFill>
          <a:ln/>
        </p:spPr>
      </p:sp>
      <p:pic>
        <p:nvPicPr>
          <p:cNvPr id="24" name="Étape panier 3 icône" descr="preencoded.png"/>
          <p:cNvPicPr>
            <a:picLocks noChangeAspect="1"/>
          </p:cNvPicPr>
          <p:nvPr/>
        </p:nvPicPr>
        <p:blipFill>
          <a:blip r:embed="rId6"/>
          <a:stretch>
            <a:fillRect/>
          </a:stretch>
        </p:blipFill>
        <p:spPr>
          <a:xfrm>
            <a:off x="6709410" y="2183130"/>
            <a:ext cx="342900" cy="342900"/>
          </a:xfrm>
          <a:prstGeom prst="rect">
            <a:avLst/>
          </a:prstGeom>
        </p:spPr>
      </p:pic>
      <p:sp>
        <p:nvSpPr>
          <p:cNvPr id="25" name="Text 18"/>
          <p:cNvSpPr txBox="1"/>
          <p:nvPr/>
        </p:nvSpPr>
        <p:spPr>
          <a:xfrm>
            <a:off x="6537960" y="2788920"/>
            <a:ext cx="2011680" cy="411480"/>
          </a:xfrm>
          <a:prstGeom prst="rect">
            <a:avLst/>
          </a:prstGeom>
          <a:noFill/>
          <a:ln/>
        </p:spPr>
        <p:txBody>
          <a:bodyPr wrap="square" lIns="0" tIns="0" rIns="0" bIns="0" rtlCol="0" anchor="ctr"/>
          <a:lstStyle/>
          <a:p>
            <a:pPr marL="0" indent="0">
              <a:buNone/>
            </a:pPr>
            <a:r>
              <a:rPr lang="en-US" sz="1700" b="1" dirty="0">
                <a:solidFill>
                  <a:srgbClr val="231F20"/>
                </a:solidFill>
              </a:rPr>
              <a:t>Pondérations</a:t>
            </a:r>
            <a:endParaRPr lang="en-US" sz="1700" dirty="0"/>
          </a:p>
        </p:txBody>
      </p:sp>
      <p:sp>
        <p:nvSpPr>
          <p:cNvPr id="26" name="Text 19"/>
          <p:cNvSpPr txBox="1"/>
          <p:nvPr/>
        </p:nvSpPr>
        <p:spPr>
          <a:xfrm>
            <a:off x="6537960" y="3200400"/>
            <a:ext cx="2011680" cy="1097280"/>
          </a:xfrm>
          <a:prstGeom prst="rect">
            <a:avLst/>
          </a:prstGeom>
          <a:noFill/>
          <a:ln/>
        </p:spPr>
        <p:txBody>
          <a:bodyPr wrap="square" lIns="0" tIns="0" rIns="0" bIns="0" rtlCol="0" anchor="t"/>
          <a:lstStyle/>
          <a:p>
            <a:pPr marL="0" indent="0">
              <a:buNone/>
            </a:pPr>
            <a:r>
              <a:rPr lang="en-US" sz="1400" dirty="0">
                <a:solidFill>
                  <a:srgbClr val="5E6964"/>
                </a:solidFill>
              </a:rPr>
              <a:t>Part de chaque poste dans la dépense totale, sur 10 000</a:t>
            </a:r>
            <a:endParaRPr lang="en-US" sz="1400" dirty="0"/>
          </a:p>
        </p:txBody>
      </p:sp>
      <p:pic>
        <p:nvPicPr>
          <p:cNvPr id="27" name="Flèche panier 3" descr="preencoded.png"/>
          <p:cNvPicPr>
            <a:picLocks noChangeAspect="1"/>
          </p:cNvPicPr>
          <p:nvPr/>
        </p:nvPicPr>
        <p:blipFill>
          <a:blip r:embed="rId4"/>
          <a:stretch>
            <a:fillRect/>
          </a:stretch>
        </p:blipFill>
        <p:spPr>
          <a:xfrm>
            <a:off x="8842248" y="2926080"/>
            <a:ext cx="237744" cy="237744"/>
          </a:xfrm>
          <a:prstGeom prst="rect">
            <a:avLst/>
          </a:prstGeom>
        </p:spPr>
      </p:pic>
      <p:sp>
        <p:nvSpPr>
          <p:cNvPr id="28" name="Carte étape panier 4"/>
          <p:cNvSpPr/>
          <p:nvPr/>
        </p:nvSpPr>
        <p:spPr>
          <a:xfrm>
            <a:off x="9144000" y="1783080"/>
            <a:ext cx="2514600" cy="2606040"/>
          </a:xfrm>
          <a:prstGeom prst="roundRect">
            <a:avLst>
              <a:gd name="adj" fmla="val 2909"/>
            </a:avLst>
          </a:prstGeom>
          <a:solidFill>
            <a:srgbClr val="E8F5EF"/>
          </a:solidFill>
          <a:ln w="19050">
            <a:solidFill>
              <a:srgbClr val="00A86A"/>
            </a:solidFill>
            <a:prstDash val="solid"/>
          </a:ln>
        </p:spPr>
      </p:sp>
      <p:sp>
        <p:nvSpPr>
          <p:cNvPr id="29" name="Étape panier 4 cercle"/>
          <p:cNvSpPr/>
          <p:nvPr/>
        </p:nvSpPr>
        <p:spPr>
          <a:xfrm>
            <a:off x="9418320" y="2011680"/>
            <a:ext cx="685800" cy="685800"/>
          </a:xfrm>
          <a:prstGeom prst="ellipse">
            <a:avLst/>
          </a:prstGeom>
          <a:solidFill>
            <a:srgbClr val="00A86A">
              <a:alpha val="22000"/>
            </a:srgbClr>
          </a:solidFill>
          <a:ln/>
        </p:spPr>
      </p:sp>
      <p:pic>
        <p:nvPicPr>
          <p:cNvPr id="30" name="Étape panier 4 icône" descr="preencoded.png"/>
          <p:cNvPicPr>
            <a:picLocks noChangeAspect="1"/>
          </p:cNvPicPr>
          <p:nvPr/>
        </p:nvPicPr>
        <p:blipFill>
          <a:blip r:embed="rId7"/>
          <a:stretch>
            <a:fillRect/>
          </a:stretch>
        </p:blipFill>
        <p:spPr>
          <a:xfrm>
            <a:off x="9589770" y="2183130"/>
            <a:ext cx="342900" cy="342900"/>
          </a:xfrm>
          <a:prstGeom prst="rect">
            <a:avLst/>
          </a:prstGeom>
        </p:spPr>
      </p:pic>
      <p:sp>
        <p:nvSpPr>
          <p:cNvPr id="31" name="Text 22"/>
          <p:cNvSpPr txBox="1"/>
          <p:nvPr/>
        </p:nvSpPr>
        <p:spPr>
          <a:xfrm>
            <a:off x="9418320" y="2788920"/>
            <a:ext cx="2011680" cy="411480"/>
          </a:xfrm>
          <a:prstGeom prst="rect">
            <a:avLst/>
          </a:prstGeom>
          <a:noFill/>
          <a:ln/>
        </p:spPr>
        <p:txBody>
          <a:bodyPr wrap="square" lIns="0" tIns="0" rIns="0" bIns="0" rtlCol="0" anchor="ctr"/>
          <a:lstStyle/>
          <a:p>
            <a:pPr marL="0" indent="0">
              <a:buNone/>
            </a:pPr>
            <a:r>
              <a:rPr lang="en-US" sz="1700" b="1" dirty="0">
                <a:solidFill>
                  <a:srgbClr val="231F20"/>
                </a:solidFill>
              </a:rPr>
              <a:t>Variétés</a:t>
            </a:r>
            <a:endParaRPr lang="en-US" sz="1700" dirty="0"/>
          </a:p>
        </p:txBody>
      </p:sp>
      <p:sp>
        <p:nvSpPr>
          <p:cNvPr id="32" name="Text 23"/>
          <p:cNvSpPr txBox="1"/>
          <p:nvPr/>
        </p:nvSpPr>
        <p:spPr>
          <a:xfrm>
            <a:off x="9418320" y="3200400"/>
            <a:ext cx="2011680" cy="1097280"/>
          </a:xfrm>
          <a:prstGeom prst="rect">
            <a:avLst/>
          </a:prstGeom>
          <a:noFill/>
          <a:ln/>
        </p:spPr>
        <p:txBody>
          <a:bodyPr wrap="square" lIns="0" tIns="0" rIns="0" bIns="0" rtlCol="0" anchor="t"/>
          <a:lstStyle/>
          <a:p>
            <a:pPr marL="0" indent="0">
              <a:buNone/>
            </a:pPr>
            <a:r>
              <a:rPr lang="en-US" sz="1400" dirty="0">
                <a:solidFill>
                  <a:srgbClr val="5E6964"/>
                </a:solidFill>
              </a:rPr>
              <a:t>Produits précis suivis chaque mois : « riz brisé importé, 1 kg »</a:t>
            </a:r>
            <a:endParaRPr lang="en-US" sz="1400" dirty="0"/>
          </a:p>
        </p:txBody>
      </p:sp>
      <p:sp>
        <p:nvSpPr>
          <p:cNvPr id="33" name="Text 24"/>
          <p:cNvSpPr txBox="1"/>
          <p:nvPr/>
        </p:nvSpPr>
        <p:spPr>
          <a:xfrm>
            <a:off x="502920" y="4617720"/>
            <a:ext cx="10972800" cy="411480"/>
          </a:xfrm>
          <a:prstGeom prst="rect">
            <a:avLst/>
          </a:prstGeom>
          <a:noFill/>
          <a:ln/>
        </p:spPr>
        <p:txBody>
          <a:bodyPr wrap="square" lIns="0" tIns="0" rIns="0" bIns="0" rtlCol="0" anchor="ctr"/>
          <a:lstStyle/>
          <a:p>
            <a:pPr marL="0" indent="0">
              <a:buNone/>
            </a:pPr>
            <a:r>
              <a:rPr lang="en-US" sz="1800" b="1" dirty="0">
                <a:solidFill>
                  <a:srgbClr val="231F20"/>
                </a:solidFill>
              </a:rPr>
              <a:t>Trois règles pour un bon panier</a:t>
            </a:r>
            <a:endParaRPr lang="en-US" sz="1800" dirty="0"/>
          </a:p>
        </p:txBody>
      </p:sp>
      <p:sp>
        <p:nvSpPr>
          <p:cNvPr id="34" name="Text 25"/>
          <p:cNvSpPr txBox="1"/>
          <p:nvPr/>
        </p:nvSpPr>
        <p:spPr>
          <a:xfrm>
            <a:off x="502920" y="5029200"/>
            <a:ext cx="11155680" cy="12801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5E6964"/>
                </a:solidFill>
              </a:rPr>
              <a:t>Représentatif : les variétés retenues reflètent ce que les ménages achètent vraiment, y compris sur les marchés.</a:t>
            </a:r>
            <a:endParaRPr lang="en-US" sz="1500" dirty="0"/>
          </a:p>
          <a:p>
            <a:pPr marL="342900" indent="-342900">
              <a:spcAft>
                <a:spcPts val="400"/>
              </a:spcAft>
              <a:buSzPct val="100000"/>
              <a:buChar char="•"/>
            </a:pPr>
            <a:r>
              <a:rPr lang="en-US" sz="1500" dirty="0">
                <a:solidFill>
                  <a:srgbClr val="5E6964"/>
                </a:solidFill>
              </a:rPr>
              <a:t>Stable mais actualisé : le panier est fixe entre deux changements de base, puis renouvelé pour suivre la consommation.</a:t>
            </a:r>
            <a:endParaRPr lang="en-US" sz="1500" dirty="0"/>
          </a:p>
          <a:p>
            <a:pPr marL="342900" indent="-342900">
              <a:spcAft>
                <a:spcPts val="400"/>
              </a:spcAft>
              <a:buSzPct val="100000"/>
              <a:buChar char="•"/>
            </a:pPr>
            <a:r>
              <a:rPr lang="en-US" sz="1500" dirty="0">
                <a:solidFill>
                  <a:srgbClr val="5E6964"/>
                </a:solidFill>
              </a:rPr>
              <a:t>Traçable : chaque variété est rattachée à une sous-classe COICOP, ce qui garantit la comparabilité internationale.</a:t>
            </a:r>
            <a:endParaRPr lang="en-US" sz="1500" dirty="0"/>
          </a:p>
        </p:txBody>
      </p:sp>
      <p:sp>
        <p:nvSpPr>
          <p:cNvPr id="35"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02 · LE PANIER ET LA COICOP 2018</a:t>
            </a:r>
            <a:endParaRPr lang="en-US" sz="1200" dirty="0"/>
          </a:p>
        </p:txBody>
      </p:sp>
      <p:sp>
        <p:nvSpPr>
          <p:cNvPr id="3" name="Point de progression 1"/>
          <p:cNvSpPr/>
          <p:nvPr/>
        </p:nvSpPr>
        <p:spPr>
          <a:xfrm>
            <a:off x="10561320" y="365760"/>
            <a:ext cx="128016" cy="128016"/>
          </a:xfrm>
          <a:prstGeom prst="ellipse">
            <a:avLst/>
          </a:prstGeom>
          <a:solidFill>
            <a:srgbClr val="D5DED9"/>
          </a:solidFill>
          <a:ln/>
        </p:spPr>
      </p:sp>
      <p:sp>
        <p:nvSpPr>
          <p:cNvPr id="4" name="Point de progression 2"/>
          <p:cNvSpPr/>
          <p:nvPr/>
        </p:nvSpPr>
        <p:spPr>
          <a:xfrm>
            <a:off x="10789920" y="365760"/>
            <a:ext cx="128016" cy="128016"/>
          </a:xfrm>
          <a:prstGeom prst="ellipse">
            <a:avLst/>
          </a:prstGeom>
          <a:solidFill>
            <a:srgbClr val="00704A"/>
          </a:solidFill>
          <a:ln/>
        </p:spPr>
      </p:sp>
      <p:sp>
        <p:nvSpPr>
          <p:cNvPr id="5" name="Point de progression 3"/>
          <p:cNvSpPr/>
          <p:nvPr/>
        </p:nvSpPr>
        <p:spPr>
          <a:xfrm>
            <a:off x="11018520" y="365760"/>
            <a:ext cx="128016" cy="128016"/>
          </a:xfrm>
          <a:prstGeom prst="ellipse">
            <a:avLst/>
          </a:prstGeom>
          <a:solidFill>
            <a:srgbClr val="D5DED9"/>
          </a:solidFill>
          <a:ln/>
        </p:spPr>
      </p:sp>
      <p:sp>
        <p:nvSpPr>
          <p:cNvPr id="6" name="Point de progression 4"/>
          <p:cNvSpPr/>
          <p:nvPr/>
        </p:nvSpPr>
        <p:spPr>
          <a:xfrm>
            <a:off x="11247120" y="365760"/>
            <a:ext cx="128016" cy="128016"/>
          </a:xfrm>
          <a:prstGeom prst="ellipse">
            <a:avLst/>
          </a:prstGeom>
          <a:solidFill>
            <a:srgbClr val="D5DED9"/>
          </a:solidFill>
          <a:ln/>
        </p:spPr>
      </p:sp>
      <p:sp>
        <p:nvSpPr>
          <p:cNvPr id="7" name="Point de progression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Les pondérations : un panier très concentré</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Poids des 13 divisions dans l'IHPC du Sénégal, base 2023, en % de la dépense</a:t>
            </a:r>
            <a:endParaRPr lang="en-US" sz="1500" dirty="0"/>
          </a:p>
        </p:txBody>
      </p:sp>
      <p:sp>
        <p:nvSpPr>
          <p:cNvPr id="10" name="Cadre graphique pondérations"/>
          <p:cNvSpPr/>
          <p:nvPr/>
        </p:nvSpPr>
        <p:spPr>
          <a:xfrm>
            <a:off x="502920" y="1645920"/>
            <a:ext cx="7315200" cy="4434840"/>
          </a:xfrm>
          <a:prstGeom prst="roundRect">
            <a:avLst>
              <a:gd name="adj" fmla="val 1649"/>
            </a:avLst>
          </a:prstGeom>
          <a:solidFill>
            <a:srgbClr val="F4F7F5"/>
          </a:solidFill>
          <a:ln w="9525">
            <a:solidFill>
              <a:srgbClr val="D5DED9"/>
            </a:solidFill>
            <a:prstDash val="solid"/>
          </a:ln>
        </p:spPr>
      </p:sp>
      <p:graphicFrame>
        <p:nvGraphicFramePr>
          <p:cNvPr id="11" name="Graphique pondérations Sénégal"/>
          <p:cNvGraphicFramePr/>
          <p:nvPr/>
        </p:nvGraphicFramePr>
        <p:xfrm>
          <a:off x="594360" y="1691640"/>
          <a:ext cx="7132320" cy="434340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 9"/>
          <p:cNvSpPr txBox="1"/>
          <p:nvPr/>
        </p:nvSpPr>
        <p:spPr>
          <a:xfrm>
            <a:off x="8046720" y="1783080"/>
            <a:ext cx="1691640" cy="914400"/>
          </a:xfrm>
          <a:prstGeom prst="rect">
            <a:avLst/>
          </a:prstGeom>
          <a:noFill/>
          <a:ln/>
        </p:spPr>
        <p:txBody>
          <a:bodyPr wrap="square" lIns="0" tIns="0" rIns="0" bIns="0" rtlCol="0" anchor="ctr"/>
          <a:lstStyle/>
          <a:p>
            <a:pPr marL="0" indent="0">
              <a:buNone/>
            </a:pPr>
            <a:r>
              <a:rPr lang="en-US" sz="3400" b="1" dirty="0">
                <a:solidFill>
                  <a:srgbClr val="00A86A"/>
                </a:solidFill>
              </a:rPr>
              <a:t>45,5 %</a:t>
            </a:r>
            <a:endParaRPr lang="en-US" sz="3400" dirty="0"/>
          </a:p>
        </p:txBody>
      </p:sp>
      <p:sp>
        <p:nvSpPr>
          <p:cNvPr id="13" name="Text 10"/>
          <p:cNvSpPr txBox="1"/>
          <p:nvPr/>
        </p:nvSpPr>
        <p:spPr>
          <a:xfrm>
            <a:off x="9738360" y="1783080"/>
            <a:ext cx="1965960" cy="914400"/>
          </a:xfrm>
          <a:prstGeom prst="rect">
            <a:avLst/>
          </a:prstGeom>
          <a:noFill/>
          <a:ln/>
        </p:spPr>
        <p:txBody>
          <a:bodyPr wrap="square" lIns="0" tIns="0" rIns="0" bIns="0" rtlCol="0" anchor="ctr"/>
          <a:lstStyle/>
          <a:p>
            <a:pPr marL="0" indent="0">
              <a:buNone/>
            </a:pPr>
            <a:r>
              <a:rPr lang="en-US" sz="1300" dirty="0">
                <a:solidFill>
                  <a:srgbClr val="5E6964"/>
                </a:solidFill>
              </a:rPr>
              <a:t>pour l'alimentation : près de la moitié du panier</a:t>
            </a:r>
            <a:endParaRPr lang="en-US" sz="1300" dirty="0"/>
          </a:p>
        </p:txBody>
      </p:sp>
      <p:sp>
        <p:nvSpPr>
          <p:cNvPr id="14" name="Text 11"/>
          <p:cNvSpPr txBox="1"/>
          <p:nvPr/>
        </p:nvSpPr>
        <p:spPr>
          <a:xfrm>
            <a:off x="8046720" y="3154680"/>
            <a:ext cx="1691640" cy="914400"/>
          </a:xfrm>
          <a:prstGeom prst="rect">
            <a:avLst/>
          </a:prstGeom>
          <a:noFill/>
          <a:ln/>
        </p:spPr>
        <p:txBody>
          <a:bodyPr wrap="square" lIns="0" tIns="0" rIns="0" bIns="0" rtlCol="0" anchor="ctr"/>
          <a:lstStyle/>
          <a:p>
            <a:pPr marL="0" indent="0">
              <a:buNone/>
            </a:pPr>
            <a:r>
              <a:rPr lang="en-US" sz="3400" b="1" dirty="0">
                <a:solidFill>
                  <a:srgbClr val="00704A"/>
                </a:solidFill>
              </a:rPr>
              <a:t>64 %</a:t>
            </a:r>
            <a:endParaRPr lang="en-US" sz="3400" dirty="0"/>
          </a:p>
        </p:txBody>
      </p:sp>
      <p:sp>
        <p:nvSpPr>
          <p:cNvPr id="15" name="Text 12"/>
          <p:cNvSpPr txBox="1"/>
          <p:nvPr/>
        </p:nvSpPr>
        <p:spPr>
          <a:xfrm>
            <a:off x="9738360" y="3154680"/>
            <a:ext cx="1965960" cy="914400"/>
          </a:xfrm>
          <a:prstGeom prst="rect">
            <a:avLst/>
          </a:prstGeom>
          <a:noFill/>
          <a:ln/>
        </p:spPr>
        <p:txBody>
          <a:bodyPr wrap="square" lIns="0" tIns="0" rIns="0" bIns="0" rtlCol="0" anchor="ctr"/>
          <a:lstStyle/>
          <a:p>
            <a:pPr marL="0" indent="0">
              <a:buNone/>
            </a:pPr>
            <a:r>
              <a:rPr lang="en-US" sz="1300" dirty="0">
                <a:solidFill>
                  <a:srgbClr val="5E6964"/>
                </a:solidFill>
              </a:rPr>
              <a:t>dans trois divisions : alimentation, restaurants, logement-énergie</a:t>
            </a:r>
            <a:endParaRPr lang="en-US" sz="1300" dirty="0"/>
          </a:p>
        </p:txBody>
      </p:sp>
      <p:sp>
        <p:nvSpPr>
          <p:cNvPr id="16" name="Text 13"/>
          <p:cNvSpPr txBox="1"/>
          <p:nvPr/>
        </p:nvSpPr>
        <p:spPr>
          <a:xfrm>
            <a:off x="8046720" y="4526280"/>
            <a:ext cx="1691640" cy="914400"/>
          </a:xfrm>
          <a:prstGeom prst="rect">
            <a:avLst/>
          </a:prstGeom>
          <a:noFill/>
          <a:ln/>
        </p:spPr>
        <p:txBody>
          <a:bodyPr wrap="square" lIns="0" tIns="0" rIns="0" bIns="0" rtlCol="0" anchor="ctr"/>
          <a:lstStyle/>
          <a:p>
            <a:pPr marL="0" indent="0">
              <a:buNone/>
            </a:pPr>
            <a:r>
              <a:rPr lang="en-US" sz="3400" b="1" dirty="0">
                <a:solidFill>
                  <a:srgbClr val="0E7C86"/>
                </a:solidFill>
              </a:rPr>
              <a:t>3 %</a:t>
            </a:r>
            <a:endParaRPr lang="en-US" sz="3400" dirty="0"/>
          </a:p>
        </p:txBody>
      </p:sp>
      <p:sp>
        <p:nvSpPr>
          <p:cNvPr id="17" name="Text 14"/>
          <p:cNvSpPr txBox="1"/>
          <p:nvPr/>
        </p:nvSpPr>
        <p:spPr>
          <a:xfrm>
            <a:off x="9738360" y="4526280"/>
            <a:ext cx="1965960" cy="914400"/>
          </a:xfrm>
          <a:prstGeom prst="rect">
            <a:avLst/>
          </a:prstGeom>
          <a:noFill/>
          <a:ln/>
        </p:spPr>
        <p:txBody>
          <a:bodyPr wrap="square" lIns="0" tIns="0" rIns="0" bIns="0" rtlCol="0" anchor="ctr"/>
          <a:lstStyle/>
          <a:p>
            <a:pPr marL="0" indent="0">
              <a:buNone/>
            </a:pPr>
            <a:r>
              <a:rPr lang="en-US" sz="1300" dirty="0">
                <a:solidFill>
                  <a:srgbClr val="5E6964"/>
                </a:solidFill>
              </a:rPr>
              <a:t>pour les quatre plus petites : assurances, alcool-tabac, loisirs, enseignement</a:t>
            </a:r>
            <a:endParaRPr lang="en-US" sz="1300" dirty="0"/>
          </a:p>
        </p:txBody>
      </p:sp>
      <p:sp>
        <p:nvSpPr>
          <p:cNvPr id="18" name="Text 15"/>
          <p:cNvSpPr txBox="1"/>
          <p:nvPr/>
        </p:nvSpPr>
        <p:spPr>
          <a:xfrm>
            <a:off x="502920" y="6108192"/>
            <a:ext cx="10607040" cy="274320"/>
          </a:xfrm>
          <a:prstGeom prst="rect">
            <a:avLst/>
          </a:prstGeom>
          <a:noFill/>
          <a:ln/>
        </p:spPr>
        <p:txBody>
          <a:bodyPr wrap="square" lIns="0" tIns="0" rIns="0" bIns="0" rtlCol="0" anchor="ctr"/>
          <a:lstStyle/>
          <a:p>
            <a:pPr marL="0" indent="0">
              <a:buNone/>
            </a:pPr>
            <a:r>
              <a:rPr lang="en-US" sz="1000" i="1" dirty="0">
                <a:solidFill>
                  <a:srgbClr val="5E6964"/>
                </a:solidFill>
              </a:rPr>
              <a:t>Source : ANSD, IHPC mars 2026, tableau 1 (pondérations sur 10 000, converties en %).</a:t>
            </a:r>
            <a:endParaRPr lang="en-US" sz="1000" dirty="0"/>
          </a:p>
        </p:txBody>
      </p:sp>
      <p:sp>
        <p:nvSpPr>
          <p:cNvPr id="25"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11</a:t>
            </a:fld>
            <a:endParaRPr lang="en-US"/>
          </a:p>
        </p:txBody>
      </p:sp>
    </p:spTree>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02 · LE PANIER ET LA COICOP 2018</a:t>
            </a:r>
            <a:endParaRPr lang="en-US" sz="1200" dirty="0"/>
          </a:p>
        </p:txBody>
      </p:sp>
      <p:sp>
        <p:nvSpPr>
          <p:cNvPr id="3" name="Point de progression 1"/>
          <p:cNvSpPr/>
          <p:nvPr/>
        </p:nvSpPr>
        <p:spPr>
          <a:xfrm>
            <a:off x="10561320" y="365760"/>
            <a:ext cx="128016" cy="128016"/>
          </a:xfrm>
          <a:prstGeom prst="ellipse">
            <a:avLst/>
          </a:prstGeom>
          <a:solidFill>
            <a:srgbClr val="D5DED9"/>
          </a:solidFill>
          <a:ln/>
        </p:spPr>
      </p:sp>
      <p:sp>
        <p:nvSpPr>
          <p:cNvPr id="4" name="Point de progression 2"/>
          <p:cNvSpPr/>
          <p:nvPr/>
        </p:nvSpPr>
        <p:spPr>
          <a:xfrm>
            <a:off x="10789920" y="365760"/>
            <a:ext cx="128016" cy="128016"/>
          </a:xfrm>
          <a:prstGeom prst="ellipse">
            <a:avLst/>
          </a:prstGeom>
          <a:solidFill>
            <a:srgbClr val="00704A"/>
          </a:solidFill>
          <a:ln/>
        </p:spPr>
      </p:sp>
      <p:sp>
        <p:nvSpPr>
          <p:cNvPr id="5" name="Point de progression 3"/>
          <p:cNvSpPr/>
          <p:nvPr/>
        </p:nvSpPr>
        <p:spPr>
          <a:xfrm>
            <a:off x="11018520" y="365760"/>
            <a:ext cx="128016" cy="128016"/>
          </a:xfrm>
          <a:prstGeom prst="ellipse">
            <a:avLst/>
          </a:prstGeom>
          <a:solidFill>
            <a:srgbClr val="D5DED9"/>
          </a:solidFill>
          <a:ln/>
        </p:spPr>
      </p:sp>
      <p:sp>
        <p:nvSpPr>
          <p:cNvPr id="6" name="Point de progression 4"/>
          <p:cNvSpPr/>
          <p:nvPr/>
        </p:nvSpPr>
        <p:spPr>
          <a:xfrm>
            <a:off x="11247120" y="365760"/>
            <a:ext cx="128016" cy="128016"/>
          </a:xfrm>
          <a:prstGeom prst="ellipse">
            <a:avLst/>
          </a:prstGeom>
          <a:solidFill>
            <a:srgbClr val="D5DED9"/>
          </a:solidFill>
          <a:ln/>
        </p:spPr>
      </p:sp>
      <p:sp>
        <p:nvSpPr>
          <p:cNvPr id="7" name="Point de progression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La COICOP 2018, la grille qui structure le panier</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Quatre niveaux emboîtés et un type de produit pour chaque sous-classe</a:t>
            </a:r>
            <a:endParaRPr lang="en-US" sz="1500" dirty="0"/>
          </a:p>
        </p:txBody>
      </p:sp>
      <p:sp>
        <p:nvSpPr>
          <p:cNvPr id="10" name="Code niveau 1"/>
          <p:cNvSpPr txBox="1"/>
          <p:nvPr/>
        </p:nvSpPr>
        <p:spPr>
          <a:xfrm>
            <a:off x="502920" y="1783080"/>
            <a:ext cx="1600200" cy="777240"/>
          </a:xfrm>
          <a:prstGeom prst="roundRect">
            <a:avLst>
              <a:gd name="adj" fmla="val 9412"/>
            </a:avLst>
          </a:prstGeom>
          <a:solidFill>
            <a:srgbClr val="00553A"/>
          </a:solidFill>
          <a:ln/>
        </p:spPr>
        <p:txBody>
          <a:bodyPr wrap="square" lIns="0" tIns="0" rIns="0" bIns="0" rtlCol="0" anchor="ctr"/>
          <a:lstStyle/>
          <a:p>
            <a:pPr marL="0" indent="0" algn="ctr">
              <a:buNone/>
            </a:pPr>
            <a:r>
              <a:rPr lang="en-US" sz="2000" b="1" dirty="0">
                <a:solidFill>
                  <a:srgbClr val="FFFFFF"/>
                </a:solidFill>
              </a:rPr>
              <a:t>01</a:t>
            </a:r>
            <a:endParaRPr lang="en-US" sz="2000" dirty="0"/>
          </a:p>
        </p:txBody>
      </p:sp>
      <p:sp>
        <p:nvSpPr>
          <p:cNvPr id="11" name="Text 9"/>
          <p:cNvSpPr txBox="1"/>
          <p:nvPr/>
        </p:nvSpPr>
        <p:spPr>
          <a:xfrm>
            <a:off x="2286000" y="1783080"/>
            <a:ext cx="4572000" cy="384048"/>
          </a:xfrm>
          <a:prstGeom prst="rect">
            <a:avLst/>
          </a:prstGeom>
          <a:noFill/>
          <a:ln/>
        </p:spPr>
        <p:txBody>
          <a:bodyPr wrap="square" lIns="0" tIns="0" rIns="0" bIns="0" rtlCol="0" anchor="ctr"/>
          <a:lstStyle/>
          <a:p>
            <a:pPr marL="0" indent="0">
              <a:buNone/>
            </a:pPr>
            <a:r>
              <a:rPr lang="en-US" sz="1900" b="1" dirty="0">
                <a:solidFill>
                  <a:srgbClr val="231F20"/>
                </a:solidFill>
              </a:rPr>
              <a:t>Division  </a:t>
            </a:r>
            <a:r>
              <a:rPr lang="en-US" sz="1300" dirty="0">
                <a:solidFill>
                  <a:srgbClr val="5E6964"/>
                </a:solidFill>
              </a:rPr>
              <a:t>15 postes</a:t>
            </a:r>
            <a:endParaRPr lang="en-US" sz="1900" dirty="0"/>
          </a:p>
        </p:txBody>
      </p:sp>
      <p:sp>
        <p:nvSpPr>
          <p:cNvPr id="12" name="Text 10"/>
          <p:cNvSpPr txBox="1"/>
          <p:nvPr/>
        </p:nvSpPr>
        <p:spPr>
          <a:xfrm>
            <a:off x="2286000" y="2167128"/>
            <a:ext cx="4572000" cy="384048"/>
          </a:xfrm>
          <a:prstGeom prst="rect">
            <a:avLst/>
          </a:prstGeom>
          <a:noFill/>
          <a:ln/>
        </p:spPr>
        <p:txBody>
          <a:bodyPr wrap="square" lIns="0" tIns="0" rIns="0" bIns="0" rtlCol="0" anchor="ctr"/>
          <a:lstStyle/>
          <a:p>
            <a:pPr marL="0" indent="0">
              <a:buNone/>
            </a:pPr>
            <a:r>
              <a:rPr lang="en-US" sz="1400" dirty="0">
                <a:solidFill>
                  <a:srgbClr val="5E6964"/>
                </a:solidFill>
              </a:rPr>
              <a:t>Produits alimentaires et boissons non alcoolisées</a:t>
            </a:r>
            <a:endParaRPr lang="en-US" sz="1400" dirty="0"/>
          </a:p>
        </p:txBody>
      </p:sp>
      <p:sp>
        <p:nvSpPr>
          <p:cNvPr id="13" name="Code niveau 2"/>
          <p:cNvSpPr txBox="1"/>
          <p:nvPr/>
        </p:nvSpPr>
        <p:spPr>
          <a:xfrm>
            <a:off x="914400" y="2807208"/>
            <a:ext cx="1600200" cy="777240"/>
          </a:xfrm>
          <a:prstGeom prst="roundRect">
            <a:avLst>
              <a:gd name="adj" fmla="val 9412"/>
            </a:avLst>
          </a:prstGeom>
          <a:solidFill>
            <a:srgbClr val="00704A"/>
          </a:solidFill>
          <a:ln/>
        </p:spPr>
        <p:txBody>
          <a:bodyPr wrap="square" lIns="0" tIns="0" rIns="0" bIns="0" rtlCol="0" anchor="ctr"/>
          <a:lstStyle/>
          <a:p>
            <a:pPr marL="0" indent="0" algn="ctr">
              <a:buNone/>
            </a:pPr>
            <a:r>
              <a:rPr lang="en-US" sz="2000" b="1" dirty="0">
                <a:solidFill>
                  <a:srgbClr val="FFFFFF"/>
                </a:solidFill>
              </a:rPr>
              <a:t>01.1</a:t>
            </a:r>
            <a:endParaRPr lang="en-US" sz="2000" dirty="0"/>
          </a:p>
        </p:txBody>
      </p:sp>
      <p:sp>
        <p:nvSpPr>
          <p:cNvPr id="14" name="Text 12"/>
          <p:cNvSpPr txBox="1"/>
          <p:nvPr/>
        </p:nvSpPr>
        <p:spPr>
          <a:xfrm>
            <a:off x="2697480" y="2807208"/>
            <a:ext cx="4572000" cy="384048"/>
          </a:xfrm>
          <a:prstGeom prst="rect">
            <a:avLst/>
          </a:prstGeom>
          <a:noFill/>
          <a:ln/>
        </p:spPr>
        <p:txBody>
          <a:bodyPr wrap="square" lIns="0" tIns="0" rIns="0" bIns="0" rtlCol="0" anchor="ctr"/>
          <a:lstStyle/>
          <a:p>
            <a:pPr marL="0" indent="0">
              <a:buNone/>
            </a:pPr>
            <a:r>
              <a:rPr lang="en-US" sz="1900" b="1" dirty="0">
                <a:solidFill>
                  <a:srgbClr val="231F20"/>
                </a:solidFill>
              </a:rPr>
              <a:t>Groupe  </a:t>
            </a:r>
            <a:r>
              <a:rPr lang="en-US" sz="1300" dirty="0">
                <a:solidFill>
                  <a:srgbClr val="5E6964"/>
                </a:solidFill>
              </a:rPr>
              <a:t>63 postes</a:t>
            </a:r>
            <a:endParaRPr lang="en-US" sz="1900" dirty="0"/>
          </a:p>
        </p:txBody>
      </p:sp>
      <p:sp>
        <p:nvSpPr>
          <p:cNvPr id="15" name="Text 13"/>
          <p:cNvSpPr txBox="1"/>
          <p:nvPr/>
        </p:nvSpPr>
        <p:spPr>
          <a:xfrm>
            <a:off x="2697480" y="3191256"/>
            <a:ext cx="4572000" cy="384048"/>
          </a:xfrm>
          <a:prstGeom prst="rect">
            <a:avLst/>
          </a:prstGeom>
          <a:noFill/>
          <a:ln/>
        </p:spPr>
        <p:txBody>
          <a:bodyPr wrap="square" lIns="0" tIns="0" rIns="0" bIns="0" rtlCol="0" anchor="ctr"/>
          <a:lstStyle/>
          <a:p>
            <a:pPr marL="0" indent="0">
              <a:buNone/>
            </a:pPr>
            <a:r>
              <a:rPr lang="en-US" sz="1400" dirty="0">
                <a:solidFill>
                  <a:srgbClr val="5E6964"/>
                </a:solidFill>
              </a:rPr>
              <a:t>Produits alimentaires</a:t>
            </a:r>
            <a:endParaRPr lang="en-US" sz="1400" dirty="0"/>
          </a:p>
        </p:txBody>
      </p:sp>
      <p:sp>
        <p:nvSpPr>
          <p:cNvPr id="16" name="Code niveau 3"/>
          <p:cNvSpPr txBox="1"/>
          <p:nvPr/>
        </p:nvSpPr>
        <p:spPr>
          <a:xfrm>
            <a:off x="1325880" y="3831336"/>
            <a:ext cx="1600200" cy="777240"/>
          </a:xfrm>
          <a:prstGeom prst="roundRect">
            <a:avLst>
              <a:gd name="adj" fmla="val 9412"/>
            </a:avLst>
          </a:prstGeom>
          <a:solidFill>
            <a:srgbClr val="0E7C86"/>
          </a:solidFill>
          <a:ln/>
        </p:spPr>
        <p:txBody>
          <a:bodyPr wrap="square" lIns="0" tIns="0" rIns="0" bIns="0" rtlCol="0" anchor="ctr"/>
          <a:lstStyle/>
          <a:p>
            <a:pPr marL="0" indent="0" algn="ctr">
              <a:buNone/>
            </a:pPr>
            <a:r>
              <a:rPr lang="en-US" sz="2000" b="1" dirty="0">
                <a:solidFill>
                  <a:srgbClr val="FFFFFF"/>
                </a:solidFill>
              </a:rPr>
              <a:t>01.1.4</a:t>
            </a:r>
            <a:endParaRPr lang="en-US" sz="2000" dirty="0"/>
          </a:p>
        </p:txBody>
      </p:sp>
      <p:sp>
        <p:nvSpPr>
          <p:cNvPr id="17" name="Text 15"/>
          <p:cNvSpPr txBox="1"/>
          <p:nvPr/>
        </p:nvSpPr>
        <p:spPr>
          <a:xfrm>
            <a:off x="3108960" y="3831336"/>
            <a:ext cx="4572000" cy="384048"/>
          </a:xfrm>
          <a:prstGeom prst="rect">
            <a:avLst/>
          </a:prstGeom>
          <a:noFill/>
          <a:ln/>
        </p:spPr>
        <p:txBody>
          <a:bodyPr wrap="square" lIns="0" tIns="0" rIns="0" bIns="0" rtlCol="0" anchor="ctr"/>
          <a:lstStyle/>
          <a:p>
            <a:pPr marL="0" indent="0">
              <a:buNone/>
            </a:pPr>
            <a:r>
              <a:rPr lang="en-US" sz="1900" b="1" dirty="0">
                <a:solidFill>
                  <a:srgbClr val="231F20"/>
                </a:solidFill>
              </a:rPr>
              <a:t>Classe  </a:t>
            </a:r>
            <a:r>
              <a:rPr lang="en-US" sz="1300" dirty="0">
                <a:solidFill>
                  <a:srgbClr val="5E6964"/>
                </a:solidFill>
              </a:rPr>
              <a:t>186 postes</a:t>
            </a:r>
            <a:endParaRPr lang="en-US" sz="1900" dirty="0"/>
          </a:p>
        </p:txBody>
      </p:sp>
      <p:sp>
        <p:nvSpPr>
          <p:cNvPr id="18" name="Text 16"/>
          <p:cNvSpPr txBox="1"/>
          <p:nvPr/>
        </p:nvSpPr>
        <p:spPr>
          <a:xfrm>
            <a:off x="3108960" y="4215384"/>
            <a:ext cx="4572000" cy="384048"/>
          </a:xfrm>
          <a:prstGeom prst="rect">
            <a:avLst/>
          </a:prstGeom>
          <a:noFill/>
          <a:ln/>
        </p:spPr>
        <p:txBody>
          <a:bodyPr wrap="square" lIns="0" tIns="0" rIns="0" bIns="0" rtlCol="0" anchor="ctr"/>
          <a:lstStyle/>
          <a:p>
            <a:pPr marL="0" indent="0">
              <a:buNone/>
            </a:pPr>
            <a:r>
              <a:rPr lang="en-US" sz="1400" dirty="0">
                <a:solidFill>
                  <a:srgbClr val="5E6964"/>
                </a:solidFill>
              </a:rPr>
              <a:t>Lait, autres produits laitiers et œufs</a:t>
            </a:r>
            <a:endParaRPr lang="en-US" sz="1400" dirty="0"/>
          </a:p>
        </p:txBody>
      </p:sp>
      <p:sp>
        <p:nvSpPr>
          <p:cNvPr id="19" name="Code niveau 4"/>
          <p:cNvSpPr txBox="1"/>
          <p:nvPr/>
        </p:nvSpPr>
        <p:spPr>
          <a:xfrm>
            <a:off x="1737360" y="4855464"/>
            <a:ext cx="1600200" cy="777240"/>
          </a:xfrm>
          <a:prstGeom prst="roundRect">
            <a:avLst>
              <a:gd name="adj" fmla="val 9412"/>
            </a:avLst>
          </a:prstGeom>
          <a:solidFill>
            <a:srgbClr val="00A86A"/>
          </a:solidFill>
          <a:ln/>
        </p:spPr>
        <p:txBody>
          <a:bodyPr wrap="square" lIns="0" tIns="0" rIns="0" bIns="0" rtlCol="0" anchor="ctr"/>
          <a:lstStyle/>
          <a:p>
            <a:pPr marL="0" indent="0" algn="ctr">
              <a:buNone/>
            </a:pPr>
            <a:r>
              <a:rPr lang="en-US" sz="2000" b="1" dirty="0">
                <a:solidFill>
                  <a:srgbClr val="FFFFFF"/>
                </a:solidFill>
              </a:rPr>
              <a:t>01.1.4.2</a:t>
            </a:r>
            <a:endParaRPr lang="en-US" sz="2000" dirty="0"/>
          </a:p>
        </p:txBody>
      </p:sp>
      <p:sp>
        <p:nvSpPr>
          <p:cNvPr id="20" name="Text 18"/>
          <p:cNvSpPr txBox="1"/>
          <p:nvPr/>
        </p:nvSpPr>
        <p:spPr>
          <a:xfrm>
            <a:off x="3520440" y="4855464"/>
            <a:ext cx="4572000" cy="384048"/>
          </a:xfrm>
          <a:prstGeom prst="rect">
            <a:avLst/>
          </a:prstGeom>
          <a:noFill/>
          <a:ln/>
        </p:spPr>
        <p:txBody>
          <a:bodyPr wrap="square" lIns="0" tIns="0" rIns="0" bIns="0" rtlCol="0" anchor="ctr"/>
          <a:lstStyle/>
          <a:p>
            <a:pPr marL="0" indent="0">
              <a:buNone/>
            </a:pPr>
            <a:r>
              <a:rPr lang="en-US" sz="1900" b="1" dirty="0">
                <a:solidFill>
                  <a:srgbClr val="231F20"/>
                </a:solidFill>
              </a:rPr>
              <a:t>Sous-classe  </a:t>
            </a:r>
            <a:r>
              <a:rPr lang="en-US" sz="1300" b="1" dirty="0">
                <a:solidFill>
                  <a:srgbClr val="00A86A"/>
                </a:solidFill>
              </a:rPr>
              <a:t>338 postes · nouveau en 2018</a:t>
            </a:r>
            <a:endParaRPr lang="en-US" sz="1900" dirty="0"/>
          </a:p>
        </p:txBody>
      </p:sp>
      <p:sp>
        <p:nvSpPr>
          <p:cNvPr id="21" name="Text 19"/>
          <p:cNvSpPr txBox="1"/>
          <p:nvPr/>
        </p:nvSpPr>
        <p:spPr>
          <a:xfrm>
            <a:off x="3520440" y="5239512"/>
            <a:ext cx="4572000" cy="384048"/>
          </a:xfrm>
          <a:prstGeom prst="rect">
            <a:avLst/>
          </a:prstGeom>
          <a:noFill/>
          <a:ln/>
        </p:spPr>
        <p:txBody>
          <a:bodyPr wrap="square" lIns="0" tIns="0" rIns="0" bIns="0" rtlCol="0" anchor="ctr"/>
          <a:lstStyle/>
          <a:p>
            <a:pPr marL="0" indent="0">
              <a:buNone/>
            </a:pPr>
            <a:r>
              <a:rPr lang="en-US" sz="1400" dirty="0">
                <a:solidFill>
                  <a:srgbClr val="5E6964"/>
                </a:solidFill>
              </a:rPr>
              <a:t>Lait écrémé</a:t>
            </a:r>
            <a:endParaRPr lang="en-US" sz="1400" dirty="0"/>
          </a:p>
        </p:txBody>
      </p:sp>
      <p:sp>
        <p:nvSpPr>
          <p:cNvPr id="22" name="Encadré types"/>
          <p:cNvSpPr/>
          <p:nvPr/>
        </p:nvSpPr>
        <p:spPr>
          <a:xfrm>
            <a:off x="7680960" y="1691640"/>
            <a:ext cx="3977640" cy="4069080"/>
          </a:xfrm>
          <a:prstGeom prst="roundRect">
            <a:avLst>
              <a:gd name="adj" fmla="val 1839"/>
            </a:avLst>
          </a:prstGeom>
          <a:solidFill>
            <a:srgbClr val="F4F7F5"/>
          </a:solidFill>
          <a:ln w="9525">
            <a:solidFill>
              <a:srgbClr val="D5DED9"/>
            </a:solidFill>
            <a:prstDash val="solid"/>
          </a:ln>
        </p:spPr>
      </p:sp>
      <p:sp>
        <p:nvSpPr>
          <p:cNvPr id="23" name="Text 21"/>
          <p:cNvSpPr txBox="1"/>
          <p:nvPr/>
        </p:nvSpPr>
        <p:spPr>
          <a:xfrm>
            <a:off x="7909560" y="1828800"/>
            <a:ext cx="3657600" cy="365760"/>
          </a:xfrm>
          <a:prstGeom prst="rect">
            <a:avLst/>
          </a:prstGeom>
          <a:noFill/>
          <a:ln/>
        </p:spPr>
        <p:txBody>
          <a:bodyPr wrap="square" lIns="0" tIns="0" rIns="0" bIns="0" rtlCol="0" anchor="ctr"/>
          <a:lstStyle/>
          <a:p>
            <a:pPr marL="0" indent="0">
              <a:buNone/>
            </a:pPr>
            <a:r>
              <a:rPr lang="en-US" sz="1600" b="1" dirty="0">
                <a:solidFill>
                  <a:srgbClr val="231F20"/>
                </a:solidFill>
              </a:rPr>
              <a:t>Type de produit de la sous-classe</a:t>
            </a:r>
            <a:endParaRPr lang="en-US" sz="1600" dirty="0"/>
          </a:p>
        </p:txBody>
      </p:sp>
      <p:sp>
        <p:nvSpPr>
          <p:cNvPr id="24" name="Type ND"/>
          <p:cNvSpPr txBox="1"/>
          <p:nvPr/>
        </p:nvSpPr>
        <p:spPr>
          <a:xfrm>
            <a:off x="7909560" y="2331720"/>
            <a:ext cx="685800" cy="640080"/>
          </a:xfrm>
          <a:prstGeom prst="roundRect">
            <a:avLst>
              <a:gd name="adj" fmla="val 11429"/>
            </a:avLst>
          </a:prstGeom>
          <a:solidFill>
            <a:srgbClr val="B83B2E"/>
          </a:solidFill>
          <a:ln/>
        </p:spPr>
        <p:txBody>
          <a:bodyPr wrap="square" lIns="0" tIns="0" rIns="0" bIns="0" rtlCol="0" anchor="ctr"/>
          <a:lstStyle/>
          <a:p>
            <a:pPr marL="0" indent="0" algn="ctr">
              <a:buNone/>
            </a:pPr>
            <a:r>
              <a:rPr lang="en-US" sz="1800" b="1" dirty="0">
                <a:solidFill>
                  <a:srgbClr val="FFFFFF"/>
                </a:solidFill>
              </a:rPr>
              <a:t>ND</a:t>
            </a:r>
            <a:endParaRPr lang="en-US" sz="1800" dirty="0"/>
          </a:p>
        </p:txBody>
      </p:sp>
      <p:sp>
        <p:nvSpPr>
          <p:cNvPr id="25" name="Text 23"/>
          <p:cNvSpPr txBox="1"/>
          <p:nvPr/>
        </p:nvSpPr>
        <p:spPr>
          <a:xfrm>
            <a:off x="8778240" y="2331720"/>
            <a:ext cx="2743200" cy="329184"/>
          </a:xfrm>
          <a:prstGeom prst="rect">
            <a:avLst/>
          </a:prstGeom>
          <a:noFill/>
          <a:ln/>
        </p:spPr>
        <p:txBody>
          <a:bodyPr wrap="square" lIns="0" tIns="0" rIns="0" bIns="0" rtlCol="0" anchor="ctr"/>
          <a:lstStyle/>
          <a:p>
            <a:pPr marL="0" indent="0">
              <a:buNone/>
            </a:pPr>
            <a:r>
              <a:rPr lang="en-US" sz="1450" b="1" dirty="0">
                <a:solidFill>
                  <a:srgbClr val="231F20"/>
                </a:solidFill>
              </a:rPr>
              <a:t>Biens non durables</a:t>
            </a:r>
            <a:endParaRPr lang="en-US" sz="1450" dirty="0"/>
          </a:p>
        </p:txBody>
      </p:sp>
      <p:sp>
        <p:nvSpPr>
          <p:cNvPr id="26" name="Text 24"/>
          <p:cNvSpPr txBox="1"/>
          <p:nvPr/>
        </p:nvSpPr>
        <p:spPr>
          <a:xfrm>
            <a:off x="8778240" y="2660904"/>
            <a:ext cx="2743200" cy="310896"/>
          </a:xfrm>
          <a:prstGeom prst="rect">
            <a:avLst/>
          </a:prstGeom>
          <a:noFill/>
          <a:ln/>
        </p:spPr>
        <p:txBody>
          <a:bodyPr wrap="square" lIns="0" tIns="0" rIns="0" bIns="0" rtlCol="0" anchor="ctr"/>
          <a:lstStyle/>
          <a:p>
            <a:pPr marL="0" indent="0">
              <a:buNone/>
            </a:pPr>
            <a:r>
              <a:rPr lang="en-US" sz="1300" dirty="0">
                <a:solidFill>
                  <a:srgbClr val="5E6964"/>
                </a:solidFill>
              </a:rPr>
              <a:t>pain, lait, carburant</a:t>
            </a:r>
            <a:endParaRPr lang="en-US" sz="1300" dirty="0"/>
          </a:p>
        </p:txBody>
      </p:sp>
      <p:sp>
        <p:nvSpPr>
          <p:cNvPr id="27" name="Type SD"/>
          <p:cNvSpPr txBox="1"/>
          <p:nvPr/>
        </p:nvSpPr>
        <p:spPr>
          <a:xfrm>
            <a:off x="7909560" y="3172968"/>
            <a:ext cx="685800" cy="640080"/>
          </a:xfrm>
          <a:prstGeom prst="roundRect">
            <a:avLst>
              <a:gd name="adj" fmla="val 11429"/>
            </a:avLst>
          </a:prstGeom>
          <a:solidFill>
            <a:srgbClr val="D49A00"/>
          </a:solidFill>
          <a:ln/>
        </p:spPr>
        <p:txBody>
          <a:bodyPr wrap="square" lIns="0" tIns="0" rIns="0" bIns="0" rtlCol="0" anchor="ctr"/>
          <a:lstStyle/>
          <a:p>
            <a:pPr marL="0" indent="0" algn="ctr">
              <a:buNone/>
            </a:pPr>
            <a:r>
              <a:rPr lang="en-US" sz="1800" b="1" dirty="0">
                <a:solidFill>
                  <a:srgbClr val="FFFFFF"/>
                </a:solidFill>
              </a:rPr>
              <a:t>SD</a:t>
            </a:r>
            <a:endParaRPr lang="en-US" sz="1800" dirty="0"/>
          </a:p>
        </p:txBody>
      </p:sp>
      <p:sp>
        <p:nvSpPr>
          <p:cNvPr id="28" name="Text 26"/>
          <p:cNvSpPr txBox="1"/>
          <p:nvPr/>
        </p:nvSpPr>
        <p:spPr>
          <a:xfrm>
            <a:off x="8778240" y="3172968"/>
            <a:ext cx="2743200" cy="329184"/>
          </a:xfrm>
          <a:prstGeom prst="rect">
            <a:avLst/>
          </a:prstGeom>
          <a:noFill/>
          <a:ln/>
        </p:spPr>
        <p:txBody>
          <a:bodyPr wrap="square" lIns="0" tIns="0" rIns="0" bIns="0" rtlCol="0" anchor="ctr"/>
          <a:lstStyle/>
          <a:p>
            <a:pPr marL="0" indent="0">
              <a:buNone/>
            </a:pPr>
            <a:r>
              <a:rPr lang="en-US" sz="1450" b="1" dirty="0">
                <a:solidFill>
                  <a:srgbClr val="231F20"/>
                </a:solidFill>
              </a:rPr>
              <a:t>Biens semi-durables</a:t>
            </a:r>
            <a:endParaRPr lang="en-US" sz="1450" dirty="0"/>
          </a:p>
        </p:txBody>
      </p:sp>
      <p:sp>
        <p:nvSpPr>
          <p:cNvPr id="29" name="Text 27"/>
          <p:cNvSpPr txBox="1"/>
          <p:nvPr/>
        </p:nvSpPr>
        <p:spPr>
          <a:xfrm>
            <a:off x="8778240" y="3502152"/>
            <a:ext cx="2743200" cy="310896"/>
          </a:xfrm>
          <a:prstGeom prst="rect">
            <a:avLst/>
          </a:prstGeom>
          <a:noFill/>
          <a:ln/>
        </p:spPr>
        <p:txBody>
          <a:bodyPr wrap="square" lIns="0" tIns="0" rIns="0" bIns="0" rtlCol="0" anchor="ctr"/>
          <a:lstStyle/>
          <a:p>
            <a:pPr marL="0" indent="0">
              <a:buNone/>
            </a:pPr>
            <a:r>
              <a:rPr lang="en-US" sz="1300" dirty="0">
                <a:solidFill>
                  <a:srgbClr val="5E6964"/>
                </a:solidFill>
              </a:rPr>
              <a:t>vêtements, petit électroménager</a:t>
            </a:r>
            <a:endParaRPr lang="en-US" sz="1300" dirty="0"/>
          </a:p>
        </p:txBody>
      </p:sp>
      <p:sp>
        <p:nvSpPr>
          <p:cNvPr id="30" name="Type D"/>
          <p:cNvSpPr txBox="1"/>
          <p:nvPr/>
        </p:nvSpPr>
        <p:spPr>
          <a:xfrm>
            <a:off x="7909560" y="4014216"/>
            <a:ext cx="685800" cy="640080"/>
          </a:xfrm>
          <a:prstGeom prst="roundRect">
            <a:avLst>
              <a:gd name="adj" fmla="val 11429"/>
            </a:avLst>
          </a:prstGeom>
          <a:solidFill>
            <a:srgbClr val="00A86A"/>
          </a:solidFill>
          <a:ln/>
        </p:spPr>
        <p:txBody>
          <a:bodyPr wrap="square" lIns="0" tIns="0" rIns="0" bIns="0" rtlCol="0" anchor="ctr"/>
          <a:lstStyle/>
          <a:p>
            <a:pPr marL="0" indent="0" algn="ctr">
              <a:buNone/>
            </a:pPr>
            <a:r>
              <a:rPr lang="en-US" sz="1800" b="1" dirty="0">
                <a:solidFill>
                  <a:srgbClr val="FFFFFF"/>
                </a:solidFill>
              </a:rPr>
              <a:t>D</a:t>
            </a:r>
            <a:endParaRPr lang="en-US" sz="1800" dirty="0"/>
          </a:p>
        </p:txBody>
      </p:sp>
      <p:sp>
        <p:nvSpPr>
          <p:cNvPr id="31" name="Text 29"/>
          <p:cNvSpPr txBox="1"/>
          <p:nvPr/>
        </p:nvSpPr>
        <p:spPr>
          <a:xfrm>
            <a:off x="8778240" y="4014216"/>
            <a:ext cx="2743200" cy="329184"/>
          </a:xfrm>
          <a:prstGeom prst="rect">
            <a:avLst/>
          </a:prstGeom>
          <a:noFill/>
          <a:ln/>
        </p:spPr>
        <p:txBody>
          <a:bodyPr wrap="square" lIns="0" tIns="0" rIns="0" bIns="0" rtlCol="0" anchor="ctr"/>
          <a:lstStyle/>
          <a:p>
            <a:pPr marL="0" indent="0">
              <a:buNone/>
            </a:pPr>
            <a:r>
              <a:rPr lang="en-US" sz="1450" b="1" dirty="0">
                <a:solidFill>
                  <a:srgbClr val="231F20"/>
                </a:solidFill>
              </a:rPr>
              <a:t>Biens durables</a:t>
            </a:r>
            <a:endParaRPr lang="en-US" sz="1450" dirty="0"/>
          </a:p>
        </p:txBody>
      </p:sp>
      <p:sp>
        <p:nvSpPr>
          <p:cNvPr id="32" name="Text 30"/>
          <p:cNvSpPr txBox="1"/>
          <p:nvPr/>
        </p:nvSpPr>
        <p:spPr>
          <a:xfrm>
            <a:off x="8778240" y="4343400"/>
            <a:ext cx="2743200" cy="310896"/>
          </a:xfrm>
          <a:prstGeom prst="rect">
            <a:avLst/>
          </a:prstGeom>
          <a:noFill/>
          <a:ln/>
        </p:spPr>
        <p:txBody>
          <a:bodyPr wrap="square" lIns="0" tIns="0" rIns="0" bIns="0" rtlCol="0" anchor="ctr"/>
          <a:lstStyle/>
          <a:p>
            <a:pPr marL="0" indent="0">
              <a:buNone/>
            </a:pPr>
            <a:r>
              <a:rPr lang="en-US" sz="1300" dirty="0">
                <a:solidFill>
                  <a:srgbClr val="5E6964"/>
                </a:solidFill>
              </a:rPr>
              <a:t>voiture, réfrigérateur</a:t>
            </a:r>
            <a:endParaRPr lang="en-US" sz="1300" dirty="0"/>
          </a:p>
        </p:txBody>
      </p:sp>
      <p:sp>
        <p:nvSpPr>
          <p:cNvPr id="33" name="Type S"/>
          <p:cNvSpPr txBox="1"/>
          <p:nvPr/>
        </p:nvSpPr>
        <p:spPr>
          <a:xfrm>
            <a:off x="7909560" y="4855464"/>
            <a:ext cx="685800" cy="640080"/>
          </a:xfrm>
          <a:prstGeom prst="roundRect">
            <a:avLst>
              <a:gd name="adj" fmla="val 11429"/>
            </a:avLst>
          </a:prstGeom>
          <a:solidFill>
            <a:srgbClr val="0E7C86"/>
          </a:solidFill>
          <a:ln/>
        </p:spPr>
        <p:txBody>
          <a:bodyPr wrap="square" lIns="0" tIns="0" rIns="0" bIns="0" rtlCol="0" anchor="ctr"/>
          <a:lstStyle/>
          <a:p>
            <a:pPr marL="0" indent="0" algn="ctr">
              <a:buNone/>
            </a:pPr>
            <a:r>
              <a:rPr lang="en-US" sz="1800" b="1" dirty="0">
                <a:solidFill>
                  <a:srgbClr val="FFFFFF"/>
                </a:solidFill>
              </a:rPr>
              <a:t>S</a:t>
            </a:r>
            <a:endParaRPr lang="en-US" sz="1800" dirty="0"/>
          </a:p>
        </p:txBody>
      </p:sp>
      <p:sp>
        <p:nvSpPr>
          <p:cNvPr id="34" name="Text 32"/>
          <p:cNvSpPr txBox="1"/>
          <p:nvPr/>
        </p:nvSpPr>
        <p:spPr>
          <a:xfrm>
            <a:off x="8778240" y="4855464"/>
            <a:ext cx="2743200" cy="329184"/>
          </a:xfrm>
          <a:prstGeom prst="rect">
            <a:avLst/>
          </a:prstGeom>
          <a:noFill/>
          <a:ln/>
        </p:spPr>
        <p:txBody>
          <a:bodyPr wrap="square" lIns="0" tIns="0" rIns="0" bIns="0" rtlCol="0" anchor="ctr"/>
          <a:lstStyle/>
          <a:p>
            <a:pPr marL="0" indent="0">
              <a:buNone/>
            </a:pPr>
            <a:r>
              <a:rPr lang="en-US" sz="1450" b="1" dirty="0">
                <a:solidFill>
                  <a:srgbClr val="231F20"/>
                </a:solidFill>
              </a:rPr>
              <a:t>Services</a:t>
            </a:r>
            <a:endParaRPr lang="en-US" sz="1450" dirty="0"/>
          </a:p>
        </p:txBody>
      </p:sp>
      <p:sp>
        <p:nvSpPr>
          <p:cNvPr id="35" name="Text 33"/>
          <p:cNvSpPr txBox="1"/>
          <p:nvPr/>
        </p:nvSpPr>
        <p:spPr>
          <a:xfrm>
            <a:off x="8778240" y="5184648"/>
            <a:ext cx="2743200" cy="310896"/>
          </a:xfrm>
          <a:prstGeom prst="rect">
            <a:avLst/>
          </a:prstGeom>
          <a:noFill/>
          <a:ln/>
        </p:spPr>
        <p:txBody>
          <a:bodyPr wrap="square" lIns="0" tIns="0" rIns="0" bIns="0" rtlCol="0" anchor="ctr"/>
          <a:lstStyle/>
          <a:p>
            <a:pPr marL="0" indent="0">
              <a:buNone/>
            </a:pPr>
            <a:r>
              <a:rPr lang="en-US" sz="1300" dirty="0">
                <a:solidFill>
                  <a:srgbClr val="5E6964"/>
                </a:solidFill>
              </a:rPr>
              <a:t>loyer, transport, réparation</a:t>
            </a:r>
            <a:endParaRPr lang="en-US" sz="1300" dirty="0"/>
          </a:p>
        </p:txBody>
      </p:sp>
      <p:sp>
        <p:nvSpPr>
          <p:cNvPr id="36" name="Text 34"/>
          <p:cNvSpPr txBox="1"/>
          <p:nvPr/>
        </p:nvSpPr>
        <p:spPr>
          <a:xfrm>
            <a:off x="502920" y="5897880"/>
            <a:ext cx="11155680" cy="365760"/>
          </a:xfrm>
          <a:prstGeom prst="rect">
            <a:avLst/>
          </a:prstGeom>
          <a:noFill/>
          <a:ln/>
        </p:spPr>
        <p:txBody>
          <a:bodyPr wrap="square" lIns="0" tIns="0" rIns="0" bIns="0" rtlCol="0" anchor="ctr"/>
          <a:lstStyle/>
          <a:p>
            <a:pPr marL="0" indent="0">
              <a:buNone/>
            </a:pPr>
            <a:r>
              <a:rPr lang="en-US" sz="1300" i="1" dirty="0">
                <a:solidFill>
                  <a:srgbClr val="5E6964"/>
                </a:solidFill>
              </a:rPr>
              <a:t>L'IPC porte sur les divisions 01 à 13 ; les divisions 14 et 15 couvrent la consommation individuelle des ISBLSM et des administrations publiques.</a:t>
            </a:r>
            <a:endParaRPr lang="en-US" sz="1300" dirty="0"/>
          </a:p>
        </p:txBody>
      </p:sp>
      <p:sp>
        <p:nvSpPr>
          <p:cNvPr id="37"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12</a:t>
            </a:fld>
            <a:endParaRPr lang="en-US"/>
          </a:p>
        </p:txBody>
      </p:sp>
    </p:spTree>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02 · LE PANIER ET LA COICOP 2018</a:t>
            </a:r>
            <a:endParaRPr lang="en-US" sz="1200" dirty="0"/>
          </a:p>
        </p:txBody>
      </p:sp>
      <p:sp>
        <p:nvSpPr>
          <p:cNvPr id="3" name="Point de progression 1"/>
          <p:cNvSpPr/>
          <p:nvPr/>
        </p:nvSpPr>
        <p:spPr>
          <a:xfrm>
            <a:off x="10561320" y="365760"/>
            <a:ext cx="128016" cy="128016"/>
          </a:xfrm>
          <a:prstGeom prst="ellipse">
            <a:avLst/>
          </a:prstGeom>
          <a:solidFill>
            <a:srgbClr val="D5DED9"/>
          </a:solidFill>
          <a:ln/>
        </p:spPr>
      </p:sp>
      <p:sp>
        <p:nvSpPr>
          <p:cNvPr id="4" name="Point de progression 2"/>
          <p:cNvSpPr/>
          <p:nvPr/>
        </p:nvSpPr>
        <p:spPr>
          <a:xfrm>
            <a:off x="10789920" y="365760"/>
            <a:ext cx="128016" cy="128016"/>
          </a:xfrm>
          <a:prstGeom prst="ellipse">
            <a:avLst/>
          </a:prstGeom>
          <a:solidFill>
            <a:srgbClr val="00704A"/>
          </a:solidFill>
          <a:ln/>
        </p:spPr>
      </p:sp>
      <p:sp>
        <p:nvSpPr>
          <p:cNvPr id="5" name="Point de progression 3"/>
          <p:cNvSpPr/>
          <p:nvPr/>
        </p:nvSpPr>
        <p:spPr>
          <a:xfrm>
            <a:off x="11018520" y="365760"/>
            <a:ext cx="128016" cy="128016"/>
          </a:xfrm>
          <a:prstGeom prst="ellipse">
            <a:avLst/>
          </a:prstGeom>
          <a:solidFill>
            <a:srgbClr val="D5DED9"/>
          </a:solidFill>
          <a:ln/>
        </p:spPr>
      </p:sp>
      <p:sp>
        <p:nvSpPr>
          <p:cNvPr id="6" name="Point de progression 4"/>
          <p:cNvSpPr/>
          <p:nvPr/>
        </p:nvSpPr>
        <p:spPr>
          <a:xfrm>
            <a:off x="11247120" y="365760"/>
            <a:ext cx="128016" cy="128016"/>
          </a:xfrm>
          <a:prstGeom prst="ellipse">
            <a:avLst/>
          </a:prstGeom>
          <a:solidFill>
            <a:srgbClr val="D5DED9"/>
          </a:solidFill>
          <a:ln/>
        </p:spPr>
      </p:sp>
      <p:sp>
        <p:nvSpPr>
          <p:cNvPr id="7" name="Point de progression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Ce que la COICOP 2018 change pour un IPC</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Des services mieux isolés, et une migration européenne qui a laissé l'inflation d'ensemble intacte</a:t>
            </a:r>
            <a:endParaRPr lang="en-US" sz="1500" dirty="0"/>
          </a:p>
        </p:txBody>
      </p:sp>
      <p:sp>
        <p:nvSpPr>
          <p:cNvPr id="10" name="Changement 1 cercle"/>
          <p:cNvSpPr/>
          <p:nvPr/>
        </p:nvSpPr>
        <p:spPr>
          <a:xfrm>
            <a:off x="502920" y="1828800"/>
            <a:ext cx="685800" cy="685800"/>
          </a:xfrm>
          <a:prstGeom prst="ellipse">
            <a:avLst/>
          </a:prstGeom>
          <a:solidFill>
            <a:srgbClr val="00A86A">
              <a:alpha val="22000"/>
            </a:srgbClr>
          </a:solidFill>
          <a:ln/>
        </p:spPr>
      </p:sp>
      <p:pic>
        <p:nvPicPr>
          <p:cNvPr id="11" name="Changement 1 icône" descr="preencoded.png"/>
          <p:cNvPicPr>
            <a:picLocks noChangeAspect="1"/>
          </p:cNvPicPr>
          <p:nvPr/>
        </p:nvPicPr>
        <p:blipFill>
          <a:blip r:embed="rId3"/>
          <a:stretch>
            <a:fillRect/>
          </a:stretch>
        </p:blipFill>
        <p:spPr>
          <a:xfrm>
            <a:off x="674370" y="2000250"/>
            <a:ext cx="342900" cy="342900"/>
          </a:xfrm>
          <a:prstGeom prst="rect">
            <a:avLst/>
          </a:prstGeom>
        </p:spPr>
      </p:pic>
      <p:sp>
        <p:nvSpPr>
          <p:cNvPr id="12" name="Text 9"/>
          <p:cNvSpPr txBox="1"/>
          <p:nvPr/>
        </p:nvSpPr>
        <p:spPr>
          <a:xfrm>
            <a:off x="1371600" y="1783080"/>
            <a:ext cx="4846320" cy="365760"/>
          </a:xfrm>
          <a:prstGeom prst="rect">
            <a:avLst/>
          </a:prstGeom>
          <a:noFill/>
          <a:ln/>
        </p:spPr>
        <p:txBody>
          <a:bodyPr wrap="square" lIns="0" tIns="0" rIns="0" bIns="0" rtlCol="0" anchor="ctr"/>
          <a:lstStyle/>
          <a:p>
            <a:pPr marL="0" indent="0">
              <a:buNone/>
            </a:pPr>
            <a:r>
              <a:rPr lang="en-US" sz="1700" b="1" dirty="0">
                <a:solidFill>
                  <a:srgbClr val="231F20"/>
                </a:solidFill>
              </a:rPr>
              <a:t>Biens et services séparés</a:t>
            </a:r>
            <a:endParaRPr lang="en-US" sz="1700" dirty="0"/>
          </a:p>
        </p:txBody>
      </p:sp>
      <p:sp>
        <p:nvSpPr>
          <p:cNvPr id="13" name="Text 10"/>
          <p:cNvSpPr txBox="1"/>
          <p:nvPr/>
        </p:nvSpPr>
        <p:spPr>
          <a:xfrm>
            <a:off x="1371600" y="2148840"/>
            <a:ext cx="4846320" cy="502920"/>
          </a:xfrm>
          <a:prstGeom prst="rect">
            <a:avLst/>
          </a:prstGeom>
          <a:noFill/>
          <a:ln/>
        </p:spPr>
        <p:txBody>
          <a:bodyPr wrap="square" lIns="0" tIns="0" rIns="0" bIns="0" rtlCol="0" anchor="t"/>
          <a:lstStyle/>
          <a:p>
            <a:pPr marL="0" indent="0">
              <a:buNone/>
            </a:pPr>
            <a:r>
              <a:rPr lang="en-US" sz="1400" dirty="0">
                <a:solidFill>
                  <a:srgbClr val="5E6964"/>
                </a:solidFill>
              </a:rPr>
              <a:t>Réparation, location, installation ont leurs propres postes de services.</a:t>
            </a:r>
            <a:endParaRPr lang="en-US" sz="1400" dirty="0"/>
          </a:p>
        </p:txBody>
      </p:sp>
      <p:sp>
        <p:nvSpPr>
          <p:cNvPr id="14" name="Changement 2 cercle"/>
          <p:cNvSpPr/>
          <p:nvPr/>
        </p:nvSpPr>
        <p:spPr>
          <a:xfrm>
            <a:off x="502920" y="2907792"/>
            <a:ext cx="685800" cy="685800"/>
          </a:xfrm>
          <a:prstGeom prst="ellipse">
            <a:avLst/>
          </a:prstGeom>
          <a:solidFill>
            <a:srgbClr val="00704A">
              <a:alpha val="22000"/>
            </a:srgbClr>
          </a:solidFill>
          <a:ln/>
        </p:spPr>
      </p:sp>
      <p:pic>
        <p:nvPicPr>
          <p:cNvPr id="15" name="Changement 2 icône" descr="preencoded.png"/>
          <p:cNvPicPr>
            <a:picLocks noChangeAspect="1"/>
          </p:cNvPicPr>
          <p:nvPr/>
        </p:nvPicPr>
        <p:blipFill>
          <a:blip r:embed="rId4"/>
          <a:stretch>
            <a:fillRect/>
          </a:stretch>
        </p:blipFill>
        <p:spPr>
          <a:xfrm>
            <a:off x="674370" y="3079242"/>
            <a:ext cx="342900" cy="342900"/>
          </a:xfrm>
          <a:prstGeom prst="rect">
            <a:avLst/>
          </a:prstGeom>
        </p:spPr>
      </p:pic>
      <p:sp>
        <p:nvSpPr>
          <p:cNvPr id="16" name="Text 12"/>
          <p:cNvSpPr txBox="1"/>
          <p:nvPr/>
        </p:nvSpPr>
        <p:spPr>
          <a:xfrm>
            <a:off x="1371600" y="2862072"/>
            <a:ext cx="4846320" cy="365760"/>
          </a:xfrm>
          <a:prstGeom prst="rect">
            <a:avLst/>
          </a:prstGeom>
          <a:noFill/>
          <a:ln/>
        </p:spPr>
        <p:txBody>
          <a:bodyPr wrap="square" lIns="0" tIns="0" rIns="0" bIns="0" rtlCol="0" anchor="ctr"/>
          <a:lstStyle/>
          <a:p>
            <a:pPr marL="0" indent="0">
              <a:buNone/>
            </a:pPr>
            <a:r>
              <a:rPr lang="en-US" sz="1700" b="1" dirty="0">
                <a:solidFill>
                  <a:srgbClr val="231F20"/>
                </a:solidFill>
              </a:rPr>
              <a:t>Livraison isolée</a:t>
            </a:r>
            <a:endParaRPr lang="en-US" sz="1700" dirty="0"/>
          </a:p>
        </p:txBody>
      </p:sp>
      <p:sp>
        <p:nvSpPr>
          <p:cNvPr id="17" name="Text 13"/>
          <p:cNvSpPr txBox="1"/>
          <p:nvPr/>
        </p:nvSpPr>
        <p:spPr>
          <a:xfrm>
            <a:off x="1371600" y="3227832"/>
            <a:ext cx="4846320" cy="502920"/>
          </a:xfrm>
          <a:prstGeom prst="rect">
            <a:avLst/>
          </a:prstGeom>
          <a:noFill/>
          <a:ln/>
        </p:spPr>
        <p:txBody>
          <a:bodyPr wrap="square" lIns="0" tIns="0" rIns="0" bIns="0" rtlCol="0" anchor="t"/>
          <a:lstStyle/>
          <a:p>
            <a:pPr marL="0" indent="0">
              <a:buNone/>
            </a:pPr>
            <a:r>
              <a:rPr lang="en-US" sz="1400" dirty="0">
                <a:solidFill>
                  <a:srgbClr val="5E6964"/>
                </a:solidFill>
              </a:rPr>
              <a:t>Frais de livraison facturés à part et colis deviennent des services distincts.</a:t>
            </a:r>
            <a:endParaRPr lang="en-US" sz="1400" dirty="0"/>
          </a:p>
        </p:txBody>
      </p:sp>
      <p:sp>
        <p:nvSpPr>
          <p:cNvPr id="18" name="Changement 3 cercle"/>
          <p:cNvSpPr/>
          <p:nvPr/>
        </p:nvSpPr>
        <p:spPr>
          <a:xfrm>
            <a:off x="502920" y="3986784"/>
            <a:ext cx="685800" cy="685800"/>
          </a:xfrm>
          <a:prstGeom prst="ellipse">
            <a:avLst/>
          </a:prstGeom>
          <a:solidFill>
            <a:srgbClr val="0E7C86">
              <a:alpha val="22000"/>
            </a:srgbClr>
          </a:solidFill>
          <a:ln/>
        </p:spPr>
      </p:sp>
      <p:pic>
        <p:nvPicPr>
          <p:cNvPr id="19" name="Changement 3 icône" descr="preencoded.png"/>
          <p:cNvPicPr>
            <a:picLocks noChangeAspect="1"/>
          </p:cNvPicPr>
          <p:nvPr/>
        </p:nvPicPr>
        <p:blipFill>
          <a:blip r:embed="rId5"/>
          <a:stretch>
            <a:fillRect/>
          </a:stretch>
        </p:blipFill>
        <p:spPr>
          <a:xfrm>
            <a:off x="674370" y="4158234"/>
            <a:ext cx="342900" cy="342900"/>
          </a:xfrm>
          <a:prstGeom prst="rect">
            <a:avLst/>
          </a:prstGeom>
        </p:spPr>
      </p:pic>
      <p:sp>
        <p:nvSpPr>
          <p:cNvPr id="20" name="Text 15"/>
          <p:cNvSpPr txBox="1"/>
          <p:nvPr/>
        </p:nvSpPr>
        <p:spPr>
          <a:xfrm>
            <a:off x="1371600" y="3941064"/>
            <a:ext cx="4846320" cy="365760"/>
          </a:xfrm>
          <a:prstGeom prst="rect">
            <a:avLst/>
          </a:prstGeom>
          <a:noFill/>
          <a:ln/>
        </p:spPr>
        <p:txBody>
          <a:bodyPr wrap="square" lIns="0" tIns="0" rIns="0" bIns="0" rtlCol="0" anchor="ctr"/>
          <a:lstStyle/>
          <a:p>
            <a:pPr marL="0" indent="0">
              <a:buNone/>
            </a:pPr>
            <a:r>
              <a:rPr lang="en-US" sz="1700" b="1" dirty="0">
                <a:solidFill>
                  <a:srgbClr val="231F20"/>
                </a:solidFill>
              </a:rPr>
              <a:t>Division 08 numérique</a:t>
            </a:r>
            <a:endParaRPr lang="en-US" sz="1700" dirty="0"/>
          </a:p>
        </p:txBody>
      </p:sp>
      <p:sp>
        <p:nvSpPr>
          <p:cNvPr id="21" name="Text 16"/>
          <p:cNvSpPr txBox="1"/>
          <p:nvPr/>
        </p:nvSpPr>
        <p:spPr>
          <a:xfrm>
            <a:off x="1371600" y="4306824"/>
            <a:ext cx="4846320" cy="502920"/>
          </a:xfrm>
          <a:prstGeom prst="rect">
            <a:avLst/>
          </a:prstGeom>
          <a:noFill/>
          <a:ln/>
        </p:spPr>
        <p:txBody>
          <a:bodyPr wrap="square" lIns="0" tIns="0" rIns="0" bIns="0" rtlCol="0" anchor="t"/>
          <a:lstStyle/>
          <a:p>
            <a:pPr marL="0" indent="0">
              <a:buNone/>
            </a:pPr>
            <a:r>
              <a:rPr lang="en-US" sz="1400" dirty="0">
                <a:solidFill>
                  <a:srgbClr val="5E6964"/>
                </a:solidFill>
              </a:rPr>
              <a:t>Matériel informatique et logiciels rejoignent l'information et la communication.</a:t>
            </a:r>
            <a:endParaRPr lang="en-US" sz="1400" dirty="0"/>
          </a:p>
        </p:txBody>
      </p:sp>
      <p:sp>
        <p:nvSpPr>
          <p:cNvPr id="22" name="Changement 4 cercle"/>
          <p:cNvSpPr/>
          <p:nvPr/>
        </p:nvSpPr>
        <p:spPr>
          <a:xfrm>
            <a:off x="502920" y="5065776"/>
            <a:ext cx="685800" cy="685800"/>
          </a:xfrm>
          <a:prstGeom prst="ellipse">
            <a:avLst/>
          </a:prstGeom>
          <a:solidFill>
            <a:srgbClr val="D49A00">
              <a:alpha val="22000"/>
            </a:srgbClr>
          </a:solidFill>
          <a:ln/>
        </p:spPr>
      </p:sp>
      <p:pic>
        <p:nvPicPr>
          <p:cNvPr id="23" name="Changement 4 icône" descr="preencoded.png"/>
          <p:cNvPicPr>
            <a:picLocks noChangeAspect="1"/>
          </p:cNvPicPr>
          <p:nvPr/>
        </p:nvPicPr>
        <p:blipFill>
          <a:blip r:embed="rId6"/>
          <a:stretch>
            <a:fillRect/>
          </a:stretch>
        </p:blipFill>
        <p:spPr>
          <a:xfrm>
            <a:off x="674370" y="5237226"/>
            <a:ext cx="342900" cy="342900"/>
          </a:xfrm>
          <a:prstGeom prst="rect">
            <a:avLst/>
          </a:prstGeom>
        </p:spPr>
      </p:pic>
      <p:sp>
        <p:nvSpPr>
          <p:cNvPr id="24" name="Text 18"/>
          <p:cNvSpPr txBox="1"/>
          <p:nvPr/>
        </p:nvSpPr>
        <p:spPr>
          <a:xfrm>
            <a:off x="1371600" y="5020056"/>
            <a:ext cx="4846320" cy="365760"/>
          </a:xfrm>
          <a:prstGeom prst="rect">
            <a:avLst/>
          </a:prstGeom>
          <a:noFill/>
          <a:ln/>
        </p:spPr>
        <p:txBody>
          <a:bodyPr wrap="square" lIns="0" tIns="0" rIns="0" bIns="0" rtlCol="0" anchor="ctr"/>
          <a:lstStyle/>
          <a:p>
            <a:pPr marL="0" indent="0">
              <a:buNone/>
            </a:pPr>
            <a:r>
              <a:rPr lang="en-US" sz="1700" b="1" dirty="0">
                <a:solidFill>
                  <a:srgbClr val="231F20"/>
                </a:solidFill>
              </a:rPr>
              <a:t>Division 12 dédiée</a:t>
            </a:r>
            <a:endParaRPr lang="en-US" sz="1700" dirty="0"/>
          </a:p>
        </p:txBody>
      </p:sp>
      <p:sp>
        <p:nvSpPr>
          <p:cNvPr id="25" name="Text 19"/>
          <p:cNvSpPr txBox="1"/>
          <p:nvPr/>
        </p:nvSpPr>
        <p:spPr>
          <a:xfrm>
            <a:off x="1371600" y="5385816"/>
            <a:ext cx="4846320" cy="502920"/>
          </a:xfrm>
          <a:prstGeom prst="rect">
            <a:avLst/>
          </a:prstGeom>
          <a:noFill/>
          <a:ln/>
        </p:spPr>
        <p:txBody>
          <a:bodyPr wrap="square" lIns="0" tIns="0" rIns="0" bIns="0" rtlCol="0" anchor="t"/>
          <a:lstStyle/>
          <a:p>
            <a:pPr marL="0" indent="0">
              <a:buNone/>
            </a:pPr>
            <a:r>
              <a:rPr lang="en-US" sz="1400" dirty="0">
                <a:solidFill>
                  <a:srgbClr val="5E6964"/>
                </a:solidFill>
              </a:rPr>
              <a:t>Assurances et services financiers sortent des « biens et services divers ».</a:t>
            </a:r>
            <a:endParaRPr lang="en-US" sz="1400" dirty="0"/>
          </a:p>
        </p:txBody>
      </p:sp>
      <p:sp>
        <p:nvSpPr>
          <p:cNvPr id="26" name="Encadré retour UE"/>
          <p:cNvSpPr/>
          <p:nvPr/>
        </p:nvSpPr>
        <p:spPr>
          <a:xfrm>
            <a:off x="6583680" y="1783080"/>
            <a:ext cx="5074920" cy="4206240"/>
          </a:xfrm>
          <a:prstGeom prst="roundRect">
            <a:avLst>
              <a:gd name="adj" fmla="val 1739"/>
            </a:avLst>
          </a:prstGeom>
          <a:solidFill>
            <a:srgbClr val="E8F5EF"/>
          </a:solidFill>
          <a:ln w="19050">
            <a:solidFill>
              <a:srgbClr val="00A86A"/>
            </a:solidFill>
            <a:prstDash val="solid"/>
          </a:ln>
        </p:spPr>
      </p:sp>
      <p:sp>
        <p:nvSpPr>
          <p:cNvPr id="27" name="Text 21"/>
          <p:cNvSpPr txBox="1"/>
          <p:nvPr/>
        </p:nvSpPr>
        <p:spPr>
          <a:xfrm>
            <a:off x="6858000" y="1965960"/>
            <a:ext cx="4572000" cy="411480"/>
          </a:xfrm>
          <a:prstGeom prst="rect">
            <a:avLst/>
          </a:prstGeom>
          <a:noFill/>
          <a:ln/>
        </p:spPr>
        <p:txBody>
          <a:bodyPr wrap="square" lIns="0" tIns="0" rIns="0" bIns="0" rtlCol="0" anchor="ctr"/>
          <a:lstStyle/>
          <a:p>
            <a:pPr marL="0" indent="0">
              <a:buNone/>
            </a:pPr>
            <a:r>
              <a:rPr lang="en-US" sz="1700" b="1" dirty="0">
                <a:solidFill>
                  <a:srgbClr val="231F20"/>
                </a:solidFill>
              </a:rPr>
              <a:t>Retour d'expérience : l'IPCH de janvier 2026</a:t>
            </a:r>
            <a:endParaRPr lang="en-US" sz="1700" dirty="0"/>
          </a:p>
        </p:txBody>
      </p:sp>
      <p:sp>
        <p:nvSpPr>
          <p:cNvPr id="28" name="Text 22"/>
          <p:cNvSpPr txBox="1"/>
          <p:nvPr/>
        </p:nvSpPr>
        <p:spPr>
          <a:xfrm>
            <a:off x="6858000" y="2560320"/>
            <a:ext cx="1828800" cy="822960"/>
          </a:xfrm>
          <a:prstGeom prst="rect">
            <a:avLst/>
          </a:prstGeom>
          <a:noFill/>
          <a:ln/>
        </p:spPr>
        <p:txBody>
          <a:bodyPr wrap="square" lIns="0" tIns="0" rIns="0" bIns="0" rtlCol="0" anchor="ctr"/>
          <a:lstStyle/>
          <a:p>
            <a:pPr marL="0" indent="0">
              <a:buNone/>
            </a:pPr>
            <a:r>
              <a:rPr lang="en-US" sz="3000" b="1" dirty="0">
                <a:solidFill>
                  <a:srgbClr val="00A86A"/>
                </a:solidFill>
              </a:rPr>
              <a:t>≤ 0,1 pt</a:t>
            </a:r>
            <a:endParaRPr lang="en-US" sz="3000" dirty="0"/>
          </a:p>
        </p:txBody>
      </p:sp>
      <p:sp>
        <p:nvSpPr>
          <p:cNvPr id="29" name="Text 23"/>
          <p:cNvSpPr txBox="1"/>
          <p:nvPr/>
        </p:nvSpPr>
        <p:spPr>
          <a:xfrm>
            <a:off x="8686800" y="2560320"/>
            <a:ext cx="2697480" cy="822960"/>
          </a:xfrm>
          <a:prstGeom prst="rect">
            <a:avLst/>
          </a:prstGeom>
          <a:noFill/>
          <a:ln/>
        </p:spPr>
        <p:txBody>
          <a:bodyPr wrap="square" lIns="0" tIns="0" rIns="0" bIns="0" rtlCol="0" anchor="ctr"/>
          <a:lstStyle/>
          <a:p>
            <a:pPr marL="0" indent="0">
              <a:buNone/>
            </a:pPr>
            <a:r>
              <a:rPr lang="en-US" sz="1300" dirty="0">
                <a:solidFill>
                  <a:srgbClr val="5E6964"/>
                </a:solidFill>
              </a:rPr>
              <a:t>d'écart sur l'inflation d'ensemble de la zone euro</a:t>
            </a:r>
            <a:endParaRPr lang="en-US" sz="1300" dirty="0"/>
          </a:p>
        </p:txBody>
      </p:sp>
      <p:sp>
        <p:nvSpPr>
          <p:cNvPr id="30" name="Text 24"/>
          <p:cNvSpPr txBox="1"/>
          <p:nvPr/>
        </p:nvSpPr>
        <p:spPr>
          <a:xfrm>
            <a:off x="6858000" y="3657600"/>
            <a:ext cx="1828800" cy="822960"/>
          </a:xfrm>
          <a:prstGeom prst="rect">
            <a:avLst/>
          </a:prstGeom>
          <a:noFill/>
          <a:ln/>
        </p:spPr>
        <p:txBody>
          <a:bodyPr wrap="square" lIns="0" tIns="0" rIns="0" bIns="0" rtlCol="0" anchor="ctr"/>
          <a:lstStyle/>
          <a:p>
            <a:pPr marL="0" indent="0">
              <a:buNone/>
            </a:pPr>
            <a:r>
              <a:rPr lang="en-US" sz="3000" b="1" dirty="0">
                <a:solidFill>
                  <a:srgbClr val="D49A00"/>
                </a:solidFill>
              </a:rPr>
              <a:t>1,2 pt</a:t>
            </a:r>
            <a:endParaRPr lang="en-US" sz="3000" dirty="0"/>
          </a:p>
        </p:txBody>
      </p:sp>
      <p:sp>
        <p:nvSpPr>
          <p:cNvPr id="31" name="Text 25"/>
          <p:cNvSpPr txBox="1"/>
          <p:nvPr/>
        </p:nvSpPr>
        <p:spPr>
          <a:xfrm>
            <a:off x="8686800" y="3657600"/>
            <a:ext cx="2697480" cy="822960"/>
          </a:xfrm>
          <a:prstGeom prst="rect">
            <a:avLst/>
          </a:prstGeom>
          <a:noFill/>
          <a:ln/>
        </p:spPr>
        <p:txBody>
          <a:bodyPr wrap="square" lIns="0" tIns="0" rIns="0" bIns="0" rtlCol="0" anchor="ctr"/>
          <a:lstStyle/>
          <a:p>
            <a:pPr marL="0" indent="0">
              <a:buNone/>
            </a:pPr>
            <a:r>
              <a:rPr lang="en-US" sz="1300" dirty="0">
                <a:solidFill>
                  <a:srgbClr val="5E6964"/>
                </a:solidFill>
              </a:rPr>
              <a:t>révision maximale de l'alimentation non transformée</a:t>
            </a:r>
            <a:endParaRPr lang="en-US" sz="1300" dirty="0"/>
          </a:p>
        </p:txBody>
      </p:sp>
      <p:sp>
        <p:nvSpPr>
          <p:cNvPr id="32" name="Text 26"/>
          <p:cNvSpPr txBox="1"/>
          <p:nvPr/>
        </p:nvSpPr>
        <p:spPr>
          <a:xfrm>
            <a:off x="6858000" y="4754880"/>
            <a:ext cx="1828800" cy="822960"/>
          </a:xfrm>
          <a:prstGeom prst="rect">
            <a:avLst/>
          </a:prstGeom>
          <a:noFill/>
          <a:ln/>
        </p:spPr>
        <p:txBody>
          <a:bodyPr wrap="square" lIns="0" tIns="0" rIns="0" bIns="0" rtlCol="0" anchor="ctr"/>
          <a:lstStyle/>
          <a:p>
            <a:pPr marL="0" indent="0">
              <a:buNone/>
            </a:pPr>
            <a:r>
              <a:rPr lang="en-US" sz="3000" b="1" dirty="0">
                <a:solidFill>
                  <a:srgbClr val="0E7C86"/>
                </a:solidFill>
              </a:rPr>
              <a:t>≈ 1 %</a:t>
            </a:r>
            <a:endParaRPr lang="en-US" sz="3000" dirty="0"/>
          </a:p>
        </p:txBody>
      </p:sp>
      <p:sp>
        <p:nvSpPr>
          <p:cNvPr id="33" name="Text 27"/>
          <p:cNvSpPr txBox="1"/>
          <p:nvPr/>
        </p:nvSpPr>
        <p:spPr>
          <a:xfrm>
            <a:off x="8686800" y="4754880"/>
            <a:ext cx="2697480" cy="822960"/>
          </a:xfrm>
          <a:prstGeom prst="rect">
            <a:avLst/>
          </a:prstGeom>
          <a:noFill/>
          <a:ln/>
        </p:spPr>
        <p:txBody>
          <a:bodyPr wrap="square" lIns="0" tIns="0" rIns="0" bIns="0" rtlCol="0" anchor="ctr"/>
          <a:lstStyle/>
          <a:p>
            <a:pPr marL="0" indent="0">
              <a:buNone/>
            </a:pPr>
            <a:r>
              <a:rPr lang="en-US" sz="1300" dirty="0">
                <a:solidFill>
                  <a:srgbClr val="5E6964"/>
                </a:solidFill>
              </a:rPr>
              <a:t>poids des jeux de hasard, nouveau poste de l'IPCH</a:t>
            </a:r>
            <a:endParaRPr lang="en-US" sz="1300" dirty="0"/>
          </a:p>
        </p:txBody>
      </p:sp>
      <p:sp>
        <p:nvSpPr>
          <p:cNvPr id="34" name="Text 28"/>
          <p:cNvSpPr txBox="1"/>
          <p:nvPr/>
        </p:nvSpPr>
        <p:spPr>
          <a:xfrm>
            <a:off x="502920" y="6108192"/>
            <a:ext cx="10607040" cy="274320"/>
          </a:xfrm>
          <a:prstGeom prst="rect">
            <a:avLst/>
          </a:prstGeom>
          <a:noFill/>
          <a:ln/>
        </p:spPr>
        <p:txBody>
          <a:bodyPr wrap="square" lIns="0" tIns="0" rIns="0" bIns="0" rtlCol="0" anchor="ctr"/>
          <a:lstStyle/>
          <a:p>
            <a:pPr marL="0" indent="0">
              <a:buNone/>
            </a:pPr>
            <a:r>
              <a:rPr lang="en-US" sz="1000" i="1" dirty="0">
                <a:solidFill>
                  <a:srgbClr val="5E6964"/>
                </a:solidFill>
              </a:rPr>
              <a:t>Sources : Nations unies (UNSD), COICOP 2018 ; BCE, Bulletin économique 3/2026, encadré « What's new in the HICP? ».</a:t>
            </a:r>
            <a:endParaRPr lang="en-US" sz="1000" dirty="0"/>
          </a:p>
        </p:txBody>
      </p:sp>
      <p:sp>
        <p:nvSpPr>
          <p:cNvPr id="35"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13</a:t>
            </a:fld>
            <a:endParaRPr lang="en-US"/>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097280"/>
            <a:ext cx="3200400" cy="1463040"/>
          </a:xfrm>
          <a:prstGeom prst="rect">
            <a:avLst/>
          </a:prstGeom>
          <a:noFill/>
          <a:ln/>
        </p:spPr>
        <p:txBody>
          <a:bodyPr wrap="square" rtlCol="0" anchor="b"/>
          <a:lstStyle/>
          <a:p>
            <a:pPr marL="0" indent="0">
              <a:buNone/>
            </a:pPr>
            <a:r>
              <a:rPr lang="en-US" sz="11000" b="1" dirty="0">
                <a:solidFill>
                  <a:srgbClr val="F5C242"/>
                </a:solidFill>
              </a:rPr>
              <a:t>03</a:t>
            </a:r>
            <a:endParaRPr lang="en-US" sz="11000" dirty="0"/>
          </a:p>
        </p:txBody>
      </p:sp>
      <p:sp>
        <p:nvSpPr>
          <p:cNvPr id="3" name="Text 0"/>
          <p:cNvSpPr>
            <a:spLocks noGrp="1"/>
          </p:cNvSpPr>
          <p:nvPr>
            <p:ph type="title" idx="101" hasCustomPrompt="1"/>
          </p:nvPr>
        </p:nvSpPr>
        <p:spPr>
          <a:xfrm>
            <a:off x="731520" y="2743200"/>
            <a:ext cx="7315200" cy="1188720"/>
          </a:xfrm>
          <a:prstGeom prst="rect">
            <a:avLst/>
          </a:prstGeom>
          <a:noFill/>
          <a:ln/>
        </p:spPr>
        <p:txBody>
          <a:bodyPr wrap="square" rtlCol="0" anchor="t"/>
          <a:lstStyle/>
          <a:p>
            <a:pPr marL="0" indent="0" algn="l">
              <a:buNone/>
            </a:pPr>
            <a:r>
              <a:rPr lang="en-US" sz="4200" b="1" dirty="0">
                <a:solidFill>
                  <a:srgbClr val="FFFFFF"/>
                </a:solidFill>
              </a:rPr>
              <a:t>Produire l'indice</a:t>
            </a:r>
            <a:endParaRPr lang="en-US" sz="4200" dirty="0"/>
          </a:p>
        </p:txBody>
      </p:sp>
      <p:sp>
        <p:nvSpPr>
          <p:cNvPr id="4" name="Text 0"/>
          <p:cNvSpPr>
            <a:spLocks noGrp="1"/>
          </p:cNvSpPr>
          <p:nvPr>
            <p:ph type="body" idx="102" hasCustomPrompt="1"/>
          </p:nvPr>
        </p:nvSpPr>
        <p:spPr>
          <a:xfrm>
            <a:off x="731520" y="3977640"/>
            <a:ext cx="7589520" cy="822960"/>
          </a:xfrm>
          <a:prstGeom prst="rect">
            <a:avLst/>
          </a:prstGeom>
          <a:noFill/>
          <a:ln/>
        </p:spPr>
        <p:txBody>
          <a:bodyPr wrap="square" rtlCol="0" anchor="t"/>
          <a:lstStyle/>
          <a:p>
            <a:pPr marL="0" indent="0">
              <a:buNone/>
            </a:pPr>
            <a:r>
              <a:rPr lang="en-US" sz="1900" i="1" dirty="0">
                <a:solidFill>
                  <a:srgbClr val="E6F6EE"/>
                </a:solidFill>
              </a:rPr>
              <a:t>Comment passe-t-on de milliers de prix relevés à un seul indice publié ?</a:t>
            </a:r>
            <a:endParaRPr lang="en-US" sz="1900" dirty="0"/>
          </a:p>
        </p:txBody>
      </p:sp>
      <p:sp>
        <p:nvSpPr>
          <p:cNvPr id="5" name="Cercle icône section"/>
          <p:cNvSpPr/>
          <p:nvPr/>
        </p:nvSpPr>
        <p:spPr>
          <a:xfrm>
            <a:off x="9079992" y="2340864"/>
            <a:ext cx="1280160" cy="1280160"/>
          </a:xfrm>
          <a:prstGeom prst="ellipse">
            <a:avLst/>
          </a:prstGeom>
          <a:solidFill>
            <a:srgbClr val="FFFFFF"/>
          </a:solidFill>
          <a:ln/>
        </p:spPr>
      </p:sp>
      <p:pic>
        <p:nvPicPr>
          <p:cNvPr id="6" name="Icône section" descr="preencoded.png"/>
          <p:cNvPicPr>
            <a:picLocks noChangeAspect="1"/>
          </p:cNvPicPr>
          <p:nvPr/>
        </p:nvPicPr>
        <p:blipFill>
          <a:blip r:embed="rId3"/>
          <a:stretch>
            <a:fillRect/>
          </a:stretch>
        </p:blipFill>
        <p:spPr>
          <a:xfrm>
            <a:off x="9372600" y="2633472"/>
            <a:ext cx="694944" cy="694944"/>
          </a:xfrm>
          <a:prstGeom prst="rect">
            <a:avLst/>
          </a:prstGeom>
        </p:spPr>
      </p:pic>
      <p:sp>
        <p:nvSpPr>
          <p:cNvPr id="7" name="Point de progression 1"/>
          <p:cNvSpPr/>
          <p:nvPr/>
        </p:nvSpPr>
        <p:spPr>
          <a:xfrm>
            <a:off x="731520" y="5989320"/>
            <a:ext cx="155448" cy="155448"/>
          </a:xfrm>
          <a:prstGeom prst="ellipse">
            <a:avLst/>
          </a:prstGeom>
          <a:solidFill>
            <a:srgbClr val="FFFFFF">
              <a:alpha val="40000"/>
            </a:srgbClr>
          </a:solidFill>
          <a:ln/>
        </p:spPr>
      </p:sp>
      <p:sp>
        <p:nvSpPr>
          <p:cNvPr id="8" name="Point de progression 2"/>
          <p:cNvSpPr/>
          <p:nvPr/>
        </p:nvSpPr>
        <p:spPr>
          <a:xfrm>
            <a:off x="1024128" y="5989320"/>
            <a:ext cx="155448" cy="155448"/>
          </a:xfrm>
          <a:prstGeom prst="ellipse">
            <a:avLst/>
          </a:prstGeom>
          <a:solidFill>
            <a:srgbClr val="FFFFFF">
              <a:alpha val="40000"/>
            </a:srgbClr>
          </a:solidFill>
          <a:ln/>
        </p:spPr>
      </p:sp>
      <p:sp>
        <p:nvSpPr>
          <p:cNvPr id="9" name="Point de progression 3"/>
          <p:cNvSpPr/>
          <p:nvPr/>
        </p:nvSpPr>
        <p:spPr>
          <a:xfrm>
            <a:off x="1316736" y="5989320"/>
            <a:ext cx="155448" cy="155448"/>
          </a:xfrm>
          <a:prstGeom prst="ellipse">
            <a:avLst/>
          </a:prstGeom>
          <a:solidFill>
            <a:srgbClr val="F5C242"/>
          </a:solidFill>
          <a:ln/>
        </p:spPr>
      </p:sp>
      <p:sp>
        <p:nvSpPr>
          <p:cNvPr id="10" name="Point de progression 4"/>
          <p:cNvSpPr/>
          <p:nvPr/>
        </p:nvSpPr>
        <p:spPr>
          <a:xfrm>
            <a:off x="1609344" y="5989320"/>
            <a:ext cx="155448" cy="155448"/>
          </a:xfrm>
          <a:prstGeom prst="ellipse">
            <a:avLst/>
          </a:prstGeom>
          <a:solidFill>
            <a:srgbClr val="FFFFFF">
              <a:alpha val="40000"/>
            </a:srgbClr>
          </a:solidFill>
          <a:ln/>
        </p:spPr>
      </p:sp>
      <p:sp>
        <p:nvSpPr>
          <p:cNvPr id="11" name="Point de progression 5"/>
          <p:cNvSpPr/>
          <p:nvPr/>
        </p:nvSpPr>
        <p:spPr>
          <a:xfrm>
            <a:off x="1901952" y="5989320"/>
            <a:ext cx="155448" cy="155448"/>
          </a:xfrm>
          <a:prstGeom prst="ellipse">
            <a:avLst/>
          </a:prstGeom>
          <a:solidFill>
            <a:srgbClr val="FFFFFF">
              <a:alpha val="40000"/>
            </a:srgbClr>
          </a:solidFill>
          <a:ln/>
        </p:spPr>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03 · PRODUIRE L'INDICE</a:t>
            </a:r>
            <a:endParaRPr lang="en-US" sz="1200" dirty="0"/>
          </a:p>
        </p:txBody>
      </p:sp>
      <p:sp>
        <p:nvSpPr>
          <p:cNvPr id="3" name="Point de progression 1"/>
          <p:cNvSpPr/>
          <p:nvPr/>
        </p:nvSpPr>
        <p:spPr>
          <a:xfrm>
            <a:off x="10561320" y="365760"/>
            <a:ext cx="128016" cy="128016"/>
          </a:xfrm>
          <a:prstGeom prst="ellipse">
            <a:avLst/>
          </a:prstGeom>
          <a:solidFill>
            <a:srgbClr val="D5DED9"/>
          </a:solidFill>
          <a:ln/>
        </p:spPr>
      </p:sp>
      <p:sp>
        <p:nvSpPr>
          <p:cNvPr id="4" name="Point de progression 2"/>
          <p:cNvSpPr/>
          <p:nvPr/>
        </p:nvSpPr>
        <p:spPr>
          <a:xfrm>
            <a:off x="10789920" y="365760"/>
            <a:ext cx="128016" cy="128016"/>
          </a:xfrm>
          <a:prstGeom prst="ellipse">
            <a:avLst/>
          </a:prstGeom>
          <a:solidFill>
            <a:srgbClr val="D5DED9"/>
          </a:solidFill>
          <a:ln/>
        </p:spPr>
      </p:sp>
      <p:sp>
        <p:nvSpPr>
          <p:cNvPr id="5" name="Point de progression 3"/>
          <p:cNvSpPr/>
          <p:nvPr/>
        </p:nvSpPr>
        <p:spPr>
          <a:xfrm>
            <a:off x="11018520" y="365760"/>
            <a:ext cx="128016" cy="128016"/>
          </a:xfrm>
          <a:prstGeom prst="ellipse">
            <a:avLst/>
          </a:prstGeom>
          <a:solidFill>
            <a:srgbClr val="0E7C86"/>
          </a:solidFill>
          <a:ln/>
        </p:spPr>
      </p:sp>
      <p:sp>
        <p:nvSpPr>
          <p:cNvPr id="6" name="Point de progression 4"/>
          <p:cNvSpPr/>
          <p:nvPr/>
        </p:nvSpPr>
        <p:spPr>
          <a:xfrm>
            <a:off x="11247120" y="365760"/>
            <a:ext cx="128016" cy="128016"/>
          </a:xfrm>
          <a:prstGeom prst="ellipse">
            <a:avLst/>
          </a:prstGeom>
          <a:solidFill>
            <a:srgbClr val="D5DED9"/>
          </a:solidFill>
          <a:ln/>
        </p:spPr>
      </p:sp>
      <p:sp>
        <p:nvSpPr>
          <p:cNvPr id="7" name="Point de progression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La chaîne de production de l'IPC</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Deux temps : une base posée tous les cinq à dix ans, une production répétée chaque mois</a:t>
            </a:r>
            <a:endParaRPr lang="en-US" sz="1500" dirty="0"/>
          </a:p>
        </p:txBody>
      </p:sp>
      <p:sp>
        <p:nvSpPr>
          <p:cNvPr id="10" name="Text 8"/>
          <p:cNvSpPr txBox="1"/>
          <p:nvPr/>
        </p:nvSpPr>
        <p:spPr>
          <a:xfrm>
            <a:off x="502920" y="1645920"/>
            <a:ext cx="5394960" cy="320040"/>
          </a:xfrm>
          <a:prstGeom prst="rect">
            <a:avLst/>
          </a:prstGeom>
          <a:noFill/>
          <a:ln/>
        </p:spPr>
        <p:txBody>
          <a:bodyPr wrap="square" lIns="0" tIns="0" rIns="0" bIns="0" rtlCol="0" anchor="ctr"/>
          <a:lstStyle/>
          <a:p>
            <a:pPr marL="0" indent="0">
              <a:buNone/>
            </a:pPr>
            <a:r>
              <a:rPr lang="en-US" sz="1200" b="1" kern="0" spc="200" dirty="0">
                <a:solidFill>
                  <a:srgbClr val="5E6964"/>
                </a:solidFill>
              </a:rPr>
              <a:t>TOUS LES 5 À 10 ANS · CHANGEMENT DE BASE</a:t>
            </a:r>
            <a:endParaRPr lang="en-US" sz="1200" dirty="0"/>
          </a:p>
        </p:txBody>
      </p:sp>
      <p:sp>
        <p:nvSpPr>
          <p:cNvPr id="11" name="Text 9"/>
          <p:cNvSpPr txBox="1"/>
          <p:nvPr/>
        </p:nvSpPr>
        <p:spPr>
          <a:xfrm>
            <a:off x="6153912" y="1645920"/>
            <a:ext cx="5394960" cy="320040"/>
          </a:xfrm>
          <a:prstGeom prst="rect">
            <a:avLst/>
          </a:prstGeom>
          <a:noFill/>
          <a:ln/>
        </p:spPr>
        <p:txBody>
          <a:bodyPr wrap="square" lIns="0" tIns="0" rIns="0" bIns="0" rtlCol="0" anchor="ctr"/>
          <a:lstStyle/>
          <a:p>
            <a:pPr marL="0" indent="0">
              <a:buNone/>
            </a:pPr>
            <a:r>
              <a:rPr lang="en-US" sz="1200" b="1" kern="0" spc="200" dirty="0">
                <a:solidFill>
                  <a:srgbClr val="00704A"/>
                </a:solidFill>
              </a:rPr>
              <a:t>CHAQUE MOIS · PRODUCTION</a:t>
            </a:r>
            <a:endParaRPr lang="en-US" sz="1200" dirty="0"/>
          </a:p>
        </p:txBody>
      </p:sp>
      <p:sp>
        <p:nvSpPr>
          <p:cNvPr id="12" name="Carte chaîne 1"/>
          <p:cNvSpPr/>
          <p:nvPr/>
        </p:nvSpPr>
        <p:spPr>
          <a:xfrm>
            <a:off x="502920" y="2057400"/>
            <a:ext cx="1664208" cy="2377440"/>
          </a:xfrm>
          <a:prstGeom prst="roundRect">
            <a:avLst>
              <a:gd name="adj" fmla="val 4396"/>
            </a:avLst>
          </a:prstGeom>
          <a:solidFill>
            <a:srgbClr val="F4F7F5"/>
          </a:solidFill>
          <a:ln w="9525">
            <a:solidFill>
              <a:srgbClr val="D5DED9"/>
            </a:solidFill>
            <a:prstDash val="solid"/>
          </a:ln>
        </p:spPr>
      </p:sp>
      <p:sp>
        <p:nvSpPr>
          <p:cNvPr id="13" name="Chaîne 1 cercle"/>
          <p:cNvSpPr/>
          <p:nvPr/>
        </p:nvSpPr>
        <p:spPr>
          <a:xfrm>
            <a:off x="960120" y="2240280"/>
            <a:ext cx="749808" cy="749808"/>
          </a:xfrm>
          <a:prstGeom prst="ellipse">
            <a:avLst/>
          </a:prstGeom>
          <a:solidFill>
            <a:srgbClr val="5E6964">
              <a:alpha val="22000"/>
            </a:srgbClr>
          </a:solidFill>
          <a:ln/>
        </p:spPr>
      </p:sp>
      <p:pic>
        <p:nvPicPr>
          <p:cNvPr id="14" name="Chaîne 1 icône" descr="preencoded.png"/>
          <p:cNvPicPr>
            <a:picLocks noChangeAspect="1"/>
          </p:cNvPicPr>
          <p:nvPr/>
        </p:nvPicPr>
        <p:blipFill>
          <a:blip r:embed="rId3"/>
          <a:stretch>
            <a:fillRect/>
          </a:stretch>
        </p:blipFill>
        <p:spPr>
          <a:xfrm>
            <a:off x="1147572" y="2427732"/>
            <a:ext cx="374904" cy="374904"/>
          </a:xfrm>
          <a:prstGeom prst="rect">
            <a:avLst/>
          </a:prstGeom>
        </p:spPr>
      </p:pic>
      <p:sp>
        <p:nvSpPr>
          <p:cNvPr id="15" name="Text 12"/>
          <p:cNvSpPr txBox="1"/>
          <p:nvPr/>
        </p:nvSpPr>
        <p:spPr>
          <a:xfrm>
            <a:off x="594360" y="3108960"/>
            <a:ext cx="1481328" cy="566928"/>
          </a:xfrm>
          <a:prstGeom prst="rect">
            <a:avLst/>
          </a:prstGeom>
          <a:noFill/>
          <a:ln/>
        </p:spPr>
        <p:txBody>
          <a:bodyPr wrap="square" lIns="0" tIns="0" rIns="0" bIns="0" rtlCol="0" anchor="ctr"/>
          <a:lstStyle/>
          <a:p>
            <a:pPr marL="0" indent="0" algn="ctr">
              <a:buNone/>
            </a:pPr>
            <a:r>
              <a:rPr lang="en-US" sz="1500" b="1" dirty="0">
                <a:solidFill>
                  <a:srgbClr val="231F20"/>
                </a:solidFill>
              </a:rPr>
              <a:t>Enquête budget</a:t>
            </a:r>
            <a:endParaRPr lang="en-US" sz="1500" dirty="0"/>
          </a:p>
        </p:txBody>
      </p:sp>
      <p:sp>
        <p:nvSpPr>
          <p:cNvPr id="16" name="Text 13"/>
          <p:cNvSpPr txBox="1"/>
          <p:nvPr/>
        </p:nvSpPr>
        <p:spPr>
          <a:xfrm>
            <a:off x="594360" y="3703320"/>
            <a:ext cx="1481328" cy="640080"/>
          </a:xfrm>
          <a:prstGeom prst="rect">
            <a:avLst/>
          </a:prstGeom>
          <a:noFill/>
          <a:ln/>
        </p:spPr>
        <p:txBody>
          <a:bodyPr wrap="square" lIns="0" tIns="0" rIns="0" bIns="0" rtlCol="0" anchor="t"/>
          <a:lstStyle/>
          <a:p>
            <a:pPr marL="0" indent="0" algn="ctr">
              <a:buNone/>
            </a:pPr>
            <a:r>
              <a:rPr lang="en-US" sz="1200" dirty="0">
                <a:solidFill>
                  <a:srgbClr val="5E6964"/>
                </a:solidFill>
              </a:rPr>
              <a:t>Dépenses des ménages</a:t>
            </a:r>
            <a:endParaRPr lang="en-US" sz="1200" dirty="0"/>
          </a:p>
        </p:txBody>
      </p:sp>
      <p:pic>
        <p:nvPicPr>
          <p:cNvPr id="17" name="Flèche chaîne 1" descr="preencoded.png"/>
          <p:cNvPicPr>
            <a:picLocks noChangeAspect="1"/>
          </p:cNvPicPr>
          <p:nvPr/>
        </p:nvPicPr>
        <p:blipFill>
          <a:blip r:embed="rId4"/>
          <a:stretch>
            <a:fillRect/>
          </a:stretch>
        </p:blipFill>
        <p:spPr>
          <a:xfrm>
            <a:off x="2185416" y="3127248"/>
            <a:ext cx="182880" cy="182880"/>
          </a:xfrm>
          <a:prstGeom prst="rect">
            <a:avLst/>
          </a:prstGeom>
        </p:spPr>
      </p:pic>
      <p:sp>
        <p:nvSpPr>
          <p:cNvPr id="18" name="Carte chaîne 2"/>
          <p:cNvSpPr/>
          <p:nvPr/>
        </p:nvSpPr>
        <p:spPr>
          <a:xfrm>
            <a:off x="2386584" y="2057400"/>
            <a:ext cx="1664208" cy="2377440"/>
          </a:xfrm>
          <a:prstGeom prst="roundRect">
            <a:avLst>
              <a:gd name="adj" fmla="val 4396"/>
            </a:avLst>
          </a:prstGeom>
          <a:solidFill>
            <a:srgbClr val="F4F7F5"/>
          </a:solidFill>
          <a:ln w="9525">
            <a:solidFill>
              <a:srgbClr val="D5DED9"/>
            </a:solidFill>
            <a:prstDash val="solid"/>
          </a:ln>
        </p:spPr>
      </p:sp>
      <p:sp>
        <p:nvSpPr>
          <p:cNvPr id="19" name="Chaîne 2 cercle"/>
          <p:cNvSpPr/>
          <p:nvPr/>
        </p:nvSpPr>
        <p:spPr>
          <a:xfrm>
            <a:off x="2843784" y="2240280"/>
            <a:ext cx="749808" cy="749808"/>
          </a:xfrm>
          <a:prstGeom prst="ellipse">
            <a:avLst/>
          </a:prstGeom>
          <a:solidFill>
            <a:srgbClr val="5E6964">
              <a:alpha val="22000"/>
            </a:srgbClr>
          </a:solidFill>
          <a:ln/>
        </p:spPr>
      </p:sp>
      <p:pic>
        <p:nvPicPr>
          <p:cNvPr id="20" name="Chaîne 2 icône" descr="preencoded.png"/>
          <p:cNvPicPr>
            <a:picLocks noChangeAspect="1"/>
          </p:cNvPicPr>
          <p:nvPr/>
        </p:nvPicPr>
        <p:blipFill>
          <a:blip r:embed="rId5"/>
          <a:stretch>
            <a:fillRect/>
          </a:stretch>
        </p:blipFill>
        <p:spPr>
          <a:xfrm>
            <a:off x="3031236" y="2427732"/>
            <a:ext cx="374904" cy="374904"/>
          </a:xfrm>
          <a:prstGeom prst="rect">
            <a:avLst/>
          </a:prstGeom>
        </p:spPr>
      </p:pic>
      <p:sp>
        <p:nvSpPr>
          <p:cNvPr id="21" name="Text 16"/>
          <p:cNvSpPr txBox="1"/>
          <p:nvPr/>
        </p:nvSpPr>
        <p:spPr>
          <a:xfrm>
            <a:off x="2478024" y="3108960"/>
            <a:ext cx="1481328" cy="566928"/>
          </a:xfrm>
          <a:prstGeom prst="rect">
            <a:avLst/>
          </a:prstGeom>
          <a:noFill/>
          <a:ln/>
        </p:spPr>
        <p:txBody>
          <a:bodyPr wrap="square" lIns="0" tIns="0" rIns="0" bIns="0" rtlCol="0" anchor="ctr"/>
          <a:lstStyle/>
          <a:p>
            <a:pPr marL="0" indent="0" algn="ctr">
              <a:buNone/>
            </a:pPr>
            <a:r>
              <a:rPr lang="en-US" sz="1500" b="1" dirty="0">
                <a:solidFill>
                  <a:srgbClr val="231F20"/>
                </a:solidFill>
              </a:rPr>
              <a:t>Panier et poids</a:t>
            </a:r>
            <a:endParaRPr lang="en-US" sz="1500" dirty="0"/>
          </a:p>
        </p:txBody>
      </p:sp>
      <p:sp>
        <p:nvSpPr>
          <p:cNvPr id="22" name="Text 17"/>
          <p:cNvSpPr txBox="1"/>
          <p:nvPr/>
        </p:nvSpPr>
        <p:spPr>
          <a:xfrm>
            <a:off x="2478024" y="3703320"/>
            <a:ext cx="1481328" cy="640080"/>
          </a:xfrm>
          <a:prstGeom prst="rect">
            <a:avLst/>
          </a:prstGeom>
          <a:noFill/>
          <a:ln/>
        </p:spPr>
        <p:txBody>
          <a:bodyPr wrap="square" lIns="0" tIns="0" rIns="0" bIns="0" rtlCol="0" anchor="t"/>
          <a:lstStyle/>
          <a:p>
            <a:pPr marL="0" indent="0" algn="ctr">
              <a:buNone/>
            </a:pPr>
            <a:r>
              <a:rPr lang="en-US" sz="1200" dirty="0">
                <a:solidFill>
                  <a:srgbClr val="5E6964"/>
                </a:solidFill>
              </a:rPr>
              <a:t>Variétés et pondérations</a:t>
            </a:r>
            <a:endParaRPr lang="en-US" sz="1200" dirty="0"/>
          </a:p>
        </p:txBody>
      </p:sp>
      <p:pic>
        <p:nvPicPr>
          <p:cNvPr id="23" name="Flèche chaîne 2" descr="preencoded.png"/>
          <p:cNvPicPr>
            <a:picLocks noChangeAspect="1"/>
          </p:cNvPicPr>
          <p:nvPr/>
        </p:nvPicPr>
        <p:blipFill>
          <a:blip r:embed="rId4"/>
          <a:stretch>
            <a:fillRect/>
          </a:stretch>
        </p:blipFill>
        <p:spPr>
          <a:xfrm>
            <a:off x="4069080" y="3127248"/>
            <a:ext cx="182880" cy="182880"/>
          </a:xfrm>
          <a:prstGeom prst="rect">
            <a:avLst/>
          </a:prstGeom>
        </p:spPr>
      </p:pic>
      <p:sp>
        <p:nvSpPr>
          <p:cNvPr id="24" name="Carte chaîne 3"/>
          <p:cNvSpPr/>
          <p:nvPr/>
        </p:nvSpPr>
        <p:spPr>
          <a:xfrm>
            <a:off x="4270248" y="2057400"/>
            <a:ext cx="1664208" cy="2377440"/>
          </a:xfrm>
          <a:prstGeom prst="roundRect">
            <a:avLst>
              <a:gd name="adj" fmla="val 4396"/>
            </a:avLst>
          </a:prstGeom>
          <a:solidFill>
            <a:srgbClr val="F4F7F5"/>
          </a:solidFill>
          <a:ln w="9525">
            <a:solidFill>
              <a:srgbClr val="D5DED9"/>
            </a:solidFill>
            <a:prstDash val="solid"/>
          </a:ln>
        </p:spPr>
      </p:sp>
      <p:sp>
        <p:nvSpPr>
          <p:cNvPr id="25" name="Chaîne 3 cercle"/>
          <p:cNvSpPr/>
          <p:nvPr/>
        </p:nvSpPr>
        <p:spPr>
          <a:xfrm>
            <a:off x="4727448" y="2240280"/>
            <a:ext cx="749808" cy="749808"/>
          </a:xfrm>
          <a:prstGeom prst="ellipse">
            <a:avLst/>
          </a:prstGeom>
          <a:solidFill>
            <a:srgbClr val="5E6964">
              <a:alpha val="22000"/>
            </a:srgbClr>
          </a:solidFill>
          <a:ln/>
        </p:spPr>
      </p:sp>
      <p:pic>
        <p:nvPicPr>
          <p:cNvPr id="26" name="Chaîne 3 icône" descr="preencoded.png"/>
          <p:cNvPicPr>
            <a:picLocks noChangeAspect="1"/>
          </p:cNvPicPr>
          <p:nvPr/>
        </p:nvPicPr>
        <p:blipFill>
          <a:blip r:embed="rId6"/>
          <a:stretch>
            <a:fillRect/>
          </a:stretch>
        </p:blipFill>
        <p:spPr>
          <a:xfrm>
            <a:off x="4914900" y="2427732"/>
            <a:ext cx="374904" cy="374904"/>
          </a:xfrm>
          <a:prstGeom prst="rect">
            <a:avLst/>
          </a:prstGeom>
        </p:spPr>
      </p:pic>
      <p:sp>
        <p:nvSpPr>
          <p:cNvPr id="27" name="Text 20"/>
          <p:cNvSpPr txBox="1"/>
          <p:nvPr/>
        </p:nvSpPr>
        <p:spPr>
          <a:xfrm>
            <a:off x="4361688" y="3108960"/>
            <a:ext cx="1481328" cy="566928"/>
          </a:xfrm>
          <a:prstGeom prst="rect">
            <a:avLst/>
          </a:prstGeom>
          <a:noFill/>
          <a:ln/>
        </p:spPr>
        <p:txBody>
          <a:bodyPr wrap="square" lIns="0" tIns="0" rIns="0" bIns="0" rtlCol="0" anchor="ctr"/>
          <a:lstStyle/>
          <a:p>
            <a:pPr marL="0" indent="0" algn="ctr">
              <a:buNone/>
            </a:pPr>
            <a:r>
              <a:rPr lang="en-US" sz="1500" b="1" dirty="0">
                <a:solidFill>
                  <a:srgbClr val="231F20"/>
                </a:solidFill>
              </a:rPr>
              <a:t>Échantillon</a:t>
            </a:r>
            <a:endParaRPr lang="en-US" sz="1500" dirty="0"/>
          </a:p>
        </p:txBody>
      </p:sp>
      <p:sp>
        <p:nvSpPr>
          <p:cNvPr id="28" name="Text 21"/>
          <p:cNvSpPr txBox="1"/>
          <p:nvPr/>
        </p:nvSpPr>
        <p:spPr>
          <a:xfrm>
            <a:off x="4361688" y="3703320"/>
            <a:ext cx="1481328" cy="640080"/>
          </a:xfrm>
          <a:prstGeom prst="rect">
            <a:avLst/>
          </a:prstGeom>
          <a:noFill/>
          <a:ln/>
        </p:spPr>
        <p:txBody>
          <a:bodyPr wrap="square" lIns="0" tIns="0" rIns="0" bIns="0" rtlCol="0" anchor="t"/>
          <a:lstStyle/>
          <a:p>
            <a:pPr marL="0" indent="0" algn="ctr">
              <a:buNone/>
            </a:pPr>
            <a:r>
              <a:rPr lang="en-US" sz="1200" dirty="0">
                <a:solidFill>
                  <a:srgbClr val="5E6964"/>
                </a:solidFill>
              </a:rPr>
              <a:t>Points de vente, localités</a:t>
            </a:r>
            <a:endParaRPr lang="en-US" sz="1200" dirty="0"/>
          </a:p>
        </p:txBody>
      </p:sp>
      <p:pic>
        <p:nvPicPr>
          <p:cNvPr id="29" name="Flèche chaîne 3" descr="preencoded.png"/>
          <p:cNvPicPr>
            <a:picLocks noChangeAspect="1"/>
          </p:cNvPicPr>
          <p:nvPr/>
        </p:nvPicPr>
        <p:blipFill>
          <a:blip r:embed="rId4"/>
          <a:stretch>
            <a:fillRect/>
          </a:stretch>
        </p:blipFill>
        <p:spPr>
          <a:xfrm>
            <a:off x="5952744" y="3127248"/>
            <a:ext cx="182880" cy="182880"/>
          </a:xfrm>
          <a:prstGeom prst="rect">
            <a:avLst/>
          </a:prstGeom>
        </p:spPr>
      </p:pic>
      <p:sp>
        <p:nvSpPr>
          <p:cNvPr id="30" name="Carte chaîne 4"/>
          <p:cNvSpPr/>
          <p:nvPr/>
        </p:nvSpPr>
        <p:spPr>
          <a:xfrm>
            <a:off x="6153912" y="2057400"/>
            <a:ext cx="1664208" cy="2377440"/>
          </a:xfrm>
          <a:prstGeom prst="roundRect">
            <a:avLst>
              <a:gd name="adj" fmla="val 4396"/>
            </a:avLst>
          </a:prstGeom>
          <a:solidFill>
            <a:srgbClr val="E8F5EF"/>
          </a:solidFill>
          <a:ln w="19050">
            <a:solidFill>
              <a:srgbClr val="00A86A"/>
            </a:solidFill>
            <a:prstDash val="solid"/>
          </a:ln>
        </p:spPr>
      </p:sp>
      <p:sp>
        <p:nvSpPr>
          <p:cNvPr id="31" name="Chaîne 4 cercle"/>
          <p:cNvSpPr/>
          <p:nvPr/>
        </p:nvSpPr>
        <p:spPr>
          <a:xfrm>
            <a:off x="6611112" y="2240280"/>
            <a:ext cx="749808" cy="749808"/>
          </a:xfrm>
          <a:prstGeom prst="ellipse">
            <a:avLst/>
          </a:prstGeom>
          <a:solidFill>
            <a:srgbClr val="00A86A">
              <a:alpha val="22000"/>
            </a:srgbClr>
          </a:solidFill>
          <a:ln/>
        </p:spPr>
      </p:sp>
      <p:pic>
        <p:nvPicPr>
          <p:cNvPr id="32" name="Chaîne 4 icône" descr="preencoded.png"/>
          <p:cNvPicPr>
            <a:picLocks noChangeAspect="1"/>
          </p:cNvPicPr>
          <p:nvPr/>
        </p:nvPicPr>
        <p:blipFill>
          <a:blip r:embed="rId7"/>
          <a:stretch>
            <a:fillRect/>
          </a:stretch>
        </p:blipFill>
        <p:spPr>
          <a:xfrm>
            <a:off x="6798564" y="2427732"/>
            <a:ext cx="374904" cy="374904"/>
          </a:xfrm>
          <a:prstGeom prst="rect">
            <a:avLst/>
          </a:prstGeom>
        </p:spPr>
      </p:pic>
      <p:sp>
        <p:nvSpPr>
          <p:cNvPr id="33" name="Text 24"/>
          <p:cNvSpPr txBox="1"/>
          <p:nvPr/>
        </p:nvSpPr>
        <p:spPr>
          <a:xfrm>
            <a:off x="6245352" y="3108960"/>
            <a:ext cx="1481328" cy="566928"/>
          </a:xfrm>
          <a:prstGeom prst="rect">
            <a:avLst/>
          </a:prstGeom>
          <a:noFill/>
          <a:ln/>
        </p:spPr>
        <p:txBody>
          <a:bodyPr wrap="square" lIns="0" tIns="0" rIns="0" bIns="0" rtlCol="0" anchor="ctr"/>
          <a:lstStyle/>
          <a:p>
            <a:pPr marL="0" indent="0" algn="ctr">
              <a:buNone/>
            </a:pPr>
            <a:r>
              <a:rPr lang="en-US" sz="1500" b="1" dirty="0">
                <a:solidFill>
                  <a:srgbClr val="231F20"/>
                </a:solidFill>
              </a:rPr>
              <a:t>Collecte</a:t>
            </a:r>
            <a:endParaRPr lang="en-US" sz="1500" dirty="0"/>
          </a:p>
        </p:txBody>
      </p:sp>
      <p:sp>
        <p:nvSpPr>
          <p:cNvPr id="34" name="Text 25"/>
          <p:cNvSpPr txBox="1"/>
          <p:nvPr/>
        </p:nvSpPr>
        <p:spPr>
          <a:xfrm>
            <a:off x="6245352" y="3703320"/>
            <a:ext cx="1481328" cy="640080"/>
          </a:xfrm>
          <a:prstGeom prst="rect">
            <a:avLst/>
          </a:prstGeom>
          <a:noFill/>
          <a:ln/>
        </p:spPr>
        <p:txBody>
          <a:bodyPr wrap="square" lIns="0" tIns="0" rIns="0" bIns="0" rtlCol="0" anchor="t"/>
          <a:lstStyle/>
          <a:p>
            <a:pPr marL="0" indent="0" algn="ctr">
              <a:buNone/>
            </a:pPr>
            <a:r>
              <a:rPr lang="en-US" sz="1200" dirty="0">
                <a:solidFill>
                  <a:srgbClr val="5E6964"/>
                </a:solidFill>
              </a:rPr>
              <a:t>Relevés de prix mensuels</a:t>
            </a:r>
            <a:endParaRPr lang="en-US" sz="1200" dirty="0"/>
          </a:p>
        </p:txBody>
      </p:sp>
      <p:pic>
        <p:nvPicPr>
          <p:cNvPr id="35" name="Flèche chaîne 4" descr="preencoded.png"/>
          <p:cNvPicPr>
            <a:picLocks noChangeAspect="1"/>
          </p:cNvPicPr>
          <p:nvPr/>
        </p:nvPicPr>
        <p:blipFill>
          <a:blip r:embed="rId4"/>
          <a:stretch>
            <a:fillRect/>
          </a:stretch>
        </p:blipFill>
        <p:spPr>
          <a:xfrm>
            <a:off x="7836408" y="3127248"/>
            <a:ext cx="182880" cy="182880"/>
          </a:xfrm>
          <a:prstGeom prst="rect">
            <a:avLst/>
          </a:prstGeom>
        </p:spPr>
      </p:pic>
      <p:sp>
        <p:nvSpPr>
          <p:cNvPr id="36" name="Carte chaîne 5"/>
          <p:cNvSpPr/>
          <p:nvPr/>
        </p:nvSpPr>
        <p:spPr>
          <a:xfrm>
            <a:off x="8037576" y="2057400"/>
            <a:ext cx="1664208" cy="2377440"/>
          </a:xfrm>
          <a:prstGeom prst="roundRect">
            <a:avLst>
              <a:gd name="adj" fmla="val 4396"/>
            </a:avLst>
          </a:prstGeom>
          <a:solidFill>
            <a:srgbClr val="E8F5EF"/>
          </a:solidFill>
          <a:ln w="19050">
            <a:solidFill>
              <a:srgbClr val="00A86A"/>
            </a:solidFill>
            <a:prstDash val="solid"/>
          </a:ln>
        </p:spPr>
      </p:sp>
      <p:sp>
        <p:nvSpPr>
          <p:cNvPr id="37" name="Chaîne 5 cercle"/>
          <p:cNvSpPr/>
          <p:nvPr/>
        </p:nvSpPr>
        <p:spPr>
          <a:xfrm>
            <a:off x="8494776" y="2240280"/>
            <a:ext cx="749808" cy="749808"/>
          </a:xfrm>
          <a:prstGeom prst="ellipse">
            <a:avLst/>
          </a:prstGeom>
          <a:solidFill>
            <a:srgbClr val="00A86A">
              <a:alpha val="22000"/>
            </a:srgbClr>
          </a:solidFill>
          <a:ln/>
        </p:spPr>
      </p:sp>
      <p:pic>
        <p:nvPicPr>
          <p:cNvPr id="38" name="Chaîne 5 icône" descr="preencoded.png"/>
          <p:cNvPicPr>
            <a:picLocks noChangeAspect="1"/>
          </p:cNvPicPr>
          <p:nvPr/>
        </p:nvPicPr>
        <p:blipFill>
          <a:blip r:embed="rId8"/>
          <a:stretch>
            <a:fillRect/>
          </a:stretch>
        </p:blipFill>
        <p:spPr>
          <a:xfrm>
            <a:off x="8682228" y="2427732"/>
            <a:ext cx="374904" cy="374904"/>
          </a:xfrm>
          <a:prstGeom prst="rect">
            <a:avLst/>
          </a:prstGeom>
        </p:spPr>
      </p:pic>
      <p:sp>
        <p:nvSpPr>
          <p:cNvPr id="39" name="Text 28"/>
          <p:cNvSpPr txBox="1"/>
          <p:nvPr/>
        </p:nvSpPr>
        <p:spPr>
          <a:xfrm>
            <a:off x="8129016" y="3108960"/>
            <a:ext cx="1481328" cy="566928"/>
          </a:xfrm>
          <a:prstGeom prst="rect">
            <a:avLst/>
          </a:prstGeom>
          <a:noFill/>
          <a:ln/>
        </p:spPr>
        <p:txBody>
          <a:bodyPr wrap="square" lIns="0" tIns="0" rIns="0" bIns="0" rtlCol="0" anchor="ctr"/>
          <a:lstStyle/>
          <a:p>
            <a:pPr marL="0" indent="0" algn="ctr">
              <a:buNone/>
            </a:pPr>
            <a:r>
              <a:rPr lang="en-US" sz="1500" b="1" dirty="0">
                <a:solidFill>
                  <a:srgbClr val="231F20"/>
                </a:solidFill>
              </a:rPr>
              <a:t>Indices élémentaires</a:t>
            </a:r>
            <a:endParaRPr lang="en-US" sz="1500" dirty="0"/>
          </a:p>
        </p:txBody>
      </p:sp>
      <p:sp>
        <p:nvSpPr>
          <p:cNvPr id="40" name="Text 29"/>
          <p:cNvSpPr txBox="1"/>
          <p:nvPr/>
        </p:nvSpPr>
        <p:spPr>
          <a:xfrm>
            <a:off x="8129016" y="3703320"/>
            <a:ext cx="1481328" cy="640080"/>
          </a:xfrm>
          <a:prstGeom prst="rect">
            <a:avLst/>
          </a:prstGeom>
          <a:noFill/>
          <a:ln/>
        </p:spPr>
        <p:txBody>
          <a:bodyPr wrap="square" lIns="0" tIns="0" rIns="0" bIns="0" rtlCol="0" anchor="t"/>
          <a:lstStyle/>
          <a:p>
            <a:pPr marL="0" indent="0" algn="ctr">
              <a:buNone/>
            </a:pPr>
            <a:r>
              <a:rPr lang="en-US" sz="1200" dirty="0">
                <a:solidFill>
                  <a:srgbClr val="5E6964"/>
                </a:solidFill>
              </a:rPr>
              <a:t>Jevons par variété et localité</a:t>
            </a:r>
            <a:endParaRPr lang="en-US" sz="1200" dirty="0"/>
          </a:p>
        </p:txBody>
      </p:sp>
      <p:pic>
        <p:nvPicPr>
          <p:cNvPr id="41" name="Flèche chaîne 5" descr="preencoded.png"/>
          <p:cNvPicPr>
            <a:picLocks noChangeAspect="1"/>
          </p:cNvPicPr>
          <p:nvPr/>
        </p:nvPicPr>
        <p:blipFill>
          <a:blip r:embed="rId4"/>
          <a:stretch>
            <a:fillRect/>
          </a:stretch>
        </p:blipFill>
        <p:spPr>
          <a:xfrm>
            <a:off x="9720072" y="3127248"/>
            <a:ext cx="182880" cy="182880"/>
          </a:xfrm>
          <a:prstGeom prst="rect">
            <a:avLst/>
          </a:prstGeom>
        </p:spPr>
      </p:pic>
      <p:sp>
        <p:nvSpPr>
          <p:cNvPr id="42" name="Carte chaîne 6"/>
          <p:cNvSpPr/>
          <p:nvPr/>
        </p:nvSpPr>
        <p:spPr>
          <a:xfrm>
            <a:off x="9921240" y="2057400"/>
            <a:ext cx="1664208" cy="2377440"/>
          </a:xfrm>
          <a:prstGeom prst="roundRect">
            <a:avLst>
              <a:gd name="adj" fmla="val 4396"/>
            </a:avLst>
          </a:prstGeom>
          <a:solidFill>
            <a:srgbClr val="E8F5EF"/>
          </a:solidFill>
          <a:ln w="19050">
            <a:solidFill>
              <a:srgbClr val="00A86A"/>
            </a:solidFill>
            <a:prstDash val="solid"/>
          </a:ln>
        </p:spPr>
      </p:sp>
      <p:sp>
        <p:nvSpPr>
          <p:cNvPr id="43" name="Chaîne 6 cercle"/>
          <p:cNvSpPr/>
          <p:nvPr/>
        </p:nvSpPr>
        <p:spPr>
          <a:xfrm>
            <a:off x="10378440" y="2240280"/>
            <a:ext cx="749808" cy="749808"/>
          </a:xfrm>
          <a:prstGeom prst="ellipse">
            <a:avLst/>
          </a:prstGeom>
          <a:solidFill>
            <a:srgbClr val="00A86A">
              <a:alpha val="22000"/>
            </a:srgbClr>
          </a:solidFill>
          <a:ln/>
        </p:spPr>
      </p:sp>
      <p:pic>
        <p:nvPicPr>
          <p:cNvPr id="44" name="Chaîne 6 icône" descr="preencoded.png"/>
          <p:cNvPicPr>
            <a:picLocks noChangeAspect="1"/>
          </p:cNvPicPr>
          <p:nvPr/>
        </p:nvPicPr>
        <p:blipFill>
          <a:blip r:embed="rId9"/>
          <a:stretch>
            <a:fillRect/>
          </a:stretch>
        </p:blipFill>
        <p:spPr>
          <a:xfrm>
            <a:off x="10565892" y="2427732"/>
            <a:ext cx="374904" cy="374904"/>
          </a:xfrm>
          <a:prstGeom prst="rect">
            <a:avLst/>
          </a:prstGeom>
        </p:spPr>
      </p:pic>
      <p:sp>
        <p:nvSpPr>
          <p:cNvPr id="45" name="Text 32"/>
          <p:cNvSpPr txBox="1"/>
          <p:nvPr/>
        </p:nvSpPr>
        <p:spPr>
          <a:xfrm>
            <a:off x="10012680" y="3108960"/>
            <a:ext cx="1481328" cy="566928"/>
          </a:xfrm>
          <a:prstGeom prst="rect">
            <a:avLst/>
          </a:prstGeom>
          <a:noFill/>
          <a:ln/>
        </p:spPr>
        <p:txBody>
          <a:bodyPr wrap="square" lIns="0" tIns="0" rIns="0" bIns="0" rtlCol="0" anchor="ctr"/>
          <a:lstStyle/>
          <a:p>
            <a:pPr marL="0" indent="0" algn="ctr">
              <a:buNone/>
            </a:pPr>
            <a:r>
              <a:rPr lang="en-US" sz="1500" b="1" dirty="0">
                <a:solidFill>
                  <a:srgbClr val="231F20"/>
                </a:solidFill>
              </a:rPr>
              <a:t>Agrégation</a:t>
            </a:r>
            <a:endParaRPr lang="en-US" sz="1500" dirty="0"/>
          </a:p>
        </p:txBody>
      </p:sp>
      <p:sp>
        <p:nvSpPr>
          <p:cNvPr id="46" name="Text 33"/>
          <p:cNvSpPr txBox="1"/>
          <p:nvPr/>
        </p:nvSpPr>
        <p:spPr>
          <a:xfrm>
            <a:off x="10012680" y="3703320"/>
            <a:ext cx="1481328" cy="640080"/>
          </a:xfrm>
          <a:prstGeom prst="rect">
            <a:avLst/>
          </a:prstGeom>
          <a:noFill/>
          <a:ln/>
        </p:spPr>
        <p:txBody>
          <a:bodyPr wrap="square" lIns="0" tIns="0" rIns="0" bIns="0" rtlCol="0" anchor="t"/>
          <a:lstStyle/>
          <a:p>
            <a:pPr marL="0" indent="0" algn="ctr">
              <a:buNone/>
            </a:pPr>
            <a:r>
              <a:rPr lang="en-US" sz="1200" dirty="0">
                <a:solidFill>
                  <a:srgbClr val="5E6964"/>
                </a:solidFill>
              </a:rPr>
              <a:t>Pondération, publication</a:t>
            </a:r>
            <a:endParaRPr lang="en-US" sz="1200" dirty="0"/>
          </a:p>
        </p:txBody>
      </p:sp>
      <p:sp>
        <p:nvSpPr>
          <p:cNvPr id="47" name="Encadré contrôles"/>
          <p:cNvSpPr/>
          <p:nvPr/>
        </p:nvSpPr>
        <p:spPr>
          <a:xfrm>
            <a:off x="502920" y="4754880"/>
            <a:ext cx="11155680" cy="1234440"/>
          </a:xfrm>
          <a:prstGeom prst="roundRect">
            <a:avLst>
              <a:gd name="adj" fmla="val 5926"/>
            </a:avLst>
          </a:prstGeom>
          <a:solidFill>
            <a:srgbClr val="F4F7F5"/>
          </a:solidFill>
          <a:ln w="9525">
            <a:solidFill>
              <a:srgbClr val="D5DED9"/>
            </a:solidFill>
            <a:prstDash val="solid"/>
          </a:ln>
        </p:spPr>
      </p:sp>
      <p:sp>
        <p:nvSpPr>
          <p:cNvPr id="48" name="Contrôles cercle"/>
          <p:cNvSpPr/>
          <p:nvPr/>
        </p:nvSpPr>
        <p:spPr>
          <a:xfrm>
            <a:off x="731520" y="4983480"/>
            <a:ext cx="777240" cy="777240"/>
          </a:xfrm>
          <a:prstGeom prst="ellipse">
            <a:avLst/>
          </a:prstGeom>
          <a:solidFill>
            <a:srgbClr val="00A86A">
              <a:alpha val="22000"/>
            </a:srgbClr>
          </a:solidFill>
          <a:ln/>
        </p:spPr>
      </p:sp>
      <p:pic>
        <p:nvPicPr>
          <p:cNvPr id="49" name="Contrôles icône" descr="preencoded.png"/>
          <p:cNvPicPr>
            <a:picLocks noChangeAspect="1"/>
          </p:cNvPicPr>
          <p:nvPr/>
        </p:nvPicPr>
        <p:blipFill>
          <a:blip r:embed="rId10"/>
          <a:stretch>
            <a:fillRect/>
          </a:stretch>
        </p:blipFill>
        <p:spPr>
          <a:xfrm>
            <a:off x="925830" y="5177790"/>
            <a:ext cx="388620" cy="388620"/>
          </a:xfrm>
          <a:prstGeom prst="rect">
            <a:avLst/>
          </a:prstGeom>
        </p:spPr>
      </p:pic>
      <p:sp>
        <p:nvSpPr>
          <p:cNvPr id="50" name="Text 36"/>
          <p:cNvSpPr txBox="1"/>
          <p:nvPr/>
        </p:nvSpPr>
        <p:spPr>
          <a:xfrm>
            <a:off x="1737360" y="4754880"/>
            <a:ext cx="9692640" cy="1234440"/>
          </a:xfrm>
          <a:prstGeom prst="rect">
            <a:avLst/>
          </a:prstGeom>
          <a:noFill/>
          <a:ln/>
        </p:spPr>
        <p:txBody>
          <a:bodyPr wrap="square" lIns="0" tIns="0" rIns="0" bIns="0" rtlCol="0" anchor="ctr"/>
          <a:lstStyle/>
          <a:p>
            <a:pPr marL="0" indent="0">
              <a:buNone/>
            </a:pPr>
            <a:r>
              <a:rPr lang="en-US" sz="1500" b="1" dirty="0">
                <a:solidFill>
                  <a:srgbClr val="231F20"/>
                </a:solidFill>
              </a:rPr>
              <a:t>À chaque étape, des contrôles : </a:t>
            </a:r>
            <a:r>
              <a:rPr lang="en-US" sz="1500" dirty="0">
                <a:solidFill>
                  <a:srgbClr val="5E6964"/>
                </a:solidFill>
              </a:rPr>
              <a:t>prix aberrants, variétés manquantes, remplacements, cohérence entre localités et avec le mois précédent. Les écarts sont documentés avant publication.</a:t>
            </a:r>
            <a:endParaRPr lang="en-US" sz="1500" dirty="0"/>
          </a:p>
        </p:txBody>
      </p:sp>
      <p:sp>
        <p:nvSpPr>
          <p:cNvPr id="51"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15</a:t>
            </a:fld>
            <a:endParaRPr lang="en-US"/>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03 · PRODUIRE L'INDICE</a:t>
            </a:r>
            <a:endParaRPr lang="en-US" sz="1200" dirty="0"/>
          </a:p>
        </p:txBody>
      </p:sp>
      <p:sp>
        <p:nvSpPr>
          <p:cNvPr id="3" name="Point de progression 1"/>
          <p:cNvSpPr/>
          <p:nvPr/>
        </p:nvSpPr>
        <p:spPr>
          <a:xfrm>
            <a:off x="10561320" y="365760"/>
            <a:ext cx="128016" cy="128016"/>
          </a:xfrm>
          <a:prstGeom prst="ellipse">
            <a:avLst/>
          </a:prstGeom>
          <a:solidFill>
            <a:srgbClr val="D5DED9"/>
          </a:solidFill>
          <a:ln/>
        </p:spPr>
      </p:sp>
      <p:sp>
        <p:nvSpPr>
          <p:cNvPr id="4" name="Point de progression 2"/>
          <p:cNvSpPr/>
          <p:nvPr/>
        </p:nvSpPr>
        <p:spPr>
          <a:xfrm>
            <a:off x="10789920" y="365760"/>
            <a:ext cx="128016" cy="128016"/>
          </a:xfrm>
          <a:prstGeom prst="ellipse">
            <a:avLst/>
          </a:prstGeom>
          <a:solidFill>
            <a:srgbClr val="D5DED9"/>
          </a:solidFill>
          <a:ln/>
        </p:spPr>
      </p:sp>
      <p:sp>
        <p:nvSpPr>
          <p:cNvPr id="5" name="Point de progression 3"/>
          <p:cNvSpPr/>
          <p:nvPr/>
        </p:nvSpPr>
        <p:spPr>
          <a:xfrm>
            <a:off x="11018520" y="365760"/>
            <a:ext cx="128016" cy="128016"/>
          </a:xfrm>
          <a:prstGeom prst="ellipse">
            <a:avLst/>
          </a:prstGeom>
          <a:solidFill>
            <a:srgbClr val="0E7C86"/>
          </a:solidFill>
          <a:ln/>
        </p:spPr>
      </p:sp>
      <p:sp>
        <p:nvSpPr>
          <p:cNvPr id="6" name="Point de progression 4"/>
          <p:cNvSpPr/>
          <p:nvPr/>
        </p:nvSpPr>
        <p:spPr>
          <a:xfrm>
            <a:off x="11247120" y="365760"/>
            <a:ext cx="128016" cy="128016"/>
          </a:xfrm>
          <a:prstGeom prst="ellipse">
            <a:avLst/>
          </a:prstGeom>
          <a:solidFill>
            <a:srgbClr val="D5DED9"/>
          </a:solidFill>
          <a:ln/>
        </p:spPr>
      </p:sp>
      <p:sp>
        <p:nvSpPr>
          <p:cNvPr id="7" name="Point de progression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Collecter les prix : quatre sources complémentaires</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Le relevé de terrain reste la colonne vertébrale ; les sources numériques l'élargissent</a:t>
            </a:r>
            <a:endParaRPr lang="en-US" sz="1500" dirty="0"/>
          </a:p>
        </p:txBody>
      </p:sp>
      <p:sp>
        <p:nvSpPr>
          <p:cNvPr id="10" name="Carte source 1"/>
          <p:cNvSpPr/>
          <p:nvPr/>
        </p:nvSpPr>
        <p:spPr>
          <a:xfrm>
            <a:off x="502920" y="1783080"/>
            <a:ext cx="2651760" cy="4251960"/>
          </a:xfrm>
          <a:prstGeom prst="roundRect">
            <a:avLst>
              <a:gd name="adj" fmla="val 2759"/>
            </a:avLst>
          </a:prstGeom>
          <a:solidFill>
            <a:srgbClr val="F4F7F5"/>
          </a:solidFill>
          <a:ln w="9525">
            <a:solidFill>
              <a:srgbClr val="D5DED9"/>
            </a:solidFill>
            <a:prstDash val="solid"/>
          </a:ln>
        </p:spPr>
      </p:sp>
      <p:sp>
        <p:nvSpPr>
          <p:cNvPr id="11" name="Source 1 cercle"/>
          <p:cNvSpPr/>
          <p:nvPr/>
        </p:nvSpPr>
        <p:spPr>
          <a:xfrm>
            <a:off x="777240" y="2057400"/>
            <a:ext cx="731520" cy="731520"/>
          </a:xfrm>
          <a:prstGeom prst="ellipse">
            <a:avLst/>
          </a:prstGeom>
          <a:solidFill>
            <a:srgbClr val="00704A">
              <a:alpha val="22000"/>
            </a:srgbClr>
          </a:solidFill>
          <a:ln/>
        </p:spPr>
      </p:sp>
      <p:pic>
        <p:nvPicPr>
          <p:cNvPr id="12" name="Source 1 icône" descr="preencoded.png"/>
          <p:cNvPicPr>
            <a:picLocks noChangeAspect="1"/>
          </p:cNvPicPr>
          <p:nvPr/>
        </p:nvPicPr>
        <p:blipFill>
          <a:blip r:embed="rId3"/>
          <a:stretch>
            <a:fillRect/>
          </a:stretch>
        </p:blipFill>
        <p:spPr>
          <a:xfrm>
            <a:off x="960120" y="2240280"/>
            <a:ext cx="365760" cy="365760"/>
          </a:xfrm>
          <a:prstGeom prst="rect">
            <a:avLst/>
          </a:prstGeom>
        </p:spPr>
      </p:pic>
      <p:sp>
        <p:nvSpPr>
          <p:cNvPr id="13" name="Text 10"/>
          <p:cNvSpPr txBox="1"/>
          <p:nvPr/>
        </p:nvSpPr>
        <p:spPr>
          <a:xfrm>
            <a:off x="777240" y="2880360"/>
            <a:ext cx="2194560" cy="411480"/>
          </a:xfrm>
          <a:prstGeom prst="rect">
            <a:avLst/>
          </a:prstGeom>
          <a:noFill/>
          <a:ln/>
        </p:spPr>
        <p:txBody>
          <a:bodyPr wrap="square" lIns="0" tIns="0" rIns="0" bIns="0" rtlCol="0" anchor="ctr"/>
          <a:lstStyle/>
          <a:p>
            <a:pPr marL="0" indent="0">
              <a:buNone/>
            </a:pPr>
            <a:r>
              <a:rPr lang="en-US" sz="1700" b="1" dirty="0">
                <a:solidFill>
                  <a:srgbClr val="231F20"/>
                </a:solidFill>
              </a:rPr>
              <a:t>Relevé de terrain</a:t>
            </a:r>
            <a:endParaRPr lang="en-US" sz="1700" dirty="0"/>
          </a:p>
        </p:txBody>
      </p:sp>
      <p:sp>
        <p:nvSpPr>
          <p:cNvPr id="14" name="Text 11"/>
          <p:cNvSpPr txBox="1"/>
          <p:nvPr/>
        </p:nvSpPr>
        <p:spPr>
          <a:xfrm>
            <a:off x="777240" y="3291840"/>
            <a:ext cx="2194560" cy="1005840"/>
          </a:xfrm>
          <a:prstGeom prst="rect">
            <a:avLst/>
          </a:prstGeom>
          <a:noFill/>
          <a:ln/>
        </p:spPr>
        <p:txBody>
          <a:bodyPr wrap="square" lIns="0" tIns="0" rIns="0" bIns="0" rtlCol="0" anchor="t"/>
          <a:lstStyle/>
          <a:p>
            <a:pPr marL="0" indent="0">
              <a:buNone/>
            </a:pPr>
            <a:r>
              <a:rPr lang="en-US" sz="1300" dirty="0">
                <a:solidFill>
                  <a:srgbClr val="5E6964"/>
                </a:solidFill>
              </a:rPr>
              <a:t>Des enquêteurs relèvent les prix sur les marchés et en magasin, selon un calendrier fixe.</a:t>
            </a:r>
            <a:endParaRPr lang="en-US" sz="1300" dirty="0"/>
          </a:p>
        </p:txBody>
      </p:sp>
      <p:sp>
        <p:nvSpPr>
          <p:cNvPr id="15" name="Text 12"/>
          <p:cNvSpPr txBox="1"/>
          <p:nvPr/>
        </p:nvSpPr>
        <p:spPr>
          <a:xfrm>
            <a:off x="777240" y="4389120"/>
            <a:ext cx="2194560" cy="685800"/>
          </a:xfrm>
          <a:prstGeom prst="rect">
            <a:avLst/>
          </a:prstGeom>
          <a:noFill/>
          <a:ln/>
        </p:spPr>
        <p:txBody>
          <a:bodyPr wrap="square" lIns="0" tIns="0" rIns="0" bIns="0" rtlCol="0" anchor="t"/>
          <a:lstStyle/>
          <a:p>
            <a:pPr marL="0" indent="0">
              <a:buNone/>
            </a:pPr>
            <a:r>
              <a:rPr lang="en-US" sz="1300" b="1" dirty="0">
                <a:solidFill>
                  <a:srgbClr val="00A86A"/>
                </a:solidFill>
              </a:rPr>
              <a:t>+ </a:t>
            </a:r>
            <a:r>
              <a:rPr lang="en-US" sz="1300" dirty="0">
                <a:solidFill>
                  <a:srgbClr val="231F20"/>
                </a:solidFill>
              </a:rPr>
              <a:t>Couvre le marché informel et les marchés ruraux</a:t>
            </a:r>
            <a:endParaRPr lang="en-US" sz="1300" dirty="0"/>
          </a:p>
        </p:txBody>
      </p:sp>
      <p:sp>
        <p:nvSpPr>
          <p:cNvPr id="16" name="Text 13"/>
          <p:cNvSpPr txBox="1"/>
          <p:nvPr/>
        </p:nvSpPr>
        <p:spPr>
          <a:xfrm>
            <a:off x="777240" y="5074920"/>
            <a:ext cx="2194560" cy="822960"/>
          </a:xfrm>
          <a:prstGeom prst="rect">
            <a:avLst/>
          </a:prstGeom>
          <a:noFill/>
          <a:ln/>
        </p:spPr>
        <p:txBody>
          <a:bodyPr wrap="square" lIns="0" tIns="0" rIns="0" bIns="0" rtlCol="0" anchor="t"/>
          <a:lstStyle/>
          <a:p>
            <a:pPr marL="0" indent="0">
              <a:buNone/>
            </a:pPr>
            <a:r>
              <a:rPr lang="en-US" sz="1300" b="1" dirty="0">
                <a:solidFill>
                  <a:srgbClr val="B83B2E"/>
                </a:solidFill>
              </a:rPr>
              <a:t>− </a:t>
            </a:r>
            <a:r>
              <a:rPr lang="en-US" sz="1300" dirty="0">
                <a:solidFill>
                  <a:srgbClr val="231F20"/>
                </a:solidFill>
              </a:rPr>
              <a:t>Coûteux, échantillon limité</a:t>
            </a:r>
            <a:endParaRPr lang="en-US" sz="1300" dirty="0"/>
          </a:p>
        </p:txBody>
      </p:sp>
      <p:sp>
        <p:nvSpPr>
          <p:cNvPr id="17" name="Carte source 2"/>
          <p:cNvSpPr/>
          <p:nvPr/>
        </p:nvSpPr>
        <p:spPr>
          <a:xfrm>
            <a:off x="3337560" y="1783080"/>
            <a:ext cx="2651760" cy="4251960"/>
          </a:xfrm>
          <a:prstGeom prst="roundRect">
            <a:avLst>
              <a:gd name="adj" fmla="val 2759"/>
            </a:avLst>
          </a:prstGeom>
          <a:solidFill>
            <a:srgbClr val="F4F7F5"/>
          </a:solidFill>
          <a:ln w="9525">
            <a:solidFill>
              <a:srgbClr val="D5DED9"/>
            </a:solidFill>
            <a:prstDash val="solid"/>
          </a:ln>
        </p:spPr>
      </p:sp>
      <p:sp>
        <p:nvSpPr>
          <p:cNvPr id="18" name="Source 2 cercle"/>
          <p:cNvSpPr/>
          <p:nvPr/>
        </p:nvSpPr>
        <p:spPr>
          <a:xfrm>
            <a:off x="3611880" y="2057400"/>
            <a:ext cx="731520" cy="731520"/>
          </a:xfrm>
          <a:prstGeom prst="ellipse">
            <a:avLst/>
          </a:prstGeom>
          <a:solidFill>
            <a:srgbClr val="0E7C86">
              <a:alpha val="22000"/>
            </a:srgbClr>
          </a:solidFill>
          <a:ln/>
        </p:spPr>
      </p:sp>
      <p:pic>
        <p:nvPicPr>
          <p:cNvPr id="19" name="Source 2 icône" descr="preencoded.png"/>
          <p:cNvPicPr>
            <a:picLocks noChangeAspect="1"/>
          </p:cNvPicPr>
          <p:nvPr/>
        </p:nvPicPr>
        <p:blipFill>
          <a:blip r:embed="rId4"/>
          <a:stretch>
            <a:fillRect/>
          </a:stretch>
        </p:blipFill>
        <p:spPr>
          <a:xfrm>
            <a:off x="3794760" y="2240280"/>
            <a:ext cx="365760" cy="365760"/>
          </a:xfrm>
          <a:prstGeom prst="rect">
            <a:avLst/>
          </a:prstGeom>
        </p:spPr>
      </p:pic>
      <p:sp>
        <p:nvSpPr>
          <p:cNvPr id="20" name="Text 16"/>
          <p:cNvSpPr txBox="1"/>
          <p:nvPr/>
        </p:nvSpPr>
        <p:spPr>
          <a:xfrm>
            <a:off x="3611880" y="2880360"/>
            <a:ext cx="2194560" cy="411480"/>
          </a:xfrm>
          <a:prstGeom prst="rect">
            <a:avLst/>
          </a:prstGeom>
          <a:noFill/>
          <a:ln/>
        </p:spPr>
        <p:txBody>
          <a:bodyPr wrap="square" lIns="0" tIns="0" rIns="0" bIns="0" rtlCol="0" anchor="ctr"/>
          <a:lstStyle/>
          <a:p>
            <a:pPr marL="0" indent="0">
              <a:buNone/>
            </a:pPr>
            <a:r>
              <a:rPr lang="en-US" sz="1700" b="1" dirty="0">
                <a:solidFill>
                  <a:srgbClr val="231F20"/>
                </a:solidFill>
              </a:rPr>
              <a:t>Prix administrés</a:t>
            </a:r>
            <a:endParaRPr lang="en-US" sz="1700" dirty="0"/>
          </a:p>
        </p:txBody>
      </p:sp>
      <p:sp>
        <p:nvSpPr>
          <p:cNvPr id="21" name="Text 17"/>
          <p:cNvSpPr txBox="1"/>
          <p:nvPr/>
        </p:nvSpPr>
        <p:spPr>
          <a:xfrm>
            <a:off x="3611880" y="3291840"/>
            <a:ext cx="2194560" cy="1005840"/>
          </a:xfrm>
          <a:prstGeom prst="rect">
            <a:avLst/>
          </a:prstGeom>
          <a:noFill/>
          <a:ln/>
        </p:spPr>
        <p:txBody>
          <a:bodyPr wrap="square" lIns="0" tIns="0" rIns="0" bIns="0" rtlCol="0" anchor="t"/>
          <a:lstStyle/>
          <a:p>
            <a:pPr marL="0" indent="0">
              <a:buNone/>
            </a:pPr>
            <a:r>
              <a:rPr lang="en-US" sz="1300" dirty="0">
                <a:solidFill>
                  <a:srgbClr val="5E6964"/>
                </a:solidFill>
              </a:rPr>
              <a:t>Tarifs arrêtés et publiés : électricité, eau, carburants, transport réglementé.</a:t>
            </a:r>
            <a:endParaRPr lang="en-US" sz="1300" dirty="0"/>
          </a:p>
        </p:txBody>
      </p:sp>
      <p:sp>
        <p:nvSpPr>
          <p:cNvPr id="22" name="Text 18"/>
          <p:cNvSpPr txBox="1"/>
          <p:nvPr/>
        </p:nvSpPr>
        <p:spPr>
          <a:xfrm>
            <a:off x="3611880" y="4389120"/>
            <a:ext cx="2194560" cy="685800"/>
          </a:xfrm>
          <a:prstGeom prst="rect">
            <a:avLst/>
          </a:prstGeom>
          <a:noFill/>
          <a:ln/>
        </p:spPr>
        <p:txBody>
          <a:bodyPr wrap="square" lIns="0" tIns="0" rIns="0" bIns="0" rtlCol="0" anchor="t"/>
          <a:lstStyle/>
          <a:p>
            <a:pPr marL="0" indent="0">
              <a:buNone/>
            </a:pPr>
            <a:r>
              <a:rPr lang="en-US" sz="1300" b="1" dirty="0">
                <a:solidFill>
                  <a:srgbClr val="00A86A"/>
                </a:solidFill>
              </a:rPr>
              <a:t>+ </a:t>
            </a:r>
            <a:r>
              <a:rPr lang="en-US" sz="1300" dirty="0">
                <a:solidFill>
                  <a:srgbClr val="231F20"/>
                </a:solidFill>
              </a:rPr>
              <a:t>Exhaustifs et officiels</a:t>
            </a:r>
            <a:endParaRPr lang="en-US" sz="1300" dirty="0"/>
          </a:p>
        </p:txBody>
      </p:sp>
      <p:sp>
        <p:nvSpPr>
          <p:cNvPr id="23" name="Text 19"/>
          <p:cNvSpPr txBox="1"/>
          <p:nvPr/>
        </p:nvSpPr>
        <p:spPr>
          <a:xfrm>
            <a:off x="3611880" y="5074920"/>
            <a:ext cx="2194560" cy="822960"/>
          </a:xfrm>
          <a:prstGeom prst="rect">
            <a:avLst/>
          </a:prstGeom>
          <a:noFill/>
          <a:ln/>
        </p:spPr>
        <p:txBody>
          <a:bodyPr wrap="square" lIns="0" tIns="0" rIns="0" bIns="0" rtlCol="0" anchor="t"/>
          <a:lstStyle/>
          <a:p>
            <a:pPr marL="0" indent="0">
              <a:buNone/>
            </a:pPr>
            <a:r>
              <a:rPr lang="en-US" sz="1300" b="1" dirty="0">
                <a:solidFill>
                  <a:srgbClr val="B83B2E"/>
                </a:solidFill>
              </a:rPr>
              <a:t>− </a:t>
            </a:r>
            <a:r>
              <a:rPr lang="en-US" sz="1300" dirty="0">
                <a:solidFill>
                  <a:srgbClr val="231F20"/>
                </a:solidFill>
              </a:rPr>
              <a:t>Changent rarement : une révision passe vite inaperçue</a:t>
            </a:r>
            <a:endParaRPr lang="en-US" sz="1300" dirty="0"/>
          </a:p>
        </p:txBody>
      </p:sp>
      <p:sp>
        <p:nvSpPr>
          <p:cNvPr id="24" name="Carte source 3"/>
          <p:cNvSpPr/>
          <p:nvPr/>
        </p:nvSpPr>
        <p:spPr>
          <a:xfrm>
            <a:off x="6172200" y="1783080"/>
            <a:ext cx="2651760" cy="4251960"/>
          </a:xfrm>
          <a:prstGeom prst="roundRect">
            <a:avLst>
              <a:gd name="adj" fmla="val 2759"/>
            </a:avLst>
          </a:prstGeom>
          <a:solidFill>
            <a:srgbClr val="F4F7F5"/>
          </a:solidFill>
          <a:ln w="9525">
            <a:solidFill>
              <a:srgbClr val="D5DED9"/>
            </a:solidFill>
            <a:prstDash val="solid"/>
          </a:ln>
        </p:spPr>
      </p:sp>
      <p:sp>
        <p:nvSpPr>
          <p:cNvPr id="25" name="Source 3 cercle"/>
          <p:cNvSpPr/>
          <p:nvPr/>
        </p:nvSpPr>
        <p:spPr>
          <a:xfrm>
            <a:off x="6446520" y="2057400"/>
            <a:ext cx="731520" cy="731520"/>
          </a:xfrm>
          <a:prstGeom prst="ellipse">
            <a:avLst/>
          </a:prstGeom>
          <a:solidFill>
            <a:srgbClr val="C4621D">
              <a:alpha val="22000"/>
            </a:srgbClr>
          </a:solidFill>
          <a:ln/>
        </p:spPr>
      </p:sp>
      <p:pic>
        <p:nvPicPr>
          <p:cNvPr id="26" name="Source 3 icône" descr="preencoded.png"/>
          <p:cNvPicPr>
            <a:picLocks noChangeAspect="1"/>
          </p:cNvPicPr>
          <p:nvPr/>
        </p:nvPicPr>
        <p:blipFill>
          <a:blip r:embed="rId5"/>
          <a:stretch>
            <a:fillRect/>
          </a:stretch>
        </p:blipFill>
        <p:spPr>
          <a:xfrm>
            <a:off x="6629400" y="2240280"/>
            <a:ext cx="365760" cy="365760"/>
          </a:xfrm>
          <a:prstGeom prst="rect">
            <a:avLst/>
          </a:prstGeom>
        </p:spPr>
      </p:pic>
      <p:sp>
        <p:nvSpPr>
          <p:cNvPr id="27" name="Text 22"/>
          <p:cNvSpPr txBox="1"/>
          <p:nvPr/>
        </p:nvSpPr>
        <p:spPr>
          <a:xfrm>
            <a:off x="6446520" y="2880360"/>
            <a:ext cx="2194560" cy="411480"/>
          </a:xfrm>
          <a:prstGeom prst="rect">
            <a:avLst/>
          </a:prstGeom>
          <a:noFill/>
          <a:ln/>
        </p:spPr>
        <p:txBody>
          <a:bodyPr wrap="square" lIns="0" tIns="0" rIns="0" bIns="0" rtlCol="0" anchor="ctr"/>
          <a:lstStyle/>
          <a:p>
            <a:pPr marL="0" indent="0">
              <a:buNone/>
            </a:pPr>
            <a:r>
              <a:rPr lang="en-US" sz="1700" b="1" dirty="0">
                <a:solidFill>
                  <a:srgbClr val="231F20"/>
                </a:solidFill>
              </a:rPr>
              <a:t>Données de caisse</a:t>
            </a:r>
            <a:endParaRPr lang="en-US" sz="1700" dirty="0"/>
          </a:p>
        </p:txBody>
      </p:sp>
      <p:sp>
        <p:nvSpPr>
          <p:cNvPr id="28" name="Text 23"/>
          <p:cNvSpPr txBox="1"/>
          <p:nvPr/>
        </p:nvSpPr>
        <p:spPr>
          <a:xfrm>
            <a:off x="6446520" y="3291840"/>
            <a:ext cx="2194560" cy="1005840"/>
          </a:xfrm>
          <a:prstGeom prst="rect">
            <a:avLst/>
          </a:prstGeom>
          <a:noFill/>
          <a:ln/>
        </p:spPr>
        <p:txBody>
          <a:bodyPr wrap="square" lIns="0" tIns="0" rIns="0" bIns="0" rtlCol="0" anchor="t"/>
          <a:lstStyle/>
          <a:p>
            <a:pPr marL="0" indent="0">
              <a:buNone/>
            </a:pPr>
            <a:r>
              <a:rPr lang="en-US" sz="1300" dirty="0">
                <a:solidFill>
                  <a:srgbClr val="5E6964"/>
                </a:solidFill>
              </a:rPr>
              <a:t>Transactions des supermarchés : prix et quantités réellement vendus.</a:t>
            </a:r>
            <a:endParaRPr lang="en-US" sz="1300" dirty="0"/>
          </a:p>
        </p:txBody>
      </p:sp>
      <p:sp>
        <p:nvSpPr>
          <p:cNvPr id="29" name="Text 24"/>
          <p:cNvSpPr txBox="1"/>
          <p:nvPr/>
        </p:nvSpPr>
        <p:spPr>
          <a:xfrm>
            <a:off x="6446520" y="4389120"/>
            <a:ext cx="2194560" cy="685800"/>
          </a:xfrm>
          <a:prstGeom prst="rect">
            <a:avLst/>
          </a:prstGeom>
          <a:noFill/>
          <a:ln/>
        </p:spPr>
        <p:txBody>
          <a:bodyPr wrap="square" lIns="0" tIns="0" rIns="0" bIns="0" rtlCol="0" anchor="t"/>
          <a:lstStyle/>
          <a:p>
            <a:pPr marL="0" indent="0">
              <a:buNone/>
            </a:pPr>
            <a:r>
              <a:rPr lang="en-US" sz="1300" b="1" dirty="0">
                <a:solidFill>
                  <a:srgbClr val="00A86A"/>
                </a:solidFill>
              </a:rPr>
              <a:t>+ </a:t>
            </a:r>
            <a:r>
              <a:rPr lang="en-US" sz="1300" dirty="0">
                <a:solidFill>
                  <a:srgbClr val="231F20"/>
                </a:solidFill>
              </a:rPr>
              <a:t>Volumes énormes, quantités connues</a:t>
            </a:r>
            <a:endParaRPr lang="en-US" sz="1300" dirty="0"/>
          </a:p>
        </p:txBody>
      </p:sp>
      <p:sp>
        <p:nvSpPr>
          <p:cNvPr id="30" name="Text 25"/>
          <p:cNvSpPr txBox="1"/>
          <p:nvPr/>
        </p:nvSpPr>
        <p:spPr>
          <a:xfrm>
            <a:off x="6446520" y="5074920"/>
            <a:ext cx="2194560" cy="822960"/>
          </a:xfrm>
          <a:prstGeom prst="rect">
            <a:avLst/>
          </a:prstGeom>
          <a:noFill/>
          <a:ln/>
        </p:spPr>
        <p:txBody>
          <a:bodyPr wrap="square" lIns="0" tIns="0" rIns="0" bIns="0" rtlCol="0" anchor="t"/>
          <a:lstStyle/>
          <a:p>
            <a:pPr marL="0" indent="0">
              <a:buNone/>
            </a:pPr>
            <a:r>
              <a:rPr lang="en-US" sz="1300" b="1" dirty="0">
                <a:solidFill>
                  <a:srgbClr val="B83B2E"/>
                </a:solidFill>
              </a:rPr>
              <a:t>− </a:t>
            </a:r>
            <a:r>
              <a:rPr lang="en-US" sz="1300" dirty="0">
                <a:solidFill>
                  <a:srgbClr val="231F20"/>
                </a:solidFill>
              </a:rPr>
              <a:t>Accords à négocier, grande distribution seulement</a:t>
            </a:r>
            <a:endParaRPr lang="en-US" sz="1300" dirty="0"/>
          </a:p>
        </p:txBody>
      </p:sp>
      <p:sp>
        <p:nvSpPr>
          <p:cNvPr id="31" name="Carte source 4"/>
          <p:cNvSpPr/>
          <p:nvPr/>
        </p:nvSpPr>
        <p:spPr>
          <a:xfrm>
            <a:off x="9006840" y="1783080"/>
            <a:ext cx="2651760" cy="4251960"/>
          </a:xfrm>
          <a:prstGeom prst="roundRect">
            <a:avLst>
              <a:gd name="adj" fmla="val 2759"/>
            </a:avLst>
          </a:prstGeom>
          <a:solidFill>
            <a:srgbClr val="F4F7F5"/>
          </a:solidFill>
          <a:ln w="9525">
            <a:solidFill>
              <a:srgbClr val="D5DED9"/>
            </a:solidFill>
            <a:prstDash val="solid"/>
          </a:ln>
        </p:spPr>
      </p:sp>
      <p:sp>
        <p:nvSpPr>
          <p:cNvPr id="32" name="Source 4 cercle"/>
          <p:cNvSpPr/>
          <p:nvPr/>
        </p:nvSpPr>
        <p:spPr>
          <a:xfrm>
            <a:off x="9281160" y="2057400"/>
            <a:ext cx="731520" cy="731520"/>
          </a:xfrm>
          <a:prstGeom prst="ellipse">
            <a:avLst/>
          </a:prstGeom>
          <a:solidFill>
            <a:srgbClr val="00A86A">
              <a:alpha val="22000"/>
            </a:srgbClr>
          </a:solidFill>
          <a:ln/>
        </p:spPr>
      </p:sp>
      <p:pic>
        <p:nvPicPr>
          <p:cNvPr id="33" name="Source 4 icône" descr="preencoded.png"/>
          <p:cNvPicPr>
            <a:picLocks noChangeAspect="1"/>
          </p:cNvPicPr>
          <p:nvPr/>
        </p:nvPicPr>
        <p:blipFill>
          <a:blip r:embed="rId6"/>
          <a:stretch>
            <a:fillRect/>
          </a:stretch>
        </p:blipFill>
        <p:spPr>
          <a:xfrm>
            <a:off x="9464040" y="2240280"/>
            <a:ext cx="365760" cy="365760"/>
          </a:xfrm>
          <a:prstGeom prst="rect">
            <a:avLst/>
          </a:prstGeom>
        </p:spPr>
      </p:pic>
      <p:sp>
        <p:nvSpPr>
          <p:cNvPr id="34" name="Text 28"/>
          <p:cNvSpPr txBox="1"/>
          <p:nvPr/>
        </p:nvSpPr>
        <p:spPr>
          <a:xfrm>
            <a:off x="9281160" y="2880360"/>
            <a:ext cx="2194560" cy="411480"/>
          </a:xfrm>
          <a:prstGeom prst="rect">
            <a:avLst/>
          </a:prstGeom>
          <a:noFill/>
          <a:ln/>
        </p:spPr>
        <p:txBody>
          <a:bodyPr wrap="square" lIns="0" tIns="0" rIns="0" bIns="0" rtlCol="0" anchor="ctr"/>
          <a:lstStyle/>
          <a:p>
            <a:pPr marL="0" indent="0">
              <a:buNone/>
            </a:pPr>
            <a:r>
              <a:rPr lang="en-US" sz="1700" b="1" dirty="0">
                <a:solidFill>
                  <a:srgbClr val="231F20"/>
                </a:solidFill>
              </a:rPr>
              <a:t>Prix en ligne</a:t>
            </a:r>
            <a:endParaRPr lang="en-US" sz="1700" dirty="0"/>
          </a:p>
        </p:txBody>
      </p:sp>
      <p:sp>
        <p:nvSpPr>
          <p:cNvPr id="35" name="Text 29"/>
          <p:cNvSpPr txBox="1"/>
          <p:nvPr/>
        </p:nvSpPr>
        <p:spPr>
          <a:xfrm>
            <a:off x="9281160" y="3291840"/>
            <a:ext cx="2194560" cy="1005840"/>
          </a:xfrm>
          <a:prstGeom prst="rect">
            <a:avLst/>
          </a:prstGeom>
          <a:noFill/>
          <a:ln/>
        </p:spPr>
        <p:txBody>
          <a:bodyPr wrap="square" lIns="0" tIns="0" rIns="0" bIns="0" rtlCol="0" anchor="t"/>
          <a:lstStyle/>
          <a:p>
            <a:pPr marL="0" indent="0">
              <a:buNone/>
            </a:pPr>
            <a:r>
              <a:rPr lang="en-US" sz="1300" dirty="0">
                <a:solidFill>
                  <a:srgbClr val="5E6964"/>
                </a:solidFill>
              </a:rPr>
              <a:t>Collecte automatisée des prix affichés sur les sites marchands.</a:t>
            </a:r>
            <a:endParaRPr lang="en-US" sz="1300" dirty="0"/>
          </a:p>
        </p:txBody>
      </p:sp>
      <p:sp>
        <p:nvSpPr>
          <p:cNvPr id="36" name="Text 30"/>
          <p:cNvSpPr txBox="1"/>
          <p:nvPr/>
        </p:nvSpPr>
        <p:spPr>
          <a:xfrm>
            <a:off x="9281160" y="4389120"/>
            <a:ext cx="2194560" cy="685800"/>
          </a:xfrm>
          <a:prstGeom prst="rect">
            <a:avLst/>
          </a:prstGeom>
          <a:noFill/>
          <a:ln/>
        </p:spPr>
        <p:txBody>
          <a:bodyPr wrap="square" lIns="0" tIns="0" rIns="0" bIns="0" rtlCol="0" anchor="t"/>
          <a:lstStyle/>
          <a:p>
            <a:pPr marL="0" indent="0">
              <a:buNone/>
            </a:pPr>
            <a:r>
              <a:rPr lang="en-US" sz="1300" b="1" dirty="0">
                <a:solidFill>
                  <a:srgbClr val="00A86A"/>
                </a:solidFill>
              </a:rPr>
              <a:t>+ </a:t>
            </a:r>
            <a:r>
              <a:rPr lang="en-US" sz="1300" dirty="0">
                <a:solidFill>
                  <a:srgbClr val="231F20"/>
                </a:solidFill>
              </a:rPr>
              <a:t>Quotidien, peu coûteux, très détaillé</a:t>
            </a:r>
            <a:endParaRPr lang="en-US" sz="1300" dirty="0"/>
          </a:p>
        </p:txBody>
      </p:sp>
      <p:sp>
        <p:nvSpPr>
          <p:cNvPr id="37" name="Text 31"/>
          <p:cNvSpPr txBox="1"/>
          <p:nvPr/>
        </p:nvSpPr>
        <p:spPr>
          <a:xfrm>
            <a:off x="9281160" y="5074920"/>
            <a:ext cx="2194560" cy="822960"/>
          </a:xfrm>
          <a:prstGeom prst="rect">
            <a:avLst/>
          </a:prstGeom>
          <a:noFill/>
          <a:ln/>
        </p:spPr>
        <p:txBody>
          <a:bodyPr wrap="square" lIns="0" tIns="0" rIns="0" bIns="0" rtlCol="0" anchor="t"/>
          <a:lstStyle/>
          <a:p>
            <a:pPr marL="0" indent="0">
              <a:buNone/>
            </a:pPr>
            <a:r>
              <a:rPr lang="en-US" sz="1300" b="1" dirty="0">
                <a:solidFill>
                  <a:srgbClr val="B83B2E"/>
                </a:solidFill>
              </a:rPr>
              <a:t>− </a:t>
            </a:r>
            <a:r>
              <a:rPr lang="en-US" sz="1300" dirty="0">
                <a:solidFill>
                  <a:srgbClr val="231F20"/>
                </a:solidFill>
              </a:rPr>
              <a:t>Prix affichés, acheteurs urbains, promotions fréquentes</a:t>
            </a:r>
            <a:endParaRPr lang="en-US" sz="1300" dirty="0"/>
          </a:p>
        </p:txBody>
      </p:sp>
      <p:sp>
        <p:nvSpPr>
          <p:cNvPr id="38"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16</a:t>
            </a:fld>
            <a:endParaRPr lang="en-US"/>
          </a:p>
        </p:txBody>
      </p:sp>
    </p:spTree>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03 · PRODUIRE L'INDICE</a:t>
            </a:r>
            <a:endParaRPr lang="en-US" sz="1200" dirty="0"/>
          </a:p>
        </p:txBody>
      </p:sp>
      <p:sp>
        <p:nvSpPr>
          <p:cNvPr id="3" name="Point de progression 1"/>
          <p:cNvSpPr/>
          <p:nvPr/>
        </p:nvSpPr>
        <p:spPr>
          <a:xfrm>
            <a:off x="10561320" y="365760"/>
            <a:ext cx="128016" cy="128016"/>
          </a:xfrm>
          <a:prstGeom prst="ellipse">
            <a:avLst/>
          </a:prstGeom>
          <a:solidFill>
            <a:srgbClr val="D5DED9"/>
          </a:solidFill>
          <a:ln/>
        </p:spPr>
      </p:sp>
      <p:sp>
        <p:nvSpPr>
          <p:cNvPr id="4" name="Point de progression 2"/>
          <p:cNvSpPr/>
          <p:nvPr/>
        </p:nvSpPr>
        <p:spPr>
          <a:xfrm>
            <a:off x="10789920" y="365760"/>
            <a:ext cx="128016" cy="128016"/>
          </a:xfrm>
          <a:prstGeom prst="ellipse">
            <a:avLst/>
          </a:prstGeom>
          <a:solidFill>
            <a:srgbClr val="D5DED9"/>
          </a:solidFill>
          <a:ln/>
        </p:spPr>
      </p:sp>
      <p:sp>
        <p:nvSpPr>
          <p:cNvPr id="5" name="Point de progression 3"/>
          <p:cNvSpPr/>
          <p:nvPr/>
        </p:nvSpPr>
        <p:spPr>
          <a:xfrm>
            <a:off x="11018520" y="365760"/>
            <a:ext cx="128016" cy="128016"/>
          </a:xfrm>
          <a:prstGeom prst="ellipse">
            <a:avLst/>
          </a:prstGeom>
          <a:solidFill>
            <a:srgbClr val="0E7C86"/>
          </a:solidFill>
          <a:ln/>
        </p:spPr>
      </p:sp>
      <p:sp>
        <p:nvSpPr>
          <p:cNvPr id="6" name="Point de progression 4"/>
          <p:cNvSpPr/>
          <p:nvPr/>
        </p:nvSpPr>
        <p:spPr>
          <a:xfrm>
            <a:off x="11247120" y="365760"/>
            <a:ext cx="128016" cy="128016"/>
          </a:xfrm>
          <a:prstGeom prst="ellipse">
            <a:avLst/>
          </a:prstGeom>
          <a:solidFill>
            <a:srgbClr val="D5DED9"/>
          </a:solidFill>
          <a:ln/>
        </p:spPr>
      </p:sp>
      <p:sp>
        <p:nvSpPr>
          <p:cNvPr id="7" name="Point de progression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Indices élémentaires : pourquoi choisir le Jevons</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Exemple chiffré : deux produits en promotion alternée, dont les prix reviennent à leur niveau de départ</a:t>
            </a:r>
            <a:endParaRPr lang="en-US" sz="1500" dirty="0"/>
          </a:p>
        </p:txBody>
      </p:sp>
      <p:graphicFrame>
        <p:nvGraphicFramePr>
          <p:cNvPr id="18" name="Tableau prix exemple"/>
          <p:cNvGraphicFramePr>
            <a:graphicFrameLocks noGrp="1"/>
          </p:cNvGraphicFramePr>
          <p:nvPr>
            <p:extLst>
              <p:ext uri="{D42A27DB-BD31-4B8C-83A1-F6EECF244321}">
                <p14:modId xmlns:p14="http://schemas.microsoft.com/office/powerpoint/2010/main" val="1579011935"/>
              </p:ext>
            </p:extLst>
          </p:nvPr>
        </p:nvGraphicFramePr>
        <p:xfrm>
          <a:off x="502920" y="1783080"/>
          <a:ext cx="5120640" cy="914400"/>
        </p:xfrm>
        <a:graphic>
          <a:graphicData uri="http://schemas.openxmlformats.org/drawingml/2006/table">
            <a:tbl>
              <a:tblPr/>
              <a:tblGrid>
                <a:gridCol w="15544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384048">
                <a:tc>
                  <a:txBody>
                    <a:bodyPr/>
                    <a:lstStyle/>
                    <a:p>
                      <a:pPr marL="0" indent="0" algn="ctr">
                        <a:buNone/>
                      </a:pPr>
                      <a:r>
                        <a:rPr lang="en-US" sz="1300" b="1" dirty="0">
                          <a:solidFill>
                            <a:srgbClr val="231F20"/>
                          </a:solidFill>
                        </a:rPr>
                        <a:t>Prix (FCFA)</a:t>
                      </a:r>
                      <a:endParaRPr lang="en-US" sz="1300" dirty="0"/>
                    </a:p>
                  </a:txBody>
                  <a:tcPr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lgn="ctr">
                        <a:buNone/>
                      </a:pPr>
                      <a:r>
                        <a:rPr lang="en-US" sz="1300" b="1" dirty="0">
                          <a:solidFill>
                            <a:srgbClr val="231F20"/>
                          </a:solidFill>
                        </a:rPr>
                        <a:t>Mois 0</a:t>
                      </a:r>
                      <a:endParaRPr lang="en-US" sz="1300" dirty="0"/>
                    </a:p>
                  </a:txBody>
                  <a:tcPr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lgn="ctr">
                        <a:buNone/>
                      </a:pPr>
                      <a:r>
                        <a:rPr lang="en-US" sz="1300" b="1" dirty="0">
                          <a:solidFill>
                            <a:srgbClr val="231F20"/>
                          </a:solidFill>
                        </a:rPr>
                        <a:t>Mois 1</a:t>
                      </a:r>
                      <a:endParaRPr lang="en-US" sz="1300" dirty="0"/>
                    </a:p>
                  </a:txBody>
                  <a:tcPr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tc>
                  <a:txBody>
                    <a:bodyPr/>
                    <a:lstStyle/>
                    <a:p>
                      <a:pPr marL="0" indent="0" algn="ctr">
                        <a:buNone/>
                      </a:pPr>
                      <a:r>
                        <a:rPr lang="en-US" sz="1300" b="1" dirty="0">
                          <a:solidFill>
                            <a:srgbClr val="231F20"/>
                          </a:solidFill>
                        </a:rPr>
                        <a:t>Mois 2</a:t>
                      </a:r>
                      <a:endParaRPr lang="en-US" sz="1300" dirty="0"/>
                    </a:p>
                  </a:txBody>
                  <a:tcPr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E8F5EF"/>
                    </a:solidFill>
                  </a:tcPr>
                </a:tc>
                <a:extLst>
                  <a:ext uri="{0D108BD9-81ED-4DB2-BD59-A6C34878D82A}">
                    <a16:rowId xmlns:a16="http://schemas.microsoft.com/office/drawing/2014/main" val="10000"/>
                  </a:ext>
                </a:extLst>
              </a:tr>
              <a:tr h="384048">
                <a:tc>
                  <a:txBody>
                    <a:bodyPr/>
                    <a:lstStyle/>
                    <a:p>
                      <a:pPr marL="0" indent="0" algn="ctr">
                        <a:buNone/>
                      </a:pPr>
                      <a:r>
                        <a:rPr lang="en-US" sz="1300" b="1" dirty="0">
                          <a:solidFill>
                            <a:srgbClr val="231F20"/>
                          </a:solidFill>
                        </a:rPr>
                        <a:t>Produit A</a:t>
                      </a:r>
                      <a:endParaRPr lang="en-US" sz="1300" dirty="0"/>
                    </a:p>
                  </a:txBody>
                  <a:tcPr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lgn="ctr">
                        <a:buNone/>
                      </a:pPr>
                      <a:r>
                        <a:rPr lang="en-US" sz="1300" dirty="0">
                          <a:solidFill>
                            <a:srgbClr val="231F20"/>
                          </a:solidFill>
                        </a:rPr>
                        <a:t>100</a:t>
                      </a:r>
                      <a:endParaRPr lang="en-US" sz="1300" dirty="0"/>
                    </a:p>
                  </a:txBody>
                  <a:tcPr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lgn="ctr">
                        <a:buNone/>
                      </a:pPr>
                      <a:r>
                        <a:rPr lang="en-US" sz="1300" dirty="0">
                          <a:solidFill>
                            <a:srgbClr val="231F20"/>
                          </a:solidFill>
                        </a:rPr>
                        <a:t>50</a:t>
                      </a:r>
                      <a:endParaRPr lang="en-US" sz="1300" dirty="0"/>
                    </a:p>
                  </a:txBody>
                  <a:tcPr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lgn="ctr">
                        <a:buNone/>
                      </a:pPr>
                      <a:r>
                        <a:rPr lang="en-US" sz="1300" dirty="0">
                          <a:solidFill>
                            <a:srgbClr val="231F20"/>
                          </a:solidFill>
                        </a:rPr>
                        <a:t>100</a:t>
                      </a:r>
                      <a:endParaRPr lang="en-US" sz="1300" dirty="0"/>
                    </a:p>
                  </a:txBody>
                  <a:tcPr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extLst>
                  <a:ext uri="{0D108BD9-81ED-4DB2-BD59-A6C34878D82A}">
                    <a16:rowId xmlns:a16="http://schemas.microsoft.com/office/drawing/2014/main" val="10001"/>
                  </a:ext>
                </a:extLst>
              </a:tr>
              <a:tr h="384048">
                <a:tc>
                  <a:txBody>
                    <a:bodyPr/>
                    <a:lstStyle/>
                    <a:p>
                      <a:pPr marL="0" indent="0" algn="ctr">
                        <a:buNone/>
                      </a:pPr>
                      <a:r>
                        <a:rPr lang="en-US" sz="1300" b="1" dirty="0">
                          <a:solidFill>
                            <a:srgbClr val="231F20"/>
                          </a:solidFill>
                        </a:rPr>
                        <a:t>Produit B</a:t>
                      </a:r>
                      <a:endParaRPr lang="en-US" sz="1300" dirty="0"/>
                    </a:p>
                  </a:txBody>
                  <a:tcPr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lgn="ctr">
                        <a:buNone/>
                      </a:pPr>
                      <a:r>
                        <a:rPr lang="en-US" sz="1300" dirty="0">
                          <a:solidFill>
                            <a:srgbClr val="231F20"/>
                          </a:solidFill>
                        </a:rPr>
                        <a:t>100</a:t>
                      </a:r>
                      <a:endParaRPr lang="en-US" sz="1300" dirty="0"/>
                    </a:p>
                  </a:txBody>
                  <a:tcPr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lgn="ctr">
                        <a:buNone/>
                      </a:pPr>
                      <a:r>
                        <a:rPr lang="en-US" sz="1300" dirty="0">
                          <a:solidFill>
                            <a:srgbClr val="231F20"/>
                          </a:solidFill>
                        </a:rPr>
                        <a:t>200</a:t>
                      </a:r>
                      <a:endParaRPr lang="en-US" sz="1300" dirty="0"/>
                    </a:p>
                  </a:txBody>
                  <a:tcPr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tc>
                  <a:txBody>
                    <a:bodyPr/>
                    <a:lstStyle/>
                    <a:p>
                      <a:pPr marL="0" indent="0" algn="ctr">
                        <a:buNone/>
                      </a:pPr>
                      <a:r>
                        <a:rPr lang="en-US" sz="1300" dirty="0">
                          <a:solidFill>
                            <a:srgbClr val="231F20"/>
                          </a:solidFill>
                        </a:rPr>
                        <a:t>100</a:t>
                      </a:r>
                      <a:endParaRPr lang="en-US" sz="1300" dirty="0"/>
                    </a:p>
                  </a:txBody>
                  <a:tcPr anchor="ctr">
                    <a:lnL w="9525" cap="flat" cmpd="sng" algn="ctr">
                      <a:solidFill>
                        <a:srgbClr val="D5DED9"/>
                      </a:solidFill>
                      <a:prstDash val="solid"/>
                      <a:round/>
                      <a:headEnd type="none" w="med" len="med"/>
                      <a:tailEnd type="none" w="med" len="med"/>
                    </a:lnL>
                    <a:lnR w="9525" cap="flat" cmpd="sng" algn="ctr">
                      <a:solidFill>
                        <a:srgbClr val="D5DED9"/>
                      </a:solidFill>
                      <a:prstDash val="solid"/>
                      <a:round/>
                      <a:headEnd type="none" w="med" len="med"/>
                      <a:tailEnd type="none" w="med" len="med"/>
                    </a:lnR>
                    <a:lnT w="9525" cap="flat" cmpd="sng" algn="ctr">
                      <a:solidFill>
                        <a:srgbClr val="D5DED9"/>
                      </a:solidFill>
                      <a:prstDash val="solid"/>
                      <a:round/>
                      <a:headEnd type="none" w="med" len="med"/>
                      <a:tailEnd type="none" w="med" len="med"/>
                    </a:lnT>
                    <a:lnB w="9525" cap="flat" cmpd="sng" algn="ctr">
                      <a:solidFill>
                        <a:srgbClr val="D5DED9"/>
                      </a:solidFill>
                      <a:prstDash val="solid"/>
                      <a:round/>
                      <a:headEnd type="none" w="med" len="med"/>
                      <a:tailEnd type="none" w="med" len="med"/>
                    </a:lnB>
                    <a:solidFill>
                      <a:srgbClr val="F4F7F5"/>
                    </a:solidFill>
                  </a:tcPr>
                </a:tc>
                <a:extLst>
                  <a:ext uri="{0D108BD9-81ED-4DB2-BD59-A6C34878D82A}">
                    <a16:rowId xmlns:a16="http://schemas.microsoft.com/office/drawing/2014/main" val="10002"/>
                  </a:ext>
                </a:extLst>
              </a:tr>
            </a:tbl>
          </a:graphicData>
        </a:graphic>
      </p:graphicFrame>
      <p:sp>
        <p:nvSpPr>
          <p:cNvPr id="11" name="Formule Jevons"/>
          <p:cNvSpPr txBox="1"/>
          <p:nvPr/>
        </p:nvSpPr>
        <p:spPr>
          <a:xfrm>
            <a:off x="502920" y="3154680"/>
            <a:ext cx="1600200" cy="731520"/>
          </a:xfrm>
          <a:prstGeom prst="roundRect">
            <a:avLst>
              <a:gd name="adj" fmla="val 10000"/>
            </a:avLst>
          </a:prstGeom>
          <a:solidFill>
            <a:srgbClr val="00A86A"/>
          </a:solidFill>
          <a:ln/>
        </p:spPr>
        <p:txBody>
          <a:bodyPr wrap="square" lIns="0" tIns="0" rIns="0" bIns="0" rtlCol="0" anchor="ctr"/>
          <a:lstStyle/>
          <a:p>
            <a:pPr marL="0" indent="0" algn="ctr">
              <a:buNone/>
            </a:pPr>
            <a:r>
              <a:rPr lang="en-US" sz="1500" b="1" dirty="0">
                <a:solidFill>
                  <a:srgbClr val="FFFFFF"/>
                </a:solidFill>
              </a:rPr>
              <a:t>Jevons</a:t>
            </a:r>
            <a:endParaRPr lang="en-US" sz="1500" dirty="0"/>
          </a:p>
        </p:txBody>
      </p:sp>
      <p:sp>
        <p:nvSpPr>
          <p:cNvPr id="12" name="Text 9"/>
          <p:cNvSpPr txBox="1"/>
          <p:nvPr/>
        </p:nvSpPr>
        <p:spPr>
          <a:xfrm>
            <a:off x="2286000" y="3154680"/>
            <a:ext cx="3337560" cy="365760"/>
          </a:xfrm>
          <a:prstGeom prst="rect">
            <a:avLst/>
          </a:prstGeom>
          <a:noFill/>
          <a:ln/>
        </p:spPr>
        <p:txBody>
          <a:bodyPr wrap="square" lIns="0" tIns="0" rIns="0" bIns="0" rtlCol="0" anchor="ctr"/>
          <a:lstStyle/>
          <a:p>
            <a:pPr marL="0" indent="0">
              <a:buNone/>
            </a:pPr>
            <a:r>
              <a:rPr lang="en-US" sz="1300" dirty="0">
                <a:solidFill>
                  <a:srgbClr val="5E6964"/>
                </a:solidFill>
              </a:rPr>
              <a:t>moyenne géométrique des rapports de prix</a:t>
            </a:r>
            <a:endParaRPr lang="en-US" sz="1300" dirty="0"/>
          </a:p>
        </p:txBody>
      </p:sp>
      <p:sp>
        <p:nvSpPr>
          <p:cNvPr id="13" name="Text 10"/>
          <p:cNvSpPr txBox="1"/>
          <p:nvPr/>
        </p:nvSpPr>
        <p:spPr>
          <a:xfrm>
            <a:off x="2286000" y="3520440"/>
            <a:ext cx="3337560" cy="365760"/>
          </a:xfrm>
          <a:prstGeom prst="rect">
            <a:avLst/>
          </a:prstGeom>
          <a:noFill/>
          <a:ln/>
        </p:spPr>
        <p:txBody>
          <a:bodyPr wrap="square" lIns="0" tIns="0" rIns="0" bIns="0" rtlCol="0" anchor="ctr"/>
          <a:lstStyle/>
          <a:p>
            <a:pPr marL="0" indent="0">
              <a:buNone/>
            </a:pPr>
            <a:r>
              <a:rPr lang="en-US" sz="1600" b="1" dirty="0">
                <a:solidFill>
                  <a:srgbClr val="231F20"/>
                </a:solidFill>
              </a:rPr>
              <a:t>100 → 100 → 100</a:t>
            </a:r>
            <a:endParaRPr lang="en-US" sz="1600" dirty="0"/>
          </a:p>
        </p:txBody>
      </p:sp>
      <p:sp>
        <p:nvSpPr>
          <p:cNvPr id="14" name="Formule Dutot"/>
          <p:cNvSpPr txBox="1"/>
          <p:nvPr/>
        </p:nvSpPr>
        <p:spPr>
          <a:xfrm>
            <a:off x="502920" y="4114800"/>
            <a:ext cx="1600200" cy="731520"/>
          </a:xfrm>
          <a:prstGeom prst="roundRect">
            <a:avLst>
              <a:gd name="adj" fmla="val 10000"/>
            </a:avLst>
          </a:prstGeom>
          <a:solidFill>
            <a:srgbClr val="0E7C86"/>
          </a:solidFill>
          <a:ln/>
        </p:spPr>
        <p:txBody>
          <a:bodyPr wrap="square" lIns="0" tIns="0" rIns="0" bIns="0" rtlCol="0" anchor="ctr"/>
          <a:lstStyle/>
          <a:p>
            <a:pPr marL="0" indent="0" algn="ctr">
              <a:buNone/>
            </a:pPr>
            <a:r>
              <a:rPr lang="en-US" sz="1500" b="1" dirty="0">
                <a:solidFill>
                  <a:srgbClr val="FFFFFF"/>
                </a:solidFill>
              </a:rPr>
              <a:t>Dutot</a:t>
            </a:r>
            <a:endParaRPr lang="en-US" sz="1500" dirty="0"/>
          </a:p>
        </p:txBody>
      </p:sp>
      <p:sp>
        <p:nvSpPr>
          <p:cNvPr id="15" name="Text 12"/>
          <p:cNvSpPr txBox="1"/>
          <p:nvPr/>
        </p:nvSpPr>
        <p:spPr>
          <a:xfrm>
            <a:off x="2286000" y="4114800"/>
            <a:ext cx="3337560" cy="365760"/>
          </a:xfrm>
          <a:prstGeom prst="rect">
            <a:avLst/>
          </a:prstGeom>
          <a:noFill/>
          <a:ln/>
        </p:spPr>
        <p:txBody>
          <a:bodyPr wrap="square" lIns="0" tIns="0" rIns="0" bIns="0" rtlCol="0" anchor="ctr"/>
          <a:lstStyle/>
          <a:p>
            <a:pPr marL="0" indent="0">
              <a:buNone/>
            </a:pPr>
            <a:r>
              <a:rPr lang="en-US" sz="1300" dirty="0">
                <a:solidFill>
                  <a:srgbClr val="5E6964"/>
                </a:solidFill>
              </a:rPr>
              <a:t>rapport des prix moyens</a:t>
            </a:r>
            <a:endParaRPr lang="en-US" sz="1300" dirty="0"/>
          </a:p>
        </p:txBody>
      </p:sp>
      <p:sp>
        <p:nvSpPr>
          <p:cNvPr id="16" name="Text 13"/>
          <p:cNvSpPr txBox="1"/>
          <p:nvPr/>
        </p:nvSpPr>
        <p:spPr>
          <a:xfrm>
            <a:off x="2286000" y="4480560"/>
            <a:ext cx="3337560" cy="365760"/>
          </a:xfrm>
          <a:prstGeom prst="rect">
            <a:avLst/>
          </a:prstGeom>
          <a:noFill/>
          <a:ln/>
        </p:spPr>
        <p:txBody>
          <a:bodyPr wrap="square" lIns="0" tIns="0" rIns="0" bIns="0" rtlCol="0" anchor="ctr"/>
          <a:lstStyle/>
          <a:p>
            <a:pPr marL="0" indent="0">
              <a:buNone/>
            </a:pPr>
            <a:r>
              <a:rPr lang="en-US" sz="1600" b="1" dirty="0">
                <a:solidFill>
                  <a:srgbClr val="231F20"/>
                </a:solidFill>
              </a:rPr>
              <a:t>100 → 125 → 100</a:t>
            </a:r>
            <a:endParaRPr lang="en-US" sz="1600" dirty="0"/>
          </a:p>
        </p:txBody>
      </p:sp>
      <p:sp>
        <p:nvSpPr>
          <p:cNvPr id="17" name="Formule Carli chaîné"/>
          <p:cNvSpPr txBox="1"/>
          <p:nvPr/>
        </p:nvSpPr>
        <p:spPr>
          <a:xfrm>
            <a:off x="502920" y="5074920"/>
            <a:ext cx="1600200" cy="731520"/>
          </a:xfrm>
          <a:prstGeom prst="roundRect">
            <a:avLst>
              <a:gd name="adj" fmla="val 10000"/>
            </a:avLst>
          </a:prstGeom>
          <a:solidFill>
            <a:srgbClr val="B83B2E"/>
          </a:solidFill>
          <a:ln/>
        </p:spPr>
        <p:txBody>
          <a:bodyPr wrap="square" lIns="0" tIns="0" rIns="0" bIns="0" rtlCol="0" anchor="ctr"/>
          <a:lstStyle/>
          <a:p>
            <a:pPr marL="0" indent="0" algn="ctr">
              <a:buNone/>
            </a:pPr>
            <a:r>
              <a:rPr lang="en-US" sz="1500" b="1" dirty="0">
                <a:solidFill>
                  <a:srgbClr val="FFFFFF"/>
                </a:solidFill>
              </a:rPr>
              <a:t>Carli chaîné</a:t>
            </a:r>
            <a:endParaRPr lang="en-US" sz="1500" dirty="0"/>
          </a:p>
        </p:txBody>
      </p:sp>
      <p:sp>
        <p:nvSpPr>
          <p:cNvPr id="10" name="Text 15"/>
          <p:cNvSpPr txBox="1"/>
          <p:nvPr/>
        </p:nvSpPr>
        <p:spPr>
          <a:xfrm>
            <a:off x="2286000" y="5074920"/>
            <a:ext cx="3337560" cy="365760"/>
          </a:xfrm>
          <a:prstGeom prst="rect">
            <a:avLst/>
          </a:prstGeom>
          <a:noFill/>
          <a:ln/>
        </p:spPr>
        <p:txBody>
          <a:bodyPr wrap="square" lIns="0" tIns="0" rIns="0" bIns="0" rtlCol="0" anchor="ctr"/>
          <a:lstStyle/>
          <a:p>
            <a:pPr marL="0" indent="0">
              <a:buNone/>
            </a:pPr>
            <a:r>
              <a:rPr lang="en-US" sz="1300" dirty="0">
                <a:solidFill>
                  <a:srgbClr val="5E6964"/>
                </a:solidFill>
              </a:rPr>
              <a:t>moyenne arithmétique des rapports</a:t>
            </a:r>
            <a:endParaRPr lang="en-US" sz="1300" dirty="0"/>
          </a:p>
        </p:txBody>
      </p:sp>
      <p:sp>
        <p:nvSpPr>
          <p:cNvPr id="19" name="Text 16"/>
          <p:cNvSpPr txBox="1"/>
          <p:nvPr/>
        </p:nvSpPr>
        <p:spPr>
          <a:xfrm>
            <a:off x="2286000" y="5440680"/>
            <a:ext cx="3337560" cy="365760"/>
          </a:xfrm>
          <a:prstGeom prst="rect">
            <a:avLst/>
          </a:prstGeom>
          <a:noFill/>
          <a:ln/>
        </p:spPr>
        <p:txBody>
          <a:bodyPr wrap="square" lIns="0" tIns="0" rIns="0" bIns="0" rtlCol="0" anchor="ctr"/>
          <a:lstStyle/>
          <a:p>
            <a:pPr marL="0" indent="0">
              <a:buNone/>
            </a:pPr>
            <a:r>
              <a:rPr lang="en-US" sz="1600" b="1" dirty="0">
                <a:solidFill>
                  <a:srgbClr val="231F20"/>
                </a:solidFill>
              </a:rPr>
              <a:t>100 → 125 → 156</a:t>
            </a:r>
            <a:endParaRPr lang="en-US" sz="1600" dirty="0"/>
          </a:p>
        </p:txBody>
      </p:sp>
      <p:sp>
        <p:nvSpPr>
          <p:cNvPr id="20" name="Cadre graphique formules"/>
          <p:cNvSpPr/>
          <p:nvPr/>
        </p:nvSpPr>
        <p:spPr>
          <a:xfrm>
            <a:off x="5943600" y="1691640"/>
            <a:ext cx="5715000" cy="4389120"/>
          </a:xfrm>
          <a:prstGeom prst="roundRect">
            <a:avLst>
              <a:gd name="adj" fmla="val 1667"/>
            </a:avLst>
          </a:prstGeom>
          <a:solidFill>
            <a:srgbClr val="F4F7F5"/>
          </a:solidFill>
          <a:ln w="9525">
            <a:solidFill>
              <a:srgbClr val="D5DED9"/>
            </a:solidFill>
            <a:prstDash val="solid"/>
          </a:ln>
        </p:spPr>
      </p:sp>
      <p:graphicFrame>
        <p:nvGraphicFramePr>
          <p:cNvPr id="21" name="Graphique formules élémentaires"/>
          <p:cNvGraphicFramePr/>
          <p:nvPr/>
        </p:nvGraphicFramePr>
        <p:xfrm>
          <a:off x="6035040" y="1783080"/>
          <a:ext cx="553212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 18"/>
          <p:cNvSpPr txBox="1"/>
          <p:nvPr/>
        </p:nvSpPr>
        <p:spPr>
          <a:xfrm>
            <a:off x="502920" y="6108192"/>
            <a:ext cx="10607040" cy="274320"/>
          </a:xfrm>
          <a:prstGeom prst="rect">
            <a:avLst/>
          </a:prstGeom>
          <a:noFill/>
          <a:ln/>
        </p:spPr>
        <p:txBody>
          <a:bodyPr wrap="square" lIns="0" tIns="0" rIns="0" bIns="0" rtlCol="0" anchor="ctr"/>
          <a:lstStyle/>
          <a:p>
            <a:pPr marL="0" indent="0">
              <a:buNone/>
            </a:pPr>
            <a:r>
              <a:rPr lang="en-US" sz="1000" i="1" dirty="0">
                <a:solidFill>
                  <a:srgbClr val="5E6964"/>
                </a:solidFill>
              </a:rPr>
              <a:t>Exemple illustratif. Référence : Manuel de l'indice des prix à la consommation (2020), chapitre sur les indices élémentaires.</a:t>
            </a:r>
            <a:endParaRPr lang="en-US" sz="1000" dirty="0"/>
          </a:p>
        </p:txBody>
      </p:sp>
      <p:sp>
        <p:nvSpPr>
          <p:cNvPr id="25"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17</a:t>
            </a:fld>
            <a:endParaRPr lang="en-US"/>
          </a:p>
        </p:txBody>
      </p:sp>
    </p:spTree>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03 · PRODUIRE L'INDICE</a:t>
            </a:r>
            <a:endParaRPr lang="en-US" sz="1200" dirty="0"/>
          </a:p>
        </p:txBody>
      </p:sp>
      <p:sp>
        <p:nvSpPr>
          <p:cNvPr id="3" name="Point de progression 1"/>
          <p:cNvSpPr/>
          <p:nvPr/>
        </p:nvSpPr>
        <p:spPr>
          <a:xfrm>
            <a:off x="10561320" y="365760"/>
            <a:ext cx="128016" cy="128016"/>
          </a:xfrm>
          <a:prstGeom prst="ellipse">
            <a:avLst/>
          </a:prstGeom>
          <a:solidFill>
            <a:srgbClr val="D5DED9"/>
          </a:solidFill>
          <a:ln/>
        </p:spPr>
      </p:sp>
      <p:sp>
        <p:nvSpPr>
          <p:cNvPr id="4" name="Point de progression 2"/>
          <p:cNvSpPr/>
          <p:nvPr/>
        </p:nvSpPr>
        <p:spPr>
          <a:xfrm>
            <a:off x="10789920" y="365760"/>
            <a:ext cx="128016" cy="128016"/>
          </a:xfrm>
          <a:prstGeom prst="ellipse">
            <a:avLst/>
          </a:prstGeom>
          <a:solidFill>
            <a:srgbClr val="D5DED9"/>
          </a:solidFill>
          <a:ln/>
        </p:spPr>
      </p:sp>
      <p:sp>
        <p:nvSpPr>
          <p:cNvPr id="5" name="Point de progression 3"/>
          <p:cNvSpPr/>
          <p:nvPr/>
        </p:nvSpPr>
        <p:spPr>
          <a:xfrm>
            <a:off x="11018520" y="365760"/>
            <a:ext cx="128016" cy="128016"/>
          </a:xfrm>
          <a:prstGeom prst="ellipse">
            <a:avLst/>
          </a:prstGeom>
          <a:solidFill>
            <a:srgbClr val="0E7C86"/>
          </a:solidFill>
          <a:ln/>
        </p:spPr>
      </p:sp>
      <p:sp>
        <p:nvSpPr>
          <p:cNvPr id="6" name="Point de progression 4"/>
          <p:cNvSpPr/>
          <p:nvPr/>
        </p:nvSpPr>
        <p:spPr>
          <a:xfrm>
            <a:off x="11247120" y="365760"/>
            <a:ext cx="128016" cy="128016"/>
          </a:xfrm>
          <a:prstGeom prst="ellipse">
            <a:avLst/>
          </a:prstGeom>
          <a:solidFill>
            <a:srgbClr val="D5DED9"/>
          </a:solidFill>
          <a:ln/>
        </p:spPr>
      </p:sp>
      <p:sp>
        <p:nvSpPr>
          <p:cNvPr id="7" name="Point de progression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Agréger, chaîner, changer de base</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Des indices élémentaires à l'indice d'ensemble publié chaque mois</a:t>
            </a:r>
            <a:endParaRPr lang="en-US" sz="1500" dirty="0"/>
          </a:p>
        </p:txBody>
      </p:sp>
      <p:sp>
        <p:nvSpPr>
          <p:cNvPr id="10" name="Bandeau formule"/>
          <p:cNvSpPr/>
          <p:nvPr/>
        </p:nvSpPr>
        <p:spPr>
          <a:xfrm>
            <a:off x="502920" y="1783080"/>
            <a:ext cx="11155680" cy="1234440"/>
          </a:xfrm>
          <a:prstGeom prst="roundRect">
            <a:avLst>
              <a:gd name="adj" fmla="val 5926"/>
            </a:avLst>
          </a:prstGeom>
          <a:solidFill>
            <a:srgbClr val="E8F5EF"/>
          </a:solidFill>
          <a:ln w="19050">
            <a:solidFill>
              <a:srgbClr val="00A86A"/>
            </a:solidFill>
            <a:prstDash val="solid"/>
          </a:ln>
        </p:spPr>
      </p:sp>
      <p:sp>
        <p:nvSpPr>
          <p:cNvPr id="11" name="Text 9"/>
          <p:cNvSpPr txBox="1"/>
          <p:nvPr/>
        </p:nvSpPr>
        <p:spPr>
          <a:xfrm>
            <a:off x="822960" y="1783080"/>
            <a:ext cx="10607040" cy="1234440"/>
          </a:xfrm>
          <a:prstGeom prst="rect">
            <a:avLst/>
          </a:prstGeom>
          <a:noFill/>
          <a:ln/>
        </p:spPr>
        <p:txBody>
          <a:bodyPr wrap="square" lIns="0" tIns="0" rIns="0" bIns="0" rtlCol="0" anchor="ctr"/>
          <a:lstStyle/>
          <a:p>
            <a:pPr marL="0" indent="0">
              <a:buNone/>
            </a:pPr>
            <a:r>
              <a:rPr lang="en-US" sz="3000" b="1" dirty="0">
                <a:solidFill>
                  <a:srgbClr val="00704A"/>
                </a:solidFill>
              </a:rPr>
              <a:t>Iₜ = Σ wᵢ × Iᵢ,ₜ</a:t>
            </a:r>
            <a:endParaRPr lang="en-US" sz="3000" dirty="0"/>
          </a:p>
          <a:p>
            <a:pPr marL="0" indent="0">
              <a:buNone/>
            </a:pPr>
            <a:r>
              <a:rPr lang="en-US" sz="1500" dirty="0">
                <a:solidFill>
                  <a:srgbClr val="231F20"/>
                </a:solidFill>
              </a:rPr>
              <a:t>L'indice d'ensemble est la moyenne des indices élémentaires Iᵢ, pondérée par les parts de dépense wᵢ issues de l'enquête budget.</a:t>
            </a:r>
            <a:endParaRPr lang="en-US" sz="3000" dirty="0"/>
          </a:p>
        </p:txBody>
      </p:sp>
      <p:sp>
        <p:nvSpPr>
          <p:cNvPr id="12" name="Carte agrégation 1"/>
          <p:cNvSpPr/>
          <p:nvPr/>
        </p:nvSpPr>
        <p:spPr>
          <a:xfrm>
            <a:off x="502920" y="3291840"/>
            <a:ext cx="3566160" cy="2697480"/>
          </a:xfrm>
          <a:prstGeom prst="roundRect">
            <a:avLst>
              <a:gd name="adj" fmla="val 2712"/>
            </a:avLst>
          </a:prstGeom>
          <a:solidFill>
            <a:srgbClr val="F4F7F5"/>
          </a:solidFill>
          <a:ln w="9525">
            <a:solidFill>
              <a:srgbClr val="D5DED9"/>
            </a:solidFill>
            <a:prstDash val="solid"/>
          </a:ln>
        </p:spPr>
      </p:sp>
      <p:sp>
        <p:nvSpPr>
          <p:cNvPr id="13" name="Agrégation 1 cercle"/>
          <p:cNvSpPr/>
          <p:nvPr/>
        </p:nvSpPr>
        <p:spPr>
          <a:xfrm>
            <a:off x="777240" y="3566160"/>
            <a:ext cx="685800" cy="685800"/>
          </a:xfrm>
          <a:prstGeom prst="ellipse">
            <a:avLst/>
          </a:prstGeom>
          <a:solidFill>
            <a:srgbClr val="00A86A">
              <a:alpha val="22000"/>
            </a:srgbClr>
          </a:solidFill>
          <a:ln/>
        </p:spPr>
      </p:sp>
      <p:pic>
        <p:nvPicPr>
          <p:cNvPr id="14" name="Agrégation 1 icône" descr="preencoded.png"/>
          <p:cNvPicPr>
            <a:picLocks noChangeAspect="1"/>
          </p:cNvPicPr>
          <p:nvPr/>
        </p:nvPicPr>
        <p:blipFill>
          <a:blip r:embed="rId3"/>
          <a:stretch>
            <a:fillRect/>
          </a:stretch>
        </p:blipFill>
        <p:spPr>
          <a:xfrm>
            <a:off x="948690" y="3737610"/>
            <a:ext cx="342900" cy="342900"/>
          </a:xfrm>
          <a:prstGeom prst="rect">
            <a:avLst/>
          </a:prstGeom>
        </p:spPr>
      </p:pic>
      <p:sp>
        <p:nvSpPr>
          <p:cNvPr id="15" name="Text 12"/>
          <p:cNvSpPr txBox="1"/>
          <p:nvPr/>
        </p:nvSpPr>
        <p:spPr>
          <a:xfrm>
            <a:off x="1600200" y="3566160"/>
            <a:ext cx="2286000" cy="685800"/>
          </a:xfrm>
          <a:prstGeom prst="rect">
            <a:avLst/>
          </a:prstGeom>
          <a:noFill/>
          <a:ln/>
        </p:spPr>
        <p:txBody>
          <a:bodyPr wrap="square" lIns="0" tIns="0" rIns="0" bIns="0" rtlCol="0" anchor="ctr"/>
          <a:lstStyle/>
          <a:p>
            <a:pPr marL="0" indent="0">
              <a:buNone/>
            </a:pPr>
            <a:r>
              <a:rPr lang="en-US" sz="1700" b="1" dirty="0">
                <a:solidFill>
                  <a:srgbClr val="231F20"/>
                </a:solidFill>
              </a:rPr>
              <a:t>Formule de Young ou Laspeyres</a:t>
            </a:r>
            <a:endParaRPr lang="en-US" sz="1700" dirty="0"/>
          </a:p>
        </p:txBody>
      </p:sp>
      <p:sp>
        <p:nvSpPr>
          <p:cNvPr id="16" name="Text 13"/>
          <p:cNvSpPr txBox="1"/>
          <p:nvPr/>
        </p:nvSpPr>
        <p:spPr>
          <a:xfrm>
            <a:off x="777240" y="4389120"/>
            <a:ext cx="3063240" cy="1508760"/>
          </a:xfrm>
          <a:prstGeom prst="rect">
            <a:avLst/>
          </a:prstGeom>
          <a:noFill/>
          <a:ln/>
        </p:spPr>
        <p:txBody>
          <a:bodyPr wrap="square" lIns="0" tIns="0" rIns="0" bIns="0" rtlCol="0" anchor="t"/>
          <a:lstStyle/>
          <a:p>
            <a:pPr marL="0" indent="0">
              <a:buNone/>
            </a:pPr>
            <a:r>
              <a:rPr lang="en-US" sz="1400" dirty="0">
                <a:solidFill>
                  <a:srgbClr val="5E6964"/>
                </a:solidFill>
              </a:rPr>
              <a:t>Les pondérations datent de l'enquête budget, antérieure à la période de base des prix. L'ANSD privilégie la formule de Young pour l'IHPC du Sénégal.</a:t>
            </a:r>
            <a:endParaRPr lang="en-US" sz="1400" dirty="0"/>
          </a:p>
        </p:txBody>
      </p:sp>
      <p:sp>
        <p:nvSpPr>
          <p:cNvPr id="17" name="Carte agrégation 2"/>
          <p:cNvSpPr/>
          <p:nvPr/>
        </p:nvSpPr>
        <p:spPr>
          <a:xfrm>
            <a:off x="4325112" y="3291840"/>
            <a:ext cx="3566160" cy="2697480"/>
          </a:xfrm>
          <a:prstGeom prst="roundRect">
            <a:avLst>
              <a:gd name="adj" fmla="val 2712"/>
            </a:avLst>
          </a:prstGeom>
          <a:solidFill>
            <a:srgbClr val="F4F7F5"/>
          </a:solidFill>
          <a:ln w="9525">
            <a:solidFill>
              <a:srgbClr val="D5DED9"/>
            </a:solidFill>
            <a:prstDash val="solid"/>
          </a:ln>
        </p:spPr>
      </p:sp>
      <p:sp>
        <p:nvSpPr>
          <p:cNvPr id="18" name="Agrégation 2 cercle"/>
          <p:cNvSpPr/>
          <p:nvPr/>
        </p:nvSpPr>
        <p:spPr>
          <a:xfrm>
            <a:off x="4599432" y="3566160"/>
            <a:ext cx="685800" cy="685800"/>
          </a:xfrm>
          <a:prstGeom prst="ellipse">
            <a:avLst/>
          </a:prstGeom>
          <a:solidFill>
            <a:srgbClr val="00704A">
              <a:alpha val="22000"/>
            </a:srgbClr>
          </a:solidFill>
          <a:ln/>
        </p:spPr>
      </p:sp>
      <p:pic>
        <p:nvPicPr>
          <p:cNvPr id="19" name="Agrégation 2 icône" descr="preencoded.png"/>
          <p:cNvPicPr>
            <a:picLocks noChangeAspect="1"/>
          </p:cNvPicPr>
          <p:nvPr/>
        </p:nvPicPr>
        <p:blipFill>
          <a:blip r:embed="rId4"/>
          <a:stretch>
            <a:fillRect/>
          </a:stretch>
        </p:blipFill>
        <p:spPr>
          <a:xfrm>
            <a:off x="4770882" y="3737610"/>
            <a:ext cx="342900" cy="342900"/>
          </a:xfrm>
          <a:prstGeom prst="rect">
            <a:avLst/>
          </a:prstGeom>
        </p:spPr>
      </p:pic>
      <p:sp>
        <p:nvSpPr>
          <p:cNvPr id="20" name="Text 16"/>
          <p:cNvSpPr txBox="1"/>
          <p:nvPr/>
        </p:nvSpPr>
        <p:spPr>
          <a:xfrm>
            <a:off x="5422392" y="3566160"/>
            <a:ext cx="2286000" cy="685800"/>
          </a:xfrm>
          <a:prstGeom prst="rect">
            <a:avLst/>
          </a:prstGeom>
          <a:noFill/>
          <a:ln/>
        </p:spPr>
        <p:txBody>
          <a:bodyPr wrap="square" lIns="0" tIns="0" rIns="0" bIns="0" rtlCol="0" anchor="ctr"/>
          <a:lstStyle/>
          <a:p>
            <a:pPr marL="0" indent="0">
              <a:buNone/>
            </a:pPr>
            <a:r>
              <a:rPr lang="en-US" sz="1700" b="1" dirty="0">
                <a:solidFill>
                  <a:srgbClr val="231F20"/>
                </a:solidFill>
              </a:rPr>
              <a:t>Chaînage</a:t>
            </a:r>
            <a:endParaRPr lang="en-US" sz="1700" dirty="0"/>
          </a:p>
        </p:txBody>
      </p:sp>
      <p:sp>
        <p:nvSpPr>
          <p:cNvPr id="21" name="Text 17"/>
          <p:cNvSpPr txBox="1"/>
          <p:nvPr/>
        </p:nvSpPr>
        <p:spPr>
          <a:xfrm>
            <a:off x="4599432" y="4389120"/>
            <a:ext cx="3063240" cy="1508760"/>
          </a:xfrm>
          <a:prstGeom prst="rect">
            <a:avLst/>
          </a:prstGeom>
          <a:noFill/>
          <a:ln/>
        </p:spPr>
        <p:txBody>
          <a:bodyPr wrap="square" lIns="0" tIns="0" rIns="0" bIns="0" rtlCol="0" anchor="t"/>
          <a:lstStyle/>
          <a:p>
            <a:pPr marL="0" indent="0">
              <a:buNone/>
            </a:pPr>
            <a:r>
              <a:rPr lang="en-US" sz="1400" dirty="0">
                <a:solidFill>
                  <a:srgbClr val="5E6964"/>
                </a:solidFill>
              </a:rPr>
              <a:t>Les poids sont renouvelés à chaque changement de base, et les séries sont raccordées pour rester continues dans le temps.</a:t>
            </a:r>
            <a:endParaRPr lang="en-US" sz="1400" dirty="0"/>
          </a:p>
        </p:txBody>
      </p:sp>
      <p:sp>
        <p:nvSpPr>
          <p:cNvPr id="22" name="Carte agrégation 3"/>
          <p:cNvSpPr/>
          <p:nvPr/>
        </p:nvSpPr>
        <p:spPr>
          <a:xfrm>
            <a:off x="8147304" y="3291840"/>
            <a:ext cx="3566160" cy="2697480"/>
          </a:xfrm>
          <a:prstGeom prst="roundRect">
            <a:avLst>
              <a:gd name="adj" fmla="val 2712"/>
            </a:avLst>
          </a:prstGeom>
          <a:solidFill>
            <a:srgbClr val="F4F7F5"/>
          </a:solidFill>
          <a:ln w="9525">
            <a:solidFill>
              <a:srgbClr val="D5DED9"/>
            </a:solidFill>
            <a:prstDash val="solid"/>
          </a:ln>
        </p:spPr>
      </p:sp>
      <p:sp>
        <p:nvSpPr>
          <p:cNvPr id="23" name="Agrégation 3 cercle"/>
          <p:cNvSpPr/>
          <p:nvPr/>
        </p:nvSpPr>
        <p:spPr>
          <a:xfrm>
            <a:off x="8421624" y="3566160"/>
            <a:ext cx="685800" cy="685800"/>
          </a:xfrm>
          <a:prstGeom prst="ellipse">
            <a:avLst/>
          </a:prstGeom>
          <a:solidFill>
            <a:srgbClr val="0E7C86">
              <a:alpha val="22000"/>
            </a:srgbClr>
          </a:solidFill>
          <a:ln/>
        </p:spPr>
      </p:sp>
      <p:pic>
        <p:nvPicPr>
          <p:cNvPr id="24" name="Agrégation 3 icône" descr="preencoded.png"/>
          <p:cNvPicPr>
            <a:picLocks noChangeAspect="1"/>
          </p:cNvPicPr>
          <p:nvPr/>
        </p:nvPicPr>
        <p:blipFill>
          <a:blip r:embed="rId5"/>
          <a:stretch>
            <a:fillRect/>
          </a:stretch>
        </p:blipFill>
        <p:spPr>
          <a:xfrm>
            <a:off x="8593074" y="3737610"/>
            <a:ext cx="342900" cy="342900"/>
          </a:xfrm>
          <a:prstGeom prst="rect">
            <a:avLst/>
          </a:prstGeom>
        </p:spPr>
      </p:pic>
      <p:sp>
        <p:nvSpPr>
          <p:cNvPr id="25" name="Text 20"/>
          <p:cNvSpPr txBox="1"/>
          <p:nvPr/>
        </p:nvSpPr>
        <p:spPr>
          <a:xfrm>
            <a:off x="9244584" y="3566160"/>
            <a:ext cx="2286000" cy="685800"/>
          </a:xfrm>
          <a:prstGeom prst="rect">
            <a:avLst/>
          </a:prstGeom>
          <a:noFill/>
          <a:ln/>
        </p:spPr>
        <p:txBody>
          <a:bodyPr wrap="square" lIns="0" tIns="0" rIns="0" bIns="0" rtlCol="0" anchor="ctr"/>
          <a:lstStyle/>
          <a:p>
            <a:pPr marL="0" indent="0">
              <a:buNone/>
            </a:pPr>
            <a:r>
              <a:rPr lang="en-US" sz="1700" b="1" dirty="0">
                <a:solidFill>
                  <a:srgbClr val="231F20"/>
                </a:solidFill>
              </a:rPr>
              <a:t>Changement de base</a:t>
            </a:r>
            <a:endParaRPr lang="en-US" sz="1700" dirty="0"/>
          </a:p>
        </p:txBody>
      </p:sp>
      <p:sp>
        <p:nvSpPr>
          <p:cNvPr id="26" name="Text 21"/>
          <p:cNvSpPr txBox="1"/>
          <p:nvPr/>
        </p:nvSpPr>
        <p:spPr>
          <a:xfrm>
            <a:off x="8421624" y="4389120"/>
            <a:ext cx="3063240" cy="1508760"/>
          </a:xfrm>
          <a:prstGeom prst="rect">
            <a:avLst/>
          </a:prstGeom>
          <a:noFill/>
          <a:ln/>
        </p:spPr>
        <p:txBody>
          <a:bodyPr wrap="square" lIns="0" tIns="0" rIns="0" bIns="0" rtlCol="0" anchor="t"/>
          <a:lstStyle/>
          <a:p>
            <a:pPr marL="0" indent="0">
              <a:buNone/>
            </a:pPr>
            <a:r>
              <a:rPr lang="en-US" sz="1400" dirty="0">
                <a:solidFill>
                  <a:srgbClr val="5E6964"/>
                </a:solidFill>
              </a:rPr>
              <a:t>Tous les 5 à 10 ans : nouvelle enquête, nouveau panier, nouvelle nomenclature. Dans l'UEMOA, la base est 2023 = 100.</a:t>
            </a:r>
            <a:endParaRPr lang="en-US" sz="1400" dirty="0"/>
          </a:p>
        </p:txBody>
      </p:sp>
      <p:sp>
        <p:nvSpPr>
          <p:cNvPr id="27"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18</a:t>
            </a:fld>
            <a:endParaRPr lang="en-US"/>
          </a:p>
        </p:txBody>
      </p:sp>
    </p:spTree>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03 · PRODUIRE L'INDICE</a:t>
            </a:r>
            <a:endParaRPr lang="en-US" sz="1200" dirty="0"/>
          </a:p>
        </p:txBody>
      </p:sp>
      <p:sp>
        <p:nvSpPr>
          <p:cNvPr id="3" name="Point de progression 1"/>
          <p:cNvSpPr/>
          <p:nvPr/>
        </p:nvSpPr>
        <p:spPr>
          <a:xfrm>
            <a:off x="10561320" y="365760"/>
            <a:ext cx="128016" cy="128016"/>
          </a:xfrm>
          <a:prstGeom prst="ellipse">
            <a:avLst/>
          </a:prstGeom>
          <a:solidFill>
            <a:srgbClr val="D5DED9"/>
          </a:solidFill>
          <a:ln/>
        </p:spPr>
      </p:sp>
      <p:sp>
        <p:nvSpPr>
          <p:cNvPr id="4" name="Point de progression 2"/>
          <p:cNvSpPr/>
          <p:nvPr/>
        </p:nvSpPr>
        <p:spPr>
          <a:xfrm>
            <a:off x="10789920" y="365760"/>
            <a:ext cx="128016" cy="128016"/>
          </a:xfrm>
          <a:prstGeom prst="ellipse">
            <a:avLst/>
          </a:prstGeom>
          <a:solidFill>
            <a:srgbClr val="D5DED9"/>
          </a:solidFill>
          <a:ln/>
        </p:spPr>
      </p:sp>
      <p:sp>
        <p:nvSpPr>
          <p:cNvPr id="5" name="Point de progression 3"/>
          <p:cNvSpPr/>
          <p:nvPr/>
        </p:nvSpPr>
        <p:spPr>
          <a:xfrm>
            <a:off x="11018520" y="365760"/>
            <a:ext cx="128016" cy="128016"/>
          </a:xfrm>
          <a:prstGeom prst="ellipse">
            <a:avLst/>
          </a:prstGeom>
          <a:solidFill>
            <a:srgbClr val="0E7C86"/>
          </a:solidFill>
          <a:ln/>
        </p:spPr>
      </p:sp>
      <p:sp>
        <p:nvSpPr>
          <p:cNvPr id="6" name="Point de progression 4"/>
          <p:cNvSpPr/>
          <p:nvPr/>
        </p:nvSpPr>
        <p:spPr>
          <a:xfrm>
            <a:off x="11247120" y="365760"/>
            <a:ext cx="128016" cy="128016"/>
          </a:xfrm>
          <a:prstGeom prst="ellipse">
            <a:avLst/>
          </a:prstGeom>
          <a:solidFill>
            <a:srgbClr val="D5DED9"/>
          </a:solidFill>
          <a:ln/>
        </p:spPr>
      </p:sp>
      <p:sp>
        <p:nvSpPr>
          <p:cNvPr id="7" name="Point de progression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Quatre difficultés qui font la qualité d'un IPC</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Mesurer à qualité constante quand les produits, les saisons et les promotions changent</a:t>
            </a:r>
            <a:endParaRPr lang="en-US" sz="1500" dirty="0"/>
          </a:p>
        </p:txBody>
      </p:sp>
      <p:sp>
        <p:nvSpPr>
          <p:cNvPr id="10" name="Carte qualité 1"/>
          <p:cNvSpPr/>
          <p:nvPr/>
        </p:nvSpPr>
        <p:spPr>
          <a:xfrm>
            <a:off x="502920" y="1783080"/>
            <a:ext cx="5440680" cy="1965960"/>
          </a:xfrm>
          <a:prstGeom prst="roundRect">
            <a:avLst>
              <a:gd name="adj" fmla="val 3721"/>
            </a:avLst>
          </a:prstGeom>
          <a:solidFill>
            <a:srgbClr val="F4F7F5"/>
          </a:solidFill>
          <a:ln w="9525">
            <a:solidFill>
              <a:srgbClr val="D5DED9"/>
            </a:solidFill>
            <a:prstDash val="solid"/>
          </a:ln>
        </p:spPr>
      </p:sp>
      <p:sp>
        <p:nvSpPr>
          <p:cNvPr id="11" name="Qualité 1 cercle"/>
          <p:cNvSpPr/>
          <p:nvPr/>
        </p:nvSpPr>
        <p:spPr>
          <a:xfrm>
            <a:off x="777240" y="2057400"/>
            <a:ext cx="777240" cy="777240"/>
          </a:xfrm>
          <a:prstGeom prst="ellipse">
            <a:avLst/>
          </a:prstGeom>
          <a:solidFill>
            <a:srgbClr val="00704A">
              <a:alpha val="22000"/>
            </a:srgbClr>
          </a:solidFill>
          <a:ln/>
        </p:spPr>
      </p:sp>
      <p:pic>
        <p:nvPicPr>
          <p:cNvPr id="12" name="Qualité 1 icône" descr="preencoded.png"/>
          <p:cNvPicPr>
            <a:picLocks noChangeAspect="1"/>
          </p:cNvPicPr>
          <p:nvPr/>
        </p:nvPicPr>
        <p:blipFill>
          <a:blip r:embed="rId3"/>
          <a:stretch>
            <a:fillRect/>
          </a:stretch>
        </p:blipFill>
        <p:spPr>
          <a:xfrm>
            <a:off x="971550" y="2251710"/>
            <a:ext cx="388620" cy="388620"/>
          </a:xfrm>
          <a:prstGeom prst="rect">
            <a:avLst/>
          </a:prstGeom>
        </p:spPr>
      </p:pic>
      <p:sp>
        <p:nvSpPr>
          <p:cNvPr id="13" name="Text 10"/>
          <p:cNvSpPr txBox="1"/>
          <p:nvPr/>
        </p:nvSpPr>
        <p:spPr>
          <a:xfrm>
            <a:off x="1783080" y="2057400"/>
            <a:ext cx="3931920" cy="457200"/>
          </a:xfrm>
          <a:prstGeom prst="rect">
            <a:avLst/>
          </a:prstGeom>
          <a:noFill/>
          <a:ln/>
        </p:spPr>
        <p:txBody>
          <a:bodyPr wrap="square" lIns="0" tIns="0" rIns="0" bIns="0" rtlCol="0" anchor="ctr"/>
          <a:lstStyle/>
          <a:p>
            <a:pPr marL="0" indent="0">
              <a:buNone/>
            </a:pPr>
            <a:r>
              <a:rPr lang="en-US" sz="1700" b="1" dirty="0">
                <a:solidFill>
                  <a:srgbClr val="231F20"/>
                </a:solidFill>
              </a:rPr>
              <a:t>Produits manquants</a:t>
            </a:r>
            <a:endParaRPr lang="en-US" sz="1700" dirty="0"/>
          </a:p>
        </p:txBody>
      </p:sp>
      <p:sp>
        <p:nvSpPr>
          <p:cNvPr id="14" name="Text 11"/>
          <p:cNvSpPr txBox="1"/>
          <p:nvPr/>
        </p:nvSpPr>
        <p:spPr>
          <a:xfrm>
            <a:off x="1783080" y="2560320"/>
            <a:ext cx="3931920" cy="1051560"/>
          </a:xfrm>
          <a:prstGeom prst="rect">
            <a:avLst/>
          </a:prstGeom>
          <a:noFill/>
          <a:ln/>
        </p:spPr>
        <p:txBody>
          <a:bodyPr wrap="square" lIns="0" tIns="0" rIns="0" bIns="0" rtlCol="0" anchor="t"/>
          <a:lstStyle/>
          <a:p>
            <a:pPr marL="0" indent="0">
              <a:buNone/>
            </a:pPr>
            <a:r>
              <a:rPr lang="en-US" sz="1400" dirty="0">
                <a:solidFill>
                  <a:srgbClr val="5E6964"/>
                </a:solidFill>
              </a:rPr>
              <a:t>Rupture de stock, point de vente fermé : imputer le prix à partir de produits comparables plutôt que reconduire.</a:t>
            </a:r>
            <a:endParaRPr lang="en-US" sz="1400" dirty="0"/>
          </a:p>
        </p:txBody>
      </p:sp>
      <p:sp>
        <p:nvSpPr>
          <p:cNvPr id="15" name="Carte qualité 2"/>
          <p:cNvSpPr/>
          <p:nvPr/>
        </p:nvSpPr>
        <p:spPr>
          <a:xfrm>
            <a:off x="6172200" y="1783080"/>
            <a:ext cx="5440680" cy="1965960"/>
          </a:xfrm>
          <a:prstGeom prst="roundRect">
            <a:avLst>
              <a:gd name="adj" fmla="val 3721"/>
            </a:avLst>
          </a:prstGeom>
          <a:solidFill>
            <a:srgbClr val="F4F7F5"/>
          </a:solidFill>
          <a:ln w="9525">
            <a:solidFill>
              <a:srgbClr val="D5DED9"/>
            </a:solidFill>
            <a:prstDash val="solid"/>
          </a:ln>
        </p:spPr>
      </p:sp>
      <p:sp>
        <p:nvSpPr>
          <p:cNvPr id="16" name="Qualité 2 cercle"/>
          <p:cNvSpPr/>
          <p:nvPr/>
        </p:nvSpPr>
        <p:spPr>
          <a:xfrm>
            <a:off x="6446520" y="2057400"/>
            <a:ext cx="777240" cy="777240"/>
          </a:xfrm>
          <a:prstGeom prst="ellipse">
            <a:avLst/>
          </a:prstGeom>
          <a:solidFill>
            <a:srgbClr val="0E7C86">
              <a:alpha val="22000"/>
            </a:srgbClr>
          </a:solidFill>
          <a:ln/>
        </p:spPr>
      </p:sp>
      <p:pic>
        <p:nvPicPr>
          <p:cNvPr id="17" name="Qualité 2 icône" descr="preencoded.png"/>
          <p:cNvPicPr>
            <a:picLocks noChangeAspect="1"/>
          </p:cNvPicPr>
          <p:nvPr/>
        </p:nvPicPr>
        <p:blipFill>
          <a:blip r:embed="rId4"/>
          <a:stretch>
            <a:fillRect/>
          </a:stretch>
        </p:blipFill>
        <p:spPr>
          <a:xfrm>
            <a:off x="6640830" y="2251710"/>
            <a:ext cx="388620" cy="388620"/>
          </a:xfrm>
          <a:prstGeom prst="rect">
            <a:avLst/>
          </a:prstGeom>
        </p:spPr>
      </p:pic>
      <p:sp>
        <p:nvSpPr>
          <p:cNvPr id="18" name="Text 14"/>
          <p:cNvSpPr txBox="1"/>
          <p:nvPr/>
        </p:nvSpPr>
        <p:spPr>
          <a:xfrm>
            <a:off x="7452360" y="2057400"/>
            <a:ext cx="3931920" cy="457200"/>
          </a:xfrm>
          <a:prstGeom prst="rect">
            <a:avLst/>
          </a:prstGeom>
          <a:noFill/>
          <a:ln/>
        </p:spPr>
        <p:txBody>
          <a:bodyPr wrap="square" lIns="0" tIns="0" rIns="0" bIns="0" rtlCol="0" anchor="ctr"/>
          <a:lstStyle/>
          <a:p>
            <a:pPr marL="0" indent="0">
              <a:buNone/>
            </a:pPr>
            <a:r>
              <a:rPr lang="en-US" sz="1700" b="1" dirty="0">
                <a:solidFill>
                  <a:srgbClr val="231F20"/>
                </a:solidFill>
              </a:rPr>
              <a:t>Remplacements et qualité</a:t>
            </a:r>
            <a:endParaRPr lang="en-US" sz="1700" dirty="0"/>
          </a:p>
        </p:txBody>
      </p:sp>
      <p:sp>
        <p:nvSpPr>
          <p:cNvPr id="19" name="Text 15"/>
          <p:cNvSpPr txBox="1"/>
          <p:nvPr/>
        </p:nvSpPr>
        <p:spPr>
          <a:xfrm>
            <a:off x="7452360" y="2560320"/>
            <a:ext cx="3931920" cy="1051560"/>
          </a:xfrm>
          <a:prstGeom prst="rect">
            <a:avLst/>
          </a:prstGeom>
          <a:noFill/>
          <a:ln/>
        </p:spPr>
        <p:txBody>
          <a:bodyPr wrap="square" lIns="0" tIns="0" rIns="0" bIns="0" rtlCol="0" anchor="t"/>
          <a:lstStyle/>
          <a:p>
            <a:pPr marL="0" indent="0">
              <a:buNone/>
            </a:pPr>
            <a:r>
              <a:rPr lang="en-US" sz="1400" dirty="0">
                <a:solidFill>
                  <a:srgbClr val="5E6964"/>
                </a:solidFill>
              </a:rPr>
              <a:t>Un modèle remplace l'autre : séparer la hausse de prix de l'amélioration de qualité, par exemple avec des méthodes hédoniques.</a:t>
            </a:r>
            <a:endParaRPr lang="en-US" sz="1400" dirty="0"/>
          </a:p>
        </p:txBody>
      </p:sp>
      <p:sp>
        <p:nvSpPr>
          <p:cNvPr id="20" name="Carte qualité 3"/>
          <p:cNvSpPr/>
          <p:nvPr/>
        </p:nvSpPr>
        <p:spPr>
          <a:xfrm>
            <a:off x="502920" y="3977640"/>
            <a:ext cx="5440680" cy="1965960"/>
          </a:xfrm>
          <a:prstGeom prst="roundRect">
            <a:avLst>
              <a:gd name="adj" fmla="val 3721"/>
            </a:avLst>
          </a:prstGeom>
          <a:solidFill>
            <a:srgbClr val="F4F7F5"/>
          </a:solidFill>
          <a:ln w="9525">
            <a:solidFill>
              <a:srgbClr val="D5DED9"/>
            </a:solidFill>
            <a:prstDash val="solid"/>
          </a:ln>
        </p:spPr>
      </p:sp>
      <p:sp>
        <p:nvSpPr>
          <p:cNvPr id="21" name="Qualité 3 cercle"/>
          <p:cNvSpPr/>
          <p:nvPr/>
        </p:nvSpPr>
        <p:spPr>
          <a:xfrm>
            <a:off x="777240" y="4251960"/>
            <a:ext cx="777240" cy="777240"/>
          </a:xfrm>
          <a:prstGeom prst="ellipse">
            <a:avLst/>
          </a:prstGeom>
          <a:solidFill>
            <a:srgbClr val="00A86A">
              <a:alpha val="22000"/>
            </a:srgbClr>
          </a:solidFill>
          <a:ln/>
        </p:spPr>
      </p:sp>
      <p:pic>
        <p:nvPicPr>
          <p:cNvPr id="22" name="Qualité 3 icône" descr="preencoded.png"/>
          <p:cNvPicPr>
            <a:picLocks noChangeAspect="1"/>
          </p:cNvPicPr>
          <p:nvPr/>
        </p:nvPicPr>
        <p:blipFill>
          <a:blip r:embed="rId5"/>
          <a:stretch>
            <a:fillRect/>
          </a:stretch>
        </p:blipFill>
        <p:spPr>
          <a:xfrm>
            <a:off x="971550" y="4446270"/>
            <a:ext cx="388620" cy="388620"/>
          </a:xfrm>
          <a:prstGeom prst="rect">
            <a:avLst/>
          </a:prstGeom>
        </p:spPr>
      </p:pic>
      <p:sp>
        <p:nvSpPr>
          <p:cNvPr id="23" name="Text 18"/>
          <p:cNvSpPr txBox="1"/>
          <p:nvPr/>
        </p:nvSpPr>
        <p:spPr>
          <a:xfrm>
            <a:off x="1783080" y="4251960"/>
            <a:ext cx="3931920" cy="457200"/>
          </a:xfrm>
          <a:prstGeom prst="rect">
            <a:avLst/>
          </a:prstGeom>
          <a:noFill/>
          <a:ln/>
        </p:spPr>
        <p:txBody>
          <a:bodyPr wrap="square" lIns="0" tIns="0" rIns="0" bIns="0" rtlCol="0" anchor="ctr"/>
          <a:lstStyle/>
          <a:p>
            <a:pPr marL="0" indent="0">
              <a:buNone/>
            </a:pPr>
            <a:r>
              <a:rPr lang="en-US" sz="1700" b="1" dirty="0">
                <a:solidFill>
                  <a:srgbClr val="231F20"/>
                </a:solidFill>
              </a:rPr>
              <a:t>Produits saisonniers</a:t>
            </a:r>
            <a:endParaRPr lang="en-US" sz="1700" dirty="0"/>
          </a:p>
        </p:txBody>
      </p:sp>
      <p:sp>
        <p:nvSpPr>
          <p:cNvPr id="24" name="Text 19"/>
          <p:cNvSpPr txBox="1"/>
          <p:nvPr/>
        </p:nvSpPr>
        <p:spPr>
          <a:xfrm>
            <a:off x="1783080" y="4754880"/>
            <a:ext cx="3931920" cy="1051560"/>
          </a:xfrm>
          <a:prstGeom prst="rect">
            <a:avLst/>
          </a:prstGeom>
          <a:noFill/>
          <a:ln/>
        </p:spPr>
        <p:txBody>
          <a:bodyPr wrap="square" lIns="0" tIns="0" rIns="0" bIns="0" rtlCol="0" anchor="t"/>
          <a:lstStyle/>
          <a:p>
            <a:pPr marL="0" indent="0">
              <a:buNone/>
            </a:pPr>
            <a:r>
              <a:rPr lang="en-US" sz="1400" dirty="0">
                <a:solidFill>
                  <a:srgbClr val="5E6964"/>
                </a:solidFill>
              </a:rPr>
              <a:t>Fruits et légumes absents une partie de l'année : paniers variables ou imputation saisonnière.</a:t>
            </a:r>
            <a:endParaRPr lang="en-US" sz="1400" dirty="0"/>
          </a:p>
        </p:txBody>
      </p:sp>
      <p:sp>
        <p:nvSpPr>
          <p:cNvPr id="25" name="Carte qualité 4"/>
          <p:cNvSpPr/>
          <p:nvPr/>
        </p:nvSpPr>
        <p:spPr>
          <a:xfrm>
            <a:off x="6172200" y="3977640"/>
            <a:ext cx="5440680" cy="1965960"/>
          </a:xfrm>
          <a:prstGeom prst="roundRect">
            <a:avLst>
              <a:gd name="adj" fmla="val 3721"/>
            </a:avLst>
          </a:prstGeom>
          <a:solidFill>
            <a:srgbClr val="F4F7F5"/>
          </a:solidFill>
          <a:ln w="9525">
            <a:solidFill>
              <a:srgbClr val="D5DED9"/>
            </a:solidFill>
            <a:prstDash val="solid"/>
          </a:ln>
        </p:spPr>
      </p:sp>
      <p:sp>
        <p:nvSpPr>
          <p:cNvPr id="26" name="Qualité 4 cercle"/>
          <p:cNvSpPr/>
          <p:nvPr/>
        </p:nvSpPr>
        <p:spPr>
          <a:xfrm>
            <a:off x="6446520" y="4251960"/>
            <a:ext cx="777240" cy="777240"/>
          </a:xfrm>
          <a:prstGeom prst="ellipse">
            <a:avLst/>
          </a:prstGeom>
          <a:solidFill>
            <a:srgbClr val="D49A00">
              <a:alpha val="22000"/>
            </a:srgbClr>
          </a:solidFill>
          <a:ln/>
        </p:spPr>
      </p:sp>
      <p:pic>
        <p:nvPicPr>
          <p:cNvPr id="27" name="Qualité 4 icône" descr="preencoded.png"/>
          <p:cNvPicPr>
            <a:picLocks noChangeAspect="1"/>
          </p:cNvPicPr>
          <p:nvPr/>
        </p:nvPicPr>
        <p:blipFill>
          <a:blip r:embed="rId6"/>
          <a:stretch>
            <a:fillRect/>
          </a:stretch>
        </p:blipFill>
        <p:spPr>
          <a:xfrm>
            <a:off x="6640830" y="4446270"/>
            <a:ext cx="388620" cy="388620"/>
          </a:xfrm>
          <a:prstGeom prst="rect">
            <a:avLst/>
          </a:prstGeom>
        </p:spPr>
      </p:pic>
      <p:sp>
        <p:nvSpPr>
          <p:cNvPr id="28" name="Text 22"/>
          <p:cNvSpPr txBox="1"/>
          <p:nvPr/>
        </p:nvSpPr>
        <p:spPr>
          <a:xfrm>
            <a:off x="7452360" y="4251960"/>
            <a:ext cx="3931920" cy="457200"/>
          </a:xfrm>
          <a:prstGeom prst="rect">
            <a:avLst/>
          </a:prstGeom>
          <a:noFill/>
          <a:ln/>
        </p:spPr>
        <p:txBody>
          <a:bodyPr wrap="square" lIns="0" tIns="0" rIns="0" bIns="0" rtlCol="0" anchor="ctr"/>
          <a:lstStyle/>
          <a:p>
            <a:pPr marL="0" indent="0">
              <a:buNone/>
            </a:pPr>
            <a:r>
              <a:rPr lang="en-US" sz="1700" b="1" dirty="0">
                <a:solidFill>
                  <a:srgbClr val="231F20"/>
                </a:solidFill>
              </a:rPr>
              <a:t>Promotions</a:t>
            </a:r>
            <a:endParaRPr lang="en-US" sz="1700" dirty="0"/>
          </a:p>
        </p:txBody>
      </p:sp>
      <p:sp>
        <p:nvSpPr>
          <p:cNvPr id="29" name="Text 23"/>
          <p:cNvSpPr txBox="1"/>
          <p:nvPr/>
        </p:nvSpPr>
        <p:spPr>
          <a:xfrm>
            <a:off x="7452360" y="4754880"/>
            <a:ext cx="3931920" cy="1051560"/>
          </a:xfrm>
          <a:prstGeom prst="rect">
            <a:avLst/>
          </a:prstGeom>
          <a:noFill/>
          <a:ln/>
        </p:spPr>
        <p:txBody>
          <a:bodyPr wrap="square" lIns="0" tIns="0" rIns="0" bIns="0" rtlCol="0" anchor="t"/>
          <a:lstStyle/>
          <a:p>
            <a:pPr marL="0" indent="0">
              <a:buNone/>
            </a:pPr>
            <a:r>
              <a:rPr lang="en-US" sz="1400" dirty="0">
                <a:solidFill>
                  <a:srgbClr val="5E6964"/>
                </a:solidFill>
              </a:rPr>
              <a:t>Les prix barrés font osciller les séries : plusieurs relevés par mois, moyenne géométrique, et formule de Jevons.</a:t>
            </a:r>
            <a:endParaRPr lang="en-US" sz="1400" dirty="0"/>
          </a:p>
        </p:txBody>
      </p:sp>
      <p:sp>
        <p:nvSpPr>
          <p:cNvPr id="30"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19</a:t>
            </a:fld>
            <a:endParaRPr lang="en-US"/>
          </a:p>
        </p:txBody>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097280"/>
            <a:ext cx="3200400" cy="1463040"/>
          </a:xfrm>
          <a:prstGeom prst="rect">
            <a:avLst/>
          </a:prstGeom>
          <a:noFill/>
          <a:ln/>
        </p:spPr>
        <p:txBody>
          <a:bodyPr wrap="square" rtlCol="0" anchor="b"/>
          <a:lstStyle/>
          <a:p>
            <a:pPr marL="0" indent="0">
              <a:buNone/>
            </a:pPr>
            <a:r>
              <a:rPr lang="en-US" sz="11000" b="1" dirty="0">
                <a:solidFill>
                  <a:srgbClr val="F5C242"/>
                </a:solidFill>
              </a:rPr>
              <a:t>04</a:t>
            </a:r>
            <a:endParaRPr lang="en-US" sz="11000" dirty="0"/>
          </a:p>
        </p:txBody>
      </p:sp>
      <p:sp>
        <p:nvSpPr>
          <p:cNvPr id="3" name="Text 0"/>
          <p:cNvSpPr>
            <a:spLocks noGrp="1"/>
          </p:cNvSpPr>
          <p:nvPr>
            <p:ph type="title" idx="101" hasCustomPrompt="1"/>
          </p:nvPr>
        </p:nvSpPr>
        <p:spPr>
          <a:xfrm>
            <a:off x="731520" y="2743200"/>
            <a:ext cx="7315200" cy="1188720"/>
          </a:xfrm>
          <a:prstGeom prst="rect">
            <a:avLst/>
          </a:prstGeom>
          <a:noFill/>
          <a:ln/>
        </p:spPr>
        <p:txBody>
          <a:bodyPr wrap="square" rtlCol="0" anchor="t"/>
          <a:lstStyle/>
          <a:p>
            <a:pPr marL="0" indent="0" algn="l">
              <a:buNone/>
            </a:pPr>
            <a:r>
              <a:rPr lang="en-US" sz="4200" b="1" dirty="0">
                <a:solidFill>
                  <a:srgbClr val="FFFFFF"/>
                </a:solidFill>
              </a:rPr>
              <a:t>Un indice des prix en ligne</a:t>
            </a:r>
            <a:endParaRPr lang="en-US" sz="4200" dirty="0"/>
          </a:p>
        </p:txBody>
      </p:sp>
      <p:sp>
        <p:nvSpPr>
          <p:cNvPr id="4" name="Text 0"/>
          <p:cNvSpPr>
            <a:spLocks noGrp="1"/>
          </p:cNvSpPr>
          <p:nvPr>
            <p:ph type="body" idx="102" hasCustomPrompt="1"/>
          </p:nvPr>
        </p:nvSpPr>
        <p:spPr>
          <a:xfrm>
            <a:off x="731520" y="3977640"/>
            <a:ext cx="7589520" cy="822960"/>
          </a:xfrm>
          <a:prstGeom prst="rect">
            <a:avLst/>
          </a:prstGeom>
          <a:noFill/>
          <a:ln/>
        </p:spPr>
        <p:txBody>
          <a:bodyPr wrap="square" rtlCol="0" anchor="t"/>
          <a:lstStyle/>
          <a:p>
            <a:pPr marL="0" indent="0">
              <a:buNone/>
            </a:pPr>
            <a:r>
              <a:rPr lang="en-US" sz="1900" i="1" dirty="0">
                <a:solidFill>
                  <a:srgbClr val="E6F6EE"/>
                </a:solidFill>
              </a:rPr>
              <a:t>Testé en Côte d'Ivoire : que peuvent apporter les prix en ligne et les prix publiés par les institutions à un IPC ?</a:t>
            </a:r>
            <a:endParaRPr lang="en-US" sz="1900" dirty="0"/>
          </a:p>
        </p:txBody>
      </p:sp>
      <p:sp>
        <p:nvSpPr>
          <p:cNvPr id="5" name="Cercle icône section"/>
          <p:cNvSpPr/>
          <p:nvPr/>
        </p:nvSpPr>
        <p:spPr>
          <a:xfrm>
            <a:off x="9079992" y="2340864"/>
            <a:ext cx="1280160" cy="1280160"/>
          </a:xfrm>
          <a:prstGeom prst="ellipse">
            <a:avLst/>
          </a:prstGeom>
          <a:solidFill>
            <a:srgbClr val="FFFFFF"/>
          </a:solidFill>
          <a:ln/>
        </p:spPr>
      </p:sp>
      <p:pic>
        <p:nvPicPr>
          <p:cNvPr id="6" name="Icône section" descr="preencoded.png"/>
          <p:cNvPicPr>
            <a:picLocks noChangeAspect="1"/>
          </p:cNvPicPr>
          <p:nvPr/>
        </p:nvPicPr>
        <p:blipFill>
          <a:blip r:embed="rId3"/>
          <a:stretch>
            <a:fillRect/>
          </a:stretch>
        </p:blipFill>
        <p:spPr>
          <a:xfrm>
            <a:off x="9372600" y="2633472"/>
            <a:ext cx="694944" cy="694944"/>
          </a:xfrm>
          <a:prstGeom prst="rect">
            <a:avLst/>
          </a:prstGeom>
        </p:spPr>
      </p:pic>
      <p:sp>
        <p:nvSpPr>
          <p:cNvPr id="7" name="Point de progression 1"/>
          <p:cNvSpPr/>
          <p:nvPr/>
        </p:nvSpPr>
        <p:spPr>
          <a:xfrm>
            <a:off x="731520" y="5989320"/>
            <a:ext cx="155448" cy="155448"/>
          </a:xfrm>
          <a:prstGeom prst="ellipse">
            <a:avLst/>
          </a:prstGeom>
          <a:solidFill>
            <a:srgbClr val="FFFFFF">
              <a:alpha val="40000"/>
            </a:srgbClr>
          </a:solidFill>
          <a:ln/>
        </p:spPr>
      </p:sp>
      <p:sp>
        <p:nvSpPr>
          <p:cNvPr id="8" name="Point de progression 2"/>
          <p:cNvSpPr/>
          <p:nvPr/>
        </p:nvSpPr>
        <p:spPr>
          <a:xfrm>
            <a:off x="1024128" y="5989320"/>
            <a:ext cx="155448" cy="155448"/>
          </a:xfrm>
          <a:prstGeom prst="ellipse">
            <a:avLst/>
          </a:prstGeom>
          <a:solidFill>
            <a:srgbClr val="FFFFFF">
              <a:alpha val="40000"/>
            </a:srgbClr>
          </a:solidFill>
          <a:ln/>
        </p:spPr>
      </p:sp>
      <p:sp>
        <p:nvSpPr>
          <p:cNvPr id="9" name="Point de progression 3"/>
          <p:cNvSpPr/>
          <p:nvPr/>
        </p:nvSpPr>
        <p:spPr>
          <a:xfrm>
            <a:off x="1316736" y="5989320"/>
            <a:ext cx="155448" cy="155448"/>
          </a:xfrm>
          <a:prstGeom prst="ellipse">
            <a:avLst/>
          </a:prstGeom>
          <a:solidFill>
            <a:srgbClr val="FFFFFF">
              <a:alpha val="40000"/>
            </a:srgbClr>
          </a:solidFill>
          <a:ln/>
        </p:spPr>
      </p:sp>
      <p:sp>
        <p:nvSpPr>
          <p:cNvPr id="10" name="Point de progression 4"/>
          <p:cNvSpPr/>
          <p:nvPr/>
        </p:nvSpPr>
        <p:spPr>
          <a:xfrm>
            <a:off x="1609344" y="5989320"/>
            <a:ext cx="155448" cy="155448"/>
          </a:xfrm>
          <a:prstGeom prst="ellipse">
            <a:avLst/>
          </a:prstGeom>
          <a:solidFill>
            <a:srgbClr val="F5C242"/>
          </a:solidFill>
          <a:ln/>
        </p:spPr>
      </p:sp>
      <p:sp>
        <p:nvSpPr>
          <p:cNvPr id="11" name="Point de progression 5"/>
          <p:cNvSpPr/>
          <p:nvPr/>
        </p:nvSpPr>
        <p:spPr>
          <a:xfrm>
            <a:off x="1901952" y="5989320"/>
            <a:ext cx="155448" cy="155448"/>
          </a:xfrm>
          <a:prstGeom prst="ellipse">
            <a:avLst/>
          </a:prstGeom>
          <a:solidFill>
            <a:srgbClr val="FFFFFF">
              <a:alpha val="40000"/>
            </a:srgbClr>
          </a:solidFill>
          <a:ln/>
        </p:spPr>
      </p:sp>
    </p:spTree>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04 · LABORATOIRE</a:t>
            </a:r>
            <a:endParaRPr lang="en-US" sz="1200" dirty="0"/>
          </a:p>
        </p:txBody>
      </p:sp>
      <p:sp>
        <p:nvSpPr>
          <p:cNvPr id="3" name="Point de progression 1"/>
          <p:cNvSpPr/>
          <p:nvPr/>
        </p:nvSpPr>
        <p:spPr>
          <a:xfrm>
            <a:off x="10561320" y="365760"/>
            <a:ext cx="128016" cy="128016"/>
          </a:xfrm>
          <a:prstGeom prst="ellipse">
            <a:avLst/>
          </a:prstGeom>
          <a:solidFill>
            <a:srgbClr val="D5DED9"/>
          </a:solidFill>
          <a:ln/>
        </p:spPr>
      </p:sp>
      <p:sp>
        <p:nvSpPr>
          <p:cNvPr id="4" name="Point de progression 2"/>
          <p:cNvSpPr/>
          <p:nvPr/>
        </p:nvSpPr>
        <p:spPr>
          <a:xfrm>
            <a:off x="10789920" y="365760"/>
            <a:ext cx="128016" cy="128016"/>
          </a:xfrm>
          <a:prstGeom prst="ellipse">
            <a:avLst/>
          </a:prstGeom>
          <a:solidFill>
            <a:srgbClr val="D5DED9"/>
          </a:solidFill>
          <a:ln/>
        </p:spPr>
      </p:sp>
      <p:sp>
        <p:nvSpPr>
          <p:cNvPr id="5" name="Point de progression 3"/>
          <p:cNvSpPr/>
          <p:nvPr/>
        </p:nvSpPr>
        <p:spPr>
          <a:xfrm>
            <a:off x="11018520" y="365760"/>
            <a:ext cx="128016" cy="128016"/>
          </a:xfrm>
          <a:prstGeom prst="ellipse">
            <a:avLst/>
          </a:prstGeom>
          <a:solidFill>
            <a:srgbClr val="D5DED9"/>
          </a:solidFill>
          <a:ln/>
        </p:spPr>
      </p:sp>
      <p:sp>
        <p:nvSpPr>
          <p:cNvPr id="6" name="Point de progression 4"/>
          <p:cNvSpPr/>
          <p:nvPr/>
        </p:nvSpPr>
        <p:spPr>
          <a:xfrm>
            <a:off x="11247120" y="365760"/>
            <a:ext cx="128016" cy="128016"/>
          </a:xfrm>
          <a:prstGeom prst="ellipse">
            <a:avLst/>
          </a:prstGeom>
          <a:solidFill>
            <a:srgbClr val="D49A00"/>
          </a:solidFill>
          <a:ln/>
        </p:spPr>
      </p:sp>
      <p:sp>
        <p:nvSpPr>
          <p:cNvPr id="7" name="Point de progression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Architecture : collecter sur le poste, analyser n'importe où</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La collecte et le calcul sont séparés : seul un fichier circule entre les deux</a:t>
            </a:r>
            <a:endParaRPr lang="en-US" sz="1500" dirty="0"/>
          </a:p>
        </p:txBody>
      </p:sp>
      <p:sp>
        <p:nvSpPr>
          <p:cNvPr id="10" name="Zone poste institut"/>
          <p:cNvSpPr/>
          <p:nvPr/>
        </p:nvSpPr>
        <p:spPr>
          <a:xfrm>
            <a:off x="502920" y="1737360"/>
            <a:ext cx="5486400" cy="4297680"/>
          </a:xfrm>
          <a:prstGeom prst="roundRect">
            <a:avLst>
              <a:gd name="adj" fmla="val 2128"/>
            </a:avLst>
          </a:prstGeom>
          <a:solidFill>
            <a:srgbClr val="F4F7F5"/>
          </a:solidFill>
          <a:ln w="12700">
            <a:solidFill>
              <a:srgbClr val="D5DED9"/>
            </a:solidFill>
            <a:prstDash val="dash"/>
          </a:ln>
        </p:spPr>
      </p:sp>
      <p:sp>
        <p:nvSpPr>
          <p:cNvPr id="11" name="Text 9"/>
          <p:cNvSpPr txBox="1"/>
          <p:nvPr/>
        </p:nvSpPr>
        <p:spPr>
          <a:xfrm>
            <a:off x="777240" y="1874520"/>
            <a:ext cx="4937760" cy="320040"/>
          </a:xfrm>
          <a:prstGeom prst="rect">
            <a:avLst/>
          </a:prstGeom>
          <a:noFill/>
          <a:ln/>
        </p:spPr>
        <p:txBody>
          <a:bodyPr wrap="square" lIns="0" tIns="0" rIns="0" bIns="0" rtlCol="0" anchor="ctr"/>
          <a:lstStyle/>
          <a:p>
            <a:pPr marL="0" indent="0">
              <a:buNone/>
            </a:pPr>
            <a:r>
              <a:rPr lang="en-US" sz="1200" b="1" kern="0" spc="200" dirty="0">
                <a:solidFill>
                  <a:srgbClr val="5E6964"/>
                </a:solidFill>
              </a:rPr>
              <a:t>SUR LE POSTE DE L'INSTITUT</a:t>
            </a:r>
            <a:endParaRPr lang="en-US" sz="1200" dirty="0"/>
          </a:p>
        </p:txBody>
      </p:sp>
      <p:sp>
        <p:nvSpPr>
          <p:cNvPr id="12" name="Carte notebook 1"/>
          <p:cNvSpPr/>
          <p:nvPr/>
        </p:nvSpPr>
        <p:spPr>
          <a:xfrm>
            <a:off x="777240" y="2377440"/>
            <a:ext cx="4937760" cy="1554480"/>
          </a:xfrm>
          <a:prstGeom prst="roundRect">
            <a:avLst>
              <a:gd name="adj" fmla="val 4706"/>
            </a:avLst>
          </a:prstGeom>
          <a:solidFill>
            <a:srgbClr val="FFFFFF"/>
          </a:solidFill>
          <a:ln w="9525">
            <a:solidFill>
              <a:srgbClr val="D5DED9"/>
            </a:solidFill>
            <a:prstDash val="solid"/>
          </a:ln>
        </p:spPr>
      </p:sp>
      <p:sp>
        <p:nvSpPr>
          <p:cNvPr id="13" name="Numéro notebook 1"/>
          <p:cNvSpPr txBox="1"/>
          <p:nvPr/>
        </p:nvSpPr>
        <p:spPr>
          <a:xfrm>
            <a:off x="1005840" y="2743200"/>
            <a:ext cx="731520" cy="822960"/>
          </a:xfrm>
          <a:prstGeom prst="roundRect">
            <a:avLst>
              <a:gd name="adj" fmla="val 10000"/>
            </a:avLst>
          </a:prstGeom>
          <a:solidFill>
            <a:srgbClr val="00704A"/>
          </a:solidFill>
          <a:ln/>
        </p:spPr>
        <p:txBody>
          <a:bodyPr wrap="square" lIns="0" tIns="0" rIns="0" bIns="0" rtlCol="0" anchor="ctr"/>
          <a:lstStyle/>
          <a:p>
            <a:pPr marL="0" indent="0" algn="ctr">
              <a:buNone/>
            </a:pPr>
            <a:r>
              <a:rPr lang="en-US" sz="2800" b="1" dirty="0">
                <a:solidFill>
                  <a:srgbClr val="FFFFFF"/>
                </a:solidFill>
              </a:rPr>
              <a:t>1</a:t>
            </a:r>
            <a:endParaRPr lang="en-US" sz="2800" dirty="0"/>
          </a:p>
        </p:txBody>
      </p:sp>
      <p:sp>
        <p:nvSpPr>
          <p:cNvPr id="14" name="Text 12"/>
          <p:cNvSpPr txBox="1"/>
          <p:nvPr/>
        </p:nvSpPr>
        <p:spPr>
          <a:xfrm>
            <a:off x="1965960" y="2606040"/>
            <a:ext cx="3566160" cy="457200"/>
          </a:xfrm>
          <a:prstGeom prst="rect">
            <a:avLst/>
          </a:prstGeom>
          <a:noFill/>
          <a:ln/>
        </p:spPr>
        <p:txBody>
          <a:bodyPr wrap="square" lIns="0" tIns="0" rIns="0" bIns="0" rtlCol="0" anchor="ctr"/>
          <a:lstStyle/>
          <a:p>
            <a:pPr marL="0" indent="0">
              <a:buNone/>
            </a:pPr>
            <a:r>
              <a:rPr lang="en-US" sz="1800" b="1" dirty="0">
                <a:solidFill>
                  <a:srgbClr val="231F20"/>
                </a:solidFill>
              </a:rPr>
              <a:t>Collecte Jumia</a:t>
            </a:r>
            <a:endParaRPr lang="en-US" sz="1800" dirty="0"/>
          </a:p>
        </p:txBody>
      </p:sp>
      <p:sp>
        <p:nvSpPr>
          <p:cNvPr id="15" name="Text 13"/>
          <p:cNvSpPr txBox="1"/>
          <p:nvPr/>
        </p:nvSpPr>
        <p:spPr>
          <a:xfrm>
            <a:off x="1965960" y="3063240"/>
            <a:ext cx="3566160" cy="685800"/>
          </a:xfrm>
          <a:prstGeom prst="rect">
            <a:avLst/>
          </a:prstGeom>
          <a:noFill/>
          <a:ln/>
        </p:spPr>
        <p:txBody>
          <a:bodyPr wrap="square" lIns="0" tIns="0" rIns="0" bIns="0" rtlCol="0" anchor="t"/>
          <a:lstStyle/>
          <a:p>
            <a:pPr marL="0" indent="0">
              <a:buNone/>
            </a:pPr>
            <a:r>
              <a:rPr lang="en-US" sz="1400" dirty="0">
                <a:solidFill>
                  <a:srgbClr val="5E6964"/>
                </a:solidFill>
              </a:rPr>
              <a:t>Prix en ligne, robots.txt respecté, robot identifié</a:t>
            </a:r>
            <a:endParaRPr lang="en-US" sz="1400" dirty="0"/>
          </a:p>
        </p:txBody>
      </p:sp>
      <p:sp>
        <p:nvSpPr>
          <p:cNvPr id="16" name="Carte notebook 2"/>
          <p:cNvSpPr/>
          <p:nvPr/>
        </p:nvSpPr>
        <p:spPr>
          <a:xfrm>
            <a:off x="777240" y="4160520"/>
            <a:ext cx="4937760" cy="1554480"/>
          </a:xfrm>
          <a:prstGeom prst="roundRect">
            <a:avLst>
              <a:gd name="adj" fmla="val 4706"/>
            </a:avLst>
          </a:prstGeom>
          <a:solidFill>
            <a:srgbClr val="FFFFFF"/>
          </a:solidFill>
          <a:ln w="9525">
            <a:solidFill>
              <a:srgbClr val="D5DED9"/>
            </a:solidFill>
            <a:prstDash val="solid"/>
          </a:ln>
        </p:spPr>
      </p:sp>
      <p:sp>
        <p:nvSpPr>
          <p:cNvPr id="17" name="Numéro notebook 2"/>
          <p:cNvSpPr txBox="1"/>
          <p:nvPr/>
        </p:nvSpPr>
        <p:spPr>
          <a:xfrm>
            <a:off x="1005840" y="4526280"/>
            <a:ext cx="731520" cy="822960"/>
          </a:xfrm>
          <a:prstGeom prst="roundRect">
            <a:avLst>
              <a:gd name="adj" fmla="val 10000"/>
            </a:avLst>
          </a:prstGeom>
          <a:solidFill>
            <a:srgbClr val="00704A"/>
          </a:solidFill>
          <a:ln/>
        </p:spPr>
        <p:txBody>
          <a:bodyPr wrap="square" lIns="0" tIns="0" rIns="0" bIns="0" rtlCol="0" anchor="ctr"/>
          <a:lstStyle/>
          <a:p>
            <a:pPr marL="0" indent="0" algn="ctr">
              <a:buNone/>
            </a:pPr>
            <a:r>
              <a:rPr lang="en-US" sz="2800" b="1" dirty="0">
                <a:solidFill>
                  <a:srgbClr val="FFFFFF"/>
                </a:solidFill>
              </a:rPr>
              <a:t>2</a:t>
            </a:r>
            <a:endParaRPr lang="en-US" sz="2800" dirty="0"/>
          </a:p>
        </p:txBody>
      </p:sp>
      <p:sp>
        <p:nvSpPr>
          <p:cNvPr id="18" name="Text 16"/>
          <p:cNvSpPr txBox="1"/>
          <p:nvPr/>
        </p:nvSpPr>
        <p:spPr>
          <a:xfrm>
            <a:off x="1965960" y="4389120"/>
            <a:ext cx="3566160" cy="457200"/>
          </a:xfrm>
          <a:prstGeom prst="rect">
            <a:avLst/>
          </a:prstGeom>
          <a:noFill/>
          <a:ln/>
        </p:spPr>
        <p:txBody>
          <a:bodyPr wrap="square" lIns="0" tIns="0" rIns="0" bIns="0" rtlCol="0" anchor="ctr"/>
          <a:lstStyle/>
          <a:p>
            <a:pPr marL="0" indent="0">
              <a:buNone/>
            </a:pPr>
            <a:r>
              <a:rPr lang="en-US" sz="1800" b="1" dirty="0">
                <a:solidFill>
                  <a:srgbClr val="231F20"/>
                </a:solidFill>
              </a:rPr>
              <a:t>Sources institutionnelles</a:t>
            </a:r>
            <a:endParaRPr lang="en-US" sz="1800" dirty="0"/>
          </a:p>
        </p:txBody>
      </p:sp>
      <p:sp>
        <p:nvSpPr>
          <p:cNvPr id="19" name="Text 17"/>
          <p:cNvSpPr txBox="1"/>
          <p:nvPr/>
        </p:nvSpPr>
        <p:spPr>
          <a:xfrm>
            <a:off x="1965960" y="4846320"/>
            <a:ext cx="3566160" cy="685800"/>
          </a:xfrm>
          <a:prstGeom prst="rect">
            <a:avLst/>
          </a:prstGeom>
          <a:noFill/>
          <a:ln/>
        </p:spPr>
        <p:txBody>
          <a:bodyPr wrap="square" lIns="0" tIns="0" rIns="0" bIns="0" rtlCol="0" anchor="t"/>
          <a:lstStyle/>
          <a:p>
            <a:pPr marL="0" indent="0">
              <a:buNone/>
            </a:pPr>
            <a:r>
              <a:rPr lang="en-US" sz="1400" dirty="0">
                <a:solidFill>
                  <a:srgbClr val="5E6964"/>
                </a:solidFill>
              </a:rPr>
              <a:t>Tarifs d'électricité, prix des marchés, indice télécoms</a:t>
            </a:r>
            <a:endParaRPr lang="en-US" sz="1400" dirty="0"/>
          </a:p>
        </p:txBody>
      </p:sp>
      <p:sp>
        <p:nvSpPr>
          <p:cNvPr id="20" name="Archive cercle"/>
          <p:cNvSpPr/>
          <p:nvPr/>
        </p:nvSpPr>
        <p:spPr>
          <a:xfrm>
            <a:off x="6400800" y="3017520"/>
            <a:ext cx="868680" cy="868680"/>
          </a:xfrm>
          <a:prstGeom prst="ellipse">
            <a:avLst/>
          </a:prstGeom>
          <a:solidFill>
            <a:srgbClr val="D49A00">
              <a:alpha val="22000"/>
            </a:srgbClr>
          </a:solidFill>
          <a:ln/>
        </p:spPr>
      </p:sp>
      <p:pic>
        <p:nvPicPr>
          <p:cNvPr id="21" name="Archive icône" descr="preencoded.png"/>
          <p:cNvPicPr>
            <a:picLocks noChangeAspect="1"/>
          </p:cNvPicPr>
          <p:nvPr/>
        </p:nvPicPr>
        <p:blipFill>
          <a:blip r:embed="rId3"/>
          <a:stretch>
            <a:fillRect/>
          </a:stretch>
        </p:blipFill>
        <p:spPr>
          <a:xfrm>
            <a:off x="6617970" y="3234690"/>
            <a:ext cx="434340" cy="434340"/>
          </a:xfrm>
          <a:prstGeom prst="rect">
            <a:avLst/>
          </a:prstGeom>
        </p:spPr>
      </p:pic>
      <p:pic>
        <p:nvPicPr>
          <p:cNvPr id="22" name="Flèche vers archive" descr="preencoded.png"/>
          <p:cNvPicPr>
            <a:picLocks noChangeAspect="1"/>
          </p:cNvPicPr>
          <p:nvPr/>
        </p:nvPicPr>
        <p:blipFill>
          <a:blip r:embed="rId4"/>
          <a:stretch>
            <a:fillRect/>
          </a:stretch>
        </p:blipFill>
        <p:spPr>
          <a:xfrm>
            <a:off x="6053328" y="3310128"/>
            <a:ext cx="274320" cy="274320"/>
          </a:xfrm>
          <a:prstGeom prst="rect">
            <a:avLst/>
          </a:prstGeom>
        </p:spPr>
      </p:pic>
      <p:pic>
        <p:nvPicPr>
          <p:cNvPr id="23" name="Flèche vers analyse" descr="preencoded.png"/>
          <p:cNvPicPr>
            <a:picLocks noChangeAspect="1"/>
          </p:cNvPicPr>
          <p:nvPr/>
        </p:nvPicPr>
        <p:blipFill>
          <a:blip r:embed="rId4"/>
          <a:stretch>
            <a:fillRect/>
          </a:stretch>
        </p:blipFill>
        <p:spPr>
          <a:xfrm>
            <a:off x="7360920" y="3310128"/>
            <a:ext cx="274320" cy="274320"/>
          </a:xfrm>
          <a:prstGeom prst="rect">
            <a:avLst/>
          </a:prstGeom>
        </p:spPr>
      </p:pic>
      <p:sp>
        <p:nvSpPr>
          <p:cNvPr id="24" name="Text 19"/>
          <p:cNvSpPr txBox="1"/>
          <p:nvPr/>
        </p:nvSpPr>
        <p:spPr>
          <a:xfrm>
            <a:off x="6035040" y="3977640"/>
            <a:ext cx="1645920" cy="822960"/>
          </a:xfrm>
          <a:prstGeom prst="rect">
            <a:avLst/>
          </a:prstGeom>
          <a:noFill/>
          <a:ln/>
        </p:spPr>
        <p:txBody>
          <a:bodyPr wrap="square" lIns="0" tIns="0" rIns="0" bIns="0" rtlCol="0" anchor="t"/>
          <a:lstStyle/>
          <a:p>
            <a:pPr marL="0" indent="0" algn="ctr">
              <a:buNone/>
            </a:pPr>
            <a:r>
              <a:rPr lang="en-US" sz="1200" dirty="0">
                <a:solidFill>
                  <a:srgbClr val="5E6964"/>
                </a:solidFill>
              </a:rPr>
              <a:t>Archive .zip : Parquet, Excel, manifeste</a:t>
            </a:r>
            <a:endParaRPr lang="en-US" sz="1200" dirty="0"/>
          </a:p>
        </p:txBody>
      </p:sp>
      <p:sp>
        <p:nvSpPr>
          <p:cNvPr id="25" name="Zone analyse"/>
          <p:cNvSpPr/>
          <p:nvPr/>
        </p:nvSpPr>
        <p:spPr>
          <a:xfrm>
            <a:off x="7772400" y="1737360"/>
            <a:ext cx="3886200" cy="4297680"/>
          </a:xfrm>
          <a:prstGeom prst="roundRect">
            <a:avLst>
              <a:gd name="adj" fmla="val 1882"/>
            </a:avLst>
          </a:prstGeom>
          <a:solidFill>
            <a:srgbClr val="E8F5EF"/>
          </a:solidFill>
          <a:ln w="19050">
            <a:solidFill>
              <a:srgbClr val="00A86A"/>
            </a:solidFill>
            <a:prstDash val="solid"/>
          </a:ln>
        </p:spPr>
      </p:sp>
      <p:sp>
        <p:nvSpPr>
          <p:cNvPr id="26" name="Text 21"/>
          <p:cNvSpPr txBox="1"/>
          <p:nvPr/>
        </p:nvSpPr>
        <p:spPr>
          <a:xfrm>
            <a:off x="8046720" y="1874520"/>
            <a:ext cx="3474720" cy="320040"/>
          </a:xfrm>
          <a:prstGeom prst="rect">
            <a:avLst/>
          </a:prstGeom>
          <a:noFill/>
          <a:ln/>
        </p:spPr>
        <p:txBody>
          <a:bodyPr wrap="square" lIns="0" tIns="0" rIns="0" bIns="0" rtlCol="0" anchor="ctr"/>
          <a:lstStyle/>
          <a:p>
            <a:pPr marL="0" indent="0">
              <a:buNone/>
            </a:pPr>
            <a:r>
              <a:rPr lang="en-US" sz="1200" b="1" kern="0" spc="200" dirty="0">
                <a:solidFill>
                  <a:srgbClr val="00704A"/>
                </a:solidFill>
              </a:rPr>
              <a:t>SUR COLAB OU SUR LE POSTE</a:t>
            </a:r>
            <a:endParaRPr lang="en-US" sz="1200" dirty="0"/>
          </a:p>
        </p:txBody>
      </p:sp>
      <p:sp>
        <p:nvSpPr>
          <p:cNvPr id="27" name="Numéro notebook 3"/>
          <p:cNvSpPr txBox="1"/>
          <p:nvPr/>
        </p:nvSpPr>
        <p:spPr>
          <a:xfrm>
            <a:off x="8046720" y="2377440"/>
            <a:ext cx="731520" cy="822960"/>
          </a:xfrm>
          <a:prstGeom prst="roundRect">
            <a:avLst>
              <a:gd name="adj" fmla="val 10000"/>
            </a:avLst>
          </a:prstGeom>
          <a:solidFill>
            <a:srgbClr val="00A86A"/>
          </a:solidFill>
          <a:ln/>
        </p:spPr>
        <p:txBody>
          <a:bodyPr wrap="square" lIns="0" tIns="0" rIns="0" bIns="0" rtlCol="0" anchor="ctr"/>
          <a:lstStyle/>
          <a:p>
            <a:pPr marL="0" indent="0" algn="ctr">
              <a:buNone/>
            </a:pPr>
            <a:r>
              <a:rPr lang="en-US" sz="2800" b="1" dirty="0">
                <a:solidFill>
                  <a:srgbClr val="FFFFFF"/>
                </a:solidFill>
              </a:rPr>
              <a:t>3</a:t>
            </a:r>
            <a:endParaRPr lang="en-US" sz="2800" dirty="0"/>
          </a:p>
        </p:txBody>
      </p:sp>
      <p:sp>
        <p:nvSpPr>
          <p:cNvPr id="28" name="Text 23"/>
          <p:cNvSpPr txBox="1"/>
          <p:nvPr/>
        </p:nvSpPr>
        <p:spPr>
          <a:xfrm>
            <a:off x="8961120" y="2377440"/>
            <a:ext cx="2560320" cy="822960"/>
          </a:xfrm>
          <a:prstGeom prst="rect">
            <a:avLst/>
          </a:prstGeom>
          <a:noFill/>
          <a:ln/>
        </p:spPr>
        <p:txBody>
          <a:bodyPr wrap="square" lIns="0" tIns="0" rIns="0" bIns="0" rtlCol="0" anchor="ctr"/>
          <a:lstStyle/>
          <a:p>
            <a:pPr marL="0" indent="0">
              <a:buNone/>
            </a:pPr>
            <a:r>
              <a:rPr lang="en-US" sz="2000" b="1" dirty="0">
                <a:solidFill>
                  <a:srgbClr val="231F20"/>
                </a:solidFill>
              </a:rPr>
              <a:t>Analyse</a:t>
            </a:r>
            <a:endParaRPr lang="en-US" sz="2000" dirty="0"/>
          </a:p>
        </p:txBody>
      </p:sp>
      <p:sp>
        <p:nvSpPr>
          <p:cNvPr id="29" name="Text 24"/>
          <p:cNvSpPr txBox="1"/>
          <p:nvPr/>
        </p:nvSpPr>
        <p:spPr>
          <a:xfrm>
            <a:off x="8046720" y="3383280"/>
            <a:ext cx="3429000" cy="2468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31F20"/>
                </a:solidFill>
              </a:rPr>
              <a:t>Agrège et contrôle les archives</a:t>
            </a:r>
            <a:endParaRPr lang="en-US" sz="1400" dirty="0"/>
          </a:p>
          <a:p>
            <a:pPr marL="342900" indent="-342900">
              <a:spcAft>
                <a:spcPts val="600"/>
              </a:spcAft>
              <a:buSzPct val="100000"/>
              <a:buChar char="•"/>
            </a:pPr>
            <a:r>
              <a:rPr lang="en-US" sz="1400" dirty="0">
                <a:solidFill>
                  <a:srgbClr val="231F20"/>
                </a:solidFill>
              </a:rPr>
              <a:t>Classe les produits en COICOP</a:t>
            </a:r>
            <a:endParaRPr lang="en-US" sz="1400" dirty="0"/>
          </a:p>
          <a:p>
            <a:pPr marL="342900" indent="-342900">
              <a:spcAft>
                <a:spcPts val="600"/>
              </a:spcAft>
              <a:buSzPct val="100000"/>
              <a:buChar char="•"/>
            </a:pPr>
            <a:r>
              <a:rPr lang="en-US" sz="1400" dirty="0">
                <a:solidFill>
                  <a:srgbClr val="231F20"/>
                </a:solidFill>
              </a:rPr>
              <a:t>Compare les méthodes de classification</a:t>
            </a:r>
            <a:endParaRPr lang="en-US" sz="1400" dirty="0"/>
          </a:p>
          <a:p>
            <a:pPr marL="342900" indent="-342900">
              <a:spcAft>
                <a:spcPts val="600"/>
              </a:spcAft>
              <a:buSzPct val="100000"/>
              <a:buChar char="•"/>
            </a:pPr>
            <a:r>
              <a:rPr lang="en-US" sz="1400" dirty="0">
                <a:solidFill>
                  <a:srgbClr val="231F20"/>
                </a:solidFill>
              </a:rPr>
              <a:t>Pondère et calcule Jevons, Carli, GEKS</a:t>
            </a:r>
            <a:endParaRPr lang="en-US" sz="1400" dirty="0"/>
          </a:p>
          <a:p>
            <a:pPr marL="342900" indent="-342900">
              <a:spcAft>
                <a:spcPts val="600"/>
              </a:spcAft>
              <a:buSzPct val="100000"/>
              <a:buChar char="•"/>
            </a:pPr>
            <a:r>
              <a:rPr lang="en-US" sz="1400" dirty="0">
                <a:solidFill>
                  <a:srgbClr val="231F20"/>
                </a:solidFill>
              </a:rPr>
              <a:t>Produit un rapport HTML autonome</a:t>
            </a:r>
            <a:endParaRPr lang="en-US" sz="1400" dirty="0"/>
          </a:p>
        </p:txBody>
      </p:sp>
      <p:sp>
        <p:nvSpPr>
          <p:cNvPr id="30"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21</a:t>
            </a:fld>
            <a:endParaRPr lang="en-US"/>
          </a:p>
        </p:txBody>
      </p:sp>
    </p:spTree>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04 · LABORATOIRE</a:t>
            </a:r>
            <a:endParaRPr lang="en-US" sz="1200" dirty="0"/>
          </a:p>
        </p:txBody>
      </p:sp>
      <p:sp>
        <p:nvSpPr>
          <p:cNvPr id="3" name="Point de progression 1"/>
          <p:cNvSpPr/>
          <p:nvPr/>
        </p:nvSpPr>
        <p:spPr>
          <a:xfrm>
            <a:off x="10561320" y="365760"/>
            <a:ext cx="128016" cy="128016"/>
          </a:xfrm>
          <a:prstGeom prst="ellipse">
            <a:avLst/>
          </a:prstGeom>
          <a:solidFill>
            <a:srgbClr val="D5DED9"/>
          </a:solidFill>
          <a:ln/>
        </p:spPr>
      </p:sp>
      <p:sp>
        <p:nvSpPr>
          <p:cNvPr id="4" name="Point de progression 2"/>
          <p:cNvSpPr/>
          <p:nvPr/>
        </p:nvSpPr>
        <p:spPr>
          <a:xfrm>
            <a:off x="10789920" y="365760"/>
            <a:ext cx="128016" cy="128016"/>
          </a:xfrm>
          <a:prstGeom prst="ellipse">
            <a:avLst/>
          </a:prstGeom>
          <a:solidFill>
            <a:srgbClr val="D5DED9"/>
          </a:solidFill>
          <a:ln/>
        </p:spPr>
      </p:sp>
      <p:sp>
        <p:nvSpPr>
          <p:cNvPr id="5" name="Point de progression 3"/>
          <p:cNvSpPr/>
          <p:nvPr/>
        </p:nvSpPr>
        <p:spPr>
          <a:xfrm>
            <a:off x="11018520" y="365760"/>
            <a:ext cx="128016" cy="128016"/>
          </a:xfrm>
          <a:prstGeom prst="ellipse">
            <a:avLst/>
          </a:prstGeom>
          <a:solidFill>
            <a:srgbClr val="D5DED9"/>
          </a:solidFill>
          <a:ln/>
        </p:spPr>
      </p:sp>
      <p:sp>
        <p:nvSpPr>
          <p:cNvPr id="6" name="Point de progression 4"/>
          <p:cNvSpPr/>
          <p:nvPr/>
        </p:nvSpPr>
        <p:spPr>
          <a:xfrm>
            <a:off x="11247120" y="365760"/>
            <a:ext cx="128016" cy="128016"/>
          </a:xfrm>
          <a:prstGeom prst="ellipse">
            <a:avLst/>
          </a:prstGeom>
          <a:solidFill>
            <a:srgbClr val="D49A00"/>
          </a:solidFill>
          <a:ln/>
        </p:spPr>
      </p:sp>
      <p:sp>
        <p:nvSpPr>
          <p:cNvPr id="7" name="Point de progression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Notebook 1 : collecter les prix en ligne, sans rien forcer</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Capture du notebook : la collecte doit partir du poste de l'institut</a:t>
            </a:r>
            <a:endParaRPr lang="en-US" sz="1500" dirty="0"/>
          </a:p>
        </p:txBody>
      </p:sp>
      <p:sp>
        <p:nvSpPr>
          <p:cNvPr id="10" name="Capture notebook 1 cadre"/>
          <p:cNvSpPr/>
          <p:nvPr/>
        </p:nvSpPr>
        <p:spPr>
          <a:xfrm>
            <a:off x="493776" y="1682496"/>
            <a:ext cx="7059168" cy="2923822"/>
          </a:xfrm>
          <a:prstGeom prst="rect">
            <a:avLst/>
          </a:prstGeom>
          <a:solidFill>
            <a:srgbClr val="FFFFFF"/>
          </a:solidFill>
          <a:ln w="9525">
            <a:solidFill>
              <a:srgbClr val="D5DED9"/>
            </a:solidFill>
            <a:prstDash val="solid"/>
          </a:ln>
        </p:spPr>
      </p:sp>
      <p:pic>
        <p:nvPicPr>
          <p:cNvPr id="11" name="Capture notebook 1" descr="Capture notebook 1"/>
          <p:cNvPicPr>
            <a:picLocks noChangeAspect="1"/>
          </p:cNvPicPr>
          <p:nvPr/>
        </p:nvPicPr>
        <p:blipFill>
          <a:blip r:embed="rId3"/>
          <a:stretch>
            <a:fillRect/>
          </a:stretch>
        </p:blipFill>
        <p:spPr>
          <a:xfrm>
            <a:off x="548640" y="1737360"/>
            <a:ext cx="6949440" cy="2814094"/>
          </a:xfrm>
          <a:prstGeom prst="rect">
            <a:avLst/>
          </a:prstGeom>
        </p:spPr>
      </p:pic>
      <p:sp>
        <p:nvSpPr>
          <p:cNvPr id="12" name="Text 9"/>
          <p:cNvSpPr txBox="1"/>
          <p:nvPr/>
        </p:nvSpPr>
        <p:spPr>
          <a:xfrm>
            <a:off x="7955280" y="1737360"/>
            <a:ext cx="3657600" cy="594360"/>
          </a:xfrm>
          <a:prstGeom prst="rect">
            <a:avLst/>
          </a:prstGeom>
          <a:noFill/>
          <a:ln/>
        </p:spPr>
        <p:txBody>
          <a:bodyPr wrap="square" lIns="0" tIns="0" rIns="0" bIns="0" rtlCol="0" anchor="ctr"/>
          <a:lstStyle/>
          <a:p>
            <a:pPr marL="0" indent="0">
              <a:buNone/>
            </a:pPr>
            <a:r>
              <a:rPr lang="en-US" sz="3400" b="1" dirty="0">
                <a:solidFill>
                  <a:srgbClr val="B83B2E"/>
                </a:solidFill>
              </a:rPr>
              <a:t>10 / 14</a:t>
            </a:r>
            <a:endParaRPr lang="en-US" sz="3400" dirty="0"/>
          </a:p>
        </p:txBody>
      </p:sp>
      <p:sp>
        <p:nvSpPr>
          <p:cNvPr id="13" name="Text 10"/>
          <p:cNvSpPr txBox="1"/>
          <p:nvPr/>
        </p:nvSpPr>
        <p:spPr>
          <a:xfrm>
            <a:off x="11612880" y="1737360"/>
            <a:ext cx="0" cy="594360"/>
          </a:xfrm>
          <a:prstGeom prst="rect">
            <a:avLst/>
          </a:prstGeom>
          <a:noFill/>
          <a:ln/>
        </p:spPr>
        <p:txBody>
          <a:bodyPr wrap="square" lIns="0" tIns="0" rIns="0" bIns="0" rtlCol="0" anchor="ctr"/>
          <a:lstStyle/>
          <a:p>
            <a:pPr marL="0" indent="0">
              <a:buNone/>
            </a:pPr>
            <a:endParaRPr lang="en-US" sz="1300" dirty="0"/>
          </a:p>
        </p:txBody>
      </p:sp>
      <p:sp>
        <p:nvSpPr>
          <p:cNvPr id="14" name="Text 11"/>
          <p:cNvSpPr txBox="1"/>
          <p:nvPr/>
        </p:nvSpPr>
        <p:spPr>
          <a:xfrm>
            <a:off x="7955280" y="2331720"/>
            <a:ext cx="3657600" cy="731520"/>
          </a:xfrm>
          <a:prstGeom prst="rect">
            <a:avLst/>
          </a:prstGeom>
          <a:noFill/>
          <a:ln/>
        </p:spPr>
        <p:txBody>
          <a:bodyPr wrap="square" lIns="0" tIns="0" rIns="0" bIns="0" rtlCol="0" anchor="t"/>
          <a:lstStyle/>
          <a:p>
            <a:pPr marL="0" indent="0">
              <a:buNone/>
            </a:pPr>
            <a:r>
              <a:rPr lang="en-US" sz="1300" dirty="0">
                <a:solidFill>
                  <a:srgbClr val="5E6964"/>
                </a:solidFill>
              </a:rPr>
              <a:t>sites Jumia refusés depuis Colab, en 14 à 20 ms : un blocage par le réseau de diffusion (CDN), pas par Jumia</a:t>
            </a:r>
            <a:endParaRPr lang="en-US" sz="1300" dirty="0"/>
          </a:p>
        </p:txBody>
      </p:sp>
      <p:sp>
        <p:nvSpPr>
          <p:cNvPr id="15" name="Text 12"/>
          <p:cNvSpPr txBox="1"/>
          <p:nvPr/>
        </p:nvSpPr>
        <p:spPr>
          <a:xfrm>
            <a:off x="7955280" y="3154680"/>
            <a:ext cx="3657600" cy="594360"/>
          </a:xfrm>
          <a:prstGeom prst="rect">
            <a:avLst/>
          </a:prstGeom>
          <a:noFill/>
          <a:ln/>
        </p:spPr>
        <p:txBody>
          <a:bodyPr wrap="square" lIns="0" tIns="0" rIns="0" bIns="0" rtlCol="0" anchor="ctr"/>
          <a:lstStyle/>
          <a:p>
            <a:pPr marL="0" indent="0">
              <a:buNone/>
            </a:pPr>
            <a:r>
              <a:rPr lang="en-US" sz="3400" b="1" dirty="0">
                <a:solidFill>
                  <a:srgbClr val="00A86A"/>
                </a:solidFill>
              </a:rPr>
              <a:t>11 358</a:t>
            </a:r>
            <a:endParaRPr lang="en-US" sz="3400" dirty="0"/>
          </a:p>
        </p:txBody>
      </p:sp>
      <p:sp>
        <p:nvSpPr>
          <p:cNvPr id="16" name="Text 13"/>
          <p:cNvSpPr txBox="1"/>
          <p:nvPr/>
        </p:nvSpPr>
        <p:spPr>
          <a:xfrm>
            <a:off x="11612880" y="3154680"/>
            <a:ext cx="0" cy="594360"/>
          </a:xfrm>
          <a:prstGeom prst="rect">
            <a:avLst/>
          </a:prstGeom>
          <a:noFill/>
          <a:ln/>
        </p:spPr>
        <p:txBody>
          <a:bodyPr wrap="square" lIns="0" tIns="0" rIns="0" bIns="0" rtlCol="0" anchor="ctr"/>
          <a:lstStyle/>
          <a:p>
            <a:pPr marL="0" indent="0">
              <a:buNone/>
            </a:pPr>
            <a:endParaRPr lang="en-US" sz="1300" dirty="0"/>
          </a:p>
        </p:txBody>
      </p:sp>
      <p:sp>
        <p:nvSpPr>
          <p:cNvPr id="17" name="Text 14"/>
          <p:cNvSpPr txBox="1"/>
          <p:nvPr/>
        </p:nvSpPr>
        <p:spPr>
          <a:xfrm>
            <a:off x="7955280" y="3749040"/>
            <a:ext cx="3657600" cy="731520"/>
          </a:xfrm>
          <a:prstGeom prst="rect">
            <a:avLst/>
          </a:prstGeom>
          <a:noFill/>
          <a:ln/>
        </p:spPr>
        <p:txBody>
          <a:bodyPr wrap="square" lIns="0" tIns="0" rIns="0" bIns="0" rtlCol="0" anchor="t"/>
          <a:lstStyle/>
          <a:p>
            <a:pPr marL="0" indent="0">
              <a:buNone/>
            </a:pPr>
            <a:r>
              <a:rPr lang="en-US" sz="1300" dirty="0">
                <a:solidFill>
                  <a:srgbClr val="5E6964"/>
                </a:solidFill>
              </a:rPr>
              <a:t>lignes servies le même jour par jumia.ci et jumia.sn depuis un poste de travail</a:t>
            </a:r>
            <a:endParaRPr lang="en-US" sz="1300" dirty="0"/>
          </a:p>
        </p:txBody>
      </p:sp>
      <p:sp>
        <p:nvSpPr>
          <p:cNvPr id="18" name="Text 15"/>
          <p:cNvSpPr txBox="1"/>
          <p:nvPr/>
        </p:nvSpPr>
        <p:spPr>
          <a:xfrm>
            <a:off x="7955280" y="4572000"/>
            <a:ext cx="3703320" cy="13716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31F20"/>
                </a:solidFill>
              </a:rPr>
              <a:t>Le robot s'identifie avec une adresse de contact</a:t>
            </a:r>
            <a:endParaRPr lang="en-US" sz="1400" dirty="0"/>
          </a:p>
          <a:p>
            <a:pPr marL="342900" indent="-342900">
              <a:spcAft>
                <a:spcPts val="400"/>
              </a:spcAft>
              <a:buSzPct val="100000"/>
              <a:buChar char="•"/>
            </a:pPr>
            <a:r>
              <a:rPr lang="en-US" sz="1400" dirty="0">
                <a:solidFill>
                  <a:srgbClr val="231F20"/>
                </a:solidFill>
              </a:rPr>
              <a:t>Le robots.txt et le délai entre requêtes sont respectés</a:t>
            </a:r>
            <a:endParaRPr lang="en-US" sz="1400" dirty="0"/>
          </a:p>
          <a:p>
            <a:pPr marL="342900" indent="-342900">
              <a:spcAft>
                <a:spcPts val="400"/>
              </a:spcAft>
              <a:buSzPct val="100000"/>
              <a:buChar char="•"/>
            </a:pPr>
            <a:r>
              <a:rPr lang="en-US" sz="1400" dirty="0">
                <a:solidFill>
                  <a:srgbClr val="231F20"/>
                </a:solidFill>
              </a:rPr>
              <a:t>Un refus est consigné, jamais contourné</a:t>
            </a:r>
            <a:endParaRPr lang="en-US" sz="1400" dirty="0"/>
          </a:p>
        </p:txBody>
      </p:sp>
      <p:sp>
        <p:nvSpPr>
          <p:cNvPr id="25"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22</a:t>
            </a:fld>
            <a:endParaRPr lang="en-US"/>
          </a:p>
        </p:txBody>
      </p:sp>
    </p:spTree>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04 · LABORATOIRE</a:t>
            </a:r>
            <a:endParaRPr lang="en-US" sz="1200" dirty="0"/>
          </a:p>
        </p:txBody>
      </p:sp>
      <p:sp>
        <p:nvSpPr>
          <p:cNvPr id="3" name="Point de progression 1"/>
          <p:cNvSpPr/>
          <p:nvPr/>
        </p:nvSpPr>
        <p:spPr>
          <a:xfrm>
            <a:off x="10561320" y="365760"/>
            <a:ext cx="128016" cy="128016"/>
          </a:xfrm>
          <a:prstGeom prst="ellipse">
            <a:avLst/>
          </a:prstGeom>
          <a:solidFill>
            <a:srgbClr val="D5DED9"/>
          </a:solidFill>
          <a:ln/>
        </p:spPr>
      </p:sp>
      <p:sp>
        <p:nvSpPr>
          <p:cNvPr id="4" name="Point de progression 2"/>
          <p:cNvSpPr/>
          <p:nvPr/>
        </p:nvSpPr>
        <p:spPr>
          <a:xfrm>
            <a:off x="10789920" y="365760"/>
            <a:ext cx="128016" cy="128016"/>
          </a:xfrm>
          <a:prstGeom prst="ellipse">
            <a:avLst/>
          </a:prstGeom>
          <a:solidFill>
            <a:srgbClr val="D5DED9"/>
          </a:solidFill>
          <a:ln/>
        </p:spPr>
      </p:sp>
      <p:sp>
        <p:nvSpPr>
          <p:cNvPr id="5" name="Point de progression 3"/>
          <p:cNvSpPr/>
          <p:nvPr/>
        </p:nvSpPr>
        <p:spPr>
          <a:xfrm>
            <a:off x="11018520" y="365760"/>
            <a:ext cx="128016" cy="128016"/>
          </a:xfrm>
          <a:prstGeom prst="ellipse">
            <a:avLst/>
          </a:prstGeom>
          <a:solidFill>
            <a:srgbClr val="D5DED9"/>
          </a:solidFill>
          <a:ln/>
        </p:spPr>
      </p:sp>
      <p:sp>
        <p:nvSpPr>
          <p:cNvPr id="6" name="Point de progression 4"/>
          <p:cNvSpPr/>
          <p:nvPr/>
        </p:nvSpPr>
        <p:spPr>
          <a:xfrm>
            <a:off x="11247120" y="365760"/>
            <a:ext cx="128016" cy="128016"/>
          </a:xfrm>
          <a:prstGeom prst="ellipse">
            <a:avLst/>
          </a:prstGeom>
          <a:solidFill>
            <a:srgbClr val="D49A00"/>
          </a:solidFill>
          <a:ln/>
        </p:spPr>
      </p:sp>
      <p:sp>
        <p:nvSpPr>
          <p:cNvPr id="7" name="Point de progression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Notebook 2 : aller chercher ce que l'e-commerce ne voit pas</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Prix administrés et prix des marchés, déjà publiés par les institutions ivoiriennes et sénégalaises</a:t>
            </a:r>
            <a:endParaRPr lang="en-US" sz="1500" dirty="0"/>
          </a:p>
        </p:txBody>
      </p:sp>
      <p:sp>
        <p:nvSpPr>
          <p:cNvPr id="10" name="Capture notebook 2 cadre"/>
          <p:cNvSpPr/>
          <p:nvPr/>
        </p:nvSpPr>
        <p:spPr>
          <a:xfrm>
            <a:off x="493776" y="1682496"/>
            <a:ext cx="5870448" cy="3239008"/>
          </a:xfrm>
          <a:prstGeom prst="rect">
            <a:avLst/>
          </a:prstGeom>
          <a:solidFill>
            <a:srgbClr val="FFFFFF"/>
          </a:solidFill>
          <a:ln w="9525">
            <a:solidFill>
              <a:srgbClr val="D5DED9"/>
            </a:solidFill>
            <a:prstDash val="solid"/>
          </a:ln>
        </p:spPr>
      </p:sp>
      <p:pic>
        <p:nvPicPr>
          <p:cNvPr id="11" name="Capture notebook 2" descr="Capture notebook 2"/>
          <p:cNvPicPr>
            <a:picLocks noChangeAspect="1"/>
          </p:cNvPicPr>
          <p:nvPr/>
        </p:nvPicPr>
        <p:blipFill>
          <a:blip r:embed="rId3"/>
          <a:stretch>
            <a:fillRect/>
          </a:stretch>
        </p:blipFill>
        <p:spPr>
          <a:xfrm>
            <a:off x="548640" y="1737360"/>
            <a:ext cx="5760720" cy="3129280"/>
          </a:xfrm>
          <a:prstGeom prst="rect">
            <a:avLst/>
          </a:prstGeom>
        </p:spPr>
      </p:pic>
      <p:sp>
        <p:nvSpPr>
          <p:cNvPr id="12" name="Division 04"/>
          <p:cNvSpPr txBox="1"/>
          <p:nvPr/>
        </p:nvSpPr>
        <p:spPr>
          <a:xfrm>
            <a:off x="6812280" y="1874520"/>
            <a:ext cx="777240" cy="685800"/>
          </a:xfrm>
          <a:prstGeom prst="roundRect">
            <a:avLst>
              <a:gd name="adj" fmla="val 10667"/>
            </a:avLst>
          </a:prstGeom>
          <a:solidFill>
            <a:srgbClr val="0E7C86"/>
          </a:solidFill>
          <a:ln/>
        </p:spPr>
        <p:txBody>
          <a:bodyPr wrap="square" lIns="0" tIns="0" rIns="0" bIns="0" rtlCol="0" anchor="ctr"/>
          <a:lstStyle/>
          <a:p>
            <a:pPr marL="0" indent="0" algn="ctr">
              <a:buNone/>
            </a:pPr>
            <a:r>
              <a:rPr lang="en-US" sz="2000" b="1" dirty="0">
                <a:solidFill>
                  <a:srgbClr val="FFFFFF"/>
                </a:solidFill>
              </a:rPr>
              <a:t>04</a:t>
            </a:r>
            <a:endParaRPr lang="en-US" sz="2000" dirty="0"/>
          </a:p>
        </p:txBody>
      </p:sp>
      <p:sp>
        <p:nvSpPr>
          <p:cNvPr id="13" name="Text 10"/>
          <p:cNvSpPr txBox="1"/>
          <p:nvPr/>
        </p:nvSpPr>
        <p:spPr>
          <a:xfrm>
            <a:off x="7772400" y="1783080"/>
            <a:ext cx="3886200" cy="411480"/>
          </a:xfrm>
          <a:prstGeom prst="rect">
            <a:avLst/>
          </a:prstGeom>
          <a:noFill/>
          <a:ln/>
        </p:spPr>
        <p:txBody>
          <a:bodyPr wrap="square" lIns="0" tIns="0" rIns="0" bIns="0" rtlCol="0" anchor="ctr"/>
          <a:lstStyle/>
          <a:p>
            <a:pPr marL="0" indent="0">
              <a:buNone/>
            </a:pPr>
            <a:r>
              <a:rPr lang="en-US" sz="1700" b="1" dirty="0">
                <a:solidFill>
                  <a:srgbClr val="231F20"/>
                </a:solidFill>
              </a:rPr>
              <a:t>Électricité</a:t>
            </a:r>
            <a:endParaRPr lang="en-US" sz="1700" dirty="0"/>
          </a:p>
        </p:txBody>
      </p:sp>
      <p:sp>
        <p:nvSpPr>
          <p:cNvPr id="14" name="Text 11"/>
          <p:cNvSpPr txBox="1"/>
          <p:nvPr/>
        </p:nvSpPr>
        <p:spPr>
          <a:xfrm>
            <a:off x="7772400" y="2194560"/>
            <a:ext cx="3886200" cy="731520"/>
          </a:xfrm>
          <a:prstGeom prst="rect">
            <a:avLst/>
          </a:prstGeom>
          <a:noFill/>
          <a:ln/>
        </p:spPr>
        <p:txBody>
          <a:bodyPr wrap="square" lIns="0" tIns="0" rIns="0" bIns="0" rtlCol="0" anchor="t"/>
          <a:lstStyle/>
          <a:p>
            <a:pPr marL="0" indent="0">
              <a:buNone/>
            </a:pPr>
            <a:r>
              <a:rPr lang="en-US" sz="1300" dirty="0">
                <a:solidFill>
                  <a:srgbClr val="5E6964"/>
                </a:solidFill>
              </a:rPr>
              <a:t>Tarifs ANARE-CI et CRSE : des prix administrés, arrêtés et publiés</a:t>
            </a:r>
            <a:endParaRPr lang="en-US" sz="1300" dirty="0"/>
          </a:p>
        </p:txBody>
      </p:sp>
      <p:sp>
        <p:nvSpPr>
          <p:cNvPr id="15" name="Division 01"/>
          <p:cNvSpPr txBox="1"/>
          <p:nvPr/>
        </p:nvSpPr>
        <p:spPr>
          <a:xfrm>
            <a:off x="6812280" y="3154680"/>
            <a:ext cx="777240" cy="685800"/>
          </a:xfrm>
          <a:prstGeom prst="roundRect">
            <a:avLst>
              <a:gd name="adj" fmla="val 10667"/>
            </a:avLst>
          </a:prstGeom>
          <a:solidFill>
            <a:srgbClr val="00A86A"/>
          </a:solidFill>
          <a:ln/>
        </p:spPr>
        <p:txBody>
          <a:bodyPr wrap="square" lIns="0" tIns="0" rIns="0" bIns="0" rtlCol="0" anchor="ctr"/>
          <a:lstStyle/>
          <a:p>
            <a:pPr marL="0" indent="0" algn="ctr">
              <a:buNone/>
            </a:pPr>
            <a:r>
              <a:rPr lang="en-US" sz="2000" b="1" dirty="0">
                <a:solidFill>
                  <a:srgbClr val="FFFFFF"/>
                </a:solidFill>
              </a:rPr>
              <a:t>01</a:t>
            </a:r>
            <a:endParaRPr lang="en-US" sz="2000" dirty="0"/>
          </a:p>
        </p:txBody>
      </p:sp>
      <p:sp>
        <p:nvSpPr>
          <p:cNvPr id="16" name="Text 13"/>
          <p:cNvSpPr txBox="1"/>
          <p:nvPr/>
        </p:nvSpPr>
        <p:spPr>
          <a:xfrm>
            <a:off x="7772400" y="3063240"/>
            <a:ext cx="3886200" cy="411480"/>
          </a:xfrm>
          <a:prstGeom prst="rect">
            <a:avLst/>
          </a:prstGeom>
          <a:noFill/>
          <a:ln/>
        </p:spPr>
        <p:txBody>
          <a:bodyPr wrap="square" lIns="0" tIns="0" rIns="0" bIns="0" rtlCol="0" anchor="ctr"/>
          <a:lstStyle/>
          <a:p>
            <a:pPr marL="0" indent="0">
              <a:buNone/>
            </a:pPr>
            <a:r>
              <a:rPr lang="en-US" sz="1700" b="1" dirty="0">
                <a:solidFill>
                  <a:srgbClr val="231F20"/>
                </a:solidFill>
              </a:rPr>
              <a:t>Marchés réels</a:t>
            </a:r>
            <a:endParaRPr lang="en-US" sz="1700" dirty="0"/>
          </a:p>
        </p:txBody>
      </p:sp>
      <p:sp>
        <p:nvSpPr>
          <p:cNvPr id="17" name="Text 14"/>
          <p:cNvSpPr txBox="1"/>
          <p:nvPr/>
        </p:nvSpPr>
        <p:spPr>
          <a:xfrm>
            <a:off x="7772400" y="3474720"/>
            <a:ext cx="3886200" cy="731520"/>
          </a:xfrm>
          <a:prstGeom prst="rect">
            <a:avLst/>
          </a:prstGeom>
          <a:noFill/>
          <a:ln/>
        </p:spPr>
        <p:txBody>
          <a:bodyPr wrap="square" lIns="0" tIns="0" rIns="0" bIns="0" rtlCol="0" anchor="t"/>
          <a:lstStyle/>
          <a:p>
            <a:pPr marL="0" indent="0">
              <a:buNone/>
            </a:pPr>
            <a:r>
              <a:rPr lang="en-US" sz="1300" dirty="0">
                <a:solidFill>
                  <a:srgbClr val="5E6964"/>
                </a:solidFill>
              </a:rPr>
              <a:t>Prix de détail OCPV et Sikafinance : le complément exact de Jumia</a:t>
            </a:r>
            <a:endParaRPr lang="en-US" sz="1300" dirty="0"/>
          </a:p>
        </p:txBody>
      </p:sp>
      <p:sp>
        <p:nvSpPr>
          <p:cNvPr id="18" name="Division 08"/>
          <p:cNvSpPr txBox="1"/>
          <p:nvPr/>
        </p:nvSpPr>
        <p:spPr>
          <a:xfrm>
            <a:off x="6812280" y="4434840"/>
            <a:ext cx="777240" cy="685800"/>
          </a:xfrm>
          <a:prstGeom prst="roundRect">
            <a:avLst>
              <a:gd name="adj" fmla="val 10667"/>
            </a:avLst>
          </a:prstGeom>
          <a:solidFill>
            <a:srgbClr val="00704A"/>
          </a:solidFill>
          <a:ln/>
        </p:spPr>
        <p:txBody>
          <a:bodyPr wrap="square" lIns="0" tIns="0" rIns="0" bIns="0" rtlCol="0" anchor="ctr"/>
          <a:lstStyle/>
          <a:p>
            <a:pPr marL="0" indent="0" algn="ctr">
              <a:buNone/>
            </a:pPr>
            <a:r>
              <a:rPr lang="en-US" sz="2000" b="1" dirty="0">
                <a:solidFill>
                  <a:srgbClr val="FFFFFF"/>
                </a:solidFill>
              </a:rPr>
              <a:t>08</a:t>
            </a:r>
            <a:endParaRPr lang="en-US" sz="2000" dirty="0"/>
          </a:p>
        </p:txBody>
      </p:sp>
      <p:sp>
        <p:nvSpPr>
          <p:cNvPr id="19" name="Text 16"/>
          <p:cNvSpPr txBox="1"/>
          <p:nvPr/>
        </p:nvSpPr>
        <p:spPr>
          <a:xfrm>
            <a:off x="7772400" y="4343400"/>
            <a:ext cx="3886200" cy="411480"/>
          </a:xfrm>
          <a:prstGeom prst="rect">
            <a:avLst/>
          </a:prstGeom>
          <a:noFill/>
          <a:ln/>
        </p:spPr>
        <p:txBody>
          <a:bodyPr wrap="square" lIns="0" tIns="0" rIns="0" bIns="0" rtlCol="0" anchor="ctr"/>
          <a:lstStyle/>
          <a:p>
            <a:pPr marL="0" indent="0">
              <a:buNone/>
            </a:pPr>
            <a:r>
              <a:rPr lang="en-US" sz="1700" b="1" dirty="0">
                <a:solidFill>
                  <a:srgbClr val="231F20"/>
                </a:solidFill>
              </a:rPr>
              <a:t>Services mobiles</a:t>
            </a:r>
            <a:endParaRPr lang="en-US" sz="1700" dirty="0"/>
          </a:p>
        </p:txBody>
      </p:sp>
      <p:sp>
        <p:nvSpPr>
          <p:cNvPr id="20" name="Text 17"/>
          <p:cNvSpPr txBox="1"/>
          <p:nvPr/>
        </p:nvSpPr>
        <p:spPr>
          <a:xfrm>
            <a:off x="7772400" y="4754880"/>
            <a:ext cx="3886200" cy="731520"/>
          </a:xfrm>
          <a:prstGeom prst="rect">
            <a:avLst/>
          </a:prstGeom>
          <a:noFill/>
          <a:ln/>
        </p:spPr>
        <p:txBody>
          <a:bodyPr wrap="square" lIns="0" tIns="0" rIns="0" bIns="0" rtlCol="0" anchor="t"/>
          <a:lstStyle/>
          <a:p>
            <a:pPr marL="0" indent="0">
              <a:buNone/>
            </a:pPr>
            <a:r>
              <a:rPr lang="en-US" sz="1300" dirty="0">
                <a:solidFill>
                  <a:srgbClr val="5E6964"/>
                </a:solidFill>
              </a:rPr>
              <a:t>Indice ARTP, base 2023 : 7,46 % du panier sénégalais, traité à part</a:t>
            </a:r>
            <a:endParaRPr lang="en-US" sz="1300" dirty="0"/>
          </a:p>
        </p:txBody>
      </p:sp>
      <p:sp>
        <p:nvSpPr>
          <p:cNvPr id="21" name="Encadré indice d'indices"/>
          <p:cNvSpPr/>
          <p:nvPr/>
        </p:nvSpPr>
        <p:spPr>
          <a:xfrm>
            <a:off x="6812280" y="5486400"/>
            <a:ext cx="4846320" cy="548640"/>
          </a:xfrm>
          <a:prstGeom prst="roundRect">
            <a:avLst>
              <a:gd name="adj" fmla="val 13333"/>
            </a:avLst>
          </a:prstGeom>
          <a:solidFill>
            <a:srgbClr val="D49A00">
              <a:alpha val="13000"/>
            </a:srgbClr>
          </a:solidFill>
          <a:ln w="12700">
            <a:solidFill>
              <a:srgbClr val="D49A00"/>
            </a:solidFill>
            <a:prstDash val="solid"/>
          </a:ln>
        </p:spPr>
      </p:sp>
      <p:pic>
        <p:nvPicPr>
          <p:cNvPr id="22" name="Encadré indice d'indices icône" descr="preencoded.png"/>
          <p:cNvPicPr>
            <a:picLocks noChangeAspect="1"/>
          </p:cNvPicPr>
          <p:nvPr/>
        </p:nvPicPr>
        <p:blipFill>
          <a:blip r:embed="rId4"/>
          <a:stretch>
            <a:fillRect/>
          </a:stretch>
        </p:blipFill>
        <p:spPr>
          <a:xfrm>
            <a:off x="6995160" y="5614416"/>
            <a:ext cx="292608" cy="292608"/>
          </a:xfrm>
          <a:prstGeom prst="rect">
            <a:avLst/>
          </a:prstGeom>
        </p:spPr>
      </p:pic>
      <p:sp>
        <p:nvSpPr>
          <p:cNvPr id="23" name="Text 19"/>
          <p:cNvSpPr txBox="1"/>
          <p:nvPr/>
        </p:nvSpPr>
        <p:spPr>
          <a:xfrm>
            <a:off x="7406640" y="5486400"/>
            <a:ext cx="4114800" cy="548640"/>
          </a:xfrm>
          <a:prstGeom prst="rect">
            <a:avLst/>
          </a:prstGeom>
          <a:noFill/>
          <a:ln/>
        </p:spPr>
        <p:txBody>
          <a:bodyPr wrap="square" lIns="0" tIns="0" rIns="0" bIns="0" rtlCol="0" anchor="ctr"/>
          <a:lstStyle/>
          <a:p>
            <a:pPr marL="0" indent="0">
              <a:buNone/>
            </a:pPr>
            <a:r>
              <a:rPr lang="en-US" sz="1300" dirty="0">
                <a:solidFill>
                  <a:srgbClr val="231F20"/>
                </a:solidFill>
              </a:rPr>
              <a:t>Un indice déjà construit ne se mélange pas aux prix : ce serait calculer un indice d'indices.</a:t>
            </a:r>
            <a:endParaRPr lang="en-US" sz="1300" dirty="0"/>
          </a:p>
        </p:txBody>
      </p:sp>
      <p:sp>
        <p:nvSpPr>
          <p:cNvPr id="25"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23</a:t>
            </a:fld>
            <a:endParaRPr lang="en-US"/>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04 · LABORATOIRE</a:t>
            </a:r>
            <a:endParaRPr lang="en-US" sz="1200" dirty="0"/>
          </a:p>
        </p:txBody>
      </p:sp>
      <p:sp>
        <p:nvSpPr>
          <p:cNvPr id="3" name="Point de progression 1"/>
          <p:cNvSpPr/>
          <p:nvPr/>
        </p:nvSpPr>
        <p:spPr>
          <a:xfrm>
            <a:off x="10561320" y="365760"/>
            <a:ext cx="128016" cy="128016"/>
          </a:xfrm>
          <a:prstGeom prst="ellipse">
            <a:avLst/>
          </a:prstGeom>
          <a:solidFill>
            <a:srgbClr val="D5DED9"/>
          </a:solidFill>
          <a:ln/>
        </p:spPr>
      </p:sp>
      <p:sp>
        <p:nvSpPr>
          <p:cNvPr id="4" name="Point de progression 2"/>
          <p:cNvSpPr/>
          <p:nvPr/>
        </p:nvSpPr>
        <p:spPr>
          <a:xfrm>
            <a:off x="10789920" y="365760"/>
            <a:ext cx="128016" cy="128016"/>
          </a:xfrm>
          <a:prstGeom prst="ellipse">
            <a:avLst/>
          </a:prstGeom>
          <a:solidFill>
            <a:srgbClr val="D5DED9"/>
          </a:solidFill>
          <a:ln/>
        </p:spPr>
      </p:sp>
      <p:sp>
        <p:nvSpPr>
          <p:cNvPr id="5" name="Point de progression 3"/>
          <p:cNvSpPr/>
          <p:nvPr/>
        </p:nvSpPr>
        <p:spPr>
          <a:xfrm>
            <a:off x="11018520" y="365760"/>
            <a:ext cx="128016" cy="128016"/>
          </a:xfrm>
          <a:prstGeom prst="ellipse">
            <a:avLst/>
          </a:prstGeom>
          <a:solidFill>
            <a:srgbClr val="D5DED9"/>
          </a:solidFill>
          <a:ln/>
        </p:spPr>
      </p:sp>
      <p:sp>
        <p:nvSpPr>
          <p:cNvPr id="6" name="Point de progression 4"/>
          <p:cNvSpPr/>
          <p:nvPr/>
        </p:nvSpPr>
        <p:spPr>
          <a:xfrm>
            <a:off x="11247120" y="365760"/>
            <a:ext cx="128016" cy="128016"/>
          </a:xfrm>
          <a:prstGeom prst="ellipse">
            <a:avLst/>
          </a:prstGeom>
          <a:solidFill>
            <a:srgbClr val="D49A00"/>
          </a:solidFill>
          <a:ln/>
        </p:spPr>
      </p:sp>
      <p:sp>
        <p:nvSpPr>
          <p:cNvPr id="7" name="Point de progression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Couverture : 7 divisions sur 13, 78 % du poids</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Divisions atteintes par la collecte du 14 octobre 2026, avec le poids de chacune dans l'IHPC du Sénégal (illustration)</a:t>
            </a:r>
            <a:endParaRPr lang="en-US" sz="1500" dirty="0"/>
          </a:p>
        </p:txBody>
      </p:sp>
      <p:sp>
        <p:nvSpPr>
          <p:cNvPr id="10" name="Tuile division 01"/>
          <p:cNvSpPr/>
          <p:nvPr/>
        </p:nvSpPr>
        <p:spPr>
          <a:xfrm>
            <a:off x="502920" y="1737360"/>
            <a:ext cx="1325880" cy="1234440"/>
          </a:xfrm>
          <a:prstGeom prst="roundRect">
            <a:avLst>
              <a:gd name="adj" fmla="val 5926"/>
            </a:avLst>
          </a:prstGeom>
          <a:solidFill>
            <a:srgbClr val="00553A"/>
          </a:solidFill>
          <a:ln/>
        </p:spPr>
      </p:sp>
      <p:sp>
        <p:nvSpPr>
          <p:cNvPr id="11" name="Text 9"/>
          <p:cNvSpPr txBox="1"/>
          <p:nvPr/>
        </p:nvSpPr>
        <p:spPr>
          <a:xfrm>
            <a:off x="612648" y="1810512"/>
            <a:ext cx="640080" cy="411480"/>
          </a:xfrm>
          <a:prstGeom prst="rect">
            <a:avLst/>
          </a:prstGeom>
          <a:noFill/>
          <a:ln/>
        </p:spPr>
        <p:txBody>
          <a:bodyPr wrap="square" lIns="0" tIns="0" rIns="0" bIns="0" rtlCol="0" anchor="ctr"/>
          <a:lstStyle/>
          <a:p>
            <a:pPr marL="0" indent="0">
              <a:buNone/>
            </a:pPr>
            <a:r>
              <a:rPr lang="en-US" sz="2000" b="1" dirty="0">
                <a:solidFill>
                  <a:srgbClr val="FFFFFF"/>
                </a:solidFill>
              </a:rPr>
              <a:t>01</a:t>
            </a:r>
            <a:endParaRPr lang="en-US" sz="2000" dirty="0"/>
          </a:p>
        </p:txBody>
      </p:sp>
      <p:sp>
        <p:nvSpPr>
          <p:cNvPr id="12" name="Text 10"/>
          <p:cNvSpPr txBox="1"/>
          <p:nvPr/>
        </p:nvSpPr>
        <p:spPr>
          <a:xfrm>
            <a:off x="1051560" y="1828800"/>
            <a:ext cx="685800" cy="365760"/>
          </a:xfrm>
          <a:prstGeom prst="rect">
            <a:avLst/>
          </a:prstGeom>
          <a:noFill/>
          <a:ln/>
        </p:spPr>
        <p:txBody>
          <a:bodyPr wrap="square" lIns="0" tIns="0" rIns="0" bIns="0" rtlCol="0" anchor="ctr"/>
          <a:lstStyle/>
          <a:p>
            <a:pPr marL="0" indent="0" algn="r">
              <a:buNone/>
            </a:pPr>
            <a:r>
              <a:rPr lang="en-US" sz="1100" dirty="0">
                <a:solidFill>
                  <a:srgbClr val="FFFFFF"/>
                </a:solidFill>
              </a:rPr>
              <a:t>45,5 %</a:t>
            </a:r>
            <a:endParaRPr lang="en-US" sz="1100" dirty="0"/>
          </a:p>
        </p:txBody>
      </p:sp>
      <p:sp>
        <p:nvSpPr>
          <p:cNvPr id="13" name="Text 11"/>
          <p:cNvSpPr txBox="1"/>
          <p:nvPr/>
        </p:nvSpPr>
        <p:spPr>
          <a:xfrm>
            <a:off x="612648" y="2286000"/>
            <a:ext cx="1143000" cy="594360"/>
          </a:xfrm>
          <a:prstGeom prst="rect">
            <a:avLst/>
          </a:prstGeom>
          <a:noFill/>
          <a:ln/>
        </p:spPr>
        <p:txBody>
          <a:bodyPr wrap="square" lIns="0" tIns="0" rIns="0" bIns="0" rtlCol="0" anchor="t"/>
          <a:lstStyle/>
          <a:p>
            <a:pPr marL="0" indent="0">
              <a:buNone/>
            </a:pPr>
            <a:r>
              <a:rPr lang="en-US" sz="1200" dirty="0">
                <a:solidFill>
                  <a:srgbClr val="FFFFFF"/>
                </a:solidFill>
              </a:rPr>
              <a:t>Alimentation</a:t>
            </a:r>
            <a:endParaRPr lang="en-US" sz="1200" dirty="0"/>
          </a:p>
        </p:txBody>
      </p:sp>
      <p:sp>
        <p:nvSpPr>
          <p:cNvPr id="14" name="Tuile division 02"/>
          <p:cNvSpPr/>
          <p:nvPr/>
        </p:nvSpPr>
        <p:spPr>
          <a:xfrm>
            <a:off x="1965960" y="1737360"/>
            <a:ext cx="1325880" cy="1234440"/>
          </a:xfrm>
          <a:prstGeom prst="roundRect">
            <a:avLst>
              <a:gd name="adj" fmla="val 5926"/>
            </a:avLst>
          </a:prstGeom>
          <a:solidFill>
            <a:srgbClr val="A9B5B0"/>
          </a:solidFill>
          <a:ln/>
        </p:spPr>
      </p:sp>
      <p:sp>
        <p:nvSpPr>
          <p:cNvPr id="15" name="Text 13"/>
          <p:cNvSpPr txBox="1"/>
          <p:nvPr/>
        </p:nvSpPr>
        <p:spPr>
          <a:xfrm>
            <a:off x="2075688" y="1810512"/>
            <a:ext cx="640080" cy="411480"/>
          </a:xfrm>
          <a:prstGeom prst="rect">
            <a:avLst/>
          </a:prstGeom>
          <a:noFill/>
          <a:ln/>
        </p:spPr>
        <p:txBody>
          <a:bodyPr wrap="square" lIns="0" tIns="0" rIns="0" bIns="0" rtlCol="0" anchor="ctr"/>
          <a:lstStyle/>
          <a:p>
            <a:pPr marL="0" indent="0">
              <a:buNone/>
            </a:pPr>
            <a:r>
              <a:rPr lang="en-US" sz="2000" b="1" dirty="0">
                <a:solidFill>
                  <a:srgbClr val="FFFFFF"/>
                </a:solidFill>
              </a:rPr>
              <a:t>02</a:t>
            </a:r>
            <a:endParaRPr lang="en-US" sz="2000" dirty="0"/>
          </a:p>
        </p:txBody>
      </p:sp>
      <p:sp>
        <p:nvSpPr>
          <p:cNvPr id="16" name="Text 14"/>
          <p:cNvSpPr txBox="1"/>
          <p:nvPr/>
        </p:nvSpPr>
        <p:spPr>
          <a:xfrm>
            <a:off x="2514600" y="1828800"/>
            <a:ext cx="685800" cy="365760"/>
          </a:xfrm>
          <a:prstGeom prst="rect">
            <a:avLst/>
          </a:prstGeom>
          <a:noFill/>
          <a:ln/>
        </p:spPr>
        <p:txBody>
          <a:bodyPr wrap="square" lIns="0" tIns="0" rIns="0" bIns="0" rtlCol="0" anchor="ctr"/>
          <a:lstStyle/>
          <a:p>
            <a:pPr marL="0" indent="0" algn="r">
              <a:buNone/>
            </a:pPr>
            <a:r>
              <a:rPr lang="en-US" sz="1100" dirty="0">
                <a:solidFill>
                  <a:srgbClr val="FFFFFF"/>
                </a:solidFill>
              </a:rPr>
              <a:t>0,2 %</a:t>
            </a:r>
            <a:endParaRPr lang="en-US" sz="1100" dirty="0"/>
          </a:p>
        </p:txBody>
      </p:sp>
      <p:sp>
        <p:nvSpPr>
          <p:cNvPr id="17" name="Text 15"/>
          <p:cNvSpPr txBox="1"/>
          <p:nvPr/>
        </p:nvSpPr>
        <p:spPr>
          <a:xfrm>
            <a:off x="2075688" y="2286000"/>
            <a:ext cx="1143000" cy="594360"/>
          </a:xfrm>
          <a:prstGeom prst="rect">
            <a:avLst/>
          </a:prstGeom>
          <a:noFill/>
          <a:ln/>
        </p:spPr>
        <p:txBody>
          <a:bodyPr wrap="square" lIns="0" tIns="0" rIns="0" bIns="0" rtlCol="0" anchor="t"/>
          <a:lstStyle/>
          <a:p>
            <a:pPr marL="0" indent="0">
              <a:buNone/>
            </a:pPr>
            <a:r>
              <a:rPr lang="en-US" sz="1200" dirty="0">
                <a:solidFill>
                  <a:srgbClr val="FFFFFF"/>
                </a:solidFill>
              </a:rPr>
              <a:t>Alcool, tabac</a:t>
            </a:r>
            <a:endParaRPr lang="en-US" sz="1200" dirty="0"/>
          </a:p>
        </p:txBody>
      </p:sp>
      <p:sp>
        <p:nvSpPr>
          <p:cNvPr id="18" name="Tuile division 03"/>
          <p:cNvSpPr/>
          <p:nvPr/>
        </p:nvSpPr>
        <p:spPr>
          <a:xfrm>
            <a:off x="3429000" y="1737360"/>
            <a:ext cx="1325880" cy="1234440"/>
          </a:xfrm>
          <a:prstGeom prst="roundRect">
            <a:avLst>
              <a:gd name="adj" fmla="val 5926"/>
            </a:avLst>
          </a:prstGeom>
          <a:solidFill>
            <a:srgbClr val="00A86A"/>
          </a:solidFill>
          <a:ln/>
        </p:spPr>
      </p:sp>
      <p:sp>
        <p:nvSpPr>
          <p:cNvPr id="19" name="Text 17"/>
          <p:cNvSpPr txBox="1"/>
          <p:nvPr/>
        </p:nvSpPr>
        <p:spPr>
          <a:xfrm>
            <a:off x="3538728" y="1810512"/>
            <a:ext cx="640080" cy="411480"/>
          </a:xfrm>
          <a:prstGeom prst="rect">
            <a:avLst/>
          </a:prstGeom>
          <a:noFill/>
          <a:ln/>
        </p:spPr>
        <p:txBody>
          <a:bodyPr wrap="square" lIns="0" tIns="0" rIns="0" bIns="0" rtlCol="0" anchor="ctr"/>
          <a:lstStyle/>
          <a:p>
            <a:pPr marL="0" indent="0">
              <a:buNone/>
            </a:pPr>
            <a:r>
              <a:rPr lang="en-US" sz="2000" b="1" dirty="0">
                <a:solidFill>
                  <a:srgbClr val="FFFFFF"/>
                </a:solidFill>
              </a:rPr>
              <a:t>03</a:t>
            </a:r>
            <a:endParaRPr lang="en-US" sz="2000" dirty="0"/>
          </a:p>
        </p:txBody>
      </p:sp>
      <p:sp>
        <p:nvSpPr>
          <p:cNvPr id="20" name="Text 18"/>
          <p:cNvSpPr txBox="1"/>
          <p:nvPr/>
        </p:nvSpPr>
        <p:spPr>
          <a:xfrm>
            <a:off x="3977640" y="1828800"/>
            <a:ext cx="685800" cy="365760"/>
          </a:xfrm>
          <a:prstGeom prst="rect">
            <a:avLst/>
          </a:prstGeom>
          <a:noFill/>
          <a:ln/>
        </p:spPr>
        <p:txBody>
          <a:bodyPr wrap="square" lIns="0" tIns="0" rIns="0" bIns="0" rtlCol="0" anchor="ctr"/>
          <a:lstStyle/>
          <a:p>
            <a:pPr marL="0" indent="0" algn="r">
              <a:buNone/>
            </a:pPr>
            <a:r>
              <a:rPr lang="en-US" sz="1100" dirty="0">
                <a:solidFill>
                  <a:srgbClr val="FFFFFF"/>
                </a:solidFill>
              </a:rPr>
              <a:t>4,8 %</a:t>
            </a:r>
            <a:endParaRPr lang="en-US" sz="1100" dirty="0"/>
          </a:p>
        </p:txBody>
      </p:sp>
      <p:sp>
        <p:nvSpPr>
          <p:cNvPr id="21" name="Text 19"/>
          <p:cNvSpPr txBox="1"/>
          <p:nvPr/>
        </p:nvSpPr>
        <p:spPr>
          <a:xfrm>
            <a:off x="3538728" y="2286000"/>
            <a:ext cx="1143000" cy="594360"/>
          </a:xfrm>
          <a:prstGeom prst="rect">
            <a:avLst/>
          </a:prstGeom>
          <a:noFill/>
          <a:ln/>
        </p:spPr>
        <p:txBody>
          <a:bodyPr wrap="square" lIns="0" tIns="0" rIns="0" bIns="0" rtlCol="0" anchor="t"/>
          <a:lstStyle/>
          <a:p>
            <a:pPr marL="0" indent="0">
              <a:buNone/>
            </a:pPr>
            <a:r>
              <a:rPr lang="en-US" sz="1200" dirty="0">
                <a:solidFill>
                  <a:srgbClr val="FFFFFF"/>
                </a:solidFill>
              </a:rPr>
              <a:t>Vêtements</a:t>
            </a:r>
            <a:endParaRPr lang="en-US" sz="1200" dirty="0"/>
          </a:p>
        </p:txBody>
      </p:sp>
      <p:sp>
        <p:nvSpPr>
          <p:cNvPr id="22" name="Tuile division 04"/>
          <p:cNvSpPr/>
          <p:nvPr/>
        </p:nvSpPr>
        <p:spPr>
          <a:xfrm>
            <a:off x="4892040" y="1737360"/>
            <a:ext cx="1325880" cy="1234440"/>
          </a:xfrm>
          <a:prstGeom prst="roundRect">
            <a:avLst>
              <a:gd name="adj" fmla="val 5926"/>
            </a:avLst>
          </a:prstGeom>
          <a:solidFill>
            <a:srgbClr val="0E7C86"/>
          </a:solidFill>
          <a:ln/>
        </p:spPr>
      </p:sp>
      <p:sp>
        <p:nvSpPr>
          <p:cNvPr id="23" name="Text 21"/>
          <p:cNvSpPr txBox="1"/>
          <p:nvPr/>
        </p:nvSpPr>
        <p:spPr>
          <a:xfrm>
            <a:off x="5001768" y="1810512"/>
            <a:ext cx="640080" cy="411480"/>
          </a:xfrm>
          <a:prstGeom prst="rect">
            <a:avLst/>
          </a:prstGeom>
          <a:noFill/>
          <a:ln/>
        </p:spPr>
        <p:txBody>
          <a:bodyPr wrap="square" lIns="0" tIns="0" rIns="0" bIns="0" rtlCol="0" anchor="ctr"/>
          <a:lstStyle/>
          <a:p>
            <a:pPr marL="0" indent="0">
              <a:buNone/>
            </a:pPr>
            <a:r>
              <a:rPr lang="en-US" sz="2000" b="1" dirty="0">
                <a:solidFill>
                  <a:srgbClr val="FFFFFF"/>
                </a:solidFill>
              </a:rPr>
              <a:t>04</a:t>
            </a:r>
            <a:endParaRPr lang="en-US" sz="2000" dirty="0"/>
          </a:p>
        </p:txBody>
      </p:sp>
      <p:sp>
        <p:nvSpPr>
          <p:cNvPr id="24" name="Text 22"/>
          <p:cNvSpPr txBox="1"/>
          <p:nvPr/>
        </p:nvSpPr>
        <p:spPr>
          <a:xfrm>
            <a:off x="5440680" y="1828800"/>
            <a:ext cx="685800" cy="365760"/>
          </a:xfrm>
          <a:prstGeom prst="rect">
            <a:avLst/>
          </a:prstGeom>
          <a:noFill/>
          <a:ln/>
        </p:spPr>
        <p:txBody>
          <a:bodyPr wrap="square" lIns="0" tIns="0" rIns="0" bIns="0" rtlCol="0" anchor="ctr"/>
          <a:lstStyle/>
          <a:p>
            <a:pPr marL="0" indent="0" algn="r">
              <a:buNone/>
            </a:pPr>
            <a:r>
              <a:rPr lang="en-US" sz="1100" dirty="0">
                <a:solidFill>
                  <a:srgbClr val="FFFFFF"/>
                </a:solidFill>
              </a:rPr>
              <a:t>9,2 %</a:t>
            </a:r>
            <a:endParaRPr lang="en-US" sz="1100" dirty="0"/>
          </a:p>
        </p:txBody>
      </p:sp>
      <p:sp>
        <p:nvSpPr>
          <p:cNvPr id="25" name="Text 23"/>
          <p:cNvSpPr txBox="1"/>
          <p:nvPr/>
        </p:nvSpPr>
        <p:spPr>
          <a:xfrm>
            <a:off x="5001768" y="2286000"/>
            <a:ext cx="1143000" cy="594360"/>
          </a:xfrm>
          <a:prstGeom prst="rect">
            <a:avLst/>
          </a:prstGeom>
          <a:noFill/>
          <a:ln/>
        </p:spPr>
        <p:txBody>
          <a:bodyPr wrap="square" lIns="0" tIns="0" rIns="0" bIns="0" rtlCol="0" anchor="t"/>
          <a:lstStyle/>
          <a:p>
            <a:pPr marL="0" indent="0">
              <a:buNone/>
            </a:pPr>
            <a:r>
              <a:rPr lang="en-US" sz="1200" dirty="0">
                <a:solidFill>
                  <a:srgbClr val="FFFFFF"/>
                </a:solidFill>
              </a:rPr>
              <a:t>Logement, énergie</a:t>
            </a:r>
            <a:endParaRPr lang="en-US" sz="1200" dirty="0"/>
          </a:p>
        </p:txBody>
      </p:sp>
      <p:sp>
        <p:nvSpPr>
          <p:cNvPr id="26" name="Tuile division 05"/>
          <p:cNvSpPr/>
          <p:nvPr/>
        </p:nvSpPr>
        <p:spPr>
          <a:xfrm>
            <a:off x="6355080" y="1737360"/>
            <a:ext cx="1325880" cy="1234440"/>
          </a:xfrm>
          <a:prstGeom prst="roundRect">
            <a:avLst>
              <a:gd name="adj" fmla="val 5926"/>
            </a:avLst>
          </a:prstGeom>
          <a:solidFill>
            <a:srgbClr val="00A86A"/>
          </a:solidFill>
          <a:ln/>
        </p:spPr>
      </p:sp>
      <p:sp>
        <p:nvSpPr>
          <p:cNvPr id="27" name="Text 25"/>
          <p:cNvSpPr txBox="1"/>
          <p:nvPr/>
        </p:nvSpPr>
        <p:spPr>
          <a:xfrm>
            <a:off x="6464808" y="1810512"/>
            <a:ext cx="640080" cy="411480"/>
          </a:xfrm>
          <a:prstGeom prst="rect">
            <a:avLst/>
          </a:prstGeom>
          <a:noFill/>
          <a:ln/>
        </p:spPr>
        <p:txBody>
          <a:bodyPr wrap="square" lIns="0" tIns="0" rIns="0" bIns="0" rtlCol="0" anchor="ctr"/>
          <a:lstStyle/>
          <a:p>
            <a:pPr marL="0" indent="0">
              <a:buNone/>
            </a:pPr>
            <a:r>
              <a:rPr lang="en-US" sz="2000" b="1" dirty="0">
                <a:solidFill>
                  <a:srgbClr val="FFFFFF"/>
                </a:solidFill>
              </a:rPr>
              <a:t>05</a:t>
            </a:r>
            <a:endParaRPr lang="en-US" sz="2000" dirty="0"/>
          </a:p>
        </p:txBody>
      </p:sp>
      <p:sp>
        <p:nvSpPr>
          <p:cNvPr id="28" name="Text 26"/>
          <p:cNvSpPr txBox="1"/>
          <p:nvPr/>
        </p:nvSpPr>
        <p:spPr>
          <a:xfrm>
            <a:off x="6903720" y="1828800"/>
            <a:ext cx="685800" cy="365760"/>
          </a:xfrm>
          <a:prstGeom prst="rect">
            <a:avLst/>
          </a:prstGeom>
          <a:noFill/>
          <a:ln/>
        </p:spPr>
        <p:txBody>
          <a:bodyPr wrap="square" lIns="0" tIns="0" rIns="0" bIns="0" rtlCol="0" anchor="ctr"/>
          <a:lstStyle/>
          <a:p>
            <a:pPr marL="0" indent="0" algn="r">
              <a:buNone/>
            </a:pPr>
            <a:r>
              <a:rPr lang="en-US" sz="1100" dirty="0">
                <a:solidFill>
                  <a:srgbClr val="FFFFFF"/>
                </a:solidFill>
              </a:rPr>
              <a:t>5,7 %</a:t>
            </a:r>
            <a:endParaRPr lang="en-US" sz="1100" dirty="0"/>
          </a:p>
        </p:txBody>
      </p:sp>
      <p:sp>
        <p:nvSpPr>
          <p:cNvPr id="29" name="Text 27"/>
          <p:cNvSpPr txBox="1"/>
          <p:nvPr/>
        </p:nvSpPr>
        <p:spPr>
          <a:xfrm>
            <a:off x="6464808" y="2286000"/>
            <a:ext cx="1143000" cy="594360"/>
          </a:xfrm>
          <a:prstGeom prst="rect">
            <a:avLst/>
          </a:prstGeom>
          <a:noFill/>
          <a:ln/>
        </p:spPr>
        <p:txBody>
          <a:bodyPr wrap="square" lIns="0" tIns="0" rIns="0" bIns="0" rtlCol="0" anchor="t"/>
          <a:lstStyle/>
          <a:p>
            <a:pPr marL="0" indent="0">
              <a:buNone/>
            </a:pPr>
            <a:r>
              <a:rPr lang="en-US" sz="1200" dirty="0">
                <a:solidFill>
                  <a:srgbClr val="FFFFFF"/>
                </a:solidFill>
              </a:rPr>
              <a:t>Équipement</a:t>
            </a:r>
            <a:endParaRPr lang="en-US" sz="1200" dirty="0"/>
          </a:p>
        </p:txBody>
      </p:sp>
      <p:sp>
        <p:nvSpPr>
          <p:cNvPr id="30" name="Tuile division 06"/>
          <p:cNvSpPr/>
          <p:nvPr/>
        </p:nvSpPr>
        <p:spPr>
          <a:xfrm>
            <a:off x="502920" y="3108960"/>
            <a:ext cx="1325880" cy="1234440"/>
          </a:xfrm>
          <a:prstGeom prst="roundRect">
            <a:avLst>
              <a:gd name="adj" fmla="val 5926"/>
            </a:avLst>
          </a:prstGeom>
          <a:solidFill>
            <a:srgbClr val="A9B5B0"/>
          </a:solidFill>
          <a:ln/>
        </p:spPr>
      </p:sp>
      <p:sp>
        <p:nvSpPr>
          <p:cNvPr id="31" name="Text 29"/>
          <p:cNvSpPr txBox="1"/>
          <p:nvPr/>
        </p:nvSpPr>
        <p:spPr>
          <a:xfrm>
            <a:off x="612648" y="3182112"/>
            <a:ext cx="640080" cy="411480"/>
          </a:xfrm>
          <a:prstGeom prst="rect">
            <a:avLst/>
          </a:prstGeom>
          <a:noFill/>
          <a:ln/>
        </p:spPr>
        <p:txBody>
          <a:bodyPr wrap="square" lIns="0" tIns="0" rIns="0" bIns="0" rtlCol="0" anchor="ctr"/>
          <a:lstStyle/>
          <a:p>
            <a:pPr marL="0" indent="0">
              <a:buNone/>
            </a:pPr>
            <a:r>
              <a:rPr lang="en-US" sz="2000" b="1" dirty="0">
                <a:solidFill>
                  <a:srgbClr val="FFFFFF"/>
                </a:solidFill>
              </a:rPr>
              <a:t>06</a:t>
            </a:r>
            <a:endParaRPr lang="en-US" sz="2000" dirty="0"/>
          </a:p>
        </p:txBody>
      </p:sp>
      <p:sp>
        <p:nvSpPr>
          <p:cNvPr id="32" name="Text 30"/>
          <p:cNvSpPr txBox="1"/>
          <p:nvPr/>
        </p:nvSpPr>
        <p:spPr>
          <a:xfrm>
            <a:off x="1051560" y="3200400"/>
            <a:ext cx="685800" cy="365760"/>
          </a:xfrm>
          <a:prstGeom prst="rect">
            <a:avLst/>
          </a:prstGeom>
          <a:noFill/>
          <a:ln/>
        </p:spPr>
        <p:txBody>
          <a:bodyPr wrap="square" lIns="0" tIns="0" rIns="0" bIns="0" rtlCol="0" anchor="ctr"/>
          <a:lstStyle/>
          <a:p>
            <a:pPr marL="0" indent="0" algn="r">
              <a:buNone/>
            </a:pPr>
            <a:r>
              <a:rPr lang="en-US" sz="1100" dirty="0">
                <a:solidFill>
                  <a:srgbClr val="FFFFFF"/>
                </a:solidFill>
              </a:rPr>
              <a:t>4,2 %</a:t>
            </a:r>
            <a:endParaRPr lang="en-US" sz="1100" dirty="0"/>
          </a:p>
        </p:txBody>
      </p:sp>
      <p:sp>
        <p:nvSpPr>
          <p:cNvPr id="33" name="Text 31"/>
          <p:cNvSpPr txBox="1"/>
          <p:nvPr/>
        </p:nvSpPr>
        <p:spPr>
          <a:xfrm>
            <a:off x="612648" y="3657600"/>
            <a:ext cx="1143000" cy="594360"/>
          </a:xfrm>
          <a:prstGeom prst="rect">
            <a:avLst/>
          </a:prstGeom>
          <a:noFill/>
          <a:ln/>
        </p:spPr>
        <p:txBody>
          <a:bodyPr wrap="square" lIns="0" tIns="0" rIns="0" bIns="0" rtlCol="0" anchor="t"/>
          <a:lstStyle/>
          <a:p>
            <a:pPr marL="0" indent="0">
              <a:buNone/>
            </a:pPr>
            <a:r>
              <a:rPr lang="en-US" sz="1200" dirty="0">
                <a:solidFill>
                  <a:srgbClr val="FFFFFF"/>
                </a:solidFill>
              </a:rPr>
              <a:t>Santé</a:t>
            </a:r>
            <a:endParaRPr lang="en-US" sz="1200" dirty="0"/>
          </a:p>
        </p:txBody>
      </p:sp>
      <p:sp>
        <p:nvSpPr>
          <p:cNvPr id="34" name="Tuile division 07"/>
          <p:cNvSpPr/>
          <p:nvPr/>
        </p:nvSpPr>
        <p:spPr>
          <a:xfrm>
            <a:off x="1965960" y="3108960"/>
            <a:ext cx="1325880" cy="1234440"/>
          </a:xfrm>
          <a:prstGeom prst="roundRect">
            <a:avLst>
              <a:gd name="adj" fmla="val 5926"/>
            </a:avLst>
          </a:prstGeom>
          <a:solidFill>
            <a:srgbClr val="F6DEDA"/>
          </a:solidFill>
          <a:ln/>
        </p:spPr>
      </p:sp>
      <p:sp>
        <p:nvSpPr>
          <p:cNvPr id="35" name="Text 33"/>
          <p:cNvSpPr txBox="1"/>
          <p:nvPr/>
        </p:nvSpPr>
        <p:spPr>
          <a:xfrm>
            <a:off x="2075688" y="3182112"/>
            <a:ext cx="640080" cy="411480"/>
          </a:xfrm>
          <a:prstGeom prst="rect">
            <a:avLst/>
          </a:prstGeom>
          <a:noFill/>
          <a:ln/>
        </p:spPr>
        <p:txBody>
          <a:bodyPr wrap="square" lIns="0" tIns="0" rIns="0" bIns="0" rtlCol="0" anchor="ctr"/>
          <a:lstStyle/>
          <a:p>
            <a:pPr marL="0" indent="0">
              <a:buNone/>
            </a:pPr>
            <a:r>
              <a:rPr lang="en-US" sz="2000" b="1" dirty="0">
                <a:solidFill>
                  <a:srgbClr val="B83B2E"/>
                </a:solidFill>
              </a:rPr>
              <a:t>07</a:t>
            </a:r>
            <a:endParaRPr lang="en-US" sz="2000" dirty="0"/>
          </a:p>
        </p:txBody>
      </p:sp>
      <p:sp>
        <p:nvSpPr>
          <p:cNvPr id="36" name="Text 34"/>
          <p:cNvSpPr txBox="1"/>
          <p:nvPr/>
        </p:nvSpPr>
        <p:spPr>
          <a:xfrm>
            <a:off x="2514600" y="3200400"/>
            <a:ext cx="685800" cy="365760"/>
          </a:xfrm>
          <a:prstGeom prst="rect">
            <a:avLst/>
          </a:prstGeom>
          <a:noFill/>
          <a:ln/>
        </p:spPr>
        <p:txBody>
          <a:bodyPr wrap="square" lIns="0" tIns="0" rIns="0" bIns="0" rtlCol="0" anchor="ctr"/>
          <a:lstStyle/>
          <a:p>
            <a:pPr marL="0" indent="0" algn="r">
              <a:buNone/>
            </a:pPr>
            <a:r>
              <a:rPr lang="en-US" sz="1100" dirty="0">
                <a:solidFill>
                  <a:srgbClr val="B83B2E"/>
                </a:solidFill>
              </a:rPr>
              <a:t>6,1 %</a:t>
            </a:r>
            <a:endParaRPr lang="en-US" sz="1100" dirty="0"/>
          </a:p>
        </p:txBody>
      </p:sp>
      <p:sp>
        <p:nvSpPr>
          <p:cNvPr id="37" name="Text 35"/>
          <p:cNvSpPr txBox="1"/>
          <p:nvPr/>
        </p:nvSpPr>
        <p:spPr>
          <a:xfrm>
            <a:off x="2075688" y="3657600"/>
            <a:ext cx="1143000" cy="594360"/>
          </a:xfrm>
          <a:prstGeom prst="rect">
            <a:avLst/>
          </a:prstGeom>
          <a:noFill/>
          <a:ln/>
        </p:spPr>
        <p:txBody>
          <a:bodyPr wrap="square" lIns="0" tIns="0" rIns="0" bIns="0" rtlCol="0" anchor="t"/>
          <a:lstStyle/>
          <a:p>
            <a:pPr marL="0" indent="0">
              <a:buNone/>
            </a:pPr>
            <a:r>
              <a:rPr lang="en-US" sz="1200" dirty="0">
                <a:solidFill>
                  <a:srgbClr val="B83B2E"/>
                </a:solidFill>
              </a:rPr>
              <a:t>Transports</a:t>
            </a:r>
            <a:endParaRPr lang="en-US" sz="1200" dirty="0"/>
          </a:p>
        </p:txBody>
      </p:sp>
      <p:sp>
        <p:nvSpPr>
          <p:cNvPr id="38" name="Tuile division 08"/>
          <p:cNvSpPr/>
          <p:nvPr/>
        </p:nvSpPr>
        <p:spPr>
          <a:xfrm>
            <a:off x="3429000" y="3108960"/>
            <a:ext cx="1325880" cy="1234440"/>
          </a:xfrm>
          <a:prstGeom prst="roundRect">
            <a:avLst>
              <a:gd name="adj" fmla="val 5926"/>
            </a:avLst>
          </a:prstGeom>
          <a:solidFill>
            <a:srgbClr val="00553A"/>
          </a:solidFill>
          <a:ln/>
        </p:spPr>
      </p:sp>
      <p:sp>
        <p:nvSpPr>
          <p:cNvPr id="39" name="Text 37"/>
          <p:cNvSpPr txBox="1"/>
          <p:nvPr/>
        </p:nvSpPr>
        <p:spPr>
          <a:xfrm>
            <a:off x="3538728" y="3182112"/>
            <a:ext cx="640080" cy="411480"/>
          </a:xfrm>
          <a:prstGeom prst="rect">
            <a:avLst/>
          </a:prstGeom>
          <a:noFill/>
          <a:ln/>
        </p:spPr>
        <p:txBody>
          <a:bodyPr wrap="square" lIns="0" tIns="0" rIns="0" bIns="0" rtlCol="0" anchor="ctr"/>
          <a:lstStyle/>
          <a:p>
            <a:pPr marL="0" indent="0">
              <a:buNone/>
            </a:pPr>
            <a:r>
              <a:rPr lang="en-US" sz="2000" b="1" dirty="0">
                <a:solidFill>
                  <a:srgbClr val="FFFFFF"/>
                </a:solidFill>
              </a:rPr>
              <a:t>08</a:t>
            </a:r>
            <a:endParaRPr lang="en-US" sz="2000" dirty="0"/>
          </a:p>
        </p:txBody>
      </p:sp>
      <p:sp>
        <p:nvSpPr>
          <p:cNvPr id="40" name="Text 38"/>
          <p:cNvSpPr txBox="1"/>
          <p:nvPr/>
        </p:nvSpPr>
        <p:spPr>
          <a:xfrm>
            <a:off x="3977640" y="3200400"/>
            <a:ext cx="685800" cy="365760"/>
          </a:xfrm>
          <a:prstGeom prst="rect">
            <a:avLst/>
          </a:prstGeom>
          <a:noFill/>
          <a:ln/>
        </p:spPr>
        <p:txBody>
          <a:bodyPr wrap="square" lIns="0" tIns="0" rIns="0" bIns="0" rtlCol="0" anchor="ctr"/>
          <a:lstStyle/>
          <a:p>
            <a:pPr marL="0" indent="0" algn="r">
              <a:buNone/>
            </a:pPr>
            <a:r>
              <a:rPr lang="en-US" sz="1100" dirty="0">
                <a:solidFill>
                  <a:srgbClr val="FFFFFF"/>
                </a:solidFill>
              </a:rPr>
              <a:t>7,5 %</a:t>
            </a:r>
            <a:endParaRPr lang="en-US" sz="1100" dirty="0"/>
          </a:p>
        </p:txBody>
      </p:sp>
      <p:sp>
        <p:nvSpPr>
          <p:cNvPr id="41" name="Text 39"/>
          <p:cNvSpPr txBox="1"/>
          <p:nvPr/>
        </p:nvSpPr>
        <p:spPr>
          <a:xfrm>
            <a:off x="3538728" y="3657600"/>
            <a:ext cx="1143000" cy="594360"/>
          </a:xfrm>
          <a:prstGeom prst="rect">
            <a:avLst/>
          </a:prstGeom>
          <a:noFill/>
          <a:ln/>
        </p:spPr>
        <p:txBody>
          <a:bodyPr wrap="square" lIns="0" tIns="0" rIns="0" bIns="0" rtlCol="0" anchor="t"/>
          <a:lstStyle/>
          <a:p>
            <a:pPr marL="0" indent="0">
              <a:buNone/>
            </a:pPr>
            <a:r>
              <a:rPr lang="en-US" sz="1200" dirty="0">
                <a:solidFill>
                  <a:srgbClr val="FFFFFF"/>
                </a:solidFill>
              </a:rPr>
              <a:t>Information, comm.</a:t>
            </a:r>
            <a:endParaRPr lang="en-US" sz="1200" dirty="0"/>
          </a:p>
        </p:txBody>
      </p:sp>
      <p:sp>
        <p:nvSpPr>
          <p:cNvPr id="42" name="Tuile division 09"/>
          <p:cNvSpPr/>
          <p:nvPr/>
        </p:nvSpPr>
        <p:spPr>
          <a:xfrm>
            <a:off x="4892040" y="3108960"/>
            <a:ext cx="1325880" cy="1234440"/>
          </a:xfrm>
          <a:prstGeom prst="roundRect">
            <a:avLst>
              <a:gd name="adj" fmla="val 5926"/>
            </a:avLst>
          </a:prstGeom>
          <a:solidFill>
            <a:srgbClr val="00A86A"/>
          </a:solidFill>
          <a:ln/>
        </p:spPr>
      </p:sp>
      <p:sp>
        <p:nvSpPr>
          <p:cNvPr id="43" name="Text 41"/>
          <p:cNvSpPr txBox="1"/>
          <p:nvPr/>
        </p:nvSpPr>
        <p:spPr>
          <a:xfrm>
            <a:off x="5001768" y="3182112"/>
            <a:ext cx="640080" cy="411480"/>
          </a:xfrm>
          <a:prstGeom prst="rect">
            <a:avLst/>
          </a:prstGeom>
          <a:noFill/>
          <a:ln/>
        </p:spPr>
        <p:txBody>
          <a:bodyPr wrap="square" lIns="0" tIns="0" rIns="0" bIns="0" rtlCol="0" anchor="ctr"/>
          <a:lstStyle/>
          <a:p>
            <a:pPr marL="0" indent="0">
              <a:buNone/>
            </a:pPr>
            <a:r>
              <a:rPr lang="en-US" sz="2000" b="1" dirty="0">
                <a:solidFill>
                  <a:srgbClr val="FFFFFF"/>
                </a:solidFill>
              </a:rPr>
              <a:t>09</a:t>
            </a:r>
            <a:endParaRPr lang="en-US" sz="2000" dirty="0"/>
          </a:p>
        </p:txBody>
      </p:sp>
      <p:sp>
        <p:nvSpPr>
          <p:cNvPr id="44" name="Text 42"/>
          <p:cNvSpPr txBox="1"/>
          <p:nvPr/>
        </p:nvSpPr>
        <p:spPr>
          <a:xfrm>
            <a:off x="5440680" y="3200400"/>
            <a:ext cx="685800" cy="365760"/>
          </a:xfrm>
          <a:prstGeom prst="rect">
            <a:avLst/>
          </a:prstGeom>
          <a:noFill/>
          <a:ln/>
        </p:spPr>
        <p:txBody>
          <a:bodyPr wrap="square" lIns="0" tIns="0" rIns="0" bIns="0" rtlCol="0" anchor="ctr"/>
          <a:lstStyle/>
          <a:p>
            <a:pPr marL="0" indent="0" algn="r">
              <a:buNone/>
            </a:pPr>
            <a:r>
              <a:rPr lang="en-US" sz="1100" dirty="0">
                <a:solidFill>
                  <a:srgbClr val="FFFFFF"/>
                </a:solidFill>
              </a:rPr>
              <a:t>1,0 %</a:t>
            </a:r>
            <a:endParaRPr lang="en-US" sz="1100" dirty="0"/>
          </a:p>
        </p:txBody>
      </p:sp>
      <p:sp>
        <p:nvSpPr>
          <p:cNvPr id="45" name="Text 43"/>
          <p:cNvSpPr txBox="1"/>
          <p:nvPr/>
        </p:nvSpPr>
        <p:spPr>
          <a:xfrm>
            <a:off x="5001768" y="3657600"/>
            <a:ext cx="1143000" cy="594360"/>
          </a:xfrm>
          <a:prstGeom prst="rect">
            <a:avLst/>
          </a:prstGeom>
          <a:noFill/>
          <a:ln/>
        </p:spPr>
        <p:txBody>
          <a:bodyPr wrap="square" lIns="0" tIns="0" rIns="0" bIns="0" rtlCol="0" anchor="t"/>
          <a:lstStyle/>
          <a:p>
            <a:pPr marL="0" indent="0">
              <a:buNone/>
            </a:pPr>
            <a:r>
              <a:rPr lang="en-US" sz="1200" dirty="0">
                <a:solidFill>
                  <a:srgbClr val="FFFFFF"/>
                </a:solidFill>
              </a:rPr>
              <a:t>Loisirs, culture</a:t>
            </a:r>
            <a:endParaRPr lang="en-US" sz="1200" dirty="0"/>
          </a:p>
        </p:txBody>
      </p:sp>
      <p:sp>
        <p:nvSpPr>
          <p:cNvPr id="46" name="Tuile division 10"/>
          <p:cNvSpPr/>
          <p:nvPr/>
        </p:nvSpPr>
        <p:spPr>
          <a:xfrm>
            <a:off x="6355080" y="3108960"/>
            <a:ext cx="1325880" cy="1234440"/>
          </a:xfrm>
          <a:prstGeom prst="roundRect">
            <a:avLst>
              <a:gd name="adj" fmla="val 5926"/>
            </a:avLst>
          </a:prstGeom>
          <a:solidFill>
            <a:srgbClr val="F6DEDA"/>
          </a:solidFill>
          <a:ln/>
        </p:spPr>
      </p:sp>
      <p:sp>
        <p:nvSpPr>
          <p:cNvPr id="47" name="Text 45"/>
          <p:cNvSpPr txBox="1"/>
          <p:nvPr/>
        </p:nvSpPr>
        <p:spPr>
          <a:xfrm>
            <a:off x="6464808" y="3182112"/>
            <a:ext cx="640080" cy="411480"/>
          </a:xfrm>
          <a:prstGeom prst="rect">
            <a:avLst/>
          </a:prstGeom>
          <a:noFill/>
          <a:ln/>
        </p:spPr>
        <p:txBody>
          <a:bodyPr wrap="square" lIns="0" tIns="0" rIns="0" bIns="0" rtlCol="0" anchor="ctr"/>
          <a:lstStyle/>
          <a:p>
            <a:pPr marL="0" indent="0">
              <a:buNone/>
            </a:pPr>
            <a:r>
              <a:rPr lang="en-US" sz="2000" b="1" dirty="0">
                <a:solidFill>
                  <a:srgbClr val="B83B2E"/>
                </a:solidFill>
              </a:rPr>
              <a:t>10</a:t>
            </a:r>
            <a:endParaRPr lang="en-US" sz="2000" dirty="0"/>
          </a:p>
        </p:txBody>
      </p:sp>
      <p:sp>
        <p:nvSpPr>
          <p:cNvPr id="48" name="Text 46"/>
          <p:cNvSpPr txBox="1"/>
          <p:nvPr/>
        </p:nvSpPr>
        <p:spPr>
          <a:xfrm>
            <a:off x="6903720" y="3200400"/>
            <a:ext cx="685800" cy="365760"/>
          </a:xfrm>
          <a:prstGeom prst="rect">
            <a:avLst/>
          </a:prstGeom>
          <a:noFill/>
          <a:ln/>
        </p:spPr>
        <p:txBody>
          <a:bodyPr wrap="square" lIns="0" tIns="0" rIns="0" bIns="0" rtlCol="0" anchor="ctr"/>
          <a:lstStyle/>
          <a:p>
            <a:pPr marL="0" indent="0" algn="r">
              <a:buNone/>
            </a:pPr>
            <a:r>
              <a:rPr lang="en-US" sz="1100" dirty="0">
                <a:solidFill>
                  <a:srgbClr val="B83B2E"/>
                </a:solidFill>
              </a:rPr>
              <a:t>1,8 %</a:t>
            </a:r>
            <a:endParaRPr lang="en-US" sz="1100" dirty="0"/>
          </a:p>
        </p:txBody>
      </p:sp>
      <p:sp>
        <p:nvSpPr>
          <p:cNvPr id="49" name="Text 47"/>
          <p:cNvSpPr txBox="1"/>
          <p:nvPr/>
        </p:nvSpPr>
        <p:spPr>
          <a:xfrm>
            <a:off x="6464808" y="3657600"/>
            <a:ext cx="1143000" cy="594360"/>
          </a:xfrm>
          <a:prstGeom prst="rect">
            <a:avLst/>
          </a:prstGeom>
          <a:noFill/>
          <a:ln/>
        </p:spPr>
        <p:txBody>
          <a:bodyPr wrap="square" lIns="0" tIns="0" rIns="0" bIns="0" rtlCol="0" anchor="t"/>
          <a:lstStyle/>
          <a:p>
            <a:pPr marL="0" indent="0">
              <a:buNone/>
            </a:pPr>
            <a:r>
              <a:rPr lang="en-US" sz="1200" dirty="0">
                <a:solidFill>
                  <a:srgbClr val="B83B2E"/>
                </a:solidFill>
              </a:rPr>
              <a:t>Enseignement</a:t>
            </a:r>
            <a:endParaRPr lang="en-US" sz="1200" dirty="0"/>
          </a:p>
        </p:txBody>
      </p:sp>
      <p:sp>
        <p:nvSpPr>
          <p:cNvPr id="50" name="Tuile division 11"/>
          <p:cNvSpPr/>
          <p:nvPr/>
        </p:nvSpPr>
        <p:spPr>
          <a:xfrm>
            <a:off x="502920" y="4480560"/>
            <a:ext cx="1325880" cy="1234440"/>
          </a:xfrm>
          <a:prstGeom prst="roundRect">
            <a:avLst>
              <a:gd name="adj" fmla="val 5926"/>
            </a:avLst>
          </a:prstGeom>
          <a:solidFill>
            <a:srgbClr val="F6DEDA"/>
          </a:solidFill>
          <a:ln/>
        </p:spPr>
      </p:sp>
      <p:sp>
        <p:nvSpPr>
          <p:cNvPr id="51" name="Text 49"/>
          <p:cNvSpPr txBox="1"/>
          <p:nvPr/>
        </p:nvSpPr>
        <p:spPr>
          <a:xfrm>
            <a:off x="612648" y="4553712"/>
            <a:ext cx="640080" cy="411480"/>
          </a:xfrm>
          <a:prstGeom prst="rect">
            <a:avLst/>
          </a:prstGeom>
          <a:noFill/>
          <a:ln/>
        </p:spPr>
        <p:txBody>
          <a:bodyPr wrap="square" lIns="0" tIns="0" rIns="0" bIns="0" rtlCol="0" anchor="ctr"/>
          <a:lstStyle/>
          <a:p>
            <a:pPr marL="0" indent="0">
              <a:buNone/>
            </a:pPr>
            <a:r>
              <a:rPr lang="en-US" sz="2000" b="1" dirty="0">
                <a:solidFill>
                  <a:srgbClr val="B83B2E"/>
                </a:solidFill>
              </a:rPr>
              <a:t>11</a:t>
            </a:r>
            <a:endParaRPr lang="en-US" sz="2000" dirty="0"/>
          </a:p>
        </p:txBody>
      </p:sp>
      <p:sp>
        <p:nvSpPr>
          <p:cNvPr id="52" name="Text 50"/>
          <p:cNvSpPr txBox="1"/>
          <p:nvPr/>
        </p:nvSpPr>
        <p:spPr>
          <a:xfrm>
            <a:off x="1051560" y="4572000"/>
            <a:ext cx="685800" cy="365760"/>
          </a:xfrm>
          <a:prstGeom prst="rect">
            <a:avLst/>
          </a:prstGeom>
          <a:noFill/>
          <a:ln/>
        </p:spPr>
        <p:txBody>
          <a:bodyPr wrap="square" lIns="0" tIns="0" rIns="0" bIns="0" rtlCol="0" anchor="ctr"/>
          <a:lstStyle/>
          <a:p>
            <a:pPr marL="0" indent="0" algn="r">
              <a:buNone/>
            </a:pPr>
            <a:r>
              <a:rPr lang="en-US" sz="1100" dirty="0">
                <a:solidFill>
                  <a:srgbClr val="B83B2E"/>
                </a:solidFill>
              </a:rPr>
              <a:t>9,2 %</a:t>
            </a:r>
            <a:endParaRPr lang="en-US" sz="1100" dirty="0"/>
          </a:p>
        </p:txBody>
      </p:sp>
      <p:sp>
        <p:nvSpPr>
          <p:cNvPr id="53" name="Text 51"/>
          <p:cNvSpPr txBox="1"/>
          <p:nvPr/>
        </p:nvSpPr>
        <p:spPr>
          <a:xfrm>
            <a:off x="612648" y="5029200"/>
            <a:ext cx="1143000" cy="594360"/>
          </a:xfrm>
          <a:prstGeom prst="rect">
            <a:avLst/>
          </a:prstGeom>
          <a:noFill/>
          <a:ln/>
        </p:spPr>
        <p:txBody>
          <a:bodyPr wrap="square" lIns="0" tIns="0" rIns="0" bIns="0" rtlCol="0" anchor="t"/>
          <a:lstStyle/>
          <a:p>
            <a:pPr marL="0" indent="0">
              <a:buNone/>
            </a:pPr>
            <a:r>
              <a:rPr lang="en-US" sz="1200" dirty="0">
                <a:solidFill>
                  <a:srgbClr val="B83B2E"/>
                </a:solidFill>
              </a:rPr>
              <a:t>Restaurants</a:t>
            </a:r>
            <a:endParaRPr lang="en-US" sz="1200" dirty="0"/>
          </a:p>
        </p:txBody>
      </p:sp>
      <p:sp>
        <p:nvSpPr>
          <p:cNvPr id="54" name="Tuile division 12"/>
          <p:cNvSpPr/>
          <p:nvPr/>
        </p:nvSpPr>
        <p:spPr>
          <a:xfrm>
            <a:off x="1965960" y="4480560"/>
            <a:ext cx="1325880" cy="1234440"/>
          </a:xfrm>
          <a:prstGeom prst="roundRect">
            <a:avLst>
              <a:gd name="adj" fmla="val 5926"/>
            </a:avLst>
          </a:prstGeom>
          <a:solidFill>
            <a:srgbClr val="F6DEDA"/>
          </a:solidFill>
          <a:ln/>
        </p:spPr>
      </p:sp>
      <p:sp>
        <p:nvSpPr>
          <p:cNvPr id="55" name="Text 53"/>
          <p:cNvSpPr txBox="1"/>
          <p:nvPr/>
        </p:nvSpPr>
        <p:spPr>
          <a:xfrm>
            <a:off x="2075688" y="4553712"/>
            <a:ext cx="640080" cy="411480"/>
          </a:xfrm>
          <a:prstGeom prst="rect">
            <a:avLst/>
          </a:prstGeom>
          <a:noFill/>
          <a:ln/>
        </p:spPr>
        <p:txBody>
          <a:bodyPr wrap="square" lIns="0" tIns="0" rIns="0" bIns="0" rtlCol="0" anchor="ctr"/>
          <a:lstStyle/>
          <a:p>
            <a:pPr marL="0" indent="0">
              <a:buNone/>
            </a:pPr>
            <a:r>
              <a:rPr lang="en-US" sz="2000" b="1" dirty="0">
                <a:solidFill>
                  <a:srgbClr val="B83B2E"/>
                </a:solidFill>
              </a:rPr>
              <a:t>12</a:t>
            </a:r>
            <a:endParaRPr lang="en-US" sz="2000" dirty="0"/>
          </a:p>
        </p:txBody>
      </p:sp>
      <p:sp>
        <p:nvSpPr>
          <p:cNvPr id="56" name="Text 54"/>
          <p:cNvSpPr txBox="1"/>
          <p:nvPr/>
        </p:nvSpPr>
        <p:spPr>
          <a:xfrm>
            <a:off x="2514600" y="4572000"/>
            <a:ext cx="685800" cy="365760"/>
          </a:xfrm>
          <a:prstGeom prst="rect">
            <a:avLst/>
          </a:prstGeom>
          <a:noFill/>
          <a:ln/>
        </p:spPr>
        <p:txBody>
          <a:bodyPr wrap="square" lIns="0" tIns="0" rIns="0" bIns="0" rtlCol="0" anchor="ctr"/>
          <a:lstStyle/>
          <a:p>
            <a:pPr marL="0" indent="0" algn="r">
              <a:buNone/>
            </a:pPr>
            <a:r>
              <a:rPr lang="en-US" sz="1100" dirty="0">
                <a:solidFill>
                  <a:srgbClr val="B83B2E"/>
                </a:solidFill>
              </a:rPr>
              <a:t>0,1 %</a:t>
            </a:r>
            <a:endParaRPr lang="en-US" sz="1100" dirty="0"/>
          </a:p>
        </p:txBody>
      </p:sp>
      <p:sp>
        <p:nvSpPr>
          <p:cNvPr id="57" name="Text 55"/>
          <p:cNvSpPr txBox="1"/>
          <p:nvPr/>
        </p:nvSpPr>
        <p:spPr>
          <a:xfrm>
            <a:off x="2075688" y="5029200"/>
            <a:ext cx="1143000" cy="594360"/>
          </a:xfrm>
          <a:prstGeom prst="rect">
            <a:avLst/>
          </a:prstGeom>
          <a:noFill/>
          <a:ln/>
        </p:spPr>
        <p:txBody>
          <a:bodyPr wrap="square" lIns="0" tIns="0" rIns="0" bIns="0" rtlCol="0" anchor="t"/>
          <a:lstStyle/>
          <a:p>
            <a:pPr marL="0" indent="0">
              <a:buNone/>
            </a:pPr>
            <a:r>
              <a:rPr lang="en-US" sz="1200" dirty="0">
                <a:solidFill>
                  <a:srgbClr val="B83B2E"/>
                </a:solidFill>
              </a:rPr>
              <a:t>Assurances</a:t>
            </a:r>
            <a:endParaRPr lang="en-US" sz="1200" dirty="0"/>
          </a:p>
        </p:txBody>
      </p:sp>
      <p:sp>
        <p:nvSpPr>
          <p:cNvPr id="58" name="Tuile division 13"/>
          <p:cNvSpPr/>
          <p:nvPr/>
        </p:nvSpPr>
        <p:spPr>
          <a:xfrm>
            <a:off x="3429000" y="4480560"/>
            <a:ext cx="1325880" cy="1234440"/>
          </a:xfrm>
          <a:prstGeom prst="roundRect">
            <a:avLst>
              <a:gd name="adj" fmla="val 5926"/>
            </a:avLst>
          </a:prstGeom>
          <a:solidFill>
            <a:srgbClr val="00A86A"/>
          </a:solidFill>
          <a:ln/>
        </p:spPr>
      </p:sp>
      <p:sp>
        <p:nvSpPr>
          <p:cNvPr id="59" name="Text 57"/>
          <p:cNvSpPr txBox="1"/>
          <p:nvPr/>
        </p:nvSpPr>
        <p:spPr>
          <a:xfrm>
            <a:off x="3538728" y="4553712"/>
            <a:ext cx="640080" cy="411480"/>
          </a:xfrm>
          <a:prstGeom prst="rect">
            <a:avLst/>
          </a:prstGeom>
          <a:noFill/>
          <a:ln/>
        </p:spPr>
        <p:txBody>
          <a:bodyPr wrap="square" lIns="0" tIns="0" rIns="0" bIns="0" rtlCol="0" anchor="ctr"/>
          <a:lstStyle/>
          <a:p>
            <a:pPr marL="0" indent="0">
              <a:buNone/>
            </a:pPr>
            <a:r>
              <a:rPr lang="en-US" sz="2000" b="1" dirty="0">
                <a:solidFill>
                  <a:srgbClr val="FFFFFF"/>
                </a:solidFill>
              </a:rPr>
              <a:t>13</a:t>
            </a:r>
            <a:endParaRPr lang="en-US" sz="2000" dirty="0"/>
          </a:p>
        </p:txBody>
      </p:sp>
      <p:sp>
        <p:nvSpPr>
          <p:cNvPr id="60" name="Text 58"/>
          <p:cNvSpPr txBox="1"/>
          <p:nvPr/>
        </p:nvSpPr>
        <p:spPr>
          <a:xfrm>
            <a:off x="3977640" y="4572000"/>
            <a:ext cx="685800" cy="365760"/>
          </a:xfrm>
          <a:prstGeom prst="rect">
            <a:avLst/>
          </a:prstGeom>
          <a:noFill/>
          <a:ln/>
        </p:spPr>
        <p:txBody>
          <a:bodyPr wrap="square" lIns="0" tIns="0" rIns="0" bIns="0" rtlCol="0" anchor="ctr"/>
          <a:lstStyle/>
          <a:p>
            <a:pPr marL="0" indent="0" algn="r">
              <a:buNone/>
            </a:pPr>
            <a:r>
              <a:rPr lang="en-US" sz="1100" dirty="0">
                <a:solidFill>
                  <a:srgbClr val="FFFFFF"/>
                </a:solidFill>
              </a:rPr>
              <a:t>4,9 %</a:t>
            </a:r>
            <a:endParaRPr lang="en-US" sz="1100" dirty="0"/>
          </a:p>
        </p:txBody>
      </p:sp>
      <p:sp>
        <p:nvSpPr>
          <p:cNvPr id="61" name="Text 59"/>
          <p:cNvSpPr txBox="1"/>
          <p:nvPr/>
        </p:nvSpPr>
        <p:spPr>
          <a:xfrm>
            <a:off x="3538728" y="5029200"/>
            <a:ext cx="1143000" cy="594360"/>
          </a:xfrm>
          <a:prstGeom prst="rect">
            <a:avLst/>
          </a:prstGeom>
          <a:noFill/>
          <a:ln/>
        </p:spPr>
        <p:txBody>
          <a:bodyPr wrap="square" lIns="0" tIns="0" rIns="0" bIns="0" rtlCol="0" anchor="t"/>
          <a:lstStyle/>
          <a:p>
            <a:pPr marL="0" indent="0">
              <a:buNone/>
            </a:pPr>
            <a:r>
              <a:rPr lang="en-US" sz="1200" dirty="0">
                <a:solidFill>
                  <a:srgbClr val="FFFFFF"/>
                </a:solidFill>
              </a:rPr>
              <a:t>Soins, divers</a:t>
            </a:r>
            <a:endParaRPr lang="en-US" sz="1200" dirty="0"/>
          </a:p>
        </p:txBody>
      </p:sp>
      <p:sp>
        <p:nvSpPr>
          <p:cNvPr id="62" name="Légende E-commerce et institutions"/>
          <p:cNvSpPr/>
          <p:nvPr/>
        </p:nvSpPr>
        <p:spPr>
          <a:xfrm>
            <a:off x="502920" y="5961888"/>
            <a:ext cx="182880" cy="182880"/>
          </a:xfrm>
          <a:prstGeom prst="roundRect">
            <a:avLst>
              <a:gd name="adj" fmla="val 15000"/>
            </a:avLst>
          </a:prstGeom>
          <a:solidFill>
            <a:srgbClr val="00553A"/>
          </a:solidFill>
          <a:ln/>
        </p:spPr>
      </p:sp>
      <p:sp>
        <p:nvSpPr>
          <p:cNvPr id="63" name="Text 61"/>
          <p:cNvSpPr txBox="1"/>
          <p:nvPr/>
        </p:nvSpPr>
        <p:spPr>
          <a:xfrm>
            <a:off x="749808" y="5870448"/>
            <a:ext cx="1188720" cy="384048"/>
          </a:xfrm>
          <a:prstGeom prst="rect">
            <a:avLst/>
          </a:prstGeom>
          <a:noFill/>
          <a:ln/>
        </p:spPr>
        <p:txBody>
          <a:bodyPr wrap="square" lIns="0" tIns="0" rIns="0" bIns="0" rtlCol="0" anchor="ctr"/>
          <a:lstStyle/>
          <a:p>
            <a:pPr marL="0" indent="0">
              <a:buNone/>
            </a:pPr>
            <a:r>
              <a:rPr lang="en-US" sz="1000" dirty="0">
                <a:solidFill>
                  <a:srgbClr val="5E6964"/>
                </a:solidFill>
              </a:rPr>
              <a:t>E-commerce et institutions</a:t>
            </a:r>
            <a:endParaRPr lang="en-US" sz="1000" dirty="0"/>
          </a:p>
        </p:txBody>
      </p:sp>
      <p:sp>
        <p:nvSpPr>
          <p:cNvPr id="64" name="Légende E-commerce (Jumia)"/>
          <p:cNvSpPr/>
          <p:nvPr/>
        </p:nvSpPr>
        <p:spPr>
          <a:xfrm>
            <a:off x="1965960" y="5961888"/>
            <a:ext cx="182880" cy="182880"/>
          </a:xfrm>
          <a:prstGeom prst="roundRect">
            <a:avLst>
              <a:gd name="adj" fmla="val 15000"/>
            </a:avLst>
          </a:prstGeom>
          <a:solidFill>
            <a:srgbClr val="00A86A"/>
          </a:solidFill>
          <a:ln/>
        </p:spPr>
      </p:sp>
      <p:sp>
        <p:nvSpPr>
          <p:cNvPr id="65" name="Text 63"/>
          <p:cNvSpPr txBox="1"/>
          <p:nvPr/>
        </p:nvSpPr>
        <p:spPr>
          <a:xfrm>
            <a:off x="2212848" y="5870448"/>
            <a:ext cx="1188720" cy="384048"/>
          </a:xfrm>
          <a:prstGeom prst="rect">
            <a:avLst/>
          </a:prstGeom>
          <a:noFill/>
          <a:ln/>
        </p:spPr>
        <p:txBody>
          <a:bodyPr wrap="square" lIns="0" tIns="0" rIns="0" bIns="0" rtlCol="0" anchor="ctr"/>
          <a:lstStyle/>
          <a:p>
            <a:pPr marL="0" indent="0">
              <a:buNone/>
            </a:pPr>
            <a:r>
              <a:rPr lang="en-US" sz="1000" dirty="0">
                <a:solidFill>
                  <a:srgbClr val="5E6964"/>
                </a:solidFill>
              </a:rPr>
              <a:t>E-commerce (Jumia)</a:t>
            </a:r>
            <a:endParaRPr lang="en-US" sz="1000" dirty="0"/>
          </a:p>
        </p:txBody>
      </p:sp>
      <p:sp>
        <p:nvSpPr>
          <p:cNvPr id="66" name="Légende Institutions"/>
          <p:cNvSpPr/>
          <p:nvPr/>
        </p:nvSpPr>
        <p:spPr>
          <a:xfrm>
            <a:off x="3429000" y="5961888"/>
            <a:ext cx="182880" cy="182880"/>
          </a:xfrm>
          <a:prstGeom prst="roundRect">
            <a:avLst>
              <a:gd name="adj" fmla="val 15000"/>
            </a:avLst>
          </a:prstGeom>
          <a:solidFill>
            <a:srgbClr val="0E7C86"/>
          </a:solidFill>
          <a:ln/>
        </p:spPr>
      </p:sp>
      <p:sp>
        <p:nvSpPr>
          <p:cNvPr id="67" name="Text 65"/>
          <p:cNvSpPr txBox="1"/>
          <p:nvPr/>
        </p:nvSpPr>
        <p:spPr>
          <a:xfrm>
            <a:off x="3675888" y="5870448"/>
            <a:ext cx="1188720" cy="384048"/>
          </a:xfrm>
          <a:prstGeom prst="rect">
            <a:avLst/>
          </a:prstGeom>
          <a:noFill/>
          <a:ln/>
        </p:spPr>
        <p:txBody>
          <a:bodyPr wrap="square" lIns="0" tIns="0" rIns="0" bIns="0" rtlCol="0" anchor="ctr"/>
          <a:lstStyle/>
          <a:p>
            <a:pPr marL="0" indent="0">
              <a:buNone/>
            </a:pPr>
            <a:r>
              <a:rPr lang="en-US" sz="1000" dirty="0">
                <a:solidFill>
                  <a:srgbClr val="5E6964"/>
                </a:solidFill>
              </a:rPr>
              <a:t>Institutions</a:t>
            </a:r>
            <a:endParaRPr lang="en-US" sz="1000" dirty="0"/>
          </a:p>
        </p:txBody>
      </p:sp>
      <p:sp>
        <p:nvSpPr>
          <p:cNvPr id="68" name="Légende Quelques produits seulement"/>
          <p:cNvSpPr/>
          <p:nvPr/>
        </p:nvSpPr>
        <p:spPr>
          <a:xfrm>
            <a:off x="4892040" y="5961888"/>
            <a:ext cx="182880" cy="182880"/>
          </a:xfrm>
          <a:prstGeom prst="roundRect">
            <a:avLst>
              <a:gd name="adj" fmla="val 15000"/>
            </a:avLst>
          </a:prstGeom>
          <a:solidFill>
            <a:srgbClr val="A9B5B0"/>
          </a:solidFill>
          <a:ln/>
        </p:spPr>
      </p:sp>
      <p:sp>
        <p:nvSpPr>
          <p:cNvPr id="69" name="Text 67"/>
          <p:cNvSpPr txBox="1"/>
          <p:nvPr/>
        </p:nvSpPr>
        <p:spPr>
          <a:xfrm>
            <a:off x="5138928" y="5870448"/>
            <a:ext cx="1188720" cy="384048"/>
          </a:xfrm>
          <a:prstGeom prst="rect">
            <a:avLst/>
          </a:prstGeom>
          <a:noFill/>
          <a:ln/>
        </p:spPr>
        <p:txBody>
          <a:bodyPr wrap="square" lIns="0" tIns="0" rIns="0" bIns="0" rtlCol="0" anchor="ctr"/>
          <a:lstStyle/>
          <a:p>
            <a:pPr marL="0" indent="0">
              <a:buNone/>
            </a:pPr>
            <a:r>
              <a:rPr lang="en-US" sz="1000" dirty="0">
                <a:solidFill>
                  <a:srgbClr val="5E6964"/>
                </a:solidFill>
              </a:rPr>
              <a:t>Quelques produits seulement</a:t>
            </a:r>
            <a:endParaRPr lang="en-US" sz="1000" dirty="0"/>
          </a:p>
        </p:txBody>
      </p:sp>
      <p:sp>
        <p:nvSpPr>
          <p:cNvPr id="70" name="Légende Hors d'atteinte"/>
          <p:cNvSpPr/>
          <p:nvPr/>
        </p:nvSpPr>
        <p:spPr>
          <a:xfrm>
            <a:off x="6355080" y="5961888"/>
            <a:ext cx="182880" cy="182880"/>
          </a:xfrm>
          <a:prstGeom prst="roundRect">
            <a:avLst>
              <a:gd name="adj" fmla="val 15000"/>
            </a:avLst>
          </a:prstGeom>
          <a:solidFill>
            <a:srgbClr val="F6DEDA"/>
          </a:solidFill>
          <a:ln/>
        </p:spPr>
      </p:sp>
      <p:sp>
        <p:nvSpPr>
          <p:cNvPr id="71" name="Text 69"/>
          <p:cNvSpPr txBox="1"/>
          <p:nvPr/>
        </p:nvSpPr>
        <p:spPr>
          <a:xfrm>
            <a:off x="6601968" y="5870448"/>
            <a:ext cx="1188720" cy="384048"/>
          </a:xfrm>
          <a:prstGeom prst="rect">
            <a:avLst/>
          </a:prstGeom>
          <a:noFill/>
          <a:ln/>
        </p:spPr>
        <p:txBody>
          <a:bodyPr wrap="square" lIns="0" tIns="0" rIns="0" bIns="0" rtlCol="0" anchor="ctr"/>
          <a:lstStyle/>
          <a:p>
            <a:pPr marL="0" indent="0">
              <a:buNone/>
            </a:pPr>
            <a:r>
              <a:rPr lang="en-US" sz="1000" dirty="0">
                <a:solidFill>
                  <a:srgbClr val="5E6964"/>
                </a:solidFill>
              </a:rPr>
              <a:t>Hors d'atteinte</a:t>
            </a:r>
            <a:endParaRPr lang="en-US" sz="1000" dirty="0"/>
          </a:p>
        </p:txBody>
      </p:sp>
      <p:sp>
        <p:nvSpPr>
          <p:cNvPr id="72" name="Text 70"/>
          <p:cNvSpPr txBox="1"/>
          <p:nvPr/>
        </p:nvSpPr>
        <p:spPr>
          <a:xfrm>
            <a:off x="8001000" y="1783080"/>
            <a:ext cx="1508760" cy="1005840"/>
          </a:xfrm>
          <a:prstGeom prst="rect">
            <a:avLst/>
          </a:prstGeom>
          <a:noFill/>
          <a:ln/>
        </p:spPr>
        <p:txBody>
          <a:bodyPr wrap="square" lIns="0" tIns="0" rIns="0" bIns="0" rtlCol="0" anchor="ctr"/>
          <a:lstStyle/>
          <a:p>
            <a:pPr marL="0" indent="0">
              <a:buNone/>
            </a:pPr>
            <a:r>
              <a:rPr lang="en-US" sz="3800" b="1" dirty="0">
                <a:solidFill>
                  <a:srgbClr val="00A86A"/>
                </a:solidFill>
              </a:rPr>
              <a:t>78 %</a:t>
            </a:r>
            <a:endParaRPr lang="en-US" sz="3800" dirty="0"/>
          </a:p>
        </p:txBody>
      </p:sp>
      <p:sp>
        <p:nvSpPr>
          <p:cNvPr id="73" name="Text 71"/>
          <p:cNvSpPr txBox="1"/>
          <p:nvPr/>
        </p:nvSpPr>
        <p:spPr>
          <a:xfrm>
            <a:off x="9509760" y="1783080"/>
            <a:ext cx="2148840" cy="1005840"/>
          </a:xfrm>
          <a:prstGeom prst="rect">
            <a:avLst/>
          </a:prstGeom>
          <a:noFill/>
          <a:ln/>
        </p:spPr>
        <p:txBody>
          <a:bodyPr wrap="square" lIns="0" tIns="0" rIns="0" bIns="0" rtlCol="0" anchor="ctr"/>
          <a:lstStyle/>
          <a:p>
            <a:pPr marL="0" indent="0">
              <a:buNone/>
            </a:pPr>
            <a:r>
              <a:rPr lang="en-US" sz="1300" dirty="0">
                <a:solidFill>
                  <a:srgbClr val="5E6964"/>
                </a:solidFill>
              </a:rPr>
              <a:t>du poids du panier atteint par les 7 divisions couvertes</a:t>
            </a:r>
            <a:endParaRPr lang="en-US" sz="1300" dirty="0"/>
          </a:p>
        </p:txBody>
      </p:sp>
      <p:sp>
        <p:nvSpPr>
          <p:cNvPr id="74" name="Text 72"/>
          <p:cNvSpPr txBox="1"/>
          <p:nvPr/>
        </p:nvSpPr>
        <p:spPr>
          <a:xfrm>
            <a:off x="8001000" y="3154680"/>
            <a:ext cx="1508760" cy="1005840"/>
          </a:xfrm>
          <a:prstGeom prst="rect">
            <a:avLst/>
          </a:prstGeom>
          <a:noFill/>
          <a:ln/>
        </p:spPr>
        <p:txBody>
          <a:bodyPr wrap="square" lIns="0" tIns="0" rIns="0" bIns="0" rtlCol="0" anchor="ctr"/>
          <a:lstStyle/>
          <a:p>
            <a:pPr marL="0" indent="0">
              <a:buNone/>
            </a:pPr>
            <a:r>
              <a:rPr lang="en-US" sz="3800" b="1" dirty="0">
                <a:solidFill>
                  <a:srgbClr val="B83B2E"/>
                </a:solidFill>
              </a:rPr>
              <a:t>17 %</a:t>
            </a:r>
            <a:endParaRPr lang="en-US" sz="3800" dirty="0"/>
          </a:p>
        </p:txBody>
      </p:sp>
      <p:sp>
        <p:nvSpPr>
          <p:cNvPr id="75" name="Text 73"/>
          <p:cNvSpPr txBox="1"/>
          <p:nvPr/>
        </p:nvSpPr>
        <p:spPr>
          <a:xfrm>
            <a:off x="9509760" y="3154680"/>
            <a:ext cx="2148840" cy="1005840"/>
          </a:xfrm>
          <a:prstGeom prst="rect">
            <a:avLst/>
          </a:prstGeom>
          <a:noFill/>
          <a:ln/>
        </p:spPr>
        <p:txBody>
          <a:bodyPr wrap="square" lIns="0" tIns="0" rIns="0" bIns="0" rtlCol="0" anchor="ctr"/>
          <a:lstStyle/>
          <a:p>
            <a:pPr marL="0" indent="0">
              <a:buNone/>
            </a:pPr>
            <a:r>
              <a:rPr lang="en-US" sz="1300" dirty="0">
                <a:solidFill>
                  <a:srgbClr val="5E6964"/>
                </a:solidFill>
              </a:rPr>
              <a:t>dans 4 divisions hors d'atteinte : transports, enseignement, restaurants, assurances</a:t>
            </a:r>
            <a:endParaRPr lang="en-US" sz="1300" dirty="0"/>
          </a:p>
        </p:txBody>
      </p:sp>
      <p:sp>
        <p:nvSpPr>
          <p:cNvPr id="76" name="Text 74"/>
          <p:cNvSpPr txBox="1"/>
          <p:nvPr/>
        </p:nvSpPr>
        <p:spPr>
          <a:xfrm>
            <a:off x="8001000" y="4526280"/>
            <a:ext cx="1508760" cy="1005840"/>
          </a:xfrm>
          <a:prstGeom prst="rect">
            <a:avLst/>
          </a:prstGeom>
          <a:noFill/>
          <a:ln/>
        </p:spPr>
        <p:txBody>
          <a:bodyPr wrap="square" lIns="0" tIns="0" rIns="0" bIns="0" rtlCol="0" anchor="ctr"/>
          <a:lstStyle/>
          <a:p>
            <a:pPr marL="0" indent="0">
              <a:buNone/>
            </a:pPr>
            <a:r>
              <a:rPr lang="en-US" sz="3800" b="1" dirty="0">
                <a:solidFill>
                  <a:srgbClr val="A9B5B0"/>
                </a:solidFill>
              </a:rPr>
              <a:t>4 %</a:t>
            </a:r>
            <a:endParaRPr lang="en-US" sz="3800" dirty="0"/>
          </a:p>
        </p:txBody>
      </p:sp>
      <p:sp>
        <p:nvSpPr>
          <p:cNvPr id="77" name="Text 75"/>
          <p:cNvSpPr txBox="1"/>
          <p:nvPr/>
        </p:nvSpPr>
        <p:spPr>
          <a:xfrm>
            <a:off x="9509760" y="4526280"/>
            <a:ext cx="2148840" cy="1005840"/>
          </a:xfrm>
          <a:prstGeom prst="rect">
            <a:avLst/>
          </a:prstGeom>
          <a:noFill/>
          <a:ln/>
        </p:spPr>
        <p:txBody>
          <a:bodyPr wrap="square" lIns="0" tIns="0" rIns="0" bIns="0" rtlCol="0" anchor="ctr"/>
          <a:lstStyle/>
          <a:p>
            <a:pPr marL="0" indent="0">
              <a:buNone/>
            </a:pPr>
            <a:r>
              <a:rPr lang="en-US" sz="1300" dirty="0">
                <a:solidFill>
                  <a:srgbClr val="5E6964"/>
                </a:solidFill>
              </a:rPr>
              <a:t>dans 2 divisions à peine effleurées : alcool-tabac et santé</a:t>
            </a:r>
            <a:endParaRPr lang="en-US" sz="1300" dirty="0"/>
          </a:p>
        </p:txBody>
      </p:sp>
      <p:sp>
        <p:nvSpPr>
          <p:cNvPr id="78"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24</a:t>
            </a:fld>
            <a:endParaRPr lang="en-US"/>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04 · LABORATOIRE</a:t>
            </a:r>
            <a:endParaRPr lang="en-US" sz="1200" dirty="0"/>
          </a:p>
        </p:txBody>
      </p:sp>
      <p:sp>
        <p:nvSpPr>
          <p:cNvPr id="3" name="Point de progression 1"/>
          <p:cNvSpPr/>
          <p:nvPr/>
        </p:nvSpPr>
        <p:spPr>
          <a:xfrm>
            <a:off x="10561320" y="365760"/>
            <a:ext cx="128016" cy="128016"/>
          </a:xfrm>
          <a:prstGeom prst="ellipse">
            <a:avLst/>
          </a:prstGeom>
          <a:solidFill>
            <a:srgbClr val="D5DED9"/>
          </a:solidFill>
          <a:ln/>
        </p:spPr>
      </p:sp>
      <p:sp>
        <p:nvSpPr>
          <p:cNvPr id="4" name="Point de progression 2"/>
          <p:cNvSpPr/>
          <p:nvPr/>
        </p:nvSpPr>
        <p:spPr>
          <a:xfrm>
            <a:off x="10789920" y="365760"/>
            <a:ext cx="128016" cy="128016"/>
          </a:xfrm>
          <a:prstGeom prst="ellipse">
            <a:avLst/>
          </a:prstGeom>
          <a:solidFill>
            <a:srgbClr val="D5DED9"/>
          </a:solidFill>
          <a:ln/>
        </p:spPr>
      </p:sp>
      <p:sp>
        <p:nvSpPr>
          <p:cNvPr id="5" name="Point de progression 3"/>
          <p:cNvSpPr/>
          <p:nvPr/>
        </p:nvSpPr>
        <p:spPr>
          <a:xfrm>
            <a:off x="11018520" y="365760"/>
            <a:ext cx="128016" cy="128016"/>
          </a:xfrm>
          <a:prstGeom prst="ellipse">
            <a:avLst/>
          </a:prstGeom>
          <a:solidFill>
            <a:srgbClr val="D5DED9"/>
          </a:solidFill>
          <a:ln/>
        </p:spPr>
      </p:sp>
      <p:sp>
        <p:nvSpPr>
          <p:cNvPr id="6" name="Point de progression 4"/>
          <p:cNvSpPr/>
          <p:nvPr/>
        </p:nvSpPr>
        <p:spPr>
          <a:xfrm>
            <a:off x="11247120" y="365760"/>
            <a:ext cx="128016" cy="128016"/>
          </a:xfrm>
          <a:prstGeom prst="ellipse">
            <a:avLst/>
          </a:prstGeom>
          <a:solidFill>
            <a:srgbClr val="D49A00"/>
          </a:solidFill>
          <a:ln/>
        </p:spPr>
      </p:sp>
      <p:sp>
        <p:nvSpPr>
          <p:cNvPr id="7" name="Point de progression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Première collecte : 10 523 relevés en une journée</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Côte d'Ivoire, 14 octobre 2026 : produits distincts par division COICOP après classification</a:t>
            </a:r>
            <a:endParaRPr lang="en-US" sz="1500" dirty="0"/>
          </a:p>
        </p:txBody>
      </p:sp>
      <p:sp>
        <p:nvSpPr>
          <p:cNvPr id="10" name="Cadre graphique produits"/>
          <p:cNvSpPr/>
          <p:nvPr/>
        </p:nvSpPr>
        <p:spPr>
          <a:xfrm>
            <a:off x="502920" y="1691640"/>
            <a:ext cx="6766560" cy="4343400"/>
          </a:xfrm>
          <a:prstGeom prst="roundRect">
            <a:avLst>
              <a:gd name="adj" fmla="val 1684"/>
            </a:avLst>
          </a:prstGeom>
          <a:solidFill>
            <a:srgbClr val="F4F7F5"/>
          </a:solidFill>
          <a:ln w="9525">
            <a:solidFill>
              <a:srgbClr val="D5DED9"/>
            </a:solidFill>
            <a:prstDash val="solid"/>
          </a:ln>
        </p:spPr>
      </p:sp>
      <p:graphicFrame>
        <p:nvGraphicFramePr>
          <p:cNvPr id="11" name="Graphique produits par division"/>
          <p:cNvGraphicFramePr/>
          <p:nvPr/>
        </p:nvGraphicFramePr>
        <p:xfrm>
          <a:off x="594360" y="1783080"/>
          <a:ext cx="658368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 9"/>
          <p:cNvSpPr txBox="1"/>
          <p:nvPr/>
        </p:nvSpPr>
        <p:spPr>
          <a:xfrm>
            <a:off x="7589520" y="1783080"/>
            <a:ext cx="1828800" cy="822960"/>
          </a:xfrm>
          <a:prstGeom prst="rect">
            <a:avLst/>
          </a:prstGeom>
          <a:noFill/>
          <a:ln/>
        </p:spPr>
        <p:txBody>
          <a:bodyPr wrap="square" lIns="0" tIns="0" rIns="0" bIns="0" rtlCol="0" anchor="ctr"/>
          <a:lstStyle/>
          <a:p>
            <a:pPr marL="0" indent="0">
              <a:buNone/>
            </a:pPr>
            <a:r>
              <a:rPr lang="en-US" sz="3000" b="1" dirty="0">
                <a:solidFill>
                  <a:srgbClr val="00A86A"/>
                </a:solidFill>
              </a:rPr>
              <a:t>7 759</a:t>
            </a:r>
            <a:endParaRPr lang="en-US" sz="3000" dirty="0"/>
          </a:p>
        </p:txBody>
      </p:sp>
      <p:sp>
        <p:nvSpPr>
          <p:cNvPr id="13" name="Text 10"/>
          <p:cNvSpPr txBox="1"/>
          <p:nvPr/>
        </p:nvSpPr>
        <p:spPr>
          <a:xfrm>
            <a:off x="9418320" y="1783080"/>
            <a:ext cx="2240280" cy="822960"/>
          </a:xfrm>
          <a:prstGeom prst="rect">
            <a:avLst/>
          </a:prstGeom>
          <a:noFill/>
          <a:ln/>
        </p:spPr>
        <p:txBody>
          <a:bodyPr wrap="square" lIns="0" tIns="0" rIns="0" bIns="0" rtlCol="0" anchor="ctr"/>
          <a:lstStyle/>
          <a:p>
            <a:pPr marL="0" indent="0">
              <a:buNone/>
            </a:pPr>
            <a:r>
              <a:rPr lang="en-US" sz="1300" dirty="0">
                <a:solidFill>
                  <a:srgbClr val="5E6964"/>
                </a:solidFill>
              </a:rPr>
              <a:t>relevés Jumia (notebook 1)</a:t>
            </a:r>
            <a:endParaRPr lang="en-US" sz="1300" dirty="0"/>
          </a:p>
        </p:txBody>
      </p:sp>
      <p:sp>
        <p:nvSpPr>
          <p:cNvPr id="14" name="Text 11"/>
          <p:cNvSpPr txBox="1"/>
          <p:nvPr/>
        </p:nvSpPr>
        <p:spPr>
          <a:xfrm>
            <a:off x="7589520" y="2834640"/>
            <a:ext cx="1828800" cy="822960"/>
          </a:xfrm>
          <a:prstGeom prst="rect">
            <a:avLst/>
          </a:prstGeom>
          <a:noFill/>
          <a:ln/>
        </p:spPr>
        <p:txBody>
          <a:bodyPr wrap="square" lIns="0" tIns="0" rIns="0" bIns="0" rtlCol="0" anchor="ctr"/>
          <a:lstStyle/>
          <a:p>
            <a:pPr marL="0" indent="0">
              <a:buNone/>
            </a:pPr>
            <a:r>
              <a:rPr lang="en-US" sz="3000" b="1" dirty="0">
                <a:solidFill>
                  <a:srgbClr val="0E7C86"/>
                </a:solidFill>
              </a:rPr>
              <a:t>2 764</a:t>
            </a:r>
            <a:endParaRPr lang="en-US" sz="3000" dirty="0"/>
          </a:p>
        </p:txBody>
      </p:sp>
      <p:sp>
        <p:nvSpPr>
          <p:cNvPr id="15" name="Text 12"/>
          <p:cNvSpPr txBox="1"/>
          <p:nvPr/>
        </p:nvSpPr>
        <p:spPr>
          <a:xfrm>
            <a:off x="9418320" y="2834640"/>
            <a:ext cx="2240280" cy="822960"/>
          </a:xfrm>
          <a:prstGeom prst="rect">
            <a:avLst/>
          </a:prstGeom>
          <a:noFill/>
          <a:ln/>
        </p:spPr>
        <p:txBody>
          <a:bodyPr wrap="square" lIns="0" tIns="0" rIns="0" bIns="0" rtlCol="0" anchor="ctr"/>
          <a:lstStyle/>
          <a:p>
            <a:pPr marL="0" indent="0">
              <a:buNone/>
            </a:pPr>
            <a:r>
              <a:rPr lang="en-US" sz="1300" dirty="0">
                <a:solidFill>
                  <a:srgbClr val="5E6964"/>
                </a:solidFill>
              </a:rPr>
              <a:t>relevés institutionnels : OCPV, Sikafinance, tarifs (notebook 2)</a:t>
            </a:r>
            <a:endParaRPr lang="en-US" sz="1300" dirty="0"/>
          </a:p>
        </p:txBody>
      </p:sp>
      <p:sp>
        <p:nvSpPr>
          <p:cNvPr id="16" name="Text 13"/>
          <p:cNvSpPr txBox="1"/>
          <p:nvPr/>
        </p:nvSpPr>
        <p:spPr>
          <a:xfrm>
            <a:off x="7589520" y="3886200"/>
            <a:ext cx="1828800" cy="822960"/>
          </a:xfrm>
          <a:prstGeom prst="rect">
            <a:avLst/>
          </a:prstGeom>
          <a:noFill/>
          <a:ln/>
        </p:spPr>
        <p:txBody>
          <a:bodyPr wrap="square" lIns="0" tIns="0" rIns="0" bIns="0" rtlCol="0" anchor="ctr"/>
          <a:lstStyle/>
          <a:p>
            <a:pPr marL="0" indent="0">
              <a:buNone/>
            </a:pPr>
            <a:r>
              <a:rPr lang="en-US" sz="3000" b="1" dirty="0">
                <a:solidFill>
                  <a:srgbClr val="D49A00"/>
                </a:solidFill>
              </a:rPr>
              <a:t>15</a:t>
            </a:r>
            <a:endParaRPr lang="en-US" sz="3000" dirty="0"/>
          </a:p>
        </p:txBody>
      </p:sp>
      <p:sp>
        <p:nvSpPr>
          <p:cNvPr id="17" name="Text 14"/>
          <p:cNvSpPr txBox="1"/>
          <p:nvPr/>
        </p:nvSpPr>
        <p:spPr>
          <a:xfrm>
            <a:off x="9418320" y="3886200"/>
            <a:ext cx="2240280" cy="822960"/>
          </a:xfrm>
          <a:prstGeom prst="rect">
            <a:avLst/>
          </a:prstGeom>
          <a:noFill/>
          <a:ln/>
        </p:spPr>
        <p:txBody>
          <a:bodyPr wrap="square" lIns="0" tIns="0" rIns="0" bIns="0" rtlCol="0" anchor="ctr"/>
          <a:lstStyle/>
          <a:p>
            <a:pPr marL="0" indent="0">
              <a:buNone/>
            </a:pPr>
            <a:r>
              <a:rPr lang="en-US" sz="1300" dirty="0">
                <a:solidFill>
                  <a:srgbClr val="5E6964"/>
                </a:solidFill>
              </a:rPr>
              <a:t>doublons détectés et écartés à l'agrégation</a:t>
            </a:r>
            <a:endParaRPr lang="en-US" sz="1300" dirty="0"/>
          </a:p>
        </p:txBody>
      </p:sp>
      <p:sp>
        <p:nvSpPr>
          <p:cNvPr id="18" name="Text 15"/>
          <p:cNvSpPr txBox="1"/>
          <p:nvPr/>
        </p:nvSpPr>
        <p:spPr>
          <a:xfrm>
            <a:off x="7589520" y="4937760"/>
            <a:ext cx="1828800" cy="822960"/>
          </a:xfrm>
          <a:prstGeom prst="rect">
            <a:avLst/>
          </a:prstGeom>
          <a:noFill/>
          <a:ln/>
        </p:spPr>
        <p:txBody>
          <a:bodyPr wrap="square" lIns="0" tIns="0" rIns="0" bIns="0" rtlCol="0" anchor="ctr"/>
          <a:lstStyle/>
          <a:p>
            <a:pPr marL="0" indent="0">
              <a:buNone/>
            </a:pPr>
            <a:r>
              <a:rPr lang="en-US" sz="3000" b="1" dirty="0">
                <a:solidFill>
                  <a:srgbClr val="00704A"/>
                </a:solidFill>
              </a:rPr>
              <a:t>100 %</a:t>
            </a:r>
            <a:endParaRPr lang="en-US" sz="3000" dirty="0"/>
          </a:p>
        </p:txBody>
      </p:sp>
      <p:sp>
        <p:nvSpPr>
          <p:cNvPr id="19" name="Text 16"/>
          <p:cNvSpPr txBox="1"/>
          <p:nvPr/>
        </p:nvSpPr>
        <p:spPr>
          <a:xfrm>
            <a:off x="9418320" y="4937760"/>
            <a:ext cx="2240280" cy="822960"/>
          </a:xfrm>
          <a:prstGeom prst="rect">
            <a:avLst/>
          </a:prstGeom>
          <a:noFill/>
          <a:ln/>
        </p:spPr>
        <p:txBody>
          <a:bodyPr wrap="square" lIns="0" tIns="0" rIns="0" bIns="0" rtlCol="0" anchor="ctr"/>
          <a:lstStyle/>
          <a:p>
            <a:pPr marL="0" indent="0">
              <a:buNone/>
            </a:pPr>
            <a:r>
              <a:rPr lang="en-US" sz="1300" dirty="0">
                <a:solidFill>
                  <a:srgbClr val="5E6964"/>
                </a:solidFill>
              </a:rPr>
              <a:t>des 10 508 produits rattachés à une classe COICOP</a:t>
            </a:r>
            <a:endParaRPr lang="en-US" sz="1300" dirty="0"/>
          </a:p>
        </p:txBody>
      </p:sp>
      <p:sp>
        <p:nvSpPr>
          <p:cNvPr id="20" name="Text 17"/>
          <p:cNvSpPr txBox="1"/>
          <p:nvPr/>
        </p:nvSpPr>
        <p:spPr>
          <a:xfrm>
            <a:off x="502920" y="6108192"/>
            <a:ext cx="10607040" cy="274320"/>
          </a:xfrm>
          <a:prstGeom prst="rect">
            <a:avLst/>
          </a:prstGeom>
          <a:noFill/>
          <a:ln/>
        </p:spPr>
        <p:txBody>
          <a:bodyPr wrap="square" lIns="0" tIns="0" rIns="0" bIns="0" rtlCol="0" anchor="ctr"/>
          <a:lstStyle/>
          <a:p>
            <a:pPr marL="0" indent="0">
              <a:buNone/>
            </a:pPr>
            <a:r>
              <a:rPr lang="en-US" sz="1000" i="1" dirty="0">
                <a:solidFill>
                  <a:srgbClr val="5E6964"/>
                </a:solidFill>
              </a:rPr>
              <a:t>Source : exécution du notebook 3 (jumia-cpi 1.0.0), archives panel_CI_2026-10-14_1331.zip et officiel_CI_2026-10-14_1418.zip.</a:t>
            </a:r>
            <a:endParaRPr lang="en-US" sz="1000" dirty="0"/>
          </a:p>
        </p:txBody>
      </p:sp>
      <p:sp>
        <p:nvSpPr>
          <p:cNvPr id="25"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25</a:t>
            </a:fld>
            <a:endParaRPr lang="en-US"/>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04 · LABORATOIRE</a:t>
            </a:r>
            <a:endParaRPr lang="en-US" sz="1200" dirty="0"/>
          </a:p>
        </p:txBody>
      </p:sp>
      <p:sp>
        <p:nvSpPr>
          <p:cNvPr id="3" name="Point de progression 1"/>
          <p:cNvSpPr/>
          <p:nvPr/>
        </p:nvSpPr>
        <p:spPr>
          <a:xfrm>
            <a:off x="10561320" y="365760"/>
            <a:ext cx="128016" cy="128016"/>
          </a:xfrm>
          <a:prstGeom prst="ellipse">
            <a:avLst/>
          </a:prstGeom>
          <a:solidFill>
            <a:srgbClr val="D5DED9"/>
          </a:solidFill>
          <a:ln/>
        </p:spPr>
      </p:sp>
      <p:sp>
        <p:nvSpPr>
          <p:cNvPr id="4" name="Point de progression 2"/>
          <p:cNvSpPr/>
          <p:nvPr/>
        </p:nvSpPr>
        <p:spPr>
          <a:xfrm>
            <a:off x="10789920" y="365760"/>
            <a:ext cx="128016" cy="128016"/>
          </a:xfrm>
          <a:prstGeom prst="ellipse">
            <a:avLst/>
          </a:prstGeom>
          <a:solidFill>
            <a:srgbClr val="D5DED9"/>
          </a:solidFill>
          <a:ln/>
        </p:spPr>
      </p:sp>
      <p:sp>
        <p:nvSpPr>
          <p:cNvPr id="5" name="Point de progression 3"/>
          <p:cNvSpPr/>
          <p:nvPr/>
        </p:nvSpPr>
        <p:spPr>
          <a:xfrm>
            <a:off x="11018520" y="365760"/>
            <a:ext cx="128016" cy="128016"/>
          </a:xfrm>
          <a:prstGeom prst="ellipse">
            <a:avLst/>
          </a:prstGeom>
          <a:solidFill>
            <a:srgbClr val="D5DED9"/>
          </a:solidFill>
          <a:ln/>
        </p:spPr>
      </p:sp>
      <p:sp>
        <p:nvSpPr>
          <p:cNvPr id="6" name="Point de progression 4"/>
          <p:cNvSpPr/>
          <p:nvPr/>
        </p:nvSpPr>
        <p:spPr>
          <a:xfrm>
            <a:off x="11247120" y="365760"/>
            <a:ext cx="128016" cy="128016"/>
          </a:xfrm>
          <a:prstGeom prst="ellipse">
            <a:avLst/>
          </a:prstGeom>
          <a:solidFill>
            <a:srgbClr val="D49A00"/>
          </a:solidFill>
          <a:ln/>
        </p:spPr>
      </p:sp>
      <p:sp>
        <p:nvSpPr>
          <p:cNvPr id="7" name="Point de progression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Classer en COICOP : règles, modèle et banc d'essai</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On ne choisit pas une méthode d'avance : on la mesure, sur un jeu dont la bonne réponse est connue</a:t>
            </a:r>
            <a:endParaRPr lang="en-US" sz="1500" dirty="0"/>
          </a:p>
        </p:txBody>
      </p:sp>
      <p:sp>
        <p:nvSpPr>
          <p:cNvPr id="10" name="Cadre graphique sources classement"/>
          <p:cNvSpPr/>
          <p:nvPr/>
        </p:nvSpPr>
        <p:spPr>
          <a:xfrm>
            <a:off x="502920" y="1691640"/>
            <a:ext cx="4114800" cy="2743200"/>
          </a:xfrm>
          <a:prstGeom prst="roundRect">
            <a:avLst>
              <a:gd name="adj" fmla="val 2667"/>
            </a:avLst>
          </a:prstGeom>
          <a:solidFill>
            <a:srgbClr val="F4F7F5"/>
          </a:solidFill>
          <a:ln w="9525">
            <a:solidFill>
              <a:srgbClr val="D5DED9"/>
            </a:solidFill>
            <a:prstDash val="solid"/>
          </a:ln>
        </p:spPr>
      </p:sp>
      <p:graphicFrame>
        <p:nvGraphicFramePr>
          <p:cNvPr id="11" name="Graphique sources de classement"/>
          <p:cNvGraphicFramePr/>
          <p:nvPr/>
        </p:nvGraphicFramePr>
        <p:xfrm>
          <a:off x="548640" y="1737360"/>
          <a:ext cx="4023360" cy="2651760"/>
        </p:xfrm>
        <a:graphic>
          <a:graphicData uri="http://schemas.openxmlformats.org/drawingml/2006/chart">
            <c:chart xmlns:c="http://schemas.openxmlformats.org/drawingml/2006/chart" xmlns:r="http://schemas.openxmlformats.org/officeDocument/2006/relationships" r:id="rId3"/>
          </a:graphicData>
        </a:graphic>
      </p:graphicFrame>
      <p:sp>
        <p:nvSpPr>
          <p:cNvPr id="12" name="Capture banc d'essai cadre"/>
          <p:cNvSpPr/>
          <p:nvPr/>
        </p:nvSpPr>
        <p:spPr>
          <a:xfrm>
            <a:off x="4837176" y="1865376"/>
            <a:ext cx="6876288" cy="2006729"/>
          </a:xfrm>
          <a:prstGeom prst="rect">
            <a:avLst/>
          </a:prstGeom>
          <a:solidFill>
            <a:srgbClr val="FFFFFF"/>
          </a:solidFill>
          <a:ln w="9525">
            <a:solidFill>
              <a:srgbClr val="D5DED9"/>
            </a:solidFill>
            <a:prstDash val="solid"/>
          </a:ln>
        </p:spPr>
      </p:sp>
      <p:pic>
        <p:nvPicPr>
          <p:cNvPr id="13" name="Capture banc d'essai" descr="Capture banc d'essai"/>
          <p:cNvPicPr>
            <a:picLocks noChangeAspect="1"/>
          </p:cNvPicPr>
          <p:nvPr/>
        </p:nvPicPr>
        <p:blipFill>
          <a:blip r:embed="rId4"/>
          <a:stretch>
            <a:fillRect/>
          </a:stretch>
        </p:blipFill>
        <p:spPr>
          <a:xfrm>
            <a:off x="4892040" y="1920240"/>
            <a:ext cx="6766560" cy="1897001"/>
          </a:xfrm>
          <a:prstGeom prst="rect">
            <a:avLst/>
          </a:prstGeom>
        </p:spPr>
      </p:pic>
      <p:sp>
        <p:nvSpPr>
          <p:cNvPr id="14" name="Text 10"/>
          <p:cNvSpPr txBox="1"/>
          <p:nvPr/>
        </p:nvSpPr>
        <p:spPr>
          <a:xfrm>
            <a:off x="502920" y="4663440"/>
            <a:ext cx="1691640" cy="868680"/>
          </a:xfrm>
          <a:prstGeom prst="rect">
            <a:avLst/>
          </a:prstGeom>
          <a:noFill/>
          <a:ln/>
        </p:spPr>
        <p:txBody>
          <a:bodyPr wrap="square" lIns="0" tIns="0" rIns="0" bIns="0" rtlCol="0" anchor="ctr"/>
          <a:lstStyle/>
          <a:p>
            <a:pPr marL="0" indent="0">
              <a:buNone/>
            </a:pPr>
            <a:r>
              <a:rPr lang="en-US" sz="2800" b="1" dirty="0">
                <a:solidFill>
                  <a:srgbClr val="D49A00"/>
                </a:solidFill>
              </a:rPr>
              <a:t>99 %</a:t>
            </a:r>
            <a:endParaRPr lang="en-US" sz="2800" dirty="0"/>
          </a:p>
        </p:txBody>
      </p:sp>
      <p:sp>
        <p:nvSpPr>
          <p:cNvPr id="15" name="Text 11"/>
          <p:cNvSpPr txBox="1"/>
          <p:nvPr/>
        </p:nvSpPr>
        <p:spPr>
          <a:xfrm>
            <a:off x="2194560" y="4663440"/>
            <a:ext cx="1965960" cy="868680"/>
          </a:xfrm>
          <a:prstGeom prst="rect">
            <a:avLst/>
          </a:prstGeom>
          <a:noFill/>
          <a:ln/>
        </p:spPr>
        <p:txBody>
          <a:bodyPr wrap="square" lIns="0" tIns="0" rIns="0" bIns="0" rtlCol="0" anchor="ctr"/>
          <a:lstStyle/>
          <a:p>
            <a:pPr marL="0" indent="0">
              <a:buNone/>
            </a:pPr>
            <a:r>
              <a:rPr lang="en-US" sz="1300" dirty="0">
                <a:solidFill>
                  <a:srgbClr val="5E6964"/>
                </a:solidFill>
              </a:rPr>
              <a:t>F1 des règles sur le jeu synthétique : un contrôle de la chaîne, pas une preuve</a:t>
            </a:r>
            <a:endParaRPr lang="en-US" sz="1300" dirty="0"/>
          </a:p>
        </p:txBody>
      </p:sp>
      <p:sp>
        <p:nvSpPr>
          <p:cNvPr id="16" name="Text 12"/>
          <p:cNvSpPr txBox="1"/>
          <p:nvPr/>
        </p:nvSpPr>
        <p:spPr>
          <a:xfrm>
            <a:off x="4325112" y="4663440"/>
            <a:ext cx="1691640" cy="868680"/>
          </a:xfrm>
          <a:prstGeom prst="rect">
            <a:avLst/>
          </a:prstGeom>
          <a:noFill/>
          <a:ln/>
        </p:spPr>
        <p:txBody>
          <a:bodyPr wrap="square" lIns="0" tIns="0" rIns="0" bIns="0" rtlCol="0" anchor="ctr"/>
          <a:lstStyle/>
          <a:p>
            <a:pPr marL="0" indent="0">
              <a:buNone/>
            </a:pPr>
            <a:r>
              <a:rPr lang="en-US" sz="2800" b="1" dirty="0">
                <a:solidFill>
                  <a:srgbClr val="0E7C86"/>
                </a:solidFill>
              </a:rPr>
              <a:t>92 %</a:t>
            </a:r>
            <a:endParaRPr lang="en-US" sz="2800" dirty="0"/>
          </a:p>
        </p:txBody>
      </p:sp>
      <p:sp>
        <p:nvSpPr>
          <p:cNvPr id="17" name="Text 13"/>
          <p:cNvSpPr txBox="1"/>
          <p:nvPr/>
        </p:nvSpPr>
        <p:spPr>
          <a:xfrm>
            <a:off x="6016752" y="4663440"/>
            <a:ext cx="1965960" cy="868680"/>
          </a:xfrm>
          <a:prstGeom prst="rect">
            <a:avLst/>
          </a:prstGeom>
          <a:noFill/>
          <a:ln/>
        </p:spPr>
        <p:txBody>
          <a:bodyPr wrap="square" lIns="0" tIns="0" rIns="0" bIns="0" rtlCol="0" anchor="ctr"/>
          <a:lstStyle/>
          <a:p>
            <a:pPr marL="0" indent="0">
              <a:buNone/>
            </a:pPr>
            <a:r>
              <a:rPr lang="en-US" sz="1300" dirty="0">
                <a:solidFill>
                  <a:srgbClr val="5E6964"/>
                </a:solidFill>
              </a:rPr>
              <a:t>F1 macro du modèle de langage, avec des confusions transports / logement</a:t>
            </a:r>
            <a:endParaRPr lang="en-US" sz="1300" dirty="0"/>
          </a:p>
        </p:txBody>
      </p:sp>
      <p:sp>
        <p:nvSpPr>
          <p:cNvPr id="18" name="Text 14"/>
          <p:cNvSpPr txBox="1"/>
          <p:nvPr/>
        </p:nvSpPr>
        <p:spPr>
          <a:xfrm>
            <a:off x="8147304" y="4663440"/>
            <a:ext cx="1691640" cy="868680"/>
          </a:xfrm>
          <a:prstGeom prst="rect">
            <a:avLst/>
          </a:prstGeom>
          <a:noFill/>
          <a:ln/>
        </p:spPr>
        <p:txBody>
          <a:bodyPr wrap="square" lIns="0" tIns="0" rIns="0" bIns="0" rtlCol="0" anchor="ctr"/>
          <a:lstStyle/>
          <a:p>
            <a:pPr marL="0" indent="0">
              <a:buNone/>
            </a:pPr>
            <a:r>
              <a:rPr lang="en-US" sz="2800" b="1" dirty="0">
                <a:solidFill>
                  <a:srgbClr val="00A86A"/>
                </a:solidFill>
              </a:rPr>
              <a:t>× 3 894</a:t>
            </a:r>
            <a:endParaRPr lang="en-US" sz="2800" dirty="0"/>
          </a:p>
        </p:txBody>
      </p:sp>
      <p:sp>
        <p:nvSpPr>
          <p:cNvPr id="19" name="Text 15"/>
          <p:cNvSpPr txBox="1"/>
          <p:nvPr/>
        </p:nvSpPr>
        <p:spPr>
          <a:xfrm>
            <a:off x="9838944" y="4663440"/>
            <a:ext cx="1965960" cy="868680"/>
          </a:xfrm>
          <a:prstGeom prst="rect">
            <a:avLst/>
          </a:prstGeom>
          <a:noFill/>
          <a:ln/>
        </p:spPr>
        <p:txBody>
          <a:bodyPr wrap="square" lIns="0" tIns="0" rIns="0" bIns="0" rtlCol="0" anchor="ctr"/>
          <a:lstStyle/>
          <a:p>
            <a:pPr marL="0" indent="0">
              <a:buNone/>
            </a:pPr>
            <a:r>
              <a:rPr lang="en-US" sz="1300" dirty="0">
                <a:solidFill>
                  <a:srgbClr val="5E6964"/>
                </a:solidFill>
              </a:rPr>
              <a:t>vitesse des règles par rapport au modèle : des heures sur 10 000 produits</a:t>
            </a:r>
            <a:endParaRPr lang="en-US" sz="1300" dirty="0"/>
          </a:p>
        </p:txBody>
      </p:sp>
      <p:sp>
        <p:nvSpPr>
          <p:cNvPr id="20" name="Text 16"/>
          <p:cNvSpPr txBox="1"/>
          <p:nvPr/>
        </p:nvSpPr>
        <p:spPr>
          <a:xfrm>
            <a:off x="502920" y="5806440"/>
            <a:ext cx="10607040" cy="274320"/>
          </a:xfrm>
          <a:prstGeom prst="rect">
            <a:avLst/>
          </a:prstGeom>
          <a:noFill/>
          <a:ln/>
        </p:spPr>
        <p:txBody>
          <a:bodyPr wrap="square" lIns="0" tIns="0" rIns="0" bIns="0" rtlCol="0" anchor="ctr"/>
          <a:lstStyle/>
          <a:p>
            <a:pPr marL="0" indent="0">
              <a:buNone/>
            </a:pPr>
            <a:r>
              <a:rPr lang="en-US" sz="1000" i="1" dirty="0">
                <a:solidFill>
                  <a:srgbClr val="5E6964"/>
                </a:solidFill>
              </a:rPr>
              <a:t>Source : notebook 3, banc d'essai sur 380 produits annotés et 29 classes (jeu de démonstration). 94 produits réels sont prêts à être annotés pour un banc d'essai probant.</a:t>
            </a:r>
            <a:endParaRPr lang="en-US" sz="1000" dirty="0"/>
          </a:p>
        </p:txBody>
      </p:sp>
      <p:sp>
        <p:nvSpPr>
          <p:cNvPr id="25"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26</a:t>
            </a:fld>
            <a:endParaRPr lang="en-US"/>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04 · LABORATOIRE</a:t>
            </a:r>
            <a:endParaRPr lang="en-US" sz="1200" dirty="0"/>
          </a:p>
        </p:txBody>
      </p:sp>
      <p:sp>
        <p:nvSpPr>
          <p:cNvPr id="3" name="Point de progression 1"/>
          <p:cNvSpPr/>
          <p:nvPr/>
        </p:nvSpPr>
        <p:spPr>
          <a:xfrm>
            <a:off x="10561320" y="365760"/>
            <a:ext cx="128016" cy="128016"/>
          </a:xfrm>
          <a:prstGeom prst="ellipse">
            <a:avLst/>
          </a:prstGeom>
          <a:solidFill>
            <a:srgbClr val="D5DED9"/>
          </a:solidFill>
          <a:ln/>
        </p:spPr>
      </p:sp>
      <p:sp>
        <p:nvSpPr>
          <p:cNvPr id="4" name="Point de progression 2"/>
          <p:cNvSpPr/>
          <p:nvPr/>
        </p:nvSpPr>
        <p:spPr>
          <a:xfrm>
            <a:off x="10789920" y="365760"/>
            <a:ext cx="128016" cy="128016"/>
          </a:xfrm>
          <a:prstGeom prst="ellipse">
            <a:avLst/>
          </a:prstGeom>
          <a:solidFill>
            <a:srgbClr val="D5DED9"/>
          </a:solidFill>
          <a:ln/>
        </p:spPr>
      </p:sp>
      <p:sp>
        <p:nvSpPr>
          <p:cNvPr id="5" name="Point de progression 3"/>
          <p:cNvSpPr/>
          <p:nvPr/>
        </p:nvSpPr>
        <p:spPr>
          <a:xfrm>
            <a:off x="11018520" y="365760"/>
            <a:ext cx="128016" cy="128016"/>
          </a:xfrm>
          <a:prstGeom prst="ellipse">
            <a:avLst/>
          </a:prstGeom>
          <a:solidFill>
            <a:srgbClr val="D5DED9"/>
          </a:solidFill>
          <a:ln/>
        </p:spPr>
      </p:sp>
      <p:sp>
        <p:nvSpPr>
          <p:cNvPr id="6" name="Point de progression 4"/>
          <p:cNvSpPr/>
          <p:nvPr/>
        </p:nvSpPr>
        <p:spPr>
          <a:xfrm>
            <a:off x="11247120" y="365760"/>
            <a:ext cx="128016" cy="128016"/>
          </a:xfrm>
          <a:prstGeom prst="ellipse">
            <a:avLst/>
          </a:prstGeom>
          <a:solidFill>
            <a:srgbClr val="D49A00"/>
          </a:solidFill>
          <a:ln/>
        </p:spPr>
      </p:sp>
      <p:sp>
        <p:nvSpPr>
          <p:cNvPr id="7" name="Point de progression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Les promotions : la difficulté propre aux prix en ligne</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Part des produits affichant un prix barré, par division, collecte d'octobre 2026 en Côte d'Ivoire</a:t>
            </a:r>
            <a:endParaRPr lang="en-US" sz="1500" dirty="0"/>
          </a:p>
        </p:txBody>
      </p:sp>
      <p:sp>
        <p:nvSpPr>
          <p:cNvPr id="10" name="Cadre graphique promotions"/>
          <p:cNvSpPr/>
          <p:nvPr/>
        </p:nvSpPr>
        <p:spPr>
          <a:xfrm>
            <a:off x="502920" y="1691640"/>
            <a:ext cx="6949440" cy="4343400"/>
          </a:xfrm>
          <a:prstGeom prst="roundRect">
            <a:avLst>
              <a:gd name="adj" fmla="val 1684"/>
            </a:avLst>
          </a:prstGeom>
          <a:solidFill>
            <a:srgbClr val="F4F7F5"/>
          </a:solidFill>
          <a:ln w="9525">
            <a:solidFill>
              <a:srgbClr val="D5DED9"/>
            </a:solidFill>
            <a:prstDash val="solid"/>
          </a:ln>
        </p:spPr>
      </p:sp>
      <p:graphicFrame>
        <p:nvGraphicFramePr>
          <p:cNvPr id="11" name="Graphique prix barrés"/>
          <p:cNvGraphicFramePr/>
          <p:nvPr/>
        </p:nvGraphicFramePr>
        <p:xfrm>
          <a:off x="594360" y="1783080"/>
          <a:ext cx="676656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 9"/>
          <p:cNvSpPr txBox="1"/>
          <p:nvPr/>
        </p:nvSpPr>
        <p:spPr>
          <a:xfrm>
            <a:off x="7818120" y="1783080"/>
            <a:ext cx="3840480" cy="914400"/>
          </a:xfrm>
          <a:prstGeom prst="rect">
            <a:avLst/>
          </a:prstGeom>
          <a:noFill/>
          <a:ln/>
        </p:spPr>
        <p:txBody>
          <a:bodyPr wrap="square" lIns="0" tIns="0" rIns="0" bIns="0" rtlCol="0" anchor="ctr"/>
          <a:lstStyle/>
          <a:p>
            <a:pPr marL="0" indent="0">
              <a:buNone/>
            </a:pPr>
            <a:r>
              <a:rPr lang="en-US" sz="5200" b="1" dirty="0">
                <a:solidFill>
                  <a:srgbClr val="D49A00"/>
                </a:solidFill>
              </a:rPr>
              <a:t>83 %</a:t>
            </a:r>
            <a:endParaRPr lang="en-US" sz="5200" dirty="0"/>
          </a:p>
        </p:txBody>
      </p:sp>
      <p:sp>
        <p:nvSpPr>
          <p:cNvPr id="13" name="Text 10"/>
          <p:cNvSpPr txBox="1"/>
          <p:nvPr/>
        </p:nvSpPr>
        <p:spPr>
          <a:xfrm>
            <a:off x="7818120" y="2697480"/>
            <a:ext cx="3840480" cy="685800"/>
          </a:xfrm>
          <a:prstGeom prst="rect">
            <a:avLst/>
          </a:prstGeom>
          <a:noFill/>
          <a:ln/>
        </p:spPr>
        <p:txBody>
          <a:bodyPr wrap="square" lIns="0" tIns="0" rIns="0" bIns="0" rtlCol="0" anchor="t"/>
          <a:lstStyle/>
          <a:p>
            <a:pPr marL="0" indent="0">
              <a:buNone/>
            </a:pPr>
            <a:r>
              <a:rPr lang="en-US" sz="1500" dirty="0">
                <a:solidFill>
                  <a:srgbClr val="5E6964"/>
                </a:solidFill>
              </a:rPr>
              <a:t>des articles d'habillement affichent un prix barré, contre 9 % en alimentation</a:t>
            </a:r>
            <a:endParaRPr lang="en-US" sz="1500" dirty="0"/>
          </a:p>
        </p:txBody>
      </p:sp>
      <p:sp>
        <p:nvSpPr>
          <p:cNvPr id="14" name="Encadré laboratoire"/>
          <p:cNvSpPr/>
          <p:nvPr/>
        </p:nvSpPr>
        <p:spPr>
          <a:xfrm>
            <a:off x="7818120" y="3566160"/>
            <a:ext cx="3840480" cy="2377440"/>
          </a:xfrm>
          <a:prstGeom prst="roundRect">
            <a:avLst>
              <a:gd name="adj" fmla="val 3077"/>
            </a:avLst>
          </a:prstGeom>
          <a:solidFill>
            <a:srgbClr val="E8F5EF"/>
          </a:solidFill>
          <a:ln w="19050">
            <a:solidFill>
              <a:srgbClr val="00A86A"/>
            </a:solidFill>
            <a:prstDash val="solid"/>
          </a:ln>
        </p:spPr>
      </p:sp>
      <p:sp>
        <p:nvSpPr>
          <p:cNvPr id="15" name="Text 12"/>
          <p:cNvSpPr txBox="1"/>
          <p:nvPr/>
        </p:nvSpPr>
        <p:spPr>
          <a:xfrm>
            <a:off x="8046720" y="3657600"/>
            <a:ext cx="3474720" cy="365760"/>
          </a:xfrm>
          <a:prstGeom prst="rect">
            <a:avLst/>
          </a:prstGeom>
          <a:noFill/>
          <a:ln/>
        </p:spPr>
        <p:txBody>
          <a:bodyPr wrap="square" lIns="0" tIns="0" rIns="0" bIns="0" rtlCol="0" anchor="ctr"/>
          <a:lstStyle/>
          <a:p>
            <a:pPr marL="0" indent="0">
              <a:buNone/>
            </a:pPr>
            <a:r>
              <a:rPr lang="en-US" sz="1600" b="1" dirty="0">
                <a:solidFill>
                  <a:srgbClr val="231F20"/>
                </a:solidFill>
              </a:rPr>
              <a:t>Ce que fait le laboratoire</a:t>
            </a:r>
            <a:endParaRPr lang="en-US" sz="1600" dirty="0"/>
          </a:p>
        </p:txBody>
      </p:sp>
      <p:sp>
        <p:nvSpPr>
          <p:cNvPr id="16" name="Text 13"/>
          <p:cNvSpPr txBox="1"/>
          <p:nvPr/>
        </p:nvSpPr>
        <p:spPr>
          <a:xfrm>
            <a:off x="8046720" y="4069080"/>
            <a:ext cx="3474720" cy="1828800"/>
          </a:xfrm>
          <a:prstGeom prst="rect">
            <a:avLst/>
          </a:prstGeom>
          <a:noFill/>
          <a:ln/>
        </p:spPr>
        <p:txBody>
          <a:bodyPr wrap="square" lIns="0" tIns="0" rIns="0" bIns="0" rtlCol="0" anchor="t"/>
          <a:lstStyle/>
          <a:p>
            <a:pPr marL="342900" indent="-342900">
              <a:spcAft>
                <a:spcPts val="500"/>
              </a:spcAft>
              <a:buSzPct val="100000"/>
              <a:buChar char="•"/>
            </a:pPr>
            <a:r>
              <a:rPr lang="en-US" sz="1350" dirty="0">
                <a:solidFill>
                  <a:srgbClr val="231F20"/>
                </a:solidFill>
              </a:rPr>
              <a:t>Calcule l'indice sur prix affichés et sur prix hors promotion</a:t>
            </a:r>
            <a:endParaRPr lang="en-US" sz="1350" dirty="0"/>
          </a:p>
          <a:p>
            <a:pPr marL="342900" indent="-342900">
              <a:spcAft>
                <a:spcPts val="500"/>
              </a:spcAft>
              <a:buSzPct val="100000"/>
              <a:buChar char="•"/>
            </a:pPr>
            <a:r>
              <a:rPr lang="en-US" sz="1350" dirty="0">
                <a:solidFill>
                  <a:srgbClr val="231F20"/>
                </a:solidFill>
              </a:rPr>
              <a:t>Recommande trois relevés par mois, agrégés par moyenne géométrique</a:t>
            </a:r>
            <a:endParaRPr lang="en-US" sz="1350" dirty="0"/>
          </a:p>
          <a:p>
            <a:pPr marL="342900" indent="-342900">
              <a:spcAft>
                <a:spcPts val="500"/>
              </a:spcAft>
              <a:buSzPct val="100000"/>
              <a:buChar char="•"/>
            </a:pPr>
            <a:r>
              <a:rPr lang="en-US" sz="1350" dirty="0">
                <a:solidFill>
                  <a:srgbClr val="231F20"/>
                </a:solidFill>
              </a:rPr>
              <a:t>Retient le Jevons, et montre la dérive du Carli</a:t>
            </a:r>
            <a:endParaRPr lang="en-US" sz="1350" dirty="0"/>
          </a:p>
        </p:txBody>
      </p:sp>
      <p:sp>
        <p:nvSpPr>
          <p:cNvPr id="17" name="Text 14"/>
          <p:cNvSpPr txBox="1"/>
          <p:nvPr/>
        </p:nvSpPr>
        <p:spPr>
          <a:xfrm>
            <a:off x="502920" y="6108192"/>
            <a:ext cx="10607040" cy="274320"/>
          </a:xfrm>
          <a:prstGeom prst="rect">
            <a:avLst/>
          </a:prstGeom>
          <a:noFill/>
          <a:ln/>
        </p:spPr>
        <p:txBody>
          <a:bodyPr wrap="square" lIns="0" tIns="0" rIns="0" bIns="0" rtlCol="0" anchor="ctr"/>
          <a:lstStyle/>
          <a:p>
            <a:pPr marL="0" indent="0">
              <a:buNone/>
            </a:pPr>
            <a:r>
              <a:rPr lang="en-US" sz="1000" i="1" dirty="0">
                <a:solidFill>
                  <a:srgbClr val="5E6964"/>
                </a:solidFill>
              </a:rPr>
              <a:t>Source : notebook 3, figure « Fréquence des prix barrés par division et par mois ». Divisions 02 et 07 exclues (moins de 10 produits).</a:t>
            </a:r>
            <a:endParaRPr lang="en-US" sz="1000" dirty="0"/>
          </a:p>
        </p:txBody>
      </p:sp>
      <p:sp>
        <p:nvSpPr>
          <p:cNvPr id="25"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27</a:t>
            </a:fld>
            <a:endParaRPr lang="en-US"/>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04 · LABORATOIRE</a:t>
            </a:r>
            <a:endParaRPr lang="en-US" sz="1200" dirty="0"/>
          </a:p>
        </p:txBody>
      </p:sp>
      <p:sp>
        <p:nvSpPr>
          <p:cNvPr id="3" name="Point de progression 1"/>
          <p:cNvSpPr/>
          <p:nvPr/>
        </p:nvSpPr>
        <p:spPr>
          <a:xfrm>
            <a:off x="10561320" y="365760"/>
            <a:ext cx="128016" cy="128016"/>
          </a:xfrm>
          <a:prstGeom prst="ellipse">
            <a:avLst/>
          </a:prstGeom>
          <a:solidFill>
            <a:srgbClr val="D5DED9"/>
          </a:solidFill>
          <a:ln/>
        </p:spPr>
      </p:sp>
      <p:sp>
        <p:nvSpPr>
          <p:cNvPr id="4" name="Point de progression 2"/>
          <p:cNvSpPr/>
          <p:nvPr/>
        </p:nvSpPr>
        <p:spPr>
          <a:xfrm>
            <a:off x="10789920" y="365760"/>
            <a:ext cx="128016" cy="128016"/>
          </a:xfrm>
          <a:prstGeom prst="ellipse">
            <a:avLst/>
          </a:prstGeom>
          <a:solidFill>
            <a:srgbClr val="D5DED9"/>
          </a:solidFill>
          <a:ln/>
        </p:spPr>
      </p:sp>
      <p:sp>
        <p:nvSpPr>
          <p:cNvPr id="5" name="Point de progression 3"/>
          <p:cNvSpPr/>
          <p:nvPr/>
        </p:nvSpPr>
        <p:spPr>
          <a:xfrm>
            <a:off x="11018520" y="365760"/>
            <a:ext cx="128016" cy="128016"/>
          </a:xfrm>
          <a:prstGeom prst="ellipse">
            <a:avLst/>
          </a:prstGeom>
          <a:solidFill>
            <a:srgbClr val="D5DED9"/>
          </a:solidFill>
          <a:ln/>
        </p:spPr>
      </p:sp>
      <p:sp>
        <p:nvSpPr>
          <p:cNvPr id="6" name="Point de progression 4"/>
          <p:cNvSpPr/>
          <p:nvPr/>
        </p:nvSpPr>
        <p:spPr>
          <a:xfrm>
            <a:off x="11247120" y="365760"/>
            <a:ext cx="128016" cy="128016"/>
          </a:xfrm>
          <a:prstGeom prst="ellipse">
            <a:avLst/>
          </a:prstGeom>
          <a:solidFill>
            <a:srgbClr val="D49A00"/>
          </a:solidFill>
          <a:ln/>
        </p:spPr>
      </p:sp>
      <p:sp>
        <p:nvSpPr>
          <p:cNvPr id="7" name="Point de progression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Ce que cet indice mesure, et ce qu'il ne mesure pas</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Un indicateur complémentaire de l'IPC officiel, à présenter avec ses limites</a:t>
            </a:r>
            <a:endParaRPr lang="en-US" sz="1500" dirty="0"/>
          </a:p>
        </p:txBody>
      </p:sp>
      <p:sp>
        <p:nvSpPr>
          <p:cNvPr id="10" name="Limite 1"/>
          <p:cNvSpPr/>
          <p:nvPr/>
        </p:nvSpPr>
        <p:spPr>
          <a:xfrm>
            <a:off x="502920" y="1737360"/>
            <a:ext cx="6675120" cy="804672"/>
          </a:xfrm>
          <a:prstGeom prst="roundRect">
            <a:avLst>
              <a:gd name="adj" fmla="val 9091"/>
            </a:avLst>
          </a:prstGeom>
          <a:solidFill>
            <a:srgbClr val="F4F7F5"/>
          </a:solidFill>
          <a:ln w="9525">
            <a:solidFill>
              <a:srgbClr val="D5DED9"/>
            </a:solidFill>
            <a:prstDash val="solid"/>
          </a:ln>
        </p:spPr>
      </p:sp>
      <p:sp>
        <p:nvSpPr>
          <p:cNvPr id="11" name="Limite 1 cercle"/>
          <p:cNvSpPr/>
          <p:nvPr/>
        </p:nvSpPr>
        <p:spPr>
          <a:xfrm>
            <a:off x="658368" y="1865376"/>
            <a:ext cx="548640" cy="548640"/>
          </a:xfrm>
          <a:prstGeom prst="ellipse">
            <a:avLst/>
          </a:prstGeom>
          <a:solidFill>
            <a:srgbClr val="B83B2E">
              <a:alpha val="22000"/>
            </a:srgbClr>
          </a:solidFill>
          <a:ln/>
        </p:spPr>
      </p:sp>
      <p:pic>
        <p:nvPicPr>
          <p:cNvPr id="12" name="Limite 1 icône" descr="preencoded.png"/>
          <p:cNvPicPr>
            <a:picLocks noChangeAspect="1"/>
          </p:cNvPicPr>
          <p:nvPr/>
        </p:nvPicPr>
        <p:blipFill>
          <a:blip r:embed="rId3"/>
          <a:stretch>
            <a:fillRect/>
          </a:stretch>
        </p:blipFill>
        <p:spPr>
          <a:xfrm>
            <a:off x="795528" y="2002536"/>
            <a:ext cx="274320" cy="274320"/>
          </a:xfrm>
          <a:prstGeom prst="rect">
            <a:avLst/>
          </a:prstGeom>
        </p:spPr>
      </p:pic>
      <p:sp>
        <p:nvSpPr>
          <p:cNvPr id="13" name="Text 10"/>
          <p:cNvSpPr txBox="1"/>
          <p:nvPr/>
        </p:nvSpPr>
        <p:spPr>
          <a:xfrm>
            <a:off x="1371600" y="1737360"/>
            <a:ext cx="5669280" cy="804672"/>
          </a:xfrm>
          <a:prstGeom prst="rect">
            <a:avLst/>
          </a:prstGeom>
          <a:noFill/>
          <a:ln/>
        </p:spPr>
        <p:txBody>
          <a:bodyPr wrap="square" lIns="0" tIns="0" rIns="0" bIns="0" rtlCol="0" anchor="ctr"/>
          <a:lstStyle/>
          <a:p>
            <a:pPr marL="0" indent="0">
              <a:buNone/>
            </a:pPr>
            <a:r>
              <a:rPr lang="en-US" sz="1400" b="1" dirty="0">
                <a:solidFill>
                  <a:srgbClr val="231F20"/>
                </a:solidFill>
              </a:rPr>
              <a:t>Acheteurs urbains et connectés : </a:t>
            </a:r>
            <a:r>
              <a:rPr lang="en-US" sz="1400" dirty="0">
                <a:solidFill>
                  <a:srgbClr val="5E6964"/>
                </a:solidFill>
              </a:rPr>
              <a:t>les marchés de plein air et l'informel ne sont couverts que via l'OCPV</a:t>
            </a:r>
            <a:endParaRPr lang="en-US" sz="1400" dirty="0"/>
          </a:p>
        </p:txBody>
      </p:sp>
      <p:sp>
        <p:nvSpPr>
          <p:cNvPr id="14" name="Limite 2"/>
          <p:cNvSpPr/>
          <p:nvPr/>
        </p:nvSpPr>
        <p:spPr>
          <a:xfrm>
            <a:off x="502920" y="2670048"/>
            <a:ext cx="6675120" cy="804672"/>
          </a:xfrm>
          <a:prstGeom prst="roundRect">
            <a:avLst>
              <a:gd name="adj" fmla="val 9091"/>
            </a:avLst>
          </a:prstGeom>
          <a:solidFill>
            <a:srgbClr val="F4F7F5"/>
          </a:solidFill>
          <a:ln w="9525">
            <a:solidFill>
              <a:srgbClr val="D5DED9"/>
            </a:solidFill>
            <a:prstDash val="solid"/>
          </a:ln>
        </p:spPr>
      </p:sp>
      <p:sp>
        <p:nvSpPr>
          <p:cNvPr id="15" name="Limite 2 cercle"/>
          <p:cNvSpPr/>
          <p:nvPr/>
        </p:nvSpPr>
        <p:spPr>
          <a:xfrm>
            <a:off x="658368" y="2798064"/>
            <a:ext cx="548640" cy="548640"/>
          </a:xfrm>
          <a:prstGeom prst="ellipse">
            <a:avLst/>
          </a:prstGeom>
          <a:solidFill>
            <a:srgbClr val="B83B2E">
              <a:alpha val="22000"/>
            </a:srgbClr>
          </a:solidFill>
          <a:ln/>
        </p:spPr>
      </p:sp>
      <p:pic>
        <p:nvPicPr>
          <p:cNvPr id="16" name="Limite 2 icône" descr="preencoded.png"/>
          <p:cNvPicPr>
            <a:picLocks noChangeAspect="1"/>
          </p:cNvPicPr>
          <p:nvPr/>
        </p:nvPicPr>
        <p:blipFill>
          <a:blip r:embed="rId4"/>
          <a:stretch>
            <a:fillRect/>
          </a:stretch>
        </p:blipFill>
        <p:spPr>
          <a:xfrm>
            <a:off x="795528" y="2935224"/>
            <a:ext cx="274320" cy="274320"/>
          </a:xfrm>
          <a:prstGeom prst="rect">
            <a:avLst/>
          </a:prstGeom>
        </p:spPr>
      </p:pic>
      <p:sp>
        <p:nvSpPr>
          <p:cNvPr id="17" name="Text 13"/>
          <p:cNvSpPr txBox="1"/>
          <p:nvPr/>
        </p:nvSpPr>
        <p:spPr>
          <a:xfrm>
            <a:off x="1371600" y="2670048"/>
            <a:ext cx="5669280" cy="804672"/>
          </a:xfrm>
          <a:prstGeom prst="rect">
            <a:avLst/>
          </a:prstGeom>
          <a:noFill/>
          <a:ln/>
        </p:spPr>
        <p:txBody>
          <a:bodyPr wrap="square" lIns="0" tIns="0" rIns="0" bIns="0" rtlCol="0" anchor="ctr"/>
          <a:lstStyle/>
          <a:p>
            <a:pPr marL="0" indent="0">
              <a:buNone/>
            </a:pPr>
            <a:r>
              <a:rPr lang="en-US" sz="1400" b="1" dirty="0">
                <a:solidFill>
                  <a:srgbClr val="231F20"/>
                </a:solidFill>
              </a:rPr>
              <a:t>Surtout des biens : </a:t>
            </a:r>
            <a:r>
              <a:rPr lang="en-US" sz="1400" dirty="0">
                <a:solidFill>
                  <a:srgbClr val="5E6964"/>
                </a:solidFill>
              </a:rPr>
              <a:t>logement, transports, santé, éducation restent peu ou pas couverts</a:t>
            </a:r>
            <a:endParaRPr lang="en-US" sz="1400" dirty="0"/>
          </a:p>
        </p:txBody>
      </p:sp>
      <p:sp>
        <p:nvSpPr>
          <p:cNvPr id="18" name="Limite 3"/>
          <p:cNvSpPr/>
          <p:nvPr/>
        </p:nvSpPr>
        <p:spPr>
          <a:xfrm>
            <a:off x="502920" y="3602736"/>
            <a:ext cx="6675120" cy="804672"/>
          </a:xfrm>
          <a:prstGeom prst="roundRect">
            <a:avLst>
              <a:gd name="adj" fmla="val 9091"/>
            </a:avLst>
          </a:prstGeom>
          <a:solidFill>
            <a:srgbClr val="F4F7F5"/>
          </a:solidFill>
          <a:ln w="9525">
            <a:solidFill>
              <a:srgbClr val="D5DED9"/>
            </a:solidFill>
            <a:prstDash val="solid"/>
          </a:ln>
        </p:spPr>
      </p:sp>
      <p:sp>
        <p:nvSpPr>
          <p:cNvPr id="19" name="Limite 3 cercle"/>
          <p:cNvSpPr/>
          <p:nvPr/>
        </p:nvSpPr>
        <p:spPr>
          <a:xfrm>
            <a:off x="658368" y="3730752"/>
            <a:ext cx="548640" cy="548640"/>
          </a:xfrm>
          <a:prstGeom prst="ellipse">
            <a:avLst/>
          </a:prstGeom>
          <a:solidFill>
            <a:srgbClr val="B83B2E">
              <a:alpha val="22000"/>
            </a:srgbClr>
          </a:solidFill>
          <a:ln/>
        </p:spPr>
      </p:sp>
      <p:pic>
        <p:nvPicPr>
          <p:cNvPr id="20" name="Limite 3 icône" descr="preencoded.png"/>
          <p:cNvPicPr>
            <a:picLocks noChangeAspect="1"/>
          </p:cNvPicPr>
          <p:nvPr/>
        </p:nvPicPr>
        <p:blipFill>
          <a:blip r:embed="rId5"/>
          <a:stretch>
            <a:fillRect/>
          </a:stretch>
        </p:blipFill>
        <p:spPr>
          <a:xfrm>
            <a:off x="795528" y="3867912"/>
            <a:ext cx="274320" cy="274320"/>
          </a:xfrm>
          <a:prstGeom prst="rect">
            <a:avLst/>
          </a:prstGeom>
        </p:spPr>
      </p:pic>
      <p:sp>
        <p:nvSpPr>
          <p:cNvPr id="21" name="Text 16"/>
          <p:cNvSpPr txBox="1"/>
          <p:nvPr/>
        </p:nvSpPr>
        <p:spPr>
          <a:xfrm>
            <a:off x="1371600" y="3602736"/>
            <a:ext cx="5669280" cy="804672"/>
          </a:xfrm>
          <a:prstGeom prst="rect">
            <a:avLst/>
          </a:prstGeom>
          <a:noFill/>
          <a:ln/>
        </p:spPr>
        <p:txBody>
          <a:bodyPr wrap="square" lIns="0" tIns="0" rIns="0" bIns="0" rtlCol="0" anchor="ctr"/>
          <a:lstStyle/>
          <a:p>
            <a:pPr marL="0" indent="0">
              <a:buNone/>
            </a:pPr>
            <a:r>
              <a:rPr lang="en-US" sz="1400" b="1" dirty="0">
                <a:solidFill>
                  <a:srgbClr val="231F20"/>
                </a:solidFill>
              </a:rPr>
              <a:t>Prix affichés, pas payés : </a:t>
            </a:r>
            <a:r>
              <a:rPr lang="en-US" sz="1400" dirty="0">
                <a:solidFill>
                  <a:srgbClr val="5E6964"/>
                </a:solidFill>
              </a:rPr>
              <a:t>pas de quantités vendues ; les promotions pèsent</a:t>
            </a:r>
            <a:endParaRPr lang="en-US" sz="1400" dirty="0"/>
          </a:p>
        </p:txBody>
      </p:sp>
      <p:sp>
        <p:nvSpPr>
          <p:cNvPr id="22" name="Limite 4"/>
          <p:cNvSpPr/>
          <p:nvPr/>
        </p:nvSpPr>
        <p:spPr>
          <a:xfrm>
            <a:off x="502920" y="4535424"/>
            <a:ext cx="6675120" cy="804672"/>
          </a:xfrm>
          <a:prstGeom prst="roundRect">
            <a:avLst>
              <a:gd name="adj" fmla="val 9091"/>
            </a:avLst>
          </a:prstGeom>
          <a:solidFill>
            <a:srgbClr val="F4F7F5"/>
          </a:solidFill>
          <a:ln w="9525">
            <a:solidFill>
              <a:srgbClr val="D5DED9"/>
            </a:solidFill>
            <a:prstDash val="solid"/>
          </a:ln>
        </p:spPr>
      </p:sp>
      <p:sp>
        <p:nvSpPr>
          <p:cNvPr id="23" name="Limite 4 cercle"/>
          <p:cNvSpPr/>
          <p:nvPr/>
        </p:nvSpPr>
        <p:spPr>
          <a:xfrm>
            <a:off x="658368" y="4663440"/>
            <a:ext cx="548640" cy="548640"/>
          </a:xfrm>
          <a:prstGeom prst="ellipse">
            <a:avLst/>
          </a:prstGeom>
          <a:solidFill>
            <a:srgbClr val="B83B2E">
              <a:alpha val="22000"/>
            </a:srgbClr>
          </a:solidFill>
          <a:ln/>
        </p:spPr>
      </p:sp>
      <p:pic>
        <p:nvPicPr>
          <p:cNvPr id="24" name="Limite 4 icône" descr="preencoded.png"/>
          <p:cNvPicPr>
            <a:picLocks noChangeAspect="1"/>
          </p:cNvPicPr>
          <p:nvPr/>
        </p:nvPicPr>
        <p:blipFill>
          <a:blip r:embed="rId6"/>
          <a:stretch>
            <a:fillRect/>
          </a:stretch>
        </p:blipFill>
        <p:spPr>
          <a:xfrm>
            <a:off x="795528" y="4800600"/>
            <a:ext cx="274320" cy="274320"/>
          </a:xfrm>
          <a:prstGeom prst="rect">
            <a:avLst/>
          </a:prstGeom>
        </p:spPr>
      </p:pic>
      <p:sp>
        <p:nvSpPr>
          <p:cNvPr id="25" name="Text 19"/>
          <p:cNvSpPr txBox="1"/>
          <p:nvPr/>
        </p:nvSpPr>
        <p:spPr>
          <a:xfrm>
            <a:off x="1371600" y="4535424"/>
            <a:ext cx="5669280" cy="804672"/>
          </a:xfrm>
          <a:prstGeom prst="rect">
            <a:avLst/>
          </a:prstGeom>
          <a:noFill/>
          <a:ln/>
        </p:spPr>
        <p:txBody>
          <a:bodyPr wrap="square" lIns="0" tIns="0" rIns="0" bIns="0" rtlCol="0" anchor="ctr"/>
          <a:lstStyle/>
          <a:p>
            <a:pPr marL="0" indent="0">
              <a:buNone/>
            </a:pPr>
            <a:r>
              <a:rPr lang="en-US" sz="1400" b="1" dirty="0">
                <a:solidFill>
                  <a:srgbClr val="231F20"/>
                </a:solidFill>
              </a:rPr>
              <a:t>Catalogue très mobile : </a:t>
            </a:r>
            <a:r>
              <a:rPr lang="en-US" sz="1400" dirty="0">
                <a:solidFill>
                  <a:srgbClr val="5E6964"/>
                </a:solidFill>
              </a:rPr>
              <a:t>2 900 entrées de produits en octobre ; les nouveautés n'entrent qu'au mois suivant</a:t>
            </a:r>
            <a:endParaRPr lang="en-US" sz="1400" dirty="0"/>
          </a:p>
        </p:txBody>
      </p:sp>
      <p:sp>
        <p:nvSpPr>
          <p:cNvPr id="26" name="Encadré avant diffusion"/>
          <p:cNvSpPr/>
          <p:nvPr/>
        </p:nvSpPr>
        <p:spPr>
          <a:xfrm>
            <a:off x="7498080" y="1737360"/>
            <a:ext cx="4160520" cy="3611880"/>
          </a:xfrm>
          <a:prstGeom prst="roundRect">
            <a:avLst>
              <a:gd name="adj" fmla="val 2025"/>
            </a:avLst>
          </a:prstGeom>
          <a:solidFill>
            <a:srgbClr val="E8F5EF"/>
          </a:solidFill>
          <a:ln w="19050">
            <a:solidFill>
              <a:srgbClr val="00A86A"/>
            </a:solidFill>
            <a:prstDash val="solid"/>
          </a:ln>
        </p:spPr>
      </p:sp>
      <p:sp>
        <p:nvSpPr>
          <p:cNvPr id="27" name="Text 21"/>
          <p:cNvSpPr txBox="1"/>
          <p:nvPr/>
        </p:nvSpPr>
        <p:spPr>
          <a:xfrm>
            <a:off x="7772400" y="1874520"/>
            <a:ext cx="3657600" cy="411480"/>
          </a:xfrm>
          <a:prstGeom prst="rect">
            <a:avLst/>
          </a:prstGeom>
          <a:noFill/>
          <a:ln/>
        </p:spPr>
        <p:txBody>
          <a:bodyPr wrap="square" lIns="0" tIns="0" rIns="0" bIns="0" rtlCol="0" anchor="ctr"/>
          <a:lstStyle/>
          <a:p>
            <a:pPr marL="0" indent="0">
              <a:buNone/>
            </a:pPr>
            <a:r>
              <a:rPr lang="en-US" sz="1700" b="1" dirty="0">
                <a:solidFill>
                  <a:srgbClr val="231F20"/>
                </a:solidFill>
              </a:rPr>
              <a:t>Avant de diffuser un chiffre</a:t>
            </a:r>
            <a:endParaRPr lang="en-US" sz="1700" dirty="0"/>
          </a:p>
        </p:txBody>
      </p:sp>
      <p:sp>
        <p:nvSpPr>
          <p:cNvPr id="28" name="Text 22"/>
          <p:cNvSpPr txBox="1"/>
          <p:nvPr/>
        </p:nvSpPr>
        <p:spPr>
          <a:xfrm>
            <a:off x="7772400" y="2377440"/>
            <a:ext cx="3657600" cy="2834640"/>
          </a:xfrm>
          <a:prstGeom prst="rect">
            <a:avLst/>
          </a:prstGeom>
          <a:noFill/>
          <a:ln/>
        </p:spPr>
        <p:txBody>
          <a:bodyPr wrap="square" lIns="0" tIns="0" rIns="0" bIns="0" rtlCol="0" anchor="t"/>
          <a:lstStyle/>
          <a:p>
            <a:pPr marL="342900" indent="-342900">
              <a:spcAft>
                <a:spcPts val="800"/>
              </a:spcAft>
              <a:buSzPct val="100000"/>
              <a:buChar char="•"/>
            </a:pPr>
            <a:r>
              <a:rPr lang="en-US" sz="1450" dirty="0">
                <a:solidFill>
                  <a:srgbClr val="231F20"/>
                </a:solidFill>
              </a:rPr>
              <a:t>Pondérations de l'institut, pas des parts égales</a:t>
            </a:r>
            <a:endParaRPr lang="en-US" sz="1450" dirty="0"/>
          </a:p>
          <a:p>
            <a:pPr marL="342900" indent="-342900">
              <a:spcAft>
                <a:spcPts val="800"/>
              </a:spcAft>
              <a:buSzPct val="100000"/>
              <a:buChar char="•"/>
            </a:pPr>
            <a:r>
              <a:rPr lang="en-US" sz="1450" dirty="0">
                <a:solidFill>
                  <a:srgbClr val="231F20"/>
                </a:solidFill>
              </a:rPr>
              <a:t>Fichier avec manifeste de provenance</a:t>
            </a:r>
            <a:endParaRPr lang="en-US" sz="1450" dirty="0"/>
          </a:p>
          <a:p>
            <a:pPr marL="342900" indent="-342900">
              <a:spcAft>
                <a:spcPts val="800"/>
              </a:spcAft>
              <a:buSzPct val="100000"/>
              <a:buChar char="•"/>
            </a:pPr>
            <a:r>
              <a:rPr lang="en-US" sz="1450" dirty="0">
                <a:solidFill>
                  <a:srgbClr val="231F20"/>
                </a:solidFill>
              </a:rPr>
              <a:t>Pas le jeu de démonstration</a:t>
            </a:r>
            <a:endParaRPr lang="en-US" sz="1450" dirty="0"/>
          </a:p>
          <a:p>
            <a:pPr marL="342900" indent="-342900">
              <a:spcAft>
                <a:spcPts val="800"/>
              </a:spcAft>
              <a:buSzPct val="100000"/>
              <a:buChar char="•"/>
            </a:pPr>
            <a:r>
              <a:rPr lang="en-US" sz="1450" dirty="0">
                <a:solidFill>
                  <a:srgbClr val="231F20"/>
                </a:solidFill>
              </a:rPr>
              <a:t>Banc d'essai sur vos propres données</a:t>
            </a:r>
            <a:endParaRPr lang="en-US" sz="1450" dirty="0"/>
          </a:p>
          <a:p>
            <a:pPr marL="342900" indent="-342900">
              <a:spcAft>
                <a:spcPts val="800"/>
              </a:spcAft>
              <a:buSzPct val="100000"/>
              <a:buChar char="•"/>
            </a:pPr>
            <a:r>
              <a:rPr lang="en-US" sz="1450" dirty="0">
                <a:solidFill>
                  <a:srgbClr val="231F20"/>
                </a:solidFill>
              </a:rPr>
              <a:t>Au moins deux mois de relevés</a:t>
            </a:r>
            <a:endParaRPr lang="en-US" sz="1450" dirty="0"/>
          </a:p>
        </p:txBody>
      </p:sp>
      <p:sp>
        <p:nvSpPr>
          <p:cNvPr id="29" name="Encadré état du laboratoire"/>
          <p:cNvSpPr/>
          <p:nvPr/>
        </p:nvSpPr>
        <p:spPr>
          <a:xfrm>
            <a:off x="502920" y="5559552"/>
            <a:ext cx="11155680" cy="548640"/>
          </a:xfrm>
          <a:prstGeom prst="roundRect">
            <a:avLst>
              <a:gd name="adj" fmla="val 13333"/>
            </a:avLst>
          </a:prstGeom>
          <a:solidFill>
            <a:srgbClr val="D49A00">
              <a:alpha val="13000"/>
            </a:srgbClr>
          </a:solidFill>
          <a:ln w="12700">
            <a:solidFill>
              <a:srgbClr val="D49A00"/>
            </a:solidFill>
            <a:prstDash val="solid"/>
          </a:ln>
        </p:spPr>
      </p:sp>
      <p:pic>
        <p:nvPicPr>
          <p:cNvPr id="30" name="Encadré état du laboratoire icône" descr="preencoded.png"/>
          <p:cNvPicPr>
            <a:picLocks noChangeAspect="1"/>
          </p:cNvPicPr>
          <p:nvPr/>
        </p:nvPicPr>
        <p:blipFill>
          <a:blip r:embed="rId7"/>
          <a:stretch>
            <a:fillRect/>
          </a:stretch>
        </p:blipFill>
        <p:spPr>
          <a:xfrm>
            <a:off x="685800" y="5687568"/>
            <a:ext cx="292608" cy="292608"/>
          </a:xfrm>
          <a:prstGeom prst="rect">
            <a:avLst/>
          </a:prstGeom>
        </p:spPr>
      </p:pic>
      <p:sp>
        <p:nvSpPr>
          <p:cNvPr id="31" name="Text 24"/>
          <p:cNvSpPr txBox="1"/>
          <p:nvPr/>
        </p:nvSpPr>
        <p:spPr>
          <a:xfrm>
            <a:off x="1097280" y="5559552"/>
            <a:ext cx="10424160" cy="548640"/>
          </a:xfrm>
          <a:prstGeom prst="rect">
            <a:avLst/>
          </a:prstGeom>
          <a:noFill/>
          <a:ln/>
        </p:spPr>
        <p:txBody>
          <a:bodyPr wrap="square" lIns="0" tIns="0" rIns="0" bIns="0" rtlCol="0" anchor="ctr"/>
          <a:lstStyle/>
          <a:p>
            <a:pPr marL="0" indent="0">
              <a:buNone/>
            </a:pPr>
            <a:r>
              <a:rPr lang="en-US" sz="1300" dirty="0">
                <a:solidFill>
                  <a:srgbClr val="231F20"/>
                </a:solidFill>
              </a:rPr>
              <a:t>État au 14 octobre 2026 : une seule collecte, donc un indice à 100. Il faut une seconde collecte, le mois suivant, pour mesurer une variation.</a:t>
            </a:r>
            <a:endParaRPr lang="en-US" sz="1300" dirty="0"/>
          </a:p>
        </p:txBody>
      </p:sp>
      <p:sp>
        <p:nvSpPr>
          <p:cNvPr id="32"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28</a:t>
            </a:fld>
            <a:endParaRPr lang="en-US"/>
          </a:p>
        </p:txBody>
      </p:sp>
    </p:spTree>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04 · LABORATOIRE</a:t>
            </a:r>
            <a:endParaRPr lang="en-US" sz="1200" dirty="0"/>
          </a:p>
        </p:txBody>
      </p:sp>
      <p:sp>
        <p:nvSpPr>
          <p:cNvPr id="3" name="Point de progression 1"/>
          <p:cNvSpPr/>
          <p:nvPr/>
        </p:nvSpPr>
        <p:spPr>
          <a:xfrm>
            <a:off x="10561320" y="365760"/>
            <a:ext cx="128016" cy="128016"/>
          </a:xfrm>
          <a:prstGeom prst="ellipse">
            <a:avLst/>
          </a:prstGeom>
          <a:solidFill>
            <a:srgbClr val="D5DED9"/>
          </a:solidFill>
          <a:ln/>
        </p:spPr>
      </p:sp>
      <p:sp>
        <p:nvSpPr>
          <p:cNvPr id="4" name="Point de progression 2"/>
          <p:cNvSpPr/>
          <p:nvPr/>
        </p:nvSpPr>
        <p:spPr>
          <a:xfrm>
            <a:off x="10789920" y="365760"/>
            <a:ext cx="128016" cy="128016"/>
          </a:xfrm>
          <a:prstGeom prst="ellipse">
            <a:avLst/>
          </a:prstGeom>
          <a:solidFill>
            <a:srgbClr val="D5DED9"/>
          </a:solidFill>
          <a:ln/>
        </p:spPr>
      </p:sp>
      <p:sp>
        <p:nvSpPr>
          <p:cNvPr id="5" name="Point de progression 3"/>
          <p:cNvSpPr/>
          <p:nvPr/>
        </p:nvSpPr>
        <p:spPr>
          <a:xfrm>
            <a:off x="11018520" y="365760"/>
            <a:ext cx="128016" cy="128016"/>
          </a:xfrm>
          <a:prstGeom prst="ellipse">
            <a:avLst/>
          </a:prstGeom>
          <a:solidFill>
            <a:srgbClr val="D5DED9"/>
          </a:solidFill>
          <a:ln/>
        </p:spPr>
      </p:sp>
      <p:sp>
        <p:nvSpPr>
          <p:cNvPr id="6" name="Point de progression 4"/>
          <p:cNvSpPr/>
          <p:nvPr/>
        </p:nvSpPr>
        <p:spPr>
          <a:xfrm>
            <a:off x="11247120" y="365760"/>
            <a:ext cx="128016" cy="128016"/>
          </a:xfrm>
          <a:prstGeom prst="ellipse">
            <a:avLst/>
          </a:prstGeom>
          <a:solidFill>
            <a:srgbClr val="D49A00"/>
          </a:solidFill>
          <a:ln/>
        </p:spPr>
      </p:sp>
      <p:sp>
        <p:nvSpPr>
          <p:cNvPr id="7" name="Point de progression 5"/>
          <p:cNvSpPr/>
          <p:nvPr/>
        </p:nvSpPr>
        <p:spPr>
          <a:xfrm>
            <a:off x="11475720" y="365760"/>
            <a:ext cx="128016" cy="128016"/>
          </a:xfrm>
          <a:prstGeom prst="ellipse">
            <a:avLst/>
          </a:prstGeom>
          <a:solidFill>
            <a:srgbClr val="D5DED9"/>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Tester le laboratoire en six étapes</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De la préparation au rapport ; la collecte se refait chaque mois à la même période</a:t>
            </a:r>
            <a:endParaRPr lang="en-US" sz="1500" dirty="0"/>
          </a:p>
        </p:txBody>
      </p:sp>
      <p:sp>
        <p:nvSpPr>
          <p:cNvPr id="10" name="Carte étape 1"/>
          <p:cNvSpPr/>
          <p:nvPr/>
        </p:nvSpPr>
        <p:spPr>
          <a:xfrm>
            <a:off x="502920" y="1783080"/>
            <a:ext cx="3566160" cy="1965960"/>
          </a:xfrm>
          <a:prstGeom prst="roundRect">
            <a:avLst>
              <a:gd name="adj" fmla="val 3721"/>
            </a:avLst>
          </a:prstGeom>
          <a:solidFill>
            <a:srgbClr val="F4F7F5"/>
          </a:solidFill>
          <a:ln w="9525">
            <a:solidFill>
              <a:srgbClr val="D5DED9"/>
            </a:solidFill>
            <a:prstDash val="solid"/>
          </a:ln>
        </p:spPr>
      </p:sp>
      <p:sp>
        <p:nvSpPr>
          <p:cNvPr id="11" name="Text 9"/>
          <p:cNvSpPr txBox="1"/>
          <p:nvPr/>
        </p:nvSpPr>
        <p:spPr>
          <a:xfrm>
            <a:off x="777240" y="2011680"/>
            <a:ext cx="731520" cy="685800"/>
          </a:xfrm>
          <a:prstGeom prst="rect">
            <a:avLst/>
          </a:prstGeom>
          <a:noFill/>
          <a:ln/>
        </p:spPr>
        <p:txBody>
          <a:bodyPr wrap="square" lIns="0" tIns="0" rIns="0" bIns="0" rtlCol="0" anchor="ctr"/>
          <a:lstStyle/>
          <a:p>
            <a:pPr marL="0" indent="0">
              <a:buNone/>
            </a:pPr>
            <a:r>
              <a:rPr lang="en-US" sz="3200" b="1" dirty="0">
                <a:solidFill>
                  <a:srgbClr val="F5C242"/>
                </a:solidFill>
              </a:rPr>
              <a:t>01</a:t>
            </a:r>
            <a:endParaRPr lang="en-US" sz="3200" dirty="0"/>
          </a:p>
        </p:txBody>
      </p:sp>
      <p:sp>
        <p:nvSpPr>
          <p:cNvPr id="12" name="Étape 1 cercle"/>
          <p:cNvSpPr/>
          <p:nvPr/>
        </p:nvSpPr>
        <p:spPr>
          <a:xfrm>
            <a:off x="3291840" y="2057400"/>
            <a:ext cx="548640" cy="548640"/>
          </a:xfrm>
          <a:prstGeom prst="ellipse">
            <a:avLst/>
          </a:prstGeom>
          <a:solidFill>
            <a:srgbClr val="00704A">
              <a:alpha val="22000"/>
            </a:srgbClr>
          </a:solidFill>
          <a:ln/>
        </p:spPr>
      </p:sp>
      <p:pic>
        <p:nvPicPr>
          <p:cNvPr id="13" name="Étape 1 icône" descr="preencoded.png"/>
          <p:cNvPicPr>
            <a:picLocks noChangeAspect="1"/>
          </p:cNvPicPr>
          <p:nvPr/>
        </p:nvPicPr>
        <p:blipFill>
          <a:blip r:embed="rId3"/>
          <a:stretch>
            <a:fillRect/>
          </a:stretch>
        </p:blipFill>
        <p:spPr>
          <a:xfrm>
            <a:off x="3429000" y="2194560"/>
            <a:ext cx="274320" cy="274320"/>
          </a:xfrm>
          <a:prstGeom prst="rect">
            <a:avLst/>
          </a:prstGeom>
        </p:spPr>
      </p:pic>
      <p:sp>
        <p:nvSpPr>
          <p:cNvPr id="14" name="Text 11"/>
          <p:cNvSpPr txBox="1"/>
          <p:nvPr/>
        </p:nvSpPr>
        <p:spPr>
          <a:xfrm>
            <a:off x="1508760" y="2057400"/>
            <a:ext cx="1737360" cy="594360"/>
          </a:xfrm>
          <a:prstGeom prst="rect">
            <a:avLst/>
          </a:prstGeom>
          <a:noFill/>
          <a:ln/>
        </p:spPr>
        <p:txBody>
          <a:bodyPr wrap="square" lIns="0" tIns="0" rIns="0" bIns="0" rtlCol="0" anchor="ctr"/>
          <a:lstStyle/>
          <a:p>
            <a:pPr marL="0" indent="0">
              <a:buNone/>
            </a:pPr>
            <a:r>
              <a:rPr lang="en-US" sz="1700" b="1" dirty="0">
                <a:solidFill>
                  <a:srgbClr val="231F20"/>
                </a:solidFill>
              </a:rPr>
              <a:t>Préparer</a:t>
            </a:r>
            <a:endParaRPr lang="en-US" sz="1700" dirty="0"/>
          </a:p>
        </p:txBody>
      </p:sp>
      <p:sp>
        <p:nvSpPr>
          <p:cNvPr id="15" name="Text 12"/>
          <p:cNvSpPr txBox="1"/>
          <p:nvPr/>
        </p:nvSpPr>
        <p:spPr>
          <a:xfrm>
            <a:off x="777240" y="2743200"/>
            <a:ext cx="3063240" cy="914400"/>
          </a:xfrm>
          <a:prstGeom prst="rect">
            <a:avLst/>
          </a:prstGeom>
          <a:noFill/>
          <a:ln/>
        </p:spPr>
        <p:txBody>
          <a:bodyPr wrap="square" lIns="0" tIns="0" rIns="0" bIns="0" rtlCol="0" anchor="t"/>
          <a:lstStyle/>
          <a:p>
            <a:pPr marL="0" indent="0">
              <a:buNone/>
            </a:pPr>
            <a:r>
              <a:rPr lang="en-US" sz="1400" dirty="0">
                <a:solidFill>
                  <a:srgbClr val="5E6964"/>
                </a:solidFill>
              </a:rPr>
              <a:t>Lancer preparer.bat dans le dossier jumia-cpi : il crée un environnement dédié.</a:t>
            </a:r>
            <a:endParaRPr lang="en-US" sz="1400" dirty="0"/>
          </a:p>
        </p:txBody>
      </p:sp>
      <p:sp>
        <p:nvSpPr>
          <p:cNvPr id="16" name="Carte étape 2"/>
          <p:cNvSpPr/>
          <p:nvPr/>
        </p:nvSpPr>
        <p:spPr>
          <a:xfrm>
            <a:off x="4325112" y="1783080"/>
            <a:ext cx="3566160" cy="1965960"/>
          </a:xfrm>
          <a:prstGeom prst="roundRect">
            <a:avLst>
              <a:gd name="adj" fmla="val 3721"/>
            </a:avLst>
          </a:prstGeom>
          <a:solidFill>
            <a:srgbClr val="F4F7F5"/>
          </a:solidFill>
          <a:ln w="9525">
            <a:solidFill>
              <a:srgbClr val="D5DED9"/>
            </a:solidFill>
            <a:prstDash val="solid"/>
          </a:ln>
        </p:spPr>
      </p:sp>
      <p:sp>
        <p:nvSpPr>
          <p:cNvPr id="17" name="Text 14"/>
          <p:cNvSpPr txBox="1"/>
          <p:nvPr/>
        </p:nvSpPr>
        <p:spPr>
          <a:xfrm>
            <a:off x="4599432" y="2011680"/>
            <a:ext cx="731520" cy="685800"/>
          </a:xfrm>
          <a:prstGeom prst="rect">
            <a:avLst/>
          </a:prstGeom>
          <a:noFill/>
          <a:ln/>
        </p:spPr>
        <p:txBody>
          <a:bodyPr wrap="square" lIns="0" tIns="0" rIns="0" bIns="0" rtlCol="0" anchor="ctr"/>
          <a:lstStyle/>
          <a:p>
            <a:pPr marL="0" indent="0">
              <a:buNone/>
            </a:pPr>
            <a:r>
              <a:rPr lang="en-US" sz="3200" b="1" dirty="0">
                <a:solidFill>
                  <a:srgbClr val="F5C242"/>
                </a:solidFill>
              </a:rPr>
              <a:t>02</a:t>
            </a:r>
            <a:endParaRPr lang="en-US" sz="3200" dirty="0"/>
          </a:p>
        </p:txBody>
      </p:sp>
      <p:sp>
        <p:nvSpPr>
          <p:cNvPr id="18" name="Étape 2 cercle"/>
          <p:cNvSpPr/>
          <p:nvPr/>
        </p:nvSpPr>
        <p:spPr>
          <a:xfrm>
            <a:off x="7114032" y="2057400"/>
            <a:ext cx="548640" cy="548640"/>
          </a:xfrm>
          <a:prstGeom prst="ellipse">
            <a:avLst/>
          </a:prstGeom>
          <a:solidFill>
            <a:srgbClr val="00704A">
              <a:alpha val="22000"/>
            </a:srgbClr>
          </a:solidFill>
          <a:ln/>
        </p:spPr>
      </p:sp>
      <p:pic>
        <p:nvPicPr>
          <p:cNvPr id="19" name="Étape 2 icône" descr="preencoded.png"/>
          <p:cNvPicPr>
            <a:picLocks noChangeAspect="1"/>
          </p:cNvPicPr>
          <p:nvPr/>
        </p:nvPicPr>
        <p:blipFill>
          <a:blip r:embed="rId4"/>
          <a:stretch>
            <a:fillRect/>
          </a:stretch>
        </p:blipFill>
        <p:spPr>
          <a:xfrm>
            <a:off x="7251192" y="2194560"/>
            <a:ext cx="274320" cy="274320"/>
          </a:xfrm>
          <a:prstGeom prst="rect">
            <a:avLst/>
          </a:prstGeom>
        </p:spPr>
      </p:pic>
      <p:sp>
        <p:nvSpPr>
          <p:cNvPr id="20" name="Text 16"/>
          <p:cNvSpPr txBox="1"/>
          <p:nvPr/>
        </p:nvSpPr>
        <p:spPr>
          <a:xfrm>
            <a:off x="5330952" y="2057400"/>
            <a:ext cx="1737360" cy="594360"/>
          </a:xfrm>
          <a:prstGeom prst="rect">
            <a:avLst/>
          </a:prstGeom>
          <a:noFill/>
          <a:ln/>
        </p:spPr>
        <p:txBody>
          <a:bodyPr wrap="square" lIns="0" tIns="0" rIns="0" bIns="0" rtlCol="0" anchor="ctr"/>
          <a:lstStyle/>
          <a:p>
            <a:pPr marL="0" indent="0">
              <a:buNone/>
            </a:pPr>
            <a:r>
              <a:rPr lang="en-US" sz="1700" b="1" dirty="0">
                <a:solidFill>
                  <a:srgbClr val="231F20"/>
                </a:solidFill>
              </a:rPr>
              <a:t>Collecter en ligne</a:t>
            </a:r>
            <a:endParaRPr lang="en-US" sz="1700" dirty="0"/>
          </a:p>
        </p:txBody>
      </p:sp>
      <p:sp>
        <p:nvSpPr>
          <p:cNvPr id="21" name="Text 17"/>
          <p:cNvSpPr txBox="1"/>
          <p:nvPr/>
        </p:nvSpPr>
        <p:spPr>
          <a:xfrm>
            <a:off x="4599432" y="2743200"/>
            <a:ext cx="3063240" cy="914400"/>
          </a:xfrm>
          <a:prstGeom prst="rect">
            <a:avLst/>
          </a:prstGeom>
          <a:noFill/>
          <a:ln/>
        </p:spPr>
        <p:txBody>
          <a:bodyPr wrap="square" lIns="0" tIns="0" rIns="0" bIns="0" rtlCol="0" anchor="t"/>
          <a:lstStyle/>
          <a:p>
            <a:pPr marL="0" indent="0">
              <a:buNone/>
            </a:pPr>
            <a:r>
              <a:rPr lang="en-US" sz="1400" dirty="0">
                <a:solidFill>
                  <a:srgbClr val="5E6964"/>
                </a:solidFill>
              </a:rPr>
              <a:t>Notebook 1 sur le poste : choisir le pays, renseigner CONTACT_EMAIL.</a:t>
            </a:r>
            <a:endParaRPr lang="en-US" sz="1400" dirty="0"/>
          </a:p>
        </p:txBody>
      </p:sp>
      <p:sp>
        <p:nvSpPr>
          <p:cNvPr id="22" name="Carte étape 3"/>
          <p:cNvSpPr/>
          <p:nvPr/>
        </p:nvSpPr>
        <p:spPr>
          <a:xfrm>
            <a:off x="8147304" y="1783080"/>
            <a:ext cx="3566160" cy="1965960"/>
          </a:xfrm>
          <a:prstGeom prst="roundRect">
            <a:avLst>
              <a:gd name="adj" fmla="val 3721"/>
            </a:avLst>
          </a:prstGeom>
          <a:solidFill>
            <a:srgbClr val="F4F7F5"/>
          </a:solidFill>
          <a:ln w="9525">
            <a:solidFill>
              <a:srgbClr val="D5DED9"/>
            </a:solidFill>
            <a:prstDash val="solid"/>
          </a:ln>
        </p:spPr>
      </p:sp>
      <p:sp>
        <p:nvSpPr>
          <p:cNvPr id="23" name="Text 19"/>
          <p:cNvSpPr txBox="1"/>
          <p:nvPr/>
        </p:nvSpPr>
        <p:spPr>
          <a:xfrm>
            <a:off x="8421624" y="2011680"/>
            <a:ext cx="731520" cy="685800"/>
          </a:xfrm>
          <a:prstGeom prst="rect">
            <a:avLst/>
          </a:prstGeom>
          <a:noFill/>
          <a:ln/>
        </p:spPr>
        <p:txBody>
          <a:bodyPr wrap="square" lIns="0" tIns="0" rIns="0" bIns="0" rtlCol="0" anchor="ctr"/>
          <a:lstStyle/>
          <a:p>
            <a:pPr marL="0" indent="0">
              <a:buNone/>
            </a:pPr>
            <a:r>
              <a:rPr lang="en-US" sz="3200" b="1" dirty="0">
                <a:solidFill>
                  <a:srgbClr val="F5C242"/>
                </a:solidFill>
              </a:rPr>
              <a:t>03</a:t>
            </a:r>
            <a:endParaRPr lang="en-US" sz="3200" dirty="0"/>
          </a:p>
        </p:txBody>
      </p:sp>
      <p:sp>
        <p:nvSpPr>
          <p:cNvPr id="24" name="Étape 3 cercle"/>
          <p:cNvSpPr/>
          <p:nvPr/>
        </p:nvSpPr>
        <p:spPr>
          <a:xfrm>
            <a:off x="10936224" y="2057400"/>
            <a:ext cx="548640" cy="548640"/>
          </a:xfrm>
          <a:prstGeom prst="ellipse">
            <a:avLst/>
          </a:prstGeom>
          <a:solidFill>
            <a:srgbClr val="00704A">
              <a:alpha val="22000"/>
            </a:srgbClr>
          </a:solidFill>
          <a:ln/>
        </p:spPr>
      </p:sp>
      <p:pic>
        <p:nvPicPr>
          <p:cNvPr id="25" name="Étape 3 icône" descr="preencoded.png"/>
          <p:cNvPicPr>
            <a:picLocks noChangeAspect="1"/>
          </p:cNvPicPr>
          <p:nvPr/>
        </p:nvPicPr>
        <p:blipFill>
          <a:blip r:embed="rId5"/>
          <a:stretch>
            <a:fillRect/>
          </a:stretch>
        </p:blipFill>
        <p:spPr>
          <a:xfrm>
            <a:off x="11073384" y="2194560"/>
            <a:ext cx="274320" cy="274320"/>
          </a:xfrm>
          <a:prstGeom prst="rect">
            <a:avLst/>
          </a:prstGeom>
        </p:spPr>
      </p:pic>
      <p:sp>
        <p:nvSpPr>
          <p:cNvPr id="26" name="Text 21"/>
          <p:cNvSpPr txBox="1"/>
          <p:nvPr/>
        </p:nvSpPr>
        <p:spPr>
          <a:xfrm>
            <a:off x="9153144" y="2057400"/>
            <a:ext cx="1737360" cy="594360"/>
          </a:xfrm>
          <a:prstGeom prst="rect">
            <a:avLst/>
          </a:prstGeom>
          <a:noFill/>
          <a:ln/>
        </p:spPr>
        <p:txBody>
          <a:bodyPr wrap="square" lIns="0" tIns="0" rIns="0" bIns="0" rtlCol="0" anchor="ctr"/>
          <a:lstStyle/>
          <a:p>
            <a:pPr marL="0" indent="0">
              <a:buNone/>
            </a:pPr>
            <a:r>
              <a:rPr lang="en-US" sz="1700" b="1" dirty="0">
                <a:solidFill>
                  <a:srgbClr val="231F20"/>
                </a:solidFill>
              </a:rPr>
              <a:t>Compléter</a:t>
            </a:r>
            <a:endParaRPr lang="en-US" sz="1700" dirty="0"/>
          </a:p>
        </p:txBody>
      </p:sp>
      <p:sp>
        <p:nvSpPr>
          <p:cNvPr id="27" name="Text 22"/>
          <p:cNvSpPr txBox="1"/>
          <p:nvPr/>
        </p:nvSpPr>
        <p:spPr>
          <a:xfrm>
            <a:off x="8421624" y="2743200"/>
            <a:ext cx="3063240" cy="914400"/>
          </a:xfrm>
          <a:prstGeom prst="rect">
            <a:avLst/>
          </a:prstGeom>
          <a:noFill/>
          <a:ln/>
        </p:spPr>
        <p:txBody>
          <a:bodyPr wrap="square" lIns="0" tIns="0" rIns="0" bIns="0" rtlCol="0" anchor="t"/>
          <a:lstStyle/>
          <a:p>
            <a:pPr marL="0" indent="0">
              <a:buNone/>
            </a:pPr>
            <a:r>
              <a:rPr lang="en-US" sz="1400" dirty="0">
                <a:solidFill>
                  <a:srgbClr val="5E6964"/>
                </a:solidFill>
              </a:rPr>
              <a:t>Notebook 2 : prix administrés et marchés pour la Côte d'Ivoire ou le Sénégal.</a:t>
            </a:r>
            <a:endParaRPr lang="en-US" sz="1400" dirty="0"/>
          </a:p>
        </p:txBody>
      </p:sp>
      <p:sp>
        <p:nvSpPr>
          <p:cNvPr id="28" name="Carte étape 4"/>
          <p:cNvSpPr/>
          <p:nvPr/>
        </p:nvSpPr>
        <p:spPr>
          <a:xfrm>
            <a:off x="502920" y="3977640"/>
            <a:ext cx="3566160" cy="1965960"/>
          </a:xfrm>
          <a:prstGeom prst="roundRect">
            <a:avLst>
              <a:gd name="adj" fmla="val 3721"/>
            </a:avLst>
          </a:prstGeom>
          <a:solidFill>
            <a:srgbClr val="F4F7F5"/>
          </a:solidFill>
          <a:ln w="9525">
            <a:solidFill>
              <a:srgbClr val="D5DED9"/>
            </a:solidFill>
            <a:prstDash val="solid"/>
          </a:ln>
        </p:spPr>
      </p:sp>
      <p:sp>
        <p:nvSpPr>
          <p:cNvPr id="29" name="Text 24"/>
          <p:cNvSpPr txBox="1"/>
          <p:nvPr/>
        </p:nvSpPr>
        <p:spPr>
          <a:xfrm>
            <a:off x="777240" y="4206240"/>
            <a:ext cx="731520" cy="685800"/>
          </a:xfrm>
          <a:prstGeom prst="rect">
            <a:avLst/>
          </a:prstGeom>
          <a:noFill/>
          <a:ln/>
        </p:spPr>
        <p:txBody>
          <a:bodyPr wrap="square" lIns="0" tIns="0" rIns="0" bIns="0" rtlCol="0" anchor="ctr"/>
          <a:lstStyle/>
          <a:p>
            <a:pPr marL="0" indent="0">
              <a:buNone/>
            </a:pPr>
            <a:r>
              <a:rPr lang="en-US" sz="3200" b="1" dirty="0">
                <a:solidFill>
                  <a:srgbClr val="F5C242"/>
                </a:solidFill>
              </a:rPr>
              <a:t>04</a:t>
            </a:r>
            <a:endParaRPr lang="en-US" sz="3200" dirty="0"/>
          </a:p>
        </p:txBody>
      </p:sp>
      <p:sp>
        <p:nvSpPr>
          <p:cNvPr id="30" name="Étape 4 cercle"/>
          <p:cNvSpPr/>
          <p:nvPr/>
        </p:nvSpPr>
        <p:spPr>
          <a:xfrm>
            <a:off x="3291840" y="4251960"/>
            <a:ext cx="548640" cy="548640"/>
          </a:xfrm>
          <a:prstGeom prst="ellipse">
            <a:avLst/>
          </a:prstGeom>
          <a:solidFill>
            <a:srgbClr val="00704A">
              <a:alpha val="22000"/>
            </a:srgbClr>
          </a:solidFill>
          <a:ln/>
        </p:spPr>
      </p:sp>
      <p:pic>
        <p:nvPicPr>
          <p:cNvPr id="31" name="Étape 4 icône" descr="preencoded.png"/>
          <p:cNvPicPr>
            <a:picLocks noChangeAspect="1"/>
          </p:cNvPicPr>
          <p:nvPr/>
        </p:nvPicPr>
        <p:blipFill>
          <a:blip r:embed="rId6"/>
          <a:stretch>
            <a:fillRect/>
          </a:stretch>
        </p:blipFill>
        <p:spPr>
          <a:xfrm>
            <a:off x="3429000" y="4389120"/>
            <a:ext cx="274320" cy="274320"/>
          </a:xfrm>
          <a:prstGeom prst="rect">
            <a:avLst/>
          </a:prstGeom>
        </p:spPr>
      </p:pic>
      <p:sp>
        <p:nvSpPr>
          <p:cNvPr id="32" name="Text 26"/>
          <p:cNvSpPr txBox="1"/>
          <p:nvPr/>
        </p:nvSpPr>
        <p:spPr>
          <a:xfrm>
            <a:off x="1508760" y="4251960"/>
            <a:ext cx="1737360" cy="594360"/>
          </a:xfrm>
          <a:prstGeom prst="rect">
            <a:avLst/>
          </a:prstGeom>
          <a:noFill/>
          <a:ln/>
        </p:spPr>
        <p:txBody>
          <a:bodyPr wrap="square" lIns="0" tIns="0" rIns="0" bIns="0" rtlCol="0" anchor="ctr"/>
          <a:lstStyle/>
          <a:p>
            <a:pPr marL="0" indent="0">
              <a:buNone/>
            </a:pPr>
            <a:r>
              <a:rPr lang="en-US" sz="1700" b="1" dirty="0">
                <a:solidFill>
                  <a:srgbClr val="231F20"/>
                </a:solidFill>
              </a:rPr>
              <a:t>Transmettre</a:t>
            </a:r>
            <a:endParaRPr lang="en-US" sz="1700" dirty="0"/>
          </a:p>
        </p:txBody>
      </p:sp>
      <p:sp>
        <p:nvSpPr>
          <p:cNvPr id="33" name="Text 27"/>
          <p:cNvSpPr txBox="1"/>
          <p:nvPr/>
        </p:nvSpPr>
        <p:spPr>
          <a:xfrm>
            <a:off x="777240" y="4937760"/>
            <a:ext cx="3063240" cy="914400"/>
          </a:xfrm>
          <a:prstGeom prst="rect">
            <a:avLst/>
          </a:prstGeom>
          <a:noFill/>
          <a:ln/>
        </p:spPr>
        <p:txBody>
          <a:bodyPr wrap="square" lIns="0" tIns="0" rIns="0" bIns="0" rtlCol="0" anchor="t"/>
          <a:lstStyle/>
          <a:p>
            <a:pPr marL="0" indent="0">
              <a:buNone/>
            </a:pPr>
            <a:r>
              <a:rPr lang="en-US" sz="1400" dirty="0">
                <a:solidFill>
                  <a:srgbClr val="5E6964"/>
                </a:solidFill>
              </a:rPr>
              <a:t>Partager les archives .zip, jamais l'Excel seul : il peut retyper les codes.</a:t>
            </a:r>
            <a:endParaRPr lang="en-US" sz="1400" dirty="0"/>
          </a:p>
        </p:txBody>
      </p:sp>
      <p:sp>
        <p:nvSpPr>
          <p:cNvPr id="34" name="Carte étape 5"/>
          <p:cNvSpPr/>
          <p:nvPr/>
        </p:nvSpPr>
        <p:spPr>
          <a:xfrm>
            <a:off x="4325112" y="3977640"/>
            <a:ext cx="3566160" cy="1965960"/>
          </a:xfrm>
          <a:prstGeom prst="roundRect">
            <a:avLst>
              <a:gd name="adj" fmla="val 3721"/>
            </a:avLst>
          </a:prstGeom>
          <a:solidFill>
            <a:srgbClr val="F4F7F5"/>
          </a:solidFill>
          <a:ln w="9525">
            <a:solidFill>
              <a:srgbClr val="D5DED9"/>
            </a:solidFill>
            <a:prstDash val="solid"/>
          </a:ln>
        </p:spPr>
      </p:sp>
      <p:sp>
        <p:nvSpPr>
          <p:cNvPr id="35" name="Text 29"/>
          <p:cNvSpPr txBox="1"/>
          <p:nvPr/>
        </p:nvSpPr>
        <p:spPr>
          <a:xfrm>
            <a:off x="4599432" y="4206240"/>
            <a:ext cx="731520" cy="685800"/>
          </a:xfrm>
          <a:prstGeom prst="rect">
            <a:avLst/>
          </a:prstGeom>
          <a:noFill/>
          <a:ln/>
        </p:spPr>
        <p:txBody>
          <a:bodyPr wrap="square" lIns="0" tIns="0" rIns="0" bIns="0" rtlCol="0" anchor="ctr"/>
          <a:lstStyle/>
          <a:p>
            <a:pPr marL="0" indent="0">
              <a:buNone/>
            </a:pPr>
            <a:r>
              <a:rPr lang="en-US" sz="3200" b="1" dirty="0">
                <a:solidFill>
                  <a:srgbClr val="F5C242"/>
                </a:solidFill>
              </a:rPr>
              <a:t>05</a:t>
            </a:r>
            <a:endParaRPr lang="en-US" sz="3200" dirty="0"/>
          </a:p>
        </p:txBody>
      </p:sp>
      <p:sp>
        <p:nvSpPr>
          <p:cNvPr id="36" name="Étape 5 cercle"/>
          <p:cNvSpPr/>
          <p:nvPr/>
        </p:nvSpPr>
        <p:spPr>
          <a:xfrm>
            <a:off x="7114032" y="4251960"/>
            <a:ext cx="548640" cy="548640"/>
          </a:xfrm>
          <a:prstGeom prst="ellipse">
            <a:avLst/>
          </a:prstGeom>
          <a:solidFill>
            <a:srgbClr val="00704A">
              <a:alpha val="22000"/>
            </a:srgbClr>
          </a:solidFill>
          <a:ln/>
        </p:spPr>
      </p:sp>
      <p:pic>
        <p:nvPicPr>
          <p:cNvPr id="37" name="Étape 5 icône" descr="preencoded.png"/>
          <p:cNvPicPr>
            <a:picLocks noChangeAspect="1"/>
          </p:cNvPicPr>
          <p:nvPr/>
        </p:nvPicPr>
        <p:blipFill>
          <a:blip r:embed="rId7"/>
          <a:stretch>
            <a:fillRect/>
          </a:stretch>
        </p:blipFill>
        <p:spPr>
          <a:xfrm>
            <a:off x="7251192" y="4389120"/>
            <a:ext cx="274320" cy="274320"/>
          </a:xfrm>
          <a:prstGeom prst="rect">
            <a:avLst/>
          </a:prstGeom>
        </p:spPr>
      </p:pic>
      <p:sp>
        <p:nvSpPr>
          <p:cNvPr id="38" name="Text 31"/>
          <p:cNvSpPr txBox="1"/>
          <p:nvPr/>
        </p:nvSpPr>
        <p:spPr>
          <a:xfrm>
            <a:off x="5330952" y="4251960"/>
            <a:ext cx="1737360" cy="594360"/>
          </a:xfrm>
          <a:prstGeom prst="rect">
            <a:avLst/>
          </a:prstGeom>
          <a:noFill/>
          <a:ln/>
        </p:spPr>
        <p:txBody>
          <a:bodyPr wrap="square" lIns="0" tIns="0" rIns="0" bIns="0" rtlCol="0" anchor="ctr"/>
          <a:lstStyle/>
          <a:p>
            <a:pPr marL="0" indent="0">
              <a:buNone/>
            </a:pPr>
            <a:r>
              <a:rPr lang="en-US" sz="1700" b="1" dirty="0">
                <a:solidFill>
                  <a:srgbClr val="231F20"/>
                </a:solidFill>
              </a:rPr>
              <a:t>Analyser</a:t>
            </a:r>
            <a:endParaRPr lang="en-US" sz="1700" dirty="0"/>
          </a:p>
        </p:txBody>
      </p:sp>
      <p:sp>
        <p:nvSpPr>
          <p:cNvPr id="39" name="Text 32"/>
          <p:cNvSpPr txBox="1"/>
          <p:nvPr/>
        </p:nvSpPr>
        <p:spPr>
          <a:xfrm>
            <a:off x="4599432" y="4937760"/>
            <a:ext cx="3063240" cy="914400"/>
          </a:xfrm>
          <a:prstGeom prst="rect">
            <a:avLst/>
          </a:prstGeom>
          <a:noFill/>
          <a:ln/>
        </p:spPr>
        <p:txBody>
          <a:bodyPr wrap="square" lIns="0" tIns="0" rIns="0" bIns="0" rtlCol="0" anchor="t"/>
          <a:lstStyle/>
          <a:p>
            <a:pPr marL="0" indent="0">
              <a:buNone/>
            </a:pPr>
            <a:r>
              <a:rPr lang="en-US" sz="1400" dirty="0">
                <a:solidFill>
                  <a:srgbClr val="5E6964"/>
                </a:solidFill>
              </a:rPr>
              <a:t>Notebook 3 sur Colab : pondérations officielles, banc d'essai sur vos données.</a:t>
            </a:r>
            <a:endParaRPr lang="en-US" sz="1400" dirty="0"/>
          </a:p>
        </p:txBody>
      </p:sp>
      <p:sp>
        <p:nvSpPr>
          <p:cNvPr id="40" name="Carte étape 6"/>
          <p:cNvSpPr/>
          <p:nvPr/>
        </p:nvSpPr>
        <p:spPr>
          <a:xfrm>
            <a:off x="8147304" y="3977640"/>
            <a:ext cx="3566160" cy="1965960"/>
          </a:xfrm>
          <a:prstGeom prst="roundRect">
            <a:avLst>
              <a:gd name="adj" fmla="val 3721"/>
            </a:avLst>
          </a:prstGeom>
          <a:solidFill>
            <a:srgbClr val="F4F7F5"/>
          </a:solidFill>
          <a:ln w="9525">
            <a:solidFill>
              <a:srgbClr val="D5DED9"/>
            </a:solidFill>
            <a:prstDash val="solid"/>
          </a:ln>
        </p:spPr>
      </p:sp>
      <p:sp>
        <p:nvSpPr>
          <p:cNvPr id="41" name="Text 34"/>
          <p:cNvSpPr txBox="1"/>
          <p:nvPr/>
        </p:nvSpPr>
        <p:spPr>
          <a:xfrm>
            <a:off x="8421624" y="4206240"/>
            <a:ext cx="731520" cy="685800"/>
          </a:xfrm>
          <a:prstGeom prst="rect">
            <a:avLst/>
          </a:prstGeom>
          <a:noFill/>
          <a:ln/>
        </p:spPr>
        <p:txBody>
          <a:bodyPr wrap="square" lIns="0" tIns="0" rIns="0" bIns="0" rtlCol="0" anchor="ctr"/>
          <a:lstStyle/>
          <a:p>
            <a:pPr marL="0" indent="0">
              <a:buNone/>
            </a:pPr>
            <a:r>
              <a:rPr lang="en-US" sz="3200" b="1" dirty="0">
                <a:solidFill>
                  <a:srgbClr val="F5C242"/>
                </a:solidFill>
              </a:rPr>
              <a:t>06</a:t>
            </a:r>
            <a:endParaRPr lang="en-US" sz="3200" dirty="0"/>
          </a:p>
        </p:txBody>
      </p:sp>
      <p:sp>
        <p:nvSpPr>
          <p:cNvPr id="42" name="Étape 6 cercle"/>
          <p:cNvSpPr/>
          <p:nvPr/>
        </p:nvSpPr>
        <p:spPr>
          <a:xfrm>
            <a:off x="10936224" y="4251960"/>
            <a:ext cx="548640" cy="548640"/>
          </a:xfrm>
          <a:prstGeom prst="ellipse">
            <a:avLst/>
          </a:prstGeom>
          <a:solidFill>
            <a:srgbClr val="00704A">
              <a:alpha val="22000"/>
            </a:srgbClr>
          </a:solidFill>
          <a:ln/>
        </p:spPr>
      </p:sp>
      <p:pic>
        <p:nvPicPr>
          <p:cNvPr id="43" name="Étape 6 icône" descr="preencoded.png"/>
          <p:cNvPicPr>
            <a:picLocks noChangeAspect="1"/>
          </p:cNvPicPr>
          <p:nvPr/>
        </p:nvPicPr>
        <p:blipFill>
          <a:blip r:embed="rId8"/>
          <a:stretch>
            <a:fillRect/>
          </a:stretch>
        </p:blipFill>
        <p:spPr>
          <a:xfrm>
            <a:off x="11073384" y="4389120"/>
            <a:ext cx="274320" cy="274320"/>
          </a:xfrm>
          <a:prstGeom prst="rect">
            <a:avLst/>
          </a:prstGeom>
        </p:spPr>
      </p:pic>
      <p:sp>
        <p:nvSpPr>
          <p:cNvPr id="44" name="Text 36"/>
          <p:cNvSpPr txBox="1"/>
          <p:nvPr/>
        </p:nvSpPr>
        <p:spPr>
          <a:xfrm>
            <a:off x="9153144" y="4251960"/>
            <a:ext cx="1737360" cy="594360"/>
          </a:xfrm>
          <a:prstGeom prst="rect">
            <a:avLst/>
          </a:prstGeom>
          <a:noFill/>
          <a:ln/>
        </p:spPr>
        <p:txBody>
          <a:bodyPr wrap="square" lIns="0" tIns="0" rIns="0" bIns="0" rtlCol="0" anchor="ctr"/>
          <a:lstStyle/>
          <a:p>
            <a:pPr marL="0" indent="0">
              <a:buNone/>
            </a:pPr>
            <a:r>
              <a:rPr lang="en-US" sz="1700" b="1" dirty="0">
                <a:solidFill>
                  <a:srgbClr val="231F20"/>
                </a:solidFill>
              </a:rPr>
              <a:t>Diffuser</a:t>
            </a:r>
            <a:endParaRPr lang="en-US" sz="1700" dirty="0"/>
          </a:p>
        </p:txBody>
      </p:sp>
      <p:sp>
        <p:nvSpPr>
          <p:cNvPr id="45" name="Text 37"/>
          <p:cNvSpPr txBox="1"/>
          <p:nvPr/>
        </p:nvSpPr>
        <p:spPr>
          <a:xfrm>
            <a:off x="8421624" y="4937760"/>
            <a:ext cx="3063240" cy="914400"/>
          </a:xfrm>
          <a:prstGeom prst="rect">
            <a:avLst/>
          </a:prstGeom>
          <a:noFill/>
          <a:ln/>
        </p:spPr>
        <p:txBody>
          <a:bodyPr wrap="square" lIns="0" tIns="0" rIns="0" bIns="0" rtlCol="0" anchor="t"/>
          <a:lstStyle/>
          <a:p>
            <a:pPr marL="0" indent="0">
              <a:buNone/>
            </a:pPr>
            <a:r>
              <a:rPr lang="en-US" sz="1400" dirty="0">
                <a:solidFill>
                  <a:srgbClr val="5E6964"/>
                </a:solidFill>
              </a:rPr>
              <a:t>Télécharger rapport.html : graphiques compris, il s'ouvre partout.</a:t>
            </a:r>
            <a:endParaRPr lang="en-US" sz="1400" dirty="0"/>
          </a:p>
        </p:txBody>
      </p:sp>
      <p:sp>
        <p:nvSpPr>
          <p:cNvPr id="46"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29</a:t>
            </a:fld>
            <a:endParaRPr lang="en-US"/>
          </a:p>
        </p:txBody>
      </p:sp>
    </p:spTree>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097280"/>
            <a:ext cx="3200400" cy="1463040"/>
          </a:xfrm>
          <a:prstGeom prst="rect">
            <a:avLst/>
          </a:prstGeom>
          <a:noFill/>
          <a:ln/>
        </p:spPr>
        <p:txBody>
          <a:bodyPr wrap="square" rtlCol="0" anchor="b"/>
          <a:lstStyle/>
          <a:p>
            <a:pPr marL="0" indent="0">
              <a:buNone/>
            </a:pPr>
            <a:r>
              <a:rPr lang="en-US" sz="11000" b="1" dirty="0">
                <a:solidFill>
                  <a:srgbClr val="F5C242"/>
                </a:solidFill>
              </a:rPr>
              <a:t>05</a:t>
            </a:r>
            <a:endParaRPr lang="en-US" sz="11000" dirty="0"/>
          </a:p>
        </p:txBody>
      </p:sp>
      <p:sp>
        <p:nvSpPr>
          <p:cNvPr id="3" name="Text 0"/>
          <p:cNvSpPr>
            <a:spLocks noGrp="1"/>
          </p:cNvSpPr>
          <p:nvPr>
            <p:ph type="title" idx="101" hasCustomPrompt="1"/>
          </p:nvPr>
        </p:nvSpPr>
        <p:spPr>
          <a:xfrm>
            <a:off x="731520" y="2743200"/>
            <a:ext cx="7315200" cy="1188720"/>
          </a:xfrm>
          <a:prstGeom prst="rect">
            <a:avLst/>
          </a:prstGeom>
          <a:noFill/>
          <a:ln/>
        </p:spPr>
        <p:txBody>
          <a:bodyPr wrap="square" rtlCol="0" anchor="t"/>
          <a:lstStyle/>
          <a:p>
            <a:pPr marL="0" indent="0" algn="l">
              <a:buNone/>
            </a:pPr>
            <a:r>
              <a:rPr lang="en-US" sz="4200" b="1" dirty="0">
                <a:solidFill>
                  <a:srgbClr val="FFFFFF"/>
                </a:solidFill>
              </a:rPr>
              <a:t>Enjeux et conclusion</a:t>
            </a:r>
            <a:endParaRPr lang="en-US" sz="4200" dirty="0"/>
          </a:p>
        </p:txBody>
      </p:sp>
      <p:sp>
        <p:nvSpPr>
          <p:cNvPr id="4" name="Text 0"/>
          <p:cNvSpPr>
            <a:spLocks noGrp="1"/>
          </p:cNvSpPr>
          <p:nvPr>
            <p:ph type="body" idx="102" hasCustomPrompt="1"/>
          </p:nvPr>
        </p:nvSpPr>
        <p:spPr>
          <a:xfrm>
            <a:off x="731520" y="3977640"/>
            <a:ext cx="7589520" cy="822960"/>
          </a:xfrm>
          <a:prstGeom prst="rect">
            <a:avLst/>
          </a:prstGeom>
          <a:noFill/>
          <a:ln/>
        </p:spPr>
        <p:txBody>
          <a:bodyPr wrap="square" rtlCol="0" anchor="t"/>
          <a:lstStyle/>
          <a:p>
            <a:pPr marL="0" indent="0">
              <a:buNone/>
            </a:pPr>
            <a:r>
              <a:rPr lang="en-US" sz="1900" i="1" dirty="0">
                <a:solidFill>
                  <a:srgbClr val="E6F6EE"/>
                </a:solidFill>
              </a:rPr>
              <a:t>Quels défis restent à relever pour mesurer les prix de façon fiable ?</a:t>
            </a:r>
            <a:endParaRPr lang="en-US" sz="1900" dirty="0"/>
          </a:p>
        </p:txBody>
      </p:sp>
      <p:sp>
        <p:nvSpPr>
          <p:cNvPr id="5" name="Cercle icône section"/>
          <p:cNvSpPr/>
          <p:nvPr/>
        </p:nvSpPr>
        <p:spPr>
          <a:xfrm>
            <a:off x="9079992" y="2340864"/>
            <a:ext cx="1280160" cy="1280160"/>
          </a:xfrm>
          <a:prstGeom prst="ellipse">
            <a:avLst/>
          </a:prstGeom>
          <a:solidFill>
            <a:srgbClr val="FFFFFF"/>
          </a:solidFill>
          <a:ln/>
        </p:spPr>
      </p:sp>
      <p:pic>
        <p:nvPicPr>
          <p:cNvPr id="6" name="Icône section" descr="preencoded.png"/>
          <p:cNvPicPr>
            <a:picLocks noChangeAspect="1"/>
          </p:cNvPicPr>
          <p:nvPr/>
        </p:nvPicPr>
        <p:blipFill>
          <a:blip r:embed="rId3"/>
          <a:stretch>
            <a:fillRect/>
          </a:stretch>
        </p:blipFill>
        <p:spPr>
          <a:xfrm>
            <a:off x="9372600" y="2633472"/>
            <a:ext cx="694944" cy="694944"/>
          </a:xfrm>
          <a:prstGeom prst="rect">
            <a:avLst/>
          </a:prstGeom>
        </p:spPr>
      </p:pic>
      <p:sp>
        <p:nvSpPr>
          <p:cNvPr id="7" name="Point de progression 1"/>
          <p:cNvSpPr/>
          <p:nvPr/>
        </p:nvSpPr>
        <p:spPr>
          <a:xfrm>
            <a:off x="731520" y="5989320"/>
            <a:ext cx="155448" cy="155448"/>
          </a:xfrm>
          <a:prstGeom prst="ellipse">
            <a:avLst/>
          </a:prstGeom>
          <a:solidFill>
            <a:srgbClr val="FFFFFF">
              <a:alpha val="40000"/>
            </a:srgbClr>
          </a:solidFill>
          <a:ln/>
        </p:spPr>
      </p:sp>
      <p:sp>
        <p:nvSpPr>
          <p:cNvPr id="8" name="Point de progression 2"/>
          <p:cNvSpPr/>
          <p:nvPr/>
        </p:nvSpPr>
        <p:spPr>
          <a:xfrm>
            <a:off x="1024128" y="5989320"/>
            <a:ext cx="155448" cy="155448"/>
          </a:xfrm>
          <a:prstGeom prst="ellipse">
            <a:avLst/>
          </a:prstGeom>
          <a:solidFill>
            <a:srgbClr val="FFFFFF">
              <a:alpha val="40000"/>
            </a:srgbClr>
          </a:solidFill>
          <a:ln/>
        </p:spPr>
      </p:sp>
      <p:sp>
        <p:nvSpPr>
          <p:cNvPr id="9" name="Point de progression 3"/>
          <p:cNvSpPr/>
          <p:nvPr/>
        </p:nvSpPr>
        <p:spPr>
          <a:xfrm>
            <a:off x="1316736" y="5989320"/>
            <a:ext cx="155448" cy="155448"/>
          </a:xfrm>
          <a:prstGeom prst="ellipse">
            <a:avLst/>
          </a:prstGeom>
          <a:solidFill>
            <a:srgbClr val="FFFFFF">
              <a:alpha val="40000"/>
            </a:srgbClr>
          </a:solidFill>
          <a:ln/>
        </p:spPr>
      </p:sp>
      <p:sp>
        <p:nvSpPr>
          <p:cNvPr id="10" name="Point de progression 4"/>
          <p:cNvSpPr/>
          <p:nvPr/>
        </p:nvSpPr>
        <p:spPr>
          <a:xfrm>
            <a:off x="1609344" y="5989320"/>
            <a:ext cx="155448" cy="155448"/>
          </a:xfrm>
          <a:prstGeom prst="ellipse">
            <a:avLst/>
          </a:prstGeom>
          <a:solidFill>
            <a:srgbClr val="FFFFFF">
              <a:alpha val="40000"/>
            </a:srgbClr>
          </a:solidFill>
          <a:ln/>
        </p:spPr>
      </p:sp>
      <p:sp>
        <p:nvSpPr>
          <p:cNvPr id="11" name="Point de progression 5"/>
          <p:cNvSpPr/>
          <p:nvPr/>
        </p:nvSpPr>
        <p:spPr>
          <a:xfrm>
            <a:off x="1901952" y="5989320"/>
            <a:ext cx="155448" cy="155448"/>
          </a:xfrm>
          <a:prstGeom prst="ellipse">
            <a:avLst/>
          </a:prstGeom>
          <a:solidFill>
            <a:srgbClr val="F5C242"/>
          </a:solidFill>
          <a:ln/>
        </p:spPr>
      </p:sp>
    </p:spTree>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05 · ENJEUX ET CONCLUSION</a:t>
            </a:r>
            <a:endParaRPr lang="en-US" sz="1200" dirty="0"/>
          </a:p>
        </p:txBody>
      </p:sp>
      <p:sp>
        <p:nvSpPr>
          <p:cNvPr id="3" name="Point de progression 1"/>
          <p:cNvSpPr/>
          <p:nvPr/>
        </p:nvSpPr>
        <p:spPr>
          <a:xfrm>
            <a:off x="10561320" y="365760"/>
            <a:ext cx="128016" cy="128016"/>
          </a:xfrm>
          <a:prstGeom prst="ellipse">
            <a:avLst/>
          </a:prstGeom>
          <a:solidFill>
            <a:srgbClr val="D5DED9"/>
          </a:solidFill>
          <a:ln/>
        </p:spPr>
      </p:sp>
      <p:sp>
        <p:nvSpPr>
          <p:cNvPr id="4" name="Point de progression 2"/>
          <p:cNvSpPr/>
          <p:nvPr/>
        </p:nvSpPr>
        <p:spPr>
          <a:xfrm>
            <a:off x="10789920" y="365760"/>
            <a:ext cx="128016" cy="128016"/>
          </a:xfrm>
          <a:prstGeom prst="ellipse">
            <a:avLst/>
          </a:prstGeom>
          <a:solidFill>
            <a:srgbClr val="D5DED9"/>
          </a:solidFill>
          <a:ln/>
        </p:spPr>
      </p:sp>
      <p:sp>
        <p:nvSpPr>
          <p:cNvPr id="5" name="Point de progression 3"/>
          <p:cNvSpPr/>
          <p:nvPr/>
        </p:nvSpPr>
        <p:spPr>
          <a:xfrm>
            <a:off x="11018520" y="365760"/>
            <a:ext cx="128016" cy="128016"/>
          </a:xfrm>
          <a:prstGeom prst="ellipse">
            <a:avLst/>
          </a:prstGeom>
          <a:solidFill>
            <a:srgbClr val="D5DED9"/>
          </a:solidFill>
          <a:ln/>
        </p:spPr>
      </p:sp>
      <p:sp>
        <p:nvSpPr>
          <p:cNvPr id="6" name="Point de progression 4"/>
          <p:cNvSpPr/>
          <p:nvPr/>
        </p:nvSpPr>
        <p:spPr>
          <a:xfrm>
            <a:off x="11247120" y="365760"/>
            <a:ext cx="128016" cy="128016"/>
          </a:xfrm>
          <a:prstGeom prst="ellipse">
            <a:avLst/>
          </a:prstGeom>
          <a:solidFill>
            <a:srgbClr val="D5DED9"/>
          </a:solidFill>
          <a:ln/>
        </p:spPr>
      </p:sp>
      <p:sp>
        <p:nvSpPr>
          <p:cNvPr id="7" name="Point de progression 5"/>
          <p:cNvSpPr/>
          <p:nvPr/>
        </p:nvSpPr>
        <p:spPr>
          <a:xfrm>
            <a:off x="11475720" y="365760"/>
            <a:ext cx="128016" cy="128016"/>
          </a:xfrm>
          <a:prstGeom prst="ellipse">
            <a:avLst/>
          </a:prstGeom>
          <a:solidFill>
            <a:srgbClr val="C4621D"/>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Les grands enjeux actuels de l'IPC</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Quatre débats que tout producteur d'IPC doit savoir expliquer</a:t>
            </a:r>
            <a:endParaRPr lang="en-US" sz="1500" dirty="0"/>
          </a:p>
        </p:txBody>
      </p:sp>
      <p:sp>
        <p:nvSpPr>
          <p:cNvPr id="10" name="Carte enjeu 1"/>
          <p:cNvSpPr/>
          <p:nvPr/>
        </p:nvSpPr>
        <p:spPr>
          <a:xfrm>
            <a:off x="502920" y="1783080"/>
            <a:ext cx="5440680" cy="1965960"/>
          </a:xfrm>
          <a:prstGeom prst="roundRect">
            <a:avLst>
              <a:gd name="adj" fmla="val 3721"/>
            </a:avLst>
          </a:prstGeom>
          <a:solidFill>
            <a:srgbClr val="F4F7F5"/>
          </a:solidFill>
          <a:ln w="9525">
            <a:solidFill>
              <a:srgbClr val="D5DED9"/>
            </a:solidFill>
            <a:prstDash val="solid"/>
          </a:ln>
        </p:spPr>
      </p:sp>
      <p:sp>
        <p:nvSpPr>
          <p:cNvPr id="11" name="Enjeu 1 cercle"/>
          <p:cNvSpPr/>
          <p:nvPr/>
        </p:nvSpPr>
        <p:spPr>
          <a:xfrm>
            <a:off x="777240" y="2057400"/>
            <a:ext cx="777240" cy="777240"/>
          </a:xfrm>
          <a:prstGeom prst="ellipse">
            <a:avLst/>
          </a:prstGeom>
          <a:solidFill>
            <a:srgbClr val="B83B2E">
              <a:alpha val="22000"/>
            </a:srgbClr>
          </a:solidFill>
          <a:ln/>
        </p:spPr>
      </p:sp>
      <p:pic>
        <p:nvPicPr>
          <p:cNvPr id="12" name="Enjeu 1 icône" descr="preencoded.png"/>
          <p:cNvPicPr>
            <a:picLocks noChangeAspect="1"/>
          </p:cNvPicPr>
          <p:nvPr/>
        </p:nvPicPr>
        <p:blipFill>
          <a:blip r:embed="rId3"/>
          <a:stretch>
            <a:fillRect/>
          </a:stretch>
        </p:blipFill>
        <p:spPr>
          <a:xfrm>
            <a:off x="971550" y="2251710"/>
            <a:ext cx="388620" cy="388620"/>
          </a:xfrm>
          <a:prstGeom prst="rect">
            <a:avLst/>
          </a:prstGeom>
        </p:spPr>
      </p:pic>
      <p:sp>
        <p:nvSpPr>
          <p:cNvPr id="13" name="Text 10"/>
          <p:cNvSpPr txBox="1"/>
          <p:nvPr/>
        </p:nvSpPr>
        <p:spPr>
          <a:xfrm>
            <a:off x="1783080" y="2057400"/>
            <a:ext cx="3931920" cy="457200"/>
          </a:xfrm>
          <a:prstGeom prst="rect">
            <a:avLst/>
          </a:prstGeom>
          <a:noFill/>
          <a:ln/>
        </p:spPr>
        <p:txBody>
          <a:bodyPr wrap="square" lIns="0" tIns="0" rIns="0" bIns="0" rtlCol="0" anchor="ctr"/>
          <a:lstStyle/>
          <a:p>
            <a:pPr marL="0" indent="0">
              <a:buNone/>
            </a:pPr>
            <a:r>
              <a:rPr lang="en-US" sz="1700" b="1" dirty="0">
                <a:solidFill>
                  <a:srgbClr val="231F20"/>
                </a:solidFill>
              </a:rPr>
              <a:t>Biais de mesure</a:t>
            </a:r>
            <a:endParaRPr lang="en-US" sz="1700" dirty="0"/>
          </a:p>
        </p:txBody>
      </p:sp>
      <p:sp>
        <p:nvSpPr>
          <p:cNvPr id="14" name="Text 11"/>
          <p:cNvSpPr txBox="1"/>
          <p:nvPr/>
        </p:nvSpPr>
        <p:spPr>
          <a:xfrm>
            <a:off x="1783080" y="2560320"/>
            <a:ext cx="3931920" cy="1051560"/>
          </a:xfrm>
          <a:prstGeom prst="rect">
            <a:avLst/>
          </a:prstGeom>
          <a:noFill/>
          <a:ln/>
        </p:spPr>
        <p:txBody>
          <a:bodyPr wrap="square" lIns="0" tIns="0" rIns="0" bIns="0" rtlCol="0" anchor="t"/>
          <a:lstStyle/>
          <a:p>
            <a:pPr marL="0" indent="0">
              <a:buNone/>
            </a:pPr>
            <a:r>
              <a:rPr lang="en-US" sz="1400" dirty="0">
                <a:solidFill>
                  <a:srgbClr val="5E6964"/>
                </a:solidFill>
              </a:rPr>
              <a:t>Substitution entre produits, nouveaux produits, effets qualité, changement de points de vente : l'IPC tend à surestimer légèrement l'inflation.</a:t>
            </a:r>
            <a:endParaRPr lang="en-US" sz="1400" dirty="0"/>
          </a:p>
        </p:txBody>
      </p:sp>
      <p:sp>
        <p:nvSpPr>
          <p:cNvPr id="15" name="Carte enjeu 2"/>
          <p:cNvSpPr/>
          <p:nvPr/>
        </p:nvSpPr>
        <p:spPr>
          <a:xfrm>
            <a:off x="6172200" y="1783080"/>
            <a:ext cx="5440680" cy="1965960"/>
          </a:xfrm>
          <a:prstGeom prst="roundRect">
            <a:avLst>
              <a:gd name="adj" fmla="val 3721"/>
            </a:avLst>
          </a:prstGeom>
          <a:solidFill>
            <a:srgbClr val="F4F7F5"/>
          </a:solidFill>
          <a:ln w="9525">
            <a:solidFill>
              <a:srgbClr val="D5DED9"/>
            </a:solidFill>
            <a:prstDash val="solid"/>
          </a:ln>
        </p:spPr>
      </p:sp>
      <p:sp>
        <p:nvSpPr>
          <p:cNvPr id="16" name="Enjeu 2 cercle"/>
          <p:cNvSpPr/>
          <p:nvPr/>
        </p:nvSpPr>
        <p:spPr>
          <a:xfrm>
            <a:off x="6446520" y="2057400"/>
            <a:ext cx="777240" cy="777240"/>
          </a:xfrm>
          <a:prstGeom prst="ellipse">
            <a:avLst/>
          </a:prstGeom>
          <a:solidFill>
            <a:srgbClr val="00704A">
              <a:alpha val="22000"/>
            </a:srgbClr>
          </a:solidFill>
          <a:ln/>
        </p:spPr>
      </p:sp>
      <p:pic>
        <p:nvPicPr>
          <p:cNvPr id="17" name="Enjeu 2 icône" descr="preencoded.png"/>
          <p:cNvPicPr>
            <a:picLocks noChangeAspect="1"/>
          </p:cNvPicPr>
          <p:nvPr/>
        </p:nvPicPr>
        <p:blipFill>
          <a:blip r:embed="rId4"/>
          <a:stretch>
            <a:fillRect/>
          </a:stretch>
        </p:blipFill>
        <p:spPr>
          <a:xfrm>
            <a:off x="6640830" y="2251710"/>
            <a:ext cx="388620" cy="388620"/>
          </a:xfrm>
          <a:prstGeom prst="rect">
            <a:avLst/>
          </a:prstGeom>
        </p:spPr>
      </p:pic>
      <p:sp>
        <p:nvSpPr>
          <p:cNvPr id="18" name="Text 14"/>
          <p:cNvSpPr txBox="1"/>
          <p:nvPr/>
        </p:nvSpPr>
        <p:spPr>
          <a:xfrm>
            <a:off x="7452360" y="2057400"/>
            <a:ext cx="3931920" cy="457200"/>
          </a:xfrm>
          <a:prstGeom prst="rect">
            <a:avLst/>
          </a:prstGeom>
          <a:noFill/>
          <a:ln/>
        </p:spPr>
        <p:txBody>
          <a:bodyPr wrap="square" lIns="0" tIns="0" rIns="0" bIns="0" rtlCol="0" anchor="ctr"/>
          <a:lstStyle/>
          <a:p>
            <a:pPr marL="0" indent="0">
              <a:buNone/>
            </a:pPr>
            <a:r>
              <a:rPr lang="en-US" sz="1700" b="1" dirty="0">
                <a:solidFill>
                  <a:srgbClr val="231F20"/>
                </a:solidFill>
              </a:rPr>
              <a:t>Logement des propriétaires</a:t>
            </a:r>
            <a:endParaRPr lang="en-US" sz="1700" dirty="0"/>
          </a:p>
        </p:txBody>
      </p:sp>
      <p:sp>
        <p:nvSpPr>
          <p:cNvPr id="19" name="Text 15"/>
          <p:cNvSpPr txBox="1"/>
          <p:nvPr/>
        </p:nvSpPr>
        <p:spPr>
          <a:xfrm>
            <a:off x="7452360" y="2560320"/>
            <a:ext cx="3931920" cy="1051560"/>
          </a:xfrm>
          <a:prstGeom prst="rect">
            <a:avLst/>
          </a:prstGeom>
          <a:noFill/>
          <a:ln/>
        </p:spPr>
        <p:txBody>
          <a:bodyPr wrap="square" lIns="0" tIns="0" rIns="0" bIns="0" rtlCol="0" anchor="t"/>
          <a:lstStyle/>
          <a:p>
            <a:pPr marL="0" indent="0">
              <a:buNone/>
            </a:pPr>
            <a:r>
              <a:rPr lang="en-US" sz="1400" dirty="0">
                <a:solidFill>
                  <a:srgbClr val="5E6964"/>
                </a:solidFill>
              </a:rPr>
              <a:t>Les coûts du logement des propriétaires ne sont pas encore dans l'IPCH européen ; les approches restent débattues.</a:t>
            </a:r>
            <a:endParaRPr lang="en-US" sz="1400" dirty="0"/>
          </a:p>
        </p:txBody>
      </p:sp>
      <p:sp>
        <p:nvSpPr>
          <p:cNvPr id="20" name="Carte enjeu 3"/>
          <p:cNvSpPr/>
          <p:nvPr/>
        </p:nvSpPr>
        <p:spPr>
          <a:xfrm>
            <a:off x="502920" y="3977640"/>
            <a:ext cx="5440680" cy="1965960"/>
          </a:xfrm>
          <a:prstGeom prst="roundRect">
            <a:avLst>
              <a:gd name="adj" fmla="val 3721"/>
            </a:avLst>
          </a:prstGeom>
          <a:solidFill>
            <a:srgbClr val="F4F7F5"/>
          </a:solidFill>
          <a:ln w="9525">
            <a:solidFill>
              <a:srgbClr val="D5DED9"/>
            </a:solidFill>
            <a:prstDash val="solid"/>
          </a:ln>
        </p:spPr>
      </p:sp>
      <p:sp>
        <p:nvSpPr>
          <p:cNvPr id="21" name="Enjeu 3 cercle"/>
          <p:cNvSpPr/>
          <p:nvPr/>
        </p:nvSpPr>
        <p:spPr>
          <a:xfrm>
            <a:off x="777240" y="4251960"/>
            <a:ext cx="777240" cy="777240"/>
          </a:xfrm>
          <a:prstGeom prst="ellipse">
            <a:avLst/>
          </a:prstGeom>
          <a:solidFill>
            <a:srgbClr val="D49A00">
              <a:alpha val="22000"/>
            </a:srgbClr>
          </a:solidFill>
          <a:ln/>
        </p:spPr>
      </p:sp>
      <p:pic>
        <p:nvPicPr>
          <p:cNvPr id="22" name="Enjeu 3 icône" descr="preencoded.png"/>
          <p:cNvPicPr>
            <a:picLocks noChangeAspect="1"/>
          </p:cNvPicPr>
          <p:nvPr/>
        </p:nvPicPr>
        <p:blipFill>
          <a:blip r:embed="rId5"/>
          <a:stretch>
            <a:fillRect/>
          </a:stretch>
        </p:blipFill>
        <p:spPr>
          <a:xfrm>
            <a:off x="971550" y="4446270"/>
            <a:ext cx="388620" cy="388620"/>
          </a:xfrm>
          <a:prstGeom prst="rect">
            <a:avLst/>
          </a:prstGeom>
        </p:spPr>
      </p:pic>
      <p:sp>
        <p:nvSpPr>
          <p:cNvPr id="23" name="Text 18"/>
          <p:cNvSpPr txBox="1"/>
          <p:nvPr/>
        </p:nvSpPr>
        <p:spPr>
          <a:xfrm>
            <a:off x="1783080" y="4251960"/>
            <a:ext cx="3931920" cy="457200"/>
          </a:xfrm>
          <a:prstGeom prst="rect">
            <a:avLst/>
          </a:prstGeom>
          <a:noFill/>
          <a:ln/>
        </p:spPr>
        <p:txBody>
          <a:bodyPr wrap="square" lIns="0" tIns="0" rIns="0" bIns="0" rtlCol="0" anchor="ctr"/>
          <a:lstStyle/>
          <a:p>
            <a:pPr marL="0" indent="0">
              <a:buNone/>
            </a:pPr>
            <a:r>
              <a:rPr lang="en-US" sz="1700" b="1" dirty="0">
                <a:solidFill>
                  <a:srgbClr val="231F20"/>
                </a:solidFill>
              </a:rPr>
              <a:t>Commerce en ligne</a:t>
            </a:r>
            <a:endParaRPr lang="en-US" sz="1700" dirty="0"/>
          </a:p>
        </p:txBody>
      </p:sp>
      <p:sp>
        <p:nvSpPr>
          <p:cNvPr id="24" name="Text 19"/>
          <p:cNvSpPr txBox="1"/>
          <p:nvPr/>
        </p:nvSpPr>
        <p:spPr>
          <a:xfrm>
            <a:off x="1783080" y="4754880"/>
            <a:ext cx="3931920" cy="1051560"/>
          </a:xfrm>
          <a:prstGeom prst="rect">
            <a:avLst/>
          </a:prstGeom>
          <a:noFill/>
          <a:ln/>
        </p:spPr>
        <p:txBody>
          <a:bodyPr wrap="square" lIns="0" tIns="0" rIns="0" bIns="0" rtlCol="0" anchor="t"/>
          <a:lstStyle/>
          <a:p>
            <a:pPr marL="0" indent="0">
              <a:buNone/>
            </a:pPr>
            <a:r>
              <a:rPr lang="en-US" sz="1400" dirty="0">
                <a:solidFill>
                  <a:srgbClr val="5E6964"/>
                </a:solidFill>
              </a:rPr>
              <a:t>Une part croissante des achats, des prix très volatils, et des frais de livraison désormais isolés par la COICOP 2018.</a:t>
            </a:r>
            <a:endParaRPr lang="en-US" sz="1400" dirty="0"/>
          </a:p>
        </p:txBody>
      </p:sp>
      <p:sp>
        <p:nvSpPr>
          <p:cNvPr id="25" name="Carte enjeu 4"/>
          <p:cNvSpPr/>
          <p:nvPr/>
        </p:nvSpPr>
        <p:spPr>
          <a:xfrm>
            <a:off x="6172200" y="3977640"/>
            <a:ext cx="5440680" cy="1965960"/>
          </a:xfrm>
          <a:prstGeom prst="roundRect">
            <a:avLst>
              <a:gd name="adj" fmla="val 3721"/>
            </a:avLst>
          </a:prstGeom>
          <a:solidFill>
            <a:srgbClr val="F4F7F5"/>
          </a:solidFill>
          <a:ln w="9525">
            <a:solidFill>
              <a:srgbClr val="D5DED9"/>
            </a:solidFill>
            <a:prstDash val="solid"/>
          </a:ln>
        </p:spPr>
      </p:sp>
      <p:sp>
        <p:nvSpPr>
          <p:cNvPr id="26" name="Enjeu 4 cercle"/>
          <p:cNvSpPr/>
          <p:nvPr/>
        </p:nvSpPr>
        <p:spPr>
          <a:xfrm>
            <a:off x="6446520" y="4251960"/>
            <a:ext cx="777240" cy="777240"/>
          </a:xfrm>
          <a:prstGeom prst="ellipse">
            <a:avLst/>
          </a:prstGeom>
          <a:solidFill>
            <a:srgbClr val="0E7C86">
              <a:alpha val="22000"/>
            </a:srgbClr>
          </a:solidFill>
          <a:ln/>
        </p:spPr>
      </p:sp>
      <p:pic>
        <p:nvPicPr>
          <p:cNvPr id="27" name="Enjeu 4 icône" descr="preencoded.png"/>
          <p:cNvPicPr>
            <a:picLocks noChangeAspect="1"/>
          </p:cNvPicPr>
          <p:nvPr/>
        </p:nvPicPr>
        <p:blipFill>
          <a:blip r:embed="rId6"/>
          <a:stretch>
            <a:fillRect/>
          </a:stretch>
        </p:blipFill>
        <p:spPr>
          <a:xfrm>
            <a:off x="6640830" y="4446270"/>
            <a:ext cx="388620" cy="388620"/>
          </a:xfrm>
          <a:prstGeom prst="rect">
            <a:avLst/>
          </a:prstGeom>
        </p:spPr>
      </p:pic>
      <p:sp>
        <p:nvSpPr>
          <p:cNvPr id="28" name="Text 22"/>
          <p:cNvSpPr txBox="1"/>
          <p:nvPr/>
        </p:nvSpPr>
        <p:spPr>
          <a:xfrm>
            <a:off x="7452360" y="4251960"/>
            <a:ext cx="3931920" cy="457200"/>
          </a:xfrm>
          <a:prstGeom prst="rect">
            <a:avLst/>
          </a:prstGeom>
          <a:noFill/>
          <a:ln/>
        </p:spPr>
        <p:txBody>
          <a:bodyPr wrap="square" lIns="0" tIns="0" rIns="0" bIns="0" rtlCol="0" anchor="ctr"/>
          <a:lstStyle/>
          <a:p>
            <a:pPr marL="0" indent="0">
              <a:buNone/>
            </a:pPr>
            <a:r>
              <a:rPr lang="en-US" sz="1700" b="1" dirty="0">
                <a:solidFill>
                  <a:srgbClr val="231F20"/>
                </a:solidFill>
              </a:rPr>
              <a:t>Inflation ressentie</a:t>
            </a:r>
            <a:endParaRPr lang="en-US" sz="1700" dirty="0"/>
          </a:p>
        </p:txBody>
      </p:sp>
      <p:sp>
        <p:nvSpPr>
          <p:cNvPr id="29" name="Text 23"/>
          <p:cNvSpPr txBox="1"/>
          <p:nvPr/>
        </p:nvSpPr>
        <p:spPr>
          <a:xfrm>
            <a:off x="7452360" y="4754880"/>
            <a:ext cx="3931920" cy="1051560"/>
          </a:xfrm>
          <a:prstGeom prst="rect">
            <a:avLst/>
          </a:prstGeom>
          <a:noFill/>
          <a:ln/>
        </p:spPr>
        <p:txBody>
          <a:bodyPr wrap="square" lIns="0" tIns="0" rIns="0" bIns="0" rtlCol="0" anchor="t"/>
          <a:lstStyle/>
          <a:p>
            <a:pPr marL="0" indent="0">
              <a:buNone/>
            </a:pPr>
            <a:r>
              <a:rPr lang="en-US" sz="1400" dirty="0">
                <a:solidFill>
                  <a:srgbClr val="5E6964"/>
                </a:solidFill>
              </a:rPr>
              <a:t>Achats fréquents, ménages modestes plus exposés à l'alimentation : l'écart avec l'indice moyen nourrit la défiance.</a:t>
            </a:r>
            <a:endParaRPr lang="en-US" sz="1400" dirty="0"/>
          </a:p>
        </p:txBody>
      </p:sp>
      <p:sp>
        <p:nvSpPr>
          <p:cNvPr id="30"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31</a:t>
            </a:fld>
            <a:endParaRPr lang="en-US"/>
          </a:p>
        </p:txBody>
      </p:sp>
    </p:spTree>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05 · ENJEUX ET CONCLUSION</a:t>
            </a:r>
            <a:endParaRPr lang="en-US" sz="1200" dirty="0"/>
          </a:p>
        </p:txBody>
      </p:sp>
      <p:sp>
        <p:nvSpPr>
          <p:cNvPr id="3" name="Point de progression 1"/>
          <p:cNvSpPr/>
          <p:nvPr/>
        </p:nvSpPr>
        <p:spPr>
          <a:xfrm>
            <a:off x="10561320" y="365760"/>
            <a:ext cx="128016" cy="128016"/>
          </a:xfrm>
          <a:prstGeom prst="ellipse">
            <a:avLst/>
          </a:prstGeom>
          <a:solidFill>
            <a:srgbClr val="D5DED9"/>
          </a:solidFill>
          <a:ln/>
        </p:spPr>
      </p:sp>
      <p:sp>
        <p:nvSpPr>
          <p:cNvPr id="4" name="Point de progression 2"/>
          <p:cNvSpPr/>
          <p:nvPr/>
        </p:nvSpPr>
        <p:spPr>
          <a:xfrm>
            <a:off x="10789920" y="365760"/>
            <a:ext cx="128016" cy="128016"/>
          </a:xfrm>
          <a:prstGeom prst="ellipse">
            <a:avLst/>
          </a:prstGeom>
          <a:solidFill>
            <a:srgbClr val="D5DED9"/>
          </a:solidFill>
          <a:ln/>
        </p:spPr>
      </p:sp>
      <p:sp>
        <p:nvSpPr>
          <p:cNvPr id="5" name="Point de progression 3"/>
          <p:cNvSpPr/>
          <p:nvPr/>
        </p:nvSpPr>
        <p:spPr>
          <a:xfrm>
            <a:off x="11018520" y="365760"/>
            <a:ext cx="128016" cy="128016"/>
          </a:xfrm>
          <a:prstGeom prst="ellipse">
            <a:avLst/>
          </a:prstGeom>
          <a:solidFill>
            <a:srgbClr val="D5DED9"/>
          </a:solidFill>
          <a:ln/>
        </p:spPr>
      </p:sp>
      <p:sp>
        <p:nvSpPr>
          <p:cNvPr id="6" name="Point de progression 4"/>
          <p:cNvSpPr/>
          <p:nvPr/>
        </p:nvSpPr>
        <p:spPr>
          <a:xfrm>
            <a:off x="11247120" y="365760"/>
            <a:ext cx="128016" cy="128016"/>
          </a:xfrm>
          <a:prstGeom prst="ellipse">
            <a:avLst/>
          </a:prstGeom>
          <a:solidFill>
            <a:srgbClr val="D5DED9"/>
          </a:solidFill>
          <a:ln/>
        </p:spPr>
      </p:sp>
      <p:sp>
        <p:nvSpPr>
          <p:cNvPr id="7" name="Point de progression 5"/>
          <p:cNvSpPr/>
          <p:nvPr/>
        </p:nvSpPr>
        <p:spPr>
          <a:xfrm>
            <a:off x="11475720" y="365760"/>
            <a:ext cx="128016" cy="128016"/>
          </a:xfrm>
          <a:prstGeom prst="ellipse">
            <a:avLst/>
          </a:prstGeom>
          <a:solidFill>
            <a:srgbClr val="C4621D"/>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En résumé</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Un IPC fiable repose sur un panier bien construit, une méthode documentée et des sources diversifiées</a:t>
            </a:r>
            <a:endParaRPr lang="en-US" sz="1500" dirty="0"/>
          </a:p>
        </p:txBody>
      </p:sp>
      <p:sp>
        <p:nvSpPr>
          <p:cNvPr id="10" name="Pastille conclusion 01"/>
          <p:cNvSpPr txBox="1"/>
          <p:nvPr/>
        </p:nvSpPr>
        <p:spPr>
          <a:xfrm>
            <a:off x="502920" y="1828800"/>
            <a:ext cx="914400" cy="914400"/>
          </a:xfrm>
          <a:prstGeom prst="roundRect">
            <a:avLst>
              <a:gd name="adj" fmla="val 8000"/>
            </a:avLst>
          </a:prstGeom>
          <a:solidFill>
            <a:srgbClr val="00A86A"/>
          </a:solidFill>
          <a:ln/>
        </p:spPr>
        <p:txBody>
          <a:bodyPr wrap="square" lIns="0" tIns="0" rIns="0" bIns="0" rtlCol="0" anchor="ctr"/>
          <a:lstStyle/>
          <a:p>
            <a:pPr marL="0" indent="0" algn="ctr">
              <a:buNone/>
            </a:pPr>
            <a:r>
              <a:rPr lang="en-US" sz="2600" b="1" dirty="0">
                <a:solidFill>
                  <a:srgbClr val="FFFFFF"/>
                </a:solidFill>
              </a:rPr>
              <a:t>01</a:t>
            </a:r>
            <a:endParaRPr lang="en-US" sz="2600" dirty="0"/>
          </a:p>
        </p:txBody>
      </p:sp>
      <p:sp>
        <p:nvSpPr>
          <p:cNvPr id="11" name="Text 9"/>
          <p:cNvSpPr txBox="1"/>
          <p:nvPr/>
        </p:nvSpPr>
        <p:spPr>
          <a:xfrm>
            <a:off x="1691640" y="1828800"/>
            <a:ext cx="5669280" cy="411480"/>
          </a:xfrm>
          <a:prstGeom prst="rect">
            <a:avLst/>
          </a:prstGeom>
          <a:noFill/>
          <a:ln/>
        </p:spPr>
        <p:txBody>
          <a:bodyPr wrap="square" lIns="0" tIns="0" rIns="0" bIns="0" rtlCol="0" anchor="ctr"/>
          <a:lstStyle/>
          <a:p>
            <a:pPr marL="0" indent="0">
              <a:buNone/>
            </a:pPr>
            <a:r>
              <a:rPr lang="en-US" sz="2000" b="1" dirty="0">
                <a:solidFill>
                  <a:srgbClr val="231F20"/>
                </a:solidFill>
              </a:rPr>
              <a:t>L'IPC engage des décisions</a:t>
            </a:r>
            <a:endParaRPr lang="en-US" sz="2000" dirty="0"/>
          </a:p>
        </p:txBody>
      </p:sp>
      <p:sp>
        <p:nvSpPr>
          <p:cNvPr id="12" name="Text 10"/>
          <p:cNvSpPr txBox="1"/>
          <p:nvPr/>
        </p:nvSpPr>
        <p:spPr>
          <a:xfrm>
            <a:off x="1691640" y="2240280"/>
            <a:ext cx="5852160" cy="548640"/>
          </a:xfrm>
          <a:prstGeom prst="rect">
            <a:avLst/>
          </a:prstGeom>
          <a:noFill/>
          <a:ln/>
        </p:spPr>
        <p:txBody>
          <a:bodyPr wrap="square" lIns="0" tIns="0" rIns="0" bIns="0" rtlCol="0" anchor="t"/>
          <a:lstStyle/>
          <a:p>
            <a:pPr marL="0" indent="0">
              <a:buNone/>
            </a:pPr>
            <a:r>
              <a:rPr lang="en-US" sz="1500" dirty="0">
                <a:solidFill>
                  <a:srgbClr val="5E6964"/>
                </a:solidFill>
              </a:rPr>
              <a:t>Politique monétaire, indexation, comptes nationaux : la qualité de la mesure a un coût réel.</a:t>
            </a:r>
            <a:endParaRPr lang="en-US" sz="1500" dirty="0"/>
          </a:p>
        </p:txBody>
      </p:sp>
      <p:sp>
        <p:nvSpPr>
          <p:cNvPr id="13" name="Pastille conclusion 02"/>
          <p:cNvSpPr txBox="1"/>
          <p:nvPr/>
        </p:nvSpPr>
        <p:spPr>
          <a:xfrm>
            <a:off x="502920" y="3200400"/>
            <a:ext cx="914400" cy="914400"/>
          </a:xfrm>
          <a:prstGeom prst="roundRect">
            <a:avLst>
              <a:gd name="adj" fmla="val 8000"/>
            </a:avLst>
          </a:prstGeom>
          <a:solidFill>
            <a:srgbClr val="00704A"/>
          </a:solidFill>
          <a:ln/>
        </p:spPr>
        <p:txBody>
          <a:bodyPr wrap="square" lIns="0" tIns="0" rIns="0" bIns="0" rtlCol="0" anchor="ctr"/>
          <a:lstStyle/>
          <a:p>
            <a:pPr marL="0" indent="0" algn="ctr">
              <a:buNone/>
            </a:pPr>
            <a:r>
              <a:rPr lang="en-US" sz="2600" b="1" dirty="0">
                <a:solidFill>
                  <a:srgbClr val="FFFFFF"/>
                </a:solidFill>
              </a:rPr>
              <a:t>02</a:t>
            </a:r>
            <a:endParaRPr lang="en-US" sz="2600" dirty="0"/>
          </a:p>
        </p:txBody>
      </p:sp>
      <p:sp>
        <p:nvSpPr>
          <p:cNvPr id="14" name="Text 12"/>
          <p:cNvSpPr txBox="1"/>
          <p:nvPr/>
        </p:nvSpPr>
        <p:spPr>
          <a:xfrm>
            <a:off x="1691640" y="3200400"/>
            <a:ext cx="5669280" cy="411480"/>
          </a:xfrm>
          <a:prstGeom prst="rect">
            <a:avLst/>
          </a:prstGeom>
          <a:noFill/>
          <a:ln/>
        </p:spPr>
        <p:txBody>
          <a:bodyPr wrap="square" lIns="0" tIns="0" rIns="0" bIns="0" rtlCol="0" anchor="ctr"/>
          <a:lstStyle/>
          <a:p>
            <a:pPr marL="0" indent="0">
              <a:buNone/>
            </a:pPr>
            <a:r>
              <a:rPr lang="en-US" sz="2000" b="1" dirty="0">
                <a:solidFill>
                  <a:srgbClr val="231F20"/>
                </a:solidFill>
              </a:rPr>
              <a:t>La COICOP 2018 structure le panier</a:t>
            </a:r>
            <a:endParaRPr lang="en-US" sz="2000" dirty="0"/>
          </a:p>
        </p:txBody>
      </p:sp>
      <p:sp>
        <p:nvSpPr>
          <p:cNvPr id="15" name="Text 13"/>
          <p:cNvSpPr txBox="1"/>
          <p:nvPr/>
        </p:nvSpPr>
        <p:spPr>
          <a:xfrm>
            <a:off x="1691640" y="3611880"/>
            <a:ext cx="5852160" cy="548640"/>
          </a:xfrm>
          <a:prstGeom prst="rect">
            <a:avLst/>
          </a:prstGeom>
          <a:noFill/>
          <a:ln/>
        </p:spPr>
        <p:txBody>
          <a:bodyPr wrap="square" lIns="0" tIns="0" rIns="0" bIns="0" rtlCol="0" anchor="t"/>
          <a:lstStyle/>
          <a:p>
            <a:pPr marL="0" indent="0">
              <a:buNone/>
            </a:pPr>
            <a:r>
              <a:rPr lang="en-US" sz="1500" dirty="0">
                <a:solidFill>
                  <a:srgbClr val="5E6964"/>
                </a:solidFill>
              </a:rPr>
              <a:t>Treize divisions, des services mieux isolés, une base 2023 commune à l'UEMOA.</a:t>
            </a:r>
            <a:endParaRPr lang="en-US" sz="1500" dirty="0"/>
          </a:p>
        </p:txBody>
      </p:sp>
      <p:sp>
        <p:nvSpPr>
          <p:cNvPr id="16" name="Pastille conclusion 03"/>
          <p:cNvSpPr txBox="1"/>
          <p:nvPr/>
        </p:nvSpPr>
        <p:spPr>
          <a:xfrm>
            <a:off x="502920" y="4572000"/>
            <a:ext cx="914400" cy="914400"/>
          </a:xfrm>
          <a:prstGeom prst="roundRect">
            <a:avLst>
              <a:gd name="adj" fmla="val 8000"/>
            </a:avLst>
          </a:prstGeom>
          <a:solidFill>
            <a:srgbClr val="0E7C86"/>
          </a:solidFill>
          <a:ln/>
        </p:spPr>
        <p:txBody>
          <a:bodyPr wrap="square" lIns="0" tIns="0" rIns="0" bIns="0" rtlCol="0" anchor="ctr"/>
          <a:lstStyle/>
          <a:p>
            <a:pPr marL="0" indent="0" algn="ctr">
              <a:buNone/>
            </a:pPr>
            <a:r>
              <a:rPr lang="en-US" sz="2600" b="1" dirty="0">
                <a:solidFill>
                  <a:srgbClr val="FFFFFF"/>
                </a:solidFill>
              </a:rPr>
              <a:t>03</a:t>
            </a:r>
            <a:endParaRPr lang="en-US" sz="2600" dirty="0"/>
          </a:p>
        </p:txBody>
      </p:sp>
      <p:sp>
        <p:nvSpPr>
          <p:cNvPr id="17" name="Text 15"/>
          <p:cNvSpPr txBox="1"/>
          <p:nvPr/>
        </p:nvSpPr>
        <p:spPr>
          <a:xfrm>
            <a:off x="1691640" y="4572000"/>
            <a:ext cx="5669280" cy="411480"/>
          </a:xfrm>
          <a:prstGeom prst="rect">
            <a:avLst/>
          </a:prstGeom>
          <a:noFill/>
          <a:ln/>
        </p:spPr>
        <p:txBody>
          <a:bodyPr wrap="square" lIns="0" tIns="0" rIns="0" bIns="0" rtlCol="0" anchor="ctr"/>
          <a:lstStyle/>
          <a:p>
            <a:pPr marL="0" indent="0">
              <a:buNone/>
            </a:pPr>
            <a:r>
              <a:rPr lang="en-US" sz="2000" b="1" dirty="0">
                <a:solidFill>
                  <a:srgbClr val="231F20"/>
                </a:solidFill>
              </a:rPr>
              <a:t>Les nouvelles sources complètent</a:t>
            </a:r>
            <a:endParaRPr lang="en-US" sz="2000" dirty="0"/>
          </a:p>
        </p:txBody>
      </p:sp>
      <p:sp>
        <p:nvSpPr>
          <p:cNvPr id="18" name="Text 16"/>
          <p:cNvSpPr txBox="1"/>
          <p:nvPr/>
        </p:nvSpPr>
        <p:spPr>
          <a:xfrm>
            <a:off x="1691640" y="4983480"/>
            <a:ext cx="5852160" cy="548640"/>
          </a:xfrm>
          <a:prstGeom prst="rect">
            <a:avLst/>
          </a:prstGeom>
          <a:noFill/>
          <a:ln/>
        </p:spPr>
        <p:txBody>
          <a:bodyPr wrap="square" lIns="0" tIns="0" rIns="0" bIns="0" rtlCol="0" anchor="t"/>
          <a:lstStyle/>
          <a:p>
            <a:pPr marL="0" indent="0">
              <a:buNone/>
            </a:pPr>
            <a:r>
              <a:rPr lang="en-US" sz="1500" dirty="0">
                <a:solidFill>
                  <a:srgbClr val="5E6964"/>
                </a:solidFill>
              </a:rPr>
              <a:t>78 % du poids atteint dans le laboratoire, mais quatre divisions exigent toujours le terrain.</a:t>
            </a:r>
            <a:endParaRPr lang="en-US" sz="1500" dirty="0"/>
          </a:p>
        </p:txBody>
      </p:sp>
      <p:sp>
        <p:nvSpPr>
          <p:cNvPr id="19" name="Encadré prochaines étapes"/>
          <p:cNvSpPr/>
          <p:nvPr/>
        </p:nvSpPr>
        <p:spPr>
          <a:xfrm>
            <a:off x="8138160" y="1828800"/>
            <a:ext cx="3520440" cy="3657600"/>
          </a:xfrm>
          <a:prstGeom prst="roundRect">
            <a:avLst>
              <a:gd name="adj" fmla="val 2078"/>
            </a:avLst>
          </a:prstGeom>
          <a:solidFill>
            <a:srgbClr val="E8F5EF"/>
          </a:solidFill>
          <a:ln w="19050">
            <a:solidFill>
              <a:srgbClr val="00A86A"/>
            </a:solidFill>
            <a:prstDash val="solid"/>
          </a:ln>
        </p:spPr>
      </p:sp>
      <p:sp>
        <p:nvSpPr>
          <p:cNvPr id="20" name="Text 18"/>
          <p:cNvSpPr txBox="1"/>
          <p:nvPr/>
        </p:nvSpPr>
        <p:spPr>
          <a:xfrm>
            <a:off x="8412480" y="2011680"/>
            <a:ext cx="3017520" cy="457200"/>
          </a:xfrm>
          <a:prstGeom prst="rect">
            <a:avLst/>
          </a:prstGeom>
          <a:noFill/>
          <a:ln/>
        </p:spPr>
        <p:txBody>
          <a:bodyPr wrap="square" lIns="0" tIns="0" rIns="0" bIns="0" rtlCol="0" anchor="ctr"/>
          <a:lstStyle/>
          <a:p>
            <a:pPr marL="0" indent="0">
              <a:buNone/>
            </a:pPr>
            <a:r>
              <a:rPr lang="en-US" sz="1900" b="1" dirty="0">
                <a:solidFill>
                  <a:srgbClr val="00704A"/>
                </a:solidFill>
              </a:rPr>
              <a:t>Prochaines étapes</a:t>
            </a:r>
            <a:endParaRPr lang="en-US" sz="1900" dirty="0"/>
          </a:p>
        </p:txBody>
      </p:sp>
      <p:sp>
        <p:nvSpPr>
          <p:cNvPr id="21" name="Text 19"/>
          <p:cNvSpPr txBox="1"/>
          <p:nvPr/>
        </p:nvSpPr>
        <p:spPr>
          <a:xfrm>
            <a:off x="8412480" y="2560320"/>
            <a:ext cx="3063240" cy="27432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231F20"/>
                </a:solidFill>
              </a:rPr>
              <a:t>Seconde collecte en novembre</a:t>
            </a:r>
            <a:endParaRPr lang="en-US" sz="1500" dirty="0"/>
          </a:p>
          <a:p>
            <a:pPr marL="342900" indent="-342900">
              <a:spcAft>
                <a:spcPts val="600"/>
              </a:spcAft>
              <a:buSzPct val="100000"/>
              <a:buChar char="•"/>
            </a:pPr>
            <a:r>
              <a:rPr lang="en-US" sz="1500" dirty="0">
                <a:solidFill>
                  <a:srgbClr val="231F20"/>
                </a:solidFill>
              </a:rPr>
              <a:t>Pondérations officielles de la Côte d'Ivoire</a:t>
            </a:r>
            <a:endParaRPr lang="en-US" sz="1500" dirty="0"/>
          </a:p>
          <a:p>
            <a:pPr marL="342900" indent="-342900">
              <a:spcAft>
                <a:spcPts val="600"/>
              </a:spcAft>
              <a:buSzPct val="100000"/>
              <a:buChar char="•"/>
            </a:pPr>
            <a:r>
              <a:rPr lang="en-US" sz="1500" dirty="0">
                <a:solidFill>
                  <a:srgbClr val="231F20"/>
                </a:solidFill>
              </a:rPr>
              <a:t>Annoter les 94 produits du banc d'essai</a:t>
            </a:r>
            <a:endParaRPr lang="en-US" sz="1500" dirty="0"/>
          </a:p>
          <a:p>
            <a:pPr marL="342900" indent="-342900">
              <a:spcAft>
                <a:spcPts val="600"/>
              </a:spcAft>
              <a:buSzPct val="100000"/>
              <a:buChar char="•"/>
            </a:pPr>
            <a:r>
              <a:rPr lang="en-US" sz="1500" dirty="0">
                <a:solidFill>
                  <a:srgbClr val="231F20"/>
                </a:solidFill>
              </a:rPr>
              <a:t>Brancher les loyers (division 04)</a:t>
            </a:r>
            <a:endParaRPr lang="en-US" sz="1500" dirty="0"/>
          </a:p>
          <a:p>
            <a:pPr marL="342900" indent="-342900">
              <a:spcAft>
                <a:spcPts val="600"/>
              </a:spcAft>
              <a:buSzPct val="100000"/>
              <a:buChar char="•"/>
            </a:pPr>
            <a:r>
              <a:rPr lang="en-US" sz="1500" dirty="0">
                <a:solidFill>
                  <a:srgbClr val="231F20"/>
                </a:solidFill>
              </a:rPr>
              <a:t>Comparer à l'IHPC officiel</a:t>
            </a:r>
            <a:endParaRPr lang="en-US" sz="1500" dirty="0"/>
          </a:p>
        </p:txBody>
      </p:sp>
      <p:sp>
        <p:nvSpPr>
          <p:cNvPr id="25"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32</a:t>
            </a:fld>
            <a:endParaRPr lang="en-US"/>
          </a:p>
        </p:txBody>
      </p:sp>
    </p:spTree>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2"/>
          <p:cNvSpPr>
            <a:spLocks noGrp="1"/>
          </p:cNvSpPr>
          <p:nvPr>
            <p:ph type="body" idx="102" hasCustomPrompt="1"/>
          </p:nvPr>
        </p:nvSpPr>
        <p:spPr>
          <a:xfrm>
            <a:off x="502920" y="292608"/>
            <a:ext cx="8229600" cy="274320"/>
          </a:xfrm>
          <a:prstGeom prst="rect">
            <a:avLst/>
          </a:prstGeom>
          <a:noFill/>
          <a:ln/>
        </p:spPr>
        <p:txBody>
          <a:bodyPr wrap="square" lIns="0" tIns="0" rIns="0" bIns="0" rtlCol="0"/>
          <a:lstStyle/>
          <a:p>
            <a:pPr marL="0" indent="0">
              <a:buNone/>
            </a:pPr>
            <a:r>
              <a:rPr lang="en-US" sz="1200" b="1" kern="0" spc="300" dirty="0">
                <a:solidFill>
                  <a:srgbClr val="00704A"/>
                </a:solidFill>
              </a:rPr>
              <a:t>05 · ENJEUX ET CONCLUSION</a:t>
            </a:r>
            <a:endParaRPr lang="en-US" sz="1200" dirty="0"/>
          </a:p>
        </p:txBody>
      </p:sp>
      <p:sp>
        <p:nvSpPr>
          <p:cNvPr id="3" name="Point de progression 1"/>
          <p:cNvSpPr/>
          <p:nvPr/>
        </p:nvSpPr>
        <p:spPr>
          <a:xfrm>
            <a:off x="10561320" y="365760"/>
            <a:ext cx="128016" cy="128016"/>
          </a:xfrm>
          <a:prstGeom prst="ellipse">
            <a:avLst/>
          </a:prstGeom>
          <a:solidFill>
            <a:srgbClr val="D5DED9"/>
          </a:solidFill>
          <a:ln/>
        </p:spPr>
      </p:sp>
      <p:sp>
        <p:nvSpPr>
          <p:cNvPr id="4" name="Point de progression 2"/>
          <p:cNvSpPr/>
          <p:nvPr/>
        </p:nvSpPr>
        <p:spPr>
          <a:xfrm>
            <a:off x="10789920" y="365760"/>
            <a:ext cx="128016" cy="128016"/>
          </a:xfrm>
          <a:prstGeom prst="ellipse">
            <a:avLst/>
          </a:prstGeom>
          <a:solidFill>
            <a:srgbClr val="D5DED9"/>
          </a:solidFill>
          <a:ln/>
        </p:spPr>
      </p:sp>
      <p:sp>
        <p:nvSpPr>
          <p:cNvPr id="5" name="Point de progression 3"/>
          <p:cNvSpPr/>
          <p:nvPr/>
        </p:nvSpPr>
        <p:spPr>
          <a:xfrm>
            <a:off x="11018520" y="365760"/>
            <a:ext cx="128016" cy="128016"/>
          </a:xfrm>
          <a:prstGeom prst="ellipse">
            <a:avLst/>
          </a:prstGeom>
          <a:solidFill>
            <a:srgbClr val="D5DED9"/>
          </a:solidFill>
          <a:ln/>
        </p:spPr>
      </p:sp>
      <p:sp>
        <p:nvSpPr>
          <p:cNvPr id="6" name="Point de progression 4"/>
          <p:cNvSpPr/>
          <p:nvPr/>
        </p:nvSpPr>
        <p:spPr>
          <a:xfrm>
            <a:off x="11247120" y="365760"/>
            <a:ext cx="128016" cy="128016"/>
          </a:xfrm>
          <a:prstGeom prst="ellipse">
            <a:avLst/>
          </a:prstGeom>
          <a:solidFill>
            <a:srgbClr val="D5DED9"/>
          </a:solidFill>
          <a:ln/>
        </p:spPr>
      </p:sp>
      <p:sp>
        <p:nvSpPr>
          <p:cNvPr id="7" name="Point de progression 5"/>
          <p:cNvSpPr/>
          <p:nvPr/>
        </p:nvSpPr>
        <p:spPr>
          <a:xfrm>
            <a:off x="11475720" y="365760"/>
            <a:ext cx="128016" cy="128016"/>
          </a:xfrm>
          <a:prstGeom prst="ellipse">
            <a:avLst/>
          </a:prstGeom>
          <a:solidFill>
            <a:srgbClr val="C4621D"/>
          </a:solidFill>
          <a:ln/>
        </p:spPr>
      </p:sp>
      <p:sp>
        <p:nvSpPr>
          <p:cNvPr id="8" name="Text 2"/>
          <p:cNvSpPr>
            <a:spLocks noGrp="1"/>
          </p:cNvSpPr>
          <p:nvPr>
            <p:ph type="title" idx="103" hasCustomPrompt="1"/>
          </p:nvPr>
        </p:nvSpPr>
        <p:spPr>
          <a:xfrm>
            <a:off x="502920" y="566928"/>
            <a:ext cx="11155680" cy="566928"/>
          </a:xfrm>
          <a:prstGeom prst="rect">
            <a:avLst/>
          </a:prstGeom>
          <a:noFill/>
          <a:ln/>
        </p:spPr>
        <p:txBody>
          <a:bodyPr wrap="square" lIns="0" tIns="0" rIns="0" bIns="0" rtlCol="0" anchor="ctr"/>
          <a:lstStyle/>
          <a:p>
            <a:pPr marL="0" indent="0" algn="l">
              <a:buNone/>
            </a:pPr>
            <a:r>
              <a:rPr lang="en-US" sz="3000" b="1" dirty="0">
                <a:solidFill>
                  <a:srgbClr val="231F20"/>
                </a:solidFill>
              </a:rPr>
              <a:t>Sources</a:t>
            </a:r>
            <a:endParaRPr lang="en-US" sz="3000" dirty="0"/>
          </a:p>
        </p:txBody>
      </p:sp>
      <p:sp>
        <p:nvSpPr>
          <p:cNvPr id="9" name="Text 2"/>
          <p:cNvSpPr>
            <a:spLocks noGrp="1"/>
          </p:cNvSpPr>
          <p:nvPr>
            <p:ph type="body" idx="104" hasCustomPrompt="1"/>
          </p:nvPr>
        </p:nvSpPr>
        <p:spPr>
          <a:xfrm>
            <a:off x="502920" y="1143000"/>
            <a:ext cx="11155680" cy="384048"/>
          </a:xfrm>
          <a:prstGeom prst="rect">
            <a:avLst/>
          </a:prstGeom>
          <a:noFill/>
          <a:ln/>
        </p:spPr>
        <p:txBody>
          <a:bodyPr wrap="square" lIns="0" tIns="0" rIns="0" bIns="0" rtlCol="0" anchor="t"/>
          <a:lstStyle/>
          <a:p>
            <a:pPr marL="0" indent="0">
              <a:buNone/>
            </a:pPr>
            <a:r>
              <a:rPr lang="en-US" sz="1500" i="1" dirty="0">
                <a:solidFill>
                  <a:srgbClr val="5E6964"/>
                </a:solidFill>
              </a:rPr>
              <a:t>Documents de référence et données utilisés dans cette présentation</a:t>
            </a:r>
            <a:endParaRPr lang="en-US" sz="1500" dirty="0"/>
          </a:p>
        </p:txBody>
      </p:sp>
      <p:sp>
        <p:nvSpPr>
          <p:cNvPr id="10" name="Référence 1"/>
          <p:cNvSpPr/>
          <p:nvPr/>
        </p:nvSpPr>
        <p:spPr>
          <a:xfrm>
            <a:off x="502920" y="1783080"/>
            <a:ext cx="5440680" cy="1280160"/>
          </a:xfrm>
          <a:prstGeom prst="roundRect">
            <a:avLst>
              <a:gd name="adj" fmla="val 5714"/>
            </a:avLst>
          </a:prstGeom>
          <a:solidFill>
            <a:srgbClr val="F4F7F5"/>
          </a:solidFill>
          <a:ln w="9525">
            <a:solidFill>
              <a:srgbClr val="D5DED9"/>
            </a:solidFill>
            <a:prstDash val="solid"/>
          </a:ln>
        </p:spPr>
      </p:sp>
      <p:sp>
        <p:nvSpPr>
          <p:cNvPr id="11" name="Text 9"/>
          <p:cNvSpPr txBox="1"/>
          <p:nvPr/>
        </p:nvSpPr>
        <p:spPr>
          <a:xfrm>
            <a:off x="731520" y="1920240"/>
            <a:ext cx="5029200" cy="320040"/>
          </a:xfrm>
          <a:prstGeom prst="rect">
            <a:avLst/>
          </a:prstGeom>
          <a:noFill/>
          <a:ln/>
        </p:spPr>
        <p:txBody>
          <a:bodyPr wrap="square" lIns="0" tIns="0" rIns="0" bIns="0" rtlCol="0" anchor="ctr"/>
          <a:lstStyle/>
          <a:p>
            <a:pPr marL="0" indent="0">
              <a:buNone/>
            </a:pPr>
            <a:r>
              <a:rPr lang="en-US" sz="1400" b="1" dirty="0">
                <a:solidFill>
                  <a:srgbClr val="231F20"/>
                </a:solidFill>
              </a:rPr>
              <a:t>Manuel de l'indice des prix à la consommation (2020)</a:t>
            </a:r>
            <a:endParaRPr lang="en-US" sz="1400" dirty="0"/>
          </a:p>
        </p:txBody>
      </p:sp>
      <p:sp>
        <p:nvSpPr>
          <p:cNvPr id="12" name="Text 10"/>
          <p:cNvSpPr txBox="1"/>
          <p:nvPr/>
        </p:nvSpPr>
        <p:spPr>
          <a:xfrm>
            <a:off x="731520" y="2240280"/>
            <a:ext cx="5029200" cy="548640"/>
          </a:xfrm>
          <a:prstGeom prst="rect">
            <a:avLst/>
          </a:prstGeom>
          <a:noFill/>
          <a:ln/>
        </p:spPr>
        <p:txBody>
          <a:bodyPr wrap="square" lIns="0" tIns="0" rIns="0" bIns="0" rtlCol="0" anchor="t"/>
          <a:lstStyle/>
          <a:p>
            <a:pPr marL="0" indent="0">
              <a:buNone/>
            </a:pPr>
            <a:r>
              <a:rPr lang="en-US" sz="1200" dirty="0">
                <a:solidFill>
                  <a:srgbClr val="5E6964"/>
                </a:solidFill>
              </a:rPr>
              <a:t>Concepts et méthodes. Publication conjointe des organisations internationales de statistique.</a:t>
            </a:r>
            <a:endParaRPr lang="en-US" sz="1200" dirty="0"/>
          </a:p>
        </p:txBody>
      </p:sp>
      <p:sp>
        <p:nvSpPr>
          <p:cNvPr id="13" name="Text 11"/>
          <p:cNvSpPr txBox="1"/>
          <p:nvPr/>
        </p:nvSpPr>
        <p:spPr>
          <a:xfrm>
            <a:off x="731520" y="2761488"/>
            <a:ext cx="5029200" cy="228600"/>
          </a:xfrm>
          <a:prstGeom prst="rect">
            <a:avLst/>
          </a:prstGeom>
          <a:noFill/>
          <a:ln/>
        </p:spPr>
        <p:txBody>
          <a:bodyPr wrap="square" lIns="0" tIns="0" rIns="0" bIns="0" rtlCol="0" anchor="ctr"/>
          <a:lstStyle/>
          <a:p>
            <a:pPr marL="0" indent="0">
              <a:buNone/>
            </a:pPr>
            <a:r>
              <a:rPr lang="en-US" sz="1100" i="1" dirty="0">
                <a:solidFill>
                  <a:srgbClr val="00704A"/>
                </a:solidFill>
              </a:rPr>
              <a:t>imf.org</a:t>
            </a:r>
            <a:endParaRPr lang="en-US" sz="1100" dirty="0"/>
          </a:p>
        </p:txBody>
      </p:sp>
      <p:sp>
        <p:nvSpPr>
          <p:cNvPr id="14" name="Référence 2"/>
          <p:cNvSpPr/>
          <p:nvPr/>
        </p:nvSpPr>
        <p:spPr>
          <a:xfrm>
            <a:off x="6172200" y="1783080"/>
            <a:ext cx="5440680" cy="1280160"/>
          </a:xfrm>
          <a:prstGeom prst="roundRect">
            <a:avLst>
              <a:gd name="adj" fmla="val 5714"/>
            </a:avLst>
          </a:prstGeom>
          <a:solidFill>
            <a:srgbClr val="F4F7F5"/>
          </a:solidFill>
          <a:ln w="9525">
            <a:solidFill>
              <a:srgbClr val="D5DED9"/>
            </a:solidFill>
            <a:prstDash val="solid"/>
          </a:ln>
        </p:spPr>
      </p:sp>
      <p:sp>
        <p:nvSpPr>
          <p:cNvPr id="15" name="Text 13"/>
          <p:cNvSpPr txBox="1"/>
          <p:nvPr/>
        </p:nvSpPr>
        <p:spPr>
          <a:xfrm>
            <a:off x="6400800" y="1920240"/>
            <a:ext cx="5029200" cy="320040"/>
          </a:xfrm>
          <a:prstGeom prst="rect">
            <a:avLst/>
          </a:prstGeom>
          <a:noFill/>
          <a:ln/>
        </p:spPr>
        <p:txBody>
          <a:bodyPr wrap="square" lIns="0" tIns="0" rIns="0" bIns="0" rtlCol="0" anchor="ctr"/>
          <a:lstStyle/>
          <a:p>
            <a:pPr marL="0" indent="0">
              <a:buNone/>
            </a:pPr>
            <a:r>
              <a:rPr lang="en-US" sz="1400" b="1" dirty="0">
                <a:solidFill>
                  <a:srgbClr val="231F20"/>
                </a:solidFill>
              </a:rPr>
              <a:t>BCEAO (2026)</a:t>
            </a:r>
            <a:endParaRPr lang="en-US" sz="1400" dirty="0"/>
          </a:p>
        </p:txBody>
      </p:sp>
      <p:sp>
        <p:nvSpPr>
          <p:cNvPr id="16" name="Text 14"/>
          <p:cNvSpPr txBox="1"/>
          <p:nvPr/>
        </p:nvSpPr>
        <p:spPr>
          <a:xfrm>
            <a:off x="6400800" y="2240280"/>
            <a:ext cx="5029200" cy="548640"/>
          </a:xfrm>
          <a:prstGeom prst="rect">
            <a:avLst/>
          </a:prstGeom>
          <a:noFill/>
          <a:ln/>
        </p:spPr>
        <p:txBody>
          <a:bodyPr wrap="square" lIns="0" tIns="0" rIns="0" bIns="0" rtlCol="0" anchor="t"/>
          <a:lstStyle/>
          <a:p>
            <a:pPr marL="0" indent="0">
              <a:buNone/>
            </a:pPr>
            <a:r>
              <a:rPr lang="en-US" sz="1200" dirty="0">
                <a:solidFill>
                  <a:srgbClr val="5E6964"/>
                </a:solidFill>
              </a:rPr>
              <a:t>Rapport annuel sur l'évolution des prix à la consommation dans l'UEMOA en 2025.</a:t>
            </a:r>
            <a:endParaRPr lang="en-US" sz="1200" dirty="0"/>
          </a:p>
        </p:txBody>
      </p:sp>
      <p:sp>
        <p:nvSpPr>
          <p:cNvPr id="17" name="Text 15"/>
          <p:cNvSpPr txBox="1"/>
          <p:nvPr/>
        </p:nvSpPr>
        <p:spPr>
          <a:xfrm>
            <a:off x="6400800" y="2761488"/>
            <a:ext cx="5029200" cy="228600"/>
          </a:xfrm>
          <a:prstGeom prst="rect">
            <a:avLst/>
          </a:prstGeom>
          <a:noFill/>
          <a:ln/>
        </p:spPr>
        <p:txBody>
          <a:bodyPr wrap="square" lIns="0" tIns="0" rIns="0" bIns="0" rtlCol="0" anchor="ctr"/>
          <a:lstStyle/>
          <a:p>
            <a:pPr marL="0" indent="0">
              <a:buNone/>
            </a:pPr>
            <a:r>
              <a:rPr lang="en-US" sz="1100" i="1" dirty="0">
                <a:solidFill>
                  <a:srgbClr val="00704A"/>
                </a:solidFill>
              </a:rPr>
              <a:t>bceao.int</a:t>
            </a:r>
            <a:endParaRPr lang="en-US" sz="1100" dirty="0"/>
          </a:p>
        </p:txBody>
      </p:sp>
      <p:sp>
        <p:nvSpPr>
          <p:cNvPr id="18" name="Référence 3"/>
          <p:cNvSpPr/>
          <p:nvPr/>
        </p:nvSpPr>
        <p:spPr>
          <a:xfrm>
            <a:off x="502920" y="3246120"/>
            <a:ext cx="5440680" cy="1280160"/>
          </a:xfrm>
          <a:prstGeom prst="roundRect">
            <a:avLst>
              <a:gd name="adj" fmla="val 5714"/>
            </a:avLst>
          </a:prstGeom>
          <a:solidFill>
            <a:srgbClr val="F4F7F5"/>
          </a:solidFill>
          <a:ln w="9525">
            <a:solidFill>
              <a:srgbClr val="D5DED9"/>
            </a:solidFill>
            <a:prstDash val="solid"/>
          </a:ln>
        </p:spPr>
      </p:sp>
      <p:sp>
        <p:nvSpPr>
          <p:cNvPr id="19" name="Text 17"/>
          <p:cNvSpPr txBox="1"/>
          <p:nvPr/>
        </p:nvSpPr>
        <p:spPr>
          <a:xfrm>
            <a:off x="731520" y="3383280"/>
            <a:ext cx="5029200" cy="320040"/>
          </a:xfrm>
          <a:prstGeom prst="rect">
            <a:avLst/>
          </a:prstGeom>
          <a:noFill/>
          <a:ln/>
        </p:spPr>
        <p:txBody>
          <a:bodyPr wrap="square" lIns="0" tIns="0" rIns="0" bIns="0" rtlCol="0" anchor="ctr"/>
          <a:lstStyle/>
          <a:p>
            <a:pPr marL="0" indent="0">
              <a:buNone/>
            </a:pPr>
            <a:r>
              <a:rPr lang="en-US" sz="1400" b="1" dirty="0">
                <a:solidFill>
                  <a:srgbClr val="231F20"/>
                </a:solidFill>
              </a:rPr>
              <a:t>ANSD (2026)</a:t>
            </a:r>
            <a:endParaRPr lang="en-US" sz="1400" dirty="0"/>
          </a:p>
        </p:txBody>
      </p:sp>
      <p:sp>
        <p:nvSpPr>
          <p:cNvPr id="20" name="Text 18"/>
          <p:cNvSpPr txBox="1"/>
          <p:nvPr/>
        </p:nvSpPr>
        <p:spPr>
          <a:xfrm>
            <a:off x="731520" y="3703320"/>
            <a:ext cx="5029200" cy="548640"/>
          </a:xfrm>
          <a:prstGeom prst="rect">
            <a:avLst/>
          </a:prstGeom>
          <a:noFill/>
          <a:ln/>
        </p:spPr>
        <p:txBody>
          <a:bodyPr wrap="square" lIns="0" tIns="0" rIns="0" bIns="0" rtlCol="0" anchor="t"/>
          <a:lstStyle/>
          <a:p>
            <a:pPr marL="0" indent="0">
              <a:buNone/>
            </a:pPr>
            <a:r>
              <a:rPr lang="en-US" sz="1200" dirty="0">
                <a:solidFill>
                  <a:srgbClr val="5E6964"/>
                </a:solidFill>
              </a:rPr>
              <a:t>Indice harmonisé des prix à la consommation, mars 2026 : pondérations base 2023 et note méthodologique.</a:t>
            </a:r>
            <a:endParaRPr lang="en-US" sz="1200" dirty="0"/>
          </a:p>
        </p:txBody>
      </p:sp>
      <p:sp>
        <p:nvSpPr>
          <p:cNvPr id="21" name="Text 19"/>
          <p:cNvSpPr txBox="1"/>
          <p:nvPr/>
        </p:nvSpPr>
        <p:spPr>
          <a:xfrm>
            <a:off x="731520" y="4224528"/>
            <a:ext cx="5029200" cy="228600"/>
          </a:xfrm>
          <a:prstGeom prst="rect">
            <a:avLst/>
          </a:prstGeom>
          <a:noFill/>
          <a:ln/>
        </p:spPr>
        <p:txBody>
          <a:bodyPr wrap="square" lIns="0" tIns="0" rIns="0" bIns="0" rtlCol="0" anchor="ctr"/>
          <a:lstStyle/>
          <a:p>
            <a:pPr marL="0" indent="0">
              <a:buNone/>
            </a:pPr>
            <a:r>
              <a:rPr lang="en-US" sz="1100" i="1" dirty="0">
                <a:solidFill>
                  <a:srgbClr val="00704A"/>
                </a:solidFill>
              </a:rPr>
              <a:t>ansd.sn</a:t>
            </a:r>
            <a:endParaRPr lang="en-US" sz="1100" dirty="0"/>
          </a:p>
        </p:txBody>
      </p:sp>
      <p:sp>
        <p:nvSpPr>
          <p:cNvPr id="22" name="Référence 4"/>
          <p:cNvSpPr/>
          <p:nvPr/>
        </p:nvSpPr>
        <p:spPr>
          <a:xfrm>
            <a:off x="6172200" y="3246120"/>
            <a:ext cx="5440680" cy="1280160"/>
          </a:xfrm>
          <a:prstGeom prst="roundRect">
            <a:avLst>
              <a:gd name="adj" fmla="val 5714"/>
            </a:avLst>
          </a:prstGeom>
          <a:solidFill>
            <a:srgbClr val="F4F7F5"/>
          </a:solidFill>
          <a:ln w="9525">
            <a:solidFill>
              <a:srgbClr val="D5DED9"/>
            </a:solidFill>
            <a:prstDash val="solid"/>
          </a:ln>
        </p:spPr>
      </p:sp>
      <p:sp>
        <p:nvSpPr>
          <p:cNvPr id="23" name="Text 21"/>
          <p:cNvSpPr txBox="1"/>
          <p:nvPr/>
        </p:nvSpPr>
        <p:spPr>
          <a:xfrm>
            <a:off x="6400800" y="3383280"/>
            <a:ext cx="5029200" cy="320040"/>
          </a:xfrm>
          <a:prstGeom prst="rect">
            <a:avLst/>
          </a:prstGeom>
          <a:noFill/>
          <a:ln/>
        </p:spPr>
        <p:txBody>
          <a:bodyPr wrap="square" lIns="0" tIns="0" rIns="0" bIns="0" rtlCol="0" anchor="ctr"/>
          <a:lstStyle/>
          <a:p>
            <a:pPr marL="0" indent="0">
              <a:buNone/>
            </a:pPr>
            <a:r>
              <a:rPr lang="en-US" sz="1400" b="1" dirty="0">
                <a:solidFill>
                  <a:srgbClr val="231F20"/>
                </a:solidFill>
              </a:rPr>
              <a:t>Nations unies, UNSD (2018)</a:t>
            </a:r>
            <a:endParaRPr lang="en-US" sz="1400" dirty="0"/>
          </a:p>
        </p:txBody>
      </p:sp>
      <p:sp>
        <p:nvSpPr>
          <p:cNvPr id="24" name="Text 22"/>
          <p:cNvSpPr txBox="1"/>
          <p:nvPr/>
        </p:nvSpPr>
        <p:spPr>
          <a:xfrm>
            <a:off x="6400800" y="3703320"/>
            <a:ext cx="5029200" cy="548640"/>
          </a:xfrm>
          <a:prstGeom prst="rect">
            <a:avLst/>
          </a:prstGeom>
          <a:noFill/>
          <a:ln/>
        </p:spPr>
        <p:txBody>
          <a:bodyPr wrap="square" lIns="0" tIns="0" rIns="0" bIns="0" rtlCol="0" anchor="t"/>
          <a:lstStyle/>
          <a:p>
            <a:pPr marL="0" indent="0">
              <a:buNone/>
            </a:pPr>
            <a:r>
              <a:rPr lang="en-US" sz="1200" dirty="0">
                <a:solidFill>
                  <a:srgbClr val="5E6964"/>
                </a:solidFill>
              </a:rPr>
              <a:t>Classification of Individual Consumption According to Purpose (COICOP) 2018.</a:t>
            </a:r>
            <a:endParaRPr lang="en-US" sz="1200" dirty="0"/>
          </a:p>
        </p:txBody>
      </p:sp>
      <p:sp>
        <p:nvSpPr>
          <p:cNvPr id="25" name="Text 23"/>
          <p:cNvSpPr txBox="1"/>
          <p:nvPr/>
        </p:nvSpPr>
        <p:spPr>
          <a:xfrm>
            <a:off x="6400800" y="4224528"/>
            <a:ext cx="5029200" cy="228600"/>
          </a:xfrm>
          <a:prstGeom prst="rect">
            <a:avLst/>
          </a:prstGeom>
          <a:noFill/>
          <a:ln/>
        </p:spPr>
        <p:txBody>
          <a:bodyPr wrap="square" lIns="0" tIns="0" rIns="0" bIns="0" rtlCol="0" anchor="ctr"/>
          <a:lstStyle/>
          <a:p>
            <a:pPr marL="0" indent="0">
              <a:buNone/>
            </a:pPr>
            <a:r>
              <a:rPr lang="en-US" sz="1100" i="1" dirty="0">
                <a:solidFill>
                  <a:srgbClr val="00704A"/>
                </a:solidFill>
              </a:rPr>
              <a:t>unstats.un.org/unsd/classifications</a:t>
            </a:r>
            <a:endParaRPr lang="en-US" sz="1100" dirty="0"/>
          </a:p>
        </p:txBody>
      </p:sp>
      <p:sp>
        <p:nvSpPr>
          <p:cNvPr id="26" name="Référence 5"/>
          <p:cNvSpPr/>
          <p:nvPr/>
        </p:nvSpPr>
        <p:spPr>
          <a:xfrm>
            <a:off x="502920" y="4709160"/>
            <a:ext cx="5440680" cy="1280160"/>
          </a:xfrm>
          <a:prstGeom prst="roundRect">
            <a:avLst>
              <a:gd name="adj" fmla="val 5714"/>
            </a:avLst>
          </a:prstGeom>
          <a:solidFill>
            <a:srgbClr val="F4F7F5"/>
          </a:solidFill>
          <a:ln w="9525">
            <a:solidFill>
              <a:srgbClr val="D5DED9"/>
            </a:solidFill>
            <a:prstDash val="solid"/>
          </a:ln>
        </p:spPr>
      </p:sp>
      <p:sp>
        <p:nvSpPr>
          <p:cNvPr id="27" name="Text 25"/>
          <p:cNvSpPr txBox="1"/>
          <p:nvPr/>
        </p:nvSpPr>
        <p:spPr>
          <a:xfrm>
            <a:off x="731520" y="4846320"/>
            <a:ext cx="5029200" cy="320040"/>
          </a:xfrm>
          <a:prstGeom prst="rect">
            <a:avLst/>
          </a:prstGeom>
          <a:noFill/>
          <a:ln/>
        </p:spPr>
        <p:txBody>
          <a:bodyPr wrap="square" lIns="0" tIns="0" rIns="0" bIns="0" rtlCol="0" anchor="ctr"/>
          <a:lstStyle/>
          <a:p>
            <a:pPr marL="0" indent="0">
              <a:buNone/>
            </a:pPr>
            <a:r>
              <a:rPr lang="en-US" sz="1400" b="1" dirty="0">
                <a:solidFill>
                  <a:srgbClr val="231F20"/>
                </a:solidFill>
              </a:rPr>
              <a:t>BCE (2026)</a:t>
            </a:r>
            <a:endParaRPr lang="en-US" sz="1400" dirty="0"/>
          </a:p>
        </p:txBody>
      </p:sp>
      <p:sp>
        <p:nvSpPr>
          <p:cNvPr id="28" name="Text 26"/>
          <p:cNvSpPr txBox="1"/>
          <p:nvPr/>
        </p:nvSpPr>
        <p:spPr>
          <a:xfrm>
            <a:off x="731520" y="5166360"/>
            <a:ext cx="5029200" cy="548640"/>
          </a:xfrm>
          <a:prstGeom prst="rect">
            <a:avLst/>
          </a:prstGeom>
          <a:noFill/>
          <a:ln/>
        </p:spPr>
        <p:txBody>
          <a:bodyPr wrap="square" lIns="0" tIns="0" rIns="0" bIns="0" rtlCol="0" anchor="t"/>
          <a:lstStyle/>
          <a:p>
            <a:pPr marL="0" indent="0">
              <a:buNone/>
            </a:pPr>
            <a:r>
              <a:rPr lang="en-US" sz="1200" dirty="0">
                <a:solidFill>
                  <a:srgbClr val="5E6964"/>
                </a:solidFill>
              </a:rPr>
              <a:t>What's new in the HICP? The 2026 classification update. Bulletin économique 3/2026.</a:t>
            </a:r>
            <a:endParaRPr lang="en-US" sz="1200" dirty="0"/>
          </a:p>
        </p:txBody>
      </p:sp>
      <p:sp>
        <p:nvSpPr>
          <p:cNvPr id="29" name="Text 27"/>
          <p:cNvSpPr txBox="1"/>
          <p:nvPr/>
        </p:nvSpPr>
        <p:spPr>
          <a:xfrm>
            <a:off x="731520" y="5687568"/>
            <a:ext cx="5029200" cy="228600"/>
          </a:xfrm>
          <a:prstGeom prst="rect">
            <a:avLst/>
          </a:prstGeom>
          <a:noFill/>
          <a:ln/>
        </p:spPr>
        <p:txBody>
          <a:bodyPr wrap="square" lIns="0" tIns="0" rIns="0" bIns="0" rtlCol="0" anchor="ctr"/>
          <a:lstStyle/>
          <a:p>
            <a:pPr marL="0" indent="0">
              <a:buNone/>
            </a:pPr>
            <a:r>
              <a:rPr lang="en-US" sz="1100" i="1" dirty="0">
                <a:solidFill>
                  <a:srgbClr val="00704A"/>
                </a:solidFill>
              </a:rPr>
              <a:t>ecb.europa.eu</a:t>
            </a:r>
            <a:endParaRPr lang="en-US" sz="1100" dirty="0"/>
          </a:p>
        </p:txBody>
      </p:sp>
      <p:sp>
        <p:nvSpPr>
          <p:cNvPr id="30" name="Référence 6"/>
          <p:cNvSpPr/>
          <p:nvPr/>
        </p:nvSpPr>
        <p:spPr>
          <a:xfrm>
            <a:off x="6172200" y="4709160"/>
            <a:ext cx="5440680" cy="1280160"/>
          </a:xfrm>
          <a:prstGeom prst="roundRect">
            <a:avLst>
              <a:gd name="adj" fmla="val 5714"/>
            </a:avLst>
          </a:prstGeom>
          <a:solidFill>
            <a:srgbClr val="F4F7F5"/>
          </a:solidFill>
          <a:ln w="9525">
            <a:solidFill>
              <a:srgbClr val="D5DED9"/>
            </a:solidFill>
            <a:prstDash val="solid"/>
          </a:ln>
        </p:spPr>
      </p:sp>
      <p:sp>
        <p:nvSpPr>
          <p:cNvPr id="31" name="Text 29"/>
          <p:cNvSpPr txBox="1"/>
          <p:nvPr/>
        </p:nvSpPr>
        <p:spPr>
          <a:xfrm>
            <a:off x="6400800" y="4846320"/>
            <a:ext cx="5029200" cy="320040"/>
          </a:xfrm>
          <a:prstGeom prst="rect">
            <a:avLst/>
          </a:prstGeom>
          <a:noFill/>
          <a:ln/>
        </p:spPr>
        <p:txBody>
          <a:bodyPr wrap="square" lIns="0" tIns="0" rIns="0" bIns="0" rtlCol="0" anchor="ctr"/>
          <a:lstStyle/>
          <a:p>
            <a:pPr marL="0" indent="0">
              <a:buNone/>
            </a:pPr>
            <a:r>
              <a:rPr lang="en-US" sz="1400" b="1" dirty="0">
                <a:solidFill>
                  <a:srgbClr val="231F20"/>
                </a:solidFill>
              </a:rPr>
              <a:t>Laboratoire jumia-cpi 1.0.0 (2026)</a:t>
            </a:r>
            <a:endParaRPr lang="en-US" sz="1400" dirty="0"/>
          </a:p>
        </p:txBody>
      </p:sp>
      <p:sp>
        <p:nvSpPr>
          <p:cNvPr id="32" name="Text 30"/>
          <p:cNvSpPr txBox="1"/>
          <p:nvPr/>
        </p:nvSpPr>
        <p:spPr>
          <a:xfrm>
            <a:off x="6400800" y="5166360"/>
            <a:ext cx="5029200" cy="548640"/>
          </a:xfrm>
          <a:prstGeom prst="rect">
            <a:avLst/>
          </a:prstGeom>
          <a:noFill/>
          <a:ln/>
        </p:spPr>
        <p:txBody>
          <a:bodyPr wrap="square" lIns="0" tIns="0" rIns="0" bIns="0" rtlCol="0" anchor="t"/>
          <a:lstStyle/>
          <a:p>
            <a:pPr marL="0" indent="0">
              <a:buNone/>
            </a:pPr>
            <a:r>
              <a:rPr lang="en-US" sz="1200" dirty="0">
                <a:solidFill>
                  <a:srgbClr val="5E6964"/>
                </a:solidFill>
              </a:rPr>
              <a:t>Notebooks de collecte et d'analyse ; exécution du 14 octobre 2026 en Côte d'Ivoire.</a:t>
            </a:r>
            <a:endParaRPr lang="en-US" sz="1200" dirty="0"/>
          </a:p>
        </p:txBody>
      </p:sp>
      <p:sp>
        <p:nvSpPr>
          <p:cNvPr id="33" name="Text 31"/>
          <p:cNvSpPr txBox="1"/>
          <p:nvPr/>
        </p:nvSpPr>
        <p:spPr>
          <a:xfrm>
            <a:off x="6400800" y="5687568"/>
            <a:ext cx="5029200" cy="228600"/>
          </a:xfrm>
          <a:prstGeom prst="rect">
            <a:avLst/>
          </a:prstGeom>
          <a:noFill/>
          <a:ln/>
        </p:spPr>
        <p:txBody>
          <a:bodyPr wrap="square" lIns="0" tIns="0" rIns="0" bIns="0" rtlCol="0" anchor="ctr"/>
          <a:lstStyle/>
          <a:p>
            <a:pPr marL="0" indent="0">
              <a:buNone/>
            </a:pPr>
            <a:r>
              <a:rPr lang="en-US" sz="1100" i="1" dirty="0">
                <a:solidFill>
                  <a:srgbClr val="00704A"/>
                </a:solidFill>
              </a:rPr>
              <a:t>notebooks 1, 2 et 3</a:t>
            </a:r>
            <a:endParaRPr lang="en-US" sz="1100" dirty="0"/>
          </a:p>
        </p:txBody>
      </p:sp>
      <p:sp>
        <p:nvSpPr>
          <p:cNvPr id="34" name="Slide Number Placeholder 0"/>
          <p:cNvSpPr>
            <a:spLocks noGrp="1"/>
          </p:cNvSpPr>
          <p:nvPr>
            <p:ph type="sldNum" sz="quarter" idx="4294967295"/>
          </p:nvPr>
        </p:nvSpPr>
        <p:spPr>
          <a:xfrm>
            <a:off x="11247120" y="6446520"/>
            <a:ext cx="457200" cy="256032"/>
          </a:xfrm>
          <a:prstGeom prst="rect">
            <a:avLst/>
          </a:prstGeom>
          <a:extLst>
            <a:ext uri="{C572A759-6A51-4108-AA02-DFA0A04FC94B}">
              <ma14:wrappingTextBoxFlag xmlns:ma14="http://schemas.microsoft.com/office/mac/drawingml/2011/main" xmlns="" val="0"/>
            </a:ext>
          </a:extLst>
        </p:spPr>
        <p:txBody>
          <a:bodyPr/>
          <a:lstStyle>
            <a:lvl1pPr>
              <a:defRPr sz="1000">
                <a:solidFill>
                  <a:srgbClr val="8A9590"/>
                </a:solidFill>
              </a:defRPr>
            </a:lvl1pPr>
          </a:lstStyle>
          <a:p>
            <a:pPr algn="r"/>
            <a:fld id="{F7021451-1387-4CA6-816F-3879F97B5CBC}" type="slidenum">
              <a:rPr lang="en-US" b="0"/>
              <a:t>33</a:t>
            </a:fld>
            <a:endParaRPr lang="en-US"/>
          </a:p>
        </p:txBody>
      </p:sp>
    </p:spTree>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731520" y="1417320"/>
            <a:ext cx="8229600" cy="411480"/>
          </a:xfrm>
          <a:prstGeom prst="rect">
            <a:avLst/>
          </a:prstGeom>
          <a:noFill/>
          <a:ln/>
        </p:spPr>
        <p:txBody>
          <a:bodyPr wrap="square" rtlCol="0"/>
          <a:lstStyle/>
          <a:p>
            <a:pPr marL="0" indent="0">
              <a:buNone/>
            </a:pPr>
            <a:r>
              <a:rPr lang="en-US" sz="1500" b="1" kern="0" spc="300" dirty="0">
                <a:solidFill>
                  <a:srgbClr val="F5C242"/>
                </a:solidFill>
              </a:rPr>
              <a:t>L'INDICE DES PRIX À LA CONSOMMATION</a:t>
            </a:r>
            <a:endParaRPr lang="en-US" sz="1500" dirty="0"/>
          </a:p>
        </p:txBody>
      </p:sp>
      <p:sp>
        <p:nvSpPr>
          <p:cNvPr id="3" name="Text 0"/>
          <p:cNvSpPr>
            <a:spLocks noGrp="1"/>
          </p:cNvSpPr>
          <p:nvPr>
            <p:ph type="title" idx="101" hasCustomPrompt="1"/>
          </p:nvPr>
        </p:nvSpPr>
        <p:spPr>
          <a:xfrm>
            <a:off x="731520" y="1874520"/>
            <a:ext cx="8412480" cy="2103120"/>
          </a:xfrm>
          <a:prstGeom prst="rect">
            <a:avLst/>
          </a:prstGeom>
          <a:noFill/>
          <a:ln/>
        </p:spPr>
        <p:txBody>
          <a:bodyPr wrap="square" rtlCol="0" anchor="t"/>
          <a:lstStyle/>
          <a:p>
            <a:pPr marL="0" indent="0" algn="l">
              <a:buNone/>
            </a:pPr>
            <a:r>
              <a:rPr lang="en-US" sz="4200" b="1" dirty="0">
                <a:solidFill>
                  <a:srgbClr val="FFFFFF"/>
                </a:solidFill>
              </a:rPr>
              <a:t>Merci</a:t>
            </a:r>
            <a:endParaRPr lang="en-US" sz="4200" dirty="0"/>
          </a:p>
        </p:txBody>
      </p:sp>
      <p:sp>
        <p:nvSpPr>
          <p:cNvPr id="4" name="Text 0"/>
          <p:cNvSpPr>
            <a:spLocks noGrp="1"/>
          </p:cNvSpPr>
          <p:nvPr>
            <p:ph type="body" idx="102" hasCustomPrompt="1"/>
          </p:nvPr>
        </p:nvSpPr>
        <p:spPr>
          <a:xfrm>
            <a:off x="731520" y="4206240"/>
            <a:ext cx="7863840" cy="914400"/>
          </a:xfrm>
          <a:prstGeom prst="rect">
            <a:avLst/>
          </a:prstGeom>
          <a:noFill/>
          <a:ln/>
        </p:spPr>
        <p:txBody>
          <a:bodyPr wrap="square" rtlCol="0" anchor="t"/>
          <a:lstStyle/>
          <a:p>
            <a:pPr marL="0" indent="0">
              <a:buNone/>
            </a:pPr>
            <a:r>
              <a:rPr lang="en-US" sz="1900" i="1" dirty="0">
                <a:solidFill>
                  <a:srgbClr val="E6F6EE"/>
                </a:solidFill>
              </a:rPr>
              <a:t>Mesurer les prix avec rigueur, et ouvrir l'IPC aux sources de données nouvelles</a:t>
            </a:r>
            <a:endParaRPr lang="en-US" sz="1900" dirty="0"/>
          </a:p>
        </p:txBody>
      </p:sp>
    </p:spTree>
  </p:cSld>
  <p:clrMapOvr>
    <a:masterClrMapping/>
  </p:clrMapOvr>
  <p:transition spd="med">
    <p:fade/>
  </p:transition>
</p:sld>
</file>

<file path=ppt/theme/theme1.xml><?xml version="1.0" encoding="utf-8"?>
<a:theme xmlns:a="http://schemas.openxmlformats.org/drawingml/2006/main" name="AfDB-inspired Institutional">
  <a:themeElements>
    <a:clrScheme name="AfDB-inspired Institutional">
      <a:dk1>
        <a:srgbClr val="231F20"/>
      </a:dk1>
      <a:lt1>
        <a:srgbClr val="FFFFFF"/>
      </a:lt1>
      <a:dk2>
        <a:srgbClr val="5E6964"/>
      </a:dk2>
      <a:lt2>
        <a:srgbClr val="F4F7F5"/>
      </a:lt2>
      <a:accent1>
        <a:srgbClr val="00A86A"/>
      </a:accent1>
      <a:accent2>
        <a:srgbClr val="00704A"/>
      </a:accent2>
      <a:accent3>
        <a:srgbClr val="0E7C86"/>
      </a:accent3>
      <a:accent4>
        <a:srgbClr val="D49A00"/>
      </a:accent4>
      <a:accent5>
        <a:srgbClr val="C4621D"/>
      </a:accent5>
      <a:accent6>
        <a:srgbClr val="B83B2E"/>
      </a:accent6>
      <a:hlink>
        <a:srgbClr val="00704A"/>
      </a:hlink>
      <a:folHlink>
        <a:srgbClr val="0E7C86"/>
      </a:folHlink>
    </a:clrScheme>
    <a:fontScheme name="AfDB-inspired Institution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5869</Words>
  <Application>Microsoft Office PowerPoint</Application>
  <PresentationFormat>Widescreen</PresentationFormat>
  <Paragraphs>582</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AfDB-inspired Institutional</vt:lpstr>
      <vt:lpstr>L'indice des prix à la consommation : de la COICOP 2018 aux prix en ligne</vt:lpstr>
      <vt:lpstr>Trois messages à retenir</vt:lpstr>
      <vt:lpstr>Sigles utilisés</vt:lpstr>
      <vt:lpstr>Comprendre l'IPC</vt:lpstr>
      <vt:lpstr>Qu'est-ce que l'indice des prix à la consommation ?</vt:lpstr>
      <vt:lpstr>Un indicateur, cinq usages qui engagent des décisions</vt:lpstr>
      <vt:lpstr>IHPC, IPCH, déflateur : des cousins, pas des jumeaux</vt:lpstr>
      <vt:lpstr>UEMOA : du pic de 2022 à la stabilité de 2025</vt:lpstr>
      <vt:lpstr>Le panier et la COICOP 2018</vt:lpstr>
      <vt:lpstr>Le panier, photographie de la consommation</vt:lpstr>
      <vt:lpstr>Les pondérations : un panier très concentré</vt:lpstr>
      <vt:lpstr>La COICOP 2018, la grille qui structure le panier</vt:lpstr>
      <vt:lpstr>Ce que la COICOP 2018 change pour un IPC</vt:lpstr>
      <vt:lpstr>Produire l'indice</vt:lpstr>
      <vt:lpstr>La chaîne de production de l'IPC</vt:lpstr>
      <vt:lpstr>Collecter les prix : quatre sources complémentaires</vt:lpstr>
      <vt:lpstr>Indices élémentaires : pourquoi choisir le Jevons</vt:lpstr>
      <vt:lpstr>Agréger, chaîner, changer de base</vt:lpstr>
      <vt:lpstr>Quatre difficultés qui font la qualité d'un IPC</vt:lpstr>
      <vt:lpstr>Un indice des prix en ligne</vt:lpstr>
      <vt:lpstr>Architecture : collecter sur le poste, analyser n'importe où</vt:lpstr>
      <vt:lpstr>Notebook 1 : collecter les prix en ligne, sans rien forcer</vt:lpstr>
      <vt:lpstr>Notebook 2 : aller chercher ce que l'e-commerce ne voit pas</vt:lpstr>
      <vt:lpstr>Couverture : 7 divisions sur 13, 78 % du poids</vt:lpstr>
      <vt:lpstr>Première collecte : 10 523 relevés en une journée</vt:lpstr>
      <vt:lpstr>Classer en COICOP : règles, modèle et banc d'essai</vt:lpstr>
      <vt:lpstr>Les promotions : la difficulté propre aux prix en ligne</vt:lpstr>
      <vt:lpstr>Ce que cet indice mesure, et ce qu'il ne mesure pas</vt:lpstr>
      <vt:lpstr>Tester le laboratoire en six étapes</vt:lpstr>
      <vt:lpstr>Enjeux et conclusion</vt:lpstr>
      <vt:lpstr>Les grands enjeux actuels de l'IPC</vt:lpstr>
      <vt:lpstr>En résumé</vt:lpstr>
      <vt:lpstr>Sources</vt:lpstr>
      <vt:lpstr>Merci</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L'indice des prix à la consommation : de la COICOP 2018 aux prix en ligne</dc:title>
  <dc:subject>Indice des prix à la consommation (IPC)</dc:subject>
  <dc:creator>Mohamed Ali Hadj Taieb</dc:creator>
  <cp:lastModifiedBy>HADJ TAIEB, MOHAMED ALI</cp:lastModifiedBy>
  <cp:revision>2</cp:revision>
  <dcterms:created xsi:type="dcterms:W3CDTF">2026-10-19T06:24:34Z</dcterms:created>
  <dcterms:modified xsi:type="dcterms:W3CDTF">2026-10-19T07:47:33Z</dcterms:modified>
</cp:coreProperties>
</file>