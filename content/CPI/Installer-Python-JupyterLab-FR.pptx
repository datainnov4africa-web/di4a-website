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58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9135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présentation s'adresse à quelqu'un qui n'a jamais installé Python. C'est la raison de son rythme : une idée par diapositive, et chaque commande montrée telle qu'on la tape.
Le message de la couverture est à faire passer d'emblée : il n'y a que deux choses à installer. La trentaine de bibliothèques dont le projet a besoin s'installe toute seule, à l'ouverture du premier carnet (notebook). Personne n'a à en connaître la liste.
Un quart d'heure est une estimation honnête pour une connexion correcte : le téléchargement de Python pèse une trentaine de mégaoctets, JupyterLab un peu plus.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 étapes, dans l'ordre où on les fait. La couleur de chaque étape se retrouve dans les points de progression, en haut à droite de chaque diapositive.
La seule contrainte d'ordre de tout le parcours : Python d'abord, JupyterLab ensuite, puisque JupyterLab s'installe par Python.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L'image à retenir : Python calcule, JupyterLab montre. L'un ne sert à rien sans l'autre pour notre usage.
La flèche entre les deux cartes n'est pas décorative : elle dit l'ordre. JupyterLab s'installe par Python, donc Python d'abord. C'est la seule contrainte d'ordre de toute la présentation.
Le bandeau du bas désamorce la question qui vient toujours : « et toutes les bibliothèques ? ». Chaque carnet porte sa liste et installe ce qui manque à sa deuxième cellule.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deuxième point est le seul qui puisse arrêter quelqu'un pour de bon, et c'est pour cela qu'il est mis en évidence.
Sur beaucoup de postes professionnels, l'utilisateur n'a pas le droit d'installer un logiciel. Il existe une solution — Python s'installe « pour l'utilisateur courant » sans droits d'administration — mais si la politique informatique le bloque, il faut le savoir avant de commencer et non pendant.
À dire à l'oral : qui n'est pas sûr peut tester tout de suite la commande de la diapositive suivante.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Commencer par vérifier évite une installation inutile — et une installation inutile est une occasion de casser quelque chose qui marchait.
La dernière ligne du tableau est le piège le plus courant sous Windows 10 et 11. Le système livre un faux « python.exe » qui ouvre la boutique Microsoft au lieu de lancer Python. Celui qui voit la boutique s'ouvrir croit avoir fait une fausse manipulation : il faut lui dire que c'est le comportement par défaut du système, et qu'il disparaît une fois le vrai Python installé.
Le « 3 » de python3 sur macOS : les anciens macOS livraient un Python 2 sous le nom « python ». Taper python sans le 3 peut donc donner une réponse rassurante et fausse.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 ne faut retenir qu'une chose de cette présentation, c'est cette case.
Elle est décochée par défaut, écrite en petit, en bas de la première fenêtre — et c'est elle qui déclare Python au système. Sans elle l'installation réussit, mais aucune commande ne fonctionne ensuite : le terminal répond que python n'est pas reconnu, et l'utilisateur conclut que l'installation a échoué alors qu'elle a marché.
Montrez-la à l'écran si vous projetez. Et redites le remède : on relance l'installateur, on choisit « Modify », on coche. Il n'est pas nécessaire de désinstaller.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deux systèmes sont plus simples que Windows sur ce point précis : il n'y a pas de case à cocher, et la commande est déclarée au système par l'installation elle-même.
Le paquet python3.12-venv sous Debian et Ubuntu mérite d'être signalé : il est séparé du paquet principal, et son absence ne se manifeste que bien plus tard, au moment de créer un environnement isolé. Le message d'erreur d'alors ne nomme pas le paquet manquant.
Si personne dans le public n'utilise macOS ou Linux, cette diapositive se passe en dix secondes.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conseil de rouvrir le terminal évite un faux échec très fréquent. Les variables d'environnement — dont le PATH — sont lues au démarrage du terminal. Celui qui est resté ouvert pendant l'installation ne verra pas Python, et son utilisateur croira que l'installation a raté.
La commande py -0p est utile sur les postes qui ont reçu plusieurs Python — dont celui d'Anaconda. Elle les liste avec leur chemin, et l'étoile marque celui qui répond par défaut.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distinction entre pip et python -m pip paraît byzantine, et elle résout pourtant une panne très réelle — sur les postes où Anaconda cohabite avec un Python de python.org.
Avec pip seul, on installe parfois dans un interpréteur, pour lancer ensuite l'autre : le paquet est bien installé, et pourtant introuvable. Avec python -m pip, les deux sont le même par construction.
Prévenir que la sortie est longue évite qu'on interrompe l'installation en croyant qu'elle est bloquée.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points que les débutants découvrent à leurs dépens.
Le terminal doit rester ouvert : JupyterLab n'est pas une application au sens habituel, c'est un petit serveur qui tourne dans ce terminal et que le navigateur consulte. Fermer le terminal coupe tout, au milieu d'une collecte s'il le faut.
Maj + Entrée exécute la cellule et passe à la suivante. Ctrl + Entrée exécute sans avancer. Les deux servent ; la première suffit pour des carnets qui se lisent de haut en bas.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bandeau du bas est le message utile de cette diapositive. Le réflexe du débutant devant l'une de ces pannes est de désinstaller et de recommencer — ce qui ne change rien, puisque l'installation n'était pas en cause.
La panne « rien ne change » est la plus frustrante et la plus facile à lever : il suffit de fermer le terminal. Dites-le avant que quelqu'un ne passe dix minutes dessus.
Si une panne résiste, ce n'est pas bloquant : le carnet d'analyse tourne sur Google Colab sans rien installer.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Terminer par le filet de sécurité est délibéré : personne ne doit repartir en pensant qu'une installation ratée l'exclut du travail.
Le carnet d'analyse est celui qui porte la méthode statistique — la classification, les formules d'indice, les pondérations, le rapport. C'est le plus intéressant pour un statisticien, et c'est précisément celui qui ne demande rien à installer.
Les carnets de collecte doivent, eux, tourner depuis votre propre poste : ils interrogent des sites marchands, et depuis un centre de données un refus n'est pas interprétable.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solidFill>
          <a:srgbClr val="00553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5033772"/>
            <a:ext cx="9144000" cy="109728"/>
          </a:xfrm>
          <a:prstGeom prst="rect">
            <a:avLst/>
          </a:prstGeom>
          <a:solidFill>
            <a:srgbClr val="F5C242"/>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A86A"/>
          </a:solidFill>
          <a:ln/>
        </p:spPr>
      </p:sp>
      <p:sp>
        <p:nvSpPr>
          <p:cNvPr id="3" name="Shape 1"/>
          <p:cNvSpPr/>
          <p:nvPr/>
        </p:nvSpPr>
        <p:spPr>
          <a:xfrm>
            <a:off x="0" y="0"/>
            <a:ext cx="1234440" cy="54864"/>
          </a:xfrm>
          <a:prstGeom prst="rect">
            <a:avLst/>
          </a:prstGeom>
          <a:solidFill>
            <a:srgbClr val="F5C242"/>
          </a:solidFill>
          <a:ln/>
        </p:spPr>
      </p:sp>
      <p:sp>
        <p:nvSpPr>
          <p:cNvPr id="4" name="Text 2"/>
          <p:cNvSpPr/>
          <p:nvPr/>
        </p:nvSpPr>
        <p:spPr>
          <a:xfrm>
            <a:off x="457200" y="4800600"/>
            <a:ext cx="5486400" cy="201168"/>
          </a:xfrm>
          <a:prstGeom prst="rect">
            <a:avLst/>
          </a:prstGeom>
          <a:noFill/>
          <a:ln/>
        </p:spPr>
        <p:txBody>
          <a:bodyPr wrap="square" lIns="0" tIns="0" rIns="0" bIns="0" rtlCol="0" anchor="ctr"/>
          <a:lstStyle/>
          <a:p>
            <a:pPr marL="0" indent="0">
              <a:buNone/>
            </a:pPr>
            <a:r>
              <a:rPr lang="en-US" sz="850" dirty="0">
                <a:solidFill>
                  <a:srgbClr val="8A9590"/>
                </a:solidFill>
                <a:latin typeface="Calibri" pitchFamily="34" charset="0"/>
                <a:ea typeface="Calibri" pitchFamily="34" charset="-122"/>
                <a:cs typeface="Calibri" pitchFamily="34" charset="-120"/>
              </a:rPr>
              <a:t>Installer Python et JupyterLab</a:t>
            </a:r>
            <a:endParaRPr lang="en-US" sz="850" dirty="0"/>
          </a:p>
        </p:txBody>
      </p:sp>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25.png"/><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777240"/>
            <a:ext cx="5120640" cy="237744"/>
          </a:xfrm>
          <a:prstGeom prst="rect">
            <a:avLst/>
          </a:prstGeom>
          <a:noFill/>
          <a:ln/>
        </p:spPr>
        <p:txBody>
          <a:bodyPr wrap="square" lIns="0" tIns="0" rIns="0" bIns="0" rtlCol="0" anchor="t"/>
          <a:lstStyle/>
          <a:p>
            <a:pPr marL="0" indent="0" algn="l">
              <a:lnSpc>
                <a:spcPct val="100000"/>
              </a:lnSpc>
              <a:buNone/>
            </a:pPr>
            <a:r>
              <a:rPr lang="en-US" sz="1100" b="1" kern="0" spc="300" dirty="0">
                <a:solidFill>
                  <a:srgbClr val="F5C242"/>
                </a:solidFill>
                <a:latin typeface="Calibri" pitchFamily="34" charset="0"/>
                <a:ea typeface="Calibri" pitchFamily="34" charset="-122"/>
                <a:cs typeface="Calibri" pitchFamily="34" charset="-120"/>
              </a:rPr>
              <a:t>GUIDE PRATIQUE · PAS À PAS</a:t>
            </a:r>
            <a:endParaRPr lang="en-US" sz="1100" dirty="0"/>
          </a:p>
        </p:txBody>
      </p:sp>
      <p:sp>
        <p:nvSpPr>
          <p:cNvPr id="3" name="Text 1"/>
          <p:cNvSpPr txBox="1"/>
          <p:nvPr/>
        </p:nvSpPr>
        <p:spPr>
          <a:xfrm>
            <a:off x="548640" y="1097280"/>
            <a:ext cx="5303520" cy="1508760"/>
          </a:xfrm>
          <a:prstGeom prst="rect">
            <a:avLst/>
          </a:prstGeom>
          <a:noFill/>
          <a:ln/>
        </p:spPr>
        <p:txBody>
          <a:bodyPr wrap="square" lIns="0" tIns="0" rIns="0" bIns="0" rtlCol="0" anchor="t"/>
          <a:lstStyle/>
          <a:p>
            <a:pPr marL="0" indent="0" algn="l">
              <a:lnSpc>
                <a:spcPct val="95000"/>
              </a:lnSpc>
              <a:buNone/>
            </a:pPr>
            <a:r>
              <a:rPr lang="en-US" sz="4400" b="1" dirty="0">
                <a:solidFill>
                  <a:srgbClr val="FFFFFF"/>
                </a:solidFill>
                <a:latin typeface="Calibri" pitchFamily="34" charset="0"/>
                <a:ea typeface="Calibri" pitchFamily="34" charset="-122"/>
                <a:cs typeface="Calibri" pitchFamily="34" charset="-120"/>
              </a:rPr>
              <a:t>Installer Python</a:t>
            </a:r>
            <a:endParaRPr lang="en-US" sz="4400" dirty="0"/>
          </a:p>
          <a:p>
            <a:pPr marL="0" indent="0" algn="l">
              <a:lnSpc>
                <a:spcPct val="95000"/>
              </a:lnSpc>
              <a:buNone/>
            </a:pPr>
            <a:r>
              <a:rPr lang="en-US" sz="4400" b="1" dirty="0">
                <a:solidFill>
                  <a:srgbClr val="FFFFFF"/>
                </a:solidFill>
                <a:latin typeface="Calibri" pitchFamily="34" charset="0"/>
                <a:ea typeface="Calibri" pitchFamily="34" charset="-122"/>
                <a:cs typeface="Calibri" pitchFamily="34" charset="-120"/>
              </a:rPr>
              <a:t>et JupyterLab</a:t>
            </a:r>
            <a:endParaRPr lang="en-US" sz="4400" dirty="0"/>
          </a:p>
        </p:txBody>
      </p:sp>
      <p:sp>
        <p:nvSpPr>
          <p:cNvPr id="4" name="Text 2"/>
          <p:cNvSpPr txBox="1"/>
          <p:nvPr/>
        </p:nvSpPr>
        <p:spPr>
          <a:xfrm>
            <a:off x="548640" y="2743200"/>
            <a:ext cx="4846320" cy="868680"/>
          </a:xfrm>
          <a:prstGeom prst="rect">
            <a:avLst/>
          </a:prstGeom>
          <a:noFill/>
          <a:ln/>
        </p:spPr>
        <p:txBody>
          <a:bodyPr wrap="square" lIns="0" tIns="0" rIns="0" bIns="0" rtlCol="0" anchor="t"/>
          <a:lstStyle/>
          <a:p>
            <a:pPr marL="0" indent="0" algn="l">
              <a:lnSpc>
                <a:spcPct val="100000"/>
              </a:lnSpc>
              <a:buNone/>
            </a:pPr>
            <a:r>
              <a:rPr lang="en-US" sz="1800" i="1" dirty="0">
                <a:solidFill>
                  <a:srgbClr val="E6F6EE"/>
                </a:solidFill>
                <a:latin typeface="Calibri" pitchFamily="34" charset="0"/>
                <a:ea typeface="Calibri" pitchFamily="34" charset="-122"/>
                <a:cs typeface="Calibri" pitchFamily="34" charset="-120"/>
              </a:rPr>
              <a:t>Deux installations, un quart d'heure. Aucune connaissance de Python n'est supposée — ni terminal familier, ni vocabulaire.</a:t>
            </a:r>
            <a:endParaRPr lang="en-US" sz="1800" dirty="0"/>
          </a:p>
        </p:txBody>
      </p:sp>
      <p:sp>
        <p:nvSpPr>
          <p:cNvPr id="5" name="Text 3"/>
          <p:cNvSpPr txBox="1"/>
          <p:nvPr/>
        </p:nvSpPr>
        <p:spPr>
          <a:xfrm>
            <a:off x="548640" y="3749040"/>
            <a:ext cx="4846320" cy="274320"/>
          </a:xfrm>
          <a:prstGeom prst="rect">
            <a:avLst/>
          </a:prstGeom>
          <a:noFill/>
          <a:ln/>
        </p:spPr>
        <p:txBody>
          <a:bodyPr wrap="square" lIns="0" tIns="0" rIns="0" bIns="0" rtlCol="0" anchor="t"/>
          <a:lstStyle/>
          <a:p>
            <a:pPr marL="0" indent="0" algn="l">
              <a:lnSpc>
                <a:spcPct val="100000"/>
              </a:lnSpc>
              <a:buNone/>
            </a:pPr>
            <a:r>
              <a:rPr lang="en-US" sz="1400" b="1" dirty="0">
                <a:solidFill>
                  <a:srgbClr val="F5C242"/>
                </a:solidFill>
                <a:latin typeface="Calibri" pitchFamily="34" charset="0"/>
                <a:ea typeface="Calibri" pitchFamily="34" charset="-122"/>
                <a:cs typeface="Calibri" pitchFamily="34" charset="-120"/>
              </a:rPr>
              <a:t>Tout le reste s'installe tout seul.</a:t>
            </a:r>
            <a:endParaRPr lang="en-US" sz="1400" dirty="0"/>
          </a:p>
        </p:txBody>
      </p:sp>
      <p:sp>
        <p:nvSpPr>
          <p:cNvPr id="6" name="Text 4"/>
          <p:cNvSpPr txBox="1"/>
          <p:nvPr/>
        </p:nvSpPr>
        <p:spPr>
          <a:xfrm>
            <a:off x="548640" y="4526280"/>
            <a:ext cx="4846320" cy="219456"/>
          </a:xfrm>
          <a:prstGeom prst="rect">
            <a:avLst/>
          </a:prstGeom>
          <a:noFill/>
          <a:ln/>
        </p:spPr>
        <p:txBody>
          <a:bodyPr wrap="square" lIns="0" tIns="0" rIns="0" bIns="0" rtlCol="0" anchor="t"/>
          <a:lstStyle/>
          <a:p>
            <a:pPr marL="0" indent="0" algn="l">
              <a:lnSpc>
                <a:spcPct val="100000"/>
              </a:lnSpc>
              <a:buNone/>
            </a:pPr>
            <a:r>
              <a:rPr lang="en-US" sz="900" i="1" dirty="0">
                <a:solidFill>
                  <a:srgbClr val="E6F6EE"/>
                </a:solidFill>
                <a:latin typeface="Calibri" pitchFamily="34" charset="0"/>
                <a:ea typeface="Calibri" pitchFamily="34" charset="-122"/>
                <a:cs typeface="Calibri" pitchFamily="34" charset="-120"/>
              </a:rPr>
              <a:t>Commandes testées sur un poste réel · octobre 2026</a:t>
            </a:r>
            <a:endParaRPr lang="en-US" sz="900" dirty="0"/>
          </a:p>
        </p:txBody>
      </p:sp>
      <p:sp>
        <p:nvSpPr>
          <p:cNvPr id="7" name="Shape 5"/>
          <p:cNvSpPr/>
          <p:nvPr/>
        </p:nvSpPr>
        <p:spPr>
          <a:xfrm>
            <a:off x="5989320" y="1417320"/>
            <a:ext cx="2697480" cy="960120"/>
          </a:xfrm>
          <a:prstGeom prst="roundRect">
            <a:avLst>
              <a:gd name="adj" fmla="val 7619"/>
            </a:avLst>
          </a:prstGeom>
          <a:solidFill>
            <a:srgbClr val="FFFFFF">
              <a:alpha val="12000"/>
            </a:srgbClr>
          </a:solidFill>
          <a:ln w="9525">
            <a:solidFill>
              <a:srgbClr val="FFFFFF">
                <a:alpha val="35000"/>
              </a:srgbClr>
            </a:solidFill>
            <a:prstDash val="solid"/>
          </a:ln>
        </p:spPr>
      </p:sp>
      <p:sp>
        <p:nvSpPr>
          <p:cNvPr id="8" name="Shape 6"/>
          <p:cNvSpPr/>
          <p:nvPr/>
        </p:nvSpPr>
        <p:spPr>
          <a:xfrm>
            <a:off x="6172200" y="1673352"/>
            <a:ext cx="438912" cy="438912"/>
          </a:xfrm>
          <a:prstGeom prst="ellipse">
            <a:avLst/>
          </a:prstGeom>
          <a:solidFill>
            <a:srgbClr val="F5C242"/>
          </a:solidFill>
          <a:ln/>
        </p:spPr>
      </p:sp>
      <p:sp>
        <p:nvSpPr>
          <p:cNvPr id="9" name="Text 7"/>
          <p:cNvSpPr txBox="1"/>
          <p:nvPr/>
        </p:nvSpPr>
        <p:spPr>
          <a:xfrm>
            <a:off x="6172200" y="1673352"/>
            <a:ext cx="438912" cy="438912"/>
          </a:xfrm>
          <a:prstGeom prst="rect">
            <a:avLst/>
          </a:prstGeom>
          <a:noFill/>
          <a:ln/>
        </p:spPr>
        <p:txBody>
          <a:bodyPr wrap="square" lIns="0" tIns="0" rIns="0" bIns="0" rtlCol="0" anchor="ctr"/>
          <a:lstStyle/>
          <a:p>
            <a:pPr marL="0" indent="0" algn="ctr">
              <a:buNone/>
            </a:pPr>
            <a:r>
              <a:rPr lang="en-US" sz="1600" b="1" dirty="0">
                <a:solidFill>
                  <a:srgbClr val="00553A"/>
                </a:solidFill>
                <a:latin typeface="Calibri" pitchFamily="34" charset="0"/>
                <a:ea typeface="Calibri" pitchFamily="34" charset="-122"/>
                <a:cs typeface="Calibri" pitchFamily="34" charset="-120"/>
              </a:rPr>
              <a:t>1</a:t>
            </a:r>
            <a:endParaRPr lang="en-US" sz="1600" dirty="0"/>
          </a:p>
        </p:txBody>
      </p:sp>
      <p:sp>
        <p:nvSpPr>
          <p:cNvPr id="10" name="Text 8"/>
          <p:cNvSpPr txBox="1"/>
          <p:nvPr/>
        </p:nvSpPr>
        <p:spPr>
          <a:xfrm>
            <a:off x="6766560" y="1600200"/>
            <a:ext cx="1828800" cy="310896"/>
          </a:xfrm>
          <a:prstGeom prst="rect">
            <a:avLst/>
          </a:prstGeom>
          <a:noFill/>
          <a:ln/>
        </p:spPr>
        <p:txBody>
          <a:bodyPr wrap="square" lIns="0" tIns="0" rIns="0" bIns="0" rtlCol="0" anchor="t"/>
          <a:lstStyle/>
          <a:p>
            <a:pPr marL="0" indent="0" algn="l">
              <a:lnSpc>
                <a:spcPct val="100000"/>
              </a:lnSpc>
              <a:buNone/>
            </a:pPr>
            <a:r>
              <a:rPr lang="en-US" sz="1800" b="1" dirty="0">
                <a:solidFill>
                  <a:srgbClr val="FFFFFF"/>
                </a:solidFill>
                <a:latin typeface="Calibri" pitchFamily="34" charset="0"/>
                <a:ea typeface="Calibri" pitchFamily="34" charset="-122"/>
                <a:cs typeface="Calibri" pitchFamily="34" charset="-120"/>
              </a:rPr>
              <a:t>Python</a:t>
            </a:r>
            <a:endParaRPr lang="en-US" sz="1800" dirty="0"/>
          </a:p>
        </p:txBody>
      </p:sp>
      <p:sp>
        <p:nvSpPr>
          <p:cNvPr id="11" name="Text 9"/>
          <p:cNvSpPr txBox="1"/>
          <p:nvPr/>
        </p:nvSpPr>
        <p:spPr>
          <a:xfrm>
            <a:off x="6766560" y="1920240"/>
            <a:ext cx="1828800" cy="384048"/>
          </a:xfrm>
          <a:prstGeom prst="rect">
            <a:avLst/>
          </a:prstGeom>
          <a:noFill/>
          <a:ln/>
        </p:spPr>
        <p:txBody>
          <a:bodyPr wrap="square" lIns="0" tIns="0" rIns="0" bIns="0" rtlCol="0" anchor="t"/>
          <a:lstStyle/>
          <a:p>
            <a:pPr marL="0" indent="0" algn="l">
              <a:lnSpc>
                <a:spcPct val="100000"/>
              </a:lnSpc>
              <a:buNone/>
            </a:pPr>
            <a:r>
              <a:rPr lang="en-US" sz="1100" dirty="0">
                <a:solidFill>
                  <a:srgbClr val="E6F6EE"/>
                </a:solidFill>
                <a:latin typeface="Calibri" pitchFamily="34" charset="0"/>
                <a:ea typeface="Calibri" pitchFamily="34" charset="-122"/>
                <a:cs typeface="Calibri" pitchFamily="34" charset="-120"/>
              </a:rPr>
              <a:t>le moteur qui exécute le code</a:t>
            </a:r>
            <a:endParaRPr lang="en-US" sz="1100" dirty="0"/>
          </a:p>
        </p:txBody>
      </p:sp>
      <p:sp>
        <p:nvSpPr>
          <p:cNvPr id="12" name="Shape 10"/>
          <p:cNvSpPr/>
          <p:nvPr/>
        </p:nvSpPr>
        <p:spPr>
          <a:xfrm>
            <a:off x="5989320" y="2606040"/>
            <a:ext cx="2697480" cy="960120"/>
          </a:xfrm>
          <a:prstGeom prst="roundRect">
            <a:avLst>
              <a:gd name="adj" fmla="val 7619"/>
            </a:avLst>
          </a:prstGeom>
          <a:solidFill>
            <a:srgbClr val="FFFFFF">
              <a:alpha val="12000"/>
            </a:srgbClr>
          </a:solidFill>
          <a:ln w="9525">
            <a:solidFill>
              <a:srgbClr val="FFFFFF">
                <a:alpha val="35000"/>
              </a:srgbClr>
            </a:solidFill>
            <a:prstDash val="solid"/>
          </a:ln>
        </p:spPr>
      </p:sp>
      <p:sp>
        <p:nvSpPr>
          <p:cNvPr id="13" name="Shape 11"/>
          <p:cNvSpPr/>
          <p:nvPr/>
        </p:nvSpPr>
        <p:spPr>
          <a:xfrm>
            <a:off x="6172200" y="2862072"/>
            <a:ext cx="438912" cy="438912"/>
          </a:xfrm>
          <a:prstGeom prst="ellipse">
            <a:avLst/>
          </a:prstGeom>
          <a:solidFill>
            <a:srgbClr val="F5C242"/>
          </a:solidFill>
          <a:ln/>
        </p:spPr>
      </p:sp>
      <p:sp>
        <p:nvSpPr>
          <p:cNvPr id="14" name="Text 12"/>
          <p:cNvSpPr txBox="1"/>
          <p:nvPr/>
        </p:nvSpPr>
        <p:spPr>
          <a:xfrm>
            <a:off x="6172200" y="2862072"/>
            <a:ext cx="438912" cy="438912"/>
          </a:xfrm>
          <a:prstGeom prst="rect">
            <a:avLst/>
          </a:prstGeom>
          <a:noFill/>
          <a:ln/>
        </p:spPr>
        <p:txBody>
          <a:bodyPr wrap="square" lIns="0" tIns="0" rIns="0" bIns="0" rtlCol="0" anchor="ctr"/>
          <a:lstStyle/>
          <a:p>
            <a:pPr marL="0" indent="0" algn="ctr">
              <a:buNone/>
            </a:pPr>
            <a:r>
              <a:rPr lang="en-US" sz="1600" b="1" dirty="0">
                <a:solidFill>
                  <a:srgbClr val="00553A"/>
                </a:solidFill>
                <a:latin typeface="Calibri" pitchFamily="34" charset="0"/>
                <a:ea typeface="Calibri" pitchFamily="34" charset="-122"/>
                <a:cs typeface="Calibri" pitchFamily="34" charset="-120"/>
              </a:rPr>
              <a:t>2</a:t>
            </a:r>
            <a:endParaRPr lang="en-US" sz="1600" dirty="0"/>
          </a:p>
        </p:txBody>
      </p:sp>
      <p:sp>
        <p:nvSpPr>
          <p:cNvPr id="15" name="Text 13"/>
          <p:cNvSpPr txBox="1"/>
          <p:nvPr/>
        </p:nvSpPr>
        <p:spPr>
          <a:xfrm>
            <a:off x="6766560" y="2788920"/>
            <a:ext cx="1828800" cy="310896"/>
          </a:xfrm>
          <a:prstGeom prst="rect">
            <a:avLst/>
          </a:prstGeom>
          <a:noFill/>
          <a:ln/>
        </p:spPr>
        <p:txBody>
          <a:bodyPr wrap="square" lIns="0" tIns="0" rIns="0" bIns="0" rtlCol="0" anchor="t"/>
          <a:lstStyle/>
          <a:p>
            <a:pPr marL="0" indent="0" algn="l">
              <a:lnSpc>
                <a:spcPct val="100000"/>
              </a:lnSpc>
              <a:buNone/>
            </a:pPr>
            <a:r>
              <a:rPr lang="en-US" sz="1800" b="1" dirty="0">
                <a:solidFill>
                  <a:srgbClr val="FFFFFF"/>
                </a:solidFill>
                <a:latin typeface="Calibri" pitchFamily="34" charset="0"/>
                <a:ea typeface="Calibri" pitchFamily="34" charset="-122"/>
                <a:cs typeface="Calibri" pitchFamily="34" charset="-120"/>
              </a:rPr>
              <a:t>JupyterLab</a:t>
            </a:r>
            <a:endParaRPr lang="en-US" sz="1800" dirty="0"/>
          </a:p>
        </p:txBody>
      </p:sp>
      <p:sp>
        <p:nvSpPr>
          <p:cNvPr id="16" name="Text 14"/>
          <p:cNvSpPr txBox="1"/>
          <p:nvPr/>
        </p:nvSpPr>
        <p:spPr>
          <a:xfrm>
            <a:off x="6766560" y="3108960"/>
            <a:ext cx="1828800" cy="384048"/>
          </a:xfrm>
          <a:prstGeom prst="rect">
            <a:avLst/>
          </a:prstGeom>
          <a:noFill/>
          <a:ln/>
        </p:spPr>
        <p:txBody>
          <a:bodyPr wrap="square" lIns="0" tIns="0" rIns="0" bIns="0" rtlCol="0" anchor="t"/>
          <a:lstStyle/>
          <a:p>
            <a:pPr marL="0" indent="0" algn="l">
              <a:lnSpc>
                <a:spcPct val="100000"/>
              </a:lnSpc>
              <a:buNone/>
            </a:pPr>
            <a:r>
              <a:rPr lang="en-US" sz="1100" dirty="0">
                <a:solidFill>
                  <a:srgbClr val="E6F6EE"/>
                </a:solidFill>
                <a:latin typeface="Calibri" pitchFamily="34" charset="0"/>
                <a:ea typeface="Calibri" pitchFamily="34" charset="-122"/>
                <a:cs typeface="Calibri" pitchFamily="34" charset="-120"/>
              </a:rPr>
              <a:t>la fenêtre où l'on ouvre les carnets (notebooks)</a:t>
            </a:r>
            <a:endParaRPr lang="en-US" sz="11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
            <a:ext cx="640080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SOMMAIRE</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Le parcours en cinq étapes</a:t>
            </a:r>
            <a:endParaRPr lang="en-US" sz="2800" dirty="0"/>
          </a:p>
        </p:txBody>
      </p:sp>
      <p:sp>
        <p:nvSpPr>
          <p:cNvPr id="4" name="Shape 2"/>
          <p:cNvSpPr/>
          <p:nvPr/>
        </p:nvSpPr>
        <p:spPr>
          <a:xfrm>
            <a:off x="457200" y="1325880"/>
            <a:ext cx="1499616" cy="2743200"/>
          </a:xfrm>
          <a:prstGeom prst="roundRect">
            <a:avLst>
              <a:gd name="adj" fmla="val 4878"/>
            </a:avLst>
          </a:prstGeom>
          <a:solidFill>
            <a:srgbClr val="F4F7F5"/>
          </a:solidFill>
          <a:ln w="9525">
            <a:solidFill>
              <a:srgbClr val="D5DED9"/>
            </a:solidFill>
            <a:prstDash val="solid"/>
          </a:ln>
        </p:spPr>
      </p:sp>
      <p:sp>
        <p:nvSpPr>
          <p:cNvPr id="5" name="Shape 3"/>
          <p:cNvSpPr/>
          <p:nvPr/>
        </p:nvSpPr>
        <p:spPr>
          <a:xfrm>
            <a:off x="640080" y="1527048"/>
            <a:ext cx="548640" cy="548640"/>
          </a:xfrm>
          <a:prstGeom prst="ellipse">
            <a:avLst/>
          </a:prstGeom>
          <a:solidFill>
            <a:srgbClr val="00A86A">
              <a:alpha val="22000"/>
            </a:srgbClr>
          </a:solidFill>
          <a:ln/>
        </p:spPr>
      </p:sp>
      <p:pic>
        <p:nvPicPr>
          <p:cNvPr id="6" name="Image 0" descr="preencoded.png"/>
          <p:cNvPicPr>
            <a:picLocks noChangeAspect="1"/>
          </p:cNvPicPr>
          <p:nvPr/>
        </p:nvPicPr>
        <p:blipFill>
          <a:blip r:embed="rId3"/>
          <a:stretch>
            <a:fillRect/>
          </a:stretch>
        </p:blipFill>
        <p:spPr>
          <a:xfrm>
            <a:off x="777240" y="1664208"/>
            <a:ext cx="274320" cy="274320"/>
          </a:xfrm>
          <a:prstGeom prst="rect">
            <a:avLst/>
          </a:prstGeom>
        </p:spPr>
      </p:pic>
      <p:sp>
        <p:nvSpPr>
          <p:cNvPr id="7" name="Text 4"/>
          <p:cNvSpPr txBox="1"/>
          <p:nvPr/>
        </p:nvSpPr>
        <p:spPr>
          <a:xfrm>
            <a:off x="640080"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8" name="Text 5"/>
          <p:cNvSpPr txBox="1"/>
          <p:nvPr/>
        </p:nvSpPr>
        <p:spPr>
          <a:xfrm>
            <a:off x="640080"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Comprendre</a:t>
            </a:r>
            <a:endParaRPr lang="en-US" sz="1350" dirty="0"/>
          </a:p>
        </p:txBody>
      </p:sp>
      <p:sp>
        <p:nvSpPr>
          <p:cNvPr id="9" name="Text 6"/>
          <p:cNvSpPr txBox="1"/>
          <p:nvPr/>
        </p:nvSpPr>
        <p:spPr>
          <a:xfrm>
            <a:off x="640080"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Les deux pièces à installer, et trois vérifications préalables</a:t>
            </a:r>
            <a:endParaRPr lang="en-US" sz="1050" dirty="0"/>
          </a:p>
        </p:txBody>
      </p:sp>
      <p:sp>
        <p:nvSpPr>
          <p:cNvPr id="10" name="Shape 7"/>
          <p:cNvSpPr/>
          <p:nvPr/>
        </p:nvSpPr>
        <p:spPr>
          <a:xfrm>
            <a:off x="2139696" y="1325880"/>
            <a:ext cx="1499616" cy="2743200"/>
          </a:xfrm>
          <a:prstGeom prst="roundRect">
            <a:avLst>
              <a:gd name="adj" fmla="val 4878"/>
            </a:avLst>
          </a:prstGeom>
          <a:solidFill>
            <a:srgbClr val="F4F7F5"/>
          </a:solidFill>
          <a:ln w="9525">
            <a:solidFill>
              <a:srgbClr val="D5DED9"/>
            </a:solidFill>
            <a:prstDash val="solid"/>
          </a:ln>
        </p:spPr>
      </p:sp>
      <p:sp>
        <p:nvSpPr>
          <p:cNvPr id="11" name="Shape 8"/>
          <p:cNvSpPr/>
          <p:nvPr/>
        </p:nvSpPr>
        <p:spPr>
          <a:xfrm>
            <a:off x="2322576" y="1527048"/>
            <a:ext cx="548640" cy="548640"/>
          </a:xfrm>
          <a:prstGeom prst="ellipse">
            <a:avLst/>
          </a:prstGeom>
          <a:solidFill>
            <a:srgbClr val="00704A">
              <a:alpha val="22000"/>
            </a:srgbClr>
          </a:solidFill>
          <a:ln/>
        </p:spPr>
      </p:sp>
      <p:pic>
        <p:nvPicPr>
          <p:cNvPr id="12" name="Image 1" descr="preencoded.png"/>
          <p:cNvPicPr>
            <a:picLocks noChangeAspect="1"/>
          </p:cNvPicPr>
          <p:nvPr/>
        </p:nvPicPr>
        <p:blipFill>
          <a:blip r:embed="rId4"/>
          <a:stretch>
            <a:fillRect/>
          </a:stretch>
        </p:blipFill>
        <p:spPr>
          <a:xfrm>
            <a:off x="2459736" y="1664208"/>
            <a:ext cx="274320" cy="274320"/>
          </a:xfrm>
          <a:prstGeom prst="rect">
            <a:avLst/>
          </a:prstGeom>
        </p:spPr>
      </p:pic>
      <p:sp>
        <p:nvSpPr>
          <p:cNvPr id="13" name="Text 9"/>
          <p:cNvSpPr txBox="1"/>
          <p:nvPr/>
        </p:nvSpPr>
        <p:spPr>
          <a:xfrm>
            <a:off x="2322576"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00704A"/>
                </a:solidFill>
                <a:latin typeface="Calibri" pitchFamily="34" charset="0"/>
                <a:ea typeface="Calibri" pitchFamily="34" charset="-122"/>
                <a:cs typeface="Calibri" pitchFamily="34" charset="-120"/>
              </a:rPr>
              <a:t>02</a:t>
            </a:r>
            <a:endParaRPr lang="en-US" sz="3200" dirty="0"/>
          </a:p>
        </p:txBody>
      </p:sp>
      <p:sp>
        <p:nvSpPr>
          <p:cNvPr id="14" name="Text 10"/>
          <p:cNvSpPr txBox="1"/>
          <p:nvPr/>
        </p:nvSpPr>
        <p:spPr>
          <a:xfrm>
            <a:off x="2322576"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Vérifier</a:t>
            </a:r>
            <a:endParaRPr lang="en-US" sz="1350" dirty="0"/>
          </a:p>
        </p:txBody>
      </p:sp>
      <p:sp>
        <p:nvSpPr>
          <p:cNvPr id="15" name="Text 11"/>
          <p:cNvSpPr txBox="1"/>
          <p:nvPr/>
        </p:nvSpPr>
        <p:spPr>
          <a:xfrm>
            <a:off x="2322576"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Python est peut-être déjà là : une commande pour le savoir</a:t>
            </a:r>
            <a:endParaRPr lang="en-US" sz="1050" dirty="0"/>
          </a:p>
        </p:txBody>
      </p:sp>
      <p:sp>
        <p:nvSpPr>
          <p:cNvPr id="16" name="Shape 12"/>
          <p:cNvSpPr/>
          <p:nvPr/>
        </p:nvSpPr>
        <p:spPr>
          <a:xfrm>
            <a:off x="3822192" y="1325880"/>
            <a:ext cx="1499616" cy="2743200"/>
          </a:xfrm>
          <a:prstGeom prst="roundRect">
            <a:avLst>
              <a:gd name="adj" fmla="val 4878"/>
            </a:avLst>
          </a:prstGeom>
          <a:solidFill>
            <a:srgbClr val="F4F7F5"/>
          </a:solidFill>
          <a:ln w="9525">
            <a:solidFill>
              <a:srgbClr val="D5DED9"/>
            </a:solidFill>
            <a:prstDash val="solid"/>
          </a:ln>
        </p:spPr>
      </p:sp>
      <p:sp>
        <p:nvSpPr>
          <p:cNvPr id="17" name="Shape 13"/>
          <p:cNvSpPr/>
          <p:nvPr/>
        </p:nvSpPr>
        <p:spPr>
          <a:xfrm>
            <a:off x="4005072" y="1527048"/>
            <a:ext cx="548640" cy="548640"/>
          </a:xfrm>
          <a:prstGeom prst="ellipse">
            <a:avLst/>
          </a:prstGeom>
          <a:solidFill>
            <a:srgbClr val="0E7C86">
              <a:alpha val="22000"/>
            </a:srgbClr>
          </a:solidFill>
          <a:ln/>
        </p:spPr>
      </p:sp>
      <p:pic>
        <p:nvPicPr>
          <p:cNvPr id="18" name="Image 2" descr="preencoded.png"/>
          <p:cNvPicPr>
            <a:picLocks noChangeAspect="1"/>
          </p:cNvPicPr>
          <p:nvPr/>
        </p:nvPicPr>
        <p:blipFill>
          <a:blip r:embed="rId5"/>
          <a:stretch>
            <a:fillRect/>
          </a:stretch>
        </p:blipFill>
        <p:spPr>
          <a:xfrm>
            <a:off x="4142232" y="1664208"/>
            <a:ext cx="274320" cy="274320"/>
          </a:xfrm>
          <a:prstGeom prst="rect">
            <a:avLst/>
          </a:prstGeom>
        </p:spPr>
      </p:pic>
      <p:sp>
        <p:nvSpPr>
          <p:cNvPr id="19" name="Text 14"/>
          <p:cNvSpPr txBox="1"/>
          <p:nvPr/>
        </p:nvSpPr>
        <p:spPr>
          <a:xfrm>
            <a:off x="4005072"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0E7C86"/>
                </a:solidFill>
                <a:latin typeface="Calibri" pitchFamily="34" charset="0"/>
                <a:ea typeface="Calibri" pitchFamily="34" charset="-122"/>
                <a:cs typeface="Calibri" pitchFamily="34" charset="-120"/>
              </a:rPr>
              <a:t>03</a:t>
            </a:r>
            <a:endParaRPr lang="en-US" sz="3200" dirty="0"/>
          </a:p>
        </p:txBody>
      </p:sp>
      <p:sp>
        <p:nvSpPr>
          <p:cNvPr id="20" name="Text 15"/>
          <p:cNvSpPr txBox="1"/>
          <p:nvPr/>
        </p:nvSpPr>
        <p:spPr>
          <a:xfrm>
            <a:off x="4005072"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Installer Python</a:t>
            </a:r>
            <a:endParaRPr lang="en-US" sz="1350" dirty="0"/>
          </a:p>
        </p:txBody>
      </p:sp>
      <p:sp>
        <p:nvSpPr>
          <p:cNvPr id="21" name="Text 16"/>
          <p:cNvSpPr txBox="1"/>
          <p:nvPr/>
        </p:nvSpPr>
        <p:spPr>
          <a:xfrm>
            <a:off x="4005072"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Windows, macOS ou Linux, puis contrôle de la version</a:t>
            </a:r>
            <a:endParaRPr lang="en-US" sz="1050" dirty="0"/>
          </a:p>
        </p:txBody>
      </p:sp>
      <p:sp>
        <p:nvSpPr>
          <p:cNvPr id="22" name="Shape 17"/>
          <p:cNvSpPr/>
          <p:nvPr/>
        </p:nvSpPr>
        <p:spPr>
          <a:xfrm>
            <a:off x="5504688" y="1325880"/>
            <a:ext cx="1499616" cy="2743200"/>
          </a:xfrm>
          <a:prstGeom prst="roundRect">
            <a:avLst>
              <a:gd name="adj" fmla="val 4878"/>
            </a:avLst>
          </a:prstGeom>
          <a:solidFill>
            <a:srgbClr val="F4F7F5"/>
          </a:solidFill>
          <a:ln w="9525">
            <a:solidFill>
              <a:srgbClr val="D5DED9"/>
            </a:solidFill>
            <a:prstDash val="solid"/>
          </a:ln>
        </p:spPr>
      </p:sp>
      <p:sp>
        <p:nvSpPr>
          <p:cNvPr id="23" name="Shape 18"/>
          <p:cNvSpPr/>
          <p:nvPr/>
        </p:nvSpPr>
        <p:spPr>
          <a:xfrm>
            <a:off x="5687568" y="1527048"/>
            <a:ext cx="548640" cy="548640"/>
          </a:xfrm>
          <a:prstGeom prst="ellipse">
            <a:avLst/>
          </a:prstGeom>
          <a:solidFill>
            <a:srgbClr val="D49A00">
              <a:alpha val="22000"/>
            </a:srgbClr>
          </a:solidFill>
          <a:ln/>
        </p:spPr>
      </p:sp>
      <p:pic>
        <p:nvPicPr>
          <p:cNvPr id="24" name="Image 3" descr="preencoded.png"/>
          <p:cNvPicPr>
            <a:picLocks noChangeAspect="1"/>
          </p:cNvPicPr>
          <p:nvPr/>
        </p:nvPicPr>
        <p:blipFill>
          <a:blip r:embed="rId6"/>
          <a:stretch>
            <a:fillRect/>
          </a:stretch>
        </p:blipFill>
        <p:spPr>
          <a:xfrm>
            <a:off x="5824728" y="1664208"/>
            <a:ext cx="274320" cy="274320"/>
          </a:xfrm>
          <a:prstGeom prst="rect">
            <a:avLst/>
          </a:prstGeom>
        </p:spPr>
      </p:pic>
      <p:sp>
        <p:nvSpPr>
          <p:cNvPr id="25" name="Text 19"/>
          <p:cNvSpPr txBox="1"/>
          <p:nvPr/>
        </p:nvSpPr>
        <p:spPr>
          <a:xfrm>
            <a:off x="5687568"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D49A00"/>
                </a:solidFill>
                <a:latin typeface="Calibri" pitchFamily="34" charset="0"/>
                <a:ea typeface="Calibri" pitchFamily="34" charset="-122"/>
                <a:cs typeface="Calibri" pitchFamily="34" charset="-120"/>
              </a:rPr>
              <a:t>04</a:t>
            </a:r>
            <a:endParaRPr lang="en-US" sz="3200" dirty="0"/>
          </a:p>
        </p:txBody>
      </p:sp>
      <p:sp>
        <p:nvSpPr>
          <p:cNvPr id="26" name="Text 20"/>
          <p:cNvSpPr txBox="1"/>
          <p:nvPr/>
        </p:nvSpPr>
        <p:spPr>
          <a:xfrm>
            <a:off x="5687568"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JupyterLab</a:t>
            </a:r>
            <a:endParaRPr lang="en-US" sz="1350" dirty="0"/>
          </a:p>
        </p:txBody>
      </p:sp>
      <p:sp>
        <p:nvSpPr>
          <p:cNvPr id="27" name="Text 21"/>
          <p:cNvSpPr txBox="1"/>
          <p:nvPr/>
        </p:nvSpPr>
        <p:spPr>
          <a:xfrm>
            <a:off x="5687568"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Une commande pour l'installer, une autre pour le lancer</a:t>
            </a:r>
            <a:endParaRPr lang="en-US" sz="1050" dirty="0"/>
          </a:p>
        </p:txBody>
      </p:sp>
      <p:sp>
        <p:nvSpPr>
          <p:cNvPr id="28" name="Shape 22"/>
          <p:cNvSpPr/>
          <p:nvPr/>
        </p:nvSpPr>
        <p:spPr>
          <a:xfrm>
            <a:off x="7187184" y="1325880"/>
            <a:ext cx="1499616" cy="2743200"/>
          </a:xfrm>
          <a:prstGeom prst="roundRect">
            <a:avLst>
              <a:gd name="adj" fmla="val 4878"/>
            </a:avLst>
          </a:prstGeom>
          <a:solidFill>
            <a:srgbClr val="F4F7F5"/>
          </a:solidFill>
          <a:ln w="9525">
            <a:solidFill>
              <a:srgbClr val="D5DED9"/>
            </a:solidFill>
            <a:prstDash val="solid"/>
          </a:ln>
        </p:spPr>
      </p:sp>
      <p:sp>
        <p:nvSpPr>
          <p:cNvPr id="29" name="Shape 23"/>
          <p:cNvSpPr/>
          <p:nvPr/>
        </p:nvSpPr>
        <p:spPr>
          <a:xfrm>
            <a:off x="7370064" y="1527048"/>
            <a:ext cx="548640" cy="548640"/>
          </a:xfrm>
          <a:prstGeom prst="ellipse">
            <a:avLst/>
          </a:prstGeom>
          <a:solidFill>
            <a:srgbClr val="C4621D">
              <a:alpha val="22000"/>
            </a:srgbClr>
          </a:solidFill>
          <a:ln/>
        </p:spPr>
      </p:sp>
      <p:pic>
        <p:nvPicPr>
          <p:cNvPr id="30" name="Image 4" descr="preencoded.png"/>
          <p:cNvPicPr>
            <a:picLocks noChangeAspect="1"/>
          </p:cNvPicPr>
          <p:nvPr/>
        </p:nvPicPr>
        <p:blipFill>
          <a:blip r:embed="rId7"/>
          <a:stretch>
            <a:fillRect/>
          </a:stretch>
        </p:blipFill>
        <p:spPr>
          <a:xfrm>
            <a:off x="7507224" y="1664208"/>
            <a:ext cx="274320" cy="274320"/>
          </a:xfrm>
          <a:prstGeom prst="rect">
            <a:avLst/>
          </a:prstGeom>
        </p:spPr>
      </p:pic>
      <p:sp>
        <p:nvSpPr>
          <p:cNvPr id="31" name="Text 24"/>
          <p:cNvSpPr txBox="1"/>
          <p:nvPr/>
        </p:nvSpPr>
        <p:spPr>
          <a:xfrm>
            <a:off x="7370064" y="2194560"/>
            <a:ext cx="1188720" cy="502920"/>
          </a:xfrm>
          <a:prstGeom prst="rect">
            <a:avLst/>
          </a:prstGeom>
          <a:noFill/>
          <a:ln/>
        </p:spPr>
        <p:txBody>
          <a:bodyPr wrap="square" lIns="0" tIns="0" rIns="0" bIns="0" rtlCol="0" anchor="t"/>
          <a:lstStyle/>
          <a:p>
            <a:pPr marL="0" indent="0" algn="l">
              <a:lnSpc>
                <a:spcPct val="100000"/>
              </a:lnSpc>
              <a:buNone/>
            </a:pPr>
            <a:r>
              <a:rPr lang="en-US" sz="3200" b="1" dirty="0">
                <a:solidFill>
                  <a:srgbClr val="C4621D"/>
                </a:solidFill>
                <a:latin typeface="Calibri" pitchFamily="34" charset="0"/>
                <a:ea typeface="Calibri" pitchFamily="34" charset="-122"/>
                <a:cs typeface="Calibri" pitchFamily="34" charset="-120"/>
              </a:rPr>
              <a:t>05</a:t>
            </a:r>
            <a:endParaRPr lang="en-US" sz="3200" dirty="0"/>
          </a:p>
        </p:txBody>
      </p:sp>
      <p:sp>
        <p:nvSpPr>
          <p:cNvPr id="32" name="Text 25"/>
          <p:cNvSpPr txBox="1"/>
          <p:nvPr/>
        </p:nvSpPr>
        <p:spPr>
          <a:xfrm>
            <a:off x="7370064" y="2743200"/>
            <a:ext cx="1188720" cy="457200"/>
          </a:xfrm>
          <a:prstGeom prst="rect">
            <a:avLst/>
          </a:prstGeom>
          <a:noFill/>
          <a:ln/>
        </p:spPr>
        <p:txBody>
          <a:bodyPr wrap="square" lIns="0" tIns="0" rIns="0" bIns="0" rtlCol="0" anchor="t"/>
          <a:lstStyle/>
          <a:p>
            <a:pPr marL="0" indent="0" algn="l">
              <a:lnSpc>
                <a:spcPct val="100000"/>
              </a:lnSpc>
              <a:buNone/>
            </a:pPr>
            <a:r>
              <a:rPr lang="en-US" sz="1350" b="1" dirty="0">
                <a:solidFill>
                  <a:srgbClr val="231F20"/>
                </a:solidFill>
                <a:latin typeface="Calibri" pitchFamily="34" charset="0"/>
                <a:ea typeface="Calibri" pitchFamily="34" charset="-122"/>
                <a:cs typeface="Calibri" pitchFamily="34" charset="-120"/>
              </a:rPr>
              <a:t>Dépanner</a:t>
            </a:r>
            <a:endParaRPr lang="en-US" sz="1350" dirty="0"/>
          </a:p>
        </p:txBody>
      </p:sp>
      <p:sp>
        <p:nvSpPr>
          <p:cNvPr id="33" name="Text 26"/>
          <p:cNvSpPr txBox="1"/>
          <p:nvPr/>
        </p:nvSpPr>
        <p:spPr>
          <a:xfrm>
            <a:off x="7370064" y="3200400"/>
            <a:ext cx="1188720" cy="77724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Les cinq pannes les plus fréquentes et leur remède</a:t>
            </a:r>
            <a:endParaRPr lang="en-US" sz="1050" dirty="0"/>
          </a:p>
        </p:txBody>
      </p:sp>
      <p:sp>
        <p:nvSpPr>
          <p:cNvPr id="34" name="Shape 27"/>
          <p:cNvSpPr/>
          <p:nvPr/>
        </p:nvSpPr>
        <p:spPr>
          <a:xfrm>
            <a:off x="457200" y="4261104"/>
            <a:ext cx="310896" cy="310896"/>
          </a:xfrm>
          <a:prstGeom prst="ellipse">
            <a:avLst/>
          </a:prstGeom>
          <a:solidFill>
            <a:srgbClr val="00704A">
              <a:alpha val="22000"/>
            </a:srgbClr>
          </a:solidFill>
          <a:ln/>
        </p:spPr>
      </p:sp>
      <p:pic>
        <p:nvPicPr>
          <p:cNvPr id="35" name="Image 5" descr="preencoded.png"/>
          <p:cNvPicPr>
            <a:picLocks noChangeAspect="1"/>
          </p:cNvPicPr>
          <p:nvPr/>
        </p:nvPicPr>
        <p:blipFill>
          <a:blip r:embed="rId8"/>
          <a:stretch>
            <a:fillRect/>
          </a:stretch>
        </p:blipFill>
        <p:spPr>
          <a:xfrm>
            <a:off x="534924" y="4338828"/>
            <a:ext cx="155448" cy="155448"/>
          </a:xfrm>
          <a:prstGeom prst="rect">
            <a:avLst/>
          </a:prstGeom>
        </p:spPr>
      </p:pic>
      <p:sp>
        <p:nvSpPr>
          <p:cNvPr id="36" name="Text 28"/>
          <p:cNvSpPr txBox="1"/>
          <p:nvPr/>
        </p:nvSpPr>
        <p:spPr>
          <a:xfrm>
            <a:off x="896112" y="4261104"/>
            <a:ext cx="7589520" cy="310896"/>
          </a:xfrm>
          <a:prstGeom prst="rect">
            <a:avLst/>
          </a:prstGeom>
          <a:noFill/>
          <a:ln/>
        </p:spPr>
        <p:txBody>
          <a:bodyPr wrap="square" lIns="0" tIns="0" rIns="0" bIns="0" rtlCol="0" anchor="ctr"/>
          <a:lstStyle/>
          <a:p>
            <a:pPr marL="0" indent="0" algn="l">
              <a:lnSpc>
                <a:spcPct val="100000"/>
              </a:lnSpc>
              <a:buNone/>
            </a:pPr>
            <a:r>
              <a:rPr lang="en-US" sz="1150" dirty="0">
                <a:solidFill>
                  <a:srgbClr val="231F20"/>
                </a:solidFill>
                <a:latin typeface="Calibri" pitchFamily="34" charset="0"/>
                <a:ea typeface="Calibri" pitchFamily="34" charset="-122"/>
                <a:cs typeface="Calibri" pitchFamily="34" charset="-120"/>
              </a:rPr>
              <a:t>Une seule contrainte d'ordre : </a:t>
            </a:r>
            <a:r>
              <a:rPr lang="en-US" sz="1150" b="1" dirty="0">
                <a:solidFill>
                  <a:srgbClr val="231F20"/>
                </a:solidFill>
                <a:latin typeface="Calibri" pitchFamily="34" charset="0"/>
                <a:ea typeface="Calibri" pitchFamily="34" charset="-122"/>
                <a:cs typeface="Calibri" pitchFamily="34" charset="-120"/>
              </a:rPr>
              <a:t>Python avant JupyterLab</a:t>
            </a:r>
            <a:r>
              <a:rPr lang="en-US" sz="1150" dirty="0">
                <a:solidFill>
                  <a:srgbClr val="231F20"/>
                </a:solidFill>
                <a:latin typeface="Calibri" pitchFamily="34" charset="0"/>
                <a:ea typeface="Calibri" pitchFamily="34" charset="-122"/>
                <a:cs typeface="Calibri" pitchFamily="34" charset="-120"/>
              </a:rPr>
              <a:t>, puisque JupyterLab s'installe par Python.</a:t>
            </a:r>
            <a:endParaRPr lang="en-US" sz="1150" dirty="0"/>
          </a:p>
        </p:txBody>
      </p:sp>
      <p:sp>
        <p:nvSpPr>
          <p:cNvPr id="37"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01 · COMPRENDRE</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Deux pièces, et chacune son rôle</a:t>
            </a:r>
            <a:endParaRPr lang="en-US" sz="2800" dirty="0"/>
          </a:p>
        </p:txBody>
      </p:sp>
      <p:sp>
        <p:nvSpPr>
          <p:cNvPr id="4" name="Shape 2"/>
          <p:cNvSpPr/>
          <p:nvPr/>
        </p:nvSpPr>
        <p:spPr>
          <a:xfrm>
            <a:off x="7854696" y="338328"/>
            <a:ext cx="100584" cy="100584"/>
          </a:xfrm>
          <a:prstGeom prst="ellipse">
            <a:avLst/>
          </a:prstGeom>
          <a:solidFill>
            <a:srgbClr val="00A86A"/>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3657600" cy="2148840"/>
          </a:xfrm>
          <a:prstGeom prst="roundRect">
            <a:avLst>
              <a:gd name="adj" fmla="val 3404"/>
            </a:avLst>
          </a:prstGeom>
          <a:solidFill>
            <a:srgbClr val="F4F7F5"/>
          </a:solidFill>
          <a:ln w="9525">
            <a:solidFill>
              <a:srgbClr val="D5DED9"/>
            </a:solidFill>
            <a:prstDash val="solid"/>
          </a:ln>
        </p:spPr>
      </p:sp>
      <p:sp>
        <p:nvSpPr>
          <p:cNvPr id="10" name="Shape 8"/>
          <p:cNvSpPr/>
          <p:nvPr/>
        </p:nvSpPr>
        <p:spPr>
          <a:xfrm>
            <a:off x="685800" y="1554480"/>
            <a:ext cx="566928" cy="566928"/>
          </a:xfrm>
          <a:prstGeom prst="ellipse">
            <a:avLst/>
          </a:prstGeom>
          <a:solidFill>
            <a:srgbClr val="00A86A">
              <a:alpha val="22000"/>
            </a:srgbClr>
          </a:solidFill>
          <a:ln/>
        </p:spPr>
      </p:sp>
      <p:pic>
        <p:nvPicPr>
          <p:cNvPr id="11" name="Image 0" descr="preencoded.png"/>
          <p:cNvPicPr>
            <a:picLocks noChangeAspect="1"/>
          </p:cNvPicPr>
          <p:nvPr/>
        </p:nvPicPr>
        <p:blipFill>
          <a:blip r:embed="rId3"/>
          <a:stretch>
            <a:fillRect/>
          </a:stretch>
        </p:blipFill>
        <p:spPr>
          <a:xfrm>
            <a:off x="827532" y="1696212"/>
            <a:ext cx="283464" cy="283464"/>
          </a:xfrm>
          <a:prstGeom prst="rect">
            <a:avLst/>
          </a:prstGeom>
        </p:spPr>
      </p:pic>
      <p:sp>
        <p:nvSpPr>
          <p:cNvPr id="12" name="Text 9"/>
          <p:cNvSpPr txBox="1"/>
          <p:nvPr/>
        </p:nvSpPr>
        <p:spPr>
          <a:xfrm>
            <a:off x="1417320" y="1572768"/>
            <a:ext cx="2468880" cy="201168"/>
          </a:xfrm>
          <a:prstGeom prst="rect">
            <a:avLst/>
          </a:prstGeom>
          <a:noFill/>
          <a:ln/>
        </p:spPr>
        <p:txBody>
          <a:bodyPr wrap="square" lIns="0" tIns="0" rIns="0" bIns="0" rtlCol="0" anchor="t"/>
          <a:lstStyle/>
          <a:p>
            <a:pPr marL="0" indent="0" algn="l">
              <a:lnSpc>
                <a:spcPct val="100000"/>
              </a:lnSpc>
              <a:buNone/>
            </a:pPr>
            <a:r>
              <a:rPr lang="en-US" sz="1000" b="1" kern="0" spc="200" dirty="0">
                <a:solidFill>
                  <a:srgbClr val="00704A"/>
                </a:solidFill>
                <a:latin typeface="Calibri" pitchFamily="34" charset="0"/>
                <a:ea typeface="Calibri" pitchFamily="34" charset="-122"/>
                <a:cs typeface="Calibri" pitchFamily="34" charset="-120"/>
              </a:rPr>
              <a:t>LE MOTEUR</a:t>
            </a:r>
            <a:endParaRPr lang="en-US" sz="1000" dirty="0"/>
          </a:p>
        </p:txBody>
      </p:sp>
      <p:sp>
        <p:nvSpPr>
          <p:cNvPr id="13" name="Text 10"/>
          <p:cNvSpPr txBox="1"/>
          <p:nvPr/>
        </p:nvSpPr>
        <p:spPr>
          <a:xfrm>
            <a:off x="1417320" y="1783080"/>
            <a:ext cx="2468880" cy="347472"/>
          </a:xfrm>
          <a:prstGeom prst="rect">
            <a:avLst/>
          </a:prstGeom>
          <a:noFill/>
          <a:ln/>
        </p:spPr>
        <p:txBody>
          <a:bodyPr wrap="square" lIns="0" tIns="0" rIns="0" bIns="0" rtlCol="0" anchor="t"/>
          <a:lstStyle/>
          <a:p>
            <a:pPr marL="0" indent="0" algn="l">
              <a:lnSpc>
                <a:spcPct val="100000"/>
              </a:lnSpc>
              <a:buNone/>
            </a:pPr>
            <a:r>
              <a:rPr lang="en-US" sz="1800" b="1" dirty="0">
                <a:solidFill>
                  <a:srgbClr val="231F20"/>
                </a:solidFill>
                <a:latin typeface="Calibri" pitchFamily="34" charset="0"/>
                <a:ea typeface="Calibri" pitchFamily="34" charset="-122"/>
                <a:cs typeface="Calibri" pitchFamily="34" charset="-120"/>
              </a:rPr>
              <a:t>Python</a:t>
            </a:r>
            <a:endParaRPr lang="en-US" sz="1800" dirty="0"/>
          </a:p>
        </p:txBody>
      </p:sp>
      <p:sp>
        <p:nvSpPr>
          <p:cNvPr id="14" name="Text 11"/>
          <p:cNvSpPr txBox="1"/>
          <p:nvPr/>
        </p:nvSpPr>
        <p:spPr>
          <a:xfrm>
            <a:off x="685800" y="2286000"/>
            <a:ext cx="3200400" cy="640080"/>
          </a:xfrm>
          <a:prstGeom prst="rect">
            <a:avLst/>
          </a:prstGeom>
          <a:noFill/>
          <a:ln/>
        </p:spPr>
        <p:txBody>
          <a:bodyPr wrap="square" lIns="0" tIns="0" rIns="0" bIns="0" rtlCol="0" anchor="t"/>
          <a:lstStyle/>
          <a:p>
            <a:pPr marL="0" indent="0" algn="l">
              <a:lnSpc>
                <a:spcPct val="100000"/>
              </a:lnSpc>
              <a:buNone/>
            </a:pPr>
            <a:r>
              <a:rPr lang="en-US" sz="1150" dirty="0">
                <a:solidFill>
                  <a:srgbClr val="5E6964"/>
                </a:solidFill>
                <a:latin typeface="Calibri" pitchFamily="34" charset="0"/>
                <a:ea typeface="Calibri" pitchFamily="34" charset="-122"/>
                <a:cs typeface="Calibri" pitchFamily="34" charset="-120"/>
              </a:rPr>
              <a:t>C'est lui qui exécute le code. Il ne s'affiche jamais : il travaille derrière.</a:t>
            </a:r>
            <a:endParaRPr lang="en-US" sz="1150" dirty="0"/>
          </a:p>
        </p:txBody>
      </p:sp>
      <p:sp>
        <p:nvSpPr>
          <p:cNvPr id="15" name="Shape 12"/>
          <p:cNvSpPr/>
          <p:nvPr/>
        </p:nvSpPr>
        <p:spPr>
          <a:xfrm>
            <a:off x="685800" y="3017520"/>
            <a:ext cx="3200400" cy="292608"/>
          </a:xfrm>
          <a:prstGeom prst="roundRect">
            <a:avLst>
              <a:gd name="adj" fmla="val 50000"/>
            </a:avLst>
          </a:prstGeom>
          <a:solidFill>
            <a:srgbClr val="E8F5EF"/>
          </a:solidFill>
          <a:ln w="9525">
            <a:solidFill>
              <a:srgbClr val="00A86A"/>
            </a:solidFill>
            <a:prstDash val="solid"/>
          </a:ln>
        </p:spPr>
      </p:sp>
      <p:sp>
        <p:nvSpPr>
          <p:cNvPr id="16" name="Text 13"/>
          <p:cNvSpPr txBox="1"/>
          <p:nvPr/>
        </p:nvSpPr>
        <p:spPr>
          <a:xfrm>
            <a:off x="685800" y="3017520"/>
            <a:ext cx="3200400" cy="292608"/>
          </a:xfrm>
          <a:prstGeom prst="rect">
            <a:avLst/>
          </a:prstGeom>
          <a:noFill/>
          <a:ln/>
        </p:spPr>
        <p:txBody>
          <a:bodyPr wrap="square" lIns="0" tIns="0" rIns="0" bIns="0" rtlCol="0" anchor="ctr"/>
          <a:lstStyle/>
          <a:p>
            <a:pPr marL="0" indent="0" algn="ctr">
              <a:lnSpc>
                <a:spcPct val="100000"/>
              </a:lnSpc>
              <a:buNone/>
            </a:pPr>
            <a:r>
              <a:rPr lang="en-US" sz="1000" b="1" dirty="0">
                <a:solidFill>
                  <a:srgbClr val="00704A"/>
                </a:solidFill>
                <a:latin typeface="Calibri" pitchFamily="34" charset="0"/>
                <a:ea typeface="Calibri" pitchFamily="34" charset="-122"/>
                <a:cs typeface="Calibri" pitchFamily="34" charset="-120"/>
              </a:rPr>
              <a:t>Version 3.10 minimum · 3.12.0 validée</a:t>
            </a:r>
            <a:endParaRPr lang="en-US" sz="1000" dirty="0"/>
          </a:p>
        </p:txBody>
      </p:sp>
      <p:sp>
        <p:nvSpPr>
          <p:cNvPr id="17" name="Shape 14"/>
          <p:cNvSpPr/>
          <p:nvPr/>
        </p:nvSpPr>
        <p:spPr>
          <a:xfrm>
            <a:off x="5029200" y="1325880"/>
            <a:ext cx="3657600" cy="2148840"/>
          </a:xfrm>
          <a:prstGeom prst="roundRect">
            <a:avLst>
              <a:gd name="adj" fmla="val 3404"/>
            </a:avLst>
          </a:prstGeom>
          <a:solidFill>
            <a:srgbClr val="F4F7F5"/>
          </a:solidFill>
          <a:ln w="9525">
            <a:solidFill>
              <a:srgbClr val="D5DED9"/>
            </a:solidFill>
            <a:prstDash val="solid"/>
          </a:ln>
        </p:spPr>
      </p:sp>
      <p:sp>
        <p:nvSpPr>
          <p:cNvPr id="18" name="Shape 15"/>
          <p:cNvSpPr/>
          <p:nvPr/>
        </p:nvSpPr>
        <p:spPr>
          <a:xfrm>
            <a:off x="5257800" y="1554480"/>
            <a:ext cx="566928" cy="566928"/>
          </a:xfrm>
          <a:prstGeom prst="ellipse">
            <a:avLst/>
          </a:prstGeom>
          <a:solidFill>
            <a:srgbClr val="00A86A">
              <a:alpha val="22000"/>
            </a:srgbClr>
          </a:solidFill>
          <a:ln/>
        </p:spPr>
      </p:sp>
      <p:pic>
        <p:nvPicPr>
          <p:cNvPr id="19" name="Image 1" descr="preencoded.png"/>
          <p:cNvPicPr>
            <a:picLocks noChangeAspect="1"/>
          </p:cNvPicPr>
          <p:nvPr/>
        </p:nvPicPr>
        <p:blipFill>
          <a:blip r:embed="rId4"/>
          <a:stretch>
            <a:fillRect/>
          </a:stretch>
        </p:blipFill>
        <p:spPr>
          <a:xfrm>
            <a:off x="5399532" y="1696212"/>
            <a:ext cx="283464" cy="283464"/>
          </a:xfrm>
          <a:prstGeom prst="rect">
            <a:avLst/>
          </a:prstGeom>
        </p:spPr>
      </p:pic>
      <p:sp>
        <p:nvSpPr>
          <p:cNvPr id="20" name="Text 16"/>
          <p:cNvSpPr txBox="1"/>
          <p:nvPr/>
        </p:nvSpPr>
        <p:spPr>
          <a:xfrm>
            <a:off x="5989320" y="1572768"/>
            <a:ext cx="2468880" cy="201168"/>
          </a:xfrm>
          <a:prstGeom prst="rect">
            <a:avLst/>
          </a:prstGeom>
          <a:noFill/>
          <a:ln/>
        </p:spPr>
        <p:txBody>
          <a:bodyPr wrap="square" lIns="0" tIns="0" rIns="0" bIns="0" rtlCol="0" anchor="t"/>
          <a:lstStyle/>
          <a:p>
            <a:pPr marL="0" indent="0" algn="l">
              <a:lnSpc>
                <a:spcPct val="100000"/>
              </a:lnSpc>
              <a:buNone/>
            </a:pPr>
            <a:r>
              <a:rPr lang="en-US" sz="1000" b="1" kern="0" spc="200" dirty="0">
                <a:solidFill>
                  <a:srgbClr val="00704A"/>
                </a:solidFill>
                <a:latin typeface="Calibri" pitchFamily="34" charset="0"/>
                <a:ea typeface="Calibri" pitchFamily="34" charset="-122"/>
                <a:cs typeface="Calibri" pitchFamily="34" charset="-120"/>
              </a:rPr>
              <a:t>LA FENÊTRE</a:t>
            </a:r>
            <a:endParaRPr lang="en-US" sz="1000" dirty="0"/>
          </a:p>
        </p:txBody>
      </p:sp>
      <p:sp>
        <p:nvSpPr>
          <p:cNvPr id="21" name="Text 17"/>
          <p:cNvSpPr txBox="1"/>
          <p:nvPr/>
        </p:nvSpPr>
        <p:spPr>
          <a:xfrm>
            <a:off x="5989320" y="1783080"/>
            <a:ext cx="2468880" cy="347472"/>
          </a:xfrm>
          <a:prstGeom prst="rect">
            <a:avLst/>
          </a:prstGeom>
          <a:noFill/>
          <a:ln/>
        </p:spPr>
        <p:txBody>
          <a:bodyPr wrap="square" lIns="0" tIns="0" rIns="0" bIns="0" rtlCol="0" anchor="t"/>
          <a:lstStyle/>
          <a:p>
            <a:pPr marL="0" indent="0" algn="l">
              <a:lnSpc>
                <a:spcPct val="100000"/>
              </a:lnSpc>
              <a:buNone/>
            </a:pPr>
            <a:r>
              <a:rPr lang="en-US" sz="1800" b="1" dirty="0">
                <a:solidFill>
                  <a:srgbClr val="231F20"/>
                </a:solidFill>
                <a:latin typeface="Calibri" pitchFamily="34" charset="0"/>
                <a:ea typeface="Calibri" pitchFamily="34" charset="-122"/>
                <a:cs typeface="Calibri" pitchFamily="34" charset="-120"/>
              </a:rPr>
              <a:t>JupyterLab</a:t>
            </a:r>
            <a:endParaRPr lang="en-US" sz="1800" dirty="0"/>
          </a:p>
        </p:txBody>
      </p:sp>
      <p:sp>
        <p:nvSpPr>
          <p:cNvPr id="22" name="Text 18"/>
          <p:cNvSpPr txBox="1"/>
          <p:nvPr/>
        </p:nvSpPr>
        <p:spPr>
          <a:xfrm>
            <a:off x="5257800" y="2286000"/>
            <a:ext cx="3200400" cy="640080"/>
          </a:xfrm>
          <a:prstGeom prst="rect">
            <a:avLst/>
          </a:prstGeom>
          <a:noFill/>
          <a:ln/>
        </p:spPr>
        <p:txBody>
          <a:bodyPr wrap="square" lIns="0" tIns="0" rIns="0" bIns="0" rtlCol="0" anchor="t"/>
          <a:lstStyle/>
          <a:p>
            <a:pPr marL="0" indent="0" algn="l">
              <a:lnSpc>
                <a:spcPct val="100000"/>
              </a:lnSpc>
              <a:buNone/>
            </a:pPr>
            <a:r>
              <a:rPr lang="en-US" sz="1150" dirty="0">
                <a:solidFill>
                  <a:srgbClr val="5E6964"/>
                </a:solidFill>
                <a:latin typeface="Calibri" pitchFamily="34" charset="0"/>
                <a:ea typeface="Calibri" pitchFamily="34" charset="-122"/>
                <a:cs typeface="Calibri" pitchFamily="34" charset="-120"/>
              </a:rPr>
              <a:t>C'est lui qui ouvre les carnets (notebooks) et montre le résultat à côté du code. Il a besoin de Python pour fonctionner.</a:t>
            </a:r>
            <a:endParaRPr lang="en-US" sz="1150" dirty="0"/>
          </a:p>
        </p:txBody>
      </p:sp>
      <p:sp>
        <p:nvSpPr>
          <p:cNvPr id="23" name="Shape 19"/>
          <p:cNvSpPr/>
          <p:nvPr/>
        </p:nvSpPr>
        <p:spPr>
          <a:xfrm>
            <a:off x="5257800" y="3017520"/>
            <a:ext cx="3200400" cy="292608"/>
          </a:xfrm>
          <a:prstGeom prst="roundRect">
            <a:avLst>
              <a:gd name="adj" fmla="val 50000"/>
            </a:avLst>
          </a:prstGeom>
          <a:solidFill>
            <a:srgbClr val="E8F5EF"/>
          </a:solidFill>
          <a:ln w="9525">
            <a:solidFill>
              <a:srgbClr val="00A86A"/>
            </a:solidFill>
            <a:prstDash val="solid"/>
          </a:ln>
        </p:spPr>
      </p:sp>
      <p:sp>
        <p:nvSpPr>
          <p:cNvPr id="24" name="Text 20"/>
          <p:cNvSpPr txBox="1"/>
          <p:nvPr/>
        </p:nvSpPr>
        <p:spPr>
          <a:xfrm>
            <a:off x="5257800" y="3017520"/>
            <a:ext cx="3200400" cy="292608"/>
          </a:xfrm>
          <a:prstGeom prst="rect">
            <a:avLst/>
          </a:prstGeom>
          <a:noFill/>
          <a:ln/>
        </p:spPr>
        <p:txBody>
          <a:bodyPr wrap="square" lIns="0" tIns="0" rIns="0" bIns="0" rtlCol="0" anchor="ctr"/>
          <a:lstStyle/>
          <a:p>
            <a:pPr marL="0" indent="0" algn="ctr">
              <a:lnSpc>
                <a:spcPct val="100000"/>
              </a:lnSpc>
              <a:buNone/>
            </a:pPr>
            <a:r>
              <a:rPr lang="en-US" sz="1000" b="1" dirty="0">
                <a:solidFill>
                  <a:srgbClr val="00704A"/>
                </a:solidFill>
                <a:latin typeface="Calibri" pitchFamily="34" charset="0"/>
                <a:ea typeface="Calibri" pitchFamily="34" charset="-122"/>
                <a:cs typeface="Calibri" pitchFamily="34" charset="-120"/>
              </a:rPr>
              <a:t>Installé par Python lui-même, en une commande</a:t>
            </a:r>
            <a:endParaRPr lang="en-US" sz="1000" dirty="0"/>
          </a:p>
        </p:txBody>
      </p:sp>
      <p:sp>
        <p:nvSpPr>
          <p:cNvPr id="25" name="Shape 21"/>
          <p:cNvSpPr/>
          <p:nvPr/>
        </p:nvSpPr>
        <p:spPr>
          <a:xfrm>
            <a:off x="4206240" y="2395728"/>
            <a:ext cx="731520" cy="0"/>
          </a:xfrm>
          <a:prstGeom prst="line">
            <a:avLst/>
          </a:prstGeom>
          <a:noFill/>
          <a:ln w="19050">
            <a:solidFill>
              <a:srgbClr val="5E6964"/>
            </a:solidFill>
            <a:prstDash val="solid"/>
            <a:tailEnd type="triangle"/>
          </a:ln>
        </p:spPr>
      </p:sp>
      <p:sp>
        <p:nvSpPr>
          <p:cNvPr id="26" name="Text 22"/>
          <p:cNvSpPr txBox="1"/>
          <p:nvPr/>
        </p:nvSpPr>
        <p:spPr>
          <a:xfrm>
            <a:off x="4206240" y="2103120"/>
            <a:ext cx="731520" cy="201168"/>
          </a:xfrm>
          <a:prstGeom prst="rect">
            <a:avLst/>
          </a:prstGeom>
          <a:noFill/>
          <a:ln/>
        </p:spPr>
        <p:txBody>
          <a:bodyPr wrap="square" lIns="0" tIns="0" rIns="0" bIns="0" rtlCol="0" anchor="t"/>
          <a:lstStyle/>
          <a:p>
            <a:pPr marL="0" indent="0" algn="ctr">
              <a:lnSpc>
                <a:spcPct val="100000"/>
              </a:lnSpc>
              <a:buNone/>
            </a:pPr>
            <a:r>
              <a:rPr lang="en-US" sz="950" i="1" dirty="0">
                <a:solidFill>
                  <a:srgbClr val="5E6964"/>
                </a:solidFill>
                <a:latin typeface="Calibri" pitchFamily="34" charset="0"/>
                <a:ea typeface="Calibri" pitchFamily="34" charset="-122"/>
                <a:cs typeface="Calibri" pitchFamily="34" charset="-120"/>
              </a:rPr>
              <a:t>puis</a:t>
            </a:r>
            <a:endParaRPr lang="en-US" sz="950" dirty="0"/>
          </a:p>
        </p:txBody>
      </p:sp>
      <p:sp>
        <p:nvSpPr>
          <p:cNvPr id="27" name="Shape 23"/>
          <p:cNvSpPr/>
          <p:nvPr/>
        </p:nvSpPr>
        <p:spPr>
          <a:xfrm>
            <a:off x="457200" y="3657600"/>
            <a:ext cx="8229600" cy="868680"/>
          </a:xfrm>
          <a:prstGeom prst="roundRect">
            <a:avLst>
              <a:gd name="adj" fmla="val 8421"/>
            </a:avLst>
          </a:prstGeom>
          <a:solidFill>
            <a:srgbClr val="E8F5EF"/>
          </a:solidFill>
          <a:ln w="15875">
            <a:solidFill>
              <a:srgbClr val="00A86A"/>
            </a:solidFill>
            <a:prstDash val="solid"/>
          </a:ln>
        </p:spPr>
      </p:sp>
      <p:sp>
        <p:nvSpPr>
          <p:cNvPr id="28" name="Shape 24"/>
          <p:cNvSpPr/>
          <p:nvPr/>
        </p:nvSpPr>
        <p:spPr>
          <a:xfrm>
            <a:off x="658368" y="3822192"/>
            <a:ext cx="530352" cy="530352"/>
          </a:xfrm>
          <a:prstGeom prst="ellipse">
            <a:avLst/>
          </a:prstGeom>
          <a:solidFill>
            <a:srgbClr val="00A86A">
              <a:alpha val="22000"/>
            </a:srgbClr>
          </a:solidFill>
          <a:ln/>
        </p:spPr>
      </p:sp>
      <p:pic>
        <p:nvPicPr>
          <p:cNvPr id="29" name="Image 2" descr="preencoded.png"/>
          <p:cNvPicPr>
            <a:picLocks noChangeAspect="1"/>
          </p:cNvPicPr>
          <p:nvPr/>
        </p:nvPicPr>
        <p:blipFill>
          <a:blip r:embed="rId5"/>
          <a:stretch>
            <a:fillRect/>
          </a:stretch>
        </p:blipFill>
        <p:spPr>
          <a:xfrm>
            <a:off x="790956" y="3954780"/>
            <a:ext cx="265176" cy="265176"/>
          </a:xfrm>
          <a:prstGeom prst="rect">
            <a:avLst/>
          </a:prstGeom>
        </p:spPr>
      </p:pic>
      <p:sp>
        <p:nvSpPr>
          <p:cNvPr id="30" name="Text 25"/>
          <p:cNvSpPr txBox="1"/>
          <p:nvPr/>
        </p:nvSpPr>
        <p:spPr>
          <a:xfrm>
            <a:off x="1371600" y="3767328"/>
            <a:ext cx="7132320" cy="438912"/>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Et c'est tout.</a:t>
            </a:r>
            <a:r>
              <a:rPr lang="en-US" sz="1200" dirty="0">
                <a:solidFill>
                  <a:srgbClr val="231F20"/>
                </a:solidFill>
                <a:latin typeface="Calibri" pitchFamily="34" charset="0"/>
                <a:ea typeface="Calibri" pitchFamily="34" charset="-122"/>
                <a:cs typeface="Calibri" pitchFamily="34" charset="-120"/>
              </a:rPr>
              <a:t> Les trente bibliothèques dont le projet a besoin — pandas, plotly, les autres — </a:t>
            </a:r>
            <a:r>
              <a:rPr lang="en-US" sz="1200" b="1" dirty="0">
                <a:solidFill>
                  <a:srgbClr val="231F20"/>
                </a:solidFill>
                <a:latin typeface="Calibri" pitchFamily="34" charset="0"/>
                <a:ea typeface="Calibri" pitchFamily="34" charset="-122"/>
                <a:cs typeface="Calibri" pitchFamily="34" charset="-120"/>
              </a:rPr>
              <a:t>s'installent toutes seules</a:t>
            </a:r>
            <a:r>
              <a:rPr lang="en-US" sz="1200" dirty="0">
                <a:solidFill>
                  <a:srgbClr val="231F20"/>
                </a:solidFill>
                <a:latin typeface="Calibri" pitchFamily="34" charset="0"/>
                <a:ea typeface="Calibri" pitchFamily="34" charset="-122"/>
                <a:cs typeface="Calibri" pitchFamily="34" charset="-120"/>
              </a:rPr>
              <a:t> à l'ouverture du premier carnet.</a:t>
            </a:r>
            <a:endParaRPr lang="en-US" sz="1200" dirty="0"/>
          </a:p>
        </p:txBody>
      </p:sp>
      <p:sp>
        <p:nvSpPr>
          <p:cNvPr id="31" name="Text 26"/>
          <p:cNvSpPr txBox="1"/>
          <p:nvPr/>
        </p:nvSpPr>
        <p:spPr>
          <a:xfrm>
            <a:off x="1371600" y="4206240"/>
            <a:ext cx="7132320" cy="219456"/>
          </a:xfrm>
          <a:prstGeom prst="rect">
            <a:avLst/>
          </a:prstGeom>
          <a:noFill/>
          <a:ln/>
        </p:spPr>
        <p:txBody>
          <a:bodyPr wrap="square" lIns="0" tIns="0" rIns="0" bIns="0" rtlCol="0" anchor="t"/>
          <a:lstStyle/>
          <a:p>
            <a:pPr marL="0" indent="0" algn="l">
              <a:lnSpc>
                <a:spcPct val="100000"/>
              </a:lnSpc>
              <a:buNone/>
            </a:pPr>
            <a:r>
              <a:rPr lang="en-US" sz="1000" i="1" dirty="0">
                <a:solidFill>
                  <a:srgbClr val="5E6964"/>
                </a:solidFill>
                <a:latin typeface="Calibri" pitchFamily="34" charset="0"/>
                <a:ea typeface="Calibri" pitchFamily="34" charset="-122"/>
                <a:cs typeface="Calibri" pitchFamily="34" charset="-120"/>
              </a:rPr>
              <a:t>Vous n'avez pas à connaître cette liste, ni à la taper.</a:t>
            </a:r>
            <a:endParaRPr lang="en-US" sz="1000" dirty="0"/>
          </a:p>
        </p:txBody>
      </p:sp>
      <p:sp>
        <p:nvSpPr>
          <p:cNvPr id="32"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01 · COMPRENDRE</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Trois choses à vérifier, une minute</a:t>
            </a:r>
            <a:endParaRPr lang="en-US" sz="2800" dirty="0"/>
          </a:p>
        </p:txBody>
      </p:sp>
      <p:sp>
        <p:nvSpPr>
          <p:cNvPr id="4" name="Shape 2"/>
          <p:cNvSpPr/>
          <p:nvPr/>
        </p:nvSpPr>
        <p:spPr>
          <a:xfrm>
            <a:off x="7854696" y="338328"/>
            <a:ext cx="100584" cy="100584"/>
          </a:xfrm>
          <a:prstGeom prst="ellipse">
            <a:avLst/>
          </a:prstGeom>
          <a:solidFill>
            <a:srgbClr val="00A86A"/>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2606040" cy="2743200"/>
          </a:xfrm>
          <a:prstGeom prst="roundRect">
            <a:avLst>
              <a:gd name="adj" fmla="val 2807"/>
            </a:avLst>
          </a:prstGeom>
          <a:solidFill>
            <a:srgbClr val="F4F7F5"/>
          </a:solidFill>
          <a:ln w="9525">
            <a:solidFill>
              <a:srgbClr val="D5DED9"/>
            </a:solidFill>
            <a:prstDash val="solid"/>
          </a:ln>
        </p:spPr>
      </p:sp>
      <p:sp>
        <p:nvSpPr>
          <p:cNvPr id="10" name="Text 8"/>
          <p:cNvSpPr txBox="1"/>
          <p:nvPr/>
        </p:nvSpPr>
        <p:spPr>
          <a:xfrm>
            <a:off x="685800" y="1508760"/>
            <a:ext cx="1097280" cy="548640"/>
          </a:xfrm>
          <a:prstGeom prst="rect">
            <a:avLst/>
          </a:prstGeom>
          <a:noFill/>
          <a:ln/>
        </p:spPr>
        <p:txBody>
          <a:bodyPr wrap="square" lIns="0" tIns="0" rIns="0" bIns="0" rtlCol="0" anchor="t"/>
          <a:lstStyle/>
          <a:p>
            <a:pPr marL="0" indent="0" algn="l">
              <a:lnSpc>
                <a:spcPct val="100000"/>
              </a:lnSpc>
              <a:buNone/>
            </a:pPr>
            <a:r>
              <a:rPr lang="en-US" sz="3200" b="1" dirty="0">
                <a:solidFill>
                  <a:srgbClr val="00A86A"/>
                </a:solidFill>
                <a:latin typeface="Calibri" pitchFamily="34" charset="0"/>
                <a:ea typeface="Calibri" pitchFamily="34" charset="-122"/>
                <a:cs typeface="Calibri" pitchFamily="34" charset="-120"/>
              </a:rPr>
              <a:t>01</a:t>
            </a:r>
            <a:endParaRPr lang="en-US" sz="3200" dirty="0"/>
          </a:p>
        </p:txBody>
      </p:sp>
      <p:sp>
        <p:nvSpPr>
          <p:cNvPr id="11" name="Shape 9"/>
          <p:cNvSpPr/>
          <p:nvPr/>
        </p:nvSpPr>
        <p:spPr>
          <a:xfrm>
            <a:off x="2286000" y="1554480"/>
            <a:ext cx="530352" cy="530352"/>
          </a:xfrm>
          <a:prstGeom prst="ellipse">
            <a:avLst/>
          </a:prstGeom>
          <a:solidFill>
            <a:srgbClr val="00A86A">
              <a:alpha val="22000"/>
            </a:srgbClr>
          </a:solidFill>
          <a:ln/>
        </p:spPr>
      </p:sp>
      <p:pic>
        <p:nvPicPr>
          <p:cNvPr id="12" name="Image 0" descr="preencoded.png"/>
          <p:cNvPicPr>
            <a:picLocks noChangeAspect="1"/>
          </p:cNvPicPr>
          <p:nvPr/>
        </p:nvPicPr>
        <p:blipFill>
          <a:blip r:embed="rId3"/>
          <a:stretch>
            <a:fillRect/>
          </a:stretch>
        </p:blipFill>
        <p:spPr>
          <a:xfrm>
            <a:off x="2418588" y="1687068"/>
            <a:ext cx="265176" cy="265176"/>
          </a:xfrm>
          <a:prstGeom prst="rect">
            <a:avLst/>
          </a:prstGeom>
        </p:spPr>
      </p:pic>
      <p:sp>
        <p:nvSpPr>
          <p:cNvPr id="13" name="Text 10"/>
          <p:cNvSpPr txBox="1"/>
          <p:nvPr/>
        </p:nvSpPr>
        <p:spPr>
          <a:xfrm>
            <a:off x="685800" y="2194560"/>
            <a:ext cx="2148840" cy="457200"/>
          </a:xfrm>
          <a:prstGeom prst="rect">
            <a:avLst/>
          </a:prstGeom>
          <a:noFill/>
          <a:ln/>
        </p:spPr>
        <p:txBody>
          <a:bodyPr wrap="square" lIns="0" tIns="0" rIns="0" bIns="0" rtlCol="0" anchor="t"/>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Quel système ?</a:t>
            </a:r>
            <a:endParaRPr lang="en-US" sz="1400" dirty="0"/>
          </a:p>
        </p:txBody>
      </p:sp>
      <p:sp>
        <p:nvSpPr>
          <p:cNvPr id="14" name="Text 11"/>
          <p:cNvSpPr txBox="1"/>
          <p:nvPr/>
        </p:nvSpPr>
        <p:spPr>
          <a:xfrm>
            <a:off x="685800" y="2679192"/>
            <a:ext cx="2148840" cy="1280160"/>
          </a:xfrm>
          <a:prstGeom prst="rect">
            <a:avLst/>
          </a:prstGeom>
          <a:noFill/>
          <a:ln/>
        </p:spPr>
        <p:txBody>
          <a:bodyPr wrap="square" lIns="0" tIns="0" rIns="0" bIns="0" rtlCol="0" anchor="t"/>
          <a:lstStyle/>
          <a:p>
            <a:pPr marL="0" indent="0" algn="l">
              <a:lnSpc>
                <a:spcPct val="100000"/>
              </a:lnSpc>
              <a:buNone/>
            </a:pPr>
            <a:r>
              <a:rPr lang="en-US" sz="1100" dirty="0">
                <a:solidFill>
                  <a:srgbClr val="5E6964"/>
                </a:solidFill>
                <a:latin typeface="Calibri" pitchFamily="34" charset="0"/>
                <a:ea typeface="Calibri" pitchFamily="34" charset="-122"/>
                <a:cs typeface="Calibri" pitchFamily="34" charset="-120"/>
              </a:rPr>
              <a:t>Windows, macOS ou Linux. Les commandes diffèrent légèrement, et chaque diapositive donne les trois.</a:t>
            </a:r>
            <a:endParaRPr lang="en-US" sz="1100" dirty="0"/>
          </a:p>
        </p:txBody>
      </p:sp>
      <p:sp>
        <p:nvSpPr>
          <p:cNvPr id="15" name="Shape 12"/>
          <p:cNvSpPr/>
          <p:nvPr/>
        </p:nvSpPr>
        <p:spPr>
          <a:xfrm>
            <a:off x="3268980" y="1325880"/>
            <a:ext cx="2606040" cy="2743200"/>
          </a:xfrm>
          <a:prstGeom prst="roundRect">
            <a:avLst>
              <a:gd name="adj" fmla="val 2807"/>
            </a:avLst>
          </a:prstGeom>
          <a:solidFill>
            <a:srgbClr val="E8F5EF"/>
          </a:solidFill>
          <a:ln w="19050">
            <a:solidFill>
              <a:srgbClr val="D49A00"/>
            </a:solidFill>
            <a:prstDash val="solid"/>
          </a:ln>
        </p:spPr>
      </p:sp>
      <p:sp>
        <p:nvSpPr>
          <p:cNvPr id="16" name="Text 13"/>
          <p:cNvSpPr txBox="1"/>
          <p:nvPr/>
        </p:nvSpPr>
        <p:spPr>
          <a:xfrm>
            <a:off x="3497580" y="1508760"/>
            <a:ext cx="1097280" cy="548640"/>
          </a:xfrm>
          <a:prstGeom prst="rect">
            <a:avLst/>
          </a:prstGeom>
          <a:noFill/>
          <a:ln/>
        </p:spPr>
        <p:txBody>
          <a:bodyPr wrap="square" lIns="0" tIns="0" rIns="0" bIns="0" rtlCol="0" anchor="t"/>
          <a:lstStyle/>
          <a:p>
            <a:pPr marL="0" indent="0" algn="l">
              <a:lnSpc>
                <a:spcPct val="100000"/>
              </a:lnSpc>
              <a:buNone/>
            </a:pPr>
            <a:r>
              <a:rPr lang="en-US" sz="3200" b="1" dirty="0">
                <a:solidFill>
                  <a:srgbClr val="D49A00"/>
                </a:solidFill>
                <a:latin typeface="Calibri" pitchFamily="34" charset="0"/>
                <a:ea typeface="Calibri" pitchFamily="34" charset="-122"/>
                <a:cs typeface="Calibri" pitchFamily="34" charset="-120"/>
              </a:rPr>
              <a:t>02</a:t>
            </a:r>
            <a:endParaRPr lang="en-US" sz="3200" dirty="0"/>
          </a:p>
        </p:txBody>
      </p:sp>
      <p:sp>
        <p:nvSpPr>
          <p:cNvPr id="17" name="Shape 14"/>
          <p:cNvSpPr/>
          <p:nvPr/>
        </p:nvSpPr>
        <p:spPr>
          <a:xfrm>
            <a:off x="5097780" y="1554480"/>
            <a:ext cx="530352" cy="530352"/>
          </a:xfrm>
          <a:prstGeom prst="ellipse">
            <a:avLst/>
          </a:prstGeom>
          <a:solidFill>
            <a:srgbClr val="D49A00">
              <a:alpha val="22000"/>
            </a:srgbClr>
          </a:solidFill>
          <a:ln/>
        </p:spPr>
      </p:sp>
      <p:pic>
        <p:nvPicPr>
          <p:cNvPr id="18" name="Image 1" descr="preencoded.png"/>
          <p:cNvPicPr>
            <a:picLocks noChangeAspect="1"/>
          </p:cNvPicPr>
          <p:nvPr/>
        </p:nvPicPr>
        <p:blipFill>
          <a:blip r:embed="rId4"/>
          <a:stretch>
            <a:fillRect/>
          </a:stretch>
        </p:blipFill>
        <p:spPr>
          <a:xfrm>
            <a:off x="5230368" y="1687068"/>
            <a:ext cx="265176" cy="265176"/>
          </a:xfrm>
          <a:prstGeom prst="rect">
            <a:avLst/>
          </a:prstGeom>
        </p:spPr>
      </p:pic>
      <p:sp>
        <p:nvSpPr>
          <p:cNvPr id="19" name="Text 15"/>
          <p:cNvSpPr txBox="1"/>
          <p:nvPr/>
        </p:nvSpPr>
        <p:spPr>
          <a:xfrm>
            <a:off x="3497580" y="2194560"/>
            <a:ext cx="2148840" cy="457200"/>
          </a:xfrm>
          <a:prstGeom prst="rect">
            <a:avLst/>
          </a:prstGeom>
          <a:noFill/>
          <a:ln/>
        </p:spPr>
        <p:txBody>
          <a:bodyPr wrap="square" lIns="0" tIns="0" rIns="0" bIns="0" rtlCol="0" anchor="t"/>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Pouvez-vous installer un logiciel ?</a:t>
            </a:r>
            <a:endParaRPr lang="en-US" sz="1400" dirty="0"/>
          </a:p>
        </p:txBody>
      </p:sp>
      <p:sp>
        <p:nvSpPr>
          <p:cNvPr id="20" name="Text 16"/>
          <p:cNvSpPr txBox="1"/>
          <p:nvPr/>
        </p:nvSpPr>
        <p:spPr>
          <a:xfrm>
            <a:off x="3497580" y="2679192"/>
            <a:ext cx="2148840" cy="1280160"/>
          </a:xfrm>
          <a:prstGeom prst="rect">
            <a:avLst/>
          </a:prstGeom>
          <a:noFill/>
          <a:ln/>
        </p:spPr>
        <p:txBody>
          <a:bodyPr wrap="square" lIns="0" tIns="0" rIns="0" bIns="0" rtlCol="0" anchor="t"/>
          <a:lstStyle/>
          <a:p>
            <a:pPr marL="0" indent="0" algn="l">
              <a:lnSpc>
                <a:spcPct val="100000"/>
              </a:lnSpc>
              <a:buNone/>
            </a:pPr>
            <a:r>
              <a:rPr lang="en-US" sz="1100" dirty="0">
                <a:solidFill>
                  <a:srgbClr val="5E6964"/>
                </a:solidFill>
                <a:latin typeface="Calibri" pitchFamily="34" charset="0"/>
                <a:ea typeface="Calibri" pitchFamily="34" charset="-122"/>
                <a:cs typeface="Calibri" pitchFamily="34" charset="-120"/>
              </a:rPr>
              <a:t>Sur un poste professionnel, l'installation est parfois réservée au service informatique. Vérifiez-le </a:t>
            </a:r>
            <a:r>
              <a:rPr lang="en-US" sz="1100" b="1" dirty="0">
                <a:solidFill>
                  <a:srgbClr val="5E6964"/>
                </a:solidFill>
                <a:latin typeface="Calibri" pitchFamily="34" charset="0"/>
                <a:ea typeface="Calibri" pitchFamily="34" charset="-122"/>
                <a:cs typeface="Calibri" pitchFamily="34" charset="-120"/>
              </a:rPr>
              <a:t>avant de commencer</a:t>
            </a:r>
            <a:r>
              <a:rPr lang="en-US" sz="1100" dirty="0">
                <a:solidFill>
                  <a:srgbClr val="5E6964"/>
                </a:solidFill>
                <a:latin typeface="Calibri" pitchFamily="34" charset="0"/>
                <a:ea typeface="Calibri" pitchFamily="34" charset="-122"/>
                <a:cs typeface="Calibri" pitchFamily="34" charset="-120"/>
              </a:rPr>
              <a:t> : c'est le seul obstacle que vous ne pourrez pas lever vous-même.</a:t>
            </a:r>
            <a:endParaRPr lang="en-US" sz="1100" dirty="0"/>
          </a:p>
        </p:txBody>
      </p:sp>
      <p:sp>
        <p:nvSpPr>
          <p:cNvPr id="21" name="Shape 17"/>
          <p:cNvSpPr/>
          <p:nvPr/>
        </p:nvSpPr>
        <p:spPr>
          <a:xfrm>
            <a:off x="6080760" y="1325880"/>
            <a:ext cx="2606040" cy="2743200"/>
          </a:xfrm>
          <a:prstGeom prst="roundRect">
            <a:avLst>
              <a:gd name="adj" fmla="val 2807"/>
            </a:avLst>
          </a:prstGeom>
          <a:solidFill>
            <a:srgbClr val="F4F7F5"/>
          </a:solidFill>
          <a:ln w="9525">
            <a:solidFill>
              <a:srgbClr val="D5DED9"/>
            </a:solidFill>
            <a:prstDash val="solid"/>
          </a:ln>
        </p:spPr>
      </p:sp>
      <p:sp>
        <p:nvSpPr>
          <p:cNvPr id="22" name="Text 18"/>
          <p:cNvSpPr txBox="1"/>
          <p:nvPr/>
        </p:nvSpPr>
        <p:spPr>
          <a:xfrm>
            <a:off x="6309360" y="1508760"/>
            <a:ext cx="1097280" cy="548640"/>
          </a:xfrm>
          <a:prstGeom prst="rect">
            <a:avLst/>
          </a:prstGeom>
          <a:noFill/>
          <a:ln/>
        </p:spPr>
        <p:txBody>
          <a:bodyPr wrap="square" lIns="0" tIns="0" rIns="0" bIns="0" rtlCol="0" anchor="t"/>
          <a:lstStyle/>
          <a:p>
            <a:pPr marL="0" indent="0" algn="l">
              <a:lnSpc>
                <a:spcPct val="100000"/>
              </a:lnSpc>
              <a:buNone/>
            </a:pPr>
            <a:r>
              <a:rPr lang="en-US" sz="3200" b="1" dirty="0">
                <a:solidFill>
                  <a:srgbClr val="00A86A"/>
                </a:solidFill>
                <a:latin typeface="Calibri" pitchFamily="34" charset="0"/>
                <a:ea typeface="Calibri" pitchFamily="34" charset="-122"/>
                <a:cs typeface="Calibri" pitchFamily="34" charset="-120"/>
              </a:rPr>
              <a:t>03</a:t>
            </a:r>
            <a:endParaRPr lang="en-US" sz="3200" dirty="0"/>
          </a:p>
        </p:txBody>
      </p:sp>
      <p:sp>
        <p:nvSpPr>
          <p:cNvPr id="23" name="Shape 19"/>
          <p:cNvSpPr/>
          <p:nvPr/>
        </p:nvSpPr>
        <p:spPr>
          <a:xfrm>
            <a:off x="7909560" y="1554480"/>
            <a:ext cx="530352" cy="530352"/>
          </a:xfrm>
          <a:prstGeom prst="ellipse">
            <a:avLst/>
          </a:prstGeom>
          <a:solidFill>
            <a:srgbClr val="00A86A">
              <a:alpha val="22000"/>
            </a:srgbClr>
          </a:solidFill>
          <a:ln/>
        </p:spPr>
      </p:sp>
      <p:pic>
        <p:nvPicPr>
          <p:cNvPr id="24" name="Image 2" descr="preencoded.png"/>
          <p:cNvPicPr>
            <a:picLocks noChangeAspect="1"/>
          </p:cNvPicPr>
          <p:nvPr/>
        </p:nvPicPr>
        <p:blipFill>
          <a:blip r:embed="rId5"/>
          <a:stretch>
            <a:fillRect/>
          </a:stretch>
        </p:blipFill>
        <p:spPr>
          <a:xfrm>
            <a:off x="8042148" y="1687068"/>
            <a:ext cx="265176" cy="265176"/>
          </a:xfrm>
          <a:prstGeom prst="rect">
            <a:avLst/>
          </a:prstGeom>
        </p:spPr>
      </p:pic>
      <p:sp>
        <p:nvSpPr>
          <p:cNvPr id="25" name="Text 20"/>
          <p:cNvSpPr txBox="1"/>
          <p:nvPr/>
        </p:nvSpPr>
        <p:spPr>
          <a:xfrm>
            <a:off x="6309360" y="2194560"/>
            <a:ext cx="2148840" cy="457200"/>
          </a:xfrm>
          <a:prstGeom prst="rect">
            <a:avLst/>
          </a:prstGeom>
          <a:noFill/>
          <a:ln/>
        </p:spPr>
        <p:txBody>
          <a:bodyPr wrap="square" lIns="0" tIns="0" rIns="0" bIns="0" rtlCol="0" anchor="t"/>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Une connexion Internet</a:t>
            </a:r>
            <a:endParaRPr lang="en-US" sz="1400" dirty="0"/>
          </a:p>
        </p:txBody>
      </p:sp>
      <p:sp>
        <p:nvSpPr>
          <p:cNvPr id="26" name="Text 21"/>
          <p:cNvSpPr txBox="1"/>
          <p:nvPr/>
        </p:nvSpPr>
        <p:spPr>
          <a:xfrm>
            <a:off x="6309360" y="2679192"/>
            <a:ext cx="2148840" cy="1280160"/>
          </a:xfrm>
          <a:prstGeom prst="rect">
            <a:avLst/>
          </a:prstGeom>
          <a:noFill/>
          <a:ln/>
        </p:spPr>
        <p:txBody>
          <a:bodyPr wrap="square" lIns="0" tIns="0" rIns="0" bIns="0" rtlCol="0" anchor="t"/>
          <a:lstStyle/>
          <a:p>
            <a:pPr marL="0" indent="0" algn="l">
              <a:lnSpc>
                <a:spcPct val="100000"/>
              </a:lnSpc>
              <a:buNone/>
            </a:pPr>
            <a:r>
              <a:rPr lang="en-US" sz="1100" dirty="0">
                <a:solidFill>
                  <a:srgbClr val="5E6964"/>
                </a:solidFill>
                <a:latin typeface="Calibri" pitchFamily="34" charset="0"/>
                <a:ea typeface="Calibri" pitchFamily="34" charset="-122"/>
                <a:cs typeface="Calibri" pitchFamily="34" charset="-120"/>
              </a:rPr>
              <a:t>Le téléchargement pèse une trentaine de mégaoctets pour Python, un peu plus pour JupyterLab.</a:t>
            </a:r>
            <a:endParaRPr lang="en-US" sz="1100" dirty="0"/>
          </a:p>
        </p:txBody>
      </p:sp>
      <p:sp>
        <p:nvSpPr>
          <p:cNvPr id="27" name="Shape 22"/>
          <p:cNvSpPr/>
          <p:nvPr/>
        </p:nvSpPr>
        <p:spPr>
          <a:xfrm>
            <a:off x="457200" y="4251960"/>
            <a:ext cx="310896" cy="310896"/>
          </a:xfrm>
          <a:prstGeom prst="ellipse">
            <a:avLst/>
          </a:prstGeom>
          <a:solidFill>
            <a:srgbClr val="00A86A">
              <a:alpha val="22000"/>
            </a:srgbClr>
          </a:solidFill>
          <a:ln/>
        </p:spPr>
      </p:sp>
      <p:pic>
        <p:nvPicPr>
          <p:cNvPr id="28" name="Image 3" descr="preencoded.png"/>
          <p:cNvPicPr>
            <a:picLocks noChangeAspect="1"/>
          </p:cNvPicPr>
          <p:nvPr/>
        </p:nvPicPr>
        <p:blipFill>
          <a:blip r:embed="rId6"/>
          <a:stretch>
            <a:fillRect/>
          </a:stretch>
        </p:blipFill>
        <p:spPr>
          <a:xfrm>
            <a:off x="534924" y="4329684"/>
            <a:ext cx="155448" cy="155448"/>
          </a:xfrm>
          <a:prstGeom prst="rect">
            <a:avLst/>
          </a:prstGeom>
        </p:spPr>
      </p:pic>
      <p:sp>
        <p:nvSpPr>
          <p:cNvPr id="29" name="Text 23"/>
          <p:cNvSpPr txBox="1"/>
          <p:nvPr/>
        </p:nvSpPr>
        <p:spPr>
          <a:xfrm>
            <a:off x="896112" y="4251960"/>
            <a:ext cx="7315200" cy="310896"/>
          </a:xfrm>
          <a:prstGeom prst="rect">
            <a:avLst/>
          </a:prstGeom>
          <a:noFill/>
          <a:ln/>
        </p:spPr>
        <p:txBody>
          <a:bodyPr wrap="square" lIns="0" tIns="0" rIns="0" bIns="0" rtlCol="0" anchor="ctr"/>
          <a:lstStyle/>
          <a:p>
            <a:pPr marL="0" indent="0" algn="l">
              <a:lnSpc>
                <a:spcPct val="100000"/>
              </a:lnSpc>
              <a:buNone/>
            </a:pPr>
            <a:r>
              <a:rPr lang="en-US" sz="1150" i="1" dirty="0">
                <a:solidFill>
                  <a:srgbClr val="5E6964"/>
                </a:solidFill>
                <a:latin typeface="Calibri" pitchFamily="34" charset="0"/>
                <a:ea typeface="Calibri" pitchFamily="34" charset="-122"/>
                <a:cs typeface="Calibri" pitchFamily="34" charset="-120"/>
              </a:rPr>
              <a:t>Aucun de ces trois points ne demande de connaître Python.</a:t>
            </a:r>
            <a:endParaRPr lang="en-US" sz="1150" dirty="0"/>
          </a:p>
        </p:txBody>
      </p:sp>
      <p:sp>
        <p:nvSpPr>
          <p:cNvPr id="30"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02 · VÉRIFIER</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Python est peut-être déjà installé</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00704A"/>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Text 7"/>
          <p:cNvSpPr txBox="1"/>
          <p:nvPr/>
        </p:nvSpPr>
        <p:spPr>
          <a:xfrm>
            <a:off x="457200" y="1069848"/>
            <a:ext cx="8229600" cy="274320"/>
          </a:xfrm>
          <a:prstGeom prst="rect">
            <a:avLst/>
          </a:prstGeom>
          <a:noFill/>
          <a:ln/>
        </p:spPr>
        <p:txBody>
          <a:bodyPr wrap="square" lIns="0" tIns="0" rIns="0" bIns="0" rtlCol="0" anchor="t"/>
          <a:lstStyle/>
          <a:p>
            <a:pPr marL="0" indent="0" algn="l">
              <a:lnSpc>
                <a:spcPct val="100000"/>
              </a:lnSpc>
              <a:buNone/>
            </a:pPr>
            <a:r>
              <a:rPr lang="en-US" sz="1150" dirty="0">
                <a:solidFill>
                  <a:srgbClr val="5E6964"/>
                </a:solidFill>
                <a:latin typeface="Calibri" pitchFamily="34" charset="0"/>
                <a:ea typeface="Calibri" pitchFamily="34" charset="-122"/>
                <a:cs typeface="Calibri" pitchFamily="34" charset="-120"/>
              </a:rPr>
              <a:t>Ouvrez un terminal et tapez cette commande. Elle ne modifie rien : elle demande seulement à Python de se présenter.</a:t>
            </a:r>
            <a:endParaRPr lang="en-US" sz="1150" dirty="0"/>
          </a:p>
        </p:txBody>
      </p:sp>
      <p:sp>
        <p:nvSpPr>
          <p:cNvPr id="10" name="Shape 8"/>
          <p:cNvSpPr/>
          <p:nvPr/>
        </p:nvSpPr>
        <p:spPr>
          <a:xfrm>
            <a:off x="457200" y="1417320"/>
            <a:ext cx="4023360" cy="841248"/>
          </a:xfrm>
          <a:prstGeom prst="roundRect">
            <a:avLst>
              <a:gd name="adj" fmla="val 8696"/>
            </a:avLst>
          </a:prstGeom>
          <a:solidFill>
            <a:srgbClr val="F4F7F5"/>
          </a:solidFill>
          <a:ln w="9525">
            <a:solidFill>
              <a:srgbClr val="D5DED9"/>
            </a:solidFill>
            <a:prstDash val="solid"/>
          </a:ln>
        </p:spPr>
      </p:sp>
      <p:sp>
        <p:nvSpPr>
          <p:cNvPr id="11" name="Text 9"/>
          <p:cNvSpPr txBox="1"/>
          <p:nvPr/>
        </p:nvSpPr>
        <p:spPr>
          <a:xfrm>
            <a:off x="640080" y="1490472"/>
            <a:ext cx="3657600" cy="182880"/>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00704A"/>
                </a:solidFill>
                <a:latin typeface="Calibri" pitchFamily="34" charset="0"/>
                <a:ea typeface="Calibri" pitchFamily="34" charset="-122"/>
                <a:cs typeface="Calibri" pitchFamily="34" charset="-120"/>
              </a:rPr>
              <a:t>WINDOWS — INVITE DE COMMANDES OU POWERSHELL</a:t>
            </a:r>
            <a:endParaRPr lang="en-US" sz="900" dirty="0"/>
          </a:p>
        </p:txBody>
      </p:sp>
      <p:sp>
        <p:nvSpPr>
          <p:cNvPr id="12" name="Text 10"/>
          <p:cNvSpPr txBox="1"/>
          <p:nvPr/>
        </p:nvSpPr>
        <p:spPr>
          <a:xfrm>
            <a:off x="640080" y="1691640"/>
            <a:ext cx="365760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ourier New" pitchFamily="34" charset="0"/>
                <a:ea typeface="Courier New" pitchFamily="34" charset="-122"/>
                <a:cs typeface="Courier New" pitchFamily="34" charset="-120"/>
              </a:rPr>
              <a:t>python --version</a:t>
            </a:r>
            <a:endParaRPr lang="en-US" sz="1500" dirty="0"/>
          </a:p>
        </p:txBody>
      </p:sp>
      <p:sp>
        <p:nvSpPr>
          <p:cNvPr id="13" name="Text 11"/>
          <p:cNvSpPr txBox="1"/>
          <p:nvPr/>
        </p:nvSpPr>
        <p:spPr>
          <a:xfrm>
            <a:off x="640080" y="1993392"/>
            <a:ext cx="3657600" cy="201168"/>
          </a:xfrm>
          <a:prstGeom prst="rect">
            <a:avLst/>
          </a:prstGeom>
          <a:noFill/>
          <a:ln/>
        </p:spPr>
        <p:txBody>
          <a:bodyPr wrap="square" lIns="0" tIns="0" rIns="0" bIns="0" rtlCol="0" anchor="t"/>
          <a:lstStyle/>
          <a:p>
            <a:pPr marL="0" indent="0" algn="l">
              <a:lnSpc>
                <a:spcPct val="100000"/>
              </a:lnSpc>
              <a:buNone/>
            </a:pPr>
            <a:r>
              <a:rPr lang="en-US" sz="950" i="1" dirty="0">
                <a:solidFill>
                  <a:srgbClr val="5E6964"/>
                </a:solidFill>
                <a:latin typeface="Calibri" pitchFamily="34" charset="0"/>
                <a:ea typeface="Calibri" pitchFamily="34" charset="-122"/>
                <a:cs typeface="Calibri" pitchFamily="34" charset="-120"/>
              </a:rPr>
              <a:t>si rien ne vient : </a:t>
            </a:r>
            <a:r>
              <a:rPr lang="en-US" sz="950" b="1" i="1" dirty="0">
                <a:solidFill>
                  <a:srgbClr val="5E6964"/>
                </a:solidFill>
                <a:latin typeface="Courier New" pitchFamily="34" charset="0"/>
                <a:ea typeface="Courier New" pitchFamily="34" charset="-122"/>
                <a:cs typeface="Courier New" pitchFamily="34" charset="-120"/>
              </a:rPr>
              <a:t>py --version</a:t>
            </a:r>
            <a:endParaRPr lang="en-US" sz="950" dirty="0"/>
          </a:p>
        </p:txBody>
      </p:sp>
      <p:sp>
        <p:nvSpPr>
          <p:cNvPr id="14" name="Shape 12"/>
          <p:cNvSpPr/>
          <p:nvPr/>
        </p:nvSpPr>
        <p:spPr>
          <a:xfrm>
            <a:off x="4663440" y="1417320"/>
            <a:ext cx="4023360" cy="841248"/>
          </a:xfrm>
          <a:prstGeom prst="roundRect">
            <a:avLst>
              <a:gd name="adj" fmla="val 8696"/>
            </a:avLst>
          </a:prstGeom>
          <a:solidFill>
            <a:srgbClr val="F4F7F5"/>
          </a:solidFill>
          <a:ln w="9525">
            <a:solidFill>
              <a:srgbClr val="D5DED9"/>
            </a:solidFill>
            <a:prstDash val="solid"/>
          </a:ln>
        </p:spPr>
      </p:sp>
      <p:sp>
        <p:nvSpPr>
          <p:cNvPr id="15" name="Text 13"/>
          <p:cNvSpPr txBox="1"/>
          <p:nvPr/>
        </p:nvSpPr>
        <p:spPr>
          <a:xfrm>
            <a:off x="4846320" y="1490472"/>
            <a:ext cx="3657600" cy="182880"/>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00704A"/>
                </a:solidFill>
                <a:latin typeface="Calibri" pitchFamily="34" charset="0"/>
                <a:ea typeface="Calibri" pitchFamily="34" charset="-122"/>
                <a:cs typeface="Calibri" pitchFamily="34" charset="-120"/>
              </a:rPr>
              <a:t>MACOS ET LINUX — TERMINAL</a:t>
            </a:r>
            <a:endParaRPr lang="en-US" sz="900" dirty="0"/>
          </a:p>
        </p:txBody>
      </p:sp>
      <p:sp>
        <p:nvSpPr>
          <p:cNvPr id="16" name="Text 14"/>
          <p:cNvSpPr txBox="1"/>
          <p:nvPr/>
        </p:nvSpPr>
        <p:spPr>
          <a:xfrm>
            <a:off x="4846320" y="1691640"/>
            <a:ext cx="365760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ourier New" pitchFamily="34" charset="0"/>
                <a:ea typeface="Courier New" pitchFamily="34" charset="-122"/>
                <a:cs typeface="Courier New" pitchFamily="34" charset="-120"/>
              </a:rPr>
              <a:t>python3 --version</a:t>
            </a:r>
            <a:endParaRPr lang="en-US" sz="1500" dirty="0"/>
          </a:p>
        </p:txBody>
      </p:sp>
      <p:sp>
        <p:nvSpPr>
          <p:cNvPr id="17" name="Text 15"/>
          <p:cNvSpPr txBox="1"/>
          <p:nvPr/>
        </p:nvSpPr>
        <p:spPr>
          <a:xfrm>
            <a:off x="4846320" y="1993392"/>
            <a:ext cx="3657600" cy="201168"/>
          </a:xfrm>
          <a:prstGeom prst="rect">
            <a:avLst/>
          </a:prstGeom>
          <a:noFill/>
          <a:ln/>
        </p:spPr>
        <p:txBody>
          <a:bodyPr wrap="square" lIns="0" tIns="0" rIns="0" bIns="0" rtlCol="0" anchor="t"/>
          <a:lstStyle/>
          <a:p>
            <a:pPr marL="0" indent="0" algn="l">
              <a:lnSpc>
                <a:spcPct val="100000"/>
              </a:lnSpc>
              <a:buNone/>
            </a:pPr>
            <a:r>
              <a:rPr lang="en-US" sz="950" i="1" dirty="0">
                <a:solidFill>
                  <a:srgbClr val="5E6964"/>
                </a:solidFill>
                <a:latin typeface="Calibri" pitchFamily="34" charset="0"/>
                <a:ea typeface="Calibri" pitchFamily="34" charset="-122"/>
                <a:cs typeface="Calibri" pitchFamily="34" charset="-120"/>
              </a:rPr>
              <a:t>le 3 compte : « python » seul désigne souvent une version 2</a:t>
            </a:r>
            <a:endParaRPr lang="en-US" sz="950" dirty="0"/>
          </a:p>
        </p:txBody>
      </p:sp>
      <p:sp>
        <p:nvSpPr>
          <p:cNvPr id="18" name="Text 16"/>
          <p:cNvSpPr txBox="1"/>
          <p:nvPr/>
        </p:nvSpPr>
        <p:spPr>
          <a:xfrm>
            <a:off x="777240" y="2377440"/>
            <a:ext cx="26974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CE QUI S'AFFICHE</a:t>
            </a:r>
            <a:endParaRPr lang="en-US" sz="900" dirty="0"/>
          </a:p>
        </p:txBody>
      </p:sp>
      <p:sp>
        <p:nvSpPr>
          <p:cNvPr id="19" name="Text 17"/>
          <p:cNvSpPr txBox="1"/>
          <p:nvPr/>
        </p:nvSpPr>
        <p:spPr>
          <a:xfrm>
            <a:off x="3310128" y="2377440"/>
            <a:ext cx="26974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CE QUE CELA VEUT DIRE</a:t>
            </a:r>
            <a:endParaRPr lang="en-US" sz="900" dirty="0"/>
          </a:p>
        </p:txBody>
      </p:sp>
      <p:sp>
        <p:nvSpPr>
          <p:cNvPr id="20" name="Text 18"/>
          <p:cNvSpPr txBox="1"/>
          <p:nvPr/>
        </p:nvSpPr>
        <p:spPr>
          <a:xfrm>
            <a:off x="6053328" y="2377440"/>
            <a:ext cx="274320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CE QUE VOUS FAITES</a:t>
            </a:r>
            <a:endParaRPr lang="en-US" sz="900" dirty="0"/>
          </a:p>
        </p:txBody>
      </p:sp>
      <p:sp>
        <p:nvSpPr>
          <p:cNvPr id="21" name="Shape 19"/>
          <p:cNvSpPr/>
          <p:nvPr/>
        </p:nvSpPr>
        <p:spPr>
          <a:xfrm>
            <a:off x="457200" y="2633472"/>
            <a:ext cx="8229600" cy="365760"/>
          </a:xfrm>
          <a:prstGeom prst="roundRect">
            <a:avLst>
              <a:gd name="adj" fmla="val 20000"/>
            </a:avLst>
          </a:prstGeom>
          <a:solidFill>
            <a:srgbClr val="F4F7F5"/>
          </a:solidFill>
          <a:ln w="9525">
            <a:solidFill>
              <a:srgbClr val="D5DED9"/>
            </a:solidFill>
            <a:prstDash val="solid"/>
          </a:ln>
        </p:spPr>
      </p:sp>
      <p:sp>
        <p:nvSpPr>
          <p:cNvPr id="22" name="Shape 20"/>
          <p:cNvSpPr/>
          <p:nvPr/>
        </p:nvSpPr>
        <p:spPr>
          <a:xfrm>
            <a:off x="594360" y="2752344"/>
            <a:ext cx="128016" cy="128016"/>
          </a:xfrm>
          <a:prstGeom prst="ellipse">
            <a:avLst/>
          </a:prstGeom>
          <a:solidFill>
            <a:srgbClr val="00A86A"/>
          </a:solidFill>
          <a:ln/>
        </p:spPr>
      </p:sp>
      <p:sp>
        <p:nvSpPr>
          <p:cNvPr id="23" name="Text 21"/>
          <p:cNvSpPr txBox="1"/>
          <p:nvPr/>
        </p:nvSpPr>
        <p:spPr>
          <a:xfrm>
            <a:off x="777240" y="263347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Python 3.10, 3.11, 3.12 ou 3.13</a:t>
            </a:r>
            <a:endParaRPr lang="en-US" sz="1050" dirty="0"/>
          </a:p>
        </p:txBody>
      </p:sp>
      <p:sp>
        <p:nvSpPr>
          <p:cNvPr id="24" name="Text 22"/>
          <p:cNvSpPr txBox="1"/>
          <p:nvPr/>
        </p:nvSpPr>
        <p:spPr>
          <a:xfrm>
            <a:off x="3310128" y="263347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Tout est en place</a:t>
            </a:r>
            <a:endParaRPr lang="en-US" sz="1050" dirty="0"/>
          </a:p>
        </p:txBody>
      </p:sp>
      <p:sp>
        <p:nvSpPr>
          <p:cNvPr id="25" name="Text 23"/>
          <p:cNvSpPr txBox="1"/>
          <p:nvPr/>
        </p:nvSpPr>
        <p:spPr>
          <a:xfrm>
            <a:off x="6053328" y="263347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Passez directement à l'étape 3</a:t>
            </a:r>
            <a:endParaRPr lang="en-US" sz="1050" dirty="0"/>
          </a:p>
        </p:txBody>
      </p:sp>
      <p:sp>
        <p:nvSpPr>
          <p:cNvPr id="26" name="Shape 24"/>
          <p:cNvSpPr/>
          <p:nvPr/>
        </p:nvSpPr>
        <p:spPr>
          <a:xfrm>
            <a:off x="457200" y="3044952"/>
            <a:ext cx="8229600" cy="365760"/>
          </a:xfrm>
          <a:prstGeom prst="roundRect">
            <a:avLst>
              <a:gd name="adj" fmla="val 20000"/>
            </a:avLst>
          </a:prstGeom>
          <a:solidFill>
            <a:srgbClr val="FFFFFF"/>
          </a:solidFill>
          <a:ln w="9525">
            <a:solidFill>
              <a:srgbClr val="D5DED9"/>
            </a:solidFill>
            <a:prstDash val="solid"/>
          </a:ln>
        </p:spPr>
      </p:sp>
      <p:sp>
        <p:nvSpPr>
          <p:cNvPr id="27" name="Shape 25"/>
          <p:cNvSpPr/>
          <p:nvPr/>
        </p:nvSpPr>
        <p:spPr>
          <a:xfrm>
            <a:off x="594360" y="3163824"/>
            <a:ext cx="128016" cy="128016"/>
          </a:xfrm>
          <a:prstGeom prst="ellipse">
            <a:avLst/>
          </a:prstGeom>
          <a:solidFill>
            <a:srgbClr val="D49A00"/>
          </a:solidFill>
          <a:ln/>
        </p:spPr>
      </p:sp>
      <p:sp>
        <p:nvSpPr>
          <p:cNvPr id="28" name="Text 26"/>
          <p:cNvSpPr txBox="1"/>
          <p:nvPr/>
        </p:nvSpPr>
        <p:spPr>
          <a:xfrm>
            <a:off x="777240" y="304495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Python 3.9.x ou moins</a:t>
            </a:r>
            <a:endParaRPr lang="en-US" sz="1050" dirty="0"/>
          </a:p>
        </p:txBody>
      </p:sp>
      <p:sp>
        <p:nvSpPr>
          <p:cNvPr id="29" name="Text 27"/>
          <p:cNvSpPr txBox="1"/>
          <p:nvPr/>
        </p:nvSpPr>
        <p:spPr>
          <a:xfrm>
            <a:off x="3310128" y="304495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Trop ancien pour le projet</a:t>
            </a:r>
            <a:endParaRPr lang="en-US" sz="1050" dirty="0"/>
          </a:p>
        </p:txBody>
      </p:sp>
      <p:sp>
        <p:nvSpPr>
          <p:cNvPr id="30" name="Text 28"/>
          <p:cNvSpPr txBox="1"/>
          <p:nvPr/>
        </p:nvSpPr>
        <p:spPr>
          <a:xfrm>
            <a:off x="6053328" y="304495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Installez une version récente — étape 2</a:t>
            </a:r>
            <a:endParaRPr lang="en-US" sz="1050" dirty="0"/>
          </a:p>
        </p:txBody>
      </p:sp>
      <p:sp>
        <p:nvSpPr>
          <p:cNvPr id="31" name="Shape 29"/>
          <p:cNvSpPr/>
          <p:nvPr/>
        </p:nvSpPr>
        <p:spPr>
          <a:xfrm>
            <a:off x="457200" y="3456432"/>
            <a:ext cx="8229600" cy="365760"/>
          </a:xfrm>
          <a:prstGeom prst="roundRect">
            <a:avLst>
              <a:gd name="adj" fmla="val 20000"/>
            </a:avLst>
          </a:prstGeom>
          <a:solidFill>
            <a:srgbClr val="F4F7F5"/>
          </a:solidFill>
          <a:ln w="9525">
            <a:solidFill>
              <a:srgbClr val="D5DED9"/>
            </a:solidFill>
            <a:prstDash val="solid"/>
          </a:ln>
        </p:spPr>
      </p:sp>
      <p:sp>
        <p:nvSpPr>
          <p:cNvPr id="32" name="Shape 30"/>
          <p:cNvSpPr/>
          <p:nvPr/>
        </p:nvSpPr>
        <p:spPr>
          <a:xfrm>
            <a:off x="594360" y="3575304"/>
            <a:ext cx="128016" cy="128016"/>
          </a:xfrm>
          <a:prstGeom prst="ellipse">
            <a:avLst/>
          </a:prstGeom>
          <a:solidFill>
            <a:srgbClr val="B83B2E"/>
          </a:solidFill>
          <a:ln/>
        </p:spPr>
      </p:sp>
      <p:sp>
        <p:nvSpPr>
          <p:cNvPr id="33" name="Text 31"/>
          <p:cNvSpPr txBox="1"/>
          <p:nvPr/>
        </p:nvSpPr>
        <p:spPr>
          <a:xfrm>
            <a:off x="777240" y="345643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 n'est pas reconnu »</a:t>
            </a:r>
            <a:endParaRPr lang="en-US" sz="1050" dirty="0"/>
          </a:p>
        </p:txBody>
      </p:sp>
      <p:sp>
        <p:nvSpPr>
          <p:cNvPr id="34" name="Text 32"/>
          <p:cNvSpPr txBox="1"/>
          <p:nvPr/>
        </p:nvSpPr>
        <p:spPr>
          <a:xfrm>
            <a:off x="3310128" y="345643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Python n'est pas installé, ou pas déclaré au système</a:t>
            </a:r>
            <a:endParaRPr lang="en-US" sz="1050" dirty="0"/>
          </a:p>
        </p:txBody>
      </p:sp>
      <p:sp>
        <p:nvSpPr>
          <p:cNvPr id="35" name="Text 33"/>
          <p:cNvSpPr txBox="1"/>
          <p:nvPr/>
        </p:nvSpPr>
        <p:spPr>
          <a:xfrm>
            <a:off x="6053328" y="345643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Étape 2</a:t>
            </a:r>
            <a:endParaRPr lang="en-US" sz="1050" dirty="0"/>
          </a:p>
        </p:txBody>
      </p:sp>
      <p:sp>
        <p:nvSpPr>
          <p:cNvPr id="36" name="Shape 34"/>
          <p:cNvSpPr/>
          <p:nvPr/>
        </p:nvSpPr>
        <p:spPr>
          <a:xfrm>
            <a:off x="457200" y="3867912"/>
            <a:ext cx="8229600" cy="365760"/>
          </a:xfrm>
          <a:prstGeom prst="roundRect">
            <a:avLst>
              <a:gd name="adj" fmla="val 20000"/>
            </a:avLst>
          </a:prstGeom>
          <a:solidFill>
            <a:srgbClr val="FFFFFF"/>
          </a:solidFill>
          <a:ln w="9525">
            <a:solidFill>
              <a:srgbClr val="D5DED9"/>
            </a:solidFill>
            <a:prstDash val="solid"/>
          </a:ln>
        </p:spPr>
      </p:sp>
      <p:sp>
        <p:nvSpPr>
          <p:cNvPr id="37" name="Shape 35"/>
          <p:cNvSpPr/>
          <p:nvPr/>
        </p:nvSpPr>
        <p:spPr>
          <a:xfrm>
            <a:off x="594360" y="3986784"/>
            <a:ext cx="128016" cy="128016"/>
          </a:xfrm>
          <a:prstGeom prst="ellipse">
            <a:avLst/>
          </a:prstGeom>
          <a:solidFill>
            <a:srgbClr val="B83B2E"/>
          </a:solidFill>
          <a:ln/>
        </p:spPr>
      </p:sp>
      <p:sp>
        <p:nvSpPr>
          <p:cNvPr id="38" name="Text 36"/>
          <p:cNvSpPr txBox="1"/>
          <p:nvPr/>
        </p:nvSpPr>
        <p:spPr>
          <a:xfrm>
            <a:off x="777240" y="3867912"/>
            <a:ext cx="2331720" cy="365760"/>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Le Microsoft Store s'ouvre</a:t>
            </a:r>
            <a:endParaRPr lang="en-US" sz="1050" dirty="0"/>
          </a:p>
        </p:txBody>
      </p:sp>
      <p:sp>
        <p:nvSpPr>
          <p:cNvPr id="39" name="Text 37"/>
          <p:cNvSpPr txBox="1"/>
          <p:nvPr/>
        </p:nvSpPr>
        <p:spPr>
          <a:xfrm>
            <a:off x="3310128" y="386791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C'est un raccourci de Windows, pas Python</a:t>
            </a:r>
            <a:endParaRPr lang="en-US" sz="1050" dirty="0"/>
          </a:p>
        </p:txBody>
      </p:sp>
      <p:sp>
        <p:nvSpPr>
          <p:cNvPr id="40" name="Text 38"/>
          <p:cNvSpPr txBox="1"/>
          <p:nvPr/>
        </p:nvSpPr>
        <p:spPr>
          <a:xfrm>
            <a:off x="6053328" y="3867912"/>
            <a:ext cx="2560320" cy="365760"/>
          </a:xfrm>
          <a:prstGeom prst="rect">
            <a:avLst/>
          </a:prstGeom>
          <a:noFill/>
          <a:ln/>
        </p:spPr>
        <p:txBody>
          <a:bodyPr wrap="square" lIns="0" tIns="0" rIns="0" bIns="0" rtlCol="0" anchor="ctr"/>
          <a:lstStyle/>
          <a:p>
            <a:pPr marL="0" indent="0" algn="l">
              <a:lnSpc>
                <a:spcPct val="100000"/>
              </a:lnSpc>
              <a:buNone/>
            </a:pPr>
            <a:r>
              <a:rPr lang="en-US" sz="1050" dirty="0">
                <a:solidFill>
                  <a:srgbClr val="231F20"/>
                </a:solidFill>
                <a:latin typeface="Calibri" pitchFamily="34" charset="0"/>
                <a:ea typeface="Calibri" pitchFamily="34" charset="-122"/>
                <a:cs typeface="Calibri" pitchFamily="34" charset="-120"/>
              </a:rPr>
              <a:t>Étape 2, puis voir « Dépanner »</a:t>
            </a:r>
            <a:endParaRPr lang="en-US" sz="1050" dirty="0"/>
          </a:p>
        </p:txBody>
      </p:sp>
      <p:sp>
        <p:nvSpPr>
          <p:cNvPr id="41" name="Text 39"/>
          <p:cNvSpPr txBox="1"/>
          <p:nvPr/>
        </p:nvSpPr>
        <p:spPr>
          <a:xfrm>
            <a:off x="457200" y="4343400"/>
            <a:ext cx="822960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Relevé sur poste réel : la réponse attendue est « Python 3.12.0 »</a:t>
            </a:r>
            <a:endParaRPr lang="en-US" sz="900" dirty="0"/>
          </a:p>
        </p:txBody>
      </p:sp>
      <p:sp>
        <p:nvSpPr>
          <p:cNvPr id="42"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03 · INSTALLER PYTHON — WINDOWS</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Windows : installer Python en cinq gestes</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0E7C86"/>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16736"/>
            <a:ext cx="365760" cy="365760"/>
          </a:xfrm>
          <a:prstGeom prst="ellipse">
            <a:avLst/>
          </a:prstGeom>
          <a:solidFill>
            <a:srgbClr val="0E7C86"/>
          </a:solidFill>
          <a:ln/>
        </p:spPr>
      </p:sp>
      <p:sp>
        <p:nvSpPr>
          <p:cNvPr id="10" name="Text 8"/>
          <p:cNvSpPr txBox="1"/>
          <p:nvPr/>
        </p:nvSpPr>
        <p:spPr>
          <a:xfrm>
            <a:off x="457200" y="131673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Shape 9"/>
          <p:cNvSpPr/>
          <p:nvPr/>
        </p:nvSpPr>
        <p:spPr>
          <a:xfrm>
            <a:off x="640080" y="1709928"/>
            <a:ext cx="0" cy="246888"/>
          </a:xfrm>
          <a:prstGeom prst="line">
            <a:avLst/>
          </a:prstGeom>
          <a:noFill/>
          <a:ln w="12700">
            <a:solidFill>
              <a:srgbClr val="D5DED9"/>
            </a:solidFill>
            <a:prstDash val="solid"/>
          </a:ln>
        </p:spPr>
      </p:sp>
      <p:sp>
        <p:nvSpPr>
          <p:cNvPr id="12" name="Text 10"/>
          <p:cNvSpPr txBox="1"/>
          <p:nvPr/>
        </p:nvSpPr>
        <p:spPr>
          <a:xfrm>
            <a:off x="1005840" y="129844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Ouvrez la page de téléchargement</a:t>
            </a:r>
            <a:endParaRPr lang="en-US" sz="1250" dirty="0"/>
          </a:p>
        </p:txBody>
      </p:sp>
      <p:sp>
        <p:nvSpPr>
          <p:cNvPr id="13" name="Text 11"/>
          <p:cNvSpPr txBox="1"/>
          <p:nvPr/>
        </p:nvSpPr>
        <p:spPr>
          <a:xfrm>
            <a:off x="1005840" y="1545336"/>
            <a:ext cx="4389120" cy="329184"/>
          </a:xfrm>
          <a:prstGeom prst="rect">
            <a:avLst/>
          </a:prstGeom>
          <a:noFill/>
          <a:ln/>
        </p:spPr>
        <p:txBody>
          <a:bodyPr wrap="square" lIns="0" tIns="0" rIns="0" bIns="0" rtlCol="0" anchor="t"/>
          <a:lstStyle/>
          <a:p>
            <a:pPr marL="0" indent="0" algn="l">
              <a:lnSpc>
                <a:spcPct val="100000"/>
              </a:lnSpc>
              <a:buNone/>
            </a:pPr>
            <a:r>
              <a:rPr lang="en-US" sz="1050" b="1" dirty="0">
                <a:solidFill>
                  <a:srgbClr val="00704A"/>
                </a:solidFill>
                <a:latin typeface="Courier New" pitchFamily="34" charset="0"/>
                <a:ea typeface="Courier New" pitchFamily="34" charset="-122"/>
                <a:cs typeface="Courier New" pitchFamily="34" charset="-120"/>
              </a:rPr>
              <a:t>python.org/downloads</a:t>
            </a:r>
            <a:r>
              <a:rPr lang="en-US" sz="1050" dirty="0">
                <a:solidFill>
                  <a:srgbClr val="5E6964"/>
                </a:solidFill>
                <a:latin typeface="Calibri" pitchFamily="34" charset="0"/>
                <a:ea typeface="Calibri" pitchFamily="34" charset="-122"/>
                <a:cs typeface="Calibri" pitchFamily="34" charset="-120"/>
              </a:rPr>
              <a:t> dans votre navigateur.</a:t>
            </a:r>
            <a:endParaRPr lang="en-US" sz="1050" dirty="0"/>
          </a:p>
        </p:txBody>
      </p:sp>
      <p:sp>
        <p:nvSpPr>
          <p:cNvPr id="14" name="Shape 12"/>
          <p:cNvSpPr/>
          <p:nvPr/>
        </p:nvSpPr>
        <p:spPr>
          <a:xfrm>
            <a:off x="457200" y="1956816"/>
            <a:ext cx="365760" cy="365760"/>
          </a:xfrm>
          <a:prstGeom prst="ellipse">
            <a:avLst/>
          </a:prstGeom>
          <a:solidFill>
            <a:srgbClr val="0E7C86"/>
          </a:solidFill>
          <a:ln/>
        </p:spPr>
      </p:sp>
      <p:sp>
        <p:nvSpPr>
          <p:cNvPr id="15" name="Text 13"/>
          <p:cNvSpPr txBox="1"/>
          <p:nvPr/>
        </p:nvSpPr>
        <p:spPr>
          <a:xfrm>
            <a:off x="457200" y="195681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6" name="Shape 14"/>
          <p:cNvSpPr/>
          <p:nvPr/>
        </p:nvSpPr>
        <p:spPr>
          <a:xfrm>
            <a:off x="640080" y="2350008"/>
            <a:ext cx="0" cy="246888"/>
          </a:xfrm>
          <a:prstGeom prst="line">
            <a:avLst/>
          </a:prstGeom>
          <a:noFill/>
          <a:ln w="12700">
            <a:solidFill>
              <a:srgbClr val="D5DED9"/>
            </a:solidFill>
            <a:prstDash val="solid"/>
          </a:ln>
        </p:spPr>
      </p:sp>
      <p:sp>
        <p:nvSpPr>
          <p:cNvPr id="17" name="Text 15"/>
          <p:cNvSpPr txBox="1"/>
          <p:nvPr/>
        </p:nvSpPr>
        <p:spPr>
          <a:xfrm>
            <a:off x="1005840" y="193852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Téléchargez</a:t>
            </a:r>
            <a:endParaRPr lang="en-US" sz="1250" dirty="0"/>
          </a:p>
        </p:txBody>
      </p:sp>
      <p:sp>
        <p:nvSpPr>
          <p:cNvPr id="18" name="Text 16"/>
          <p:cNvSpPr txBox="1"/>
          <p:nvPr/>
        </p:nvSpPr>
        <p:spPr>
          <a:xfrm>
            <a:off x="1005840" y="218541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Le bouton jaune propose la version pour Windows. Toute version 3.10 ou plus convient.</a:t>
            </a:r>
            <a:endParaRPr lang="en-US" sz="1050" dirty="0"/>
          </a:p>
        </p:txBody>
      </p:sp>
      <p:sp>
        <p:nvSpPr>
          <p:cNvPr id="19" name="Shape 17"/>
          <p:cNvSpPr/>
          <p:nvPr/>
        </p:nvSpPr>
        <p:spPr>
          <a:xfrm>
            <a:off x="457200" y="2596896"/>
            <a:ext cx="365760" cy="365760"/>
          </a:xfrm>
          <a:prstGeom prst="ellipse">
            <a:avLst/>
          </a:prstGeom>
          <a:solidFill>
            <a:srgbClr val="0E7C86"/>
          </a:solidFill>
          <a:ln/>
        </p:spPr>
      </p:sp>
      <p:sp>
        <p:nvSpPr>
          <p:cNvPr id="20" name="Text 18"/>
          <p:cNvSpPr txBox="1"/>
          <p:nvPr/>
        </p:nvSpPr>
        <p:spPr>
          <a:xfrm>
            <a:off x="457200" y="259689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1" name="Shape 19"/>
          <p:cNvSpPr/>
          <p:nvPr/>
        </p:nvSpPr>
        <p:spPr>
          <a:xfrm>
            <a:off x="640080" y="2990088"/>
            <a:ext cx="0" cy="246888"/>
          </a:xfrm>
          <a:prstGeom prst="line">
            <a:avLst/>
          </a:prstGeom>
          <a:noFill/>
          <a:ln w="12700">
            <a:solidFill>
              <a:srgbClr val="D5DED9"/>
            </a:solidFill>
            <a:prstDash val="solid"/>
          </a:ln>
        </p:spPr>
      </p:sp>
      <p:sp>
        <p:nvSpPr>
          <p:cNvPr id="22" name="Text 20"/>
          <p:cNvSpPr txBox="1"/>
          <p:nvPr/>
        </p:nvSpPr>
        <p:spPr>
          <a:xfrm>
            <a:off x="1005840" y="257860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Lancez le fichier téléchargé</a:t>
            </a:r>
            <a:endParaRPr lang="en-US" sz="1250" dirty="0"/>
          </a:p>
        </p:txBody>
      </p:sp>
      <p:sp>
        <p:nvSpPr>
          <p:cNvPr id="23" name="Text 21"/>
          <p:cNvSpPr txBox="1"/>
          <p:nvPr/>
        </p:nvSpPr>
        <p:spPr>
          <a:xfrm>
            <a:off x="1005840" y="282549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Il s'appelle </a:t>
            </a:r>
            <a:r>
              <a:rPr lang="en-US" sz="1050" b="1" dirty="0">
                <a:solidFill>
                  <a:srgbClr val="00704A"/>
                </a:solidFill>
                <a:latin typeface="Courier New" pitchFamily="34" charset="0"/>
                <a:ea typeface="Courier New" pitchFamily="34" charset="-122"/>
                <a:cs typeface="Courier New" pitchFamily="34" charset="-120"/>
              </a:rPr>
              <a:t>python-3.12.x-amd64.exe</a:t>
            </a:r>
            <a:r>
              <a:rPr lang="en-US" sz="1050" dirty="0">
                <a:solidFill>
                  <a:srgbClr val="5E6964"/>
                </a:solidFill>
                <a:latin typeface="Calibri" pitchFamily="34" charset="0"/>
                <a:ea typeface="Calibri" pitchFamily="34" charset="-122"/>
                <a:cs typeface="Calibri" pitchFamily="34" charset="-120"/>
              </a:rPr>
              <a:t>.</a:t>
            </a:r>
            <a:endParaRPr lang="en-US" sz="1050" dirty="0"/>
          </a:p>
        </p:txBody>
      </p:sp>
      <p:sp>
        <p:nvSpPr>
          <p:cNvPr id="24" name="Shape 22"/>
          <p:cNvSpPr/>
          <p:nvPr/>
        </p:nvSpPr>
        <p:spPr>
          <a:xfrm>
            <a:off x="457200" y="3236976"/>
            <a:ext cx="365760" cy="365760"/>
          </a:xfrm>
          <a:prstGeom prst="ellipse">
            <a:avLst/>
          </a:prstGeom>
          <a:solidFill>
            <a:srgbClr val="D49A00"/>
          </a:solidFill>
          <a:ln/>
        </p:spPr>
      </p:sp>
      <p:sp>
        <p:nvSpPr>
          <p:cNvPr id="25" name="Text 23"/>
          <p:cNvSpPr txBox="1"/>
          <p:nvPr/>
        </p:nvSpPr>
        <p:spPr>
          <a:xfrm>
            <a:off x="457200" y="323697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Shape 24"/>
          <p:cNvSpPr/>
          <p:nvPr/>
        </p:nvSpPr>
        <p:spPr>
          <a:xfrm>
            <a:off x="640080" y="3630168"/>
            <a:ext cx="0" cy="246888"/>
          </a:xfrm>
          <a:prstGeom prst="line">
            <a:avLst/>
          </a:prstGeom>
          <a:noFill/>
          <a:ln w="12700">
            <a:solidFill>
              <a:srgbClr val="D5DED9"/>
            </a:solidFill>
            <a:prstDash val="solid"/>
          </a:ln>
        </p:spPr>
      </p:sp>
      <p:sp>
        <p:nvSpPr>
          <p:cNvPr id="27" name="Text 25"/>
          <p:cNvSpPr txBox="1"/>
          <p:nvPr/>
        </p:nvSpPr>
        <p:spPr>
          <a:xfrm>
            <a:off x="1005840" y="321868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D49A00"/>
                </a:solidFill>
                <a:latin typeface="Calibri" pitchFamily="34" charset="0"/>
                <a:ea typeface="Calibri" pitchFamily="34" charset="-122"/>
                <a:cs typeface="Calibri" pitchFamily="34" charset="-120"/>
              </a:rPr>
              <a:t>COCHEZ la case en bas de la fenêtre</a:t>
            </a:r>
            <a:endParaRPr lang="en-US" sz="1250" dirty="0"/>
          </a:p>
        </p:txBody>
      </p:sp>
      <p:sp>
        <p:nvSpPr>
          <p:cNvPr id="28" name="Text 26"/>
          <p:cNvSpPr txBox="1"/>
          <p:nvPr/>
        </p:nvSpPr>
        <p:spPr>
          <a:xfrm>
            <a:off x="1005840" y="346557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 Add python.exe to PATH ». C'est le geste décisif de toute l'installation.</a:t>
            </a:r>
            <a:endParaRPr lang="en-US" sz="1050" dirty="0"/>
          </a:p>
        </p:txBody>
      </p:sp>
      <p:sp>
        <p:nvSpPr>
          <p:cNvPr id="29" name="Shape 27"/>
          <p:cNvSpPr/>
          <p:nvPr/>
        </p:nvSpPr>
        <p:spPr>
          <a:xfrm>
            <a:off x="457200" y="3877056"/>
            <a:ext cx="365760" cy="365760"/>
          </a:xfrm>
          <a:prstGeom prst="ellipse">
            <a:avLst/>
          </a:prstGeom>
          <a:solidFill>
            <a:srgbClr val="0E7C86"/>
          </a:solidFill>
          <a:ln/>
        </p:spPr>
      </p:sp>
      <p:sp>
        <p:nvSpPr>
          <p:cNvPr id="30" name="Text 28"/>
          <p:cNvSpPr txBox="1"/>
          <p:nvPr/>
        </p:nvSpPr>
        <p:spPr>
          <a:xfrm>
            <a:off x="457200" y="3877056"/>
            <a:ext cx="365760"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1" name="Text 29"/>
          <p:cNvSpPr txBox="1"/>
          <p:nvPr/>
        </p:nvSpPr>
        <p:spPr>
          <a:xfrm>
            <a:off x="1005840" y="3858768"/>
            <a:ext cx="4389120" cy="237744"/>
          </a:xfrm>
          <a:prstGeom prst="rect">
            <a:avLst/>
          </a:prstGeom>
          <a:noFill/>
          <a:ln/>
        </p:spPr>
        <p:txBody>
          <a:bodyPr wrap="square" lIns="0" tIns="0" rIns="0" bIns="0" rtlCol="0" anchor="t"/>
          <a:lstStyle/>
          <a:p>
            <a:pPr marL="0" indent="0" algn="l">
              <a:lnSpc>
                <a:spcPct val="100000"/>
              </a:lnSpc>
              <a:buNone/>
            </a:pPr>
            <a:r>
              <a:rPr lang="en-US" sz="1250" b="1" dirty="0">
                <a:solidFill>
                  <a:srgbClr val="231F20"/>
                </a:solidFill>
                <a:latin typeface="Calibri" pitchFamily="34" charset="0"/>
                <a:ea typeface="Calibri" pitchFamily="34" charset="-122"/>
                <a:cs typeface="Calibri" pitchFamily="34" charset="-120"/>
              </a:rPr>
              <a:t>Cliquez sur « Install Now »</a:t>
            </a:r>
            <a:endParaRPr lang="en-US" sz="1250" dirty="0"/>
          </a:p>
        </p:txBody>
      </p:sp>
      <p:sp>
        <p:nvSpPr>
          <p:cNvPr id="32" name="Text 30"/>
          <p:cNvSpPr txBox="1"/>
          <p:nvPr/>
        </p:nvSpPr>
        <p:spPr>
          <a:xfrm>
            <a:off x="1005840" y="4105656"/>
            <a:ext cx="4389120" cy="32918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Puis fermez la fenêtre quand elle affiche « Setup was successful ».</a:t>
            </a:r>
            <a:endParaRPr lang="en-US" sz="1050" dirty="0"/>
          </a:p>
        </p:txBody>
      </p:sp>
      <p:sp>
        <p:nvSpPr>
          <p:cNvPr id="33" name="Shape 31"/>
          <p:cNvSpPr/>
          <p:nvPr/>
        </p:nvSpPr>
        <p:spPr>
          <a:xfrm>
            <a:off x="5669280" y="1298448"/>
            <a:ext cx="3017520" cy="2971800"/>
          </a:xfrm>
          <a:prstGeom prst="roundRect">
            <a:avLst>
              <a:gd name="adj" fmla="val 2462"/>
            </a:avLst>
          </a:prstGeom>
          <a:solidFill>
            <a:srgbClr val="D49A00">
              <a:alpha val="13000"/>
            </a:srgbClr>
          </a:solidFill>
          <a:ln w="15875">
            <a:solidFill>
              <a:srgbClr val="D49A00"/>
            </a:solidFill>
            <a:prstDash val="solid"/>
          </a:ln>
        </p:spPr>
      </p:sp>
      <p:sp>
        <p:nvSpPr>
          <p:cNvPr id="34" name="Shape 32"/>
          <p:cNvSpPr/>
          <p:nvPr/>
        </p:nvSpPr>
        <p:spPr>
          <a:xfrm>
            <a:off x="5870448" y="1481328"/>
            <a:ext cx="502920" cy="502920"/>
          </a:xfrm>
          <a:prstGeom prst="ellipse">
            <a:avLst/>
          </a:prstGeom>
          <a:solidFill>
            <a:srgbClr val="D49A00">
              <a:alpha val="22000"/>
            </a:srgbClr>
          </a:solidFill>
          <a:ln/>
        </p:spPr>
      </p:sp>
      <p:pic>
        <p:nvPicPr>
          <p:cNvPr id="35" name="Image 0" descr="preencoded.png"/>
          <p:cNvPicPr>
            <a:picLocks noChangeAspect="1"/>
          </p:cNvPicPr>
          <p:nvPr/>
        </p:nvPicPr>
        <p:blipFill>
          <a:blip r:embed="rId3"/>
          <a:stretch>
            <a:fillRect/>
          </a:stretch>
        </p:blipFill>
        <p:spPr>
          <a:xfrm>
            <a:off x="5996178" y="1607058"/>
            <a:ext cx="251460" cy="251460"/>
          </a:xfrm>
          <a:prstGeom prst="rect">
            <a:avLst/>
          </a:prstGeom>
        </p:spPr>
      </p:pic>
      <p:sp>
        <p:nvSpPr>
          <p:cNvPr id="36" name="Text 33"/>
          <p:cNvSpPr txBox="1"/>
          <p:nvPr/>
        </p:nvSpPr>
        <p:spPr>
          <a:xfrm>
            <a:off x="6492240" y="1508760"/>
            <a:ext cx="2103120" cy="457200"/>
          </a:xfrm>
          <a:prstGeom prst="rect">
            <a:avLst/>
          </a:prstGeom>
          <a:noFill/>
          <a:ln/>
        </p:spPr>
        <p:txBody>
          <a:bodyPr wrap="square" lIns="0" tIns="0" rIns="0" bIns="0" rtlCol="0" anchor="ctr"/>
          <a:lstStyle/>
          <a:p>
            <a:pPr marL="0" indent="0" algn="l">
              <a:lnSpc>
                <a:spcPct val="100000"/>
              </a:lnSpc>
              <a:buNone/>
            </a:pPr>
            <a:r>
              <a:rPr lang="en-US" sz="1400" b="1" dirty="0">
                <a:solidFill>
                  <a:srgbClr val="231F20"/>
                </a:solidFill>
                <a:latin typeface="Calibri" pitchFamily="34" charset="0"/>
                <a:ea typeface="Calibri" pitchFamily="34" charset="-122"/>
                <a:cs typeface="Calibri" pitchFamily="34" charset="-120"/>
              </a:rPr>
              <a:t>La case décisive</a:t>
            </a:r>
            <a:endParaRPr lang="en-US" sz="1400" dirty="0"/>
          </a:p>
        </p:txBody>
      </p:sp>
      <p:sp>
        <p:nvSpPr>
          <p:cNvPr id="37" name="Text 34"/>
          <p:cNvSpPr txBox="1"/>
          <p:nvPr/>
        </p:nvSpPr>
        <p:spPr>
          <a:xfrm>
            <a:off x="5870448" y="2103120"/>
            <a:ext cx="2651760" cy="1234440"/>
          </a:xfrm>
          <a:prstGeom prst="rect">
            <a:avLst/>
          </a:prstGeom>
          <a:noFill/>
          <a:ln/>
        </p:spPr>
        <p:txBody>
          <a:bodyPr wrap="square" lIns="0" tIns="0" rIns="0" bIns="0" rtlCol="0" anchor="t"/>
          <a:lstStyle/>
          <a:p>
            <a:pPr marL="0" indent="0" algn="l">
              <a:lnSpc>
                <a:spcPct val="100000"/>
              </a:lnSpc>
              <a:buNone/>
            </a:pPr>
            <a:r>
              <a:rPr lang="en-US" sz="1200" dirty="0">
                <a:solidFill>
                  <a:srgbClr val="231F20"/>
                </a:solidFill>
                <a:latin typeface="Calibri" pitchFamily="34" charset="0"/>
                <a:ea typeface="Calibri" pitchFamily="34" charset="-122"/>
                <a:cs typeface="Calibri" pitchFamily="34" charset="-120"/>
              </a:rPr>
              <a:t>« Add python.exe to PATH » </a:t>
            </a:r>
            <a:r>
              <a:rPr lang="en-US" sz="1200" b="1" dirty="0">
                <a:solidFill>
                  <a:srgbClr val="231F20"/>
                </a:solidFill>
                <a:latin typeface="Calibri" pitchFamily="34" charset="0"/>
                <a:ea typeface="Calibri" pitchFamily="34" charset="-122"/>
                <a:cs typeface="Calibri" pitchFamily="34" charset="-120"/>
              </a:rPr>
              <a:t>n'est pas cochée par défaut</a:t>
            </a:r>
            <a:r>
              <a:rPr lang="en-US" sz="1200" dirty="0">
                <a:solidFill>
                  <a:srgbClr val="231F20"/>
                </a:solidFill>
                <a:latin typeface="Calibri" pitchFamily="34" charset="0"/>
                <a:ea typeface="Calibri" pitchFamily="34" charset="-122"/>
                <a:cs typeface="Calibri" pitchFamily="34" charset="-120"/>
              </a:rPr>
              <a:t>, et elle est en petit, tout en bas. Sans elle, Windows répondra « python n'est pas reconnu » — et c'est la panne numéro un.</a:t>
            </a:r>
            <a:endParaRPr lang="en-US" sz="1200" dirty="0"/>
          </a:p>
        </p:txBody>
      </p:sp>
      <p:sp>
        <p:nvSpPr>
          <p:cNvPr id="38" name="Shape 35"/>
          <p:cNvSpPr/>
          <p:nvPr/>
        </p:nvSpPr>
        <p:spPr>
          <a:xfrm>
            <a:off x="5870448" y="3401568"/>
            <a:ext cx="2615184" cy="713232"/>
          </a:xfrm>
          <a:prstGeom prst="roundRect">
            <a:avLst>
              <a:gd name="adj" fmla="val 7692"/>
            </a:avLst>
          </a:prstGeom>
          <a:solidFill>
            <a:srgbClr val="FFFFFF"/>
          </a:solidFill>
          <a:ln w="9525">
            <a:solidFill>
              <a:srgbClr val="D49A00"/>
            </a:solidFill>
            <a:prstDash val="solid"/>
          </a:ln>
        </p:spPr>
      </p:sp>
      <p:sp>
        <p:nvSpPr>
          <p:cNvPr id="39" name="Text 36"/>
          <p:cNvSpPr txBox="1"/>
          <p:nvPr/>
        </p:nvSpPr>
        <p:spPr>
          <a:xfrm>
            <a:off x="5989320" y="3429000"/>
            <a:ext cx="2395728" cy="658368"/>
          </a:xfrm>
          <a:prstGeom prst="rect">
            <a:avLst/>
          </a:prstGeom>
          <a:noFill/>
          <a:ln/>
        </p:spPr>
        <p:txBody>
          <a:bodyPr wrap="square" lIns="0" tIns="0" rIns="0" bIns="0" rtlCol="0" anchor="ctr"/>
          <a:lstStyle/>
          <a:p>
            <a:pPr marL="0" indent="0" algn="l">
              <a:lnSpc>
                <a:spcPct val="100000"/>
              </a:lnSpc>
              <a:buNone/>
            </a:pPr>
            <a:r>
              <a:rPr lang="en-US" sz="1050" b="1" dirty="0">
                <a:solidFill>
                  <a:srgbClr val="231F20"/>
                </a:solidFill>
                <a:latin typeface="Calibri" pitchFamily="34" charset="0"/>
                <a:ea typeface="Calibri" pitchFamily="34" charset="-122"/>
                <a:cs typeface="Calibri" pitchFamily="34" charset="-120"/>
              </a:rPr>
              <a:t>Oubliée ?</a:t>
            </a:r>
            <a:r>
              <a:rPr lang="en-US" sz="1050" dirty="0">
                <a:solidFill>
                  <a:srgbClr val="231F20"/>
                </a:solidFill>
                <a:latin typeface="Calibri" pitchFamily="34" charset="0"/>
                <a:ea typeface="Calibri" pitchFamily="34" charset="-122"/>
                <a:cs typeface="Calibri" pitchFamily="34" charset="-120"/>
              </a:rPr>
              <a:t> Relancez l'installateur, choisissez « Modify », cochez-la.</a:t>
            </a:r>
            <a:endParaRPr lang="en-US" sz="1050" dirty="0"/>
          </a:p>
        </p:txBody>
      </p:sp>
      <p:sp>
        <p:nvSpPr>
          <p:cNvPr id="40"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03 · INSTALLER PYTHON — MACOS ET LINUX</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macOS et Linux : une commande</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0E7C86"/>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4023360" cy="2240280"/>
          </a:xfrm>
          <a:prstGeom prst="roundRect">
            <a:avLst>
              <a:gd name="adj" fmla="val 3265"/>
            </a:avLst>
          </a:prstGeom>
          <a:solidFill>
            <a:srgbClr val="F4F7F5"/>
          </a:solidFill>
          <a:ln w="9525">
            <a:solidFill>
              <a:srgbClr val="D5DED9"/>
            </a:solidFill>
            <a:prstDash val="solid"/>
          </a:ln>
        </p:spPr>
      </p:sp>
      <p:sp>
        <p:nvSpPr>
          <p:cNvPr id="10" name="Shape 8"/>
          <p:cNvSpPr/>
          <p:nvPr/>
        </p:nvSpPr>
        <p:spPr>
          <a:xfrm>
            <a:off x="658368" y="1508760"/>
            <a:ext cx="502920" cy="502920"/>
          </a:xfrm>
          <a:prstGeom prst="ellipse">
            <a:avLst/>
          </a:prstGeom>
          <a:solidFill>
            <a:srgbClr val="0E7C86">
              <a:alpha val="22000"/>
            </a:srgbClr>
          </a:solidFill>
          <a:ln/>
        </p:spPr>
      </p:sp>
      <p:pic>
        <p:nvPicPr>
          <p:cNvPr id="11" name="Image 0" descr="preencoded.png"/>
          <p:cNvPicPr>
            <a:picLocks noChangeAspect="1"/>
          </p:cNvPicPr>
          <p:nvPr/>
        </p:nvPicPr>
        <p:blipFill>
          <a:blip r:embed="rId3"/>
          <a:stretch>
            <a:fillRect/>
          </a:stretch>
        </p:blipFill>
        <p:spPr>
          <a:xfrm>
            <a:off x="784098" y="1634490"/>
            <a:ext cx="251460" cy="251460"/>
          </a:xfrm>
          <a:prstGeom prst="rect">
            <a:avLst/>
          </a:prstGeom>
        </p:spPr>
      </p:pic>
      <p:sp>
        <p:nvSpPr>
          <p:cNvPr id="12" name="Text 9"/>
          <p:cNvSpPr txBox="1"/>
          <p:nvPr/>
        </p:nvSpPr>
        <p:spPr>
          <a:xfrm>
            <a:off x="1325880" y="1508760"/>
            <a:ext cx="301752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alibri" pitchFamily="34" charset="0"/>
                <a:ea typeface="Calibri" pitchFamily="34" charset="-122"/>
                <a:cs typeface="Calibri" pitchFamily="34" charset="-120"/>
              </a:rPr>
              <a:t>macOS</a:t>
            </a:r>
            <a:endParaRPr lang="en-US" sz="1500" dirty="0"/>
          </a:p>
        </p:txBody>
      </p:sp>
      <p:sp>
        <p:nvSpPr>
          <p:cNvPr id="13" name="Text 10"/>
          <p:cNvSpPr txBox="1"/>
          <p:nvPr/>
        </p:nvSpPr>
        <p:spPr>
          <a:xfrm>
            <a:off x="1325880" y="1783080"/>
            <a:ext cx="3017520" cy="201168"/>
          </a:xfrm>
          <a:prstGeom prst="rect">
            <a:avLst/>
          </a:prstGeom>
          <a:noFill/>
          <a:ln/>
        </p:spPr>
        <p:txBody>
          <a:bodyPr wrap="square" lIns="0" tIns="0" rIns="0" bIns="0" rtlCol="0" anchor="t"/>
          <a:lstStyle/>
          <a:p>
            <a:pPr marL="0" indent="0" algn="l">
              <a:lnSpc>
                <a:spcPct val="100000"/>
              </a:lnSpc>
              <a:buNone/>
            </a:pPr>
            <a:r>
              <a:rPr lang="en-US" sz="1050" b="1" dirty="0">
                <a:solidFill>
                  <a:srgbClr val="00704A"/>
                </a:solidFill>
                <a:latin typeface="Calibri" pitchFamily="34" charset="0"/>
                <a:ea typeface="Calibri" pitchFamily="34" charset="-122"/>
                <a:cs typeface="Calibri" pitchFamily="34" charset="-120"/>
              </a:rPr>
              <a:t>avec Homebrew</a:t>
            </a:r>
            <a:endParaRPr lang="en-US" sz="1050" dirty="0"/>
          </a:p>
        </p:txBody>
      </p:sp>
      <p:sp>
        <p:nvSpPr>
          <p:cNvPr id="14" name="Shape 11"/>
          <p:cNvSpPr/>
          <p:nvPr/>
        </p:nvSpPr>
        <p:spPr>
          <a:xfrm>
            <a:off x="658368" y="2167128"/>
            <a:ext cx="3621024" cy="384048"/>
          </a:xfrm>
          <a:prstGeom prst="roundRect">
            <a:avLst>
              <a:gd name="adj" fmla="val 11905"/>
            </a:avLst>
          </a:prstGeom>
          <a:solidFill>
            <a:srgbClr val="FFFFFF"/>
          </a:solidFill>
          <a:ln w="9525">
            <a:solidFill>
              <a:srgbClr val="D5DED9"/>
            </a:solidFill>
            <a:prstDash val="solid"/>
          </a:ln>
        </p:spPr>
      </p:sp>
      <p:sp>
        <p:nvSpPr>
          <p:cNvPr id="15" name="Text 12"/>
          <p:cNvSpPr txBox="1"/>
          <p:nvPr/>
        </p:nvSpPr>
        <p:spPr>
          <a:xfrm>
            <a:off x="768096" y="2167128"/>
            <a:ext cx="3474720" cy="384048"/>
          </a:xfrm>
          <a:prstGeom prst="rect">
            <a:avLst/>
          </a:prstGeom>
          <a:noFill/>
          <a:ln/>
        </p:spPr>
        <p:txBody>
          <a:bodyPr wrap="square" lIns="0" tIns="0" rIns="0" bIns="0" rtlCol="0" anchor="ctr"/>
          <a:lstStyle/>
          <a:p>
            <a:pPr marL="0" indent="0" algn="l">
              <a:lnSpc>
                <a:spcPct val="100000"/>
              </a:lnSpc>
              <a:buNone/>
            </a:pPr>
            <a:r>
              <a:rPr lang="en-US" sz="1200" b="1" dirty="0">
                <a:solidFill>
                  <a:srgbClr val="231F20"/>
                </a:solidFill>
                <a:latin typeface="Courier New" pitchFamily="34" charset="0"/>
                <a:ea typeface="Courier New" pitchFamily="34" charset="-122"/>
                <a:cs typeface="Courier New" pitchFamily="34" charset="-120"/>
              </a:rPr>
              <a:t>brew install python@3.12</a:t>
            </a:r>
            <a:endParaRPr lang="en-US" sz="1200" dirty="0"/>
          </a:p>
        </p:txBody>
      </p:sp>
      <p:sp>
        <p:nvSpPr>
          <p:cNvPr id="16" name="Text 13"/>
          <p:cNvSpPr txBox="1"/>
          <p:nvPr/>
        </p:nvSpPr>
        <p:spPr>
          <a:xfrm>
            <a:off x="658368" y="2651760"/>
            <a:ext cx="3621024"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Homebrew est le gestionnaire de paquets le plus répandu sur macOS. S'il n'est pas installé : </a:t>
            </a:r>
            <a:r>
              <a:rPr lang="en-US" sz="1050" b="1" dirty="0">
                <a:solidFill>
                  <a:srgbClr val="00704A"/>
                </a:solidFill>
                <a:latin typeface="Courier New" pitchFamily="34" charset="0"/>
                <a:ea typeface="Courier New" pitchFamily="34" charset="-122"/>
                <a:cs typeface="Courier New" pitchFamily="34" charset="-120"/>
              </a:rPr>
              <a:t>brew.sh</a:t>
            </a:r>
            <a:r>
              <a:rPr lang="en-US" sz="1050" dirty="0">
                <a:solidFill>
                  <a:srgbClr val="5E6964"/>
                </a:solidFill>
                <a:latin typeface="Calibri" pitchFamily="34" charset="0"/>
                <a:ea typeface="Calibri" pitchFamily="34" charset="-122"/>
                <a:cs typeface="Calibri" pitchFamily="34" charset="-120"/>
              </a:rPr>
              <a:t>. Sinon, </a:t>
            </a:r>
            <a:r>
              <a:rPr lang="en-US" sz="1050" b="1" dirty="0">
                <a:solidFill>
                  <a:srgbClr val="00704A"/>
                </a:solidFill>
                <a:latin typeface="Courier New" pitchFamily="34" charset="0"/>
                <a:ea typeface="Courier New" pitchFamily="34" charset="-122"/>
                <a:cs typeface="Courier New" pitchFamily="34" charset="-120"/>
              </a:rPr>
              <a:t>python.org/downloads</a:t>
            </a:r>
            <a:r>
              <a:rPr lang="en-US" sz="1050" dirty="0">
                <a:solidFill>
                  <a:srgbClr val="5E6964"/>
                </a:solidFill>
                <a:latin typeface="Calibri" pitchFamily="34" charset="0"/>
                <a:ea typeface="Calibri" pitchFamily="34" charset="-122"/>
                <a:cs typeface="Calibri" pitchFamily="34" charset="-120"/>
              </a:rPr>
              <a:t> fournit aussi un installateur pour macOS.</a:t>
            </a:r>
            <a:endParaRPr lang="en-US" sz="1050" dirty="0"/>
          </a:p>
        </p:txBody>
      </p:sp>
      <p:sp>
        <p:nvSpPr>
          <p:cNvPr id="17" name="Shape 14"/>
          <p:cNvSpPr/>
          <p:nvPr/>
        </p:nvSpPr>
        <p:spPr>
          <a:xfrm>
            <a:off x="4663440" y="1325880"/>
            <a:ext cx="4023360" cy="2240280"/>
          </a:xfrm>
          <a:prstGeom prst="roundRect">
            <a:avLst>
              <a:gd name="adj" fmla="val 3265"/>
            </a:avLst>
          </a:prstGeom>
          <a:solidFill>
            <a:srgbClr val="F4F7F5"/>
          </a:solidFill>
          <a:ln w="9525">
            <a:solidFill>
              <a:srgbClr val="D5DED9"/>
            </a:solidFill>
            <a:prstDash val="solid"/>
          </a:ln>
        </p:spPr>
      </p:sp>
      <p:sp>
        <p:nvSpPr>
          <p:cNvPr id="18" name="Shape 15"/>
          <p:cNvSpPr/>
          <p:nvPr/>
        </p:nvSpPr>
        <p:spPr>
          <a:xfrm>
            <a:off x="4864608" y="1508760"/>
            <a:ext cx="502920" cy="502920"/>
          </a:xfrm>
          <a:prstGeom prst="ellipse">
            <a:avLst/>
          </a:prstGeom>
          <a:solidFill>
            <a:srgbClr val="0E7C86">
              <a:alpha val="22000"/>
            </a:srgbClr>
          </a:solidFill>
          <a:ln/>
        </p:spPr>
      </p:sp>
      <p:pic>
        <p:nvPicPr>
          <p:cNvPr id="19" name="Image 1" descr="preencoded.png"/>
          <p:cNvPicPr>
            <a:picLocks noChangeAspect="1"/>
          </p:cNvPicPr>
          <p:nvPr/>
        </p:nvPicPr>
        <p:blipFill>
          <a:blip r:embed="rId4"/>
          <a:stretch>
            <a:fillRect/>
          </a:stretch>
        </p:blipFill>
        <p:spPr>
          <a:xfrm>
            <a:off x="4990338" y="1634490"/>
            <a:ext cx="251460" cy="251460"/>
          </a:xfrm>
          <a:prstGeom prst="rect">
            <a:avLst/>
          </a:prstGeom>
        </p:spPr>
      </p:pic>
      <p:sp>
        <p:nvSpPr>
          <p:cNvPr id="20" name="Text 16"/>
          <p:cNvSpPr txBox="1"/>
          <p:nvPr/>
        </p:nvSpPr>
        <p:spPr>
          <a:xfrm>
            <a:off x="5532120" y="1508760"/>
            <a:ext cx="3017520" cy="274320"/>
          </a:xfrm>
          <a:prstGeom prst="rect">
            <a:avLst/>
          </a:prstGeom>
          <a:noFill/>
          <a:ln/>
        </p:spPr>
        <p:txBody>
          <a:bodyPr wrap="square" lIns="0" tIns="0" rIns="0" bIns="0" rtlCol="0" anchor="t"/>
          <a:lstStyle/>
          <a:p>
            <a:pPr marL="0" indent="0" algn="l">
              <a:lnSpc>
                <a:spcPct val="100000"/>
              </a:lnSpc>
              <a:buNone/>
            </a:pPr>
            <a:r>
              <a:rPr lang="en-US" sz="1500" b="1" dirty="0">
                <a:solidFill>
                  <a:srgbClr val="231F20"/>
                </a:solidFill>
                <a:latin typeface="Calibri" pitchFamily="34" charset="0"/>
                <a:ea typeface="Calibri" pitchFamily="34" charset="-122"/>
                <a:cs typeface="Calibri" pitchFamily="34" charset="-120"/>
              </a:rPr>
              <a:t>Linux — Debian, Ubuntu</a:t>
            </a:r>
            <a:endParaRPr lang="en-US" sz="1500" dirty="0"/>
          </a:p>
        </p:txBody>
      </p:sp>
      <p:sp>
        <p:nvSpPr>
          <p:cNvPr id="21" name="Text 17"/>
          <p:cNvSpPr txBox="1"/>
          <p:nvPr/>
        </p:nvSpPr>
        <p:spPr>
          <a:xfrm>
            <a:off x="5532120" y="1783080"/>
            <a:ext cx="3017520" cy="201168"/>
          </a:xfrm>
          <a:prstGeom prst="rect">
            <a:avLst/>
          </a:prstGeom>
          <a:noFill/>
          <a:ln/>
        </p:spPr>
        <p:txBody>
          <a:bodyPr wrap="square" lIns="0" tIns="0" rIns="0" bIns="0" rtlCol="0" anchor="t"/>
          <a:lstStyle/>
          <a:p>
            <a:pPr marL="0" indent="0" algn="l">
              <a:lnSpc>
                <a:spcPct val="100000"/>
              </a:lnSpc>
              <a:buNone/>
            </a:pPr>
            <a:r>
              <a:rPr lang="en-US" sz="1050" b="1" dirty="0">
                <a:solidFill>
                  <a:srgbClr val="00704A"/>
                </a:solidFill>
                <a:latin typeface="Calibri" pitchFamily="34" charset="0"/>
                <a:ea typeface="Calibri" pitchFamily="34" charset="-122"/>
                <a:cs typeface="Calibri" pitchFamily="34" charset="-120"/>
              </a:rPr>
              <a:t>avec apt</a:t>
            </a:r>
            <a:endParaRPr lang="en-US" sz="1050" dirty="0"/>
          </a:p>
        </p:txBody>
      </p:sp>
      <p:sp>
        <p:nvSpPr>
          <p:cNvPr id="22" name="Shape 18"/>
          <p:cNvSpPr/>
          <p:nvPr/>
        </p:nvSpPr>
        <p:spPr>
          <a:xfrm>
            <a:off x="4864608" y="2167128"/>
            <a:ext cx="3621024" cy="384048"/>
          </a:xfrm>
          <a:prstGeom prst="roundRect">
            <a:avLst>
              <a:gd name="adj" fmla="val 11905"/>
            </a:avLst>
          </a:prstGeom>
          <a:solidFill>
            <a:srgbClr val="FFFFFF"/>
          </a:solidFill>
          <a:ln w="9525">
            <a:solidFill>
              <a:srgbClr val="D5DED9"/>
            </a:solidFill>
            <a:prstDash val="solid"/>
          </a:ln>
        </p:spPr>
      </p:sp>
      <p:sp>
        <p:nvSpPr>
          <p:cNvPr id="23" name="Text 19"/>
          <p:cNvSpPr txBox="1"/>
          <p:nvPr/>
        </p:nvSpPr>
        <p:spPr>
          <a:xfrm>
            <a:off x="4974336" y="2167128"/>
            <a:ext cx="347472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ourier New" pitchFamily="34" charset="0"/>
                <a:ea typeface="Courier New" pitchFamily="34" charset="-122"/>
                <a:cs typeface="Courier New" pitchFamily="34" charset="-120"/>
              </a:rPr>
              <a:t>sudo apt install python3.12 python3.12-venv</a:t>
            </a:r>
            <a:endParaRPr lang="en-US" sz="1000" dirty="0"/>
          </a:p>
        </p:txBody>
      </p:sp>
      <p:sp>
        <p:nvSpPr>
          <p:cNvPr id="24" name="Text 20"/>
          <p:cNvSpPr txBox="1"/>
          <p:nvPr/>
        </p:nvSpPr>
        <p:spPr>
          <a:xfrm>
            <a:off x="4864608" y="2651760"/>
            <a:ext cx="3621024"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Le second paquet, </a:t>
            </a:r>
            <a:r>
              <a:rPr lang="en-US" sz="1050" b="1" dirty="0">
                <a:solidFill>
                  <a:srgbClr val="00704A"/>
                </a:solidFill>
                <a:latin typeface="Courier New" pitchFamily="34" charset="0"/>
                <a:ea typeface="Courier New" pitchFamily="34" charset="-122"/>
                <a:cs typeface="Courier New" pitchFamily="34" charset="-120"/>
              </a:rPr>
              <a:t>python3.12-venv</a:t>
            </a:r>
            <a:r>
              <a:rPr lang="en-US" sz="1050" dirty="0">
                <a:solidFill>
                  <a:srgbClr val="5E6964"/>
                </a:solidFill>
                <a:latin typeface="Calibri" pitchFamily="34" charset="0"/>
                <a:ea typeface="Calibri" pitchFamily="34" charset="-122"/>
                <a:cs typeface="Calibri" pitchFamily="34" charset="-120"/>
              </a:rPr>
              <a:t>, est nécessaire : sans lui, la création d'un environnement isolé échoue.</a:t>
            </a:r>
            <a:endParaRPr lang="en-US" sz="1050" dirty="0"/>
          </a:p>
        </p:txBody>
      </p:sp>
      <p:sp>
        <p:nvSpPr>
          <p:cNvPr id="25" name="Shape 21"/>
          <p:cNvSpPr/>
          <p:nvPr/>
        </p:nvSpPr>
        <p:spPr>
          <a:xfrm>
            <a:off x="457200" y="3730752"/>
            <a:ext cx="8229600" cy="640080"/>
          </a:xfrm>
          <a:prstGeom prst="roundRect">
            <a:avLst>
              <a:gd name="adj" fmla="val 11429"/>
            </a:avLst>
          </a:prstGeom>
          <a:solidFill>
            <a:srgbClr val="E8F5EF"/>
          </a:solidFill>
          <a:ln w="15875">
            <a:solidFill>
              <a:srgbClr val="00A86A"/>
            </a:solidFill>
            <a:prstDash val="solid"/>
          </a:ln>
        </p:spPr>
      </p:sp>
      <p:sp>
        <p:nvSpPr>
          <p:cNvPr id="26" name="Shape 22"/>
          <p:cNvSpPr/>
          <p:nvPr/>
        </p:nvSpPr>
        <p:spPr>
          <a:xfrm>
            <a:off x="640080" y="3840480"/>
            <a:ext cx="420624" cy="420624"/>
          </a:xfrm>
          <a:prstGeom prst="ellipse">
            <a:avLst/>
          </a:prstGeom>
          <a:solidFill>
            <a:srgbClr val="00A86A">
              <a:alpha val="22000"/>
            </a:srgbClr>
          </a:solidFill>
          <a:ln/>
        </p:spPr>
      </p:sp>
      <p:pic>
        <p:nvPicPr>
          <p:cNvPr id="27" name="Image 2" descr="preencoded.png"/>
          <p:cNvPicPr>
            <a:picLocks noChangeAspect="1"/>
          </p:cNvPicPr>
          <p:nvPr/>
        </p:nvPicPr>
        <p:blipFill>
          <a:blip r:embed="rId5"/>
          <a:stretch>
            <a:fillRect/>
          </a:stretch>
        </p:blipFill>
        <p:spPr>
          <a:xfrm>
            <a:off x="745236" y="3945636"/>
            <a:ext cx="210312" cy="210312"/>
          </a:xfrm>
          <a:prstGeom prst="rect">
            <a:avLst/>
          </a:prstGeom>
        </p:spPr>
      </p:pic>
      <p:sp>
        <p:nvSpPr>
          <p:cNvPr id="28" name="Text 23"/>
          <p:cNvSpPr txBox="1"/>
          <p:nvPr/>
        </p:nvSpPr>
        <p:spPr>
          <a:xfrm>
            <a:off x="1234440" y="3730752"/>
            <a:ext cx="7315200" cy="640080"/>
          </a:xfrm>
          <a:prstGeom prst="rect">
            <a:avLst/>
          </a:prstGeom>
          <a:noFill/>
          <a:ln/>
        </p:spPr>
        <p:txBody>
          <a:bodyPr wrap="square" lIns="0" tIns="0" rIns="0" bIns="0" rtlCol="0" anchor="ctr"/>
          <a:lstStyle/>
          <a:p>
            <a:pPr marL="0" indent="0" algn="l">
              <a:lnSpc>
                <a:spcPct val="100000"/>
              </a:lnSpc>
              <a:buNone/>
            </a:pPr>
            <a:r>
              <a:rPr lang="en-US" sz="1200" dirty="0">
                <a:solidFill>
                  <a:srgbClr val="231F20"/>
                </a:solidFill>
                <a:latin typeface="Calibri" pitchFamily="34" charset="0"/>
                <a:ea typeface="Calibri" pitchFamily="34" charset="-122"/>
                <a:cs typeface="Calibri" pitchFamily="34" charset="-120"/>
              </a:rPr>
              <a:t>Sur ces deux systèmes, la commande s'appelle </a:t>
            </a:r>
            <a:r>
              <a:rPr lang="en-US" sz="1200" b="1" dirty="0">
                <a:solidFill>
                  <a:srgbClr val="00704A"/>
                </a:solidFill>
                <a:latin typeface="Courier New" pitchFamily="34" charset="0"/>
                <a:ea typeface="Courier New" pitchFamily="34" charset="-122"/>
                <a:cs typeface="Courier New" pitchFamily="34" charset="-120"/>
              </a:rPr>
              <a:t>python3</a:t>
            </a:r>
            <a:r>
              <a:rPr lang="en-US" sz="1200" dirty="0">
                <a:solidFill>
                  <a:srgbClr val="231F20"/>
                </a:solidFill>
                <a:latin typeface="Calibri" pitchFamily="34" charset="0"/>
                <a:ea typeface="Calibri" pitchFamily="34" charset="-122"/>
                <a:cs typeface="Calibri" pitchFamily="34" charset="-120"/>
              </a:rPr>
              <a:t> et non </a:t>
            </a:r>
            <a:r>
              <a:rPr lang="en-US" sz="1200" b="1" dirty="0">
                <a:solidFill>
                  <a:srgbClr val="00704A"/>
                </a:solidFill>
                <a:latin typeface="Courier New" pitchFamily="34" charset="0"/>
                <a:ea typeface="Courier New" pitchFamily="34" charset="-122"/>
                <a:cs typeface="Courier New" pitchFamily="34" charset="-120"/>
              </a:rPr>
              <a:t>python</a:t>
            </a:r>
            <a:r>
              <a:rPr lang="en-US" sz="1200" dirty="0">
                <a:solidFill>
                  <a:srgbClr val="231F20"/>
                </a:solidFill>
                <a:latin typeface="Calibri" pitchFamily="34" charset="0"/>
                <a:ea typeface="Calibri" pitchFamily="34" charset="-122"/>
                <a:cs typeface="Calibri" pitchFamily="34" charset="-120"/>
              </a:rPr>
              <a:t>. Le « 3 » fait partie du nom.</a:t>
            </a:r>
            <a:endParaRPr lang="en-US" sz="1200" dirty="0"/>
          </a:p>
        </p:txBody>
      </p:sp>
      <p:sp>
        <p:nvSpPr>
          <p:cNvPr id="29" name="Text 24"/>
          <p:cNvSpPr txBox="1"/>
          <p:nvPr/>
        </p:nvSpPr>
        <p:spPr>
          <a:xfrm>
            <a:off x="457200" y="4480560"/>
            <a:ext cx="822960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Ni macOS ni Linux ne posent la question du PATH : l'installation le règle seule.</a:t>
            </a:r>
            <a:endParaRPr lang="en-US" sz="900" dirty="0"/>
          </a:p>
        </p:txBody>
      </p:sp>
      <p:sp>
        <p:nvSpPr>
          <p:cNvPr id="30"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03 · INSTALLER PYTHON</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Vérifier que Python répond</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0E7C86"/>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3840480" cy="2606040"/>
          </a:xfrm>
          <a:prstGeom prst="roundRect">
            <a:avLst>
              <a:gd name="adj" fmla="val 2807"/>
            </a:avLst>
          </a:prstGeom>
          <a:solidFill>
            <a:srgbClr val="231F20"/>
          </a:solidFill>
          <a:ln/>
        </p:spPr>
      </p:sp>
      <p:sp>
        <p:nvSpPr>
          <p:cNvPr id="10" name="Shape 8"/>
          <p:cNvSpPr/>
          <p:nvPr/>
        </p:nvSpPr>
        <p:spPr>
          <a:xfrm>
            <a:off x="658368" y="1481328"/>
            <a:ext cx="100584" cy="100584"/>
          </a:xfrm>
          <a:prstGeom prst="ellipse">
            <a:avLst/>
          </a:prstGeom>
          <a:solidFill>
            <a:srgbClr val="B83B2E"/>
          </a:solidFill>
          <a:ln/>
        </p:spPr>
      </p:sp>
      <p:sp>
        <p:nvSpPr>
          <p:cNvPr id="11" name="Shape 9"/>
          <p:cNvSpPr/>
          <p:nvPr/>
        </p:nvSpPr>
        <p:spPr>
          <a:xfrm>
            <a:off x="841248" y="1481328"/>
            <a:ext cx="100584" cy="100584"/>
          </a:xfrm>
          <a:prstGeom prst="ellipse">
            <a:avLst/>
          </a:prstGeom>
          <a:solidFill>
            <a:srgbClr val="F5C242"/>
          </a:solidFill>
          <a:ln/>
        </p:spPr>
      </p:sp>
      <p:sp>
        <p:nvSpPr>
          <p:cNvPr id="12" name="Shape 10"/>
          <p:cNvSpPr/>
          <p:nvPr/>
        </p:nvSpPr>
        <p:spPr>
          <a:xfrm>
            <a:off x="1024128" y="1481328"/>
            <a:ext cx="100584" cy="100584"/>
          </a:xfrm>
          <a:prstGeom prst="ellipse">
            <a:avLst/>
          </a:prstGeom>
          <a:solidFill>
            <a:srgbClr val="00A86A"/>
          </a:solidFill>
          <a:ln/>
        </p:spPr>
      </p:sp>
      <p:sp>
        <p:nvSpPr>
          <p:cNvPr id="13" name="Text 11"/>
          <p:cNvSpPr txBox="1"/>
          <p:nvPr/>
        </p:nvSpPr>
        <p:spPr>
          <a:xfrm>
            <a:off x="658368" y="1828800"/>
            <a:ext cx="3474720" cy="201168"/>
          </a:xfrm>
          <a:prstGeom prst="rect">
            <a:avLst/>
          </a:prstGeom>
          <a:noFill/>
          <a:ln/>
        </p:spPr>
        <p:txBody>
          <a:bodyPr wrap="square" lIns="0" tIns="0" rIns="0" bIns="0" rtlCol="0" anchor="t"/>
          <a:lstStyle/>
          <a:p>
            <a:pPr marL="0" indent="0" algn="l">
              <a:lnSpc>
                <a:spcPct val="100000"/>
              </a:lnSpc>
              <a:buNone/>
            </a:pPr>
            <a:r>
              <a:rPr lang="en-US" sz="950" b="1" kern="0" spc="200" dirty="0">
                <a:solidFill>
                  <a:srgbClr val="9ED9C0"/>
                </a:solidFill>
                <a:latin typeface="Calibri" pitchFamily="34" charset="0"/>
                <a:ea typeface="Calibri" pitchFamily="34" charset="-122"/>
                <a:cs typeface="Calibri" pitchFamily="34" charset="-120"/>
              </a:rPr>
              <a:t>CE QUE VOUS TAPEZ</a:t>
            </a:r>
            <a:endParaRPr lang="en-US" sz="950" dirty="0"/>
          </a:p>
        </p:txBody>
      </p:sp>
      <p:sp>
        <p:nvSpPr>
          <p:cNvPr id="14" name="Text 12"/>
          <p:cNvSpPr txBox="1"/>
          <p:nvPr/>
        </p:nvSpPr>
        <p:spPr>
          <a:xfrm>
            <a:off x="658368" y="2084832"/>
            <a:ext cx="3474720" cy="365760"/>
          </a:xfrm>
          <a:prstGeom prst="rect">
            <a:avLst/>
          </a:prstGeom>
          <a:noFill/>
          <a:ln/>
        </p:spPr>
        <p:txBody>
          <a:bodyPr wrap="square" lIns="0" tIns="0" rIns="0" bIns="0" rtlCol="0" anchor="t"/>
          <a:lstStyle/>
          <a:p>
            <a:pPr marL="0" indent="0" algn="l">
              <a:lnSpc>
                <a:spcPct val="100000"/>
              </a:lnSpc>
              <a:buNone/>
            </a:pPr>
            <a:r>
              <a:rPr lang="en-US" sz="1700" b="1" dirty="0">
                <a:solidFill>
                  <a:srgbClr val="FFFFFF"/>
                </a:solidFill>
                <a:latin typeface="Courier New" pitchFamily="34" charset="0"/>
                <a:ea typeface="Courier New" pitchFamily="34" charset="-122"/>
                <a:cs typeface="Courier New" pitchFamily="34" charset="-120"/>
              </a:rPr>
              <a:t>&gt; python --version</a:t>
            </a:r>
            <a:endParaRPr lang="en-US" sz="1700" dirty="0"/>
          </a:p>
        </p:txBody>
      </p:sp>
      <p:sp>
        <p:nvSpPr>
          <p:cNvPr id="15" name="Text 13"/>
          <p:cNvSpPr txBox="1"/>
          <p:nvPr/>
        </p:nvSpPr>
        <p:spPr>
          <a:xfrm>
            <a:off x="658368" y="2743200"/>
            <a:ext cx="3474720" cy="201168"/>
          </a:xfrm>
          <a:prstGeom prst="rect">
            <a:avLst/>
          </a:prstGeom>
          <a:noFill/>
          <a:ln/>
        </p:spPr>
        <p:txBody>
          <a:bodyPr wrap="square" lIns="0" tIns="0" rIns="0" bIns="0" rtlCol="0" anchor="t"/>
          <a:lstStyle/>
          <a:p>
            <a:pPr marL="0" indent="0" algn="l">
              <a:lnSpc>
                <a:spcPct val="100000"/>
              </a:lnSpc>
              <a:buNone/>
            </a:pPr>
            <a:r>
              <a:rPr lang="en-US" sz="950" b="1" kern="0" spc="200" dirty="0">
                <a:solidFill>
                  <a:srgbClr val="9ED9C0"/>
                </a:solidFill>
                <a:latin typeface="Calibri" pitchFamily="34" charset="0"/>
                <a:ea typeface="Calibri" pitchFamily="34" charset="-122"/>
                <a:cs typeface="Calibri" pitchFamily="34" charset="-120"/>
              </a:rPr>
              <a:t>CE QUI S'AFFICHE</a:t>
            </a:r>
            <a:endParaRPr lang="en-US" sz="950" dirty="0"/>
          </a:p>
        </p:txBody>
      </p:sp>
      <p:sp>
        <p:nvSpPr>
          <p:cNvPr id="16" name="Text 14"/>
          <p:cNvSpPr txBox="1"/>
          <p:nvPr/>
        </p:nvSpPr>
        <p:spPr>
          <a:xfrm>
            <a:off x="658368" y="2999232"/>
            <a:ext cx="3474720" cy="365760"/>
          </a:xfrm>
          <a:prstGeom prst="rect">
            <a:avLst/>
          </a:prstGeom>
          <a:noFill/>
          <a:ln/>
        </p:spPr>
        <p:txBody>
          <a:bodyPr wrap="square" lIns="0" tIns="0" rIns="0" bIns="0" rtlCol="0" anchor="t"/>
          <a:lstStyle/>
          <a:p>
            <a:pPr marL="0" indent="0" algn="l">
              <a:lnSpc>
                <a:spcPct val="100000"/>
              </a:lnSpc>
              <a:buNone/>
            </a:pPr>
            <a:r>
              <a:rPr lang="en-US" sz="1700" b="1" dirty="0">
                <a:solidFill>
                  <a:srgbClr val="F5C242"/>
                </a:solidFill>
                <a:latin typeface="Courier New" pitchFamily="34" charset="0"/>
                <a:ea typeface="Courier New" pitchFamily="34" charset="-122"/>
                <a:cs typeface="Courier New" pitchFamily="34" charset="-120"/>
              </a:rPr>
              <a:t>Python 3.12.0</a:t>
            </a:r>
            <a:endParaRPr lang="en-US" sz="1700" dirty="0"/>
          </a:p>
        </p:txBody>
      </p:sp>
      <p:sp>
        <p:nvSpPr>
          <p:cNvPr id="17" name="Text 15"/>
          <p:cNvSpPr txBox="1"/>
          <p:nvPr/>
        </p:nvSpPr>
        <p:spPr>
          <a:xfrm>
            <a:off x="457200" y="4041648"/>
            <a:ext cx="384048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Sortie relevée sur poste réel le 18/10/2026</a:t>
            </a:r>
            <a:endParaRPr lang="en-US" sz="900" dirty="0"/>
          </a:p>
        </p:txBody>
      </p:sp>
      <p:sp>
        <p:nvSpPr>
          <p:cNvPr id="18" name="Shape 16"/>
          <p:cNvSpPr/>
          <p:nvPr/>
        </p:nvSpPr>
        <p:spPr>
          <a:xfrm>
            <a:off x="4663440" y="1325880"/>
            <a:ext cx="420624" cy="420624"/>
          </a:xfrm>
          <a:prstGeom prst="ellipse">
            <a:avLst/>
          </a:prstGeom>
          <a:solidFill>
            <a:srgbClr val="0E7C86">
              <a:alpha val="22000"/>
            </a:srgbClr>
          </a:solidFill>
          <a:ln/>
        </p:spPr>
      </p:sp>
      <p:pic>
        <p:nvPicPr>
          <p:cNvPr id="19" name="Image 0" descr="preencoded.png"/>
          <p:cNvPicPr>
            <a:picLocks noChangeAspect="1"/>
          </p:cNvPicPr>
          <p:nvPr/>
        </p:nvPicPr>
        <p:blipFill>
          <a:blip r:embed="rId3"/>
          <a:stretch>
            <a:fillRect/>
          </a:stretch>
        </p:blipFill>
        <p:spPr>
          <a:xfrm>
            <a:off x="4768596" y="1431036"/>
            <a:ext cx="210312" cy="210312"/>
          </a:xfrm>
          <a:prstGeom prst="rect">
            <a:avLst/>
          </a:prstGeom>
        </p:spPr>
      </p:pic>
      <p:sp>
        <p:nvSpPr>
          <p:cNvPr id="20" name="Text 17"/>
          <p:cNvSpPr txBox="1"/>
          <p:nvPr/>
        </p:nvSpPr>
        <p:spPr>
          <a:xfrm>
            <a:off x="5257800" y="13075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Fermez le terminal, rouvrez-en un neuf</a:t>
            </a:r>
            <a:endParaRPr lang="en-US" sz="1200" dirty="0"/>
          </a:p>
        </p:txBody>
      </p:sp>
      <p:sp>
        <p:nvSpPr>
          <p:cNvPr id="21" name="Text 18"/>
          <p:cNvSpPr txBox="1"/>
          <p:nvPr/>
        </p:nvSpPr>
        <p:spPr>
          <a:xfrm>
            <a:off x="5257800" y="15544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Ce n'est pas une superstition : un terminal déjà ouvert ne connaît pas les logiciels installés depuis.</a:t>
            </a:r>
            <a:endParaRPr lang="en-US" sz="1050" dirty="0"/>
          </a:p>
        </p:txBody>
      </p:sp>
      <p:sp>
        <p:nvSpPr>
          <p:cNvPr id="22" name="Shape 19"/>
          <p:cNvSpPr/>
          <p:nvPr/>
        </p:nvSpPr>
        <p:spPr>
          <a:xfrm>
            <a:off x="4663440" y="2011680"/>
            <a:ext cx="420624" cy="420624"/>
          </a:xfrm>
          <a:prstGeom prst="ellipse">
            <a:avLst/>
          </a:prstGeom>
          <a:solidFill>
            <a:srgbClr val="0E7C86">
              <a:alpha val="22000"/>
            </a:srgbClr>
          </a:solidFill>
          <a:ln/>
        </p:spPr>
      </p:sp>
      <p:pic>
        <p:nvPicPr>
          <p:cNvPr id="23" name="Image 1" descr="preencoded.png"/>
          <p:cNvPicPr>
            <a:picLocks noChangeAspect="1"/>
          </p:cNvPicPr>
          <p:nvPr/>
        </p:nvPicPr>
        <p:blipFill>
          <a:blip r:embed="rId4"/>
          <a:stretch>
            <a:fillRect/>
          </a:stretch>
        </p:blipFill>
        <p:spPr>
          <a:xfrm>
            <a:off x="4768596" y="2116836"/>
            <a:ext cx="210312" cy="210312"/>
          </a:xfrm>
          <a:prstGeom prst="rect">
            <a:avLst/>
          </a:prstGeom>
        </p:spPr>
      </p:pic>
      <p:sp>
        <p:nvSpPr>
          <p:cNvPr id="24" name="Text 20"/>
          <p:cNvSpPr txBox="1"/>
          <p:nvPr/>
        </p:nvSpPr>
        <p:spPr>
          <a:xfrm>
            <a:off x="5257800" y="19933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Un numéro de version s'affiche : c'est gagné</a:t>
            </a:r>
            <a:endParaRPr lang="en-US" sz="1200" dirty="0"/>
          </a:p>
        </p:txBody>
      </p:sp>
      <p:sp>
        <p:nvSpPr>
          <p:cNvPr id="25" name="Text 21"/>
          <p:cNvSpPr txBox="1"/>
          <p:nvPr/>
        </p:nvSpPr>
        <p:spPr>
          <a:xfrm>
            <a:off x="5257800" y="22402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3.12.0 ou 3.12.7, le chiffre après le second point n'a pas d'importance.</a:t>
            </a:r>
            <a:endParaRPr lang="en-US" sz="1050" dirty="0"/>
          </a:p>
        </p:txBody>
      </p:sp>
      <p:sp>
        <p:nvSpPr>
          <p:cNvPr id="26" name="Shape 22"/>
          <p:cNvSpPr/>
          <p:nvPr/>
        </p:nvSpPr>
        <p:spPr>
          <a:xfrm>
            <a:off x="4663440" y="2697480"/>
            <a:ext cx="420624" cy="420624"/>
          </a:xfrm>
          <a:prstGeom prst="ellipse">
            <a:avLst/>
          </a:prstGeom>
          <a:solidFill>
            <a:srgbClr val="0E7C86">
              <a:alpha val="22000"/>
            </a:srgbClr>
          </a:solidFill>
          <a:ln/>
        </p:spPr>
      </p:sp>
      <p:pic>
        <p:nvPicPr>
          <p:cNvPr id="27" name="Image 2" descr="preencoded.png"/>
          <p:cNvPicPr>
            <a:picLocks noChangeAspect="1"/>
          </p:cNvPicPr>
          <p:nvPr/>
        </p:nvPicPr>
        <p:blipFill>
          <a:blip r:embed="rId5"/>
          <a:stretch>
            <a:fillRect/>
          </a:stretch>
        </p:blipFill>
        <p:spPr>
          <a:xfrm>
            <a:off x="4768596" y="2802636"/>
            <a:ext cx="210312" cy="210312"/>
          </a:xfrm>
          <a:prstGeom prst="rect">
            <a:avLst/>
          </a:prstGeom>
        </p:spPr>
      </p:pic>
      <p:sp>
        <p:nvSpPr>
          <p:cNvPr id="28" name="Text 23"/>
          <p:cNvSpPr txBox="1"/>
          <p:nvPr/>
        </p:nvSpPr>
        <p:spPr>
          <a:xfrm>
            <a:off x="5257800" y="26791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3.10, 3.11, 3.12 et 3.13 conviennent tous</a:t>
            </a:r>
            <a:endParaRPr lang="en-US" sz="1200" dirty="0"/>
          </a:p>
        </p:txBody>
      </p:sp>
      <p:sp>
        <p:nvSpPr>
          <p:cNvPr id="29" name="Text 24"/>
          <p:cNvSpPr txBox="1"/>
          <p:nvPr/>
        </p:nvSpPr>
        <p:spPr>
          <a:xfrm>
            <a:off x="5257800" y="29260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Sur macOS et Linux, tapez </a:t>
            </a:r>
            <a:r>
              <a:rPr lang="en-US" sz="1050" b="1" dirty="0">
                <a:solidFill>
                  <a:srgbClr val="00704A"/>
                </a:solidFill>
                <a:latin typeface="Courier New" pitchFamily="34" charset="0"/>
                <a:ea typeface="Courier New" pitchFamily="34" charset="-122"/>
                <a:cs typeface="Courier New" pitchFamily="34" charset="-120"/>
              </a:rPr>
              <a:t>python3 --version</a:t>
            </a:r>
            <a:r>
              <a:rPr lang="en-US" sz="1050" dirty="0">
                <a:solidFill>
                  <a:srgbClr val="5E6964"/>
                </a:solidFill>
                <a:latin typeface="Calibri" pitchFamily="34" charset="0"/>
                <a:ea typeface="Calibri" pitchFamily="34" charset="-122"/>
                <a:cs typeface="Calibri" pitchFamily="34" charset="-120"/>
              </a:rPr>
              <a:t>.</a:t>
            </a:r>
            <a:endParaRPr lang="en-US" sz="1050" dirty="0"/>
          </a:p>
        </p:txBody>
      </p:sp>
      <p:sp>
        <p:nvSpPr>
          <p:cNvPr id="30" name="Shape 25"/>
          <p:cNvSpPr/>
          <p:nvPr/>
        </p:nvSpPr>
        <p:spPr>
          <a:xfrm>
            <a:off x="4663440" y="3383280"/>
            <a:ext cx="420624" cy="420624"/>
          </a:xfrm>
          <a:prstGeom prst="ellipse">
            <a:avLst/>
          </a:prstGeom>
          <a:solidFill>
            <a:srgbClr val="0E7C86">
              <a:alpha val="22000"/>
            </a:srgbClr>
          </a:solidFill>
          <a:ln/>
        </p:spPr>
      </p:sp>
      <p:pic>
        <p:nvPicPr>
          <p:cNvPr id="31" name="Image 3" descr="preencoded.png"/>
          <p:cNvPicPr>
            <a:picLocks noChangeAspect="1"/>
          </p:cNvPicPr>
          <p:nvPr/>
        </p:nvPicPr>
        <p:blipFill>
          <a:blip r:embed="rId6"/>
          <a:stretch>
            <a:fillRect/>
          </a:stretch>
        </p:blipFill>
        <p:spPr>
          <a:xfrm>
            <a:off x="4768596" y="3488436"/>
            <a:ext cx="210312" cy="210312"/>
          </a:xfrm>
          <a:prstGeom prst="rect">
            <a:avLst/>
          </a:prstGeom>
        </p:spPr>
      </p:pic>
      <p:sp>
        <p:nvSpPr>
          <p:cNvPr id="32" name="Text 26"/>
          <p:cNvSpPr txBox="1"/>
          <p:nvPr/>
        </p:nvSpPr>
        <p:spPr>
          <a:xfrm>
            <a:off x="5257800" y="3364992"/>
            <a:ext cx="3429000" cy="237744"/>
          </a:xfrm>
          <a:prstGeom prst="rect">
            <a:avLst/>
          </a:prstGeom>
          <a:noFill/>
          <a:ln/>
        </p:spPr>
        <p:txBody>
          <a:bodyPr wrap="square" lIns="0" tIns="0" rIns="0" bIns="0" rtlCol="0" anchor="t"/>
          <a:lstStyle/>
          <a:p>
            <a:pPr marL="0" indent="0" algn="l">
              <a:lnSpc>
                <a:spcPct val="100000"/>
              </a:lnSpc>
              <a:buNone/>
            </a:pPr>
            <a:r>
              <a:rPr lang="en-US" sz="1200" b="1" dirty="0">
                <a:solidFill>
                  <a:srgbClr val="231F20"/>
                </a:solidFill>
                <a:latin typeface="Calibri" pitchFamily="34" charset="0"/>
                <a:ea typeface="Calibri" pitchFamily="34" charset="-122"/>
                <a:cs typeface="Calibri" pitchFamily="34" charset="-120"/>
              </a:rPr>
              <a:t>Plusieurs Python sur le poste ?</a:t>
            </a:r>
            <a:endParaRPr lang="en-US" sz="1200" dirty="0"/>
          </a:p>
        </p:txBody>
      </p:sp>
      <p:sp>
        <p:nvSpPr>
          <p:cNvPr id="33" name="Text 27"/>
          <p:cNvSpPr txBox="1"/>
          <p:nvPr/>
        </p:nvSpPr>
        <p:spPr>
          <a:xfrm>
            <a:off x="5257800" y="3611880"/>
            <a:ext cx="3429000" cy="384048"/>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Sous Windows, </a:t>
            </a:r>
            <a:r>
              <a:rPr lang="en-US" sz="1050" b="1" dirty="0">
                <a:solidFill>
                  <a:srgbClr val="00704A"/>
                </a:solidFill>
                <a:latin typeface="Courier New" pitchFamily="34" charset="0"/>
                <a:ea typeface="Courier New" pitchFamily="34" charset="-122"/>
                <a:cs typeface="Courier New" pitchFamily="34" charset="-120"/>
              </a:rPr>
              <a:t>py -0p</a:t>
            </a:r>
            <a:r>
              <a:rPr lang="en-US" sz="1050" dirty="0">
                <a:solidFill>
                  <a:srgbClr val="5E6964"/>
                </a:solidFill>
                <a:latin typeface="Calibri" pitchFamily="34" charset="0"/>
                <a:ea typeface="Calibri" pitchFamily="34" charset="-122"/>
                <a:cs typeface="Calibri" pitchFamily="34" charset="-120"/>
              </a:rPr>
              <a:t> les liste tous, avec leur chemin.</a:t>
            </a:r>
            <a:endParaRPr lang="en-US" sz="1050" dirty="0"/>
          </a:p>
        </p:txBody>
      </p:sp>
      <p:sp>
        <p:nvSpPr>
          <p:cNvPr id="34"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04 · JUPYTERLAB</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Installer JupyterLab — une commande</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49A00"/>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8229600" cy="868680"/>
          </a:xfrm>
          <a:prstGeom prst="roundRect">
            <a:avLst>
              <a:gd name="adj" fmla="val 8421"/>
            </a:avLst>
          </a:prstGeom>
          <a:solidFill>
            <a:srgbClr val="E8F5EF"/>
          </a:solidFill>
          <a:ln w="19050">
            <a:solidFill>
              <a:srgbClr val="D49A00"/>
            </a:solidFill>
            <a:prstDash val="solid"/>
          </a:ln>
        </p:spPr>
      </p:sp>
      <p:sp>
        <p:nvSpPr>
          <p:cNvPr id="10" name="Shape 8"/>
          <p:cNvSpPr/>
          <p:nvPr/>
        </p:nvSpPr>
        <p:spPr>
          <a:xfrm>
            <a:off x="658368" y="1481328"/>
            <a:ext cx="548640" cy="548640"/>
          </a:xfrm>
          <a:prstGeom prst="ellipse">
            <a:avLst/>
          </a:prstGeom>
          <a:solidFill>
            <a:srgbClr val="D49A00">
              <a:alpha val="22000"/>
            </a:srgbClr>
          </a:solidFill>
          <a:ln/>
        </p:spPr>
      </p:sp>
      <p:pic>
        <p:nvPicPr>
          <p:cNvPr id="11" name="Image 0" descr="preencoded.png"/>
          <p:cNvPicPr>
            <a:picLocks noChangeAspect="1"/>
          </p:cNvPicPr>
          <p:nvPr/>
        </p:nvPicPr>
        <p:blipFill>
          <a:blip r:embed="rId3"/>
          <a:stretch>
            <a:fillRect/>
          </a:stretch>
        </p:blipFill>
        <p:spPr>
          <a:xfrm>
            <a:off x="795528" y="1618488"/>
            <a:ext cx="274320" cy="274320"/>
          </a:xfrm>
          <a:prstGeom prst="rect">
            <a:avLst/>
          </a:prstGeom>
        </p:spPr>
      </p:pic>
      <p:sp>
        <p:nvSpPr>
          <p:cNvPr id="12" name="Text 9"/>
          <p:cNvSpPr txBox="1"/>
          <p:nvPr/>
        </p:nvSpPr>
        <p:spPr>
          <a:xfrm>
            <a:off x="1417320" y="1389888"/>
            <a:ext cx="7132320" cy="438912"/>
          </a:xfrm>
          <a:prstGeom prst="rect">
            <a:avLst/>
          </a:prstGeom>
          <a:noFill/>
          <a:ln/>
        </p:spPr>
        <p:txBody>
          <a:bodyPr wrap="square" lIns="0" tIns="0" rIns="0" bIns="0" rtlCol="0" anchor="ctr"/>
          <a:lstStyle/>
          <a:p>
            <a:pPr marL="0" indent="0" algn="l">
              <a:lnSpc>
                <a:spcPct val="100000"/>
              </a:lnSpc>
              <a:buNone/>
            </a:pPr>
            <a:r>
              <a:rPr lang="en-US" sz="2000" b="1" dirty="0">
                <a:solidFill>
                  <a:srgbClr val="231F20"/>
                </a:solidFill>
                <a:latin typeface="Courier New" pitchFamily="34" charset="0"/>
                <a:ea typeface="Courier New" pitchFamily="34" charset="-122"/>
                <a:cs typeface="Courier New" pitchFamily="34" charset="-120"/>
              </a:rPr>
              <a:t>python -m pip install jupyterlab</a:t>
            </a:r>
            <a:endParaRPr lang="en-US" sz="2000" dirty="0"/>
          </a:p>
        </p:txBody>
      </p:sp>
      <p:sp>
        <p:nvSpPr>
          <p:cNvPr id="13" name="Text 10"/>
          <p:cNvSpPr txBox="1"/>
          <p:nvPr/>
        </p:nvSpPr>
        <p:spPr>
          <a:xfrm>
            <a:off x="1417320" y="1828800"/>
            <a:ext cx="7132320" cy="237744"/>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Sur macOS et Linux : </a:t>
            </a:r>
            <a:r>
              <a:rPr lang="en-US" sz="1050" b="1" dirty="0">
                <a:solidFill>
                  <a:srgbClr val="00704A"/>
                </a:solidFill>
                <a:latin typeface="Courier New" pitchFamily="34" charset="0"/>
                <a:ea typeface="Courier New" pitchFamily="34" charset="-122"/>
                <a:cs typeface="Courier New" pitchFamily="34" charset="-120"/>
              </a:rPr>
              <a:t>python3 -m pip install jupyterlab</a:t>
            </a:r>
            <a:endParaRPr lang="en-US" sz="1050" dirty="0"/>
          </a:p>
        </p:txBody>
      </p:sp>
      <p:sp>
        <p:nvSpPr>
          <p:cNvPr id="14" name="Shape 11"/>
          <p:cNvSpPr/>
          <p:nvPr/>
        </p:nvSpPr>
        <p:spPr>
          <a:xfrm>
            <a:off x="457200" y="2377440"/>
            <a:ext cx="4023360" cy="1627632"/>
          </a:xfrm>
          <a:prstGeom prst="roundRect">
            <a:avLst>
              <a:gd name="adj" fmla="val 4494"/>
            </a:avLst>
          </a:prstGeom>
          <a:solidFill>
            <a:srgbClr val="F4F7F5"/>
          </a:solidFill>
          <a:ln w="9525">
            <a:solidFill>
              <a:srgbClr val="D5DED9"/>
            </a:solidFill>
            <a:prstDash val="solid"/>
          </a:ln>
        </p:spPr>
      </p:sp>
      <p:sp>
        <p:nvSpPr>
          <p:cNvPr id="15" name="Shape 12"/>
          <p:cNvSpPr/>
          <p:nvPr/>
        </p:nvSpPr>
        <p:spPr>
          <a:xfrm>
            <a:off x="658368" y="2560320"/>
            <a:ext cx="457200" cy="457200"/>
          </a:xfrm>
          <a:prstGeom prst="ellipse">
            <a:avLst/>
          </a:prstGeom>
          <a:solidFill>
            <a:srgbClr val="D49A00">
              <a:alpha val="22000"/>
            </a:srgbClr>
          </a:solidFill>
          <a:ln/>
        </p:spPr>
      </p:sp>
      <p:pic>
        <p:nvPicPr>
          <p:cNvPr id="16" name="Image 1" descr="preencoded.png"/>
          <p:cNvPicPr>
            <a:picLocks noChangeAspect="1"/>
          </p:cNvPicPr>
          <p:nvPr/>
        </p:nvPicPr>
        <p:blipFill>
          <a:blip r:embed="rId4"/>
          <a:stretch>
            <a:fillRect/>
          </a:stretch>
        </p:blipFill>
        <p:spPr>
          <a:xfrm>
            <a:off x="772668" y="2674620"/>
            <a:ext cx="228600" cy="228600"/>
          </a:xfrm>
          <a:prstGeom prst="rect">
            <a:avLst/>
          </a:prstGeom>
        </p:spPr>
      </p:pic>
      <p:sp>
        <p:nvSpPr>
          <p:cNvPr id="17" name="Text 13"/>
          <p:cNvSpPr txBox="1"/>
          <p:nvPr/>
        </p:nvSpPr>
        <p:spPr>
          <a:xfrm>
            <a:off x="1261872" y="2560320"/>
            <a:ext cx="3108960" cy="457200"/>
          </a:xfrm>
          <a:prstGeom prst="rect">
            <a:avLst/>
          </a:prstGeom>
          <a:noFill/>
          <a:ln/>
        </p:spPr>
        <p:txBody>
          <a:bodyPr wrap="square" lIns="0" tIns="0" rIns="0" bIns="0" rtlCol="0" anchor="ctr"/>
          <a:lstStyle/>
          <a:p>
            <a:pPr marL="0" indent="0" algn="l">
              <a:lnSpc>
                <a:spcPct val="100000"/>
              </a:lnSpc>
              <a:buNone/>
            </a:pPr>
            <a:r>
              <a:rPr lang="en-US" sz="1300" b="1" dirty="0">
                <a:solidFill>
                  <a:srgbClr val="231F20"/>
                </a:solidFill>
                <a:latin typeface="Calibri" pitchFamily="34" charset="0"/>
                <a:ea typeface="Calibri" pitchFamily="34" charset="-122"/>
                <a:cs typeface="Calibri" pitchFamily="34" charset="-120"/>
              </a:rPr>
              <a:t>Pourquoi </a:t>
            </a:r>
            <a:r>
              <a:rPr lang="en-US" sz="1300" b="1" dirty="0">
                <a:solidFill>
                  <a:srgbClr val="231F20"/>
                </a:solidFill>
                <a:latin typeface="Courier New" pitchFamily="34" charset="0"/>
                <a:ea typeface="Courier New" pitchFamily="34" charset="-122"/>
                <a:cs typeface="Courier New" pitchFamily="34" charset="-120"/>
              </a:rPr>
              <a:t>python -m pip</a:t>
            </a:r>
            <a:r>
              <a:rPr lang="en-US" sz="1300" b="1" dirty="0">
                <a:solidFill>
                  <a:srgbClr val="231F20"/>
                </a:solidFill>
                <a:latin typeface="Calibri" pitchFamily="34" charset="0"/>
                <a:ea typeface="Calibri" pitchFamily="34" charset="-122"/>
                <a:cs typeface="Calibri" pitchFamily="34" charset="-120"/>
              </a:rPr>
              <a:t> et non </a:t>
            </a:r>
            <a:r>
              <a:rPr lang="en-US" sz="1300" b="1" dirty="0">
                <a:solidFill>
                  <a:srgbClr val="231F20"/>
                </a:solidFill>
                <a:latin typeface="Courier New" pitchFamily="34" charset="0"/>
                <a:ea typeface="Courier New" pitchFamily="34" charset="-122"/>
                <a:cs typeface="Courier New" pitchFamily="34" charset="-120"/>
              </a:rPr>
              <a:t>pip</a:t>
            </a:r>
            <a:endParaRPr lang="en-US" sz="1300" dirty="0"/>
          </a:p>
        </p:txBody>
      </p:sp>
      <p:sp>
        <p:nvSpPr>
          <p:cNvPr id="18" name="Text 14"/>
          <p:cNvSpPr txBox="1"/>
          <p:nvPr/>
        </p:nvSpPr>
        <p:spPr>
          <a:xfrm>
            <a:off x="658368" y="3127248"/>
            <a:ext cx="3621024"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Un poste peut porter plusieurs Python. En écrivant </a:t>
            </a:r>
            <a:r>
              <a:rPr lang="en-US" sz="1050" b="1" dirty="0">
                <a:solidFill>
                  <a:srgbClr val="00704A"/>
                </a:solidFill>
                <a:latin typeface="Courier New" pitchFamily="34" charset="0"/>
                <a:ea typeface="Courier New" pitchFamily="34" charset="-122"/>
                <a:cs typeface="Courier New" pitchFamily="34" charset="-120"/>
              </a:rPr>
              <a:t>python -m pip</a:t>
            </a:r>
            <a:r>
              <a:rPr lang="en-US" sz="1050" dirty="0">
                <a:solidFill>
                  <a:srgbClr val="5E6964"/>
                </a:solidFill>
                <a:latin typeface="Calibri" pitchFamily="34" charset="0"/>
                <a:ea typeface="Calibri" pitchFamily="34" charset="-122"/>
                <a:cs typeface="Calibri" pitchFamily="34" charset="-120"/>
              </a:rPr>
              <a:t>, vous installez dans </a:t>
            </a:r>
            <a:r>
              <a:rPr lang="en-US" sz="1050" b="1" dirty="0">
                <a:solidFill>
                  <a:srgbClr val="5E6964"/>
                </a:solidFill>
                <a:latin typeface="Calibri" pitchFamily="34" charset="0"/>
                <a:ea typeface="Calibri" pitchFamily="34" charset="-122"/>
                <a:cs typeface="Calibri" pitchFamily="34" charset="-120"/>
              </a:rPr>
              <a:t>celui qui vient de répondre à l'étape 3</a:t>
            </a:r>
            <a:r>
              <a:rPr lang="en-US" sz="1050" dirty="0">
                <a:solidFill>
                  <a:srgbClr val="5E6964"/>
                </a:solidFill>
                <a:latin typeface="Calibri" pitchFamily="34" charset="0"/>
                <a:ea typeface="Calibri" pitchFamily="34" charset="-122"/>
                <a:cs typeface="Calibri" pitchFamily="34" charset="-120"/>
              </a:rPr>
              <a:t>. </a:t>
            </a:r>
            <a:r>
              <a:rPr lang="en-US" sz="1050" b="1" dirty="0">
                <a:solidFill>
                  <a:srgbClr val="00704A"/>
                </a:solidFill>
                <a:latin typeface="Courier New" pitchFamily="34" charset="0"/>
                <a:ea typeface="Courier New" pitchFamily="34" charset="-122"/>
                <a:cs typeface="Courier New" pitchFamily="34" charset="-120"/>
              </a:rPr>
              <a:t>pip</a:t>
            </a:r>
            <a:r>
              <a:rPr lang="en-US" sz="1050" dirty="0">
                <a:solidFill>
                  <a:srgbClr val="5E6964"/>
                </a:solidFill>
                <a:latin typeface="Calibri" pitchFamily="34" charset="0"/>
                <a:ea typeface="Calibri" pitchFamily="34" charset="-122"/>
                <a:cs typeface="Calibri" pitchFamily="34" charset="-120"/>
              </a:rPr>
              <a:t> seul s'adresse parfois à un autre.</a:t>
            </a:r>
            <a:endParaRPr lang="en-US" sz="1050" dirty="0"/>
          </a:p>
        </p:txBody>
      </p:sp>
      <p:sp>
        <p:nvSpPr>
          <p:cNvPr id="19" name="Shape 15"/>
          <p:cNvSpPr/>
          <p:nvPr/>
        </p:nvSpPr>
        <p:spPr>
          <a:xfrm>
            <a:off x="4663440" y="2377440"/>
            <a:ext cx="4023360" cy="1627632"/>
          </a:xfrm>
          <a:prstGeom prst="roundRect">
            <a:avLst>
              <a:gd name="adj" fmla="val 4494"/>
            </a:avLst>
          </a:prstGeom>
          <a:solidFill>
            <a:srgbClr val="F4F7F5"/>
          </a:solidFill>
          <a:ln w="9525">
            <a:solidFill>
              <a:srgbClr val="D5DED9"/>
            </a:solidFill>
            <a:prstDash val="solid"/>
          </a:ln>
        </p:spPr>
      </p:sp>
      <p:sp>
        <p:nvSpPr>
          <p:cNvPr id="20" name="Shape 16"/>
          <p:cNvSpPr/>
          <p:nvPr/>
        </p:nvSpPr>
        <p:spPr>
          <a:xfrm>
            <a:off x="4864608" y="2560320"/>
            <a:ext cx="457200" cy="457200"/>
          </a:xfrm>
          <a:prstGeom prst="ellipse">
            <a:avLst/>
          </a:prstGeom>
          <a:solidFill>
            <a:srgbClr val="D49A00">
              <a:alpha val="22000"/>
            </a:srgbClr>
          </a:solidFill>
          <a:ln/>
        </p:spPr>
      </p:sp>
      <p:pic>
        <p:nvPicPr>
          <p:cNvPr id="21" name="Image 2" descr="preencoded.png"/>
          <p:cNvPicPr>
            <a:picLocks noChangeAspect="1"/>
          </p:cNvPicPr>
          <p:nvPr/>
        </p:nvPicPr>
        <p:blipFill>
          <a:blip r:embed="rId5"/>
          <a:stretch>
            <a:fillRect/>
          </a:stretch>
        </p:blipFill>
        <p:spPr>
          <a:xfrm>
            <a:off x="4978908" y="2674620"/>
            <a:ext cx="228600" cy="228600"/>
          </a:xfrm>
          <a:prstGeom prst="rect">
            <a:avLst/>
          </a:prstGeom>
        </p:spPr>
      </p:pic>
      <p:sp>
        <p:nvSpPr>
          <p:cNvPr id="22" name="Text 17"/>
          <p:cNvSpPr txBox="1"/>
          <p:nvPr/>
        </p:nvSpPr>
        <p:spPr>
          <a:xfrm>
            <a:off x="5468112" y="2560320"/>
            <a:ext cx="3108960" cy="457200"/>
          </a:xfrm>
          <a:prstGeom prst="rect">
            <a:avLst/>
          </a:prstGeom>
          <a:noFill/>
          <a:ln/>
        </p:spPr>
        <p:txBody>
          <a:bodyPr wrap="square" lIns="0" tIns="0" rIns="0" bIns="0" rtlCol="0" anchor="ctr"/>
          <a:lstStyle/>
          <a:p>
            <a:pPr marL="0" indent="0" algn="l">
              <a:lnSpc>
                <a:spcPct val="100000"/>
              </a:lnSpc>
              <a:buNone/>
            </a:pPr>
            <a:r>
              <a:rPr lang="en-US" sz="1300" b="1" dirty="0">
                <a:solidFill>
                  <a:srgbClr val="231F20"/>
                </a:solidFill>
                <a:latin typeface="Calibri" pitchFamily="34" charset="0"/>
                <a:ea typeface="Calibri" pitchFamily="34" charset="-122"/>
                <a:cs typeface="Calibri" pitchFamily="34" charset="-120"/>
              </a:rPr>
              <a:t>Ce qui s'affiche</a:t>
            </a:r>
            <a:endParaRPr lang="en-US" sz="1300" dirty="0"/>
          </a:p>
        </p:txBody>
      </p:sp>
      <p:sp>
        <p:nvSpPr>
          <p:cNvPr id="23" name="Text 18"/>
          <p:cNvSpPr txBox="1"/>
          <p:nvPr/>
        </p:nvSpPr>
        <p:spPr>
          <a:xfrm>
            <a:off x="4864608" y="3127248"/>
            <a:ext cx="2423160" cy="822960"/>
          </a:xfrm>
          <a:prstGeom prst="rect">
            <a:avLst/>
          </a:prstGeom>
          <a:noFill/>
          <a:ln/>
        </p:spPr>
        <p:txBody>
          <a:bodyPr wrap="square" lIns="0" tIns="0" rIns="0" bIns="0" rtlCol="0" anchor="t"/>
          <a:lstStyle/>
          <a:p>
            <a:pPr marL="0" indent="0" algn="l">
              <a:lnSpc>
                <a:spcPct val="100000"/>
              </a:lnSpc>
              <a:buNone/>
            </a:pPr>
            <a:r>
              <a:rPr lang="en-US" sz="1050" dirty="0">
                <a:solidFill>
                  <a:srgbClr val="5E6964"/>
                </a:solidFill>
                <a:latin typeface="Calibri" pitchFamily="34" charset="0"/>
                <a:ea typeface="Calibri" pitchFamily="34" charset="-122"/>
                <a:cs typeface="Calibri" pitchFamily="34" charset="-120"/>
              </a:rPr>
              <a:t>Une longue liste de lignes « Collecting… » puis « Successfully installed… ». C'est normal : JupyterLab tire une trentaine de dépendances.</a:t>
            </a:r>
            <a:endParaRPr lang="en-US" sz="1050" dirty="0"/>
          </a:p>
        </p:txBody>
      </p:sp>
      <p:sp>
        <p:nvSpPr>
          <p:cNvPr id="24" name="Text 19"/>
          <p:cNvSpPr txBox="1"/>
          <p:nvPr/>
        </p:nvSpPr>
        <p:spPr>
          <a:xfrm>
            <a:off x="7406640" y="3090672"/>
            <a:ext cx="1143000" cy="502920"/>
          </a:xfrm>
          <a:prstGeom prst="rect">
            <a:avLst/>
          </a:prstGeom>
          <a:noFill/>
          <a:ln/>
        </p:spPr>
        <p:txBody>
          <a:bodyPr wrap="square" lIns="0" tIns="0" rIns="0" bIns="0" rtlCol="0" anchor="t"/>
          <a:lstStyle/>
          <a:p>
            <a:pPr marL="0" indent="0" algn="ctr">
              <a:lnSpc>
                <a:spcPct val="100000"/>
              </a:lnSpc>
              <a:buNone/>
            </a:pPr>
            <a:r>
              <a:rPr lang="en-US" sz="3200" b="1" dirty="0">
                <a:solidFill>
                  <a:srgbClr val="D49A00"/>
                </a:solidFill>
                <a:latin typeface="Calibri" pitchFamily="34" charset="0"/>
                <a:ea typeface="Calibri" pitchFamily="34" charset="-122"/>
                <a:cs typeface="Calibri" pitchFamily="34" charset="-120"/>
              </a:rPr>
              <a:t>2–3</a:t>
            </a:r>
            <a:endParaRPr lang="en-US" sz="3200" dirty="0"/>
          </a:p>
        </p:txBody>
      </p:sp>
      <p:sp>
        <p:nvSpPr>
          <p:cNvPr id="25" name="Text 20"/>
          <p:cNvSpPr txBox="1"/>
          <p:nvPr/>
        </p:nvSpPr>
        <p:spPr>
          <a:xfrm>
            <a:off x="7406640" y="3566160"/>
            <a:ext cx="1143000" cy="219456"/>
          </a:xfrm>
          <a:prstGeom prst="rect">
            <a:avLst/>
          </a:prstGeom>
          <a:noFill/>
          <a:ln/>
        </p:spPr>
        <p:txBody>
          <a:bodyPr wrap="square" lIns="0" tIns="0" rIns="0" bIns="0" rtlCol="0" anchor="t"/>
          <a:lstStyle/>
          <a:p>
            <a:pPr marL="0" indent="0" algn="ctr">
              <a:lnSpc>
                <a:spcPct val="100000"/>
              </a:lnSpc>
              <a:buNone/>
            </a:pPr>
            <a:r>
              <a:rPr lang="en-US" sz="1000" dirty="0">
                <a:solidFill>
                  <a:srgbClr val="5E6964"/>
                </a:solidFill>
                <a:latin typeface="Calibri" pitchFamily="34" charset="0"/>
                <a:ea typeface="Calibri" pitchFamily="34" charset="-122"/>
                <a:cs typeface="Calibri" pitchFamily="34" charset="-120"/>
              </a:rPr>
              <a:t>minutes</a:t>
            </a:r>
            <a:endParaRPr lang="en-US" sz="1000" dirty="0"/>
          </a:p>
        </p:txBody>
      </p:sp>
      <p:sp>
        <p:nvSpPr>
          <p:cNvPr id="26" name="Shape 21"/>
          <p:cNvSpPr/>
          <p:nvPr/>
        </p:nvSpPr>
        <p:spPr>
          <a:xfrm>
            <a:off x="457200" y="4187952"/>
            <a:ext cx="310896" cy="310896"/>
          </a:xfrm>
          <a:prstGeom prst="ellipse">
            <a:avLst/>
          </a:prstGeom>
          <a:solidFill>
            <a:srgbClr val="00A86A">
              <a:alpha val="22000"/>
            </a:srgbClr>
          </a:solidFill>
          <a:ln/>
        </p:spPr>
      </p:sp>
      <p:pic>
        <p:nvPicPr>
          <p:cNvPr id="27" name="Image 3" descr="preencoded.png"/>
          <p:cNvPicPr>
            <a:picLocks noChangeAspect="1"/>
          </p:cNvPicPr>
          <p:nvPr/>
        </p:nvPicPr>
        <p:blipFill>
          <a:blip r:embed="rId6"/>
          <a:stretch>
            <a:fillRect/>
          </a:stretch>
        </p:blipFill>
        <p:spPr>
          <a:xfrm>
            <a:off x="534924" y="4265676"/>
            <a:ext cx="155448" cy="155448"/>
          </a:xfrm>
          <a:prstGeom prst="rect">
            <a:avLst/>
          </a:prstGeom>
        </p:spPr>
      </p:pic>
      <p:sp>
        <p:nvSpPr>
          <p:cNvPr id="28" name="Text 22"/>
          <p:cNvSpPr txBox="1"/>
          <p:nvPr/>
        </p:nvSpPr>
        <p:spPr>
          <a:xfrm>
            <a:off x="896112" y="4187952"/>
            <a:ext cx="7772400" cy="310896"/>
          </a:xfrm>
          <a:prstGeom prst="rect">
            <a:avLst/>
          </a:prstGeom>
          <a:noFill/>
          <a:ln/>
        </p:spPr>
        <p:txBody>
          <a:bodyPr wrap="square" lIns="0" tIns="0" rIns="0" bIns="0" rtlCol="0" anchor="ctr"/>
          <a:lstStyle/>
          <a:p>
            <a:pPr marL="0" indent="0" algn="l">
              <a:lnSpc>
                <a:spcPct val="100000"/>
              </a:lnSpc>
              <a:buNone/>
            </a:pPr>
            <a:r>
              <a:rPr lang="en-US" sz="1150" dirty="0">
                <a:solidFill>
                  <a:srgbClr val="231F20"/>
                </a:solidFill>
                <a:latin typeface="Calibri" pitchFamily="34" charset="0"/>
                <a:ea typeface="Calibri" pitchFamily="34" charset="-122"/>
                <a:cs typeface="Calibri" pitchFamily="34" charset="-120"/>
              </a:rPr>
              <a:t>Vérification : </a:t>
            </a:r>
            <a:r>
              <a:rPr lang="en-US" sz="1150" b="1" dirty="0">
                <a:solidFill>
                  <a:srgbClr val="00704A"/>
                </a:solidFill>
                <a:latin typeface="Courier New" pitchFamily="34" charset="0"/>
                <a:ea typeface="Courier New" pitchFamily="34" charset="-122"/>
                <a:cs typeface="Courier New" pitchFamily="34" charset="-120"/>
              </a:rPr>
              <a:t>jupyter --version</a:t>
            </a:r>
            <a:r>
              <a:rPr lang="en-US" sz="1150" dirty="0">
                <a:solidFill>
                  <a:srgbClr val="231F20"/>
                </a:solidFill>
                <a:latin typeface="Calibri" pitchFamily="34" charset="0"/>
                <a:ea typeface="Calibri" pitchFamily="34" charset="-122"/>
                <a:cs typeface="Calibri" pitchFamily="34" charset="-120"/>
              </a:rPr>
              <a:t> doit afficher un bloc de versions, dont « jupyterlab ».</a:t>
            </a:r>
            <a:endParaRPr lang="en-US" sz="1150" dirty="0"/>
          </a:p>
        </p:txBody>
      </p:sp>
      <p:sp>
        <p:nvSpPr>
          <p:cNvPr id="29"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04 · JUPYTERLAB</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Lancer JupyterLab et ouvrir un carnet</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49A00"/>
          </a:solidFill>
          <a:ln/>
        </p:spPr>
      </p:sp>
      <p:sp>
        <p:nvSpPr>
          <p:cNvPr id="8" name="Shape 6"/>
          <p:cNvSpPr/>
          <p:nvPr/>
        </p:nvSpPr>
        <p:spPr>
          <a:xfrm>
            <a:off x="8586216" y="338328"/>
            <a:ext cx="100584" cy="100584"/>
          </a:xfrm>
          <a:prstGeom prst="ellipse">
            <a:avLst/>
          </a:prstGeom>
          <a:solidFill>
            <a:srgbClr val="D5DED9"/>
          </a:solidFill>
          <a:ln/>
        </p:spPr>
      </p:sp>
      <p:sp>
        <p:nvSpPr>
          <p:cNvPr id="9" name="Shape 7"/>
          <p:cNvSpPr/>
          <p:nvPr/>
        </p:nvSpPr>
        <p:spPr>
          <a:xfrm>
            <a:off x="457200" y="1325880"/>
            <a:ext cx="1499616" cy="2011680"/>
          </a:xfrm>
          <a:prstGeom prst="roundRect">
            <a:avLst>
              <a:gd name="adj" fmla="val 4878"/>
            </a:avLst>
          </a:prstGeom>
          <a:solidFill>
            <a:srgbClr val="F4F7F5"/>
          </a:solidFill>
          <a:ln w="9525">
            <a:solidFill>
              <a:srgbClr val="D5DED9"/>
            </a:solidFill>
            <a:prstDash val="solid"/>
          </a:ln>
        </p:spPr>
      </p:sp>
      <p:sp>
        <p:nvSpPr>
          <p:cNvPr id="10" name="Shape 8"/>
          <p:cNvSpPr/>
          <p:nvPr/>
        </p:nvSpPr>
        <p:spPr>
          <a:xfrm>
            <a:off x="621792" y="1490472"/>
            <a:ext cx="384048" cy="384048"/>
          </a:xfrm>
          <a:prstGeom prst="ellipse">
            <a:avLst/>
          </a:prstGeom>
          <a:solidFill>
            <a:srgbClr val="D49A00"/>
          </a:solidFill>
          <a:ln/>
        </p:spPr>
      </p:sp>
      <p:sp>
        <p:nvSpPr>
          <p:cNvPr id="11" name="Text 9"/>
          <p:cNvSpPr txBox="1"/>
          <p:nvPr/>
        </p:nvSpPr>
        <p:spPr>
          <a:xfrm>
            <a:off x="621792"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10"/>
          <p:cNvSpPr txBox="1"/>
          <p:nvPr/>
        </p:nvSpPr>
        <p:spPr>
          <a:xfrm>
            <a:off x="621792"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Placez-vous dans le dossier du projet</a:t>
            </a:r>
            <a:endParaRPr lang="en-US" sz="1150" dirty="0"/>
          </a:p>
        </p:txBody>
      </p:sp>
      <p:sp>
        <p:nvSpPr>
          <p:cNvPr id="13" name="Shape 11"/>
          <p:cNvSpPr/>
          <p:nvPr/>
        </p:nvSpPr>
        <p:spPr>
          <a:xfrm>
            <a:off x="566928" y="2560320"/>
            <a:ext cx="1280160" cy="658368"/>
          </a:xfrm>
          <a:prstGeom prst="roundRect">
            <a:avLst>
              <a:gd name="adj" fmla="val 6944"/>
            </a:avLst>
          </a:prstGeom>
          <a:solidFill>
            <a:srgbClr val="FFFFFF"/>
          </a:solidFill>
          <a:ln w="6350">
            <a:solidFill>
              <a:srgbClr val="D5DED9"/>
            </a:solidFill>
            <a:prstDash val="solid"/>
          </a:ln>
        </p:spPr>
      </p:sp>
      <p:sp>
        <p:nvSpPr>
          <p:cNvPr id="14" name="Text 12"/>
          <p:cNvSpPr txBox="1"/>
          <p:nvPr/>
        </p:nvSpPr>
        <p:spPr>
          <a:xfrm>
            <a:off x="640080" y="2587752"/>
            <a:ext cx="1152144" cy="603504"/>
          </a:xfrm>
          <a:prstGeom prst="rect">
            <a:avLst/>
          </a:prstGeom>
          <a:noFill/>
          <a:ln/>
        </p:spPr>
        <p:txBody>
          <a:bodyPr wrap="square" lIns="0" tIns="0" rIns="0" bIns="0" rtlCol="0" anchor="ctr"/>
          <a:lstStyle/>
          <a:p>
            <a:pPr marL="0" indent="0" algn="l">
              <a:lnSpc>
                <a:spcPct val="100000"/>
              </a:lnSpc>
              <a:buNone/>
            </a:pPr>
            <a:r>
              <a:rPr lang="en-US" sz="950" b="1" dirty="0">
                <a:solidFill>
                  <a:srgbClr val="231F20"/>
                </a:solidFill>
                <a:latin typeface="Courier New" pitchFamily="34" charset="0"/>
                <a:ea typeface="Courier New" pitchFamily="34" charset="-122"/>
                <a:cs typeface="Courier New" pitchFamily="34" charset="-120"/>
              </a:rPr>
              <a:t>cd mon-projet</a:t>
            </a:r>
            <a:endParaRPr lang="en-US" sz="950" dirty="0"/>
          </a:p>
        </p:txBody>
      </p:sp>
      <p:sp>
        <p:nvSpPr>
          <p:cNvPr id="15" name="Shape 13"/>
          <p:cNvSpPr/>
          <p:nvPr/>
        </p:nvSpPr>
        <p:spPr>
          <a:xfrm>
            <a:off x="1975104" y="2331720"/>
            <a:ext cx="146304" cy="0"/>
          </a:xfrm>
          <a:prstGeom prst="line">
            <a:avLst/>
          </a:prstGeom>
          <a:noFill/>
          <a:ln w="12700">
            <a:solidFill>
              <a:srgbClr val="5E6964"/>
            </a:solidFill>
            <a:prstDash val="solid"/>
            <a:tailEnd type="triangle"/>
          </a:ln>
        </p:spPr>
      </p:sp>
      <p:sp>
        <p:nvSpPr>
          <p:cNvPr id="16" name="Shape 14"/>
          <p:cNvSpPr/>
          <p:nvPr/>
        </p:nvSpPr>
        <p:spPr>
          <a:xfrm>
            <a:off x="2139696" y="1325880"/>
            <a:ext cx="1499616" cy="2011680"/>
          </a:xfrm>
          <a:prstGeom prst="roundRect">
            <a:avLst>
              <a:gd name="adj" fmla="val 4878"/>
            </a:avLst>
          </a:prstGeom>
          <a:solidFill>
            <a:srgbClr val="F4F7F5"/>
          </a:solidFill>
          <a:ln w="9525">
            <a:solidFill>
              <a:srgbClr val="D5DED9"/>
            </a:solidFill>
            <a:prstDash val="solid"/>
          </a:ln>
        </p:spPr>
      </p:sp>
      <p:sp>
        <p:nvSpPr>
          <p:cNvPr id="17" name="Shape 15"/>
          <p:cNvSpPr/>
          <p:nvPr/>
        </p:nvSpPr>
        <p:spPr>
          <a:xfrm>
            <a:off x="2304288" y="1490472"/>
            <a:ext cx="384048" cy="384048"/>
          </a:xfrm>
          <a:prstGeom prst="ellipse">
            <a:avLst/>
          </a:prstGeom>
          <a:solidFill>
            <a:srgbClr val="D49A00"/>
          </a:solidFill>
          <a:ln/>
        </p:spPr>
      </p:sp>
      <p:sp>
        <p:nvSpPr>
          <p:cNvPr id="18" name="Text 16"/>
          <p:cNvSpPr txBox="1"/>
          <p:nvPr/>
        </p:nvSpPr>
        <p:spPr>
          <a:xfrm>
            <a:off x="2304288"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2304288"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Lancez JupyterLab</a:t>
            </a:r>
            <a:endParaRPr lang="en-US" sz="1150" dirty="0"/>
          </a:p>
        </p:txBody>
      </p:sp>
      <p:sp>
        <p:nvSpPr>
          <p:cNvPr id="20" name="Shape 18"/>
          <p:cNvSpPr/>
          <p:nvPr/>
        </p:nvSpPr>
        <p:spPr>
          <a:xfrm>
            <a:off x="2249424" y="2560320"/>
            <a:ext cx="1280160" cy="658368"/>
          </a:xfrm>
          <a:prstGeom prst="roundRect">
            <a:avLst>
              <a:gd name="adj" fmla="val 6944"/>
            </a:avLst>
          </a:prstGeom>
          <a:solidFill>
            <a:srgbClr val="FFFFFF"/>
          </a:solidFill>
          <a:ln w="6350">
            <a:solidFill>
              <a:srgbClr val="D5DED9"/>
            </a:solidFill>
            <a:prstDash val="solid"/>
          </a:ln>
        </p:spPr>
      </p:sp>
      <p:sp>
        <p:nvSpPr>
          <p:cNvPr id="21" name="Text 19"/>
          <p:cNvSpPr txBox="1"/>
          <p:nvPr/>
        </p:nvSpPr>
        <p:spPr>
          <a:xfrm>
            <a:off x="2322576" y="2587752"/>
            <a:ext cx="1152144" cy="603504"/>
          </a:xfrm>
          <a:prstGeom prst="rect">
            <a:avLst/>
          </a:prstGeom>
          <a:noFill/>
          <a:ln/>
        </p:spPr>
        <p:txBody>
          <a:bodyPr wrap="square" lIns="0" tIns="0" rIns="0" bIns="0" rtlCol="0" anchor="ctr"/>
          <a:lstStyle/>
          <a:p>
            <a:pPr marL="0" indent="0" algn="l">
              <a:lnSpc>
                <a:spcPct val="100000"/>
              </a:lnSpc>
              <a:buNone/>
            </a:pPr>
            <a:r>
              <a:rPr lang="en-US" sz="950" b="1" dirty="0">
                <a:solidFill>
                  <a:srgbClr val="231F20"/>
                </a:solidFill>
                <a:latin typeface="Courier New" pitchFamily="34" charset="0"/>
                <a:ea typeface="Courier New" pitchFamily="34" charset="-122"/>
                <a:cs typeface="Courier New" pitchFamily="34" charset="-120"/>
              </a:rPr>
              <a:t>jupyter lab</a:t>
            </a:r>
            <a:endParaRPr lang="en-US" sz="950" dirty="0"/>
          </a:p>
        </p:txBody>
      </p:sp>
      <p:sp>
        <p:nvSpPr>
          <p:cNvPr id="22" name="Shape 20"/>
          <p:cNvSpPr/>
          <p:nvPr/>
        </p:nvSpPr>
        <p:spPr>
          <a:xfrm>
            <a:off x="3657600" y="2331720"/>
            <a:ext cx="146304" cy="0"/>
          </a:xfrm>
          <a:prstGeom prst="line">
            <a:avLst/>
          </a:prstGeom>
          <a:noFill/>
          <a:ln w="12700">
            <a:solidFill>
              <a:srgbClr val="5E6964"/>
            </a:solidFill>
            <a:prstDash val="solid"/>
            <a:tailEnd type="triangle"/>
          </a:ln>
        </p:spPr>
      </p:sp>
      <p:sp>
        <p:nvSpPr>
          <p:cNvPr id="23" name="Shape 21"/>
          <p:cNvSpPr/>
          <p:nvPr/>
        </p:nvSpPr>
        <p:spPr>
          <a:xfrm>
            <a:off x="3822192" y="1325880"/>
            <a:ext cx="1499616" cy="2011680"/>
          </a:xfrm>
          <a:prstGeom prst="roundRect">
            <a:avLst>
              <a:gd name="adj" fmla="val 4878"/>
            </a:avLst>
          </a:prstGeom>
          <a:solidFill>
            <a:srgbClr val="F4F7F5"/>
          </a:solidFill>
          <a:ln w="9525">
            <a:solidFill>
              <a:srgbClr val="D5DED9"/>
            </a:solidFill>
            <a:prstDash val="solid"/>
          </a:ln>
        </p:spPr>
      </p:sp>
      <p:sp>
        <p:nvSpPr>
          <p:cNvPr id="24" name="Shape 22"/>
          <p:cNvSpPr/>
          <p:nvPr/>
        </p:nvSpPr>
        <p:spPr>
          <a:xfrm>
            <a:off x="3986784" y="1490472"/>
            <a:ext cx="384048" cy="384048"/>
          </a:xfrm>
          <a:prstGeom prst="ellipse">
            <a:avLst/>
          </a:prstGeom>
          <a:solidFill>
            <a:srgbClr val="D49A00"/>
          </a:solidFill>
          <a:ln/>
        </p:spPr>
      </p:sp>
      <p:sp>
        <p:nvSpPr>
          <p:cNvPr id="25" name="Text 23"/>
          <p:cNvSpPr txBox="1"/>
          <p:nvPr/>
        </p:nvSpPr>
        <p:spPr>
          <a:xfrm>
            <a:off x="3986784"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6" name="Text 24"/>
          <p:cNvSpPr txBox="1"/>
          <p:nvPr/>
        </p:nvSpPr>
        <p:spPr>
          <a:xfrm>
            <a:off x="3986784"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Le navigateur s'ouvre tout seul</a:t>
            </a:r>
            <a:endParaRPr lang="en-US" sz="1150" dirty="0"/>
          </a:p>
        </p:txBody>
      </p:sp>
      <p:sp>
        <p:nvSpPr>
          <p:cNvPr id="27" name="Shape 25"/>
          <p:cNvSpPr/>
          <p:nvPr/>
        </p:nvSpPr>
        <p:spPr>
          <a:xfrm>
            <a:off x="3931920" y="2560320"/>
            <a:ext cx="1280160" cy="658368"/>
          </a:xfrm>
          <a:prstGeom prst="roundRect">
            <a:avLst>
              <a:gd name="adj" fmla="val 6944"/>
            </a:avLst>
          </a:prstGeom>
          <a:solidFill>
            <a:srgbClr val="FFFFFF"/>
          </a:solidFill>
          <a:ln w="6350">
            <a:solidFill>
              <a:srgbClr val="D5DED9"/>
            </a:solidFill>
            <a:prstDash val="solid"/>
          </a:ln>
        </p:spPr>
      </p:sp>
      <p:sp>
        <p:nvSpPr>
          <p:cNvPr id="28" name="Text 26"/>
          <p:cNvSpPr txBox="1"/>
          <p:nvPr/>
        </p:nvSpPr>
        <p:spPr>
          <a:xfrm>
            <a:off x="4005072" y="2587752"/>
            <a:ext cx="1152144" cy="603504"/>
          </a:xfrm>
          <a:prstGeom prst="rect">
            <a:avLst/>
          </a:prstGeom>
          <a:noFill/>
          <a:ln/>
        </p:spPr>
        <p:txBody>
          <a:bodyPr wrap="square" lIns="0" tIns="0" rIns="0" bIns="0" rtlCol="0" anchor="ctr"/>
          <a:lstStyle/>
          <a:p>
            <a:pPr marL="0" indent="0" algn="l">
              <a:lnSpc>
                <a:spcPct val="100000"/>
              </a:lnSpc>
              <a:buNone/>
            </a:pPr>
            <a:r>
              <a:rPr lang="en-US" sz="950" dirty="0">
                <a:solidFill>
                  <a:srgbClr val="5E6964"/>
                </a:solidFill>
                <a:latin typeface="Calibri" pitchFamily="34" charset="0"/>
                <a:ea typeface="Calibri" pitchFamily="34" charset="-122"/>
                <a:cs typeface="Calibri" pitchFamily="34" charset="-120"/>
              </a:rPr>
              <a:t>adresse du type</a:t>
            </a:r>
            <a:endParaRPr lang="en-US" sz="950" dirty="0"/>
          </a:p>
          <a:p>
            <a:pPr marL="0" indent="0" algn="l">
              <a:lnSpc>
                <a:spcPct val="100000"/>
              </a:lnSpc>
              <a:buNone/>
            </a:pPr>
            <a:r>
              <a:rPr lang="en-US" sz="950" b="1" dirty="0">
                <a:solidFill>
                  <a:srgbClr val="231F20"/>
                </a:solidFill>
                <a:latin typeface="Courier New" pitchFamily="34" charset="0"/>
                <a:ea typeface="Courier New" pitchFamily="34" charset="-122"/>
                <a:cs typeface="Courier New" pitchFamily="34" charset="-120"/>
              </a:rPr>
              <a:t>localhost:8888</a:t>
            </a:r>
            <a:endParaRPr lang="en-US" sz="950" dirty="0"/>
          </a:p>
        </p:txBody>
      </p:sp>
      <p:sp>
        <p:nvSpPr>
          <p:cNvPr id="29" name="Shape 27"/>
          <p:cNvSpPr/>
          <p:nvPr/>
        </p:nvSpPr>
        <p:spPr>
          <a:xfrm>
            <a:off x="5340096" y="2331720"/>
            <a:ext cx="146304" cy="0"/>
          </a:xfrm>
          <a:prstGeom prst="line">
            <a:avLst/>
          </a:prstGeom>
          <a:noFill/>
          <a:ln w="12700">
            <a:solidFill>
              <a:srgbClr val="5E6964"/>
            </a:solidFill>
            <a:prstDash val="solid"/>
            <a:tailEnd type="triangle"/>
          </a:ln>
        </p:spPr>
      </p:sp>
      <p:sp>
        <p:nvSpPr>
          <p:cNvPr id="30" name="Shape 28"/>
          <p:cNvSpPr/>
          <p:nvPr/>
        </p:nvSpPr>
        <p:spPr>
          <a:xfrm>
            <a:off x="5504688" y="1325880"/>
            <a:ext cx="1499616" cy="2011680"/>
          </a:xfrm>
          <a:prstGeom prst="roundRect">
            <a:avLst>
              <a:gd name="adj" fmla="val 4878"/>
            </a:avLst>
          </a:prstGeom>
          <a:solidFill>
            <a:srgbClr val="F4F7F5"/>
          </a:solidFill>
          <a:ln w="9525">
            <a:solidFill>
              <a:srgbClr val="D5DED9"/>
            </a:solidFill>
            <a:prstDash val="solid"/>
          </a:ln>
        </p:spPr>
      </p:sp>
      <p:sp>
        <p:nvSpPr>
          <p:cNvPr id="31" name="Shape 29"/>
          <p:cNvSpPr/>
          <p:nvPr/>
        </p:nvSpPr>
        <p:spPr>
          <a:xfrm>
            <a:off x="5669280" y="1490472"/>
            <a:ext cx="384048" cy="384048"/>
          </a:xfrm>
          <a:prstGeom prst="ellipse">
            <a:avLst/>
          </a:prstGeom>
          <a:solidFill>
            <a:srgbClr val="D49A00"/>
          </a:solidFill>
          <a:ln/>
        </p:spPr>
      </p:sp>
      <p:sp>
        <p:nvSpPr>
          <p:cNvPr id="32" name="Text 30"/>
          <p:cNvSpPr txBox="1"/>
          <p:nvPr/>
        </p:nvSpPr>
        <p:spPr>
          <a:xfrm>
            <a:off x="5669280"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5669280"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Ouvrez le carnet voulu</a:t>
            </a:r>
            <a:endParaRPr lang="en-US" sz="1150" dirty="0"/>
          </a:p>
        </p:txBody>
      </p:sp>
      <p:sp>
        <p:nvSpPr>
          <p:cNvPr id="34" name="Shape 32"/>
          <p:cNvSpPr/>
          <p:nvPr/>
        </p:nvSpPr>
        <p:spPr>
          <a:xfrm>
            <a:off x="5614416" y="2560320"/>
            <a:ext cx="1280160" cy="658368"/>
          </a:xfrm>
          <a:prstGeom prst="roundRect">
            <a:avLst>
              <a:gd name="adj" fmla="val 6944"/>
            </a:avLst>
          </a:prstGeom>
          <a:solidFill>
            <a:srgbClr val="FFFFFF"/>
          </a:solidFill>
          <a:ln w="6350">
            <a:solidFill>
              <a:srgbClr val="D5DED9"/>
            </a:solidFill>
            <a:prstDash val="solid"/>
          </a:ln>
        </p:spPr>
      </p:sp>
      <p:sp>
        <p:nvSpPr>
          <p:cNvPr id="35" name="Text 33"/>
          <p:cNvSpPr txBox="1"/>
          <p:nvPr/>
        </p:nvSpPr>
        <p:spPr>
          <a:xfrm>
            <a:off x="5687568" y="2587752"/>
            <a:ext cx="1152144" cy="603504"/>
          </a:xfrm>
          <a:prstGeom prst="rect">
            <a:avLst/>
          </a:prstGeom>
          <a:noFill/>
          <a:ln/>
        </p:spPr>
        <p:txBody>
          <a:bodyPr wrap="square" lIns="0" tIns="0" rIns="0" bIns="0" rtlCol="0" anchor="ctr"/>
          <a:lstStyle/>
          <a:p>
            <a:pPr marL="0" indent="0" algn="l">
              <a:lnSpc>
                <a:spcPct val="100000"/>
              </a:lnSpc>
              <a:buNone/>
            </a:pPr>
            <a:r>
              <a:rPr lang="en-US" sz="950" dirty="0">
                <a:solidFill>
                  <a:srgbClr val="5E6964"/>
                </a:solidFill>
                <a:latin typeface="Calibri" pitchFamily="34" charset="0"/>
                <a:ea typeface="Calibri" pitchFamily="34" charset="-122"/>
                <a:cs typeface="Calibri" pitchFamily="34" charset="-120"/>
              </a:rPr>
              <a:t>double-clic dans le panneau de gauche</a:t>
            </a:r>
            <a:endParaRPr lang="en-US" sz="950" dirty="0"/>
          </a:p>
        </p:txBody>
      </p:sp>
      <p:sp>
        <p:nvSpPr>
          <p:cNvPr id="36" name="Shape 34"/>
          <p:cNvSpPr/>
          <p:nvPr/>
        </p:nvSpPr>
        <p:spPr>
          <a:xfrm>
            <a:off x="7022592" y="2331720"/>
            <a:ext cx="146304" cy="0"/>
          </a:xfrm>
          <a:prstGeom prst="line">
            <a:avLst/>
          </a:prstGeom>
          <a:noFill/>
          <a:ln w="12700">
            <a:solidFill>
              <a:srgbClr val="5E6964"/>
            </a:solidFill>
            <a:prstDash val="solid"/>
            <a:tailEnd type="triangle"/>
          </a:ln>
        </p:spPr>
      </p:sp>
      <p:sp>
        <p:nvSpPr>
          <p:cNvPr id="37" name="Shape 35"/>
          <p:cNvSpPr/>
          <p:nvPr/>
        </p:nvSpPr>
        <p:spPr>
          <a:xfrm>
            <a:off x="7187184" y="1325880"/>
            <a:ext cx="1499616" cy="2011680"/>
          </a:xfrm>
          <a:prstGeom prst="roundRect">
            <a:avLst>
              <a:gd name="adj" fmla="val 4878"/>
            </a:avLst>
          </a:prstGeom>
          <a:solidFill>
            <a:srgbClr val="F4F7F5"/>
          </a:solidFill>
          <a:ln w="9525">
            <a:solidFill>
              <a:srgbClr val="D5DED9"/>
            </a:solidFill>
            <a:prstDash val="solid"/>
          </a:ln>
        </p:spPr>
      </p:sp>
      <p:sp>
        <p:nvSpPr>
          <p:cNvPr id="38" name="Shape 36"/>
          <p:cNvSpPr/>
          <p:nvPr/>
        </p:nvSpPr>
        <p:spPr>
          <a:xfrm>
            <a:off x="7351776" y="1490472"/>
            <a:ext cx="384048" cy="384048"/>
          </a:xfrm>
          <a:prstGeom prst="ellipse">
            <a:avLst/>
          </a:prstGeom>
          <a:solidFill>
            <a:srgbClr val="D49A00"/>
          </a:solidFill>
          <a:ln/>
        </p:spPr>
      </p:sp>
      <p:sp>
        <p:nvSpPr>
          <p:cNvPr id="39" name="Text 37"/>
          <p:cNvSpPr txBox="1"/>
          <p:nvPr/>
        </p:nvSpPr>
        <p:spPr>
          <a:xfrm>
            <a:off x="7351776" y="14904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40" name="Text 38"/>
          <p:cNvSpPr txBox="1"/>
          <p:nvPr/>
        </p:nvSpPr>
        <p:spPr>
          <a:xfrm>
            <a:off x="7351776" y="1965960"/>
            <a:ext cx="1207008" cy="548640"/>
          </a:xfrm>
          <a:prstGeom prst="rect">
            <a:avLst/>
          </a:prstGeom>
          <a:noFill/>
          <a:ln/>
        </p:spPr>
        <p:txBody>
          <a:bodyPr wrap="square" lIns="0" tIns="0" rIns="0" bIns="0" rtlCol="0" anchor="t"/>
          <a:lstStyle/>
          <a:p>
            <a:pPr marL="0" indent="0" algn="l">
              <a:lnSpc>
                <a:spcPct val="100000"/>
              </a:lnSpc>
              <a:buNone/>
            </a:pPr>
            <a:r>
              <a:rPr lang="en-US" sz="1150" b="1" dirty="0">
                <a:solidFill>
                  <a:srgbClr val="231F20"/>
                </a:solidFill>
                <a:latin typeface="Calibri" pitchFamily="34" charset="0"/>
                <a:ea typeface="Calibri" pitchFamily="34" charset="-122"/>
                <a:cs typeface="Calibri" pitchFamily="34" charset="-120"/>
              </a:rPr>
              <a:t>Exécutez une cellule</a:t>
            </a:r>
            <a:endParaRPr lang="en-US" sz="1150" dirty="0"/>
          </a:p>
        </p:txBody>
      </p:sp>
      <p:sp>
        <p:nvSpPr>
          <p:cNvPr id="41" name="Shape 39"/>
          <p:cNvSpPr/>
          <p:nvPr/>
        </p:nvSpPr>
        <p:spPr>
          <a:xfrm>
            <a:off x="7296912" y="2560320"/>
            <a:ext cx="1280160" cy="658368"/>
          </a:xfrm>
          <a:prstGeom prst="roundRect">
            <a:avLst>
              <a:gd name="adj" fmla="val 6944"/>
            </a:avLst>
          </a:prstGeom>
          <a:solidFill>
            <a:srgbClr val="FFFFFF"/>
          </a:solidFill>
          <a:ln w="6350">
            <a:solidFill>
              <a:srgbClr val="D5DED9"/>
            </a:solidFill>
            <a:prstDash val="solid"/>
          </a:ln>
        </p:spPr>
      </p:sp>
      <p:sp>
        <p:nvSpPr>
          <p:cNvPr id="42" name="Text 40"/>
          <p:cNvSpPr txBox="1"/>
          <p:nvPr/>
        </p:nvSpPr>
        <p:spPr>
          <a:xfrm>
            <a:off x="7370064" y="2587752"/>
            <a:ext cx="1152144" cy="603504"/>
          </a:xfrm>
          <a:prstGeom prst="rect">
            <a:avLst/>
          </a:prstGeom>
          <a:noFill/>
          <a:ln/>
        </p:spPr>
        <p:txBody>
          <a:bodyPr wrap="square" lIns="0" tIns="0" rIns="0" bIns="0" rtlCol="0" anchor="ctr"/>
          <a:lstStyle/>
          <a:p>
            <a:pPr marL="0" indent="0" algn="l">
              <a:lnSpc>
                <a:spcPct val="100000"/>
              </a:lnSpc>
              <a:buNone/>
            </a:pPr>
            <a:r>
              <a:rPr lang="en-US" sz="950" b="1" dirty="0">
                <a:solidFill>
                  <a:srgbClr val="5E6964"/>
                </a:solidFill>
                <a:latin typeface="Calibri" pitchFamily="34" charset="0"/>
                <a:ea typeface="Calibri" pitchFamily="34" charset="-122"/>
                <a:cs typeface="Calibri" pitchFamily="34" charset="-120"/>
              </a:rPr>
              <a:t>Maj + Entrée</a:t>
            </a:r>
            <a:r>
              <a:rPr lang="en-US" sz="950" dirty="0">
                <a:solidFill>
                  <a:srgbClr val="5E6964"/>
                </a:solidFill>
                <a:latin typeface="Calibri" pitchFamily="34" charset="0"/>
                <a:ea typeface="Calibri" pitchFamily="34" charset="-122"/>
                <a:cs typeface="Calibri" pitchFamily="34" charset="-120"/>
              </a:rPr>
              <a:t>, puis la suivante, de haut en bas</a:t>
            </a:r>
            <a:endParaRPr lang="en-US" sz="950" dirty="0"/>
          </a:p>
        </p:txBody>
      </p:sp>
      <p:sp>
        <p:nvSpPr>
          <p:cNvPr id="43" name="Shape 41"/>
          <p:cNvSpPr/>
          <p:nvPr/>
        </p:nvSpPr>
        <p:spPr>
          <a:xfrm>
            <a:off x="457200" y="3520440"/>
            <a:ext cx="8229600" cy="868680"/>
          </a:xfrm>
          <a:prstGeom prst="roundRect">
            <a:avLst>
              <a:gd name="adj" fmla="val 8421"/>
            </a:avLst>
          </a:prstGeom>
          <a:solidFill>
            <a:srgbClr val="D49A00">
              <a:alpha val="13000"/>
            </a:srgbClr>
          </a:solidFill>
          <a:ln w="15875">
            <a:solidFill>
              <a:srgbClr val="D49A00"/>
            </a:solidFill>
            <a:prstDash val="solid"/>
          </a:ln>
        </p:spPr>
      </p:sp>
      <p:sp>
        <p:nvSpPr>
          <p:cNvPr id="44" name="Shape 42"/>
          <p:cNvSpPr/>
          <p:nvPr/>
        </p:nvSpPr>
        <p:spPr>
          <a:xfrm>
            <a:off x="640080" y="3694176"/>
            <a:ext cx="512064" cy="512064"/>
          </a:xfrm>
          <a:prstGeom prst="ellipse">
            <a:avLst/>
          </a:prstGeom>
          <a:solidFill>
            <a:srgbClr val="D49A00">
              <a:alpha val="22000"/>
            </a:srgbClr>
          </a:solidFill>
          <a:ln/>
        </p:spPr>
      </p:sp>
      <p:pic>
        <p:nvPicPr>
          <p:cNvPr id="45" name="Image 0" descr="preencoded.png"/>
          <p:cNvPicPr>
            <a:picLocks noChangeAspect="1"/>
          </p:cNvPicPr>
          <p:nvPr/>
        </p:nvPicPr>
        <p:blipFill>
          <a:blip r:embed="rId3"/>
          <a:stretch>
            <a:fillRect/>
          </a:stretch>
        </p:blipFill>
        <p:spPr>
          <a:xfrm>
            <a:off x="768096" y="3822192"/>
            <a:ext cx="256032" cy="256032"/>
          </a:xfrm>
          <a:prstGeom prst="rect">
            <a:avLst/>
          </a:prstGeom>
        </p:spPr>
      </p:pic>
      <p:sp>
        <p:nvSpPr>
          <p:cNvPr id="46" name="Text 43"/>
          <p:cNvSpPr txBox="1"/>
          <p:nvPr/>
        </p:nvSpPr>
        <p:spPr>
          <a:xfrm>
            <a:off x="1325880" y="3584448"/>
            <a:ext cx="7223760" cy="749808"/>
          </a:xfrm>
          <a:prstGeom prst="rect">
            <a:avLst/>
          </a:prstGeom>
          <a:noFill/>
          <a:ln/>
        </p:spPr>
        <p:txBody>
          <a:bodyPr wrap="square" lIns="0" tIns="0" rIns="0" bIns="0" rtlCol="0" anchor="ctr"/>
          <a:lstStyle/>
          <a:p>
            <a:pPr marL="0" indent="0" algn="l">
              <a:lnSpc>
                <a:spcPct val="100000"/>
              </a:lnSpc>
              <a:spcAft>
                <a:spcPts val="300"/>
              </a:spcAft>
              <a:buNone/>
            </a:pPr>
            <a:r>
              <a:rPr lang="en-US" sz="1150" dirty="0">
                <a:solidFill>
                  <a:srgbClr val="231F20"/>
                </a:solidFill>
                <a:latin typeface="Calibri" pitchFamily="34" charset="0"/>
                <a:ea typeface="Calibri" pitchFamily="34" charset="-122"/>
                <a:cs typeface="Calibri" pitchFamily="34" charset="-120"/>
              </a:rPr>
              <a:t>Pour arrêter JupyterLab : revenez au terminal et faites </a:t>
            </a:r>
            <a:r>
              <a:rPr lang="en-US" sz="1150" b="1" dirty="0">
                <a:solidFill>
                  <a:srgbClr val="231F20"/>
                </a:solidFill>
                <a:latin typeface="Calibri" pitchFamily="34" charset="0"/>
                <a:ea typeface="Calibri" pitchFamily="34" charset="-122"/>
                <a:cs typeface="Calibri" pitchFamily="34" charset="-120"/>
              </a:rPr>
              <a:t>Ctrl + C</a:t>
            </a:r>
            <a:r>
              <a:rPr lang="en-US" sz="1150" dirty="0">
                <a:solidFill>
                  <a:srgbClr val="231F20"/>
                </a:solidFill>
                <a:latin typeface="Calibri" pitchFamily="34" charset="0"/>
                <a:ea typeface="Calibri" pitchFamily="34" charset="-122"/>
                <a:cs typeface="Calibri" pitchFamily="34" charset="-120"/>
              </a:rPr>
              <a:t>. Fermer l'onglet du navigateur ne l'arrête pas.</a:t>
            </a:r>
            <a:endParaRPr lang="en-US" sz="1150" dirty="0"/>
          </a:p>
          <a:p>
            <a:pPr marL="0" indent="0" algn="l">
              <a:lnSpc>
                <a:spcPct val="100000"/>
              </a:lnSpc>
              <a:spcAft>
                <a:spcPts val="300"/>
              </a:spcAft>
              <a:buNone/>
            </a:pPr>
            <a:r>
              <a:rPr lang="en-US" sz="1150" dirty="0">
                <a:solidFill>
                  <a:srgbClr val="231F20"/>
                </a:solidFill>
                <a:latin typeface="Calibri" pitchFamily="34" charset="0"/>
                <a:ea typeface="Calibri" pitchFamily="34" charset="-122"/>
                <a:cs typeface="Calibri" pitchFamily="34" charset="-120"/>
              </a:rPr>
              <a:t>Le terminal doit </a:t>
            </a:r>
            <a:r>
              <a:rPr lang="en-US" sz="1150" b="1" dirty="0">
                <a:solidFill>
                  <a:srgbClr val="231F20"/>
                </a:solidFill>
                <a:latin typeface="Calibri" pitchFamily="34" charset="0"/>
                <a:ea typeface="Calibri" pitchFamily="34" charset="-122"/>
                <a:cs typeface="Calibri" pitchFamily="34" charset="-120"/>
              </a:rPr>
              <a:t>rester ouvert</a:t>
            </a:r>
            <a:r>
              <a:rPr lang="en-US" sz="1150" dirty="0">
                <a:solidFill>
                  <a:srgbClr val="231F20"/>
                </a:solidFill>
                <a:latin typeface="Calibri" pitchFamily="34" charset="0"/>
                <a:ea typeface="Calibri" pitchFamily="34" charset="-122"/>
                <a:cs typeface="Calibri" pitchFamily="34" charset="-120"/>
              </a:rPr>
              <a:t> pendant tout le travail : c'est lui qui fait tourner JupyterLab.</a:t>
            </a:r>
            <a:endParaRPr lang="en-US" sz="1150" dirty="0"/>
          </a:p>
        </p:txBody>
      </p:sp>
      <p:sp>
        <p:nvSpPr>
          <p:cNvPr id="47"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6583680" cy="219456"/>
          </a:xfrm>
          <a:prstGeom prst="rect">
            <a:avLst/>
          </a:prstGeom>
          <a:noFill/>
          <a:ln/>
        </p:spPr>
        <p:txBody>
          <a:bodyPr wrap="square" lIns="0" tIns="0" rIns="0" bIns="0" rtlCol="0" anchor="t"/>
          <a:lstStyle/>
          <a:p>
            <a:pPr marL="0" indent="0" algn="l">
              <a:lnSpc>
                <a:spcPct val="100000"/>
              </a:lnSpc>
              <a:buNone/>
            </a:pPr>
            <a:r>
              <a:rPr lang="en-US" sz="1050" b="1" kern="0" spc="300" dirty="0">
                <a:solidFill>
                  <a:srgbClr val="00704A"/>
                </a:solidFill>
                <a:latin typeface="Calibri" pitchFamily="34" charset="0"/>
                <a:ea typeface="Calibri" pitchFamily="34" charset="-122"/>
                <a:cs typeface="Calibri" pitchFamily="34" charset="-120"/>
              </a:rPr>
              <a:t>05 · DÉPANNER</a:t>
            </a:r>
            <a:endParaRPr lang="en-US" sz="1050" dirty="0"/>
          </a:p>
        </p:txBody>
      </p:sp>
      <p:sp>
        <p:nvSpPr>
          <p:cNvPr id="3" name="Text 1"/>
          <p:cNvSpPr txBox="1"/>
          <p:nvPr/>
        </p:nvSpPr>
        <p:spPr>
          <a:xfrm>
            <a:off x="457200" y="502920"/>
            <a:ext cx="7315200" cy="502920"/>
          </a:xfrm>
          <a:prstGeom prst="rect">
            <a:avLst/>
          </a:prstGeom>
          <a:noFill/>
          <a:ln/>
        </p:spPr>
        <p:txBody>
          <a:bodyPr wrap="square" lIns="0" tIns="0" rIns="0" bIns="0" rtlCol="0" anchor="ctr"/>
          <a:lstStyle/>
          <a:p>
            <a:pPr marL="0" indent="0" algn="l">
              <a:lnSpc>
                <a:spcPct val="100000"/>
              </a:lnSpc>
              <a:buNone/>
            </a:pPr>
            <a:r>
              <a:rPr lang="en-US" sz="2800" b="1" dirty="0">
                <a:solidFill>
                  <a:srgbClr val="231F20"/>
                </a:solidFill>
                <a:latin typeface="Calibri" pitchFamily="34" charset="0"/>
                <a:ea typeface="Calibri" pitchFamily="34" charset="-122"/>
                <a:cs typeface="Calibri" pitchFamily="34" charset="-120"/>
              </a:rPr>
              <a:t>Cinq pannes, et ce qui les résout</a:t>
            </a:r>
            <a:endParaRPr lang="en-US" sz="2800" dirty="0"/>
          </a:p>
        </p:txBody>
      </p:sp>
      <p:sp>
        <p:nvSpPr>
          <p:cNvPr id="4" name="Shape 2"/>
          <p:cNvSpPr/>
          <p:nvPr/>
        </p:nvSpPr>
        <p:spPr>
          <a:xfrm>
            <a:off x="7854696" y="338328"/>
            <a:ext cx="100584" cy="100584"/>
          </a:xfrm>
          <a:prstGeom prst="ellipse">
            <a:avLst/>
          </a:prstGeom>
          <a:solidFill>
            <a:srgbClr val="D5DED9"/>
          </a:solidFill>
          <a:ln/>
        </p:spPr>
      </p:sp>
      <p:sp>
        <p:nvSpPr>
          <p:cNvPr id="5" name="Shape 3"/>
          <p:cNvSpPr/>
          <p:nvPr/>
        </p:nvSpPr>
        <p:spPr>
          <a:xfrm>
            <a:off x="8037576" y="338328"/>
            <a:ext cx="100584" cy="100584"/>
          </a:xfrm>
          <a:prstGeom prst="ellipse">
            <a:avLst/>
          </a:prstGeom>
          <a:solidFill>
            <a:srgbClr val="D5DED9"/>
          </a:solidFill>
          <a:ln/>
        </p:spPr>
      </p:sp>
      <p:sp>
        <p:nvSpPr>
          <p:cNvPr id="6" name="Shape 4"/>
          <p:cNvSpPr/>
          <p:nvPr/>
        </p:nvSpPr>
        <p:spPr>
          <a:xfrm>
            <a:off x="8220456" y="338328"/>
            <a:ext cx="100584" cy="100584"/>
          </a:xfrm>
          <a:prstGeom prst="ellipse">
            <a:avLst/>
          </a:prstGeom>
          <a:solidFill>
            <a:srgbClr val="D5DED9"/>
          </a:solidFill>
          <a:ln/>
        </p:spPr>
      </p:sp>
      <p:sp>
        <p:nvSpPr>
          <p:cNvPr id="7" name="Shape 5"/>
          <p:cNvSpPr/>
          <p:nvPr/>
        </p:nvSpPr>
        <p:spPr>
          <a:xfrm>
            <a:off x="8403336" y="338328"/>
            <a:ext cx="100584" cy="100584"/>
          </a:xfrm>
          <a:prstGeom prst="ellipse">
            <a:avLst/>
          </a:prstGeom>
          <a:solidFill>
            <a:srgbClr val="D5DED9"/>
          </a:solidFill>
          <a:ln/>
        </p:spPr>
      </p:sp>
      <p:sp>
        <p:nvSpPr>
          <p:cNvPr id="8" name="Shape 6"/>
          <p:cNvSpPr/>
          <p:nvPr/>
        </p:nvSpPr>
        <p:spPr>
          <a:xfrm>
            <a:off x="8586216" y="338328"/>
            <a:ext cx="100584" cy="100584"/>
          </a:xfrm>
          <a:prstGeom prst="ellipse">
            <a:avLst/>
          </a:prstGeom>
          <a:solidFill>
            <a:srgbClr val="C4621D"/>
          </a:solidFill>
          <a:ln/>
        </p:spPr>
      </p:sp>
      <p:sp>
        <p:nvSpPr>
          <p:cNvPr id="9" name="Text 7"/>
          <p:cNvSpPr txBox="1"/>
          <p:nvPr/>
        </p:nvSpPr>
        <p:spPr>
          <a:xfrm>
            <a:off x="777240" y="1143000"/>
            <a:ext cx="22402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CE QUE VOUS VOYEZ</a:t>
            </a:r>
            <a:endParaRPr lang="en-US" sz="900" dirty="0"/>
          </a:p>
        </p:txBody>
      </p:sp>
      <p:sp>
        <p:nvSpPr>
          <p:cNvPr id="10" name="Text 8"/>
          <p:cNvSpPr txBox="1"/>
          <p:nvPr/>
        </p:nvSpPr>
        <p:spPr>
          <a:xfrm>
            <a:off x="3154680" y="1143000"/>
            <a:ext cx="260604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POURQUOI</a:t>
            </a:r>
            <a:endParaRPr lang="en-US" sz="900" dirty="0"/>
          </a:p>
        </p:txBody>
      </p:sp>
      <p:sp>
        <p:nvSpPr>
          <p:cNvPr id="11" name="Text 9"/>
          <p:cNvSpPr txBox="1"/>
          <p:nvPr/>
        </p:nvSpPr>
        <p:spPr>
          <a:xfrm>
            <a:off x="5897880" y="1143000"/>
            <a:ext cx="2697480" cy="201168"/>
          </a:xfrm>
          <a:prstGeom prst="rect">
            <a:avLst/>
          </a:prstGeom>
          <a:noFill/>
          <a:ln/>
        </p:spPr>
        <p:txBody>
          <a:bodyPr wrap="square" lIns="0" tIns="0" rIns="0" bIns="0" rtlCol="0" anchor="t"/>
          <a:lstStyle/>
          <a:p>
            <a:pPr marL="0" indent="0" algn="l">
              <a:lnSpc>
                <a:spcPct val="100000"/>
              </a:lnSpc>
              <a:buNone/>
            </a:pPr>
            <a:r>
              <a:rPr lang="en-US" sz="900" b="1" kern="0" spc="100" dirty="0">
                <a:solidFill>
                  <a:srgbClr val="5E6964"/>
                </a:solidFill>
                <a:latin typeface="Calibri" pitchFamily="34" charset="0"/>
                <a:ea typeface="Calibri" pitchFamily="34" charset="-122"/>
                <a:cs typeface="Calibri" pitchFamily="34" charset="-120"/>
              </a:rPr>
              <a:t>CE QUE VOUS FAITES</a:t>
            </a:r>
            <a:endParaRPr lang="en-US" sz="900" dirty="0"/>
          </a:p>
        </p:txBody>
      </p:sp>
      <p:sp>
        <p:nvSpPr>
          <p:cNvPr id="12" name="Shape 10"/>
          <p:cNvSpPr/>
          <p:nvPr/>
        </p:nvSpPr>
        <p:spPr>
          <a:xfrm>
            <a:off x="457200" y="1389888"/>
            <a:ext cx="8229600" cy="384048"/>
          </a:xfrm>
          <a:prstGeom prst="roundRect">
            <a:avLst>
              <a:gd name="adj" fmla="val 19048"/>
            </a:avLst>
          </a:prstGeom>
          <a:solidFill>
            <a:srgbClr val="F4F7F5"/>
          </a:solidFill>
          <a:ln w="9525">
            <a:solidFill>
              <a:srgbClr val="D5DED9"/>
            </a:solidFill>
            <a:prstDash val="solid"/>
          </a:ln>
        </p:spPr>
      </p:sp>
      <p:sp>
        <p:nvSpPr>
          <p:cNvPr id="13" name="Shape 11"/>
          <p:cNvSpPr/>
          <p:nvPr/>
        </p:nvSpPr>
        <p:spPr>
          <a:xfrm>
            <a:off x="585216" y="1517904"/>
            <a:ext cx="128016" cy="128016"/>
          </a:xfrm>
          <a:prstGeom prst="ellipse">
            <a:avLst/>
          </a:prstGeom>
          <a:solidFill>
            <a:srgbClr val="B83B2E"/>
          </a:solidFill>
          <a:ln/>
        </p:spPr>
      </p:sp>
      <p:sp>
        <p:nvSpPr>
          <p:cNvPr id="14" name="Text 12"/>
          <p:cNvSpPr txBox="1"/>
          <p:nvPr/>
        </p:nvSpPr>
        <p:spPr>
          <a:xfrm>
            <a:off x="777240" y="1389888"/>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 python n'est pas reconnu… »</a:t>
            </a:r>
            <a:endParaRPr lang="en-US" sz="1000" dirty="0"/>
          </a:p>
        </p:txBody>
      </p:sp>
      <p:sp>
        <p:nvSpPr>
          <p:cNvPr id="15" name="Text 13"/>
          <p:cNvSpPr txBox="1"/>
          <p:nvPr/>
        </p:nvSpPr>
        <p:spPr>
          <a:xfrm>
            <a:off x="3154680" y="1389888"/>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La case « Add python.exe to PATH » n'a pas été cochée</a:t>
            </a:r>
            <a:endParaRPr lang="en-US" sz="1000" dirty="0"/>
          </a:p>
        </p:txBody>
      </p:sp>
      <p:sp>
        <p:nvSpPr>
          <p:cNvPr id="16" name="Text 14"/>
          <p:cNvSpPr txBox="1"/>
          <p:nvPr/>
        </p:nvSpPr>
        <p:spPr>
          <a:xfrm>
            <a:off x="5897880" y="1389888"/>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Relancez l'installateur → Modify → cochez la case</a:t>
            </a:r>
            <a:endParaRPr lang="en-US" sz="1000" dirty="0"/>
          </a:p>
        </p:txBody>
      </p:sp>
      <p:sp>
        <p:nvSpPr>
          <p:cNvPr id="17" name="Shape 15"/>
          <p:cNvSpPr/>
          <p:nvPr/>
        </p:nvSpPr>
        <p:spPr>
          <a:xfrm>
            <a:off x="457200" y="1819656"/>
            <a:ext cx="8229600" cy="384048"/>
          </a:xfrm>
          <a:prstGeom prst="roundRect">
            <a:avLst>
              <a:gd name="adj" fmla="val 19048"/>
            </a:avLst>
          </a:prstGeom>
          <a:solidFill>
            <a:srgbClr val="FFFFFF"/>
          </a:solidFill>
          <a:ln w="9525">
            <a:solidFill>
              <a:srgbClr val="D5DED9"/>
            </a:solidFill>
            <a:prstDash val="solid"/>
          </a:ln>
        </p:spPr>
      </p:sp>
      <p:sp>
        <p:nvSpPr>
          <p:cNvPr id="18" name="Shape 16"/>
          <p:cNvSpPr/>
          <p:nvPr/>
        </p:nvSpPr>
        <p:spPr>
          <a:xfrm>
            <a:off x="585216" y="1947672"/>
            <a:ext cx="128016" cy="128016"/>
          </a:xfrm>
          <a:prstGeom prst="ellipse">
            <a:avLst/>
          </a:prstGeom>
          <a:solidFill>
            <a:srgbClr val="B83B2E"/>
          </a:solidFill>
          <a:ln/>
        </p:spPr>
      </p:sp>
      <p:sp>
        <p:nvSpPr>
          <p:cNvPr id="19" name="Text 17"/>
          <p:cNvSpPr txBox="1"/>
          <p:nvPr/>
        </p:nvSpPr>
        <p:spPr>
          <a:xfrm>
            <a:off x="777240" y="1819656"/>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Le Microsoft Store s'ouvre</a:t>
            </a:r>
            <a:endParaRPr lang="en-US" sz="1000" dirty="0"/>
          </a:p>
        </p:txBody>
      </p:sp>
      <p:sp>
        <p:nvSpPr>
          <p:cNvPr id="20" name="Text 18"/>
          <p:cNvSpPr txBox="1"/>
          <p:nvPr/>
        </p:nvSpPr>
        <p:spPr>
          <a:xfrm>
            <a:off x="3154680" y="1819656"/>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Windows livre un faux python.exe qui renvoie à la boutique</a:t>
            </a:r>
            <a:endParaRPr lang="en-US" sz="1000" dirty="0"/>
          </a:p>
        </p:txBody>
      </p:sp>
      <p:sp>
        <p:nvSpPr>
          <p:cNvPr id="21" name="Text 19"/>
          <p:cNvSpPr txBox="1"/>
          <p:nvPr/>
        </p:nvSpPr>
        <p:spPr>
          <a:xfrm>
            <a:off x="5897880" y="1819656"/>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Installez Python depuis python.org, puis rouvrez le terminal</a:t>
            </a:r>
            <a:endParaRPr lang="en-US" sz="1000" dirty="0"/>
          </a:p>
        </p:txBody>
      </p:sp>
      <p:sp>
        <p:nvSpPr>
          <p:cNvPr id="22" name="Shape 20"/>
          <p:cNvSpPr/>
          <p:nvPr/>
        </p:nvSpPr>
        <p:spPr>
          <a:xfrm>
            <a:off x="457200" y="2249424"/>
            <a:ext cx="8229600" cy="384048"/>
          </a:xfrm>
          <a:prstGeom prst="roundRect">
            <a:avLst>
              <a:gd name="adj" fmla="val 19048"/>
            </a:avLst>
          </a:prstGeom>
          <a:solidFill>
            <a:srgbClr val="F4F7F5"/>
          </a:solidFill>
          <a:ln w="9525">
            <a:solidFill>
              <a:srgbClr val="D5DED9"/>
            </a:solidFill>
            <a:prstDash val="solid"/>
          </a:ln>
        </p:spPr>
      </p:sp>
      <p:sp>
        <p:nvSpPr>
          <p:cNvPr id="23" name="Shape 21"/>
          <p:cNvSpPr/>
          <p:nvPr/>
        </p:nvSpPr>
        <p:spPr>
          <a:xfrm>
            <a:off x="585216" y="2377440"/>
            <a:ext cx="128016" cy="128016"/>
          </a:xfrm>
          <a:prstGeom prst="ellipse">
            <a:avLst/>
          </a:prstGeom>
          <a:solidFill>
            <a:srgbClr val="B83B2E"/>
          </a:solidFill>
          <a:ln/>
        </p:spPr>
      </p:sp>
      <p:sp>
        <p:nvSpPr>
          <p:cNvPr id="24" name="Text 22"/>
          <p:cNvSpPr txBox="1"/>
          <p:nvPr/>
        </p:nvSpPr>
        <p:spPr>
          <a:xfrm>
            <a:off x="777240" y="2249424"/>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La version affichée est 3.9 ou moins</a:t>
            </a:r>
            <a:endParaRPr lang="en-US" sz="1000" dirty="0"/>
          </a:p>
        </p:txBody>
      </p:sp>
      <p:sp>
        <p:nvSpPr>
          <p:cNvPr id="25" name="Text 23"/>
          <p:cNvSpPr txBox="1"/>
          <p:nvPr/>
        </p:nvSpPr>
        <p:spPr>
          <a:xfrm>
            <a:off x="3154680" y="2249424"/>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Un Python ancien répond en premier</a:t>
            </a:r>
            <a:endParaRPr lang="en-US" sz="1000" dirty="0"/>
          </a:p>
        </p:txBody>
      </p:sp>
      <p:sp>
        <p:nvSpPr>
          <p:cNvPr id="26" name="Text 24"/>
          <p:cNvSpPr txBox="1"/>
          <p:nvPr/>
        </p:nvSpPr>
        <p:spPr>
          <a:xfrm>
            <a:off x="5897880" y="2249424"/>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Installez une version récente ; sous Windows, </a:t>
            </a:r>
            <a:r>
              <a:rPr lang="en-US" sz="1000" b="1" dirty="0">
                <a:solidFill>
                  <a:srgbClr val="00704A"/>
                </a:solidFill>
                <a:latin typeface="Courier New" pitchFamily="34" charset="0"/>
                <a:ea typeface="Courier New" pitchFamily="34" charset="-122"/>
                <a:cs typeface="Courier New" pitchFamily="34" charset="-120"/>
              </a:rPr>
              <a:t>py -0p</a:t>
            </a:r>
            <a:r>
              <a:rPr lang="en-US" sz="1000" dirty="0">
                <a:solidFill>
                  <a:srgbClr val="231F20"/>
                </a:solidFill>
                <a:latin typeface="Calibri" pitchFamily="34" charset="0"/>
                <a:ea typeface="Calibri" pitchFamily="34" charset="-122"/>
                <a:cs typeface="Calibri" pitchFamily="34" charset="-120"/>
              </a:rPr>
              <a:t> les liste</a:t>
            </a:r>
            <a:endParaRPr lang="en-US" sz="1000" dirty="0"/>
          </a:p>
        </p:txBody>
      </p:sp>
      <p:sp>
        <p:nvSpPr>
          <p:cNvPr id="27" name="Shape 25"/>
          <p:cNvSpPr/>
          <p:nvPr/>
        </p:nvSpPr>
        <p:spPr>
          <a:xfrm>
            <a:off x="457200" y="2679192"/>
            <a:ext cx="8229600" cy="384048"/>
          </a:xfrm>
          <a:prstGeom prst="roundRect">
            <a:avLst>
              <a:gd name="adj" fmla="val 19048"/>
            </a:avLst>
          </a:prstGeom>
          <a:solidFill>
            <a:srgbClr val="FFFFFF"/>
          </a:solidFill>
          <a:ln w="9525">
            <a:solidFill>
              <a:srgbClr val="D5DED9"/>
            </a:solidFill>
            <a:prstDash val="solid"/>
          </a:ln>
        </p:spPr>
      </p:sp>
      <p:sp>
        <p:nvSpPr>
          <p:cNvPr id="28" name="Shape 26"/>
          <p:cNvSpPr/>
          <p:nvPr/>
        </p:nvSpPr>
        <p:spPr>
          <a:xfrm>
            <a:off x="585216" y="2807208"/>
            <a:ext cx="128016" cy="128016"/>
          </a:xfrm>
          <a:prstGeom prst="ellipse">
            <a:avLst/>
          </a:prstGeom>
          <a:solidFill>
            <a:srgbClr val="B83B2E"/>
          </a:solidFill>
          <a:ln/>
        </p:spPr>
      </p:sp>
      <p:sp>
        <p:nvSpPr>
          <p:cNvPr id="29" name="Text 27"/>
          <p:cNvSpPr txBox="1"/>
          <p:nvPr/>
        </p:nvSpPr>
        <p:spPr>
          <a:xfrm>
            <a:off x="777240" y="2679192"/>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 pip n'est pas reconnu »</a:t>
            </a:r>
            <a:endParaRPr lang="en-US" sz="1000" dirty="0"/>
          </a:p>
        </p:txBody>
      </p:sp>
      <p:sp>
        <p:nvSpPr>
          <p:cNvPr id="30" name="Text 28"/>
          <p:cNvSpPr txBox="1"/>
          <p:nvPr/>
        </p:nvSpPr>
        <p:spPr>
          <a:xfrm>
            <a:off x="3154680" y="2679192"/>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pip existe, mais n'est pas déclaré au système</a:t>
            </a:r>
            <a:endParaRPr lang="en-US" sz="1000" dirty="0"/>
          </a:p>
        </p:txBody>
      </p:sp>
      <p:sp>
        <p:nvSpPr>
          <p:cNvPr id="31" name="Text 29"/>
          <p:cNvSpPr txBox="1"/>
          <p:nvPr/>
        </p:nvSpPr>
        <p:spPr>
          <a:xfrm>
            <a:off x="5897880" y="2679192"/>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Écrivez </a:t>
            </a:r>
            <a:r>
              <a:rPr lang="en-US" sz="1000" b="1" dirty="0">
                <a:solidFill>
                  <a:srgbClr val="00704A"/>
                </a:solidFill>
                <a:latin typeface="Courier New" pitchFamily="34" charset="0"/>
                <a:ea typeface="Courier New" pitchFamily="34" charset="-122"/>
                <a:cs typeface="Courier New" pitchFamily="34" charset="-120"/>
              </a:rPr>
              <a:t>python -m pip …</a:t>
            </a:r>
            <a:r>
              <a:rPr lang="en-US" sz="1000" dirty="0">
                <a:solidFill>
                  <a:srgbClr val="231F20"/>
                </a:solidFill>
                <a:latin typeface="Calibri" pitchFamily="34" charset="0"/>
                <a:ea typeface="Calibri" pitchFamily="34" charset="-122"/>
                <a:cs typeface="Calibri" pitchFamily="34" charset="-120"/>
              </a:rPr>
              <a:t> plutôt que </a:t>
            </a:r>
            <a:r>
              <a:rPr lang="en-US" sz="1000" b="1" dirty="0">
                <a:solidFill>
                  <a:srgbClr val="00704A"/>
                </a:solidFill>
                <a:latin typeface="Courier New" pitchFamily="34" charset="0"/>
                <a:ea typeface="Courier New" pitchFamily="34" charset="-122"/>
                <a:cs typeface="Courier New" pitchFamily="34" charset="-120"/>
              </a:rPr>
              <a:t>pip …</a:t>
            </a:r>
            <a:endParaRPr lang="en-US" sz="1000" dirty="0"/>
          </a:p>
        </p:txBody>
      </p:sp>
      <p:sp>
        <p:nvSpPr>
          <p:cNvPr id="32" name="Shape 30"/>
          <p:cNvSpPr/>
          <p:nvPr/>
        </p:nvSpPr>
        <p:spPr>
          <a:xfrm>
            <a:off x="457200" y="3108960"/>
            <a:ext cx="8229600" cy="384048"/>
          </a:xfrm>
          <a:prstGeom prst="roundRect">
            <a:avLst>
              <a:gd name="adj" fmla="val 19048"/>
            </a:avLst>
          </a:prstGeom>
          <a:solidFill>
            <a:srgbClr val="F4F7F5"/>
          </a:solidFill>
          <a:ln w="9525">
            <a:solidFill>
              <a:srgbClr val="D5DED9"/>
            </a:solidFill>
            <a:prstDash val="solid"/>
          </a:ln>
        </p:spPr>
      </p:sp>
      <p:sp>
        <p:nvSpPr>
          <p:cNvPr id="33" name="Shape 31"/>
          <p:cNvSpPr/>
          <p:nvPr/>
        </p:nvSpPr>
        <p:spPr>
          <a:xfrm>
            <a:off x="585216" y="3236976"/>
            <a:ext cx="128016" cy="128016"/>
          </a:xfrm>
          <a:prstGeom prst="ellipse">
            <a:avLst/>
          </a:prstGeom>
          <a:solidFill>
            <a:srgbClr val="B83B2E"/>
          </a:solidFill>
          <a:ln/>
        </p:spPr>
      </p:sp>
      <p:sp>
        <p:nvSpPr>
          <p:cNvPr id="34" name="Text 32"/>
          <p:cNvSpPr txBox="1"/>
          <p:nvPr/>
        </p:nvSpPr>
        <p:spPr>
          <a:xfrm>
            <a:off x="777240" y="3108960"/>
            <a:ext cx="2240280" cy="384048"/>
          </a:xfrm>
          <a:prstGeom prst="rect">
            <a:avLst/>
          </a:prstGeom>
          <a:noFill/>
          <a:ln/>
        </p:spPr>
        <p:txBody>
          <a:bodyPr wrap="square" lIns="0" tIns="0" rIns="0" bIns="0" rtlCol="0" anchor="ctr"/>
          <a:lstStyle/>
          <a:p>
            <a:pPr marL="0" indent="0" algn="l">
              <a:lnSpc>
                <a:spcPct val="100000"/>
              </a:lnSpc>
              <a:buNone/>
            </a:pPr>
            <a:r>
              <a:rPr lang="en-US" sz="1000" b="1" dirty="0">
                <a:solidFill>
                  <a:srgbClr val="231F20"/>
                </a:solidFill>
                <a:latin typeface="Calibri" pitchFamily="34" charset="0"/>
                <a:ea typeface="Calibri" pitchFamily="34" charset="-122"/>
                <a:cs typeface="Calibri" pitchFamily="34" charset="-120"/>
              </a:rPr>
              <a:t>Rien ne change après l'installation</a:t>
            </a:r>
            <a:endParaRPr lang="en-US" sz="1000" dirty="0"/>
          </a:p>
        </p:txBody>
      </p:sp>
      <p:sp>
        <p:nvSpPr>
          <p:cNvPr id="35" name="Text 33"/>
          <p:cNvSpPr txBox="1"/>
          <p:nvPr/>
        </p:nvSpPr>
        <p:spPr>
          <a:xfrm>
            <a:off x="3154680" y="3108960"/>
            <a:ext cx="2606040" cy="384048"/>
          </a:xfrm>
          <a:prstGeom prst="rect">
            <a:avLst/>
          </a:prstGeom>
          <a:noFill/>
          <a:ln/>
        </p:spPr>
        <p:txBody>
          <a:bodyPr wrap="square" lIns="0" tIns="0" rIns="0" bIns="0" rtlCol="0" anchor="ctr"/>
          <a:lstStyle/>
          <a:p>
            <a:pPr marL="0" indent="0" algn="l">
              <a:lnSpc>
                <a:spcPct val="100000"/>
              </a:lnSpc>
              <a:buNone/>
            </a:pPr>
            <a:r>
              <a:rPr lang="en-US" sz="1000" dirty="0">
                <a:solidFill>
                  <a:srgbClr val="5E6964"/>
                </a:solidFill>
                <a:latin typeface="Calibri" pitchFamily="34" charset="0"/>
                <a:ea typeface="Calibri" pitchFamily="34" charset="-122"/>
                <a:cs typeface="Calibri" pitchFamily="34" charset="-120"/>
              </a:rPr>
              <a:t>Le terminal ouvert ne connaît pas les logiciels installés depuis</a:t>
            </a:r>
            <a:endParaRPr lang="en-US" sz="1000" dirty="0"/>
          </a:p>
        </p:txBody>
      </p:sp>
      <p:sp>
        <p:nvSpPr>
          <p:cNvPr id="36" name="Text 34"/>
          <p:cNvSpPr txBox="1"/>
          <p:nvPr/>
        </p:nvSpPr>
        <p:spPr>
          <a:xfrm>
            <a:off x="5897880" y="3108960"/>
            <a:ext cx="2697480" cy="384048"/>
          </a:xfrm>
          <a:prstGeom prst="rect">
            <a:avLst/>
          </a:prstGeom>
          <a:noFill/>
          <a:ln/>
        </p:spPr>
        <p:txBody>
          <a:bodyPr wrap="square" lIns="0" tIns="0" rIns="0" bIns="0" rtlCol="0" anchor="ctr"/>
          <a:lstStyle/>
          <a:p>
            <a:pPr marL="0" indent="0" algn="l">
              <a:lnSpc>
                <a:spcPct val="100000"/>
              </a:lnSpc>
              <a:buNone/>
            </a:pPr>
            <a:r>
              <a:rPr lang="en-US" sz="1000" dirty="0">
                <a:solidFill>
                  <a:srgbClr val="231F20"/>
                </a:solidFill>
                <a:latin typeface="Calibri" pitchFamily="34" charset="0"/>
                <a:ea typeface="Calibri" pitchFamily="34" charset="-122"/>
                <a:cs typeface="Calibri" pitchFamily="34" charset="-120"/>
              </a:rPr>
              <a:t>Fermez-le et rouvrez-en un neuf</a:t>
            </a:r>
            <a:endParaRPr lang="en-US" sz="1000" dirty="0"/>
          </a:p>
        </p:txBody>
      </p:sp>
      <p:sp>
        <p:nvSpPr>
          <p:cNvPr id="37" name="Shape 35"/>
          <p:cNvSpPr/>
          <p:nvPr/>
        </p:nvSpPr>
        <p:spPr>
          <a:xfrm>
            <a:off x="457200" y="3639312"/>
            <a:ext cx="8229600" cy="731520"/>
          </a:xfrm>
          <a:prstGeom prst="roundRect">
            <a:avLst>
              <a:gd name="adj" fmla="val 10000"/>
            </a:avLst>
          </a:prstGeom>
          <a:solidFill>
            <a:srgbClr val="E8F5EF"/>
          </a:solidFill>
          <a:ln w="15875">
            <a:solidFill>
              <a:srgbClr val="00A86A"/>
            </a:solidFill>
            <a:prstDash val="solid"/>
          </a:ln>
        </p:spPr>
      </p:sp>
      <p:sp>
        <p:nvSpPr>
          <p:cNvPr id="38" name="Shape 36"/>
          <p:cNvSpPr/>
          <p:nvPr/>
        </p:nvSpPr>
        <p:spPr>
          <a:xfrm>
            <a:off x="640080" y="3767328"/>
            <a:ext cx="475488" cy="475488"/>
          </a:xfrm>
          <a:prstGeom prst="ellipse">
            <a:avLst/>
          </a:prstGeom>
          <a:solidFill>
            <a:srgbClr val="00A86A">
              <a:alpha val="22000"/>
            </a:srgbClr>
          </a:solidFill>
          <a:ln/>
        </p:spPr>
      </p:sp>
      <p:pic>
        <p:nvPicPr>
          <p:cNvPr id="39" name="Image 0" descr="preencoded.png"/>
          <p:cNvPicPr>
            <a:picLocks noChangeAspect="1"/>
          </p:cNvPicPr>
          <p:nvPr/>
        </p:nvPicPr>
        <p:blipFill>
          <a:blip r:embed="rId3"/>
          <a:stretch>
            <a:fillRect/>
          </a:stretch>
        </p:blipFill>
        <p:spPr>
          <a:xfrm>
            <a:off x="758952" y="3886200"/>
            <a:ext cx="237744" cy="237744"/>
          </a:xfrm>
          <a:prstGeom prst="rect">
            <a:avLst/>
          </a:prstGeom>
        </p:spPr>
      </p:pic>
      <p:sp>
        <p:nvSpPr>
          <p:cNvPr id="40" name="Text 37"/>
          <p:cNvSpPr txBox="1"/>
          <p:nvPr/>
        </p:nvSpPr>
        <p:spPr>
          <a:xfrm>
            <a:off x="1280160" y="3639312"/>
            <a:ext cx="7269480" cy="731520"/>
          </a:xfrm>
          <a:prstGeom prst="rect">
            <a:avLst/>
          </a:prstGeom>
          <a:noFill/>
          <a:ln/>
        </p:spPr>
        <p:txBody>
          <a:bodyPr wrap="square" lIns="0" tIns="0" rIns="0" bIns="0" rtlCol="0" anchor="ctr"/>
          <a:lstStyle/>
          <a:p>
            <a:pPr marL="0" indent="0" algn="l">
              <a:lnSpc>
                <a:spcPct val="100000"/>
              </a:lnSpc>
              <a:buNone/>
            </a:pPr>
            <a:r>
              <a:rPr lang="en-US" sz="1150" dirty="0">
                <a:solidFill>
                  <a:srgbClr val="231F20"/>
                </a:solidFill>
                <a:latin typeface="Calibri" pitchFamily="34" charset="0"/>
                <a:ea typeface="Calibri" pitchFamily="34" charset="-122"/>
                <a:cs typeface="Calibri" pitchFamily="34" charset="-120"/>
              </a:rPr>
              <a:t>Quatre de ces cinq pannes ont la même racine : </a:t>
            </a:r>
            <a:r>
              <a:rPr lang="en-US" sz="1150" b="1" dirty="0">
                <a:solidFill>
                  <a:srgbClr val="231F20"/>
                </a:solidFill>
                <a:latin typeface="Calibri" pitchFamily="34" charset="0"/>
                <a:ea typeface="Calibri" pitchFamily="34" charset="-122"/>
                <a:cs typeface="Calibri" pitchFamily="34" charset="-120"/>
              </a:rPr>
              <a:t>le système ne sait pas où trouver Python</a:t>
            </a:r>
            <a:r>
              <a:rPr lang="en-US" sz="1150" dirty="0">
                <a:solidFill>
                  <a:srgbClr val="231F20"/>
                </a:solidFill>
                <a:latin typeface="Calibri" pitchFamily="34" charset="0"/>
                <a:ea typeface="Calibri" pitchFamily="34" charset="-122"/>
                <a:cs typeface="Calibri" pitchFamily="34" charset="-120"/>
              </a:rPr>
              <a:t>. Aucune ne vient d'une installation ratée — c'est pourquoi réinstaller ne les résout pas.</a:t>
            </a:r>
            <a:endParaRPr lang="en-US" sz="1150" dirty="0"/>
          </a:p>
        </p:txBody>
      </p:sp>
      <p:sp>
        <p:nvSpPr>
          <p:cNvPr id="41" name="Text 38"/>
          <p:cNvSpPr txBox="1"/>
          <p:nvPr/>
        </p:nvSpPr>
        <p:spPr>
          <a:xfrm>
            <a:off x="457200" y="4480560"/>
            <a:ext cx="8229600" cy="219456"/>
          </a:xfrm>
          <a:prstGeom prst="rect">
            <a:avLst/>
          </a:prstGeom>
          <a:noFill/>
          <a:ln/>
        </p:spPr>
        <p:txBody>
          <a:bodyPr wrap="square" lIns="0" tIns="0" rIns="0" bIns="0" rtlCol="0" anchor="t"/>
          <a:lstStyle/>
          <a:p>
            <a:pPr marL="0" indent="0" algn="l">
              <a:lnSpc>
                <a:spcPct val="100000"/>
              </a:lnSpc>
              <a:buNone/>
            </a:pPr>
            <a:r>
              <a:rPr lang="en-US" sz="900" i="1" dirty="0">
                <a:solidFill>
                  <a:srgbClr val="5E6964"/>
                </a:solidFill>
                <a:latin typeface="Calibri" pitchFamily="34" charset="0"/>
                <a:ea typeface="Calibri" pitchFamily="34" charset="-122"/>
                <a:cs typeface="Calibri" pitchFamily="34" charset="-120"/>
              </a:rPr>
              <a:t>Toutes ont été rencontrées sur des postes réels, aucune n'est théorique.</a:t>
            </a:r>
            <a:endParaRPr lang="en-US" sz="900" dirty="0"/>
          </a:p>
        </p:txBody>
      </p:sp>
      <p:sp>
        <p:nvSpPr>
          <p:cNvPr id="42" name="Slide Number Placeholder 0"/>
          <p:cNvSpPr>
            <a:spLocks noGrp="1"/>
          </p:cNvSpPr>
          <p:nvPr>
            <p:ph type="sldNum" sz="quarter" idx="4294967295"/>
          </p:nvPr>
        </p:nvSpPr>
        <p:spPr>
          <a:xfrm>
            <a:off x="8229600" y="4800600"/>
            <a:ext cx="457200" cy="201168"/>
          </a:xfrm>
          <a:prstGeom prst="rect">
            <a:avLst/>
          </a:prstGeom>
          <a:extLst>
            <a:ext uri="{C572A759-6A51-4108-AA02-DFA0A04FC94B}">
              <ma14:wrappingTextBoxFlag xmlns:ma14="http://schemas.microsoft.com/office/mac/drawingml/2011/main" xmlns="" val="0"/>
            </a:ext>
          </a:extLst>
        </p:spPr>
        <p:txBody>
          <a:bodyPr lIns="0" tIns="0" rIns="0" bIns="0"/>
          <a:lstStyle>
            <a:lvl1pPr>
              <a:defRPr sz="850">
                <a:solidFill>
                  <a:srgbClr val="8A9590"/>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457200"/>
            <a:ext cx="5486400" cy="237744"/>
          </a:xfrm>
          <a:prstGeom prst="rect">
            <a:avLst/>
          </a:prstGeom>
          <a:noFill/>
          <a:ln/>
        </p:spPr>
        <p:txBody>
          <a:bodyPr wrap="square" lIns="0" tIns="0" rIns="0" bIns="0" rtlCol="0" anchor="t"/>
          <a:lstStyle/>
          <a:p>
            <a:pPr marL="0" indent="0" algn="l">
              <a:lnSpc>
                <a:spcPct val="100000"/>
              </a:lnSpc>
              <a:buNone/>
            </a:pPr>
            <a:r>
              <a:rPr lang="en-US" sz="1100" b="1" kern="0" spc="300" dirty="0">
                <a:solidFill>
                  <a:srgbClr val="F5C242"/>
                </a:solidFill>
                <a:latin typeface="Calibri" pitchFamily="34" charset="0"/>
                <a:ea typeface="Calibri" pitchFamily="34" charset="-122"/>
                <a:cs typeface="Calibri" pitchFamily="34" charset="-120"/>
              </a:rPr>
              <a:t>VOUS Y ÊTES</a:t>
            </a:r>
            <a:endParaRPr lang="en-US" sz="1100" dirty="0"/>
          </a:p>
        </p:txBody>
      </p:sp>
      <p:sp>
        <p:nvSpPr>
          <p:cNvPr id="3" name="Text 1"/>
          <p:cNvSpPr txBox="1"/>
          <p:nvPr/>
        </p:nvSpPr>
        <p:spPr>
          <a:xfrm>
            <a:off x="548640" y="731520"/>
            <a:ext cx="8046720" cy="594360"/>
          </a:xfrm>
          <a:prstGeom prst="rect">
            <a:avLst/>
          </a:prstGeom>
          <a:noFill/>
          <a:ln/>
        </p:spPr>
        <p:txBody>
          <a:bodyPr wrap="square" lIns="0" tIns="0" rIns="0" bIns="0" rtlCol="0" anchor="t"/>
          <a:lstStyle/>
          <a:p>
            <a:pPr marL="0" indent="0" algn="l">
              <a:lnSpc>
                <a:spcPct val="100000"/>
              </a:lnSpc>
              <a:buNone/>
            </a:pPr>
            <a:r>
              <a:rPr lang="en-US" sz="3400" b="1" dirty="0">
                <a:solidFill>
                  <a:srgbClr val="FFFFFF"/>
                </a:solidFill>
                <a:latin typeface="Calibri" pitchFamily="34" charset="0"/>
                <a:ea typeface="Calibri" pitchFamily="34" charset="-122"/>
                <a:cs typeface="Calibri" pitchFamily="34" charset="-120"/>
              </a:rPr>
              <a:t>Ce que vous avez, et ce qui suit</a:t>
            </a:r>
            <a:endParaRPr lang="en-US" sz="3400" dirty="0"/>
          </a:p>
        </p:txBody>
      </p:sp>
      <p:sp>
        <p:nvSpPr>
          <p:cNvPr id="4" name="Text 2"/>
          <p:cNvSpPr txBox="1"/>
          <p:nvPr/>
        </p:nvSpPr>
        <p:spPr>
          <a:xfrm>
            <a:off x="548640" y="1645920"/>
            <a:ext cx="3657600" cy="219456"/>
          </a:xfrm>
          <a:prstGeom prst="rect">
            <a:avLst/>
          </a:prstGeom>
          <a:noFill/>
          <a:ln/>
        </p:spPr>
        <p:txBody>
          <a:bodyPr wrap="square" lIns="0" tIns="0" rIns="0" bIns="0" rtlCol="0" anchor="t"/>
          <a:lstStyle/>
          <a:p>
            <a:pPr marL="0" indent="0" algn="l">
              <a:lnSpc>
                <a:spcPct val="100000"/>
              </a:lnSpc>
              <a:buNone/>
            </a:pPr>
            <a:r>
              <a:rPr lang="en-US" sz="1050" b="1" kern="0" spc="200" dirty="0">
                <a:solidFill>
                  <a:srgbClr val="F5C242"/>
                </a:solidFill>
                <a:latin typeface="Calibri" pitchFamily="34" charset="0"/>
                <a:ea typeface="Calibri" pitchFamily="34" charset="-122"/>
                <a:cs typeface="Calibri" pitchFamily="34" charset="-120"/>
              </a:rPr>
              <a:t>À CE STADE</a:t>
            </a:r>
            <a:endParaRPr lang="en-US" sz="1050" dirty="0"/>
          </a:p>
        </p:txBody>
      </p:sp>
      <p:sp>
        <p:nvSpPr>
          <p:cNvPr id="5" name="Shape 3"/>
          <p:cNvSpPr/>
          <p:nvPr/>
        </p:nvSpPr>
        <p:spPr>
          <a:xfrm>
            <a:off x="548640" y="2011680"/>
            <a:ext cx="384048" cy="384048"/>
          </a:xfrm>
          <a:prstGeom prst="ellipse">
            <a:avLst/>
          </a:prstGeom>
          <a:solidFill>
            <a:srgbClr val="FFFFFF">
              <a:alpha val="15000"/>
            </a:srgbClr>
          </a:solidFill>
          <a:ln/>
        </p:spPr>
      </p:sp>
      <p:pic>
        <p:nvPicPr>
          <p:cNvPr id="6" name="Image 0" descr="preencoded.png"/>
          <p:cNvPicPr>
            <a:picLocks noChangeAspect="1"/>
          </p:cNvPicPr>
          <p:nvPr/>
        </p:nvPicPr>
        <p:blipFill>
          <a:blip r:embed="rId3"/>
          <a:stretch>
            <a:fillRect/>
          </a:stretch>
        </p:blipFill>
        <p:spPr>
          <a:xfrm>
            <a:off x="644652" y="2107692"/>
            <a:ext cx="192024" cy="192024"/>
          </a:xfrm>
          <a:prstGeom prst="rect">
            <a:avLst/>
          </a:prstGeom>
        </p:spPr>
      </p:pic>
      <p:sp>
        <p:nvSpPr>
          <p:cNvPr id="7" name="Text 4"/>
          <p:cNvSpPr txBox="1"/>
          <p:nvPr/>
        </p:nvSpPr>
        <p:spPr>
          <a:xfrm>
            <a:off x="1097280" y="2011680"/>
            <a:ext cx="3383280" cy="384048"/>
          </a:xfrm>
          <a:prstGeom prst="rect">
            <a:avLst/>
          </a:prstGeom>
          <a:noFill/>
          <a:ln/>
        </p:spPr>
        <p:txBody>
          <a:bodyPr wrap="square" lIns="0" tIns="0" rIns="0" bIns="0" rtlCol="0" anchor="ctr"/>
          <a:lstStyle/>
          <a:p>
            <a:pPr marL="0" indent="0" algn="l">
              <a:lnSpc>
                <a:spcPct val="100000"/>
              </a:lnSpc>
              <a:buNone/>
            </a:pPr>
            <a:r>
              <a:rPr lang="en-US" sz="1300" dirty="0">
                <a:solidFill>
                  <a:srgbClr val="FFFFFF"/>
                </a:solidFill>
                <a:latin typeface="Calibri" pitchFamily="34" charset="0"/>
                <a:ea typeface="Calibri" pitchFamily="34" charset="-122"/>
                <a:cs typeface="Calibri" pitchFamily="34" charset="-120"/>
              </a:rPr>
              <a:t>Python répond à </a:t>
            </a:r>
            <a:r>
              <a:rPr lang="en-US" sz="1300" b="1" dirty="0">
                <a:solidFill>
                  <a:srgbClr val="F5C242"/>
                </a:solidFill>
                <a:latin typeface="Courier New" pitchFamily="34" charset="0"/>
                <a:ea typeface="Courier New" pitchFamily="34" charset="-122"/>
                <a:cs typeface="Courier New" pitchFamily="34" charset="-120"/>
              </a:rPr>
              <a:t>python --version</a:t>
            </a:r>
            <a:endParaRPr lang="en-US" sz="1300" dirty="0"/>
          </a:p>
        </p:txBody>
      </p:sp>
      <p:sp>
        <p:nvSpPr>
          <p:cNvPr id="8" name="Shape 5"/>
          <p:cNvSpPr/>
          <p:nvPr/>
        </p:nvSpPr>
        <p:spPr>
          <a:xfrm>
            <a:off x="548640" y="2578608"/>
            <a:ext cx="384048" cy="384048"/>
          </a:xfrm>
          <a:prstGeom prst="ellipse">
            <a:avLst/>
          </a:prstGeom>
          <a:solidFill>
            <a:srgbClr val="FFFFFF">
              <a:alpha val="15000"/>
            </a:srgbClr>
          </a:solidFill>
          <a:ln/>
        </p:spPr>
      </p:sp>
      <p:pic>
        <p:nvPicPr>
          <p:cNvPr id="9" name="Image 1" descr="preencoded.png"/>
          <p:cNvPicPr>
            <a:picLocks noChangeAspect="1"/>
          </p:cNvPicPr>
          <p:nvPr/>
        </p:nvPicPr>
        <p:blipFill>
          <a:blip r:embed="rId3"/>
          <a:stretch>
            <a:fillRect/>
          </a:stretch>
        </p:blipFill>
        <p:spPr>
          <a:xfrm>
            <a:off x="644652" y="2674620"/>
            <a:ext cx="192024" cy="192024"/>
          </a:xfrm>
          <a:prstGeom prst="rect">
            <a:avLst/>
          </a:prstGeom>
        </p:spPr>
      </p:pic>
      <p:sp>
        <p:nvSpPr>
          <p:cNvPr id="10" name="Text 6"/>
          <p:cNvSpPr txBox="1"/>
          <p:nvPr/>
        </p:nvSpPr>
        <p:spPr>
          <a:xfrm>
            <a:off x="1097280" y="2578608"/>
            <a:ext cx="3383280" cy="384048"/>
          </a:xfrm>
          <a:prstGeom prst="rect">
            <a:avLst/>
          </a:prstGeom>
          <a:noFill/>
          <a:ln/>
        </p:spPr>
        <p:txBody>
          <a:bodyPr wrap="square" lIns="0" tIns="0" rIns="0" bIns="0" rtlCol="0" anchor="ctr"/>
          <a:lstStyle/>
          <a:p>
            <a:pPr marL="0" indent="0" algn="l">
              <a:lnSpc>
                <a:spcPct val="100000"/>
              </a:lnSpc>
              <a:buNone/>
            </a:pPr>
            <a:r>
              <a:rPr lang="en-US" sz="1300" dirty="0">
                <a:solidFill>
                  <a:srgbClr val="FFFFFF"/>
                </a:solidFill>
                <a:latin typeface="Calibri" pitchFamily="34" charset="0"/>
                <a:ea typeface="Calibri" pitchFamily="34" charset="-122"/>
                <a:cs typeface="Calibri" pitchFamily="34" charset="-120"/>
              </a:rPr>
              <a:t>JupyterLab s'ouvre dans votre navigateur</a:t>
            </a:r>
            <a:endParaRPr lang="en-US" sz="1300" dirty="0"/>
          </a:p>
        </p:txBody>
      </p:sp>
      <p:sp>
        <p:nvSpPr>
          <p:cNvPr id="11" name="Shape 7"/>
          <p:cNvSpPr/>
          <p:nvPr/>
        </p:nvSpPr>
        <p:spPr>
          <a:xfrm>
            <a:off x="548640" y="3145536"/>
            <a:ext cx="384048" cy="384048"/>
          </a:xfrm>
          <a:prstGeom prst="ellipse">
            <a:avLst/>
          </a:prstGeom>
          <a:solidFill>
            <a:srgbClr val="FFFFFF">
              <a:alpha val="15000"/>
            </a:srgbClr>
          </a:solidFill>
          <a:ln/>
        </p:spPr>
      </p:sp>
      <p:pic>
        <p:nvPicPr>
          <p:cNvPr id="12" name="Image 2" descr="preencoded.png"/>
          <p:cNvPicPr>
            <a:picLocks noChangeAspect="1"/>
          </p:cNvPicPr>
          <p:nvPr/>
        </p:nvPicPr>
        <p:blipFill>
          <a:blip r:embed="rId3"/>
          <a:stretch>
            <a:fillRect/>
          </a:stretch>
        </p:blipFill>
        <p:spPr>
          <a:xfrm>
            <a:off x="644652" y="3241548"/>
            <a:ext cx="192024" cy="192024"/>
          </a:xfrm>
          <a:prstGeom prst="rect">
            <a:avLst/>
          </a:prstGeom>
        </p:spPr>
      </p:pic>
      <p:sp>
        <p:nvSpPr>
          <p:cNvPr id="13" name="Text 8"/>
          <p:cNvSpPr txBox="1"/>
          <p:nvPr/>
        </p:nvSpPr>
        <p:spPr>
          <a:xfrm>
            <a:off x="1097280" y="3145536"/>
            <a:ext cx="3383280" cy="384048"/>
          </a:xfrm>
          <a:prstGeom prst="rect">
            <a:avLst/>
          </a:prstGeom>
          <a:noFill/>
          <a:ln/>
        </p:spPr>
        <p:txBody>
          <a:bodyPr wrap="square" lIns="0" tIns="0" rIns="0" bIns="0" rtlCol="0" anchor="ctr"/>
          <a:lstStyle/>
          <a:p>
            <a:pPr marL="0" indent="0" algn="l">
              <a:lnSpc>
                <a:spcPct val="100000"/>
              </a:lnSpc>
              <a:buNone/>
            </a:pPr>
            <a:r>
              <a:rPr lang="en-US" sz="1300" dirty="0">
                <a:solidFill>
                  <a:srgbClr val="FFFFFF"/>
                </a:solidFill>
                <a:latin typeface="Calibri" pitchFamily="34" charset="0"/>
                <a:ea typeface="Calibri" pitchFamily="34" charset="-122"/>
                <a:cs typeface="Calibri" pitchFamily="34" charset="-120"/>
              </a:rPr>
              <a:t>Vous savez exécuter une cellule : </a:t>
            </a:r>
            <a:r>
              <a:rPr lang="en-US" sz="1300" b="1" dirty="0">
                <a:solidFill>
                  <a:srgbClr val="FFFFFF"/>
                </a:solidFill>
                <a:latin typeface="Calibri" pitchFamily="34" charset="0"/>
                <a:ea typeface="Calibri" pitchFamily="34" charset="-122"/>
                <a:cs typeface="Calibri" pitchFamily="34" charset="-120"/>
              </a:rPr>
              <a:t>Maj + Entrée</a:t>
            </a:r>
            <a:endParaRPr lang="en-US" sz="1300" dirty="0"/>
          </a:p>
        </p:txBody>
      </p:sp>
      <p:sp>
        <p:nvSpPr>
          <p:cNvPr id="20" name="Text 15"/>
          <p:cNvSpPr txBox="1"/>
          <p:nvPr/>
        </p:nvSpPr>
        <p:spPr>
          <a:xfrm>
            <a:off x="548640" y="4572000"/>
            <a:ext cx="8046720" cy="219456"/>
          </a:xfrm>
          <a:prstGeom prst="rect">
            <a:avLst/>
          </a:prstGeom>
          <a:noFill/>
          <a:ln/>
        </p:spPr>
        <p:txBody>
          <a:bodyPr wrap="square" lIns="0" tIns="0" rIns="0" bIns="0" rtlCol="0" anchor="t"/>
          <a:lstStyle/>
          <a:p>
            <a:pPr marL="0" indent="0" algn="l">
              <a:lnSpc>
                <a:spcPct val="100000"/>
              </a:lnSpc>
              <a:buNone/>
            </a:pPr>
            <a:r>
              <a:rPr lang="en-US" sz="900" i="1" dirty="0">
                <a:solidFill>
                  <a:srgbClr val="E6F6EE"/>
                </a:solidFill>
                <a:latin typeface="Calibri" pitchFamily="34" charset="0"/>
                <a:ea typeface="Calibri" pitchFamily="34" charset="-122"/>
                <a:cs typeface="Calibri" pitchFamily="34" charset="-120"/>
              </a:rPr>
              <a:t>Les carnets de collecte tournent sur votre propre poste · le carnet d'analyse tourne partout</a:t>
            </a:r>
            <a:endParaRPr lang="en-US" sz="900" dirty="0"/>
          </a:p>
        </p:txBody>
      </p:sp>
    </p:spTree>
  </p:cSld>
  <p:clrMapOvr>
    <a:masterClrMapping/>
  </p:clrMapOvr>
  <p:transition spd="med">
    <p:fade/>
  </p:transition>
</p:sld>
</file>

<file path=ppt/theme/theme1.xml><?xml version="1.0" encoding="utf-8"?>
<a:theme xmlns:a="http://schemas.openxmlformats.org/drawingml/2006/main" name="Institutional Green">
  <a:themeElements>
    <a:clrScheme name="Institutional Green">
      <a:dk1>
        <a:srgbClr val="231F20"/>
      </a:dk1>
      <a:lt1>
        <a:srgbClr val="FFFFFF"/>
      </a:lt1>
      <a:dk2>
        <a:srgbClr val="00704A"/>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5E6964"/>
      </a:folHlink>
    </a:clrScheme>
    <a:fontScheme name="Institutional Gree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2591</Words>
  <Application>Microsoft Office PowerPoint</Application>
  <PresentationFormat>On-screen Show (16:9)</PresentationFormat>
  <Paragraphs>221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Courier New</vt:lpstr>
      <vt:lpstr>Institutional Green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Installer Python et JupyterLab</dc:title>
  <dc:subject>PptxGenJS Presentation</dc:subject>
  <dc:creator>HadjTaieb</dc:creator>
  <cp:lastModifiedBy>HAJ TAIEB mohamed ali</cp:lastModifiedBy>
  <cp:revision>3</cp:revision>
  <dcterms:created xsi:type="dcterms:W3CDTF">2026-10-18T17:42:27Z</dcterms:created>
  <dcterms:modified xsi:type="dcterms:W3CDTF">2026-10-18T17:58:01Z</dcterms:modified>
</cp:coreProperties>
</file>