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58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5549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for someone who has never installed Python. That is why it moves the way it does: one idea per slide, and every command shown exactly as you type it.
The cover message should land right away: there are only two things to install. The thirty or so libraries the project needs install themselves when the first notebook is opened. Nobody needs to know the list.
Fifteen minutes is an honest estimate on a decent connection: the Python download is about thirty megabytes, JupyterLab a little more.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in the order you do them. Each step's colour reappears in the progress dots at the top right of every slide.
The only ordering rule in the whole path: Python first, then JupyterLab, since JupyterLab is installed through Python.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picture to keep in mind: Python computes, JupyterLab shows. For our purposes, neither is any use without the other.
The arrow between the two cards is not decoration: it gives the order. JupyterLab is installed through Python, so Python comes first. That is the only ordering rule in the whole deck.
The bottom banner answers the question that always comes up: "what about all the libraries?". Each notebook carries its own list and installs whatever is missing in its second cell.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point is the only one that can stop someone for good, which is why it is highlighted.
On many work computers, users are not allowed to install software. There is a workaround — Python can be installed "for the current user" without admin rights — but if IT policy blocks it, you need to know before you start, not halfway through.
Say it out loud: anyone who is unsure can try the command on the next slide right now.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Checking first avoids a needless install — and a needless install is a chance to break something that was working.
The last row of the table is the most common trap on Windows 10 and 11. The system ships a fake "python.exe" that opens the Microsoft Store instead of running Python. Anyone who sees the Store open thinks they made a mistake: tell them this is the system's default behaviour, and that it goes away once the real Python is installed.
The "3" in python3 on macOS: older macOS versions shipped Python 2 under the name "python". Typing python without the 3 can therefore give a reassuring but wrong answer.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is only one thing to remember from this deck, it is this box.
It is unticked by default, in small print, at the bottom of the first window — and it is what registers Python with the system. Without it the install succeeds, but no command works afterwards: the terminal says python is not recognized, and the user concludes the install failed when it actually worked.
Show it on screen if you are projecting. And repeat the fix: run the installer again, choose "Modify", tick the box. There is no need to uninstall.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specific point, both systems are simpler than Windows: there is no box to tick, and the install itself registers the command with the system.
The python3.12-venv package on Debian and Ubuntu is worth flagging: it is separate from the main package, and its absence only shows up much later, when you create an isolated environment. The error message at that point does not name the missing package.
If nobody in the audience uses macOS or Linux, this slide takes ten seconds.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advice to reopen the terminal prevents a very common false failure. Environment variables — including PATH — are read when the terminal starts. One that stayed open during the install will not see Python, and its user will think the install failed.
The py -0p command is useful on machines that have received several Pythons — including Anaconda's. It lists them with their paths, and an asterisk marks the one that answers by default.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difference between pip and python -m pip looks like hair-splitting, yet it solves a very real failure — on machines where Anaconda lives alongside a Python from python.org.
With plain pip, you sometimes install into one interpreter and then launch the other: the package is installed, yet cannot be found. With python -m pip, they are the same one by construction.
Warning people that the output is long stops them from interrupting the install because they think it is stuck.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beginners learn the hard way.
The terminal must stay open: JupyterLab is not an application in the usual sense, it is a small server running in that terminal which the browser talks to. Closing the terminal cuts everything off, even in the middle of a data collection.
Shift + Enter runs the cell and moves to the next one. Ctrl + Enter runs it without moving on. Both are useful; the first is enough for notebooks that read top to bottom.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 banner is the useful message on this slide. A beginner's reflex when hitting one of these problems is to uninstall and start over — which changes nothing, because the install was never the issue.
"Nothing changes" is the most frustrating problem and the easiest to fix: just close the terminal. Say so before someone spends ten minutes on it.
If a problem persists, it is not a blocker: the analysis notebook runs on Google Colab with nothing to install.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Ending on the safety net is deliberate: nobody should leave thinking that a failed install shuts them out of the work.
The analysis notebook is the one that carries the statistical method — classification, index formulas, weights, the report. It is the most interesting one for a statistician, and it is precisely the one that needs nothing installed.
The collection notebooks, on the other hand, must run from your own machine: they query online shops, and from a data centre a refusal cannot be interpreted.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solidFill>
          <a:srgbClr val="00553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5033772"/>
            <a:ext cx="9144000" cy="109728"/>
          </a:xfrm>
          <a:prstGeom prst="rect">
            <a:avLst/>
          </a:prstGeom>
          <a:solidFill>
            <a:srgbClr val="F5C24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Text 2"/>
          <p:cNvSpPr/>
          <p:nvPr/>
        </p:nvSpPr>
        <p:spPr>
          <a:xfrm>
            <a:off x="457200" y="4800600"/>
            <a:ext cx="5486400" cy="201168"/>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Installing Python and JupyterLab</a:t>
            </a:r>
            <a:endParaRPr lang="en-US" sz="850" dirty="0"/>
          </a:p>
        </p:txBody>
      </p:sp>
      <p:sp>
        <p:nvSpPr>
          <p:cNvPr id="25"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777240"/>
            <a:ext cx="5120640" cy="237744"/>
          </a:xfrm>
          <a:prstGeom prst="rect">
            <a:avLst/>
          </a:prstGeom>
          <a:noFill/>
          <a:ln/>
        </p:spPr>
        <p:txBody>
          <a:bodyPr wrap="square" lIns="0" tIns="0" rIns="0" bIns="0" rtlCol="0" anchor="t"/>
          <a:lstStyle/>
          <a:p>
            <a:pPr marL="0" indent="0" algn="l">
              <a:lnSpc>
                <a:spcPct val="100000"/>
              </a:lnSpc>
              <a:buNone/>
            </a:pPr>
            <a:r>
              <a:rPr lang="en-US" sz="1100" b="1" kern="0" spc="300" dirty="0">
                <a:solidFill>
                  <a:srgbClr val="F5C242"/>
                </a:solidFill>
                <a:latin typeface="Calibri" pitchFamily="34" charset="0"/>
                <a:ea typeface="Calibri" pitchFamily="34" charset="-122"/>
                <a:cs typeface="Calibri" pitchFamily="34" charset="-120"/>
              </a:rPr>
              <a:t>PRACTICAL GUIDE · STEP BY STEP</a:t>
            </a:r>
            <a:endParaRPr lang="en-US" sz="1100" dirty="0"/>
          </a:p>
        </p:txBody>
      </p:sp>
      <p:sp>
        <p:nvSpPr>
          <p:cNvPr id="3" name="Text 1"/>
          <p:cNvSpPr txBox="1"/>
          <p:nvPr/>
        </p:nvSpPr>
        <p:spPr>
          <a:xfrm>
            <a:off x="548640" y="1097280"/>
            <a:ext cx="5303520" cy="1508760"/>
          </a:xfrm>
          <a:prstGeom prst="rect">
            <a:avLst/>
          </a:prstGeom>
          <a:noFill/>
          <a:ln/>
        </p:spPr>
        <p:txBody>
          <a:bodyPr wrap="square" lIns="0" tIns="0" rIns="0" bIns="0" rtlCol="0" anchor="t"/>
          <a:lstStyle/>
          <a:p>
            <a:pPr marL="0" indent="0" algn="l">
              <a:lnSpc>
                <a:spcPct val="95000"/>
              </a:lnSpc>
              <a:buNone/>
            </a:pPr>
            <a:r>
              <a:rPr lang="en-US" sz="4400" b="1" dirty="0">
                <a:solidFill>
                  <a:srgbClr val="FFFFFF"/>
                </a:solidFill>
                <a:latin typeface="Calibri" pitchFamily="34" charset="0"/>
                <a:ea typeface="Calibri" pitchFamily="34" charset="-122"/>
                <a:cs typeface="Calibri" pitchFamily="34" charset="-120"/>
              </a:rPr>
              <a:t>Installing Python</a:t>
            </a:r>
            <a:endParaRPr lang="en-US" sz="4400" dirty="0"/>
          </a:p>
          <a:p>
            <a:pPr marL="0" indent="0" algn="l">
              <a:lnSpc>
                <a:spcPct val="95000"/>
              </a:lnSpc>
              <a:buNone/>
            </a:pPr>
            <a:r>
              <a:rPr lang="en-US" sz="4400" b="1" dirty="0">
                <a:solidFill>
                  <a:srgbClr val="FFFFFF"/>
                </a:solidFill>
                <a:latin typeface="Calibri" pitchFamily="34" charset="0"/>
                <a:ea typeface="Calibri" pitchFamily="34" charset="-122"/>
                <a:cs typeface="Calibri" pitchFamily="34" charset="-120"/>
              </a:rPr>
              <a:t>and JupyterLab</a:t>
            </a:r>
            <a:endParaRPr lang="en-US" sz="4400" dirty="0"/>
          </a:p>
        </p:txBody>
      </p:sp>
      <p:sp>
        <p:nvSpPr>
          <p:cNvPr id="4" name="Text 2"/>
          <p:cNvSpPr txBox="1"/>
          <p:nvPr/>
        </p:nvSpPr>
        <p:spPr>
          <a:xfrm>
            <a:off x="548640" y="2743200"/>
            <a:ext cx="4846320" cy="868680"/>
          </a:xfrm>
          <a:prstGeom prst="rect">
            <a:avLst/>
          </a:prstGeom>
          <a:noFill/>
          <a:ln/>
        </p:spPr>
        <p:txBody>
          <a:bodyPr wrap="square" lIns="0" tIns="0" rIns="0" bIns="0" rtlCol="0" anchor="t"/>
          <a:lstStyle/>
          <a:p>
            <a:pPr marL="0" indent="0" algn="l">
              <a:lnSpc>
                <a:spcPct val="100000"/>
              </a:lnSpc>
              <a:buNone/>
            </a:pPr>
            <a:r>
              <a:rPr lang="en-US" sz="1800" i="1" dirty="0">
                <a:solidFill>
                  <a:srgbClr val="E6F6EE"/>
                </a:solidFill>
                <a:latin typeface="Calibri" pitchFamily="34" charset="0"/>
                <a:ea typeface="Calibri" pitchFamily="34" charset="-122"/>
                <a:cs typeface="Calibri" pitchFamily="34" charset="-120"/>
              </a:rPr>
              <a:t>Two installs, fifteen minutes. No prior Python knowledge assumed — no familiarity with the terminal, no jargon.</a:t>
            </a:r>
            <a:endParaRPr lang="en-US" sz="1800" dirty="0"/>
          </a:p>
        </p:txBody>
      </p:sp>
      <p:sp>
        <p:nvSpPr>
          <p:cNvPr id="5" name="Text 3"/>
          <p:cNvSpPr txBox="1"/>
          <p:nvPr/>
        </p:nvSpPr>
        <p:spPr>
          <a:xfrm>
            <a:off x="548640" y="3749040"/>
            <a:ext cx="4846320" cy="274320"/>
          </a:xfrm>
          <a:prstGeom prst="rect">
            <a:avLst/>
          </a:prstGeom>
          <a:noFill/>
          <a:ln/>
        </p:spPr>
        <p:txBody>
          <a:bodyPr wrap="square" lIns="0" tIns="0" rIns="0" bIns="0" rtlCol="0" anchor="t"/>
          <a:lstStyle/>
          <a:p>
            <a:pPr marL="0" indent="0" algn="l">
              <a:lnSpc>
                <a:spcPct val="100000"/>
              </a:lnSpc>
              <a:buNone/>
            </a:pPr>
            <a:r>
              <a:rPr lang="en-US" sz="1400" b="1" dirty="0">
                <a:solidFill>
                  <a:srgbClr val="F5C242"/>
                </a:solidFill>
                <a:latin typeface="Calibri" pitchFamily="34" charset="0"/>
                <a:ea typeface="Calibri" pitchFamily="34" charset="-122"/>
                <a:cs typeface="Calibri" pitchFamily="34" charset="-120"/>
              </a:rPr>
              <a:t>Everything else installs itself.</a:t>
            </a:r>
            <a:endParaRPr lang="en-US" sz="1400" dirty="0"/>
          </a:p>
        </p:txBody>
      </p:sp>
      <p:sp>
        <p:nvSpPr>
          <p:cNvPr id="6" name="Text 4"/>
          <p:cNvSpPr txBox="1"/>
          <p:nvPr/>
        </p:nvSpPr>
        <p:spPr>
          <a:xfrm>
            <a:off x="548640" y="4526280"/>
            <a:ext cx="4846320" cy="219456"/>
          </a:xfrm>
          <a:prstGeom prst="rect">
            <a:avLst/>
          </a:prstGeom>
          <a:noFill/>
          <a:ln/>
        </p:spPr>
        <p:txBody>
          <a:bodyPr wrap="square" lIns="0" tIns="0" rIns="0" bIns="0" rtlCol="0" anchor="t"/>
          <a:lstStyle/>
          <a:p>
            <a:pPr marL="0" indent="0" algn="l">
              <a:lnSpc>
                <a:spcPct val="100000"/>
              </a:lnSpc>
              <a:buNone/>
            </a:pPr>
            <a:r>
              <a:rPr lang="en-US" sz="900" i="1" dirty="0">
                <a:solidFill>
                  <a:srgbClr val="E6F6EE"/>
                </a:solidFill>
                <a:latin typeface="Calibri" pitchFamily="34" charset="0"/>
                <a:ea typeface="Calibri" pitchFamily="34" charset="-122"/>
                <a:cs typeface="Calibri" pitchFamily="34" charset="-120"/>
              </a:rPr>
              <a:t>Commands tested on a real machine · October 2026</a:t>
            </a:r>
            <a:endParaRPr lang="en-US" sz="900" dirty="0"/>
          </a:p>
        </p:txBody>
      </p:sp>
      <p:sp>
        <p:nvSpPr>
          <p:cNvPr id="7" name="Shape 5"/>
          <p:cNvSpPr/>
          <p:nvPr/>
        </p:nvSpPr>
        <p:spPr>
          <a:xfrm>
            <a:off x="5989320" y="1417320"/>
            <a:ext cx="2697480" cy="960120"/>
          </a:xfrm>
          <a:prstGeom prst="roundRect">
            <a:avLst>
              <a:gd name="adj" fmla="val 7619"/>
            </a:avLst>
          </a:prstGeom>
          <a:solidFill>
            <a:srgbClr val="FFFFFF">
              <a:alpha val="12000"/>
            </a:srgbClr>
          </a:solidFill>
          <a:ln w="9525">
            <a:solidFill>
              <a:srgbClr val="FFFFFF">
                <a:alpha val="35000"/>
              </a:srgbClr>
            </a:solidFill>
            <a:prstDash val="solid"/>
          </a:ln>
        </p:spPr>
      </p:sp>
      <p:sp>
        <p:nvSpPr>
          <p:cNvPr id="8" name="Shape 6"/>
          <p:cNvSpPr/>
          <p:nvPr/>
        </p:nvSpPr>
        <p:spPr>
          <a:xfrm>
            <a:off x="6172200" y="1673352"/>
            <a:ext cx="438912" cy="438912"/>
          </a:xfrm>
          <a:prstGeom prst="ellipse">
            <a:avLst/>
          </a:prstGeom>
          <a:solidFill>
            <a:srgbClr val="F5C242"/>
          </a:solidFill>
          <a:ln/>
        </p:spPr>
      </p:sp>
      <p:sp>
        <p:nvSpPr>
          <p:cNvPr id="9" name="Text 7"/>
          <p:cNvSpPr txBox="1"/>
          <p:nvPr/>
        </p:nvSpPr>
        <p:spPr>
          <a:xfrm>
            <a:off x="6172200" y="1673352"/>
            <a:ext cx="438912" cy="438912"/>
          </a:xfrm>
          <a:prstGeom prst="rect">
            <a:avLst/>
          </a:prstGeom>
          <a:noFill/>
          <a:ln/>
        </p:spPr>
        <p:txBody>
          <a:bodyPr wrap="square" lIns="0" tIns="0" rIns="0" bIns="0" rtlCol="0" anchor="ctr"/>
          <a:lstStyle/>
          <a:p>
            <a:pPr marL="0" indent="0" algn="ctr">
              <a:buNone/>
            </a:pPr>
            <a:r>
              <a:rPr lang="en-US" sz="1600" b="1" dirty="0">
                <a:solidFill>
                  <a:srgbClr val="00553A"/>
                </a:solidFill>
                <a:latin typeface="Calibri" pitchFamily="34" charset="0"/>
                <a:ea typeface="Calibri" pitchFamily="34" charset="-122"/>
                <a:cs typeface="Calibri" pitchFamily="34" charset="-120"/>
              </a:rPr>
              <a:t>1</a:t>
            </a:r>
            <a:endParaRPr lang="en-US" sz="1600" dirty="0"/>
          </a:p>
        </p:txBody>
      </p:sp>
      <p:sp>
        <p:nvSpPr>
          <p:cNvPr id="10" name="Text 8"/>
          <p:cNvSpPr txBox="1"/>
          <p:nvPr/>
        </p:nvSpPr>
        <p:spPr>
          <a:xfrm>
            <a:off x="6766560" y="1600200"/>
            <a:ext cx="1828800" cy="310896"/>
          </a:xfrm>
          <a:prstGeom prst="rect">
            <a:avLst/>
          </a:prstGeom>
          <a:noFill/>
          <a:ln/>
        </p:spPr>
        <p:txBody>
          <a:bodyPr wrap="square" lIns="0" tIns="0" rIns="0" bIns="0" rtlCol="0" anchor="t"/>
          <a:lstStyle/>
          <a:p>
            <a:pPr marL="0" indent="0" algn="l">
              <a:lnSpc>
                <a:spcPct val="100000"/>
              </a:lnSpc>
              <a:buNone/>
            </a:pPr>
            <a:r>
              <a:rPr lang="en-US" sz="1800" b="1" dirty="0">
                <a:solidFill>
                  <a:srgbClr val="FFFFFF"/>
                </a:solidFill>
                <a:latin typeface="Calibri" pitchFamily="34" charset="0"/>
                <a:ea typeface="Calibri" pitchFamily="34" charset="-122"/>
                <a:cs typeface="Calibri" pitchFamily="34" charset="-120"/>
              </a:rPr>
              <a:t>Python</a:t>
            </a:r>
            <a:endParaRPr lang="en-US" sz="1800" dirty="0"/>
          </a:p>
        </p:txBody>
      </p:sp>
      <p:sp>
        <p:nvSpPr>
          <p:cNvPr id="11" name="Text 9"/>
          <p:cNvSpPr txBox="1"/>
          <p:nvPr/>
        </p:nvSpPr>
        <p:spPr>
          <a:xfrm>
            <a:off x="6766560" y="1920240"/>
            <a:ext cx="1828800" cy="384048"/>
          </a:xfrm>
          <a:prstGeom prst="rect">
            <a:avLst/>
          </a:prstGeom>
          <a:noFill/>
          <a:ln/>
        </p:spPr>
        <p:txBody>
          <a:bodyPr wrap="square" lIns="0" tIns="0" rIns="0" bIns="0" rtlCol="0" anchor="t"/>
          <a:lstStyle/>
          <a:p>
            <a:pPr marL="0" indent="0" algn="l">
              <a:lnSpc>
                <a:spcPct val="100000"/>
              </a:lnSpc>
              <a:buNone/>
            </a:pPr>
            <a:r>
              <a:rPr lang="en-US" sz="1100" dirty="0">
                <a:solidFill>
                  <a:srgbClr val="E6F6EE"/>
                </a:solidFill>
                <a:latin typeface="Calibri" pitchFamily="34" charset="0"/>
                <a:ea typeface="Calibri" pitchFamily="34" charset="-122"/>
                <a:cs typeface="Calibri" pitchFamily="34" charset="-120"/>
              </a:rPr>
              <a:t>the engine that runs the code</a:t>
            </a:r>
            <a:endParaRPr lang="en-US" sz="1100" dirty="0"/>
          </a:p>
        </p:txBody>
      </p:sp>
      <p:sp>
        <p:nvSpPr>
          <p:cNvPr id="12" name="Shape 10"/>
          <p:cNvSpPr/>
          <p:nvPr/>
        </p:nvSpPr>
        <p:spPr>
          <a:xfrm>
            <a:off x="5989320" y="2606040"/>
            <a:ext cx="2697480" cy="960120"/>
          </a:xfrm>
          <a:prstGeom prst="roundRect">
            <a:avLst>
              <a:gd name="adj" fmla="val 7619"/>
            </a:avLst>
          </a:prstGeom>
          <a:solidFill>
            <a:srgbClr val="FFFFFF">
              <a:alpha val="12000"/>
            </a:srgbClr>
          </a:solidFill>
          <a:ln w="9525">
            <a:solidFill>
              <a:srgbClr val="FFFFFF">
                <a:alpha val="35000"/>
              </a:srgbClr>
            </a:solidFill>
            <a:prstDash val="solid"/>
          </a:ln>
        </p:spPr>
      </p:sp>
      <p:sp>
        <p:nvSpPr>
          <p:cNvPr id="13" name="Shape 11"/>
          <p:cNvSpPr/>
          <p:nvPr/>
        </p:nvSpPr>
        <p:spPr>
          <a:xfrm>
            <a:off x="6172200" y="2862072"/>
            <a:ext cx="438912" cy="438912"/>
          </a:xfrm>
          <a:prstGeom prst="ellipse">
            <a:avLst/>
          </a:prstGeom>
          <a:solidFill>
            <a:srgbClr val="F5C242"/>
          </a:solidFill>
          <a:ln/>
        </p:spPr>
      </p:sp>
      <p:sp>
        <p:nvSpPr>
          <p:cNvPr id="14" name="Text 12"/>
          <p:cNvSpPr txBox="1"/>
          <p:nvPr/>
        </p:nvSpPr>
        <p:spPr>
          <a:xfrm>
            <a:off x="6172200" y="2862072"/>
            <a:ext cx="438912" cy="438912"/>
          </a:xfrm>
          <a:prstGeom prst="rect">
            <a:avLst/>
          </a:prstGeom>
          <a:noFill/>
          <a:ln/>
        </p:spPr>
        <p:txBody>
          <a:bodyPr wrap="square" lIns="0" tIns="0" rIns="0" bIns="0" rtlCol="0" anchor="ctr"/>
          <a:lstStyle/>
          <a:p>
            <a:pPr marL="0" indent="0" algn="ctr">
              <a:buNone/>
            </a:pPr>
            <a:r>
              <a:rPr lang="en-US" sz="1600" b="1" dirty="0">
                <a:solidFill>
                  <a:srgbClr val="00553A"/>
                </a:solidFill>
                <a:latin typeface="Calibri" pitchFamily="34" charset="0"/>
                <a:ea typeface="Calibri" pitchFamily="34" charset="-122"/>
                <a:cs typeface="Calibri" pitchFamily="34" charset="-120"/>
              </a:rPr>
              <a:t>2</a:t>
            </a:r>
            <a:endParaRPr lang="en-US" sz="1600" dirty="0"/>
          </a:p>
        </p:txBody>
      </p:sp>
      <p:sp>
        <p:nvSpPr>
          <p:cNvPr id="15" name="Text 13"/>
          <p:cNvSpPr txBox="1"/>
          <p:nvPr/>
        </p:nvSpPr>
        <p:spPr>
          <a:xfrm>
            <a:off x="6766560" y="2788920"/>
            <a:ext cx="1828800" cy="310896"/>
          </a:xfrm>
          <a:prstGeom prst="rect">
            <a:avLst/>
          </a:prstGeom>
          <a:noFill/>
          <a:ln/>
        </p:spPr>
        <p:txBody>
          <a:bodyPr wrap="square" lIns="0" tIns="0" rIns="0" bIns="0" rtlCol="0" anchor="t"/>
          <a:lstStyle/>
          <a:p>
            <a:pPr marL="0" indent="0" algn="l">
              <a:lnSpc>
                <a:spcPct val="100000"/>
              </a:lnSpc>
              <a:buNone/>
            </a:pPr>
            <a:r>
              <a:rPr lang="en-US" sz="1800" b="1" dirty="0">
                <a:solidFill>
                  <a:srgbClr val="FFFFFF"/>
                </a:solidFill>
                <a:latin typeface="Calibri" pitchFamily="34" charset="0"/>
                <a:ea typeface="Calibri" pitchFamily="34" charset="-122"/>
                <a:cs typeface="Calibri" pitchFamily="34" charset="-120"/>
              </a:rPr>
              <a:t>JupyterLab</a:t>
            </a:r>
            <a:endParaRPr lang="en-US" sz="1800" dirty="0"/>
          </a:p>
        </p:txBody>
      </p:sp>
      <p:sp>
        <p:nvSpPr>
          <p:cNvPr id="16" name="Text 14"/>
          <p:cNvSpPr txBox="1"/>
          <p:nvPr/>
        </p:nvSpPr>
        <p:spPr>
          <a:xfrm>
            <a:off x="6766560" y="3108960"/>
            <a:ext cx="1828800" cy="384048"/>
          </a:xfrm>
          <a:prstGeom prst="rect">
            <a:avLst/>
          </a:prstGeom>
          <a:noFill/>
          <a:ln/>
        </p:spPr>
        <p:txBody>
          <a:bodyPr wrap="square" lIns="0" tIns="0" rIns="0" bIns="0" rtlCol="0" anchor="t"/>
          <a:lstStyle/>
          <a:p>
            <a:pPr marL="0" indent="0" algn="l">
              <a:lnSpc>
                <a:spcPct val="100000"/>
              </a:lnSpc>
              <a:buNone/>
            </a:pPr>
            <a:r>
              <a:rPr lang="en-US" sz="1100" dirty="0">
                <a:solidFill>
                  <a:srgbClr val="E6F6EE"/>
                </a:solidFill>
                <a:latin typeface="Calibri" pitchFamily="34" charset="0"/>
                <a:ea typeface="Calibri" pitchFamily="34" charset="-122"/>
                <a:cs typeface="Calibri" pitchFamily="34" charset="-120"/>
              </a:rPr>
              <a:t>the window where you open notebooks</a:t>
            </a:r>
            <a:endParaRPr lang="en-US" sz="11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6400800" cy="219456"/>
          </a:xfrm>
          <a:prstGeom prst="rect">
            <a:avLst/>
          </a:prstGeom>
          <a:noFill/>
          <a:ln/>
        </p:spPr>
        <p:txBody>
          <a:bodyPr wrap="square" lIns="0" tIns="0" rIns="0" bIns="0" rtlCol="0" anchor="t"/>
          <a:lstStyle/>
          <a:p>
            <a:pPr marL="0" indent="0" algn="l">
              <a:lnSpc>
                <a:spcPct val="100000"/>
              </a:lnSpc>
              <a:buNone/>
            </a:pPr>
            <a:r>
              <a:rPr lang="en-US" sz="1050" b="1" kern="0" spc="300" dirty="0">
                <a:solidFill>
                  <a:srgbClr val="00704A"/>
                </a:solidFill>
                <a:latin typeface="Calibri" pitchFamily="34" charset="0"/>
                <a:ea typeface="Calibri" pitchFamily="34" charset="-122"/>
                <a:cs typeface="Calibri" pitchFamily="34" charset="-120"/>
              </a:rPr>
              <a:t>AGENDA</a:t>
            </a:r>
            <a:endParaRPr lang="en-US" sz="1050" dirty="0"/>
          </a:p>
        </p:txBody>
      </p:sp>
      <p:sp>
        <p:nvSpPr>
          <p:cNvPr id="3" name="Text 1"/>
          <p:cNvSpPr txBox="1"/>
          <p:nvPr/>
        </p:nvSpPr>
        <p:spPr>
          <a:xfrm>
            <a:off x="457200" y="502920"/>
            <a:ext cx="7315200" cy="502920"/>
          </a:xfrm>
          <a:prstGeom prst="rect">
            <a:avLst/>
          </a:prstGeom>
          <a:noFill/>
          <a:ln/>
        </p:spPr>
        <p:txBody>
          <a:bodyPr wrap="square" lIns="0" tIns="0" rIns="0" bIns="0" rtlCol="0" anchor="ctr"/>
          <a:lstStyle/>
          <a:p>
            <a:pPr marL="0" indent="0" algn="l">
              <a:lnSpc>
                <a:spcPct val="100000"/>
              </a:lnSpc>
              <a:buNone/>
            </a:pPr>
            <a:r>
              <a:rPr lang="en-US" sz="2800" b="1" dirty="0">
                <a:solidFill>
                  <a:srgbClr val="231F20"/>
                </a:solidFill>
                <a:latin typeface="Calibri" pitchFamily="34" charset="0"/>
                <a:ea typeface="Calibri" pitchFamily="34" charset="-122"/>
                <a:cs typeface="Calibri" pitchFamily="34" charset="-120"/>
              </a:rPr>
              <a:t>The path in five steps</a:t>
            </a:r>
            <a:endParaRPr lang="en-US" sz="2800" dirty="0"/>
          </a:p>
        </p:txBody>
      </p:sp>
      <p:sp>
        <p:nvSpPr>
          <p:cNvPr id="4" name="Shape 2"/>
          <p:cNvSpPr/>
          <p:nvPr/>
        </p:nvSpPr>
        <p:spPr>
          <a:xfrm>
            <a:off x="457200" y="1325880"/>
            <a:ext cx="1499616" cy="2743200"/>
          </a:xfrm>
          <a:prstGeom prst="roundRect">
            <a:avLst>
              <a:gd name="adj" fmla="val 4878"/>
            </a:avLst>
          </a:prstGeom>
          <a:solidFill>
            <a:srgbClr val="F4F7F5"/>
          </a:solidFill>
          <a:ln w="9525">
            <a:solidFill>
              <a:srgbClr val="D5DED9"/>
            </a:solidFill>
            <a:prstDash val="solid"/>
          </a:ln>
        </p:spPr>
      </p:sp>
      <p:sp>
        <p:nvSpPr>
          <p:cNvPr id="5" name="Shape 3"/>
          <p:cNvSpPr/>
          <p:nvPr/>
        </p:nvSpPr>
        <p:spPr>
          <a:xfrm>
            <a:off x="640080" y="1527048"/>
            <a:ext cx="548640" cy="548640"/>
          </a:xfrm>
          <a:prstGeom prst="ellipse">
            <a:avLst/>
          </a:prstGeom>
          <a:solidFill>
            <a:srgbClr val="00A86A">
              <a:alpha val="22000"/>
            </a:srgbClr>
          </a:solidFill>
          <a:ln/>
        </p:spPr>
      </p:sp>
      <p:pic>
        <p:nvPicPr>
          <p:cNvPr id="6" name="Image 0" descr="preencoded.png"/>
          <p:cNvPicPr>
            <a:picLocks noChangeAspect="1"/>
          </p:cNvPicPr>
          <p:nvPr/>
        </p:nvPicPr>
        <p:blipFill>
          <a:blip r:embed="rId3"/>
          <a:stretch>
            <a:fillRect/>
          </a:stretch>
        </p:blipFill>
        <p:spPr>
          <a:xfrm>
            <a:off x="777240" y="1664208"/>
            <a:ext cx="274320" cy="274320"/>
          </a:xfrm>
          <a:prstGeom prst="rect">
            <a:avLst/>
          </a:prstGeom>
        </p:spPr>
      </p:pic>
      <p:sp>
        <p:nvSpPr>
          <p:cNvPr id="7" name="Text 4"/>
          <p:cNvSpPr txBox="1"/>
          <p:nvPr/>
        </p:nvSpPr>
        <p:spPr>
          <a:xfrm>
            <a:off x="640080" y="2194560"/>
            <a:ext cx="1188720" cy="502920"/>
          </a:xfrm>
          <a:prstGeom prst="rect">
            <a:avLst/>
          </a:prstGeom>
          <a:noFill/>
          <a:ln/>
        </p:spPr>
        <p:txBody>
          <a:bodyPr wrap="square" lIns="0" tIns="0" rIns="0" bIns="0" rtlCol="0" anchor="t"/>
          <a:lstStyle/>
          <a:p>
            <a:pPr marL="0" indent="0" algn="l">
              <a:lnSpc>
                <a:spcPct val="100000"/>
              </a:lnSpc>
              <a:buNone/>
            </a:pPr>
            <a:r>
              <a:rPr lang="en-US" sz="3200" b="1" dirty="0">
                <a:solidFill>
                  <a:srgbClr val="00A86A"/>
                </a:solidFill>
                <a:latin typeface="Calibri" pitchFamily="34" charset="0"/>
                <a:ea typeface="Calibri" pitchFamily="34" charset="-122"/>
                <a:cs typeface="Calibri" pitchFamily="34" charset="-120"/>
              </a:rPr>
              <a:t>01</a:t>
            </a:r>
            <a:endParaRPr lang="en-US" sz="3200" dirty="0"/>
          </a:p>
        </p:txBody>
      </p:sp>
      <p:sp>
        <p:nvSpPr>
          <p:cNvPr id="8" name="Text 5"/>
          <p:cNvSpPr txBox="1"/>
          <p:nvPr/>
        </p:nvSpPr>
        <p:spPr>
          <a:xfrm>
            <a:off x="640080" y="2743200"/>
            <a:ext cx="1188720" cy="457200"/>
          </a:xfrm>
          <a:prstGeom prst="rect">
            <a:avLst/>
          </a:prstGeom>
          <a:noFill/>
          <a:ln/>
        </p:spPr>
        <p:txBody>
          <a:bodyPr wrap="square" lIns="0" tIns="0" rIns="0" bIns="0" rtlCol="0" anchor="t"/>
          <a:lstStyle/>
          <a:p>
            <a:pPr marL="0" indent="0" algn="l">
              <a:lnSpc>
                <a:spcPct val="100000"/>
              </a:lnSpc>
              <a:buNone/>
            </a:pPr>
            <a:r>
              <a:rPr lang="en-US" sz="1350" b="1" dirty="0">
                <a:solidFill>
                  <a:srgbClr val="231F20"/>
                </a:solidFill>
                <a:latin typeface="Calibri" pitchFamily="34" charset="0"/>
                <a:ea typeface="Calibri" pitchFamily="34" charset="-122"/>
                <a:cs typeface="Calibri" pitchFamily="34" charset="-120"/>
              </a:rPr>
              <a:t>Understand</a:t>
            </a:r>
            <a:endParaRPr lang="en-US" sz="1350" dirty="0"/>
          </a:p>
        </p:txBody>
      </p:sp>
      <p:sp>
        <p:nvSpPr>
          <p:cNvPr id="9" name="Text 6"/>
          <p:cNvSpPr txBox="1"/>
          <p:nvPr/>
        </p:nvSpPr>
        <p:spPr>
          <a:xfrm>
            <a:off x="640080" y="3200400"/>
            <a:ext cx="1188720" cy="777240"/>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The two pieces to install, and three quick checks first</a:t>
            </a:r>
            <a:endParaRPr lang="en-US" sz="1050" dirty="0"/>
          </a:p>
        </p:txBody>
      </p:sp>
      <p:sp>
        <p:nvSpPr>
          <p:cNvPr id="10" name="Shape 7"/>
          <p:cNvSpPr/>
          <p:nvPr/>
        </p:nvSpPr>
        <p:spPr>
          <a:xfrm>
            <a:off x="2139696" y="1325880"/>
            <a:ext cx="1499616" cy="2743200"/>
          </a:xfrm>
          <a:prstGeom prst="roundRect">
            <a:avLst>
              <a:gd name="adj" fmla="val 4878"/>
            </a:avLst>
          </a:prstGeom>
          <a:solidFill>
            <a:srgbClr val="F4F7F5"/>
          </a:solidFill>
          <a:ln w="9525">
            <a:solidFill>
              <a:srgbClr val="D5DED9"/>
            </a:solidFill>
            <a:prstDash val="solid"/>
          </a:ln>
        </p:spPr>
      </p:sp>
      <p:sp>
        <p:nvSpPr>
          <p:cNvPr id="11" name="Shape 8"/>
          <p:cNvSpPr/>
          <p:nvPr/>
        </p:nvSpPr>
        <p:spPr>
          <a:xfrm>
            <a:off x="2322576" y="1527048"/>
            <a:ext cx="548640" cy="548640"/>
          </a:xfrm>
          <a:prstGeom prst="ellipse">
            <a:avLst/>
          </a:prstGeom>
          <a:solidFill>
            <a:srgbClr val="00704A">
              <a:alpha val="22000"/>
            </a:srgbClr>
          </a:solidFill>
          <a:ln/>
        </p:spPr>
      </p:sp>
      <p:pic>
        <p:nvPicPr>
          <p:cNvPr id="12" name="Image 1" descr="preencoded.png"/>
          <p:cNvPicPr>
            <a:picLocks noChangeAspect="1"/>
          </p:cNvPicPr>
          <p:nvPr/>
        </p:nvPicPr>
        <p:blipFill>
          <a:blip r:embed="rId4"/>
          <a:stretch>
            <a:fillRect/>
          </a:stretch>
        </p:blipFill>
        <p:spPr>
          <a:xfrm>
            <a:off x="2459736" y="1664208"/>
            <a:ext cx="274320" cy="274320"/>
          </a:xfrm>
          <a:prstGeom prst="rect">
            <a:avLst/>
          </a:prstGeom>
        </p:spPr>
      </p:pic>
      <p:sp>
        <p:nvSpPr>
          <p:cNvPr id="13" name="Text 9"/>
          <p:cNvSpPr txBox="1"/>
          <p:nvPr/>
        </p:nvSpPr>
        <p:spPr>
          <a:xfrm>
            <a:off x="2322576" y="2194560"/>
            <a:ext cx="1188720" cy="502920"/>
          </a:xfrm>
          <a:prstGeom prst="rect">
            <a:avLst/>
          </a:prstGeom>
          <a:noFill/>
          <a:ln/>
        </p:spPr>
        <p:txBody>
          <a:bodyPr wrap="square" lIns="0" tIns="0" rIns="0" bIns="0" rtlCol="0" anchor="t"/>
          <a:lstStyle/>
          <a:p>
            <a:pPr marL="0" indent="0" algn="l">
              <a:lnSpc>
                <a:spcPct val="100000"/>
              </a:lnSpc>
              <a:buNone/>
            </a:pPr>
            <a:r>
              <a:rPr lang="en-US" sz="3200" b="1" dirty="0">
                <a:solidFill>
                  <a:srgbClr val="00704A"/>
                </a:solidFill>
                <a:latin typeface="Calibri" pitchFamily="34" charset="0"/>
                <a:ea typeface="Calibri" pitchFamily="34" charset="-122"/>
                <a:cs typeface="Calibri" pitchFamily="34" charset="-120"/>
              </a:rPr>
              <a:t>02</a:t>
            </a:r>
            <a:endParaRPr lang="en-US" sz="3200" dirty="0"/>
          </a:p>
        </p:txBody>
      </p:sp>
      <p:sp>
        <p:nvSpPr>
          <p:cNvPr id="14" name="Text 10"/>
          <p:cNvSpPr txBox="1"/>
          <p:nvPr/>
        </p:nvSpPr>
        <p:spPr>
          <a:xfrm>
            <a:off x="2322576" y="2743200"/>
            <a:ext cx="1188720" cy="457200"/>
          </a:xfrm>
          <a:prstGeom prst="rect">
            <a:avLst/>
          </a:prstGeom>
          <a:noFill/>
          <a:ln/>
        </p:spPr>
        <p:txBody>
          <a:bodyPr wrap="square" lIns="0" tIns="0" rIns="0" bIns="0" rtlCol="0" anchor="t"/>
          <a:lstStyle/>
          <a:p>
            <a:pPr marL="0" indent="0" algn="l">
              <a:lnSpc>
                <a:spcPct val="100000"/>
              </a:lnSpc>
              <a:buNone/>
            </a:pPr>
            <a:r>
              <a:rPr lang="en-US" sz="1350" b="1" dirty="0">
                <a:solidFill>
                  <a:srgbClr val="231F20"/>
                </a:solidFill>
                <a:latin typeface="Calibri" pitchFamily="34" charset="0"/>
                <a:ea typeface="Calibri" pitchFamily="34" charset="-122"/>
                <a:cs typeface="Calibri" pitchFamily="34" charset="-120"/>
              </a:rPr>
              <a:t>Check</a:t>
            </a:r>
            <a:endParaRPr lang="en-US" sz="1350" dirty="0"/>
          </a:p>
        </p:txBody>
      </p:sp>
      <p:sp>
        <p:nvSpPr>
          <p:cNvPr id="15" name="Text 11"/>
          <p:cNvSpPr txBox="1"/>
          <p:nvPr/>
        </p:nvSpPr>
        <p:spPr>
          <a:xfrm>
            <a:off x="2322576" y="3200400"/>
            <a:ext cx="1188720" cy="777240"/>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Python may already be there: one command tells you</a:t>
            </a:r>
            <a:endParaRPr lang="en-US" sz="1050" dirty="0"/>
          </a:p>
        </p:txBody>
      </p:sp>
      <p:sp>
        <p:nvSpPr>
          <p:cNvPr id="16" name="Shape 12"/>
          <p:cNvSpPr/>
          <p:nvPr/>
        </p:nvSpPr>
        <p:spPr>
          <a:xfrm>
            <a:off x="3822192" y="1325880"/>
            <a:ext cx="1499616" cy="2743200"/>
          </a:xfrm>
          <a:prstGeom prst="roundRect">
            <a:avLst>
              <a:gd name="adj" fmla="val 4878"/>
            </a:avLst>
          </a:prstGeom>
          <a:solidFill>
            <a:srgbClr val="F4F7F5"/>
          </a:solidFill>
          <a:ln w="9525">
            <a:solidFill>
              <a:srgbClr val="D5DED9"/>
            </a:solidFill>
            <a:prstDash val="solid"/>
          </a:ln>
        </p:spPr>
      </p:sp>
      <p:sp>
        <p:nvSpPr>
          <p:cNvPr id="17" name="Shape 13"/>
          <p:cNvSpPr/>
          <p:nvPr/>
        </p:nvSpPr>
        <p:spPr>
          <a:xfrm>
            <a:off x="4005072" y="1527048"/>
            <a:ext cx="548640" cy="548640"/>
          </a:xfrm>
          <a:prstGeom prst="ellipse">
            <a:avLst/>
          </a:prstGeom>
          <a:solidFill>
            <a:srgbClr val="0E7C86">
              <a:alpha val="22000"/>
            </a:srgbClr>
          </a:solidFill>
          <a:ln/>
        </p:spPr>
      </p:sp>
      <p:pic>
        <p:nvPicPr>
          <p:cNvPr id="18" name="Image 2" descr="preencoded.png"/>
          <p:cNvPicPr>
            <a:picLocks noChangeAspect="1"/>
          </p:cNvPicPr>
          <p:nvPr/>
        </p:nvPicPr>
        <p:blipFill>
          <a:blip r:embed="rId5"/>
          <a:stretch>
            <a:fillRect/>
          </a:stretch>
        </p:blipFill>
        <p:spPr>
          <a:xfrm>
            <a:off x="4142232" y="1664208"/>
            <a:ext cx="274320" cy="274320"/>
          </a:xfrm>
          <a:prstGeom prst="rect">
            <a:avLst/>
          </a:prstGeom>
        </p:spPr>
      </p:pic>
      <p:sp>
        <p:nvSpPr>
          <p:cNvPr id="19" name="Text 14"/>
          <p:cNvSpPr txBox="1"/>
          <p:nvPr/>
        </p:nvSpPr>
        <p:spPr>
          <a:xfrm>
            <a:off x="4005072" y="2194560"/>
            <a:ext cx="1188720" cy="502920"/>
          </a:xfrm>
          <a:prstGeom prst="rect">
            <a:avLst/>
          </a:prstGeom>
          <a:noFill/>
          <a:ln/>
        </p:spPr>
        <p:txBody>
          <a:bodyPr wrap="square" lIns="0" tIns="0" rIns="0" bIns="0" rtlCol="0" anchor="t"/>
          <a:lstStyle/>
          <a:p>
            <a:pPr marL="0" indent="0" algn="l">
              <a:lnSpc>
                <a:spcPct val="100000"/>
              </a:lnSpc>
              <a:buNone/>
            </a:pPr>
            <a:r>
              <a:rPr lang="en-US" sz="3200" b="1" dirty="0">
                <a:solidFill>
                  <a:srgbClr val="0E7C86"/>
                </a:solidFill>
                <a:latin typeface="Calibri" pitchFamily="34" charset="0"/>
                <a:ea typeface="Calibri" pitchFamily="34" charset="-122"/>
                <a:cs typeface="Calibri" pitchFamily="34" charset="-120"/>
              </a:rPr>
              <a:t>03</a:t>
            </a:r>
            <a:endParaRPr lang="en-US" sz="3200" dirty="0"/>
          </a:p>
        </p:txBody>
      </p:sp>
      <p:sp>
        <p:nvSpPr>
          <p:cNvPr id="20" name="Text 15"/>
          <p:cNvSpPr txBox="1"/>
          <p:nvPr/>
        </p:nvSpPr>
        <p:spPr>
          <a:xfrm>
            <a:off x="4005072" y="2743200"/>
            <a:ext cx="1188720" cy="457200"/>
          </a:xfrm>
          <a:prstGeom prst="rect">
            <a:avLst/>
          </a:prstGeom>
          <a:noFill/>
          <a:ln/>
        </p:spPr>
        <p:txBody>
          <a:bodyPr wrap="square" lIns="0" tIns="0" rIns="0" bIns="0" rtlCol="0" anchor="t"/>
          <a:lstStyle/>
          <a:p>
            <a:pPr marL="0" indent="0" algn="l">
              <a:lnSpc>
                <a:spcPct val="100000"/>
              </a:lnSpc>
              <a:buNone/>
            </a:pPr>
            <a:r>
              <a:rPr lang="en-US" sz="1350" b="1" dirty="0">
                <a:solidFill>
                  <a:srgbClr val="231F20"/>
                </a:solidFill>
                <a:latin typeface="Calibri" pitchFamily="34" charset="0"/>
                <a:ea typeface="Calibri" pitchFamily="34" charset="-122"/>
                <a:cs typeface="Calibri" pitchFamily="34" charset="-120"/>
              </a:rPr>
              <a:t>Install Python</a:t>
            </a:r>
            <a:endParaRPr lang="en-US" sz="1350" dirty="0"/>
          </a:p>
        </p:txBody>
      </p:sp>
      <p:sp>
        <p:nvSpPr>
          <p:cNvPr id="21" name="Text 16"/>
          <p:cNvSpPr txBox="1"/>
          <p:nvPr/>
        </p:nvSpPr>
        <p:spPr>
          <a:xfrm>
            <a:off x="4005072" y="3200400"/>
            <a:ext cx="1188720" cy="777240"/>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Windows, macOS or Linux, then a version check</a:t>
            </a:r>
            <a:endParaRPr lang="en-US" sz="1050" dirty="0"/>
          </a:p>
        </p:txBody>
      </p:sp>
      <p:sp>
        <p:nvSpPr>
          <p:cNvPr id="22" name="Shape 17"/>
          <p:cNvSpPr/>
          <p:nvPr/>
        </p:nvSpPr>
        <p:spPr>
          <a:xfrm>
            <a:off x="5504688" y="1325880"/>
            <a:ext cx="1499616" cy="2743200"/>
          </a:xfrm>
          <a:prstGeom prst="roundRect">
            <a:avLst>
              <a:gd name="adj" fmla="val 4878"/>
            </a:avLst>
          </a:prstGeom>
          <a:solidFill>
            <a:srgbClr val="F4F7F5"/>
          </a:solidFill>
          <a:ln w="9525">
            <a:solidFill>
              <a:srgbClr val="D5DED9"/>
            </a:solidFill>
            <a:prstDash val="solid"/>
          </a:ln>
        </p:spPr>
      </p:sp>
      <p:sp>
        <p:nvSpPr>
          <p:cNvPr id="23" name="Shape 18"/>
          <p:cNvSpPr/>
          <p:nvPr/>
        </p:nvSpPr>
        <p:spPr>
          <a:xfrm>
            <a:off x="5687568" y="1527048"/>
            <a:ext cx="548640" cy="548640"/>
          </a:xfrm>
          <a:prstGeom prst="ellipse">
            <a:avLst/>
          </a:prstGeom>
          <a:solidFill>
            <a:srgbClr val="D49A00">
              <a:alpha val="22000"/>
            </a:srgbClr>
          </a:solidFill>
          <a:ln/>
        </p:spPr>
      </p:sp>
      <p:pic>
        <p:nvPicPr>
          <p:cNvPr id="24" name="Image 3" descr="preencoded.png"/>
          <p:cNvPicPr>
            <a:picLocks noChangeAspect="1"/>
          </p:cNvPicPr>
          <p:nvPr/>
        </p:nvPicPr>
        <p:blipFill>
          <a:blip r:embed="rId6"/>
          <a:stretch>
            <a:fillRect/>
          </a:stretch>
        </p:blipFill>
        <p:spPr>
          <a:xfrm>
            <a:off x="5824728" y="1664208"/>
            <a:ext cx="274320" cy="274320"/>
          </a:xfrm>
          <a:prstGeom prst="rect">
            <a:avLst/>
          </a:prstGeom>
        </p:spPr>
      </p:pic>
      <p:sp>
        <p:nvSpPr>
          <p:cNvPr id="25" name="Text 19"/>
          <p:cNvSpPr txBox="1"/>
          <p:nvPr/>
        </p:nvSpPr>
        <p:spPr>
          <a:xfrm>
            <a:off x="5687568" y="2194560"/>
            <a:ext cx="1188720" cy="502920"/>
          </a:xfrm>
          <a:prstGeom prst="rect">
            <a:avLst/>
          </a:prstGeom>
          <a:noFill/>
          <a:ln/>
        </p:spPr>
        <p:txBody>
          <a:bodyPr wrap="square" lIns="0" tIns="0" rIns="0" bIns="0" rtlCol="0" anchor="t"/>
          <a:lstStyle/>
          <a:p>
            <a:pPr marL="0" indent="0" algn="l">
              <a:lnSpc>
                <a:spcPct val="100000"/>
              </a:lnSpc>
              <a:buNone/>
            </a:pPr>
            <a:r>
              <a:rPr lang="en-US" sz="3200" b="1" dirty="0">
                <a:solidFill>
                  <a:srgbClr val="D49A00"/>
                </a:solidFill>
                <a:latin typeface="Calibri" pitchFamily="34" charset="0"/>
                <a:ea typeface="Calibri" pitchFamily="34" charset="-122"/>
                <a:cs typeface="Calibri" pitchFamily="34" charset="-120"/>
              </a:rPr>
              <a:t>04</a:t>
            </a:r>
            <a:endParaRPr lang="en-US" sz="3200" dirty="0"/>
          </a:p>
        </p:txBody>
      </p:sp>
      <p:sp>
        <p:nvSpPr>
          <p:cNvPr id="26" name="Text 20"/>
          <p:cNvSpPr txBox="1"/>
          <p:nvPr/>
        </p:nvSpPr>
        <p:spPr>
          <a:xfrm>
            <a:off x="5687568" y="2743200"/>
            <a:ext cx="1188720" cy="457200"/>
          </a:xfrm>
          <a:prstGeom prst="rect">
            <a:avLst/>
          </a:prstGeom>
          <a:noFill/>
          <a:ln/>
        </p:spPr>
        <p:txBody>
          <a:bodyPr wrap="square" lIns="0" tIns="0" rIns="0" bIns="0" rtlCol="0" anchor="t"/>
          <a:lstStyle/>
          <a:p>
            <a:pPr marL="0" indent="0" algn="l">
              <a:lnSpc>
                <a:spcPct val="100000"/>
              </a:lnSpc>
              <a:buNone/>
            </a:pPr>
            <a:r>
              <a:rPr lang="en-US" sz="1350" b="1" dirty="0">
                <a:solidFill>
                  <a:srgbClr val="231F20"/>
                </a:solidFill>
                <a:latin typeface="Calibri" pitchFamily="34" charset="0"/>
                <a:ea typeface="Calibri" pitchFamily="34" charset="-122"/>
                <a:cs typeface="Calibri" pitchFamily="34" charset="-120"/>
              </a:rPr>
              <a:t>JupyterLab</a:t>
            </a:r>
            <a:endParaRPr lang="en-US" sz="1350" dirty="0"/>
          </a:p>
        </p:txBody>
      </p:sp>
      <p:sp>
        <p:nvSpPr>
          <p:cNvPr id="27" name="Text 21"/>
          <p:cNvSpPr txBox="1"/>
          <p:nvPr/>
        </p:nvSpPr>
        <p:spPr>
          <a:xfrm>
            <a:off x="5687568" y="3200400"/>
            <a:ext cx="1188720" cy="777240"/>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One command to install it, another to launch it</a:t>
            </a:r>
            <a:endParaRPr lang="en-US" sz="1050" dirty="0"/>
          </a:p>
        </p:txBody>
      </p:sp>
      <p:sp>
        <p:nvSpPr>
          <p:cNvPr id="28" name="Shape 22"/>
          <p:cNvSpPr/>
          <p:nvPr/>
        </p:nvSpPr>
        <p:spPr>
          <a:xfrm>
            <a:off x="7187184" y="1325880"/>
            <a:ext cx="1499616" cy="2743200"/>
          </a:xfrm>
          <a:prstGeom prst="roundRect">
            <a:avLst>
              <a:gd name="adj" fmla="val 4878"/>
            </a:avLst>
          </a:prstGeom>
          <a:solidFill>
            <a:srgbClr val="F4F7F5"/>
          </a:solidFill>
          <a:ln w="9525">
            <a:solidFill>
              <a:srgbClr val="D5DED9"/>
            </a:solidFill>
            <a:prstDash val="solid"/>
          </a:ln>
        </p:spPr>
      </p:sp>
      <p:sp>
        <p:nvSpPr>
          <p:cNvPr id="29" name="Shape 23"/>
          <p:cNvSpPr/>
          <p:nvPr/>
        </p:nvSpPr>
        <p:spPr>
          <a:xfrm>
            <a:off x="7370064" y="1527048"/>
            <a:ext cx="548640" cy="548640"/>
          </a:xfrm>
          <a:prstGeom prst="ellipse">
            <a:avLst/>
          </a:prstGeom>
          <a:solidFill>
            <a:srgbClr val="C4621D">
              <a:alpha val="22000"/>
            </a:srgbClr>
          </a:solidFill>
          <a:ln/>
        </p:spPr>
      </p:sp>
      <p:pic>
        <p:nvPicPr>
          <p:cNvPr id="30" name="Image 4" descr="preencoded.png"/>
          <p:cNvPicPr>
            <a:picLocks noChangeAspect="1"/>
          </p:cNvPicPr>
          <p:nvPr/>
        </p:nvPicPr>
        <p:blipFill>
          <a:blip r:embed="rId7"/>
          <a:stretch>
            <a:fillRect/>
          </a:stretch>
        </p:blipFill>
        <p:spPr>
          <a:xfrm>
            <a:off x="7507224" y="1664208"/>
            <a:ext cx="274320" cy="274320"/>
          </a:xfrm>
          <a:prstGeom prst="rect">
            <a:avLst/>
          </a:prstGeom>
        </p:spPr>
      </p:pic>
      <p:sp>
        <p:nvSpPr>
          <p:cNvPr id="31" name="Text 24"/>
          <p:cNvSpPr txBox="1"/>
          <p:nvPr/>
        </p:nvSpPr>
        <p:spPr>
          <a:xfrm>
            <a:off x="7370064" y="2194560"/>
            <a:ext cx="1188720" cy="502920"/>
          </a:xfrm>
          <a:prstGeom prst="rect">
            <a:avLst/>
          </a:prstGeom>
          <a:noFill/>
          <a:ln/>
        </p:spPr>
        <p:txBody>
          <a:bodyPr wrap="square" lIns="0" tIns="0" rIns="0" bIns="0" rtlCol="0" anchor="t"/>
          <a:lstStyle/>
          <a:p>
            <a:pPr marL="0" indent="0" algn="l">
              <a:lnSpc>
                <a:spcPct val="100000"/>
              </a:lnSpc>
              <a:buNone/>
            </a:pPr>
            <a:r>
              <a:rPr lang="en-US" sz="3200" b="1" dirty="0">
                <a:solidFill>
                  <a:srgbClr val="C4621D"/>
                </a:solidFill>
                <a:latin typeface="Calibri" pitchFamily="34" charset="0"/>
                <a:ea typeface="Calibri" pitchFamily="34" charset="-122"/>
                <a:cs typeface="Calibri" pitchFamily="34" charset="-120"/>
              </a:rPr>
              <a:t>05</a:t>
            </a:r>
            <a:endParaRPr lang="en-US" sz="3200" dirty="0"/>
          </a:p>
        </p:txBody>
      </p:sp>
      <p:sp>
        <p:nvSpPr>
          <p:cNvPr id="32" name="Text 25"/>
          <p:cNvSpPr txBox="1"/>
          <p:nvPr/>
        </p:nvSpPr>
        <p:spPr>
          <a:xfrm>
            <a:off x="7370064" y="2743200"/>
            <a:ext cx="1188720" cy="457200"/>
          </a:xfrm>
          <a:prstGeom prst="rect">
            <a:avLst/>
          </a:prstGeom>
          <a:noFill/>
          <a:ln/>
        </p:spPr>
        <p:txBody>
          <a:bodyPr wrap="square" lIns="0" tIns="0" rIns="0" bIns="0" rtlCol="0" anchor="t"/>
          <a:lstStyle/>
          <a:p>
            <a:pPr marL="0" indent="0" algn="l">
              <a:lnSpc>
                <a:spcPct val="100000"/>
              </a:lnSpc>
              <a:buNone/>
            </a:pPr>
            <a:r>
              <a:rPr lang="en-US" sz="1350" b="1" dirty="0">
                <a:solidFill>
                  <a:srgbClr val="231F20"/>
                </a:solidFill>
                <a:latin typeface="Calibri" pitchFamily="34" charset="0"/>
                <a:ea typeface="Calibri" pitchFamily="34" charset="-122"/>
                <a:cs typeface="Calibri" pitchFamily="34" charset="-120"/>
              </a:rPr>
              <a:t>Troubleshoot</a:t>
            </a:r>
            <a:endParaRPr lang="en-US" sz="1350" dirty="0"/>
          </a:p>
        </p:txBody>
      </p:sp>
      <p:sp>
        <p:nvSpPr>
          <p:cNvPr id="33" name="Text 26"/>
          <p:cNvSpPr txBox="1"/>
          <p:nvPr/>
        </p:nvSpPr>
        <p:spPr>
          <a:xfrm>
            <a:off x="7370064" y="3200400"/>
            <a:ext cx="1188720" cy="777240"/>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The five most common problems and their fixes</a:t>
            </a:r>
            <a:endParaRPr lang="en-US" sz="1050" dirty="0"/>
          </a:p>
        </p:txBody>
      </p:sp>
      <p:sp>
        <p:nvSpPr>
          <p:cNvPr id="34" name="Shape 27"/>
          <p:cNvSpPr/>
          <p:nvPr/>
        </p:nvSpPr>
        <p:spPr>
          <a:xfrm>
            <a:off x="457200" y="4261104"/>
            <a:ext cx="310896" cy="310896"/>
          </a:xfrm>
          <a:prstGeom prst="ellipse">
            <a:avLst/>
          </a:prstGeom>
          <a:solidFill>
            <a:srgbClr val="00704A">
              <a:alpha val="22000"/>
            </a:srgbClr>
          </a:solidFill>
          <a:ln/>
        </p:spPr>
      </p:sp>
      <p:pic>
        <p:nvPicPr>
          <p:cNvPr id="35" name="Image 5" descr="preencoded.png"/>
          <p:cNvPicPr>
            <a:picLocks noChangeAspect="1"/>
          </p:cNvPicPr>
          <p:nvPr/>
        </p:nvPicPr>
        <p:blipFill>
          <a:blip r:embed="rId8"/>
          <a:stretch>
            <a:fillRect/>
          </a:stretch>
        </p:blipFill>
        <p:spPr>
          <a:xfrm>
            <a:off x="534924" y="4338828"/>
            <a:ext cx="155448" cy="155448"/>
          </a:xfrm>
          <a:prstGeom prst="rect">
            <a:avLst/>
          </a:prstGeom>
        </p:spPr>
      </p:pic>
      <p:sp>
        <p:nvSpPr>
          <p:cNvPr id="36" name="Text 28"/>
          <p:cNvSpPr txBox="1"/>
          <p:nvPr/>
        </p:nvSpPr>
        <p:spPr>
          <a:xfrm>
            <a:off x="896112" y="4261104"/>
            <a:ext cx="7589520" cy="310896"/>
          </a:xfrm>
          <a:prstGeom prst="rect">
            <a:avLst/>
          </a:prstGeom>
          <a:noFill/>
          <a:ln/>
        </p:spPr>
        <p:txBody>
          <a:bodyPr wrap="square" lIns="0" tIns="0" rIns="0" bIns="0" rtlCol="0" anchor="ctr"/>
          <a:lstStyle/>
          <a:p>
            <a:pPr marL="0" indent="0" algn="l">
              <a:lnSpc>
                <a:spcPct val="100000"/>
              </a:lnSpc>
              <a:buNone/>
            </a:pPr>
            <a:r>
              <a:rPr lang="en-US" sz="1150" dirty="0">
                <a:solidFill>
                  <a:srgbClr val="231F20"/>
                </a:solidFill>
                <a:latin typeface="Calibri" pitchFamily="34" charset="0"/>
                <a:ea typeface="Calibri" pitchFamily="34" charset="-122"/>
                <a:cs typeface="Calibri" pitchFamily="34" charset="-120"/>
              </a:rPr>
              <a:t>Only one ordering rule: </a:t>
            </a:r>
            <a:r>
              <a:rPr lang="en-US" sz="1150" b="1" dirty="0">
                <a:solidFill>
                  <a:srgbClr val="231F20"/>
                </a:solidFill>
                <a:latin typeface="Calibri" pitchFamily="34" charset="0"/>
                <a:ea typeface="Calibri" pitchFamily="34" charset="-122"/>
                <a:cs typeface="Calibri" pitchFamily="34" charset="-120"/>
              </a:rPr>
              <a:t>Python before JupyterLab</a:t>
            </a:r>
            <a:r>
              <a:rPr lang="en-US" sz="1150" dirty="0">
                <a:solidFill>
                  <a:srgbClr val="231F20"/>
                </a:solidFill>
                <a:latin typeface="Calibri" pitchFamily="34" charset="0"/>
                <a:ea typeface="Calibri" pitchFamily="34" charset="-122"/>
                <a:cs typeface="Calibri" pitchFamily="34" charset="-120"/>
              </a:rPr>
              <a:t>, since JupyterLab is installed through Python.</a:t>
            </a:r>
            <a:endParaRPr lang="en-US" sz="1150" dirty="0"/>
          </a:p>
        </p:txBody>
      </p:sp>
      <p:sp>
        <p:nvSpPr>
          <p:cNvPr id="37"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6583680" cy="219456"/>
          </a:xfrm>
          <a:prstGeom prst="rect">
            <a:avLst/>
          </a:prstGeom>
          <a:noFill/>
          <a:ln/>
        </p:spPr>
        <p:txBody>
          <a:bodyPr wrap="square" lIns="0" tIns="0" rIns="0" bIns="0" rtlCol="0" anchor="t"/>
          <a:lstStyle/>
          <a:p>
            <a:pPr marL="0" indent="0" algn="l">
              <a:lnSpc>
                <a:spcPct val="100000"/>
              </a:lnSpc>
              <a:buNone/>
            </a:pPr>
            <a:r>
              <a:rPr lang="en-US" sz="1050" b="1" kern="0" spc="300" dirty="0">
                <a:solidFill>
                  <a:srgbClr val="00704A"/>
                </a:solidFill>
                <a:latin typeface="Calibri" pitchFamily="34" charset="0"/>
                <a:ea typeface="Calibri" pitchFamily="34" charset="-122"/>
                <a:cs typeface="Calibri" pitchFamily="34" charset="-120"/>
              </a:rPr>
              <a:t>01 · UNDERSTAND</a:t>
            </a:r>
            <a:endParaRPr lang="en-US" sz="1050" dirty="0"/>
          </a:p>
        </p:txBody>
      </p:sp>
      <p:sp>
        <p:nvSpPr>
          <p:cNvPr id="3" name="Text 1"/>
          <p:cNvSpPr txBox="1"/>
          <p:nvPr/>
        </p:nvSpPr>
        <p:spPr>
          <a:xfrm>
            <a:off x="457200" y="502920"/>
            <a:ext cx="7315200" cy="502920"/>
          </a:xfrm>
          <a:prstGeom prst="rect">
            <a:avLst/>
          </a:prstGeom>
          <a:noFill/>
          <a:ln/>
        </p:spPr>
        <p:txBody>
          <a:bodyPr wrap="square" lIns="0" tIns="0" rIns="0" bIns="0" rtlCol="0" anchor="ctr"/>
          <a:lstStyle/>
          <a:p>
            <a:pPr marL="0" indent="0" algn="l">
              <a:lnSpc>
                <a:spcPct val="100000"/>
              </a:lnSpc>
              <a:buNone/>
            </a:pPr>
            <a:r>
              <a:rPr lang="en-US" sz="2800" b="1" dirty="0">
                <a:solidFill>
                  <a:srgbClr val="231F20"/>
                </a:solidFill>
                <a:latin typeface="Calibri" pitchFamily="34" charset="0"/>
                <a:ea typeface="Calibri" pitchFamily="34" charset="-122"/>
                <a:cs typeface="Calibri" pitchFamily="34" charset="-120"/>
              </a:rPr>
              <a:t>Two pieces, each with its own job</a:t>
            </a:r>
            <a:endParaRPr lang="en-US" sz="2800" dirty="0"/>
          </a:p>
        </p:txBody>
      </p:sp>
      <p:sp>
        <p:nvSpPr>
          <p:cNvPr id="4" name="Shape 2"/>
          <p:cNvSpPr/>
          <p:nvPr/>
        </p:nvSpPr>
        <p:spPr>
          <a:xfrm>
            <a:off x="7854696" y="338328"/>
            <a:ext cx="100584" cy="100584"/>
          </a:xfrm>
          <a:prstGeom prst="ellipse">
            <a:avLst/>
          </a:prstGeom>
          <a:solidFill>
            <a:srgbClr val="00A86A"/>
          </a:solidFill>
          <a:ln/>
        </p:spPr>
      </p:sp>
      <p:sp>
        <p:nvSpPr>
          <p:cNvPr id="5" name="Shape 3"/>
          <p:cNvSpPr/>
          <p:nvPr/>
        </p:nvSpPr>
        <p:spPr>
          <a:xfrm>
            <a:off x="8037576" y="338328"/>
            <a:ext cx="100584" cy="100584"/>
          </a:xfrm>
          <a:prstGeom prst="ellipse">
            <a:avLst/>
          </a:prstGeom>
          <a:solidFill>
            <a:srgbClr val="D5DED9"/>
          </a:solidFill>
          <a:ln/>
        </p:spPr>
      </p:sp>
      <p:sp>
        <p:nvSpPr>
          <p:cNvPr id="6" name="Shape 4"/>
          <p:cNvSpPr/>
          <p:nvPr/>
        </p:nvSpPr>
        <p:spPr>
          <a:xfrm>
            <a:off x="8220456" y="338328"/>
            <a:ext cx="100584" cy="100584"/>
          </a:xfrm>
          <a:prstGeom prst="ellipse">
            <a:avLst/>
          </a:prstGeom>
          <a:solidFill>
            <a:srgbClr val="D5DED9"/>
          </a:solidFill>
          <a:ln/>
        </p:spPr>
      </p:sp>
      <p:sp>
        <p:nvSpPr>
          <p:cNvPr id="7" name="Shape 5"/>
          <p:cNvSpPr/>
          <p:nvPr/>
        </p:nvSpPr>
        <p:spPr>
          <a:xfrm>
            <a:off x="8403336" y="338328"/>
            <a:ext cx="100584" cy="100584"/>
          </a:xfrm>
          <a:prstGeom prst="ellipse">
            <a:avLst/>
          </a:prstGeom>
          <a:solidFill>
            <a:srgbClr val="D5DED9"/>
          </a:solidFill>
          <a:ln/>
        </p:spPr>
      </p:sp>
      <p:sp>
        <p:nvSpPr>
          <p:cNvPr id="8" name="Shape 6"/>
          <p:cNvSpPr/>
          <p:nvPr/>
        </p:nvSpPr>
        <p:spPr>
          <a:xfrm>
            <a:off x="8586216" y="338328"/>
            <a:ext cx="100584" cy="100584"/>
          </a:xfrm>
          <a:prstGeom prst="ellipse">
            <a:avLst/>
          </a:prstGeom>
          <a:solidFill>
            <a:srgbClr val="D5DED9"/>
          </a:solidFill>
          <a:ln/>
        </p:spPr>
      </p:sp>
      <p:sp>
        <p:nvSpPr>
          <p:cNvPr id="9" name="Shape 7"/>
          <p:cNvSpPr/>
          <p:nvPr/>
        </p:nvSpPr>
        <p:spPr>
          <a:xfrm>
            <a:off x="457200" y="1325880"/>
            <a:ext cx="3657600" cy="2148840"/>
          </a:xfrm>
          <a:prstGeom prst="roundRect">
            <a:avLst>
              <a:gd name="adj" fmla="val 3404"/>
            </a:avLst>
          </a:prstGeom>
          <a:solidFill>
            <a:srgbClr val="F4F7F5"/>
          </a:solidFill>
          <a:ln w="9525">
            <a:solidFill>
              <a:srgbClr val="D5DED9"/>
            </a:solidFill>
            <a:prstDash val="solid"/>
          </a:ln>
        </p:spPr>
      </p:sp>
      <p:sp>
        <p:nvSpPr>
          <p:cNvPr id="10" name="Shape 8"/>
          <p:cNvSpPr/>
          <p:nvPr/>
        </p:nvSpPr>
        <p:spPr>
          <a:xfrm>
            <a:off x="685800" y="1554480"/>
            <a:ext cx="566928" cy="566928"/>
          </a:xfrm>
          <a:prstGeom prst="ellipse">
            <a:avLst/>
          </a:prstGeom>
          <a:solidFill>
            <a:srgbClr val="00A86A">
              <a:alpha val="22000"/>
            </a:srgbClr>
          </a:solidFill>
          <a:ln/>
        </p:spPr>
      </p:sp>
      <p:pic>
        <p:nvPicPr>
          <p:cNvPr id="11" name="Image 0" descr="preencoded.png"/>
          <p:cNvPicPr>
            <a:picLocks noChangeAspect="1"/>
          </p:cNvPicPr>
          <p:nvPr/>
        </p:nvPicPr>
        <p:blipFill>
          <a:blip r:embed="rId3"/>
          <a:stretch>
            <a:fillRect/>
          </a:stretch>
        </p:blipFill>
        <p:spPr>
          <a:xfrm>
            <a:off x="827532" y="1696212"/>
            <a:ext cx="283464" cy="283464"/>
          </a:xfrm>
          <a:prstGeom prst="rect">
            <a:avLst/>
          </a:prstGeom>
        </p:spPr>
      </p:pic>
      <p:sp>
        <p:nvSpPr>
          <p:cNvPr id="12" name="Text 9"/>
          <p:cNvSpPr txBox="1"/>
          <p:nvPr/>
        </p:nvSpPr>
        <p:spPr>
          <a:xfrm>
            <a:off x="1417320" y="1572768"/>
            <a:ext cx="2468880" cy="201168"/>
          </a:xfrm>
          <a:prstGeom prst="rect">
            <a:avLst/>
          </a:prstGeom>
          <a:noFill/>
          <a:ln/>
        </p:spPr>
        <p:txBody>
          <a:bodyPr wrap="square" lIns="0" tIns="0" rIns="0" bIns="0" rtlCol="0" anchor="t"/>
          <a:lstStyle/>
          <a:p>
            <a:pPr marL="0" indent="0" algn="l">
              <a:lnSpc>
                <a:spcPct val="100000"/>
              </a:lnSpc>
              <a:buNone/>
            </a:pPr>
            <a:r>
              <a:rPr lang="en-US" sz="1000" b="1" kern="0" spc="200" dirty="0">
                <a:solidFill>
                  <a:srgbClr val="00704A"/>
                </a:solidFill>
                <a:latin typeface="Calibri" pitchFamily="34" charset="0"/>
                <a:ea typeface="Calibri" pitchFamily="34" charset="-122"/>
                <a:cs typeface="Calibri" pitchFamily="34" charset="-120"/>
              </a:rPr>
              <a:t>THE ENGINE</a:t>
            </a:r>
            <a:endParaRPr lang="en-US" sz="1000" dirty="0"/>
          </a:p>
        </p:txBody>
      </p:sp>
      <p:sp>
        <p:nvSpPr>
          <p:cNvPr id="13" name="Text 10"/>
          <p:cNvSpPr txBox="1"/>
          <p:nvPr/>
        </p:nvSpPr>
        <p:spPr>
          <a:xfrm>
            <a:off x="1417320" y="1783080"/>
            <a:ext cx="2468880" cy="347472"/>
          </a:xfrm>
          <a:prstGeom prst="rect">
            <a:avLst/>
          </a:prstGeom>
          <a:noFill/>
          <a:ln/>
        </p:spPr>
        <p:txBody>
          <a:bodyPr wrap="square" lIns="0" tIns="0" rIns="0" bIns="0" rtlCol="0" anchor="t"/>
          <a:lstStyle/>
          <a:p>
            <a:pPr marL="0" indent="0" algn="l">
              <a:lnSpc>
                <a:spcPct val="100000"/>
              </a:lnSpc>
              <a:buNone/>
            </a:pPr>
            <a:r>
              <a:rPr lang="en-US" sz="1800" b="1" dirty="0">
                <a:solidFill>
                  <a:srgbClr val="231F20"/>
                </a:solidFill>
                <a:latin typeface="Calibri" pitchFamily="34" charset="0"/>
                <a:ea typeface="Calibri" pitchFamily="34" charset="-122"/>
                <a:cs typeface="Calibri" pitchFamily="34" charset="-120"/>
              </a:rPr>
              <a:t>Python</a:t>
            </a:r>
            <a:endParaRPr lang="en-US" sz="1800" dirty="0"/>
          </a:p>
        </p:txBody>
      </p:sp>
      <p:sp>
        <p:nvSpPr>
          <p:cNvPr id="14" name="Text 11"/>
          <p:cNvSpPr txBox="1"/>
          <p:nvPr/>
        </p:nvSpPr>
        <p:spPr>
          <a:xfrm>
            <a:off x="685800" y="2286000"/>
            <a:ext cx="3200400" cy="640080"/>
          </a:xfrm>
          <a:prstGeom prst="rect">
            <a:avLst/>
          </a:prstGeom>
          <a:noFill/>
          <a:ln/>
        </p:spPr>
        <p:txBody>
          <a:bodyPr wrap="square" lIns="0" tIns="0" rIns="0" bIns="0" rtlCol="0" anchor="t"/>
          <a:lstStyle/>
          <a:p>
            <a:pPr marL="0" indent="0" algn="l">
              <a:lnSpc>
                <a:spcPct val="100000"/>
              </a:lnSpc>
              <a:buNone/>
            </a:pPr>
            <a:r>
              <a:rPr lang="en-US" sz="1150" dirty="0">
                <a:solidFill>
                  <a:srgbClr val="5E6964"/>
                </a:solidFill>
                <a:latin typeface="Calibri" pitchFamily="34" charset="0"/>
                <a:ea typeface="Calibri" pitchFamily="34" charset="-122"/>
                <a:cs typeface="Calibri" pitchFamily="34" charset="-120"/>
              </a:rPr>
              <a:t>It runs the code. It never shows itself: it works behind the scenes.</a:t>
            </a:r>
            <a:endParaRPr lang="en-US" sz="1150" dirty="0"/>
          </a:p>
        </p:txBody>
      </p:sp>
      <p:sp>
        <p:nvSpPr>
          <p:cNvPr id="15" name="Shape 12"/>
          <p:cNvSpPr/>
          <p:nvPr/>
        </p:nvSpPr>
        <p:spPr>
          <a:xfrm>
            <a:off x="685800" y="3017520"/>
            <a:ext cx="3200400" cy="292608"/>
          </a:xfrm>
          <a:prstGeom prst="roundRect">
            <a:avLst>
              <a:gd name="adj" fmla="val 50000"/>
            </a:avLst>
          </a:prstGeom>
          <a:solidFill>
            <a:srgbClr val="E8F5EF"/>
          </a:solidFill>
          <a:ln w="9525">
            <a:solidFill>
              <a:srgbClr val="00A86A"/>
            </a:solidFill>
            <a:prstDash val="solid"/>
          </a:ln>
        </p:spPr>
      </p:sp>
      <p:sp>
        <p:nvSpPr>
          <p:cNvPr id="16" name="Text 13"/>
          <p:cNvSpPr txBox="1"/>
          <p:nvPr/>
        </p:nvSpPr>
        <p:spPr>
          <a:xfrm>
            <a:off x="685800" y="3017520"/>
            <a:ext cx="3200400" cy="292608"/>
          </a:xfrm>
          <a:prstGeom prst="rect">
            <a:avLst/>
          </a:prstGeom>
          <a:noFill/>
          <a:ln/>
        </p:spPr>
        <p:txBody>
          <a:bodyPr wrap="square" lIns="0" tIns="0" rIns="0" bIns="0" rtlCol="0" anchor="ctr"/>
          <a:lstStyle/>
          <a:p>
            <a:pPr marL="0" indent="0" algn="ctr">
              <a:lnSpc>
                <a:spcPct val="100000"/>
              </a:lnSpc>
              <a:buNone/>
            </a:pPr>
            <a:r>
              <a:rPr lang="en-US" sz="1000" b="1" dirty="0">
                <a:solidFill>
                  <a:srgbClr val="00704A"/>
                </a:solidFill>
                <a:latin typeface="Calibri" pitchFamily="34" charset="0"/>
                <a:ea typeface="Calibri" pitchFamily="34" charset="-122"/>
                <a:cs typeface="Calibri" pitchFamily="34" charset="-120"/>
              </a:rPr>
              <a:t>Version 3.10 minimum · 3.12.0 tested</a:t>
            </a:r>
            <a:endParaRPr lang="en-US" sz="1000" dirty="0"/>
          </a:p>
        </p:txBody>
      </p:sp>
      <p:sp>
        <p:nvSpPr>
          <p:cNvPr id="17" name="Shape 14"/>
          <p:cNvSpPr/>
          <p:nvPr/>
        </p:nvSpPr>
        <p:spPr>
          <a:xfrm>
            <a:off x="5029200" y="1325880"/>
            <a:ext cx="3657600" cy="2148840"/>
          </a:xfrm>
          <a:prstGeom prst="roundRect">
            <a:avLst>
              <a:gd name="adj" fmla="val 3404"/>
            </a:avLst>
          </a:prstGeom>
          <a:solidFill>
            <a:srgbClr val="F4F7F5"/>
          </a:solidFill>
          <a:ln w="9525">
            <a:solidFill>
              <a:srgbClr val="D5DED9"/>
            </a:solidFill>
            <a:prstDash val="solid"/>
          </a:ln>
        </p:spPr>
      </p:sp>
      <p:sp>
        <p:nvSpPr>
          <p:cNvPr id="18" name="Shape 15"/>
          <p:cNvSpPr/>
          <p:nvPr/>
        </p:nvSpPr>
        <p:spPr>
          <a:xfrm>
            <a:off x="5257800" y="1554480"/>
            <a:ext cx="566928" cy="566928"/>
          </a:xfrm>
          <a:prstGeom prst="ellipse">
            <a:avLst/>
          </a:prstGeom>
          <a:solidFill>
            <a:srgbClr val="00A86A">
              <a:alpha val="22000"/>
            </a:srgbClr>
          </a:solidFill>
          <a:ln/>
        </p:spPr>
      </p:sp>
      <p:pic>
        <p:nvPicPr>
          <p:cNvPr id="19" name="Image 1" descr="preencoded.png"/>
          <p:cNvPicPr>
            <a:picLocks noChangeAspect="1"/>
          </p:cNvPicPr>
          <p:nvPr/>
        </p:nvPicPr>
        <p:blipFill>
          <a:blip r:embed="rId4"/>
          <a:stretch>
            <a:fillRect/>
          </a:stretch>
        </p:blipFill>
        <p:spPr>
          <a:xfrm>
            <a:off x="5399532" y="1696212"/>
            <a:ext cx="283464" cy="283464"/>
          </a:xfrm>
          <a:prstGeom prst="rect">
            <a:avLst/>
          </a:prstGeom>
        </p:spPr>
      </p:pic>
      <p:sp>
        <p:nvSpPr>
          <p:cNvPr id="20" name="Text 16"/>
          <p:cNvSpPr txBox="1"/>
          <p:nvPr/>
        </p:nvSpPr>
        <p:spPr>
          <a:xfrm>
            <a:off x="5989320" y="1572768"/>
            <a:ext cx="2468880" cy="201168"/>
          </a:xfrm>
          <a:prstGeom prst="rect">
            <a:avLst/>
          </a:prstGeom>
          <a:noFill/>
          <a:ln/>
        </p:spPr>
        <p:txBody>
          <a:bodyPr wrap="square" lIns="0" tIns="0" rIns="0" bIns="0" rtlCol="0" anchor="t"/>
          <a:lstStyle/>
          <a:p>
            <a:pPr marL="0" indent="0" algn="l">
              <a:lnSpc>
                <a:spcPct val="100000"/>
              </a:lnSpc>
              <a:buNone/>
            </a:pPr>
            <a:r>
              <a:rPr lang="en-US" sz="1000" b="1" kern="0" spc="200" dirty="0">
                <a:solidFill>
                  <a:srgbClr val="00704A"/>
                </a:solidFill>
                <a:latin typeface="Calibri" pitchFamily="34" charset="0"/>
                <a:ea typeface="Calibri" pitchFamily="34" charset="-122"/>
                <a:cs typeface="Calibri" pitchFamily="34" charset="-120"/>
              </a:rPr>
              <a:t>THE WINDOW</a:t>
            </a:r>
            <a:endParaRPr lang="en-US" sz="1000" dirty="0"/>
          </a:p>
        </p:txBody>
      </p:sp>
      <p:sp>
        <p:nvSpPr>
          <p:cNvPr id="21" name="Text 17"/>
          <p:cNvSpPr txBox="1"/>
          <p:nvPr/>
        </p:nvSpPr>
        <p:spPr>
          <a:xfrm>
            <a:off x="5989320" y="1783080"/>
            <a:ext cx="2468880" cy="347472"/>
          </a:xfrm>
          <a:prstGeom prst="rect">
            <a:avLst/>
          </a:prstGeom>
          <a:noFill/>
          <a:ln/>
        </p:spPr>
        <p:txBody>
          <a:bodyPr wrap="square" lIns="0" tIns="0" rIns="0" bIns="0" rtlCol="0" anchor="t"/>
          <a:lstStyle/>
          <a:p>
            <a:pPr marL="0" indent="0" algn="l">
              <a:lnSpc>
                <a:spcPct val="100000"/>
              </a:lnSpc>
              <a:buNone/>
            </a:pPr>
            <a:r>
              <a:rPr lang="en-US" sz="1800" b="1" dirty="0">
                <a:solidFill>
                  <a:srgbClr val="231F20"/>
                </a:solidFill>
                <a:latin typeface="Calibri" pitchFamily="34" charset="0"/>
                <a:ea typeface="Calibri" pitchFamily="34" charset="-122"/>
                <a:cs typeface="Calibri" pitchFamily="34" charset="-120"/>
              </a:rPr>
              <a:t>JupyterLab</a:t>
            </a:r>
            <a:endParaRPr lang="en-US" sz="1800" dirty="0"/>
          </a:p>
        </p:txBody>
      </p:sp>
      <p:sp>
        <p:nvSpPr>
          <p:cNvPr id="22" name="Text 18"/>
          <p:cNvSpPr txBox="1"/>
          <p:nvPr/>
        </p:nvSpPr>
        <p:spPr>
          <a:xfrm>
            <a:off x="5257800" y="2286000"/>
            <a:ext cx="3200400" cy="640080"/>
          </a:xfrm>
          <a:prstGeom prst="rect">
            <a:avLst/>
          </a:prstGeom>
          <a:noFill/>
          <a:ln/>
        </p:spPr>
        <p:txBody>
          <a:bodyPr wrap="square" lIns="0" tIns="0" rIns="0" bIns="0" rtlCol="0" anchor="t"/>
          <a:lstStyle/>
          <a:p>
            <a:pPr marL="0" indent="0" algn="l">
              <a:lnSpc>
                <a:spcPct val="100000"/>
              </a:lnSpc>
              <a:buNone/>
            </a:pPr>
            <a:r>
              <a:rPr lang="en-US" sz="1150" dirty="0">
                <a:solidFill>
                  <a:srgbClr val="5E6964"/>
                </a:solidFill>
                <a:latin typeface="Calibri" pitchFamily="34" charset="0"/>
                <a:ea typeface="Calibri" pitchFamily="34" charset="-122"/>
                <a:cs typeface="Calibri" pitchFamily="34" charset="-120"/>
              </a:rPr>
              <a:t>It opens notebooks and shows results next to the code. It needs Python to work.</a:t>
            </a:r>
            <a:endParaRPr lang="en-US" sz="1150" dirty="0"/>
          </a:p>
        </p:txBody>
      </p:sp>
      <p:sp>
        <p:nvSpPr>
          <p:cNvPr id="23" name="Shape 19"/>
          <p:cNvSpPr/>
          <p:nvPr/>
        </p:nvSpPr>
        <p:spPr>
          <a:xfrm>
            <a:off x="5257800" y="3017520"/>
            <a:ext cx="3200400" cy="292608"/>
          </a:xfrm>
          <a:prstGeom prst="roundRect">
            <a:avLst>
              <a:gd name="adj" fmla="val 50000"/>
            </a:avLst>
          </a:prstGeom>
          <a:solidFill>
            <a:srgbClr val="E8F5EF"/>
          </a:solidFill>
          <a:ln w="9525">
            <a:solidFill>
              <a:srgbClr val="00A86A"/>
            </a:solidFill>
            <a:prstDash val="solid"/>
          </a:ln>
        </p:spPr>
      </p:sp>
      <p:sp>
        <p:nvSpPr>
          <p:cNvPr id="24" name="Text 20"/>
          <p:cNvSpPr txBox="1"/>
          <p:nvPr/>
        </p:nvSpPr>
        <p:spPr>
          <a:xfrm>
            <a:off x="5257800" y="3017520"/>
            <a:ext cx="3200400" cy="292608"/>
          </a:xfrm>
          <a:prstGeom prst="rect">
            <a:avLst/>
          </a:prstGeom>
          <a:noFill/>
          <a:ln/>
        </p:spPr>
        <p:txBody>
          <a:bodyPr wrap="square" lIns="0" tIns="0" rIns="0" bIns="0" rtlCol="0" anchor="ctr"/>
          <a:lstStyle/>
          <a:p>
            <a:pPr marL="0" indent="0" algn="ctr">
              <a:lnSpc>
                <a:spcPct val="100000"/>
              </a:lnSpc>
              <a:buNone/>
            </a:pPr>
            <a:r>
              <a:rPr lang="en-US" sz="1000" b="1" dirty="0">
                <a:solidFill>
                  <a:srgbClr val="00704A"/>
                </a:solidFill>
                <a:latin typeface="Calibri" pitchFamily="34" charset="0"/>
                <a:ea typeface="Calibri" pitchFamily="34" charset="-122"/>
                <a:cs typeface="Calibri" pitchFamily="34" charset="-120"/>
              </a:rPr>
              <a:t>Installed by Python itself, in one command</a:t>
            </a:r>
            <a:endParaRPr lang="en-US" sz="1000" dirty="0"/>
          </a:p>
        </p:txBody>
      </p:sp>
      <p:sp>
        <p:nvSpPr>
          <p:cNvPr id="25" name="Shape 21"/>
          <p:cNvSpPr/>
          <p:nvPr/>
        </p:nvSpPr>
        <p:spPr>
          <a:xfrm>
            <a:off x="4206240" y="2395728"/>
            <a:ext cx="731520" cy="0"/>
          </a:xfrm>
          <a:prstGeom prst="line">
            <a:avLst/>
          </a:prstGeom>
          <a:noFill/>
          <a:ln w="19050">
            <a:solidFill>
              <a:srgbClr val="5E6964"/>
            </a:solidFill>
            <a:prstDash val="solid"/>
            <a:tailEnd type="triangle"/>
          </a:ln>
        </p:spPr>
      </p:sp>
      <p:sp>
        <p:nvSpPr>
          <p:cNvPr id="26" name="Text 22"/>
          <p:cNvSpPr txBox="1"/>
          <p:nvPr/>
        </p:nvSpPr>
        <p:spPr>
          <a:xfrm>
            <a:off x="4206240" y="2103120"/>
            <a:ext cx="731520" cy="201168"/>
          </a:xfrm>
          <a:prstGeom prst="rect">
            <a:avLst/>
          </a:prstGeom>
          <a:noFill/>
          <a:ln/>
        </p:spPr>
        <p:txBody>
          <a:bodyPr wrap="square" lIns="0" tIns="0" rIns="0" bIns="0" rtlCol="0" anchor="t"/>
          <a:lstStyle/>
          <a:p>
            <a:pPr marL="0" indent="0" algn="ctr">
              <a:lnSpc>
                <a:spcPct val="100000"/>
              </a:lnSpc>
              <a:buNone/>
            </a:pPr>
            <a:r>
              <a:rPr lang="en-US" sz="950" i="1" dirty="0">
                <a:solidFill>
                  <a:srgbClr val="5E6964"/>
                </a:solidFill>
                <a:latin typeface="Calibri" pitchFamily="34" charset="0"/>
                <a:ea typeface="Calibri" pitchFamily="34" charset="-122"/>
                <a:cs typeface="Calibri" pitchFamily="34" charset="-120"/>
              </a:rPr>
              <a:t>then</a:t>
            </a:r>
            <a:endParaRPr lang="en-US" sz="950" dirty="0"/>
          </a:p>
        </p:txBody>
      </p:sp>
      <p:sp>
        <p:nvSpPr>
          <p:cNvPr id="27" name="Shape 23"/>
          <p:cNvSpPr/>
          <p:nvPr/>
        </p:nvSpPr>
        <p:spPr>
          <a:xfrm>
            <a:off x="457200" y="3657600"/>
            <a:ext cx="8229600" cy="868680"/>
          </a:xfrm>
          <a:prstGeom prst="roundRect">
            <a:avLst>
              <a:gd name="adj" fmla="val 8421"/>
            </a:avLst>
          </a:prstGeom>
          <a:solidFill>
            <a:srgbClr val="E8F5EF"/>
          </a:solidFill>
          <a:ln w="15875">
            <a:solidFill>
              <a:srgbClr val="00A86A"/>
            </a:solidFill>
            <a:prstDash val="solid"/>
          </a:ln>
        </p:spPr>
      </p:sp>
      <p:sp>
        <p:nvSpPr>
          <p:cNvPr id="28" name="Shape 24"/>
          <p:cNvSpPr/>
          <p:nvPr/>
        </p:nvSpPr>
        <p:spPr>
          <a:xfrm>
            <a:off x="658368" y="3822192"/>
            <a:ext cx="530352" cy="530352"/>
          </a:xfrm>
          <a:prstGeom prst="ellipse">
            <a:avLst/>
          </a:prstGeom>
          <a:solidFill>
            <a:srgbClr val="00A86A">
              <a:alpha val="22000"/>
            </a:srgbClr>
          </a:solidFill>
          <a:ln/>
        </p:spPr>
      </p:sp>
      <p:pic>
        <p:nvPicPr>
          <p:cNvPr id="29" name="Image 2" descr="preencoded.png"/>
          <p:cNvPicPr>
            <a:picLocks noChangeAspect="1"/>
          </p:cNvPicPr>
          <p:nvPr/>
        </p:nvPicPr>
        <p:blipFill>
          <a:blip r:embed="rId5"/>
          <a:stretch>
            <a:fillRect/>
          </a:stretch>
        </p:blipFill>
        <p:spPr>
          <a:xfrm>
            <a:off x="790956" y="3954780"/>
            <a:ext cx="265176" cy="265176"/>
          </a:xfrm>
          <a:prstGeom prst="rect">
            <a:avLst/>
          </a:prstGeom>
        </p:spPr>
      </p:pic>
      <p:sp>
        <p:nvSpPr>
          <p:cNvPr id="30" name="Text 25"/>
          <p:cNvSpPr txBox="1"/>
          <p:nvPr/>
        </p:nvSpPr>
        <p:spPr>
          <a:xfrm>
            <a:off x="1371600" y="3767328"/>
            <a:ext cx="7132320" cy="438912"/>
          </a:xfrm>
          <a:prstGeom prst="rect">
            <a:avLst/>
          </a:prstGeom>
          <a:noFill/>
          <a:ln/>
        </p:spPr>
        <p:txBody>
          <a:bodyPr wrap="square" lIns="0" tIns="0" rIns="0" bIns="0" rtlCol="0" anchor="t"/>
          <a:lstStyle/>
          <a:p>
            <a:pPr marL="0" indent="0" algn="l">
              <a:lnSpc>
                <a:spcPct val="100000"/>
              </a:lnSpc>
              <a:buNone/>
            </a:pPr>
            <a:r>
              <a:rPr lang="en-US" sz="1200" b="1" dirty="0">
                <a:solidFill>
                  <a:srgbClr val="231F20"/>
                </a:solidFill>
                <a:latin typeface="Calibri" pitchFamily="34" charset="0"/>
                <a:ea typeface="Calibri" pitchFamily="34" charset="-122"/>
                <a:cs typeface="Calibri" pitchFamily="34" charset="-120"/>
              </a:rPr>
              <a:t>And that's it.</a:t>
            </a:r>
            <a:r>
              <a:rPr lang="en-US" sz="1200" dirty="0">
                <a:solidFill>
                  <a:srgbClr val="231F20"/>
                </a:solidFill>
                <a:latin typeface="Calibri" pitchFamily="34" charset="0"/>
                <a:ea typeface="Calibri" pitchFamily="34" charset="-122"/>
                <a:cs typeface="Calibri" pitchFamily="34" charset="-120"/>
              </a:rPr>
              <a:t> The thirty libraries the project needs — pandas, plotly and the rest — </a:t>
            </a:r>
            <a:r>
              <a:rPr lang="en-US" sz="1200" b="1" dirty="0">
                <a:solidFill>
                  <a:srgbClr val="231F20"/>
                </a:solidFill>
                <a:latin typeface="Calibri" pitchFamily="34" charset="0"/>
                <a:ea typeface="Calibri" pitchFamily="34" charset="-122"/>
                <a:cs typeface="Calibri" pitchFamily="34" charset="-120"/>
              </a:rPr>
              <a:t>install themselves</a:t>
            </a:r>
            <a:r>
              <a:rPr lang="en-US" sz="1200" dirty="0">
                <a:solidFill>
                  <a:srgbClr val="231F20"/>
                </a:solidFill>
                <a:latin typeface="Calibri" pitchFamily="34" charset="0"/>
                <a:ea typeface="Calibri" pitchFamily="34" charset="-122"/>
                <a:cs typeface="Calibri" pitchFamily="34" charset="-120"/>
              </a:rPr>
              <a:t> when the first notebook is opened.</a:t>
            </a:r>
            <a:endParaRPr lang="en-US" sz="1200" dirty="0"/>
          </a:p>
        </p:txBody>
      </p:sp>
      <p:sp>
        <p:nvSpPr>
          <p:cNvPr id="31" name="Text 26"/>
          <p:cNvSpPr txBox="1"/>
          <p:nvPr/>
        </p:nvSpPr>
        <p:spPr>
          <a:xfrm>
            <a:off x="1371600" y="4206240"/>
            <a:ext cx="7132320" cy="219456"/>
          </a:xfrm>
          <a:prstGeom prst="rect">
            <a:avLst/>
          </a:prstGeom>
          <a:noFill/>
          <a:ln/>
        </p:spPr>
        <p:txBody>
          <a:bodyPr wrap="square" lIns="0" tIns="0" rIns="0" bIns="0" rtlCol="0" anchor="t"/>
          <a:lstStyle/>
          <a:p>
            <a:pPr marL="0" indent="0" algn="l">
              <a:lnSpc>
                <a:spcPct val="100000"/>
              </a:lnSpc>
              <a:buNone/>
            </a:pPr>
            <a:r>
              <a:rPr lang="en-US" sz="1000" i="1" dirty="0">
                <a:solidFill>
                  <a:srgbClr val="5E6964"/>
                </a:solidFill>
                <a:latin typeface="Calibri" pitchFamily="34" charset="0"/>
                <a:ea typeface="Calibri" pitchFamily="34" charset="-122"/>
                <a:cs typeface="Calibri" pitchFamily="34" charset="-120"/>
              </a:rPr>
              <a:t>You don't need to know that list, or type it.</a:t>
            </a:r>
            <a:endParaRPr lang="en-US" sz="1000" dirty="0"/>
          </a:p>
        </p:txBody>
      </p:sp>
      <p:sp>
        <p:nvSpPr>
          <p:cNvPr id="32"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6583680" cy="219456"/>
          </a:xfrm>
          <a:prstGeom prst="rect">
            <a:avLst/>
          </a:prstGeom>
          <a:noFill/>
          <a:ln/>
        </p:spPr>
        <p:txBody>
          <a:bodyPr wrap="square" lIns="0" tIns="0" rIns="0" bIns="0" rtlCol="0" anchor="t"/>
          <a:lstStyle/>
          <a:p>
            <a:pPr marL="0" indent="0" algn="l">
              <a:lnSpc>
                <a:spcPct val="100000"/>
              </a:lnSpc>
              <a:buNone/>
            </a:pPr>
            <a:r>
              <a:rPr lang="en-US" sz="1050" b="1" kern="0" spc="300" dirty="0">
                <a:solidFill>
                  <a:srgbClr val="00704A"/>
                </a:solidFill>
                <a:latin typeface="Calibri" pitchFamily="34" charset="0"/>
                <a:ea typeface="Calibri" pitchFamily="34" charset="-122"/>
                <a:cs typeface="Calibri" pitchFamily="34" charset="-120"/>
              </a:rPr>
              <a:t>01 · UNDERSTAND</a:t>
            </a:r>
            <a:endParaRPr lang="en-US" sz="1050" dirty="0"/>
          </a:p>
        </p:txBody>
      </p:sp>
      <p:sp>
        <p:nvSpPr>
          <p:cNvPr id="3" name="Text 1"/>
          <p:cNvSpPr txBox="1"/>
          <p:nvPr/>
        </p:nvSpPr>
        <p:spPr>
          <a:xfrm>
            <a:off x="457200" y="502920"/>
            <a:ext cx="7315200" cy="502920"/>
          </a:xfrm>
          <a:prstGeom prst="rect">
            <a:avLst/>
          </a:prstGeom>
          <a:noFill/>
          <a:ln/>
        </p:spPr>
        <p:txBody>
          <a:bodyPr wrap="square" lIns="0" tIns="0" rIns="0" bIns="0" rtlCol="0" anchor="ctr"/>
          <a:lstStyle/>
          <a:p>
            <a:pPr marL="0" indent="0" algn="l">
              <a:lnSpc>
                <a:spcPct val="100000"/>
              </a:lnSpc>
              <a:buNone/>
            </a:pPr>
            <a:r>
              <a:rPr lang="en-US" sz="2800" b="1" dirty="0">
                <a:solidFill>
                  <a:srgbClr val="231F20"/>
                </a:solidFill>
                <a:latin typeface="Calibri" pitchFamily="34" charset="0"/>
                <a:ea typeface="Calibri" pitchFamily="34" charset="-122"/>
                <a:cs typeface="Calibri" pitchFamily="34" charset="-120"/>
              </a:rPr>
              <a:t>Three things to check, one minute</a:t>
            </a:r>
            <a:endParaRPr lang="en-US" sz="2800" dirty="0"/>
          </a:p>
        </p:txBody>
      </p:sp>
      <p:sp>
        <p:nvSpPr>
          <p:cNvPr id="4" name="Shape 2"/>
          <p:cNvSpPr/>
          <p:nvPr/>
        </p:nvSpPr>
        <p:spPr>
          <a:xfrm>
            <a:off x="7854696" y="338328"/>
            <a:ext cx="100584" cy="100584"/>
          </a:xfrm>
          <a:prstGeom prst="ellipse">
            <a:avLst/>
          </a:prstGeom>
          <a:solidFill>
            <a:srgbClr val="00A86A"/>
          </a:solidFill>
          <a:ln/>
        </p:spPr>
      </p:sp>
      <p:sp>
        <p:nvSpPr>
          <p:cNvPr id="5" name="Shape 3"/>
          <p:cNvSpPr/>
          <p:nvPr/>
        </p:nvSpPr>
        <p:spPr>
          <a:xfrm>
            <a:off x="8037576" y="338328"/>
            <a:ext cx="100584" cy="100584"/>
          </a:xfrm>
          <a:prstGeom prst="ellipse">
            <a:avLst/>
          </a:prstGeom>
          <a:solidFill>
            <a:srgbClr val="D5DED9"/>
          </a:solidFill>
          <a:ln/>
        </p:spPr>
      </p:sp>
      <p:sp>
        <p:nvSpPr>
          <p:cNvPr id="6" name="Shape 4"/>
          <p:cNvSpPr/>
          <p:nvPr/>
        </p:nvSpPr>
        <p:spPr>
          <a:xfrm>
            <a:off x="8220456" y="338328"/>
            <a:ext cx="100584" cy="100584"/>
          </a:xfrm>
          <a:prstGeom prst="ellipse">
            <a:avLst/>
          </a:prstGeom>
          <a:solidFill>
            <a:srgbClr val="D5DED9"/>
          </a:solidFill>
          <a:ln/>
        </p:spPr>
      </p:sp>
      <p:sp>
        <p:nvSpPr>
          <p:cNvPr id="7" name="Shape 5"/>
          <p:cNvSpPr/>
          <p:nvPr/>
        </p:nvSpPr>
        <p:spPr>
          <a:xfrm>
            <a:off x="8403336" y="338328"/>
            <a:ext cx="100584" cy="100584"/>
          </a:xfrm>
          <a:prstGeom prst="ellipse">
            <a:avLst/>
          </a:prstGeom>
          <a:solidFill>
            <a:srgbClr val="D5DED9"/>
          </a:solidFill>
          <a:ln/>
        </p:spPr>
      </p:sp>
      <p:sp>
        <p:nvSpPr>
          <p:cNvPr id="8" name="Shape 6"/>
          <p:cNvSpPr/>
          <p:nvPr/>
        </p:nvSpPr>
        <p:spPr>
          <a:xfrm>
            <a:off x="8586216" y="338328"/>
            <a:ext cx="100584" cy="100584"/>
          </a:xfrm>
          <a:prstGeom prst="ellipse">
            <a:avLst/>
          </a:prstGeom>
          <a:solidFill>
            <a:srgbClr val="D5DED9"/>
          </a:solidFill>
          <a:ln/>
        </p:spPr>
      </p:sp>
      <p:sp>
        <p:nvSpPr>
          <p:cNvPr id="9" name="Shape 7"/>
          <p:cNvSpPr/>
          <p:nvPr/>
        </p:nvSpPr>
        <p:spPr>
          <a:xfrm>
            <a:off x="457200" y="1325880"/>
            <a:ext cx="2606040" cy="2743200"/>
          </a:xfrm>
          <a:prstGeom prst="roundRect">
            <a:avLst>
              <a:gd name="adj" fmla="val 2807"/>
            </a:avLst>
          </a:prstGeom>
          <a:solidFill>
            <a:srgbClr val="F4F7F5"/>
          </a:solidFill>
          <a:ln w="9525">
            <a:solidFill>
              <a:srgbClr val="D5DED9"/>
            </a:solidFill>
            <a:prstDash val="solid"/>
          </a:ln>
        </p:spPr>
      </p:sp>
      <p:sp>
        <p:nvSpPr>
          <p:cNvPr id="10" name="Text 8"/>
          <p:cNvSpPr txBox="1"/>
          <p:nvPr/>
        </p:nvSpPr>
        <p:spPr>
          <a:xfrm>
            <a:off x="685800" y="1508760"/>
            <a:ext cx="1097280" cy="548640"/>
          </a:xfrm>
          <a:prstGeom prst="rect">
            <a:avLst/>
          </a:prstGeom>
          <a:noFill/>
          <a:ln/>
        </p:spPr>
        <p:txBody>
          <a:bodyPr wrap="square" lIns="0" tIns="0" rIns="0" bIns="0" rtlCol="0" anchor="t"/>
          <a:lstStyle/>
          <a:p>
            <a:pPr marL="0" indent="0" algn="l">
              <a:lnSpc>
                <a:spcPct val="100000"/>
              </a:lnSpc>
              <a:buNone/>
            </a:pPr>
            <a:r>
              <a:rPr lang="en-US" sz="3200" b="1" dirty="0">
                <a:solidFill>
                  <a:srgbClr val="00A86A"/>
                </a:solidFill>
                <a:latin typeface="Calibri" pitchFamily="34" charset="0"/>
                <a:ea typeface="Calibri" pitchFamily="34" charset="-122"/>
                <a:cs typeface="Calibri" pitchFamily="34" charset="-120"/>
              </a:rPr>
              <a:t>01</a:t>
            </a:r>
            <a:endParaRPr lang="en-US" sz="3200" dirty="0"/>
          </a:p>
        </p:txBody>
      </p:sp>
      <p:sp>
        <p:nvSpPr>
          <p:cNvPr id="11" name="Shape 9"/>
          <p:cNvSpPr/>
          <p:nvPr/>
        </p:nvSpPr>
        <p:spPr>
          <a:xfrm>
            <a:off x="2286000" y="1554480"/>
            <a:ext cx="530352" cy="530352"/>
          </a:xfrm>
          <a:prstGeom prst="ellipse">
            <a:avLst/>
          </a:prstGeom>
          <a:solidFill>
            <a:srgbClr val="00A86A">
              <a:alpha val="22000"/>
            </a:srgbClr>
          </a:solidFill>
          <a:ln/>
        </p:spPr>
      </p:sp>
      <p:pic>
        <p:nvPicPr>
          <p:cNvPr id="12" name="Image 0" descr="preencoded.png"/>
          <p:cNvPicPr>
            <a:picLocks noChangeAspect="1"/>
          </p:cNvPicPr>
          <p:nvPr/>
        </p:nvPicPr>
        <p:blipFill>
          <a:blip r:embed="rId3"/>
          <a:stretch>
            <a:fillRect/>
          </a:stretch>
        </p:blipFill>
        <p:spPr>
          <a:xfrm>
            <a:off x="2418588" y="1687068"/>
            <a:ext cx="265176" cy="265176"/>
          </a:xfrm>
          <a:prstGeom prst="rect">
            <a:avLst/>
          </a:prstGeom>
        </p:spPr>
      </p:pic>
      <p:sp>
        <p:nvSpPr>
          <p:cNvPr id="13" name="Text 10"/>
          <p:cNvSpPr txBox="1"/>
          <p:nvPr/>
        </p:nvSpPr>
        <p:spPr>
          <a:xfrm>
            <a:off x="685800" y="2194560"/>
            <a:ext cx="2148840" cy="457200"/>
          </a:xfrm>
          <a:prstGeom prst="rect">
            <a:avLst/>
          </a:prstGeom>
          <a:noFill/>
          <a:ln/>
        </p:spPr>
        <p:txBody>
          <a:bodyPr wrap="square" lIns="0" tIns="0" rIns="0" bIns="0" rtlCol="0" anchor="t"/>
          <a:lstStyle/>
          <a:p>
            <a:pPr marL="0" indent="0" algn="l">
              <a:lnSpc>
                <a:spcPct val="100000"/>
              </a:lnSpc>
              <a:buNone/>
            </a:pPr>
            <a:r>
              <a:rPr lang="en-US" sz="1400" b="1" dirty="0">
                <a:solidFill>
                  <a:srgbClr val="231F20"/>
                </a:solidFill>
                <a:latin typeface="Calibri" pitchFamily="34" charset="0"/>
                <a:ea typeface="Calibri" pitchFamily="34" charset="-122"/>
                <a:cs typeface="Calibri" pitchFamily="34" charset="-120"/>
              </a:rPr>
              <a:t>Which system?</a:t>
            </a:r>
            <a:endParaRPr lang="en-US" sz="1400" dirty="0"/>
          </a:p>
        </p:txBody>
      </p:sp>
      <p:sp>
        <p:nvSpPr>
          <p:cNvPr id="14" name="Text 11"/>
          <p:cNvSpPr txBox="1"/>
          <p:nvPr/>
        </p:nvSpPr>
        <p:spPr>
          <a:xfrm>
            <a:off x="685800" y="2679192"/>
            <a:ext cx="2148840" cy="1280160"/>
          </a:xfrm>
          <a:prstGeom prst="rect">
            <a:avLst/>
          </a:prstGeom>
          <a:noFill/>
          <a:ln/>
        </p:spPr>
        <p:txBody>
          <a:bodyPr wrap="square" lIns="0" tIns="0" rIns="0" bIns="0" rtlCol="0" anchor="t"/>
          <a:lstStyle/>
          <a:p>
            <a:pPr marL="0" indent="0" algn="l">
              <a:lnSpc>
                <a:spcPct val="100000"/>
              </a:lnSpc>
              <a:buNone/>
            </a:pPr>
            <a:r>
              <a:rPr lang="en-US" sz="1100" dirty="0">
                <a:solidFill>
                  <a:srgbClr val="5E6964"/>
                </a:solidFill>
                <a:latin typeface="Calibri" pitchFamily="34" charset="0"/>
                <a:ea typeface="Calibri" pitchFamily="34" charset="-122"/>
                <a:cs typeface="Calibri" pitchFamily="34" charset="-120"/>
              </a:rPr>
              <a:t>Windows, macOS or Linux. Commands differ slightly, and every slide gives all three.</a:t>
            </a:r>
            <a:endParaRPr lang="en-US" sz="1100" dirty="0"/>
          </a:p>
        </p:txBody>
      </p:sp>
      <p:sp>
        <p:nvSpPr>
          <p:cNvPr id="15" name="Shape 12"/>
          <p:cNvSpPr/>
          <p:nvPr/>
        </p:nvSpPr>
        <p:spPr>
          <a:xfrm>
            <a:off x="3268980" y="1325880"/>
            <a:ext cx="2606040" cy="2743200"/>
          </a:xfrm>
          <a:prstGeom prst="roundRect">
            <a:avLst>
              <a:gd name="adj" fmla="val 2807"/>
            </a:avLst>
          </a:prstGeom>
          <a:solidFill>
            <a:srgbClr val="E8F5EF"/>
          </a:solidFill>
          <a:ln w="19050">
            <a:solidFill>
              <a:srgbClr val="D49A00"/>
            </a:solidFill>
            <a:prstDash val="solid"/>
          </a:ln>
        </p:spPr>
      </p:sp>
      <p:sp>
        <p:nvSpPr>
          <p:cNvPr id="16" name="Text 13"/>
          <p:cNvSpPr txBox="1"/>
          <p:nvPr/>
        </p:nvSpPr>
        <p:spPr>
          <a:xfrm>
            <a:off x="3497580" y="1508760"/>
            <a:ext cx="1097280" cy="548640"/>
          </a:xfrm>
          <a:prstGeom prst="rect">
            <a:avLst/>
          </a:prstGeom>
          <a:noFill/>
          <a:ln/>
        </p:spPr>
        <p:txBody>
          <a:bodyPr wrap="square" lIns="0" tIns="0" rIns="0" bIns="0" rtlCol="0" anchor="t"/>
          <a:lstStyle/>
          <a:p>
            <a:pPr marL="0" indent="0" algn="l">
              <a:lnSpc>
                <a:spcPct val="100000"/>
              </a:lnSpc>
              <a:buNone/>
            </a:pPr>
            <a:r>
              <a:rPr lang="en-US" sz="3200" b="1" dirty="0">
                <a:solidFill>
                  <a:srgbClr val="D49A00"/>
                </a:solidFill>
                <a:latin typeface="Calibri" pitchFamily="34" charset="0"/>
                <a:ea typeface="Calibri" pitchFamily="34" charset="-122"/>
                <a:cs typeface="Calibri" pitchFamily="34" charset="-120"/>
              </a:rPr>
              <a:t>02</a:t>
            </a:r>
            <a:endParaRPr lang="en-US" sz="3200" dirty="0"/>
          </a:p>
        </p:txBody>
      </p:sp>
      <p:sp>
        <p:nvSpPr>
          <p:cNvPr id="17" name="Shape 14"/>
          <p:cNvSpPr/>
          <p:nvPr/>
        </p:nvSpPr>
        <p:spPr>
          <a:xfrm>
            <a:off x="5097780" y="1554480"/>
            <a:ext cx="530352" cy="530352"/>
          </a:xfrm>
          <a:prstGeom prst="ellipse">
            <a:avLst/>
          </a:prstGeom>
          <a:solidFill>
            <a:srgbClr val="D49A00">
              <a:alpha val="22000"/>
            </a:srgbClr>
          </a:solidFill>
          <a:ln/>
        </p:spPr>
      </p:sp>
      <p:pic>
        <p:nvPicPr>
          <p:cNvPr id="18" name="Image 1" descr="preencoded.png"/>
          <p:cNvPicPr>
            <a:picLocks noChangeAspect="1"/>
          </p:cNvPicPr>
          <p:nvPr/>
        </p:nvPicPr>
        <p:blipFill>
          <a:blip r:embed="rId4"/>
          <a:stretch>
            <a:fillRect/>
          </a:stretch>
        </p:blipFill>
        <p:spPr>
          <a:xfrm>
            <a:off x="5230368" y="1687068"/>
            <a:ext cx="265176" cy="265176"/>
          </a:xfrm>
          <a:prstGeom prst="rect">
            <a:avLst/>
          </a:prstGeom>
        </p:spPr>
      </p:pic>
      <p:sp>
        <p:nvSpPr>
          <p:cNvPr id="19" name="Text 15"/>
          <p:cNvSpPr txBox="1"/>
          <p:nvPr/>
        </p:nvSpPr>
        <p:spPr>
          <a:xfrm>
            <a:off x="3497580" y="2194560"/>
            <a:ext cx="2148840" cy="457200"/>
          </a:xfrm>
          <a:prstGeom prst="rect">
            <a:avLst/>
          </a:prstGeom>
          <a:noFill/>
          <a:ln/>
        </p:spPr>
        <p:txBody>
          <a:bodyPr wrap="square" lIns="0" tIns="0" rIns="0" bIns="0" rtlCol="0" anchor="t"/>
          <a:lstStyle/>
          <a:p>
            <a:pPr marL="0" indent="0" algn="l">
              <a:lnSpc>
                <a:spcPct val="100000"/>
              </a:lnSpc>
              <a:buNone/>
            </a:pPr>
            <a:r>
              <a:rPr lang="en-US" sz="1400" b="1" dirty="0">
                <a:solidFill>
                  <a:srgbClr val="231F20"/>
                </a:solidFill>
                <a:latin typeface="Calibri" pitchFamily="34" charset="0"/>
                <a:ea typeface="Calibri" pitchFamily="34" charset="-122"/>
                <a:cs typeface="Calibri" pitchFamily="34" charset="-120"/>
              </a:rPr>
              <a:t>Can you install software?</a:t>
            </a:r>
            <a:endParaRPr lang="en-US" sz="1400" dirty="0"/>
          </a:p>
        </p:txBody>
      </p:sp>
      <p:sp>
        <p:nvSpPr>
          <p:cNvPr id="20" name="Text 16"/>
          <p:cNvSpPr txBox="1"/>
          <p:nvPr/>
        </p:nvSpPr>
        <p:spPr>
          <a:xfrm>
            <a:off x="3497580" y="2679192"/>
            <a:ext cx="2148840" cy="1280160"/>
          </a:xfrm>
          <a:prstGeom prst="rect">
            <a:avLst/>
          </a:prstGeom>
          <a:noFill/>
          <a:ln/>
        </p:spPr>
        <p:txBody>
          <a:bodyPr wrap="square" lIns="0" tIns="0" rIns="0" bIns="0" rtlCol="0" anchor="t"/>
          <a:lstStyle/>
          <a:p>
            <a:pPr marL="0" indent="0" algn="l">
              <a:lnSpc>
                <a:spcPct val="100000"/>
              </a:lnSpc>
              <a:buNone/>
            </a:pPr>
            <a:r>
              <a:rPr lang="en-US" sz="1100" dirty="0">
                <a:solidFill>
                  <a:srgbClr val="5E6964"/>
                </a:solidFill>
                <a:latin typeface="Calibri" pitchFamily="34" charset="0"/>
                <a:ea typeface="Calibri" pitchFamily="34" charset="-122"/>
                <a:cs typeface="Calibri" pitchFamily="34" charset="-120"/>
              </a:rPr>
              <a:t>On a work computer, installing software is sometimes reserved for IT. Check this </a:t>
            </a:r>
            <a:r>
              <a:rPr lang="en-US" sz="1100" b="1" dirty="0">
                <a:solidFill>
                  <a:srgbClr val="5E6964"/>
                </a:solidFill>
                <a:latin typeface="Calibri" pitchFamily="34" charset="0"/>
                <a:ea typeface="Calibri" pitchFamily="34" charset="-122"/>
                <a:cs typeface="Calibri" pitchFamily="34" charset="-120"/>
              </a:rPr>
              <a:t>before you start</a:t>
            </a:r>
            <a:r>
              <a:rPr lang="en-US" sz="1100" dirty="0">
                <a:solidFill>
                  <a:srgbClr val="5E6964"/>
                </a:solidFill>
                <a:latin typeface="Calibri" pitchFamily="34" charset="0"/>
                <a:ea typeface="Calibri" pitchFamily="34" charset="-122"/>
                <a:cs typeface="Calibri" pitchFamily="34" charset="-120"/>
              </a:rPr>
              <a:t>: it is the only obstacle you cannot remove yourself.</a:t>
            </a:r>
            <a:endParaRPr lang="en-US" sz="1100" dirty="0"/>
          </a:p>
        </p:txBody>
      </p:sp>
      <p:sp>
        <p:nvSpPr>
          <p:cNvPr id="21" name="Shape 17"/>
          <p:cNvSpPr/>
          <p:nvPr/>
        </p:nvSpPr>
        <p:spPr>
          <a:xfrm>
            <a:off x="6080760" y="1325880"/>
            <a:ext cx="2606040" cy="2743200"/>
          </a:xfrm>
          <a:prstGeom prst="roundRect">
            <a:avLst>
              <a:gd name="adj" fmla="val 2807"/>
            </a:avLst>
          </a:prstGeom>
          <a:solidFill>
            <a:srgbClr val="F4F7F5"/>
          </a:solidFill>
          <a:ln w="9525">
            <a:solidFill>
              <a:srgbClr val="D5DED9"/>
            </a:solidFill>
            <a:prstDash val="solid"/>
          </a:ln>
        </p:spPr>
      </p:sp>
      <p:sp>
        <p:nvSpPr>
          <p:cNvPr id="22" name="Text 18"/>
          <p:cNvSpPr txBox="1"/>
          <p:nvPr/>
        </p:nvSpPr>
        <p:spPr>
          <a:xfrm>
            <a:off x="6309360" y="1508760"/>
            <a:ext cx="1097280" cy="548640"/>
          </a:xfrm>
          <a:prstGeom prst="rect">
            <a:avLst/>
          </a:prstGeom>
          <a:noFill/>
          <a:ln/>
        </p:spPr>
        <p:txBody>
          <a:bodyPr wrap="square" lIns="0" tIns="0" rIns="0" bIns="0" rtlCol="0" anchor="t"/>
          <a:lstStyle/>
          <a:p>
            <a:pPr marL="0" indent="0" algn="l">
              <a:lnSpc>
                <a:spcPct val="100000"/>
              </a:lnSpc>
              <a:buNone/>
            </a:pPr>
            <a:r>
              <a:rPr lang="en-US" sz="3200" b="1" dirty="0">
                <a:solidFill>
                  <a:srgbClr val="00A86A"/>
                </a:solidFill>
                <a:latin typeface="Calibri" pitchFamily="34" charset="0"/>
                <a:ea typeface="Calibri" pitchFamily="34" charset="-122"/>
                <a:cs typeface="Calibri" pitchFamily="34" charset="-120"/>
              </a:rPr>
              <a:t>03</a:t>
            </a:r>
            <a:endParaRPr lang="en-US" sz="3200" dirty="0"/>
          </a:p>
        </p:txBody>
      </p:sp>
      <p:sp>
        <p:nvSpPr>
          <p:cNvPr id="23" name="Shape 19"/>
          <p:cNvSpPr/>
          <p:nvPr/>
        </p:nvSpPr>
        <p:spPr>
          <a:xfrm>
            <a:off x="7909560" y="1554480"/>
            <a:ext cx="530352" cy="530352"/>
          </a:xfrm>
          <a:prstGeom prst="ellipse">
            <a:avLst/>
          </a:prstGeom>
          <a:solidFill>
            <a:srgbClr val="00A86A">
              <a:alpha val="22000"/>
            </a:srgbClr>
          </a:solidFill>
          <a:ln/>
        </p:spPr>
      </p:sp>
      <p:pic>
        <p:nvPicPr>
          <p:cNvPr id="24" name="Image 2" descr="preencoded.png"/>
          <p:cNvPicPr>
            <a:picLocks noChangeAspect="1"/>
          </p:cNvPicPr>
          <p:nvPr/>
        </p:nvPicPr>
        <p:blipFill>
          <a:blip r:embed="rId5"/>
          <a:stretch>
            <a:fillRect/>
          </a:stretch>
        </p:blipFill>
        <p:spPr>
          <a:xfrm>
            <a:off x="8042148" y="1687068"/>
            <a:ext cx="265176" cy="265176"/>
          </a:xfrm>
          <a:prstGeom prst="rect">
            <a:avLst/>
          </a:prstGeom>
        </p:spPr>
      </p:pic>
      <p:sp>
        <p:nvSpPr>
          <p:cNvPr id="25" name="Text 20"/>
          <p:cNvSpPr txBox="1"/>
          <p:nvPr/>
        </p:nvSpPr>
        <p:spPr>
          <a:xfrm>
            <a:off x="6309360" y="2194560"/>
            <a:ext cx="2148840" cy="457200"/>
          </a:xfrm>
          <a:prstGeom prst="rect">
            <a:avLst/>
          </a:prstGeom>
          <a:noFill/>
          <a:ln/>
        </p:spPr>
        <p:txBody>
          <a:bodyPr wrap="square" lIns="0" tIns="0" rIns="0" bIns="0" rtlCol="0" anchor="t"/>
          <a:lstStyle/>
          <a:p>
            <a:pPr marL="0" indent="0" algn="l">
              <a:lnSpc>
                <a:spcPct val="100000"/>
              </a:lnSpc>
              <a:buNone/>
            </a:pPr>
            <a:r>
              <a:rPr lang="en-US" sz="1400" b="1" dirty="0">
                <a:solidFill>
                  <a:srgbClr val="231F20"/>
                </a:solidFill>
                <a:latin typeface="Calibri" pitchFamily="34" charset="0"/>
                <a:ea typeface="Calibri" pitchFamily="34" charset="-122"/>
                <a:cs typeface="Calibri" pitchFamily="34" charset="-120"/>
              </a:rPr>
              <a:t>An Internet connection</a:t>
            </a:r>
            <a:endParaRPr lang="en-US" sz="1400" dirty="0"/>
          </a:p>
        </p:txBody>
      </p:sp>
      <p:sp>
        <p:nvSpPr>
          <p:cNvPr id="26" name="Text 21"/>
          <p:cNvSpPr txBox="1"/>
          <p:nvPr/>
        </p:nvSpPr>
        <p:spPr>
          <a:xfrm>
            <a:off x="6309360" y="2679192"/>
            <a:ext cx="2148840" cy="1280160"/>
          </a:xfrm>
          <a:prstGeom prst="rect">
            <a:avLst/>
          </a:prstGeom>
          <a:noFill/>
          <a:ln/>
        </p:spPr>
        <p:txBody>
          <a:bodyPr wrap="square" lIns="0" tIns="0" rIns="0" bIns="0" rtlCol="0" anchor="t"/>
          <a:lstStyle/>
          <a:p>
            <a:pPr marL="0" indent="0" algn="l">
              <a:lnSpc>
                <a:spcPct val="100000"/>
              </a:lnSpc>
              <a:buNone/>
            </a:pPr>
            <a:r>
              <a:rPr lang="en-US" sz="1100" dirty="0">
                <a:solidFill>
                  <a:srgbClr val="5E6964"/>
                </a:solidFill>
                <a:latin typeface="Calibri" pitchFamily="34" charset="0"/>
                <a:ea typeface="Calibri" pitchFamily="34" charset="-122"/>
                <a:cs typeface="Calibri" pitchFamily="34" charset="-120"/>
              </a:rPr>
              <a:t>The download is about thirty megabytes for Python, a little more for JupyterLab.</a:t>
            </a:r>
            <a:endParaRPr lang="en-US" sz="1100" dirty="0"/>
          </a:p>
        </p:txBody>
      </p:sp>
      <p:sp>
        <p:nvSpPr>
          <p:cNvPr id="27" name="Shape 22"/>
          <p:cNvSpPr/>
          <p:nvPr/>
        </p:nvSpPr>
        <p:spPr>
          <a:xfrm>
            <a:off x="457200" y="4251960"/>
            <a:ext cx="310896" cy="310896"/>
          </a:xfrm>
          <a:prstGeom prst="ellipse">
            <a:avLst/>
          </a:prstGeom>
          <a:solidFill>
            <a:srgbClr val="00A86A">
              <a:alpha val="22000"/>
            </a:srgbClr>
          </a:solidFill>
          <a:ln/>
        </p:spPr>
      </p:sp>
      <p:pic>
        <p:nvPicPr>
          <p:cNvPr id="28" name="Image 3" descr="preencoded.png"/>
          <p:cNvPicPr>
            <a:picLocks noChangeAspect="1"/>
          </p:cNvPicPr>
          <p:nvPr/>
        </p:nvPicPr>
        <p:blipFill>
          <a:blip r:embed="rId6"/>
          <a:stretch>
            <a:fillRect/>
          </a:stretch>
        </p:blipFill>
        <p:spPr>
          <a:xfrm>
            <a:off x="534924" y="4329684"/>
            <a:ext cx="155448" cy="155448"/>
          </a:xfrm>
          <a:prstGeom prst="rect">
            <a:avLst/>
          </a:prstGeom>
        </p:spPr>
      </p:pic>
      <p:sp>
        <p:nvSpPr>
          <p:cNvPr id="29" name="Text 23"/>
          <p:cNvSpPr txBox="1"/>
          <p:nvPr/>
        </p:nvSpPr>
        <p:spPr>
          <a:xfrm>
            <a:off x="896112" y="4251960"/>
            <a:ext cx="7315200" cy="310896"/>
          </a:xfrm>
          <a:prstGeom prst="rect">
            <a:avLst/>
          </a:prstGeom>
          <a:noFill/>
          <a:ln/>
        </p:spPr>
        <p:txBody>
          <a:bodyPr wrap="square" lIns="0" tIns="0" rIns="0" bIns="0" rtlCol="0" anchor="ctr"/>
          <a:lstStyle/>
          <a:p>
            <a:pPr marL="0" indent="0" algn="l">
              <a:lnSpc>
                <a:spcPct val="100000"/>
              </a:lnSpc>
              <a:buNone/>
            </a:pPr>
            <a:r>
              <a:rPr lang="en-US" sz="1150" i="1" dirty="0">
                <a:solidFill>
                  <a:srgbClr val="5E6964"/>
                </a:solidFill>
                <a:latin typeface="Calibri" pitchFamily="34" charset="0"/>
                <a:ea typeface="Calibri" pitchFamily="34" charset="-122"/>
                <a:cs typeface="Calibri" pitchFamily="34" charset="-120"/>
              </a:rPr>
              <a:t>None of these three points requires any knowledge of Python.</a:t>
            </a:r>
            <a:endParaRPr lang="en-US" sz="1150" dirty="0"/>
          </a:p>
        </p:txBody>
      </p:sp>
      <p:sp>
        <p:nvSpPr>
          <p:cNvPr id="30"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6583680" cy="219456"/>
          </a:xfrm>
          <a:prstGeom prst="rect">
            <a:avLst/>
          </a:prstGeom>
          <a:noFill/>
          <a:ln/>
        </p:spPr>
        <p:txBody>
          <a:bodyPr wrap="square" lIns="0" tIns="0" rIns="0" bIns="0" rtlCol="0" anchor="t"/>
          <a:lstStyle/>
          <a:p>
            <a:pPr marL="0" indent="0" algn="l">
              <a:lnSpc>
                <a:spcPct val="100000"/>
              </a:lnSpc>
              <a:buNone/>
            </a:pPr>
            <a:r>
              <a:rPr lang="en-US" sz="1050" b="1" kern="0" spc="300" dirty="0">
                <a:solidFill>
                  <a:srgbClr val="00704A"/>
                </a:solidFill>
                <a:latin typeface="Calibri" pitchFamily="34" charset="0"/>
                <a:ea typeface="Calibri" pitchFamily="34" charset="-122"/>
                <a:cs typeface="Calibri" pitchFamily="34" charset="-120"/>
              </a:rPr>
              <a:t>02 · CHECK</a:t>
            </a:r>
            <a:endParaRPr lang="en-US" sz="1050" dirty="0"/>
          </a:p>
        </p:txBody>
      </p:sp>
      <p:sp>
        <p:nvSpPr>
          <p:cNvPr id="3" name="Text 1"/>
          <p:cNvSpPr txBox="1"/>
          <p:nvPr/>
        </p:nvSpPr>
        <p:spPr>
          <a:xfrm>
            <a:off x="457200" y="502920"/>
            <a:ext cx="7315200" cy="502920"/>
          </a:xfrm>
          <a:prstGeom prst="rect">
            <a:avLst/>
          </a:prstGeom>
          <a:noFill/>
          <a:ln/>
        </p:spPr>
        <p:txBody>
          <a:bodyPr wrap="square" lIns="0" tIns="0" rIns="0" bIns="0" rtlCol="0" anchor="ctr"/>
          <a:lstStyle/>
          <a:p>
            <a:pPr marL="0" indent="0" algn="l">
              <a:lnSpc>
                <a:spcPct val="100000"/>
              </a:lnSpc>
              <a:buNone/>
            </a:pPr>
            <a:r>
              <a:rPr lang="en-US" sz="2800" b="1" dirty="0">
                <a:solidFill>
                  <a:srgbClr val="231F20"/>
                </a:solidFill>
                <a:latin typeface="Calibri" pitchFamily="34" charset="0"/>
                <a:ea typeface="Calibri" pitchFamily="34" charset="-122"/>
                <a:cs typeface="Calibri" pitchFamily="34" charset="-120"/>
              </a:rPr>
              <a:t>Python may already be installed</a:t>
            </a:r>
            <a:endParaRPr lang="en-US" sz="2800" dirty="0"/>
          </a:p>
        </p:txBody>
      </p:sp>
      <p:sp>
        <p:nvSpPr>
          <p:cNvPr id="4" name="Shape 2"/>
          <p:cNvSpPr/>
          <p:nvPr/>
        </p:nvSpPr>
        <p:spPr>
          <a:xfrm>
            <a:off x="7854696" y="338328"/>
            <a:ext cx="100584" cy="100584"/>
          </a:xfrm>
          <a:prstGeom prst="ellipse">
            <a:avLst/>
          </a:prstGeom>
          <a:solidFill>
            <a:srgbClr val="D5DED9"/>
          </a:solidFill>
          <a:ln/>
        </p:spPr>
      </p:sp>
      <p:sp>
        <p:nvSpPr>
          <p:cNvPr id="5" name="Shape 3"/>
          <p:cNvSpPr/>
          <p:nvPr/>
        </p:nvSpPr>
        <p:spPr>
          <a:xfrm>
            <a:off x="8037576" y="338328"/>
            <a:ext cx="100584" cy="100584"/>
          </a:xfrm>
          <a:prstGeom prst="ellipse">
            <a:avLst/>
          </a:prstGeom>
          <a:solidFill>
            <a:srgbClr val="00704A"/>
          </a:solidFill>
          <a:ln/>
        </p:spPr>
      </p:sp>
      <p:sp>
        <p:nvSpPr>
          <p:cNvPr id="6" name="Shape 4"/>
          <p:cNvSpPr/>
          <p:nvPr/>
        </p:nvSpPr>
        <p:spPr>
          <a:xfrm>
            <a:off x="8220456" y="338328"/>
            <a:ext cx="100584" cy="100584"/>
          </a:xfrm>
          <a:prstGeom prst="ellipse">
            <a:avLst/>
          </a:prstGeom>
          <a:solidFill>
            <a:srgbClr val="D5DED9"/>
          </a:solidFill>
          <a:ln/>
        </p:spPr>
      </p:sp>
      <p:sp>
        <p:nvSpPr>
          <p:cNvPr id="7" name="Shape 5"/>
          <p:cNvSpPr/>
          <p:nvPr/>
        </p:nvSpPr>
        <p:spPr>
          <a:xfrm>
            <a:off x="8403336" y="338328"/>
            <a:ext cx="100584" cy="100584"/>
          </a:xfrm>
          <a:prstGeom prst="ellipse">
            <a:avLst/>
          </a:prstGeom>
          <a:solidFill>
            <a:srgbClr val="D5DED9"/>
          </a:solidFill>
          <a:ln/>
        </p:spPr>
      </p:sp>
      <p:sp>
        <p:nvSpPr>
          <p:cNvPr id="8" name="Shape 6"/>
          <p:cNvSpPr/>
          <p:nvPr/>
        </p:nvSpPr>
        <p:spPr>
          <a:xfrm>
            <a:off x="8586216" y="338328"/>
            <a:ext cx="100584" cy="100584"/>
          </a:xfrm>
          <a:prstGeom prst="ellipse">
            <a:avLst/>
          </a:prstGeom>
          <a:solidFill>
            <a:srgbClr val="D5DED9"/>
          </a:solidFill>
          <a:ln/>
        </p:spPr>
      </p:sp>
      <p:sp>
        <p:nvSpPr>
          <p:cNvPr id="9" name="Text 7"/>
          <p:cNvSpPr txBox="1"/>
          <p:nvPr/>
        </p:nvSpPr>
        <p:spPr>
          <a:xfrm>
            <a:off x="457200" y="1069848"/>
            <a:ext cx="8229600" cy="274320"/>
          </a:xfrm>
          <a:prstGeom prst="rect">
            <a:avLst/>
          </a:prstGeom>
          <a:noFill/>
          <a:ln/>
        </p:spPr>
        <p:txBody>
          <a:bodyPr wrap="square" lIns="0" tIns="0" rIns="0" bIns="0" rtlCol="0" anchor="t"/>
          <a:lstStyle/>
          <a:p>
            <a:pPr marL="0" indent="0" algn="l">
              <a:lnSpc>
                <a:spcPct val="100000"/>
              </a:lnSpc>
              <a:buNone/>
            </a:pPr>
            <a:r>
              <a:rPr lang="en-US" sz="1150" dirty="0">
                <a:solidFill>
                  <a:srgbClr val="5E6964"/>
                </a:solidFill>
                <a:latin typeface="Calibri" pitchFamily="34" charset="0"/>
                <a:ea typeface="Calibri" pitchFamily="34" charset="-122"/>
                <a:cs typeface="Calibri" pitchFamily="34" charset="-120"/>
              </a:rPr>
              <a:t>Open a terminal and type this command. It changes nothing: it simply asks Python to introduce itself.</a:t>
            </a:r>
            <a:endParaRPr lang="en-US" sz="1150" dirty="0"/>
          </a:p>
        </p:txBody>
      </p:sp>
      <p:sp>
        <p:nvSpPr>
          <p:cNvPr id="10" name="Shape 8"/>
          <p:cNvSpPr/>
          <p:nvPr/>
        </p:nvSpPr>
        <p:spPr>
          <a:xfrm>
            <a:off x="457200" y="1417320"/>
            <a:ext cx="4023360" cy="841248"/>
          </a:xfrm>
          <a:prstGeom prst="roundRect">
            <a:avLst>
              <a:gd name="adj" fmla="val 8696"/>
            </a:avLst>
          </a:prstGeom>
          <a:solidFill>
            <a:srgbClr val="F4F7F5"/>
          </a:solidFill>
          <a:ln w="9525">
            <a:solidFill>
              <a:srgbClr val="D5DED9"/>
            </a:solidFill>
            <a:prstDash val="solid"/>
          </a:ln>
        </p:spPr>
      </p:sp>
      <p:sp>
        <p:nvSpPr>
          <p:cNvPr id="11" name="Text 9"/>
          <p:cNvSpPr txBox="1"/>
          <p:nvPr/>
        </p:nvSpPr>
        <p:spPr>
          <a:xfrm>
            <a:off x="640080" y="1490472"/>
            <a:ext cx="3657600" cy="182880"/>
          </a:xfrm>
          <a:prstGeom prst="rect">
            <a:avLst/>
          </a:prstGeom>
          <a:noFill/>
          <a:ln/>
        </p:spPr>
        <p:txBody>
          <a:bodyPr wrap="square" lIns="0" tIns="0" rIns="0" bIns="0" rtlCol="0" anchor="t"/>
          <a:lstStyle/>
          <a:p>
            <a:pPr marL="0" indent="0" algn="l">
              <a:lnSpc>
                <a:spcPct val="100000"/>
              </a:lnSpc>
              <a:buNone/>
            </a:pPr>
            <a:r>
              <a:rPr lang="en-US" sz="900" b="1" kern="0" spc="100" dirty="0">
                <a:solidFill>
                  <a:srgbClr val="00704A"/>
                </a:solidFill>
                <a:latin typeface="Calibri" pitchFamily="34" charset="0"/>
                <a:ea typeface="Calibri" pitchFamily="34" charset="-122"/>
                <a:cs typeface="Calibri" pitchFamily="34" charset="-120"/>
              </a:rPr>
              <a:t>WINDOWS — COMMAND PROMPT OR POWERSHELL</a:t>
            </a:r>
            <a:endParaRPr lang="en-US" sz="900" dirty="0"/>
          </a:p>
        </p:txBody>
      </p:sp>
      <p:sp>
        <p:nvSpPr>
          <p:cNvPr id="12" name="Text 10"/>
          <p:cNvSpPr txBox="1"/>
          <p:nvPr/>
        </p:nvSpPr>
        <p:spPr>
          <a:xfrm>
            <a:off x="640080" y="1691640"/>
            <a:ext cx="3657600" cy="274320"/>
          </a:xfrm>
          <a:prstGeom prst="rect">
            <a:avLst/>
          </a:prstGeom>
          <a:noFill/>
          <a:ln/>
        </p:spPr>
        <p:txBody>
          <a:bodyPr wrap="square" lIns="0" tIns="0" rIns="0" bIns="0" rtlCol="0" anchor="t"/>
          <a:lstStyle/>
          <a:p>
            <a:pPr marL="0" indent="0" algn="l">
              <a:lnSpc>
                <a:spcPct val="100000"/>
              </a:lnSpc>
              <a:buNone/>
            </a:pPr>
            <a:r>
              <a:rPr lang="en-US" sz="1500" b="1" dirty="0">
                <a:solidFill>
                  <a:srgbClr val="231F20"/>
                </a:solidFill>
                <a:latin typeface="Courier New" pitchFamily="34" charset="0"/>
                <a:ea typeface="Courier New" pitchFamily="34" charset="-122"/>
                <a:cs typeface="Courier New" pitchFamily="34" charset="-120"/>
              </a:rPr>
              <a:t>python --version</a:t>
            </a:r>
            <a:endParaRPr lang="en-US" sz="1500" dirty="0"/>
          </a:p>
        </p:txBody>
      </p:sp>
      <p:sp>
        <p:nvSpPr>
          <p:cNvPr id="13" name="Text 11"/>
          <p:cNvSpPr txBox="1"/>
          <p:nvPr/>
        </p:nvSpPr>
        <p:spPr>
          <a:xfrm>
            <a:off x="640080" y="1993392"/>
            <a:ext cx="3657600" cy="201168"/>
          </a:xfrm>
          <a:prstGeom prst="rect">
            <a:avLst/>
          </a:prstGeom>
          <a:noFill/>
          <a:ln/>
        </p:spPr>
        <p:txBody>
          <a:bodyPr wrap="square" lIns="0" tIns="0" rIns="0" bIns="0" rtlCol="0" anchor="t"/>
          <a:lstStyle/>
          <a:p>
            <a:pPr marL="0" indent="0" algn="l">
              <a:lnSpc>
                <a:spcPct val="100000"/>
              </a:lnSpc>
              <a:buNone/>
            </a:pPr>
            <a:r>
              <a:rPr lang="en-US" sz="950" i="1" dirty="0">
                <a:solidFill>
                  <a:srgbClr val="5E6964"/>
                </a:solidFill>
                <a:latin typeface="Calibri" pitchFamily="34" charset="0"/>
                <a:ea typeface="Calibri" pitchFamily="34" charset="-122"/>
                <a:cs typeface="Calibri" pitchFamily="34" charset="-120"/>
              </a:rPr>
              <a:t>if nothing happens: </a:t>
            </a:r>
            <a:r>
              <a:rPr lang="en-US" sz="950" b="1" i="1" dirty="0">
                <a:solidFill>
                  <a:srgbClr val="5E6964"/>
                </a:solidFill>
                <a:latin typeface="Courier New" pitchFamily="34" charset="0"/>
                <a:ea typeface="Courier New" pitchFamily="34" charset="-122"/>
                <a:cs typeface="Courier New" pitchFamily="34" charset="-120"/>
              </a:rPr>
              <a:t>py --version</a:t>
            </a:r>
            <a:endParaRPr lang="en-US" sz="950" dirty="0"/>
          </a:p>
        </p:txBody>
      </p:sp>
      <p:sp>
        <p:nvSpPr>
          <p:cNvPr id="14" name="Shape 12"/>
          <p:cNvSpPr/>
          <p:nvPr/>
        </p:nvSpPr>
        <p:spPr>
          <a:xfrm>
            <a:off x="4663440" y="1417320"/>
            <a:ext cx="4023360" cy="841248"/>
          </a:xfrm>
          <a:prstGeom prst="roundRect">
            <a:avLst>
              <a:gd name="adj" fmla="val 8696"/>
            </a:avLst>
          </a:prstGeom>
          <a:solidFill>
            <a:srgbClr val="F4F7F5"/>
          </a:solidFill>
          <a:ln w="9525">
            <a:solidFill>
              <a:srgbClr val="D5DED9"/>
            </a:solidFill>
            <a:prstDash val="solid"/>
          </a:ln>
        </p:spPr>
      </p:sp>
      <p:sp>
        <p:nvSpPr>
          <p:cNvPr id="15" name="Text 13"/>
          <p:cNvSpPr txBox="1"/>
          <p:nvPr/>
        </p:nvSpPr>
        <p:spPr>
          <a:xfrm>
            <a:off x="4846320" y="1490472"/>
            <a:ext cx="3657600" cy="182880"/>
          </a:xfrm>
          <a:prstGeom prst="rect">
            <a:avLst/>
          </a:prstGeom>
          <a:noFill/>
          <a:ln/>
        </p:spPr>
        <p:txBody>
          <a:bodyPr wrap="square" lIns="0" tIns="0" rIns="0" bIns="0" rtlCol="0" anchor="t"/>
          <a:lstStyle/>
          <a:p>
            <a:pPr marL="0" indent="0" algn="l">
              <a:lnSpc>
                <a:spcPct val="100000"/>
              </a:lnSpc>
              <a:buNone/>
            </a:pPr>
            <a:r>
              <a:rPr lang="en-US" sz="900" b="1" kern="0" spc="100" dirty="0">
                <a:solidFill>
                  <a:srgbClr val="00704A"/>
                </a:solidFill>
                <a:latin typeface="Calibri" pitchFamily="34" charset="0"/>
                <a:ea typeface="Calibri" pitchFamily="34" charset="-122"/>
                <a:cs typeface="Calibri" pitchFamily="34" charset="-120"/>
              </a:rPr>
              <a:t>MACOS AND LINUX — TERMINAL</a:t>
            </a:r>
            <a:endParaRPr lang="en-US" sz="900" dirty="0"/>
          </a:p>
        </p:txBody>
      </p:sp>
      <p:sp>
        <p:nvSpPr>
          <p:cNvPr id="16" name="Text 14"/>
          <p:cNvSpPr txBox="1"/>
          <p:nvPr/>
        </p:nvSpPr>
        <p:spPr>
          <a:xfrm>
            <a:off x="4846320" y="1691640"/>
            <a:ext cx="3657600" cy="274320"/>
          </a:xfrm>
          <a:prstGeom prst="rect">
            <a:avLst/>
          </a:prstGeom>
          <a:noFill/>
          <a:ln/>
        </p:spPr>
        <p:txBody>
          <a:bodyPr wrap="square" lIns="0" tIns="0" rIns="0" bIns="0" rtlCol="0" anchor="t"/>
          <a:lstStyle/>
          <a:p>
            <a:pPr marL="0" indent="0" algn="l">
              <a:lnSpc>
                <a:spcPct val="100000"/>
              </a:lnSpc>
              <a:buNone/>
            </a:pPr>
            <a:r>
              <a:rPr lang="en-US" sz="1500" b="1" dirty="0">
                <a:solidFill>
                  <a:srgbClr val="231F20"/>
                </a:solidFill>
                <a:latin typeface="Courier New" pitchFamily="34" charset="0"/>
                <a:ea typeface="Courier New" pitchFamily="34" charset="-122"/>
                <a:cs typeface="Courier New" pitchFamily="34" charset="-120"/>
              </a:rPr>
              <a:t>python3 --version</a:t>
            </a:r>
            <a:endParaRPr lang="en-US" sz="1500" dirty="0"/>
          </a:p>
        </p:txBody>
      </p:sp>
      <p:sp>
        <p:nvSpPr>
          <p:cNvPr id="17" name="Text 15"/>
          <p:cNvSpPr txBox="1"/>
          <p:nvPr/>
        </p:nvSpPr>
        <p:spPr>
          <a:xfrm>
            <a:off x="4846320" y="1993392"/>
            <a:ext cx="3657600" cy="201168"/>
          </a:xfrm>
          <a:prstGeom prst="rect">
            <a:avLst/>
          </a:prstGeom>
          <a:noFill/>
          <a:ln/>
        </p:spPr>
        <p:txBody>
          <a:bodyPr wrap="square" lIns="0" tIns="0" rIns="0" bIns="0" rtlCol="0" anchor="t"/>
          <a:lstStyle/>
          <a:p>
            <a:pPr marL="0" indent="0" algn="l">
              <a:lnSpc>
                <a:spcPct val="100000"/>
              </a:lnSpc>
              <a:buNone/>
            </a:pPr>
            <a:r>
              <a:rPr lang="en-US" sz="950" i="1" dirty="0">
                <a:solidFill>
                  <a:srgbClr val="5E6964"/>
                </a:solidFill>
                <a:latin typeface="Calibri" pitchFamily="34" charset="0"/>
                <a:ea typeface="Calibri" pitchFamily="34" charset="-122"/>
                <a:cs typeface="Calibri" pitchFamily="34" charset="-120"/>
              </a:rPr>
              <a:t>the 3 matters: plain "python" often means version 2</a:t>
            </a:r>
            <a:endParaRPr lang="en-US" sz="950" dirty="0"/>
          </a:p>
        </p:txBody>
      </p:sp>
      <p:sp>
        <p:nvSpPr>
          <p:cNvPr id="18" name="Text 16"/>
          <p:cNvSpPr txBox="1"/>
          <p:nvPr/>
        </p:nvSpPr>
        <p:spPr>
          <a:xfrm>
            <a:off x="777240" y="2377440"/>
            <a:ext cx="2697480" cy="201168"/>
          </a:xfrm>
          <a:prstGeom prst="rect">
            <a:avLst/>
          </a:prstGeom>
          <a:noFill/>
          <a:ln/>
        </p:spPr>
        <p:txBody>
          <a:bodyPr wrap="square" lIns="0" tIns="0" rIns="0" bIns="0" rtlCol="0" anchor="t"/>
          <a:lstStyle/>
          <a:p>
            <a:pPr marL="0" indent="0" algn="l">
              <a:lnSpc>
                <a:spcPct val="100000"/>
              </a:lnSpc>
              <a:buNone/>
            </a:pPr>
            <a:r>
              <a:rPr lang="en-US" sz="900" b="1" kern="0" spc="100" dirty="0">
                <a:solidFill>
                  <a:srgbClr val="5E6964"/>
                </a:solidFill>
                <a:latin typeface="Calibri" pitchFamily="34" charset="0"/>
                <a:ea typeface="Calibri" pitchFamily="34" charset="-122"/>
                <a:cs typeface="Calibri" pitchFamily="34" charset="-120"/>
              </a:rPr>
              <a:t>WHAT YOU SEE</a:t>
            </a:r>
            <a:endParaRPr lang="en-US" sz="900" dirty="0"/>
          </a:p>
        </p:txBody>
      </p:sp>
      <p:sp>
        <p:nvSpPr>
          <p:cNvPr id="19" name="Text 17"/>
          <p:cNvSpPr txBox="1"/>
          <p:nvPr/>
        </p:nvSpPr>
        <p:spPr>
          <a:xfrm>
            <a:off x="3310128" y="2377440"/>
            <a:ext cx="2697480" cy="201168"/>
          </a:xfrm>
          <a:prstGeom prst="rect">
            <a:avLst/>
          </a:prstGeom>
          <a:noFill/>
          <a:ln/>
        </p:spPr>
        <p:txBody>
          <a:bodyPr wrap="square" lIns="0" tIns="0" rIns="0" bIns="0" rtlCol="0" anchor="t"/>
          <a:lstStyle/>
          <a:p>
            <a:pPr marL="0" indent="0" algn="l">
              <a:lnSpc>
                <a:spcPct val="100000"/>
              </a:lnSpc>
              <a:buNone/>
            </a:pPr>
            <a:r>
              <a:rPr lang="en-US" sz="900" b="1" kern="0" spc="100" dirty="0">
                <a:solidFill>
                  <a:srgbClr val="5E6964"/>
                </a:solidFill>
                <a:latin typeface="Calibri" pitchFamily="34" charset="0"/>
                <a:ea typeface="Calibri" pitchFamily="34" charset="-122"/>
                <a:cs typeface="Calibri" pitchFamily="34" charset="-120"/>
              </a:rPr>
              <a:t>WHAT IT MEANS</a:t>
            </a:r>
            <a:endParaRPr lang="en-US" sz="900" dirty="0"/>
          </a:p>
        </p:txBody>
      </p:sp>
      <p:sp>
        <p:nvSpPr>
          <p:cNvPr id="20" name="Text 18"/>
          <p:cNvSpPr txBox="1"/>
          <p:nvPr/>
        </p:nvSpPr>
        <p:spPr>
          <a:xfrm>
            <a:off x="6053328" y="2377440"/>
            <a:ext cx="2743200" cy="201168"/>
          </a:xfrm>
          <a:prstGeom prst="rect">
            <a:avLst/>
          </a:prstGeom>
          <a:noFill/>
          <a:ln/>
        </p:spPr>
        <p:txBody>
          <a:bodyPr wrap="square" lIns="0" tIns="0" rIns="0" bIns="0" rtlCol="0" anchor="t"/>
          <a:lstStyle/>
          <a:p>
            <a:pPr marL="0" indent="0" algn="l">
              <a:lnSpc>
                <a:spcPct val="100000"/>
              </a:lnSpc>
              <a:buNone/>
            </a:pPr>
            <a:r>
              <a:rPr lang="en-US" sz="900" b="1" kern="0" spc="100" dirty="0">
                <a:solidFill>
                  <a:srgbClr val="5E6964"/>
                </a:solidFill>
                <a:latin typeface="Calibri" pitchFamily="34" charset="0"/>
                <a:ea typeface="Calibri" pitchFamily="34" charset="-122"/>
                <a:cs typeface="Calibri" pitchFamily="34" charset="-120"/>
              </a:rPr>
              <a:t>WHAT YOU DO</a:t>
            </a:r>
            <a:endParaRPr lang="en-US" sz="900" dirty="0"/>
          </a:p>
        </p:txBody>
      </p:sp>
      <p:sp>
        <p:nvSpPr>
          <p:cNvPr id="21" name="Shape 19"/>
          <p:cNvSpPr/>
          <p:nvPr/>
        </p:nvSpPr>
        <p:spPr>
          <a:xfrm>
            <a:off x="457200" y="2633472"/>
            <a:ext cx="8229600" cy="365760"/>
          </a:xfrm>
          <a:prstGeom prst="roundRect">
            <a:avLst>
              <a:gd name="adj" fmla="val 20000"/>
            </a:avLst>
          </a:prstGeom>
          <a:solidFill>
            <a:srgbClr val="F4F7F5"/>
          </a:solidFill>
          <a:ln w="9525">
            <a:solidFill>
              <a:srgbClr val="D5DED9"/>
            </a:solidFill>
            <a:prstDash val="solid"/>
          </a:ln>
        </p:spPr>
      </p:sp>
      <p:sp>
        <p:nvSpPr>
          <p:cNvPr id="22" name="Shape 20"/>
          <p:cNvSpPr/>
          <p:nvPr/>
        </p:nvSpPr>
        <p:spPr>
          <a:xfrm>
            <a:off x="594360" y="2752344"/>
            <a:ext cx="128016" cy="128016"/>
          </a:xfrm>
          <a:prstGeom prst="ellipse">
            <a:avLst/>
          </a:prstGeom>
          <a:solidFill>
            <a:srgbClr val="00A86A"/>
          </a:solidFill>
          <a:ln/>
        </p:spPr>
      </p:sp>
      <p:sp>
        <p:nvSpPr>
          <p:cNvPr id="23" name="Text 21"/>
          <p:cNvSpPr txBox="1"/>
          <p:nvPr/>
        </p:nvSpPr>
        <p:spPr>
          <a:xfrm>
            <a:off x="777240" y="2633472"/>
            <a:ext cx="2331720" cy="365760"/>
          </a:xfrm>
          <a:prstGeom prst="rect">
            <a:avLst/>
          </a:prstGeom>
          <a:noFill/>
          <a:ln/>
        </p:spPr>
        <p:txBody>
          <a:bodyPr wrap="square" lIns="0" tIns="0" rIns="0" bIns="0" rtlCol="0" anchor="ctr"/>
          <a:lstStyle/>
          <a:p>
            <a:pPr marL="0" indent="0" algn="l">
              <a:lnSpc>
                <a:spcPct val="100000"/>
              </a:lnSpc>
              <a:buNone/>
            </a:pPr>
            <a:r>
              <a:rPr lang="en-US" sz="1050" b="1" dirty="0">
                <a:solidFill>
                  <a:srgbClr val="231F20"/>
                </a:solidFill>
                <a:latin typeface="Calibri" pitchFamily="34" charset="0"/>
                <a:ea typeface="Calibri" pitchFamily="34" charset="-122"/>
                <a:cs typeface="Calibri" pitchFamily="34" charset="-120"/>
              </a:rPr>
              <a:t>Python 3.10, 3.11, 3.12 or 3.13</a:t>
            </a:r>
            <a:endParaRPr lang="en-US" sz="1050" dirty="0"/>
          </a:p>
        </p:txBody>
      </p:sp>
      <p:sp>
        <p:nvSpPr>
          <p:cNvPr id="24" name="Text 22"/>
          <p:cNvSpPr txBox="1"/>
          <p:nvPr/>
        </p:nvSpPr>
        <p:spPr>
          <a:xfrm>
            <a:off x="3310128" y="2633472"/>
            <a:ext cx="2560320" cy="365760"/>
          </a:xfrm>
          <a:prstGeom prst="rect">
            <a:avLst/>
          </a:prstGeom>
          <a:noFill/>
          <a:ln/>
        </p:spPr>
        <p:txBody>
          <a:bodyPr wrap="square" lIns="0" tIns="0" rIns="0" bIns="0" rtlCol="0" anchor="ctr"/>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Everything is ready</a:t>
            </a:r>
            <a:endParaRPr lang="en-US" sz="1050" dirty="0"/>
          </a:p>
        </p:txBody>
      </p:sp>
      <p:sp>
        <p:nvSpPr>
          <p:cNvPr id="25" name="Text 23"/>
          <p:cNvSpPr txBox="1"/>
          <p:nvPr/>
        </p:nvSpPr>
        <p:spPr>
          <a:xfrm>
            <a:off x="6053328" y="2633472"/>
            <a:ext cx="2560320" cy="365760"/>
          </a:xfrm>
          <a:prstGeom prst="rect">
            <a:avLst/>
          </a:prstGeom>
          <a:noFill/>
          <a:ln/>
        </p:spPr>
        <p:txBody>
          <a:bodyPr wrap="square" lIns="0" tIns="0" rIns="0" bIns="0" rtlCol="0" anchor="ctr"/>
          <a:lstStyle/>
          <a:p>
            <a:pPr marL="0" indent="0" algn="l">
              <a:lnSpc>
                <a:spcPct val="100000"/>
              </a:lnSpc>
              <a:buNone/>
            </a:pPr>
            <a:r>
              <a:rPr lang="en-US" sz="1050" dirty="0">
                <a:solidFill>
                  <a:srgbClr val="231F20"/>
                </a:solidFill>
                <a:latin typeface="Calibri" pitchFamily="34" charset="0"/>
                <a:ea typeface="Calibri" pitchFamily="34" charset="-122"/>
                <a:cs typeface="Calibri" pitchFamily="34" charset="-120"/>
              </a:rPr>
              <a:t>Skip straight to step 3</a:t>
            </a:r>
            <a:endParaRPr lang="en-US" sz="1050" dirty="0"/>
          </a:p>
        </p:txBody>
      </p:sp>
      <p:sp>
        <p:nvSpPr>
          <p:cNvPr id="26" name="Shape 24"/>
          <p:cNvSpPr/>
          <p:nvPr/>
        </p:nvSpPr>
        <p:spPr>
          <a:xfrm>
            <a:off x="457200" y="3044952"/>
            <a:ext cx="8229600" cy="365760"/>
          </a:xfrm>
          <a:prstGeom prst="roundRect">
            <a:avLst>
              <a:gd name="adj" fmla="val 20000"/>
            </a:avLst>
          </a:prstGeom>
          <a:solidFill>
            <a:srgbClr val="FFFFFF"/>
          </a:solidFill>
          <a:ln w="9525">
            <a:solidFill>
              <a:srgbClr val="D5DED9"/>
            </a:solidFill>
            <a:prstDash val="solid"/>
          </a:ln>
        </p:spPr>
      </p:sp>
      <p:sp>
        <p:nvSpPr>
          <p:cNvPr id="27" name="Shape 25"/>
          <p:cNvSpPr/>
          <p:nvPr/>
        </p:nvSpPr>
        <p:spPr>
          <a:xfrm>
            <a:off x="594360" y="3163824"/>
            <a:ext cx="128016" cy="128016"/>
          </a:xfrm>
          <a:prstGeom prst="ellipse">
            <a:avLst/>
          </a:prstGeom>
          <a:solidFill>
            <a:srgbClr val="D49A00"/>
          </a:solidFill>
          <a:ln/>
        </p:spPr>
      </p:sp>
      <p:sp>
        <p:nvSpPr>
          <p:cNvPr id="28" name="Text 26"/>
          <p:cNvSpPr txBox="1"/>
          <p:nvPr/>
        </p:nvSpPr>
        <p:spPr>
          <a:xfrm>
            <a:off x="777240" y="3044952"/>
            <a:ext cx="2331720" cy="365760"/>
          </a:xfrm>
          <a:prstGeom prst="rect">
            <a:avLst/>
          </a:prstGeom>
          <a:noFill/>
          <a:ln/>
        </p:spPr>
        <p:txBody>
          <a:bodyPr wrap="square" lIns="0" tIns="0" rIns="0" bIns="0" rtlCol="0" anchor="ctr"/>
          <a:lstStyle/>
          <a:p>
            <a:pPr marL="0" indent="0" algn="l">
              <a:lnSpc>
                <a:spcPct val="100000"/>
              </a:lnSpc>
              <a:buNone/>
            </a:pPr>
            <a:r>
              <a:rPr lang="en-US" sz="1050" b="1" dirty="0">
                <a:solidFill>
                  <a:srgbClr val="231F20"/>
                </a:solidFill>
                <a:latin typeface="Calibri" pitchFamily="34" charset="0"/>
                <a:ea typeface="Calibri" pitchFamily="34" charset="-122"/>
                <a:cs typeface="Calibri" pitchFamily="34" charset="-120"/>
              </a:rPr>
              <a:t>Python 3.9.x or lower</a:t>
            </a:r>
            <a:endParaRPr lang="en-US" sz="1050" dirty="0"/>
          </a:p>
        </p:txBody>
      </p:sp>
      <p:sp>
        <p:nvSpPr>
          <p:cNvPr id="29" name="Text 27"/>
          <p:cNvSpPr txBox="1"/>
          <p:nvPr/>
        </p:nvSpPr>
        <p:spPr>
          <a:xfrm>
            <a:off x="3310128" y="3044952"/>
            <a:ext cx="2560320" cy="365760"/>
          </a:xfrm>
          <a:prstGeom prst="rect">
            <a:avLst/>
          </a:prstGeom>
          <a:noFill/>
          <a:ln/>
        </p:spPr>
        <p:txBody>
          <a:bodyPr wrap="square" lIns="0" tIns="0" rIns="0" bIns="0" rtlCol="0" anchor="ctr"/>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Too old for the project</a:t>
            </a:r>
            <a:endParaRPr lang="en-US" sz="1050" dirty="0"/>
          </a:p>
        </p:txBody>
      </p:sp>
      <p:sp>
        <p:nvSpPr>
          <p:cNvPr id="30" name="Text 28"/>
          <p:cNvSpPr txBox="1"/>
          <p:nvPr/>
        </p:nvSpPr>
        <p:spPr>
          <a:xfrm>
            <a:off x="6053328" y="3044952"/>
            <a:ext cx="2560320" cy="365760"/>
          </a:xfrm>
          <a:prstGeom prst="rect">
            <a:avLst/>
          </a:prstGeom>
          <a:noFill/>
          <a:ln/>
        </p:spPr>
        <p:txBody>
          <a:bodyPr wrap="square" lIns="0" tIns="0" rIns="0" bIns="0" rtlCol="0" anchor="ctr"/>
          <a:lstStyle/>
          <a:p>
            <a:pPr marL="0" indent="0" algn="l">
              <a:lnSpc>
                <a:spcPct val="100000"/>
              </a:lnSpc>
              <a:buNone/>
            </a:pPr>
            <a:r>
              <a:rPr lang="en-US" sz="1050" dirty="0">
                <a:solidFill>
                  <a:srgbClr val="231F20"/>
                </a:solidFill>
                <a:latin typeface="Calibri" pitchFamily="34" charset="0"/>
                <a:ea typeface="Calibri" pitchFamily="34" charset="-122"/>
                <a:cs typeface="Calibri" pitchFamily="34" charset="-120"/>
              </a:rPr>
              <a:t>Install a recent version — step 2</a:t>
            </a:r>
            <a:endParaRPr lang="en-US" sz="1050" dirty="0"/>
          </a:p>
        </p:txBody>
      </p:sp>
      <p:sp>
        <p:nvSpPr>
          <p:cNvPr id="31" name="Shape 29"/>
          <p:cNvSpPr/>
          <p:nvPr/>
        </p:nvSpPr>
        <p:spPr>
          <a:xfrm>
            <a:off x="457200" y="3456432"/>
            <a:ext cx="8229600" cy="365760"/>
          </a:xfrm>
          <a:prstGeom prst="roundRect">
            <a:avLst>
              <a:gd name="adj" fmla="val 20000"/>
            </a:avLst>
          </a:prstGeom>
          <a:solidFill>
            <a:srgbClr val="F4F7F5"/>
          </a:solidFill>
          <a:ln w="9525">
            <a:solidFill>
              <a:srgbClr val="D5DED9"/>
            </a:solidFill>
            <a:prstDash val="solid"/>
          </a:ln>
        </p:spPr>
      </p:sp>
      <p:sp>
        <p:nvSpPr>
          <p:cNvPr id="32" name="Shape 30"/>
          <p:cNvSpPr/>
          <p:nvPr/>
        </p:nvSpPr>
        <p:spPr>
          <a:xfrm>
            <a:off x="594360" y="3575304"/>
            <a:ext cx="128016" cy="128016"/>
          </a:xfrm>
          <a:prstGeom prst="ellipse">
            <a:avLst/>
          </a:prstGeom>
          <a:solidFill>
            <a:srgbClr val="B83B2E"/>
          </a:solidFill>
          <a:ln/>
        </p:spPr>
      </p:sp>
      <p:sp>
        <p:nvSpPr>
          <p:cNvPr id="33" name="Text 31"/>
          <p:cNvSpPr txBox="1"/>
          <p:nvPr/>
        </p:nvSpPr>
        <p:spPr>
          <a:xfrm>
            <a:off x="777240" y="3456432"/>
            <a:ext cx="2331720" cy="365760"/>
          </a:xfrm>
          <a:prstGeom prst="rect">
            <a:avLst/>
          </a:prstGeom>
          <a:noFill/>
          <a:ln/>
        </p:spPr>
        <p:txBody>
          <a:bodyPr wrap="square" lIns="0" tIns="0" rIns="0" bIns="0" rtlCol="0" anchor="ctr"/>
          <a:lstStyle/>
          <a:p>
            <a:pPr marL="0" indent="0" algn="l">
              <a:lnSpc>
                <a:spcPct val="100000"/>
              </a:lnSpc>
              <a:buNone/>
            </a:pPr>
            <a:r>
              <a:rPr lang="en-US" sz="1050" b="1" dirty="0">
                <a:solidFill>
                  <a:srgbClr val="231F20"/>
                </a:solidFill>
                <a:latin typeface="Calibri" pitchFamily="34" charset="0"/>
                <a:ea typeface="Calibri" pitchFamily="34" charset="-122"/>
                <a:cs typeface="Calibri" pitchFamily="34" charset="-120"/>
              </a:rPr>
              <a:t>"is not recognized"</a:t>
            </a:r>
            <a:endParaRPr lang="en-US" sz="1050" dirty="0"/>
          </a:p>
        </p:txBody>
      </p:sp>
      <p:sp>
        <p:nvSpPr>
          <p:cNvPr id="34" name="Text 32"/>
          <p:cNvSpPr txBox="1"/>
          <p:nvPr/>
        </p:nvSpPr>
        <p:spPr>
          <a:xfrm>
            <a:off x="3310128" y="3456432"/>
            <a:ext cx="2560320" cy="365760"/>
          </a:xfrm>
          <a:prstGeom prst="rect">
            <a:avLst/>
          </a:prstGeom>
          <a:noFill/>
          <a:ln/>
        </p:spPr>
        <p:txBody>
          <a:bodyPr wrap="square" lIns="0" tIns="0" rIns="0" bIns="0" rtlCol="0" anchor="ctr"/>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Python is not installed, or not registered with the system</a:t>
            </a:r>
            <a:endParaRPr lang="en-US" sz="1050" dirty="0"/>
          </a:p>
        </p:txBody>
      </p:sp>
      <p:sp>
        <p:nvSpPr>
          <p:cNvPr id="35" name="Text 33"/>
          <p:cNvSpPr txBox="1"/>
          <p:nvPr/>
        </p:nvSpPr>
        <p:spPr>
          <a:xfrm>
            <a:off x="6053328" y="3456432"/>
            <a:ext cx="2560320" cy="365760"/>
          </a:xfrm>
          <a:prstGeom prst="rect">
            <a:avLst/>
          </a:prstGeom>
          <a:noFill/>
          <a:ln/>
        </p:spPr>
        <p:txBody>
          <a:bodyPr wrap="square" lIns="0" tIns="0" rIns="0" bIns="0" rtlCol="0" anchor="ctr"/>
          <a:lstStyle/>
          <a:p>
            <a:pPr marL="0" indent="0" algn="l">
              <a:lnSpc>
                <a:spcPct val="100000"/>
              </a:lnSpc>
              <a:buNone/>
            </a:pPr>
            <a:r>
              <a:rPr lang="en-US" sz="1050" dirty="0">
                <a:solidFill>
                  <a:srgbClr val="231F20"/>
                </a:solidFill>
                <a:latin typeface="Calibri" pitchFamily="34" charset="0"/>
                <a:ea typeface="Calibri" pitchFamily="34" charset="-122"/>
                <a:cs typeface="Calibri" pitchFamily="34" charset="-120"/>
              </a:rPr>
              <a:t>Step 2</a:t>
            </a:r>
            <a:endParaRPr lang="en-US" sz="1050" dirty="0"/>
          </a:p>
        </p:txBody>
      </p:sp>
      <p:sp>
        <p:nvSpPr>
          <p:cNvPr id="36" name="Shape 34"/>
          <p:cNvSpPr/>
          <p:nvPr/>
        </p:nvSpPr>
        <p:spPr>
          <a:xfrm>
            <a:off x="457200" y="3867912"/>
            <a:ext cx="8229600" cy="365760"/>
          </a:xfrm>
          <a:prstGeom prst="roundRect">
            <a:avLst>
              <a:gd name="adj" fmla="val 20000"/>
            </a:avLst>
          </a:prstGeom>
          <a:solidFill>
            <a:srgbClr val="FFFFFF"/>
          </a:solidFill>
          <a:ln w="9525">
            <a:solidFill>
              <a:srgbClr val="D5DED9"/>
            </a:solidFill>
            <a:prstDash val="solid"/>
          </a:ln>
        </p:spPr>
      </p:sp>
      <p:sp>
        <p:nvSpPr>
          <p:cNvPr id="37" name="Shape 35"/>
          <p:cNvSpPr/>
          <p:nvPr/>
        </p:nvSpPr>
        <p:spPr>
          <a:xfrm>
            <a:off x="594360" y="3986784"/>
            <a:ext cx="128016" cy="128016"/>
          </a:xfrm>
          <a:prstGeom prst="ellipse">
            <a:avLst/>
          </a:prstGeom>
          <a:solidFill>
            <a:srgbClr val="B83B2E"/>
          </a:solidFill>
          <a:ln/>
        </p:spPr>
      </p:sp>
      <p:sp>
        <p:nvSpPr>
          <p:cNvPr id="38" name="Text 36"/>
          <p:cNvSpPr txBox="1"/>
          <p:nvPr/>
        </p:nvSpPr>
        <p:spPr>
          <a:xfrm>
            <a:off x="777240" y="3867912"/>
            <a:ext cx="2331720" cy="365760"/>
          </a:xfrm>
          <a:prstGeom prst="rect">
            <a:avLst/>
          </a:prstGeom>
          <a:noFill/>
          <a:ln/>
        </p:spPr>
        <p:txBody>
          <a:bodyPr wrap="square" lIns="0" tIns="0" rIns="0" bIns="0" rtlCol="0" anchor="ctr"/>
          <a:lstStyle/>
          <a:p>
            <a:pPr marL="0" indent="0" algn="l">
              <a:lnSpc>
                <a:spcPct val="100000"/>
              </a:lnSpc>
              <a:buNone/>
            </a:pPr>
            <a:r>
              <a:rPr lang="en-US" sz="1050" b="1" dirty="0">
                <a:solidFill>
                  <a:srgbClr val="231F20"/>
                </a:solidFill>
                <a:latin typeface="Calibri" pitchFamily="34" charset="0"/>
                <a:ea typeface="Calibri" pitchFamily="34" charset="-122"/>
                <a:cs typeface="Calibri" pitchFamily="34" charset="-120"/>
              </a:rPr>
              <a:t>The Microsoft Store opens</a:t>
            </a:r>
            <a:endParaRPr lang="en-US" sz="1050" dirty="0"/>
          </a:p>
        </p:txBody>
      </p:sp>
      <p:sp>
        <p:nvSpPr>
          <p:cNvPr id="39" name="Text 37"/>
          <p:cNvSpPr txBox="1"/>
          <p:nvPr/>
        </p:nvSpPr>
        <p:spPr>
          <a:xfrm>
            <a:off x="3310128" y="3867912"/>
            <a:ext cx="2560320" cy="365760"/>
          </a:xfrm>
          <a:prstGeom prst="rect">
            <a:avLst/>
          </a:prstGeom>
          <a:noFill/>
          <a:ln/>
        </p:spPr>
        <p:txBody>
          <a:bodyPr wrap="square" lIns="0" tIns="0" rIns="0" bIns="0" rtlCol="0" anchor="ctr"/>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It's a Windows shortcut, not Python</a:t>
            </a:r>
            <a:endParaRPr lang="en-US" sz="1050" dirty="0"/>
          </a:p>
        </p:txBody>
      </p:sp>
      <p:sp>
        <p:nvSpPr>
          <p:cNvPr id="40" name="Text 38"/>
          <p:cNvSpPr txBox="1"/>
          <p:nvPr/>
        </p:nvSpPr>
        <p:spPr>
          <a:xfrm>
            <a:off x="6053328" y="3867912"/>
            <a:ext cx="2560320" cy="365760"/>
          </a:xfrm>
          <a:prstGeom prst="rect">
            <a:avLst/>
          </a:prstGeom>
          <a:noFill/>
          <a:ln/>
        </p:spPr>
        <p:txBody>
          <a:bodyPr wrap="square" lIns="0" tIns="0" rIns="0" bIns="0" rtlCol="0" anchor="ctr"/>
          <a:lstStyle/>
          <a:p>
            <a:pPr marL="0" indent="0" algn="l">
              <a:lnSpc>
                <a:spcPct val="100000"/>
              </a:lnSpc>
              <a:buNone/>
            </a:pPr>
            <a:r>
              <a:rPr lang="en-US" sz="1050" dirty="0">
                <a:solidFill>
                  <a:srgbClr val="231F20"/>
                </a:solidFill>
                <a:latin typeface="Calibri" pitchFamily="34" charset="0"/>
                <a:ea typeface="Calibri" pitchFamily="34" charset="-122"/>
                <a:cs typeface="Calibri" pitchFamily="34" charset="-120"/>
              </a:rPr>
              <a:t>Step 2, then see "Troubleshoot"</a:t>
            </a:r>
            <a:endParaRPr lang="en-US" sz="1050" dirty="0"/>
          </a:p>
        </p:txBody>
      </p:sp>
      <p:sp>
        <p:nvSpPr>
          <p:cNvPr id="41" name="Text 39"/>
          <p:cNvSpPr txBox="1"/>
          <p:nvPr/>
        </p:nvSpPr>
        <p:spPr>
          <a:xfrm>
            <a:off x="457200" y="4343400"/>
            <a:ext cx="8229600" cy="219456"/>
          </a:xfrm>
          <a:prstGeom prst="rect">
            <a:avLst/>
          </a:prstGeom>
          <a:noFill/>
          <a:ln/>
        </p:spPr>
        <p:txBody>
          <a:bodyPr wrap="square" lIns="0" tIns="0" rIns="0" bIns="0" rtlCol="0" anchor="t"/>
          <a:lstStyle/>
          <a:p>
            <a:pPr marL="0" indent="0" algn="l">
              <a:lnSpc>
                <a:spcPct val="100000"/>
              </a:lnSpc>
              <a:buNone/>
            </a:pPr>
            <a:r>
              <a:rPr lang="en-US" sz="900" i="1" dirty="0">
                <a:solidFill>
                  <a:srgbClr val="5E6964"/>
                </a:solidFill>
                <a:latin typeface="Calibri" pitchFamily="34" charset="0"/>
                <a:ea typeface="Calibri" pitchFamily="34" charset="-122"/>
                <a:cs typeface="Calibri" pitchFamily="34" charset="-120"/>
              </a:rPr>
              <a:t>Recorded on a real machine: the expected answer is "Python 3.12.0"</a:t>
            </a:r>
            <a:endParaRPr lang="en-US" sz="900" dirty="0"/>
          </a:p>
        </p:txBody>
      </p:sp>
      <p:sp>
        <p:nvSpPr>
          <p:cNvPr id="42"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6583680" cy="219456"/>
          </a:xfrm>
          <a:prstGeom prst="rect">
            <a:avLst/>
          </a:prstGeom>
          <a:noFill/>
          <a:ln/>
        </p:spPr>
        <p:txBody>
          <a:bodyPr wrap="square" lIns="0" tIns="0" rIns="0" bIns="0" rtlCol="0" anchor="t"/>
          <a:lstStyle/>
          <a:p>
            <a:pPr marL="0" indent="0" algn="l">
              <a:lnSpc>
                <a:spcPct val="100000"/>
              </a:lnSpc>
              <a:buNone/>
            </a:pPr>
            <a:r>
              <a:rPr lang="en-US" sz="1050" b="1" kern="0" spc="300" dirty="0">
                <a:solidFill>
                  <a:srgbClr val="00704A"/>
                </a:solidFill>
                <a:latin typeface="Calibri" pitchFamily="34" charset="0"/>
                <a:ea typeface="Calibri" pitchFamily="34" charset="-122"/>
                <a:cs typeface="Calibri" pitchFamily="34" charset="-120"/>
              </a:rPr>
              <a:t>03 · INSTALL PYTHON — WINDOWS</a:t>
            </a:r>
            <a:endParaRPr lang="en-US" sz="1050" dirty="0"/>
          </a:p>
        </p:txBody>
      </p:sp>
      <p:sp>
        <p:nvSpPr>
          <p:cNvPr id="3" name="Text 1"/>
          <p:cNvSpPr txBox="1"/>
          <p:nvPr/>
        </p:nvSpPr>
        <p:spPr>
          <a:xfrm>
            <a:off x="457200" y="502920"/>
            <a:ext cx="7315200" cy="502920"/>
          </a:xfrm>
          <a:prstGeom prst="rect">
            <a:avLst/>
          </a:prstGeom>
          <a:noFill/>
          <a:ln/>
        </p:spPr>
        <p:txBody>
          <a:bodyPr wrap="square" lIns="0" tIns="0" rIns="0" bIns="0" rtlCol="0" anchor="ctr"/>
          <a:lstStyle/>
          <a:p>
            <a:pPr marL="0" indent="0" algn="l">
              <a:lnSpc>
                <a:spcPct val="100000"/>
              </a:lnSpc>
              <a:buNone/>
            </a:pPr>
            <a:r>
              <a:rPr lang="en-US" sz="2800" b="1" dirty="0">
                <a:solidFill>
                  <a:srgbClr val="231F20"/>
                </a:solidFill>
                <a:latin typeface="Calibri" pitchFamily="34" charset="0"/>
                <a:ea typeface="Calibri" pitchFamily="34" charset="-122"/>
                <a:cs typeface="Calibri" pitchFamily="34" charset="-120"/>
              </a:rPr>
              <a:t>Windows: install Python in five moves</a:t>
            </a:r>
            <a:endParaRPr lang="en-US" sz="2800" dirty="0"/>
          </a:p>
        </p:txBody>
      </p:sp>
      <p:sp>
        <p:nvSpPr>
          <p:cNvPr id="4" name="Shape 2"/>
          <p:cNvSpPr/>
          <p:nvPr/>
        </p:nvSpPr>
        <p:spPr>
          <a:xfrm>
            <a:off x="7854696" y="338328"/>
            <a:ext cx="100584" cy="100584"/>
          </a:xfrm>
          <a:prstGeom prst="ellipse">
            <a:avLst/>
          </a:prstGeom>
          <a:solidFill>
            <a:srgbClr val="D5DED9"/>
          </a:solidFill>
          <a:ln/>
        </p:spPr>
      </p:sp>
      <p:sp>
        <p:nvSpPr>
          <p:cNvPr id="5" name="Shape 3"/>
          <p:cNvSpPr/>
          <p:nvPr/>
        </p:nvSpPr>
        <p:spPr>
          <a:xfrm>
            <a:off x="8037576" y="338328"/>
            <a:ext cx="100584" cy="100584"/>
          </a:xfrm>
          <a:prstGeom prst="ellipse">
            <a:avLst/>
          </a:prstGeom>
          <a:solidFill>
            <a:srgbClr val="D5DED9"/>
          </a:solidFill>
          <a:ln/>
        </p:spPr>
      </p:sp>
      <p:sp>
        <p:nvSpPr>
          <p:cNvPr id="6" name="Shape 4"/>
          <p:cNvSpPr/>
          <p:nvPr/>
        </p:nvSpPr>
        <p:spPr>
          <a:xfrm>
            <a:off x="8220456" y="338328"/>
            <a:ext cx="100584" cy="100584"/>
          </a:xfrm>
          <a:prstGeom prst="ellipse">
            <a:avLst/>
          </a:prstGeom>
          <a:solidFill>
            <a:srgbClr val="0E7C86"/>
          </a:solidFill>
          <a:ln/>
        </p:spPr>
      </p:sp>
      <p:sp>
        <p:nvSpPr>
          <p:cNvPr id="7" name="Shape 5"/>
          <p:cNvSpPr/>
          <p:nvPr/>
        </p:nvSpPr>
        <p:spPr>
          <a:xfrm>
            <a:off x="8403336" y="338328"/>
            <a:ext cx="100584" cy="100584"/>
          </a:xfrm>
          <a:prstGeom prst="ellipse">
            <a:avLst/>
          </a:prstGeom>
          <a:solidFill>
            <a:srgbClr val="D5DED9"/>
          </a:solidFill>
          <a:ln/>
        </p:spPr>
      </p:sp>
      <p:sp>
        <p:nvSpPr>
          <p:cNvPr id="8" name="Shape 6"/>
          <p:cNvSpPr/>
          <p:nvPr/>
        </p:nvSpPr>
        <p:spPr>
          <a:xfrm>
            <a:off x="8586216" y="338328"/>
            <a:ext cx="100584" cy="100584"/>
          </a:xfrm>
          <a:prstGeom prst="ellipse">
            <a:avLst/>
          </a:prstGeom>
          <a:solidFill>
            <a:srgbClr val="D5DED9"/>
          </a:solidFill>
          <a:ln/>
        </p:spPr>
      </p:sp>
      <p:sp>
        <p:nvSpPr>
          <p:cNvPr id="9" name="Shape 7"/>
          <p:cNvSpPr/>
          <p:nvPr/>
        </p:nvSpPr>
        <p:spPr>
          <a:xfrm>
            <a:off x="457200" y="1316736"/>
            <a:ext cx="365760" cy="365760"/>
          </a:xfrm>
          <a:prstGeom prst="ellipse">
            <a:avLst/>
          </a:prstGeom>
          <a:solidFill>
            <a:srgbClr val="0E7C86"/>
          </a:solidFill>
          <a:ln/>
        </p:spPr>
      </p:sp>
      <p:sp>
        <p:nvSpPr>
          <p:cNvPr id="10" name="Text 8"/>
          <p:cNvSpPr txBox="1"/>
          <p:nvPr/>
        </p:nvSpPr>
        <p:spPr>
          <a:xfrm>
            <a:off x="457200" y="131673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Shape 9"/>
          <p:cNvSpPr/>
          <p:nvPr/>
        </p:nvSpPr>
        <p:spPr>
          <a:xfrm>
            <a:off x="640080" y="1709928"/>
            <a:ext cx="0" cy="246888"/>
          </a:xfrm>
          <a:prstGeom prst="line">
            <a:avLst/>
          </a:prstGeom>
          <a:noFill/>
          <a:ln w="12700">
            <a:solidFill>
              <a:srgbClr val="D5DED9"/>
            </a:solidFill>
            <a:prstDash val="solid"/>
          </a:ln>
        </p:spPr>
      </p:sp>
      <p:sp>
        <p:nvSpPr>
          <p:cNvPr id="12" name="Text 10"/>
          <p:cNvSpPr txBox="1"/>
          <p:nvPr/>
        </p:nvSpPr>
        <p:spPr>
          <a:xfrm>
            <a:off x="1005840" y="1298448"/>
            <a:ext cx="4389120" cy="237744"/>
          </a:xfrm>
          <a:prstGeom prst="rect">
            <a:avLst/>
          </a:prstGeom>
          <a:noFill/>
          <a:ln/>
        </p:spPr>
        <p:txBody>
          <a:bodyPr wrap="square" lIns="0" tIns="0" rIns="0" bIns="0" rtlCol="0" anchor="t"/>
          <a:lstStyle/>
          <a:p>
            <a:pPr marL="0" indent="0" algn="l">
              <a:lnSpc>
                <a:spcPct val="100000"/>
              </a:lnSpc>
              <a:buNone/>
            </a:pPr>
            <a:r>
              <a:rPr lang="en-US" sz="1250" b="1" dirty="0">
                <a:solidFill>
                  <a:srgbClr val="231F20"/>
                </a:solidFill>
                <a:latin typeface="Calibri" pitchFamily="34" charset="0"/>
                <a:ea typeface="Calibri" pitchFamily="34" charset="-122"/>
                <a:cs typeface="Calibri" pitchFamily="34" charset="-120"/>
              </a:rPr>
              <a:t>Open the download page</a:t>
            </a:r>
            <a:endParaRPr lang="en-US" sz="1250" dirty="0"/>
          </a:p>
        </p:txBody>
      </p:sp>
      <p:sp>
        <p:nvSpPr>
          <p:cNvPr id="13" name="Text 11"/>
          <p:cNvSpPr txBox="1"/>
          <p:nvPr/>
        </p:nvSpPr>
        <p:spPr>
          <a:xfrm>
            <a:off x="1005840" y="1545336"/>
            <a:ext cx="4389120" cy="329184"/>
          </a:xfrm>
          <a:prstGeom prst="rect">
            <a:avLst/>
          </a:prstGeom>
          <a:noFill/>
          <a:ln/>
        </p:spPr>
        <p:txBody>
          <a:bodyPr wrap="square" lIns="0" tIns="0" rIns="0" bIns="0" rtlCol="0" anchor="t"/>
          <a:lstStyle/>
          <a:p>
            <a:pPr marL="0" indent="0" algn="l">
              <a:lnSpc>
                <a:spcPct val="100000"/>
              </a:lnSpc>
              <a:buNone/>
            </a:pPr>
            <a:r>
              <a:rPr lang="en-US" sz="1050" b="1" dirty="0">
                <a:solidFill>
                  <a:srgbClr val="00704A"/>
                </a:solidFill>
                <a:latin typeface="Courier New" pitchFamily="34" charset="0"/>
                <a:ea typeface="Courier New" pitchFamily="34" charset="-122"/>
                <a:cs typeface="Courier New" pitchFamily="34" charset="-120"/>
              </a:rPr>
              <a:t>python.org/downloads</a:t>
            </a:r>
            <a:r>
              <a:rPr lang="en-US" sz="1050" dirty="0">
                <a:solidFill>
                  <a:srgbClr val="5E6964"/>
                </a:solidFill>
                <a:latin typeface="Calibri" pitchFamily="34" charset="0"/>
                <a:ea typeface="Calibri" pitchFamily="34" charset="-122"/>
                <a:cs typeface="Calibri" pitchFamily="34" charset="-120"/>
              </a:rPr>
              <a:t> in your browser.</a:t>
            </a:r>
            <a:endParaRPr lang="en-US" sz="1050" dirty="0"/>
          </a:p>
        </p:txBody>
      </p:sp>
      <p:sp>
        <p:nvSpPr>
          <p:cNvPr id="14" name="Shape 12"/>
          <p:cNvSpPr/>
          <p:nvPr/>
        </p:nvSpPr>
        <p:spPr>
          <a:xfrm>
            <a:off x="457200" y="1956816"/>
            <a:ext cx="365760" cy="365760"/>
          </a:xfrm>
          <a:prstGeom prst="ellipse">
            <a:avLst/>
          </a:prstGeom>
          <a:solidFill>
            <a:srgbClr val="0E7C86"/>
          </a:solidFill>
          <a:ln/>
        </p:spPr>
      </p:sp>
      <p:sp>
        <p:nvSpPr>
          <p:cNvPr id="15" name="Text 13"/>
          <p:cNvSpPr txBox="1"/>
          <p:nvPr/>
        </p:nvSpPr>
        <p:spPr>
          <a:xfrm>
            <a:off x="457200" y="195681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Shape 14"/>
          <p:cNvSpPr/>
          <p:nvPr/>
        </p:nvSpPr>
        <p:spPr>
          <a:xfrm>
            <a:off x="640080" y="2350008"/>
            <a:ext cx="0" cy="246888"/>
          </a:xfrm>
          <a:prstGeom prst="line">
            <a:avLst/>
          </a:prstGeom>
          <a:noFill/>
          <a:ln w="12700">
            <a:solidFill>
              <a:srgbClr val="D5DED9"/>
            </a:solidFill>
            <a:prstDash val="solid"/>
          </a:ln>
        </p:spPr>
      </p:sp>
      <p:sp>
        <p:nvSpPr>
          <p:cNvPr id="17" name="Text 15"/>
          <p:cNvSpPr txBox="1"/>
          <p:nvPr/>
        </p:nvSpPr>
        <p:spPr>
          <a:xfrm>
            <a:off x="1005840" y="1938528"/>
            <a:ext cx="4389120" cy="237744"/>
          </a:xfrm>
          <a:prstGeom prst="rect">
            <a:avLst/>
          </a:prstGeom>
          <a:noFill/>
          <a:ln/>
        </p:spPr>
        <p:txBody>
          <a:bodyPr wrap="square" lIns="0" tIns="0" rIns="0" bIns="0" rtlCol="0" anchor="t"/>
          <a:lstStyle/>
          <a:p>
            <a:pPr marL="0" indent="0" algn="l">
              <a:lnSpc>
                <a:spcPct val="100000"/>
              </a:lnSpc>
              <a:buNone/>
            </a:pPr>
            <a:r>
              <a:rPr lang="en-US" sz="1250" b="1" dirty="0">
                <a:solidFill>
                  <a:srgbClr val="231F20"/>
                </a:solidFill>
                <a:latin typeface="Calibri" pitchFamily="34" charset="0"/>
                <a:ea typeface="Calibri" pitchFamily="34" charset="-122"/>
                <a:cs typeface="Calibri" pitchFamily="34" charset="-120"/>
              </a:rPr>
              <a:t>Download</a:t>
            </a:r>
            <a:endParaRPr lang="en-US" sz="1250" dirty="0"/>
          </a:p>
        </p:txBody>
      </p:sp>
      <p:sp>
        <p:nvSpPr>
          <p:cNvPr id="18" name="Text 16"/>
          <p:cNvSpPr txBox="1"/>
          <p:nvPr/>
        </p:nvSpPr>
        <p:spPr>
          <a:xfrm>
            <a:off x="1005840" y="2185416"/>
            <a:ext cx="4389120" cy="329184"/>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The yellow button offers the Windows version. Any version 3.10 or later will do.</a:t>
            </a:r>
            <a:endParaRPr lang="en-US" sz="1050" dirty="0"/>
          </a:p>
        </p:txBody>
      </p:sp>
      <p:sp>
        <p:nvSpPr>
          <p:cNvPr id="19" name="Shape 17"/>
          <p:cNvSpPr/>
          <p:nvPr/>
        </p:nvSpPr>
        <p:spPr>
          <a:xfrm>
            <a:off x="457200" y="2596896"/>
            <a:ext cx="365760" cy="365760"/>
          </a:xfrm>
          <a:prstGeom prst="ellipse">
            <a:avLst/>
          </a:prstGeom>
          <a:solidFill>
            <a:srgbClr val="0E7C86"/>
          </a:solidFill>
          <a:ln/>
        </p:spPr>
      </p:sp>
      <p:sp>
        <p:nvSpPr>
          <p:cNvPr id="20" name="Text 18"/>
          <p:cNvSpPr txBox="1"/>
          <p:nvPr/>
        </p:nvSpPr>
        <p:spPr>
          <a:xfrm>
            <a:off x="457200" y="259689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Shape 19"/>
          <p:cNvSpPr/>
          <p:nvPr/>
        </p:nvSpPr>
        <p:spPr>
          <a:xfrm>
            <a:off x="640080" y="2990088"/>
            <a:ext cx="0" cy="246888"/>
          </a:xfrm>
          <a:prstGeom prst="line">
            <a:avLst/>
          </a:prstGeom>
          <a:noFill/>
          <a:ln w="12700">
            <a:solidFill>
              <a:srgbClr val="D5DED9"/>
            </a:solidFill>
            <a:prstDash val="solid"/>
          </a:ln>
        </p:spPr>
      </p:sp>
      <p:sp>
        <p:nvSpPr>
          <p:cNvPr id="22" name="Text 20"/>
          <p:cNvSpPr txBox="1"/>
          <p:nvPr/>
        </p:nvSpPr>
        <p:spPr>
          <a:xfrm>
            <a:off x="1005840" y="2578608"/>
            <a:ext cx="4389120" cy="237744"/>
          </a:xfrm>
          <a:prstGeom prst="rect">
            <a:avLst/>
          </a:prstGeom>
          <a:noFill/>
          <a:ln/>
        </p:spPr>
        <p:txBody>
          <a:bodyPr wrap="square" lIns="0" tIns="0" rIns="0" bIns="0" rtlCol="0" anchor="t"/>
          <a:lstStyle/>
          <a:p>
            <a:pPr marL="0" indent="0" algn="l">
              <a:lnSpc>
                <a:spcPct val="100000"/>
              </a:lnSpc>
              <a:buNone/>
            </a:pPr>
            <a:r>
              <a:rPr lang="en-US" sz="1250" b="1" dirty="0">
                <a:solidFill>
                  <a:srgbClr val="231F20"/>
                </a:solidFill>
                <a:latin typeface="Calibri" pitchFamily="34" charset="0"/>
                <a:ea typeface="Calibri" pitchFamily="34" charset="-122"/>
                <a:cs typeface="Calibri" pitchFamily="34" charset="-120"/>
              </a:rPr>
              <a:t>Run the downloaded file</a:t>
            </a:r>
            <a:endParaRPr lang="en-US" sz="1250" dirty="0"/>
          </a:p>
        </p:txBody>
      </p:sp>
      <p:sp>
        <p:nvSpPr>
          <p:cNvPr id="23" name="Text 21"/>
          <p:cNvSpPr txBox="1"/>
          <p:nvPr/>
        </p:nvSpPr>
        <p:spPr>
          <a:xfrm>
            <a:off x="1005840" y="2825496"/>
            <a:ext cx="4389120" cy="329184"/>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It is called </a:t>
            </a:r>
            <a:r>
              <a:rPr lang="en-US" sz="1050" b="1" dirty="0">
                <a:solidFill>
                  <a:srgbClr val="00704A"/>
                </a:solidFill>
                <a:latin typeface="Courier New" pitchFamily="34" charset="0"/>
                <a:ea typeface="Courier New" pitchFamily="34" charset="-122"/>
                <a:cs typeface="Courier New" pitchFamily="34" charset="-120"/>
              </a:rPr>
              <a:t>python-3.12.x-amd64.exe</a:t>
            </a:r>
            <a:r>
              <a:rPr lang="en-US" sz="1050" dirty="0">
                <a:solidFill>
                  <a:srgbClr val="5E6964"/>
                </a:solidFill>
                <a:latin typeface="Calibri" pitchFamily="34" charset="0"/>
                <a:ea typeface="Calibri" pitchFamily="34" charset="-122"/>
                <a:cs typeface="Calibri" pitchFamily="34" charset="-120"/>
              </a:rPr>
              <a:t>.</a:t>
            </a:r>
            <a:endParaRPr lang="en-US" sz="1050" dirty="0"/>
          </a:p>
        </p:txBody>
      </p:sp>
      <p:sp>
        <p:nvSpPr>
          <p:cNvPr id="24" name="Shape 22"/>
          <p:cNvSpPr/>
          <p:nvPr/>
        </p:nvSpPr>
        <p:spPr>
          <a:xfrm>
            <a:off x="457200" y="3236976"/>
            <a:ext cx="365760" cy="365760"/>
          </a:xfrm>
          <a:prstGeom prst="ellipse">
            <a:avLst/>
          </a:prstGeom>
          <a:solidFill>
            <a:srgbClr val="D49A00"/>
          </a:solidFill>
          <a:ln/>
        </p:spPr>
      </p:sp>
      <p:sp>
        <p:nvSpPr>
          <p:cNvPr id="25" name="Text 23"/>
          <p:cNvSpPr txBox="1"/>
          <p:nvPr/>
        </p:nvSpPr>
        <p:spPr>
          <a:xfrm>
            <a:off x="457200" y="323697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Shape 24"/>
          <p:cNvSpPr/>
          <p:nvPr/>
        </p:nvSpPr>
        <p:spPr>
          <a:xfrm>
            <a:off x="640080" y="3630168"/>
            <a:ext cx="0" cy="246888"/>
          </a:xfrm>
          <a:prstGeom prst="line">
            <a:avLst/>
          </a:prstGeom>
          <a:noFill/>
          <a:ln w="12700">
            <a:solidFill>
              <a:srgbClr val="D5DED9"/>
            </a:solidFill>
            <a:prstDash val="solid"/>
          </a:ln>
        </p:spPr>
      </p:sp>
      <p:sp>
        <p:nvSpPr>
          <p:cNvPr id="27" name="Text 25"/>
          <p:cNvSpPr txBox="1"/>
          <p:nvPr/>
        </p:nvSpPr>
        <p:spPr>
          <a:xfrm>
            <a:off x="1005840" y="3218688"/>
            <a:ext cx="4389120" cy="237744"/>
          </a:xfrm>
          <a:prstGeom prst="rect">
            <a:avLst/>
          </a:prstGeom>
          <a:noFill/>
          <a:ln/>
        </p:spPr>
        <p:txBody>
          <a:bodyPr wrap="square" lIns="0" tIns="0" rIns="0" bIns="0" rtlCol="0" anchor="t"/>
          <a:lstStyle/>
          <a:p>
            <a:pPr marL="0" indent="0" algn="l">
              <a:lnSpc>
                <a:spcPct val="100000"/>
              </a:lnSpc>
              <a:buNone/>
            </a:pPr>
            <a:r>
              <a:rPr lang="en-US" sz="1250" b="1" dirty="0">
                <a:solidFill>
                  <a:srgbClr val="D49A00"/>
                </a:solidFill>
                <a:latin typeface="Calibri" pitchFamily="34" charset="0"/>
                <a:ea typeface="Calibri" pitchFamily="34" charset="-122"/>
                <a:cs typeface="Calibri" pitchFamily="34" charset="-120"/>
              </a:rPr>
              <a:t>TICK the box at the bottom of the window</a:t>
            </a:r>
            <a:endParaRPr lang="en-US" sz="1250" dirty="0"/>
          </a:p>
        </p:txBody>
      </p:sp>
      <p:sp>
        <p:nvSpPr>
          <p:cNvPr id="28" name="Text 26"/>
          <p:cNvSpPr txBox="1"/>
          <p:nvPr/>
        </p:nvSpPr>
        <p:spPr>
          <a:xfrm>
            <a:off x="1005840" y="3465576"/>
            <a:ext cx="4389120" cy="329184"/>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"Add python.exe to PATH". This is the decisive move of the whole install.</a:t>
            </a:r>
            <a:endParaRPr lang="en-US" sz="1050" dirty="0"/>
          </a:p>
        </p:txBody>
      </p:sp>
      <p:sp>
        <p:nvSpPr>
          <p:cNvPr id="29" name="Shape 27"/>
          <p:cNvSpPr/>
          <p:nvPr/>
        </p:nvSpPr>
        <p:spPr>
          <a:xfrm>
            <a:off x="457200" y="3877056"/>
            <a:ext cx="365760" cy="365760"/>
          </a:xfrm>
          <a:prstGeom prst="ellipse">
            <a:avLst/>
          </a:prstGeom>
          <a:solidFill>
            <a:srgbClr val="0E7C86"/>
          </a:solidFill>
          <a:ln/>
        </p:spPr>
      </p:sp>
      <p:sp>
        <p:nvSpPr>
          <p:cNvPr id="30" name="Text 28"/>
          <p:cNvSpPr txBox="1"/>
          <p:nvPr/>
        </p:nvSpPr>
        <p:spPr>
          <a:xfrm>
            <a:off x="457200" y="387705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txBox="1"/>
          <p:nvPr/>
        </p:nvSpPr>
        <p:spPr>
          <a:xfrm>
            <a:off x="1005840" y="3858768"/>
            <a:ext cx="4389120" cy="237744"/>
          </a:xfrm>
          <a:prstGeom prst="rect">
            <a:avLst/>
          </a:prstGeom>
          <a:noFill/>
          <a:ln/>
        </p:spPr>
        <p:txBody>
          <a:bodyPr wrap="square" lIns="0" tIns="0" rIns="0" bIns="0" rtlCol="0" anchor="t"/>
          <a:lstStyle/>
          <a:p>
            <a:pPr marL="0" indent="0" algn="l">
              <a:lnSpc>
                <a:spcPct val="100000"/>
              </a:lnSpc>
              <a:buNone/>
            </a:pPr>
            <a:r>
              <a:rPr lang="en-US" sz="1250" b="1" dirty="0">
                <a:solidFill>
                  <a:srgbClr val="231F20"/>
                </a:solidFill>
                <a:latin typeface="Calibri" pitchFamily="34" charset="0"/>
                <a:ea typeface="Calibri" pitchFamily="34" charset="-122"/>
                <a:cs typeface="Calibri" pitchFamily="34" charset="-120"/>
              </a:rPr>
              <a:t>Click "Install Now"</a:t>
            </a:r>
            <a:endParaRPr lang="en-US" sz="1250" dirty="0"/>
          </a:p>
        </p:txBody>
      </p:sp>
      <p:sp>
        <p:nvSpPr>
          <p:cNvPr id="32" name="Text 30"/>
          <p:cNvSpPr txBox="1"/>
          <p:nvPr/>
        </p:nvSpPr>
        <p:spPr>
          <a:xfrm>
            <a:off x="1005840" y="4105656"/>
            <a:ext cx="4389120" cy="329184"/>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Then close the window when it shows "Setup was successful".</a:t>
            </a:r>
            <a:endParaRPr lang="en-US" sz="1050" dirty="0"/>
          </a:p>
        </p:txBody>
      </p:sp>
      <p:sp>
        <p:nvSpPr>
          <p:cNvPr id="33" name="Shape 31"/>
          <p:cNvSpPr/>
          <p:nvPr/>
        </p:nvSpPr>
        <p:spPr>
          <a:xfrm>
            <a:off x="5669280" y="1298448"/>
            <a:ext cx="3017520" cy="2971800"/>
          </a:xfrm>
          <a:prstGeom prst="roundRect">
            <a:avLst>
              <a:gd name="adj" fmla="val 2462"/>
            </a:avLst>
          </a:prstGeom>
          <a:solidFill>
            <a:srgbClr val="D49A00">
              <a:alpha val="13000"/>
            </a:srgbClr>
          </a:solidFill>
          <a:ln w="15875">
            <a:solidFill>
              <a:srgbClr val="D49A00"/>
            </a:solidFill>
            <a:prstDash val="solid"/>
          </a:ln>
        </p:spPr>
      </p:sp>
      <p:sp>
        <p:nvSpPr>
          <p:cNvPr id="34" name="Shape 32"/>
          <p:cNvSpPr/>
          <p:nvPr/>
        </p:nvSpPr>
        <p:spPr>
          <a:xfrm>
            <a:off x="5870448" y="1481328"/>
            <a:ext cx="502920" cy="502920"/>
          </a:xfrm>
          <a:prstGeom prst="ellipse">
            <a:avLst/>
          </a:prstGeom>
          <a:solidFill>
            <a:srgbClr val="D49A00">
              <a:alpha val="22000"/>
            </a:srgbClr>
          </a:solidFill>
          <a:ln/>
        </p:spPr>
      </p:sp>
      <p:pic>
        <p:nvPicPr>
          <p:cNvPr id="35" name="Image 0" descr="preencoded.png"/>
          <p:cNvPicPr>
            <a:picLocks noChangeAspect="1"/>
          </p:cNvPicPr>
          <p:nvPr/>
        </p:nvPicPr>
        <p:blipFill>
          <a:blip r:embed="rId3"/>
          <a:stretch>
            <a:fillRect/>
          </a:stretch>
        </p:blipFill>
        <p:spPr>
          <a:xfrm>
            <a:off x="5996178" y="1607058"/>
            <a:ext cx="251460" cy="251460"/>
          </a:xfrm>
          <a:prstGeom prst="rect">
            <a:avLst/>
          </a:prstGeom>
        </p:spPr>
      </p:pic>
      <p:sp>
        <p:nvSpPr>
          <p:cNvPr id="36" name="Text 33"/>
          <p:cNvSpPr txBox="1"/>
          <p:nvPr/>
        </p:nvSpPr>
        <p:spPr>
          <a:xfrm>
            <a:off x="6492240" y="1508760"/>
            <a:ext cx="2103120" cy="457200"/>
          </a:xfrm>
          <a:prstGeom prst="rect">
            <a:avLst/>
          </a:prstGeom>
          <a:noFill/>
          <a:ln/>
        </p:spPr>
        <p:txBody>
          <a:bodyPr wrap="square" lIns="0" tIns="0" rIns="0" bIns="0" rtlCol="0" anchor="ctr"/>
          <a:lstStyle/>
          <a:p>
            <a:pPr marL="0" indent="0" algn="l">
              <a:lnSpc>
                <a:spcPct val="100000"/>
              </a:lnSpc>
              <a:buNone/>
            </a:pPr>
            <a:r>
              <a:rPr lang="en-US" sz="1400" b="1" dirty="0">
                <a:solidFill>
                  <a:srgbClr val="231F20"/>
                </a:solidFill>
                <a:latin typeface="Calibri" pitchFamily="34" charset="0"/>
                <a:ea typeface="Calibri" pitchFamily="34" charset="-122"/>
                <a:cs typeface="Calibri" pitchFamily="34" charset="-120"/>
              </a:rPr>
              <a:t>The decisive box</a:t>
            </a:r>
            <a:endParaRPr lang="en-US" sz="1400" dirty="0"/>
          </a:p>
        </p:txBody>
      </p:sp>
      <p:sp>
        <p:nvSpPr>
          <p:cNvPr id="37" name="Text 34"/>
          <p:cNvSpPr txBox="1"/>
          <p:nvPr/>
        </p:nvSpPr>
        <p:spPr>
          <a:xfrm>
            <a:off x="5870448" y="2103120"/>
            <a:ext cx="2651760" cy="1234440"/>
          </a:xfrm>
          <a:prstGeom prst="rect">
            <a:avLst/>
          </a:prstGeom>
          <a:noFill/>
          <a:ln/>
        </p:spPr>
        <p:txBody>
          <a:bodyPr wrap="square" lIns="0" tIns="0" rIns="0" bIns="0" rtlCol="0" anchor="t"/>
          <a:lstStyle/>
          <a:p>
            <a:pPr marL="0" indent="0" algn="l">
              <a:lnSpc>
                <a:spcPct val="100000"/>
              </a:lnSpc>
              <a:buNone/>
            </a:pPr>
            <a:r>
              <a:rPr lang="en-US" sz="1200" dirty="0">
                <a:solidFill>
                  <a:srgbClr val="231F20"/>
                </a:solidFill>
                <a:latin typeface="Calibri" pitchFamily="34" charset="0"/>
                <a:ea typeface="Calibri" pitchFamily="34" charset="-122"/>
                <a:cs typeface="Calibri" pitchFamily="34" charset="-120"/>
              </a:rPr>
              <a:t>"Add python.exe to PATH" is </a:t>
            </a:r>
            <a:r>
              <a:rPr lang="en-US" sz="1200" b="1" dirty="0">
                <a:solidFill>
                  <a:srgbClr val="231F20"/>
                </a:solidFill>
                <a:latin typeface="Calibri" pitchFamily="34" charset="0"/>
                <a:ea typeface="Calibri" pitchFamily="34" charset="-122"/>
                <a:cs typeface="Calibri" pitchFamily="34" charset="-120"/>
              </a:rPr>
              <a:t>not ticked by default</a:t>
            </a:r>
            <a:r>
              <a:rPr lang="en-US" sz="1200" dirty="0">
                <a:solidFill>
                  <a:srgbClr val="231F20"/>
                </a:solidFill>
                <a:latin typeface="Calibri" pitchFamily="34" charset="0"/>
                <a:ea typeface="Calibri" pitchFamily="34" charset="-122"/>
                <a:cs typeface="Calibri" pitchFamily="34" charset="-120"/>
              </a:rPr>
              <a:t>, and it sits in small print at the very bottom. Without it, Windows will answer "python is not recognized" — the number-one failure.</a:t>
            </a:r>
            <a:endParaRPr lang="en-US" sz="1200" dirty="0"/>
          </a:p>
        </p:txBody>
      </p:sp>
      <p:sp>
        <p:nvSpPr>
          <p:cNvPr id="38" name="Shape 35"/>
          <p:cNvSpPr/>
          <p:nvPr/>
        </p:nvSpPr>
        <p:spPr>
          <a:xfrm>
            <a:off x="5870448" y="3401568"/>
            <a:ext cx="2615184" cy="713232"/>
          </a:xfrm>
          <a:prstGeom prst="roundRect">
            <a:avLst>
              <a:gd name="adj" fmla="val 7692"/>
            </a:avLst>
          </a:prstGeom>
          <a:solidFill>
            <a:srgbClr val="FFFFFF"/>
          </a:solidFill>
          <a:ln w="9525">
            <a:solidFill>
              <a:srgbClr val="D49A00"/>
            </a:solidFill>
            <a:prstDash val="solid"/>
          </a:ln>
        </p:spPr>
      </p:sp>
      <p:sp>
        <p:nvSpPr>
          <p:cNvPr id="39" name="Text 36"/>
          <p:cNvSpPr txBox="1"/>
          <p:nvPr/>
        </p:nvSpPr>
        <p:spPr>
          <a:xfrm>
            <a:off x="5989320" y="3429000"/>
            <a:ext cx="2395728" cy="658368"/>
          </a:xfrm>
          <a:prstGeom prst="rect">
            <a:avLst/>
          </a:prstGeom>
          <a:noFill/>
          <a:ln/>
        </p:spPr>
        <p:txBody>
          <a:bodyPr wrap="square" lIns="0" tIns="0" rIns="0" bIns="0" rtlCol="0" anchor="ctr"/>
          <a:lstStyle/>
          <a:p>
            <a:pPr marL="0" indent="0" algn="l">
              <a:lnSpc>
                <a:spcPct val="100000"/>
              </a:lnSpc>
              <a:buNone/>
            </a:pPr>
            <a:r>
              <a:rPr lang="en-US" sz="1050" b="1" dirty="0">
                <a:solidFill>
                  <a:srgbClr val="231F20"/>
                </a:solidFill>
                <a:latin typeface="Calibri" pitchFamily="34" charset="0"/>
                <a:ea typeface="Calibri" pitchFamily="34" charset="-122"/>
                <a:cs typeface="Calibri" pitchFamily="34" charset="-120"/>
              </a:rPr>
              <a:t>Forgot it?</a:t>
            </a:r>
            <a:r>
              <a:rPr lang="en-US" sz="1050" dirty="0">
                <a:solidFill>
                  <a:srgbClr val="231F20"/>
                </a:solidFill>
                <a:latin typeface="Calibri" pitchFamily="34" charset="0"/>
                <a:ea typeface="Calibri" pitchFamily="34" charset="-122"/>
                <a:cs typeface="Calibri" pitchFamily="34" charset="-120"/>
              </a:rPr>
              <a:t> Run the installer again, choose "Modify", tick it.</a:t>
            </a:r>
            <a:endParaRPr lang="en-US" sz="1050" dirty="0"/>
          </a:p>
        </p:txBody>
      </p:sp>
      <p:sp>
        <p:nvSpPr>
          <p:cNvPr id="40"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6583680" cy="219456"/>
          </a:xfrm>
          <a:prstGeom prst="rect">
            <a:avLst/>
          </a:prstGeom>
          <a:noFill/>
          <a:ln/>
        </p:spPr>
        <p:txBody>
          <a:bodyPr wrap="square" lIns="0" tIns="0" rIns="0" bIns="0" rtlCol="0" anchor="t"/>
          <a:lstStyle/>
          <a:p>
            <a:pPr marL="0" indent="0" algn="l">
              <a:lnSpc>
                <a:spcPct val="100000"/>
              </a:lnSpc>
              <a:buNone/>
            </a:pPr>
            <a:r>
              <a:rPr lang="en-US" sz="1050" b="1" kern="0" spc="300" dirty="0">
                <a:solidFill>
                  <a:srgbClr val="00704A"/>
                </a:solidFill>
                <a:latin typeface="Calibri" pitchFamily="34" charset="0"/>
                <a:ea typeface="Calibri" pitchFamily="34" charset="-122"/>
                <a:cs typeface="Calibri" pitchFamily="34" charset="-120"/>
              </a:rPr>
              <a:t>03 · INSTALL PYTHON — MACOS AND LINUX</a:t>
            </a:r>
            <a:endParaRPr lang="en-US" sz="1050" dirty="0"/>
          </a:p>
        </p:txBody>
      </p:sp>
      <p:sp>
        <p:nvSpPr>
          <p:cNvPr id="3" name="Text 1"/>
          <p:cNvSpPr txBox="1"/>
          <p:nvPr/>
        </p:nvSpPr>
        <p:spPr>
          <a:xfrm>
            <a:off x="457200" y="502920"/>
            <a:ext cx="7315200" cy="502920"/>
          </a:xfrm>
          <a:prstGeom prst="rect">
            <a:avLst/>
          </a:prstGeom>
          <a:noFill/>
          <a:ln/>
        </p:spPr>
        <p:txBody>
          <a:bodyPr wrap="square" lIns="0" tIns="0" rIns="0" bIns="0" rtlCol="0" anchor="ctr"/>
          <a:lstStyle/>
          <a:p>
            <a:pPr marL="0" indent="0" algn="l">
              <a:lnSpc>
                <a:spcPct val="100000"/>
              </a:lnSpc>
              <a:buNone/>
            </a:pPr>
            <a:r>
              <a:rPr lang="en-US" sz="2800" b="1" dirty="0">
                <a:solidFill>
                  <a:srgbClr val="231F20"/>
                </a:solidFill>
                <a:latin typeface="Calibri" pitchFamily="34" charset="0"/>
                <a:ea typeface="Calibri" pitchFamily="34" charset="-122"/>
                <a:cs typeface="Calibri" pitchFamily="34" charset="-120"/>
              </a:rPr>
              <a:t>macOS and Linux: one command</a:t>
            </a:r>
            <a:endParaRPr lang="en-US" sz="2800" dirty="0"/>
          </a:p>
        </p:txBody>
      </p:sp>
      <p:sp>
        <p:nvSpPr>
          <p:cNvPr id="4" name="Shape 2"/>
          <p:cNvSpPr/>
          <p:nvPr/>
        </p:nvSpPr>
        <p:spPr>
          <a:xfrm>
            <a:off x="7854696" y="338328"/>
            <a:ext cx="100584" cy="100584"/>
          </a:xfrm>
          <a:prstGeom prst="ellipse">
            <a:avLst/>
          </a:prstGeom>
          <a:solidFill>
            <a:srgbClr val="D5DED9"/>
          </a:solidFill>
          <a:ln/>
        </p:spPr>
      </p:sp>
      <p:sp>
        <p:nvSpPr>
          <p:cNvPr id="5" name="Shape 3"/>
          <p:cNvSpPr/>
          <p:nvPr/>
        </p:nvSpPr>
        <p:spPr>
          <a:xfrm>
            <a:off x="8037576" y="338328"/>
            <a:ext cx="100584" cy="100584"/>
          </a:xfrm>
          <a:prstGeom prst="ellipse">
            <a:avLst/>
          </a:prstGeom>
          <a:solidFill>
            <a:srgbClr val="D5DED9"/>
          </a:solidFill>
          <a:ln/>
        </p:spPr>
      </p:sp>
      <p:sp>
        <p:nvSpPr>
          <p:cNvPr id="6" name="Shape 4"/>
          <p:cNvSpPr/>
          <p:nvPr/>
        </p:nvSpPr>
        <p:spPr>
          <a:xfrm>
            <a:off x="8220456" y="338328"/>
            <a:ext cx="100584" cy="100584"/>
          </a:xfrm>
          <a:prstGeom prst="ellipse">
            <a:avLst/>
          </a:prstGeom>
          <a:solidFill>
            <a:srgbClr val="0E7C86"/>
          </a:solidFill>
          <a:ln/>
        </p:spPr>
      </p:sp>
      <p:sp>
        <p:nvSpPr>
          <p:cNvPr id="7" name="Shape 5"/>
          <p:cNvSpPr/>
          <p:nvPr/>
        </p:nvSpPr>
        <p:spPr>
          <a:xfrm>
            <a:off x="8403336" y="338328"/>
            <a:ext cx="100584" cy="100584"/>
          </a:xfrm>
          <a:prstGeom prst="ellipse">
            <a:avLst/>
          </a:prstGeom>
          <a:solidFill>
            <a:srgbClr val="D5DED9"/>
          </a:solidFill>
          <a:ln/>
        </p:spPr>
      </p:sp>
      <p:sp>
        <p:nvSpPr>
          <p:cNvPr id="8" name="Shape 6"/>
          <p:cNvSpPr/>
          <p:nvPr/>
        </p:nvSpPr>
        <p:spPr>
          <a:xfrm>
            <a:off x="8586216" y="338328"/>
            <a:ext cx="100584" cy="100584"/>
          </a:xfrm>
          <a:prstGeom prst="ellipse">
            <a:avLst/>
          </a:prstGeom>
          <a:solidFill>
            <a:srgbClr val="D5DED9"/>
          </a:solidFill>
          <a:ln/>
        </p:spPr>
      </p:sp>
      <p:sp>
        <p:nvSpPr>
          <p:cNvPr id="9" name="Shape 7"/>
          <p:cNvSpPr/>
          <p:nvPr/>
        </p:nvSpPr>
        <p:spPr>
          <a:xfrm>
            <a:off x="457200" y="1325880"/>
            <a:ext cx="4023360" cy="2240280"/>
          </a:xfrm>
          <a:prstGeom prst="roundRect">
            <a:avLst>
              <a:gd name="adj" fmla="val 3265"/>
            </a:avLst>
          </a:prstGeom>
          <a:solidFill>
            <a:srgbClr val="F4F7F5"/>
          </a:solidFill>
          <a:ln w="9525">
            <a:solidFill>
              <a:srgbClr val="D5DED9"/>
            </a:solidFill>
            <a:prstDash val="solid"/>
          </a:ln>
        </p:spPr>
      </p:sp>
      <p:sp>
        <p:nvSpPr>
          <p:cNvPr id="10" name="Shape 8"/>
          <p:cNvSpPr/>
          <p:nvPr/>
        </p:nvSpPr>
        <p:spPr>
          <a:xfrm>
            <a:off x="658368" y="1508760"/>
            <a:ext cx="502920" cy="502920"/>
          </a:xfrm>
          <a:prstGeom prst="ellipse">
            <a:avLst/>
          </a:prstGeom>
          <a:solidFill>
            <a:srgbClr val="0E7C86">
              <a:alpha val="22000"/>
            </a:srgbClr>
          </a:solidFill>
          <a:ln/>
        </p:spPr>
      </p:sp>
      <p:pic>
        <p:nvPicPr>
          <p:cNvPr id="11" name="Image 0" descr="preencoded.png"/>
          <p:cNvPicPr>
            <a:picLocks noChangeAspect="1"/>
          </p:cNvPicPr>
          <p:nvPr/>
        </p:nvPicPr>
        <p:blipFill>
          <a:blip r:embed="rId3"/>
          <a:stretch>
            <a:fillRect/>
          </a:stretch>
        </p:blipFill>
        <p:spPr>
          <a:xfrm>
            <a:off x="784098" y="1634490"/>
            <a:ext cx="251460" cy="251460"/>
          </a:xfrm>
          <a:prstGeom prst="rect">
            <a:avLst/>
          </a:prstGeom>
        </p:spPr>
      </p:pic>
      <p:sp>
        <p:nvSpPr>
          <p:cNvPr id="12" name="Text 9"/>
          <p:cNvSpPr txBox="1"/>
          <p:nvPr/>
        </p:nvSpPr>
        <p:spPr>
          <a:xfrm>
            <a:off x="1325880" y="1508760"/>
            <a:ext cx="3017520" cy="274320"/>
          </a:xfrm>
          <a:prstGeom prst="rect">
            <a:avLst/>
          </a:prstGeom>
          <a:noFill/>
          <a:ln/>
        </p:spPr>
        <p:txBody>
          <a:bodyPr wrap="square" lIns="0" tIns="0" rIns="0" bIns="0" rtlCol="0" anchor="t"/>
          <a:lstStyle/>
          <a:p>
            <a:pPr marL="0" indent="0" algn="l">
              <a:lnSpc>
                <a:spcPct val="100000"/>
              </a:lnSpc>
              <a:buNone/>
            </a:pPr>
            <a:r>
              <a:rPr lang="en-US" sz="1500" b="1" dirty="0">
                <a:solidFill>
                  <a:srgbClr val="231F20"/>
                </a:solidFill>
                <a:latin typeface="Calibri" pitchFamily="34" charset="0"/>
                <a:ea typeface="Calibri" pitchFamily="34" charset="-122"/>
                <a:cs typeface="Calibri" pitchFamily="34" charset="-120"/>
              </a:rPr>
              <a:t>macOS</a:t>
            </a:r>
            <a:endParaRPr lang="en-US" sz="1500" dirty="0"/>
          </a:p>
        </p:txBody>
      </p:sp>
      <p:sp>
        <p:nvSpPr>
          <p:cNvPr id="13" name="Text 10"/>
          <p:cNvSpPr txBox="1"/>
          <p:nvPr/>
        </p:nvSpPr>
        <p:spPr>
          <a:xfrm>
            <a:off x="1325880" y="1783080"/>
            <a:ext cx="3017520" cy="201168"/>
          </a:xfrm>
          <a:prstGeom prst="rect">
            <a:avLst/>
          </a:prstGeom>
          <a:noFill/>
          <a:ln/>
        </p:spPr>
        <p:txBody>
          <a:bodyPr wrap="square" lIns="0" tIns="0" rIns="0" bIns="0" rtlCol="0" anchor="t"/>
          <a:lstStyle/>
          <a:p>
            <a:pPr marL="0" indent="0" algn="l">
              <a:lnSpc>
                <a:spcPct val="100000"/>
              </a:lnSpc>
              <a:buNone/>
            </a:pPr>
            <a:r>
              <a:rPr lang="en-US" sz="1050" b="1" dirty="0">
                <a:solidFill>
                  <a:srgbClr val="00704A"/>
                </a:solidFill>
                <a:latin typeface="Calibri" pitchFamily="34" charset="0"/>
                <a:ea typeface="Calibri" pitchFamily="34" charset="-122"/>
                <a:cs typeface="Calibri" pitchFamily="34" charset="-120"/>
              </a:rPr>
              <a:t>with Homebrew</a:t>
            </a:r>
            <a:endParaRPr lang="en-US" sz="1050" dirty="0"/>
          </a:p>
        </p:txBody>
      </p:sp>
      <p:sp>
        <p:nvSpPr>
          <p:cNvPr id="14" name="Shape 11"/>
          <p:cNvSpPr/>
          <p:nvPr/>
        </p:nvSpPr>
        <p:spPr>
          <a:xfrm>
            <a:off x="658368" y="2167128"/>
            <a:ext cx="3621024" cy="384048"/>
          </a:xfrm>
          <a:prstGeom prst="roundRect">
            <a:avLst>
              <a:gd name="adj" fmla="val 11905"/>
            </a:avLst>
          </a:prstGeom>
          <a:solidFill>
            <a:srgbClr val="FFFFFF"/>
          </a:solidFill>
          <a:ln w="9525">
            <a:solidFill>
              <a:srgbClr val="D5DED9"/>
            </a:solidFill>
            <a:prstDash val="solid"/>
          </a:ln>
        </p:spPr>
      </p:sp>
      <p:sp>
        <p:nvSpPr>
          <p:cNvPr id="15" name="Text 12"/>
          <p:cNvSpPr txBox="1"/>
          <p:nvPr/>
        </p:nvSpPr>
        <p:spPr>
          <a:xfrm>
            <a:off x="768096" y="2167128"/>
            <a:ext cx="3474720" cy="384048"/>
          </a:xfrm>
          <a:prstGeom prst="rect">
            <a:avLst/>
          </a:prstGeom>
          <a:noFill/>
          <a:ln/>
        </p:spPr>
        <p:txBody>
          <a:bodyPr wrap="square" lIns="0" tIns="0" rIns="0" bIns="0" rtlCol="0" anchor="ctr"/>
          <a:lstStyle/>
          <a:p>
            <a:pPr marL="0" indent="0" algn="l">
              <a:lnSpc>
                <a:spcPct val="100000"/>
              </a:lnSpc>
              <a:buNone/>
            </a:pPr>
            <a:r>
              <a:rPr lang="en-US" sz="1200" b="1" dirty="0">
                <a:solidFill>
                  <a:srgbClr val="231F20"/>
                </a:solidFill>
                <a:latin typeface="Courier New" pitchFamily="34" charset="0"/>
                <a:ea typeface="Courier New" pitchFamily="34" charset="-122"/>
                <a:cs typeface="Courier New" pitchFamily="34" charset="-120"/>
              </a:rPr>
              <a:t>brew install python@3.12</a:t>
            </a:r>
            <a:endParaRPr lang="en-US" sz="1200" dirty="0"/>
          </a:p>
        </p:txBody>
      </p:sp>
      <p:sp>
        <p:nvSpPr>
          <p:cNvPr id="16" name="Text 13"/>
          <p:cNvSpPr txBox="1"/>
          <p:nvPr/>
        </p:nvSpPr>
        <p:spPr>
          <a:xfrm>
            <a:off x="658368" y="2651760"/>
            <a:ext cx="3621024" cy="822960"/>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Homebrew is the most widely used package manager on macOS. If it isn't installed: </a:t>
            </a:r>
            <a:r>
              <a:rPr lang="en-US" sz="1050" b="1" dirty="0">
                <a:solidFill>
                  <a:srgbClr val="00704A"/>
                </a:solidFill>
                <a:latin typeface="Courier New" pitchFamily="34" charset="0"/>
                <a:ea typeface="Courier New" pitchFamily="34" charset="-122"/>
                <a:cs typeface="Courier New" pitchFamily="34" charset="-120"/>
              </a:rPr>
              <a:t>brew.sh</a:t>
            </a:r>
            <a:r>
              <a:rPr lang="en-US" sz="1050" dirty="0">
                <a:solidFill>
                  <a:srgbClr val="5E6964"/>
                </a:solidFill>
                <a:latin typeface="Calibri" pitchFamily="34" charset="0"/>
                <a:ea typeface="Calibri" pitchFamily="34" charset="-122"/>
                <a:cs typeface="Calibri" pitchFamily="34" charset="-120"/>
              </a:rPr>
              <a:t>. Otherwise, </a:t>
            </a:r>
            <a:r>
              <a:rPr lang="en-US" sz="1050" b="1" dirty="0">
                <a:solidFill>
                  <a:srgbClr val="00704A"/>
                </a:solidFill>
                <a:latin typeface="Courier New" pitchFamily="34" charset="0"/>
                <a:ea typeface="Courier New" pitchFamily="34" charset="-122"/>
                <a:cs typeface="Courier New" pitchFamily="34" charset="-120"/>
              </a:rPr>
              <a:t>python.org/downloads</a:t>
            </a:r>
            <a:r>
              <a:rPr lang="en-US" sz="1050" dirty="0">
                <a:solidFill>
                  <a:srgbClr val="5E6964"/>
                </a:solidFill>
                <a:latin typeface="Calibri" pitchFamily="34" charset="0"/>
                <a:ea typeface="Calibri" pitchFamily="34" charset="-122"/>
                <a:cs typeface="Calibri" pitchFamily="34" charset="-120"/>
              </a:rPr>
              <a:t> also provides a macOS installer.</a:t>
            </a:r>
            <a:endParaRPr lang="en-US" sz="1050" dirty="0"/>
          </a:p>
        </p:txBody>
      </p:sp>
      <p:sp>
        <p:nvSpPr>
          <p:cNvPr id="17" name="Shape 14"/>
          <p:cNvSpPr/>
          <p:nvPr/>
        </p:nvSpPr>
        <p:spPr>
          <a:xfrm>
            <a:off x="4663440" y="1325880"/>
            <a:ext cx="4023360" cy="2240280"/>
          </a:xfrm>
          <a:prstGeom prst="roundRect">
            <a:avLst>
              <a:gd name="adj" fmla="val 3265"/>
            </a:avLst>
          </a:prstGeom>
          <a:solidFill>
            <a:srgbClr val="F4F7F5"/>
          </a:solidFill>
          <a:ln w="9525">
            <a:solidFill>
              <a:srgbClr val="D5DED9"/>
            </a:solidFill>
            <a:prstDash val="solid"/>
          </a:ln>
        </p:spPr>
      </p:sp>
      <p:sp>
        <p:nvSpPr>
          <p:cNvPr id="18" name="Shape 15"/>
          <p:cNvSpPr/>
          <p:nvPr/>
        </p:nvSpPr>
        <p:spPr>
          <a:xfrm>
            <a:off x="4864608" y="1508760"/>
            <a:ext cx="502920" cy="502920"/>
          </a:xfrm>
          <a:prstGeom prst="ellipse">
            <a:avLst/>
          </a:prstGeom>
          <a:solidFill>
            <a:srgbClr val="0E7C86">
              <a:alpha val="22000"/>
            </a:srgbClr>
          </a:solidFill>
          <a:ln/>
        </p:spPr>
      </p:sp>
      <p:pic>
        <p:nvPicPr>
          <p:cNvPr id="19" name="Image 1" descr="preencoded.png"/>
          <p:cNvPicPr>
            <a:picLocks noChangeAspect="1"/>
          </p:cNvPicPr>
          <p:nvPr/>
        </p:nvPicPr>
        <p:blipFill>
          <a:blip r:embed="rId4"/>
          <a:stretch>
            <a:fillRect/>
          </a:stretch>
        </p:blipFill>
        <p:spPr>
          <a:xfrm>
            <a:off x="4990338" y="1634490"/>
            <a:ext cx="251460" cy="251460"/>
          </a:xfrm>
          <a:prstGeom prst="rect">
            <a:avLst/>
          </a:prstGeom>
        </p:spPr>
      </p:pic>
      <p:sp>
        <p:nvSpPr>
          <p:cNvPr id="20" name="Text 16"/>
          <p:cNvSpPr txBox="1"/>
          <p:nvPr/>
        </p:nvSpPr>
        <p:spPr>
          <a:xfrm>
            <a:off x="5532120" y="1508760"/>
            <a:ext cx="3017520" cy="274320"/>
          </a:xfrm>
          <a:prstGeom prst="rect">
            <a:avLst/>
          </a:prstGeom>
          <a:noFill/>
          <a:ln/>
        </p:spPr>
        <p:txBody>
          <a:bodyPr wrap="square" lIns="0" tIns="0" rIns="0" bIns="0" rtlCol="0" anchor="t"/>
          <a:lstStyle/>
          <a:p>
            <a:pPr marL="0" indent="0" algn="l">
              <a:lnSpc>
                <a:spcPct val="100000"/>
              </a:lnSpc>
              <a:buNone/>
            </a:pPr>
            <a:r>
              <a:rPr lang="en-US" sz="1500" b="1" dirty="0">
                <a:solidFill>
                  <a:srgbClr val="231F20"/>
                </a:solidFill>
                <a:latin typeface="Calibri" pitchFamily="34" charset="0"/>
                <a:ea typeface="Calibri" pitchFamily="34" charset="-122"/>
                <a:cs typeface="Calibri" pitchFamily="34" charset="-120"/>
              </a:rPr>
              <a:t>Linux — Debian, Ubuntu</a:t>
            </a:r>
            <a:endParaRPr lang="en-US" sz="1500" dirty="0"/>
          </a:p>
        </p:txBody>
      </p:sp>
      <p:sp>
        <p:nvSpPr>
          <p:cNvPr id="21" name="Text 17"/>
          <p:cNvSpPr txBox="1"/>
          <p:nvPr/>
        </p:nvSpPr>
        <p:spPr>
          <a:xfrm>
            <a:off x="5532120" y="1783080"/>
            <a:ext cx="3017520" cy="201168"/>
          </a:xfrm>
          <a:prstGeom prst="rect">
            <a:avLst/>
          </a:prstGeom>
          <a:noFill/>
          <a:ln/>
        </p:spPr>
        <p:txBody>
          <a:bodyPr wrap="square" lIns="0" tIns="0" rIns="0" bIns="0" rtlCol="0" anchor="t"/>
          <a:lstStyle/>
          <a:p>
            <a:pPr marL="0" indent="0" algn="l">
              <a:lnSpc>
                <a:spcPct val="100000"/>
              </a:lnSpc>
              <a:buNone/>
            </a:pPr>
            <a:r>
              <a:rPr lang="en-US" sz="1050" b="1" dirty="0">
                <a:solidFill>
                  <a:srgbClr val="00704A"/>
                </a:solidFill>
                <a:latin typeface="Calibri" pitchFamily="34" charset="0"/>
                <a:ea typeface="Calibri" pitchFamily="34" charset="-122"/>
                <a:cs typeface="Calibri" pitchFamily="34" charset="-120"/>
              </a:rPr>
              <a:t>with apt</a:t>
            </a:r>
            <a:endParaRPr lang="en-US" sz="1050" dirty="0"/>
          </a:p>
        </p:txBody>
      </p:sp>
      <p:sp>
        <p:nvSpPr>
          <p:cNvPr id="22" name="Shape 18"/>
          <p:cNvSpPr/>
          <p:nvPr/>
        </p:nvSpPr>
        <p:spPr>
          <a:xfrm>
            <a:off x="4864608" y="2167128"/>
            <a:ext cx="3621024" cy="384048"/>
          </a:xfrm>
          <a:prstGeom prst="roundRect">
            <a:avLst>
              <a:gd name="adj" fmla="val 11905"/>
            </a:avLst>
          </a:prstGeom>
          <a:solidFill>
            <a:srgbClr val="FFFFFF"/>
          </a:solidFill>
          <a:ln w="9525">
            <a:solidFill>
              <a:srgbClr val="D5DED9"/>
            </a:solidFill>
            <a:prstDash val="solid"/>
          </a:ln>
        </p:spPr>
      </p:sp>
      <p:sp>
        <p:nvSpPr>
          <p:cNvPr id="23" name="Text 19"/>
          <p:cNvSpPr txBox="1"/>
          <p:nvPr/>
        </p:nvSpPr>
        <p:spPr>
          <a:xfrm>
            <a:off x="4974336" y="2167128"/>
            <a:ext cx="3474720" cy="384048"/>
          </a:xfrm>
          <a:prstGeom prst="rect">
            <a:avLst/>
          </a:prstGeom>
          <a:noFill/>
          <a:ln/>
        </p:spPr>
        <p:txBody>
          <a:bodyPr wrap="square" lIns="0" tIns="0" rIns="0" bIns="0" rtlCol="0" anchor="ctr"/>
          <a:lstStyle/>
          <a:p>
            <a:pPr marL="0" indent="0" algn="l">
              <a:lnSpc>
                <a:spcPct val="100000"/>
              </a:lnSpc>
              <a:buNone/>
            </a:pPr>
            <a:r>
              <a:rPr lang="en-US" sz="1000" b="1" dirty="0">
                <a:solidFill>
                  <a:srgbClr val="231F20"/>
                </a:solidFill>
                <a:latin typeface="Courier New" pitchFamily="34" charset="0"/>
                <a:ea typeface="Courier New" pitchFamily="34" charset="-122"/>
                <a:cs typeface="Courier New" pitchFamily="34" charset="-120"/>
              </a:rPr>
              <a:t>sudo apt install python3.12 python3.12-venv</a:t>
            </a:r>
            <a:endParaRPr lang="en-US" sz="1000" dirty="0"/>
          </a:p>
        </p:txBody>
      </p:sp>
      <p:sp>
        <p:nvSpPr>
          <p:cNvPr id="24" name="Text 20"/>
          <p:cNvSpPr txBox="1"/>
          <p:nvPr/>
        </p:nvSpPr>
        <p:spPr>
          <a:xfrm>
            <a:off x="4864608" y="2651760"/>
            <a:ext cx="3621024" cy="822960"/>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The second package, </a:t>
            </a:r>
            <a:r>
              <a:rPr lang="en-US" sz="1050" b="1" dirty="0">
                <a:solidFill>
                  <a:srgbClr val="00704A"/>
                </a:solidFill>
                <a:latin typeface="Courier New" pitchFamily="34" charset="0"/>
                <a:ea typeface="Courier New" pitchFamily="34" charset="-122"/>
                <a:cs typeface="Courier New" pitchFamily="34" charset="-120"/>
              </a:rPr>
              <a:t>python3.12-venv</a:t>
            </a:r>
            <a:r>
              <a:rPr lang="en-US" sz="1050" dirty="0">
                <a:solidFill>
                  <a:srgbClr val="5E6964"/>
                </a:solidFill>
                <a:latin typeface="Calibri" pitchFamily="34" charset="0"/>
                <a:ea typeface="Calibri" pitchFamily="34" charset="-122"/>
                <a:cs typeface="Calibri" pitchFamily="34" charset="-120"/>
              </a:rPr>
              <a:t>, is required: without it, creating an isolated environment fails.</a:t>
            </a:r>
            <a:endParaRPr lang="en-US" sz="1050" dirty="0"/>
          </a:p>
        </p:txBody>
      </p:sp>
      <p:sp>
        <p:nvSpPr>
          <p:cNvPr id="25" name="Shape 21"/>
          <p:cNvSpPr/>
          <p:nvPr/>
        </p:nvSpPr>
        <p:spPr>
          <a:xfrm>
            <a:off x="457200" y="3730752"/>
            <a:ext cx="8229600" cy="640080"/>
          </a:xfrm>
          <a:prstGeom prst="roundRect">
            <a:avLst>
              <a:gd name="adj" fmla="val 11429"/>
            </a:avLst>
          </a:prstGeom>
          <a:solidFill>
            <a:srgbClr val="E8F5EF"/>
          </a:solidFill>
          <a:ln w="15875">
            <a:solidFill>
              <a:srgbClr val="00A86A"/>
            </a:solidFill>
            <a:prstDash val="solid"/>
          </a:ln>
        </p:spPr>
      </p:sp>
      <p:sp>
        <p:nvSpPr>
          <p:cNvPr id="26" name="Shape 22"/>
          <p:cNvSpPr/>
          <p:nvPr/>
        </p:nvSpPr>
        <p:spPr>
          <a:xfrm>
            <a:off x="640080" y="3840480"/>
            <a:ext cx="420624" cy="420624"/>
          </a:xfrm>
          <a:prstGeom prst="ellipse">
            <a:avLst/>
          </a:prstGeom>
          <a:solidFill>
            <a:srgbClr val="00A86A">
              <a:alpha val="22000"/>
            </a:srgbClr>
          </a:solidFill>
          <a:ln/>
        </p:spPr>
      </p:sp>
      <p:pic>
        <p:nvPicPr>
          <p:cNvPr id="27" name="Image 2" descr="preencoded.png"/>
          <p:cNvPicPr>
            <a:picLocks noChangeAspect="1"/>
          </p:cNvPicPr>
          <p:nvPr/>
        </p:nvPicPr>
        <p:blipFill>
          <a:blip r:embed="rId5"/>
          <a:stretch>
            <a:fillRect/>
          </a:stretch>
        </p:blipFill>
        <p:spPr>
          <a:xfrm>
            <a:off x="745236" y="3945636"/>
            <a:ext cx="210312" cy="210312"/>
          </a:xfrm>
          <a:prstGeom prst="rect">
            <a:avLst/>
          </a:prstGeom>
        </p:spPr>
      </p:pic>
      <p:sp>
        <p:nvSpPr>
          <p:cNvPr id="28" name="Text 23"/>
          <p:cNvSpPr txBox="1"/>
          <p:nvPr/>
        </p:nvSpPr>
        <p:spPr>
          <a:xfrm>
            <a:off x="1234440" y="3730752"/>
            <a:ext cx="7315200" cy="640080"/>
          </a:xfrm>
          <a:prstGeom prst="rect">
            <a:avLst/>
          </a:prstGeom>
          <a:noFill/>
          <a:ln/>
        </p:spPr>
        <p:txBody>
          <a:bodyPr wrap="square" lIns="0" tIns="0" rIns="0" bIns="0" rtlCol="0" anchor="ctr"/>
          <a:lstStyle/>
          <a:p>
            <a:pPr marL="0" indent="0" algn="l">
              <a:lnSpc>
                <a:spcPct val="100000"/>
              </a:lnSpc>
              <a:buNone/>
            </a:pPr>
            <a:r>
              <a:rPr lang="en-US" sz="1200" dirty="0">
                <a:solidFill>
                  <a:srgbClr val="231F20"/>
                </a:solidFill>
                <a:latin typeface="Calibri" pitchFamily="34" charset="0"/>
                <a:ea typeface="Calibri" pitchFamily="34" charset="-122"/>
                <a:cs typeface="Calibri" pitchFamily="34" charset="-120"/>
              </a:rPr>
              <a:t>On both systems, the command is called </a:t>
            </a:r>
            <a:r>
              <a:rPr lang="en-US" sz="1200" b="1" dirty="0">
                <a:solidFill>
                  <a:srgbClr val="00704A"/>
                </a:solidFill>
                <a:latin typeface="Courier New" pitchFamily="34" charset="0"/>
                <a:ea typeface="Courier New" pitchFamily="34" charset="-122"/>
                <a:cs typeface="Courier New" pitchFamily="34" charset="-120"/>
              </a:rPr>
              <a:t>python3</a:t>
            </a:r>
            <a:r>
              <a:rPr lang="en-US" sz="1200" dirty="0">
                <a:solidFill>
                  <a:srgbClr val="231F20"/>
                </a:solidFill>
                <a:latin typeface="Calibri" pitchFamily="34" charset="0"/>
                <a:ea typeface="Calibri" pitchFamily="34" charset="-122"/>
                <a:cs typeface="Calibri" pitchFamily="34" charset="-120"/>
              </a:rPr>
              <a:t>, not </a:t>
            </a:r>
            <a:r>
              <a:rPr lang="en-US" sz="1200" b="1" dirty="0">
                <a:solidFill>
                  <a:srgbClr val="00704A"/>
                </a:solidFill>
                <a:latin typeface="Courier New" pitchFamily="34" charset="0"/>
                <a:ea typeface="Courier New" pitchFamily="34" charset="-122"/>
                <a:cs typeface="Courier New" pitchFamily="34" charset="-120"/>
              </a:rPr>
              <a:t>python</a:t>
            </a:r>
            <a:r>
              <a:rPr lang="en-US" sz="1200" dirty="0">
                <a:solidFill>
                  <a:srgbClr val="231F20"/>
                </a:solidFill>
                <a:latin typeface="Calibri" pitchFamily="34" charset="0"/>
                <a:ea typeface="Calibri" pitchFamily="34" charset="-122"/>
                <a:cs typeface="Calibri" pitchFamily="34" charset="-120"/>
              </a:rPr>
              <a:t>. The "3" is part of the name.</a:t>
            </a:r>
            <a:endParaRPr lang="en-US" sz="1200" dirty="0"/>
          </a:p>
        </p:txBody>
      </p:sp>
      <p:sp>
        <p:nvSpPr>
          <p:cNvPr id="29" name="Text 24"/>
          <p:cNvSpPr txBox="1"/>
          <p:nvPr/>
        </p:nvSpPr>
        <p:spPr>
          <a:xfrm>
            <a:off x="457200" y="4480560"/>
            <a:ext cx="8229600" cy="219456"/>
          </a:xfrm>
          <a:prstGeom prst="rect">
            <a:avLst/>
          </a:prstGeom>
          <a:noFill/>
          <a:ln/>
        </p:spPr>
        <p:txBody>
          <a:bodyPr wrap="square" lIns="0" tIns="0" rIns="0" bIns="0" rtlCol="0" anchor="t"/>
          <a:lstStyle/>
          <a:p>
            <a:pPr marL="0" indent="0" algn="l">
              <a:lnSpc>
                <a:spcPct val="100000"/>
              </a:lnSpc>
              <a:buNone/>
            </a:pPr>
            <a:r>
              <a:rPr lang="en-US" sz="900" i="1" dirty="0">
                <a:solidFill>
                  <a:srgbClr val="5E6964"/>
                </a:solidFill>
                <a:latin typeface="Calibri" pitchFamily="34" charset="0"/>
                <a:ea typeface="Calibri" pitchFamily="34" charset="-122"/>
                <a:cs typeface="Calibri" pitchFamily="34" charset="-120"/>
              </a:rPr>
              <a:t>Neither macOS nor Linux asks about PATH: the install handles it.</a:t>
            </a:r>
            <a:endParaRPr lang="en-US" sz="900" dirty="0"/>
          </a:p>
        </p:txBody>
      </p:sp>
      <p:sp>
        <p:nvSpPr>
          <p:cNvPr id="30"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6583680" cy="219456"/>
          </a:xfrm>
          <a:prstGeom prst="rect">
            <a:avLst/>
          </a:prstGeom>
          <a:noFill/>
          <a:ln/>
        </p:spPr>
        <p:txBody>
          <a:bodyPr wrap="square" lIns="0" tIns="0" rIns="0" bIns="0" rtlCol="0" anchor="t"/>
          <a:lstStyle/>
          <a:p>
            <a:pPr marL="0" indent="0" algn="l">
              <a:lnSpc>
                <a:spcPct val="100000"/>
              </a:lnSpc>
              <a:buNone/>
            </a:pPr>
            <a:r>
              <a:rPr lang="en-US" sz="1050" b="1" kern="0" spc="300" dirty="0">
                <a:solidFill>
                  <a:srgbClr val="00704A"/>
                </a:solidFill>
                <a:latin typeface="Calibri" pitchFamily="34" charset="0"/>
                <a:ea typeface="Calibri" pitchFamily="34" charset="-122"/>
                <a:cs typeface="Calibri" pitchFamily="34" charset="-120"/>
              </a:rPr>
              <a:t>03 · INSTALL PYTHON</a:t>
            </a:r>
            <a:endParaRPr lang="en-US" sz="1050" dirty="0"/>
          </a:p>
        </p:txBody>
      </p:sp>
      <p:sp>
        <p:nvSpPr>
          <p:cNvPr id="3" name="Text 1"/>
          <p:cNvSpPr txBox="1"/>
          <p:nvPr/>
        </p:nvSpPr>
        <p:spPr>
          <a:xfrm>
            <a:off x="457200" y="502920"/>
            <a:ext cx="7315200" cy="502920"/>
          </a:xfrm>
          <a:prstGeom prst="rect">
            <a:avLst/>
          </a:prstGeom>
          <a:noFill/>
          <a:ln/>
        </p:spPr>
        <p:txBody>
          <a:bodyPr wrap="square" lIns="0" tIns="0" rIns="0" bIns="0" rtlCol="0" anchor="ctr"/>
          <a:lstStyle/>
          <a:p>
            <a:pPr marL="0" indent="0" algn="l">
              <a:lnSpc>
                <a:spcPct val="100000"/>
              </a:lnSpc>
              <a:buNone/>
            </a:pPr>
            <a:r>
              <a:rPr lang="en-US" sz="2800" b="1" dirty="0">
                <a:solidFill>
                  <a:srgbClr val="231F20"/>
                </a:solidFill>
                <a:latin typeface="Calibri" pitchFamily="34" charset="0"/>
                <a:ea typeface="Calibri" pitchFamily="34" charset="-122"/>
                <a:cs typeface="Calibri" pitchFamily="34" charset="-120"/>
              </a:rPr>
              <a:t>Check that Python answers</a:t>
            </a:r>
            <a:endParaRPr lang="en-US" sz="2800" dirty="0"/>
          </a:p>
        </p:txBody>
      </p:sp>
      <p:sp>
        <p:nvSpPr>
          <p:cNvPr id="4" name="Shape 2"/>
          <p:cNvSpPr/>
          <p:nvPr/>
        </p:nvSpPr>
        <p:spPr>
          <a:xfrm>
            <a:off x="7854696" y="338328"/>
            <a:ext cx="100584" cy="100584"/>
          </a:xfrm>
          <a:prstGeom prst="ellipse">
            <a:avLst/>
          </a:prstGeom>
          <a:solidFill>
            <a:srgbClr val="D5DED9"/>
          </a:solidFill>
          <a:ln/>
        </p:spPr>
      </p:sp>
      <p:sp>
        <p:nvSpPr>
          <p:cNvPr id="5" name="Shape 3"/>
          <p:cNvSpPr/>
          <p:nvPr/>
        </p:nvSpPr>
        <p:spPr>
          <a:xfrm>
            <a:off x="8037576" y="338328"/>
            <a:ext cx="100584" cy="100584"/>
          </a:xfrm>
          <a:prstGeom prst="ellipse">
            <a:avLst/>
          </a:prstGeom>
          <a:solidFill>
            <a:srgbClr val="D5DED9"/>
          </a:solidFill>
          <a:ln/>
        </p:spPr>
      </p:sp>
      <p:sp>
        <p:nvSpPr>
          <p:cNvPr id="6" name="Shape 4"/>
          <p:cNvSpPr/>
          <p:nvPr/>
        </p:nvSpPr>
        <p:spPr>
          <a:xfrm>
            <a:off x="8220456" y="338328"/>
            <a:ext cx="100584" cy="100584"/>
          </a:xfrm>
          <a:prstGeom prst="ellipse">
            <a:avLst/>
          </a:prstGeom>
          <a:solidFill>
            <a:srgbClr val="0E7C86"/>
          </a:solidFill>
          <a:ln/>
        </p:spPr>
      </p:sp>
      <p:sp>
        <p:nvSpPr>
          <p:cNvPr id="7" name="Shape 5"/>
          <p:cNvSpPr/>
          <p:nvPr/>
        </p:nvSpPr>
        <p:spPr>
          <a:xfrm>
            <a:off x="8403336" y="338328"/>
            <a:ext cx="100584" cy="100584"/>
          </a:xfrm>
          <a:prstGeom prst="ellipse">
            <a:avLst/>
          </a:prstGeom>
          <a:solidFill>
            <a:srgbClr val="D5DED9"/>
          </a:solidFill>
          <a:ln/>
        </p:spPr>
      </p:sp>
      <p:sp>
        <p:nvSpPr>
          <p:cNvPr id="8" name="Shape 6"/>
          <p:cNvSpPr/>
          <p:nvPr/>
        </p:nvSpPr>
        <p:spPr>
          <a:xfrm>
            <a:off x="8586216" y="338328"/>
            <a:ext cx="100584" cy="100584"/>
          </a:xfrm>
          <a:prstGeom prst="ellipse">
            <a:avLst/>
          </a:prstGeom>
          <a:solidFill>
            <a:srgbClr val="D5DED9"/>
          </a:solidFill>
          <a:ln/>
        </p:spPr>
      </p:sp>
      <p:sp>
        <p:nvSpPr>
          <p:cNvPr id="9" name="Shape 7"/>
          <p:cNvSpPr/>
          <p:nvPr/>
        </p:nvSpPr>
        <p:spPr>
          <a:xfrm>
            <a:off x="457200" y="1325880"/>
            <a:ext cx="3840480" cy="2606040"/>
          </a:xfrm>
          <a:prstGeom prst="roundRect">
            <a:avLst>
              <a:gd name="adj" fmla="val 2807"/>
            </a:avLst>
          </a:prstGeom>
          <a:solidFill>
            <a:srgbClr val="231F20"/>
          </a:solidFill>
          <a:ln/>
        </p:spPr>
      </p:sp>
      <p:sp>
        <p:nvSpPr>
          <p:cNvPr id="10" name="Shape 8"/>
          <p:cNvSpPr/>
          <p:nvPr/>
        </p:nvSpPr>
        <p:spPr>
          <a:xfrm>
            <a:off x="658368" y="1481328"/>
            <a:ext cx="100584" cy="100584"/>
          </a:xfrm>
          <a:prstGeom prst="ellipse">
            <a:avLst/>
          </a:prstGeom>
          <a:solidFill>
            <a:srgbClr val="B83B2E"/>
          </a:solidFill>
          <a:ln/>
        </p:spPr>
      </p:sp>
      <p:sp>
        <p:nvSpPr>
          <p:cNvPr id="11" name="Shape 9"/>
          <p:cNvSpPr/>
          <p:nvPr/>
        </p:nvSpPr>
        <p:spPr>
          <a:xfrm>
            <a:off x="841248" y="1481328"/>
            <a:ext cx="100584" cy="100584"/>
          </a:xfrm>
          <a:prstGeom prst="ellipse">
            <a:avLst/>
          </a:prstGeom>
          <a:solidFill>
            <a:srgbClr val="F5C242"/>
          </a:solidFill>
          <a:ln/>
        </p:spPr>
      </p:sp>
      <p:sp>
        <p:nvSpPr>
          <p:cNvPr id="12" name="Shape 10"/>
          <p:cNvSpPr/>
          <p:nvPr/>
        </p:nvSpPr>
        <p:spPr>
          <a:xfrm>
            <a:off x="1024128" y="1481328"/>
            <a:ext cx="100584" cy="100584"/>
          </a:xfrm>
          <a:prstGeom prst="ellipse">
            <a:avLst/>
          </a:prstGeom>
          <a:solidFill>
            <a:srgbClr val="00A86A"/>
          </a:solidFill>
          <a:ln/>
        </p:spPr>
      </p:sp>
      <p:sp>
        <p:nvSpPr>
          <p:cNvPr id="13" name="Text 11"/>
          <p:cNvSpPr txBox="1"/>
          <p:nvPr/>
        </p:nvSpPr>
        <p:spPr>
          <a:xfrm>
            <a:off x="658368" y="1828800"/>
            <a:ext cx="3474720" cy="201168"/>
          </a:xfrm>
          <a:prstGeom prst="rect">
            <a:avLst/>
          </a:prstGeom>
          <a:noFill/>
          <a:ln/>
        </p:spPr>
        <p:txBody>
          <a:bodyPr wrap="square" lIns="0" tIns="0" rIns="0" bIns="0" rtlCol="0" anchor="t"/>
          <a:lstStyle/>
          <a:p>
            <a:pPr marL="0" indent="0" algn="l">
              <a:lnSpc>
                <a:spcPct val="100000"/>
              </a:lnSpc>
              <a:buNone/>
            </a:pPr>
            <a:r>
              <a:rPr lang="en-US" sz="950" b="1" kern="0" spc="200" dirty="0">
                <a:solidFill>
                  <a:srgbClr val="9ED9C0"/>
                </a:solidFill>
                <a:latin typeface="Calibri" pitchFamily="34" charset="0"/>
                <a:ea typeface="Calibri" pitchFamily="34" charset="-122"/>
                <a:cs typeface="Calibri" pitchFamily="34" charset="-120"/>
              </a:rPr>
              <a:t>WHAT YOU TYPE</a:t>
            </a:r>
            <a:endParaRPr lang="en-US" sz="950" dirty="0"/>
          </a:p>
        </p:txBody>
      </p:sp>
      <p:sp>
        <p:nvSpPr>
          <p:cNvPr id="14" name="Text 12"/>
          <p:cNvSpPr txBox="1"/>
          <p:nvPr/>
        </p:nvSpPr>
        <p:spPr>
          <a:xfrm>
            <a:off x="658368" y="2084832"/>
            <a:ext cx="3474720" cy="365760"/>
          </a:xfrm>
          <a:prstGeom prst="rect">
            <a:avLst/>
          </a:prstGeom>
          <a:noFill/>
          <a:ln/>
        </p:spPr>
        <p:txBody>
          <a:bodyPr wrap="square" lIns="0" tIns="0" rIns="0" bIns="0" rtlCol="0" anchor="t"/>
          <a:lstStyle/>
          <a:p>
            <a:pPr marL="0" indent="0" algn="l">
              <a:lnSpc>
                <a:spcPct val="100000"/>
              </a:lnSpc>
              <a:buNone/>
            </a:pPr>
            <a:r>
              <a:rPr lang="en-US" sz="1700" b="1" dirty="0">
                <a:solidFill>
                  <a:srgbClr val="FFFFFF"/>
                </a:solidFill>
                <a:latin typeface="Courier New" pitchFamily="34" charset="0"/>
                <a:ea typeface="Courier New" pitchFamily="34" charset="-122"/>
                <a:cs typeface="Courier New" pitchFamily="34" charset="-120"/>
              </a:rPr>
              <a:t>&gt; python --version</a:t>
            </a:r>
            <a:endParaRPr lang="en-US" sz="1700" dirty="0"/>
          </a:p>
        </p:txBody>
      </p:sp>
      <p:sp>
        <p:nvSpPr>
          <p:cNvPr id="15" name="Text 13"/>
          <p:cNvSpPr txBox="1"/>
          <p:nvPr/>
        </p:nvSpPr>
        <p:spPr>
          <a:xfrm>
            <a:off x="658368" y="2743200"/>
            <a:ext cx="3474720" cy="201168"/>
          </a:xfrm>
          <a:prstGeom prst="rect">
            <a:avLst/>
          </a:prstGeom>
          <a:noFill/>
          <a:ln/>
        </p:spPr>
        <p:txBody>
          <a:bodyPr wrap="square" lIns="0" tIns="0" rIns="0" bIns="0" rtlCol="0" anchor="t"/>
          <a:lstStyle/>
          <a:p>
            <a:pPr marL="0" indent="0" algn="l">
              <a:lnSpc>
                <a:spcPct val="100000"/>
              </a:lnSpc>
              <a:buNone/>
            </a:pPr>
            <a:r>
              <a:rPr lang="en-US" sz="950" b="1" kern="0" spc="200" dirty="0">
                <a:solidFill>
                  <a:srgbClr val="9ED9C0"/>
                </a:solidFill>
                <a:latin typeface="Calibri" pitchFamily="34" charset="0"/>
                <a:ea typeface="Calibri" pitchFamily="34" charset="-122"/>
                <a:cs typeface="Calibri" pitchFamily="34" charset="-120"/>
              </a:rPr>
              <a:t>WHAT YOU SEE</a:t>
            </a:r>
            <a:endParaRPr lang="en-US" sz="950" dirty="0"/>
          </a:p>
        </p:txBody>
      </p:sp>
      <p:sp>
        <p:nvSpPr>
          <p:cNvPr id="16" name="Text 14"/>
          <p:cNvSpPr txBox="1"/>
          <p:nvPr/>
        </p:nvSpPr>
        <p:spPr>
          <a:xfrm>
            <a:off x="658368" y="2999232"/>
            <a:ext cx="3474720" cy="365760"/>
          </a:xfrm>
          <a:prstGeom prst="rect">
            <a:avLst/>
          </a:prstGeom>
          <a:noFill/>
          <a:ln/>
        </p:spPr>
        <p:txBody>
          <a:bodyPr wrap="square" lIns="0" tIns="0" rIns="0" bIns="0" rtlCol="0" anchor="t"/>
          <a:lstStyle/>
          <a:p>
            <a:pPr marL="0" indent="0" algn="l">
              <a:lnSpc>
                <a:spcPct val="100000"/>
              </a:lnSpc>
              <a:buNone/>
            </a:pPr>
            <a:r>
              <a:rPr lang="en-US" sz="1700" b="1" dirty="0">
                <a:solidFill>
                  <a:srgbClr val="F5C242"/>
                </a:solidFill>
                <a:latin typeface="Courier New" pitchFamily="34" charset="0"/>
                <a:ea typeface="Courier New" pitchFamily="34" charset="-122"/>
                <a:cs typeface="Courier New" pitchFamily="34" charset="-120"/>
              </a:rPr>
              <a:t>Python 3.12.0</a:t>
            </a:r>
            <a:endParaRPr lang="en-US" sz="1700" dirty="0"/>
          </a:p>
        </p:txBody>
      </p:sp>
      <p:sp>
        <p:nvSpPr>
          <p:cNvPr id="17" name="Text 15"/>
          <p:cNvSpPr txBox="1"/>
          <p:nvPr/>
        </p:nvSpPr>
        <p:spPr>
          <a:xfrm>
            <a:off x="457200" y="4041648"/>
            <a:ext cx="3840480" cy="219456"/>
          </a:xfrm>
          <a:prstGeom prst="rect">
            <a:avLst/>
          </a:prstGeom>
          <a:noFill/>
          <a:ln/>
        </p:spPr>
        <p:txBody>
          <a:bodyPr wrap="square" lIns="0" tIns="0" rIns="0" bIns="0" rtlCol="0" anchor="t"/>
          <a:lstStyle/>
          <a:p>
            <a:pPr marL="0" indent="0" algn="l">
              <a:lnSpc>
                <a:spcPct val="100000"/>
              </a:lnSpc>
              <a:buNone/>
            </a:pPr>
            <a:r>
              <a:rPr lang="en-US" sz="900" i="1" dirty="0">
                <a:solidFill>
                  <a:srgbClr val="5E6964"/>
                </a:solidFill>
                <a:latin typeface="Calibri" pitchFamily="34" charset="0"/>
                <a:ea typeface="Calibri" pitchFamily="34" charset="-122"/>
                <a:cs typeface="Calibri" pitchFamily="34" charset="-120"/>
              </a:rPr>
              <a:t>Output recorded on a real machine on 18/10/2026</a:t>
            </a:r>
            <a:endParaRPr lang="en-US" sz="900" dirty="0"/>
          </a:p>
        </p:txBody>
      </p:sp>
      <p:sp>
        <p:nvSpPr>
          <p:cNvPr id="18" name="Shape 16"/>
          <p:cNvSpPr/>
          <p:nvPr/>
        </p:nvSpPr>
        <p:spPr>
          <a:xfrm>
            <a:off x="4663440" y="1325880"/>
            <a:ext cx="420624" cy="420624"/>
          </a:xfrm>
          <a:prstGeom prst="ellipse">
            <a:avLst/>
          </a:prstGeom>
          <a:solidFill>
            <a:srgbClr val="0E7C86">
              <a:alpha val="22000"/>
            </a:srgbClr>
          </a:solidFill>
          <a:ln/>
        </p:spPr>
      </p:sp>
      <p:pic>
        <p:nvPicPr>
          <p:cNvPr id="19" name="Image 0" descr="preencoded.png"/>
          <p:cNvPicPr>
            <a:picLocks noChangeAspect="1"/>
          </p:cNvPicPr>
          <p:nvPr/>
        </p:nvPicPr>
        <p:blipFill>
          <a:blip r:embed="rId3"/>
          <a:stretch>
            <a:fillRect/>
          </a:stretch>
        </p:blipFill>
        <p:spPr>
          <a:xfrm>
            <a:off x="4768596" y="1431036"/>
            <a:ext cx="210312" cy="210312"/>
          </a:xfrm>
          <a:prstGeom prst="rect">
            <a:avLst/>
          </a:prstGeom>
        </p:spPr>
      </p:pic>
      <p:sp>
        <p:nvSpPr>
          <p:cNvPr id="20" name="Text 17"/>
          <p:cNvSpPr txBox="1"/>
          <p:nvPr/>
        </p:nvSpPr>
        <p:spPr>
          <a:xfrm>
            <a:off x="5257800" y="1307592"/>
            <a:ext cx="3429000" cy="237744"/>
          </a:xfrm>
          <a:prstGeom prst="rect">
            <a:avLst/>
          </a:prstGeom>
          <a:noFill/>
          <a:ln/>
        </p:spPr>
        <p:txBody>
          <a:bodyPr wrap="square" lIns="0" tIns="0" rIns="0" bIns="0" rtlCol="0" anchor="t"/>
          <a:lstStyle/>
          <a:p>
            <a:pPr marL="0" indent="0" algn="l">
              <a:lnSpc>
                <a:spcPct val="100000"/>
              </a:lnSpc>
              <a:buNone/>
            </a:pPr>
            <a:r>
              <a:rPr lang="en-US" sz="1200" b="1" dirty="0">
                <a:solidFill>
                  <a:srgbClr val="231F20"/>
                </a:solidFill>
                <a:latin typeface="Calibri" pitchFamily="34" charset="0"/>
                <a:ea typeface="Calibri" pitchFamily="34" charset="-122"/>
                <a:cs typeface="Calibri" pitchFamily="34" charset="-120"/>
              </a:rPr>
              <a:t>Close the terminal, open a fresh one</a:t>
            </a:r>
            <a:endParaRPr lang="en-US" sz="1200" dirty="0"/>
          </a:p>
        </p:txBody>
      </p:sp>
      <p:sp>
        <p:nvSpPr>
          <p:cNvPr id="21" name="Text 18"/>
          <p:cNvSpPr txBox="1"/>
          <p:nvPr/>
        </p:nvSpPr>
        <p:spPr>
          <a:xfrm>
            <a:off x="5257800" y="1554480"/>
            <a:ext cx="3429000" cy="384048"/>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Not superstition: a terminal that was already open doesn't know about software installed since.</a:t>
            </a:r>
            <a:endParaRPr lang="en-US" sz="1050" dirty="0"/>
          </a:p>
        </p:txBody>
      </p:sp>
      <p:sp>
        <p:nvSpPr>
          <p:cNvPr id="22" name="Shape 19"/>
          <p:cNvSpPr/>
          <p:nvPr/>
        </p:nvSpPr>
        <p:spPr>
          <a:xfrm>
            <a:off x="4663440" y="2011680"/>
            <a:ext cx="420624" cy="420624"/>
          </a:xfrm>
          <a:prstGeom prst="ellipse">
            <a:avLst/>
          </a:prstGeom>
          <a:solidFill>
            <a:srgbClr val="0E7C86">
              <a:alpha val="22000"/>
            </a:srgbClr>
          </a:solidFill>
          <a:ln/>
        </p:spPr>
      </p:sp>
      <p:pic>
        <p:nvPicPr>
          <p:cNvPr id="23" name="Image 1" descr="preencoded.png"/>
          <p:cNvPicPr>
            <a:picLocks noChangeAspect="1"/>
          </p:cNvPicPr>
          <p:nvPr/>
        </p:nvPicPr>
        <p:blipFill>
          <a:blip r:embed="rId4"/>
          <a:stretch>
            <a:fillRect/>
          </a:stretch>
        </p:blipFill>
        <p:spPr>
          <a:xfrm>
            <a:off x="4768596" y="2116836"/>
            <a:ext cx="210312" cy="210312"/>
          </a:xfrm>
          <a:prstGeom prst="rect">
            <a:avLst/>
          </a:prstGeom>
        </p:spPr>
      </p:pic>
      <p:sp>
        <p:nvSpPr>
          <p:cNvPr id="24" name="Text 20"/>
          <p:cNvSpPr txBox="1"/>
          <p:nvPr/>
        </p:nvSpPr>
        <p:spPr>
          <a:xfrm>
            <a:off x="5257800" y="1993392"/>
            <a:ext cx="3429000" cy="237744"/>
          </a:xfrm>
          <a:prstGeom prst="rect">
            <a:avLst/>
          </a:prstGeom>
          <a:noFill/>
          <a:ln/>
        </p:spPr>
        <p:txBody>
          <a:bodyPr wrap="square" lIns="0" tIns="0" rIns="0" bIns="0" rtlCol="0" anchor="t"/>
          <a:lstStyle/>
          <a:p>
            <a:pPr marL="0" indent="0" algn="l">
              <a:lnSpc>
                <a:spcPct val="100000"/>
              </a:lnSpc>
              <a:buNone/>
            </a:pPr>
            <a:r>
              <a:rPr lang="en-US" sz="1200" b="1" dirty="0">
                <a:solidFill>
                  <a:srgbClr val="231F20"/>
                </a:solidFill>
                <a:latin typeface="Calibri" pitchFamily="34" charset="0"/>
                <a:ea typeface="Calibri" pitchFamily="34" charset="-122"/>
                <a:cs typeface="Calibri" pitchFamily="34" charset="-120"/>
              </a:rPr>
              <a:t>A version number appears: you're done</a:t>
            </a:r>
            <a:endParaRPr lang="en-US" sz="1200" dirty="0"/>
          </a:p>
        </p:txBody>
      </p:sp>
      <p:sp>
        <p:nvSpPr>
          <p:cNvPr id="25" name="Text 21"/>
          <p:cNvSpPr txBox="1"/>
          <p:nvPr/>
        </p:nvSpPr>
        <p:spPr>
          <a:xfrm>
            <a:off x="5257800" y="2240280"/>
            <a:ext cx="3429000" cy="384048"/>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3.12.0 or 3.12.7 — the digit after the second dot doesn't matter.</a:t>
            </a:r>
            <a:endParaRPr lang="en-US" sz="1050" dirty="0"/>
          </a:p>
        </p:txBody>
      </p:sp>
      <p:sp>
        <p:nvSpPr>
          <p:cNvPr id="26" name="Shape 22"/>
          <p:cNvSpPr/>
          <p:nvPr/>
        </p:nvSpPr>
        <p:spPr>
          <a:xfrm>
            <a:off x="4663440" y="2697480"/>
            <a:ext cx="420624" cy="420624"/>
          </a:xfrm>
          <a:prstGeom prst="ellipse">
            <a:avLst/>
          </a:prstGeom>
          <a:solidFill>
            <a:srgbClr val="0E7C86">
              <a:alpha val="22000"/>
            </a:srgbClr>
          </a:solidFill>
          <a:ln/>
        </p:spPr>
      </p:sp>
      <p:pic>
        <p:nvPicPr>
          <p:cNvPr id="27" name="Image 2" descr="preencoded.png"/>
          <p:cNvPicPr>
            <a:picLocks noChangeAspect="1"/>
          </p:cNvPicPr>
          <p:nvPr/>
        </p:nvPicPr>
        <p:blipFill>
          <a:blip r:embed="rId5"/>
          <a:stretch>
            <a:fillRect/>
          </a:stretch>
        </p:blipFill>
        <p:spPr>
          <a:xfrm>
            <a:off x="4768596" y="2802636"/>
            <a:ext cx="210312" cy="210312"/>
          </a:xfrm>
          <a:prstGeom prst="rect">
            <a:avLst/>
          </a:prstGeom>
        </p:spPr>
      </p:pic>
      <p:sp>
        <p:nvSpPr>
          <p:cNvPr id="28" name="Text 23"/>
          <p:cNvSpPr txBox="1"/>
          <p:nvPr/>
        </p:nvSpPr>
        <p:spPr>
          <a:xfrm>
            <a:off x="5257800" y="2679192"/>
            <a:ext cx="3429000" cy="237744"/>
          </a:xfrm>
          <a:prstGeom prst="rect">
            <a:avLst/>
          </a:prstGeom>
          <a:noFill/>
          <a:ln/>
        </p:spPr>
        <p:txBody>
          <a:bodyPr wrap="square" lIns="0" tIns="0" rIns="0" bIns="0" rtlCol="0" anchor="t"/>
          <a:lstStyle/>
          <a:p>
            <a:pPr marL="0" indent="0" algn="l">
              <a:lnSpc>
                <a:spcPct val="100000"/>
              </a:lnSpc>
              <a:buNone/>
            </a:pPr>
            <a:r>
              <a:rPr lang="en-US" sz="1200" b="1" dirty="0">
                <a:solidFill>
                  <a:srgbClr val="231F20"/>
                </a:solidFill>
                <a:latin typeface="Calibri" pitchFamily="34" charset="0"/>
                <a:ea typeface="Calibri" pitchFamily="34" charset="-122"/>
                <a:cs typeface="Calibri" pitchFamily="34" charset="-120"/>
              </a:rPr>
              <a:t>3.10, 3.11, 3.12 and 3.13 all work</a:t>
            </a:r>
            <a:endParaRPr lang="en-US" sz="1200" dirty="0"/>
          </a:p>
        </p:txBody>
      </p:sp>
      <p:sp>
        <p:nvSpPr>
          <p:cNvPr id="29" name="Text 24"/>
          <p:cNvSpPr txBox="1"/>
          <p:nvPr/>
        </p:nvSpPr>
        <p:spPr>
          <a:xfrm>
            <a:off x="5257800" y="2926080"/>
            <a:ext cx="3429000" cy="384048"/>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On macOS and Linux, type </a:t>
            </a:r>
            <a:r>
              <a:rPr lang="en-US" sz="1050" b="1" dirty="0">
                <a:solidFill>
                  <a:srgbClr val="00704A"/>
                </a:solidFill>
                <a:latin typeface="Courier New" pitchFamily="34" charset="0"/>
                <a:ea typeface="Courier New" pitchFamily="34" charset="-122"/>
                <a:cs typeface="Courier New" pitchFamily="34" charset="-120"/>
              </a:rPr>
              <a:t>python3 --version</a:t>
            </a:r>
            <a:r>
              <a:rPr lang="en-US" sz="1050" dirty="0">
                <a:solidFill>
                  <a:srgbClr val="5E6964"/>
                </a:solidFill>
                <a:latin typeface="Calibri" pitchFamily="34" charset="0"/>
                <a:ea typeface="Calibri" pitchFamily="34" charset="-122"/>
                <a:cs typeface="Calibri" pitchFamily="34" charset="-120"/>
              </a:rPr>
              <a:t>.</a:t>
            </a:r>
            <a:endParaRPr lang="en-US" sz="1050" dirty="0"/>
          </a:p>
        </p:txBody>
      </p:sp>
      <p:sp>
        <p:nvSpPr>
          <p:cNvPr id="30" name="Shape 25"/>
          <p:cNvSpPr/>
          <p:nvPr/>
        </p:nvSpPr>
        <p:spPr>
          <a:xfrm>
            <a:off x="4663440" y="3383280"/>
            <a:ext cx="420624" cy="420624"/>
          </a:xfrm>
          <a:prstGeom prst="ellipse">
            <a:avLst/>
          </a:prstGeom>
          <a:solidFill>
            <a:srgbClr val="0E7C86">
              <a:alpha val="22000"/>
            </a:srgbClr>
          </a:solidFill>
          <a:ln/>
        </p:spPr>
      </p:sp>
      <p:pic>
        <p:nvPicPr>
          <p:cNvPr id="31" name="Image 3" descr="preencoded.png"/>
          <p:cNvPicPr>
            <a:picLocks noChangeAspect="1"/>
          </p:cNvPicPr>
          <p:nvPr/>
        </p:nvPicPr>
        <p:blipFill>
          <a:blip r:embed="rId6"/>
          <a:stretch>
            <a:fillRect/>
          </a:stretch>
        </p:blipFill>
        <p:spPr>
          <a:xfrm>
            <a:off x="4768596" y="3488436"/>
            <a:ext cx="210312" cy="210312"/>
          </a:xfrm>
          <a:prstGeom prst="rect">
            <a:avLst/>
          </a:prstGeom>
        </p:spPr>
      </p:pic>
      <p:sp>
        <p:nvSpPr>
          <p:cNvPr id="32" name="Text 26"/>
          <p:cNvSpPr txBox="1"/>
          <p:nvPr/>
        </p:nvSpPr>
        <p:spPr>
          <a:xfrm>
            <a:off x="5257800" y="3364992"/>
            <a:ext cx="3429000" cy="237744"/>
          </a:xfrm>
          <a:prstGeom prst="rect">
            <a:avLst/>
          </a:prstGeom>
          <a:noFill/>
          <a:ln/>
        </p:spPr>
        <p:txBody>
          <a:bodyPr wrap="square" lIns="0" tIns="0" rIns="0" bIns="0" rtlCol="0" anchor="t"/>
          <a:lstStyle/>
          <a:p>
            <a:pPr marL="0" indent="0" algn="l">
              <a:lnSpc>
                <a:spcPct val="100000"/>
              </a:lnSpc>
              <a:buNone/>
            </a:pPr>
            <a:r>
              <a:rPr lang="en-US" sz="1200" b="1" dirty="0">
                <a:solidFill>
                  <a:srgbClr val="231F20"/>
                </a:solidFill>
                <a:latin typeface="Calibri" pitchFamily="34" charset="0"/>
                <a:ea typeface="Calibri" pitchFamily="34" charset="-122"/>
                <a:cs typeface="Calibri" pitchFamily="34" charset="-120"/>
              </a:rPr>
              <a:t>Several Pythons on the machine?</a:t>
            </a:r>
            <a:endParaRPr lang="en-US" sz="1200" dirty="0"/>
          </a:p>
        </p:txBody>
      </p:sp>
      <p:sp>
        <p:nvSpPr>
          <p:cNvPr id="33" name="Text 27"/>
          <p:cNvSpPr txBox="1"/>
          <p:nvPr/>
        </p:nvSpPr>
        <p:spPr>
          <a:xfrm>
            <a:off x="5257800" y="3611880"/>
            <a:ext cx="3429000" cy="384048"/>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On Windows, </a:t>
            </a:r>
            <a:r>
              <a:rPr lang="en-US" sz="1050" b="1" dirty="0">
                <a:solidFill>
                  <a:srgbClr val="00704A"/>
                </a:solidFill>
                <a:latin typeface="Courier New" pitchFamily="34" charset="0"/>
                <a:ea typeface="Courier New" pitchFamily="34" charset="-122"/>
                <a:cs typeface="Courier New" pitchFamily="34" charset="-120"/>
              </a:rPr>
              <a:t>py -0p</a:t>
            </a:r>
            <a:r>
              <a:rPr lang="en-US" sz="1050" dirty="0">
                <a:solidFill>
                  <a:srgbClr val="5E6964"/>
                </a:solidFill>
                <a:latin typeface="Calibri" pitchFamily="34" charset="0"/>
                <a:ea typeface="Calibri" pitchFamily="34" charset="-122"/>
                <a:cs typeface="Calibri" pitchFamily="34" charset="-120"/>
              </a:rPr>
              <a:t> lists them all, with their paths.</a:t>
            </a:r>
            <a:endParaRPr lang="en-US" sz="1050" dirty="0"/>
          </a:p>
        </p:txBody>
      </p:sp>
      <p:sp>
        <p:nvSpPr>
          <p:cNvPr id="34"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6583680" cy="219456"/>
          </a:xfrm>
          <a:prstGeom prst="rect">
            <a:avLst/>
          </a:prstGeom>
          <a:noFill/>
          <a:ln/>
        </p:spPr>
        <p:txBody>
          <a:bodyPr wrap="square" lIns="0" tIns="0" rIns="0" bIns="0" rtlCol="0" anchor="t"/>
          <a:lstStyle/>
          <a:p>
            <a:pPr marL="0" indent="0" algn="l">
              <a:lnSpc>
                <a:spcPct val="100000"/>
              </a:lnSpc>
              <a:buNone/>
            </a:pPr>
            <a:r>
              <a:rPr lang="en-US" sz="1050" b="1" kern="0" spc="300" dirty="0">
                <a:solidFill>
                  <a:srgbClr val="00704A"/>
                </a:solidFill>
                <a:latin typeface="Calibri" pitchFamily="34" charset="0"/>
                <a:ea typeface="Calibri" pitchFamily="34" charset="-122"/>
                <a:cs typeface="Calibri" pitchFamily="34" charset="-120"/>
              </a:rPr>
              <a:t>04 · JUPYTERLAB</a:t>
            </a:r>
            <a:endParaRPr lang="en-US" sz="1050" dirty="0"/>
          </a:p>
        </p:txBody>
      </p:sp>
      <p:sp>
        <p:nvSpPr>
          <p:cNvPr id="3" name="Text 1"/>
          <p:cNvSpPr txBox="1"/>
          <p:nvPr/>
        </p:nvSpPr>
        <p:spPr>
          <a:xfrm>
            <a:off x="457200" y="502920"/>
            <a:ext cx="7315200" cy="502920"/>
          </a:xfrm>
          <a:prstGeom prst="rect">
            <a:avLst/>
          </a:prstGeom>
          <a:noFill/>
          <a:ln/>
        </p:spPr>
        <p:txBody>
          <a:bodyPr wrap="square" lIns="0" tIns="0" rIns="0" bIns="0" rtlCol="0" anchor="ctr"/>
          <a:lstStyle/>
          <a:p>
            <a:pPr marL="0" indent="0" algn="l">
              <a:lnSpc>
                <a:spcPct val="100000"/>
              </a:lnSpc>
              <a:buNone/>
            </a:pPr>
            <a:r>
              <a:rPr lang="en-US" sz="2800" b="1" dirty="0">
                <a:solidFill>
                  <a:srgbClr val="231F20"/>
                </a:solidFill>
                <a:latin typeface="Calibri" pitchFamily="34" charset="0"/>
                <a:ea typeface="Calibri" pitchFamily="34" charset="-122"/>
                <a:cs typeface="Calibri" pitchFamily="34" charset="-120"/>
              </a:rPr>
              <a:t>Install JupyterLab — one command</a:t>
            </a:r>
            <a:endParaRPr lang="en-US" sz="2800" dirty="0"/>
          </a:p>
        </p:txBody>
      </p:sp>
      <p:sp>
        <p:nvSpPr>
          <p:cNvPr id="4" name="Shape 2"/>
          <p:cNvSpPr/>
          <p:nvPr/>
        </p:nvSpPr>
        <p:spPr>
          <a:xfrm>
            <a:off x="7854696" y="338328"/>
            <a:ext cx="100584" cy="100584"/>
          </a:xfrm>
          <a:prstGeom prst="ellipse">
            <a:avLst/>
          </a:prstGeom>
          <a:solidFill>
            <a:srgbClr val="D5DED9"/>
          </a:solidFill>
          <a:ln/>
        </p:spPr>
      </p:sp>
      <p:sp>
        <p:nvSpPr>
          <p:cNvPr id="5" name="Shape 3"/>
          <p:cNvSpPr/>
          <p:nvPr/>
        </p:nvSpPr>
        <p:spPr>
          <a:xfrm>
            <a:off x="8037576" y="338328"/>
            <a:ext cx="100584" cy="100584"/>
          </a:xfrm>
          <a:prstGeom prst="ellipse">
            <a:avLst/>
          </a:prstGeom>
          <a:solidFill>
            <a:srgbClr val="D5DED9"/>
          </a:solidFill>
          <a:ln/>
        </p:spPr>
      </p:sp>
      <p:sp>
        <p:nvSpPr>
          <p:cNvPr id="6" name="Shape 4"/>
          <p:cNvSpPr/>
          <p:nvPr/>
        </p:nvSpPr>
        <p:spPr>
          <a:xfrm>
            <a:off x="8220456" y="338328"/>
            <a:ext cx="100584" cy="100584"/>
          </a:xfrm>
          <a:prstGeom prst="ellipse">
            <a:avLst/>
          </a:prstGeom>
          <a:solidFill>
            <a:srgbClr val="D5DED9"/>
          </a:solidFill>
          <a:ln/>
        </p:spPr>
      </p:sp>
      <p:sp>
        <p:nvSpPr>
          <p:cNvPr id="7" name="Shape 5"/>
          <p:cNvSpPr/>
          <p:nvPr/>
        </p:nvSpPr>
        <p:spPr>
          <a:xfrm>
            <a:off x="8403336" y="338328"/>
            <a:ext cx="100584" cy="100584"/>
          </a:xfrm>
          <a:prstGeom prst="ellipse">
            <a:avLst/>
          </a:prstGeom>
          <a:solidFill>
            <a:srgbClr val="D49A00"/>
          </a:solidFill>
          <a:ln/>
        </p:spPr>
      </p:sp>
      <p:sp>
        <p:nvSpPr>
          <p:cNvPr id="8" name="Shape 6"/>
          <p:cNvSpPr/>
          <p:nvPr/>
        </p:nvSpPr>
        <p:spPr>
          <a:xfrm>
            <a:off x="8586216" y="338328"/>
            <a:ext cx="100584" cy="100584"/>
          </a:xfrm>
          <a:prstGeom prst="ellipse">
            <a:avLst/>
          </a:prstGeom>
          <a:solidFill>
            <a:srgbClr val="D5DED9"/>
          </a:solidFill>
          <a:ln/>
        </p:spPr>
      </p:sp>
      <p:sp>
        <p:nvSpPr>
          <p:cNvPr id="9" name="Shape 7"/>
          <p:cNvSpPr/>
          <p:nvPr/>
        </p:nvSpPr>
        <p:spPr>
          <a:xfrm>
            <a:off x="457200" y="1325880"/>
            <a:ext cx="8229600" cy="868680"/>
          </a:xfrm>
          <a:prstGeom prst="roundRect">
            <a:avLst>
              <a:gd name="adj" fmla="val 8421"/>
            </a:avLst>
          </a:prstGeom>
          <a:solidFill>
            <a:srgbClr val="E8F5EF"/>
          </a:solidFill>
          <a:ln w="19050">
            <a:solidFill>
              <a:srgbClr val="D49A00"/>
            </a:solidFill>
            <a:prstDash val="solid"/>
          </a:ln>
        </p:spPr>
      </p:sp>
      <p:sp>
        <p:nvSpPr>
          <p:cNvPr id="10" name="Shape 8"/>
          <p:cNvSpPr/>
          <p:nvPr/>
        </p:nvSpPr>
        <p:spPr>
          <a:xfrm>
            <a:off x="658368" y="1481328"/>
            <a:ext cx="548640" cy="548640"/>
          </a:xfrm>
          <a:prstGeom prst="ellipse">
            <a:avLst/>
          </a:prstGeom>
          <a:solidFill>
            <a:srgbClr val="D49A00">
              <a:alpha val="22000"/>
            </a:srgbClr>
          </a:solidFill>
          <a:ln/>
        </p:spPr>
      </p:sp>
      <p:pic>
        <p:nvPicPr>
          <p:cNvPr id="11" name="Image 0" descr="preencoded.png"/>
          <p:cNvPicPr>
            <a:picLocks noChangeAspect="1"/>
          </p:cNvPicPr>
          <p:nvPr/>
        </p:nvPicPr>
        <p:blipFill>
          <a:blip r:embed="rId3"/>
          <a:stretch>
            <a:fillRect/>
          </a:stretch>
        </p:blipFill>
        <p:spPr>
          <a:xfrm>
            <a:off x="795528" y="1618488"/>
            <a:ext cx="274320" cy="274320"/>
          </a:xfrm>
          <a:prstGeom prst="rect">
            <a:avLst/>
          </a:prstGeom>
        </p:spPr>
      </p:pic>
      <p:sp>
        <p:nvSpPr>
          <p:cNvPr id="12" name="Text 9"/>
          <p:cNvSpPr txBox="1"/>
          <p:nvPr/>
        </p:nvSpPr>
        <p:spPr>
          <a:xfrm>
            <a:off x="1417320" y="1389888"/>
            <a:ext cx="7132320" cy="438912"/>
          </a:xfrm>
          <a:prstGeom prst="rect">
            <a:avLst/>
          </a:prstGeom>
          <a:noFill/>
          <a:ln/>
        </p:spPr>
        <p:txBody>
          <a:bodyPr wrap="square" lIns="0" tIns="0" rIns="0" bIns="0" rtlCol="0" anchor="ctr"/>
          <a:lstStyle/>
          <a:p>
            <a:pPr marL="0" indent="0" algn="l">
              <a:lnSpc>
                <a:spcPct val="100000"/>
              </a:lnSpc>
              <a:buNone/>
            </a:pPr>
            <a:r>
              <a:rPr lang="en-US" sz="2000" b="1" dirty="0">
                <a:solidFill>
                  <a:srgbClr val="231F20"/>
                </a:solidFill>
                <a:latin typeface="Courier New" pitchFamily="34" charset="0"/>
                <a:ea typeface="Courier New" pitchFamily="34" charset="-122"/>
                <a:cs typeface="Courier New" pitchFamily="34" charset="-120"/>
              </a:rPr>
              <a:t>python -m pip install jupyterlab</a:t>
            </a:r>
            <a:endParaRPr lang="en-US" sz="2000" dirty="0"/>
          </a:p>
        </p:txBody>
      </p:sp>
      <p:sp>
        <p:nvSpPr>
          <p:cNvPr id="13" name="Text 10"/>
          <p:cNvSpPr txBox="1"/>
          <p:nvPr/>
        </p:nvSpPr>
        <p:spPr>
          <a:xfrm>
            <a:off x="1417320" y="1828800"/>
            <a:ext cx="7132320" cy="237744"/>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On macOS and Linux: </a:t>
            </a:r>
            <a:r>
              <a:rPr lang="en-US" sz="1050" b="1" dirty="0">
                <a:solidFill>
                  <a:srgbClr val="00704A"/>
                </a:solidFill>
                <a:latin typeface="Courier New" pitchFamily="34" charset="0"/>
                <a:ea typeface="Courier New" pitchFamily="34" charset="-122"/>
                <a:cs typeface="Courier New" pitchFamily="34" charset="-120"/>
              </a:rPr>
              <a:t>python3 -m pip install jupyterlab</a:t>
            </a:r>
            <a:endParaRPr lang="en-US" sz="1050" dirty="0"/>
          </a:p>
        </p:txBody>
      </p:sp>
      <p:sp>
        <p:nvSpPr>
          <p:cNvPr id="14" name="Shape 11"/>
          <p:cNvSpPr/>
          <p:nvPr/>
        </p:nvSpPr>
        <p:spPr>
          <a:xfrm>
            <a:off x="457200" y="2377440"/>
            <a:ext cx="4023360" cy="1627632"/>
          </a:xfrm>
          <a:prstGeom prst="roundRect">
            <a:avLst>
              <a:gd name="adj" fmla="val 4494"/>
            </a:avLst>
          </a:prstGeom>
          <a:solidFill>
            <a:srgbClr val="F4F7F5"/>
          </a:solidFill>
          <a:ln w="9525">
            <a:solidFill>
              <a:srgbClr val="D5DED9"/>
            </a:solidFill>
            <a:prstDash val="solid"/>
          </a:ln>
        </p:spPr>
      </p:sp>
      <p:sp>
        <p:nvSpPr>
          <p:cNvPr id="15" name="Shape 12"/>
          <p:cNvSpPr/>
          <p:nvPr/>
        </p:nvSpPr>
        <p:spPr>
          <a:xfrm>
            <a:off x="658368" y="2560320"/>
            <a:ext cx="457200" cy="457200"/>
          </a:xfrm>
          <a:prstGeom prst="ellipse">
            <a:avLst/>
          </a:prstGeom>
          <a:solidFill>
            <a:srgbClr val="D49A00">
              <a:alpha val="22000"/>
            </a:srgbClr>
          </a:solidFill>
          <a:ln/>
        </p:spPr>
      </p:sp>
      <p:pic>
        <p:nvPicPr>
          <p:cNvPr id="16" name="Image 1" descr="preencoded.png"/>
          <p:cNvPicPr>
            <a:picLocks noChangeAspect="1"/>
          </p:cNvPicPr>
          <p:nvPr/>
        </p:nvPicPr>
        <p:blipFill>
          <a:blip r:embed="rId4"/>
          <a:stretch>
            <a:fillRect/>
          </a:stretch>
        </p:blipFill>
        <p:spPr>
          <a:xfrm>
            <a:off x="772668" y="2674620"/>
            <a:ext cx="228600" cy="228600"/>
          </a:xfrm>
          <a:prstGeom prst="rect">
            <a:avLst/>
          </a:prstGeom>
        </p:spPr>
      </p:pic>
      <p:sp>
        <p:nvSpPr>
          <p:cNvPr id="17" name="Text 13"/>
          <p:cNvSpPr txBox="1"/>
          <p:nvPr/>
        </p:nvSpPr>
        <p:spPr>
          <a:xfrm>
            <a:off x="1261872" y="2560320"/>
            <a:ext cx="3108960" cy="457200"/>
          </a:xfrm>
          <a:prstGeom prst="rect">
            <a:avLst/>
          </a:prstGeom>
          <a:noFill/>
          <a:ln/>
        </p:spPr>
        <p:txBody>
          <a:bodyPr wrap="square" lIns="0" tIns="0" rIns="0" bIns="0" rtlCol="0" anchor="ctr"/>
          <a:lstStyle/>
          <a:p>
            <a:pPr marL="0" indent="0" algn="l">
              <a:lnSpc>
                <a:spcPct val="100000"/>
              </a:lnSpc>
              <a:buNone/>
            </a:pPr>
            <a:r>
              <a:rPr lang="en-US" sz="1300" b="1" dirty="0">
                <a:solidFill>
                  <a:srgbClr val="231F20"/>
                </a:solidFill>
                <a:latin typeface="Calibri" pitchFamily="34" charset="0"/>
                <a:ea typeface="Calibri" pitchFamily="34" charset="-122"/>
                <a:cs typeface="Calibri" pitchFamily="34" charset="-120"/>
              </a:rPr>
              <a:t>Why </a:t>
            </a:r>
            <a:r>
              <a:rPr lang="en-US" sz="1300" b="1" dirty="0">
                <a:solidFill>
                  <a:srgbClr val="231F20"/>
                </a:solidFill>
                <a:latin typeface="Courier New" pitchFamily="34" charset="0"/>
                <a:ea typeface="Courier New" pitchFamily="34" charset="-122"/>
                <a:cs typeface="Courier New" pitchFamily="34" charset="-120"/>
              </a:rPr>
              <a:t>python -m pip</a:t>
            </a:r>
            <a:r>
              <a:rPr lang="en-US" sz="1300" b="1" dirty="0">
                <a:solidFill>
                  <a:srgbClr val="231F20"/>
                </a:solidFill>
                <a:latin typeface="Calibri" pitchFamily="34" charset="0"/>
                <a:ea typeface="Calibri" pitchFamily="34" charset="-122"/>
                <a:cs typeface="Calibri" pitchFamily="34" charset="-120"/>
              </a:rPr>
              <a:t> and not </a:t>
            </a:r>
            <a:r>
              <a:rPr lang="en-US" sz="1300" b="1" dirty="0">
                <a:solidFill>
                  <a:srgbClr val="231F20"/>
                </a:solidFill>
                <a:latin typeface="Courier New" pitchFamily="34" charset="0"/>
                <a:ea typeface="Courier New" pitchFamily="34" charset="-122"/>
                <a:cs typeface="Courier New" pitchFamily="34" charset="-120"/>
              </a:rPr>
              <a:t>pip</a:t>
            </a:r>
            <a:endParaRPr lang="en-US" sz="1300" dirty="0"/>
          </a:p>
        </p:txBody>
      </p:sp>
      <p:sp>
        <p:nvSpPr>
          <p:cNvPr id="18" name="Text 14"/>
          <p:cNvSpPr txBox="1"/>
          <p:nvPr/>
        </p:nvSpPr>
        <p:spPr>
          <a:xfrm>
            <a:off x="658368" y="3127248"/>
            <a:ext cx="3621024" cy="822960"/>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A machine can carry several Pythons. Writing </a:t>
            </a:r>
            <a:r>
              <a:rPr lang="en-US" sz="1050" b="1" dirty="0">
                <a:solidFill>
                  <a:srgbClr val="00704A"/>
                </a:solidFill>
                <a:latin typeface="Courier New" pitchFamily="34" charset="0"/>
                <a:ea typeface="Courier New" pitchFamily="34" charset="-122"/>
                <a:cs typeface="Courier New" pitchFamily="34" charset="-120"/>
              </a:rPr>
              <a:t>python -m pip</a:t>
            </a:r>
            <a:r>
              <a:rPr lang="en-US" sz="1050" dirty="0">
                <a:solidFill>
                  <a:srgbClr val="5E6964"/>
                </a:solidFill>
                <a:latin typeface="Calibri" pitchFamily="34" charset="0"/>
                <a:ea typeface="Calibri" pitchFamily="34" charset="-122"/>
                <a:cs typeface="Calibri" pitchFamily="34" charset="-120"/>
              </a:rPr>
              <a:t> installs into </a:t>
            </a:r>
            <a:r>
              <a:rPr lang="en-US" sz="1050" b="1" dirty="0">
                <a:solidFill>
                  <a:srgbClr val="5E6964"/>
                </a:solidFill>
                <a:latin typeface="Calibri" pitchFamily="34" charset="0"/>
                <a:ea typeface="Calibri" pitchFamily="34" charset="-122"/>
                <a:cs typeface="Calibri" pitchFamily="34" charset="-120"/>
              </a:rPr>
              <a:t>the one that just answered in step 3</a:t>
            </a:r>
            <a:r>
              <a:rPr lang="en-US" sz="1050" dirty="0">
                <a:solidFill>
                  <a:srgbClr val="5E6964"/>
                </a:solidFill>
                <a:latin typeface="Calibri" pitchFamily="34" charset="0"/>
                <a:ea typeface="Calibri" pitchFamily="34" charset="-122"/>
                <a:cs typeface="Calibri" pitchFamily="34" charset="-120"/>
              </a:rPr>
              <a:t>. Plain </a:t>
            </a:r>
            <a:r>
              <a:rPr lang="en-US" sz="1050" b="1" dirty="0">
                <a:solidFill>
                  <a:srgbClr val="00704A"/>
                </a:solidFill>
                <a:latin typeface="Courier New" pitchFamily="34" charset="0"/>
                <a:ea typeface="Courier New" pitchFamily="34" charset="-122"/>
                <a:cs typeface="Courier New" pitchFamily="34" charset="-120"/>
              </a:rPr>
              <a:t>pip</a:t>
            </a:r>
            <a:r>
              <a:rPr lang="en-US" sz="1050" dirty="0">
                <a:solidFill>
                  <a:srgbClr val="5E6964"/>
                </a:solidFill>
                <a:latin typeface="Calibri" pitchFamily="34" charset="0"/>
                <a:ea typeface="Calibri" pitchFamily="34" charset="-122"/>
                <a:cs typeface="Calibri" pitchFamily="34" charset="-120"/>
              </a:rPr>
              <a:t> sometimes targets another.</a:t>
            </a:r>
            <a:endParaRPr lang="en-US" sz="1050" dirty="0"/>
          </a:p>
        </p:txBody>
      </p:sp>
      <p:sp>
        <p:nvSpPr>
          <p:cNvPr id="19" name="Shape 15"/>
          <p:cNvSpPr/>
          <p:nvPr/>
        </p:nvSpPr>
        <p:spPr>
          <a:xfrm>
            <a:off x="4663440" y="2377440"/>
            <a:ext cx="4023360" cy="1627632"/>
          </a:xfrm>
          <a:prstGeom prst="roundRect">
            <a:avLst>
              <a:gd name="adj" fmla="val 4494"/>
            </a:avLst>
          </a:prstGeom>
          <a:solidFill>
            <a:srgbClr val="F4F7F5"/>
          </a:solidFill>
          <a:ln w="9525">
            <a:solidFill>
              <a:srgbClr val="D5DED9"/>
            </a:solidFill>
            <a:prstDash val="solid"/>
          </a:ln>
        </p:spPr>
      </p:sp>
      <p:sp>
        <p:nvSpPr>
          <p:cNvPr id="20" name="Shape 16"/>
          <p:cNvSpPr/>
          <p:nvPr/>
        </p:nvSpPr>
        <p:spPr>
          <a:xfrm>
            <a:off x="4864608" y="2560320"/>
            <a:ext cx="457200" cy="457200"/>
          </a:xfrm>
          <a:prstGeom prst="ellipse">
            <a:avLst/>
          </a:prstGeom>
          <a:solidFill>
            <a:srgbClr val="D49A00">
              <a:alpha val="22000"/>
            </a:srgbClr>
          </a:solidFill>
          <a:ln/>
        </p:spPr>
      </p:sp>
      <p:pic>
        <p:nvPicPr>
          <p:cNvPr id="21" name="Image 2" descr="preencoded.png"/>
          <p:cNvPicPr>
            <a:picLocks noChangeAspect="1"/>
          </p:cNvPicPr>
          <p:nvPr/>
        </p:nvPicPr>
        <p:blipFill>
          <a:blip r:embed="rId5"/>
          <a:stretch>
            <a:fillRect/>
          </a:stretch>
        </p:blipFill>
        <p:spPr>
          <a:xfrm>
            <a:off x="4978908" y="2674620"/>
            <a:ext cx="228600" cy="228600"/>
          </a:xfrm>
          <a:prstGeom prst="rect">
            <a:avLst/>
          </a:prstGeom>
        </p:spPr>
      </p:pic>
      <p:sp>
        <p:nvSpPr>
          <p:cNvPr id="22" name="Text 17"/>
          <p:cNvSpPr txBox="1"/>
          <p:nvPr/>
        </p:nvSpPr>
        <p:spPr>
          <a:xfrm>
            <a:off x="5468112" y="2560320"/>
            <a:ext cx="3108960" cy="457200"/>
          </a:xfrm>
          <a:prstGeom prst="rect">
            <a:avLst/>
          </a:prstGeom>
          <a:noFill/>
          <a:ln/>
        </p:spPr>
        <p:txBody>
          <a:bodyPr wrap="square" lIns="0" tIns="0" rIns="0" bIns="0" rtlCol="0" anchor="ctr"/>
          <a:lstStyle/>
          <a:p>
            <a:pPr marL="0" indent="0" algn="l">
              <a:lnSpc>
                <a:spcPct val="100000"/>
              </a:lnSpc>
              <a:buNone/>
            </a:pPr>
            <a:r>
              <a:rPr lang="en-US" sz="1300" b="1" dirty="0">
                <a:solidFill>
                  <a:srgbClr val="231F20"/>
                </a:solidFill>
                <a:latin typeface="Calibri" pitchFamily="34" charset="0"/>
                <a:ea typeface="Calibri" pitchFamily="34" charset="-122"/>
                <a:cs typeface="Calibri" pitchFamily="34" charset="-120"/>
              </a:rPr>
              <a:t>What you'll see</a:t>
            </a:r>
            <a:endParaRPr lang="en-US" sz="1300" dirty="0"/>
          </a:p>
        </p:txBody>
      </p:sp>
      <p:sp>
        <p:nvSpPr>
          <p:cNvPr id="23" name="Text 18"/>
          <p:cNvSpPr txBox="1"/>
          <p:nvPr/>
        </p:nvSpPr>
        <p:spPr>
          <a:xfrm>
            <a:off x="4864608" y="3127248"/>
            <a:ext cx="2423160" cy="822960"/>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A long list of "Collecting…" lines, then "Successfully installed…". That's normal: JupyterLab pulls in about thirty dependencies.</a:t>
            </a:r>
            <a:endParaRPr lang="en-US" sz="1050" dirty="0"/>
          </a:p>
        </p:txBody>
      </p:sp>
      <p:sp>
        <p:nvSpPr>
          <p:cNvPr id="24" name="Text 19"/>
          <p:cNvSpPr txBox="1"/>
          <p:nvPr/>
        </p:nvSpPr>
        <p:spPr>
          <a:xfrm>
            <a:off x="7406640" y="3090672"/>
            <a:ext cx="1143000" cy="502920"/>
          </a:xfrm>
          <a:prstGeom prst="rect">
            <a:avLst/>
          </a:prstGeom>
          <a:noFill/>
          <a:ln/>
        </p:spPr>
        <p:txBody>
          <a:bodyPr wrap="square" lIns="0" tIns="0" rIns="0" bIns="0" rtlCol="0" anchor="t"/>
          <a:lstStyle/>
          <a:p>
            <a:pPr marL="0" indent="0" algn="ctr">
              <a:lnSpc>
                <a:spcPct val="100000"/>
              </a:lnSpc>
              <a:buNone/>
            </a:pPr>
            <a:r>
              <a:rPr lang="en-US" sz="3200" b="1" dirty="0">
                <a:solidFill>
                  <a:srgbClr val="D49A00"/>
                </a:solidFill>
                <a:latin typeface="Calibri" pitchFamily="34" charset="0"/>
                <a:ea typeface="Calibri" pitchFamily="34" charset="-122"/>
                <a:cs typeface="Calibri" pitchFamily="34" charset="-120"/>
              </a:rPr>
              <a:t>2–3</a:t>
            </a:r>
            <a:endParaRPr lang="en-US" sz="3200" dirty="0"/>
          </a:p>
        </p:txBody>
      </p:sp>
      <p:sp>
        <p:nvSpPr>
          <p:cNvPr id="25" name="Text 20"/>
          <p:cNvSpPr txBox="1"/>
          <p:nvPr/>
        </p:nvSpPr>
        <p:spPr>
          <a:xfrm>
            <a:off x="7406640" y="3566160"/>
            <a:ext cx="1143000" cy="219456"/>
          </a:xfrm>
          <a:prstGeom prst="rect">
            <a:avLst/>
          </a:prstGeom>
          <a:noFill/>
          <a:ln/>
        </p:spPr>
        <p:txBody>
          <a:bodyPr wrap="square" lIns="0" tIns="0" rIns="0" bIns="0" rtlCol="0" anchor="t"/>
          <a:lstStyle/>
          <a:p>
            <a:pPr marL="0" indent="0" algn="ctr">
              <a:lnSpc>
                <a:spcPct val="100000"/>
              </a:lnSpc>
              <a:buNone/>
            </a:pPr>
            <a:r>
              <a:rPr lang="en-US" sz="1000" dirty="0">
                <a:solidFill>
                  <a:srgbClr val="5E6964"/>
                </a:solidFill>
                <a:latin typeface="Calibri" pitchFamily="34" charset="0"/>
                <a:ea typeface="Calibri" pitchFamily="34" charset="-122"/>
                <a:cs typeface="Calibri" pitchFamily="34" charset="-120"/>
              </a:rPr>
              <a:t>minutes</a:t>
            </a:r>
            <a:endParaRPr lang="en-US" sz="1000" dirty="0"/>
          </a:p>
        </p:txBody>
      </p:sp>
      <p:sp>
        <p:nvSpPr>
          <p:cNvPr id="26" name="Shape 21"/>
          <p:cNvSpPr/>
          <p:nvPr/>
        </p:nvSpPr>
        <p:spPr>
          <a:xfrm>
            <a:off x="457200" y="4187952"/>
            <a:ext cx="310896" cy="310896"/>
          </a:xfrm>
          <a:prstGeom prst="ellipse">
            <a:avLst/>
          </a:prstGeom>
          <a:solidFill>
            <a:srgbClr val="00A86A">
              <a:alpha val="22000"/>
            </a:srgbClr>
          </a:solidFill>
          <a:ln/>
        </p:spPr>
      </p:sp>
      <p:pic>
        <p:nvPicPr>
          <p:cNvPr id="27" name="Image 3" descr="preencoded.png"/>
          <p:cNvPicPr>
            <a:picLocks noChangeAspect="1"/>
          </p:cNvPicPr>
          <p:nvPr/>
        </p:nvPicPr>
        <p:blipFill>
          <a:blip r:embed="rId6"/>
          <a:stretch>
            <a:fillRect/>
          </a:stretch>
        </p:blipFill>
        <p:spPr>
          <a:xfrm>
            <a:off x="534924" y="4265676"/>
            <a:ext cx="155448" cy="155448"/>
          </a:xfrm>
          <a:prstGeom prst="rect">
            <a:avLst/>
          </a:prstGeom>
        </p:spPr>
      </p:pic>
      <p:sp>
        <p:nvSpPr>
          <p:cNvPr id="28" name="Text 22"/>
          <p:cNvSpPr txBox="1"/>
          <p:nvPr/>
        </p:nvSpPr>
        <p:spPr>
          <a:xfrm>
            <a:off x="896112" y="4187952"/>
            <a:ext cx="7772400" cy="310896"/>
          </a:xfrm>
          <a:prstGeom prst="rect">
            <a:avLst/>
          </a:prstGeom>
          <a:noFill/>
          <a:ln/>
        </p:spPr>
        <p:txBody>
          <a:bodyPr wrap="square" lIns="0" tIns="0" rIns="0" bIns="0" rtlCol="0" anchor="ctr"/>
          <a:lstStyle/>
          <a:p>
            <a:pPr marL="0" indent="0" algn="l">
              <a:lnSpc>
                <a:spcPct val="100000"/>
              </a:lnSpc>
              <a:buNone/>
            </a:pPr>
            <a:r>
              <a:rPr lang="en-US" sz="1150" dirty="0">
                <a:solidFill>
                  <a:srgbClr val="231F20"/>
                </a:solidFill>
                <a:latin typeface="Calibri" pitchFamily="34" charset="0"/>
                <a:ea typeface="Calibri" pitchFamily="34" charset="-122"/>
                <a:cs typeface="Calibri" pitchFamily="34" charset="-120"/>
              </a:rPr>
              <a:t>Check: </a:t>
            </a:r>
            <a:r>
              <a:rPr lang="en-US" sz="1150" b="1" dirty="0">
                <a:solidFill>
                  <a:srgbClr val="00704A"/>
                </a:solidFill>
                <a:latin typeface="Courier New" pitchFamily="34" charset="0"/>
                <a:ea typeface="Courier New" pitchFamily="34" charset="-122"/>
                <a:cs typeface="Courier New" pitchFamily="34" charset="-120"/>
              </a:rPr>
              <a:t>jupyter --version</a:t>
            </a:r>
            <a:r>
              <a:rPr lang="en-US" sz="1150" dirty="0">
                <a:solidFill>
                  <a:srgbClr val="231F20"/>
                </a:solidFill>
                <a:latin typeface="Calibri" pitchFamily="34" charset="0"/>
                <a:ea typeface="Calibri" pitchFamily="34" charset="-122"/>
                <a:cs typeface="Calibri" pitchFamily="34" charset="-120"/>
              </a:rPr>
              <a:t> should print a block of versions, including "jupyterlab".</a:t>
            </a:r>
            <a:endParaRPr lang="en-US" sz="1150" dirty="0"/>
          </a:p>
        </p:txBody>
      </p:sp>
      <p:sp>
        <p:nvSpPr>
          <p:cNvPr id="29"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6583680" cy="219456"/>
          </a:xfrm>
          <a:prstGeom prst="rect">
            <a:avLst/>
          </a:prstGeom>
          <a:noFill/>
          <a:ln/>
        </p:spPr>
        <p:txBody>
          <a:bodyPr wrap="square" lIns="0" tIns="0" rIns="0" bIns="0" rtlCol="0" anchor="t"/>
          <a:lstStyle/>
          <a:p>
            <a:pPr marL="0" indent="0" algn="l">
              <a:lnSpc>
                <a:spcPct val="100000"/>
              </a:lnSpc>
              <a:buNone/>
            </a:pPr>
            <a:r>
              <a:rPr lang="en-US" sz="1050" b="1" kern="0" spc="300" dirty="0">
                <a:solidFill>
                  <a:srgbClr val="00704A"/>
                </a:solidFill>
                <a:latin typeface="Calibri" pitchFamily="34" charset="0"/>
                <a:ea typeface="Calibri" pitchFamily="34" charset="-122"/>
                <a:cs typeface="Calibri" pitchFamily="34" charset="-120"/>
              </a:rPr>
              <a:t>04 · JUPYTERLAB</a:t>
            </a:r>
            <a:endParaRPr lang="en-US" sz="1050" dirty="0"/>
          </a:p>
        </p:txBody>
      </p:sp>
      <p:sp>
        <p:nvSpPr>
          <p:cNvPr id="3" name="Text 1"/>
          <p:cNvSpPr txBox="1"/>
          <p:nvPr/>
        </p:nvSpPr>
        <p:spPr>
          <a:xfrm>
            <a:off x="457200" y="502920"/>
            <a:ext cx="7315200" cy="502920"/>
          </a:xfrm>
          <a:prstGeom prst="rect">
            <a:avLst/>
          </a:prstGeom>
          <a:noFill/>
          <a:ln/>
        </p:spPr>
        <p:txBody>
          <a:bodyPr wrap="square" lIns="0" tIns="0" rIns="0" bIns="0" rtlCol="0" anchor="ctr"/>
          <a:lstStyle/>
          <a:p>
            <a:pPr marL="0" indent="0" algn="l">
              <a:lnSpc>
                <a:spcPct val="100000"/>
              </a:lnSpc>
              <a:buNone/>
            </a:pPr>
            <a:r>
              <a:rPr lang="en-US" sz="2800" b="1" dirty="0">
                <a:solidFill>
                  <a:srgbClr val="231F20"/>
                </a:solidFill>
                <a:latin typeface="Calibri" pitchFamily="34" charset="0"/>
                <a:ea typeface="Calibri" pitchFamily="34" charset="-122"/>
                <a:cs typeface="Calibri" pitchFamily="34" charset="-120"/>
              </a:rPr>
              <a:t>Launch JupyterLab and open a notebook</a:t>
            </a:r>
            <a:endParaRPr lang="en-US" sz="2800" dirty="0"/>
          </a:p>
        </p:txBody>
      </p:sp>
      <p:sp>
        <p:nvSpPr>
          <p:cNvPr id="4" name="Shape 2"/>
          <p:cNvSpPr/>
          <p:nvPr/>
        </p:nvSpPr>
        <p:spPr>
          <a:xfrm>
            <a:off x="7854696" y="338328"/>
            <a:ext cx="100584" cy="100584"/>
          </a:xfrm>
          <a:prstGeom prst="ellipse">
            <a:avLst/>
          </a:prstGeom>
          <a:solidFill>
            <a:srgbClr val="D5DED9"/>
          </a:solidFill>
          <a:ln/>
        </p:spPr>
      </p:sp>
      <p:sp>
        <p:nvSpPr>
          <p:cNvPr id="5" name="Shape 3"/>
          <p:cNvSpPr/>
          <p:nvPr/>
        </p:nvSpPr>
        <p:spPr>
          <a:xfrm>
            <a:off x="8037576" y="338328"/>
            <a:ext cx="100584" cy="100584"/>
          </a:xfrm>
          <a:prstGeom prst="ellipse">
            <a:avLst/>
          </a:prstGeom>
          <a:solidFill>
            <a:srgbClr val="D5DED9"/>
          </a:solidFill>
          <a:ln/>
        </p:spPr>
      </p:sp>
      <p:sp>
        <p:nvSpPr>
          <p:cNvPr id="6" name="Shape 4"/>
          <p:cNvSpPr/>
          <p:nvPr/>
        </p:nvSpPr>
        <p:spPr>
          <a:xfrm>
            <a:off x="8220456" y="338328"/>
            <a:ext cx="100584" cy="100584"/>
          </a:xfrm>
          <a:prstGeom prst="ellipse">
            <a:avLst/>
          </a:prstGeom>
          <a:solidFill>
            <a:srgbClr val="D5DED9"/>
          </a:solidFill>
          <a:ln/>
        </p:spPr>
      </p:sp>
      <p:sp>
        <p:nvSpPr>
          <p:cNvPr id="7" name="Shape 5"/>
          <p:cNvSpPr/>
          <p:nvPr/>
        </p:nvSpPr>
        <p:spPr>
          <a:xfrm>
            <a:off x="8403336" y="338328"/>
            <a:ext cx="100584" cy="100584"/>
          </a:xfrm>
          <a:prstGeom prst="ellipse">
            <a:avLst/>
          </a:prstGeom>
          <a:solidFill>
            <a:srgbClr val="D49A00"/>
          </a:solidFill>
          <a:ln/>
        </p:spPr>
      </p:sp>
      <p:sp>
        <p:nvSpPr>
          <p:cNvPr id="8" name="Shape 6"/>
          <p:cNvSpPr/>
          <p:nvPr/>
        </p:nvSpPr>
        <p:spPr>
          <a:xfrm>
            <a:off x="8586216" y="338328"/>
            <a:ext cx="100584" cy="100584"/>
          </a:xfrm>
          <a:prstGeom prst="ellipse">
            <a:avLst/>
          </a:prstGeom>
          <a:solidFill>
            <a:srgbClr val="D5DED9"/>
          </a:solidFill>
          <a:ln/>
        </p:spPr>
      </p:sp>
      <p:sp>
        <p:nvSpPr>
          <p:cNvPr id="9" name="Shape 7"/>
          <p:cNvSpPr/>
          <p:nvPr/>
        </p:nvSpPr>
        <p:spPr>
          <a:xfrm>
            <a:off x="457200" y="1325880"/>
            <a:ext cx="1499616" cy="2011680"/>
          </a:xfrm>
          <a:prstGeom prst="roundRect">
            <a:avLst>
              <a:gd name="adj" fmla="val 4878"/>
            </a:avLst>
          </a:prstGeom>
          <a:solidFill>
            <a:srgbClr val="F4F7F5"/>
          </a:solidFill>
          <a:ln w="9525">
            <a:solidFill>
              <a:srgbClr val="D5DED9"/>
            </a:solidFill>
            <a:prstDash val="solid"/>
          </a:ln>
        </p:spPr>
      </p:sp>
      <p:sp>
        <p:nvSpPr>
          <p:cNvPr id="10" name="Shape 8"/>
          <p:cNvSpPr/>
          <p:nvPr/>
        </p:nvSpPr>
        <p:spPr>
          <a:xfrm>
            <a:off x="621792" y="1490472"/>
            <a:ext cx="384048" cy="384048"/>
          </a:xfrm>
          <a:prstGeom prst="ellipse">
            <a:avLst/>
          </a:prstGeom>
          <a:solidFill>
            <a:srgbClr val="D49A00"/>
          </a:solidFill>
          <a:ln/>
        </p:spPr>
      </p:sp>
      <p:sp>
        <p:nvSpPr>
          <p:cNvPr id="11" name="Text 9"/>
          <p:cNvSpPr txBox="1"/>
          <p:nvPr/>
        </p:nvSpPr>
        <p:spPr>
          <a:xfrm>
            <a:off x="621792" y="149047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txBox="1"/>
          <p:nvPr/>
        </p:nvSpPr>
        <p:spPr>
          <a:xfrm>
            <a:off x="621792" y="1965960"/>
            <a:ext cx="1207008" cy="548640"/>
          </a:xfrm>
          <a:prstGeom prst="rect">
            <a:avLst/>
          </a:prstGeom>
          <a:noFill/>
          <a:ln/>
        </p:spPr>
        <p:txBody>
          <a:bodyPr wrap="square" lIns="0" tIns="0" rIns="0" bIns="0" rtlCol="0" anchor="t"/>
          <a:lstStyle/>
          <a:p>
            <a:pPr marL="0" indent="0" algn="l">
              <a:lnSpc>
                <a:spcPct val="100000"/>
              </a:lnSpc>
              <a:buNone/>
            </a:pPr>
            <a:r>
              <a:rPr lang="en-US" sz="1150" b="1" dirty="0">
                <a:solidFill>
                  <a:srgbClr val="231F20"/>
                </a:solidFill>
                <a:latin typeface="Calibri" pitchFamily="34" charset="0"/>
                <a:ea typeface="Calibri" pitchFamily="34" charset="-122"/>
                <a:cs typeface="Calibri" pitchFamily="34" charset="-120"/>
              </a:rPr>
              <a:t>Go to the project folder</a:t>
            </a:r>
            <a:endParaRPr lang="en-US" sz="1150" dirty="0"/>
          </a:p>
        </p:txBody>
      </p:sp>
      <p:sp>
        <p:nvSpPr>
          <p:cNvPr id="13" name="Shape 11"/>
          <p:cNvSpPr/>
          <p:nvPr/>
        </p:nvSpPr>
        <p:spPr>
          <a:xfrm>
            <a:off x="566928" y="2560320"/>
            <a:ext cx="1280160" cy="658368"/>
          </a:xfrm>
          <a:prstGeom prst="roundRect">
            <a:avLst>
              <a:gd name="adj" fmla="val 6944"/>
            </a:avLst>
          </a:prstGeom>
          <a:solidFill>
            <a:srgbClr val="FFFFFF"/>
          </a:solidFill>
          <a:ln w="6350">
            <a:solidFill>
              <a:srgbClr val="D5DED9"/>
            </a:solidFill>
            <a:prstDash val="solid"/>
          </a:ln>
        </p:spPr>
      </p:sp>
      <p:sp>
        <p:nvSpPr>
          <p:cNvPr id="14" name="Text 12"/>
          <p:cNvSpPr txBox="1"/>
          <p:nvPr/>
        </p:nvSpPr>
        <p:spPr>
          <a:xfrm>
            <a:off x="640080" y="2587752"/>
            <a:ext cx="1152144" cy="603504"/>
          </a:xfrm>
          <a:prstGeom prst="rect">
            <a:avLst/>
          </a:prstGeom>
          <a:noFill/>
          <a:ln/>
        </p:spPr>
        <p:txBody>
          <a:bodyPr wrap="square" lIns="0" tIns="0" rIns="0" bIns="0" rtlCol="0" anchor="ctr"/>
          <a:lstStyle/>
          <a:p>
            <a:pPr marL="0" indent="0" algn="l">
              <a:lnSpc>
                <a:spcPct val="100000"/>
              </a:lnSpc>
              <a:buNone/>
            </a:pPr>
            <a:r>
              <a:rPr lang="en-US" sz="950" b="1" dirty="0">
                <a:solidFill>
                  <a:srgbClr val="231F20"/>
                </a:solidFill>
                <a:latin typeface="Courier New" pitchFamily="34" charset="0"/>
                <a:ea typeface="Courier New" pitchFamily="34" charset="-122"/>
                <a:cs typeface="Courier New" pitchFamily="34" charset="-120"/>
              </a:rPr>
              <a:t>cd my-project</a:t>
            </a:r>
            <a:endParaRPr lang="en-US" sz="950" dirty="0"/>
          </a:p>
        </p:txBody>
      </p:sp>
      <p:sp>
        <p:nvSpPr>
          <p:cNvPr id="15" name="Shape 13"/>
          <p:cNvSpPr/>
          <p:nvPr/>
        </p:nvSpPr>
        <p:spPr>
          <a:xfrm>
            <a:off x="1975104" y="2331720"/>
            <a:ext cx="146304" cy="0"/>
          </a:xfrm>
          <a:prstGeom prst="line">
            <a:avLst/>
          </a:prstGeom>
          <a:noFill/>
          <a:ln w="12700">
            <a:solidFill>
              <a:srgbClr val="5E6964"/>
            </a:solidFill>
            <a:prstDash val="solid"/>
            <a:tailEnd type="triangle"/>
          </a:ln>
        </p:spPr>
      </p:sp>
      <p:sp>
        <p:nvSpPr>
          <p:cNvPr id="16" name="Shape 14"/>
          <p:cNvSpPr/>
          <p:nvPr/>
        </p:nvSpPr>
        <p:spPr>
          <a:xfrm>
            <a:off x="2139696" y="1325880"/>
            <a:ext cx="1499616" cy="2011680"/>
          </a:xfrm>
          <a:prstGeom prst="roundRect">
            <a:avLst>
              <a:gd name="adj" fmla="val 4878"/>
            </a:avLst>
          </a:prstGeom>
          <a:solidFill>
            <a:srgbClr val="F4F7F5"/>
          </a:solidFill>
          <a:ln w="9525">
            <a:solidFill>
              <a:srgbClr val="D5DED9"/>
            </a:solidFill>
            <a:prstDash val="solid"/>
          </a:ln>
        </p:spPr>
      </p:sp>
      <p:sp>
        <p:nvSpPr>
          <p:cNvPr id="17" name="Shape 15"/>
          <p:cNvSpPr/>
          <p:nvPr/>
        </p:nvSpPr>
        <p:spPr>
          <a:xfrm>
            <a:off x="2304288" y="1490472"/>
            <a:ext cx="384048" cy="384048"/>
          </a:xfrm>
          <a:prstGeom prst="ellipse">
            <a:avLst/>
          </a:prstGeom>
          <a:solidFill>
            <a:srgbClr val="D49A00"/>
          </a:solidFill>
          <a:ln/>
        </p:spPr>
      </p:sp>
      <p:sp>
        <p:nvSpPr>
          <p:cNvPr id="18" name="Text 16"/>
          <p:cNvSpPr txBox="1"/>
          <p:nvPr/>
        </p:nvSpPr>
        <p:spPr>
          <a:xfrm>
            <a:off x="2304288" y="149047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Text 17"/>
          <p:cNvSpPr txBox="1"/>
          <p:nvPr/>
        </p:nvSpPr>
        <p:spPr>
          <a:xfrm>
            <a:off x="2304288" y="1965960"/>
            <a:ext cx="1207008" cy="548640"/>
          </a:xfrm>
          <a:prstGeom prst="rect">
            <a:avLst/>
          </a:prstGeom>
          <a:noFill/>
          <a:ln/>
        </p:spPr>
        <p:txBody>
          <a:bodyPr wrap="square" lIns="0" tIns="0" rIns="0" bIns="0" rtlCol="0" anchor="t"/>
          <a:lstStyle/>
          <a:p>
            <a:pPr marL="0" indent="0" algn="l">
              <a:lnSpc>
                <a:spcPct val="100000"/>
              </a:lnSpc>
              <a:buNone/>
            </a:pPr>
            <a:r>
              <a:rPr lang="en-US" sz="1150" b="1" dirty="0">
                <a:solidFill>
                  <a:srgbClr val="231F20"/>
                </a:solidFill>
                <a:latin typeface="Calibri" pitchFamily="34" charset="0"/>
                <a:ea typeface="Calibri" pitchFamily="34" charset="-122"/>
                <a:cs typeface="Calibri" pitchFamily="34" charset="-120"/>
              </a:rPr>
              <a:t>Launch JupyterLab</a:t>
            </a:r>
            <a:endParaRPr lang="en-US" sz="1150" dirty="0"/>
          </a:p>
        </p:txBody>
      </p:sp>
      <p:sp>
        <p:nvSpPr>
          <p:cNvPr id="20" name="Shape 18"/>
          <p:cNvSpPr/>
          <p:nvPr/>
        </p:nvSpPr>
        <p:spPr>
          <a:xfrm>
            <a:off x="2249424" y="2560320"/>
            <a:ext cx="1280160" cy="658368"/>
          </a:xfrm>
          <a:prstGeom prst="roundRect">
            <a:avLst>
              <a:gd name="adj" fmla="val 6944"/>
            </a:avLst>
          </a:prstGeom>
          <a:solidFill>
            <a:srgbClr val="FFFFFF"/>
          </a:solidFill>
          <a:ln w="6350">
            <a:solidFill>
              <a:srgbClr val="D5DED9"/>
            </a:solidFill>
            <a:prstDash val="solid"/>
          </a:ln>
        </p:spPr>
      </p:sp>
      <p:sp>
        <p:nvSpPr>
          <p:cNvPr id="21" name="Text 19"/>
          <p:cNvSpPr txBox="1"/>
          <p:nvPr/>
        </p:nvSpPr>
        <p:spPr>
          <a:xfrm>
            <a:off x="2322576" y="2587752"/>
            <a:ext cx="1152144" cy="603504"/>
          </a:xfrm>
          <a:prstGeom prst="rect">
            <a:avLst/>
          </a:prstGeom>
          <a:noFill/>
          <a:ln/>
        </p:spPr>
        <p:txBody>
          <a:bodyPr wrap="square" lIns="0" tIns="0" rIns="0" bIns="0" rtlCol="0" anchor="ctr"/>
          <a:lstStyle/>
          <a:p>
            <a:pPr marL="0" indent="0" algn="l">
              <a:lnSpc>
                <a:spcPct val="100000"/>
              </a:lnSpc>
              <a:buNone/>
            </a:pPr>
            <a:r>
              <a:rPr lang="en-US" sz="950" b="1" dirty="0">
                <a:solidFill>
                  <a:srgbClr val="231F20"/>
                </a:solidFill>
                <a:latin typeface="Courier New" pitchFamily="34" charset="0"/>
                <a:ea typeface="Courier New" pitchFamily="34" charset="-122"/>
                <a:cs typeface="Courier New" pitchFamily="34" charset="-120"/>
              </a:rPr>
              <a:t>jupyter lab</a:t>
            </a:r>
            <a:endParaRPr lang="en-US" sz="950" dirty="0"/>
          </a:p>
        </p:txBody>
      </p:sp>
      <p:sp>
        <p:nvSpPr>
          <p:cNvPr id="22" name="Shape 20"/>
          <p:cNvSpPr/>
          <p:nvPr/>
        </p:nvSpPr>
        <p:spPr>
          <a:xfrm>
            <a:off x="3657600" y="2331720"/>
            <a:ext cx="146304" cy="0"/>
          </a:xfrm>
          <a:prstGeom prst="line">
            <a:avLst/>
          </a:prstGeom>
          <a:noFill/>
          <a:ln w="12700">
            <a:solidFill>
              <a:srgbClr val="5E6964"/>
            </a:solidFill>
            <a:prstDash val="solid"/>
            <a:tailEnd type="triangle"/>
          </a:ln>
        </p:spPr>
      </p:sp>
      <p:sp>
        <p:nvSpPr>
          <p:cNvPr id="23" name="Shape 21"/>
          <p:cNvSpPr/>
          <p:nvPr/>
        </p:nvSpPr>
        <p:spPr>
          <a:xfrm>
            <a:off x="3822192" y="1325880"/>
            <a:ext cx="1499616" cy="2011680"/>
          </a:xfrm>
          <a:prstGeom prst="roundRect">
            <a:avLst>
              <a:gd name="adj" fmla="val 4878"/>
            </a:avLst>
          </a:prstGeom>
          <a:solidFill>
            <a:srgbClr val="F4F7F5"/>
          </a:solidFill>
          <a:ln w="9525">
            <a:solidFill>
              <a:srgbClr val="D5DED9"/>
            </a:solidFill>
            <a:prstDash val="solid"/>
          </a:ln>
        </p:spPr>
      </p:sp>
      <p:sp>
        <p:nvSpPr>
          <p:cNvPr id="24" name="Shape 22"/>
          <p:cNvSpPr/>
          <p:nvPr/>
        </p:nvSpPr>
        <p:spPr>
          <a:xfrm>
            <a:off x="3986784" y="1490472"/>
            <a:ext cx="384048" cy="384048"/>
          </a:xfrm>
          <a:prstGeom prst="ellipse">
            <a:avLst/>
          </a:prstGeom>
          <a:solidFill>
            <a:srgbClr val="D49A00"/>
          </a:solidFill>
          <a:ln/>
        </p:spPr>
      </p:sp>
      <p:sp>
        <p:nvSpPr>
          <p:cNvPr id="25" name="Text 23"/>
          <p:cNvSpPr txBox="1"/>
          <p:nvPr/>
        </p:nvSpPr>
        <p:spPr>
          <a:xfrm>
            <a:off x="3986784" y="149047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6" name="Text 24"/>
          <p:cNvSpPr txBox="1"/>
          <p:nvPr/>
        </p:nvSpPr>
        <p:spPr>
          <a:xfrm>
            <a:off x="3986784" y="1965960"/>
            <a:ext cx="1207008" cy="548640"/>
          </a:xfrm>
          <a:prstGeom prst="rect">
            <a:avLst/>
          </a:prstGeom>
          <a:noFill/>
          <a:ln/>
        </p:spPr>
        <p:txBody>
          <a:bodyPr wrap="square" lIns="0" tIns="0" rIns="0" bIns="0" rtlCol="0" anchor="t"/>
          <a:lstStyle/>
          <a:p>
            <a:pPr marL="0" indent="0" algn="l">
              <a:lnSpc>
                <a:spcPct val="100000"/>
              </a:lnSpc>
              <a:buNone/>
            </a:pPr>
            <a:r>
              <a:rPr lang="en-US" sz="1150" b="1" dirty="0">
                <a:solidFill>
                  <a:srgbClr val="231F20"/>
                </a:solidFill>
                <a:latin typeface="Calibri" pitchFamily="34" charset="0"/>
                <a:ea typeface="Calibri" pitchFamily="34" charset="-122"/>
                <a:cs typeface="Calibri" pitchFamily="34" charset="-120"/>
              </a:rPr>
              <a:t>Your browser opens by itself</a:t>
            </a:r>
            <a:endParaRPr lang="en-US" sz="1150" dirty="0"/>
          </a:p>
        </p:txBody>
      </p:sp>
      <p:sp>
        <p:nvSpPr>
          <p:cNvPr id="27" name="Shape 25"/>
          <p:cNvSpPr/>
          <p:nvPr/>
        </p:nvSpPr>
        <p:spPr>
          <a:xfrm>
            <a:off x="3931920" y="2560320"/>
            <a:ext cx="1280160" cy="658368"/>
          </a:xfrm>
          <a:prstGeom prst="roundRect">
            <a:avLst>
              <a:gd name="adj" fmla="val 6944"/>
            </a:avLst>
          </a:prstGeom>
          <a:solidFill>
            <a:srgbClr val="FFFFFF"/>
          </a:solidFill>
          <a:ln w="6350">
            <a:solidFill>
              <a:srgbClr val="D5DED9"/>
            </a:solidFill>
            <a:prstDash val="solid"/>
          </a:ln>
        </p:spPr>
      </p:sp>
      <p:sp>
        <p:nvSpPr>
          <p:cNvPr id="28" name="Text 26"/>
          <p:cNvSpPr txBox="1"/>
          <p:nvPr/>
        </p:nvSpPr>
        <p:spPr>
          <a:xfrm>
            <a:off x="4005072" y="2587752"/>
            <a:ext cx="1152144" cy="603504"/>
          </a:xfrm>
          <a:prstGeom prst="rect">
            <a:avLst/>
          </a:prstGeom>
          <a:noFill/>
          <a:ln/>
        </p:spPr>
        <p:txBody>
          <a:bodyPr wrap="square" lIns="0" tIns="0" rIns="0" bIns="0" rtlCol="0" anchor="ctr"/>
          <a:lstStyle/>
          <a:p>
            <a:pPr marL="0" indent="0" algn="l">
              <a:lnSpc>
                <a:spcPct val="100000"/>
              </a:lnSpc>
              <a:buNone/>
            </a:pPr>
            <a:r>
              <a:rPr lang="en-US" sz="950" dirty="0">
                <a:solidFill>
                  <a:srgbClr val="5E6964"/>
                </a:solidFill>
                <a:latin typeface="Calibri" pitchFamily="34" charset="0"/>
                <a:ea typeface="Calibri" pitchFamily="34" charset="-122"/>
                <a:cs typeface="Calibri" pitchFamily="34" charset="-120"/>
              </a:rPr>
              <a:t>address like</a:t>
            </a:r>
            <a:endParaRPr lang="en-US" sz="950" dirty="0"/>
          </a:p>
          <a:p>
            <a:pPr marL="0" indent="0" algn="l">
              <a:lnSpc>
                <a:spcPct val="100000"/>
              </a:lnSpc>
              <a:buNone/>
            </a:pPr>
            <a:r>
              <a:rPr lang="en-US" sz="950" b="1" dirty="0">
                <a:solidFill>
                  <a:srgbClr val="231F20"/>
                </a:solidFill>
                <a:latin typeface="Courier New" pitchFamily="34" charset="0"/>
                <a:ea typeface="Courier New" pitchFamily="34" charset="-122"/>
                <a:cs typeface="Courier New" pitchFamily="34" charset="-120"/>
              </a:rPr>
              <a:t>localhost:8888</a:t>
            </a:r>
            <a:endParaRPr lang="en-US" sz="950" dirty="0"/>
          </a:p>
        </p:txBody>
      </p:sp>
      <p:sp>
        <p:nvSpPr>
          <p:cNvPr id="29" name="Shape 27"/>
          <p:cNvSpPr/>
          <p:nvPr/>
        </p:nvSpPr>
        <p:spPr>
          <a:xfrm>
            <a:off x="5340096" y="2331720"/>
            <a:ext cx="146304" cy="0"/>
          </a:xfrm>
          <a:prstGeom prst="line">
            <a:avLst/>
          </a:prstGeom>
          <a:noFill/>
          <a:ln w="12700">
            <a:solidFill>
              <a:srgbClr val="5E6964"/>
            </a:solidFill>
            <a:prstDash val="solid"/>
            <a:tailEnd type="triangle"/>
          </a:ln>
        </p:spPr>
      </p:sp>
      <p:sp>
        <p:nvSpPr>
          <p:cNvPr id="30" name="Shape 28"/>
          <p:cNvSpPr/>
          <p:nvPr/>
        </p:nvSpPr>
        <p:spPr>
          <a:xfrm>
            <a:off x="5504688" y="1325880"/>
            <a:ext cx="1499616" cy="2011680"/>
          </a:xfrm>
          <a:prstGeom prst="roundRect">
            <a:avLst>
              <a:gd name="adj" fmla="val 4878"/>
            </a:avLst>
          </a:prstGeom>
          <a:solidFill>
            <a:srgbClr val="F4F7F5"/>
          </a:solidFill>
          <a:ln w="9525">
            <a:solidFill>
              <a:srgbClr val="D5DED9"/>
            </a:solidFill>
            <a:prstDash val="solid"/>
          </a:ln>
        </p:spPr>
      </p:sp>
      <p:sp>
        <p:nvSpPr>
          <p:cNvPr id="31" name="Shape 29"/>
          <p:cNvSpPr/>
          <p:nvPr/>
        </p:nvSpPr>
        <p:spPr>
          <a:xfrm>
            <a:off x="5669280" y="1490472"/>
            <a:ext cx="384048" cy="384048"/>
          </a:xfrm>
          <a:prstGeom prst="ellipse">
            <a:avLst/>
          </a:prstGeom>
          <a:solidFill>
            <a:srgbClr val="D49A00"/>
          </a:solidFill>
          <a:ln/>
        </p:spPr>
      </p:sp>
      <p:sp>
        <p:nvSpPr>
          <p:cNvPr id="32" name="Text 30"/>
          <p:cNvSpPr txBox="1"/>
          <p:nvPr/>
        </p:nvSpPr>
        <p:spPr>
          <a:xfrm>
            <a:off x="5669280" y="149047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1"/>
          <p:cNvSpPr txBox="1"/>
          <p:nvPr/>
        </p:nvSpPr>
        <p:spPr>
          <a:xfrm>
            <a:off x="5669280" y="1965960"/>
            <a:ext cx="1207008" cy="548640"/>
          </a:xfrm>
          <a:prstGeom prst="rect">
            <a:avLst/>
          </a:prstGeom>
          <a:noFill/>
          <a:ln/>
        </p:spPr>
        <p:txBody>
          <a:bodyPr wrap="square" lIns="0" tIns="0" rIns="0" bIns="0" rtlCol="0" anchor="t"/>
          <a:lstStyle/>
          <a:p>
            <a:pPr marL="0" indent="0" algn="l">
              <a:lnSpc>
                <a:spcPct val="100000"/>
              </a:lnSpc>
              <a:buNone/>
            </a:pPr>
            <a:r>
              <a:rPr lang="en-US" sz="1150" b="1" dirty="0">
                <a:solidFill>
                  <a:srgbClr val="231F20"/>
                </a:solidFill>
                <a:latin typeface="Calibri" pitchFamily="34" charset="0"/>
                <a:ea typeface="Calibri" pitchFamily="34" charset="-122"/>
                <a:cs typeface="Calibri" pitchFamily="34" charset="-120"/>
              </a:rPr>
              <a:t>Open the notebook you want</a:t>
            </a:r>
            <a:endParaRPr lang="en-US" sz="1150" dirty="0"/>
          </a:p>
        </p:txBody>
      </p:sp>
      <p:sp>
        <p:nvSpPr>
          <p:cNvPr id="34" name="Shape 32"/>
          <p:cNvSpPr/>
          <p:nvPr/>
        </p:nvSpPr>
        <p:spPr>
          <a:xfrm>
            <a:off x="5614416" y="2560320"/>
            <a:ext cx="1280160" cy="658368"/>
          </a:xfrm>
          <a:prstGeom prst="roundRect">
            <a:avLst>
              <a:gd name="adj" fmla="val 6944"/>
            </a:avLst>
          </a:prstGeom>
          <a:solidFill>
            <a:srgbClr val="FFFFFF"/>
          </a:solidFill>
          <a:ln w="6350">
            <a:solidFill>
              <a:srgbClr val="D5DED9"/>
            </a:solidFill>
            <a:prstDash val="solid"/>
          </a:ln>
        </p:spPr>
      </p:sp>
      <p:sp>
        <p:nvSpPr>
          <p:cNvPr id="35" name="Text 33"/>
          <p:cNvSpPr txBox="1"/>
          <p:nvPr/>
        </p:nvSpPr>
        <p:spPr>
          <a:xfrm>
            <a:off x="5687568" y="2587752"/>
            <a:ext cx="1152144" cy="603504"/>
          </a:xfrm>
          <a:prstGeom prst="rect">
            <a:avLst/>
          </a:prstGeom>
          <a:noFill/>
          <a:ln/>
        </p:spPr>
        <p:txBody>
          <a:bodyPr wrap="square" lIns="0" tIns="0" rIns="0" bIns="0" rtlCol="0" anchor="ctr"/>
          <a:lstStyle/>
          <a:p>
            <a:pPr marL="0" indent="0" algn="l">
              <a:lnSpc>
                <a:spcPct val="100000"/>
              </a:lnSpc>
              <a:buNone/>
            </a:pPr>
            <a:r>
              <a:rPr lang="en-US" sz="950" dirty="0">
                <a:solidFill>
                  <a:srgbClr val="5E6964"/>
                </a:solidFill>
                <a:latin typeface="Calibri" pitchFamily="34" charset="0"/>
                <a:ea typeface="Calibri" pitchFamily="34" charset="-122"/>
                <a:cs typeface="Calibri" pitchFamily="34" charset="-120"/>
              </a:rPr>
              <a:t>double-click it in the left-hand panel</a:t>
            </a:r>
            <a:endParaRPr lang="en-US" sz="950" dirty="0"/>
          </a:p>
        </p:txBody>
      </p:sp>
      <p:sp>
        <p:nvSpPr>
          <p:cNvPr id="36" name="Shape 34"/>
          <p:cNvSpPr/>
          <p:nvPr/>
        </p:nvSpPr>
        <p:spPr>
          <a:xfrm>
            <a:off x="7022592" y="2331720"/>
            <a:ext cx="146304" cy="0"/>
          </a:xfrm>
          <a:prstGeom prst="line">
            <a:avLst/>
          </a:prstGeom>
          <a:noFill/>
          <a:ln w="12700">
            <a:solidFill>
              <a:srgbClr val="5E6964"/>
            </a:solidFill>
            <a:prstDash val="solid"/>
            <a:tailEnd type="triangle"/>
          </a:ln>
        </p:spPr>
      </p:sp>
      <p:sp>
        <p:nvSpPr>
          <p:cNvPr id="37" name="Shape 35"/>
          <p:cNvSpPr/>
          <p:nvPr/>
        </p:nvSpPr>
        <p:spPr>
          <a:xfrm>
            <a:off x="7187184" y="1325880"/>
            <a:ext cx="1499616" cy="2011680"/>
          </a:xfrm>
          <a:prstGeom prst="roundRect">
            <a:avLst>
              <a:gd name="adj" fmla="val 4878"/>
            </a:avLst>
          </a:prstGeom>
          <a:solidFill>
            <a:srgbClr val="F4F7F5"/>
          </a:solidFill>
          <a:ln w="9525">
            <a:solidFill>
              <a:srgbClr val="D5DED9"/>
            </a:solidFill>
            <a:prstDash val="solid"/>
          </a:ln>
        </p:spPr>
      </p:sp>
      <p:sp>
        <p:nvSpPr>
          <p:cNvPr id="38" name="Shape 36"/>
          <p:cNvSpPr/>
          <p:nvPr/>
        </p:nvSpPr>
        <p:spPr>
          <a:xfrm>
            <a:off x="7351776" y="1490472"/>
            <a:ext cx="384048" cy="384048"/>
          </a:xfrm>
          <a:prstGeom prst="ellipse">
            <a:avLst/>
          </a:prstGeom>
          <a:solidFill>
            <a:srgbClr val="D49A00"/>
          </a:solidFill>
          <a:ln/>
        </p:spPr>
      </p:sp>
      <p:sp>
        <p:nvSpPr>
          <p:cNvPr id="39" name="Text 37"/>
          <p:cNvSpPr txBox="1"/>
          <p:nvPr/>
        </p:nvSpPr>
        <p:spPr>
          <a:xfrm>
            <a:off x="7351776" y="149047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0" name="Text 38"/>
          <p:cNvSpPr txBox="1"/>
          <p:nvPr/>
        </p:nvSpPr>
        <p:spPr>
          <a:xfrm>
            <a:off x="7351776" y="1965960"/>
            <a:ext cx="1207008" cy="548640"/>
          </a:xfrm>
          <a:prstGeom prst="rect">
            <a:avLst/>
          </a:prstGeom>
          <a:noFill/>
          <a:ln/>
        </p:spPr>
        <p:txBody>
          <a:bodyPr wrap="square" lIns="0" tIns="0" rIns="0" bIns="0" rtlCol="0" anchor="t"/>
          <a:lstStyle/>
          <a:p>
            <a:pPr marL="0" indent="0" algn="l">
              <a:lnSpc>
                <a:spcPct val="100000"/>
              </a:lnSpc>
              <a:buNone/>
            </a:pPr>
            <a:r>
              <a:rPr lang="en-US" sz="1150" b="1" dirty="0">
                <a:solidFill>
                  <a:srgbClr val="231F20"/>
                </a:solidFill>
                <a:latin typeface="Calibri" pitchFamily="34" charset="0"/>
                <a:ea typeface="Calibri" pitchFamily="34" charset="-122"/>
                <a:cs typeface="Calibri" pitchFamily="34" charset="-120"/>
              </a:rPr>
              <a:t>Run a cell</a:t>
            </a:r>
            <a:endParaRPr lang="en-US" sz="1150" dirty="0"/>
          </a:p>
        </p:txBody>
      </p:sp>
      <p:sp>
        <p:nvSpPr>
          <p:cNvPr id="41" name="Shape 39"/>
          <p:cNvSpPr/>
          <p:nvPr/>
        </p:nvSpPr>
        <p:spPr>
          <a:xfrm>
            <a:off x="7296912" y="2560320"/>
            <a:ext cx="1280160" cy="658368"/>
          </a:xfrm>
          <a:prstGeom prst="roundRect">
            <a:avLst>
              <a:gd name="adj" fmla="val 6944"/>
            </a:avLst>
          </a:prstGeom>
          <a:solidFill>
            <a:srgbClr val="FFFFFF"/>
          </a:solidFill>
          <a:ln w="6350">
            <a:solidFill>
              <a:srgbClr val="D5DED9"/>
            </a:solidFill>
            <a:prstDash val="solid"/>
          </a:ln>
        </p:spPr>
      </p:sp>
      <p:sp>
        <p:nvSpPr>
          <p:cNvPr id="42" name="Text 40"/>
          <p:cNvSpPr txBox="1"/>
          <p:nvPr/>
        </p:nvSpPr>
        <p:spPr>
          <a:xfrm>
            <a:off x="7370064" y="2587752"/>
            <a:ext cx="1152144" cy="603504"/>
          </a:xfrm>
          <a:prstGeom prst="rect">
            <a:avLst/>
          </a:prstGeom>
          <a:noFill/>
          <a:ln/>
        </p:spPr>
        <p:txBody>
          <a:bodyPr wrap="square" lIns="0" tIns="0" rIns="0" bIns="0" rtlCol="0" anchor="ctr"/>
          <a:lstStyle/>
          <a:p>
            <a:pPr marL="0" indent="0" algn="l">
              <a:lnSpc>
                <a:spcPct val="100000"/>
              </a:lnSpc>
              <a:buNone/>
            </a:pPr>
            <a:r>
              <a:rPr lang="en-US" sz="950" b="1" dirty="0">
                <a:solidFill>
                  <a:srgbClr val="5E6964"/>
                </a:solidFill>
                <a:latin typeface="Calibri" pitchFamily="34" charset="0"/>
                <a:ea typeface="Calibri" pitchFamily="34" charset="-122"/>
                <a:cs typeface="Calibri" pitchFamily="34" charset="-120"/>
              </a:rPr>
              <a:t>Shift + Enter</a:t>
            </a:r>
            <a:r>
              <a:rPr lang="en-US" sz="950" dirty="0">
                <a:solidFill>
                  <a:srgbClr val="5E6964"/>
                </a:solidFill>
                <a:latin typeface="Calibri" pitchFamily="34" charset="0"/>
                <a:ea typeface="Calibri" pitchFamily="34" charset="-122"/>
                <a:cs typeface="Calibri" pitchFamily="34" charset="-120"/>
              </a:rPr>
              <a:t>, then the next one, top to bottom</a:t>
            </a:r>
            <a:endParaRPr lang="en-US" sz="950" dirty="0"/>
          </a:p>
        </p:txBody>
      </p:sp>
      <p:sp>
        <p:nvSpPr>
          <p:cNvPr id="43" name="Shape 41"/>
          <p:cNvSpPr/>
          <p:nvPr/>
        </p:nvSpPr>
        <p:spPr>
          <a:xfrm>
            <a:off x="457200" y="3520440"/>
            <a:ext cx="8229600" cy="868680"/>
          </a:xfrm>
          <a:prstGeom prst="roundRect">
            <a:avLst>
              <a:gd name="adj" fmla="val 8421"/>
            </a:avLst>
          </a:prstGeom>
          <a:solidFill>
            <a:srgbClr val="D49A00">
              <a:alpha val="13000"/>
            </a:srgbClr>
          </a:solidFill>
          <a:ln w="15875">
            <a:solidFill>
              <a:srgbClr val="D49A00"/>
            </a:solidFill>
            <a:prstDash val="solid"/>
          </a:ln>
        </p:spPr>
      </p:sp>
      <p:sp>
        <p:nvSpPr>
          <p:cNvPr id="44" name="Shape 42"/>
          <p:cNvSpPr/>
          <p:nvPr/>
        </p:nvSpPr>
        <p:spPr>
          <a:xfrm>
            <a:off x="640080" y="3694176"/>
            <a:ext cx="512064" cy="512064"/>
          </a:xfrm>
          <a:prstGeom prst="ellipse">
            <a:avLst/>
          </a:prstGeom>
          <a:solidFill>
            <a:srgbClr val="D49A00">
              <a:alpha val="22000"/>
            </a:srgbClr>
          </a:solidFill>
          <a:ln/>
        </p:spPr>
      </p:sp>
      <p:pic>
        <p:nvPicPr>
          <p:cNvPr id="45" name="Image 0" descr="preencoded.png"/>
          <p:cNvPicPr>
            <a:picLocks noChangeAspect="1"/>
          </p:cNvPicPr>
          <p:nvPr/>
        </p:nvPicPr>
        <p:blipFill>
          <a:blip r:embed="rId3"/>
          <a:stretch>
            <a:fillRect/>
          </a:stretch>
        </p:blipFill>
        <p:spPr>
          <a:xfrm>
            <a:off x="768096" y="3822192"/>
            <a:ext cx="256032" cy="256032"/>
          </a:xfrm>
          <a:prstGeom prst="rect">
            <a:avLst/>
          </a:prstGeom>
        </p:spPr>
      </p:pic>
      <p:sp>
        <p:nvSpPr>
          <p:cNvPr id="46" name="Text 43"/>
          <p:cNvSpPr txBox="1"/>
          <p:nvPr/>
        </p:nvSpPr>
        <p:spPr>
          <a:xfrm>
            <a:off x="1325880" y="3584448"/>
            <a:ext cx="7223760" cy="749808"/>
          </a:xfrm>
          <a:prstGeom prst="rect">
            <a:avLst/>
          </a:prstGeom>
          <a:noFill/>
          <a:ln/>
        </p:spPr>
        <p:txBody>
          <a:bodyPr wrap="square" lIns="0" tIns="0" rIns="0" bIns="0" rtlCol="0" anchor="ctr"/>
          <a:lstStyle/>
          <a:p>
            <a:pPr marL="0" indent="0" algn="l">
              <a:lnSpc>
                <a:spcPct val="100000"/>
              </a:lnSpc>
              <a:spcAft>
                <a:spcPts val="300"/>
              </a:spcAft>
              <a:buNone/>
            </a:pPr>
            <a:r>
              <a:rPr lang="en-US" sz="1150" dirty="0">
                <a:solidFill>
                  <a:srgbClr val="231F20"/>
                </a:solidFill>
                <a:latin typeface="Calibri" pitchFamily="34" charset="0"/>
                <a:ea typeface="Calibri" pitchFamily="34" charset="-122"/>
                <a:cs typeface="Calibri" pitchFamily="34" charset="-120"/>
              </a:rPr>
              <a:t>To stop JupyterLab: go back to the terminal and press </a:t>
            </a:r>
            <a:r>
              <a:rPr lang="en-US" sz="1150" b="1" dirty="0">
                <a:solidFill>
                  <a:srgbClr val="231F20"/>
                </a:solidFill>
                <a:latin typeface="Calibri" pitchFamily="34" charset="0"/>
                <a:ea typeface="Calibri" pitchFamily="34" charset="-122"/>
                <a:cs typeface="Calibri" pitchFamily="34" charset="-120"/>
              </a:rPr>
              <a:t>Ctrl + C</a:t>
            </a:r>
            <a:r>
              <a:rPr lang="en-US" sz="1150" dirty="0">
                <a:solidFill>
                  <a:srgbClr val="231F20"/>
                </a:solidFill>
                <a:latin typeface="Calibri" pitchFamily="34" charset="0"/>
                <a:ea typeface="Calibri" pitchFamily="34" charset="-122"/>
                <a:cs typeface="Calibri" pitchFamily="34" charset="-120"/>
              </a:rPr>
              <a:t>. Closing the browser tab does not stop it.</a:t>
            </a:r>
            <a:endParaRPr lang="en-US" sz="1150" dirty="0"/>
          </a:p>
          <a:p>
            <a:pPr marL="0" indent="0" algn="l">
              <a:lnSpc>
                <a:spcPct val="100000"/>
              </a:lnSpc>
              <a:spcAft>
                <a:spcPts val="300"/>
              </a:spcAft>
              <a:buNone/>
            </a:pPr>
            <a:r>
              <a:rPr lang="en-US" sz="1150" dirty="0">
                <a:solidFill>
                  <a:srgbClr val="231F20"/>
                </a:solidFill>
                <a:latin typeface="Calibri" pitchFamily="34" charset="0"/>
                <a:ea typeface="Calibri" pitchFamily="34" charset="-122"/>
                <a:cs typeface="Calibri" pitchFamily="34" charset="-120"/>
              </a:rPr>
              <a:t>The terminal must </a:t>
            </a:r>
            <a:r>
              <a:rPr lang="en-US" sz="1150" b="1" dirty="0">
                <a:solidFill>
                  <a:srgbClr val="231F20"/>
                </a:solidFill>
                <a:latin typeface="Calibri" pitchFamily="34" charset="0"/>
                <a:ea typeface="Calibri" pitchFamily="34" charset="-122"/>
                <a:cs typeface="Calibri" pitchFamily="34" charset="-120"/>
              </a:rPr>
              <a:t>stay open</a:t>
            </a:r>
            <a:r>
              <a:rPr lang="en-US" sz="1150" dirty="0">
                <a:solidFill>
                  <a:srgbClr val="231F20"/>
                </a:solidFill>
                <a:latin typeface="Calibri" pitchFamily="34" charset="0"/>
                <a:ea typeface="Calibri" pitchFamily="34" charset="-122"/>
                <a:cs typeface="Calibri" pitchFamily="34" charset="-120"/>
              </a:rPr>
              <a:t> the whole time you work: it is what runs JupyterLab.</a:t>
            </a:r>
            <a:endParaRPr lang="en-US" sz="1150" dirty="0"/>
          </a:p>
        </p:txBody>
      </p:sp>
      <p:sp>
        <p:nvSpPr>
          <p:cNvPr id="47"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6583680" cy="219456"/>
          </a:xfrm>
          <a:prstGeom prst="rect">
            <a:avLst/>
          </a:prstGeom>
          <a:noFill/>
          <a:ln/>
        </p:spPr>
        <p:txBody>
          <a:bodyPr wrap="square" lIns="0" tIns="0" rIns="0" bIns="0" rtlCol="0" anchor="t"/>
          <a:lstStyle/>
          <a:p>
            <a:pPr marL="0" indent="0" algn="l">
              <a:lnSpc>
                <a:spcPct val="100000"/>
              </a:lnSpc>
              <a:buNone/>
            </a:pPr>
            <a:r>
              <a:rPr lang="en-US" sz="1050" b="1" kern="0" spc="300" dirty="0">
                <a:solidFill>
                  <a:srgbClr val="00704A"/>
                </a:solidFill>
                <a:latin typeface="Calibri" pitchFamily="34" charset="0"/>
                <a:ea typeface="Calibri" pitchFamily="34" charset="-122"/>
                <a:cs typeface="Calibri" pitchFamily="34" charset="-120"/>
              </a:rPr>
              <a:t>05 · TROUBLESHOOT</a:t>
            </a:r>
            <a:endParaRPr lang="en-US" sz="1050" dirty="0"/>
          </a:p>
        </p:txBody>
      </p:sp>
      <p:sp>
        <p:nvSpPr>
          <p:cNvPr id="3" name="Text 1"/>
          <p:cNvSpPr txBox="1"/>
          <p:nvPr/>
        </p:nvSpPr>
        <p:spPr>
          <a:xfrm>
            <a:off x="457200" y="502920"/>
            <a:ext cx="7315200" cy="502920"/>
          </a:xfrm>
          <a:prstGeom prst="rect">
            <a:avLst/>
          </a:prstGeom>
          <a:noFill/>
          <a:ln/>
        </p:spPr>
        <p:txBody>
          <a:bodyPr wrap="square" lIns="0" tIns="0" rIns="0" bIns="0" rtlCol="0" anchor="ctr"/>
          <a:lstStyle/>
          <a:p>
            <a:pPr marL="0" indent="0" algn="l">
              <a:lnSpc>
                <a:spcPct val="100000"/>
              </a:lnSpc>
              <a:buNone/>
            </a:pPr>
            <a:r>
              <a:rPr lang="en-US" sz="2800" b="1" dirty="0">
                <a:solidFill>
                  <a:srgbClr val="231F20"/>
                </a:solidFill>
                <a:latin typeface="Calibri" pitchFamily="34" charset="0"/>
                <a:ea typeface="Calibri" pitchFamily="34" charset="-122"/>
                <a:cs typeface="Calibri" pitchFamily="34" charset="-120"/>
              </a:rPr>
              <a:t>Five problems, and how to fix them</a:t>
            </a:r>
            <a:endParaRPr lang="en-US" sz="2800" dirty="0"/>
          </a:p>
        </p:txBody>
      </p:sp>
      <p:sp>
        <p:nvSpPr>
          <p:cNvPr id="4" name="Shape 2"/>
          <p:cNvSpPr/>
          <p:nvPr/>
        </p:nvSpPr>
        <p:spPr>
          <a:xfrm>
            <a:off x="7854696" y="338328"/>
            <a:ext cx="100584" cy="100584"/>
          </a:xfrm>
          <a:prstGeom prst="ellipse">
            <a:avLst/>
          </a:prstGeom>
          <a:solidFill>
            <a:srgbClr val="D5DED9"/>
          </a:solidFill>
          <a:ln/>
        </p:spPr>
      </p:sp>
      <p:sp>
        <p:nvSpPr>
          <p:cNvPr id="5" name="Shape 3"/>
          <p:cNvSpPr/>
          <p:nvPr/>
        </p:nvSpPr>
        <p:spPr>
          <a:xfrm>
            <a:off x="8037576" y="338328"/>
            <a:ext cx="100584" cy="100584"/>
          </a:xfrm>
          <a:prstGeom prst="ellipse">
            <a:avLst/>
          </a:prstGeom>
          <a:solidFill>
            <a:srgbClr val="D5DED9"/>
          </a:solidFill>
          <a:ln/>
        </p:spPr>
      </p:sp>
      <p:sp>
        <p:nvSpPr>
          <p:cNvPr id="6" name="Shape 4"/>
          <p:cNvSpPr/>
          <p:nvPr/>
        </p:nvSpPr>
        <p:spPr>
          <a:xfrm>
            <a:off x="8220456" y="338328"/>
            <a:ext cx="100584" cy="100584"/>
          </a:xfrm>
          <a:prstGeom prst="ellipse">
            <a:avLst/>
          </a:prstGeom>
          <a:solidFill>
            <a:srgbClr val="D5DED9"/>
          </a:solidFill>
          <a:ln/>
        </p:spPr>
      </p:sp>
      <p:sp>
        <p:nvSpPr>
          <p:cNvPr id="7" name="Shape 5"/>
          <p:cNvSpPr/>
          <p:nvPr/>
        </p:nvSpPr>
        <p:spPr>
          <a:xfrm>
            <a:off x="8403336" y="338328"/>
            <a:ext cx="100584" cy="100584"/>
          </a:xfrm>
          <a:prstGeom prst="ellipse">
            <a:avLst/>
          </a:prstGeom>
          <a:solidFill>
            <a:srgbClr val="D5DED9"/>
          </a:solidFill>
          <a:ln/>
        </p:spPr>
      </p:sp>
      <p:sp>
        <p:nvSpPr>
          <p:cNvPr id="8" name="Shape 6"/>
          <p:cNvSpPr/>
          <p:nvPr/>
        </p:nvSpPr>
        <p:spPr>
          <a:xfrm>
            <a:off x="8586216" y="338328"/>
            <a:ext cx="100584" cy="100584"/>
          </a:xfrm>
          <a:prstGeom prst="ellipse">
            <a:avLst/>
          </a:prstGeom>
          <a:solidFill>
            <a:srgbClr val="C4621D"/>
          </a:solidFill>
          <a:ln/>
        </p:spPr>
      </p:sp>
      <p:sp>
        <p:nvSpPr>
          <p:cNvPr id="9" name="Text 7"/>
          <p:cNvSpPr txBox="1"/>
          <p:nvPr/>
        </p:nvSpPr>
        <p:spPr>
          <a:xfrm>
            <a:off x="777240" y="1143000"/>
            <a:ext cx="2240280" cy="201168"/>
          </a:xfrm>
          <a:prstGeom prst="rect">
            <a:avLst/>
          </a:prstGeom>
          <a:noFill/>
          <a:ln/>
        </p:spPr>
        <p:txBody>
          <a:bodyPr wrap="square" lIns="0" tIns="0" rIns="0" bIns="0" rtlCol="0" anchor="t"/>
          <a:lstStyle/>
          <a:p>
            <a:pPr marL="0" indent="0" algn="l">
              <a:lnSpc>
                <a:spcPct val="100000"/>
              </a:lnSpc>
              <a:buNone/>
            </a:pPr>
            <a:r>
              <a:rPr lang="en-US" sz="900" b="1" kern="0" spc="100" dirty="0">
                <a:solidFill>
                  <a:srgbClr val="5E6964"/>
                </a:solidFill>
                <a:latin typeface="Calibri" pitchFamily="34" charset="0"/>
                <a:ea typeface="Calibri" pitchFamily="34" charset="-122"/>
                <a:cs typeface="Calibri" pitchFamily="34" charset="-120"/>
              </a:rPr>
              <a:t>WHAT YOU SEE</a:t>
            </a:r>
            <a:endParaRPr lang="en-US" sz="900" dirty="0"/>
          </a:p>
        </p:txBody>
      </p:sp>
      <p:sp>
        <p:nvSpPr>
          <p:cNvPr id="10" name="Text 8"/>
          <p:cNvSpPr txBox="1"/>
          <p:nvPr/>
        </p:nvSpPr>
        <p:spPr>
          <a:xfrm>
            <a:off x="3154680" y="1143000"/>
            <a:ext cx="2606040" cy="201168"/>
          </a:xfrm>
          <a:prstGeom prst="rect">
            <a:avLst/>
          </a:prstGeom>
          <a:noFill/>
          <a:ln/>
        </p:spPr>
        <p:txBody>
          <a:bodyPr wrap="square" lIns="0" tIns="0" rIns="0" bIns="0" rtlCol="0" anchor="t"/>
          <a:lstStyle/>
          <a:p>
            <a:pPr marL="0" indent="0" algn="l">
              <a:lnSpc>
                <a:spcPct val="100000"/>
              </a:lnSpc>
              <a:buNone/>
            </a:pPr>
            <a:r>
              <a:rPr lang="en-US" sz="900" b="1" kern="0" spc="100" dirty="0">
                <a:solidFill>
                  <a:srgbClr val="5E6964"/>
                </a:solidFill>
                <a:latin typeface="Calibri" pitchFamily="34" charset="0"/>
                <a:ea typeface="Calibri" pitchFamily="34" charset="-122"/>
                <a:cs typeface="Calibri" pitchFamily="34" charset="-120"/>
              </a:rPr>
              <a:t>WHY</a:t>
            </a:r>
            <a:endParaRPr lang="en-US" sz="900" dirty="0"/>
          </a:p>
        </p:txBody>
      </p:sp>
      <p:sp>
        <p:nvSpPr>
          <p:cNvPr id="11" name="Text 9"/>
          <p:cNvSpPr txBox="1"/>
          <p:nvPr/>
        </p:nvSpPr>
        <p:spPr>
          <a:xfrm>
            <a:off x="5897880" y="1143000"/>
            <a:ext cx="2697480" cy="201168"/>
          </a:xfrm>
          <a:prstGeom prst="rect">
            <a:avLst/>
          </a:prstGeom>
          <a:noFill/>
          <a:ln/>
        </p:spPr>
        <p:txBody>
          <a:bodyPr wrap="square" lIns="0" tIns="0" rIns="0" bIns="0" rtlCol="0" anchor="t"/>
          <a:lstStyle/>
          <a:p>
            <a:pPr marL="0" indent="0" algn="l">
              <a:lnSpc>
                <a:spcPct val="100000"/>
              </a:lnSpc>
              <a:buNone/>
            </a:pPr>
            <a:r>
              <a:rPr lang="en-US" sz="900" b="1" kern="0" spc="100" dirty="0">
                <a:solidFill>
                  <a:srgbClr val="5E6964"/>
                </a:solidFill>
                <a:latin typeface="Calibri" pitchFamily="34" charset="0"/>
                <a:ea typeface="Calibri" pitchFamily="34" charset="-122"/>
                <a:cs typeface="Calibri" pitchFamily="34" charset="-120"/>
              </a:rPr>
              <a:t>WHAT YOU DO</a:t>
            </a:r>
            <a:endParaRPr lang="en-US" sz="900" dirty="0"/>
          </a:p>
        </p:txBody>
      </p:sp>
      <p:sp>
        <p:nvSpPr>
          <p:cNvPr id="12" name="Shape 10"/>
          <p:cNvSpPr/>
          <p:nvPr/>
        </p:nvSpPr>
        <p:spPr>
          <a:xfrm>
            <a:off x="457200" y="1389888"/>
            <a:ext cx="8229600" cy="384048"/>
          </a:xfrm>
          <a:prstGeom prst="roundRect">
            <a:avLst>
              <a:gd name="adj" fmla="val 19048"/>
            </a:avLst>
          </a:prstGeom>
          <a:solidFill>
            <a:srgbClr val="F4F7F5"/>
          </a:solidFill>
          <a:ln w="9525">
            <a:solidFill>
              <a:srgbClr val="D5DED9"/>
            </a:solidFill>
            <a:prstDash val="solid"/>
          </a:ln>
        </p:spPr>
      </p:sp>
      <p:sp>
        <p:nvSpPr>
          <p:cNvPr id="13" name="Shape 11"/>
          <p:cNvSpPr/>
          <p:nvPr/>
        </p:nvSpPr>
        <p:spPr>
          <a:xfrm>
            <a:off x="585216" y="1517904"/>
            <a:ext cx="128016" cy="128016"/>
          </a:xfrm>
          <a:prstGeom prst="ellipse">
            <a:avLst/>
          </a:prstGeom>
          <a:solidFill>
            <a:srgbClr val="B83B2E"/>
          </a:solidFill>
          <a:ln/>
        </p:spPr>
      </p:sp>
      <p:sp>
        <p:nvSpPr>
          <p:cNvPr id="14" name="Text 12"/>
          <p:cNvSpPr txBox="1"/>
          <p:nvPr/>
        </p:nvSpPr>
        <p:spPr>
          <a:xfrm>
            <a:off x="777240" y="1389888"/>
            <a:ext cx="2240280" cy="384048"/>
          </a:xfrm>
          <a:prstGeom prst="rect">
            <a:avLst/>
          </a:prstGeom>
          <a:noFill/>
          <a:ln/>
        </p:spPr>
        <p:txBody>
          <a:bodyPr wrap="square" lIns="0" tIns="0" rIns="0" bIns="0" rtlCol="0" anchor="ctr"/>
          <a:lstStyle/>
          <a:p>
            <a:pPr marL="0" indent="0" algn="l">
              <a:lnSpc>
                <a:spcPct val="100000"/>
              </a:lnSpc>
              <a:buNone/>
            </a:pPr>
            <a:r>
              <a:rPr lang="en-US" sz="1000" b="1" dirty="0">
                <a:solidFill>
                  <a:srgbClr val="231F20"/>
                </a:solidFill>
                <a:latin typeface="Calibri" pitchFamily="34" charset="0"/>
                <a:ea typeface="Calibri" pitchFamily="34" charset="-122"/>
                <a:cs typeface="Calibri" pitchFamily="34" charset="-120"/>
              </a:rPr>
              <a:t>"python is not recognized…"</a:t>
            </a:r>
            <a:endParaRPr lang="en-US" sz="1000" dirty="0"/>
          </a:p>
        </p:txBody>
      </p:sp>
      <p:sp>
        <p:nvSpPr>
          <p:cNvPr id="15" name="Text 13"/>
          <p:cNvSpPr txBox="1"/>
          <p:nvPr/>
        </p:nvSpPr>
        <p:spPr>
          <a:xfrm>
            <a:off x="3154680" y="1389888"/>
            <a:ext cx="2606040" cy="384048"/>
          </a:xfrm>
          <a:prstGeom prst="rect">
            <a:avLst/>
          </a:prstGeom>
          <a:noFill/>
          <a:ln/>
        </p:spPr>
        <p:txBody>
          <a:bodyPr wrap="square" lIns="0" tIns="0" rIns="0" bIns="0" rtlCol="0" anchor="ctr"/>
          <a:lstStyle/>
          <a:p>
            <a:pPr marL="0" indent="0" algn="l">
              <a:lnSpc>
                <a:spcPct val="100000"/>
              </a:lnSpc>
              <a:buNone/>
            </a:pPr>
            <a:r>
              <a:rPr lang="en-US" sz="1000" dirty="0">
                <a:solidFill>
                  <a:srgbClr val="5E6964"/>
                </a:solidFill>
                <a:latin typeface="Calibri" pitchFamily="34" charset="0"/>
                <a:ea typeface="Calibri" pitchFamily="34" charset="-122"/>
                <a:cs typeface="Calibri" pitchFamily="34" charset="-120"/>
              </a:rPr>
              <a:t>The "Add python.exe to PATH" box wasn't ticked</a:t>
            </a:r>
            <a:endParaRPr lang="en-US" sz="1000" dirty="0"/>
          </a:p>
        </p:txBody>
      </p:sp>
      <p:sp>
        <p:nvSpPr>
          <p:cNvPr id="16" name="Text 14"/>
          <p:cNvSpPr txBox="1"/>
          <p:nvPr/>
        </p:nvSpPr>
        <p:spPr>
          <a:xfrm>
            <a:off x="5897880" y="1389888"/>
            <a:ext cx="2697480" cy="384048"/>
          </a:xfrm>
          <a:prstGeom prst="rect">
            <a:avLst/>
          </a:prstGeom>
          <a:noFill/>
          <a:ln/>
        </p:spPr>
        <p:txBody>
          <a:bodyPr wrap="square" lIns="0" tIns="0" rIns="0" bIns="0" rtlCol="0" anchor="ctr"/>
          <a:lstStyle/>
          <a:p>
            <a:pPr marL="0" indent="0" algn="l">
              <a:lnSpc>
                <a:spcPct val="100000"/>
              </a:lnSpc>
              <a:buNone/>
            </a:pPr>
            <a:r>
              <a:rPr lang="en-US" sz="1000" dirty="0">
                <a:solidFill>
                  <a:srgbClr val="231F20"/>
                </a:solidFill>
                <a:latin typeface="Calibri" pitchFamily="34" charset="0"/>
                <a:ea typeface="Calibri" pitchFamily="34" charset="-122"/>
                <a:cs typeface="Calibri" pitchFamily="34" charset="-120"/>
              </a:rPr>
              <a:t>Re-run the installer → Modify → tick the box</a:t>
            </a:r>
            <a:endParaRPr lang="en-US" sz="1000" dirty="0"/>
          </a:p>
        </p:txBody>
      </p:sp>
      <p:sp>
        <p:nvSpPr>
          <p:cNvPr id="17" name="Shape 15"/>
          <p:cNvSpPr/>
          <p:nvPr/>
        </p:nvSpPr>
        <p:spPr>
          <a:xfrm>
            <a:off x="457200" y="1819656"/>
            <a:ext cx="8229600" cy="384048"/>
          </a:xfrm>
          <a:prstGeom prst="roundRect">
            <a:avLst>
              <a:gd name="adj" fmla="val 19048"/>
            </a:avLst>
          </a:prstGeom>
          <a:solidFill>
            <a:srgbClr val="FFFFFF"/>
          </a:solidFill>
          <a:ln w="9525">
            <a:solidFill>
              <a:srgbClr val="D5DED9"/>
            </a:solidFill>
            <a:prstDash val="solid"/>
          </a:ln>
        </p:spPr>
      </p:sp>
      <p:sp>
        <p:nvSpPr>
          <p:cNvPr id="18" name="Shape 16"/>
          <p:cNvSpPr/>
          <p:nvPr/>
        </p:nvSpPr>
        <p:spPr>
          <a:xfrm>
            <a:off x="585216" y="1947672"/>
            <a:ext cx="128016" cy="128016"/>
          </a:xfrm>
          <a:prstGeom prst="ellipse">
            <a:avLst/>
          </a:prstGeom>
          <a:solidFill>
            <a:srgbClr val="B83B2E"/>
          </a:solidFill>
          <a:ln/>
        </p:spPr>
      </p:sp>
      <p:sp>
        <p:nvSpPr>
          <p:cNvPr id="19" name="Text 17"/>
          <p:cNvSpPr txBox="1"/>
          <p:nvPr/>
        </p:nvSpPr>
        <p:spPr>
          <a:xfrm>
            <a:off x="777240" y="1819656"/>
            <a:ext cx="2240280" cy="384048"/>
          </a:xfrm>
          <a:prstGeom prst="rect">
            <a:avLst/>
          </a:prstGeom>
          <a:noFill/>
          <a:ln/>
        </p:spPr>
        <p:txBody>
          <a:bodyPr wrap="square" lIns="0" tIns="0" rIns="0" bIns="0" rtlCol="0" anchor="ctr"/>
          <a:lstStyle/>
          <a:p>
            <a:pPr marL="0" indent="0" algn="l">
              <a:lnSpc>
                <a:spcPct val="100000"/>
              </a:lnSpc>
              <a:buNone/>
            </a:pPr>
            <a:r>
              <a:rPr lang="en-US" sz="1000" b="1" dirty="0">
                <a:solidFill>
                  <a:srgbClr val="231F20"/>
                </a:solidFill>
                <a:latin typeface="Calibri" pitchFamily="34" charset="0"/>
                <a:ea typeface="Calibri" pitchFamily="34" charset="-122"/>
                <a:cs typeface="Calibri" pitchFamily="34" charset="-120"/>
              </a:rPr>
              <a:t>The Microsoft Store opens</a:t>
            </a:r>
            <a:endParaRPr lang="en-US" sz="1000" dirty="0"/>
          </a:p>
        </p:txBody>
      </p:sp>
      <p:sp>
        <p:nvSpPr>
          <p:cNvPr id="20" name="Text 18"/>
          <p:cNvSpPr txBox="1"/>
          <p:nvPr/>
        </p:nvSpPr>
        <p:spPr>
          <a:xfrm>
            <a:off x="3154680" y="1819656"/>
            <a:ext cx="2606040" cy="384048"/>
          </a:xfrm>
          <a:prstGeom prst="rect">
            <a:avLst/>
          </a:prstGeom>
          <a:noFill/>
          <a:ln/>
        </p:spPr>
        <p:txBody>
          <a:bodyPr wrap="square" lIns="0" tIns="0" rIns="0" bIns="0" rtlCol="0" anchor="ctr"/>
          <a:lstStyle/>
          <a:p>
            <a:pPr marL="0" indent="0" algn="l">
              <a:lnSpc>
                <a:spcPct val="100000"/>
              </a:lnSpc>
              <a:buNone/>
            </a:pPr>
            <a:r>
              <a:rPr lang="en-US" sz="1000" dirty="0">
                <a:solidFill>
                  <a:srgbClr val="5E6964"/>
                </a:solidFill>
                <a:latin typeface="Calibri" pitchFamily="34" charset="0"/>
                <a:ea typeface="Calibri" pitchFamily="34" charset="-122"/>
                <a:cs typeface="Calibri" pitchFamily="34" charset="-120"/>
              </a:rPr>
              <a:t>Windows ships a fake python.exe that points to the Store</a:t>
            </a:r>
            <a:endParaRPr lang="en-US" sz="1000" dirty="0"/>
          </a:p>
        </p:txBody>
      </p:sp>
      <p:sp>
        <p:nvSpPr>
          <p:cNvPr id="21" name="Text 19"/>
          <p:cNvSpPr txBox="1"/>
          <p:nvPr/>
        </p:nvSpPr>
        <p:spPr>
          <a:xfrm>
            <a:off x="5897880" y="1819656"/>
            <a:ext cx="2697480" cy="384048"/>
          </a:xfrm>
          <a:prstGeom prst="rect">
            <a:avLst/>
          </a:prstGeom>
          <a:noFill/>
          <a:ln/>
        </p:spPr>
        <p:txBody>
          <a:bodyPr wrap="square" lIns="0" tIns="0" rIns="0" bIns="0" rtlCol="0" anchor="ctr"/>
          <a:lstStyle/>
          <a:p>
            <a:pPr marL="0" indent="0" algn="l">
              <a:lnSpc>
                <a:spcPct val="100000"/>
              </a:lnSpc>
              <a:buNone/>
            </a:pPr>
            <a:r>
              <a:rPr lang="en-US" sz="1000" dirty="0">
                <a:solidFill>
                  <a:srgbClr val="231F20"/>
                </a:solidFill>
                <a:latin typeface="Calibri" pitchFamily="34" charset="0"/>
                <a:ea typeface="Calibri" pitchFamily="34" charset="-122"/>
                <a:cs typeface="Calibri" pitchFamily="34" charset="-120"/>
              </a:rPr>
              <a:t>Install Python from python.org, then reopen the terminal</a:t>
            </a:r>
            <a:endParaRPr lang="en-US" sz="1000" dirty="0"/>
          </a:p>
        </p:txBody>
      </p:sp>
      <p:sp>
        <p:nvSpPr>
          <p:cNvPr id="22" name="Shape 20"/>
          <p:cNvSpPr/>
          <p:nvPr/>
        </p:nvSpPr>
        <p:spPr>
          <a:xfrm>
            <a:off x="457200" y="2249424"/>
            <a:ext cx="8229600" cy="384048"/>
          </a:xfrm>
          <a:prstGeom prst="roundRect">
            <a:avLst>
              <a:gd name="adj" fmla="val 19048"/>
            </a:avLst>
          </a:prstGeom>
          <a:solidFill>
            <a:srgbClr val="F4F7F5"/>
          </a:solidFill>
          <a:ln w="9525">
            <a:solidFill>
              <a:srgbClr val="D5DED9"/>
            </a:solidFill>
            <a:prstDash val="solid"/>
          </a:ln>
        </p:spPr>
      </p:sp>
      <p:sp>
        <p:nvSpPr>
          <p:cNvPr id="23" name="Shape 21"/>
          <p:cNvSpPr/>
          <p:nvPr/>
        </p:nvSpPr>
        <p:spPr>
          <a:xfrm>
            <a:off x="585216" y="2377440"/>
            <a:ext cx="128016" cy="128016"/>
          </a:xfrm>
          <a:prstGeom prst="ellipse">
            <a:avLst/>
          </a:prstGeom>
          <a:solidFill>
            <a:srgbClr val="B83B2E"/>
          </a:solidFill>
          <a:ln/>
        </p:spPr>
      </p:sp>
      <p:sp>
        <p:nvSpPr>
          <p:cNvPr id="24" name="Text 22"/>
          <p:cNvSpPr txBox="1"/>
          <p:nvPr/>
        </p:nvSpPr>
        <p:spPr>
          <a:xfrm>
            <a:off x="777240" y="2249424"/>
            <a:ext cx="2240280" cy="384048"/>
          </a:xfrm>
          <a:prstGeom prst="rect">
            <a:avLst/>
          </a:prstGeom>
          <a:noFill/>
          <a:ln/>
        </p:spPr>
        <p:txBody>
          <a:bodyPr wrap="square" lIns="0" tIns="0" rIns="0" bIns="0" rtlCol="0" anchor="ctr"/>
          <a:lstStyle/>
          <a:p>
            <a:pPr marL="0" indent="0" algn="l">
              <a:lnSpc>
                <a:spcPct val="100000"/>
              </a:lnSpc>
              <a:buNone/>
            </a:pPr>
            <a:r>
              <a:rPr lang="en-US" sz="1000" b="1" dirty="0">
                <a:solidFill>
                  <a:srgbClr val="231F20"/>
                </a:solidFill>
                <a:latin typeface="Calibri" pitchFamily="34" charset="0"/>
                <a:ea typeface="Calibri" pitchFamily="34" charset="-122"/>
                <a:cs typeface="Calibri" pitchFamily="34" charset="-120"/>
              </a:rPr>
              <a:t>The version shown is 3.9 or lower</a:t>
            </a:r>
            <a:endParaRPr lang="en-US" sz="1000" dirty="0"/>
          </a:p>
        </p:txBody>
      </p:sp>
      <p:sp>
        <p:nvSpPr>
          <p:cNvPr id="25" name="Text 23"/>
          <p:cNvSpPr txBox="1"/>
          <p:nvPr/>
        </p:nvSpPr>
        <p:spPr>
          <a:xfrm>
            <a:off x="3154680" y="2249424"/>
            <a:ext cx="2606040" cy="384048"/>
          </a:xfrm>
          <a:prstGeom prst="rect">
            <a:avLst/>
          </a:prstGeom>
          <a:noFill/>
          <a:ln/>
        </p:spPr>
        <p:txBody>
          <a:bodyPr wrap="square" lIns="0" tIns="0" rIns="0" bIns="0" rtlCol="0" anchor="ctr"/>
          <a:lstStyle/>
          <a:p>
            <a:pPr marL="0" indent="0" algn="l">
              <a:lnSpc>
                <a:spcPct val="100000"/>
              </a:lnSpc>
              <a:buNone/>
            </a:pPr>
            <a:r>
              <a:rPr lang="en-US" sz="1000" dirty="0">
                <a:solidFill>
                  <a:srgbClr val="5E6964"/>
                </a:solidFill>
                <a:latin typeface="Calibri" pitchFamily="34" charset="0"/>
                <a:ea typeface="Calibri" pitchFamily="34" charset="-122"/>
                <a:cs typeface="Calibri" pitchFamily="34" charset="-120"/>
              </a:rPr>
              <a:t>An older Python answers first</a:t>
            </a:r>
            <a:endParaRPr lang="en-US" sz="1000" dirty="0"/>
          </a:p>
        </p:txBody>
      </p:sp>
      <p:sp>
        <p:nvSpPr>
          <p:cNvPr id="26" name="Text 24"/>
          <p:cNvSpPr txBox="1"/>
          <p:nvPr/>
        </p:nvSpPr>
        <p:spPr>
          <a:xfrm>
            <a:off x="5897880" y="2249424"/>
            <a:ext cx="2697480" cy="384048"/>
          </a:xfrm>
          <a:prstGeom prst="rect">
            <a:avLst/>
          </a:prstGeom>
          <a:noFill/>
          <a:ln/>
        </p:spPr>
        <p:txBody>
          <a:bodyPr wrap="square" lIns="0" tIns="0" rIns="0" bIns="0" rtlCol="0" anchor="ctr"/>
          <a:lstStyle/>
          <a:p>
            <a:pPr marL="0" indent="0" algn="l">
              <a:lnSpc>
                <a:spcPct val="100000"/>
              </a:lnSpc>
              <a:buNone/>
            </a:pPr>
            <a:r>
              <a:rPr lang="en-US" sz="1000" dirty="0">
                <a:solidFill>
                  <a:srgbClr val="231F20"/>
                </a:solidFill>
                <a:latin typeface="Calibri" pitchFamily="34" charset="0"/>
                <a:ea typeface="Calibri" pitchFamily="34" charset="-122"/>
                <a:cs typeface="Calibri" pitchFamily="34" charset="-120"/>
              </a:rPr>
              <a:t>Install a recent version; on Windows, </a:t>
            </a:r>
            <a:r>
              <a:rPr lang="en-US" sz="1000" b="1" dirty="0">
                <a:solidFill>
                  <a:srgbClr val="00704A"/>
                </a:solidFill>
                <a:latin typeface="Courier New" pitchFamily="34" charset="0"/>
                <a:ea typeface="Courier New" pitchFamily="34" charset="-122"/>
                <a:cs typeface="Courier New" pitchFamily="34" charset="-120"/>
              </a:rPr>
              <a:t>py -0p</a:t>
            </a:r>
            <a:r>
              <a:rPr lang="en-US" sz="1000" dirty="0">
                <a:solidFill>
                  <a:srgbClr val="231F20"/>
                </a:solidFill>
                <a:latin typeface="Calibri" pitchFamily="34" charset="0"/>
                <a:ea typeface="Calibri" pitchFamily="34" charset="-122"/>
                <a:cs typeface="Calibri" pitchFamily="34" charset="-120"/>
              </a:rPr>
              <a:t> lists them</a:t>
            </a:r>
            <a:endParaRPr lang="en-US" sz="1000" dirty="0"/>
          </a:p>
        </p:txBody>
      </p:sp>
      <p:sp>
        <p:nvSpPr>
          <p:cNvPr id="27" name="Shape 25"/>
          <p:cNvSpPr/>
          <p:nvPr/>
        </p:nvSpPr>
        <p:spPr>
          <a:xfrm>
            <a:off x="457200" y="2679192"/>
            <a:ext cx="8229600" cy="384048"/>
          </a:xfrm>
          <a:prstGeom prst="roundRect">
            <a:avLst>
              <a:gd name="adj" fmla="val 19048"/>
            </a:avLst>
          </a:prstGeom>
          <a:solidFill>
            <a:srgbClr val="FFFFFF"/>
          </a:solidFill>
          <a:ln w="9525">
            <a:solidFill>
              <a:srgbClr val="D5DED9"/>
            </a:solidFill>
            <a:prstDash val="solid"/>
          </a:ln>
        </p:spPr>
      </p:sp>
      <p:sp>
        <p:nvSpPr>
          <p:cNvPr id="28" name="Shape 26"/>
          <p:cNvSpPr/>
          <p:nvPr/>
        </p:nvSpPr>
        <p:spPr>
          <a:xfrm>
            <a:off x="585216" y="2807208"/>
            <a:ext cx="128016" cy="128016"/>
          </a:xfrm>
          <a:prstGeom prst="ellipse">
            <a:avLst/>
          </a:prstGeom>
          <a:solidFill>
            <a:srgbClr val="B83B2E"/>
          </a:solidFill>
          <a:ln/>
        </p:spPr>
      </p:sp>
      <p:sp>
        <p:nvSpPr>
          <p:cNvPr id="29" name="Text 27"/>
          <p:cNvSpPr txBox="1"/>
          <p:nvPr/>
        </p:nvSpPr>
        <p:spPr>
          <a:xfrm>
            <a:off x="777240" y="2679192"/>
            <a:ext cx="2240280" cy="384048"/>
          </a:xfrm>
          <a:prstGeom prst="rect">
            <a:avLst/>
          </a:prstGeom>
          <a:noFill/>
          <a:ln/>
        </p:spPr>
        <p:txBody>
          <a:bodyPr wrap="square" lIns="0" tIns="0" rIns="0" bIns="0" rtlCol="0" anchor="ctr"/>
          <a:lstStyle/>
          <a:p>
            <a:pPr marL="0" indent="0" algn="l">
              <a:lnSpc>
                <a:spcPct val="100000"/>
              </a:lnSpc>
              <a:buNone/>
            </a:pPr>
            <a:r>
              <a:rPr lang="en-US" sz="1000" b="1" dirty="0">
                <a:solidFill>
                  <a:srgbClr val="231F20"/>
                </a:solidFill>
                <a:latin typeface="Calibri" pitchFamily="34" charset="0"/>
                <a:ea typeface="Calibri" pitchFamily="34" charset="-122"/>
                <a:cs typeface="Calibri" pitchFamily="34" charset="-120"/>
              </a:rPr>
              <a:t>"pip is not recognized"</a:t>
            </a:r>
            <a:endParaRPr lang="en-US" sz="1000" dirty="0"/>
          </a:p>
        </p:txBody>
      </p:sp>
      <p:sp>
        <p:nvSpPr>
          <p:cNvPr id="30" name="Text 28"/>
          <p:cNvSpPr txBox="1"/>
          <p:nvPr/>
        </p:nvSpPr>
        <p:spPr>
          <a:xfrm>
            <a:off x="3154680" y="2679192"/>
            <a:ext cx="2606040" cy="384048"/>
          </a:xfrm>
          <a:prstGeom prst="rect">
            <a:avLst/>
          </a:prstGeom>
          <a:noFill/>
          <a:ln/>
        </p:spPr>
        <p:txBody>
          <a:bodyPr wrap="square" lIns="0" tIns="0" rIns="0" bIns="0" rtlCol="0" anchor="ctr"/>
          <a:lstStyle/>
          <a:p>
            <a:pPr marL="0" indent="0" algn="l">
              <a:lnSpc>
                <a:spcPct val="100000"/>
              </a:lnSpc>
              <a:buNone/>
            </a:pPr>
            <a:r>
              <a:rPr lang="en-US" sz="1000" dirty="0">
                <a:solidFill>
                  <a:srgbClr val="5E6964"/>
                </a:solidFill>
                <a:latin typeface="Calibri" pitchFamily="34" charset="0"/>
                <a:ea typeface="Calibri" pitchFamily="34" charset="-122"/>
                <a:cs typeface="Calibri" pitchFamily="34" charset="-120"/>
              </a:rPr>
              <a:t>pip exists but isn't registered with the system</a:t>
            </a:r>
            <a:endParaRPr lang="en-US" sz="1000" dirty="0"/>
          </a:p>
        </p:txBody>
      </p:sp>
      <p:sp>
        <p:nvSpPr>
          <p:cNvPr id="31" name="Text 29"/>
          <p:cNvSpPr txBox="1"/>
          <p:nvPr/>
        </p:nvSpPr>
        <p:spPr>
          <a:xfrm>
            <a:off x="5897880" y="2679192"/>
            <a:ext cx="2697480" cy="384048"/>
          </a:xfrm>
          <a:prstGeom prst="rect">
            <a:avLst/>
          </a:prstGeom>
          <a:noFill/>
          <a:ln/>
        </p:spPr>
        <p:txBody>
          <a:bodyPr wrap="square" lIns="0" tIns="0" rIns="0" bIns="0" rtlCol="0" anchor="ctr"/>
          <a:lstStyle/>
          <a:p>
            <a:pPr marL="0" indent="0" algn="l">
              <a:lnSpc>
                <a:spcPct val="100000"/>
              </a:lnSpc>
              <a:buNone/>
            </a:pPr>
            <a:r>
              <a:rPr lang="en-US" sz="1000" dirty="0">
                <a:solidFill>
                  <a:srgbClr val="231F20"/>
                </a:solidFill>
                <a:latin typeface="Calibri" pitchFamily="34" charset="0"/>
                <a:ea typeface="Calibri" pitchFamily="34" charset="-122"/>
                <a:cs typeface="Calibri" pitchFamily="34" charset="-120"/>
              </a:rPr>
              <a:t>Type </a:t>
            </a:r>
            <a:r>
              <a:rPr lang="en-US" sz="1000" b="1" dirty="0">
                <a:solidFill>
                  <a:srgbClr val="00704A"/>
                </a:solidFill>
                <a:latin typeface="Courier New" pitchFamily="34" charset="0"/>
                <a:ea typeface="Courier New" pitchFamily="34" charset="-122"/>
                <a:cs typeface="Courier New" pitchFamily="34" charset="-120"/>
              </a:rPr>
              <a:t>python -m pip …</a:t>
            </a:r>
            <a:r>
              <a:rPr lang="en-US" sz="1000" dirty="0">
                <a:solidFill>
                  <a:srgbClr val="231F20"/>
                </a:solidFill>
                <a:latin typeface="Calibri" pitchFamily="34" charset="0"/>
                <a:ea typeface="Calibri" pitchFamily="34" charset="-122"/>
                <a:cs typeface="Calibri" pitchFamily="34" charset="-120"/>
              </a:rPr>
              <a:t> instead of </a:t>
            </a:r>
            <a:r>
              <a:rPr lang="en-US" sz="1000" b="1" dirty="0">
                <a:solidFill>
                  <a:srgbClr val="00704A"/>
                </a:solidFill>
                <a:latin typeface="Courier New" pitchFamily="34" charset="0"/>
                <a:ea typeface="Courier New" pitchFamily="34" charset="-122"/>
                <a:cs typeface="Courier New" pitchFamily="34" charset="-120"/>
              </a:rPr>
              <a:t>pip …</a:t>
            </a:r>
            <a:endParaRPr lang="en-US" sz="1000" dirty="0"/>
          </a:p>
        </p:txBody>
      </p:sp>
      <p:sp>
        <p:nvSpPr>
          <p:cNvPr id="32" name="Shape 30"/>
          <p:cNvSpPr/>
          <p:nvPr/>
        </p:nvSpPr>
        <p:spPr>
          <a:xfrm>
            <a:off x="457200" y="3108960"/>
            <a:ext cx="8229600" cy="384048"/>
          </a:xfrm>
          <a:prstGeom prst="roundRect">
            <a:avLst>
              <a:gd name="adj" fmla="val 19048"/>
            </a:avLst>
          </a:prstGeom>
          <a:solidFill>
            <a:srgbClr val="F4F7F5"/>
          </a:solidFill>
          <a:ln w="9525">
            <a:solidFill>
              <a:srgbClr val="D5DED9"/>
            </a:solidFill>
            <a:prstDash val="solid"/>
          </a:ln>
        </p:spPr>
      </p:sp>
      <p:sp>
        <p:nvSpPr>
          <p:cNvPr id="33" name="Shape 31"/>
          <p:cNvSpPr/>
          <p:nvPr/>
        </p:nvSpPr>
        <p:spPr>
          <a:xfrm>
            <a:off x="585216" y="3236976"/>
            <a:ext cx="128016" cy="128016"/>
          </a:xfrm>
          <a:prstGeom prst="ellipse">
            <a:avLst/>
          </a:prstGeom>
          <a:solidFill>
            <a:srgbClr val="B83B2E"/>
          </a:solidFill>
          <a:ln/>
        </p:spPr>
      </p:sp>
      <p:sp>
        <p:nvSpPr>
          <p:cNvPr id="34" name="Text 32"/>
          <p:cNvSpPr txBox="1"/>
          <p:nvPr/>
        </p:nvSpPr>
        <p:spPr>
          <a:xfrm>
            <a:off x="777240" y="3108960"/>
            <a:ext cx="2240280" cy="384048"/>
          </a:xfrm>
          <a:prstGeom prst="rect">
            <a:avLst/>
          </a:prstGeom>
          <a:noFill/>
          <a:ln/>
        </p:spPr>
        <p:txBody>
          <a:bodyPr wrap="square" lIns="0" tIns="0" rIns="0" bIns="0" rtlCol="0" anchor="ctr"/>
          <a:lstStyle/>
          <a:p>
            <a:pPr marL="0" indent="0" algn="l">
              <a:lnSpc>
                <a:spcPct val="100000"/>
              </a:lnSpc>
              <a:buNone/>
            </a:pPr>
            <a:r>
              <a:rPr lang="en-US" sz="1000" b="1" dirty="0">
                <a:solidFill>
                  <a:srgbClr val="231F20"/>
                </a:solidFill>
                <a:latin typeface="Calibri" pitchFamily="34" charset="0"/>
                <a:ea typeface="Calibri" pitchFamily="34" charset="-122"/>
                <a:cs typeface="Calibri" pitchFamily="34" charset="-120"/>
              </a:rPr>
              <a:t>Nothing changes after installing</a:t>
            </a:r>
            <a:endParaRPr lang="en-US" sz="1000" dirty="0"/>
          </a:p>
        </p:txBody>
      </p:sp>
      <p:sp>
        <p:nvSpPr>
          <p:cNvPr id="35" name="Text 33"/>
          <p:cNvSpPr txBox="1"/>
          <p:nvPr/>
        </p:nvSpPr>
        <p:spPr>
          <a:xfrm>
            <a:off x="3154680" y="3108960"/>
            <a:ext cx="2606040" cy="384048"/>
          </a:xfrm>
          <a:prstGeom prst="rect">
            <a:avLst/>
          </a:prstGeom>
          <a:noFill/>
          <a:ln/>
        </p:spPr>
        <p:txBody>
          <a:bodyPr wrap="square" lIns="0" tIns="0" rIns="0" bIns="0" rtlCol="0" anchor="ctr"/>
          <a:lstStyle/>
          <a:p>
            <a:pPr marL="0" indent="0" algn="l">
              <a:lnSpc>
                <a:spcPct val="100000"/>
              </a:lnSpc>
              <a:buNone/>
            </a:pPr>
            <a:r>
              <a:rPr lang="en-US" sz="1000" dirty="0">
                <a:solidFill>
                  <a:srgbClr val="5E6964"/>
                </a:solidFill>
                <a:latin typeface="Calibri" pitchFamily="34" charset="0"/>
                <a:ea typeface="Calibri" pitchFamily="34" charset="-122"/>
                <a:cs typeface="Calibri" pitchFamily="34" charset="-120"/>
              </a:rPr>
              <a:t>The open terminal doesn't know about newly installed software</a:t>
            </a:r>
            <a:endParaRPr lang="en-US" sz="1000" dirty="0"/>
          </a:p>
        </p:txBody>
      </p:sp>
      <p:sp>
        <p:nvSpPr>
          <p:cNvPr id="36" name="Text 34"/>
          <p:cNvSpPr txBox="1"/>
          <p:nvPr/>
        </p:nvSpPr>
        <p:spPr>
          <a:xfrm>
            <a:off x="5897880" y="3108960"/>
            <a:ext cx="2697480" cy="384048"/>
          </a:xfrm>
          <a:prstGeom prst="rect">
            <a:avLst/>
          </a:prstGeom>
          <a:noFill/>
          <a:ln/>
        </p:spPr>
        <p:txBody>
          <a:bodyPr wrap="square" lIns="0" tIns="0" rIns="0" bIns="0" rtlCol="0" anchor="ctr"/>
          <a:lstStyle/>
          <a:p>
            <a:pPr marL="0" indent="0" algn="l">
              <a:lnSpc>
                <a:spcPct val="100000"/>
              </a:lnSpc>
              <a:buNone/>
            </a:pPr>
            <a:r>
              <a:rPr lang="en-US" sz="1000" dirty="0">
                <a:solidFill>
                  <a:srgbClr val="231F20"/>
                </a:solidFill>
                <a:latin typeface="Calibri" pitchFamily="34" charset="0"/>
                <a:ea typeface="Calibri" pitchFamily="34" charset="-122"/>
                <a:cs typeface="Calibri" pitchFamily="34" charset="-120"/>
              </a:rPr>
              <a:t>Close it and open a fresh one</a:t>
            </a:r>
            <a:endParaRPr lang="en-US" sz="1000" dirty="0"/>
          </a:p>
        </p:txBody>
      </p:sp>
      <p:sp>
        <p:nvSpPr>
          <p:cNvPr id="37" name="Shape 35"/>
          <p:cNvSpPr/>
          <p:nvPr/>
        </p:nvSpPr>
        <p:spPr>
          <a:xfrm>
            <a:off x="457200" y="3639312"/>
            <a:ext cx="8229600" cy="731520"/>
          </a:xfrm>
          <a:prstGeom prst="roundRect">
            <a:avLst>
              <a:gd name="adj" fmla="val 10000"/>
            </a:avLst>
          </a:prstGeom>
          <a:solidFill>
            <a:srgbClr val="E8F5EF"/>
          </a:solidFill>
          <a:ln w="15875">
            <a:solidFill>
              <a:srgbClr val="00A86A"/>
            </a:solidFill>
            <a:prstDash val="solid"/>
          </a:ln>
        </p:spPr>
      </p:sp>
      <p:sp>
        <p:nvSpPr>
          <p:cNvPr id="38" name="Shape 36"/>
          <p:cNvSpPr/>
          <p:nvPr/>
        </p:nvSpPr>
        <p:spPr>
          <a:xfrm>
            <a:off x="640080" y="3767328"/>
            <a:ext cx="475488" cy="475488"/>
          </a:xfrm>
          <a:prstGeom prst="ellipse">
            <a:avLst/>
          </a:prstGeom>
          <a:solidFill>
            <a:srgbClr val="00A86A">
              <a:alpha val="22000"/>
            </a:srgbClr>
          </a:solidFill>
          <a:ln/>
        </p:spPr>
      </p:sp>
      <p:pic>
        <p:nvPicPr>
          <p:cNvPr id="39" name="Image 0" descr="preencoded.png"/>
          <p:cNvPicPr>
            <a:picLocks noChangeAspect="1"/>
          </p:cNvPicPr>
          <p:nvPr/>
        </p:nvPicPr>
        <p:blipFill>
          <a:blip r:embed="rId3"/>
          <a:stretch>
            <a:fillRect/>
          </a:stretch>
        </p:blipFill>
        <p:spPr>
          <a:xfrm>
            <a:off x="758952" y="3886200"/>
            <a:ext cx="237744" cy="237744"/>
          </a:xfrm>
          <a:prstGeom prst="rect">
            <a:avLst/>
          </a:prstGeom>
        </p:spPr>
      </p:pic>
      <p:sp>
        <p:nvSpPr>
          <p:cNvPr id="40" name="Text 37"/>
          <p:cNvSpPr txBox="1"/>
          <p:nvPr/>
        </p:nvSpPr>
        <p:spPr>
          <a:xfrm>
            <a:off x="1280160" y="3639312"/>
            <a:ext cx="7269480" cy="731520"/>
          </a:xfrm>
          <a:prstGeom prst="rect">
            <a:avLst/>
          </a:prstGeom>
          <a:noFill/>
          <a:ln/>
        </p:spPr>
        <p:txBody>
          <a:bodyPr wrap="square" lIns="0" tIns="0" rIns="0" bIns="0" rtlCol="0" anchor="ctr"/>
          <a:lstStyle/>
          <a:p>
            <a:pPr marL="0" indent="0" algn="l">
              <a:lnSpc>
                <a:spcPct val="100000"/>
              </a:lnSpc>
              <a:buNone/>
            </a:pPr>
            <a:r>
              <a:rPr lang="en-US" sz="1150" dirty="0">
                <a:solidFill>
                  <a:srgbClr val="231F20"/>
                </a:solidFill>
                <a:latin typeface="Calibri" pitchFamily="34" charset="0"/>
                <a:ea typeface="Calibri" pitchFamily="34" charset="-122"/>
                <a:cs typeface="Calibri" pitchFamily="34" charset="-120"/>
              </a:rPr>
              <a:t>Four of these five problems share one root: </a:t>
            </a:r>
            <a:r>
              <a:rPr lang="en-US" sz="1150" b="1" dirty="0">
                <a:solidFill>
                  <a:srgbClr val="231F20"/>
                </a:solidFill>
                <a:latin typeface="Calibri" pitchFamily="34" charset="0"/>
                <a:ea typeface="Calibri" pitchFamily="34" charset="-122"/>
                <a:cs typeface="Calibri" pitchFamily="34" charset="-120"/>
              </a:rPr>
              <a:t>the system doesn't know where to find Python</a:t>
            </a:r>
            <a:r>
              <a:rPr lang="en-US" sz="1150" dirty="0">
                <a:solidFill>
                  <a:srgbClr val="231F20"/>
                </a:solidFill>
                <a:latin typeface="Calibri" pitchFamily="34" charset="0"/>
                <a:ea typeface="Calibri" pitchFamily="34" charset="-122"/>
                <a:cs typeface="Calibri" pitchFamily="34" charset="-120"/>
              </a:rPr>
              <a:t>. None comes from a failed install — which is why reinstalling doesn't fix them.</a:t>
            </a:r>
            <a:endParaRPr lang="en-US" sz="1150" dirty="0"/>
          </a:p>
        </p:txBody>
      </p:sp>
      <p:sp>
        <p:nvSpPr>
          <p:cNvPr id="41" name="Text 38"/>
          <p:cNvSpPr txBox="1"/>
          <p:nvPr/>
        </p:nvSpPr>
        <p:spPr>
          <a:xfrm>
            <a:off x="457200" y="4480560"/>
            <a:ext cx="8229600" cy="219456"/>
          </a:xfrm>
          <a:prstGeom prst="rect">
            <a:avLst/>
          </a:prstGeom>
          <a:noFill/>
          <a:ln/>
        </p:spPr>
        <p:txBody>
          <a:bodyPr wrap="square" lIns="0" tIns="0" rIns="0" bIns="0" rtlCol="0" anchor="t"/>
          <a:lstStyle/>
          <a:p>
            <a:pPr marL="0" indent="0" algn="l">
              <a:lnSpc>
                <a:spcPct val="100000"/>
              </a:lnSpc>
              <a:buNone/>
            </a:pPr>
            <a:r>
              <a:rPr lang="en-US" sz="900" i="1" dirty="0">
                <a:solidFill>
                  <a:srgbClr val="5E6964"/>
                </a:solidFill>
                <a:latin typeface="Calibri" pitchFamily="34" charset="0"/>
                <a:ea typeface="Calibri" pitchFamily="34" charset="-122"/>
                <a:cs typeface="Calibri" pitchFamily="34" charset="-120"/>
              </a:rPr>
              <a:t>All were met on real machines; none is theoretical.</a:t>
            </a:r>
            <a:endParaRPr lang="en-US" sz="900" dirty="0"/>
          </a:p>
        </p:txBody>
      </p:sp>
      <p:sp>
        <p:nvSpPr>
          <p:cNvPr id="42"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57200"/>
            <a:ext cx="5486400" cy="237744"/>
          </a:xfrm>
          <a:prstGeom prst="rect">
            <a:avLst/>
          </a:prstGeom>
          <a:noFill/>
          <a:ln/>
        </p:spPr>
        <p:txBody>
          <a:bodyPr wrap="square" lIns="0" tIns="0" rIns="0" bIns="0" rtlCol="0" anchor="t"/>
          <a:lstStyle/>
          <a:p>
            <a:pPr marL="0" indent="0" algn="l">
              <a:lnSpc>
                <a:spcPct val="100000"/>
              </a:lnSpc>
              <a:buNone/>
            </a:pPr>
            <a:r>
              <a:rPr lang="en-US" sz="1100" b="1" kern="0" spc="300" dirty="0">
                <a:solidFill>
                  <a:srgbClr val="F5C242"/>
                </a:solidFill>
                <a:latin typeface="Calibri" pitchFamily="34" charset="0"/>
                <a:ea typeface="Calibri" pitchFamily="34" charset="-122"/>
                <a:cs typeface="Calibri" pitchFamily="34" charset="-120"/>
              </a:rPr>
              <a:t>YOU'RE THERE</a:t>
            </a:r>
            <a:endParaRPr lang="en-US" sz="1100" dirty="0"/>
          </a:p>
        </p:txBody>
      </p:sp>
      <p:sp>
        <p:nvSpPr>
          <p:cNvPr id="3" name="Text 1"/>
          <p:cNvSpPr txBox="1"/>
          <p:nvPr/>
        </p:nvSpPr>
        <p:spPr>
          <a:xfrm>
            <a:off x="548640" y="731520"/>
            <a:ext cx="8046720" cy="594360"/>
          </a:xfrm>
          <a:prstGeom prst="rect">
            <a:avLst/>
          </a:prstGeom>
          <a:noFill/>
          <a:ln/>
        </p:spPr>
        <p:txBody>
          <a:bodyPr wrap="square" lIns="0" tIns="0" rIns="0" bIns="0" rtlCol="0" anchor="t"/>
          <a:lstStyle/>
          <a:p>
            <a:pPr marL="0" indent="0" algn="l">
              <a:lnSpc>
                <a:spcPct val="100000"/>
              </a:lnSpc>
              <a:buNone/>
            </a:pPr>
            <a:r>
              <a:rPr lang="en-US" sz="3400" b="1" dirty="0">
                <a:solidFill>
                  <a:srgbClr val="FFFFFF"/>
                </a:solidFill>
                <a:latin typeface="Calibri" pitchFamily="34" charset="0"/>
                <a:ea typeface="Calibri" pitchFamily="34" charset="-122"/>
                <a:cs typeface="Calibri" pitchFamily="34" charset="-120"/>
              </a:rPr>
              <a:t>What you have, and what comes next</a:t>
            </a:r>
            <a:endParaRPr lang="en-US" sz="3400" dirty="0"/>
          </a:p>
        </p:txBody>
      </p:sp>
      <p:sp>
        <p:nvSpPr>
          <p:cNvPr id="4" name="Text 2"/>
          <p:cNvSpPr txBox="1"/>
          <p:nvPr/>
        </p:nvSpPr>
        <p:spPr>
          <a:xfrm>
            <a:off x="548640" y="1645920"/>
            <a:ext cx="3657600" cy="219456"/>
          </a:xfrm>
          <a:prstGeom prst="rect">
            <a:avLst/>
          </a:prstGeom>
          <a:noFill/>
          <a:ln/>
        </p:spPr>
        <p:txBody>
          <a:bodyPr wrap="square" lIns="0" tIns="0" rIns="0" bIns="0" rtlCol="0" anchor="t"/>
          <a:lstStyle/>
          <a:p>
            <a:pPr marL="0" indent="0" algn="l">
              <a:lnSpc>
                <a:spcPct val="100000"/>
              </a:lnSpc>
              <a:buNone/>
            </a:pPr>
            <a:r>
              <a:rPr lang="en-US" sz="1050" b="1" kern="0" spc="200" dirty="0">
                <a:solidFill>
                  <a:srgbClr val="F5C242"/>
                </a:solidFill>
                <a:latin typeface="Calibri" pitchFamily="34" charset="0"/>
                <a:ea typeface="Calibri" pitchFamily="34" charset="-122"/>
                <a:cs typeface="Calibri" pitchFamily="34" charset="-120"/>
              </a:rPr>
              <a:t>AT THIS POINT</a:t>
            </a:r>
            <a:endParaRPr lang="en-US" sz="1050" dirty="0"/>
          </a:p>
        </p:txBody>
      </p:sp>
      <p:sp>
        <p:nvSpPr>
          <p:cNvPr id="5" name="Shape 3"/>
          <p:cNvSpPr/>
          <p:nvPr/>
        </p:nvSpPr>
        <p:spPr>
          <a:xfrm>
            <a:off x="548640" y="2011680"/>
            <a:ext cx="384048" cy="384048"/>
          </a:xfrm>
          <a:prstGeom prst="ellipse">
            <a:avLst/>
          </a:prstGeom>
          <a:solidFill>
            <a:srgbClr val="FFFFFF">
              <a:alpha val="15000"/>
            </a:srgbClr>
          </a:solidFill>
          <a:ln/>
        </p:spPr>
      </p:sp>
      <p:pic>
        <p:nvPicPr>
          <p:cNvPr id="6" name="Image 0" descr="preencoded.png"/>
          <p:cNvPicPr>
            <a:picLocks noChangeAspect="1"/>
          </p:cNvPicPr>
          <p:nvPr/>
        </p:nvPicPr>
        <p:blipFill>
          <a:blip r:embed="rId3"/>
          <a:stretch>
            <a:fillRect/>
          </a:stretch>
        </p:blipFill>
        <p:spPr>
          <a:xfrm>
            <a:off x="644652" y="2107692"/>
            <a:ext cx="192024" cy="192024"/>
          </a:xfrm>
          <a:prstGeom prst="rect">
            <a:avLst/>
          </a:prstGeom>
        </p:spPr>
      </p:pic>
      <p:sp>
        <p:nvSpPr>
          <p:cNvPr id="7" name="Text 4"/>
          <p:cNvSpPr txBox="1"/>
          <p:nvPr/>
        </p:nvSpPr>
        <p:spPr>
          <a:xfrm>
            <a:off x="1097280" y="2011680"/>
            <a:ext cx="3383280" cy="384048"/>
          </a:xfrm>
          <a:prstGeom prst="rect">
            <a:avLst/>
          </a:prstGeom>
          <a:noFill/>
          <a:ln/>
        </p:spPr>
        <p:txBody>
          <a:bodyPr wrap="square" lIns="0" tIns="0" rIns="0" bIns="0" rtlCol="0" anchor="ctr"/>
          <a:lstStyle/>
          <a:p>
            <a:pPr marL="0" indent="0" algn="l">
              <a:lnSpc>
                <a:spcPct val="100000"/>
              </a:lnSpc>
              <a:buNone/>
            </a:pPr>
            <a:r>
              <a:rPr lang="en-US" sz="1300" dirty="0">
                <a:solidFill>
                  <a:srgbClr val="FFFFFF"/>
                </a:solidFill>
                <a:latin typeface="Calibri" pitchFamily="34" charset="0"/>
                <a:ea typeface="Calibri" pitchFamily="34" charset="-122"/>
                <a:cs typeface="Calibri" pitchFamily="34" charset="-120"/>
              </a:rPr>
              <a:t>Python answers </a:t>
            </a:r>
            <a:r>
              <a:rPr lang="en-US" sz="1300" b="1" dirty="0">
                <a:solidFill>
                  <a:srgbClr val="F5C242"/>
                </a:solidFill>
                <a:latin typeface="Courier New" pitchFamily="34" charset="0"/>
                <a:ea typeface="Courier New" pitchFamily="34" charset="-122"/>
                <a:cs typeface="Courier New" pitchFamily="34" charset="-120"/>
              </a:rPr>
              <a:t>python --version</a:t>
            </a:r>
            <a:endParaRPr lang="en-US" sz="1300" dirty="0"/>
          </a:p>
        </p:txBody>
      </p:sp>
      <p:sp>
        <p:nvSpPr>
          <p:cNvPr id="8" name="Shape 5"/>
          <p:cNvSpPr/>
          <p:nvPr/>
        </p:nvSpPr>
        <p:spPr>
          <a:xfrm>
            <a:off x="548640" y="2578608"/>
            <a:ext cx="384048" cy="384048"/>
          </a:xfrm>
          <a:prstGeom prst="ellipse">
            <a:avLst/>
          </a:prstGeom>
          <a:solidFill>
            <a:srgbClr val="FFFFFF">
              <a:alpha val="15000"/>
            </a:srgbClr>
          </a:solidFill>
          <a:ln/>
        </p:spPr>
      </p:sp>
      <p:pic>
        <p:nvPicPr>
          <p:cNvPr id="9" name="Image 1" descr="preencoded.png"/>
          <p:cNvPicPr>
            <a:picLocks noChangeAspect="1"/>
          </p:cNvPicPr>
          <p:nvPr/>
        </p:nvPicPr>
        <p:blipFill>
          <a:blip r:embed="rId3"/>
          <a:stretch>
            <a:fillRect/>
          </a:stretch>
        </p:blipFill>
        <p:spPr>
          <a:xfrm>
            <a:off x="644652" y="2674620"/>
            <a:ext cx="192024" cy="192024"/>
          </a:xfrm>
          <a:prstGeom prst="rect">
            <a:avLst/>
          </a:prstGeom>
        </p:spPr>
      </p:pic>
      <p:sp>
        <p:nvSpPr>
          <p:cNvPr id="10" name="Text 6"/>
          <p:cNvSpPr txBox="1"/>
          <p:nvPr/>
        </p:nvSpPr>
        <p:spPr>
          <a:xfrm>
            <a:off x="1097280" y="2578608"/>
            <a:ext cx="3383280" cy="384048"/>
          </a:xfrm>
          <a:prstGeom prst="rect">
            <a:avLst/>
          </a:prstGeom>
          <a:noFill/>
          <a:ln/>
        </p:spPr>
        <p:txBody>
          <a:bodyPr wrap="square" lIns="0" tIns="0" rIns="0" bIns="0" rtlCol="0" anchor="ctr"/>
          <a:lstStyle/>
          <a:p>
            <a:pPr marL="0" indent="0" algn="l">
              <a:lnSpc>
                <a:spcPct val="100000"/>
              </a:lnSpc>
              <a:buNone/>
            </a:pPr>
            <a:r>
              <a:rPr lang="en-US" sz="1300" dirty="0">
                <a:solidFill>
                  <a:srgbClr val="FFFFFF"/>
                </a:solidFill>
                <a:latin typeface="Calibri" pitchFamily="34" charset="0"/>
                <a:ea typeface="Calibri" pitchFamily="34" charset="-122"/>
                <a:cs typeface="Calibri" pitchFamily="34" charset="-120"/>
              </a:rPr>
              <a:t>JupyterLab opens in your browser</a:t>
            </a:r>
            <a:endParaRPr lang="en-US" sz="1300" dirty="0"/>
          </a:p>
        </p:txBody>
      </p:sp>
      <p:sp>
        <p:nvSpPr>
          <p:cNvPr id="11" name="Shape 7"/>
          <p:cNvSpPr/>
          <p:nvPr/>
        </p:nvSpPr>
        <p:spPr>
          <a:xfrm>
            <a:off x="548640" y="3145536"/>
            <a:ext cx="384048" cy="384048"/>
          </a:xfrm>
          <a:prstGeom prst="ellipse">
            <a:avLst/>
          </a:prstGeom>
          <a:solidFill>
            <a:srgbClr val="FFFFFF">
              <a:alpha val="15000"/>
            </a:srgbClr>
          </a:solidFill>
          <a:ln/>
        </p:spPr>
      </p:sp>
      <p:pic>
        <p:nvPicPr>
          <p:cNvPr id="12" name="Image 2" descr="preencoded.png"/>
          <p:cNvPicPr>
            <a:picLocks noChangeAspect="1"/>
          </p:cNvPicPr>
          <p:nvPr/>
        </p:nvPicPr>
        <p:blipFill>
          <a:blip r:embed="rId3"/>
          <a:stretch>
            <a:fillRect/>
          </a:stretch>
        </p:blipFill>
        <p:spPr>
          <a:xfrm>
            <a:off x="644652" y="3241548"/>
            <a:ext cx="192024" cy="192024"/>
          </a:xfrm>
          <a:prstGeom prst="rect">
            <a:avLst/>
          </a:prstGeom>
        </p:spPr>
      </p:pic>
      <p:sp>
        <p:nvSpPr>
          <p:cNvPr id="13" name="Text 8"/>
          <p:cNvSpPr txBox="1"/>
          <p:nvPr/>
        </p:nvSpPr>
        <p:spPr>
          <a:xfrm>
            <a:off x="1097280" y="3145536"/>
            <a:ext cx="3383280" cy="384048"/>
          </a:xfrm>
          <a:prstGeom prst="rect">
            <a:avLst/>
          </a:prstGeom>
          <a:noFill/>
          <a:ln/>
        </p:spPr>
        <p:txBody>
          <a:bodyPr wrap="square" lIns="0" tIns="0" rIns="0" bIns="0" rtlCol="0" anchor="ctr"/>
          <a:lstStyle/>
          <a:p>
            <a:pPr marL="0" indent="0" algn="l">
              <a:lnSpc>
                <a:spcPct val="100000"/>
              </a:lnSpc>
              <a:buNone/>
            </a:pPr>
            <a:r>
              <a:rPr lang="en-US" sz="1300" dirty="0">
                <a:solidFill>
                  <a:srgbClr val="FFFFFF"/>
                </a:solidFill>
                <a:latin typeface="Calibri" pitchFamily="34" charset="0"/>
                <a:ea typeface="Calibri" pitchFamily="34" charset="-122"/>
                <a:cs typeface="Calibri" pitchFamily="34" charset="-120"/>
              </a:rPr>
              <a:t>You know how to run a cell: </a:t>
            </a:r>
            <a:r>
              <a:rPr lang="en-US" sz="1300" b="1" dirty="0">
                <a:solidFill>
                  <a:srgbClr val="FFFFFF"/>
                </a:solidFill>
                <a:latin typeface="Calibri" pitchFamily="34" charset="0"/>
                <a:ea typeface="Calibri" pitchFamily="34" charset="-122"/>
                <a:cs typeface="Calibri" pitchFamily="34" charset="-120"/>
              </a:rPr>
              <a:t>Shift + Enter</a:t>
            </a:r>
            <a:endParaRPr lang="en-US" sz="1300" dirty="0"/>
          </a:p>
        </p:txBody>
      </p:sp>
      <p:sp>
        <p:nvSpPr>
          <p:cNvPr id="20" name="Text 15"/>
          <p:cNvSpPr txBox="1"/>
          <p:nvPr/>
        </p:nvSpPr>
        <p:spPr>
          <a:xfrm>
            <a:off x="548640" y="4572000"/>
            <a:ext cx="8046720" cy="219456"/>
          </a:xfrm>
          <a:prstGeom prst="rect">
            <a:avLst/>
          </a:prstGeom>
          <a:noFill/>
          <a:ln/>
        </p:spPr>
        <p:txBody>
          <a:bodyPr wrap="square" lIns="0" tIns="0" rIns="0" bIns="0" rtlCol="0" anchor="t"/>
          <a:lstStyle/>
          <a:p>
            <a:pPr marL="0" indent="0" algn="l">
              <a:lnSpc>
                <a:spcPct val="100000"/>
              </a:lnSpc>
              <a:buNone/>
            </a:pPr>
            <a:r>
              <a:rPr lang="en-US" sz="900" i="1" dirty="0">
                <a:solidFill>
                  <a:srgbClr val="E6F6EE"/>
                </a:solidFill>
                <a:latin typeface="Calibri" pitchFamily="34" charset="0"/>
                <a:ea typeface="Calibri" pitchFamily="34" charset="-122"/>
                <a:cs typeface="Calibri" pitchFamily="34" charset="-120"/>
              </a:rPr>
              <a:t>The collection notebooks run on your own machine · the analysis notebook runs anywhere</a:t>
            </a:r>
            <a:endParaRPr lang="en-US" sz="900" dirty="0"/>
          </a:p>
        </p:txBody>
      </p:sp>
    </p:spTree>
  </p:cSld>
  <p:clrMapOvr>
    <a:masterClrMapping/>
  </p:clrMapOvr>
  <p:transition spd="med">
    <p:fade/>
  </p:transition>
</p:sld>
</file>

<file path=ppt/theme/theme1.xml><?xml version="1.0" encoding="utf-8"?>
<a:theme xmlns:a="http://schemas.openxmlformats.org/drawingml/2006/main" name="Institutional Green">
  <a:themeElements>
    <a:clrScheme name="Institutional Green">
      <a:dk1>
        <a:srgbClr val="231F20"/>
      </a:dk1>
      <a:lt1>
        <a:srgbClr val="FFFFFF"/>
      </a:lt1>
      <a:dk2>
        <a:srgbClr val="00704A"/>
      </a:dk2>
      <a:lt2>
        <a:srgbClr val="F4F7F5"/>
      </a:lt2>
      <a:accent1>
        <a:srgbClr val="00A86A"/>
      </a:accent1>
      <a:accent2>
        <a:srgbClr val="00704A"/>
      </a:accent2>
      <a:accent3>
        <a:srgbClr val="0E7C86"/>
      </a:accent3>
      <a:accent4>
        <a:srgbClr val="D49A00"/>
      </a:accent4>
      <a:accent5>
        <a:srgbClr val="C4621D"/>
      </a:accent5>
      <a:accent6>
        <a:srgbClr val="B83B2E"/>
      </a:accent6>
      <a:hlink>
        <a:srgbClr val="00704A"/>
      </a:hlink>
      <a:folHlink>
        <a:srgbClr val="5E6964"/>
      </a:folHlink>
    </a:clrScheme>
    <a:fontScheme name="Institutional Gree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2533</Words>
  <Application>Microsoft Office PowerPoint</Application>
  <PresentationFormat>On-screen Show (16:9)</PresentationFormat>
  <Paragraphs>221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Courier New</vt:lpstr>
      <vt:lpstr>Institutional Green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Installing Python and JupyterLab</dc:title>
  <dc:subject>PptxGenJS Presentation</dc:subject>
  <dc:creator>HadjTaieb</dc:creator>
  <cp:lastModifiedBy>HAJ TAIEB mohamed ali</cp:lastModifiedBy>
  <cp:revision>3</cp:revision>
  <dcterms:created xsi:type="dcterms:W3CDTF">2026-10-18T17:34:04Z</dcterms:created>
  <dcterms:modified xsi:type="dcterms:W3CDTF">2026-10-18T17:57:16Z</dcterms:modified>
</cp:coreProperties>
</file>