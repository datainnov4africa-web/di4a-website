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3867135-17ea-58d6-d5d6-53c713538f94}">
          <p14:sldIdLst>
            <p14:sldId id="256"/>
            <p14:sldId id="257"/>
          </p14:sldIdLst>
        </p14:section>
        <p14:section name="The series" id="{5ad02f24-1f50-207e-79a2-7aabd9811cf5}">
          <p14:sldIdLst>
            <p14:sldId id="258"/>
            <p14:sldId id="259"/>
            <p14:sldId id="260"/>
          </p14:sldIdLst>
        </p14:section>
        <p14:section name="Collect" id="{1d3e8251-355a-be52-3fa5-8d3208301937}">
          <p14:sldIdLst>
            <p14:sldId id="261"/>
            <p14:sldId id="262"/>
            <p14:sldId id="263"/>
            <p14:sldId id="264"/>
            <p14:sldId id="265"/>
            <p14:sldId id="266"/>
          </p14:sldIdLst>
        </p14:section>
        <p14:section name="Explore and understand" id="{7c97ca3f-2b51-f24c-69ee-49384ef41005}">
          <p14:sldIdLst>
            <p14:sldId id="267"/>
            <p14:sldId id="268"/>
            <p14:sldId id="269"/>
            <p14:sldId id="270"/>
            <p14:sldId id="271"/>
            <p14:sldId id="272"/>
          </p14:sldIdLst>
        </p14:section>
        <p14:section name="Analyse" id="{c83e5ab8-4f76-ef0f-6e81-843a42ecfa80}">
          <p14:sldIdLst>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Lst>
        </p14:section>
        <p14:section name="Publish and check" id="{d687289c-430d-5a10-36c8-eebac26823ef}">
          <p14:sldIdLst>
            <p14:sldId id="295"/>
            <p14:sldId id="296"/>
            <p14:sldId id="297"/>
            <p14:sldId id="298"/>
          </p14:sldIdLst>
        </p14:section>
        <p14:section name="Key takeaways" id="{1d84fea7-7bd5-94bb-826c-78fa9edfe04c}">
          <p14:sldIdLst>
            <p14:sldId id="299"/>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Sum of lights (index), demonstration data</a:t>
            </a:r>
          </a:p>
        </c:rich>
      </c:tx>
      <c:layout/>
      <c:overlay val="0"/>
    </c:title>
    <c:autoTitleDeleted val="0"/>
    <c:plotArea>
      <c:layout/>
      <c:barChart>
        <c:barDir val="bar"/>
        <c:grouping val="clustered"/>
        <c:varyColors val="0"/>
        <c:ser>
          <c:idx val="0"/>
          <c:order val="0"/>
          <c:tx>
            <c:strRef>
              <c:f>Sheet1!$B$1</c:f>
              <c:strCache>
                <c:ptCount val="1"/>
                <c:pt idx="0">
                  <c:v>Sum of lights</c:v>
                </c:pt>
              </c:strCache>
            </c:strRef>
          </c:tx>
          <c:spPr>
            <a:solidFill>
              <a:srgbClr val="10A06A"/>
            </a:solidFill>
            <a:effectLst/>
          </c:spPr>
          <c:invertIfNegative val="0"/>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10A06A"/>
              </a:solidFill>
              <a:effectLst/>
            </c:spPr>
          </c:dPt>
          <c:dPt>
            <c:idx val="1"/>
            <c:invertIfNegative val="0"/>
            <c:bubble3D val="0"/>
            <c:spPr>
              <a:solidFill>
                <a:srgbClr val="33AF7C"/>
              </a:solidFill>
              <a:effectLst/>
            </c:spPr>
          </c:dPt>
          <c:dPt>
            <c:idx val="2"/>
            <c:invertIfNegative val="0"/>
            <c:bubble3D val="0"/>
            <c:spPr>
              <a:solidFill>
                <a:srgbClr val="57BD92"/>
              </a:solidFill>
              <a:effectLst/>
            </c:spPr>
          </c:dPt>
          <c:dPt>
            <c:idx val="3"/>
            <c:invertIfNegative val="0"/>
            <c:bubble3D val="0"/>
            <c:spPr>
              <a:solidFill>
                <a:srgbClr val="A9B5B0"/>
              </a:solidFill>
              <a:effectLst/>
            </c:spPr>
          </c:dPt>
          <c:dPt>
            <c:idx val="4"/>
            <c:invertIfNegative val="0"/>
            <c:bubble3D val="0"/>
            <c:spPr>
              <a:solidFill>
                <a:srgbClr val="00553A"/>
              </a:solidFill>
              <a:effectLst/>
            </c:spPr>
          </c:dPt>
          <c:cat>
            <c:multiLvlStrRef>
              <c:f>Sheet1!$A$2:$A$6</c:f>
              <c:multiLvlStrCache>
                <c:ptCount val="5"/>
                <c:lvl>
                  <c:pt idx="0">
                    <c:v>Fill set to NaN</c:v>
                  </c:pt>
                  <c:pt idx="1">
                    <c:v>+ quality filter</c:v>
                  </c:pt>
                  <c:pt idx="2">
                    <c:v>+ water mask</c:v>
                  </c:pt>
                  <c:pt idx="3">
                    <c:v>Mosaic (2 tiles)</c:v>
                  </c:pt>
                  <c:pt idx="4">
                    <c:v>Clipped on border</c:v>
                  </c:pt>
                </c:lvl>
              </c:multiLvlStrCache>
            </c:multiLvlStrRef>
          </c:cat>
          <c:val>
            <c:numRef>
              <c:f>Sheet1!$B$2:$B$6</c:f>
              <c:numCache>
                <c:formatCode>General</c:formatCode>
                <c:ptCount val="5"/>
                <c:pt idx="0">
                  <c:v>49130</c:v>
                </c:pt>
                <c:pt idx="1">
                  <c:v>46510</c:v>
                </c:pt>
                <c:pt idx="2">
                  <c:v>40369</c:v>
                </c:pt>
                <c:pt idx="3">
                  <c:v>76873</c:v>
                </c:pt>
                <c:pt idx="4">
                  <c:v>22737</c:v>
                </c:pt>
              </c:numCache>
            </c:numRef>
          </c:val>
        </c:ser>
        <c:dLbls>
          <c:numFmt formatCode="#,##0" sourceLinked="0"/>
          <c:txPr>
            <a:bodyPr/>
            <a:lstStyle/>
            <a:p>
              <a:pPr>
                <a:defRPr b="0" i="0" strike="noStrike" sz="10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scaling>
        <c:delete val="1"/>
        <c:axPos val="b"/>
        <c:majorGridlines>
          <c:spPr>
            <a:ln w="6350" cap="flat">
              <a:solidFill>
                <a:srgbClr val="E1E7E4"/>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E6964"/>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E6964"/>
                </a:solidFill>
                <a:latin typeface="+mn-lt"/>
              </a:defRPr>
            </a:pPr>
            <a:r>
              <a:rPr sz="1100" b="0" i="0" u="none" strike="noStrike">
                <a:solidFill>
                  <a:srgbClr val="5E6964"/>
                </a:solidFill>
                <a:latin typeface="+mn-lt"/>
              </a:rPr>
              <a:t>False 'convergence' under pure noise</a:t>
            </a:r>
          </a:p>
        </c:rich>
      </c:tx>
      <c:layout/>
      <c:overlay val="0"/>
    </c:title>
    <c:autoTitleDeleted val="0"/>
    <c:plotArea>
      <c:layout/>
      <c:barChart>
        <c:barDir val="col"/>
        <c:grouping val="clustered"/>
        <c:varyColors val="0"/>
        <c:ser>
          <c:idx val="0"/>
          <c:order val="0"/>
          <c:tx>
            <c:strRef>
              <c:f>Sheet1!$B$1</c:f>
              <c:strCache>
                <c:ptCount val="1"/>
                <c:pt idx="0">
                  <c:v>False positives</c:v>
                </c:pt>
              </c:strCache>
            </c:strRef>
          </c:tx>
          <c:spPr>
            <a:solidFill>
              <a:srgbClr val="A9B5B0"/>
            </a:solidFill>
            <a:effectLst/>
          </c:spPr>
          <c:invertIfNegative val="0"/>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dPt>
            <c:idx val="0"/>
            <c:invertIfNegative val="0"/>
            <c:bubble3D val="0"/>
            <c:spPr>
              <a:solidFill>
                <a:srgbClr val="A9B5B0"/>
              </a:solidFill>
              <a:effectLst/>
            </c:spPr>
          </c:dPt>
          <c:dPt>
            <c:idx val="1"/>
            <c:invertIfNegative val="0"/>
            <c:bubble3D val="0"/>
            <c:spPr>
              <a:solidFill>
                <a:srgbClr val="00A86A"/>
              </a:solidFill>
              <a:effectLst/>
            </c:spPr>
          </c:dPt>
          <c:cat>
            <c:multiLvlStrRef>
              <c:f>Sheet1!$A$2:$A$3</c:f>
              <c:multiLvlStrCache>
                <c:ptCount val="2"/>
                <c:lvl>
                  <c:pt idx="0">
                    <c:v>Before</c:v>
                  </c:pt>
                  <c:pt idx="1">
                    <c:v>After</c:v>
                  </c:pt>
                </c:lvl>
              </c:multiLvlStrCache>
            </c:multiLvlStrRef>
          </c:cat>
          <c:val>
            <c:numRef>
              <c:f>Sheet1!$B$2:$B$3</c:f>
              <c:numCache>
                <c:formatCode>General</c:formatCode>
                <c:ptCount val="2"/>
                <c:pt idx="0">
                  <c:v>13.7</c:v>
                </c:pt>
                <c:pt idx="1">
                  <c:v>0.7</c:v>
                </c:pt>
              </c:numCache>
            </c:numRef>
          </c:val>
        </c:ser>
        <c:dLbls>
          <c:numFmt formatCode="0.0&quot;%&quot;" sourceLinked="0"/>
          <c:txPr>
            <a:bodyPr/>
            <a:lstStyle/>
            <a:p>
              <a:pPr>
                <a:defRPr b="0" i="0" strike="noStrike" sz="1100" u="none">
                  <a:solidFill>
                    <a:srgbClr val="231F2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5E6964"/>
                </a:solidFill>
                <a:latin typeface="+mn-lt"/>
              </a:defRPr>
            </a:pPr>
            <a:endParaRPr lang="en-US"/>
          </a:p>
        </c:txPr>
        <c:crossAx val="2094734552"/>
        <c:crosses val="autoZero"/>
        <c:auto val="1"/>
        <c:lblAlgn val="ctr"/>
        <c:noMultiLvlLbl val="1"/>
      </c:catAx>
      <c:valAx>
        <c:axId val="2094734552"/>
        <c:scaling>
          <c:orientation val="minMax"/>
          <c:max val="1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walks through the three notebooks of the AfDB-DI4A night-time lights series: collecting NASA Black Marble data, understanding what is inside the files, and turning night-time radiance into economic indicators published on a dashboard. Everything is driven by one parameter, the country's ISO3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deck follows six sections, each with its own colour, used again in the progress dots at the top right of every slide. Sections 2 to 4 each correspond to one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intuition and the architecture of the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Producing, moving goods and consuming all need energy, and part of it escapes at night as light. Satellites measure it everywhere, every night, with the same instrument. That makes night lights homogeneous across countries, spatially detailed and timely, where national accounts are annual, late and rarely regional. The literature (Henderson, Storeygard and Weil 2012; Chen and Nordhaus 2011) shows lights add most where statistics are weakest.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series is a chain. Notebook 1 collects the NASA files for a country. Notebook 2 explains, layer by layer, how to read them correctly. Notebook 3 scales the method up with Google Earth Engine to produce national and regional indicators and a public dashboard. In each notebook you edit a single parameter cell, starting with the ISO3 country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collection. The goal is a reproducible acquisition chain driven by one ISO3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1 has nine steps. Steps 1 to 7 need no NASA account: searching the catalogue is public. Only step 8, the download, needs an Earthdata token, which is never written in the notebook. It runs on Colab, Kaggle and local Jupyter, and is idempotent: rerunning skips valid files and resumes interrupted downloads.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Marble is NASA's corrected night-time lights suite from the VIIRS Day/Night Band on Suomi-NPP: effects of the Moon, atmosphere, clouds and snow are removed. The four products share the same grid and file structure and differ only by time aggregation. We use Collection 2: NASA stopped producing Collection 1 after January 2025, and the two must never be mixed in a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globe is cut into 36 by 18 fixed tiles of 10 degrees. The tile indices come from integer division of longitude and latitude, applied to the four corners of the country's extent. Côte d'Ivoire needs two tiles, Sudan six. The notebook checks this formula against known cases before using it. File names are never built by hand because the production timestamp cannot be guessed: the catalogue returns the real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Comparing 15 January with 3 August mixes seasonality with development. So the notebook fixes the date and varies only the year: a window of nights around a fixed day for daily products, a fixed month for the monthly one, the full year for the annual one. One night is never enough: the lunar cycle lasts 29.5 days, so a fixed calendar date falls on a full Moon one year and a new Moon another. In West Africa, January also brings harmattan dust and bush fires.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NASA CMR catalogue returns every granule that intersects the extent and the time window, with its size. The notebook sends one narrow request per year, paginates, keeps one entry per tile and date with the highest version, and filters on the date in the file name. It then compares expected and found granules and draws a product-by-year coverage matrix. The download resumes partial files, follows redirects while sending the token only to NASA hosts, checks the size and opens each file as HDF5.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2: understanding the file. Every mistake shown here produces no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HDF5 file holds groups, which are like dividers, datasets, which are tables of numbers, and attributes, which are notes attached to them. The useful group is always under HDFEOS/GRIDS/&lt;grid&gt;/Data Fields, but the grid name changes between the daily and the composite products. The notebook searches for it instead of assuming it. Five families of layers coexist: radiance, uncertainty, quality, context and coordinates.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stored number is not always the radiance. Daily products store integers to save space, so radiance equals the stored value times the scale factor plus the offset. The fill value means 'no data here' and must become NaN before any calculation. In daily files it is 65535 with a scale of 0.1: forgetting it adds 6,553.5 per empty pixel, more than the centre of Lagos. In Collection 2 composites it is −999.9: forgetting it subtracts 999.9 per empty pixel. Either way the figure is wrong by orders of magnitude with no error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pixel carries a quality code whose meaning depends on the product. In monthly and annual composites, 0 is good quality with more than three nights, 1 is poor quality with three nights or fewer, and 2 is gap-filled from history. The notebook reads the legend in the file and, by default, keeps only the codes labelled good quality. Ocean and sea pixels are removed using codes also read from the file's legend, because the coding changes between collections. The daily cloud mask is a 16-bit field read bit by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storyline of notebook 2, here on its demonstration data for Côte d'Ivoire, which reproduce the structure of real Collection 2 files with simulated values. The naive sum, with the fill value counted as a measurement, is about minus 70.7 million: impossible for light, yet no error appears. Setting the fill value to NaN gives 49,130. The quality filter, the water mask, the mosaic of two tiles and the clip on the national border then move the figure to 22,737. The values are simulated: the lesson is the order of operations, not the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tile is an arbitrary 10-degree square; a country is not. The notebook pastes the tiles into a common grid without resampling, then keeps only pixels inside the border with a point-in-polygon test. Night radiance is extremely skewed: a handful of urban pixels carry most of the light, so maps use a logarithmic scale and the brightest pixel must always be checked. Pixels shrink with latitude, so an area-weighted sum is offered for comparisons between distant countries. Every export carries a metadata file with the processing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analysis. Six scenarios, each with its question, its data, its method and its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has fourteen sections. Sections 02 to 04 prepare the data: parameters, acquisition and cleaning on Earth Engine, then a visual exploration. Sections 05 to 10 are six independent scenarios, each answering one policy question with its own metrics. Section 11 turns the results into key messages with a confidence level, and sections 12 and 13 export and publish the dashboard. Every scenario reads the same two base tables, so results are consistent across scenarios.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night-light products are read in Earth Engine. The monthly VIIRS VNL V2 composite, corrected for stray light, is the backbone of the time series: its cf_cvg band counts cloud-free observations per pixel. The annual VNL composites, V2.1 until 2021 and V2.2 from 2022, already mask background noise and ephemeral lights: they give the annual levels and serve as background mask. Black Marble VNP46A2 is the only daily product, used to zoom on shocks. The harmonised DMSP–VIIRS series of Li and co-authors extends the analysis back to 1992, in DMSP-like digital numbers, to be read as a trend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 alone cannot tell a dense town from a factory. Population and built-up layers from the Global Human Settlement Layer of the European Commission's Joint Research Centre answer that. GHS-POP gives the number of inhabitants per 100 m cell every five years; the nearest epoch is used for each year. WorldPop is an alternative population source for 2000 to 2020. GHS-SMOD classifies each square kilometre by degree of urbanisation: codes 21 and above are counted as urban. GHS-BUILT-S gives the built-up surface and its non-residential part. ESA WorldCover is registered and checked, and a function computes land-cover shares per unit, but it is not used in the default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more sources complete the picture. Sentinel-5P measures tropospheric nitrogen dioxide, a combustion tracer, from July 2018: its annual mean per unit is compared with light and enters the industrial score. geoBoundaries provides national, regional and district boundaries; FAO GAUL is the fallback. The World Bank API provides official GDP in constant 2015 dollars, electricity access rates and population. OpenStreetMap industrial land-use polygons, queried through the Overpass API, are only used to validate candidate industrial zones, never to detect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summarises where each dataset is used. A full dot means the dataset is an input of the scenario's metrics; a hollow dot means it is used for a check, a context variable or a validation. Boundaries are used everywhere because every figure is a sum over an administrative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Earth Engine sums every clean pixel inside each unit, at the native 464 m resolution, and returns only tables. The monthly table has one row per unit and month; the annual table one row per unit and year with population and access variables. Each step is cached per country together with a signature of the parameters, so changing the period or a threshold forces a recomputation instead of silently reusing stale numbers. Dataset availability is checked first, and the end year is the last complete year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cleaning rules are applied on Earth Engine before any sum. A pixel needs at least two cloud-free observations in the month; a cloudy pixel takes its own annual radiance rather than the area's average; a unit-month is kept only if 80 percent of its pixels are observed. Negatives go to zero; values above 1000 nW are capped and spikes above five times the pixel's annual median are replaced by that median. Unlit background from the annual composite is set to zero, keeping newly lit pixels when that year is not yet published. Gas flares are detected as very bright, uninhabited, unbuilt pixels and removed with a 2 km halo.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base metrics recur in every scenario. The sum of lights is an index, not an energy: it is the sum of radiances over a unit. Light per capita separates an active region from a merely populated one. The lit area share measures the spatial extent of light. The flare share and the imputed share are quality indicators: if either is high, the results for that unit are less reliable. Section 3.4 also runs three consistency checks: GHSL population against the World Bank, the jump at the switch from VNL V2.1 to V2.2, and the junction between DMSP and VIIRS in the long 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1 describes the national and regional trajectory. Monthly sums of lights are put on a complete calendar, filling gaps of up to three months by log-linear interpolation. STL then splits the logarithm of the series into trend, seasonality and remainder; it is robust, so one extreme month does not distort the season. The seasonally adjusted series is trend plus remainder. Year-on-year change compares each month with the same month a year earlier. The annual trend is estimated with Theil–Sen on the annual composites and tested with Mann–Kendall. The harmonised long series puts the recent decade in the perspective of the last thirty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growth rate is the Theil–Sen slope of the logarithm: the median of the slopes between all pairs of years, converted to percent per year. It ignores one outlying year. Mann–Kendall gives the p-value, which sets the confidence level of the key message. Anomalies use a robust z-score of the STL remainder, based on the median and the median absolute deviation, and need both a z of 3.5 and a 5 percent deviation, so that tiny but regular series do not produce false alarms. Breaks are found by binary segmentation with linear segments of at least 12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2 compares regions and districts. For each unit, the annual sum of lights gives a robust growth rate and a Mann–Kendall p-value. Because hundreds of districts are tested at once, the p-values are adjusted with the Benjamini–Hochberg procedure, which controls the share of false discoveries. A unit is classed Growth or Decline only if its slope exceeds one percent a year and its adjusted p-value is below 0.10; otherwise it is Stagnation, which often means not enough information. Concentration and convergence are then measured, and NO2 is correlated with light as a complementary signal. The chart shows why the corrections matter: under pure noise, the old method found convergence in 13.7 percent of simulations.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Concentration is read with three numbers: the share of the brightest unit, the share of the brightest ten percent of units, and the Herfindahl–Hirschman index, the sum of squared shares, equal to one if all light is in a single unit. Beta-convergence regresses each unit's growth of light per capita on the log of its initial level, averaged over the first three years, with heteroskedasticity-robust errors; a negative beta with its whole interval below zero means catching up, and the half-life tells how many years it takes to close half the gap. Sigma-convergence follows the dispersion of log light per capita across units over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3 first checks that lights move with official GDP. Three regressions are estimated: annual VIIRS levels, annual VIIRS growth rates, and levels on the harmonised long series with a sensor dummy. When the annual series mixes VNL V2.1 and V2.2, a version dummy absorbs the processing change. With ten to thirty annual points, residuals are often autocorrelated, so Newey–West standard errors are used, and a second interval is computed by bootstrapping the years. Diagnostics test autocorrelation, heteroskedasticity, normality and functional form. The confidence level combines sample size, p-value, interval width and R squared.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link is measured, it is used where statistics are missing. The nowcast regresses GDP growth on light growth over the years where both exist, then chains the estimate from the last official GDP for the years not yet published, with 80 and 95 percent intervals whose variances add up year after year. To know whether lights really help, each past year is predicted using only earlier years, as a forecaster would have done at the time, and compared with two naive forecasts. The mean absolute error is in percentage points of growth; a relative error below one means lights beat the best naive forecast. Regional GDP distributes national GDP in proportion to light raised to gamma, with gamma equal to 1 and 0.5; the gap between the two is the uncertainty of the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4 measures the impact of dated events. The catalogue combines COVID-19, the user's own events with their national dates, and optionally the five most severe months of an ACLED or EM-DAT export. For each event, the baseline is the mean seasonally adjusted level over the twelve months before; the trough is the lowest level between the start of the event and six months after its end; the gap versus trend compares the event period with the extrapolated trend of the 24 previous months; recovery is the first month back at the baseline, within 36 months. The placebo test computes the same trough statistic on every earlier window of the same length: the trough stands out only if it is deeper than 95 percent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data smooth out short shocks, so Black Marble daily data are used in windows around events. Only high-quality observations are kept: quality flag 0 or 1, clear sky from bits 6 and 7 of the cloud mask, no snow, and only pixels lit in the annual composite. A day counts if at least half of the pixels are observed. The index divides a 7-day rolling median by the same days 52 weeks earlier, on the same weekday, so that season and weekly rhythm cancel out; if the previous year is not covered, the median of the first 60 days is used and the season is not removed. The regional table gives the trough of each region for each event; breaks with no event within six months are listed for investigation.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Scenario 5 measures spatial inequality of light per capita across the finest units, usually districts, each weighted by its population. The Gini coefficient and the Lorenz curve show the overall concentration. The Theil T index adds a decomposition: the between part is inequality between regions, the within part inequality between districts of the same region. If most inequality is within regions, policies should target districts rather than whole regions. The change in Gini between the first and last year gets a bootstrap interval from 300 paired resamples of districts. The urban–rural ratio compares light per capita in urban and rural areas as defined by GHSL.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half of scenario 5 counts people living in the dark. A pixel is inhabited if it has at least five people in its 0.21 square kilometres; it is dark if its annual radiance stays below a detection threshold. The threshold matters, so three are used, 0.25, 0.5 and 1 nanowatt, computed on the unmasked radiance, because EOG's background mask would make the three identical. Pixels in gas-flare halos are excluded. The dark share is compared with the World Bank access rate: a large gap may reveal low-consumption connections, such as solar kits, invisible from space, or survey limitations. The figure is always published as a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Industry is the component of GDP best captured by night lights, and few countries have an up-to-date geolocated register of industrial zones. Each 460 metre pixel receives a score from four signals, each normalised between 0 and 1. Light intensity uses the median of the last three annual composites on a log scale. The non-residential built-up share comes from GHSL BUILT-S, divided by 0.6. Low residential density is one minus the log of density relative to 5,000 people per square kilometre. NO2 is scaled between the national median and the 98th percentile. The weights, 35, 30, 20 and 15 percent, are expert choices: change them and check that the main zones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pixel becomes a candidate if its radiance exceeds 5 nanowatts, at least one percent of it is built-up and its score exceeds 0.55, or if it belongs to a gas flare detected during cleaning. Neighbouring candidates, at least two pixels, are grouped into zones, up to 250. Each zone gets its light, its share of national light, its Theil–Sen trend, its non-residential share, its population density, its area and its district. Zones are classed as energy or extraction sites when flares dominate, as major hubs when they are among the brightest ten percent or larger than 8 square kilometres, otherwise as industrial or logistics zones. OpenStreetMap industrial areas give precision, the share of zones confirmed, and recall, the share of OSM areas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11 converts the results of the six scenarios into five to eight key messages, written in English and French, and fills the executive summary at the top of the notebook. Each message carries a confidence level and its reason, derived from the statistics behind it: the p-value and number of years for trends, sample size, p-value, interval width and R squared for elasticities, the placebo test for shocks, the bootstrap interval for the Gini, the OpenStreetMap precision for industrial zones. A low-confidence message is a lead to investigate, not 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notebook to public dashboard, with the checks that make the figures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Notebook 3 writes static files — simplified GeoJSON, CSV, JSON and PNG — so the site works without Earth Engine, whose tiles expire after a few hours. The site is bilingual, English and French, and several countries can coexist on it. A manifest records parameters, package versions and dataset availability, which guarantees reproducibility. Publication to GitHub Pages is one function call with a short-lived, fine-grained token that never appears in code, outputs or history. Automatically generated key messages carry a confidence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notebooks were reviewed and corrected in October 2026. Notebooks 1 and 2 run end to end in both languages without error; notebook 2 gives identical figures in English and French. The display setting no longer changes any figure. In notebook 3, which needs Earth Engine, the statistical functions were tested on simulated data: under pure noise, false convergence fell from 13.7 to 0.7 percent, and spurious growth classes from 29 out of 300 districts to zero with the Benjamini–Hochberg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Lights measure radiance at around 1:30 a.m., not value added. Six artefacts can mislead: blooming inflates lit areas; saturation hides growth in the brightest urban cores; gas flares can dominate a region without local activity; seasonality from clouds and bush fires is not economic; sensor changes, from DMSP to VIIRS or between product versions, can create false breaks; and near the detection threshold the signal is weakest precisely where the rural poor live. These limits belong in the deliverable, not in an annex.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statistician should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checklist summarises the series. Each item corresponds to a step in one of the notebooks and to a mistake that produces no error message. Publish the processing chain, not just the number: two teams starting from the same files can publish figures an order of magnitude apart without any visible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messages to take home. First, choose the product for the question: annual composites for trends, monthly for seasons, daily for dated events. Second, the order of operations is not negotiable: fill values, quality, water, then mosaic and clip. Third, night lights are a powerful complement to official statistics for direction, timing and geography, but they are not a measure of GDP.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scientific and data references used in the three notebooks. Third-party data remain under the licences of their producers and must be cited in addition to AfDB-DI4A.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All three notebooks run on Colab, Kaggle and local Jupyter. Any reuse of the notebooks or of what they produce must cite: Source: African Development Bank – Data Innovation for Africa (AfDB-DI4A).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5033772"/>
            <a:ext cx="9144000" cy="109728"/>
          </a:xfrm>
          <a:prstGeom prst="rect">
            <a:avLst/>
          </a:prstGeom>
          <a:solidFill>
            <a:srgbClr val="F5C242"/>
          </a:solidFill>
          <a:ln w="12700">
            <a:solidFill>
              <a:srgbClr val="F5C24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w="12700">
            <a:solidFill>
              <a:srgbClr val="00A86A"/>
            </a:solidFill>
            <a:prstDash val="solid"/>
          </a:ln>
        </p:spPr>
      </p:sp>
      <p:sp>
        <p:nvSpPr>
          <p:cNvPr id="3" name="Shape 1"/>
          <p:cNvSpPr/>
          <p:nvPr/>
        </p:nvSpPr>
        <p:spPr>
          <a:xfrm>
            <a:off x="0" y="0"/>
            <a:ext cx="1234440" cy="54864"/>
          </a:xfrm>
          <a:prstGeom prst="rect">
            <a:avLst/>
          </a:prstGeom>
          <a:solidFill>
            <a:srgbClr val="F5C242"/>
          </a:solidFill>
          <a:ln w="12700">
            <a:solidFill>
              <a:srgbClr val="F5C242"/>
            </a:solidFill>
            <a:prstDash val="solid"/>
          </a:ln>
        </p:spPr>
      </p:sp>
      <p:sp>
        <p:nvSpPr>
          <p:cNvPr id="4" name="Text 2"/>
          <p:cNvSpPr/>
          <p:nvPr/>
        </p:nvSpPr>
        <p:spPr>
          <a:xfrm>
            <a:off x="457200" y="4818888"/>
            <a:ext cx="5486400" cy="228600"/>
          </a:xfrm>
          <a:prstGeom prst="rect">
            <a:avLst/>
          </a:prstGeom>
          <a:noFill/>
          <a:ln/>
        </p:spPr>
        <p:txBody>
          <a:bodyPr wrap="square" lIns="0" tIns="0" rIns="0" bIns="0" rtlCol="0" anchor="ctr"/>
          <a:lstStyle/>
          <a:p>
            <a:pPr indent="0" marL="0">
              <a:buNone/>
            </a:pPr>
            <a:r>
              <a:rPr lang="en-US" sz="850" dirty="0">
                <a:solidFill>
                  <a:srgbClr val="8A9590"/>
                </a:solidFill>
                <a:latin typeface="Calibri" pitchFamily="34" charset="0"/>
                <a:ea typeface="Calibri" pitchFamily="34" charset="-122"/>
                <a:cs typeface="Calibri" pitchFamily="34" charset="-120"/>
              </a:rPr>
              <a:t>Night-time lights series · AfDB-DI4A</a:t>
            </a:r>
            <a:endParaRPr lang="en-US" sz="850" dirty="0"/>
          </a:p>
        </p:txBody>
      </p:sp>
      <p:sp>
        <p:nvSpPr>
          <p:cNvPr id="5" name="Text 3"/>
          <p:cNvSpPr/>
          <p:nvPr>
            <p:ph idx="105" type="body" hasCustomPrompt="1"/>
          </p:nvPr>
        </p:nvSpPr>
        <p:spPr>
          <a:xfrm>
            <a:off x="457200" y="274320"/>
            <a:ext cx="6217920" cy="256032"/>
          </a:xfrm>
          <a:prstGeom prst="rect">
            <a:avLst/>
          </a:prstGeom>
          <a:noFill/>
          <a:ln/>
        </p:spPr>
        <p:txBody>
          <a:bodyPr wrap="square" rtlCol="0"/>
          <a:lstStyle>
            <a:lvl1pPr algn="l" indent="0" marL="0">
              <a:buNone/>
              <a:defRPr lang="en-US" sz="1050" b="1" spc="300" kern="0" dirty="0">
                <a:solidFill>
                  <a:srgbClr val="00704A"/>
                </a:solidFill>
                <a:latin typeface="Calibri" pitchFamily="34" charset="0"/>
                <a:ea typeface="Calibri" pitchFamily="34" charset="-122"/>
                <a:cs typeface="Calibri" pitchFamily="34" charset="-120"/>
              </a:defRPr>
            </a:lvl1pPr>
          </a:lstStyle>
          <a:p>
            <a:pPr algn="l" indent="0" marL="0">
              <a:buNone/>
            </a:pPr>
            <a:endParaRPr lang="en-US" sz="1050" dirty="0"/>
          </a:p>
        </p:txBody>
      </p:sp>
      <p:sp>
        <p:nvSpPr>
          <p:cNvPr id="6" name="Text 3"/>
          <p:cNvSpPr/>
          <p:nvPr>
            <p:ph idx="106" type="title" hasCustomPrompt="1"/>
          </p:nvPr>
        </p:nvSpPr>
        <p:spPr>
          <a:xfrm>
            <a:off x="457200" y="548640"/>
            <a:ext cx="8229600" cy="566928"/>
          </a:xfrm>
          <a:prstGeom prst="rect">
            <a:avLst/>
          </a:prstGeom>
          <a:noFill/>
          <a:ln/>
        </p:spPr>
        <p:txBody>
          <a:bodyPr wrap="square" rtlCol="0"/>
          <a:lstStyle>
            <a:lvl1pPr algn="l" indent="0" marL="0">
              <a:buNone/>
              <a:defRPr lang="en-US" sz="2800" b="1" dirty="0">
                <a:solidFill>
                  <a:srgbClr val="231F20"/>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3.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3.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3.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3.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slideLayout" Target="../slideLayouts/slideLayout3.xml"/><Relationship Id="rId6"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3.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3.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3.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3.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3.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4" Type="http://schemas.openxmlformats.org/officeDocument/2006/relationships/chart" Target="/ppt/charts/chart2.xml"/><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slideLayout" Target="../slideLayouts/slideLayout3.xml"/><Relationship Id="rId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slideLayout" Target="../slideLayouts/slideLayout3.xml"/><Relationship Id="rId6"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3.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image" Target="../media/image-41-7.png"/><Relationship Id="rId8" Type="http://schemas.openxmlformats.org/officeDocument/2006/relationships/image" Target="../media/image-41-8.png"/><Relationship Id="rId9" Type="http://schemas.openxmlformats.org/officeDocument/2006/relationships/slideLayout" Target="../slideLayouts/slideLayout3.xml"/><Relationship Id="rId10"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3.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slideLayout" Target="../slideLayouts/slideLayout3.xml"/><Relationship Id="rId8"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3.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02920"/>
            <a:ext cx="4206240" cy="384048"/>
          </a:xfrm>
          <a:prstGeom prst="roundRect">
            <a:avLst>
              <a:gd name="adj" fmla="val 50000"/>
            </a:avLst>
          </a:prstGeom>
          <a:solidFill>
            <a:srgbClr val="FFFFFF">
              <a:alpha val="12000"/>
            </a:srgbClr>
          </a:solidFill>
          <a:ln w="9525">
            <a:solidFill>
              <a:srgbClr val="FFFFFF">
                <a:alpha val="50000"/>
              </a:srgbClr>
            </a:solidFill>
            <a:prstDash val="solid"/>
          </a:ln>
        </p:spPr>
      </p:sp>
      <p:sp>
        <p:nvSpPr>
          <p:cNvPr id="3" name="Text 1"/>
          <p:cNvSpPr txBox="1"/>
          <p:nvPr/>
        </p:nvSpPr>
        <p:spPr>
          <a:xfrm>
            <a:off x="548640" y="502920"/>
            <a:ext cx="420624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AfDB · Data Innovation for Africa (DI4A)</a:t>
            </a:r>
            <a:endParaRPr lang="en-US" sz="1200" dirty="0"/>
          </a:p>
        </p:txBody>
      </p:sp>
      <p:sp>
        <p:nvSpPr>
          <p:cNvPr id="4" name="Text 2"/>
          <p:cNvSpPr txBox="1"/>
          <p:nvPr/>
        </p:nvSpPr>
        <p:spPr>
          <a:xfrm>
            <a:off x="548640" y="1325880"/>
            <a:ext cx="731520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NIGHT-TIME LIGHTS SERIES · THREE NOTEBOOKS</a:t>
            </a:r>
            <a:endParaRPr lang="en-US" sz="1100" dirty="0"/>
          </a:p>
        </p:txBody>
      </p:sp>
      <p:sp>
        <p:nvSpPr>
          <p:cNvPr id="5" name="Text 3"/>
          <p:cNvSpPr txBox="1"/>
          <p:nvPr/>
        </p:nvSpPr>
        <p:spPr>
          <a:xfrm>
            <a:off x="548640" y="1645920"/>
            <a:ext cx="6858000" cy="1417320"/>
          </a:xfrm>
          <a:prstGeom prst="rect">
            <a:avLst/>
          </a:prstGeom>
          <a:noFill/>
          <a:ln/>
        </p:spPr>
        <p:txBody>
          <a:bodyPr wrap="square" lIns="0" tIns="0" rIns="0" bIns="0" rtlCol="0" anchor="t"/>
          <a:lstStyle/>
          <a:p>
            <a:pPr indent="0" marL="0">
              <a:buNone/>
            </a:pPr>
            <a:r>
              <a:rPr lang="en-US" sz="4200" b="1" dirty="0">
                <a:solidFill>
                  <a:srgbClr val="FFFFFF"/>
                </a:solidFill>
                <a:latin typeface="Calibri" pitchFamily="34" charset="0"/>
                <a:ea typeface="Calibri" pitchFamily="34" charset="-122"/>
                <a:cs typeface="Calibri" pitchFamily="34" charset="-120"/>
              </a:rPr>
              <a:t>Night-time lights:</a:t>
            </a:r>
            <a:endParaRPr lang="en-US" sz="4200" dirty="0"/>
          </a:p>
          <a:p>
            <a:pPr indent="0" marL="0">
              <a:buNone/>
            </a:pPr>
            <a:r>
              <a:rPr lang="en-US" sz="4200" b="1" dirty="0">
                <a:solidFill>
                  <a:srgbClr val="FFFFFF"/>
                </a:solidFill>
                <a:latin typeface="Calibri" pitchFamily="34" charset="0"/>
                <a:ea typeface="Calibri" pitchFamily="34" charset="-122"/>
                <a:cs typeface="Calibri" pitchFamily="34" charset="-120"/>
              </a:rPr>
              <a:t>from satellite to statistics</a:t>
            </a:r>
            <a:endParaRPr lang="en-US" sz="4200" dirty="0"/>
          </a:p>
        </p:txBody>
      </p:sp>
      <p:sp>
        <p:nvSpPr>
          <p:cNvPr id="6" name="Text 4"/>
          <p:cNvSpPr txBox="1"/>
          <p:nvPr/>
        </p:nvSpPr>
        <p:spPr>
          <a:xfrm>
            <a:off x="548640" y="3154680"/>
            <a:ext cx="5852160" cy="777240"/>
          </a:xfrm>
          <a:prstGeom prst="rect">
            <a:avLst/>
          </a:prstGeom>
          <a:noFill/>
          <a:ln/>
        </p:spPr>
        <p:txBody>
          <a:bodyPr wrap="square" lIns="0" tIns="0" rIns="0" bIns="0" rtlCol="0" anchor="t"/>
          <a:lstStyle/>
          <a:p>
            <a:pPr indent="0" marL="0">
              <a:buNone/>
            </a:pPr>
            <a:r>
              <a:rPr lang="en-US" sz="1600" i="1" dirty="0">
                <a:solidFill>
                  <a:srgbClr val="E6F6EE"/>
                </a:solidFill>
                <a:latin typeface="Calibri" pitchFamily="34" charset="0"/>
                <a:ea typeface="Calibri" pitchFamily="34" charset="-122"/>
                <a:cs typeface="Calibri" pitchFamily="34" charset="-120"/>
              </a:rPr>
              <a:t>Collect, understand and analyse NASA and NOAA night-time light data to measure economic activity — one ISO3 code in, a public dashboard out</a:t>
            </a:r>
            <a:endParaRPr lang="en-US" sz="1600" dirty="0"/>
          </a:p>
        </p:txBody>
      </p:sp>
      <p:sp>
        <p:nvSpPr>
          <p:cNvPr id="7" name="Shape 5"/>
          <p:cNvSpPr/>
          <p:nvPr/>
        </p:nvSpPr>
        <p:spPr>
          <a:xfrm>
            <a:off x="548640" y="4114800"/>
            <a:ext cx="1143000" cy="329184"/>
          </a:xfrm>
          <a:prstGeom prst="roundRect">
            <a:avLst>
              <a:gd name="adj" fmla="val 50000"/>
            </a:avLst>
          </a:prstGeom>
          <a:solidFill>
            <a:srgbClr val="F5C242"/>
          </a:solidFill>
          <a:ln w="9525">
            <a:solidFill>
              <a:srgbClr val="F5C242"/>
            </a:solidFill>
            <a:prstDash val="solid"/>
          </a:ln>
        </p:spPr>
      </p:sp>
      <p:sp>
        <p:nvSpPr>
          <p:cNvPr id="8" name="Text 6"/>
          <p:cNvSpPr txBox="1"/>
          <p:nvPr/>
        </p:nvSpPr>
        <p:spPr>
          <a:xfrm>
            <a:off x="548640" y="4114800"/>
            <a:ext cx="1143000" cy="329184"/>
          </a:xfrm>
          <a:prstGeom prst="rect">
            <a:avLst/>
          </a:prstGeom>
          <a:noFill/>
          <a:ln/>
        </p:spPr>
        <p:txBody>
          <a:bodyPr wrap="square" lIns="0" tIns="0" rIns="0" bIns="0" rtlCol="0" anchor="ctr"/>
          <a:lstStyle/>
          <a:p>
            <a:pPr algn="ctr" indent="0" marL="0">
              <a:buNone/>
            </a:pPr>
            <a:r>
              <a:rPr lang="en-US" sz="1100" b="1" dirty="0">
                <a:solidFill>
                  <a:srgbClr val="00553A"/>
                </a:solidFill>
                <a:latin typeface="Calibri" pitchFamily="34" charset="0"/>
                <a:ea typeface="Calibri" pitchFamily="34" charset="-122"/>
                <a:cs typeface="Calibri" pitchFamily="34" charset="-120"/>
              </a:rPr>
              <a:t>01  Collect</a:t>
            </a:r>
            <a:endParaRPr lang="en-US" sz="1100" dirty="0"/>
          </a:p>
        </p:txBody>
      </p:sp>
      <p:sp>
        <p:nvSpPr>
          <p:cNvPr id="9" name="Shape 7"/>
          <p:cNvSpPr/>
          <p:nvPr/>
        </p:nvSpPr>
        <p:spPr>
          <a:xfrm>
            <a:off x="1920240" y="4114800"/>
            <a:ext cx="196596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0" name="Text 8"/>
          <p:cNvSpPr txBox="1"/>
          <p:nvPr/>
        </p:nvSpPr>
        <p:spPr>
          <a:xfrm>
            <a:off x="1920240" y="4114800"/>
            <a:ext cx="196596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02  Explore and understand</a:t>
            </a:r>
            <a:endParaRPr lang="en-US" sz="1100" dirty="0"/>
          </a:p>
        </p:txBody>
      </p:sp>
      <p:sp>
        <p:nvSpPr>
          <p:cNvPr id="11" name="Shape 9"/>
          <p:cNvSpPr/>
          <p:nvPr/>
        </p:nvSpPr>
        <p:spPr>
          <a:xfrm>
            <a:off x="4114800" y="4114800"/>
            <a:ext cx="1783080" cy="329184"/>
          </a:xfrm>
          <a:prstGeom prst="roundRect">
            <a:avLst>
              <a:gd name="adj" fmla="val 50000"/>
            </a:avLst>
          </a:prstGeom>
          <a:solidFill>
            <a:srgbClr val="FFFFFF">
              <a:alpha val="12000"/>
            </a:srgbClr>
          </a:solidFill>
          <a:ln w="9525">
            <a:solidFill>
              <a:srgbClr val="FFFFFF">
                <a:alpha val="40000"/>
              </a:srgbClr>
            </a:solidFill>
            <a:prstDash val="solid"/>
          </a:ln>
        </p:spPr>
      </p:sp>
      <p:sp>
        <p:nvSpPr>
          <p:cNvPr id="12" name="Text 10"/>
          <p:cNvSpPr txBox="1"/>
          <p:nvPr/>
        </p:nvSpPr>
        <p:spPr>
          <a:xfrm>
            <a:off x="4114800" y="4114800"/>
            <a:ext cx="1783080" cy="329184"/>
          </a:xfrm>
          <a:prstGeom prst="rect">
            <a:avLst/>
          </a:prstGeom>
          <a:noFill/>
          <a:ln/>
        </p:spPr>
        <p:txBody>
          <a:bodyPr wrap="square" lIns="0" tIns="0" rIns="0" bIns="0" rtlCol="0" anchor="ctr"/>
          <a:lstStyle/>
          <a:p>
            <a:pPr algn="ctr" indent="0" marL="0">
              <a:buNone/>
            </a:pPr>
            <a:r>
              <a:rPr lang="en-US" sz="1100" b="1" dirty="0">
                <a:solidFill>
                  <a:srgbClr val="E6F6EE"/>
                </a:solidFill>
                <a:latin typeface="Calibri" pitchFamily="34" charset="0"/>
                <a:ea typeface="Calibri" pitchFamily="34" charset="-122"/>
                <a:cs typeface="Calibri" pitchFamily="34" charset="-120"/>
              </a:rPr>
              <a:t>03  Analyse and publish</a:t>
            </a:r>
            <a:endParaRPr lang="en-US" sz="1100" dirty="0"/>
          </a:p>
        </p:txBody>
      </p:sp>
      <p:sp>
        <p:nvSpPr>
          <p:cNvPr id="13" name="Text 11"/>
          <p:cNvSpPr txBox="1"/>
          <p:nvPr/>
        </p:nvSpPr>
        <p:spPr>
          <a:xfrm>
            <a:off x="6949440" y="4617720"/>
            <a:ext cx="1828800" cy="274320"/>
          </a:xfrm>
          <a:prstGeom prst="rect">
            <a:avLst/>
          </a:prstGeom>
          <a:noFill/>
          <a:ln/>
        </p:spPr>
        <p:txBody>
          <a:bodyPr wrap="square" lIns="0" tIns="0" rIns="0" bIns="0" rtlCol="0" anchor="t"/>
          <a:lstStyle/>
          <a:p>
            <a:pPr algn="r" indent="0" marL="0">
              <a:buNone/>
            </a:pPr>
            <a:r>
              <a:rPr lang="en-US" sz="900" dirty="0">
                <a:solidFill>
                  <a:srgbClr val="F5C242"/>
                </a:solidFill>
                <a:latin typeface="Calibri" pitchFamily="34" charset="0"/>
                <a:ea typeface="Calibri" pitchFamily="34" charset="-122"/>
                <a:cs typeface="Calibri" pitchFamily="34" charset="-120"/>
              </a:rPr>
              <a:t>© 2026 AfDB-DI4A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AGENDA</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steps, from the night sky to a published indicator</a:t>
            </a:r>
            <a:endParaRPr lang="en-US" sz="2800" dirty="0"/>
          </a:p>
        </p:txBody>
      </p:sp>
      <p:sp>
        <p:nvSpPr>
          <p:cNvPr id="4" name="Shape 2"/>
          <p:cNvSpPr/>
          <p:nvPr/>
        </p:nvSpPr>
        <p:spPr>
          <a:xfrm>
            <a:off x="457200" y="1371600"/>
            <a:ext cx="2606040" cy="1417320"/>
          </a:xfrm>
          <a:prstGeom prst="roundRect">
            <a:avLst>
              <a:gd name="adj" fmla="val 5161"/>
            </a:avLst>
          </a:prstGeom>
          <a:solidFill>
            <a:srgbClr val="F4F7F5"/>
          </a:solidFill>
          <a:ln w="9525">
            <a:solidFill>
              <a:srgbClr val="D5DED9"/>
            </a:solidFill>
            <a:prstDash val="solid"/>
          </a:ln>
        </p:spPr>
      </p:sp>
      <p:sp>
        <p:nvSpPr>
          <p:cNvPr id="5" name="Text 3"/>
          <p:cNvSpPr txBox="1"/>
          <p:nvPr/>
        </p:nvSpPr>
        <p:spPr>
          <a:xfrm>
            <a:off x="640080" y="1508760"/>
            <a:ext cx="731520" cy="457200"/>
          </a:xfrm>
          <a:prstGeom prst="rect">
            <a:avLst/>
          </a:prstGeom>
          <a:noFill/>
          <a:ln/>
        </p:spPr>
        <p:txBody>
          <a:bodyPr wrap="square" lIns="0" tIns="0" rIns="0" bIns="0" rtlCol="0" anchor="t"/>
          <a:lstStyle/>
          <a:p>
            <a:pPr indent="0" marL="0">
              <a:buNone/>
            </a:pPr>
            <a:r>
              <a:rPr lang="en-US" sz="2600" b="1" dirty="0">
                <a:solidFill>
                  <a:srgbClr val="00A86A"/>
                </a:solidFill>
                <a:latin typeface="Calibri" pitchFamily="34" charset="0"/>
                <a:ea typeface="Calibri" pitchFamily="34" charset="-122"/>
                <a:cs typeface="Calibri" pitchFamily="34" charset="-120"/>
              </a:rPr>
              <a:t>01</a:t>
            </a:r>
            <a:endParaRPr lang="en-US" sz="2600" dirty="0"/>
          </a:p>
        </p:txBody>
      </p:sp>
      <p:sp>
        <p:nvSpPr>
          <p:cNvPr id="6" name="Text 4"/>
          <p:cNvSpPr txBox="1"/>
          <p:nvPr/>
        </p:nvSpPr>
        <p:spPr>
          <a:xfrm>
            <a:off x="64008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The series</a:t>
            </a:r>
            <a:endParaRPr lang="en-US" sz="1300" dirty="0"/>
          </a:p>
        </p:txBody>
      </p:sp>
      <p:sp>
        <p:nvSpPr>
          <p:cNvPr id="7" name="Text 5"/>
          <p:cNvSpPr txBox="1"/>
          <p:nvPr/>
        </p:nvSpPr>
        <p:spPr>
          <a:xfrm>
            <a:off x="64008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Why night lights measure activity, and how the three notebooks fit together</a:t>
            </a:r>
            <a:endParaRPr lang="en-US" sz="1050" dirty="0"/>
          </a:p>
        </p:txBody>
      </p:sp>
      <p:sp>
        <p:nvSpPr>
          <p:cNvPr id="8" name="Shape 6"/>
          <p:cNvSpPr/>
          <p:nvPr/>
        </p:nvSpPr>
        <p:spPr>
          <a:xfrm>
            <a:off x="3246120" y="1371600"/>
            <a:ext cx="2606040" cy="1417320"/>
          </a:xfrm>
          <a:prstGeom prst="roundRect">
            <a:avLst>
              <a:gd name="adj" fmla="val 5161"/>
            </a:avLst>
          </a:prstGeom>
          <a:solidFill>
            <a:srgbClr val="F4F7F5"/>
          </a:solidFill>
          <a:ln w="9525">
            <a:solidFill>
              <a:srgbClr val="D5DED9"/>
            </a:solidFill>
            <a:prstDash val="solid"/>
          </a:ln>
        </p:spPr>
      </p:sp>
      <p:sp>
        <p:nvSpPr>
          <p:cNvPr id="9" name="Text 7"/>
          <p:cNvSpPr txBox="1"/>
          <p:nvPr/>
        </p:nvSpPr>
        <p:spPr>
          <a:xfrm>
            <a:off x="3429000" y="1508760"/>
            <a:ext cx="731520" cy="457200"/>
          </a:xfrm>
          <a:prstGeom prst="rect">
            <a:avLst/>
          </a:prstGeom>
          <a:noFill/>
          <a:ln/>
        </p:spPr>
        <p:txBody>
          <a:bodyPr wrap="square" lIns="0" tIns="0" rIns="0" bIns="0" rtlCol="0" anchor="t"/>
          <a:lstStyle/>
          <a:p>
            <a:pPr indent="0" marL="0">
              <a:buNone/>
            </a:pPr>
            <a:r>
              <a:rPr lang="en-US" sz="2600" b="1" dirty="0">
                <a:solidFill>
                  <a:srgbClr val="00704A"/>
                </a:solidFill>
                <a:latin typeface="Calibri" pitchFamily="34" charset="0"/>
                <a:ea typeface="Calibri" pitchFamily="34" charset="-122"/>
                <a:cs typeface="Calibri" pitchFamily="34" charset="-120"/>
              </a:rPr>
              <a:t>02</a:t>
            </a:r>
            <a:endParaRPr lang="en-US" sz="2600" dirty="0"/>
          </a:p>
        </p:txBody>
      </p:sp>
      <p:sp>
        <p:nvSpPr>
          <p:cNvPr id="10" name="Text 8"/>
          <p:cNvSpPr txBox="1"/>
          <p:nvPr/>
        </p:nvSpPr>
        <p:spPr>
          <a:xfrm>
            <a:off x="342900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Collect</a:t>
            </a:r>
            <a:endParaRPr lang="en-US" sz="1300" dirty="0"/>
          </a:p>
        </p:txBody>
      </p:sp>
      <p:sp>
        <p:nvSpPr>
          <p:cNvPr id="11" name="Text 9"/>
          <p:cNvSpPr txBox="1"/>
          <p:nvPr/>
        </p:nvSpPr>
        <p:spPr>
          <a:xfrm>
            <a:off x="342900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1: find, test and download the right NASA Black Marble files</a:t>
            </a:r>
            <a:endParaRPr lang="en-US" sz="1050" dirty="0"/>
          </a:p>
        </p:txBody>
      </p:sp>
      <p:sp>
        <p:nvSpPr>
          <p:cNvPr id="12" name="Shape 10"/>
          <p:cNvSpPr/>
          <p:nvPr/>
        </p:nvSpPr>
        <p:spPr>
          <a:xfrm>
            <a:off x="6035040" y="1371600"/>
            <a:ext cx="2606040" cy="1417320"/>
          </a:xfrm>
          <a:prstGeom prst="roundRect">
            <a:avLst>
              <a:gd name="adj" fmla="val 5161"/>
            </a:avLst>
          </a:prstGeom>
          <a:solidFill>
            <a:srgbClr val="F4F7F5"/>
          </a:solidFill>
          <a:ln w="9525">
            <a:solidFill>
              <a:srgbClr val="D5DED9"/>
            </a:solidFill>
            <a:prstDash val="solid"/>
          </a:ln>
        </p:spPr>
      </p:sp>
      <p:sp>
        <p:nvSpPr>
          <p:cNvPr id="13" name="Text 11"/>
          <p:cNvSpPr txBox="1"/>
          <p:nvPr/>
        </p:nvSpPr>
        <p:spPr>
          <a:xfrm>
            <a:off x="6217920" y="1508760"/>
            <a:ext cx="731520" cy="457200"/>
          </a:xfrm>
          <a:prstGeom prst="rect">
            <a:avLst/>
          </a:prstGeom>
          <a:noFill/>
          <a:ln/>
        </p:spPr>
        <p:txBody>
          <a:bodyPr wrap="square" lIns="0" tIns="0" rIns="0" bIns="0" rtlCol="0" anchor="t"/>
          <a:lstStyle/>
          <a:p>
            <a:pPr indent="0" marL="0">
              <a:buNone/>
            </a:pPr>
            <a:r>
              <a:rPr lang="en-US" sz="2600" b="1" dirty="0">
                <a:solidFill>
                  <a:srgbClr val="0E7C86"/>
                </a:solidFill>
                <a:latin typeface="Calibri" pitchFamily="34" charset="0"/>
                <a:ea typeface="Calibri" pitchFamily="34" charset="-122"/>
                <a:cs typeface="Calibri" pitchFamily="34" charset="-120"/>
              </a:rPr>
              <a:t>03</a:t>
            </a:r>
            <a:endParaRPr lang="en-US" sz="2600" dirty="0"/>
          </a:p>
        </p:txBody>
      </p:sp>
      <p:sp>
        <p:nvSpPr>
          <p:cNvPr id="14" name="Text 12"/>
          <p:cNvSpPr txBox="1"/>
          <p:nvPr/>
        </p:nvSpPr>
        <p:spPr>
          <a:xfrm>
            <a:off x="6217920" y="19385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Explore and understand</a:t>
            </a:r>
            <a:endParaRPr lang="en-US" sz="1300" dirty="0"/>
          </a:p>
        </p:txBody>
      </p:sp>
      <p:sp>
        <p:nvSpPr>
          <p:cNvPr id="15" name="Text 13"/>
          <p:cNvSpPr txBox="1"/>
          <p:nvPr/>
        </p:nvSpPr>
        <p:spPr>
          <a:xfrm>
            <a:off x="6217920" y="22128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2: open the file, decode it, filter it, clip it to the country</a:t>
            </a:r>
            <a:endParaRPr lang="en-US" sz="1050" dirty="0"/>
          </a:p>
        </p:txBody>
      </p:sp>
      <p:sp>
        <p:nvSpPr>
          <p:cNvPr id="16" name="Shape 14"/>
          <p:cNvSpPr/>
          <p:nvPr/>
        </p:nvSpPr>
        <p:spPr>
          <a:xfrm>
            <a:off x="457200" y="2971800"/>
            <a:ext cx="2606040" cy="1417320"/>
          </a:xfrm>
          <a:prstGeom prst="roundRect">
            <a:avLst>
              <a:gd name="adj" fmla="val 5161"/>
            </a:avLst>
          </a:prstGeom>
          <a:solidFill>
            <a:srgbClr val="F4F7F5"/>
          </a:solidFill>
          <a:ln w="9525">
            <a:solidFill>
              <a:srgbClr val="D5DED9"/>
            </a:solidFill>
            <a:prstDash val="solid"/>
          </a:ln>
        </p:spPr>
      </p:sp>
      <p:sp>
        <p:nvSpPr>
          <p:cNvPr id="17" name="Text 15"/>
          <p:cNvSpPr txBox="1"/>
          <p:nvPr/>
        </p:nvSpPr>
        <p:spPr>
          <a:xfrm>
            <a:off x="640080" y="3108960"/>
            <a:ext cx="731520" cy="457200"/>
          </a:xfrm>
          <a:prstGeom prst="rect">
            <a:avLst/>
          </a:prstGeom>
          <a:noFill/>
          <a:ln/>
        </p:spPr>
        <p:txBody>
          <a:bodyPr wrap="square" lIns="0" tIns="0" rIns="0" bIns="0" rtlCol="0" anchor="t"/>
          <a:lstStyle/>
          <a:p>
            <a:pPr indent="0" marL="0">
              <a:buNone/>
            </a:pPr>
            <a:r>
              <a:rPr lang="en-US" sz="2600" b="1" dirty="0">
                <a:solidFill>
                  <a:srgbClr val="D49A00"/>
                </a:solidFill>
                <a:latin typeface="Calibri" pitchFamily="34" charset="0"/>
                <a:ea typeface="Calibri" pitchFamily="34" charset="-122"/>
                <a:cs typeface="Calibri" pitchFamily="34" charset="-120"/>
              </a:rPr>
              <a:t>04</a:t>
            </a:r>
            <a:endParaRPr lang="en-US" sz="2600" dirty="0"/>
          </a:p>
        </p:txBody>
      </p:sp>
      <p:sp>
        <p:nvSpPr>
          <p:cNvPr id="18" name="Text 16"/>
          <p:cNvSpPr txBox="1"/>
          <p:nvPr/>
        </p:nvSpPr>
        <p:spPr>
          <a:xfrm>
            <a:off x="64008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Analyse</a:t>
            </a:r>
            <a:endParaRPr lang="en-US" sz="1300" dirty="0"/>
          </a:p>
        </p:txBody>
      </p:sp>
      <p:sp>
        <p:nvSpPr>
          <p:cNvPr id="19" name="Text 17"/>
          <p:cNvSpPr txBox="1"/>
          <p:nvPr/>
        </p:nvSpPr>
        <p:spPr>
          <a:xfrm>
            <a:off x="64008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Notebook 3: trends, regions, GDP, shocks, inequality, industrial zones</a:t>
            </a:r>
            <a:endParaRPr lang="en-US" sz="1050" dirty="0"/>
          </a:p>
        </p:txBody>
      </p:sp>
      <p:sp>
        <p:nvSpPr>
          <p:cNvPr id="20" name="Shape 18"/>
          <p:cNvSpPr/>
          <p:nvPr/>
        </p:nvSpPr>
        <p:spPr>
          <a:xfrm>
            <a:off x="3246120" y="2971800"/>
            <a:ext cx="2606040" cy="1417320"/>
          </a:xfrm>
          <a:prstGeom prst="roundRect">
            <a:avLst>
              <a:gd name="adj" fmla="val 5161"/>
            </a:avLst>
          </a:prstGeom>
          <a:solidFill>
            <a:srgbClr val="F4F7F5"/>
          </a:solidFill>
          <a:ln w="9525">
            <a:solidFill>
              <a:srgbClr val="D5DED9"/>
            </a:solidFill>
            <a:prstDash val="solid"/>
          </a:ln>
        </p:spPr>
      </p:sp>
      <p:sp>
        <p:nvSpPr>
          <p:cNvPr id="21" name="Text 19"/>
          <p:cNvSpPr txBox="1"/>
          <p:nvPr/>
        </p:nvSpPr>
        <p:spPr>
          <a:xfrm>
            <a:off x="3429000" y="3108960"/>
            <a:ext cx="731520" cy="457200"/>
          </a:xfrm>
          <a:prstGeom prst="rect">
            <a:avLst/>
          </a:prstGeom>
          <a:noFill/>
          <a:ln/>
        </p:spPr>
        <p:txBody>
          <a:bodyPr wrap="square" lIns="0" tIns="0" rIns="0" bIns="0" rtlCol="0" anchor="t"/>
          <a:lstStyle/>
          <a:p>
            <a:pPr indent="0" marL="0">
              <a:buNone/>
            </a:pPr>
            <a:r>
              <a:rPr lang="en-US" sz="2600" b="1" dirty="0">
                <a:solidFill>
                  <a:srgbClr val="C4621D"/>
                </a:solidFill>
                <a:latin typeface="Calibri" pitchFamily="34" charset="0"/>
                <a:ea typeface="Calibri" pitchFamily="34" charset="-122"/>
                <a:cs typeface="Calibri" pitchFamily="34" charset="-120"/>
              </a:rPr>
              <a:t>05</a:t>
            </a:r>
            <a:endParaRPr lang="en-US" sz="2600" dirty="0"/>
          </a:p>
        </p:txBody>
      </p:sp>
      <p:sp>
        <p:nvSpPr>
          <p:cNvPr id="22" name="Text 20"/>
          <p:cNvSpPr txBox="1"/>
          <p:nvPr/>
        </p:nvSpPr>
        <p:spPr>
          <a:xfrm>
            <a:off x="342900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Publish and check</a:t>
            </a:r>
            <a:endParaRPr lang="en-US" sz="1300" dirty="0"/>
          </a:p>
        </p:txBody>
      </p:sp>
      <p:sp>
        <p:nvSpPr>
          <p:cNvPr id="23" name="Text 21"/>
          <p:cNvSpPr txBox="1"/>
          <p:nvPr/>
        </p:nvSpPr>
        <p:spPr>
          <a:xfrm>
            <a:off x="342900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Static dashboard, reproducibility manifest, quality checks and limits</a:t>
            </a:r>
            <a:endParaRPr lang="en-US" sz="1050" dirty="0"/>
          </a:p>
        </p:txBody>
      </p:sp>
      <p:sp>
        <p:nvSpPr>
          <p:cNvPr id="24" name="Shape 22"/>
          <p:cNvSpPr/>
          <p:nvPr/>
        </p:nvSpPr>
        <p:spPr>
          <a:xfrm>
            <a:off x="6035040" y="2971800"/>
            <a:ext cx="2606040" cy="1417320"/>
          </a:xfrm>
          <a:prstGeom prst="roundRect">
            <a:avLst>
              <a:gd name="adj" fmla="val 5161"/>
            </a:avLst>
          </a:prstGeom>
          <a:solidFill>
            <a:srgbClr val="F4F7F5"/>
          </a:solidFill>
          <a:ln w="9525">
            <a:solidFill>
              <a:srgbClr val="D5DED9"/>
            </a:solidFill>
            <a:prstDash val="solid"/>
          </a:ln>
        </p:spPr>
      </p:sp>
      <p:sp>
        <p:nvSpPr>
          <p:cNvPr id="25" name="Text 23"/>
          <p:cNvSpPr txBox="1"/>
          <p:nvPr/>
        </p:nvSpPr>
        <p:spPr>
          <a:xfrm>
            <a:off x="6217920" y="3108960"/>
            <a:ext cx="731520" cy="457200"/>
          </a:xfrm>
          <a:prstGeom prst="rect">
            <a:avLst/>
          </a:prstGeom>
          <a:noFill/>
          <a:ln/>
        </p:spPr>
        <p:txBody>
          <a:bodyPr wrap="square" lIns="0" tIns="0" rIns="0" bIns="0" rtlCol="0" anchor="t"/>
          <a:lstStyle/>
          <a:p>
            <a:pPr indent="0" marL="0">
              <a:buNone/>
            </a:pPr>
            <a:r>
              <a:rPr lang="en-US" sz="2600" b="1" dirty="0">
                <a:solidFill>
                  <a:srgbClr val="B83B2E"/>
                </a:solidFill>
                <a:latin typeface="Calibri" pitchFamily="34" charset="0"/>
                <a:ea typeface="Calibri" pitchFamily="34" charset="-122"/>
                <a:cs typeface="Calibri" pitchFamily="34" charset="-120"/>
              </a:rPr>
              <a:t>06</a:t>
            </a:r>
            <a:endParaRPr lang="en-US" sz="2600" dirty="0"/>
          </a:p>
        </p:txBody>
      </p:sp>
      <p:sp>
        <p:nvSpPr>
          <p:cNvPr id="26" name="Text 24"/>
          <p:cNvSpPr txBox="1"/>
          <p:nvPr/>
        </p:nvSpPr>
        <p:spPr>
          <a:xfrm>
            <a:off x="6217920" y="3538728"/>
            <a:ext cx="22860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Key takeaways</a:t>
            </a:r>
            <a:endParaRPr lang="en-US" sz="1300" dirty="0"/>
          </a:p>
        </p:txBody>
      </p:sp>
      <p:sp>
        <p:nvSpPr>
          <p:cNvPr id="27" name="Text 25"/>
          <p:cNvSpPr txBox="1"/>
          <p:nvPr/>
        </p:nvSpPr>
        <p:spPr>
          <a:xfrm>
            <a:off x="6217920" y="3813048"/>
            <a:ext cx="2286000" cy="53035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What to verify before publishing any figure</a:t>
            </a:r>
            <a:endParaRPr lang="en-US" sz="1050" dirty="0"/>
          </a:p>
        </p:txBody>
      </p:sp>
      <p:sp>
        <p:nvSpPr>
          <p:cNvPr id="28" name="Shape 26"/>
          <p:cNvSpPr/>
          <p:nvPr/>
        </p:nvSpPr>
        <p:spPr>
          <a:xfrm>
            <a:off x="7644384" y="338328"/>
            <a:ext cx="100584" cy="100584"/>
          </a:xfrm>
          <a:prstGeom prst="ellipse">
            <a:avLst/>
          </a:prstGeom>
          <a:solidFill>
            <a:srgbClr val="00A86A"/>
          </a:solidFill>
          <a:ln w="12700">
            <a:solidFill>
              <a:srgbClr val="00A86A"/>
            </a:solidFill>
            <a:prstDash val="solid"/>
          </a:ln>
        </p:spPr>
      </p:sp>
      <p:sp>
        <p:nvSpPr>
          <p:cNvPr id="29" name="Shape 27"/>
          <p:cNvSpPr/>
          <p:nvPr/>
        </p:nvSpPr>
        <p:spPr>
          <a:xfrm>
            <a:off x="7818120" y="338328"/>
            <a:ext cx="100584" cy="100584"/>
          </a:xfrm>
          <a:prstGeom prst="ellipse">
            <a:avLst/>
          </a:prstGeom>
          <a:solidFill>
            <a:srgbClr val="00704A"/>
          </a:solidFill>
          <a:ln w="12700">
            <a:solidFill>
              <a:srgbClr val="00704A"/>
            </a:solidFill>
            <a:prstDash val="solid"/>
          </a:ln>
        </p:spPr>
      </p:sp>
      <p:sp>
        <p:nvSpPr>
          <p:cNvPr id="30" name="Shape 28"/>
          <p:cNvSpPr/>
          <p:nvPr/>
        </p:nvSpPr>
        <p:spPr>
          <a:xfrm>
            <a:off x="7991856" y="338328"/>
            <a:ext cx="100584" cy="100584"/>
          </a:xfrm>
          <a:prstGeom prst="ellipse">
            <a:avLst/>
          </a:prstGeom>
          <a:solidFill>
            <a:srgbClr val="0E7C86"/>
          </a:solidFill>
          <a:ln w="12700">
            <a:solidFill>
              <a:srgbClr val="0E7C86"/>
            </a:solidFill>
            <a:prstDash val="solid"/>
          </a:ln>
        </p:spPr>
      </p:sp>
      <p:sp>
        <p:nvSpPr>
          <p:cNvPr id="31" name="Shape 29"/>
          <p:cNvSpPr/>
          <p:nvPr/>
        </p:nvSpPr>
        <p:spPr>
          <a:xfrm>
            <a:off x="8165592" y="338328"/>
            <a:ext cx="100584" cy="100584"/>
          </a:xfrm>
          <a:prstGeom prst="ellipse">
            <a:avLst/>
          </a:prstGeom>
          <a:solidFill>
            <a:srgbClr val="D49A00"/>
          </a:solidFill>
          <a:ln w="12700">
            <a:solidFill>
              <a:srgbClr val="D49A00"/>
            </a:solidFill>
            <a:prstDash val="solid"/>
          </a:ln>
        </p:spPr>
      </p:sp>
      <p:sp>
        <p:nvSpPr>
          <p:cNvPr id="32" name="Shape 30"/>
          <p:cNvSpPr/>
          <p:nvPr/>
        </p:nvSpPr>
        <p:spPr>
          <a:xfrm>
            <a:off x="8339328" y="338328"/>
            <a:ext cx="100584" cy="100584"/>
          </a:xfrm>
          <a:prstGeom prst="ellipse">
            <a:avLst/>
          </a:prstGeom>
          <a:solidFill>
            <a:srgbClr val="C4621D"/>
          </a:solidFill>
          <a:ln w="12700">
            <a:solidFill>
              <a:srgbClr val="C4621D"/>
            </a:solidFill>
            <a:prstDash val="solid"/>
          </a:ln>
        </p:spPr>
      </p:sp>
      <p:sp>
        <p:nvSpPr>
          <p:cNvPr id="33" name="Shape 31"/>
          <p:cNvSpPr/>
          <p:nvPr/>
        </p:nvSpPr>
        <p:spPr>
          <a:xfrm>
            <a:off x="8513064" y="338328"/>
            <a:ext cx="100584" cy="100584"/>
          </a:xfrm>
          <a:prstGeom prst="ellipse">
            <a:avLst/>
          </a:prstGeom>
          <a:solidFill>
            <a:srgbClr val="B83B2E"/>
          </a:solidFill>
          <a:ln w="12700">
            <a:solidFill>
              <a:srgbClr val="B83B2E"/>
            </a:solidFill>
            <a:prstDash val="solid"/>
          </a:ln>
        </p:spPr>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01</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The series</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Why can satellite images of the night say something about an economy?</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5C242"/>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THE SERIES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 seen from space is a trace of human activity</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291840" cy="896112"/>
          </a:xfrm>
          <a:prstGeom prst="roundRect">
            <a:avLst>
              <a:gd name="adj" fmla="val 8163"/>
            </a:avLst>
          </a:prstGeom>
          <a:solidFill>
            <a:srgbClr val="E8F5EF"/>
          </a:solidFill>
          <a:ln w="15875">
            <a:solidFill>
              <a:srgbClr val="00A86A"/>
            </a:solidFill>
            <a:prstDash val="solid"/>
          </a:ln>
        </p:spPr>
      </p:sp>
      <p:sp>
        <p:nvSpPr>
          <p:cNvPr id="12" name="Text 9"/>
          <p:cNvSpPr txBox="1"/>
          <p:nvPr/>
        </p:nvSpPr>
        <p:spPr>
          <a:xfrm>
            <a:off x="640080" y="1463040"/>
            <a:ext cx="3017520" cy="4572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~463 m</a:t>
            </a:r>
            <a:endParaRPr lang="en-US" sz="3000" dirty="0"/>
          </a:p>
        </p:txBody>
      </p:sp>
      <p:sp>
        <p:nvSpPr>
          <p:cNvPr id="13" name="Text 10"/>
          <p:cNvSpPr txBox="1"/>
          <p:nvPr/>
        </p:nvSpPr>
        <p:spPr>
          <a:xfrm>
            <a:off x="640080" y="1920240"/>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pixel size (15 arc-seconds)</a:t>
            </a:r>
            <a:endParaRPr lang="en-US" sz="1100" dirty="0"/>
          </a:p>
        </p:txBody>
      </p:sp>
      <p:sp>
        <p:nvSpPr>
          <p:cNvPr id="14" name="Shape 11"/>
          <p:cNvSpPr/>
          <p:nvPr/>
        </p:nvSpPr>
        <p:spPr>
          <a:xfrm>
            <a:off x="457200" y="2395728"/>
            <a:ext cx="3291840" cy="896112"/>
          </a:xfrm>
          <a:prstGeom prst="roundRect">
            <a:avLst>
              <a:gd name="adj" fmla="val 8163"/>
            </a:avLst>
          </a:prstGeom>
          <a:solidFill>
            <a:srgbClr val="F4F7F5"/>
          </a:solidFill>
          <a:ln w="9525">
            <a:solidFill>
              <a:srgbClr val="D5DED9"/>
            </a:solidFill>
            <a:prstDash val="solid"/>
          </a:ln>
        </p:spPr>
      </p:sp>
      <p:sp>
        <p:nvSpPr>
          <p:cNvPr id="15" name="Text 12"/>
          <p:cNvSpPr txBox="1"/>
          <p:nvPr/>
        </p:nvSpPr>
        <p:spPr>
          <a:xfrm>
            <a:off x="640080" y="2487168"/>
            <a:ext cx="3017520" cy="457200"/>
          </a:xfrm>
          <a:prstGeom prst="rect">
            <a:avLst/>
          </a:prstGeom>
          <a:noFill/>
          <a:ln/>
        </p:spPr>
        <p:txBody>
          <a:bodyPr wrap="square" lIns="0" tIns="0" rIns="0" bIns="0" rtlCol="0" anchor="t"/>
          <a:lstStyle/>
          <a:p>
            <a:pPr indent="0" marL="0">
              <a:buNone/>
            </a:pPr>
            <a:r>
              <a:rPr lang="en-US" sz="3000" b="1" dirty="0">
                <a:solidFill>
                  <a:srgbClr val="00704A"/>
                </a:solidFill>
                <a:latin typeface="Calibri" pitchFamily="34" charset="0"/>
                <a:ea typeface="Calibri" pitchFamily="34" charset="-122"/>
                <a:cs typeface="Calibri" pitchFamily="34" charset="-120"/>
              </a:rPr>
              <a:t>Every night</a:t>
            </a:r>
            <a:endParaRPr lang="en-US" sz="3000" dirty="0"/>
          </a:p>
        </p:txBody>
      </p:sp>
      <p:sp>
        <p:nvSpPr>
          <p:cNvPr id="16" name="Text 13"/>
          <p:cNvSpPr txBox="1"/>
          <p:nvPr/>
        </p:nvSpPr>
        <p:spPr>
          <a:xfrm>
            <a:off x="640080" y="2944368"/>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since 19 January 2012 (Black Marble)</a:t>
            </a:r>
            <a:endParaRPr lang="en-US" sz="1100" dirty="0"/>
          </a:p>
        </p:txBody>
      </p:sp>
      <p:sp>
        <p:nvSpPr>
          <p:cNvPr id="17" name="Shape 14"/>
          <p:cNvSpPr/>
          <p:nvPr/>
        </p:nvSpPr>
        <p:spPr>
          <a:xfrm>
            <a:off x="457200" y="3419856"/>
            <a:ext cx="3291840" cy="896112"/>
          </a:xfrm>
          <a:prstGeom prst="roundRect">
            <a:avLst>
              <a:gd name="adj" fmla="val 8163"/>
            </a:avLst>
          </a:prstGeom>
          <a:solidFill>
            <a:srgbClr val="F4F7F5"/>
          </a:solidFill>
          <a:ln w="9525">
            <a:solidFill>
              <a:srgbClr val="D5DED9"/>
            </a:solidFill>
            <a:prstDash val="solid"/>
          </a:ln>
        </p:spPr>
      </p:sp>
      <p:sp>
        <p:nvSpPr>
          <p:cNvPr id="18" name="Text 15"/>
          <p:cNvSpPr txBox="1"/>
          <p:nvPr/>
        </p:nvSpPr>
        <p:spPr>
          <a:xfrm>
            <a:off x="640080" y="3511296"/>
            <a:ext cx="3017520" cy="4572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01:30</a:t>
            </a:r>
            <a:endParaRPr lang="en-US" sz="3000" dirty="0"/>
          </a:p>
        </p:txBody>
      </p:sp>
      <p:sp>
        <p:nvSpPr>
          <p:cNvPr id="19" name="Text 16"/>
          <p:cNvSpPr txBox="1"/>
          <p:nvPr/>
        </p:nvSpPr>
        <p:spPr>
          <a:xfrm>
            <a:off x="640080" y="3968496"/>
            <a:ext cx="3017520" cy="27432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local overpass time of the satellite</a:t>
            </a:r>
            <a:endParaRPr lang="en-US" sz="1100" dirty="0"/>
          </a:p>
        </p:txBody>
      </p:sp>
      <p:sp>
        <p:nvSpPr>
          <p:cNvPr id="20" name="Shape 17"/>
          <p:cNvSpPr/>
          <p:nvPr/>
        </p:nvSpPr>
        <p:spPr>
          <a:xfrm>
            <a:off x="4114800" y="1481328"/>
            <a:ext cx="566928" cy="566928"/>
          </a:xfrm>
          <a:prstGeom prst="ellipse">
            <a:avLst/>
          </a:prstGeom>
          <a:solidFill>
            <a:srgbClr val="00A86A">
              <a:alpha val="22000"/>
            </a:srgbClr>
          </a:solidFill>
          <a:ln w="12700">
            <a:solidFill>
              <a:srgbClr val="00A86A">
                <a:alpha val="0"/>
              </a:srgbClr>
            </a:solidFill>
            <a:prstDash val="solid"/>
          </a:ln>
        </p:spPr>
      </p:sp>
      <p:pic>
        <p:nvPicPr>
          <p:cNvPr id="21" name="Image 0" descr="preencoded.png">    </p:cNvPr>
          <p:cNvPicPr>
            <a:picLocks noChangeAspect="1"/>
          </p:cNvPicPr>
          <p:nvPr/>
        </p:nvPicPr>
        <p:blipFill>
          <a:blip r:embed="rId1"/>
          <a:stretch>
            <a:fillRect/>
          </a:stretch>
        </p:blipFill>
        <p:spPr>
          <a:xfrm>
            <a:off x="4250863" y="1617391"/>
            <a:ext cx="294803" cy="294803"/>
          </a:xfrm>
          <a:prstGeom prst="rect">
            <a:avLst/>
          </a:prstGeom>
        </p:spPr>
      </p:pic>
      <p:sp>
        <p:nvSpPr>
          <p:cNvPr id="22" name="Text 18"/>
          <p:cNvSpPr txBox="1"/>
          <p:nvPr/>
        </p:nvSpPr>
        <p:spPr>
          <a:xfrm>
            <a:off x="4846320" y="1417320"/>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What lights capture well</a:t>
            </a:r>
            <a:endParaRPr lang="en-US" sz="1300" dirty="0"/>
          </a:p>
        </p:txBody>
      </p:sp>
      <p:sp>
        <p:nvSpPr>
          <p:cNvPr id="23" name="Text 19"/>
          <p:cNvSpPr txBox="1"/>
          <p:nvPr/>
        </p:nvSpPr>
        <p:spPr>
          <a:xfrm>
            <a:off x="4846320" y="1719072"/>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Urban activity, industry running at night, electrification, power cuts, displacement, sudden shocks</a:t>
            </a:r>
            <a:endParaRPr lang="en-US" sz="1100" dirty="0"/>
          </a:p>
        </p:txBody>
      </p:sp>
      <p:sp>
        <p:nvSpPr>
          <p:cNvPr id="24" name="Shape 20"/>
          <p:cNvSpPr/>
          <p:nvPr/>
        </p:nvSpPr>
        <p:spPr>
          <a:xfrm>
            <a:off x="4114800" y="2505456"/>
            <a:ext cx="566928" cy="566928"/>
          </a:xfrm>
          <a:prstGeom prst="ellipse">
            <a:avLst/>
          </a:prstGeom>
          <a:solidFill>
            <a:srgbClr val="00704A">
              <a:alpha val="22000"/>
            </a:srgbClr>
          </a:solidFill>
          <a:ln w="12700">
            <a:solidFill>
              <a:srgbClr val="00704A">
                <a:alpha val="0"/>
              </a:srgbClr>
            </a:solidFill>
            <a:prstDash val="solid"/>
          </a:ln>
        </p:spPr>
      </p:sp>
      <p:pic>
        <p:nvPicPr>
          <p:cNvPr id="25" name="Image 1" descr="preencoded.png">    </p:cNvPr>
          <p:cNvPicPr>
            <a:picLocks noChangeAspect="1"/>
          </p:cNvPicPr>
          <p:nvPr/>
        </p:nvPicPr>
        <p:blipFill>
          <a:blip r:embed="rId2"/>
          <a:stretch>
            <a:fillRect/>
          </a:stretch>
        </p:blipFill>
        <p:spPr>
          <a:xfrm>
            <a:off x="4250863" y="2641519"/>
            <a:ext cx="294803" cy="294803"/>
          </a:xfrm>
          <a:prstGeom prst="rect">
            <a:avLst/>
          </a:prstGeom>
        </p:spPr>
      </p:pic>
      <p:sp>
        <p:nvSpPr>
          <p:cNvPr id="26" name="Text 21"/>
          <p:cNvSpPr txBox="1"/>
          <p:nvPr/>
        </p:nvSpPr>
        <p:spPr>
          <a:xfrm>
            <a:off x="4846320" y="2441448"/>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What they see poorly</a:t>
            </a:r>
            <a:endParaRPr lang="en-US" sz="1300" dirty="0"/>
          </a:p>
        </p:txBody>
      </p:sp>
      <p:sp>
        <p:nvSpPr>
          <p:cNvPr id="27" name="Text 22"/>
          <p:cNvSpPr txBox="1"/>
          <p:nvPr/>
        </p:nvSpPr>
        <p:spPr>
          <a:xfrm>
            <a:off x="4846320" y="2743200"/>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Agriculture, daytime trade, much of the services sector and the rural informal economy</a:t>
            </a:r>
            <a:endParaRPr lang="en-US" sz="1100" dirty="0"/>
          </a:p>
        </p:txBody>
      </p:sp>
      <p:sp>
        <p:nvSpPr>
          <p:cNvPr id="28" name="Shape 23"/>
          <p:cNvSpPr/>
          <p:nvPr/>
        </p:nvSpPr>
        <p:spPr>
          <a:xfrm>
            <a:off x="4114800" y="3529584"/>
            <a:ext cx="566928" cy="566928"/>
          </a:xfrm>
          <a:prstGeom prst="ellipse">
            <a:avLst/>
          </a:prstGeom>
          <a:solidFill>
            <a:srgbClr val="0E7C86">
              <a:alpha val="22000"/>
            </a:srgbClr>
          </a:solidFill>
          <a:ln w="12700">
            <a:solidFill>
              <a:srgbClr val="0E7C86">
                <a:alpha val="0"/>
              </a:srgbClr>
            </a:solidFill>
            <a:prstDash val="solid"/>
          </a:ln>
        </p:spPr>
      </p:sp>
      <p:pic>
        <p:nvPicPr>
          <p:cNvPr id="29" name="Image 2" descr="preencoded.png">    </p:cNvPr>
          <p:cNvPicPr>
            <a:picLocks noChangeAspect="1"/>
          </p:cNvPicPr>
          <p:nvPr/>
        </p:nvPicPr>
        <p:blipFill>
          <a:blip r:embed="rId3"/>
          <a:stretch>
            <a:fillRect/>
          </a:stretch>
        </p:blipFill>
        <p:spPr>
          <a:xfrm>
            <a:off x="4250863" y="3665647"/>
            <a:ext cx="294803" cy="294803"/>
          </a:xfrm>
          <a:prstGeom prst="rect">
            <a:avLst/>
          </a:prstGeom>
        </p:spPr>
      </p:pic>
      <p:sp>
        <p:nvSpPr>
          <p:cNvPr id="30" name="Text 24"/>
          <p:cNvSpPr txBox="1"/>
          <p:nvPr/>
        </p:nvSpPr>
        <p:spPr>
          <a:xfrm>
            <a:off x="4846320" y="3465576"/>
            <a:ext cx="384048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How to use them</a:t>
            </a:r>
            <a:endParaRPr lang="en-US" sz="1300" dirty="0"/>
          </a:p>
        </p:txBody>
      </p:sp>
      <p:sp>
        <p:nvSpPr>
          <p:cNvPr id="31" name="Text 25"/>
          <p:cNvSpPr txBox="1"/>
          <p:nvPr/>
        </p:nvSpPr>
        <p:spPr>
          <a:xfrm>
            <a:off x="4846320" y="3767328"/>
            <a:ext cx="3840480" cy="566928"/>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As a complement to official statistics: direction, timing and geography of activity — not a replacement for GDP</a:t>
            </a:r>
            <a:endParaRPr lang="en-US" sz="1100" dirty="0"/>
          </a:p>
        </p:txBody>
      </p:sp>
      <p:sp>
        <p:nvSpPr>
          <p:cNvPr id="32" name="Text 2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Román et al. (2018); Henderson, Storeygard &amp; Weil (2012); Chen &amp; Nordhaus (2011)</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01 · THE SERIES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Three notebooks, one chain, one parameter</a:t>
            </a:r>
            <a:endParaRPr lang="en-US" sz="2800" dirty="0"/>
          </a:p>
        </p:txBody>
      </p:sp>
      <p:sp>
        <p:nvSpPr>
          <p:cNvPr id="4" name="dot0"/>
          <p:cNvSpPr/>
          <p:nvPr/>
        </p:nvSpPr>
        <p:spPr>
          <a:xfrm>
            <a:off x="7644384" y="338328"/>
            <a:ext cx="100584" cy="100584"/>
          </a:xfrm>
          <a:prstGeom prst="ellipse">
            <a:avLst/>
          </a:prstGeom>
          <a:solidFill>
            <a:srgbClr val="00A86A"/>
          </a:solidFill>
          <a:ln w="12700">
            <a:solidFill>
              <a:srgbClr val="00A86A"/>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2560320" cy="3108960"/>
          </a:xfrm>
          <a:prstGeom prst="roundRect">
            <a:avLst>
              <a:gd name="adj" fmla="val 2857"/>
            </a:avLst>
          </a:prstGeom>
          <a:solidFill>
            <a:srgbClr val="E8F5EF"/>
          </a:solidFill>
          <a:ln w="15875">
            <a:solidFill>
              <a:srgbClr val="00704A"/>
            </a:solidFill>
            <a:prstDash val="solid"/>
          </a:ln>
        </p:spPr>
      </p:sp>
      <p:sp>
        <p:nvSpPr>
          <p:cNvPr id="12" name="Shape 9"/>
          <p:cNvSpPr/>
          <p:nvPr/>
        </p:nvSpPr>
        <p:spPr>
          <a:xfrm>
            <a:off x="640080" y="1508760"/>
            <a:ext cx="548640" cy="54864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71754" y="1640434"/>
            <a:ext cx="285293" cy="285293"/>
          </a:xfrm>
          <a:prstGeom prst="rect">
            <a:avLst/>
          </a:prstGeom>
        </p:spPr>
      </p:pic>
      <p:sp>
        <p:nvSpPr>
          <p:cNvPr id="14" name="Text 10"/>
          <p:cNvSpPr txBox="1"/>
          <p:nvPr/>
        </p:nvSpPr>
        <p:spPr>
          <a:xfrm>
            <a:off x="132588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1 · Collect</a:t>
            </a:r>
            <a:endParaRPr lang="en-US" sz="1300" dirty="0"/>
          </a:p>
        </p:txBody>
      </p:sp>
      <p:sp>
        <p:nvSpPr>
          <p:cNvPr id="15" name="Text 11"/>
          <p:cNvSpPr txBox="1"/>
          <p:nvPr/>
        </p:nvSpPr>
        <p:spPr>
          <a:xfrm>
            <a:off x="640080" y="2167128"/>
            <a:ext cx="2240280" cy="411480"/>
          </a:xfrm>
          <a:prstGeom prst="rect">
            <a:avLst/>
          </a:prstGeom>
          <a:noFill/>
          <a:ln/>
        </p:spPr>
        <p:txBody>
          <a:bodyPr wrap="square" lIns="0" tIns="0" rIns="0" bIns="0" rtlCol="0" anchor="t"/>
          <a:lstStyle/>
          <a:p>
            <a:pPr indent="0" marL="0">
              <a:buNone/>
            </a:pPr>
            <a:r>
              <a:rPr lang="en-US" sz="1050" i="1" dirty="0">
                <a:solidFill>
                  <a:srgbClr val="00704A"/>
                </a:solidFill>
                <a:latin typeface="Calibri" pitchFamily="34" charset="0"/>
                <a:ea typeface="Calibri" pitchFamily="34" charset="-122"/>
                <a:cs typeface="Calibri" pitchFamily="34" charset="-120"/>
              </a:rPr>
              <a:t>NASA Black Marble (VNP46A1–A4)</a:t>
            </a:r>
            <a:endParaRPr lang="en-US" sz="1050" dirty="0"/>
          </a:p>
        </p:txBody>
      </p:sp>
      <p:sp>
        <p:nvSpPr>
          <p:cNvPr id="16" name="Text 12"/>
          <p:cNvSpPr txBox="1"/>
          <p:nvPr/>
        </p:nvSpPr>
        <p:spPr>
          <a:xfrm>
            <a:off x="640080" y="2624328"/>
            <a:ext cx="22402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Country extent and VIIRS tiles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NASA CMR catalogue query</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Availability matrix, verified download</a:t>
            </a:r>
            <a:endParaRPr lang="en-US" sz="1100" dirty="0"/>
          </a:p>
        </p:txBody>
      </p:sp>
      <p:sp>
        <p:nvSpPr>
          <p:cNvPr id="17" name="Text 13"/>
          <p:cNvSpPr txBox="1"/>
          <p:nvPr/>
        </p:nvSpPr>
        <p:spPr>
          <a:xfrm>
            <a:off x="64008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Out: .h5 files, inventory, session log</a:t>
            </a:r>
            <a:endParaRPr lang="en-US" sz="1050" dirty="0"/>
          </a:p>
        </p:txBody>
      </p:sp>
      <p:sp>
        <p:nvSpPr>
          <p:cNvPr id="18" name="Shape 14"/>
          <p:cNvSpPr/>
          <p:nvPr/>
        </p:nvSpPr>
        <p:spPr>
          <a:xfrm>
            <a:off x="3044952" y="2880360"/>
            <a:ext cx="219456" cy="914"/>
          </a:xfrm>
          <a:prstGeom prst="line">
            <a:avLst/>
          </a:prstGeom>
          <a:noFill/>
          <a:ln w="15875">
            <a:solidFill>
              <a:srgbClr val="5E6964"/>
            </a:solidFill>
            <a:prstDash val="solid"/>
            <a:tailEnd type="triangle"/>
          </a:ln>
        </p:spPr>
      </p:sp>
      <p:sp>
        <p:nvSpPr>
          <p:cNvPr id="19" name="Shape 15"/>
          <p:cNvSpPr/>
          <p:nvPr/>
        </p:nvSpPr>
        <p:spPr>
          <a:xfrm>
            <a:off x="3291840" y="1325880"/>
            <a:ext cx="2560320" cy="3108960"/>
          </a:xfrm>
          <a:prstGeom prst="roundRect">
            <a:avLst>
              <a:gd name="adj" fmla="val 2857"/>
            </a:avLst>
          </a:prstGeom>
          <a:solidFill>
            <a:srgbClr val="F4F7F5"/>
          </a:solidFill>
          <a:ln w="9525">
            <a:solidFill>
              <a:srgbClr val="D5DED9"/>
            </a:solidFill>
            <a:prstDash val="solid"/>
          </a:ln>
        </p:spPr>
      </p:sp>
      <p:sp>
        <p:nvSpPr>
          <p:cNvPr id="20" name="Shape 16"/>
          <p:cNvSpPr/>
          <p:nvPr/>
        </p:nvSpPr>
        <p:spPr>
          <a:xfrm>
            <a:off x="3474720" y="1508760"/>
            <a:ext cx="548640" cy="548640"/>
          </a:xfrm>
          <a:prstGeom prst="ellipse">
            <a:avLst/>
          </a:prstGeom>
          <a:solidFill>
            <a:srgbClr val="0E7C86">
              <a:alpha val="22000"/>
            </a:srgbClr>
          </a:solidFill>
          <a:ln w="12700">
            <a:solidFill>
              <a:srgbClr val="0E7C86">
                <a:alpha val="0"/>
              </a:srgbClr>
            </a:solidFill>
            <a:prstDash val="solid"/>
          </a:ln>
        </p:spPr>
      </p:sp>
      <p:pic>
        <p:nvPicPr>
          <p:cNvPr id="21" name="Image 1" descr="preencoded.png">    </p:cNvPr>
          <p:cNvPicPr>
            <a:picLocks noChangeAspect="1"/>
          </p:cNvPicPr>
          <p:nvPr/>
        </p:nvPicPr>
        <p:blipFill>
          <a:blip r:embed="rId2"/>
          <a:stretch>
            <a:fillRect/>
          </a:stretch>
        </p:blipFill>
        <p:spPr>
          <a:xfrm>
            <a:off x="3606394" y="1640434"/>
            <a:ext cx="285293" cy="285293"/>
          </a:xfrm>
          <a:prstGeom prst="rect">
            <a:avLst/>
          </a:prstGeom>
        </p:spPr>
      </p:pic>
      <p:sp>
        <p:nvSpPr>
          <p:cNvPr id="22" name="Text 17"/>
          <p:cNvSpPr txBox="1"/>
          <p:nvPr/>
        </p:nvSpPr>
        <p:spPr>
          <a:xfrm>
            <a:off x="416052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2 · Explore</a:t>
            </a:r>
            <a:endParaRPr lang="en-US" sz="1300" dirty="0"/>
          </a:p>
        </p:txBody>
      </p:sp>
      <p:sp>
        <p:nvSpPr>
          <p:cNvPr id="23" name="Text 18"/>
          <p:cNvSpPr txBox="1"/>
          <p:nvPr/>
        </p:nvSpPr>
        <p:spPr>
          <a:xfrm>
            <a:off x="3474720" y="2167128"/>
            <a:ext cx="2240280" cy="411480"/>
          </a:xfrm>
          <a:prstGeom prst="rect">
            <a:avLst/>
          </a:prstGeom>
          <a:noFill/>
          <a:ln/>
        </p:spPr>
        <p:txBody>
          <a:bodyPr wrap="square" lIns="0" tIns="0" rIns="0" bIns="0" rtlCol="0" anchor="t"/>
          <a:lstStyle/>
          <a:p>
            <a:pPr indent="0" marL="0">
              <a:buNone/>
            </a:pPr>
            <a:r>
              <a:rPr lang="en-US" sz="1050" i="1" dirty="0">
                <a:solidFill>
                  <a:srgbClr val="0E7C86"/>
                </a:solidFill>
                <a:latin typeface="Calibri" pitchFamily="34" charset="0"/>
                <a:ea typeface="Calibri" pitchFamily="34" charset="-122"/>
                <a:cs typeface="Calibri" pitchFamily="34" charset="-120"/>
              </a:rPr>
              <a:t>Anatomy of a Black Marble file</a:t>
            </a:r>
            <a:endParaRPr lang="en-US" sz="1050" dirty="0"/>
          </a:p>
        </p:txBody>
      </p:sp>
      <p:sp>
        <p:nvSpPr>
          <p:cNvPr id="24" name="Text 19"/>
          <p:cNvSpPr txBox="1"/>
          <p:nvPr/>
        </p:nvSpPr>
        <p:spPr>
          <a:xfrm>
            <a:off x="3474720" y="2624328"/>
            <a:ext cx="22402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HDF5 tree, layers, attributes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Decoding, quality flags, masks</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Mosaic, clip, distribution</a:t>
            </a:r>
            <a:endParaRPr lang="en-US" sz="1100" dirty="0"/>
          </a:p>
        </p:txBody>
      </p:sp>
      <p:sp>
        <p:nvSpPr>
          <p:cNvPr id="25" name="Text 20"/>
          <p:cNvSpPr txBox="1"/>
          <p:nvPr/>
        </p:nvSpPr>
        <p:spPr>
          <a:xfrm>
            <a:off x="347472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Out: GeoTIFF, CSV, metadata JSON</a:t>
            </a:r>
            <a:endParaRPr lang="en-US" sz="1050" dirty="0"/>
          </a:p>
        </p:txBody>
      </p:sp>
      <p:sp>
        <p:nvSpPr>
          <p:cNvPr id="26" name="Shape 21"/>
          <p:cNvSpPr/>
          <p:nvPr/>
        </p:nvSpPr>
        <p:spPr>
          <a:xfrm>
            <a:off x="5879592" y="2880360"/>
            <a:ext cx="219456" cy="914"/>
          </a:xfrm>
          <a:prstGeom prst="line">
            <a:avLst/>
          </a:prstGeom>
          <a:noFill/>
          <a:ln w="15875">
            <a:solidFill>
              <a:srgbClr val="5E6964"/>
            </a:solidFill>
            <a:prstDash val="solid"/>
            <a:tailEnd type="triangle"/>
          </a:ln>
        </p:spPr>
      </p:sp>
      <p:sp>
        <p:nvSpPr>
          <p:cNvPr id="27" name="Shape 22"/>
          <p:cNvSpPr/>
          <p:nvPr/>
        </p:nvSpPr>
        <p:spPr>
          <a:xfrm>
            <a:off x="6126480" y="1325880"/>
            <a:ext cx="2560320" cy="3108960"/>
          </a:xfrm>
          <a:prstGeom prst="roundRect">
            <a:avLst>
              <a:gd name="adj" fmla="val 2857"/>
            </a:avLst>
          </a:prstGeom>
          <a:solidFill>
            <a:srgbClr val="F4F7F5"/>
          </a:solidFill>
          <a:ln w="9525">
            <a:solidFill>
              <a:srgbClr val="D5DED9"/>
            </a:solidFill>
            <a:prstDash val="solid"/>
          </a:ln>
        </p:spPr>
      </p:sp>
      <p:sp>
        <p:nvSpPr>
          <p:cNvPr id="28" name="Shape 23"/>
          <p:cNvSpPr/>
          <p:nvPr/>
        </p:nvSpPr>
        <p:spPr>
          <a:xfrm>
            <a:off x="6309360" y="1508760"/>
            <a:ext cx="548640" cy="548640"/>
          </a:xfrm>
          <a:prstGeom prst="ellipse">
            <a:avLst/>
          </a:prstGeom>
          <a:solidFill>
            <a:srgbClr val="D49A00">
              <a:alpha val="22000"/>
            </a:srgbClr>
          </a:solidFill>
          <a:ln w="12700">
            <a:solidFill>
              <a:srgbClr val="D49A00">
                <a:alpha val="0"/>
              </a:srgbClr>
            </a:solidFill>
            <a:prstDash val="solid"/>
          </a:ln>
        </p:spPr>
      </p:sp>
      <p:pic>
        <p:nvPicPr>
          <p:cNvPr id="29" name="Image 2" descr="preencoded.png">    </p:cNvPr>
          <p:cNvPicPr>
            <a:picLocks noChangeAspect="1"/>
          </p:cNvPicPr>
          <p:nvPr/>
        </p:nvPicPr>
        <p:blipFill>
          <a:blip r:embed="rId3"/>
          <a:stretch>
            <a:fillRect/>
          </a:stretch>
        </p:blipFill>
        <p:spPr>
          <a:xfrm>
            <a:off x="6441034" y="1640434"/>
            <a:ext cx="285293" cy="285293"/>
          </a:xfrm>
          <a:prstGeom prst="rect">
            <a:avLst/>
          </a:prstGeom>
        </p:spPr>
      </p:pic>
      <p:sp>
        <p:nvSpPr>
          <p:cNvPr id="30" name="Text 24"/>
          <p:cNvSpPr txBox="1"/>
          <p:nvPr/>
        </p:nvSpPr>
        <p:spPr>
          <a:xfrm>
            <a:off x="6995160" y="1508760"/>
            <a:ext cx="1600200" cy="54864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Notebook 3 · Analyse</a:t>
            </a:r>
            <a:endParaRPr lang="en-US" sz="1300" dirty="0"/>
          </a:p>
        </p:txBody>
      </p:sp>
      <p:sp>
        <p:nvSpPr>
          <p:cNvPr id="31" name="Text 25"/>
          <p:cNvSpPr txBox="1"/>
          <p:nvPr/>
        </p:nvSpPr>
        <p:spPr>
          <a:xfrm>
            <a:off x="6309360" y="2167128"/>
            <a:ext cx="2240280" cy="411480"/>
          </a:xfrm>
          <a:prstGeom prst="rect">
            <a:avLst/>
          </a:prstGeom>
          <a:noFill/>
          <a:ln/>
        </p:spPr>
        <p:txBody>
          <a:bodyPr wrap="square" lIns="0" tIns="0" rIns="0" bIns="0" rtlCol="0" anchor="t"/>
          <a:lstStyle/>
          <a:p>
            <a:pPr indent="0" marL="0">
              <a:buNone/>
            </a:pPr>
            <a:r>
              <a:rPr lang="en-US" sz="1050" i="1" dirty="0">
                <a:solidFill>
                  <a:srgbClr val="D49A00"/>
                </a:solidFill>
                <a:latin typeface="Calibri" pitchFamily="34" charset="0"/>
                <a:ea typeface="Calibri" pitchFamily="34" charset="-122"/>
                <a:cs typeface="Calibri" pitchFamily="34" charset="-120"/>
              </a:rPr>
              <a:t>VIIRS VNL V2 + Black Marble on Earth Engine</a:t>
            </a:r>
            <a:endParaRPr lang="en-US" sz="1050" dirty="0"/>
          </a:p>
        </p:txBody>
      </p:sp>
      <p:sp>
        <p:nvSpPr>
          <p:cNvPr id="32" name="Text 26"/>
          <p:cNvSpPr txBox="1"/>
          <p:nvPr/>
        </p:nvSpPr>
        <p:spPr>
          <a:xfrm>
            <a:off x="6309360" y="2624328"/>
            <a:ext cx="2240280" cy="114300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Trends, regions, convergence</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GDP link, shocks, inequality</a:t>
            </a:r>
            <a:endParaRPr lang="en-US" sz="1100" dirty="0"/>
          </a:p>
          <a:p>
            <a:pPr marL="342900" indent="-342900">
              <a:spcAft>
                <a:spcPts val="500"/>
              </a:spcAft>
              <a:buSzPct val="100000"/>
              <a:buChar char="•"/>
            </a:pPr>
            <a:r>
              <a:rPr lang="en-US" sz="1100" dirty="0">
                <a:solidFill>
                  <a:srgbClr val="231F20"/>
                </a:solidFill>
                <a:latin typeface="Calibri" pitchFamily="34" charset="0"/>
                <a:ea typeface="Calibri" pitchFamily="34" charset="-122"/>
                <a:cs typeface="Calibri" pitchFamily="34" charset="-120"/>
              </a:rPr>
              <a:t>Industrial zones</a:t>
            </a:r>
            <a:endParaRPr lang="en-US" sz="1100" dirty="0"/>
          </a:p>
        </p:txBody>
      </p:sp>
      <p:sp>
        <p:nvSpPr>
          <p:cNvPr id="33" name="Text 27"/>
          <p:cNvSpPr txBox="1"/>
          <p:nvPr/>
        </p:nvSpPr>
        <p:spPr>
          <a:xfrm>
            <a:off x="6309360" y="3867912"/>
            <a:ext cx="2240280" cy="411480"/>
          </a:xfrm>
          <a:prstGeom prst="rect">
            <a:avLst/>
          </a:prstGeom>
          <a:noFill/>
          <a:ln/>
        </p:spPr>
        <p:txBody>
          <a:bodyPr wrap="square" lIns="0" tIns="0" rIns="0" bIns="0" rtlCol="0" anchor="t"/>
          <a:lstStyle/>
          <a:p>
            <a:pPr indent="0" marL="0">
              <a:buNone/>
            </a:pPr>
            <a:r>
              <a:rPr lang="en-US" sz="1050" b="1" dirty="0">
                <a:solidFill>
                  <a:srgbClr val="5E6964"/>
                </a:solidFill>
                <a:latin typeface="Calibri" pitchFamily="34" charset="0"/>
                <a:ea typeface="Calibri" pitchFamily="34" charset="-122"/>
                <a:cs typeface="Calibri" pitchFamily="34" charset="-120"/>
              </a:rPr>
              <a:t>Out: dashboard on GitHub Pages</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02</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Collect</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we get the right NASA files, and only those?</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5C242"/>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OBJECTIVE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One ISO3 code in, a verified collection out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81328"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960120" y="1490472"/>
            <a:ext cx="475488" cy="475488"/>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1074237" y="1604589"/>
            <a:ext cx="247254" cy="247254"/>
          </a:xfrm>
          <a:prstGeom prst="rect">
            <a:avLst/>
          </a:prstGeom>
        </p:spPr>
      </p:pic>
      <p:sp>
        <p:nvSpPr>
          <p:cNvPr id="14" name="Text 10"/>
          <p:cNvSpPr txBox="1"/>
          <p:nvPr/>
        </p:nvSpPr>
        <p:spPr>
          <a:xfrm>
            <a:off x="566928"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1</a:t>
            </a:r>
            <a:endParaRPr lang="en-US" sz="1300" dirty="0"/>
          </a:p>
        </p:txBody>
      </p:sp>
      <p:sp>
        <p:nvSpPr>
          <p:cNvPr id="15" name="Text 11"/>
          <p:cNvSpPr txBox="1"/>
          <p:nvPr/>
        </p:nvSpPr>
        <p:spPr>
          <a:xfrm>
            <a:off x="530352"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Environment</a:t>
            </a:r>
            <a:endParaRPr lang="en-US" sz="1100" dirty="0"/>
          </a:p>
        </p:txBody>
      </p:sp>
      <p:sp>
        <p:nvSpPr>
          <p:cNvPr id="16" name="Shape 12"/>
          <p:cNvSpPr/>
          <p:nvPr/>
        </p:nvSpPr>
        <p:spPr>
          <a:xfrm>
            <a:off x="2121408" y="1371600"/>
            <a:ext cx="1481328"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2624328" y="1490472"/>
            <a:ext cx="475488" cy="475488"/>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2738445" y="1604589"/>
            <a:ext cx="247254" cy="247254"/>
          </a:xfrm>
          <a:prstGeom prst="rect">
            <a:avLst/>
          </a:prstGeom>
        </p:spPr>
      </p:pic>
      <p:sp>
        <p:nvSpPr>
          <p:cNvPr id="19" name="Text 14"/>
          <p:cNvSpPr txBox="1"/>
          <p:nvPr/>
        </p:nvSpPr>
        <p:spPr>
          <a:xfrm>
            <a:off x="2231136"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2</a:t>
            </a:r>
            <a:endParaRPr lang="en-US" sz="1300" dirty="0"/>
          </a:p>
        </p:txBody>
      </p:sp>
      <p:sp>
        <p:nvSpPr>
          <p:cNvPr id="20" name="Text 15"/>
          <p:cNvSpPr txBox="1"/>
          <p:nvPr/>
        </p:nvSpPr>
        <p:spPr>
          <a:xfrm>
            <a:off x="2194560"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Dependencies</a:t>
            </a:r>
            <a:endParaRPr lang="en-US" sz="1100" dirty="0"/>
          </a:p>
        </p:txBody>
      </p:sp>
      <p:sp>
        <p:nvSpPr>
          <p:cNvPr id="21" name="Shape 16"/>
          <p:cNvSpPr/>
          <p:nvPr/>
        </p:nvSpPr>
        <p:spPr>
          <a:xfrm>
            <a:off x="3785616" y="1371600"/>
            <a:ext cx="1481328"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4288536" y="1490472"/>
            <a:ext cx="475488" cy="475488"/>
          </a:xfrm>
          <a:prstGeom prst="ellipse">
            <a:avLst/>
          </a:prstGeom>
          <a:solidFill>
            <a:srgbClr val="00704A">
              <a:alpha val="22000"/>
            </a:srgbClr>
          </a:solidFill>
          <a:ln w="12700">
            <a:solidFill>
              <a:srgbClr val="00704A">
                <a:alpha val="0"/>
              </a:srgbClr>
            </a:solidFill>
            <a:prstDash val="solid"/>
          </a:ln>
        </p:spPr>
      </p:sp>
      <p:pic>
        <p:nvPicPr>
          <p:cNvPr id="23" name="Image 2" descr="preencoded.png">    </p:cNvPr>
          <p:cNvPicPr>
            <a:picLocks noChangeAspect="1"/>
          </p:cNvPicPr>
          <p:nvPr/>
        </p:nvPicPr>
        <p:blipFill>
          <a:blip r:embed="rId3"/>
          <a:stretch>
            <a:fillRect/>
          </a:stretch>
        </p:blipFill>
        <p:spPr>
          <a:xfrm>
            <a:off x="4402653" y="1604589"/>
            <a:ext cx="247254" cy="247254"/>
          </a:xfrm>
          <a:prstGeom prst="rect">
            <a:avLst/>
          </a:prstGeom>
        </p:spPr>
      </p:pic>
      <p:sp>
        <p:nvSpPr>
          <p:cNvPr id="24" name="Text 18"/>
          <p:cNvSpPr txBox="1"/>
          <p:nvPr/>
        </p:nvSpPr>
        <p:spPr>
          <a:xfrm>
            <a:off x="3895344"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3</a:t>
            </a:r>
            <a:endParaRPr lang="en-US" sz="1300" dirty="0"/>
          </a:p>
        </p:txBody>
      </p:sp>
      <p:sp>
        <p:nvSpPr>
          <p:cNvPr id="25" name="Text 19"/>
          <p:cNvSpPr txBox="1"/>
          <p:nvPr/>
        </p:nvSpPr>
        <p:spPr>
          <a:xfrm>
            <a:off x="3858768"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Token (4 sources)</a:t>
            </a:r>
            <a:endParaRPr lang="en-US" sz="1100" dirty="0"/>
          </a:p>
        </p:txBody>
      </p:sp>
      <p:sp>
        <p:nvSpPr>
          <p:cNvPr id="26" name="Shape 20"/>
          <p:cNvSpPr/>
          <p:nvPr/>
        </p:nvSpPr>
        <p:spPr>
          <a:xfrm>
            <a:off x="5449824" y="1371600"/>
            <a:ext cx="1481328" cy="1115568"/>
          </a:xfrm>
          <a:prstGeom prst="roundRect">
            <a:avLst>
              <a:gd name="adj" fmla="val 6557"/>
            </a:avLst>
          </a:prstGeom>
          <a:solidFill>
            <a:srgbClr val="E8F5EF"/>
          </a:solidFill>
          <a:ln w="15875">
            <a:solidFill>
              <a:srgbClr val="00704A"/>
            </a:solidFill>
            <a:prstDash val="solid"/>
          </a:ln>
        </p:spPr>
      </p:sp>
      <p:sp>
        <p:nvSpPr>
          <p:cNvPr id="27" name="Shape 21"/>
          <p:cNvSpPr/>
          <p:nvPr/>
        </p:nvSpPr>
        <p:spPr>
          <a:xfrm>
            <a:off x="5952744" y="1490472"/>
            <a:ext cx="475488" cy="475488"/>
          </a:xfrm>
          <a:prstGeom prst="ellipse">
            <a:avLst/>
          </a:prstGeom>
          <a:solidFill>
            <a:srgbClr val="00704A">
              <a:alpha val="22000"/>
            </a:srgbClr>
          </a:solidFill>
          <a:ln w="12700">
            <a:solidFill>
              <a:srgbClr val="00704A">
                <a:alpha val="0"/>
              </a:srgbClr>
            </a:solidFill>
            <a:prstDash val="solid"/>
          </a:ln>
        </p:spPr>
      </p:sp>
      <p:pic>
        <p:nvPicPr>
          <p:cNvPr id="28" name="Image 3" descr="preencoded.png">    </p:cNvPr>
          <p:cNvPicPr>
            <a:picLocks noChangeAspect="1"/>
          </p:cNvPicPr>
          <p:nvPr/>
        </p:nvPicPr>
        <p:blipFill>
          <a:blip r:embed="rId4"/>
          <a:stretch>
            <a:fillRect/>
          </a:stretch>
        </p:blipFill>
        <p:spPr>
          <a:xfrm>
            <a:off x="6066861" y="1604589"/>
            <a:ext cx="247254" cy="247254"/>
          </a:xfrm>
          <a:prstGeom prst="rect">
            <a:avLst/>
          </a:prstGeom>
        </p:spPr>
      </p:pic>
      <p:sp>
        <p:nvSpPr>
          <p:cNvPr id="29" name="Text 22"/>
          <p:cNvSpPr txBox="1"/>
          <p:nvPr/>
        </p:nvSpPr>
        <p:spPr>
          <a:xfrm>
            <a:off x="5559552"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4</a:t>
            </a:r>
            <a:endParaRPr lang="en-US" sz="1300" dirty="0"/>
          </a:p>
        </p:txBody>
      </p:sp>
      <p:sp>
        <p:nvSpPr>
          <p:cNvPr id="30" name="Text 23"/>
          <p:cNvSpPr txBox="1"/>
          <p:nvPr/>
        </p:nvSpPr>
        <p:spPr>
          <a:xfrm>
            <a:off x="5522976"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Parameters</a:t>
            </a:r>
            <a:endParaRPr lang="en-US" sz="1100" dirty="0"/>
          </a:p>
        </p:txBody>
      </p:sp>
      <p:sp>
        <p:nvSpPr>
          <p:cNvPr id="31" name="Shape 24"/>
          <p:cNvSpPr/>
          <p:nvPr/>
        </p:nvSpPr>
        <p:spPr>
          <a:xfrm>
            <a:off x="7114032" y="1371600"/>
            <a:ext cx="1481328" cy="1115568"/>
          </a:xfrm>
          <a:prstGeom prst="roundRect">
            <a:avLst>
              <a:gd name="adj" fmla="val 6557"/>
            </a:avLst>
          </a:prstGeom>
          <a:solidFill>
            <a:srgbClr val="F4F7F5"/>
          </a:solidFill>
          <a:ln w="9525">
            <a:solidFill>
              <a:srgbClr val="D5DED9"/>
            </a:solidFill>
            <a:prstDash val="solid"/>
          </a:ln>
        </p:spPr>
      </p:sp>
      <p:sp>
        <p:nvSpPr>
          <p:cNvPr id="32" name="Shape 25"/>
          <p:cNvSpPr/>
          <p:nvPr/>
        </p:nvSpPr>
        <p:spPr>
          <a:xfrm>
            <a:off x="7616952" y="1490472"/>
            <a:ext cx="475488" cy="475488"/>
          </a:xfrm>
          <a:prstGeom prst="ellipse">
            <a:avLst/>
          </a:prstGeom>
          <a:solidFill>
            <a:srgbClr val="00704A">
              <a:alpha val="22000"/>
            </a:srgbClr>
          </a:solidFill>
          <a:ln w="12700">
            <a:solidFill>
              <a:srgbClr val="00704A">
                <a:alpha val="0"/>
              </a:srgbClr>
            </a:solidFill>
            <a:prstDash val="solid"/>
          </a:ln>
        </p:spPr>
      </p:sp>
      <p:pic>
        <p:nvPicPr>
          <p:cNvPr id="33" name="Image 4" descr="preencoded.png">    </p:cNvPr>
          <p:cNvPicPr>
            <a:picLocks noChangeAspect="1"/>
          </p:cNvPicPr>
          <p:nvPr/>
        </p:nvPicPr>
        <p:blipFill>
          <a:blip r:embed="rId5"/>
          <a:stretch>
            <a:fillRect/>
          </a:stretch>
        </p:blipFill>
        <p:spPr>
          <a:xfrm>
            <a:off x="7731069" y="1604589"/>
            <a:ext cx="247254" cy="247254"/>
          </a:xfrm>
          <a:prstGeom prst="rect">
            <a:avLst/>
          </a:prstGeom>
        </p:spPr>
      </p:pic>
      <p:sp>
        <p:nvSpPr>
          <p:cNvPr id="34" name="Text 26"/>
          <p:cNvSpPr txBox="1"/>
          <p:nvPr/>
        </p:nvSpPr>
        <p:spPr>
          <a:xfrm>
            <a:off x="7223760" y="1463040"/>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5</a:t>
            </a:r>
            <a:endParaRPr lang="en-US" sz="1300" dirty="0"/>
          </a:p>
        </p:txBody>
      </p:sp>
      <p:sp>
        <p:nvSpPr>
          <p:cNvPr id="35" name="Text 27"/>
          <p:cNvSpPr txBox="1"/>
          <p:nvPr/>
        </p:nvSpPr>
        <p:spPr>
          <a:xfrm>
            <a:off x="7187184" y="2029968"/>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Extent and tiles</a:t>
            </a:r>
            <a:endParaRPr lang="en-US" sz="1100" dirty="0"/>
          </a:p>
        </p:txBody>
      </p:sp>
      <p:sp>
        <p:nvSpPr>
          <p:cNvPr id="36" name="Shape 28"/>
          <p:cNvSpPr/>
          <p:nvPr/>
        </p:nvSpPr>
        <p:spPr>
          <a:xfrm>
            <a:off x="1289304" y="2670048"/>
            <a:ext cx="1481328" cy="1115568"/>
          </a:xfrm>
          <a:prstGeom prst="roundRect">
            <a:avLst>
              <a:gd name="adj" fmla="val 6557"/>
            </a:avLst>
          </a:prstGeom>
          <a:solidFill>
            <a:srgbClr val="F4F7F5"/>
          </a:solidFill>
          <a:ln w="9525">
            <a:solidFill>
              <a:srgbClr val="D5DED9"/>
            </a:solidFill>
            <a:prstDash val="solid"/>
          </a:ln>
        </p:spPr>
      </p:sp>
      <p:sp>
        <p:nvSpPr>
          <p:cNvPr id="37" name="Shape 29"/>
          <p:cNvSpPr/>
          <p:nvPr/>
        </p:nvSpPr>
        <p:spPr>
          <a:xfrm>
            <a:off x="1792224" y="2788920"/>
            <a:ext cx="475488" cy="475488"/>
          </a:xfrm>
          <a:prstGeom prst="ellipse">
            <a:avLst/>
          </a:prstGeom>
          <a:solidFill>
            <a:srgbClr val="00704A">
              <a:alpha val="22000"/>
            </a:srgbClr>
          </a:solidFill>
          <a:ln w="12700">
            <a:solidFill>
              <a:srgbClr val="00704A">
                <a:alpha val="0"/>
              </a:srgbClr>
            </a:solidFill>
            <a:prstDash val="solid"/>
          </a:ln>
        </p:spPr>
      </p:sp>
      <p:pic>
        <p:nvPicPr>
          <p:cNvPr id="38" name="Image 5" descr="preencoded.png">    </p:cNvPr>
          <p:cNvPicPr>
            <a:picLocks noChangeAspect="1"/>
          </p:cNvPicPr>
          <p:nvPr/>
        </p:nvPicPr>
        <p:blipFill>
          <a:blip r:embed="rId6"/>
          <a:stretch>
            <a:fillRect/>
          </a:stretch>
        </p:blipFill>
        <p:spPr>
          <a:xfrm>
            <a:off x="1906341" y="2903037"/>
            <a:ext cx="247254" cy="247254"/>
          </a:xfrm>
          <a:prstGeom prst="rect">
            <a:avLst/>
          </a:prstGeom>
        </p:spPr>
      </p:pic>
      <p:sp>
        <p:nvSpPr>
          <p:cNvPr id="39" name="Text 30"/>
          <p:cNvSpPr txBox="1"/>
          <p:nvPr/>
        </p:nvSpPr>
        <p:spPr>
          <a:xfrm>
            <a:off x="1399032"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6</a:t>
            </a:r>
            <a:endParaRPr lang="en-US" sz="1300" dirty="0"/>
          </a:p>
        </p:txBody>
      </p:sp>
      <p:sp>
        <p:nvSpPr>
          <p:cNvPr id="40" name="Text 31"/>
          <p:cNvSpPr txBox="1"/>
          <p:nvPr/>
        </p:nvSpPr>
        <p:spPr>
          <a:xfrm>
            <a:off x="1362456"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CMR queries</a:t>
            </a:r>
            <a:endParaRPr lang="en-US" sz="1100" dirty="0"/>
          </a:p>
        </p:txBody>
      </p:sp>
      <p:sp>
        <p:nvSpPr>
          <p:cNvPr id="41" name="Shape 32"/>
          <p:cNvSpPr/>
          <p:nvPr/>
        </p:nvSpPr>
        <p:spPr>
          <a:xfrm>
            <a:off x="2953512" y="2670048"/>
            <a:ext cx="1481328" cy="1115568"/>
          </a:xfrm>
          <a:prstGeom prst="roundRect">
            <a:avLst>
              <a:gd name="adj" fmla="val 6557"/>
            </a:avLst>
          </a:prstGeom>
          <a:solidFill>
            <a:srgbClr val="F4F7F5"/>
          </a:solidFill>
          <a:ln w="9525">
            <a:solidFill>
              <a:srgbClr val="D5DED9"/>
            </a:solidFill>
            <a:prstDash val="solid"/>
          </a:ln>
        </p:spPr>
      </p:sp>
      <p:sp>
        <p:nvSpPr>
          <p:cNvPr id="42" name="Shape 33"/>
          <p:cNvSpPr/>
          <p:nvPr/>
        </p:nvSpPr>
        <p:spPr>
          <a:xfrm>
            <a:off x="3456432" y="2788920"/>
            <a:ext cx="475488" cy="475488"/>
          </a:xfrm>
          <a:prstGeom prst="ellipse">
            <a:avLst/>
          </a:prstGeom>
          <a:solidFill>
            <a:srgbClr val="00704A">
              <a:alpha val="22000"/>
            </a:srgbClr>
          </a:solidFill>
          <a:ln w="12700">
            <a:solidFill>
              <a:srgbClr val="00704A">
                <a:alpha val="0"/>
              </a:srgbClr>
            </a:solidFill>
            <a:prstDash val="solid"/>
          </a:ln>
        </p:spPr>
      </p:sp>
      <p:pic>
        <p:nvPicPr>
          <p:cNvPr id="43" name="Image 6" descr="preencoded.png">    </p:cNvPr>
          <p:cNvPicPr>
            <a:picLocks noChangeAspect="1"/>
          </p:cNvPicPr>
          <p:nvPr/>
        </p:nvPicPr>
        <p:blipFill>
          <a:blip r:embed="rId7"/>
          <a:stretch>
            <a:fillRect/>
          </a:stretch>
        </p:blipFill>
        <p:spPr>
          <a:xfrm>
            <a:off x="3570549" y="2903037"/>
            <a:ext cx="247254" cy="247254"/>
          </a:xfrm>
          <a:prstGeom prst="rect">
            <a:avLst/>
          </a:prstGeom>
        </p:spPr>
      </p:pic>
      <p:sp>
        <p:nvSpPr>
          <p:cNvPr id="44" name="Text 34"/>
          <p:cNvSpPr txBox="1"/>
          <p:nvPr/>
        </p:nvSpPr>
        <p:spPr>
          <a:xfrm>
            <a:off x="3063240"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7</a:t>
            </a:r>
            <a:endParaRPr lang="en-US" sz="1300" dirty="0"/>
          </a:p>
        </p:txBody>
      </p:sp>
      <p:sp>
        <p:nvSpPr>
          <p:cNvPr id="45" name="Text 35"/>
          <p:cNvSpPr txBox="1"/>
          <p:nvPr/>
        </p:nvSpPr>
        <p:spPr>
          <a:xfrm>
            <a:off x="3026664"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Availability test</a:t>
            </a:r>
            <a:endParaRPr lang="en-US" sz="1100" dirty="0"/>
          </a:p>
        </p:txBody>
      </p:sp>
      <p:sp>
        <p:nvSpPr>
          <p:cNvPr id="46" name="Shape 36"/>
          <p:cNvSpPr/>
          <p:nvPr/>
        </p:nvSpPr>
        <p:spPr>
          <a:xfrm>
            <a:off x="4617720" y="2670048"/>
            <a:ext cx="1481328" cy="1115568"/>
          </a:xfrm>
          <a:prstGeom prst="roundRect">
            <a:avLst>
              <a:gd name="adj" fmla="val 6557"/>
            </a:avLst>
          </a:prstGeom>
          <a:solidFill>
            <a:srgbClr val="E8F5EF"/>
          </a:solidFill>
          <a:ln w="15875">
            <a:solidFill>
              <a:srgbClr val="D49A00"/>
            </a:solidFill>
            <a:prstDash val="solid"/>
          </a:ln>
        </p:spPr>
      </p:sp>
      <p:sp>
        <p:nvSpPr>
          <p:cNvPr id="47" name="Shape 37"/>
          <p:cNvSpPr/>
          <p:nvPr/>
        </p:nvSpPr>
        <p:spPr>
          <a:xfrm>
            <a:off x="5120640" y="2788920"/>
            <a:ext cx="475488" cy="475488"/>
          </a:xfrm>
          <a:prstGeom prst="ellipse">
            <a:avLst/>
          </a:prstGeom>
          <a:solidFill>
            <a:srgbClr val="D49A00">
              <a:alpha val="22000"/>
            </a:srgbClr>
          </a:solidFill>
          <a:ln w="12700">
            <a:solidFill>
              <a:srgbClr val="D49A00">
                <a:alpha val="0"/>
              </a:srgbClr>
            </a:solidFill>
            <a:prstDash val="solid"/>
          </a:ln>
        </p:spPr>
      </p:sp>
      <p:pic>
        <p:nvPicPr>
          <p:cNvPr id="48" name="Image 7" descr="preencoded.png">    </p:cNvPr>
          <p:cNvPicPr>
            <a:picLocks noChangeAspect="1"/>
          </p:cNvPicPr>
          <p:nvPr/>
        </p:nvPicPr>
        <p:blipFill>
          <a:blip r:embed="rId8"/>
          <a:stretch>
            <a:fillRect/>
          </a:stretch>
        </p:blipFill>
        <p:spPr>
          <a:xfrm>
            <a:off x="5234757" y="2903037"/>
            <a:ext cx="247254" cy="247254"/>
          </a:xfrm>
          <a:prstGeom prst="rect">
            <a:avLst/>
          </a:prstGeom>
        </p:spPr>
      </p:pic>
      <p:sp>
        <p:nvSpPr>
          <p:cNvPr id="49" name="Text 38"/>
          <p:cNvSpPr txBox="1"/>
          <p:nvPr/>
        </p:nvSpPr>
        <p:spPr>
          <a:xfrm>
            <a:off x="4727448"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8</a:t>
            </a:r>
            <a:endParaRPr lang="en-US" sz="1300" dirty="0"/>
          </a:p>
        </p:txBody>
      </p:sp>
      <p:sp>
        <p:nvSpPr>
          <p:cNvPr id="50" name="Text 39"/>
          <p:cNvSpPr txBox="1"/>
          <p:nvPr/>
        </p:nvSpPr>
        <p:spPr>
          <a:xfrm>
            <a:off x="4690872"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Verified download</a:t>
            </a:r>
            <a:endParaRPr lang="en-US" sz="1100" dirty="0"/>
          </a:p>
        </p:txBody>
      </p:sp>
      <p:sp>
        <p:nvSpPr>
          <p:cNvPr id="51" name="Shape 40"/>
          <p:cNvSpPr/>
          <p:nvPr/>
        </p:nvSpPr>
        <p:spPr>
          <a:xfrm>
            <a:off x="6281928" y="2670048"/>
            <a:ext cx="1481328" cy="1115568"/>
          </a:xfrm>
          <a:prstGeom prst="roundRect">
            <a:avLst>
              <a:gd name="adj" fmla="val 6557"/>
            </a:avLst>
          </a:prstGeom>
          <a:solidFill>
            <a:srgbClr val="F4F7F5"/>
          </a:solidFill>
          <a:ln w="9525">
            <a:solidFill>
              <a:srgbClr val="D5DED9"/>
            </a:solidFill>
            <a:prstDash val="solid"/>
          </a:ln>
        </p:spPr>
      </p:sp>
      <p:sp>
        <p:nvSpPr>
          <p:cNvPr id="52" name="Shape 41"/>
          <p:cNvSpPr/>
          <p:nvPr/>
        </p:nvSpPr>
        <p:spPr>
          <a:xfrm>
            <a:off x="6784848" y="2788920"/>
            <a:ext cx="475488" cy="475488"/>
          </a:xfrm>
          <a:prstGeom prst="ellipse">
            <a:avLst/>
          </a:prstGeom>
          <a:solidFill>
            <a:srgbClr val="00704A">
              <a:alpha val="22000"/>
            </a:srgbClr>
          </a:solidFill>
          <a:ln w="12700">
            <a:solidFill>
              <a:srgbClr val="00704A">
                <a:alpha val="0"/>
              </a:srgbClr>
            </a:solidFill>
            <a:prstDash val="solid"/>
          </a:ln>
        </p:spPr>
      </p:sp>
      <p:pic>
        <p:nvPicPr>
          <p:cNvPr id="53" name="Image 8" descr="preencoded.png">    </p:cNvPr>
          <p:cNvPicPr>
            <a:picLocks noChangeAspect="1"/>
          </p:cNvPicPr>
          <p:nvPr/>
        </p:nvPicPr>
        <p:blipFill>
          <a:blip r:embed="rId9"/>
          <a:stretch>
            <a:fillRect/>
          </a:stretch>
        </p:blipFill>
        <p:spPr>
          <a:xfrm>
            <a:off x="6898965" y="2903037"/>
            <a:ext cx="247254" cy="247254"/>
          </a:xfrm>
          <a:prstGeom prst="rect">
            <a:avLst/>
          </a:prstGeom>
        </p:spPr>
      </p:pic>
      <p:sp>
        <p:nvSpPr>
          <p:cNvPr id="54" name="Text 42"/>
          <p:cNvSpPr txBox="1"/>
          <p:nvPr/>
        </p:nvSpPr>
        <p:spPr>
          <a:xfrm>
            <a:off x="6391656" y="2761488"/>
            <a:ext cx="365760" cy="274320"/>
          </a:xfrm>
          <a:prstGeom prst="rect">
            <a:avLst/>
          </a:prstGeom>
          <a:noFill/>
          <a:ln/>
        </p:spPr>
        <p:txBody>
          <a:bodyPr wrap="square" lIns="0" tIns="0" rIns="0" bIns="0" rtlCol="0" anchor="t"/>
          <a:lstStyle/>
          <a:p>
            <a:pPr indent="0" marL="0">
              <a:buNone/>
            </a:pPr>
            <a:r>
              <a:rPr lang="en-US" sz="1300" b="1" dirty="0">
                <a:solidFill>
                  <a:srgbClr val="F5C242"/>
                </a:solidFill>
                <a:latin typeface="Calibri" pitchFamily="34" charset="0"/>
                <a:ea typeface="Calibri" pitchFamily="34" charset="-122"/>
                <a:cs typeface="Calibri" pitchFamily="34" charset="-120"/>
              </a:rPr>
              <a:t>9</a:t>
            </a:r>
            <a:endParaRPr lang="en-US" sz="1300" dirty="0"/>
          </a:p>
        </p:txBody>
      </p:sp>
      <p:sp>
        <p:nvSpPr>
          <p:cNvPr id="55" name="Text 43"/>
          <p:cNvSpPr txBox="1"/>
          <p:nvPr/>
        </p:nvSpPr>
        <p:spPr>
          <a:xfrm>
            <a:off x="6355080" y="3328416"/>
            <a:ext cx="1335024" cy="384048"/>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Quality control</a:t>
            </a:r>
            <a:endParaRPr lang="en-US" sz="1100" dirty="0"/>
          </a:p>
        </p:txBody>
      </p:sp>
      <p:sp>
        <p:nvSpPr>
          <p:cNvPr id="56" name="Shape 44"/>
          <p:cNvSpPr/>
          <p:nvPr/>
        </p:nvSpPr>
        <p:spPr>
          <a:xfrm>
            <a:off x="457200" y="4069080"/>
            <a:ext cx="2651760" cy="256032"/>
          </a:xfrm>
          <a:prstGeom prst="roundRect">
            <a:avLst>
              <a:gd name="adj" fmla="val 50000"/>
            </a:avLst>
          </a:prstGeom>
          <a:solidFill>
            <a:srgbClr val="00704A">
              <a:alpha val="15000"/>
            </a:srgbClr>
          </a:solidFill>
          <a:ln w="9525">
            <a:solidFill>
              <a:srgbClr val="00704A"/>
            </a:solidFill>
            <a:prstDash val="solid"/>
          </a:ln>
        </p:spPr>
      </p:sp>
      <p:sp>
        <p:nvSpPr>
          <p:cNvPr id="57" name="Text 45"/>
          <p:cNvSpPr txBox="1"/>
          <p:nvPr/>
        </p:nvSpPr>
        <p:spPr>
          <a:xfrm>
            <a:off x="457200" y="4069080"/>
            <a:ext cx="26517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Steps 1–7: no account needed</a:t>
            </a:r>
            <a:endParaRPr lang="en-US" sz="1000" dirty="0"/>
          </a:p>
        </p:txBody>
      </p:sp>
      <p:sp>
        <p:nvSpPr>
          <p:cNvPr id="58" name="Shape 46"/>
          <p:cNvSpPr/>
          <p:nvPr/>
        </p:nvSpPr>
        <p:spPr>
          <a:xfrm>
            <a:off x="3291840" y="4069080"/>
            <a:ext cx="2743200" cy="256032"/>
          </a:xfrm>
          <a:prstGeom prst="roundRect">
            <a:avLst>
              <a:gd name="adj" fmla="val 50000"/>
            </a:avLst>
          </a:prstGeom>
          <a:solidFill>
            <a:srgbClr val="D49A00">
              <a:alpha val="15000"/>
            </a:srgbClr>
          </a:solidFill>
          <a:ln w="9525">
            <a:solidFill>
              <a:srgbClr val="D49A00"/>
            </a:solidFill>
            <a:prstDash val="solid"/>
          </a:ln>
        </p:spPr>
      </p:sp>
      <p:sp>
        <p:nvSpPr>
          <p:cNvPr id="59" name="Text 47"/>
          <p:cNvSpPr txBox="1"/>
          <p:nvPr/>
        </p:nvSpPr>
        <p:spPr>
          <a:xfrm>
            <a:off x="3291840" y="4069080"/>
            <a:ext cx="2743200" cy="256032"/>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Step 8: Earthdata token</a:t>
            </a:r>
            <a:endParaRPr lang="en-US" sz="1000" dirty="0"/>
          </a:p>
        </p:txBody>
      </p:sp>
      <p:sp>
        <p:nvSpPr>
          <p:cNvPr id="60" name="Shape 48"/>
          <p:cNvSpPr/>
          <p:nvPr/>
        </p:nvSpPr>
        <p:spPr>
          <a:xfrm>
            <a:off x="6217920" y="4069080"/>
            <a:ext cx="2468880" cy="256032"/>
          </a:xfrm>
          <a:prstGeom prst="roundRect">
            <a:avLst>
              <a:gd name="adj" fmla="val 50000"/>
            </a:avLst>
          </a:prstGeom>
          <a:solidFill>
            <a:srgbClr val="0E7C86">
              <a:alpha val="15000"/>
            </a:srgbClr>
          </a:solidFill>
          <a:ln w="9525">
            <a:solidFill>
              <a:srgbClr val="0E7C86"/>
            </a:solidFill>
            <a:prstDash val="solid"/>
          </a:ln>
        </p:spPr>
      </p:sp>
      <p:sp>
        <p:nvSpPr>
          <p:cNvPr id="61" name="Text 49"/>
          <p:cNvSpPr txBox="1"/>
          <p:nvPr/>
        </p:nvSpPr>
        <p:spPr>
          <a:xfrm>
            <a:off x="6217920" y="4069080"/>
            <a:ext cx="24688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Rerun safely (idempotent)</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DATASETS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NASA Black Marble: four products, one grid</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920240" cy="2331720"/>
          </a:xfrm>
          <a:prstGeom prst="roundRect">
            <a:avLst>
              <a:gd name="adj" fmla="val 3810"/>
            </a:avLst>
          </a:prstGeom>
          <a:solidFill>
            <a:srgbClr val="F4F7F5"/>
          </a:solidFill>
          <a:ln w="9525">
            <a:solidFill>
              <a:srgbClr val="D5DED9"/>
            </a:solidFill>
            <a:prstDash val="solid"/>
          </a:ln>
        </p:spPr>
      </p:sp>
      <p:sp>
        <p:nvSpPr>
          <p:cNvPr id="12" name="Text 9"/>
          <p:cNvSpPr txBox="1"/>
          <p:nvPr/>
        </p:nvSpPr>
        <p:spPr>
          <a:xfrm>
            <a:off x="594360" y="1481328"/>
            <a:ext cx="1645920" cy="365760"/>
          </a:xfrm>
          <a:prstGeom prst="rect">
            <a:avLst/>
          </a:prstGeom>
          <a:noFill/>
          <a:ln/>
        </p:spPr>
        <p:txBody>
          <a:bodyPr wrap="square" lIns="0" tIns="0" rIns="0" bIns="0" rtlCol="0" anchor="t"/>
          <a:lstStyle/>
          <a:p>
            <a:pPr indent="0" marL="0">
              <a:buNone/>
            </a:pPr>
            <a:r>
              <a:rPr lang="en-US" sz="1700" b="1" dirty="0">
                <a:solidFill>
                  <a:srgbClr val="5E6964"/>
                </a:solidFill>
                <a:latin typeface="Calibri" pitchFamily="34" charset="0"/>
                <a:ea typeface="Calibri" pitchFamily="34" charset="-122"/>
                <a:cs typeface="Calibri" pitchFamily="34" charset="-120"/>
              </a:rPr>
              <a:t>VNP46A1</a:t>
            </a:r>
            <a:endParaRPr lang="en-US" sz="1700" dirty="0"/>
          </a:p>
        </p:txBody>
      </p:sp>
      <p:sp>
        <p:nvSpPr>
          <p:cNvPr id="13" name="Text 10"/>
          <p:cNvSpPr txBox="1"/>
          <p:nvPr/>
        </p:nvSpPr>
        <p:spPr>
          <a:xfrm>
            <a:off x="594360"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Daily · raw</a:t>
            </a:r>
            <a:endParaRPr lang="en-US" sz="1150" dirty="0"/>
          </a:p>
        </p:txBody>
      </p:sp>
      <p:sp>
        <p:nvSpPr>
          <p:cNvPr id="14" name="Text 11"/>
          <p:cNvSpPr txBox="1"/>
          <p:nvPr/>
        </p:nvSpPr>
        <p:spPr>
          <a:xfrm>
            <a:off x="594360"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At-sensor radiance, no correction</a:t>
            </a:r>
            <a:endParaRPr lang="en-US" sz="1100" dirty="0"/>
          </a:p>
        </p:txBody>
      </p:sp>
      <p:sp>
        <p:nvSpPr>
          <p:cNvPr id="15" name="Text 12"/>
          <p:cNvSpPr txBox="1"/>
          <p:nvPr/>
        </p:nvSpPr>
        <p:spPr>
          <a:xfrm>
            <a:off x="594360" y="2788920"/>
            <a:ext cx="1645920" cy="228600"/>
          </a:xfrm>
          <a:prstGeom prst="rect">
            <a:avLst/>
          </a:prstGeom>
          <a:noFill/>
          <a:ln/>
        </p:spPr>
        <p:txBody>
          <a:bodyPr wrap="square" lIns="0" tIns="0" rIns="0" bIns="0" rtlCol="0" anchor="t"/>
          <a:lstStyle/>
          <a:p>
            <a:pPr indent="0" marL="0">
              <a:buNone/>
            </a:pPr>
            <a:r>
              <a:rPr lang="en-US" sz="950" b="1" spc="200" kern="0" dirty="0">
                <a:solidFill>
                  <a:srgbClr val="5E6964"/>
                </a:solidFill>
                <a:latin typeface="Calibri" pitchFamily="34" charset="0"/>
                <a:ea typeface="Calibri" pitchFamily="34" charset="-122"/>
                <a:cs typeface="Calibri" pitchFamily="34" charset="-120"/>
              </a:rPr>
              <a:t>Use</a:t>
            </a:r>
            <a:endParaRPr lang="en-US" sz="950" dirty="0"/>
          </a:p>
        </p:txBody>
      </p:sp>
      <p:sp>
        <p:nvSpPr>
          <p:cNvPr id="16" name="Text 13"/>
          <p:cNvSpPr txBox="1"/>
          <p:nvPr/>
        </p:nvSpPr>
        <p:spPr>
          <a:xfrm>
            <a:off x="594360"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Diagnostics</a:t>
            </a:r>
            <a:endParaRPr lang="en-US" sz="1100" dirty="0"/>
          </a:p>
        </p:txBody>
      </p:sp>
      <p:sp>
        <p:nvSpPr>
          <p:cNvPr id="17" name="Shape 14"/>
          <p:cNvSpPr/>
          <p:nvPr/>
        </p:nvSpPr>
        <p:spPr>
          <a:xfrm>
            <a:off x="2532888" y="1371600"/>
            <a:ext cx="1920240" cy="2331720"/>
          </a:xfrm>
          <a:prstGeom prst="roundRect">
            <a:avLst>
              <a:gd name="adj" fmla="val 3810"/>
            </a:avLst>
          </a:prstGeom>
          <a:solidFill>
            <a:srgbClr val="F4F7F5"/>
          </a:solidFill>
          <a:ln w="9525">
            <a:solidFill>
              <a:srgbClr val="D5DED9"/>
            </a:solidFill>
            <a:prstDash val="solid"/>
          </a:ln>
        </p:spPr>
      </p:sp>
      <p:sp>
        <p:nvSpPr>
          <p:cNvPr id="18" name="Text 15"/>
          <p:cNvSpPr txBox="1"/>
          <p:nvPr/>
        </p:nvSpPr>
        <p:spPr>
          <a:xfrm>
            <a:off x="2670048" y="1481328"/>
            <a:ext cx="1645920" cy="365760"/>
          </a:xfrm>
          <a:prstGeom prst="rect">
            <a:avLst/>
          </a:prstGeom>
          <a:noFill/>
          <a:ln/>
        </p:spPr>
        <p:txBody>
          <a:bodyPr wrap="square" lIns="0" tIns="0" rIns="0" bIns="0" rtlCol="0" anchor="t"/>
          <a:lstStyle/>
          <a:p>
            <a:pPr indent="0" marL="0">
              <a:buNone/>
            </a:pPr>
            <a:r>
              <a:rPr lang="en-US" sz="1700" b="1" dirty="0">
                <a:solidFill>
                  <a:srgbClr val="0E7C86"/>
                </a:solidFill>
                <a:latin typeface="Calibri" pitchFamily="34" charset="0"/>
                <a:ea typeface="Calibri" pitchFamily="34" charset="-122"/>
                <a:cs typeface="Calibri" pitchFamily="34" charset="-120"/>
              </a:rPr>
              <a:t>VNP46A2</a:t>
            </a:r>
            <a:endParaRPr lang="en-US" sz="1700" dirty="0"/>
          </a:p>
        </p:txBody>
      </p:sp>
      <p:sp>
        <p:nvSpPr>
          <p:cNvPr id="19" name="Text 16"/>
          <p:cNvSpPr txBox="1"/>
          <p:nvPr/>
        </p:nvSpPr>
        <p:spPr>
          <a:xfrm>
            <a:off x="2670048"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Daily · corrected</a:t>
            </a:r>
            <a:endParaRPr lang="en-US" sz="1150" dirty="0"/>
          </a:p>
        </p:txBody>
      </p:sp>
      <p:sp>
        <p:nvSpPr>
          <p:cNvPr id="20" name="Text 17"/>
          <p:cNvSpPr txBox="1"/>
          <p:nvPr/>
        </p:nvSpPr>
        <p:spPr>
          <a:xfrm>
            <a:off x="2670048"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Lunar BRDF-corrected night</a:t>
            </a:r>
            <a:endParaRPr lang="en-US" sz="1100" dirty="0"/>
          </a:p>
        </p:txBody>
      </p:sp>
      <p:sp>
        <p:nvSpPr>
          <p:cNvPr id="21" name="Text 18"/>
          <p:cNvSpPr txBox="1"/>
          <p:nvPr/>
        </p:nvSpPr>
        <p:spPr>
          <a:xfrm>
            <a:off x="2670048" y="2788920"/>
            <a:ext cx="1645920" cy="228600"/>
          </a:xfrm>
          <a:prstGeom prst="rect">
            <a:avLst/>
          </a:prstGeom>
          <a:noFill/>
          <a:ln/>
        </p:spPr>
        <p:txBody>
          <a:bodyPr wrap="square" lIns="0" tIns="0" rIns="0" bIns="0" rtlCol="0" anchor="t"/>
          <a:lstStyle/>
          <a:p>
            <a:pPr indent="0" marL="0">
              <a:buNone/>
            </a:pPr>
            <a:r>
              <a:rPr lang="en-US" sz="950" b="1" spc="200" kern="0" dirty="0">
                <a:solidFill>
                  <a:srgbClr val="0E7C86"/>
                </a:solidFill>
                <a:latin typeface="Calibri" pitchFamily="34" charset="0"/>
                <a:ea typeface="Calibri" pitchFamily="34" charset="-122"/>
                <a:cs typeface="Calibri" pitchFamily="34" charset="-120"/>
              </a:rPr>
              <a:t>Use</a:t>
            </a:r>
            <a:endParaRPr lang="en-US" sz="950" dirty="0"/>
          </a:p>
        </p:txBody>
      </p:sp>
      <p:sp>
        <p:nvSpPr>
          <p:cNvPr id="22" name="Text 19"/>
          <p:cNvSpPr txBox="1"/>
          <p:nvPr/>
        </p:nvSpPr>
        <p:spPr>
          <a:xfrm>
            <a:off x="2670048"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Dated events: outages, disasters</a:t>
            </a:r>
            <a:endParaRPr lang="en-US" sz="1100" dirty="0"/>
          </a:p>
        </p:txBody>
      </p:sp>
      <p:sp>
        <p:nvSpPr>
          <p:cNvPr id="23" name="Shape 20"/>
          <p:cNvSpPr/>
          <p:nvPr/>
        </p:nvSpPr>
        <p:spPr>
          <a:xfrm>
            <a:off x="4608576" y="1371600"/>
            <a:ext cx="1920240" cy="2331720"/>
          </a:xfrm>
          <a:prstGeom prst="roundRect">
            <a:avLst>
              <a:gd name="adj" fmla="val 3810"/>
            </a:avLst>
          </a:prstGeom>
          <a:solidFill>
            <a:srgbClr val="F4F7F5"/>
          </a:solidFill>
          <a:ln w="9525">
            <a:solidFill>
              <a:srgbClr val="D5DED9"/>
            </a:solidFill>
            <a:prstDash val="solid"/>
          </a:ln>
        </p:spPr>
      </p:sp>
      <p:sp>
        <p:nvSpPr>
          <p:cNvPr id="24" name="Text 21"/>
          <p:cNvSpPr txBox="1"/>
          <p:nvPr/>
        </p:nvSpPr>
        <p:spPr>
          <a:xfrm>
            <a:off x="4745736" y="1481328"/>
            <a:ext cx="1645920" cy="365760"/>
          </a:xfrm>
          <a:prstGeom prst="rect">
            <a:avLst/>
          </a:prstGeom>
          <a:noFill/>
          <a:ln/>
        </p:spPr>
        <p:txBody>
          <a:bodyPr wrap="square" lIns="0" tIns="0" rIns="0" bIns="0" rtlCol="0" anchor="t"/>
          <a:lstStyle/>
          <a:p>
            <a:pPr indent="0" marL="0">
              <a:buNone/>
            </a:pPr>
            <a:r>
              <a:rPr lang="en-US" sz="1700" b="1" dirty="0">
                <a:solidFill>
                  <a:srgbClr val="00704A"/>
                </a:solidFill>
                <a:latin typeface="Calibri" pitchFamily="34" charset="0"/>
                <a:ea typeface="Calibri" pitchFamily="34" charset="-122"/>
                <a:cs typeface="Calibri" pitchFamily="34" charset="-120"/>
              </a:rPr>
              <a:t>VNP46A3</a:t>
            </a:r>
            <a:endParaRPr lang="en-US" sz="1700" dirty="0"/>
          </a:p>
        </p:txBody>
      </p:sp>
      <p:sp>
        <p:nvSpPr>
          <p:cNvPr id="25" name="Text 22"/>
          <p:cNvSpPr txBox="1"/>
          <p:nvPr/>
        </p:nvSpPr>
        <p:spPr>
          <a:xfrm>
            <a:off x="4745736"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Monthly composite</a:t>
            </a:r>
            <a:endParaRPr lang="en-US" sz="1150" dirty="0"/>
          </a:p>
        </p:txBody>
      </p:sp>
      <p:sp>
        <p:nvSpPr>
          <p:cNvPr id="26" name="Text 23"/>
          <p:cNvSpPr txBox="1"/>
          <p:nvPr/>
        </p:nvSpPr>
        <p:spPr>
          <a:xfrm>
            <a:off x="4745736"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Clouds and outliers removed</a:t>
            </a:r>
            <a:endParaRPr lang="en-US" sz="1100" dirty="0"/>
          </a:p>
        </p:txBody>
      </p:sp>
      <p:sp>
        <p:nvSpPr>
          <p:cNvPr id="27" name="Text 24"/>
          <p:cNvSpPr txBox="1"/>
          <p:nvPr/>
        </p:nvSpPr>
        <p:spPr>
          <a:xfrm>
            <a:off x="4745736" y="2788920"/>
            <a:ext cx="1645920" cy="228600"/>
          </a:xfrm>
          <a:prstGeom prst="rect">
            <a:avLst/>
          </a:prstGeom>
          <a:noFill/>
          <a:ln/>
        </p:spPr>
        <p:txBody>
          <a:bodyPr wrap="square" lIns="0" tIns="0" rIns="0" bIns="0" rtlCol="0" anchor="t"/>
          <a:lstStyle/>
          <a:p>
            <a:pPr indent="0" marL="0">
              <a:buNone/>
            </a:pPr>
            <a:r>
              <a:rPr lang="en-US" sz="950" b="1" spc="200" kern="0" dirty="0">
                <a:solidFill>
                  <a:srgbClr val="00704A"/>
                </a:solidFill>
                <a:latin typeface="Calibri" pitchFamily="34" charset="0"/>
                <a:ea typeface="Calibri" pitchFamily="34" charset="-122"/>
                <a:cs typeface="Calibri" pitchFamily="34" charset="-120"/>
              </a:rPr>
              <a:t>Use</a:t>
            </a:r>
            <a:endParaRPr lang="en-US" sz="950" dirty="0"/>
          </a:p>
        </p:txBody>
      </p:sp>
      <p:sp>
        <p:nvSpPr>
          <p:cNvPr id="28" name="Text 25"/>
          <p:cNvSpPr txBox="1"/>
          <p:nvPr/>
        </p:nvSpPr>
        <p:spPr>
          <a:xfrm>
            <a:off x="4745736"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Seasonality, monthly series</a:t>
            </a:r>
            <a:endParaRPr lang="en-US" sz="1100" dirty="0"/>
          </a:p>
        </p:txBody>
      </p:sp>
      <p:sp>
        <p:nvSpPr>
          <p:cNvPr id="29" name="Shape 26"/>
          <p:cNvSpPr/>
          <p:nvPr/>
        </p:nvSpPr>
        <p:spPr>
          <a:xfrm>
            <a:off x="6684264" y="1371600"/>
            <a:ext cx="1920240" cy="2331720"/>
          </a:xfrm>
          <a:prstGeom prst="roundRect">
            <a:avLst>
              <a:gd name="adj" fmla="val 3810"/>
            </a:avLst>
          </a:prstGeom>
          <a:solidFill>
            <a:srgbClr val="E8F5EF"/>
          </a:solidFill>
          <a:ln w="15875">
            <a:solidFill>
              <a:srgbClr val="00A86A"/>
            </a:solidFill>
            <a:prstDash val="solid"/>
          </a:ln>
        </p:spPr>
      </p:sp>
      <p:sp>
        <p:nvSpPr>
          <p:cNvPr id="30" name="Text 27"/>
          <p:cNvSpPr txBox="1"/>
          <p:nvPr/>
        </p:nvSpPr>
        <p:spPr>
          <a:xfrm>
            <a:off x="6821424" y="1481328"/>
            <a:ext cx="1645920" cy="365760"/>
          </a:xfrm>
          <a:prstGeom prst="rect">
            <a:avLst/>
          </a:prstGeom>
          <a:noFill/>
          <a:ln/>
        </p:spPr>
        <p:txBody>
          <a:bodyPr wrap="square" lIns="0" tIns="0" rIns="0" bIns="0" rtlCol="0" anchor="t"/>
          <a:lstStyle/>
          <a:p>
            <a:pPr indent="0" marL="0">
              <a:buNone/>
            </a:pPr>
            <a:r>
              <a:rPr lang="en-US" sz="1700" b="1" dirty="0">
                <a:solidFill>
                  <a:srgbClr val="00A86A"/>
                </a:solidFill>
                <a:latin typeface="Calibri" pitchFamily="34" charset="0"/>
                <a:ea typeface="Calibri" pitchFamily="34" charset="-122"/>
                <a:cs typeface="Calibri" pitchFamily="34" charset="-120"/>
              </a:rPr>
              <a:t>VNP46A4</a:t>
            </a:r>
            <a:endParaRPr lang="en-US" sz="1700" dirty="0"/>
          </a:p>
        </p:txBody>
      </p:sp>
      <p:sp>
        <p:nvSpPr>
          <p:cNvPr id="31" name="Text 28"/>
          <p:cNvSpPr txBox="1"/>
          <p:nvPr/>
        </p:nvSpPr>
        <p:spPr>
          <a:xfrm>
            <a:off x="6821424" y="1847088"/>
            <a:ext cx="1645920" cy="27432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Annual composite</a:t>
            </a:r>
            <a:endParaRPr lang="en-US" sz="1150" dirty="0"/>
          </a:p>
        </p:txBody>
      </p:sp>
      <p:sp>
        <p:nvSpPr>
          <p:cNvPr id="32" name="Text 29"/>
          <p:cNvSpPr txBox="1"/>
          <p:nvPr/>
        </p:nvSpPr>
        <p:spPr>
          <a:xfrm>
            <a:off x="6821424" y="2176272"/>
            <a:ext cx="1645920" cy="548640"/>
          </a:xfrm>
          <a:prstGeom prst="rect">
            <a:avLst/>
          </a:prstGeom>
          <a:noFill/>
          <a:ln/>
        </p:spPr>
        <p:txBody>
          <a:bodyPr wrap="square" lIns="0" tIns="0" rIns="0" bIns="0" rtlCol="0" anchor="t"/>
          <a:lstStyle/>
          <a:p>
            <a:pPr indent="0" marL="0">
              <a:buNone/>
            </a:pPr>
            <a:r>
              <a:rPr lang="en-US" sz="1100" dirty="0">
                <a:solidFill>
                  <a:srgbClr val="5E6964"/>
                </a:solidFill>
                <a:latin typeface="Calibri" pitchFamily="34" charset="0"/>
                <a:ea typeface="Calibri" pitchFamily="34" charset="-122"/>
                <a:cs typeface="Calibri" pitchFamily="34" charset="-120"/>
              </a:rPr>
              <a:t>The most stable of the four</a:t>
            </a:r>
            <a:endParaRPr lang="en-US" sz="1100" dirty="0"/>
          </a:p>
        </p:txBody>
      </p:sp>
      <p:sp>
        <p:nvSpPr>
          <p:cNvPr id="33" name="Text 30"/>
          <p:cNvSpPr txBox="1"/>
          <p:nvPr/>
        </p:nvSpPr>
        <p:spPr>
          <a:xfrm>
            <a:off x="6821424" y="2788920"/>
            <a:ext cx="1645920" cy="228600"/>
          </a:xfrm>
          <a:prstGeom prst="rect">
            <a:avLst/>
          </a:prstGeom>
          <a:noFill/>
          <a:ln/>
        </p:spPr>
        <p:txBody>
          <a:bodyPr wrap="square" lIns="0" tIns="0" rIns="0" bIns="0" rtlCol="0" anchor="t"/>
          <a:lstStyle/>
          <a:p>
            <a:pPr indent="0" marL="0">
              <a:buNone/>
            </a:pPr>
            <a:r>
              <a:rPr lang="en-US" sz="950" b="1" spc="200" kern="0" dirty="0">
                <a:solidFill>
                  <a:srgbClr val="00A86A"/>
                </a:solidFill>
                <a:latin typeface="Calibri" pitchFamily="34" charset="0"/>
                <a:ea typeface="Calibri" pitchFamily="34" charset="-122"/>
                <a:cs typeface="Calibri" pitchFamily="34" charset="-120"/>
              </a:rPr>
              <a:t>Use</a:t>
            </a:r>
            <a:endParaRPr lang="en-US" sz="950" dirty="0"/>
          </a:p>
        </p:txBody>
      </p:sp>
      <p:sp>
        <p:nvSpPr>
          <p:cNvPr id="34" name="Text 31"/>
          <p:cNvSpPr txBox="1"/>
          <p:nvPr/>
        </p:nvSpPr>
        <p:spPr>
          <a:xfrm>
            <a:off x="6821424" y="3017520"/>
            <a:ext cx="1645920" cy="548640"/>
          </a:xfrm>
          <a:prstGeom prst="rect">
            <a:avLst/>
          </a:prstGeom>
          <a:noFill/>
          <a:ln/>
        </p:spPr>
        <p:txBody>
          <a:bodyPr wrap="square" lIns="0" tIns="0" rIns="0" bIns="0" rtlCol="0" anchor="t"/>
          <a:lstStyle/>
          <a:p>
            <a:pPr indent="0" marL="0">
              <a:buNone/>
            </a:pPr>
            <a:r>
              <a:rPr lang="en-US" sz="1100" dirty="0">
                <a:solidFill>
                  <a:srgbClr val="231F20"/>
                </a:solidFill>
                <a:latin typeface="Calibri" pitchFamily="34" charset="0"/>
                <a:ea typeface="Calibri" pitchFamily="34" charset="-122"/>
                <a:cs typeface="Calibri" pitchFamily="34" charset="-120"/>
              </a:rPr>
              <a:t>Trends, regional comparison</a:t>
            </a:r>
            <a:endParaRPr lang="en-US" sz="1100" dirty="0"/>
          </a:p>
        </p:txBody>
      </p:sp>
      <p:sp>
        <p:nvSpPr>
          <p:cNvPr id="35" name="Shape 32"/>
          <p:cNvSpPr/>
          <p:nvPr/>
        </p:nvSpPr>
        <p:spPr>
          <a:xfrm>
            <a:off x="457200" y="3931920"/>
            <a:ext cx="1600200" cy="256032"/>
          </a:xfrm>
          <a:prstGeom prst="roundRect">
            <a:avLst>
              <a:gd name="adj" fmla="val 50000"/>
            </a:avLst>
          </a:prstGeom>
          <a:solidFill>
            <a:srgbClr val="00704A">
              <a:alpha val="15000"/>
            </a:srgbClr>
          </a:solidFill>
          <a:ln w="9525">
            <a:solidFill>
              <a:srgbClr val="00704A"/>
            </a:solidFill>
            <a:prstDash val="solid"/>
          </a:ln>
        </p:spPr>
      </p:sp>
      <p:sp>
        <p:nvSpPr>
          <p:cNvPr id="36" name="Text 33"/>
          <p:cNvSpPr txBox="1"/>
          <p:nvPr/>
        </p:nvSpPr>
        <p:spPr>
          <a:xfrm>
            <a:off x="457200" y="3931920"/>
            <a:ext cx="160020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Grid 10° × 10° tiles</a:t>
            </a:r>
            <a:endParaRPr lang="en-US" sz="1000" dirty="0"/>
          </a:p>
        </p:txBody>
      </p:sp>
      <p:sp>
        <p:nvSpPr>
          <p:cNvPr id="37" name="Shape 34"/>
          <p:cNvSpPr/>
          <p:nvPr/>
        </p:nvSpPr>
        <p:spPr>
          <a:xfrm>
            <a:off x="2167128" y="3931920"/>
            <a:ext cx="1965960" cy="256032"/>
          </a:xfrm>
          <a:prstGeom prst="roundRect">
            <a:avLst>
              <a:gd name="adj" fmla="val 50000"/>
            </a:avLst>
          </a:prstGeom>
          <a:solidFill>
            <a:srgbClr val="00704A">
              <a:alpha val="15000"/>
            </a:srgbClr>
          </a:solidFill>
          <a:ln w="9525">
            <a:solidFill>
              <a:srgbClr val="00704A"/>
            </a:solidFill>
            <a:prstDash val="solid"/>
          </a:ln>
        </p:spPr>
      </p:sp>
      <p:sp>
        <p:nvSpPr>
          <p:cNvPr id="38" name="Text 35"/>
          <p:cNvSpPr txBox="1"/>
          <p:nvPr/>
        </p:nvSpPr>
        <p:spPr>
          <a:xfrm>
            <a:off x="2167128" y="3931920"/>
            <a:ext cx="196596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2,400 × 2,400 pixels per tile</a:t>
            </a:r>
            <a:endParaRPr lang="en-US" sz="1000" dirty="0"/>
          </a:p>
        </p:txBody>
      </p:sp>
      <p:sp>
        <p:nvSpPr>
          <p:cNvPr id="39" name="Shape 36"/>
          <p:cNvSpPr/>
          <p:nvPr/>
        </p:nvSpPr>
        <p:spPr>
          <a:xfrm>
            <a:off x="4242816"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0" name="Text 37"/>
          <p:cNvSpPr txBox="1"/>
          <p:nvPr/>
        </p:nvSpPr>
        <p:spPr>
          <a:xfrm>
            <a:off x="4242816"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nW·cm⁻²·sr⁻¹</a:t>
            </a:r>
            <a:endParaRPr lang="en-US" sz="1000" dirty="0"/>
          </a:p>
        </p:txBody>
      </p:sp>
      <p:sp>
        <p:nvSpPr>
          <p:cNvPr id="41" name="Shape 38"/>
          <p:cNvSpPr/>
          <p:nvPr/>
        </p:nvSpPr>
        <p:spPr>
          <a:xfrm>
            <a:off x="5541264" y="3931920"/>
            <a:ext cx="1188720" cy="256032"/>
          </a:xfrm>
          <a:prstGeom prst="roundRect">
            <a:avLst>
              <a:gd name="adj" fmla="val 50000"/>
            </a:avLst>
          </a:prstGeom>
          <a:solidFill>
            <a:srgbClr val="00704A">
              <a:alpha val="15000"/>
            </a:srgbClr>
          </a:solidFill>
          <a:ln w="9525">
            <a:solidFill>
              <a:srgbClr val="00704A"/>
            </a:solidFill>
            <a:prstDash val="solid"/>
          </a:ln>
        </p:spPr>
      </p:sp>
      <p:sp>
        <p:nvSpPr>
          <p:cNvPr id="42" name="Text 39"/>
          <p:cNvSpPr txBox="1"/>
          <p:nvPr/>
        </p:nvSpPr>
        <p:spPr>
          <a:xfrm>
            <a:off x="5541264" y="3931920"/>
            <a:ext cx="118872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HDF-EOS5 (.h5)</a:t>
            </a:r>
            <a:endParaRPr lang="en-US" sz="1000" dirty="0"/>
          </a:p>
        </p:txBody>
      </p:sp>
      <p:sp>
        <p:nvSpPr>
          <p:cNvPr id="43" name="Shape 40"/>
          <p:cNvSpPr/>
          <p:nvPr/>
        </p:nvSpPr>
        <p:spPr>
          <a:xfrm>
            <a:off x="6839712" y="3931920"/>
            <a:ext cx="1691640" cy="256032"/>
          </a:xfrm>
          <a:prstGeom prst="roundRect">
            <a:avLst>
              <a:gd name="adj" fmla="val 50000"/>
            </a:avLst>
          </a:prstGeom>
          <a:solidFill>
            <a:srgbClr val="00704A">
              <a:alpha val="15000"/>
            </a:srgbClr>
          </a:solidFill>
          <a:ln w="9525">
            <a:solidFill>
              <a:srgbClr val="00704A"/>
            </a:solidFill>
            <a:prstDash val="solid"/>
          </a:ln>
        </p:spPr>
      </p:sp>
      <p:sp>
        <p:nvSpPr>
          <p:cNvPr id="44" name="Text 41"/>
          <p:cNvSpPr txBox="1"/>
          <p:nvPr/>
        </p:nvSpPr>
        <p:spPr>
          <a:xfrm>
            <a:off x="6839712" y="3931920"/>
            <a:ext cx="1691640" cy="256032"/>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Collection 2 (v002)</a:t>
            </a:r>
            <a:endParaRPr lang="en-US" sz="1000" dirty="0"/>
          </a:p>
        </p:txBody>
      </p:sp>
      <p:sp>
        <p:nvSpPr>
          <p:cNvPr id="45" name="Text 4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Román et al. (2018); NASA Black Marble User Guide, Collection 2.0 (2025); LAADS DAAC</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CALCULATION</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From a country code to tiles, by simple arithmetic</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931920" cy="1417320"/>
          </a:xfrm>
          <a:prstGeom prst="roundRect">
            <a:avLst>
              <a:gd name="adj" fmla="val 5161"/>
            </a:avLst>
          </a:prstGeom>
          <a:solidFill>
            <a:srgbClr val="E8F5EF"/>
          </a:solidFill>
          <a:ln w="15875">
            <a:solidFill>
              <a:srgbClr val="00704A"/>
            </a:solidFill>
            <a:prstDash val="solid"/>
          </a:ln>
        </p:spPr>
      </p:sp>
      <p:sp>
        <p:nvSpPr>
          <p:cNvPr id="12" name="Text 9"/>
          <p:cNvSpPr txBox="1"/>
          <p:nvPr/>
        </p:nvSpPr>
        <p:spPr>
          <a:xfrm>
            <a:off x="640080" y="1463040"/>
            <a:ext cx="3566160" cy="274320"/>
          </a:xfrm>
          <a:prstGeom prst="rect">
            <a:avLst/>
          </a:prstGeom>
          <a:noFill/>
          <a:ln/>
        </p:spPr>
        <p:txBody>
          <a:bodyPr wrap="square" lIns="0" tIns="0" rIns="0" bIns="0" rtlCol="0" anchor="t"/>
          <a:lstStyle/>
          <a:p>
            <a:pPr indent="0" marL="0">
              <a:buNone/>
            </a:pPr>
            <a:r>
              <a:rPr lang="en-US" sz="1300" b="1" dirty="0">
                <a:solidFill>
                  <a:srgbClr val="00704A"/>
                </a:solidFill>
                <a:latin typeface="Calibri" pitchFamily="34" charset="0"/>
                <a:ea typeface="Calibri" pitchFamily="34" charset="-122"/>
                <a:cs typeface="Calibri" pitchFamily="34" charset="-120"/>
              </a:rPr>
              <a:t>Tile index</a:t>
            </a:r>
            <a:endParaRPr lang="en-US" sz="1300" dirty="0"/>
          </a:p>
        </p:txBody>
      </p:sp>
      <p:sp>
        <p:nvSpPr>
          <p:cNvPr id="13" name="Text 10"/>
          <p:cNvSpPr txBox="1"/>
          <p:nvPr/>
        </p:nvSpPr>
        <p:spPr>
          <a:xfrm>
            <a:off x="640080" y="1783080"/>
            <a:ext cx="3566160" cy="640080"/>
          </a:xfrm>
          <a:prstGeom prst="rect">
            <a:avLst/>
          </a:prstGeom>
          <a:noFill/>
          <a:ln/>
        </p:spPr>
        <p:txBody>
          <a:bodyPr wrap="square" lIns="0" tIns="0" rIns="0" bIns="0" rtlCol="0" anchor="t"/>
          <a:lstStyle/>
          <a:p>
            <a:pPr indent="0" marL="0">
              <a:buNone/>
            </a:pPr>
            <a:r>
              <a:rPr lang="en-US" sz="1500" b="1" dirty="0">
                <a:solidFill>
                  <a:srgbClr val="231F20"/>
                </a:solidFill>
                <a:latin typeface="Courier New" pitchFamily="34" charset="0"/>
                <a:ea typeface="Courier New" pitchFamily="34" charset="-122"/>
                <a:cs typeface="Courier New" pitchFamily="34" charset="-120"/>
              </a:rPr>
              <a:t>h = ⌊(longitude + 180) / 10⌋</a:t>
            </a:r>
            <a:endParaRPr lang="en-US" sz="1500" dirty="0"/>
          </a:p>
          <a:p>
            <a:pPr indent="0" marL="0">
              <a:buNone/>
            </a:pPr>
            <a:r>
              <a:rPr lang="en-US" sz="1500" b="1" dirty="0">
                <a:solidFill>
                  <a:srgbClr val="231F20"/>
                </a:solidFill>
                <a:latin typeface="Courier New" pitchFamily="34" charset="0"/>
                <a:ea typeface="Courier New" pitchFamily="34" charset="-122"/>
                <a:cs typeface="Courier New" pitchFamily="34" charset="-120"/>
              </a:rPr>
              <a:t>v = ⌊(90 − latitude) / 10⌋</a:t>
            </a:r>
            <a:endParaRPr lang="en-US" sz="1500" dirty="0"/>
          </a:p>
        </p:txBody>
      </p:sp>
      <p:sp>
        <p:nvSpPr>
          <p:cNvPr id="14" name="Text 11"/>
          <p:cNvSpPr txBox="1"/>
          <p:nvPr/>
        </p:nvSpPr>
        <p:spPr>
          <a:xfrm>
            <a:off x="640080" y="2450592"/>
            <a:ext cx="3566160" cy="27432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h: 0 → 35 west to east · v: 0 → 17 north to south</a:t>
            </a:r>
            <a:endParaRPr lang="en-US" sz="1050" dirty="0"/>
          </a:p>
        </p:txBody>
      </p:sp>
      <p:sp>
        <p:nvSpPr>
          <p:cNvPr id="15" name="Shape 12"/>
          <p:cNvSpPr/>
          <p:nvPr/>
        </p:nvSpPr>
        <p:spPr>
          <a:xfrm>
            <a:off x="548640" y="2971800"/>
            <a:ext cx="868680" cy="658368"/>
          </a:xfrm>
          <a:prstGeom prst="rect">
            <a:avLst/>
          </a:prstGeom>
          <a:solidFill>
            <a:srgbClr val="FFFFFF"/>
          </a:solidFill>
          <a:ln w="9525">
            <a:solidFill>
              <a:srgbClr val="D5DED9"/>
            </a:solidFill>
            <a:prstDash val="solid"/>
          </a:ln>
        </p:spPr>
      </p:sp>
      <p:sp>
        <p:nvSpPr>
          <p:cNvPr id="16" name="Text 13"/>
          <p:cNvSpPr txBox="1"/>
          <p:nvPr/>
        </p:nvSpPr>
        <p:spPr>
          <a:xfrm>
            <a:off x="54864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h16v07</a:t>
            </a:r>
            <a:endParaRPr lang="en-US" sz="1000" dirty="0"/>
          </a:p>
        </p:txBody>
      </p:sp>
      <p:sp>
        <p:nvSpPr>
          <p:cNvPr id="17" name="Shape 14"/>
          <p:cNvSpPr/>
          <p:nvPr/>
        </p:nvSpPr>
        <p:spPr>
          <a:xfrm>
            <a:off x="1417320" y="2971800"/>
            <a:ext cx="868680" cy="658368"/>
          </a:xfrm>
          <a:prstGeom prst="rect">
            <a:avLst/>
          </a:prstGeom>
          <a:solidFill>
            <a:srgbClr val="E8F5EF"/>
          </a:solidFill>
          <a:ln w="19050">
            <a:solidFill>
              <a:srgbClr val="00A86A"/>
            </a:solidFill>
            <a:prstDash val="solid"/>
          </a:ln>
        </p:spPr>
      </p:sp>
      <p:sp>
        <p:nvSpPr>
          <p:cNvPr id="18" name="Text 15"/>
          <p:cNvSpPr txBox="1"/>
          <p:nvPr/>
        </p:nvSpPr>
        <p:spPr>
          <a:xfrm>
            <a:off x="1417320" y="3172968"/>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h17v07</a:t>
            </a:r>
            <a:endParaRPr lang="en-US" sz="1000" dirty="0"/>
          </a:p>
        </p:txBody>
      </p:sp>
      <p:sp>
        <p:nvSpPr>
          <p:cNvPr id="19" name="Shape 16"/>
          <p:cNvSpPr/>
          <p:nvPr/>
        </p:nvSpPr>
        <p:spPr>
          <a:xfrm>
            <a:off x="2286000" y="2971800"/>
            <a:ext cx="868680" cy="658368"/>
          </a:xfrm>
          <a:prstGeom prst="rect">
            <a:avLst/>
          </a:prstGeom>
          <a:solidFill>
            <a:srgbClr val="FFFFFF"/>
          </a:solidFill>
          <a:ln w="9525">
            <a:solidFill>
              <a:srgbClr val="D5DED9"/>
            </a:solidFill>
            <a:prstDash val="solid"/>
          </a:ln>
        </p:spPr>
      </p:sp>
      <p:sp>
        <p:nvSpPr>
          <p:cNvPr id="20" name="Text 17"/>
          <p:cNvSpPr txBox="1"/>
          <p:nvPr/>
        </p:nvSpPr>
        <p:spPr>
          <a:xfrm>
            <a:off x="228600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h18v07</a:t>
            </a:r>
            <a:endParaRPr lang="en-US" sz="1000" dirty="0"/>
          </a:p>
        </p:txBody>
      </p:sp>
      <p:sp>
        <p:nvSpPr>
          <p:cNvPr id="21" name="Shape 18"/>
          <p:cNvSpPr/>
          <p:nvPr/>
        </p:nvSpPr>
        <p:spPr>
          <a:xfrm>
            <a:off x="3154680" y="2971800"/>
            <a:ext cx="868680" cy="658368"/>
          </a:xfrm>
          <a:prstGeom prst="rect">
            <a:avLst/>
          </a:prstGeom>
          <a:solidFill>
            <a:srgbClr val="FFFFFF"/>
          </a:solidFill>
          <a:ln w="9525">
            <a:solidFill>
              <a:srgbClr val="D5DED9"/>
            </a:solidFill>
            <a:prstDash val="solid"/>
          </a:ln>
        </p:spPr>
      </p:sp>
      <p:sp>
        <p:nvSpPr>
          <p:cNvPr id="22" name="Text 19"/>
          <p:cNvSpPr txBox="1"/>
          <p:nvPr/>
        </p:nvSpPr>
        <p:spPr>
          <a:xfrm>
            <a:off x="3154680" y="3172968"/>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h19v07</a:t>
            </a:r>
            <a:endParaRPr lang="en-US" sz="1000" dirty="0"/>
          </a:p>
        </p:txBody>
      </p:sp>
      <p:sp>
        <p:nvSpPr>
          <p:cNvPr id="23" name="Shape 20"/>
          <p:cNvSpPr/>
          <p:nvPr/>
        </p:nvSpPr>
        <p:spPr>
          <a:xfrm>
            <a:off x="548640" y="3630168"/>
            <a:ext cx="868680" cy="658368"/>
          </a:xfrm>
          <a:prstGeom prst="rect">
            <a:avLst/>
          </a:prstGeom>
          <a:solidFill>
            <a:srgbClr val="FFFFFF"/>
          </a:solidFill>
          <a:ln w="9525">
            <a:solidFill>
              <a:srgbClr val="D5DED9"/>
            </a:solidFill>
            <a:prstDash val="solid"/>
          </a:ln>
        </p:spPr>
      </p:sp>
      <p:sp>
        <p:nvSpPr>
          <p:cNvPr id="24" name="Text 21"/>
          <p:cNvSpPr txBox="1"/>
          <p:nvPr/>
        </p:nvSpPr>
        <p:spPr>
          <a:xfrm>
            <a:off x="54864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h16v08</a:t>
            </a:r>
            <a:endParaRPr lang="en-US" sz="1000" dirty="0"/>
          </a:p>
        </p:txBody>
      </p:sp>
      <p:sp>
        <p:nvSpPr>
          <p:cNvPr id="25" name="Shape 22"/>
          <p:cNvSpPr/>
          <p:nvPr/>
        </p:nvSpPr>
        <p:spPr>
          <a:xfrm>
            <a:off x="1417320" y="3630168"/>
            <a:ext cx="868680" cy="658368"/>
          </a:xfrm>
          <a:prstGeom prst="rect">
            <a:avLst/>
          </a:prstGeom>
          <a:solidFill>
            <a:srgbClr val="E8F5EF"/>
          </a:solidFill>
          <a:ln w="19050">
            <a:solidFill>
              <a:srgbClr val="00A86A"/>
            </a:solidFill>
            <a:prstDash val="solid"/>
          </a:ln>
        </p:spPr>
      </p:sp>
      <p:sp>
        <p:nvSpPr>
          <p:cNvPr id="26" name="Text 23"/>
          <p:cNvSpPr txBox="1"/>
          <p:nvPr/>
        </p:nvSpPr>
        <p:spPr>
          <a:xfrm>
            <a:off x="1417320" y="3831336"/>
            <a:ext cx="868680" cy="256032"/>
          </a:xfrm>
          <a:prstGeom prst="rect">
            <a:avLst/>
          </a:prstGeom>
          <a:noFill/>
          <a:ln/>
        </p:spPr>
        <p:txBody>
          <a:bodyPr wrap="square" lIns="0" tIns="0" rIns="0" bIns="0" rtlCol="0" anchor="t"/>
          <a:lstStyle/>
          <a:p>
            <a:pPr algn="ctr" indent="0" marL="0">
              <a:buNone/>
            </a:pPr>
            <a:r>
              <a:rPr lang="en-US" sz="1000" b="1" dirty="0">
                <a:solidFill>
                  <a:srgbClr val="00704A"/>
                </a:solidFill>
                <a:latin typeface="Calibri" pitchFamily="34" charset="0"/>
                <a:ea typeface="Calibri" pitchFamily="34" charset="-122"/>
                <a:cs typeface="Calibri" pitchFamily="34" charset="-120"/>
              </a:rPr>
              <a:t>h17v08</a:t>
            </a:r>
            <a:endParaRPr lang="en-US" sz="1000" dirty="0"/>
          </a:p>
        </p:txBody>
      </p:sp>
      <p:sp>
        <p:nvSpPr>
          <p:cNvPr id="27" name="Shape 24"/>
          <p:cNvSpPr/>
          <p:nvPr/>
        </p:nvSpPr>
        <p:spPr>
          <a:xfrm>
            <a:off x="2286000" y="3630168"/>
            <a:ext cx="868680" cy="658368"/>
          </a:xfrm>
          <a:prstGeom prst="rect">
            <a:avLst/>
          </a:prstGeom>
          <a:solidFill>
            <a:srgbClr val="FFFFFF"/>
          </a:solidFill>
          <a:ln w="9525">
            <a:solidFill>
              <a:srgbClr val="D5DED9"/>
            </a:solidFill>
            <a:prstDash val="solid"/>
          </a:ln>
        </p:spPr>
      </p:sp>
      <p:sp>
        <p:nvSpPr>
          <p:cNvPr id="28" name="Text 25"/>
          <p:cNvSpPr txBox="1"/>
          <p:nvPr/>
        </p:nvSpPr>
        <p:spPr>
          <a:xfrm>
            <a:off x="228600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h18v08</a:t>
            </a:r>
            <a:endParaRPr lang="en-US" sz="1000" dirty="0"/>
          </a:p>
        </p:txBody>
      </p:sp>
      <p:sp>
        <p:nvSpPr>
          <p:cNvPr id="29" name="Shape 26"/>
          <p:cNvSpPr/>
          <p:nvPr/>
        </p:nvSpPr>
        <p:spPr>
          <a:xfrm>
            <a:off x="3154680" y="3630168"/>
            <a:ext cx="868680" cy="658368"/>
          </a:xfrm>
          <a:prstGeom prst="rect">
            <a:avLst/>
          </a:prstGeom>
          <a:solidFill>
            <a:srgbClr val="FFFFFF"/>
          </a:solidFill>
          <a:ln w="9525">
            <a:solidFill>
              <a:srgbClr val="D5DED9"/>
            </a:solidFill>
            <a:prstDash val="solid"/>
          </a:ln>
        </p:spPr>
      </p:sp>
      <p:sp>
        <p:nvSpPr>
          <p:cNvPr id="30" name="Text 27"/>
          <p:cNvSpPr txBox="1"/>
          <p:nvPr/>
        </p:nvSpPr>
        <p:spPr>
          <a:xfrm>
            <a:off x="3154680" y="3831336"/>
            <a:ext cx="868680" cy="256032"/>
          </a:xfrm>
          <a:prstGeom prst="rect">
            <a:avLst/>
          </a:prstGeom>
          <a:noFill/>
          <a:ln/>
        </p:spPr>
        <p:txBody>
          <a:bodyPr wrap="square" lIns="0" tIns="0" rIns="0" bIns="0" rtlCol="0" anchor="t"/>
          <a:lstStyle/>
          <a:p>
            <a:pPr algn="ctr" indent="0" marL="0">
              <a:buNone/>
            </a:pPr>
            <a:r>
              <a:rPr lang="en-US" sz="1000" dirty="0">
                <a:solidFill>
                  <a:srgbClr val="A9B5B0"/>
                </a:solidFill>
                <a:latin typeface="Calibri" pitchFamily="34" charset="0"/>
                <a:ea typeface="Calibri" pitchFamily="34" charset="-122"/>
                <a:cs typeface="Calibri" pitchFamily="34" charset="-120"/>
              </a:rPr>
              <a:t>h19v08</a:t>
            </a:r>
            <a:endParaRPr lang="en-US" sz="1000" dirty="0"/>
          </a:p>
        </p:txBody>
      </p:sp>
      <p:sp>
        <p:nvSpPr>
          <p:cNvPr id="31" name="Shape 28"/>
          <p:cNvSpPr/>
          <p:nvPr/>
        </p:nvSpPr>
        <p:spPr>
          <a:xfrm>
            <a:off x="1481328" y="3291840"/>
            <a:ext cx="530352" cy="868680"/>
          </a:xfrm>
          <a:prstGeom prst="rect">
            <a:avLst/>
          </a:prstGeom>
          <a:solidFill>
            <a:srgbClr val="F5C242">
              <a:alpha val="25000"/>
            </a:srgbClr>
          </a:solidFill>
          <a:ln w="19050">
            <a:solidFill>
              <a:srgbClr val="D49A00"/>
            </a:solidFill>
            <a:prstDash val="dash"/>
          </a:ln>
        </p:spPr>
      </p:sp>
      <p:sp>
        <p:nvSpPr>
          <p:cNvPr id="32" name="Text 29"/>
          <p:cNvSpPr txBox="1"/>
          <p:nvPr/>
        </p:nvSpPr>
        <p:spPr>
          <a:xfrm>
            <a:off x="548640" y="4315968"/>
            <a:ext cx="3566160" cy="22860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Côte d'Ivoire → h17v07 + h17v08</a:t>
            </a:r>
            <a:endParaRPr lang="en-US" sz="1000" dirty="0"/>
          </a:p>
        </p:txBody>
      </p:sp>
      <p:sp>
        <p:nvSpPr>
          <p:cNvPr id="33" name="Text 30"/>
          <p:cNvSpPr txBox="1"/>
          <p:nvPr/>
        </p:nvSpPr>
        <p:spPr>
          <a:xfrm>
            <a:off x="4754880" y="1371600"/>
            <a:ext cx="393192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Anatomy of a file name</a:t>
            </a:r>
            <a:endParaRPr lang="en-US" sz="1300" dirty="0"/>
          </a:p>
        </p:txBody>
      </p:sp>
      <p:sp>
        <p:nvSpPr>
          <p:cNvPr id="34" name="Shape 31"/>
          <p:cNvSpPr/>
          <p:nvPr/>
        </p:nvSpPr>
        <p:spPr>
          <a:xfrm>
            <a:off x="4754880" y="1755648"/>
            <a:ext cx="1417320" cy="402336"/>
          </a:xfrm>
          <a:prstGeom prst="roundRect">
            <a:avLst>
              <a:gd name="adj" fmla="val 13636"/>
            </a:avLst>
          </a:prstGeom>
          <a:solidFill>
            <a:srgbClr val="00A86A"/>
          </a:solidFill>
          <a:ln w="12700">
            <a:solidFill>
              <a:srgbClr val="00A86A"/>
            </a:solidFill>
            <a:prstDash val="solid"/>
          </a:ln>
        </p:spPr>
      </p:sp>
      <p:sp>
        <p:nvSpPr>
          <p:cNvPr id="35" name="Text 32"/>
          <p:cNvSpPr txBox="1"/>
          <p:nvPr/>
        </p:nvSpPr>
        <p:spPr>
          <a:xfrm>
            <a:off x="4754880" y="175564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VNP46A4</a:t>
            </a:r>
            <a:endParaRPr lang="en-US" sz="1200" dirty="0"/>
          </a:p>
        </p:txBody>
      </p:sp>
      <p:sp>
        <p:nvSpPr>
          <p:cNvPr id="36" name="Shape 33"/>
          <p:cNvSpPr/>
          <p:nvPr/>
        </p:nvSpPr>
        <p:spPr>
          <a:xfrm>
            <a:off x="6236208" y="1956816"/>
            <a:ext cx="301752" cy="914"/>
          </a:xfrm>
          <a:prstGeom prst="line">
            <a:avLst/>
          </a:prstGeom>
          <a:noFill/>
          <a:ln w="15875">
            <a:solidFill>
              <a:srgbClr val="5E6964"/>
            </a:solidFill>
            <a:prstDash val="solid"/>
            <a:tailEnd type="triangle"/>
          </a:ln>
        </p:spPr>
      </p:sp>
      <p:sp>
        <p:nvSpPr>
          <p:cNvPr id="37" name="Text 34"/>
          <p:cNvSpPr txBox="1"/>
          <p:nvPr/>
        </p:nvSpPr>
        <p:spPr>
          <a:xfrm>
            <a:off x="6629400" y="175564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product</a:t>
            </a:r>
            <a:endParaRPr lang="en-US" sz="1150" dirty="0"/>
          </a:p>
        </p:txBody>
      </p:sp>
      <p:sp>
        <p:nvSpPr>
          <p:cNvPr id="38" name="Shape 35"/>
          <p:cNvSpPr/>
          <p:nvPr/>
        </p:nvSpPr>
        <p:spPr>
          <a:xfrm>
            <a:off x="4754880" y="2304288"/>
            <a:ext cx="1417320" cy="402336"/>
          </a:xfrm>
          <a:prstGeom prst="roundRect">
            <a:avLst>
              <a:gd name="adj" fmla="val 13636"/>
            </a:avLst>
          </a:prstGeom>
          <a:solidFill>
            <a:srgbClr val="D49A00"/>
          </a:solidFill>
          <a:ln w="12700">
            <a:solidFill>
              <a:srgbClr val="D49A00"/>
            </a:solidFill>
            <a:prstDash val="solid"/>
          </a:ln>
        </p:spPr>
      </p:sp>
      <p:sp>
        <p:nvSpPr>
          <p:cNvPr id="39" name="Text 36"/>
          <p:cNvSpPr txBox="1"/>
          <p:nvPr/>
        </p:nvSpPr>
        <p:spPr>
          <a:xfrm>
            <a:off x="4754880" y="230428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A2023001</a:t>
            </a:r>
            <a:endParaRPr lang="en-US" sz="1200" dirty="0"/>
          </a:p>
        </p:txBody>
      </p:sp>
      <p:sp>
        <p:nvSpPr>
          <p:cNvPr id="40" name="Shape 37"/>
          <p:cNvSpPr/>
          <p:nvPr/>
        </p:nvSpPr>
        <p:spPr>
          <a:xfrm>
            <a:off x="6236208" y="2505456"/>
            <a:ext cx="301752" cy="914"/>
          </a:xfrm>
          <a:prstGeom prst="line">
            <a:avLst/>
          </a:prstGeom>
          <a:noFill/>
          <a:ln w="15875">
            <a:solidFill>
              <a:srgbClr val="5E6964"/>
            </a:solidFill>
            <a:prstDash val="solid"/>
            <a:tailEnd type="triangle"/>
          </a:ln>
        </p:spPr>
      </p:sp>
      <p:sp>
        <p:nvSpPr>
          <p:cNvPr id="41" name="Text 38"/>
          <p:cNvSpPr txBox="1"/>
          <p:nvPr/>
        </p:nvSpPr>
        <p:spPr>
          <a:xfrm>
            <a:off x="6629400" y="230428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year + day of year</a:t>
            </a:r>
            <a:endParaRPr lang="en-US" sz="1150" dirty="0"/>
          </a:p>
        </p:txBody>
      </p:sp>
      <p:sp>
        <p:nvSpPr>
          <p:cNvPr id="42" name="Shape 39"/>
          <p:cNvSpPr/>
          <p:nvPr/>
        </p:nvSpPr>
        <p:spPr>
          <a:xfrm>
            <a:off x="4754880" y="2852928"/>
            <a:ext cx="1417320" cy="402336"/>
          </a:xfrm>
          <a:prstGeom prst="roundRect">
            <a:avLst>
              <a:gd name="adj" fmla="val 13636"/>
            </a:avLst>
          </a:prstGeom>
          <a:solidFill>
            <a:srgbClr val="0E7C86"/>
          </a:solidFill>
          <a:ln w="12700">
            <a:solidFill>
              <a:srgbClr val="0E7C86"/>
            </a:solidFill>
            <a:prstDash val="solid"/>
          </a:ln>
        </p:spPr>
      </p:sp>
      <p:sp>
        <p:nvSpPr>
          <p:cNvPr id="43" name="Text 40"/>
          <p:cNvSpPr txBox="1"/>
          <p:nvPr/>
        </p:nvSpPr>
        <p:spPr>
          <a:xfrm>
            <a:off x="4754880" y="285292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h17v08</a:t>
            </a:r>
            <a:endParaRPr lang="en-US" sz="1200" dirty="0"/>
          </a:p>
        </p:txBody>
      </p:sp>
      <p:sp>
        <p:nvSpPr>
          <p:cNvPr id="44" name="Shape 41"/>
          <p:cNvSpPr/>
          <p:nvPr/>
        </p:nvSpPr>
        <p:spPr>
          <a:xfrm>
            <a:off x="6236208" y="3054096"/>
            <a:ext cx="301752" cy="914"/>
          </a:xfrm>
          <a:prstGeom prst="line">
            <a:avLst/>
          </a:prstGeom>
          <a:noFill/>
          <a:ln w="15875">
            <a:solidFill>
              <a:srgbClr val="5E6964"/>
            </a:solidFill>
            <a:prstDash val="solid"/>
            <a:tailEnd type="triangle"/>
          </a:ln>
        </p:spPr>
      </p:sp>
      <p:sp>
        <p:nvSpPr>
          <p:cNvPr id="45" name="Text 42"/>
          <p:cNvSpPr txBox="1"/>
          <p:nvPr/>
        </p:nvSpPr>
        <p:spPr>
          <a:xfrm>
            <a:off x="6629400" y="285292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tile</a:t>
            </a:r>
            <a:endParaRPr lang="en-US" sz="1150" dirty="0"/>
          </a:p>
        </p:txBody>
      </p:sp>
      <p:sp>
        <p:nvSpPr>
          <p:cNvPr id="46" name="Shape 43"/>
          <p:cNvSpPr/>
          <p:nvPr/>
        </p:nvSpPr>
        <p:spPr>
          <a:xfrm>
            <a:off x="4754880" y="3401568"/>
            <a:ext cx="1417320" cy="402336"/>
          </a:xfrm>
          <a:prstGeom prst="roundRect">
            <a:avLst>
              <a:gd name="adj" fmla="val 13636"/>
            </a:avLst>
          </a:prstGeom>
          <a:solidFill>
            <a:srgbClr val="C4621D"/>
          </a:solidFill>
          <a:ln w="12700">
            <a:solidFill>
              <a:srgbClr val="C4621D"/>
            </a:solidFill>
            <a:prstDash val="solid"/>
          </a:ln>
        </p:spPr>
      </p:sp>
      <p:sp>
        <p:nvSpPr>
          <p:cNvPr id="47" name="Text 44"/>
          <p:cNvSpPr txBox="1"/>
          <p:nvPr/>
        </p:nvSpPr>
        <p:spPr>
          <a:xfrm>
            <a:off x="4754880" y="340156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002</a:t>
            </a:r>
            <a:endParaRPr lang="en-US" sz="1200" dirty="0"/>
          </a:p>
        </p:txBody>
      </p:sp>
      <p:sp>
        <p:nvSpPr>
          <p:cNvPr id="48" name="Shape 45"/>
          <p:cNvSpPr/>
          <p:nvPr/>
        </p:nvSpPr>
        <p:spPr>
          <a:xfrm>
            <a:off x="6236208" y="3602736"/>
            <a:ext cx="301752" cy="914"/>
          </a:xfrm>
          <a:prstGeom prst="line">
            <a:avLst/>
          </a:prstGeom>
          <a:noFill/>
          <a:ln w="15875">
            <a:solidFill>
              <a:srgbClr val="5E6964"/>
            </a:solidFill>
            <a:prstDash val="solid"/>
            <a:tailEnd type="triangle"/>
          </a:ln>
        </p:spPr>
      </p:sp>
      <p:sp>
        <p:nvSpPr>
          <p:cNvPr id="49" name="Text 46"/>
          <p:cNvSpPr txBox="1"/>
          <p:nvPr/>
        </p:nvSpPr>
        <p:spPr>
          <a:xfrm>
            <a:off x="6629400" y="340156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collection</a:t>
            </a:r>
            <a:endParaRPr lang="en-US" sz="1150" dirty="0"/>
          </a:p>
        </p:txBody>
      </p:sp>
      <p:sp>
        <p:nvSpPr>
          <p:cNvPr id="50" name="Shape 47"/>
          <p:cNvSpPr/>
          <p:nvPr/>
        </p:nvSpPr>
        <p:spPr>
          <a:xfrm>
            <a:off x="4754880" y="3950208"/>
            <a:ext cx="1417320" cy="402336"/>
          </a:xfrm>
          <a:prstGeom prst="roundRect">
            <a:avLst>
              <a:gd name="adj" fmla="val 13636"/>
            </a:avLst>
          </a:prstGeom>
          <a:solidFill>
            <a:srgbClr val="5E6964"/>
          </a:solidFill>
          <a:ln w="12700">
            <a:solidFill>
              <a:srgbClr val="5E6964"/>
            </a:solidFill>
            <a:prstDash val="solid"/>
          </a:ln>
        </p:spPr>
      </p:sp>
      <p:sp>
        <p:nvSpPr>
          <p:cNvPr id="51" name="Text 48"/>
          <p:cNvSpPr txBox="1"/>
          <p:nvPr/>
        </p:nvSpPr>
        <p:spPr>
          <a:xfrm>
            <a:off x="4754880" y="3950208"/>
            <a:ext cx="1417320"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2024…</a:t>
            </a:r>
            <a:endParaRPr lang="en-US" sz="1200" dirty="0"/>
          </a:p>
        </p:txBody>
      </p:sp>
      <p:sp>
        <p:nvSpPr>
          <p:cNvPr id="52" name="Shape 49"/>
          <p:cNvSpPr/>
          <p:nvPr/>
        </p:nvSpPr>
        <p:spPr>
          <a:xfrm>
            <a:off x="6236208" y="4151376"/>
            <a:ext cx="301752" cy="914"/>
          </a:xfrm>
          <a:prstGeom prst="line">
            <a:avLst/>
          </a:prstGeom>
          <a:noFill/>
          <a:ln w="15875">
            <a:solidFill>
              <a:srgbClr val="5E6964"/>
            </a:solidFill>
            <a:prstDash val="solid"/>
            <a:tailEnd type="triangle"/>
          </a:ln>
        </p:spPr>
      </p:sp>
      <p:sp>
        <p:nvSpPr>
          <p:cNvPr id="53" name="Text 50"/>
          <p:cNvSpPr txBox="1"/>
          <p:nvPr/>
        </p:nvSpPr>
        <p:spPr>
          <a:xfrm>
            <a:off x="6629400" y="3950208"/>
            <a:ext cx="2011680" cy="402336"/>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production time</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TEMPORAL DESIGN</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Fix the season, vary the year, never trust a single night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640080" y="2011680"/>
            <a:ext cx="7863840" cy="0"/>
          </a:xfrm>
          <a:prstGeom prst="line">
            <a:avLst/>
          </a:prstGeom>
          <a:noFill/>
          <a:ln w="25400">
            <a:solidFill>
              <a:srgbClr val="D5DED9"/>
            </a:solidFill>
            <a:prstDash val="solid"/>
          </a:ln>
        </p:spPr>
      </p:sp>
      <p:sp>
        <p:nvSpPr>
          <p:cNvPr id="12" name="Shape 9"/>
          <p:cNvSpPr/>
          <p:nvPr/>
        </p:nvSpPr>
        <p:spPr>
          <a:xfrm>
            <a:off x="557784" y="1929384"/>
            <a:ext cx="164592" cy="164592"/>
          </a:xfrm>
          <a:prstGeom prst="ellipse">
            <a:avLst/>
          </a:prstGeom>
          <a:solidFill>
            <a:srgbClr val="00A86A"/>
          </a:solidFill>
          <a:ln w="19050">
            <a:solidFill>
              <a:srgbClr val="FFFFFF"/>
            </a:solidFill>
            <a:prstDash val="solid"/>
          </a:ln>
        </p:spPr>
      </p:sp>
      <p:sp>
        <p:nvSpPr>
          <p:cNvPr id="13" name="Text 10"/>
          <p:cNvSpPr txBox="1"/>
          <p:nvPr/>
        </p:nvSpPr>
        <p:spPr>
          <a:xfrm>
            <a:off x="27432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2013</a:t>
            </a:r>
            <a:endParaRPr lang="en-US" sz="1100" dirty="0"/>
          </a:p>
        </p:txBody>
      </p:sp>
      <p:sp>
        <p:nvSpPr>
          <p:cNvPr id="14" name="Text 11"/>
          <p:cNvSpPr txBox="1"/>
          <p:nvPr/>
        </p:nvSpPr>
        <p:spPr>
          <a:xfrm>
            <a:off x="13716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15" name="Shape 12"/>
          <p:cNvSpPr/>
          <p:nvPr/>
        </p:nvSpPr>
        <p:spPr>
          <a:xfrm>
            <a:off x="1865376" y="1929384"/>
            <a:ext cx="164592" cy="164592"/>
          </a:xfrm>
          <a:prstGeom prst="ellipse">
            <a:avLst/>
          </a:prstGeom>
          <a:solidFill>
            <a:srgbClr val="00A86A"/>
          </a:solidFill>
          <a:ln w="19050">
            <a:solidFill>
              <a:srgbClr val="FFFFFF"/>
            </a:solidFill>
            <a:prstDash val="solid"/>
          </a:ln>
        </p:spPr>
      </p:sp>
      <p:sp>
        <p:nvSpPr>
          <p:cNvPr id="16" name="Text 13"/>
          <p:cNvSpPr txBox="1"/>
          <p:nvPr/>
        </p:nvSpPr>
        <p:spPr>
          <a:xfrm>
            <a:off x="158191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2015</a:t>
            </a:r>
            <a:endParaRPr lang="en-US" sz="1100" dirty="0"/>
          </a:p>
        </p:txBody>
      </p:sp>
      <p:sp>
        <p:nvSpPr>
          <p:cNvPr id="17" name="Text 14"/>
          <p:cNvSpPr txBox="1"/>
          <p:nvPr/>
        </p:nvSpPr>
        <p:spPr>
          <a:xfrm>
            <a:off x="144475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18" name="Shape 15"/>
          <p:cNvSpPr/>
          <p:nvPr/>
        </p:nvSpPr>
        <p:spPr>
          <a:xfrm>
            <a:off x="3172968" y="1929384"/>
            <a:ext cx="164592" cy="164592"/>
          </a:xfrm>
          <a:prstGeom prst="ellipse">
            <a:avLst/>
          </a:prstGeom>
          <a:solidFill>
            <a:srgbClr val="00A86A"/>
          </a:solidFill>
          <a:ln w="19050">
            <a:solidFill>
              <a:srgbClr val="FFFFFF"/>
            </a:solidFill>
            <a:prstDash val="solid"/>
          </a:ln>
        </p:spPr>
      </p:sp>
      <p:sp>
        <p:nvSpPr>
          <p:cNvPr id="19" name="Text 16"/>
          <p:cNvSpPr txBox="1"/>
          <p:nvPr/>
        </p:nvSpPr>
        <p:spPr>
          <a:xfrm>
            <a:off x="2889504"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2017</a:t>
            </a:r>
            <a:endParaRPr lang="en-US" sz="1100" dirty="0"/>
          </a:p>
        </p:txBody>
      </p:sp>
      <p:sp>
        <p:nvSpPr>
          <p:cNvPr id="20" name="Text 17"/>
          <p:cNvSpPr txBox="1"/>
          <p:nvPr/>
        </p:nvSpPr>
        <p:spPr>
          <a:xfrm>
            <a:off x="2752344"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21" name="Shape 18"/>
          <p:cNvSpPr/>
          <p:nvPr/>
        </p:nvSpPr>
        <p:spPr>
          <a:xfrm>
            <a:off x="4480560" y="1929384"/>
            <a:ext cx="164592" cy="164592"/>
          </a:xfrm>
          <a:prstGeom prst="ellipse">
            <a:avLst/>
          </a:prstGeom>
          <a:solidFill>
            <a:srgbClr val="00A86A"/>
          </a:solidFill>
          <a:ln w="19050">
            <a:solidFill>
              <a:srgbClr val="FFFFFF"/>
            </a:solidFill>
            <a:prstDash val="solid"/>
          </a:ln>
        </p:spPr>
      </p:sp>
      <p:sp>
        <p:nvSpPr>
          <p:cNvPr id="22" name="Text 19"/>
          <p:cNvSpPr txBox="1"/>
          <p:nvPr/>
        </p:nvSpPr>
        <p:spPr>
          <a:xfrm>
            <a:off x="4197096"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2019</a:t>
            </a:r>
            <a:endParaRPr lang="en-US" sz="1100" dirty="0"/>
          </a:p>
        </p:txBody>
      </p:sp>
      <p:sp>
        <p:nvSpPr>
          <p:cNvPr id="23" name="Text 20"/>
          <p:cNvSpPr txBox="1"/>
          <p:nvPr/>
        </p:nvSpPr>
        <p:spPr>
          <a:xfrm>
            <a:off x="4059936"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24" name="Shape 21"/>
          <p:cNvSpPr/>
          <p:nvPr/>
        </p:nvSpPr>
        <p:spPr>
          <a:xfrm>
            <a:off x="5788152" y="1929384"/>
            <a:ext cx="164592" cy="164592"/>
          </a:xfrm>
          <a:prstGeom prst="ellipse">
            <a:avLst/>
          </a:prstGeom>
          <a:solidFill>
            <a:srgbClr val="00A86A"/>
          </a:solidFill>
          <a:ln w="19050">
            <a:solidFill>
              <a:srgbClr val="FFFFFF"/>
            </a:solidFill>
            <a:prstDash val="solid"/>
          </a:ln>
        </p:spPr>
      </p:sp>
      <p:sp>
        <p:nvSpPr>
          <p:cNvPr id="25" name="Text 22"/>
          <p:cNvSpPr txBox="1"/>
          <p:nvPr/>
        </p:nvSpPr>
        <p:spPr>
          <a:xfrm>
            <a:off x="5504688"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2021</a:t>
            </a:r>
            <a:endParaRPr lang="en-US" sz="1100" dirty="0"/>
          </a:p>
        </p:txBody>
      </p:sp>
      <p:sp>
        <p:nvSpPr>
          <p:cNvPr id="26" name="Text 23"/>
          <p:cNvSpPr txBox="1"/>
          <p:nvPr/>
        </p:nvSpPr>
        <p:spPr>
          <a:xfrm>
            <a:off x="5367528"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27" name="Shape 24"/>
          <p:cNvSpPr/>
          <p:nvPr/>
        </p:nvSpPr>
        <p:spPr>
          <a:xfrm>
            <a:off x="7095744" y="1929384"/>
            <a:ext cx="164592" cy="164592"/>
          </a:xfrm>
          <a:prstGeom prst="ellipse">
            <a:avLst/>
          </a:prstGeom>
          <a:solidFill>
            <a:srgbClr val="00A86A"/>
          </a:solidFill>
          <a:ln w="19050">
            <a:solidFill>
              <a:srgbClr val="FFFFFF"/>
            </a:solidFill>
            <a:prstDash val="solid"/>
          </a:ln>
        </p:spPr>
      </p:sp>
      <p:sp>
        <p:nvSpPr>
          <p:cNvPr id="28" name="Text 25"/>
          <p:cNvSpPr txBox="1"/>
          <p:nvPr/>
        </p:nvSpPr>
        <p:spPr>
          <a:xfrm>
            <a:off x="6812280"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2023</a:t>
            </a:r>
            <a:endParaRPr lang="en-US" sz="1100" dirty="0"/>
          </a:p>
        </p:txBody>
      </p:sp>
      <p:sp>
        <p:nvSpPr>
          <p:cNvPr id="29" name="Text 26"/>
          <p:cNvSpPr txBox="1"/>
          <p:nvPr/>
        </p:nvSpPr>
        <p:spPr>
          <a:xfrm>
            <a:off x="6675120"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30" name="Shape 27"/>
          <p:cNvSpPr/>
          <p:nvPr/>
        </p:nvSpPr>
        <p:spPr>
          <a:xfrm>
            <a:off x="8403336" y="1929384"/>
            <a:ext cx="164592" cy="164592"/>
          </a:xfrm>
          <a:prstGeom prst="ellipse">
            <a:avLst/>
          </a:prstGeom>
          <a:solidFill>
            <a:srgbClr val="00A86A"/>
          </a:solidFill>
          <a:ln w="19050">
            <a:solidFill>
              <a:srgbClr val="FFFFFF"/>
            </a:solidFill>
            <a:prstDash val="solid"/>
          </a:ln>
        </p:spPr>
      </p:sp>
      <p:sp>
        <p:nvSpPr>
          <p:cNvPr id="31" name="Text 28"/>
          <p:cNvSpPr txBox="1"/>
          <p:nvPr/>
        </p:nvSpPr>
        <p:spPr>
          <a:xfrm>
            <a:off x="8119872" y="1554480"/>
            <a:ext cx="731520" cy="274320"/>
          </a:xfrm>
          <a:prstGeom prst="rect">
            <a:avLst/>
          </a:prstGeom>
          <a:noFill/>
          <a:ln/>
        </p:spPr>
        <p:txBody>
          <a:bodyPr wrap="square" lIns="0" tIns="0" rIns="0" bIns="0" rtlCol="0" anchor="t"/>
          <a:lstStyle/>
          <a:p>
            <a:pPr algn="ctr" indent="0" marL="0">
              <a:buNone/>
            </a:pPr>
            <a:r>
              <a:rPr lang="en-US" sz="1100" b="1" dirty="0">
                <a:solidFill>
                  <a:srgbClr val="231F20"/>
                </a:solidFill>
                <a:latin typeface="Calibri" pitchFamily="34" charset="0"/>
                <a:ea typeface="Calibri" pitchFamily="34" charset="-122"/>
                <a:cs typeface="Calibri" pitchFamily="34" charset="-120"/>
              </a:rPr>
              <a:t>2025</a:t>
            </a:r>
            <a:endParaRPr lang="en-US" sz="1100" dirty="0"/>
          </a:p>
        </p:txBody>
      </p:sp>
      <p:sp>
        <p:nvSpPr>
          <p:cNvPr id="32" name="Text 29"/>
          <p:cNvSpPr txBox="1"/>
          <p:nvPr/>
        </p:nvSpPr>
        <p:spPr>
          <a:xfrm>
            <a:off x="7982712" y="2148840"/>
            <a:ext cx="1005840" cy="228600"/>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15 Jan ±3</a:t>
            </a:r>
            <a:endParaRPr lang="en-US" sz="950" dirty="0"/>
          </a:p>
        </p:txBody>
      </p:sp>
      <p:sp>
        <p:nvSpPr>
          <p:cNvPr id="33" name="Shape 30"/>
          <p:cNvSpPr/>
          <p:nvPr/>
        </p:nvSpPr>
        <p:spPr>
          <a:xfrm>
            <a:off x="457200" y="2606040"/>
            <a:ext cx="2606040" cy="1417320"/>
          </a:xfrm>
          <a:prstGeom prst="roundRect">
            <a:avLst>
              <a:gd name="adj" fmla="val 5161"/>
            </a:avLst>
          </a:prstGeom>
          <a:solidFill>
            <a:srgbClr val="E8F5EF"/>
          </a:solidFill>
          <a:ln w="15875">
            <a:solidFill>
              <a:srgbClr val="00704A"/>
            </a:solidFill>
            <a:prstDash val="solid"/>
          </a:ln>
        </p:spPr>
      </p:sp>
      <p:sp>
        <p:nvSpPr>
          <p:cNvPr id="34" name="Shape 31"/>
          <p:cNvSpPr/>
          <p:nvPr/>
        </p:nvSpPr>
        <p:spPr>
          <a:xfrm>
            <a:off x="621792" y="2743200"/>
            <a:ext cx="457200" cy="457200"/>
          </a:xfrm>
          <a:prstGeom prst="ellipse">
            <a:avLst/>
          </a:prstGeom>
          <a:solidFill>
            <a:srgbClr val="00704A">
              <a:alpha val="22000"/>
            </a:srgbClr>
          </a:solidFill>
          <a:ln w="12700">
            <a:solidFill>
              <a:srgbClr val="00704A">
                <a:alpha val="0"/>
              </a:srgbClr>
            </a:solidFill>
            <a:prstDash val="solid"/>
          </a:ln>
        </p:spPr>
      </p:sp>
      <p:pic>
        <p:nvPicPr>
          <p:cNvPr id="35" name="Image 0" descr="preencoded.png">    </p:cNvPr>
          <p:cNvPicPr>
            <a:picLocks noChangeAspect="1"/>
          </p:cNvPicPr>
          <p:nvPr/>
        </p:nvPicPr>
        <p:blipFill>
          <a:blip r:embed="rId1"/>
          <a:stretch>
            <a:fillRect/>
          </a:stretch>
        </p:blipFill>
        <p:spPr>
          <a:xfrm>
            <a:off x="731520" y="2852928"/>
            <a:ext cx="237744" cy="237744"/>
          </a:xfrm>
          <a:prstGeom prst="rect">
            <a:avLst/>
          </a:prstGeom>
        </p:spPr>
      </p:pic>
      <p:sp>
        <p:nvSpPr>
          <p:cNvPr id="36" name="Text 32"/>
          <p:cNvSpPr txBox="1"/>
          <p:nvPr/>
        </p:nvSpPr>
        <p:spPr>
          <a:xfrm>
            <a:off x="118872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Daily A1 / A2</a:t>
            </a:r>
            <a:endParaRPr lang="en-US" sz="1300" dirty="0"/>
          </a:p>
        </p:txBody>
      </p:sp>
      <p:sp>
        <p:nvSpPr>
          <p:cNvPr id="37" name="Text 33"/>
          <p:cNvSpPr txBox="1"/>
          <p:nvPr/>
        </p:nvSpPr>
        <p:spPr>
          <a:xfrm>
            <a:off x="62179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Fixed day ± 3 nights (7 nights per year), then keep clear, high-quality nights and take their median</a:t>
            </a:r>
            <a:endParaRPr lang="en-US" sz="1050" dirty="0"/>
          </a:p>
        </p:txBody>
      </p:sp>
      <p:sp>
        <p:nvSpPr>
          <p:cNvPr id="38" name="Shape 34"/>
          <p:cNvSpPr/>
          <p:nvPr/>
        </p:nvSpPr>
        <p:spPr>
          <a:xfrm>
            <a:off x="3246120" y="2606040"/>
            <a:ext cx="2606040" cy="1417320"/>
          </a:xfrm>
          <a:prstGeom prst="roundRect">
            <a:avLst>
              <a:gd name="adj" fmla="val 5161"/>
            </a:avLst>
          </a:prstGeom>
          <a:solidFill>
            <a:srgbClr val="F4F7F5"/>
          </a:solidFill>
          <a:ln w="9525">
            <a:solidFill>
              <a:srgbClr val="D5DED9"/>
            </a:solidFill>
            <a:prstDash val="solid"/>
          </a:ln>
        </p:spPr>
      </p:sp>
      <p:sp>
        <p:nvSpPr>
          <p:cNvPr id="39" name="Shape 35"/>
          <p:cNvSpPr/>
          <p:nvPr/>
        </p:nvSpPr>
        <p:spPr>
          <a:xfrm>
            <a:off x="3410712" y="2743200"/>
            <a:ext cx="457200" cy="457200"/>
          </a:xfrm>
          <a:prstGeom prst="ellipse">
            <a:avLst/>
          </a:prstGeom>
          <a:solidFill>
            <a:srgbClr val="0E7C86">
              <a:alpha val="22000"/>
            </a:srgbClr>
          </a:solidFill>
          <a:ln w="12700">
            <a:solidFill>
              <a:srgbClr val="0E7C86">
                <a:alpha val="0"/>
              </a:srgbClr>
            </a:solidFill>
            <a:prstDash val="solid"/>
          </a:ln>
        </p:spPr>
      </p:sp>
      <p:pic>
        <p:nvPicPr>
          <p:cNvPr id="40" name="Image 1" descr="preencoded.png">    </p:cNvPr>
          <p:cNvPicPr>
            <a:picLocks noChangeAspect="1"/>
          </p:cNvPicPr>
          <p:nvPr/>
        </p:nvPicPr>
        <p:blipFill>
          <a:blip r:embed="rId2"/>
          <a:stretch>
            <a:fillRect/>
          </a:stretch>
        </p:blipFill>
        <p:spPr>
          <a:xfrm>
            <a:off x="3520440" y="2852928"/>
            <a:ext cx="237744" cy="237744"/>
          </a:xfrm>
          <a:prstGeom prst="rect">
            <a:avLst/>
          </a:prstGeom>
        </p:spPr>
      </p:pic>
      <p:sp>
        <p:nvSpPr>
          <p:cNvPr id="41" name="Text 36"/>
          <p:cNvSpPr txBox="1"/>
          <p:nvPr/>
        </p:nvSpPr>
        <p:spPr>
          <a:xfrm>
            <a:off x="397764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Monthly A3</a:t>
            </a:r>
            <a:endParaRPr lang="en-US" sz="1300" dirty="0"/>
          </a:p>
        </p:txBody>
      </p:sp>
      <p:sp>
        <p:nvSpPr>
          <p:cNvPr id="42" name="Text 37"/>
          <p:cNvSpPr txBox="1"/>
          <p:nvPr/>
        </p:nvSpPr>
        <p:spPr>
          <a:xfrm>
            <a:off x="341071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same calendar month every year: the composite already absorbs clouds and the Moon</a:t>
            </a:r>
            <a:endParaRPr lang="en-US" sz="1050" dirty="0"/>
          </a:p>
        </p:txBody>
      </p:sp>
      <p:sp>
        <p:nvSpPr>
          <p:cNvPr id="43" name="Shape 38"/>
          <p:cNvSpPr/>
          <p:nvPr/>
        </p:nvSpPr>
        <p:spPr>
          <a:xfrm>
            <a:off x="6035040" y="2606040"/>
            <a:ext cx="2606040" cy="1417320"/>
          </a:xfrm>
          <a:prstGeom prst="roundRect">
            <a:avLst>
              <a:gd name="adj" fmla="val 5161"/>
            </a:avLst>
          </a:prstGeom>
          <a:solidFill>
            <a:srgbClr val="F4F7F5"/>
          </a:solidFill>
          <a:ln w="9525">
            <a:solidFill>
              <a:srgbClr val="D5DED9"/>
            </a:solidFill>
            <a:prstDash val="solid"/>
          </a:ln>
        </p:spPr>
      </p:sp>
      <p:sp>
        <p:nvSpPr>
          <p:cNvPr id="44" name="Shape 39"/>
          <p:cNvSpPr/>
          <p:nvPr/>
        </p:nvSpPr>
        <p:spPr>
          <a:xfrm>
            <a:off x="6199632" y="2743200"/>
            <a:ext cx="457200" cy="457200"/>
          </a:xfrm>
          <a:prstGeom prst="ellipse">
            <a:avLst/>
          </a:prstGeom>
          <a:solidFill>
            <a:srgbClr val="00A86A">
              <a:alpha val="22000"/>
            </a:srgbClr>
          </a:solidFill>
          <a:ln w="12700">
            <a:solidFill>
              <a:srgbClr val="00A86A">
                <a:alpha val="0"/>
              </a:srgbClr>
            </a:solidFill>
            <a:prstDash val="solid"/>
          </a:ln>
        </p:spPr>
      </p:sp>
      <p:pic>
        <p:nvPicPr>
          <p:cNvPr id="45" name="Image 2" descr="preencoded.png">    </p:cNvPr>
          <p:cNvPicPr>
            <a:picLocks noChangeAspect="1"/>
          </p:cNvPicPr>
          <p:nvPr/>
        </p:nvPicPr>
        <p:blipFill>
          <a:blip r:embed="rId3"/>
          <a:stretch>
            <a:fillRect/>
          </a:stretch>
        </p:blipFill>
        <p:spPr>
          <a:xfrm>
            <a:off x="6309360" y="2852928"/>
            <a:ext cx="237744" cy="237744"/>
          </a:xfrm>
          <a:prstGeom prst="rect">
            <a:avLst/>
          </a:prstGeom>
        </p:spPr>
      </p:pic>
      <p:sp>
        <p:nvSpPr>
          <p:cNvPr id="46" name="Text 40"/>
          <p:cNvSpPr txBox="1"/>
          <p:nvPr/>
        </p:nvSpPr>
        <p:spPr>
          <a:xfrm>
            <a:off x="6766560" y="2743200"/>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Annual A4</a:t>
            </a:r>
            <a:endParaRPr lang="en-US" sz="1300" dirty="0"/>
          </a:p>
        </p:txBody>
      </p:sp>
      <p:sp>
        <p:nvSpPr>
          <p:cNvPr id="47" name="Text 41"/>
          <p:cNvSpPr txBox="1"/>
          <p:nvPr/>
        </p:nvSpPr>
        <p:spPr>
          <a:xfrm>
            <a:off x="6199632" y="3273552"/>
            <a:ext cx="2286000" cy="713232"/>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whole year: the right product for trends across years</a:t>
            </a:r>
            <a:endParaRPr lang="en-US" sz="1050" dirty="0"/>
          </a:p>
        </p:txBody>
      </p:sp>
      <p:sp>
        <p:nvSpPr>
          <p:cNvPr id="48" name="Shape 42"/>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49" name="Image 3" descr="preencoded.png">    </p:cNvPr>
          <p:cNvPicPr>
            <a:picLocks noChangeAspect="1"/>
          </p:cNvPicPr>
          <p:nvPr/>
        </p:nvPicPr>
        <p:blipFill>
          <a:blip r:embed="rId4"/>
          <a:stretch>
            <a:fillRect/>
          </a:stretch>
        </p:blipFill>
        <p:spPr>
          <a:xfrm>
            <a:off x="594360" y="4242816"/>
            <a:ext cx="237744" cy="237744"/>
          </a:xfrm>
          <a:prstGeom prst="rect">
            <a:avLst/>
          </a:prstGeom>
        </p:spPr>
      </p:pic>
      <p:sp>
        <p:nvSpPr>
          <p:cNvPr id="50" name="Text 43"/>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Moon:  </a:t>
            </a:r>
            <a:pPr indent="0" marL="0">
              <a:buNone/>
            </a:pPr>
            <a:r>
              <a:rPr lang="en-US" sz="1100" dirty="0">
                <a:solidFill>
                  <a:srgbClr val="231F20"/>
                </a:solidFill>
                <a:latin typeface="Calibri" pitchFamily="34" charset="0"/>
                <a:ea typeface="Calibri" pitchFamily="34" charset="-122"/>
                <a:cs typeface="Calibri" pitchFamily="34" charset="-120"/>
              </a:rPr>
              <a:t>cycle of 29.5 days — a fixed date does not fix the lunar phase.</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02 · COLLECT · RESULTS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Ask the catalogue, measure availability, then download</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00704A"/>
          </a:solidFill>
          <a:ln w="12700">
            <a:solidFill>
              <a:srgbClr val="00704A"/>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514600" cy="1508760"/>
          </a:xfrm>
          <a:prstGeom prst="roundRect">
            <a:avLst>
              <a:gd name="adj" fmla="val 4848"/>
            </a:avLst>
          </a:prstGeom>
          <a:solidFill>
            <a:srgbClr val="F4F7F5"/>
          </a:solidFill>
          <a:ln w="9525">
            <a:solidFill>
              <a:srgbClr val="D5DED9"/>
            </a:solidFill>
            <a:prstDash val="solid"/>
          </a:ln>
        </p:spPr>
      </p:sp>
      <p:sp>
        <p:nvSpPr>
          <p:cNvPr id="12" name="Shape 9"/>
          <p:cNvSpPr/>
          <p:nvPr/>
        </p:nvSpPr>
        <p:spPr>
          <a:xfrm>
            <a:off x="621792" y="1508760"/>
            <a:ext cx="457200" cy="457200"/>
          </a:xfrm>
          <a:prstGeom prst="ellipse">
            <a:avLst/>
          </a:prstGeom>
          <a:solidFill>
            <a:srgbClr val="00704A">
              <a:alpha val="22000"/>
            </a:srgbClr>
          </a:solidFill>
          <a:ln w="12700">
            <a:solidFill>
              <a:srgbClr val="00704A">
                <a:alpha val="0"/>
              </a:srgbClr>
            </a:solidFill>
            <a:prstDash val="solid"/>
          </a:ln>
        </p:spPr>
      </p:sp>
      <p:pic>
        <p:nvPicPr>
          <p:cNvPr id="13" name="Image 0" descr="preencoded.png">    </p:cNvPr>
          <p:cNvPicPr>
            <a:picLocks noChangeAspect="1"/>
          </p:cNvPicPr>
          <p:nvPr/>
        </p:nvPicPr>
        <p:blipFill>
          <a:blip r:embed="rId1"/>
          <a:stretch>
            <a:fillRect/>
          </a:stretch>
        </p:blipFill>
        <p:spPr>
          <a:xfrm>
            <a:off x="731520" y="1618488"/>
            <a:ext cx="237744" cy="237744"/>
          </a:xfrm>
          <a:prstGeom prst="rect">
            <a:avLst/>
          </a:prstGeom>
        </p:spPr>
      </p:pic>
      <p:sp>
        <p:nvSpPr>
          <p:cNvPr id="14" name="Text 10"/>
          <p:cNvSpPr txBox="1"/>
          <p:nvPr/>
        </p:nvSpPr>
        <p:spPr>
          <a:xfrm>
            <a:off x="118872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Query</a:t>
            </a:r>
            <a:endParaRPr lang="en-US" sz="1300" dirty="0"/>
          </a:p>
        </p:txBody>
      </p:sp>
      <p:sp>
        <p:nvSpPr>
          <p:cNvPr id="15" name="Text 11"/>
          <p:cNvSpPr txBox="1"/>
          <p:nvPr/>
        </p:nvSpPr>
        <p:spPr>
          <a:xfrm>
            <a:off x="62179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One request per year · pagination (2,000 per page) · deduplication by tile and date</a:t>
            </a:r>
            <a:endParaRPr lang="en-US" sz="1050" dirty="0"/>
          </a:p>
        </p:txBody>
      </p:sp>
      <p:sp>
        <p:nvSpPr>
          <p:cNvPr id="16" name="Shape 12"/>
          <p:cNvSpPr/>
          <p:nvPr/>
        </p:nvSpPr>
        <p:spPr>
          <a:xfrm>
            <a:off x="2999232" y="2121408"/>
            <a:ext cx="219456" cy="914"/>
          </a:xfrm>
          <a:prstGeom prst="line">
            <a:avLst/>
          </a:prstGeom>
          <a:noFill/>
          <a:ln w="15875">
            <a:solidFill>
              <a:srgbClr val="5E6964"/>
            </a:solidFill>
            <a:prstDash val="solid"/>
            <a:tailEnd type="triangle"/>
          </a:ln>
        </p:spPr>
      </p:sp>
      <p:sp>
        <p:nvSpPr>
          <p:cNvPr id="17" name="Shape 13"/>
          <p:cNvSpPr/>
          <p:nvPr/>
        </p:nvSpPr>
        <p:spPr>
          <a:xfrm>
            <a:off x="3246120" y="1371600"/>
            <a:ext cx="2514600" cy="1508760"/>
          </a:xfrm>
          <a:prstGeom prst="roundRect">
            <a:avLst>
              <a:gd name="adj" fmla="val 4848"/>
            </a:avLst>
          </a:prstGeom>
          <a:solidFill>
            <a:srgbClr val="E8F5EF"/>
          </a:solidFill>
          <a:ln w="15875">
            <a:solidFill>
              <a:srgbClr val="00704A"/>
            </a:solidFill>
            <a:prstDash val="solid"/>
          </a:ln>
        </p:spPr>
      </p:sp>
      <p:sp>
        <p:nvSpPr>
          <p:cNvPr id="18" name="Shape 14"/>
          <p:cNvSpPr/>
          <p:nvPr/>
        </p:nvSpPr>
        <p:spPr>
          <a:xfrm>
            <a:off x="3410712" y="1508760"/>
            <a:ext cx="457200" cy="457200"/>
          </a:xfrm>
          <a:prstGeom prst="ellipse">
            <a:avLst/>
          </a:prstGeom>
          <a:solidFill>
            <a:srgbClr val="00704A">
              <a:alpha val="22000"/>
            </a:srgbClr>
          </a:solidFill>
          <a:ln w="12700">
            <a:solidFill>
              <a:srgbClr val="00704A">
                <a:alpha val="0"/>
              </a:srgbClr>
            </a:solidFill>
            <a:prstDash val="solid"/>
          </a:ln>
        </p:spPr>
      </p:sp>
      <p:pic>
        <p:nvPicPr>
          <p:cNvPr id="19" name="Image 1" descr="preencoded.png">    </p:cNvPr>
          <p:cNvPicPr>
            <a:picLocks noChangeAspect="1"/>
          </p:cNvPicPr>
          <p:nvPr/>
        </p:nvPicPr>
        <p:blipFill>
          <a:blip r:embed="rId2"/>
          <a:stretch>
            <a:fillRect/>
          </a:stretch>
        </p:blipFill>
        <p:spPr>
          <a:xfrm>
            <a:off x="3520440" y="1618488"/>
            <a:ext cx="237744" cy="237744"/>
          </a:xfrm>
          <a:prstGeom prst="rect">
            <a:avLst/>
          </a:prstGeom>
        </p:spPr>
      </p:pic>
      <p:sp>
        <p:nvSpPr>
          <p:cNvPr id="20" name="Text 15"/>
          <p:cNvSpPr txBox="1"/>
          <p:nvPr/>
        </p:nvSpPr>
        <p:spPr>
          <a:xfrm>
            <a:off x="397764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Measure</a:t>
            </a:r>
            <a:endParaRPr lang="en-US" sz="1300" dirty="0"/>
          </a:p>
        </p:txBody>
      </p:sp>
      <p:sp>
        <p:nvSpPr>
          <p:cNvPr id="21" name="Text 16"/>
          <p:cNvSpPr txBox="1"/>
          <p:nvPr/>
        </p:nvSpPr>
        <p:spPr>
          <a:xfrm>
            <a:off x="341071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Expected = windows × tiles × nights · found · completeness · volume in GB</a:t>
            </a:r>
            <a:endParaRPr lang="en-US" sz="1050" dirty="0"/>
          </a:p>
        </p:txBody>
      </p:sp>
      <p:sp>
        <p:nvSpPr>
          <p:cNvPr id="22" name="Shape 17"/>
          <p:cNvSpPr/>
          <p:nvPr/>
        </p:nvSpPr>
        <p:spPr>
          <a:xfrm>
            <a:off x="5788152" y="2121408"/>
            <a:ext cx="219456" cy="914"/>
          </a:xfrm>
          <a:prstGeom prst="line">
            <a:avLst/>
          </a:prstGeom>
          <a:noFill/>
          <a:ln w="15875">
            <a:solidFill>
              <a:srgbClr val="5E6964"/>
            </a:solidFill>
            <a:prstDash val="solid"/>
            <a:tailEnd type="triangle"/>
          </a:ln>
        </p:spPr>
      </p:sp>
      <p:sp>
        <p:nvSpPr>
          <p:cNvPr id="23" name="Shape 18"/>
          <p:cNvSpPr/>
          <p:nvPr/>
        </p:nvSpPr>
        <p:spPr>
          <a:xfrm>
            <a:off x="6035040" y="1371600"/>
            <a:ext cx="2514600" cy="1508760"/>
          </a:xfrm>
          <a:prstGeom prst="roundRect">
            <a:avLst>
              <a:gd name="adj" fmla="val 4848"/>
            </a:avLst>
          </a:prstGeom>
          <a:solidFill>
            <a:srgbClr val="F4F7F5"/>
          </a:solidFill>
          <a:ln w="9525">
            <a:solidFill>
              <a:srgbClr val="D5DED9"/>
            </a:solidFill>
            <a:prstDash val="solid"/>
          </a:ln>
        </p:spPr>
      </p:sp>
      <p:sp>
        <p:nvSpPr>
          <p:cNvPr id="24" name="Shape 19"/>
          <p:cNvSpPr/>
          <p:nvPr/>
        </p:nvSpPr>
        <p:spPr>
          <a:xfrm>
            <a:off x="6199632" y="1508760"/>
            <a:ext cx="457200" cy="457200"/>
          </a:xfrm>
          <a:prstGeom prst="ellipse">
            <a:avLst/>
          </a:prstGeom>
          <a:solidFill>
            <a:srgbClr val="00704A">
              <a:alpha val="22000"/>
            </a:srgbClr>
          </a:solidFill>
          <a:ln w="12700">
            <a:solidFill>
              <a:srgbClr val="00704A">
                <a:alpha val="0"/>
              </a:srgbClr>
            </a:solidFill>
            <a:prstDash val="solid"/>
          </a:ln>
        </p:spPr>
      </p:sp>
      <p:pic>
        <p:nvPicPr>
          <p:cNvPr id="25" name="Image 2" descr="preencoded.png">    </p:cNvPr>
          <p:cNvPicPr>
            <a:picLocks noChangeAspect="1"/>
          </p:cNvPicPr>
          <p:nvPr/>
        </p:nvPicPr>
        <p:blipFill>
          <a:blip r:embed="rId3"/>
          <a:stretch>
            <a:fillRect/>
          </a:stretch>
        </p:blipFill>
        <p:spPr>
          <a:xfrm>
            <a:off x="6309360" y="1618488"/>
            <a:ext cx="237744" cy="237744"/>
          </a:xfrm>
          <a:prstGeom prst="rect">
            <a:avLst/>
          </a:prstGeom>
        </p:spPr>
      </p:pic>
      <p:sp>
        <p:nvSpPr>
          <p:cNvPr id="26" name="Text 20"/>
          <p:cNvSpPr txBox="1"/>
          <p:nvPr/>
        </p:nvSpPr>
        <p:spPr>
          <a:xfrm>
            <a:off x="6766560" y="1508760"/>
            <a:ext cx="169164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Download</a:t>
            </a:r>
            <a:endParaRPr lang="en-US" sz="1300" dirty="0"/>
          </a:p>
        </p:txBody>
      </p:sp>
      <p:sp>
        <p:nvSpPr>
          <p:cNvPr id="27" name="Text 21"/>
          <p:cNvSpPr txBox="1"/>
          <p:nvPr/>
        </p:nvSpPr>
        <p:spPr>
          <a:xfrm>
            <a:off x="6199632" y="2057400"/>
            <a:ext cx="2240280" cy="7772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Resume · size check · HDF5 opening · manifest</a:t>
            </a:r>
            <a:endParaRPr lang="en-US" sz="1050" dirty="0"/>
          </a:p>
        </p:txBody>
      </p:sp>
      <p:sp>
        <p:nvSpPr>
          <p:cNvPr id="28" name="Text 22"/>
          <p:cNvSpPr txBox="1"/>
          <p:nvPr/>
        </p:nvSpPr>
        <p:spPr>
          <a:xfrm>
            <a:off x="457200" y="3063240"/>
            <a:ext cx="3657600" cy="256032"/>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Coverage matrix (schematic)</a:t>
            </a:r>
            <a:endParaRPr lang="en-US" sz="1150" dirty="0"/>
          </a:p>
        </p:txBody>
      </p:sp>
      <p:sp>
        <p:nvSpPr>
          <p:cNvPr id="29" name="Text 23"/>
          <p:cNvSpPr txBox="1"/>
          <p:nvPr/>
        </p:nvSpPr>
        <p:spPr>
          <a:xfrm>
            <a:off x="457200" y="3364992"/>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A1</a:t>
            </a:r>
            <a:endParaRPr lang="en-US" sz="1000" dirty="0"/>
          </a:p>
        </p:txBody>
      </p:sp>
      <p:sp>
        <p:nvSpPr>
          <p:cNvPr id="30" name="Shape 24"/>
          <p:cNvSpPr/>
          <p:nvPr/>
        </p:nvSpPr>
        <p:spPr>
          <a:xfrm>
            <a:off x="868680" y="3364992"/>
            <a:ext cx="347472" cy="228600"/>
          </a:xfrm>
          <a:prstGeom prst="rect">
            <a:avLst/>
          </a:prstGeom>
          <a:solidFill>
            <a:srgbClr val="00A86A"/>
          </a:solidFill>
          <a:ln w="12700">
            <a:solidFill>
              <a:srgbClr val="FFFFFF"/>
            </a:solidFill>
            <a:prstDash val="solid"/>
          </a:ln>
        </p:spPr>
      </p:sp>
      <p:sp>
        <p:nvSpPr>
          <p:cNvPr id="31" name="Shape 25"/>
          <p:cNvSpPr/>
          <p:nvPr/>
        </p:nvSpPr>
        <p:spPr>
          <a:xfrm>
            <a:off x="1252728" y="3364992"/>
            <a:ext cx="347472" cy="228600"/>
          </a:xfrm>
          <a:prstGeom prst="rect">
            <a:avLst/>
          </a:prstGeom>
          <a:solidFill>
            <a:srgbClr val="00A86A"/>
          </a:solidFill>
          <a:ln w="12700">
            <a:solidFill>
              <a:srgbClr val="FFFFFF"/>
            </a:solidFill>
            <a:prstDash val="solid"/>
          </a:ln>
        </p:spPr>
      </p:sp>
      <p:sp>
        <p:nvSpPr>
          <p:cNvPr id="32" name="Shape 26"/>
          <p:cNvSpPr/>
          <p:nvPr/>
        </p:nvSpPr>
        <p:spPr>
          <a:xfrm>
            <a:off x="1636776" y="3364992"/>
            <a:ext cx="347472" cy="228600"/>
          </a:xfrm>
          <a:prstGeom prst="rect">
            <a:avLst/>
          </a:prstGeom>
          <a:solidFill>
            <a:srgbClr val="F5C242"/>
          </a:solidFill>
          <a:ln w="12700">
            <a:solidFill>
              <a:srgbClr val="FFFFFF"/>
            </a:solidFill>
            <a:prstDash val="solid"/>
          </a:ln>
        </p:spPr>
      </p:sp>
      <p:sp>
        <p:nvSpPr>
          <p:cNvPr id="33" name="Shape 27"/>
          <p:cNvSpPr/>
          <p:nvPr/>
        </p:nvSpPr>
        <p:spPr>
          <a:xfrm>
            <a:off x="2020824" y="3364992"/>
            <a:ext cx="347472" cy="228600"/>
          </a:xfrm>
          <a:prstGeom prst="rect">
            <a:avLst/>
          </a:prstGeom>
          <a:solidFill>
            <a:srgbClr val="00A86A"/>
          </a:solidFill>
          <a:ln w="12700">
            <a:solidFill>
              <a:srgbClr val="FFFFFF"/>
            </a:solidFill>
            <a:prstDash val="solid"/>
          </a:ln>
        </p:spPr>
      </p:sp>
      <p:sp>
        <p:nvSpPr>
          <p:cNvPr id="34" name="Shape 28"/>
          <p:cNvSpPr/>
          <p:nvPr/>
        </p:nvSpPr>
        <p:spPr>
          <a:xfrm>
            <a:off x="2404872" y="3364992"/>
            <a:ext cx="347472" cy="228600"/>
          </a:xfrm>
          <a:prstGeom prst="rect">
            <a:avLst/>
          </a:prstGeom>
          <a:solidFill>
            <a:srgbClr val="00A86A"/>
          </a:solidFill>
          <a:ln w="12700">
            <a:solidFill>
              <a:srgbClr val="FFFFFF"/>
            </a:solidFill>
            <a:prstDash val="solid"/>
          </a:ln>
        </p:spPr>
      </p:sp>
      <p:sp>
        <p:nvSpPr>
          <p:cNvPr id="35" name="Shape 29"/>
          <p:cNvSpPr/>
          <p:nvPr/>
        </p:nvSpPr>
        <p:spPr>
          <a:xfrm>
            <a:off x="2788920" y="3364992"/>
            <a:ext cx="347472" cy="228600"/>
          </a:xfrm>
          <a:prstGeom prst="rect">
            <a:avLst/>
          </a:prstGeom>
          <a:solidFill>
            <a:srgbClr val="B83B2E"/>
          </a:solidFill>
          <a:ln w="12700">
            <a:solidFill>
              <a:srgbClr val="FFFFFF"/>
            </a:solidFill>
            <a:prstDash val="solid"/>
          </a:ln>
        </p:spPr>
      </p:sp>
      <p:sp>
        <p:nvSpPr>
          <p:cNvPr id="36" name="Shape 30"/>
          <p:cNvSpPr/>
          <p:nvPr/>
        </p:nvSpPr>
        <p:spPr>
          <a:xfrm>
            <a:off x="3172968" y="3364992"/>
            <a:ext cx="347472" cy="228600"/>
          </a:xfrm>
          <a:prstGeom prst="rect">
            <a:avLst/>
          </a:prstGeom>
          <a:solidFill>
            <a:srgbClr val="00A86A"/>
          </a:solidFill>
          <a:ln w="12700">
            <a:solidFill>
              <a:srgbClr val="FFFFFF"/>
            </a:solidFill>
            <a:prstDash val="solid"/>
          </a:ln>
        </p:spPr>
      </p:sp>
      <p:sp>
        <p:nvSpPr>
          <p:cNvPr id="37" name="Text 31"/>
          <p:cNvSpPr txBox="1"/>
          <p:nvPr/>
        </p:nvSpPr>
        <p:spPr>
          <a:xfrm>
            <a:off x="457200" y="3630168"/>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A2</a:t>
            </a:r>
            <a:endParaRPr lang="en-US" sz="1000" dirty="0"/>
          </a:p>
        </p:txBody>
      </p:sp>
      <p:sp>
        <p:nvSpPr>
          <p:cNvPr id="38" name="Shape 32"/>
          <p:cNvSpPr/>
          <p:nvPr/>
        </p:nvSpPr>
        <p:spPr>
          <a:xfrm>
            <a:off x="868680" y="3630168"/>
            <a:ext cx="347472" cy="228600"/>
          </a:xfrm>
          <a:prstGeom prst="rect">
            <a:avLst/>
          </a:prstGeom>
          <a:solidFill>
            <a:srgbClr val="00A86A"/>
          </a:solidFill>
          <a:ln w="12700">
            <a:solidFill>
              <a:srgbClr val="FFFFFF"/>
            </a:solidFill>
            <a:prstDash val="solid"/>
          </a:ln>
        </p:spPr>
      </p:sp>
      <p:sp>
        <p:nvSpPr>
          <p:cNvPr id="39" name="Shape 33"/>
          <p:cNvSpPr/>
          <p:nvPr/>
        </p:nvSpPr>
        <p:spPr>
          <a:xfrm>
            <a:off x="1252728" y="3630168"/>
            <a:ext cx="347472" cy="228600"/>
          </a:xfrm>
          <a:prstGeom prst="rect">
            <a:avLst/>
          </a:prstGeom>
          <a:solidFill>
            <a:srgbClr val="00A86A"/>
          </a:solidFill>
          <a:ln w="12700">
            <a:solidFill>
              <a:srgbClr val="FFFFFF"/>
            </a:solidFill>
            <a:prstDash val="solid"/>
          </a:ln>
        </p:spPr>
      </p:sp>
      <p:sp>
        <p:nvSpPr>
          <p:cNvPr id="40" name="Shape 34"/>
          <p:cNvSpPr/>
          <p:nvPr/>
        </p:nvSpPr>
        <p:spPr>
          <a:xfrm>
            <a:off x="1636776" y="3630168"/>
            <a:ext cx="347472" cy="228600"/>
          </a:xfrm>
          <a:prstGeom prst="rect">
            <a:avLst/>
          </a:prstGeom>
          <a:solidFill>
            <a:srgbClr val="00A86A"/>
          </a:solidFill>
          <a:ln w="12700">
            <a:solidFill>
              <a:srgbClr val="FFFFFF"/>
            </a:solidFill>
            <a:prstDash val="solid"/>
          </a:ln>
        </p:spPr>
      </p:sp>
      <p:sp>
        <p:nvSpPr>
          <p:cNvPr id="41" name="Shape 35"/>
          <p:cNvSpPr/>
          <p:nvPr/>
        </p:nvSpPr>
        <p:spPr>
          <a:xfrm>
            <a:off x="2020824" y="3630168"/>
            <a:ext cx="347472" cy="228600"/>
          </a:xfrm>
          <a:prstGeom prst="rect">
            <a:avLst/>
          </a:prstGeom>
          <a:solidFill>
            <a:srgbClr val="F5C242"/>
          </a:solidFill>
          <a:ln w="12700">
            <a:solidFill>
              <a:srgbClr val="FFFFFF"/>
            </a:solidFill>
            <a:prstDash val="solid"/>
          </a:ln>
        </p:spPr>
      </p:sp>
      <p:sp>
        <p:nvSpPr>
          <p:cNvPr id="42" name="Shape 36"/>
          <p:cNvSpPr/>
          <p:nvPr/>
        </p:nvSpPr>
        <p:spPr>
          <a:xfrm>
            <a:off x="2404872" y="3630168"/>
            <a:ext cx="347472" cy="228600"/>
          </a:xfrm>
          <a:prstGeom prst="rect">
            <a:avLst/>
          </a:prstGeom>
          <a:solidFill>
            <a:srgbClr val="00A86A"/>
          </a:solidFill>
          <a:ln w="12700">
            <a:solidFill>
              <a:srgbClr val="FFFFFF"/>
            </a:solidFill>
            <a:prstDash val="solid"/>
          </a:ln>
        </p:spPr>
      </p:sp>
      <p:sp>
        <p:nvSpPr>
          <p:cNvPr id="43" name="Shape 37"/>
          <p:cNvSpPr/>
          <p:nvPr/>
        </p:nvSpPr>
        <p:spPr>
          <a:xfrm>
            <a:off x="2788920" y="3630168"/>
            <a:ext cx="347472" cy="228600"/>
          </a:xfrm>
          <a:prstGeom prst="rect">
            <a:avLst/>
          </a:prstGeom>
          <a:solidFill>
            <a:srgbClr val="00A86A"/>
          </a:solidFill>
          <a:ln w="12700">
            <a:solidFill>
              <a:srgbClr val="FFFFFF"/>
            </a:solidFill>
            <a:prstDash val="solid"/>
          </a:ln>
        </p:spPr>
      </p:sp>
      <p:sp>
        <p:nvSpPr>
          <p:cNvPr id="44" name="Shape 38"/>
          <p:cNvSpPr/>
          <p:nvPr/>
        </p:nvSpPr>
        <p:spPr>
          <a:xfrm>
            <a:off x="3172968" y="3630168"/>
            <a:ext cx="347472" cy="228600"/>
          </a:xfrm>
          <a:prstGeom prst="rect">
            <a:avLst/>
          </a:prstGeom>
          <a:solidFill>
            <a:srgbClr val="00A86A"/>
          </a:solidFill>
          <a:ln w="12700">
            <a:solidFill>
              <a:srgbClr val="FFFFFF"/>
            </a:solidFill>
            <a:prstDash val="solid"/>
          </a:ln>
        </p:spPr>
      </p:sp>
      <p:sp>
        <p:nvSpPr>
          <p:cNvPr id="45" name="Text 39"/>
          <p:cNvSpPr txBox="1"/>
          <p:nvPr/>
        </p:nvSpPr>
        <p:spPr>
          <a:xfrm>
            <a:off x="457200" y="3895344"/>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A3</a:t>
            </a:r>
            <a:endParaRPr lang="en-US" sz="1000" dirty="0"/>
          </a:p>
        </p:txBody>
      </p:sp>
      <p:sp>
        <p:nvSpPr>
          <p:cNvPr id="46" name="Shape 40"/>
          <p:cNvSpPr/>
          <p:nvPr/>
        </p:nvSpPr>
        <p:spPr>
          <a:xfrm>
            <a:off x="868680" y="3895344"/>
            <a:ext cx="347472" cy="228600"/>
          </a:xfrm>
          <a:prstGeom prst="rect">
            <a:avLst/>
          </a:prstGeom>
          <a:solidFill>
            <a:srgbClr val="00A86A"/>
          </a:solidFill>
          <a:ln w="12700">
            <a:solidFill>
              <a:srgbClr val="FFFFFF"/>
            </a:solidFill>
            <a:prstDash val="solid"/>
          </a:ln>
        </p:spPr>
      </p:sp>
      <p:sp>
        <p:nvSpPr>
          <p:cNvPr id="47" name="Shape 41"/>
          <p:cNvSpPr/>
          <p:nvPr/>
        </p:nvSpPr>
        <p:spPr>
          <a:xfrm>
            <a:off x="1252728" y="3895344"/>
            <a:ext cx="347472" cy="228600"/>
          </a:xfrm>
          <a:prstGeom prst="rect">
            <a:avLst/>
          </a:prstGeom>
          <a:solidFill>
            <a:srgbClr val="00A86A"/>
          </a:solidFill>
          <a:ln w="12700">
            <a:solidFill>
              <a:srgbClr val="FFFFFF"/>
            </a:solidFill>
            <a:prstDash val="solid"/>
          </a:ln>
        </p:spPr>
      </p:sp>
      <p:sp>
        <p:nvSpPr>
          <p:cNvPr id="48" name="Shape 42"/>
          <p:cNvSpPr/>
          <p:nvPr/>
        </p:nvSpPr>
        <p:spPr>
          <a:xfrm>
            <a:off x="1636776" y="3895344"/>
            <a:ext cx="347472" cy="228600"/>
          </a:xfrm>
          <a:prstGeom prst="rect">
            <a:avLst/>
          </a:prstGeom>
          <a:solidFill>
            <a:srgbClr val="00A86A"/>
          </a:solidFill>
          <a:ln w="12700">
            <a:solidFill>
              <a:srgbClr val="FFFFFF"/>
            </a:solidFill>
            <a:prstDash val="solid"/>
          </a:ln>
        </p:spPr>
      </p:sp>
      <p:sp>
        <p:nvSpPr>
          <p:cNvPr id="49" name="Shape 43"/>
          <p:cNvSpPr/>
          <p:nvPr/>
        </p:nvSpPr>
        <p:spPr>
          <a:xfrm>
            <a:off x="2020824" y="3895344"/>
            <a:ext cx="347472" cy="228600"/>
          </a:xfrm>
          <a:prstGeom prst="rect">
            <a:avLst/>
          </a:prstGeom>
          <a:solidFill>
            <a:srgbClr val="00A86A"/>
          </a:solidFill>
          <a:ln w="12700">
            <a:solidFill>
              <a:srgbClr val="FFFFFF"/>
            </a:solidFill>
            <a:prstDash val="solid"/>
          </a:ln>
        </p:spPr>
      </p:sp>
      <p:sp>
        <p:nvSpPr>
          <p:cNvPr id="50" name="Shape 44"/>
          <p:cNvSpPr/>
          <p:nvPr/>
        </p:nvSpPr>
        <p:spPr>
          <a:xfrm>
            <a:off x="2404872" y="3895344"/>
            <a:ext cx="347472" cy="228600"/>
          </a:xfrm>
          <a:prstGeom prst="rect">
            <a:avLst/>
          </a:prstGeom>
          <a:solidFill>
            <a:srgbClr val="00A86A"/>
          </a:solidFill>
          <a:ln w="12700">
            <a:solidFill>
              <a:srgbClr val="FFFFFF"/>
            </a:solidFill>
            <a:prstDash val="solid"/>
          </a:ln>
        </p:spPr>
      </p:sp>
      <p:sp>
        <p:nvSpPr>
          <p:cNvPr id="51" name="Shape 45"/>
          <p:cNvSpPr/>
          <p:nvPr/>
        </p:nvSpPr>
        <p:spPr>
          <a:xfrm>
            <a:off x="2788920" y="3895344"/>
            <a:ext cx="347472" cy="228600"/>
          </a:xfrm>
          <a:prstGeom prst="rect">
            <a:avLst/>
          </a:prstGeom>
          <a:solidFill>
            <a:srgbClr val="00A86A"/>
          </a:solidFill>
          <a:ln w="12700">
            <a:solidFill>
              <a:srgbClr val="FFFFFF"/>
            </a:solidFill>
            <a:prstDash val="solid"/>
          </a:ln>
        </p:spPr>
      </p:sp>
      <p:sp>
        <p:nvSpPr>
          <p:cNvPr id="52" name="Shape 46"/>
          <p:cNvSpPr/>
          <p:nvPr/>
        </p:nvSpPr>
        <p:spPr>
          <a:xfrm>
            <a:off x="3172968" y="3895344"/>
            <a:ext cx="347472" cy="228600"/>
          </a:xfrm>
          <a:prstGeom prst="rect">
            <a:avLst/>
          </a:prstGeom>
          <a:solidFill>
            <a:srgbClr val="00A86A"/>
          </a:solidFill>
          <a:ln w="12700">
            <a:solidFill>
              <a:srgbClr val="FFFFFF"/>
            </a:solidFill>
            <a:prstDash val="solid"/>
          </a:ln>
        </p:spPr>
      </p:sp>
      <p:sp>
        <p:nvSpPr>
          <p:cNvPr id="53" name="Text 47"/>
          <p:cNvSpPr txBox="1"/>
          <p:nvPr/>
        </p:nvSpPr>
        <p:spPr>
          <a:xfrm>
            <a:off x="457200" y="4160520"/>
            <a:ext cx="365760" cy="228600"/>
          </a:xfrm>
          <a:prstGeom prst="rect">
            <a:avLst/>
          </a:prstGeom>
          <a:noFill/>
          <a:ln/>
        </p:spPr>
        <p:txBody>
          <a:bodyPr wrap="square" lIns="0" tIns="0" rIns="0" bIns="0" rtlCol="0" anchor="ctr"/>
          <a:lstStyle/>
          <a:p>
            <a:pPr indent="0" marL="0">
              <a:buNone/>
            </a:pPr>
            <a:r>
              <a:rPr lang="en-US" sz="1000" b="1" dirty="0">
                <a:solidFill>
                  <a:srgbClr val="231F20"/>
                </a:solidFill>
                <a:latin typeface="Calibri" pitchFamily="34" charset="0"/>
                <a:ea typeface="Calibri" pitchFamily="34" charset="-122"/>
                <a:cs typeface="Calibri" pitchFamily="34" charset="-120"/>
              </a:rPr>
              <a:t>A4</a:t>
            </a:r>
            <a:endParaRPr lang="en-US" sz="1000" dirty="0"/>
          </a:p>
        </p:txBody>
      </p:sp>
      <p:sp>
        <p:nvSpPr>
          <p:cNvPr id="54" name="Shape 48"/>
          <p:cNvSpPr/>
          <p:nvPr/>
        </p:nvSpPr>
        <p:spPr>
          <a:xfrm>
            <a:off x="868680" y="4160520"/>
            <a:ext cx="347472" cy="228600"/>
          </a:xfrm>
          <a:prstGeom prst="rect">
            <a:avLst/>
          </a:prstGeom>
          <a:solidFill>
            <a:srgbClr val="00A86A"/>
          </a:solidFill>
          <a:ln w="12700">
            <a:solidFill>
              <a:srgbClr val="FFFFFF"/>
            </a:solidFill>
            <a:prstDash val="solid"/>
          </a:ln>
        </p:spPr>
      </p:sp>
      <p:sp>
        <p:nvSpPr>
          <p:cNvPr id="55" name="Shape 49"/>
          <p:cNvSpPr/>
          <p:nvPr/>
        </p:nvSpPr>
        <p:spPr>
          <a:xfrm>
            <a:off x="1252728" y="4160520"/>
            <a:ext cx="347472" cy="228600"/>
          </a:xfrm>
          <a:prstGeom prst="rect">
            <a:avLst/>
          </a:prstGeom>
          <a:solidFill>
            <a:srgbClr val="00A86A"/>
          </a:solidFill>
          <a:ln w="12700">
            <a:solidFill>
              <a:srgbClr val="FFFFFF"/>
            </a:solidFill>
            <a:prstDash val="solid"/>
          </a:ln>
        </p:spPr>
      </p:sp>
      <p:sp>
        <p:nvSpPr>
          <p:cNvPr id="56" name="Shape 50"/>
          <p:cNvSpPr/>
          <p:nvPr/>
        </p:nvSpPr>
        <p:spPr>
          <a:xfrm>
            <a:off x="1636776" y="4160520"/>
            <a:ext cx="347472" cy="228600"/>
          </a:xfrm>
          <a:prstGeom prst="rect">
            <a:avLst/>
          </a:prstGeom>
          <a:solidFill>
            <a:srgbClr val="00A86A"/>
          </a:solidFill>
          <a:ln w="12700">
            <a:solidFill>
              <a:srgbClr val="FFFFFF"/>
            </a:solidFill>
            <a:prstDash val="solid"/>
          </a:ln>
        </p:spPr>
      </p:sp>
      <p:sp>
        <p:nvSpPr>
          <p:cNvPr id="57" name="Shape 51"/>
          <p:cNvSpPr/>
          <p:nvPr/>
        </p:nvSpPr>
        <p:spPr>
          <a:xfrm>
            <a:off x="2020824" y="4160520"/>
            <a:ext cx="347472" cy="228600"/>
          </a:xfrm>
          <a:prstGeom prst="rect">
            <a:avLst/>
          </a:prstGeom>
          <a:solidFill>
            <a:srgbClr val="00A86A"/>
          </a:solidFill>
          <a:ln w="12700">
            <a:solidFill>
              <a:srgbClr val="FFFFFF"/>
            </a:solidFill>
            <a:prstDash val="solid"/>
          </a:ln>
        </p:spPr>
      </p:sp>
      <p:sp>
        <p:nvSpPr>
          <p:cNvPr id="58" name="Shape 52"/>
          <p:cNvSpPr/>
          <p:nvPr/>
        </p:nvSpPr>
        <p:spPr>
          <a:xfrm>
            <a:off x="2404872" y="4160520"/>
            <a:ext cx="347472" cy="228600"/>
          </a:xfrm>
          <a:prstGeom prst="rect">
            <a:avLst/>
          </a:prstGeom>
          <a:solidFill>
            <a:srgbClr val="00A86A"/>
          </a:solidFill>
          <a:ln w="12700">
            <a:solidFill>
              <a:srgbClr val="FFFFFF"/>
            </a:solidFill>
            <a:prstDash val="solid"/>
          </a:ln>
        </p:spPr>
      </p:sp>
      <p:sp>
        <p:nvSpPr>
          <p:cNvPr id="59" name="Shape 53"/>
          <p:cNvSpPr/>
          <p:nvPr/>
        </p:nvSpPr>
        <p:spPr>
          <a:xfrm>
            <a:off x="2788920" y="4160520"/>
            <a:ext cx="347472" cy="228600"/>
          </a:xfrm>
          <a:prstGeom prst="rect">
            <a:avLst/>
          </a:prstGeom>
          <a:solidFill>
            <a:srgbClr val="00A86A"/>
          </a:solidFill>
          <a:ln w="12700">
            <a:solidFill>
              <a:srgbClr val="FFFFFF"/>
            </a:solidFill>
            <a:prstDash val="solid"/>
          </a:ln>
        </p:spPr>
      </p:sp>
      <p:sp>
        <p:nvSpPr>
          <p:cNvPr id="60" name="Shape 54"/>
          <p:cNvSpPr/>
          <p:nvPr/>
        </p:nvSpPr>
        <p:spPr>
          <a:xfrm>
            <a:off x="3172968" y="4160520"/>
            <a:ext cx="347472" cy="228600"/>
          </a:xfrm>
          <a:prstGeom prst="rect">
            <a:avLst/>
          </a:prstGeom>
          <a:solidFill>
            <a:srgbClr val="B83B2E"/>
          </a:solidFill>
          <a:ln w="12700">
            <a:solidFill>
              <a:srgbClr val="FFFFFF"/>
            </a:solidFill>
            <a:prstDash val="solid"/>
          </a:ln>
        </p:spPr>
      </p:sp>
      <p:sp>
        <p:nvSpPr>
          <p:cNvPr id="61" name="Shape 55"/>
          <p:cNvSpPr/>
          <p:nvPr/>
        </p:nvSpPr>
        <p:spPr>
          <a:xfrm>
            <a:off x="3749040" y="3401568"/>
            <a:ext cx="182880" cy="164592"/>
          </a:xfrm>
          <a:prstGeom prst="rect">
            <a:avLst/>
          </a:prstGeom>
          <a:solidFill>
            <a:srgbClr val="00A86A"/>
          </a:solidFill>
          <a:ln w="12700">
            <a:solidFill>
              <a:srgbClr val="00A86A"/>
            </a:solidFill>
            <a:prstDash val="solid"/>
          </a:ln>
        </p:spPr>
      </p:sp>
      <p:sp>
        <p:nvSpPr>
          <p:cNvPr id="62" name="Text 56"/>
          <p:cNvSpPr txBox="1"/>
          <p:nvPr/>
        </p:nvSpPr>
        <p:spPr>
          <a:xfrm>
            <a:off x="4005072" y="336499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complete</a:t>
            </a:r>
            <a:endParaRPr lang="en-US" sz="1000" dirty="0"/>
          </a:p>
        </p:txBody>
      </p:sp>
      <p:sp>
        <p:nvSpPr>
          <p:cNvPr id="63" name="Shape 57"/>
          <p:cNvSpPr/>
          <p:nvPr/>
        </p:nvSpPr>
        <p:spPr>
          <a:xfrm>
            <a:off x="3749040" y="3675888"/>
            <a:ext cx="182880" cy="164592"/>
          </a:xfrm>
          <a:prstGeom prst="rect">
            <a:avLst/>
          </a:prstGeom>
          <a:solidFill>
            <a:srgbClr val="F5C242"/>
          </a:solidFill>
          <a:ln w="12700">
            <a:solidFill>
              <a:srgbClr val="F5C242"/>
            </a:solidFill>
            <a:prstDash val="solid"/>
          </a:ln>
        </p:spPr>
      </p:sp>
      <p:sp>
        <p:nvSpPr>
          <p:cNvPr id="64" name="Text 58"/>
          <p:cNvSpPr txBox="1"/>
          <p:nvPr/>
        </p:nvSpPr>
        <p:spPr>
          <a:xfrm>
            <a:off x="4005072" y="363931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partial</a:t>
            </a:r>
            <a:endParaRPr lang="en-US" sz="1000" dirty="0"/>
          </a:p>
        </p:txBody>
      </p:sp>
      <p:sp>
        <p:nvSpPr>
          <p:cNvPr id="65" name="Shape 59"/>
          <p:cNvSpPr/>
          <p:nvPr/>
        </p:nvSpPr>
        <p:spPr>
          <a:xfrm>
            <a:off x="3749040" y="3950208"/>
            <a:ext cx="182880" cy="164592"/>
          </a:xfrm>
          <a:prstGeom prst="rect">
            <a:avLst/>
          </a:prstGeom>
          <a:solidFill>
            <a:srgbClr val="B83B2E"/>
          </a:solidFill>
          <a:ln w="12700">
            <a:solidFill>
              <a:srgbClr val="B83B2E"/>
            </a:solidFill>
            <a:prstDash val="solid"/>
          </a:ln>
        </p:spPr>
      </p:sp>
      <p:sp>
        <p:nvSpPr>
          <p:cNvPr id="66" name="Text 60"/>
          <p:cNvSpPr txBox="1"/>
          <p:nvPr/>
        </p:nvSpPr>
        <p:spPr>
          <a:xfrm>
            <a:off x="4005072" y="3913632"/>
            <a:ext cx="1097280" cy="237744"/>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missing</a:t>
            </a:r>
            <a:endParaRPr lang="en-US" sz="1000" dirty="0"/>
          </a:p>
        </p:txBody>
      </p:sp>
      <p:sp>
        <p:nvSpPr>
          <p:cNvPr id="67" name="Shape 61"/>
          <p:cNvSpPr/>
          <p:nvPr/>
        </p:nvSpPr>
        <p:spPr>
          <a:xfrm>
            <a:off x="5212080" y="3108960"/>
            <a:ext cx="3474720" cy="1353312"/>
          </a:xfrm>
          <a:prstGeom prst="roundRect">
            <a:avLst>
              <a:gd name="adj" fmla="val 5405"/>
            </a:avLst>
          </a:prstGeom>
          <a:solidFill>
            <a:srgbClr val="E8F5EF"/>
          </a:solidFill>
          <a:ln w="15875">
            <a:solidFill>
              <a:srgbClr val="00A86A"/>
            </a:solidFill>
            <a:prstDash val="solid"/>
          </a:ln>
        </p:spPr>
      </p:sp>
      <p:sp>
        <p:nvSpPr>
          <p:cNvPr id="68" name="Shape 62"/>
          <p:cNvSpPr/>
          <p:nvPr/>
        </p:nvSpPr>
        <p:spPr>
          <a:xfrm>
            <a:off x="5349240" y="3246120"/>
            <a:ext cx="457200" cy="457200"/>
          </a:xfrm>
          <a:prstGeom prst="ellipse">
            <a:avLst/>
          </a:prstGeom>
          <a:solidFill>
            <a:srgbClr val="00A86A">
              <a:alpha val="22000"/>
            </a:srgbClr>
          </a:solidFill>
          <a:ln w="12700">
            <a:solidFill>
              <a:srgbClr val="00A86A">
                <a:alpha val="0"/>
              </a:srgbClr>
            </a:solidFill>
            <a:prstDash val="solid"/>
          </a:ln>
        </p:spPr>
      </p:sp>
      <p:pic>
        <p:nvPicPr>
          <p:cNvPr id="69" name="Image 3" descr="preencoded.png">    </p:cNvPr>
          <p:cNvPicPr>
            <a:picLocks noChangeAspect="1"/>
          </p:cNvPicPr>
          <p:nvPr/>
        </p:nvPicPr>
        <p:blipFill>
          <a:blip r:embed="rId4"/>
          <a:stretch>
            <a:fillRect/>
          </a:stretch>
        </p:blipFill>
        <p:spPr>
          <a:xfrm>
            <a:off x="5458968" y="3355848"/>
            <a:ext cx="237744" cy="237744"/>
          </a:xfrm>
          <a:prstGeom prst="rect">
            <a:avLst/>
          </a:prstGeom>
        </p:spPr>
      </p:pic>
      <p:sp>
        <p:nvSpPr>
          <p:cNvPr id="70" name="Text 63"/>
          <p:cNvSpPr txBox="1"/>
          <p:nvPr/>
        </p:nvSpPr>
        <p:spPr>
          <a:xfrm>
            <a:off x="5897880" y="3246120"/>
            <a:ext cx="26974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Security by design</a:t>
            </a:r>
            <a:endParaRPr lang="en-US" sz="1300" dirty="0"/>
          </a:p>
        </p:txBody>
      </p:sp>
      <p:sp>
        <p:nvSpPr>
          <p:cNvPr id="71" name="Text 64"/>
          <p:cNvSpPr txBox="1"/>
          <p:nvPr/>
        </p:nvSpPr>
        <p:spPr>
          <a:xfrm>
            <a:off x="5349240" y="3749040"/>
            <a:ext cx="3200400" cy="68580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The token comes from an environment variable, a .env file, Colab or Kaggle secrets, or a masked prompt — and is sent only to *.earthdata.nasa.gov and *.eosdis.nasa.gov.</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03</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Explore and understand</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What is really inside a Black Marble file?</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5C242"/>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STRUCTURE</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A Black Marble file is a binder, not an image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3657600" cy="420624"/>
          </a:xfrm>
          <a:prstGeom prst="roundRect">
            <a:avLst>
              <a:gd name="adj" fmla="val 10870"/>
            </a:avLst>
          </a:prstGeom>
          <a:solidFill>
            <a:srgbClr val="00553A"/>
          </a:solidFill>
          <a:ln w="12700">
            <a:solidFill>
              <a:srgbClr val="00553A"/>
            </a:solidFill>
            <a:prstDash val="solid"/>
          </a:ln>
        </p:spPr>
      </p:sp>
      <p:sp>
        <p:nvSpPr>
          <p:cNvPr id="12" name="Text 9"/>
          <p:cNvSpPr txBox="1"/>
          <p:nvPr/>
        </p:nvSpPr>
        <p:spPr>
          <a:xfrm>
            <a:off x="594360" y="1371600"/>
            <a:ext cx="34747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FILE  VNP46A4 … .h5</a:t>
            </a:r>
            <a:endParaRPr lang="en-US" sz="1150" dirty="0"/>
          </a:p>
        </p:txBody>
      </p:sp>
      <p:sp>
        <p:nvSpPr>
          <p:cNvPr id="13" name="Text 10"/>
          <p:cNvSpPr txBox="1"/>
          <p:nvPr/>
        </p:nvSpPr>
        <p:spPr>
          <a:xfrm>
            <a:off x="4297680" y="1371600"/>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global attributes: sensor, extent, production date</a:t>
            </a:r>
            <a:endParaRPr lang="en-US" sz="1050" dirty="0"/>
          </a:p>
        </p:txBody>
      </p:sp>
      <p:sp>
        <p:nvSpPr>
          <p:cNvPr id="14" name="Shape 11"/>
          <p:cNvSpPr/>
          <p:nvPr/>
        </p:nvSpPr>
        <p:spPr>
          <a:xfrm>
            <a:off x="777240" y="1938528"/>
            <a:ext cx="3337560" cy="420624"/>
          </a:xfrm>
          <a:prstGeom prst="roundRect">
            <a:avLst>
              <a:gd name="adj" fmla="val 10870"/>
            </a:avLst>
          </a:prstGeom>
          <a:solidFill>
            <a:srgbClr val="00704A"/>
          </a:solidFill>
          <a:ln w="12700">
            <a:solidFill>
              <a:srgbClr val="00704A"/>
            </a:solidFill>
            <a:prstDash val="solid"/>
          </a:ln>
        </p:spPr>
      </p:sp>
      <p:sp>
        <p:nvSpPr>
          <p:cNvPr id="15" name="Text 12"/>
          <p:cNvSpPr txBox="1"/>
          <p:nvPr/>
        </p:nvSpPr>
        <p:spPr>
          <a:xfrm>
            <a:off x="914400" y="1938528"/>
            <a:ext cx="315468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HDFEOS / GRIDS / &lt;grid&gt;</a:t>
            </a:r>
            <a:endParaRPr lang="en-US" sz="1150" dirty="0"/>
          </a:p>
        </p:txBody>
      </p:sp>
      <p:sp>
        <p:nvSpPr>
          <p:cNvPr id="16" name="Text 13"/>
          <p:cNvSpPr txBox="1"/>
          <p:nvPr/>
        </p:nvSpPr>
        <p:spPr>
          <a:xfrm>
            <a:off x="4297680" y="1938528"/>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grid name depends on the product — never hard-code it</a:t>
            </a:r>
            <a:endParaRPr lang="en-US" sz="1050" dirty="0"/>
          </a:p>
        </p:txBody>
      </p:sp>
      <p:sp>
        <p:nvSpPr>
          <p:cNvPr id="17" name="Shape 14"/>
          <p:cNvSpPr/>
          <p:nvPr/>
        </p:nvSpPr>
        <p:spPr>
          <a:xfrm>
            <a:off x="1097280" y="2505456"/>
            <a:ext cx="3017520" cy="420624"/>
          </a:xfrm>
          <a:prstGeom prst="roundRect">
            <a:avLst>
              <a:gd name="adj" fmla="val 10870"/>
            </a:avLst>
          </a:prstGeom>
          <a:solidFill>
            <a:srgbClr val="00A86A"/>
          </a:solidFill>
          <a:ln w="12700">
            <a:solidFill>
              <a:srgbClr val="00A86A"/>
            </a:solidFill>
            <a:prstDash val="solid"/>
          </a:ln>
        </p:spPr>
      </p:sp>
      <p:sp>
        <p:nvSpPr>
          <p:cNvPr id="18" name="Text 15"/>
          <p:cNvSpPr txBox="1"/>
          <p:nvPr/>
        </p:nvSpPr>
        <p:spPr>
          <a:xfrm>
            <a:off x="1234440" y="2505456"/>
            <a:ext cx="283464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Data Fields</a:t>
            </a:r>
            <a:endParaRPr lang="en-US" sz="1150" dirty="0"/>
          </a:p>
        </p:txBody>
      </p:sp>
      <p:sp>
        <p:nvSpPr>
          <p:cNvPr id="19" name="Text 16"/>
          <p:cNvSpPr txBox="1"/>
          <p:nvPr/>
        </p:nvSpPr>
        <p:spPr>
          <a:xfrm>
            <a:off x="4297680" y="2505456"/>
            <a:ext cx="4389120" cy="420624"/>
          </a:xfrm>
          <a:prstGeom prst="rect">
            <a:avLst/>
          </a:prstGeom>
          <a:noFill/>
          <a:ln/>
        </p:spPr>
        <p:txBody>
          <a:bodyPr wrap="square" lIns="0" tIns="0" rIns="0" bIns="0" rtlCol="0" anchor="ctr"/>
          <a:lstStyle/>
          <a:p>
            <a:pPr indent="0" marL="0">
              <a:buNone/>
            </a:pPr>
            <a:r>
              <a:rPr lang="en-US" sz="1050" i="1" dirty="0">
                <a:solidFill>
                  <a:srgbClr val="5E6964"/>
                </a:solidFill>
                <a:latin typeface="Calibri" pitchFamily="34" charset="0"/>
                <a:ea typeface="Calibri" pitchFamily="34" charset="-122"/>
                <a:cs typeface="Calibri" pitchFamily="34" charset="-120"/>
              </a:rPr>
              <a:t>all useful layers live here</a:t>
            </a:r>
            <a:endParaRPr lang="en-US" sz="1050" dirty="0"/>
          </a:p>
        </p:txBody>
      </p:sp>
      <p:sp>
        <p:nvSpPr>
          <p:cNvPr id="20" name="Shape 17"/>
          <p:cNvSpPr/>
          <p:nvPr/>
        </p:nvSpPr>
        <p:spPr>
          <a:xfrm>
            <a:off x="457200" y="3200400"/>
            <a:ext cx="1536192" cy="1261872"/>
          </a:xfrm>
          <a:prstGeom prst="roundRect">
            <a:avLst>
              <a:gd name="adj" fmla="val 5797"/>
            </a:avLst>
          </a:prstGeom>
          <a:solidFill>
            <a:srgbClr val="F4F7F5"/>
          </a:solidFill>
          <a:ln w="9525">
            <a:solidFill>
              <a:srgbClr val="D5DED9"/>
            </a:solidFill>
            <a:prstDash val="solid"/>
          </a:ln>
        </p:spPr>
      </p:sp>
      <p:sp>
        <p:nvSpPr>
          <p:cNvPr id="21" name="Shape 18"/>
          <p:cNvSpPr/>
          <p:nvPr/>
        </p:nvSpPr>
        <p:spPr>
          <a:xfrm>
            <a:off x="987552" y="3291840"/>
            <a:ext cx="475488" cy="475488"/>
          </a:xfrm>
          <a:prstGeom prst="ellipse">
            <a:avLst/>
          </a:prstGeom>
          <a:solidFill>
            <a:srgbClr val="F5C242">
              <a:alpha val="22000"/>
            </a:srgbClr>
          </a:solidFill>
          <a:ln w="12700">
            <a:solidFill>
              <a:srgbClr val="F5C242">
                <a:alpha val="0"/>
              </a:srgbClr>
            </a:solidFill>
            <a:prstDash val="solid"/>
          </a:ln>
        </p:spPr>
      </p:sp>
      <p:pic>
        <p:nvPicPr>
          <p:cNvPr id="22" name="Image 0" descr="preencoded.png">    </p:cNvPr>
          <p:cNvPicPr>
            <a:picLocks noChangeAspect="1"/>
          </p:cNvPicPr>
          <p:nvPr/>
        </p:nvPicPr>
        <p:blipFill>
          <a:blip r:embed="rId1"/>
          <a:stretch>
            <a:fillRect/>
          </a:stretch>
        </p:blipFill>
        <p:spPr>
          <a:xfrm>
            <a:off x="1101669" y="3405957"/>
            <a:ext cx="247254" cy="247254"/>
          </a:xfrm>
          <a:prstGeom prst="rect">
            <a:avLst/>
          </a:prstGeom>
        </p:spPr>
      </p:pic>
      <p:sp>
        <p:nvSpPr>
          <p:cNvPr id="23" name="Text 19"/>
          <p:cNvSpPr txBox="1"/>
          <p:nvPr/>
        </p:nvSpPr>
        <p:spPr>
          <a:xfrm>
            <a:off x="530352"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Radiance</a:t>
            </a:r>
            <a:endParaRPr lang="en-US" sz="1200" dirty="0"/>
          </a:p>
        </p:txBody>
      </p:sp>
      <p:sp>
        <p:nvSpPr>
          <p:cNvPr id="24" name="Text 20"/>
          <p:cNvSpPr txBox="1"/>
          <p:nvPr/>
        </p:nvSpPr>
        <p:spPr>
          <a:xfrm>
            <a:off x="530352"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AllAngle_Composite_Snow_Free</a:t>
            </a:r>
            <a:endParaRPr lang="en-US" sz="750" dirty="0"/>
          </a:p>
        </p:txBody>
      </p:sp>
      <p:sp>
        <p:nvSpPr>
          <p:cNvPr id="25" name="Shape 21"/>
          <p:cNvSpPr/>
          <p:nvPr/>
        </p:nvSpPr>
        <p:spPr>
          <a:xfrm>
            <a:off x="2121408" y="3200400"/>
            <a:ext cx="1536192" cy="1261872"/>
          </a:xfrm>
          <a:prstGeom prst="roundRect">
            <a:avLst>
              <a:gd name="adj" fmla="val 5797"/>
            </a:avLst>
          </a:prstGeom>
          <a:solidFill>
            <a:srgbClr val="F4F7F5"/>
          </a:solidFill>
          <a:ln w="9525">
            <a:solidFill>
              <a:srgbClr val="D5DED9"/>
            </a:solidFill>
            <a:prstDash val="solid"/>
          </a:ln>
        </p:spPr>
      </p:sp>
      <p:sp>
        <p:nvSpPr>
          <p:cNvPr id="26" name="Shape 22"/>
          <p:cNvSpPr/>
          <p:nvPr/>
        </p:nvSpPr>
        <p:spPr>
          <a:xfrm>
            <a:off x="2651760" y="3291840"/>
            <a:ext cx="475488" cy="475488"/>
          </a:xfrm>
          <a:prstGeom prst="ellipse">
            <a:avLst/>
          </a:prstGeom>
          <a:solidFill>
            <a:srgbClr val="0E7C86">
              <a:alpha val="22000"/>
            </a:srgbClr>
          </a:solidFill>
          <a:ln w="12700">
            <a:solidFill>
              <a:srgbClr val="0E7C86">
                <a:alpha val="0"/>
              </a:srgbClr>
            </a:solidFill>
            <a:prstDash val="solid"/>
          </a:ln>
        </p:spPr>
      </p:sp>
      <p:pic>
        <p:nvPicPr>
          <p:cNvPr id="27" name="Image 1" descr="preencoded.png">    </p:cNvPr>
          <p:cNvPicPr>
            <a:picLocks noChangeAspect="1"/>
          </p:cNvPicPr>
          <p:nvPr/>
        </p:nvPicPr>
        <p:blipFill>
          <a:blip r:embed="rId2"/>
          <a:stretch>
            <a:fillRect/>
          </a:stretch>
        </p:blipFill>
        <p:spPr>
          <a:xfrm>
            <a:off x="2765877" y="3405957"/>
            <a:ext cx="247254" cy="247254"/>
          </a:xfrm>
          <a:prstGeom prst="rect">
            <a:avLst/>
          </a:prstGeom>
        </p:spPr>
      </p:pic>
      <p:sp>
        <p:nvSpPr>
          <p:cNvPr id="28" name="Text 23"/>
          <p:cNvSpPr txBox="1"/>
          <p:nvPr/>
        </p:nvSpPr>
        <p:spPr>
          <a:xfrm>
            <a:off x="2194560"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Uncertainty</a:t>
            </a:r>
            <a:endParaRPr lang="en-US" sz="1200" dirty="0"/>
          </a:p>
        </p:txBody>
      </p:sp>
      <p:sp>
        <p:nvSpPr>
          <p:cNvPr id="29" name="Text 24"/>
          <p:cNvSpPr txBox="1"/>
          <p:nvPr/>
        </p:nvSpPr>
        <p:spPr>
          <a:xfrm>
            <a:off x="2194560"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…_Num · …_Std</a:t>
            </a:r>
            <a:endParaRPr lang="en-US" sz="750" dirty="0"/>
          </a:p>
        </p:txBody>
      </p:sp>
      <p:sp>
        <p:nvSpPr>
          <p:cNvPr id="30" name="Shape 25"/>
          <p:cNvSpPr/>
          <p:nvPr/>
        </p:nvSpPr>
        <p:spPr>
          <a:xfrm>
            <a:off x="3785616" y="3200400"/>
            <a:ext cx="1536192" cy="1261872"/>
          </a:xfrm>
          <a:prstGeom prst="roundRect">
            <a:avLst>
              <a:gd name="adj" fmla="val 5797"/>
            </a:avLst>
          </a:prstGeom>
          <a:solidFill>
            <a:srgbClr val="F4F7F5"/>
          </a:solidFill>
          <a:ln w="9525">
            <a:solidFill>
              <a:srgbClr val="D5DED9"/>
            </a:solidFill>
            <a:prstDash val="solid"/>
          </a:ln>
        </p:spPr>
      </p:sp>
      <p:sp>
        <p:nvSpPr>
          <p:cNvPr id="31" name="Shape 26"/>
          <p:cNvSpPr/>
          <p:nvPr/>
        </p:nvSpPr>
        <p:spPr>
          <a:xfrm>
            <a:off x="4315968" y="3291840"/>
            <a:ext cx="475488" cy="475488"/>
          </a:xfrm>
          <a:prstGeom prst="ellipse">
            <a:avLst/>
          </a:prstGeom>
          <a:solidFill>
            <a:srgbClr val="C4621D">
              <a:alpha val="22000"/>
            </a:srgbClr>
          </a:solidFill>
          <a:ln w="12700">
            <a:solidFill>
              <a:srgbClr val="C4621D">
                <a:alpha val="0"/>
              </a:srgbClr>
            </a:solidFill>
            <a:prstDash val="solid"/>
          </a:ln>
        </p:spPr>
      </p:sp>
      <p:pic>
        <p:nvPicPr>
          <p:cNvPr id="32" name="Image 2" descr="preencoded.png">    </p:cNvPr>
          <p:cNvPicPr>
            <a:picLocks noChangeAspect="1"/>
          </p:cNvPicPr>
          <p:nvPr/>
        </p:nvPicPr>
        <p:blipFill>
          <a:blip r:embed="rId3"/>
          <a:stretch>
            <a:fillRect/>
          </a:stretch>
        </p:blipFill>
        <p:spPr>
          <a:xfrm>
            <a:off x="4430085" y="3405957"/>
            <a:ext cx="247254" cy="247254"/>
          </a:xfrm>
          <a:prstGeom prst="rect">
            <a:avLst/>
          </a:prstGeom>
        </p:spPr>
      </p:pic>
      <p:sp>
        <p:nvSpPr>
          <p:cNvPr id="33" name="Text 27"/>
          <p:cNvSpPr txBox="1"/>
          <p:nvPr/>
        </p:nvSpPr>
        <p:spPr>
          <a:xfrm>
            <a:off x="3858768"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Quality</a:t>
            </a:r>
            <a:endParaRPr lang="en-US" sz="1200" dirty="0"/>
          </a:p>
        </p:txBody>
      </p:sp>
      <p:sp>
        <p:nvSpPr>
          <p:cNvPr id="34" name="Text 28"/>
          <p:cNvSpPr txBox="1"/>
          <p:nvPr/>
        </p:nvSpPr>
        <p:spPr>
          <a:xfrm>
            <a:off x="3858768"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…_Quality · Mandatory_Quality_Flag</a:t>
            </a:r>
            <a:endParaRPr lang="en-US" sz="750" dirty="0"/>
          </a:p>
        </p:txBody>
      </p:sp>
      <p:sp>
        <p:nvSpPr>
          <p:cNvPr id="35" name="Shape 29"/>
          <p:cNvSpPr/>
          <p:nvPr/>
        </p:nvSpPr>
        <p:spPr>
          <a:xfrm>
            <a:off x="5449824" y="3200400"/>
            <a:ext cx="1536192" cy="1261872"/>
          </a:xfrm>
          <a:prstGeom prst="roundRect">
            <a:avLst>
              <a:gd name="adj" fmla="val 5797"/>
            </a:avLst>
          </a:prstGeom>
          <a:solidFill>
            <a:srgbClr val="F4F7F5"/>
          </a:solidFill>
          <a:ln w="9525">
            <a:solidFill>
              <a:srgbClr val="D5DED9"/>
            </a:solidFill>
            <a:prstDash val="solid"/>
          </a:ln>
        </p:spPr>
      </p:sp>
      <p:sp>
        <p:nvSpPr>
          <p:cNvPr id="36" name="Shape 30"/>
          <p:cNvSpPr/>
          <p:nvPr/>
        </p:nvSpPr>
        <p:spPr>
          <a:xfrm>
            <a:off x="5980176" y="3291840"/>
            <a:ext cx="475488" cy="475488"/>
          </a:xfrm>
          <a:prstGeom prst="ellipse">
            <a:avLst/>
          </a:prstGeom>
          <a:solidFill>
            <a:srgbClr val="5E6964">
              <a:alpha val="22000"/>
            </a:srgbClr>
          </a:solidFill>
          <a:ln w="12700">
            <a:solidFill>
              <a:srgbClr val="5E6964">
                <a:alpha val="0"/>
              </a:srgbClr>
            </a:solidFill>
            <a:prstDash val="solid"/>
          </a:ln>
        </p:spPr>
      </p:sp>
      <p:pic>
        <p:nvPicPr>
          <p:cNvPr id="37" name="Image 3" descr="preencoded.png">    </p:cNvPr>
          <p:cNvPicPr>
            <a:picLocks noChangeAspect="1"/>
          </p:cNvPicPr>
          <p:nvPr/>
        </p:nvPicPr>
        <p:blipFill>
          <a:blip r:embed="rId4"/>
          <a:stretch>
            <a:fillRect/>
          </a:stretch>
        </p:blipFill>
        <p:spPr>
          <a:xfrm>
            <a:off x="6094293" y="3405957"/>
            <a:ext cx="247254" cy="247254"/>
          </a:xfrm>
          <a:prstGeom prst="rect">
            <a:avLst/>
          </a:prstGeom>
        </p:spPr>
      </p:pic>
      <p:sp>
        <p:nvSpPr>
          <p:cNvPr id="38" name="Text 31"/>
          <p:cNvSpPr txBox="1"/>
          <p:nvPr/>
        </p:nvSpPr>
        <p:spPr>
          <a:xfrm>
            <a:off x="5522976"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Context</a:t>
            </a:r>
            <a:endParaRPr lang="en-US" sz="1200" dirty="0"/>
          </a:p>
        </p:txBody>
      </p:sp>
      <p:sp>
        <p:nvSpPr>
          <p:cNvPr id="39" name="Text 32"/>
          <p:cNvSpPr txBox="1"/>
          <p:nvPr/>
        </p:nvSpPr>
        <p:spPr>
          <a:xfrm>
            <a:off x="5522976"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Land_Water_Mask · DNB_Platform</a:t>
            </a:r>
            <a:endParaRPr lang="en-US" sz="750" dirty="0"/>
          </a:p>
        </p:txBody>
      </p:sp>
      <p:sp>
        <p:nvSpPr>
          <p:cNvPr id="40" name="Shape 33"/>
          <p:cNvSpPr/>
          <p:nvPr/>
        </p:nvSpPr>
        <p:spPr>
          <a:xfrm>
            <a:off x="7114032" y="3200400"/>
            <a:ext cx="1536192" cy="1261872"/>
          </a:xfrm>
          <a:prstGeom prst="roundRect">
            <a:avLst>
              <a:gd name="adj" fmla="val 5797"/>
            </a:avLst>
          </a:prstGeom>
          <a:solidFill>
            <a:srgbClr val="F4F7F5"/>
          </a:solidFill>
          <a:ln w="9525">
            <a:solidFill>
              <a:srgbClr val="D5DED9"/>
            </a:solidFill>
            <a:prstDash val="solid"/>
          </a:ln>
        </p:spPr>
      </p:sp>
      <p:sp>
        <p:nvSpPr>
          <p:cNvPr id="41" name="Shape 34"/>
          <p:cNvSpPr/>
          <p:nvPr/>
        </p:nvSpPr>
        <p:spPr>
          <a:xfrm>
            <a:off x="7644384" y="3291840"/>
            <a:ext cx="475488" cy="475488"/>
          </a:xfrm>
          <a:prstGeom prst="ellipse">
            <a:avLst/>
          </a:prstGeom>
          <a:solidFill>
            <a:srgbClr val="00704A">
              <a:alpha val="22000"/>
            </a:srgbClr>
          </a:solidFill>
          <a:ln w="12700">
            <a:solidFill>
              <a:srgbClr val="00704A">
                <a:alpha val="0"/>
              </a:srgbClr>
            </a:solidFill>
            <a:prstDash val="solid"/>
          </a:ln>
        </p:spPr>
      </p:sp>
      <p:pic>
        <p:nvPicPr>
          <p:cNvPr id="42" name="Image 4" descr="preencoded.png">    </p:cNvPr>
          <p:cNvPicPr>
            <a:picLocks noChangeAspect="1"/>
          </p:cNvPicPr>
          <p:nvPr/>
        </p:nvPicPr>
        <p:blipFill>
          <a:blip r:embed="rId5"/>
          <a:stretch>
            <a:fillRect/>
          </a:stretch>
        </p:blipFill>
        <p:spPr>
          <a:xfrm>
            <a:off x="7758501" y="3405957"/>
            <a:ext cx="247254" cy="247254"/>
          </a:xfrm>
          <a:prstGeom prst="rect">
            <a:avLst/>
          </a:prstGeom>
        </p:spPr>
      </p:pic>
      <p:sp>
        <p:nvSpPr>
          <p:cNvPr id="43" name="Text 35"/>
          <p:cNvSpPr txBox="1"/>
          <p:nvPr/>
        </p:nvSpPr>
        <p:spPr>
          <a:xfrm>
            <a:off x="7187184" y="3813048"/>
            <a:ext cx="1389888" cy="256032"/>
          </a:xfrm>
          <a:prstGeom prst="rect">
            <a:avLst/>
          </a:prstGeom>
          <a:noFill/>
          <a:ln/>
        </p:spPr>
        <p:txBody>
          <a:bodyPr wrap="square" lIns="0" tIns="0" rIns="0" bIns="0" rtlCol="0" anchor="t"/>
          <a:lstStyle/>
          <a:p>
            <a:pPr algn="ctr" indent="0" marL="0">
              <a:buNone/>
            </a:pPr>
            <a:r>
              <a:rPr lang="en-US" sz="1200" b="1" dirty="0">
                <a:solidFill>
                  <a:srgbClr val="231F20"/>
                </a:solidFill>
                <a:latin typeface="Calibri" pitchFamily="34" charset="0"/>
                <a:ea typeface="Calibri" pitchFamily="34" charset="-122"/>
                <a:cs typeface="Calibri" pitchFamily="34" charset="-120"/>
              </a:rPr>
              <a:t>Coordinates</a:t>
            </a:r>
            <a:endParaRPr lang="en-US" sz="1200" dirty="0"/>
          </a:p>
        </p:txBody>
      </p:sp>
      <p:sp>
        <p:nvSpPr>
          <p:cNvPr id="44" name="Text 36"/>
          <p:cNvSpPr txBox="1"/>
          <p:nvPr/>
        </p:nvSpPr>
        <p:spPr>
          <a:xfrm>
            <a:off x="7187184" y="4069080"/>
            <a:ext cx="1389888" cy="365760"/>
          </a:xfrm>
          <a:prstGeom prst="rect">
            <a:avLst/>
          </a:prstGeom>
          <a:noFill/>
          <a:ln/>
        </p:spPr>
        <p:txBody>
          <a:bodyPr wrap="square" lIns="0" tIns="0" rIns="0" bIns="0" rtlCol="0" anchor="t"/>
          <a:lstStyle/>
          <a:p>
            <a:pPr algn="ctr" indent="0" marL="0">
              <a:buNone/>
            </a:pPr>
            <a:r>
              <a:rPr lang="en-US" sz="750" dirty="0">
                <a:solidFill>
                  <a:srgbClr val="5E6964"/>
                </a:solidFill>
                <a:latin typeface="Courier New" pitchFamily="34" charset="0"/>
                <a:ea typeface="Courier New" pitchFamily="34" charset="-122"/>
                <a:cs typeface="Courier New" pitchFamily="34" charset="-120"/>
              </a:rPr>
              <a:t>lat · lon</a:t>
            </a:r>
            <a:endParaRPr lang="en-US" sz="7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CALCULATION</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Decoding: one equation and one trap</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8229600" cy="914400"/>
          </a:xfrm>
          <a:prstGeom prst="roundRect">
            <a:avLst>
              <a:gd name="adj" fmla="val 8000"/>
            </a:avLst>
          </a:prstGeom>
          <a:solidFill>
            <a:srgbClr val="E8F5EF"/>
          </a:solidFill>
          <a:ln w="15875">
            <a:solidFill>
              <a:srgbClr val="0E7C86"/>
            </a:solidFill>
            <a:prstDash val="solid"/>
          </a:ln>
        </p:spPr>
      </p:sp>
      <p:sp>
        <p:nvSpPr>
          <p:cNvPr id="12" name="Text 9"/>
          <p:cNvSpPr txBox="1"/>
          <p:nvPr/>
        </p:nvSpPr>
        <p:spPr>
          <a:xfrm>
            <a:off x="640080" y="1481328"/>
            <a:ext cx="7863840" cy="411480"/>
          </a:xfrm>
          <a:prstGeom prst="rect">
            <a:avLst/>
          </a:prstGeom>
          <a:noFill/>
          <a:ln/>
        </p:spPr>
        <p:txBody>
          <a:bodyPr wrap="square" lIns="0" tIns="0" rIns="0" bIns="0" rtlCol="0" anchor="t"/>
          <a:lstStyle/>
          <a:p>
            <a:pPr algn="ctr" indent="0" marL="0">
              <a:buNone/>
            </a:pPr>
            <a:r>
              <a:rPr lang="en-US" sz="2000" b="1" dirty="0">
                <a:solidFill>
                  <a:srgbClr val="0E7C86"/>
                </a:solidFill>
                <a:latin typeface="Calibri" pitchFamily="34" charset="0"/>
                <a:ea typeface="Calibri" pitchFamily="34" charset="-122"/>
                <a:cs typeface="Calibri" pitchFamily="34" charset="-120"/>
              </a:rPr>
              <a:t>radiance = stored value × scale_factor + add_offset</a:t>
            </a:r>
            <a:endParaRPr lang="en-US" sz="2000" dirty="0"/>
          </a:p>
        </p:txBody>
      </p:sp>
      <p:sp>
        <p:nvSpPr>
          <p:cNvPr id="13" name="Text 10"/>
          <p:cNvSpPr txBox="1"/>
          <p:nvPr/>
        </p:nvSpPr>
        <p:spPr>
          <a:xfrm>
            <a:off x="640080" y="1892808"/>
            <a:ext cx="7863840" cy="292608"/>
          </a:xfrm>
          <a:prstGeom prst="rect">
            <a:avLst/>
          </a:prstGeom>
          <a:noFill/>
          <a:ln/>
        </p:spPr>
        <p:txBody>
          <a:bodyPr wrap="square" lIns="0" tIns="0" rIns="0" bIns="0" rtlCol="0" anchor="t"/>
          <a:lstStyle/>
          <a:p>
            <a:pPr algn="ctr" indent="0" marL="0">
              <a:buNone/>
            </a:pPr>
            <a:r>
              <a:rPr lang="en-US" sz="1150" i="1" dirty="0">
                <a:solidFill>
                  <a:srgbClr val="5E6964"/>
                </a:solidFill>
                <a:latin typeface="Calibri" pitchFamily="34" charset="0"/>
                <a:ea typeface="Calibri" pitchFamily="34" charset="-122"/>
                <a:cs typeface="Calibri" pitchFamily="34" charset="-120"/>
              </a:rPr>
              <a:t>…after setting every _FillValue pixel to NaN — attributes always read from the file</a:t>
            </a:r>
            <a:endParaRPr lang="en-US" sz="1150" dirty="0"/>
          </a:p>
        </p:txBody>
      </p:sp>
      <p:sp>
        <p:nvSpPr>
          <p:cNvPr id="14" name="Shape 11"/>
          <p:cNvSpPr/>
          <p:nvPr/>
        </p:nvSpPr>
        <p:spPr>
          <a:xfrm>
            <a:off x="457200" y="2514600"/>
            <a:ext cx="402336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64008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Daily layer (A2)</a:t>
            </a:r>
            <a:endParaRPr lang="en-US" sz="1300" dirty="0"/>
          </a:p>
        </p:txBody>
      </p:sp>
      <p:sp>
        <p:nvSpPr>
          <p:cNvPr id="16" name="Text 13"/>
          <p:cNvSpPr txBox="1"/>
          <p:nvPr/>
        </p:nvSpPr>
        <p:spPr>
          <a:xfrm>
            <a:off x="64008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uint16 · × 0.1 · fill 65535</a:t>
            </a:r>
            <a:endParaRPr lang="en-US" sz="1100" dirty="0"/>
          </a:p>
        </p:txBody>
      </p:sp>
      <p:sp>
        <p:nvSpPr>
          <p:cNvPr id="17" name="Text 14"/>
          <p:cNvSpPr txBox="1"/>
          <p:nvPr/>
        </p:nvSpPr>
        <p:spPr>
          <a:xfrm>
            <a:off x="64008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18" name="Text 15"/>
          <p:cNvSpPr txBox="1"/>
          <p:nvPr/>
        </p:nvSpPr>
        <p:spPr>
          <a:xfrm>
            <a:off x="251460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+6,553.5</a:t>
            </a:r>
            <a:endParaRPr lang="en-US" sz="2600" dirty="0"/>
          </a:p>
        </p:txBody>
      </p:sp>
      <p:sp>
        <p:nvSpPr>
          <p:cNvPr id="19" name="Text 16"/>
          <p:cNvSpPr txBox="1"/>
          <p:nvPr/>
        </p:nvSpPr>
        <p:spPr>
          <a:xfrm>
            <a:off x="64008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per empty pixel if fill is ignored</a:t>
            </a:r>
            <a:endParaRPr lang="en-US" sz="1050" dirty="0"/>
          </a:p>
        </p:txBody>
      </p:sp>
      <p:sp>
        <p:nvSpPr>
          <p:cNvPr id="20" name="Shape 17"/>
          <p:cNvSpPr/>
          <p:nvPr/>
        </p:nvSpPr>
        <p:spPr>
          <a:xfrm>
            <a:off x="4663440" y="2514600"/>
            <a:ext cx="4023360" cy="1463040"/>
          </a:xfrm>
          <a:prstGeom prst="roundRect">
            <a:avLst>
              <a:gd name="adj" fmla="val 5000"/>
            </a:avLst>
          </a:prstGeom>
          <a:solidFill>
            <a:srgbClr val="F4F7F5"/>
          </a:solidFill>
          <a:ln w="9525">
            <a:solidFill>
              <a:srgbClr val="D5DED9"/>
            </a:solidFill>
            <a:prstDash val="solid"/>
          </a:ln>
        </p:spPr>
      </p:sp>
      <p:sp>
        <p:nvSpPr>
          <p:cNvPr id="21" name="Text 18"/>
          <p:cNvSpPr txBox="1"/>
          <p:nvPr/>
        </p:nvSpPr>
        <p:spPr>
          <a:xfrm>
            <a:off x="4846320" y="2606040"/>
            <a:ext cx="365760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Composite (A3 / A4, Collection 2)</a:t>
            </a:r>
            <a:endParaRPr lang="en-US" sz="1300" dirty="0"/>
          </a:p>
        </p:txBody>
      </p:sp>
      <p:sp>
        <p:nvSpPr>
          <p:cNvPr id="22" name="Text 19"/>
          <p:cNvSpPr txBox="1"/>
          <p:nvPr/>
        </p:nvSpPr>
        <p:spPr>
          <a:xfrm>
            <a:off x="4846320" y="2907792"/>
            <a:ext cx="3657600" cy="256032"/>
          </a:xfrm>
          <a:prstGeom prst="rect">
            <a:avLst/>
          </a:prstGeom>
          <a:noFill/>
          <a:ln/>
        </p:spPr>
        <p:txBody>
          <a:bodyPr wrap="square" lIns="0" tIns="0" rIns="0" bIns="0" rtlCol="0" anchor="t"/>
          <a:lstStyle/>
          <a:p>
            <a:pPr indent="0" marL="0">
              <a:buNone/>
            </a:pPr>
            <a:r>
              <a:rPr lang="en-US" sz="1100" dirty="0">
                <a:solidFill>
                  <a:srgbClr val="5E6964"/>
                </a:solidFill>
                <a:latin typeface="Courier New" pitchFamily="34" charset="0"/>
                <a:ea typeface="Courier New" pitchFamily="34" charset="-122"/>
                <a:cs typeface="Courier New" pitchFamily="34" charset="-120"/>
              </a:rPr>
              <a:t>float32 · × 1 · fill −999.9</a:t>
            </a:r>
            <a:endParaRPr lang="en-US" sz="1100" dirty="0"/>
          </a:p>
        </p:txBody>
      </p:sp>
      <p:sp>
        <p:nvSpPr>
          <p:cNvPr id="23" name="Text 20"/>
          <p:cNvSpPr txBox="1"/>
          <p:nvPr/>
        </p:nvSpPr>
        <p:spPr>
          <a:xfrm>
            <a:off x="4846320" y="3200400"/>
            <a:ext cx="1828800" cy="274320"/>
          </a:xfrm>
          <a:prstGeom prst="rect">
            <a:avLst/>
          </a:prstGeom>
          <a:noFill/>
          <a:ln/>
        </p:spPr>
        <p:txBody>
          <a:bodyPr wrap="square" lIns="0" tIns="0" rIns="0" bIns="0" rtlCol="0" anchor="t"/>
          <a:lstStyle/>
          <a:p>
            <a:pPr indent="0" marL="0">
              <a:buNone/>
            </a:pPr>
            <a:r>
              <a:rPr lang="en-US" sz="1200" b="1" dirty="0">
                <a:solidFill>
                  <a:srgbClr val="00704A"/>
                </a:solidFill>
                <a:latin typeface="Calibri" pitchFamily="34" charset="0"/>
                <a:ea typeface="Calibri" pitchFamily="34" charset="-122"/>
                <a:cs typeface="Calibri" pitchFamily="34" charset="-120"/>
              </a:rPr>
              <a:t>124.7 → 124.7 nW</a:t>
            </a:r>
            <a:endParaRPr lang="en-US" sz="1200" dirty="0"/>
          </a:p>
        </p:txBody>
      </p:sp>
      <p:sp>
        <p:nvSpPr>
          <p:cNvPr id="24" name="Text 21"/>
          <p:cNvSpPr txBox="1"/>
          <p:nvPr/>
        </p:nvSpPr>
        <p:spPr>
          <a:xfrm>
            <a:off x="6720840" y="3127248"/>
            <a:ext cx="1828800" cy="457200"/>
          </a:xfrm>
          <a:prstGeom prst="rect">
            <a:avLst/>
          </a:prstGeom>
          <a:noFill/>
          <a:ln/>
        </p:spPr>
        <p:txBody>
          <a:bodyPr wrap="square" lIns="0" tIns="0" rIns="0" bIns="0" rtlCol="0" anchor="t"/>
          <a:lstStyle/>
          <a:p>
            <a:pPr algn="r" indent="0" marL="0">
              <a:buNone/>
            </a:pPr>
            <a:r>
              <a:rPr lang="en-US" sz="2600" b="1" dirty="0">
                <a:solidFill>
                  <a:srgbClr val="B83B2E"/>
                </a:solidFill>
                <a:latin typeface="Calibri" pitchFamily="34" charset="0"/>
                <a:ea typeface="Calibri" pitchFamily="34" charset="-122"/>
                <a:cs typeface="Calibri" pitchFamily="34" charset="-120"/>
              </a:rPr>
              <a:t>−999.9</a:t>
            </a:r>
            <a:endParaRPr lang="en-US" sz="2600" dirty="0"/>
          </a:p>
        </p:txBody>
      </p:sp>
      <p:sp>
        <p:nvSpPr>
          <p:cNvPr id="25" name="Text 22"/>
          <p:cNvSpPr txBox="1"/>
          <p:nvPr/>
        </p:nvSpPr>
        <p:spPr>
          <a:xfrm>
            <a:off x="4846320" y="3566160"/>
            <a:ext cx="3657600" cy="32004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per empty pixel if fill is ignored</a:t>
            </a:r>
            <a:endParaRPr lang="en-US" sz="1050" dirty="0"/>
          </a:p>
        </p:txBody>
      </p:sp>
      <p:sp>
        <p:nvSpPr>
          <p:cNvPr id="26" name="Shape 23"/>
          <p:cNvSpPr/>
          <p:nvPr/>
        </p:nvSpPr>
        <p:spPr>
          <a:xfrm>
            <a:off x="457200" y="4114800"/>
            <a:ext cx="8229600" cy="384048"/>
          </a:xfrm>
          <a:prstGeom prst="roundRect">
            <a:avLst>
              <a:gd name="adj" fmla="val 14286"/>
            </a:avLst>
          </a:prstGeom>
          <a:solidFill>
            <a:srgbClr val="D49A00">
              <a:alpha val="13000"/>
            </a:srgbClr>
          </a:solidFill>
          <a:ln w="12700">
            <a:solidFill>
              <a:srgbClr val="D49A00"/>
            </a:solidFill>
            <a:prstDash val="solid"/>
          </a:ln>
        </p:spPr>
      </p:sp>
      <p:pic>
        <p:nvPicPr>
          <p:cNvPr id="27" name="Image 0" descr="preencoded.png">    </p:cNvPr>
          <p:cNvPicPr>
            <a:picLocks noChangeAspect="1"/>
          </p:cNvPicPr>
          <p:nvPr/>
        </p:nvPicPr>
        <p:blipFill>
          <a:blip r:embed="rId1"/>
          <a:stretch>
            <a:fillRect/>
          </a:stretch>
        </p:blipFill>
        <p:spPr>
          <a:xfrm>
            <a:off x="594360" y="4242816"/>
            <a:ext cx="237744" cy="237744"/>
          </a:xfrm>
          <a:prstGeom prst="rect">
            <a:avLst/>
          </a:prstGeom>
        </p:spPr>
      </p:pic>
      <p:sp>
        <p:nvSpPr>
          <p:cNvPr id="28" name="Text 24"/>
          <p:cNvSpPr txBox="1"/>
          <p:nvPr/>
        </p:nvSpPr>
        <p:spPr>
          <a:xfrm>
            <a:off x="932688" y="4206240"/>
            <a:ext cx="7635240" cy="201168"/>
          </a:xfrm>
          <a:prstGeom prst="rect">
            <a:avLst/>
          </a:prstGeom>
          <a:noFill/>
          <a:ln/>
        </p:spPr>
        <p:txBody>
          <a:bodyPr wrap="square" lIns="0" tIns="0" rIns="0" bIns="0" rtlCol="0" anchor="ctr"/>
          <a:lstStyle/>
          <a:p>
            <a:pPr indent="0" marL="0">
              <a:buNone/>
            </a:pPr>
            <a:r>
              <a:rPr lang="en-US" sz="1100" b="1" dirty="0">
                <a:solidFill>
                  <a:srgbClr val="D49A00"/>
                </a:solidFill>
                <a:latin typeface="Calibri" pitchFamily="34" charset="0"/>
                <a:ea typeface="Calibri" pitchFamily="34" charset="-122"/>
                <a:cs typeface="Calibri" pitchFamily="34" charset="-120"/>
              </a:rPr>
              <a:t>Rule:  </a:t>
            </a:r>
            <a:pPr indent="0" marL="0">
              <a:buNone/>
            </a:pPr>
            <a:r>
              <a:rPr lang="en-US" sz="1100" dirty="0">
                <a:solidFill>
                  <a:srgbClr val="231F20"/>
                </a:solidFill>
                <a:latin typeface="Calibri" pitchFamily="34" charset="0"/>
                <a:ea typeface="Calibri" pitchFamily="34" charset="-122"/>
                <a:cs typeface="Calibri" pitchFamily="34" charset="-120"/>
              </a:rPr>
              <a:t>the fill value is not a zero, and still less a measurement.</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FILTERING</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Which pixels can we trust? Quality flags and masks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53312"/>
            <a:ext cx="402336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Composite quality codes (A3 / A4)</a:t>
            </a:r>
            <a:endParaRPr lang="en-US" sz="1300" dirty="0"/>
          </a:p>
        </p:txBody>
      </p:sp>
      <p:sp>
        <p:nvSpPr>
          <p:cNvPr id="12" name="Shape 9"/>
          <p:cNvSpPr/>
          <p:nvPr/>
        </p:nvSpPr>
        <p:spPr>
          <a:xfrm>
            <a:off x="457200" y="1691640"/>
            <a:ext cx="594360" cy="365760"/>
          </a:xfrm>
          <a:prstGeom prst="roundRect">
            <a:avLst>
              <a:gd name="adj" fmla="val 15000"/>
            </a:avLst>
          </a:prstGeom>
          <a:solidFill>
            <a:srgbClr val="00A86A"/>
          </a:solidFill>
          <a:ln w="12700">
            <a:solidFill>
              <a:srgbClr val="00A86A"/>
            </a:solidFill>
            <a:prstDash val="solid"/>
          </a:ln>
        </p:spPr>
      </p:sp>
      <p:sp>
        <p:nvSpPr>
          <p:cNvPr id="13" name="Text 10"/>
          <p:cNvSpPr txBox="1"/>
          <p:nvPr/>
        </p:nvSpPr>
        <p:spPr>
          <a:xfrm>
            <a:off x="457200" y="16916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14" name="Text 11"/>
          <p:cNvSpPr txBox="1"/>
          <p:nvPr/>
        </p:nvSpPr>
        <p:spPr>
          <a:xfrm>
            <a:off x="1170432" y="16916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Good quality · &gt; 3 nights</a:t>
            </a:r>
            <a:endParaRPr lang="en-US" sz="1150" dirty="0"/>
          </a:p>
        </p:txBody>
      </p:sp>
      <p:sp>
        <p:nvSpPr>
          <p:cNvPr id="15" name="Text 12"/>
          <p:cNvSpPr txBox="1"/>
          <p:nvPr/>
        </p:nvSpPr>
        <p:spPr>
          <a:xfrm>
            <a:off x="3474720" y="1691640"/>
            <a:ext cx="914400" cy="365760"/>
          </a:xfrm>
          <a:prstGeom prst="rect">
            <a:avLst/>
          </a:prstGeom>
          <a:noFill/>
          <a:ln/>
        </p:spPr>
        <p:txBody>
          <a:bodyPr wrap="square" lIns="0" tIns="0" rIns="0" bIns="0" rtlCol="0" anchor="ctr"/>
          <a:lstStyle/>
          <a:p>
            <a:pPr indent="0" marL="0">
              <a:buNone/>
            </a:pPr>
            <a:r>
              <a:rPr lang="en-US" sz="1050" b="1" dirty="0">
                <a:solidFill>
                  <a:srgbClr val="00A86A"/>
                </a:solidFill>
                <a:latin typeface="Calibri" pitchFamily="34" charset="0"/>
                <a:ea typeface="Calibri" pitchFamily="34" charset="-122"/>
                <a:cs typeface="Calibri" pitchFamily="34" charset="-120"/>
              </a:rPr>
              <a:t>kept</a:t>
            </a:r>
            <a:endParaRPr lang="en-US" sz="1050" dirty="0"/>
          </a:p>
        </p:txBody>
      </p:sp>
      <p:sp>
        <p:nvSpPr>
          <p:cNvPr id="16" name="Shape 13"/>
          <p:cNvSpPr/>
          <p:nvPr/>
        </p:nvSpPr>
        <p:spPr>
          <a:xfrm>
            <a:off x="457200" y="2148840"/>
            <a:ext cx="594360" cy="365760"/>
          </a:xfrm>
          <a:prstGeom prst="roundRect">
            <a:avLst>
              <a:gd name="adj" fmla="val 15000"/>
            </a:avLst>
          </a:prstGeom>
          <a:solidFill>
            <a:srgbClr val="F5C242"/>
          </a:solidFill>
          <a:ln w="12700">
            <a:solidFill>
              <a:srgbClr val="F5C242"/>
            </a:solidFill>
            <a:prstDash val="solid"/>
          </a:ln>
        </p:spPr>
      </p:sp>
      <p:sp>
        <p:nvSpPr>
          <p:cNvPr id="17" name="Text 14"/>
          <p:cNvSpPr txBox="1"/>
          <p:nvPr/>
        </p:nvSpPr>
        <p:spPr>
          <a:xfrm>
            <a:off x="457200" y="21488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1170432" y="21488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Poor quality · ≤ 3 nights</a:t>
            </a:r>
            <a:endParaRPr lang="en-US" sz="1150" dirty="0"/>
          </a:p>
        </p:txBody>
      </p:sp>
      <p:sp>
        <p:nvSpPr>
          <p:cNvPr id="19" name="Text 16"/>
          <p:cNvSpPr txBox="1"/>
          <p:nvPr/>
        </p:nvSpPr>
        <p:spPr>
          <a:xfrm>
            <a:off x="3474720" y="21488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dropped</a:t>
            </a:r>
            <a:endParaRPr lang="en-US" sz="1050" dirty="0"/>
          </a:p>
        </p:txBody>
      </p:sp>
      <p:sp>
        <p:nvSpPr>
          <p:cNvPr id="20" name="Shape 17"/>
          <p:cNvSpPr/>
          <p:nvPr/>
        </p:nvSpPr>
        <p:spPr>
          <a:xfrm>
            <a:off x="457200" y="2606040"/>
            <a:ext cx="594360" cy="365760"/>
          </a:xfrm>
          <a:prstGeom prst="roundRect">
            <a:avLst>
              <a:gd name="adj" fmla="val 15000"/>
            </a:avLst>
          </a:prstGeom>
          <a:solidFill>
            <a:srgbClr val="C4621D"/>
          </a:solidFill>
          <a:ln w="12700">
            <a:solidFill>
              <a:srgbClr val="C4621D"/>
            </a:solidFill>
            <a:prstDash val="solid"/>
          </a:ln>
        </p:spPr>
      </p:sp>
      <p:sp>
        <p:nvSpPr>
          <p:cNvPr id="21" name="Text 18"/>
          <p:cNvSpPr txBox="1"/>
          <p:nvPr/>
        </p:nvSpPr>
        <p:spPr>
          <a:xfrm>
            <a:off x="457200" y="26060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2" name="Text 19"/>
          <p:cNvSpPr txBox="1"/>
          <p:nvPr/>
        </p:nvSpPr>
        <p:spPr>
          <a:xfrm>
            <a:off x="1170432" y="26060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Gap-filled from history</a:t>
            </a:r>
            <a:endParaRPr lang="en-US" sz="1150" dirty="0"/>
          </a:p>
        </p:txBody>
      </p:sp>
      <p:sp>
        <p:nvSpPr>
          <p:cNvPr id="23" name="Text 20"/>
          <p:cNvSpPr txBox="1"/>
          <p:nvPr/>
        </p:nvSpPr>
        <p:spPr>
          <a:xfrm>
            <a:off x="3474720" y="26060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dropped</a:t>
            </a:r>
            <a:endParaRPr lang="en-US" sz="1050" dirty="0"/>
          </a:p>
        </p:txBody>
      </p:sp>
      <p:sp>
        <p:nvSpPr>
          <p:cNvPr id="24" name="Shape 21"/>
          <p:cNvSpPr/>
          <p:nvPr/>
        </p:nvSpPr>
        <p:spPr>
          <a:xfrm>
            <a:off x="457200" y="3063240"/>
            <a:ext cx="594360" cy="365760"/>
          </a:xfrm>
          <a:prstGeom prst="roundRect">
            <a:avLst>
              <a:gd name="adj" fmla="val 15000"/>
            </a:avLst>
          </a:prstGeom>
          <a:solidFill>
            <a:srgbClr val="A9B5B0"/>
          </a:solidFill>
          <a:ln w="12700">
            <a:solidFill>
              <a:srgbClr val="A9B5B0"/>
            </a:solidFill>
            <a:prstDash val="solid"/>
          </a:ln>
        </p:spPr>
      </p:sp>
      <p:sp>
        <p:nvSpPr>
          <p:cNvPr id="25" name="Text 22"/>
          <p:cNvSpPr txBox="1"/>
          <p:nvPr/>
        </p:nvSpPr>
        <p:spPr>
          <a:xfrm>
            <a:off x="457200" y="3063240"/>
            <a:ext cx="5943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255</a:t>
            </a:r>
            <a:endParaRPr lang="en-US" sz="1300" dirty="0"/>
          </a:p>
        </p:txBody>
      </p:sp>
      <p:sp>
        <p:nvSpPr>
          <p:cNvPr id="26" name="Text 23"/>
          <p:cNvSpPr txBox="1"/>
          <p:nvPr/>
        </p:nvSpPr>
        <p:spPr>
          <a:xfrm>
            <a:off x="1170432" y="3063240"/>
            <a:ext cx="2286000" cy="365760"/>
          </a:xfrm>
          <a:prstGeom prst="rect">
            <a:avLst/>
          </a:prstGeom>
          <a:noFill/>
          <a:ln/>
        </p:spPr>
        <p:txBody>
          <a:bodyPr wrap="square" lIns="0" tIns="0" rIns="0" bIns="0" rtlCol="0" anchor="ctr"/>
          <a:lstStyle/>
          <a:p>
            <a:pPr indent="0" marL="0">
              <a:buNone/>
            </a:pPr>
            <a:r>
              <a:rPr lang="en-US" sz="1150" dirty="0">
                <a:solidFill>
                  <a:srgbClr val="231F20"/>
                </a:solidFill>
                <a:latin typeface="Calibri" pitchFamily="34" charset="0"/>
                <a:ea typeface="Calibri" pitchFamily="34" charset="-122"/>
                <a:cs typeface="Calibri" pitchFamily="34" charset="-120"/>
              </a:rPr>
              <a:t>Fill value</a:t>
            </a:r>
            <a:endParaRPr lang="en-US" sz="1150" dirty="0"/>
          </a:p>
        </p:txBody>
      </p:sp>
      <p:sp>
        <p:nvSpPr>
          <p:cNvPr id="27" name="Text 24"/>
          <p:cNvSpPr txBox="1"/>
          <p:nvPr/>
        </p:nvSpPr>
        <p:spPr>
          <a:xfrm>
            <a:off x="3474720" y="3063240"/>
            <a:ext cx="914400" cy="365760"/>
          </a:xfrm>
          <a:prstGeom prst="rect">
            <a:avLst/>
          </a:prstGeom>
          <a:noFill/>
          <a:ln/>
        </p:spPr>
        <p:txBody>
          <a:bodyPr wrap="square" lIns="0" tIns="0" rIns="0" bIns="0" rtlCol="0" anchor="ctr"/>
          <a:lstStyle/>
          <a:p>
            <a:pPr indent="0" marL="0">
              <a:buNone/>
            </a:pPr>
            <a:r>
              <a:rPr lang="en-US" sz="1050" b="1" dirty="0">
                <a:solidFill>
                  <a:srgbClr val="5E6964"/>
                </a:solidFill>
                <a:latin typeface="Calibri" pitchFamily="34" charset="0"/>
                <a:ea typeface="Calibri" pitchFamily="34" charset="-122"/>
                <a:cs typeface="Calibri" pitchFamily="34" charset="-120"/>
              </a:rPr>
              <a:t>dropped</a:t>
            </a:r>
            <a:endParaRPr lang="en-US" sz="1050" dirty="0"/>
          </a:p>
        </p:txBody>
      </p:sp>
      <p:sp>
        <p:nvSpPr>
          <p:cNvPr id="28" name="Text 25"/>
          <p:cNvSpPr txBox="1"/>
          <p:nvPr/>
        </p:nvSpPr>
        <p:spPr>
          <a:xfrm>
            <a:off x="457200" y="3566160"/>
            <a:ext cx="4023360" cy="274320"/>
          </a:xfrm>
          <a:prstGeom prst="rect">
            <a:avLst/>
          </a:prstGeom>
          <a:noFill/>
          <a:ln/>
        </p:spPr>
        <p:txBody>
          <a:bodyPr wrap="square" lIns="0" tIns="0" rIns="0" bIns="0" rtlCol="0" anchor="t"/>
          <a:lstStyle/>
          <a:p>
            <a:pPr indent="0" marL="0">
              <a:buNone/>
            </a:pPr>
            <a:r>
              <a:rPr lang="en-US" sz="1050" i="1" dirty="0">
                <a:solidFill>
                  <a:srgbClr val="5E6964"/>
                </a:solidFill>
                <a:latin typeface="Calibri" pitchFamily="34" charset="0"/>
                <a:ea typeface="Calibri" pitchFamily="34" charset="-122"/>
                <a:cs typeface="Calibri" pitchFamily="34" charset="-120"/>
              </a:rPr>
              <a:t>QA_MAX = "auto" reads this legend in the file</a:t>
            </a:r>
            <a:endParaRPr lang="en-US" sz="1050" dirty="0"/>
          </a:p>
        </p:txBody>
      </p:sp>
      <p:sp>
        <p:nvSpPr>
          <p:cNvPr id="29" name="Shape 26"/>
          <p:cNvSpPr/>
          <p:nvPr/>
        </p:nvSpPr>
        <p:spPr>
          <a:xfrm>
            <a:off x="4754880" y="1444752"/>
            <a:ext cx="502920" cy="502920"/>
          </a:xfrm>
          <a:prstGeom prst="ellipse">
            <a:avLst/>
          </a:prstGeom>
          <a:solidFill>
            <a:srgbClr val="0E7C86">
              <a:alpha val="22000"/>
            </a:srgbClr>
          </a:solidFill>
          <a:ln w="12700">
            <a:solidFill>
              <a:srgbClr val="0E7C86">
                <a:alpha val="0"/>
              </a:srgbClr>
            </a:solidFill>
            <a:prstDash val="solid"/>
          </a:ln>
        </p:spPr>
      </p:sp>
      <p:pic>
        <p:nvPicPr>
          <p:cNvPr id="30" name="Image 0" descr="preencoded.png">    </p:cNvPr>
          <p:cNvPicPr>
            <a:picLocks noChangeAspect="1"/>
          </p:cNvPicPr>
          <p:nvPr/>
        </p:nvPicPr>
        <p:blipFill>
          <a:blip r:embed="rId1"/>
          <a:stretch>
            <a:fillRect/>
          </a:stretch>
        </p:blipFill>
        <p:spPr>
          <a:xfrm>
            <a:off x="4875581" y="1565453"/>
            <a:ext cx="261518" cy="261518"/>
          </a:xfrm>
          <a:prstGeom prst="rect">
            <a:avLst/>
          </a:prstGeom>
        </p:spPr>
      </p:pic>
      <p:sp>
        <p:nvSpPr>
          <p:cNvPr id="31" name="Text 27"/>
          <p:cNvSpPr txBox="1"/>
          <p:nvPr/>
        </p:nvSpPr>
        <p:spPr>
          <a:xfrm>
            <a:off x="5394960" y="1371600"/>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Land / water mask</a:t>
            </a:r>
            <a:endParaRPr lang="en-US" sz="1300" dirty="0"/>
          </a:p>
        </p:txBody>
      </p:sp>
      <p:sp>
        <p:nvSpPr>
          <p:cNvPr id="32" name="Text 28"/>
          <p:cNvSpPr txBox="1"/>
          <p:nvPr/>
        </p:nvSpPr>
        <p:spPr>
          <a:xfrm>
            <a:off x="5394960" y="1664208"/>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Ocean and sea removed: moonglint, ships and fisheries are not black. Without it, coastal and landlocked countries are not comparable.</a:t>
            </a:r>
            <a:endParaRPr lang="en-US" sz="1050" dirty="0"/>
          </a:p>
        </p:txBody>
      </p:sp>
      <p:sp>
        <p:nvSpPr>
          <p:cNvPr id="33" name="Shape 29"/>
          <p:cNvSpPr/>
          <p:nvPr/>
        </p:nvSpPr>
        <p:spPr>
          <a:xfrm>
            <a:off x="4754880" y="2468880"/>
            <a:ext cx="502920" cy="502920"/>
          </a:xfrm>
          <a:prstGeom prst="ellipse">
            <a:avLst/>
          </a:prstGeom>
          <a:solidFill>
            <a:srgbClr val="00704A">
              <a:alpha val="22000"/>
            </a:srgbClr>
          </a:solidFill>
          <a:ln w="12700">
            <a:solidFill>
              <a:srgbClr val="00704A">
                <a:alpha val="0"/>
              </a:srgbClr>
            </a:solidFill>
            <a:prstDash val="solid"/>
          </a:ln>
        </p:spPr>
      </p:sp>
      <p:pic>
        <p:nvPicPr>
          <p:cNvPr id="34" name="Image 1" descr="preencoded.png">    </p:cNvPr>
          <p:cNvPicPr>
            <a:picLocks noChangeAspect="1"/>
          </p:cNvPicPr>
          <p:nvPr/>
        </p:nvPicPr>
        <p:blipFill>
          <a:blip r:embed="rId2"/>
          <a:stretch>
            <a:fillRect/>
          </a:stretch>
        </p:blipFill>
        <p:spPr>
          <a:xfrm>
            <a:off x="4875581" y="2589581"/>
            <a:ext cx="261518" cy="261518"/>
          </a:xfrm>
          <a:prstGeom prst="rect">
            <a:avLst/>
          </a:prstGeom>
        </p:spPr>
      </p:pic>
      <p:sp>
        <p:nvSpPr>
          <p:cNvPr id="35" name="Text 30"/>
          <p:cNvSpPr txBox="1"/>
          <p:nvPr/>
        </p:nvSpPr>
        <p:spPr>
          <a:xfrm>
            <a:off x="5394960" y="2395728"/>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Cloud mask (daily)</a:t>
            </a:r>
            <a:endParaRPr lang="en-US" sz="1300" dirty="0"/>
          </a:p>
        </p:txBody>
      </p:sp>
      <p:sp>
        <p:nvSpPr>
          <p:cNvPr id="36" name="Text 31"/>
          <p:cNvSpPr txBox="1"/>
          <p:nvPr/>
        </p:nvSpPr>
        <p:spPr>
          <a:xfrm>
            <a:off x="5394960" y="2688336"/>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Bits 6–7: confident clear → confident cloudy. Value = (integer &gt;&gt; 6) &amp; 3.</a:t>
            </a:r>
            <a:endParaRPr lang="en-US" sz="1050" dirty="0"/>
          </a:p>
        </p:txBody>
      </p:sp>
      <p:sp>
        <p:nvSpPr>
          <p:cNvPr id="37" name="Shape 32"/>
          <p:cNvSpPr/>
          <p:nvPr/>
        </p:nvSpPr>
        <p:spPr>
          <a:xfrm>
            <a:off x="4754880" y="3493008"/>
            <a:ext cx="502920" cy="502920"/>
          </a:xfrm>
          <a:prstGeom prst="ellipse">
            <a:avLst/>
          </a:prstGeom>
          <a:solidFill>
            <a:srgbClr val="00A86A">
              <a:alpha val="22000"/>
            </a:srgbClr>
          </a:solidFill>
          <a:ln w="12700">
            <a:solidFill>
              <a:srgbClr val="00A86A">
                <a:alpha val="0"/>
              </a:srgbClr>
            </a:solidFill>
            <a:prstDash val="solid"/>
          </a:ln>
        </p:spPr>
      </p:sp>
      <p:pic>
        <p:nvPicPr>
          <p:cNvPr id="38" name="Image 2" descr="preencoded.png">    </p:cNvPr>
          <p:cNvPicPr>
            <a:picLocks noChangeAspect="1"/>
          </p:cNvPicPr>
          <p:nvPr/>
        </p:nvPicPr>
        <p:blipFill>
          <a:blip r:embed="rId3"/>
          <a:stretch>
            <a:fillRect/>
          </a:stretch>
        </p:blipFill>
        <p:spPr>
          <a:xfrm>
            <a:off x="4875581" y="3613709"/>
            <a:ext cx="261518" cy="261518"/>
          </a:xfrm>
          <a:prstGeom prst="rect">
            <a:avLst/>
          </a:prstGeom>
        </p:spPr>
      </p:pic>
      <p:sp>
        <p:nvSpPr>
          <p:cNvPr id="39" name="Text 33"/>
          <p:cNvSpPr txBox="1"/>
          <p:nvPr/>
        </p:nvSpPr>
        <p:spPr>
          <a:xfrm>
            <a:off x="5394960" y="3419856"/>
            <a:ext cx="32918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Number of nights</a:t>
            </a:r>
            <a:endParaRPr lang="en-US" sz="1300" dirty="0"/>
          </a:p>
        </p:txBody>
      </p:sp>
      <p:sp>
        <p:nvSpPr>
          <p:cNvPr id="40" name="Text 34"/>
          <p:cNvSpPr txBox="1"/>
          <p:nvPr/>
        </p:nvSpPr>
        <p:spPr>
          <a:xfrm>
            <a:off x="5394960" y="3712464"/>
            <a:ext cx="3291840" cy="65836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…_Num tells how many nights support each pixel: map it next to the radiance.</a:t>
            </a:r>
            <a:endParaRPr lang="en-US" sz="1050" dirty="0"/>
          </a:p>
        </p:txBody>
      </p:sp>
      <p:sp>
        <p:nvSpPr>
          <p:cNvPr id="41"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NASA Black Marble User Guide, Collection 2.0 (2025)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RESULTS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The sum of lights, corrected step by step</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graphicFrame>
        <p:nvGraphicFramePr>
          <p:cNvPr id="11" name="Chart 0" descr=""/>
          <p:cNvGraphicFramePr/>
          <p:nvPr/>
        </p:nvGraphicFramePr>
        <p:xfrm>
          <a:off x="365760" y="1280160"/>
          <a:ext cx="5394960" cy="324612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6035040" y="1371600"/>
            <a:ext cx="2651760" cy="1371600"/>
          </a:xfrm>
          <a:prstGeom prst="roundRect">
            <a:avLst>
              <a:gd name="adj" fmla="val 5333"/>
            </a:avLst>
          </a:prstGeom>
          <a:solidFill>
            <a:srgbClr val="E8F5EF"/>
          </a:solidFill>
          <a:ln w="15875">
            <a:solidFill>
              <a:srgbClr val="B83B2E"/>
            </a:solidFill>
            <a:prstDash val="solid"/>
          </a:ln>
        </p:spPr>
      </p:sp>
      <p:sp>
        <p:nvSpPr>
          <p:cNvPr id="13" name="Text 9"/>
          <p:cNvSpPr txBox="1"/>
          <p:nvPr/>
        </p:nvSpPr>
        <p:spPr>
          <a:xfrm>
            <a:off x="6217920" y="1463040"/>
            <a:ext cx="2286000" cy="274320"/>
          </a:xfrm>
          <a:prstGeom prst="rect">
            <a:avLst/>
          </a:prstGeom>
          <a:noFill/>
          <a:ln/>
        </p:spPr>
        <p:txBody>
          <a:bodyPr wrap="square" lIns="0" tIns="0" rIns="0" bIns="0" rtlCol="0" anchor="t"/>
          <a:lstStyle/>
          <a:p>
            <a:pPr indent="0" marL="0">
              <a:buNone/>
            </a:pPr>
            <a:r>
              <a:rPr lang="en-US" sz="1200" b="1" dirty="0">
                <a:solidFill>
                  <a:srgbClr val="B83B2E"/>
                </a:solidFill>
                <a:latin typeface="Calibri" pitchFamily="34" charset="0"/>
                <a:ea typeface="Calibri" pitchFamily="34" charset="-122"/>
                <a:cs typeface="Calibri" pitchFamily="34" charset="-120"/>
              </a:rPr>
              <a:t>No precaution</a:t>
            </a:r>
            <a:endParaRPr lang="en-US" sz="1200" dirty="0"/>
          </a:p>
        </p:txBody>
      </p:sp>
      <p:sp>
        <p:nvSpPr>
          <p:cNvPr id="14" name="Text 10"/>
          <p:cNvSpPr txBox="1"/>
          <p:nvPr/>
        </p:nvSpPr>
        <p:spPr>
          <a:xfrm>
            <a:off x="6217920" y="1737360"/>
            <a:ext cx="2286000" cy="548640"/>
          </a:xfrm>
          <a:prstGeom prst="rect">
            <a:avLst/>
          </a:prstGeom>
          <a:noFill/>
          <a:ln/>
        </p:spPr>
        <p:txBody>
          <a:bodyPr wrap="square" lIns="0" tIns="0" rIns="0" bIns="0" rtlCol="0" anchor="t"/>
          <a:lstStyle/>
          <a:p>
            <a:pPr indent="0" marL="0">
              <a:buNone/>
            </a:pPr>
            <a:r>
              <a:rPr lang="en-US" sz="3400" b="1" dirty="0">
                <a:solidFill>
                  <a:srgbClr val="B83B2E"/>
                </a:solidFill>
                <a:latin typeface="Calibri" pitchFamily="34" charset="0"/>
                <a:ea typeface="Calibri" pitchFamily="34" charset="-122"/>
                <a:cs typeface="Calibri" pitchFamily="34" charset="-120"/>
              </a:rPr>
              <a:t>−70.7 M</a:t>
            </a:r>
            <a:endParaRPr lang="en-US" sz="3400" dirty="0"/>
          </a:p>
        </p:txBody>
      </p:sp>
      <p:sp>
        <p:nvSpPr>
          <p:cNvPr id="15" name="Text 11"/>
          <p:cNvSpPr txBox="1"/>
          <p:nvPr/>
        </p:nvSpPr>
        <p:spPr>
          <a:xfrm>
            <a:off x="6217920" y="2286000"/>
            <a:ext cx="2286000" cy="3657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fill value −999.9 summed as light</a:t>
            </a:r>
            <a:endParaRPr lang="en-US" sz="1050" dirty="0"/>
          </a:p>
        </p:txBody>
      </p:sp>
      <p:sp>
        <p:nvSpPr>
          <p:cNvPr id="16" name="Shape 12"/>
          <p:cNvSpPr/>
          <p:nvPr/>
        </p:nvSpPr>
        <p:spPr>
          <a:xfrm>
            <a:off x="6035040" y="2880360"/>
            <a:ext cx="2651760" cy="1554480"/>
          </a:xfrm>
          <a:prstGeom prst="roundRect">
            <a:avLst>
              <a:gd name="adj" fmla="val 4706"/>
            </a:avLst>
          </a:prstGeom>
          <a:solidFill>
            <a:srgbClr val="F4F7F5"/>
          </a:solidFill>
          <a:ln w="9525">
            <a:solidFill>
              <a:srgbClr val="D5DED9"/>
            </a:solidFill>
            <a:prstDash val="solid"/>
          </a:ln>
        </p:spPr>
      </p:sp>
      <p:sp>
        <p:nvSpPr>
          <p:cNvPr id="17" name="Text 13"/>
          <p:cNvSpPr txBox="1"/>
          <p:nvPr/>
        </p:nvSpPr>
        <p:spPr>
          <a:xfrm>
            <a:off x="6217920" y="2971800"/>
            <a:ext cx="2286000" cy="274320"/>
          </a:xfrm>
          <a:prstGeom prst="rect">
            <a:avLst/>
          </a:prstGeom>
          <a:noFill/>
          <a:ln/>
        </p:spPr>
        <p:txBody>
          <a:bodyPr wrap="square" lIns="0" tIns="0" rIns="0" bIns="0" rtlCol="0" anchor="t"/>
          <a:lstStyle/>
          <a:p>
            <a:pPr indent="0" marL="0">
              <a:buNone/>
            </a:pPr>
            <a:r>
              <a:rPr lang="en-US" sz="1200" b="1" dirty="0">
                <a:solidFill>
                  <a:srgbClr val="00553A"/>
                </a:solidFill>
                <a:latin typeface="Calibri" pitchFamily="34" charset="0"/>
                <a:ea typeface="Calibri" pitchFamily="34" charset="-122"/>
                <a:cs typeface="Calibri" pitchFamily="34" charset="-120"/>
              </a:rPr>
              <a:t>Final answer</a:t>
            </a:r>
            <a:endParaRPr lang="en-US" sz="1200" dirty="0"/>
          </a:p>
        </p:txBody>
      </p:sp>
      <p:sp>
        <p:nvSpPr>
          <p:cNvPr id="18" name="Text 14"/>
          <p:cNvSpPr txBox="1"/>
          <p:nvPr/>
        </p:nvSpPr>
        <p:spPr>
          <a:xfrm>
            <a:off x="6217920" y="3246120"/>
            <a:ext cx="2286000" cy="548640"/>
          </a:xfrm>
          <a:prstGeom prst="rect">
            <a:avLst/>
          </a:prstGeom>
          <a:noFill/>
          <a:ln/>
        </p:spPr>
        <p:txBody>
          <a:bodyPr wrap="square" lIns="0" tIns="0" rIns="0" bIns="0" rtlCol="0" anchor="t"/>
          <a:lstStyle/>
          <a:p>
            <a:pPr indent="0" marL="0">
              <a:buNone/>
            </a:pPr>
            <a:r>
              <a:rPr lang="en-US" sz="3400" b="1" dirty="0">
                <a:solidFill>
                  <a:srgbClr val="00553A"/>
                </a:solidFill>
                <a:latin typeface="Calibri" pitchFamily="34" charset="0"/>
                <a:ea typeface="Calibri" pitchFamily="34" charset="-122"/>
                <a:cs typeface="Calibri" pitchFamily="34" charset="-120"/>
              </a:rPr>
              <a:t>22,737</a:t>
            </a:r>
            <a:endParaRPr lang="en-US" sz="3400" dirty="0"/>
          </a:p>
        </p:txBody>
      </p:sp>
      <p:sp>
        <p:nvSpPr>
          <p:cNvPr id="19" name="Text 15"/>
          <p:cNvSpPr txBox="1"/>
          <p:nvPr/>
        </p:nvSpPr>
        <p:spPr>
          <a:xfrm>
            <a:off x="6217920" y="3794760"/>
            <a:ext cx="228600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national territory, quality-filtered, water masked</a:t>
            </a:r>
            <a:endParaRPr lang="en-US" sz="1050" dirty="0"/>
          </a:p>
        </p:txBody>
      </p:sp>
      <p:sp>
        <p:nvSpPr>
          <p:cNvPr id="20" name="Text 1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Notebook 2 demonstration set (simulated values, Côte d'Ivoire, Collection 2 structure)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03 · EXPLORE · FROM TILE TO COUNTRY</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Mosaic, clip, and respect a very skewed distribution</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0E7C86"/>
          </a:solidFill>
          <a:ln w="12700">
            <a:solidFill>
              <a:srgbClr val="0E7C86"/>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4023360" cy="1115568"/>
          </a:xfrm>
          <a:prstGeom prst="roundRect">
            <a:avLst>
              <a:gd name="adj" fmla="val 6557"/>
            </a:avLst>
          </a:prstGeom>
          <a:solidFill>
            <a:srgbClr val="F4F7F5"/>
          </a:solidFill>
          <a:ln w="9525">
            <a:solidFill>
              <a:srgbClr val="D5DED9"/>
            </a:solidFill>
            <a:prstDash val="solid"/>
          </a:ln>
        </p:spPr>
      </p:sp>
      <p:sp>
        <p:nvSpPr>
          <p:cNvPr id="12" name="Shape 9"/>
          <p:cNvSpPr/>
          <p:nvPr/>
        </p:nvSpPr>
        <p:spPr>
          <a:xfrm>
            <a:off x="621792" y="1536192"/>
            <a:ext cx="502920" cy="502920"/>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742493" y="1656893"/>
            <a:ext cx="261518" cy="261518"/>
          </a:xfrm>
          <a:prstGeom prst="rect">
            <a:avLst/>
          </a:prstGeom>
        </p:spPr>
      </p:pic>
      <p:sp>
        <p:nvSpPr>
          <p:cNvPr id="14" name="Text 10"/>
          <p:cNvSpPr txBox="1"/>
          <p:nvPr/>
        </p:nvSpPr>
        <p:spPr>
          <a:xfrm>
            <a:off x="128016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Mosaic</a:t>
            </a:r>
            <a:endParaRPr lang="en-US" sz="1300" dirty="0"/>
          </a:p>
        </p:txBody>
      </p:sp>
      <p:sp>
        <p:nvSpPr>
          <p:cNvPr id="15" name="Text 11"/>
          <p:cNvSpPr txBox="1"/>
          <p:nvPr/>
        </p:nvSpPr>
        <p:spPr>
          <a:xfrm>
            <a:off x="128016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Same grid, same resolution: tiles pasted by index, no distortion</a:t>
            </a:r>
            <a:endParaRPr lang="en-US" sz="1050" dirty="0"/>
          </a:p>
        </p:txBody>
      </p:sp>
      <p:sp>
        <p:nvSpPr>
          <p:cNvPr id="16" name="Shape 12"/>
          <p:cNvSpPr/>
          <p:nvPr/>
        </p:nvSpPr>
        <p:spPr>
          <a:xfrm>
            <a:off x="4663440" y="1371600"/>
            <a:ext cx="4023360" cy="1115568"/>
          </a:xfrm>
          <a:prstGeom prst="roundRect">
            <a:avLst>
              <a:gd name="adj" fmla="val 6557"/>
            </a:avLst>
          </a:prstGeom>
          <a:solidFill>
            <a:srgbClr val="F4F7F5"/>
          </a:solidFill>
          <a:ln w="9525">
            <a:solidFill>
              <a:srgbClr val="D5DED9"/>
            </a:solidFill>
            <a:prstDash val="solid"/>
          </a:ln>
        </p:spPr>
      </p:sp>
      <p:sp>
        <p:nvSpPr>
          <p:cNvPr id="17" name="Shape 13"/>
          <p:cNvSpPr/>
          <p:nvPr/>
        </p:nvSpPr>
        <p:spPr>
          <a:xfrm>
            <a:off x="4828032" y="1536192"/>
            <a:ext cx="502920" cy="502920"/>
          </a:xfrm>
          <a:prstGeom prst="ellipse">
            <a:avLst/>
          </a:prstGeom>
          <a:solidFill>
            <a:srgbClr val="0E7C86">
              <a:alpha val="22000"/>
            </a:srgbClr>
          </a:solidFill>
          <a:ln w="12700">
            <a:solidFill>
              <a:srgbClr val="0E7C86">
                <a:alpha val="0"/>
              </a:srgbClr>
            </a:solidFill>
            <a:prstDash val="solid"/>
          </a:ln>
        </p:spPr>
      </p:sp>
      <p:pic>
        <p:nvPicPr>
          <p:cNvPr id="18" name="Image 1" descr="preencoded.png">    </p:cNvPr>
          <p:cNvPicPr>
            <a:picLocks noChangeAspect="1"/>
          </p:cNvPicPr>
          <p:nvPr/>
        </p:nvPicPr>
        <p:blipFill>
          <a:blip r:embed="rId2"/>
          <a:stretch>
            <a:fillRect/>
          </a:stretch>
        </p:blipFill>
        <p:spPr>
          <a:xfrm>
            <a:off x="4948733" y="1656893"/>
            <a:ext cx="261518" cy="261518"/>
          </a:xfrm>
          <a:prstGeom prst="rect">
            <a:avLst/>
          </a:prstGeom>
        </p:spPr>
      </p:pic>
      <p:sp>
        <p:nvSpPr>
          <p:cNvPr id="19" name="Text 14"/>
          <p:cNvSpPr txBox="1"/>
          <p:nvPr/>
        </p:nvSpPr>
        <p:spPr>
          <a:xfrm>
            <a:off x="5486400" y="150876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Clip</a:t>
            </a:r>
            <a:endParaRPr lang="en-US" sz="1300" dirty="0"/>
          </a:p>
        </p:txBody>
      </p:sp>
      <p:sp>
        <p:nvSpPr>
          <p:cNvPr id="20" name="Text 15"/>
          <p:cNvSpPr txBox="1"/>
          <p:nvPr/>
        </p:nvSpPr>
        <p:spPr>
          <a:xfrm>
            <a:off x="5486400" y="180136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Point-in-polygon on the national border (official boundaries can replace the built-in ones)</a:t>
            </a:r>
            <a:endParaRPr lang="en-US" sz="1050" dirty="0"/>
          </a:p>
        </p:txBody>
      </p:sp>
      <p:sp>
        <p:nvSpPr>
          <p:cNvPr id="21" name="Shape 16"/>
          <p:cNvSpPr/>
          <p:nvPr/>
        </p:nvSpPr>
        <p:spPr>
          <a:xfrm>
            <a:off x="457200" y="2651760"/>
            <a:ext cx="4023360" cy="1115568"/>
          </a:xfrm>
          <a:prstGeom prst="roundRect">
            <a:avLst>
              <a:gd name="adj" fmla="val 6557"/>
            </a:avLst>
          </a:prstGeom>
          <a:solidFill>
            <a:srgbClr val="F4F7F5"/>
          </a:solidFill>
          <a:ln w="9525">
            <a:solidFill>
              <a:srgbClr val="D5DED9"/>
            </a:solidFill>
            <a:prstDash val="solid"/>
          </a:ln>
        </p:spPr>
      </p:sp>
      <p:sp>
        <p:nvSpPr>
          <p:cNvPr id="22" name="Shape 17"/>
          <p:cNvSpPr/>
          <p:nvPr/>
        </p:nvSpPr>
        <p:spPr>
          <a:xfrm>
            <a:off x="621792" y="2816352"/>
            <a:ext cx="502920" cy="50292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42493" y="2937053"/>
            <a:ext cx="261518" cy="261518"/>
          </a:xfrm>
          <a:prstGeom prst="rect">
            <a:avLst/>
          </a:prstGeom>
        </p:spPr>
      </p:pic>
      <p:sp>
        <p:nvSpPr>
          <p:cNvPr id="24" name="Text 18"/>
          <p:cNvSpPr txBox="1"/>
          <p:nvPr/>
        </p:nvSpPr>
        <p:spPr>
          <a:xfrm>
            <a:off x="128016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Distribution</a:t>
            </a:r>
            <a:endParaRPr lang="en-US" sz="1300" dirty="0"/>
          </a:p>
        </p:txBody>
      </p:sp>
      <p:sp>
        <p:nvSpPr>
          <p:cNvPr id="25" name="Text 19"/>
          <p:cNvSpPr txBox="1"/>
          <p:nvPr/>
        </p:nvSpPr>
        <p:spPr>
          <a:xfrm>
            <a:off x="128016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Log scale; median and sum say different things; check extreme pixels</a:t>
            </a:r>
            <a:endParaRPr lang="en-US" sz="1050" dirty="0"/>
          </a:p>
        </p:txBody>
      </p:sp>
      <p:sp>
        <p:nvSpPr>
          <p:cNvPr id="26" name="Shape 20"/>
          <p:cNvSpPr/>
          <p:nvPr/>
        </p:nvSpPr>
        <p:spPr>
          <a:xfrm>
            <a:off x="4663440" y="2651760"/>
            <a:ext cx="4023360" cy="1115568"/>
          </a:xfrm>
          <a:prstGeom prst="roundRect">
            <a:avLst>
              <a:gd name="adj" fmla="val 6557"/>
            </a:avLst>
          </a:prstGeom>
          <a:solidFill>
            <a:srgbClr val="F4F7F5"/>
          </a:solidFill>
          <a:ln w="9525">
            <a:solidFill>
              <a:srgbClr val="D5DED9"/>
            </a:solidFill>
            <a:prstDash val="solid"/>
          </a:ln>
        </p:spPr>
      </p:sp>
      <p:sp>
        <p:nvSpPr>
          <p:cNvPr id="27" name="Shape 21"/>
          <p:cNvSpPr/>
          <p:nvPr/>
        </p:nvSpPr>
        <p:spPr>
          <a:xfrm>
            <a:off x="4828032" y="2816352"/>
            <a:ext cx="502920" cy="502920"/>
          </a:xfrm>
          <a:prstGeom prst="ellipse">
            <a:avLst/>
          </a:prstGeom>
          <a:solidFill>
            <a:srgbClr val="0E7C86">
              <a:alpha val="22000"/>
            </a:srgbClr>
          </a:solidFill>
          <a:ln w="12700">
            <a:solidFill>
              <a:srgbClr val="0E7C86">
                <a:alpha val="0"/>
              </a:srgbClr>
            </a:solidFill>
            <a:prstDash val="solid"/>
          </a:ln>
        </p:spPr>
      </p:sp>
      <p:pic>
        <p:nvPicPr>
          <p:cNvPr id="28" name="Image 3" descr="preencoded.png">    </p:cNvPr>
          <p:cNvPicPr>
            <a:picLocks noChangeAspect="1"/>
          </p:cNvPicPr>
          <p:nvPr/>
        </p:nvPicPr>
        <p:blipFill>
          <a:blip r:embed="rId4"/>
          <a:stretch>
            <a:fillRect/>
          </a:stretch>
        </p:blipFill>
        <p:spPr>
          <a:xfrm>
            <a:off x="4948733" y="2937053"/>
            <a:ext cx="261518" cy="261518"/>
          </a:xfrm>
          <a:prstGeom prst="rect">
            <a:avLst/>
          </a:prstGeom>
        </p:spPr>
      </p:pic>
      <p:sp>
        <p:nvSpPr>
          <p:cNvPr id="29" name="Text 22"/>
          <p:cNvSpPr txBox="1"/>
          <p:nvPr/>
        </p:nvSpPr>
        <p:spPr>
          <a:xfrm>
            <a:off x="5486400" y="2788920"/>
            <a:ext cx="3063240" cy="274320"/>
          </a:xfrm>
          <a:prstGeom prst="rect">
            <a:avLst/>
          </a:prstGeom>
          <a:noFill/>
          <a:ln/>
        </p:spPr>
        <p:txBody>
          <a:bodyPr wrap="square" lIns="0" tIns="0" rIns="0" bIns="0" rtlCol="0" anchor="t"/>
          <a:lstStyle/>
          <a:p>
            <a:pPr indent="0" marL="0">
              <a:buNone/>
            </a:pPr>
            <a:r>
              <a:rPr lang="en-US" sz="1300" b="1" dirty="0">
                <a:solidFill>
                  <a:srgbClr val="231F20"/>
                </a:solidFill>
                <a:latin typeface="Calibri" pitchFamily="34" charset="0"/>
                <a:ea typeface="Calibri" pitchFamily="34" charset="-122"/>
                <a:cs typeface="Calibri" pitchFamily="34" charset="-120"/>
              </a:rPr>
              <a:t>Area weighting</a:t>
            </a:r>
            <a:endParaRPr lang="en-US" sz="1300" dirty="0"/>
          </a:p>
        </p:txBody>
      </p:sp>
      <p:sp>
        <p:nvSpPr>
          <p:cNvPr id="30" name="Text 23"/>
          <p:cNvSpPr txBox="1"/>
          <p:nvPr/>
        </p:nvSpPr>
        <p:spPr>
          <a:xfrm>
            <a:off x="5486400" y="3081528"/>
            <a:ext cx="3063240" cy="64008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Pixel area ∝ cos(latitude): −13 % at 30°, −20 % at 37°</a:t>
            </a:r>
            <a:endParaRPr lang="en-US" sz="1050" dirty="0"/>
          </a:p>
        </p:txBody>
      </p:sp>
      <p:sp>
        <p:nvSpPr>
          <p:cNvPr id="31" name="Text 24"/>
          <p:cNvSpPr txBox="1"/>
          <p:nvPr/>
        </p:nvSpPr>
        <p:spPr>
          <a:xfrm>
            <a:off x="457200" y="4023360"/>
            <a:ext cx="914400" cy="256032"/>
          </a:xfrm>
          <a:prstGeom prst="rect">
            <a:avLst/>
          </a:prstGeom>
          <a:noFill/>
          <a:ln/>
        </p:spPr>
        <p:txBody>
          <a:bodyPr wrap="square" lIns="0" tIns="0" rIns="0" bIns="0" rtlCol="0" anchor="ctr"/>
          <a:lstStyle/>
          <a:p>
            <a:pPr indent="0" marL="0">
              <a:buNone/>
            </a:pPr>
            <a:r>
              <a:rPr lang="en-US" sz="1100" b="1" dirty="0">
                <a:solidFill>
                  <a:srgbClr val="231F20"/>
                </a:solidFill>
                <a:latin typeface="Calibri" pitchFamily="34" charset="0"/>
                <a:ea typeface="Calibri" pitchFamily="34" charset="-122"/>
                <a:cs typeface="Calibri" pitchFamily="34" charset="-120"/>
              </a:rPr>
              <a:t>Exports</a:t>
            </a:r>
            <a:endParaRPr lang="en-US" sz="1100" dirty="0"/>
          </a:p>
        </p:txBody>
      </p:sp>
      <p:sp>
        <p:nvSpPr>
          <p:cNvPr id="32" name="Shape 25"/>
          <p:cNvSpPr/>
          <p:nvPr/>
        </p:nvSpPr>
        <p:spPr>
          <a:xfrm>
            <a:off x="1280160" y="4023360"/>
            <a:ext cx="914400" cy="256032"/>
          </a:xfrm>
          <a:prstGeom prst="roundRect">
            <a:avLst>
              <a:gd name="adj" fmla="val 50000"/>
            </a:avLst>
          </a:prstGeom>
          <a:solidFill>
            <a:srgbClr val="0E7C86">
              <a:alpha val="15000"/>
            </a:srgbClr>
          </a:solidFill>
          <a:ln w="9525">
            <a:solidFill>
              <a:srgbClr val="0E7C86"/>
            </a:solidFill>
            <a:prstDash val="solid"/>
          </a:ln>
        </p:spPr>
      </p:sp>
      <p:sp>
        <p:nvSpPr>
          <p:cNvPr id="33" name="Text 26"/>
          <p:cNvSpPr txBox="1"/>
          <p:nvPr/>
        </p:nvSpPr>
        <p:spPr>
          <a:xfrm>
            <a:off x="1280160" y="4023360"/>
            <a:ext cx="91440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GeoTIFF</a:t>
            </a:r>
            <a:endParaRPr lang="en-US" sz="1000" dirty="0"/>
          </a:p>
        </p:txBody>
      </p:sp>
      <p:sp>
        <p:nvSpPr>
          <p:cNvPr id="34" name="Shape 27"/>
          <p:cNvSpPr/>
          <p:nvPr/>
        </p:nvSpPr>
        <p:spPr>
          <a:xfrm>
            <a:off x="2304288"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5" name="Text 28"/>
          <p:cNvSpPr txBox="1"/>
          <p:nvPr/>
        </p:nvSpPr>
        <p:spPr>
          <a:xfrm>
            <a:off x="2304288"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CSV</a:t>
            </a:r>
            <a:endParaRPr lang="en-US" sz="1000" dirty="0"/>
          </a:p>
        </p:txBody>
      </p:sp>
      <p:sp>
        <p:nvSpPr>
          <p:cNvPr id="36" name="Shape 29"/>
          <p:cNvSpPr/>
          <p:nvPr/>
        </p:nvSpPr>
        <p:spPr>
          <a:xfrm>
            <a:off x="3054096" y="4023360"/>
            <a:ext cx="640080" cy="256032"/>
          </a:xfrm>
          <a:prstGeom prst="roundRect">
            <a:avLst>
              <a:gd name="adj" fmla="val 50000"/>
            </a:avLst>
          </a:prstGeom>
          <a:solidFill>
            <a:srgbClr val="0E7C86">
              <a:alpha val="15000"/>
            </a:srgbClr>
          </a:solidFill>
          <a:ln w="9525">
            <a:solidFill>
              <a:srgbClr val="0E7C86"/>
            </a:solidFill>
            <a:prstDash val="solid"/>
          </a:ln>
        </p:spPr>
      </p:sp>
      <p:sp>
        <p:nvSpPr>
          <p:cNvPr id="37" name="Text 30"/>
          <p:cNvSpPr txBox="1"/>
          <p:nvPr/>
        </p:nvSpPr>
        <p:spPr>
          <a:xfrm>
            <a:off x="3054096" y="4023360"/>
            <a:ext cx="64008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NPZ</a:t>
            </a:r>
            <a:endParaRPr lang="en-US" sz="1000" dirty="0"/>
          </a:p>
        </p:txBody>
      </p:sp>
      <p:sp>
        <p:nvSpPr>
          <p:cNvPr id="38" name="Shape 31"/>
          <p:cNvSpPr/>
          <p:nvPr/>
        </p:nvSpPr>
        <p:spPr>
          <a:xfrm>
            <a:off x="3803904" y="4023360"/>
            <a:ext cx="1417320" cy="256032"/>
          </a:xfrm>
          <a:prstGeom prst="roundRect">
            <a:avLst>
              <a:gd name="adj" fmla="val 50000"/>
            </a:avLst>
          </a:prstGeom>
          <a:solidFill>
            <a:srgbClr val="0E7C86">
              <a:alpha val="15000"/>
            </a:srgbClr>
          </a:solidFill>
          <a:ln w="9525">
            <a:solidFill>
              <a:srgbClr val="0E7C86"/>
            </a:solidFill>
            <a:prstDash val="solid"/>
          </a:ln>
        </p:spPr>
      </p:sp>
      <p:sp>
        <p:nvSpPr>
          <p:cNvPr id="39" name="Text 32"/>
          <p:cNvSpPr txBox="1"/>
          <p:nvPr/>
        </p:nvSpPr>
        <p:spPr>
          <a:xfrm>
            <a:off x="3803904" y="4023360"/>
            <a:ext cx="14173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metadata JSON</a:t>
            </a:r>
            <a:endParaRPr lang="en-US" sz="1000" dirty="0"/>
          </a:p>
        </p:txBody>
      </p:sp>
      <p:sp>
        <p:nvSpPr>
          <p:cNvPr id="40" name="Shape 33"/>
          <p:cNvSpPr/>
          <p:nvPr/>
        </p:nvSpPr>
        <p:spPr>
          <a:xfrm>
            <a:off x="5330952" y="4023360"/>
            <a:ext cx="1645920" cy="256032"/>
          </a:xfrm>
          <a:prstGeom prst="roundRect">
            <a:avLst>
              <a:gd name="adj" fmla="val 50000"/>
            </a:avLst>
          </a:prstGeom>
          <a:solidFill>
            <a:srgbClr val="0E7C86">
              <a:alpha val="15000"/>
            </a:srgbClr>
          </a:solidFill>
          <a:ln w="9525">
            <a:solidFill>
              <a:srgbClr val="0E7C86"/>
            </a:solidFill>
            <a:prstDash val="solid"/>
          </a:ln>
        </p:spPr>
      </p:sp>
      <p:sp>
        <p:nvSpPr>
          <p:cNvPr id="41" name="Text 34"/>
          <p:cNvSpPr txBox="1"/>
          <p:nvPr/>
        </p:nvSpPr>
        <p:spPr>
          <a:xfrm>
            <a:off x="5330952" y="4023360"/>
            <a:ext cx="1645920" cy="256032"/>
          </a:xfrm>
          <a:prstGeom prst="rect">
            <a:avLst/>
          </a:prstGeom>
          <a:noFill/>
          <a:ln/>
        </p:spPr>
        <p:txBody>
          <a:bodyPr wrap="square" lIns="0" tIns="0" rIns="0" bIns="0" rtlCol="0" anchor="ctr"/>
          <a:lstStyle/>
          <a:p>
            <a:pPr algn="ctr" indent="0" marL="0">
              <a:buNone/>
            </a:pPr>
            <a:r>
              <a:rPr lang="en-US" sz="1000" b="1" dirty="0">
                <a:solidFill>
                  <a:srgbClr val="0E7C86"/>
                </a:solidFill>
                <a:latin typeface="Calibri" pitchFamily="34" charset="0"/>
                <a:ea typeface="Calibri" pitchFamily="34" charset="-122"/>
                <a:cs typeface="Calibri" pitchFamily="34" charset="-120"/>
              </a:rPr>
              <a:t>processing log</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04</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Analyse</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we turn radiance into economic indicators?</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5C242"/>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OVERVIEW</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One pipeline, six analytical scenarios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1234440" cy="457200"/>
          </a:xfrm>
          <a:prstGeom prst="roundRect">
            <a:avLst>
              <a:gd name="adj" fmla="val 16000"/>
            </a:avLst>
          </a:prstGeom>
          <a:solidFill>
            <a:srgbClr val="E8F5EF"/>
          </a:solidFill>
          <a:ln w="12700">
            <a:solidFill>
              <a:srgbClr val="00A86A"/>
            </a:solidFill>
            <a:prstDash val="solid"/>
          </a:ln>
        </p:spPr>
      </p:sp>
      <p:sp>
        <p:nvSpPr>
          <p:cNvPr id="12" name="Text 9"/>
          <p:cNvSpPr txBox="1"/>
          <p:nvPr/>
        </p:nvSpPr>
        <p:spPr>
          <a:xfrm>
            <a:off x="45720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02  </a:t>
            </a:r>
            <a:pPr algn="ctr" indent="0" marL="0">
              <a:buNone/>
            </a:pPr>
            <a:r>
              <a:rPr lang="en-US" sz="950" dirty="0">
                <a:solidFill>
                  <a:srgbClr val="231F20"/>
                </a:solidFill>
                <a:latin typeface="Calibri" pitchFamily="34" charset="0"/>
                <a:ea typeface="Calibri" pitchFamily="34" charset="-122"/>
                <a:cs typeface="Calibri" pitchFamily="34" charset="-120"/>
              </a:rPr>
              <a:t>Parameters</a:t>
            </a:r>
            <a:endParaRPr lang="en-US" sz="950" dirty="0"/>
          </a:p>
        </p:txBody>
      </p:sp>
      <p:sp>
        <p:nvSpPr>
          <p:cNvPr id="13" name="Shape 10"/>
          <p:cNvSpPr/>
          <p:nvPr/>
        </p:nvSpPr>
        <p:spPr>
          <a:xfrm>
            <a:off x="1700784" y="1554480"/>
            <a:ext cx="146304" cy="914"/>
          </a:xfrm>
          <a:prstGeom prst="line">
            <a:avLst/>
          </a:prstGeom>
          <a:noFill/>
          <a:ln w="15875">
            <a:solidFill>
              <a:srgbClr val="5E6964"/>
            </a:solidFill>
            <a:prstDash val="solid"/>
            <a:tailEnd type="triangle"/>
          </a:ln>
        </p:spPr>
      </p:sp>
      <p:sp>
        <p:nvSpPr>
          <p:cNvPr id="14" name="Shape 11"/>
          <p:cNvSpPr/>
          <p:nvPr/>
        </p:nvSpPr>
        <p:spPr>
          <a:xfrm>
            <a:off x="1856232" y="1325880"/>
            <a:ext cx="1234440" cy="457200"/>
          </a:xfrm>
          <a:prstGeom prst="roundRect">
            <a:avLst>
              <a:gd name="adj" fmla="val 16000"/>
            </a:avLst>
          </a:prstGeom>
          <a:solidFill>
            <a:srgbClr val="E8F5EF"/>
          </a:solidFill>
          <a:ln w="12700">
            <a:solidFill>
              <a:srgbClr val="00A86A"/>
            </a:solidFill>
            <a:prstDash val="solid"/>
          </a:ln>
        </p:spPr>
      </p:sp>
      <p:sp>
        <p:nvSpPr>
          <p:cNvPr id="15" name="Text 12"/>
          <p:cNvSpPr txBox="1"/>
          <p:nvPr/>
        </p:nvSpPr>
        <p:spPr>
          <a:xfrm>
            <a:off x="1856232"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03  </a:t>
            </a:r>
            <a:pPr algn="ctr" indent="0" marL="0">
              <a:buNone/>
            </a:pPr>
            <a:r>
              <a:rPr lang="en-US" sz="950" dirty="0">
                <a:solidFill>
                  <a:srgbClr val="231F20"/>
                </a:solidFill>
                <a:latin typeface="Calibri" pitchFamily="34" charset="0"/>
                <a:ea typeface="Calibri" pitchFamily="34" charset="-122"/>
                <a:cs typeface="Calibri" pitchFamily="34" charset="-120"/>
              </a:rPr>
              <a:t>Acquire &amp; clean</a:t>
            </a:r>
            <a:endParaRPr lang="en-US" sz="950" dirty="0"/>
          </a:p>
        </p:txBody>
      </p:sp>
      <p:sp>
        <p:nvSpPr>
          <p:cNvPr id="16" name="Shape 13"/>
          <p:cNvSpPr/>
          <p:nvPr/>
        </p:nvSpPr>
        <p:spPr>
          <a:xfrm>
            <a:off x="3099816" y="1554480"/>
            <a:ext cx="146304" cy="914"/>
          </a:xfrm>
          <a:prstGeom prst="line">
            <a:avLst/>
          </a:prstGeom>
          <a:noFill/>
          <a:ln w="15875">
            <a:solidFill>
              <a:srgbClr val="5E6964"/>
            </a:solidFill>
            <a:prstDash val="solid"/>
            <a:tailEnd type="triangle"/>
          </a:ln>
        </p:spPr>
      </p:sp>
      <p:sp>
        <p:nvSpPr>
          <p:cNvPr id="17" name="Shape 14"/>
          <p:cNvSpPr/>
          <p:nvPr/>
        </p:nvSpPr>
        <p:spPr>
          <a:xfrm>
            <a:off x="3255264" y="1325880"/>
            <a:ext cx="1234440" cy="457200"/>
          </a:xfrm>
          <a:prstGeom prst="roundRect">
            <a:avLst>
              <a:gd name="adj" fmla="val 16000"/>
            </a:avLst>
          </a:prstGeom>
          <a:solidFill>
            <a:srgbClr val="E8F5EF"/>
          </a:solidFill>
          <a:ln w="12700">
            <a:solidFill>
              <a:srgbClr val="00A86A"/>
            </a:solidFill>
            <a:prstDash val="solid"/>
          </a:ln>
        </p:spPr>
      </p:sp>
      <p:sp>
        <p:nvSpPr>
          <p:cNvPr id="18" name="Text 15"/>
          <p:cNvSpPr txBox="1"/>
          <p:nvPr/>
        </p:nvSpPr>
        <p:spPr>
          <a:xfrm>
            <a:off x="3255264"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04  </a:t>
            </a:r>
            <a:pPr algn="ctr" indent="0" marL="0">
              <a:buNone/>
            </a:pPr>
            <a:r>
              <a:rPr lang="en-US" sz="950" dirty="0">
                <a:solidFill>
                  <a:srgbClr val="231F20"/>
                </a:solidFill>
                <a:latin typeface="Calibri" pitchFamily="34" charset="0"/>
                <a:ea typeface="Calibri" pitchFamily="34" charset="-122"/>
                <a:cs typeface="Calibri" pitchFamily="34" charset="-120"/>
              </a:rPr>
              <a:t>Explore</a:t>
            </a:r>
            <a:endParaRPr lang="en-US" sz="950" dirty="0"/>
          </a:p>
        </p:txBody>
      </p:sp>
      <p:sp>
        <p:nvSpPr>
          <p:cNvPr id="19" name="Shape 16"/>
          <p:cNvSpPr/>
          <p:nvPr/>
        </p:nvSpPr>
        <p:spPr>
          <a:xfrm>
            <a:off x="4498848" y="1554480"/>
            <a:ext cx="146304" cy="914"/>
          </a:xfrm>
          <a:prstGeom prst="line">
            <a:avLst/>
          </a:prstGeom>
          <a:noFill/>
          <a:ln w="15875">
            <a:solidFill>
              <a:srgbClr val="5E6964"/>
            </a:solidFill>
            <a:prstDash val="solid"/>
            <a:tailEnd type="triangle"/>
          </a:ln>
        </p:spPr>
      </p:sp>
      <p:sp>
        <p:nvSpPr>
          <p:cNvPr id="20" name="Shape 17"/>
          <p:cNvSpPr/>
          <p:nvPr/>
        </p:nvSpPr>
        <p:spPr>
          <a:xfrm>
            <a:off x="4654296" y="1325880"/>
            <a:ext cx="1234440" cy="457200"/>
          </a:xfrm>
          <a:prstGeom prst="roundRect">
            <a:avLst>
              <a:gd name="adj" fmla="val 16000"/>
            </a:avLst>
          </a:prstGeom>
          <a:solidFill>
            <a:srgbClr val="D49A00"/>
          </a:solidFill>
          <a:ln w="12700">
            <a:solidFill>
              <a:srgbClr val="D49A00"/>
            </a:solidFill>
            <a:prstDash val="solid"/>
          </a:ln>
        </p:spPr>
      </p:sp>
      <p:sp>
        <p:nvSpPr>
          <p:cNvPr id="21" name="Text 18"/>
          <p:cNvSpPr txBox="1"/>
          <p:nvPr/>
        </p:nvSpPr>
        <p:spPr>
          <a:xfrm>
            <a:off x="4654296" y="1325880"/>
            <a:ext cx="1234440" cy="45720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05–10  </a:t>
            </a:r>
            <a:pPr algn="ctr" indent="0" marL="0">
              <a:buNone/>
            </a:pPr>
            <a:r>
              <a:rPr lang="en-US" sz="950" dirty="0">
                <a:solidFill>
                  <a:srgbClr val="FFFFFF"/>
                </a:solidFill>
                <a:latin typeface="Calibri" pitchFamily="34" charset="0"/>
                <a:ea typeface="Calibri" pitchFamily="34" charset="-122"/>
                <a:cs typeface="Calibri" pitchFamily="34" charset="-120"/>
              </a:rPr>
              <a:t>6 scenarios</a:t>
            </a:r>
            <a:endParaRPr lang="en-US" sz="950" dirty="0"/>
          </a:p>
        </p:txBody>
      </p:sp>
      <p:sp>
        <p:nvSpPr>
          <p:cNvPr id="22" name="Shape 19"/>
          <p:cNvSpPr/>
          <p:nvPr/>
        </p:nvSpPr>
        <p:spPr>
          <a:xfrm>
            <a:off x="5897880" y="1554480"/>
            <a:ext cx="146304" cy="914"/>
          </a:xfrm>
          <a:prstGeom prst="line">
            <a:avLst/>
          </a:prstGeom>
          <a:noFill/>
          <a:ln w="15875">
            <a:solidFill>
              <a:srgbClr val="5E6964"/>
            </a:solidFill>
            <a:prstDash val="solid"/>
            <a:tailEnd type="triangle"/>
          </a:ln>
        </p:spPr>
      </p:sp>
      <p:sp>
        <p:nvSpPr>
          <p:cNvPr id="23" name="Shape 20"/>
          <p:cNvSpPr/>
          <p:nvPr/>
        </p:nvSpPr>
        <p:spPr>
          <a:xfrm>
            <a:off x="6053328" y="1325880"/>
            <a:ext cx="1234440" cy="457200"/>
          </a:xfrm>
          <a:prstGeom prst="roundRect">
            <a:avLst>
              <a:gd name="adj" fmla="val 16000"/>
            </a:avLst>
          </a:prstGeom>
          <a:solidFill>
            <a:srgbClr val="E8F5EF"/>
          </a:solidFill>
          <a:ln w="12700">
            <a:solidFill>
              <a:srgbClr val="00A86A"/>
            </a:solidFill>
            <a:prstDash val="solid"/>
          </a:ln>
        </p:spPr>
      </p:sp>
      <p:sp>
        <p:nvSpPr>
          <p:cNvPr id="24" name="Text 21"/>
          <p:cNvSpPr txBox="1"/>
          <p:nvPr/>
        </p:nvSpPr>
        <p:spPr>
          <a:xfrm>
            <a:off x="6053328"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11  </a:t>
            </a:r>
            <a:pPr algn="ctr" indent="0" marL="0">
              <a:buNone/>
            </a:pPr>
            <a:r>
              <a:rPr lang="en-US" sz="950" dirty="0">
                <a:solidFill>
                  <a:srgbClr val="231F20"/>
                </a:solidFill>
                <a:latin typeface="Calibri" pitchFamily="34" charset="0"/>
                <a:ea typeface="Calibri" pitchFamily="34" charset="-122"/>
                <a:cs typeface="Calibri" pitchFamily="34" charset="-120"/>
              </a:rPr>
              <a:t>Key messages</a:t>
            </a:r>
            <a:endParaRPr lang="en-US" sz="950" dirty="0"/>
          </a:p>
        </p:txBody>
      </p:sp>
      <p:sp>
        <p:nvSpPr>
          <p:cNvPr id="25" name="Shape 22"/>
          <p:cNvSpPr/>
          <p:nvPr/>
        </p:nvSpPr>
        <p:spPr>
          <a:xfrm>
            <a:off x="7296912" y="1554480"/>
            <a:ext cx="146304" cy="914"/>
          </a:xfrm>
          <a:prstGeom prst="line">
            <a:avLst/>
          </a:prstGeom>
          <a:noFill/>
          <a:ln w="15875">
            <a:solidFill>
              <a:srgbClr val="5E6964"/>
            </a:solidFill>
            <a:prstDash val="solid"/>
            <a:tailEnd type="triangle"/>
          </a:ln>
        </p:spPr>
      </p:sp>
      <p:sp>
        <p:nvSpPr>
          <p:cNvPr id="26" name="Shape 23"/>
          <p:cNvSpPr/>
          <p:nvPr/>
        </p:nvSpPr>
        <p:spPr>
          <a:xfrm>
            <a:off x="7452360" y="1325880"/>
            <a:ext cx="1234440" cy="457200"/>
          </a:xfrm>
          <a:prstGeom prst="roundRect">
            <a:avLst>
              <a:gd name="adj" fmla="val 16000"/>
            </a:avLst>
          </a:prstGeom>
          <a:solidFill>
            <a:srgbClr val="E8F5EF"/>
          </a:solidFill>
          <a:ln w="12700">
            <a:solidFill>
              <a:srgbClr val="00A86A"/>
            </a:solidFill>
            <a:prstDash val="solid"/>
          </a:ln>
        </p:spPr>
      </p:sp>
      <p:sp>
        <p:nvSpPr>
          <p:cNvPr id="27" name="Text 24"/>
          <p:cNvSpPr txBox="1"/>
          <p:nvPr/>
        </p:nvSpPr>
        <p:spPr>
          <a:xfrm>
            <a:off x="7452360" y="1325880"/>
            <a:ext cx="1234440" cy="457200"/>
          </a:xfrm>
          <a:prstGeom prst="rect">
            <a:avLst/>
          </a:prstGeom>
          <a:noFill/>
          <a:ln/>
        </p:spPr>
        <p:txBody>
          <a:bodyPr wrap="square" lIns="0" tIns="0" rIns="0" bIns="0" rtlCol="0" anchor="ctr"/>
          <a:lstStyle/>
          <a:p>
            <a:pPr algn="ctr" indent="0" marL="0">
              <a:buNone/>
            </a:pPr>
            <a:r>
              <a:rPr lang="en-US" sz="950" b="1" dirty="0">
                <a:solidFill>
                  <a:srgbClr val="00704A"/>
                </a:solidFill>
                <a:latin typeface="Calibri" pitchFamily="34" charset="0"/>
                <a:ea typeface="Calibri" pitchFamily="34" charset="-122"/>
                <a:cs typeface="Calibri" pitchFamily="34" charset="-120"/>
              </a:rPr>
              <a:t>12–13  </a:t>
            </a:r>
            <a:pPr algn="ctr" indent="0" marL="0">
              <a:buNone/>
            </a:pPr>
            <a:r>
              <a:rPr lang="en-US" sz="950" dirty="0">
                <a:solidFill>
                  <a:srgbClr val="231F20"/>
                </a:solidFill>
                <a:latin typeface="Calibri" pitchFamily="34" charset="0"/>
                <a:ea typeface="Calibri" pitchFamily="34" charset="-122"/>
                <a:cs typeface="Calibri" pitchFamily="34" charset="-120"/>
              </a:rPr>
              <a:t>Export &amp; publish</a:t>
            </a:r>
            <a:endParaRPr lang="en-US" sz="950" dirty="0"/>
          </a:p>
        </p:txBody>
      </p:sp>
      <p:sp>
        <p:nvSpPr>
          <p:cNvPr id="28" name="Shape 25"/>
          <p:cNvSpPr/>
          <p:nvPr/>
        </p:nvSpPr>
        <p:spPr>
          <a:xfrm>
            <a:off x="457200" y="1965960"/>
            <a:ext cx="2606040" cy="1188720"/>
          </a:xfrm>
          <a:prstGeom prst="roundRect">
            <a:avLst>
              <a:gd name="adj" fmla="val 6154"/>
            </a:avLst>
          </a:prstGeom>
          <a:solidFill>
            <a:srgbClr val="F4F7F5"/>
          </a:solidFill>
          <a:ln w="9525">
            <a:solidFill>
              <a:srgbClr val="D5DED9"/>
            </a:solidFill>
            <a:prstDash val="solid"/>
          </a:ln>
        </p:spPr>
      </p:sp>
      <p:sp>
        <p:nvSpPr>
          <p:cNvPr id="29" name="Shape 26"/>
          <p:cNvSpPr/>
          <p:nvPr/>
        </p:nvSpPr>
        <p:spPr>
          <a:xfrm>
            <a:off x="585216" y="2093976"/>
            <a:ext cx="420624" cy="420624"/>
          </a:xfrm>
          <a:prstGeom prst="ellipse">
            <a:avLst/>
          </a:prstGeom>
          <a:solidFill>
            <a:srgbClr val="D49A00">
              <a:alpha val="22000"/>
            </a:srgbClr>
          </a:solidFill>
          <a:ln w="12700">
            <a:solidFill>
              <a:srgbClr val="D49A00">
                <a:alpha val="0"/>
              </a:srgbClr>
            </a:solidFill>
            <a:prstDash val="solid"/>
          </a:ln>
        </p:spPr>
      </p:sp>
      <p:pic>
        <p:nvPicPr>
          <p:cNvPr id="30" name="Image 0" descr="preencoded.png">    </p:cNvPr>
          <p:cNvPicPr>
            <a:picLocks noChangeAspect="1"/>
          </p:cNvPicPr>
          <p:nvPr/>
        </p:nvPicPr>
        <p:blipFill>
          <a:blip r:embed="rId1"/>
          <a:stretch>
            <a:fillRect/>
          </a:stretch>
        </p:blipFill>
        <p:spPr>
          <a:xfrm>
            <a:off x="686166" y="2194926"/>
            <a:ext cx="218724" cy="218724"/>
          </a:xfrm>
          <a:prstGeom prst="rect">
            <a:avLst/>
          </a:prstGeom>
        </p:spPr>
      </p:pic>
      <p:sp>
        <p:nvSpPr>
          <p:cNvPr id="31" name="Text 27"/>
          <p:cNvSpPr txBox="1"/>
          <p:nvPr/>
        </p:nvSpPr>
        <p:spPr>
          <a:xfrm>
            <a:off x="109728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S1 · Time dynamics</a:t>
            </a:r>
            <a:endParaRPr lang="en-US" sz="1150" dirty="0"/>
          </a:p>
        </p:txBody>
      </p:sp>
      <p:sp>
        <p:nvSpPr>
          <p:cNvPr id="32" name="Text 28"/>
          <p:cNvSpPr txBox="1"/>
          <p:nvPr/>
        </p:nvSpPr>
        <p:spPr>
          <a:xfrm>
            <a:off x="109728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Is activity rising, and how fast?</a:t>
            </a:r>
            <a:endParaRPr lang="en-US" sz="950" dirty="0"/>
          </a:p>
        </p:txBody>
      </p:sp>
      <p:sp>
        <p:nvSpPr>
          <p:cNvPr id="33" name="Text 29"/>
          <p:cNvSpPr txBox="1"/>
          <p:nvPr/>
        </p:nvSpPr>
        <p:spPr>
          <a:xfrm>
            <a:off x="58521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Seasonally adjusted series · YoY · trend %/yr · anomalies · breaks</a:t>
            </a:r>
            <a:endParaRPr lang="en-US" sz="900" dirty="0"/>
          </a:p>
        </p:txBody>
      </p:sp>
      <p:sp>
        <p:nvSpPr>
          <p:cNvPr id="34" name="Shape 30"/>
          <p:cNvSpPr/>
          <p:nvPr/>
        </p:nvSpPr>
        <p:spPr>
          <a:xfrm>
            <a:off x="3246120" y="1965960"/>
            <a:ext cx="2606040" cy="1188720"/>
          </a:xfrm>
          <a:prstGeom prst="roundRect">
            <a:avLst>
              <a:gd name="adj" fmla="val 6154"/>
            </a:avLst>
          </a:prstGeom>
          <a:solidFill>
            <a:srgbClr val="F4F7F5"/>
          </a:solidFill>
          <a:ln w="9525">
            <a:solidFill>
              <a:srgbClr val="D5DED9"/>
            </a:solidFill>
            <a:prstDash val="solid"/>
          </a:ln>
        </p:spPr>
      </p:sp>
      <p:sp>
        <p:nvSpPr>
          <p:cNvPr id="35" name="Shape 31"/>
          <p:cNvSpPr/>
          <p:nvPr/>
        </p:nvSpPr>
        <p:spPr>
          <a:xfrm>
            <a:off x="3374136" y="2093976"/>
            <a:ext cx="420624" cy="420624"/>
          </a:xfrm>
          <a:prstGeom prst="ellipse">
            <a:avLst/>
          </a:prstGeom>
          <a:solidFill>
            <a:srgbClr val="D49A00">
              <a:alpha val="22000"/>
            </a:srgbClr>
          </a:solidFill>
          <a:ln w="12700">
            <a:solidFill>
              <a:srgbClr val="D49A00">
                <a:alpha val="0"/>
              </a:srgbClr>
            </a:solidFill>
            <a:prstDash val="solid"/>
          </a:ln>
        </p:spPr>
      </p:sp>
      <p:pic>
        <p:nvPicPr>
          <p:cNvPr id="36" name="Image 1" descr="preencoded.png">    </p:cNvPr>
          <p:cNvPicPr>
            <a:picLocks noChangeAspect="1"/>
          </p:cNvPicPr>
          <p:nvPr/>
        </p:nvPicPr>
        <p:blipFill>
          <a:blip r:embed="rId2"/>
          <a:stretch>
            <a:fillRect/>
          </a:stretch>
        </p:blipFill>
        <p:spPr>
          <a:xfrm>
            <a:off x="3475086" y="2194926"/>
            <a:ext cx="218724" cy="218724"/>
          </a:xfrm>
          <a:prstGeom prst="rect">
            <a:avLst/>
          </a:prstGeom>
        </p:spPr>
      </p:pic>
      <p:sp>
        <p:nvSpPr>
          <p:cNvPr id="37" name="Text 32"/>
          <p:cNvSpPr txBox="1"/>
          <p:nvPr/>
        </p:nvSpPr>
        <p:spPr>
          <a:xfrm>
            <a:off x="388620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S2 · Regional growth</a:t>
            </a:r>
            <a:endParaRPr lang="en-US" sz="1150" dirty="0"/>
          </a:p>
        </p:txBody>
      </p:sp>
      <p:sp>
        <p:nvSpPr>
          <p:cNvPr id="38" name="Text 33"/>
          <p:cNvSpPr txBox="1"/>
          <p:nvPr/>
        </p:nvSpPr>
        <p:spPr>
          <a:xfrm>
            <a:off x="388620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Which regions grow, and do they converge?</a:t>
            </a:r>
            <a:endParaRPr lang="en-US" sz="950" dirty="0"/>
          </a:p>
        </p:txBody>
      </p:sp>
      <p:sp>
        <p:nvSpPr>
          <p:cNvPr id="39" name="Text 34"/>
          <p:cNvSpPr txBox="1"/>
          <p:nvPr/>
        </p:nvSpPr>
        <p:spPr>
          <a:xfrm>
            <a:off x="337413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Growth class · top-1 / top-10 % shares · HHI · β and σ convergence</a:t>
            </a:r>
            <a:endParaRPr lang="en-US" sz="900" dirty="0"/>
          </a:p>
        </p:txBody>
      </p:sp>
      <p:sp>
        <p:nvSpPr>
          <p:cNvPr id="40" name="Shape 35"/>
          <p:cNvSpPr/>
          <p:nvPr/>
        </p:nvSpPr>
        <p:spPr>
          <a:xfrm>
            <a:off x="6035040" y="1965960"/>
            <a:ext cx="2606040" cy="1188720"/>
          </a:xfrm>
          <a:prstGeom prst="roundRect">
            <a:avLst>
              <a:gd name="adj" fmla="val 6154"/>
            </a:avLst>
          </a:prstGeom>
          <a:solidFill>
            <a:srgbClr val="F4F7F5"/>
          </a:solidFill>
          <a:ln w="9525">
            <a:solidFill>
              <a:srgbClr val="D5DED9"/>
            </a:solidFill>
            <a:prstDash val="solid"/>
          </a:ln>
        </p:spPr>
      </p:sp>
      <p:sp>
        <p:nvSpPr>
          <p:cNvPr id="41" name="Shape 36"/>
          <p:cNvSpPr/>
          <p:nvPr/>
        </p:nvSpPr>
        <p:spPr>
          <a:xfrm>
            <a:off x="6163056" y="2093976"/>
            <a:ext cx="420624" cy="420624"/>
          </a:xfrm>
          <a:prstGeom prst="ellipse">
            <a:avLst/>
          </a:prstGeom>
          <a:solidFill>
            <a:srgbClr val="D49A00">
              <a:alpha val="22000"/>
            </a:srgbClr>
          </a:solidFill>
          <a:ln w="12700">
            <a:solidFill>
              <a:srgbClr val="D49A00">
                <a:alpha val="0"/>
              </a:srgbClr>
            </a:solidFill>
            <a:prstDash val="solid"/>
          </a:ln>
        </p:spPr>
      </p:sp>
      <p:pic>
        <p:nvPicPr>
          <p:cNvPr id="42" name="Image 2" descr="preencoded.png">    </p:cNvPr>
          <p:cNvPicPr>
            <a:picLocks noChangeAspect="1"/>
          </p:cNvPicPr>
          <p:nvPr/>
        </p:nvPicPr>
        <p:blipFill>
          <a:blip r:embed="rId3"/>
          <a:stretch>
            <a:fillRect/>
          </a:stretch>
        </p:blipFill>
        <p:spPr>
          <a:xfrm>
            <a:off x="6264006" y="2194926"/>
            <a:ext cx="218724" cy="218724"/>
          </a:xfrm>
          <a:prstGeom prst="rect">
            <a:avLst/>
          </a:prstGeom>
        </p:spPr>
      </p:pic>
      <p:sp>
        <p:nvSpPr>
          <p:cNvPr id="43" name="Text 37"/>
          <p:cNvSpPr txBox="1"/>
          <p:nvPr/>
        </p:nvSpPr>
        <p:spPr>
          <a:xfrm>
            <a:off x="6675120" y="2075688"/>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S3 · Lights and GDP</a:t>
            </a:r>
            <a:endParaRPr lang="en-US" sz="1150" dirty="0"/>
          </a:p>
        </p:txBody>
      </p:sp>
      <p:sp>
        <p:nvSpPr>
          <p:cNvPr id="44" name="Text 38"/>
          <p:cNvSpPr txBox="1"/>
          <p:nvPr/>
        </p:nvSpPr>
        <p:spPr>
          <a:xfrm>
            <a:off x="6675120" y="2295144"/>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Do lights track GDP, and can they fill gaps?</a:t>
            </a:r>
            <a:endParaRPr lang="en-US" sz="950" dirty="0"/>
          </a:p>
        </p:txBody>
      </p:sp>
      <p:sp>
        <p:nvSpPr>
          <p:cNvPr id="45" name="Text 39"/>
          <p:cNvSpPr txBox="1"/>
          <p:nvPr/>
        </p:nvSpPr>
        <p:spPr>
          <a:xfrm>
            <a:off x="6163056" y="2660904"/>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Elasticity β · nowcast · MAE vs naive · regional GDP</a:t>
            </a:r>
            <a:endParaRPr lang="en-US" sz="900" dirty="0"/>
          </a:p>
        </p:txBody>
      </p:sp>
      <p:sp>
        <p:nvSpPr>
          <p:cNvPr id="46" name="Shape 40"/>
          <p:cNvSpPr/>
          <p:nvPr/>
        </p:nvSpPr>
        <p:spPr>
          <a:xfrm>
            <a:off x="457200" y="3264408"/>
            <a:ext cx="2606040" cy="1188720"/>
          </a:xfrm>
          <a:prstGeom prst="roundRect">
            <a:avLst>
              <a:gd name="adj" fmla="val 6154"/>
            </a:avLst>
          </a:prstGeom>
          <a:solidFill>
            <a:srgbClr val="F4F7F5"/>
          </a:solidFill>
          <a:ln w="9525">
            <a:solidFill>
              <a:srgbClr val="D5DED9"/>
            </a:solidFill>
            <a:prstDash val="solid"/>
          </a:ln>
        </p:spPr>
      </p:sp>
      <p:sp>
        <p:nvSpPr>
          <p:cNvPr id="47" name="Shape 41"/>
          <p:cNvSpPr/>
          <p:nvPr/>
        </p:nvSpPr>
        <p:spPr>
          <a:xfrm>
            <a:off x="585216" y="3392424"/>
            <a:ext cx="420624" cy="420624"/>
          </a:xfrm>
          <a:prstGeom prst="ellipse">
            <a:avLst/>
          </a:prstGeom>
          <a:solidFill>
            <a:srgbClr val="D49A00">
              <a:alpha val="22000"/>
            </a:srgbClr>
          </a:solidFill>
          <a:ln w="12700">
            <a:solidFill>
              <a:srgbClr val="D49A00">
                <a:alpha val="0"/>
              </a:srgbClr>
            </a:solidFill>
            <a:prstDash val="solid"/>
          </a:ln>
        </p:spPr>
      </p:sp>
      <p:pic>
        <p:nvPicPr>
          <p:cNvPr id="48" name="Image 3" descr="preencoded.png">    </p:cNvPr>
          <p:cNvPicPr>
            <a:picLocks noChangeAspect="1"/>
          </p:cNvPicPr>
          <p:nvPr/>
        </p:nvPicPr>
        <p:blipFill>
          <a:blip r:embed="rId4"/>
          <a:stretch>
            <a:fillRect/>
          </a:stretch>
        </p:blipFill>
        <p:spPr>
          <a:xfrm>
            <a:off x="686166" y="3493374"/>
            <a:ext cx="218724" cy="218724"/>
          </a:xfrm>
          <a:prstGeom prst="rect">
            <a:avLst/>
          </a:prstGeom>
        </p:spPr>
      </p:pic>
      <p:sp>
        <p:nvSpPr>
          <p:cNvPr id="49" name="Text 42"/>
          <p:cNvSpPr txBox="1"/>
          <p:nvPr/>
        </p:nvSpPr>
        <p:spPr>
          <a:xfrm>
            <a:off x="109728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S4 · Shocks</a:t>
            </a:r>
            <a:endParaRPr lang="en-US" sz="1150" dirty="0"/>
          </a:p>
        </p:txBody>
      </p:sp>
      <p:sp>
        <p:nvSpPr>
          <p:cNvPr id="50" name="Text 43"/>
          <p:cNvSpPr txBox="1"/>
          <p:nvPr/>
        </p:nvSpPr>
        <p:spPr>
          <a:xfrm>
            <a:off x="109728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How deep was the shock, and how fast the recovery?</a:t>
            </a:r>
            <a:endParaRPr lang="en-US" sz="950" dirty="0"/>
          </a:p>
        </p:txBody>
      </p:sp>
      <p:sp>
        <p:nvSpPr>
          <p:cNvPr id="51" name="Text 44"/>
          <p:cNvSpPr txBox="1"/>
          <p:nvPr/>
        </p:nvSpPr>
        <p:spPr>
          <a:xfrm>
            <a:off x="58521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Trough % · gap vs trend · months to recovery · placebo · daily index</a:t>
            </a:r>
            <a:endParaRPr lang="en-US" sz="900" dirty="0"/>
          </a:p>
        </p:txBody>
      </p:sp>
      <p:sp>
        <p:nvSpPr>
          <p:cNvPr id="52" name="Shape 45"/>
          <p:cNvSpPr/>
          <p:nvPr/>
        </p:nvSpPr>
        <p:spPr>
          <a:xfrm>
            <a:off x="3246120" y="3264408"/>
            <a:ext cx="2606040" cy="1188720"/>
          </a:xfrm>
          <a:prstGeom prst="roundRect">
            <a:avLst>
              <a:gd name="adj" fmla="val 6154"/>
            </a:avLst>
          </a:prstGeom>
          <a:solidFill>
            <a:srgbClr val="F4F7F5"/>
          </a:solidFill>
          <a:ln w="9525">
            <a:solidFill>
              <a:srgbClr val="D5DED9"/>
            </a:solidFill>
            <a:prstDash val="solid"/>
          </a:ln>
        </p:spPr>
      </p:sp>
      <p:sp>
        <p:nvSpPr>
          <p:cNvPr id="53" name="Shape 46"/>
          <p:cNvSpPr/>
          <p:nvPr/>
        </p:nvSpPr>
        <p:spPr>
          <a:xfrm>
            <a:off x="3374136" y="3392424"/>
            <a:ext cx="420624" cy="420624"/>
          </a:xfrm>
          <a:prstGeom prst="ellipse">
            <a:avLst/>
          </a:prstGeom>
          <a:solidFill>
            <a:srgbClr val="D49A00">
              <a:alpha val="22000"/>
            </a:srgbClr>
          </a:solidFill>
          <a:ln w="12700">
            <a:solidFill>
              <a:srgbClr val="D49A00">
                <a:alpha val="0"/>
              </a:srgbClr>
            </a:solidFill>
            <a:prstDash val="solid"/>
          </a:ln>
        </p:spPr>
      </p:sp>
      <p:pic>
        <p:nvPicPr>
          <p:cNvPr id="54" name="Image 4" descr="preencoded.png">    </p:cNvPr>
          <p:cNvPicPr>
            <a:picLocks noChangeAspect="1"/>
          </p:cNvPicPr>
          <p:nvPr/>
        </p:nvPicPr>
        <p:blipFill>
          <a:blip r:embed="rId5"/>
          <a:stretch>
            <a:fillRect/>
          </a:stretch>
        </p:blipFill>
        <p:spPr>
          <a:xfrm>
            <a:off x="3475086" y="3493374"/>
            <a:ext cx="218724" cy="218724"/>
          </a:xfrm>
          <a:prstGeom prst="rect">
            <a:avLst/>
          </a:prstGeom>
        </p:spPr>
      </p:pic>
      <p:sp>
        <p:nvSpPr>
          <p:cNvPr id="55" name="Text 47"/>
          <p:cNvSpPr txBox="1"/>
          <p:nvPr/>
        </p:nvSpPr>
        <p:spPr>
          <a:xfrm>
            <a:off x="388620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S5 · Inequality &amp; access</a:t>
            </a:r>
            <a:endParaRPr lang="en-US" sz="1150" dirty="0"/>
          </a:p>
        </p:txBody>
      </p:sp>
      <p:sp>
        <p:nvSpPr>
          <p:cNvPr id="56" name="Text 48"/>
          <p:cNvSpPr txBox="1"/>
          <p:nvPr/>
        </p:nvSpPr>
        <p:spPr>
          <a:xfrm>
            <a:off x="388620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How unequal is light, and who lives in the dark?</a:t>
            </a:r>
            <a:endParaRPr lang="en-US" sz="950" dirty="0"/>
          </a:p>
        </p:txBody>
      </p:sp>
      <p:sp>
        <p:nvSpPr>
          <p:cNvPr id="57" name="Text 49"/>
          <p:cNvSpPr txBox="1"/>
          <p:nvPr/>
        </p:nvSpPr>
        <p:spPr>
          <a:xfrm>
            <a:off x="337413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Gini · Lorenz · Theil T · urban/rural ratio · population in the dark</a:t>
            </a:r>
            <a:endParaRPr lang="en-US" sz="900" dirty="0"/>
          </a:p>
        </p:txBody>
      </p:sp>
      <p:sp>
        <p:nvSpPr>
          <p:cNvPr id="58" name="Shape 50"/>
          <p:cNvSpPr/>
          <p:nvPr/>
        </p:nvSpPr>
        <p:spPr>
          <a:xfrm>
            <a:off x="6035040" y="3264408"/>
            <a:ext cx="2606040" cy="1188720"/>
          </a:xfrm>
          <a:prstGeom prst="roundRect">
            <a:avLst>
              <a:gd name="adj" fmla="val 6154"/>
            </a:avLst>
          </a:prstGeom>
          <a:solidFill>
            <a:srgbClr val="F4F7F5"/>
          </a:solidFill>
          <a:ln w="9525">
            <a:solidFill>
              <a:srgbClr val="D5DED9"/>
            </a:solidFill>
            <a:prstDash val="solid"/>
          </a:ln>
        </p:spPr>
      </p:sp>
      <p:sp>
        <p:nvSpPr>
          <p:cNvPr id="59" name="Shape 51"/>
          <p:cNvSpPr/>
          <p:nvPr/>
        </p:nvSpPr>
        <p:spPr>
          <a:xfrm>
            <a:off x="6163056" y="3392424"/>
            <a:ext cx="420624" cy="420624"/>
          </a:xfrm>
          <a:prstGeom prst="ellipse">
            <a:avLst/>
          </a:prstGeom>
          <a:solidFill>
            <a:srgbClr val="D49A00">
              <a:alpha val="22000"/>
            </a:srgbClr>
          </a:solidFill>
          <a:ln w="12700">
            <a:solidFill>
              <a:srgbClr val="D49A00">
                <a:alpha val="0"/>
              </a:srgbClr>
            </a:solidFill>
            <a:prstDash val="solid"/>
          </a:ln>
        </p:spPr>
      </p:sp>
      <p:pic>
        <p:nvPicPr>
          <p:cNvPr id="60" name="Image 5" descr="preencoded.png">    </p:cNvPr>
          <p:cNvPicPr>
            <a:picLocks noChangeAspect="1"/>
          </p:cNvPicPr>
          <p:nvPr/>
        </p:nvPicPr>
        <p:blipFill>
          <a:blip r:embed="rId6"/>
          <a:stretch>
            <a:fillRect/>
          </a:stretch>
        </p:blipFill>
        <p:spPr>
          <a:xfrm>
            <a:off x="6264006" y="3493374"/>
            <a:ext cx="218724" cy="218724"/>
          </a:xfrm>
          <a:prstGeom prst="rect">
            <a:avLst/>
          </a:prstGeom>
        </p:spPr>
      </p:pic>
      <p:sp>
        <p:nvSpPr>
          <p:cNvPr id="61" name="Text 52"/>
          <p:cNvSpPr txBox="1"/>
          <p:nvPr/>
        </p:nvSpPr>
        <p:spPr>
          <a:xfrm>
            <a:off x="6675120" y="3374136"/>
            <a:ext cx="1920240" cy="228600"/>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S6 · Industrial zones</a:t>
            </a:r>
            <a:endParaRPr lang="en-US" sz="1150" dirty="0"/>
          </a:p>
        </p:txBody>
      </p:sp>
      <p:sp>
        <p:nvSpPr>
          <p:cNvPr id="62" name="Text 53"/>
          <p:cNvSpPr txBox="1"/>
          <p:nvPr/>
        </p:nvSpPr>
        <p:spPr>
          <a:xfrm>
            <a:off x="6675120" y="3593592"/>
            <a:ext cx="1920240" cy="329184"/>
          </a:xfrm>
          <a:prstGeom prst="rect">
            <a:avLst/>
          </a:prstGeom>
          <a:noFill/>
          <a:ln/>
        </p:spPr>
        <p:txBody>
          <a:bodyPr wrap="square" lIns="0" tIns="0" rIns="0" bIns="0" rtlCol="0" anchor="t"/>
          <a:lstStyle/>
          <a:p>
            <a:pPr indent="0" marL="0">
              <a:buNone/>
            </a:pPr>
            <a:r>
              <a:rPr lang="en-US" sz="950" i="1" dirty="0">
                <a:solidFill>
                  <a:srgbClr val="D49A00"/>
                </a:solidFill>
                <a:latin typeface="Calibri" pitchFamily="34" charset="0"/>
                <a:ea typeface="Calibri" pitchFamily="34" charset="-122"/>
                <a:cs typeface="Calibri" pitchFamily="34" charset="-120"/>
              </a:rPr>
              <a:t>Where does the country produce?</a:t>
            </a:r>
            <a:endParaRPr lang="en-US" sz="950" dirty="0"/>
          </a:p>
        </p:txBody>
      </p:sp>
      <p:sp>
        <p:nvSpPr>
          <p:cNvPr id="63" name="Text 54"/>
          <p:cNvSpPr txBox="1"/>
          <p:nvPr/>
        </p:nvSpPr>
        <p:spPr>
          <a:xfrm>
            <a:off x="6163056" y="3959352"/>
            <a:ext cx="2377440" cy="4572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Industrial score · zone share and trend · precision / recall vs OSM</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(1/3)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Night-light data: four products, four roles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E8F5EF"/>
          </a:solidFill>
          <a:ln w="15875">
            <a:solidFill>
              <a:srgbClr val="00A86A"/>
            </a:solidFill>
            <a:prstDash val="solid"/>
          </a:ln>
        </p:spPr>
      </p:sp>
      <p:sp>
        <p:nvSpPr>
          <p:cNvPr id="12" name="Shape 9"/>
          <p:cNvSpPr/>
          <p:nvPr/>
        </p:nvSpPr>
        <p:spPr>
          <a:xfrm>
            <a:off x="585216" y="1453896"/>
            <a:ext cx="457200" cy="45720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 · monthly</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NOAA/VIIRS/DNB/MONTHLY_V1/VCMSLCFG</a:t>
            </a:r>
            <a:endParaRPr lang="en-US" sz="850" dirty="0"/>
          </a:p>
        </p:txBody>
      </p:sp>
      <p:sp>
        <p:nvSpPr>
          <p:cNvPr id="16" name="Text 12"/>
          <p:cNvSpPr txBox="1"/>
          <p:nvPr/>
        </p:nvSpPr>
        <p:spPr>
          <a:xfrm>
            <a:off x="58521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2014 → · ~464 m · avg_rad (nW·cm⁻²·sr⁻¹) + cf_cvg</a:t>
            </a:r>
            <a:endParaRPr lang="en-US" sz="950" dirty="0"/>
          </a:p>
        </p:txBody>
      </p:sp>
      <p:sp>
        <p:nvSpPr>
          <p:cNvPr id="17" name="Text 13"/>
          <p:cNvSpPr txBox="1"/>
          <p:nvPr/>
        </p:nvSpPr>
        <p:spPr>
          <a:xfrm>
            <a:off x="58521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Monthly mean radiance, stray-light corrected; cf_cvg = cloud-free nights</a:t>
            </a:r>
            <a:endParaRPr lang="en-US" sz="950" dirty="0"/>
          </a:p>
        </p:txBody>
      </p:sp>
      <p:sp>
        <p:nvSpPr>
          <p:cNvPr id="18" name="Text 14"/>
          <p:cNvSpPr txBox="1"/>
          <p:nvPr/>
        </p:nvSpPr>
        <p:spPr>
          <a:xfrm>
            <a:off x="58521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S1 seasonality, S3 nowcast, S4 shocks</a:t>
            </a:r>
            <a:endParaRPr lang="en-US" sz="950" dirty="0"/>
          </a:p>
        </p:txBody>
      </p:sp>
      <p:sp>
        <p:nvSpPr>
          <p:cNvPr id="19" name="Shape 15"/>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20" name="Shape 16"/>
          <p:cNvSpPr/>
          <p:nvPr/>
        </p:nvSpPr>
        <p:spPr>
          <a:xfrm>
            <a:off x="4791456" y="1453896"/>
            <a:ext cx="457200" cy="457200"/>
          </a:xfrm>
          <a:prstGeom prst="ellipse">
            <a:avLst/>
          </a:prstGeom>
          <a:solidFill>
            <a:srgbClr val="00A86A">
              <a:alpha val="22000"/>
            </a:srgbClr>
          </a:solidFill>
          <a:ln w="12700">
            <a:solidFill>
              <a:srgbClr val="00A86A">
                <a:alpha val="0"/>
              </a:srgbClr>
            </a:solidFill>
            <a:prstDash val="solid"/>
          </a:ln>
        </p:spPr>
      </p:sp>
      <p:pic>
        <p:nvPicPr>
          <p:cNvPr id="21"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2" name="Text 17"/>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VIIRS VNL V2.1 / V2.2 · annual</a:t>
            </a:r>
            <a:endParaRPr lang="en-US" sz="1200" dirty="0"/>
          </a:p>
        </p:txBody>
      </p:sp>
      <p:sp>
        <p:nvSpPr>
          <p:cNvPr id="23" name="Text 18"/>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NOAA/VIIRS/DNB/ANNUAL_V21 · _V22</a:t>
            </a:r>
            <a:endParaRPr lang="en-US" sz="850" dirty="0"/>
          </a:p>
        </p:txBody>
      </p:sp>
      <p:sp>
        <p:nvSpPr>
          <p:cNvPr id="24" name="Text 19"/>
          <p:cNvSpPr txBox="1"/>
          <p:nvPr/>
        </p:nvSpPr>
        <p:spPr>
          <a:xfrm>
            <a:off x="4791456" y="19842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2013–2021 / 2022 → · ~464 m · average_masked</a:t>
            </a:r>
            <a:endParaRPr lang="en-US" sz="950" dirty="0"/>
          </a:p>
        </p:txBody>
      </p:sp>
      <p:sp>
        <p:nvSpPr>
          <p:cNvPr id="25" name="Text 20"/>
          <p:cNvSpPr txBox="1"/>
          <p:nvPr/>
        </p:nvSpPr>
        <p:spPr>
          <a:xfrm>
            <a:off x="4791456" y="21945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Annual radiance with background and ephemeral lights masked by EOG</a:t>
            </a:r>
            <a:endParaRPr lang="en-US" sz="950" dirty="0"/>
          </a:p>
        </p:txBody>
      </p:sp>
      <p:sp>
        <p:nvSpPr>
          <p:cNvPr id="26" name="Text 21"/>
          <p:cNvSpPr txBox="1"/>
          <p:nvPr/>
        </p:nvSpPr>
        <p:spPr>
          <a:xfrm>
            <a:off x="4791456" y="24688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Annual levels for S1–S3, S5, S6; background mask</a:t>
            </a:r>
            <a:endParaRPr lang="en-US" sz="950" dirty="0"/>
          </a:p>
        </p:txBody>
      </p:sp>
      <p:sp>
        <p:nvSpPr>
          <p:cNvPr id="27" name="Shape 22"/>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8" name="Shape 23"/>
          <p:cNvSpPr/>
          <p:nvPr/>
        </p:nvSpPr>
        <p:spPr>
          <a:xfrm>
            <a:off x="585216" y="3054096"/>
            <a:ext cx="457200" cy="457200"/>
          </a:xfrm>
          <a:prstGeom prst="ellipse">
            <a:avLst/>
          </a:prstGeom>
          <a:solidFill>
            <a:srgbClr val="00A86A">
              <a:alpha val="22000"/>
            </a:srgbClr>
          </a:solidFill>
          <a:ln w="12700">
            <a:solidFill>
              <a:srgbClr val="00A86A">
                <a:alpha val="0"/>
              </a:srgbClr>
            </a:solidFill>
            <a:prstDash val="solid"/>
          </a:ln>
        </p:spPr>
      </p:sp>
      <p:pic>
        <p:nvPicPr>
          <p:cNvPr id="29"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30" name="Text 24"/>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Black Marble VNP46A2 · daily</a:t>
            </a:r>
            <a:endParaRPr lang="en-US" sz="1200" dirty="0"/>
          </a:p>
        </p:txBody>
      </p:sp>
      <p:sp>
        <p:nvSpPr>
          <p:cNvPr id="31" name="Text 25"/>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NASA/VIIRS/002/VNP46A2</a:t>
            </a:r>
            <a:endParaRPr lang="en-US" sz="850" dirty="0"/>
          </a:p>
        </p:txBody>
      </p:sp>
      <p:sp>
        <p:nvSpPr>
          <p:cNvPr id="32" name="Text 26"/>
          <p:cNvSpPr txBox="1"/>
          <p:nvPr/>
        </p:nvSpPr>
        <p:spPr>
          <a:xfrm>
            <a:off x="58521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2012 → · ~500 m · BRDF / Moon corrected</a:t>
            </a:r>
            <a:endParaRPr lang="en-US" sz="950" dirty="0"/>
          </a:p>
        </p:txBody>
      </p:sp>
      <p:sp>
        <p:nvSpPr>
          <p:cNvPr id="33" name="Text 27"/>
          <p:cNvSpPr txBox="1"/>
          <p:nvPr/>
        </p:nvSpPr>
        <p:spPr>
          <a:xfrm>
            <a:off x="58521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Nightly radiance; quality flag 0–1, clear sky, no snow</a:t>
            </a:r>
            <a:endParaRPr lang="en-US" sz="950" dirty="0"/>
          </a:p>
        </p:txBody>
      </p:sp>
      <p:sp>
        <p:nvSpPr>
          <p:cNvPr id="34" name="Text 28"/>
          <p:cNvSpPr txBox="1"/>
          <p:nvPr/>
        </p:nvSpPr>
        <p:spPr>
          <a:xfrm>
            <a:off x="58521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S4 daily index around events</a:t>
            </a:r>
            <a:endParaRPr lang="en-US" sz="950" dirty="0"/>
          </a:p>
        </p:txBody>
      </p:sp>
      <p:sp>
        <p:nvSpPr>
          <p:cNvPr id="35" name="Shape 29"/>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6" name="Shape 30"/>
          <p:cNvSpPr/>
          <p:nvPr/>
        </p:nvSpPr>
        <p:spPr>
          <a:xfrm>
            <a:off x="4791456" y="3054096"/>
            <a:ext cx="457200" cy="457200"/>
          </a:xfrm>
          <a:prstGeom prst="ellipse">
            <a:avLst/>
          </a:prstGeom>
          <a:solidFill>
            <a:srgbClr val="00A86A">
              <a:alpha val="22000"/>
            </a:srgbClr>
          </a:solidFill>
          <a:ln w="12700">
            <a:solidFill>
              <a:srgbClr val="00A86A">
                <a:alpha val="0"/>
              </a:srgbClr>
            </a:solidFill>
            <a:prstDash val="solid"/>
          </a:ln>
        </p:spPr>
      </p:sp>
      <p:pic>
        <p:nvPicPr>
          <p:cNvPr id="37"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8" name="Text 31"/>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DMSP-OLS · harmonised</a:t>
            </a:r>
            <a:endParaRPr lang="en-US" sz="1200" dirty="0"/>
          </a:p>
        </p:txBody>
      </p:sp>
      <p:sp>
        <p:nvSpPr>
          <p:cNvPr id="39" name="Text 32"/>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NOAA/DMSP-OLS · sat-io Harmonized_NTL</a:t>
            </a:r>
            <a:endParaRPr lang="en-US" sz="850" dirty="0"/>
          </a:p>
        </p:txBody>
      </p:sp>
      <p:sp>
        <p:nvSpPr>
          <p:cNvPr id="40" name="Text 33"/>
          <p:cNvSpPr txBox="1"/>
          <p:nvPr/>
        </p:nvSpPr>
        <p:spPr>
          <a:xfrm>
            <a:off x="4791456" y="3584448"/>
            <a:ext cx="3749040" cy="201168"/>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1992–2013 (+ DMSP-like VIIRS) · ~1 km · DN 0–63</a:t>
            </a:r>
            <a:endParaRPr lang="en-US" sz="950" dirty="0"/>
          </a:p>
        </p:txBody>
      </p:sp>
      <p:sp>
        <p:nvSpPr>
          <p:cNvPr id="41" name="Text 34"/>
          <p:cNvSpPr txBox="1"/>
          <p:nvPr/>
        </p:nvSpPr>
        <p:spPr>
          <a:xfrm>
            <a:off x="4791456" y="3794760"/>
            <a:ext cx="374904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Digital numbers, saturate at 63 in city centres; DN &gt; 7 kept</a:t>
            </a:r>
            <a:endParaRPr lang="en-US" sz="950" dirty="0"/>
          </a:p>
        </p:txBody>
      </p:sp>
      <p:sp>
        <p:nvSpPr>
          <p:cNvPr id="42" name="Text 35"/>
          <p:cNvSpPr txBox="1"/>
          <p:nvPr/>
        </p:nvSpPr>
        <p:spPr>
          <a:xfrm>
            <a:off x="4791456" y="4069080"/>
            <a:ext cx="3749040" cy="256032"/>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S1 long series, S3 long-run elasticity</a:t>
            </a:r>
            <a:endParaRPr lang="en-US" sz="950" dirty="0"/>
          </a:p>
        </p:txBody>
      </p:sp>
      <p:sp>
        <p:nvSpPr>
          <p:cNvPr id="43" name="Text 36"/>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Elvidge et al. (2017, 2021); Román et al. (2018); Li et al. (2020) · IDs checked in the Earth Engine catalogue at each run</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(2/3)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Who lives there, and what is built there?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8229600" cy="566928"/>
          </a:xfrm>
          <a:prstGeom prst="roundRect">
            <a:avLst>
              <a:gd name="adj" fmla="val 9677"/>
            </a:avLst>
          </a:prstGeom>
          <a:solidFill>
            <a:srgbClr val="F4F7F5"/>
          </a:solidFill>
          <a:ln w="9525">
            <a:solidFill>
              <a:srgbClr val="D5DED9"/>
            </a:solidFill>
            <a:prstDash val="solid"/>
          </a:ln>
        </p:spPr>
      </p:sp>
      <p:sp>
        <p:nvSpPr>
          <p:cNvPr id="12" name="Shape 9"/>
          <p:cNvSpPr/>
          <p:nvPr/>
        </p:nvSpPr>
        <p:spPr>
          <a:xfrm>
            <a:off x="566928" y="1417320"/>
            <a:ext cx="384048" cy="384048"/>
          </a:xfrm>
          <a:prstGeom prst="ellipse">
            <a:avLst/>
          </a:prstGeom>
          <a:solidFill>
            <a:srgbClr val="0E7C86">
              <a:alpha val="22000"/>
            </a:srgbClr>
          </a:solidFill>
          <a:ln w="12700">
            <a:solidFill>
              <a:srgbClr val="0E7C86">
                <a:alpha val="0"/>
              </a:srgbClr>
            </a:solidFill>
            <a:prstDash val="solid"/>
          </a:ln>
        </p:spPr>
      </p:sp>
      <p:pic>
        <p:nvPicPr>
          <p:cNvPr id="13" name="Image 0" descr="preencoded.png">    </p:cNvPr>
          <p:cNvPicPr>
            <a:picLocks noChangeAspect="1"/>
          </p:cNvPicPr>
          <p:nvPr/>
        </p:nvPicPr>
        <p:blipFill>
          <a:blip r:embed="rId1"/>
          <a:stretch>
            <a:fillRect/>
          </a:stretch>
        </p:blipFill>
        <p:spPr>
          <a:xfrm>
            <a:off x="659100" y="1509492"/>
            <a:ext cx="199705" cy="199705"/>
          </a:xfrm>
          <a:prstGeom prst="rect">
            <a:avLst/>
          </a:prstGeom>
        </p:spPr>
      </p:pic>
      <p:sp>
        <p:nvSpPr>
          <p:cNvPr id="14" name="Text 10"/>
          <p:cNvSpPr txBox="1"/>
          <p:nvPr/>
        </p:nvSpPr>
        <p:spPr>
          <a:xfrm>
            <a:off x="1051560" y="138074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GHS-POP R2023A</a:t>
            </a:r>
            <a:endParaRPr lang="en-US" sz="1150" dirty="0"/>
          </a:p>
        </p:txBody>
      </p:sp>
      <p:sp>
        <p:nvSpPr>
          <p:cNvPr id="15" name="Text 11"/>
          <p:cNvSpPr txBox="1"/>
          <p:nvPr/>
        </p:nvSpPr>
        <p:spPr>
          <a:xfrm>
            <a:off x="1051560" y="162763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JRC/GHSL/P2023A/GHS_POP</a:t>
            </a:r>
            <a:endParaRPr lang="en-US" sz="800" dirty="0"/>
          </a:p>
        </p:txBody>
      </p:sp>
      <p:sp>
        <p:nvSpPr>
          <p:cNvPr id="16" name="Text 12"/>
          <p:cNvSpPr txBox="1"/>
          <p:nvPr/>
        </p:nvSpPr>
        <p:spPr>
          <a:xfrm>
            <a:off x="3840480" y="138074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1975–2030, 5-year epochs · population_count</a:t>
            </a:r>
            <a:endParaRPr lang="en-US" sz="950" dirty="0"/>
          </a:p>
        </p:txBody>
      </p:sp>
      <p:sp>
        <p:nvSpPr>
          <p:cNvPr id="17" name="Text 13"/>
          <p:cNvSpPr txBox="1"/>
          <p:nvPr/>
        </p:nvSpPr>
        <p:spPr>
          <a:xfrm>
            <a:off x="3840480" y="160020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Per-capita light (S2, S5), inhabited pixels ≥ 5 people, population in the dark, flare test</a:t>
            </a:r>
            <a:endParaRPr lang="en-US" sz="950" dirty="0"/>
          </a:p>
        </p:txBody>
      </p:sp>
      <p:sp>
        <p:nvSpPr>
          <p:cNvPr id="18" name="Shape 14"/>
          <p:cNvSpPr/>
          <p:nvPr/>
        </p:nvSpPr>
        <p:spPr>
          <a:xfrm>
            <a:off x="457200" y="1965960"/>
            <a:ext cx="8229600" cy="566928"/>
          </a:xfrm>
          <a:prstGeom prst="roundRect">
            <a:avLst>
              <a:gd name="adj" fmla="val 9677"/>
            </a:avLst>
          </a:prstGeom>
          <a:solidFill>
            <a:srgbClr val="F4F7F5"/>
          </a:solidFill>
          <a:ln w="9525">
            <a:solidFill>
              <a:srgbClr val="D5DED9"/>
            </a:solidFill>
            <a:prstDash val="solid"/>
          </a:ln>
        </p:spPr>
      </p:sp>
      <p:sp>
        <p:nvSpPr>
          <p:cNvPr id="19" name="Shape 15"/>
          <p:cNvSpPr/>
          <p:nvPr/>
        </p:nvSpPr>
        <p:spPr>
          <a:xfrm>
            <a:off x="566928" y="2057400"/>
            <a:ext cx="384048" cy="384048"/>
          </a:xfrm>
          <a:prstGeom prst="ellipse">
            <a:avLst/>
          </a:prstGeom>
          <a:solidFill>
            <a:srgbClr val="0E7C86">
              <a:alpha val="22000"/>
            </a:srgbClr>
          </a:solidFill>
          <a:ln w="12700">
            <a:solidFill>
              <a:srgbClr val="0E7C86">
                <a:alpha val="0"/>
              </a:srgbClr>
            </a:solidFill>
            <a:prstDash val="solid"/>
          </a:ln>
        </p:spPr>
      </p:sp>
      <p:pic>
        <p:nvPicPr>
          <p:cNvPr id="20" name="Image 1" descr="preencoded.png">    </p:cNvPr>
          <p:cNvPicPr>
            <a:picLocks noChangeAspect="1"/>
          </p:cNvPicPr>
          <p:nvPr/>
        </p:nvPicPr>
        <p:blipFill>
          <a:blip r:embed="rId2"/>
          <a:stretch>
            <a:fillRect/>
          </a:stretch>
        </p:blipFill>
        <p:spPr>
          <a:xfrm>
            <a:off x="659100" y="2149572"/>
            <a:ext cx="199705" cy="199705"/>
          </a:xfrm>
          <a:prstGeom prst="rect">
            <a:avLst/>
          </a:prstGeom>
        </p:spPr>
      </p:pic>
      <p:sp>
        <p:nvSpPr>
          <p:cNvPr id="21" name="Text 16"/>
          <p:cNvSpPr txBox="1"/>
          <p:nvPr/>
        </p:nvSpPr>
        <p:spPr>
          <a:xfrm>
            <a:off x="1051560" y="202082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WorldPop</a:t>
            </a:r>
            <a:endParaRPr lang="en-US" sz="1150" dirty="0"/>
          </a:p>
        </p:txBody>
      </p:sp>
      <p:sp>
        <p:nvSpPr>
          <p:cNvPr id="22" name="Text 17"/>
          <p:cNvSpPr txBox="1"/>
          <p:nvPr/>
        </p:nvSpPr>
        <p:spPr>
          <a:xfrm>
            <a:off x="1051560" y="226771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WorldPop/GP/100m/pop</a:t>
            </a:r>
            <a:endParaRPr lang="en-US" sz="800" dirty="0"/>
          </a:p>
        </p:txBody>
      </p:sp>
      <p:sp>
        <p:nvSpPr>
          <p:cNvPr id="23" name="Text 18"/>
          <p:cNvSpPr txBox="1"/>
          <p:nvPr/>
        </p:nvSpPr>
        <p:spPr>
          <a:xfrm>
            <a:off x="3840480" y="202082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 2000–2020 · population</a:t>
            </a:r>
            <a:endParaRPr lang="en-US" sz="950" dirty="0"/>
          </a:p>
        </p:txBody>
      </p:sp>
      <p:sp>
        <p:nvSpPr>
          <p:cNvPr id="24" name="Text 19"/>
          <p:cNvSpPr txBox="1"/>
          <p:nvPr/>
        </p:nvSpPr>
        <p:spPr>
          <a:xfrm>
            <a:off x="3840480" y="224028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Alternative population source (pop_source = "worldpop")</a:t>
            </a:r>
            <a:endParaRPr lang="en-US" sz="950" dirty="0"/>
          </a:p>
        </p:txBody>
      </p:sp>
      <p:sp>
        <p:nvSpPr>
          <p:cNvPr id="25" name="Shape 20"/>
          <p:cNvSpPr/>
          <p:nvPr/>
        </p:nvSpPr>
        <p:spPr>
          <a:xfrm>
            <a:off x="457200" y="2606040"/>
            <a:ext cx="8229600" cy="566928"/>
          </a:xfrm>
          <a:prstGeom prst="roundRect">
            <a:avLst>
              <a:gd name="adj" fmla="val 9677"/>
            </a:avLst>
          </a:prstGeom>
          <a:solidFill>
            <a:srgbClr val="F4F7F5"/>
          </a:solidFill>
          <a:ln w="9525">
            <a:solidFill>
              <a:srgbClr val="D5DED9"/>
            </a:solidFill>
            <a:prstDash val="solid"/>
          </a:ln>
        </p:spPr>
      </p:sp>
      <p:sp>
        <p:nvSpPr>
          <p:cNvPr id="26" name="Shape 21"/>
          <p:cNvSpPr/>
          <p:nvPr/>
        </p:nvSpPr>
        <p:spPr>
          <a:xfrm>
            <a:off x="566928" y="2697480"/>
            <a:ext cx="384048" cy="384048"/>
          </a:xfrm>
          <a:prstGeom prst="ellipse">
            <a:avLst/>
          </a:prstGeom>
          <a:solidFill>
            <a:srgbClr val="0E7C86">
              <a:alpha val="22000"/>
            </a:srgbClr>
          </a:solidFill>
          <a:ln w="12700">
            <a:solidFill>
              <a:srgbClr val="0E7C86">
                <a:alpha val="0"/>
              </a:srgbClr>
            </a:solidFill>
            <a:prstDash val="solid"/>
          </a:ln>
        </p:spPr>
      </p:sp>
      <p:pic>
        <p:nvPicPr>
          <p:cNvPr id="27" name="Image 2" descr="preencoded.png">    </p:cNvPr>
          <p:cNvPicPr>
            <a:picLocks noChangeAspect="1"/>
          </p:cNvPicPr>
          <p:nvPr/>
        </p:nvPicPr>
        <p:blipFill>
          <a:blip r:embed="rId3"/>
          <a:stretch>
            <a:fillRect/>
          </a:stretch>
        </p:blipFill>
        <p:spPr>
          <a:xfrm>
            <a:off x="659100" y="2789652"/>
            <a:ext cx="199705" cy="199705"/>
          </a:xfrm>
          <a:prstGeom prst="rect">
            <a:avLst/>
          </a:prstGeom>
        </p:spPr>
      </p:pic>
      <p:sp>
        <p:nvSpPr>
          <p:cNvPr id="28" name="Text 22"/>
          <p:cNvSpPr txBox="1"/>
          <p:nvPr/>
        </p:nvSpPr>
        <p:spPr>
          <a:xfrm>
            <a:off x="1051560" y="266090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GHS-SMOD R2023A</a:t>
            </a:r>
            <a:endParaRPr lang="en-US" sz="1150" dirty="0"/>
          </a:p>
        </p:txBody>
      </p:sp>
      <p:sp>
        <p:nvSpPr>
          <p:cNvPr id="29" name="Text 23"/>
          <p:cNvSpPr txBox="1"/>
          <p:nvPr/>
        </p:nvSpPr>
        <p:spPr>
          <a:xfrm>
            <a:off x="1051560" y="290779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JRC/GHSL/P2023A/GHS_SMOD_V2-0</a:t>
            </a:r>
            <a:endParaRPr lang="en-US" sz="800" dirty="0"/>
          </a:p>
        </p:txBody>
      </p:sp>
      <p:sp>
        <p:nvSpPr>
          <p:cNvPr id="30" name="Text 24"/>
          <p:cNvSpPr txBox="1"/>
          <p:nvPr/>
        </p:nvSpPr>
        <p:spPr>
          <a:xfrm>
            <a:off x="3840480" y="266090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 km · 5-year epochs · smod_code (degree of urbanisation)</a:t>
            </a:r>
            <a:endParaRPr lang="en-US" sz="950" dirty="0"/>
          </a:p>
        </p:txBody>
      </p:sp>
      <p:sp>
        <p:nvSpPr>
          <p:cNvPr id="31" name="Text 25"/>
          <p:cNvSpPr txBox="1"/>
          <p:nvPr/>
        </p:nvSpPr>
        <p:spPr>
          <a:xfrm>
            <a:off x="3840480" y="288036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Urban if code ≥ 21 → urban / rural split of light and of the population in the dark (S5)</a:t>
            </a:r>
            <a:endParaRPr lang="en-US" sz="950" dirty="0"/>
          </a:p>
        </p:txBody>
      </p:sp>
      <p:sp>
        <p:nvSpPr>
          <p:cNvPr id="32" name="Shape 26"/>
          <p:cNvSpPr/>
          <p:nvPr/>
        </p:nvSpPr>
        <p:spPr>
          <a:xfrm>
            <a:off x="457200" y="3246120"/>
            <a:ext cx="8229600" cy="566928"/>
          </a:xfrm>
          <a:prstGeom prst="roundRect">
            <a:avLst>
              <a:gd name="adj" fmla="val 9677"/>
            </a:avLst>
          </a:prstGeom>
          <a:solidFill>
            <a:srgbClr val="F4F7F5"/>
          </a:solidFill>
          <a:ln w="9525">
            <a:solidFill>
              <a:srgbClr val="D5DED9"/>
            </a:solidFill>
            <a:prstDash val="solid"/>
          </a:ln>
        </p:spPr>
      </p:sp>
      <p:sp>
        <p:nvSpPr>
          <p:cNvPr id="33" name="Shape 27"/>
          <p:cNvSpPr/>
          <p:nvPr/>
        </p:nvSpPr>
        <p:spPr>
          <a:xfrm>
            <a:off x="566928" y="3337560"/>
            <a:ext cx="384048" cy="384048"/>
          </a:xfrm>
          <a:prstGeom prst="ellipse">
            <a:avLst/>
          </a:prstGeom>
          <a:solidFill>
            <a:srgbClr val="0E7C86">
              <a:alpha val="22000"/>
            </a:srgbClr>
          </a:solidFill>
          <a:ln w="12700">
            <a:solidFill>
              <a:srgbClr val="0E7C86">
                <a:alpha val="0"/>
              </a:srgbClr>
            </a:solidFill>
            <a:prstDash val="solid"/>
          </a:ln>
        </p:spPr>
      </p:sp>
      <p:pic>
        <p:nvPicPr>
          <p:cNvPr id="34" name="Image 3" descr="preencoded.png">    </p:cNvPr>
          <p:cNvPicPr>
            <a:picLocks noChangeAspect="1"/>
          </p:cNvPicPr>
          <p:nvPr/>
        </p:nvPicPr>
        <p:blipFill>
          <a:blip r:embed="rId4"/>
          <a:stretch>
            <a:fillRect/>
          </a:stretch>
        </p:blipFill>
        <p:spPr>
          <a:xfrm>
            <a:off x="659100" y="3429732"/>
            <a:ext cx="199705" cy="199705"/>
          </a:xfrm>
          <a:prstGeom prst="rect">
            <a:avLst/>
          </a:prstGeom>
        </p:spPr>
      </p:pic>
      <p:sp>
        <p:nvSpPr>
          <p:cNvPr id="35" name="Text 28"/>
          <p:cNvSpPr txBox="1"/>
          <p:nvPr/>
        </p:nvSpPr>
        <p:spPr>
          <a:xfrm>
            <a:off x="1051560" y="330098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GHSL GHS-BUILT-S R2023A</a:t>
            </a:r>
            <a:endParaRPr lang="en-US" sz="1150" dirty="0"/>
          </a:p>
        </p:txBody>
      </p:sp>
      <p:sp>
        <p:nvSpPr>
          <p:cNvPr id="36" name="Text 29"/>
          <p:cNvSpPr txBox="1"/>
          <p:nvPr/>
        </p:nvSpPr>
        <p:spPr>
          <a:xfrm>
            <a:off x="1051560" y="354787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JRC/GHSL/P2023A/GHS_BUILT_S</a:t>
            </a:r>
            <a:endParaRPr lang="en-US" sz="800" dirty="0"/>
          </a:p>
        </p:txBody>
      </p:sp>
      <p:sp>
        <p:nvSpPr>
          <p:cNvPr id="37" name="Text 30"/>
          <p:cNvSpPr txBox="1"/>
          <p:nvPr/>
        </p:nvSpPr>
        <p:spPr>
          <a:xfrm>
            <a:off x="3840480" y="330098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100 m (from 10 m) · built_surface, built_surface_nres</a:t>
            </a:r>
            <a:endParaRPr lang="en-US" sz="950" dirty="0"/>
          </a:p>
        </p:txBody>
      </p:sp>
      <p:sp>
        <p:nvSpPr>
          <p:cNvPr id="38" name="Text 31"/>
          <p:cNvSpPr txBox="1"/>
          <p:nvPr/>
        </p:nvSpPr>
        <p:spPr>
          <a:xfrm>
            <a:off x="3840480" y="352044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Non-residential share for the industrial score (S6); “not built-up” test for gas flares</a:t>
            </a:r>
            <a:endParaRPr lang="en-US" sz="950" dirty="0"/>
          </a:p>
        </p:txBody>
      </p:sp>
      <p:sp>
        <p:nvSpPr>
          <p:cNvPr id="39" name="Shape 32"/>
          <p:cNvSpPr/>
          <p:nvPr/>
        </p:nvSpPr>
        <p:spPr>
          <a:xfrm>
            <a:off x="457200" y="3886200"/>
            <a:ext cx="8229600" cy="566928"/>
          </a:xfrm>
          <a:prstGeom prst="roundRect">
            <a:avLst>
              <a:gd name="adj" fmla="val 9677"/>
            </a:avLst>
          </a:prstGeom>
          <a:solidFill>
            <a:srgbClr val="FFFFFF"/>
          </a:solidFill>
          <a:ln w="9525">
            <a:solidFill>
              <a:srgbClr val="D5DED9"/>
            </a:solidFill>
            <a:prstDash val="dash"/>
          </a:ln>
        </p:spPr>
      </p:sp>
      <p:sp>
        <p:nvSpPr>
          <p:cNvPr id="40" name="Shape 33"/>
          <p:cNvSpPr/>
          <p:nvPr/>
        </p:nvSpPr>
        <p:spPr>
          <a:xfrm>
            <a:off x="566928" y="3977640"/>
            <a:ext cx="384048" cy="384048"/>
          </a:xfrm>
          <a:prstGeom prst="ellipse">
            <a:avLst/>
          </a:prstGeom>
          <a:solidFill>
            <a:srgbClr val="A9B5B0">
              <a:alpha val="22000"/>
            </a:srgbClr>
          </a:solidFill>
          <a:ln w="12700">
            <a:solidFill>
              <a:srgbClr val="A9B5B0">
                <a:alpha val="0"/>
              </a:srgbClr>
            </a:solidFill>
            <a:prstDash val="solid"/>
          </a:ln>
        </p:spPr>
      </p:sp>
      <p:pic>
        <p:nvPicPr>
          <p:cNvPr id="41" name="Image 4" descr="preencoded.png">    </p:cNvPr>
          <p:cNvPicPr>
            <a:picLocks noChangeAspect="1"/>
          </p:cNvPicPr>
          <p:nvPr/>
        </p:nvPicPr>
        <p:blipFill>
          <a:blip r:embed="rId5"/>
          <a:stretch>
            <a:fillRect/>
          </a:stretch>
        </p:blipFill>
        <p:spPr>
          <a:xfrm>
            <a:off x="659100" y="4069812"/>
            <a:ext cx="199705" cy="199705"/>
          </a:xfrm>
          <a:prstGeom prst="rect">
            <a:avLst/>
          </a:prstGeom>
        </p:spPr>
      </p:pic>
      <p:sp>
        <p:nvSpPr>
          <p:cNvPr id="42" name="Text 34"/>
          <p:cNvSpPr txBox="1"/>
          <p:nvPr/>
        </p:nvSpPr>
        <p:spPr>
          <a:xfrm>
            <a:off x="1051560" y="3941064"/>
            <a:ext cx="2743200" cy="237744"/>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ESA WorldCover v200</a:t>
            </a:r>
            <a:endParaRPr lang="en-US" sz="1150" dirty="0"/>
          </a:p>
        </p:txBody>
      </p:sp>
      <p:sp>
        <p:nvSpPr>
          <p:cNvPr id="43" name="Text 35"/>
          <p:cNvSpPr txBox="1"/>
          <p:nvPr/>
        </p:nvSpPr>
        <p:spPr>
          <a:xfrm>
            <a:off x="1051560" y="4187952"/>
            <a:ext cx="2743200" cy="201168"/>
          </a:xfrm>
          <a:prstGeom prst="rect">
            <a:avLst/>
          </a:prstGeom>
          <a:noFill/>
          <a:ln/>
        </p:spPr>
        <p:txBody>
          <a:bodyPr wrap="square" lIns="0" tIns="0" rIns="0" bIns="0" rtlCol="0" anchor="t"/>
          <a:lstStyle/>
          <a:p>
            <a:pPr indent="0" marL="0">
              <a:buNone/>
            </a:pPr>
            <a:r>
              <a:rPr lang="en-US" sz="800" dirty="0">
                <a:solidFill>
                  <a:srgbClr val="00704A"/>
                </a:solidFill>
                <a:latin typeface="Courier New" pitchFamily="34" charset="0"/>
                <a:ea typeface="Courier New" pitchFamily="34" charset="-122"/>
                <a:cs typeface="Courier New" pitchFamily="34" charset="-120"/>
              </a:rPr>
              <a:t>ESA/WorldCover/v200</a:t>
            </a:r>
            <a:endParaRPr lang="en-US" sz="800" dirty="0"/>
          </a:p>
        </p:txBody>
      </p:sp>
      <p:sp>
        <p:nvSpPr>
          <p:cNvPr id="44" name="Text 36"/>
          <p:cNvSpPr txBox="1"/>
          <p:nvPr/>
        </p:nvSpPr>
        <p:spPr>
          <a:xfrm>
            <a:off x="3840480" y="3941064"/>
            <a:ext cx="4754880" cy="219456"/>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10 m · 2021 · 11 land-cover classes</a:t>
            </a:r>
            <a:endParaRPr lang="en-US" sz="950" dirty="0"/>
          </a:p>
        </p:txBody>
      </p:sp>
      <p:sp>
        <p:nvSpPr>
          <p:cNvPr id="45" name="Text 37"/>
          <p:cNvSpPr txBox="1"/>
          <p:nvPr/>
        </p:nvSpPr>
        <p:spPr>
          <a:xfrm>
            <a:off x="3840480" y="4160520"/>
            <a:ext cx="4754880" cy="274320"/>
          </a:xfrm>
          <a:prstGeom prst="rect">
            <a:avLst/>
          </a:prstGeom>
          <a:noFill/>
          <a:ln/>
        </p:spPr>
        <p:txBody>
          <a:bodyPr wrap="square" lIns="0" tIns="0" rIns="0" bIns="0" rtlCol="0" anchor="t"/>
          <a:lstStyle/>
          <a:p>
            <a:pPr indent="0" marL="0">
              <a:buNone/>
            </a:pPr>
            <a:r>
              <a:rPr lang="en-US" sz="950" dirty="0">
                <a:solidFill>
                  <a:srgbClr val="231F20"/>
                </a:solidFill>
                <a:latin typeface="Calibri" pitchFamily="34" charset="0"/>
                <a:ea typeface="Calibri" pitchFamily="34" charset="-122"/>
                <a:cs typeface="Calibri" pitchFamily="34" charset="-120"/>
              </a:rPr>
              <a:t>Optional: tree, crop, built, bare, water shares per unit — not used in the default run</a:t>
            </a:r>
            <a:endParaRPr lang="en-US" sz="950" dirty="0"/>
          </a:p>
        </p:txBody>
      </p:sp>
      <p:sp>
        <p:nvSpPr>
          <p:cNvPr id="46" name="Text 38"/>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Schiavina et al. (2023); Pesaresi et al. (2023), JRC GHSL R2023A; WorldPop (2018); Zanaga et al. (2022)</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(3/3)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Boundaries, official statistics and validation data</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4023360" cy="1463040"/>
          </a:xfrm>
          <a:prstGeom prst="roundRect">
            <a:avLst>
              <a:gd name="adj" fmla="val 5000"/>
            </a:avLst>
          </a:prstGeom>
          <a:solidFill>
            <a:srgbClr val="F4F7F5"/>
          </a:solidFill>
          <a:ln w="9525">
            <a:solidFill>
              <a:srgbClr val="D5DED9"/>
            </a:solidFill>
            <a:prstDash val="solid"/>
          </a:ln>
        </p:spPr>
      </p:sp>
      <p:sp>
        <p:nvSpPr>
          <p:cNvPr id="12" name="Shape 9"/>
          <p:cNvSpPr/>
          <p:nvPr/>
        </p:nvSpPr>
        <p:spPr>
          <a:xfrm>
            <a:off x="585216" y="1453896"/>
            <a:ext cx="457200" cy="45720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563624"/>
            <a:ext cx="237744" cy="237744"/>
          </a:xfrm>
          <a:prstGeom prst="rect">
            <a:avLst/>
          </a:prstGeom>
        </p:spPr>
      </p:pic>
      <p:sp>
        <p:nvSpPr>
          <p:cNvPr id="14" name="Text 10"/>
          <p:cNvSpPr txBox="1"/>
          <p:nvPr/>
        </p:nvSpPr>
        <p:spPr>
          <a:xfrm>
            <a:off x="114300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Sentinel-5P TROPOMI NO₂</a:t>
            </a:r>
            <a:endParaRPr lang="en-US" sz="1200" dirty="0"/>
          </a:p>
        </p:txBody>
      </p:sp>
      <p:sp>
        <p:nvSpPr>
          <p:cNvPr id="15" name="Text 11"/>
          <p:cNvSpPr txBox="1"/>
          <p:nvPr/>
        </p:nvSpPr>
        <p:spPr>
          <a:xfrm>
            <a:off x="114300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COPERNICUS/S5P/OFFL/L3_NO2</a:t>
            </a:r>
            <a:endParaRPr lang="en-US" sz="850" dirty="0"/>
          </a:p>
        </p:txBody>
      </p:sp>
      <p:sp>
        <p:nvSpPr>
          <p:cNvPr id="16" name="Text 12"/>
          <p:cNvSpPr txBox="1"/>
          <p:nvPr/>
        </p:nvSpPr>
        <p:spPr>
          <a:xfrm>
            <a:off x="58521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2018-07 → · ~1.1 km grid · tropospheric column (mol/m²)</a:t>
            </a:r>
            <a:endParaRPr lang="en-US" sz="950" dirty="0"/>
          </a:p>
        </p:txBody>
      </p:sp>
      <p:sp>
        <p:nvSpPr>
          <p:cNvPr id="17" name="Text 13"/>
          <p:cNvSpPr txBox="1"/>
          <p:nvPr/>
        </p:nvSpPr>
        <p:spPr>
          <a:xfrm>
            <a:off x="58521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Annual mean per unit; Spearman ρ with light (S2); 20 % of the industrial score (S6)</a:t>
            </a:r>
            <a:endParaRPr lang="en-US" sz="950" dirty="0"/>
          </a:p>
        </p:txBody>
      </p:sp>
      <p:sp>
        <p:nvSpPr>
          <p:cNvPr id="18" name="Shape 14"/>
          <p:cNvSpPr/>
          <p:nvPr/>
        </p:nvSpPr>
        <p:spPr>
          <a:xfrm>
            <a:off x="4663440" y="1325880"/>
            <a:ext cx="4023360" cy="1463040"/>
          </a:xfrm>
          <a:prstGeom prst="roundRect">
            <a:avLst>
              <a:gd name="adj" fmla="val 5000"/>
            </a:avLst>
          </a:prstGeom>
          <a:solidFill>
            <a:srgbClr val="F4F7F5"/>
          </a:solidFill>
          <a:ln w="9525">
            <a:solidFill>
              <a:srgbClr val="D5DED9"/>
            </a:solidFill>
            <a:prstDash val="solid"/>
          </a:ln>
        </p:spPr>
      </p:sp>
      <p:sp>
        <p:nvSpPr>
          <p:cNvPr id="19" name="Shape 15"/>
          <p:cNvSpPr/>
          <p:nvPr/>
        </p:nvSpPr>
        <p:spPr>
          <a:xfrm>
            <a:off x="4791456" y="1453896"/>
            <a:ext cx="457200" cy="457200"/>
          </a:xfrm>
          <a:prstGeom prst="ellipse">
            <a:avLst/>
          </a:prstGeom>
          <a:solidFill>
            <a:srgbClr val="C4621D">
              <a:alpha val="22000"/>
            </a:srgbClr>
          </a:solidFill>
          <a:ln w="12700">
            <a:solidFill>
              <a:srgbClr val="C4621D">
                <a:alpha val="0"/>
              </a:srgbClr>
            </a:solidFill>
            <a:prstDash val="solid"/>
          </a:ln>
        </p:spPr>
      </p:sp>
      <p:pic>
        <p:nvPicPr>
          <p:cNvPr id="20" name="Image 1" descr="preencoded.png">    </p:cNvPr>
          <p:cNvPicPr>
            <a:picLocks noChangeAspect="1"/>
          </p:cNvPicPr>
          <p:nvPr/>
        </p:nvPicPr>
        <p:blipFill>
          <a:blip r:embed="rId2"/>
          <a:stretch>
            <a:fillRect/>
          </a:stretch>
        </p:blipFill>
        <p:spPr>
          <a:xfrm>
            <a:off x="4901184" y="1563624"/>
            <a:ext cx="237744" cy="237744"/>
          </a:xfrm>
          <a:prstGeom prst="rect">
            <a:avLst/>
          </a:prstGeom>
        </p:spPr>
      </p:pic>
      <p:sp>
        <p:nvSpPr>
          <p:cNvPr id="21" name="Text 16"/>
          <p:cNvSpPr txBox="1"/>
          <p:nvPr/>
        </p:nvSpPr>
        <p:spPr>
          <a:xfrm>
            <a:off x="5349240" y="14173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geoBoundaries CGAZ · FAO GAUL</a:t>
            </a:r>
            <a:endParaRPr lang="en-US" sz="1200" dirty="0"/>
          </a:p>
        </p:txBody>
      </p:sp>
      <p:sp>
        <p:nvSpPr>
          <p:cNvPr id="22" name="Text 17"/>
          <p:cNvSpPr txBox="1"/>
          <p:nvPr/>
        </p:nvSpPr>
        <p:spPr>
          <a:xfrm>
            <a:off x="5349240" y="16733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WM/geoLab/geoBoundaries/600 · FAO/GAUL/2025</a:t>
            </a:r>
            <a:endParaRPr lang="en-US" sz="850" dirty="0"/>
          </a:p>
        </p:txBody>
      </p:sp>
      <p:sp>
        <p:nvSpPr>
          <p:cNvPr id="23" name="Text 18"/>
          <p:cNvSpPr txBox="1"/>
          <p:nvPr/>
        </p:nvSpPr>
        <p:spPr>
          <a:xfrm>
            <a:off x="4791456" y="20116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ADM0 country · ADM1 regions · ADM2 districts</a:t>
            </a:r>
            <a:endParaRPr lang="en-US" sz="950" dirty="0"/>
          </a:p>
        </p:txBody>
      </p:sp>
      <p:sp>
        <p:nvSpPr>
          <p:cNvPr id="24" name="Text 19"/>
          <p:cNvSpPr txBox="1"/>
          <p:nvPr/>
        </p:nvSpPr>
        <p:spPr>
          <a:xfrm>
            <a:off x="4791456" y="22585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Units over which every pixel is summed; GAUL 2025, then 2015, if geoBoundaries fails</a:t>
            </a:r>
            <a:endParaRPr lang="en-US" sz="950" dirty="0"/>
          </a:p>
        </p:txBody>
      </p:sp>
      <p:sp>
        <p:nvSpPr>
          <p:cNvPr id="25" name="Shape 20"/>
          <p:cNvSpPr/>
          <p:nvPr/>
        </p:nvSpPr>
        <p:spPr>
          <a:xfrm>
            <a:off x="457200" y="2926080"/>
            <a:ext cx="4023360" cy="1463040"/>
          </a:xfrm>
          <a:prstGeom prst="roundRect">
            <a:avLst>
              <a:gd name="adj" fmla="val 5000"/>
            </a:avLst>
          </a:prstGeom>
          <a:solidFill>
            <a:srgbClr val="F4F7F5"/>
          </a:solidFill>
          <a:ln w="9525">
            <a:solidFill>
              <a:srgbClr val="D5DED9"/>
            </a:solidFill>
            <a:prstDash val="solid"/>
          </a:ln>
        </p:spPr>
      </p:sp>
      <p:sp>
        <p:nvSpPr>
          <p:cNvPr id="26" name="Shape 21"/>
          <p:cNvSpPr/>
          <p:nvPr/>
        </p:nvSpPr>
        <p:spPr>
          <a:xfrm>
            <a:off x="585216" y="3054096"/>
            <a:ext cx="457200" cy="457200"/>
          </a:xfrm>
          <a:prstGeom prst="ellipse">
            <a:avLst/>
          </a:prstGeom>
          <a:solidFill>
            <a:srgbClr val="C4621D">
              <a:alpha val="22000"/>
            </a:srgbClr>
          </a:solidFill>
          <a:ln w="12700">
            <a:solidFill>
              <a:srgbClr val="C4621D">
                <a:alpha val="0"/>
              </a:srgbClr>
            </a:solidFill>
            <a:prstDash val="solid"/>
          </a:ln>
        </p:spPr>
      </p:sp>
      <p:pic>
        <p:nvPicPr>
          <p:cNvPr id="27" name="Image 2" descr="preencoded.png">    </p:cNvPr>
          <p:cNvPicPr>
            <a:picLocks noChangeAspect="1"/>
          </p:cNvPicPr>
          <p:nvPr/>
        </p:nvPicPr>
        <p:blipFill>
          <a:blip r:embed="rId3"/>
          <a:stretch>
            <a:fillRect/>
          </a:stretch>
        </p:blipFill>
        <p:spPr>
          <a:xfrm>
            <a:off x="694944" y="3163824"/>
            <a:ext cx="237744" cy="237744"/>
          </a:xfrm>
          <a:prstGeom prst="rect">
            <a:avLst/>
          </a:prstGeom>
        </p:spPr>
      </p:pic>
      <p:sp>
        <p:nvSpPr>
          <p:cNvPr id="28" name="Text 22"/>
          <p:cNvSpPr txBox="1"/>
          <p:nvPr/>
        </p:nvSpPr>
        <p:spPr>
          <a:xfrm>
            <a:off x="114300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World Bank WDI (API)</a:t>
            </a:r>
            <a:endParaRPr lang="en-US" sz="1200" dirty="0"/>
          </a:p>
        </p:txBody>
      </p:sp>
      <p:sp>
        <p:nvSpPr>
          <p:cNvPr id="29" name="Text 23"/>
          <p:cNvSpPr txBox="1"/>
          <p:nvPr/>
        </p:nvSpPr>
        <p:spPr>
          <a:xfrm>
            <a:off x="114300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NY.GDP.MKTP.KD · EG.ELC.ACCS.ZS · SP.POP.TOTL …</a:t>
            </a:r>
            <a:endParaRPr lang="en-US" sz="850" dirty="0"/>
          </a:p>
        </p:txBody>
      </p:sp>
      <p:sp>
        <p:nvSpPr>
          <p:cNvPr id="30" name="Text 24"/>
          <p:cNvSpPr txBox="1"/>
          <p:nvPr/>
        </p:nvSpPr>
        <p:spPr>
          <a:xfrm>
            <a:off x="58521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8 indicators · annual · national</a:t>
            </a:r>
            <a:endParaRPr lang="en-US" sz="950" dirty="0"/>
          </a:p>
        </p:txBody>
      </p:sp>
      <p:sp>
        <p:nvSpPr>
          <p:cNvPr id="31" name="Text 25"/>
          <p:cNvSpPr txBox="1"/>
          <p:nvPr/>
        </p:nvSpPr>
        <p:spPr>
          <a:xfrm>
            <a:off x="58521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Real GDP (S3), electricity access total / urban / rural (S5), population check (±30 %)</a:t>
            </a:r>
            <a:endParaRPr lang="en-US" sz="950" dirty="0"/>
          </a:p>
        </p:txBody>
      </p:sp>
      <p:sp>
        <p:nvSpPr>
          <p:cNvPr id="32" name="Shape 26"/>
          <p:cNvSpPr/>
          <p:nvPr/>
        </p:nvSpPr>
        <p:spPr>
          <a:xfrm>
            <a:off x="4663440" y="2926080"/>
            <a:ext cx="4023360" cy="1463040"/>
          </a:xfrm>
          <a:prstGeom prst="roundRect">
            <a:avLst>
              <a:gd name="adj" fmla="val 5000"/>
            </a:avLst>
          </a:prstGeom>
          <a:solidFill>
            <a:srgbClr val="F4F7F5"/>
          </a:solidFill>
          <a:ln w="9525">
            <a:solidFill>
              <a:srgbClr val="D5DED9"/>
            </a:solidFill>
            <a:prstDash val="solid"/>
          </a:ln>
        </p:spPr>
      </p:sp>
      <p:sp>
        <p:nvSpPr>
          <p:cNvPr id="33" name="Shape 27"/>
          <p:cNvSpPr/>
          <p:nvPr/>
        </p:nvSpPr>
        <p:spPr>
          <a:xfrm>
            <a:off x="4791456" y="3054096"/>
            <a:ext cx="457200" cy="457200"/>
          </a:xfrm>
          <a:prstGeom prst="ellipse">
            <a:avLst/>
          </a:prstGeom>
          <a:solidFill>
            <a:srgbClr val="C4621D">
              <a:alpha val="22000"/>
            </a:srgbClr>
          </a:solidFill>
          <a:ln w="12700">
            <a:solidFill>
              <a:srgbClr val="C4621D">
                <a:alpha val="0"/>
              </a:srgbClr>
            </a:solidFill>
            <a:prstDash val="solid"/>
          </a:ln>
        </p:spPr>
      </p:sp>
      <p:pic>
        <p:nvPicPr>
          <p:cNvPr id="34" name="Image 3" descr="preencoded.png">    </p:cNvPr>
          <p:cNvPicPr>
            <a:picLocks noChangeAspect="1"/>
          </p:cNvPicPr>
          <p:nvPr/>
        </p:nvPicPr>
        <p:blipFill>
          <a:blip r:embed="rId4"/>
          <a:stretch>
            <a:fillRect/>
          </a:stretch>
        </p:blipFill>
        <p:spPr>
          <a:xfrm>
            <a:off x="4901184" y="3163824"/>
            <a:ext cx="237744" cy="237744"/>
          </a:xfrm>
          <a:prstGeom prst="rect">
            <a:avLst/>
          </a:prstGeom>
        </p:spPr>
      </p:pic>
      <p:sp>
        <p:nvSpPr>
          <p:cNvPr id="35" name="Text 28"/>
          <p:cNvSpPr txBox="1"/>
          <p:nvPr/>
        </p:nvSpPr>
        <p:spPr>
          <a:xfrm>
            <a:off x="5349240" y="3017520"/>
            <a:ext cx="324612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OpenStreetMap (Overpass)</a:t>
            </a:r>
            <a:endParaRPr lang="en-US" sz="1200" dirty="0"/>
          </a:p>
        </p:txBody>
      </p:sp>
      <p:sp>
        <p:nvSpPr>
          <p:cNvPr id="36" name="Text 29"/>
          <p:cNvSpPr txBox="1"/>
          <p:nvPr/>
        </p:nvSpPr>
        <p:spPr>
          <a:xfrm>
            <a:off x="5349240" y="3273552"/>
            <a:ext cx="3246120" cy="201168"/>
          </a:xfrm>
          <a:prstGeom prst="rect">
            <a:avLst/>
          </a:prstGeom>
          <a:noFill/>
          <a:ln/>
        </p:spPr>
        <p:txBody>
          <a:bodyPr wrap="square" lIns="0" tIns="0" rIns="0" bIns="0" rtlCol="0" anchor="t"/>
          <a:lstStyle/>
          <a:p>
            <a:pPr indent="0" marL="0">
              <a:buNone/>
            </a:pPr>
            <a:r>
              <a:rPr lang="en-US" sz="850" dirty="0">
                <a:solidFill>
                  <a:srgbClr val="00704A"/>
                </a:solidFill>
                <a:latin typeface="Courier New" pitchFamily="34" charset="0"/>
                <a:ea typeface="Courier New" pitchFamily="34" charset="-122"/>
                <a:cs typeface="Courier New" pitchFamily="34" charset="-120"/>
              </a:rPr>
              <a:t>landuse = industrial</a:t>
            </a:r>
            <a:endParaRPr lang="en-US" sz="850" dirty="0"/>
          </a:p>
        </p:txBody>
      </p:sp>
      <p:sp>
        <p:nvSpPr>
          <p:cNvPr id="37" name="Text 30"/>
          <p:cNvSpPr txBox="1"/>
          <p:nvPr/>
        </p:nvSpPr>
        <p:spPr>
          <a:xfrm>
            <a:off x="4791456" y="3611880"/>
            <a:ext cx="3749040" cy="228600"/>
          </a:xfrm>
          <a:prstGeom prst="rect">
            <a:avLst/>
          </a:prstGeom>
          <a:noFill/>
          <a:ln/>
        </p:spPr>
        <p:txBody>
          <a:bodyPr wrap="square" lIns="0" tIns="0" rIns="0" bIns="0" rtlCol="0" anchor="t"/>
          <a:lstStyle/>
          <a:p>
            <a:pPr indent="0" marL="0">
              <a:buNone/>
            </a:pPr>
            <a:r>
              <a:rPr lang="en-US" sz="950" b="1" dirty="0">
                <a:solidFill>
                  <a:srgbClr val="5E6964"/>
                </a:solidFill>
                <a:latin typeface="Calibri" pitchFamily="34" charset="0"/>
                <a:ea typeface="Calibri" pitchFamily="34" charset="-122"/>
                <a:cs typeface="Calibri" pitchFamily="34" charset="-120"/>
              </a:rPr>
              <a:t>Volunteered polygons · completeness varies by country</a:t>
            </a:r>
            <a:endParaRPr lang="en-US" sz="950" dirty="0"/>
          </a:p>
        </p:txBody>
      </p:sp>
      <p:sp>
        <p:nvSpPr>
          <p:cNvPr id="38" name="Text 31"/>
          <p:cNvSpPr txBox="1"/>
          <p:nvPr/>
        </p:nvSpPr>
        <p:spPr>
          <a:xfrm>
            <a:off x="4791456" y="3858768"/>
            <a:ext cx="3749040" cy="457200"/>
          </a:xfrm>
          <a:prstGeom prst="rect">
            <a:avLst/>
          </a:prstGeom>
          <a:noFill/>
          <a:ln/>
        </p:spPr>
        <p:txBody>
          <a:bodyPr wrap="square" lIns="0" tIns="0" rIns="0" bIns="0" rtlCol="0" anchor="t"/>
          <a:lstStyle/>
          <a:p>
            <a:pPr indent="0" marL="0">
              <a:buNone/>
            </a:pPr>
            <a:r>
              <a:rPr lang="en-US" sz="950" b="1" dirty="0">
                <a:solidFill>
                  <a:srgbClr val="D49A00"/>
                </a:solidFill>
                <a:latin typeface="Calibri" pitchFamily="34" charset="0"/>
                <a:ea typeface="Calibri" pitchFamily="34" charset="-122"/>
                <a:cs typeface="Calibri" pitchFamily="34" charset="-120"/>
              </a:rPr>
              <a:t>Role: </a:t>
            </a:r>
            <a:pPr indent="0" marL="0">
              <a:buNone/>
            </a:pPr>
            <a:r>
              <a:rPr lang="en-US" sz="950" dirty="0">
                <a:solidFill>
                  <a:srgbClr val="231F20"/>
                </a:solidFill>
                <a:latin typeface="Calibri" pitchFamily="34" charset="0"/>
                <a:ea typeface="Calibri" pitchFamily="34" charset="-122"/>
                <a:cs typeface="Calibri" pitchFamily="34" charset="-120"/>
              </a:rPr>
              <a:t>Validation only: precision and recall of candidate zones (S6)</a:t>
            </a:r>
            <a:endParaRPr lang="en-US" sz="950" dirty="0"/>
          </a:p>
        </p:txBody>
      </p:sp>
      <p:sp>
        <p:nvSpPr>
          <p:cNvPr id="39"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Copernicus Sentinel-5P (ESA); Runfola et al. (2020); FAO GAUL 2025; World Bank WDI; © OpenStreetMap contributors (ODbL)</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DATA MAP</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Which data feeds which scenario?</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3017520" y="1325880"/>
            <a:ext cx="804672" cy="237744"/>
          </a:xfrm>
          <a:prstGeom prst="rect">
            <a:avLst/>
          </a:prstGeom>
          <a:noFill/>
          <a:ln/>
        </p:spPr>
        <p:txBody>
          <a:bodyPr wrap="square" lIns="0" tIns="0" rIns="0" bIns="0" rtlCol="0" anchor="ctr"/>
          <a:lstStyle/>
          <a:p>
            <a:pPr algn="ctr" indent="0" marL="0">
              <a:buNone/>
            </a:pPr>
            <a:r>
              <a:rPr lang="en-US" sz="1000" b="1" dirty="0">
                <a:solidFill>
                  <a:srgbClr val="00704A"/>
                </a:solidFill>
                <a:latin typeface="Calibri" pitchFamily="34" charset="0"/>
                <a:ea typeface="Calibri" pitchFamily="34" charset="-122"/>
                <a:cs typeface="Calibri" pitchFamily="34" charset="-120"/>
              </a:rPr>
              <a:t>Clean</a:t>
            </a:r>
            <a:endParaRPr lang="en-US" sz="1000" dirty="0"/>
          </a:p>
        </p:txBody>
      </p:sp>
      <p:sp>
        <p:nvSpPr>
          <p:cNvPr id="12" name="Text 9"/>
          <p:cNvSpPr txBox="1"/>
          <p:nvPr/>
        </p:nvSpPr>
        <p:spPr>
          <a:xfrm>
            <a:off x="382219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S1</a:t>
            </a:r>
            <a:endParaRPr lang="en-US" sz="1000" dirty="0"/>
          </a:p>
        </p:txBody>
      </p:sp>
      <p:sp>
        <p:nvSpPr>
          <p:cNvPr id="13" name="Text 10"/>
          <p:cNvSpPr txBox="1"/>
          <p:nvPr/>
        </p:nvSpPr>
        <p:spPr>
          <a:xfrm>
            <a:off x="4626864"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S2</a:t>
            </a:r>
            <a:endParaRPr lang="en-US" sz="1000" dirty="0"/>
          </a:p>
        </p:txBody>
      </p:sp>
      <p:sp>
        <p:nvSpPr>
          <p:cNvPr id="14" name="Text 11"/>
          <p:cNvSpPr txBox="1"/>
          <p:nvPr/>
        </p:nvSpPr>
        <p:spPr>
          <a:xfrm>
            <a:off x="5431536"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S3</a:t>
            </a:r>
            <a:endParaRPr lang="en-US" sz="1000" dirty="0"/>
          </a:p>
        </p:txBody>
      </p:sp>
      <p:sp>
        <p:nvSpPr>
          <p:cNvPr id="15" name="Text 12"/>
          <p:cNvSpPr txBox="1"/>
          <p:nvPr/>
        </p:nvSpPr>
        <p:spPr>
          <a:xfrm>
            <a:off x="6236208"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S4</a:t>
            </a:r>
            <a:endParaRPr lang="en-US" sz="1000" dirty="0"/>
          </a:p>
        </p:txBody>
      </p:sp>
      <p:sp>
        <p:nvSpPr>
          <p:cNvPr id="16" name="Text 13"/>
          <p:cNvSpPr txBox="1"/>
          <p:nvPr/>
        </p:nvSpPr>
        <p:spPr>
          <a:xfrm>
            <a:off x="7040880"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S5</a:t>
            </a:r>
            <a:endParaRPr lang="en-US" sz="1000" dirty="0"/>
          </a:p>
        </p:txBody>
      </p:sp>
      <p:sp>
        <p:nvSpPr>
          <p:cNvPr id="17" name="Text 14"/>
          <p:cNvSpPr txBox="1"/>
          <p:nvPr/>
        </p:nvSpPr>
        <p:spPr>
          <a:xfrm>
            <a:off x="7845552" y="1325880"/>
            <a:ext cx="804672" cy="237744"/>
          </a:xfrm>
          <a:prstGeom prst="rect">
            <a:avLst/>
          </a:prstGeom>
          <a:noFill/>
          <a:ln/>
        </p:spPr>
        <p:txBody>
          <a:bodyPr wrap="square" lIns="0" tIns="0" rIns="0" bIns="0" rtlCol="0" anchor="ctr"/>
          <a:lstStyle/>
          <a:p>
            <a:pPr algn="ctr" indent="0" marL="0">
              <a:buNone/>
            </a:pPr>
            <a:r>
              <a:rPr lang="en-US" sz="1000" b="1" dirty="0">
                <a:solidFill>
                  <a:srgbClr val="D49A00"/>
                </a:solidFill>
                <a:latin typeface="Calibri" pitchFamily="34" charset="0"/>
                <a:ea typeface="Calibri" pitchFamily="34" charset="-122"/>
                <a:cs typeface="Calibri" pitchFamily="34" charset="-120"/>
              </a:rPr>
              <a:t>S6</a:t>
            </a:r>
            <a:endParaRPr lang="en-US" sz="1000" dirty="0"/>
          </a:p>
        </p:txBody>
      </p:sp>
      <p:sp>
        <p:nvSpPr>
          <p:cNvPr id="18" name="Shape 15"/>
          <p:cNvSpPr/>
          <p:nvPr/>
        </p:nvSpPr>
        <p:spPr>
          <a:xfrm>
            <a:off x="457200" y="1600200"/>
            <a:ext cx="8193024" cy="265176"/>
          </a:xfrm>
          <a:prstGeom prst="rect">
            <a:avLst/>
          </a:prstGeom>
          <a:solidFill>
            <a:srgbClr val="F4F7F5"/>
          </a:solidFill>
          <a:ln w="12700">
            <a:solidFill>
              <a:srgbClr val="F4F7F5"/>
            </a:solidFill>
            <a:prstDash val="solid"/>
          </a:ln>
        </p:spPr>
      </p:sp>
      <p:sp>
        <p:nvSpPr>
          <p:cNvPr id="19" name="Text 16"/>
          <p:cNvSpPr txBox="1"/>
          <p:nvPr/>
        </p:nvSpPr>
        <p:spPr>
          <a:xfrm>
            <a:off x="548640" y="160020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monthly</a:t>
            </a:r>
            <a:endParaRPr lang="en-US" sz="1000" dirty="0"/>
          </a:p>
        </p:txBody>
      </p:sp>
      <p:sp>
        <p:nvSpPr>
          <p:cNvPr id="20" name="Shape 17"/>
          <p:cNvSpPr/>
          <p:nvPr/>
        </p:nvSpPr>
        <p:spPr>
          <a:xfrm>
            <a:off x="3351276" y="1664208"/>
            <a:ext cx="137160" cy="137160"/>
          </a:xfrm>
          <a:prstGeom prst="ellipse">
            <a:avLst/>
          </a:prstGeom>
          <a:solidFill>
            <a:srgbClr val="D49A00"/>
          </a:solidFill>
          <a:ln w="15875">
            <a:solidFill>
              <a:srgbClr val="D49A00"/>
            </a:solidFill>
            <a:prstDash val="solid"/>
          </a:ln>
        </p:spPr>
      </p:sp>
      <p:sp>
        <p:nvSpPr>
          <p:cNvPr id="21" name="Shape 18"/>
          <p:cNvSpPr/>
          <p:nvPr/>
        </p:nvSpPr>
        <p:spPr>
          <a:xfrm>
            <a:off x="4155948" y="1664208"/>
            <a:ext cx="137160" cy="137160"/>
          </a:xfrm>
          <a:prstGeom prst="ellipse">
            <a:avLst/>
          </a:prstGeom>
          <a:solidFill>
            <a:srgbClr val="D49A00"/>
          </a:solidFill>
          <a:ln w="15875">
            <a:solidFill>
              <a:srgbClr val="D49A00"/>
            </a:solidFill>
            <a:prstDash val="solid"/>
          </a:ln>
        </p:spPr>
      </p:sp>
      <p:sp>
        <p:nvSpPr>
          <p:cNvPr id="22" name="Shape 19"/>
          <p:cNvSpPr/>
          <p:nvPr/>
        </p:nvSpPr>
        <p:spPr>
          <a:xfrm>
            <a:off x="5765292" y="1664208"/>
            <a:ext cx="137160" cy="137160"/>
          </a:xfrm>
          <a:prstGeom prst="ellipse">
            <a:avLst/>
          </a:prstGeom>
          <a:solidFill>
            <a:srgbClr val="D49A00"/>
          </a:solidFill>
          <a:ln w="15875">
            <a:solidFill>
              <a:srgbClr val="D49A00"/>
            </a:solidFill>
            <a:prstDash val="solid"/>
          </a:ln>
        </p:spPr>
      </p:sp>
      <p:sp>
        <p:nvSpPr>
          <p:cNvPr id="23" name="Shape 20"/>
          <p:cNvSpPr/>
          <p:nvPr/>
        </p:nvSpPr>
        <p:spPr>
          <a:xfrm>
            <a:off x="6569964" y="1664208"/>
            <a:ext cx="137160" cy="137160"/>
          </a:xfrm>
          <a:prstGeom prst="ellipse">
            <a:avLst/>
          </a:prstGeom>
          <a:solidFill>
            <a:srgbClr val="D49A00"/>
          </a:solidFill>
          <a:ln w="15875">
            <a:solidFill>
              <a:srgbClr val="D49A00"/>
            </a:solidFill>
            <a:prstDash val="solid"/>
          </a:ln>
        </p:spPr>
      </p:sp>
      <p:sp>
        <p:nvSpPr>
          <p:cNvPr id="24" name="Text 21"/>
          <p:cNvSpPr txBox="1"/>
          <p:nvPr/>
        </p:nvSpPr>
        <p:spPr>
          <a:xfrm>
            <a:off x="548640" y="186537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VIIRS VNL annual</a:t>
            </a:r>
            <a:endParaRPr lang="en-US" sz="1000" dirty="0"/>
          </a:p>
        </p:txBody>
      </p:sp>
      <p:sp>
        <p:nvSpPr>
          <p:cNvPr id="25" name="Shape 22"/>
          <p:cNvSpPr/>
          <p:nvPr/>
        </p:nvSpPr>
        <p:spPr>
          <a:xfrm>
            <a:off x="3351276" y="1929384"/>
            <a:ext cx="137160" cy="137160"/>
          </a:xfrm>
          <a:prstGeom prst="ellipse">
            <a:avLst/>
          </a:prstGeom>
          <a:solidFill>
            <a:srgbClr val="D49A00"/>
          </a:solidFill>
          <a:ln w="15875">
            <a:solidFill>
              <a:srgbClr val="D49A00"/>
            </a:solidFill>
            <a:prstDash val="solid"/>
          </a:ln>
        </p:spPr>
      </p:sp>
      <p:sp>
        <p:nvSpPr>
          <p:cNvPr id="26" name="Shape 23"/>
          <p:cNvSpPr/>
          <p:nvPr/>
        </p:nvSpPr>
        <p:spPr>
          <a:xfrm>
            <a:off x="4155948" y="1929384"/>
            <a:ext cx="137160" cy="137160"/>
          </a:xfrm>
          <a:prstGeom prst="ellipse">
            <a:avLst/>
          </a:prstGeom>
          <a:solidFill>
            <a:srgbClr val="D49A00"/>
          </a:solidFill>
          <a:ln w="15875">
            <a:solidFill>
              <a:srgbClr val="D49A00"/>
            </a:solidFill>
            <a:prstDash val="solid"/>
          </a:ln>
        </p:spPr>
      </p:sp>
      <p:sp>
        <p:nvSpPr>
          <p:cNvPr id="27" name="Shape 24"/>
          <p:cNvSpPr/>
          <p:nvPr/>
        </p:nvSpPr>
        <p:spPr>
          <a:xfrm>
            <a:off x="4960620" y="1929384"/>
            <a:ext cx="137160" cy="137160"/>
          </a:xfrm>
          <a:prstGeom prst="ellipse">
            <a:avLst/>
          </a:prstGeom>
          <a:solidFill>
            <a:srgbClr val="D49A00"/>
          </a:solidFill>
          <a:ln w="15875">
            <a:solidFill>
              <a:srgbClr val="D49A00"/>
            </a:solidFill>
            <a:prstDash val="solid"/>
          </a:ln>
        </p:spPr>
      </p:sp>
      <p:sp>
        <p:nvSpPr>
          <p:cNvPr id="28" name="Shape 25"/>
          <p:cNvSpPr/>
          <p:nvPr/>
        </p:nvSpPr>
        <p:spPr>
          <a:xfrm>
            <a:off x="5765292" y="1929384"/>
            <a:ext cx="137160" cy="137160"/>
          </a:xfrm>
          <a:prstGeom prst="ellipse">
            <a:avLst/>
          </a:prstGeom>
          <a:solidFill>
            <a:srgbClr val="D49A00"/>
          </a:solidFill>
          <a:ln w="15875">
            <a:solidFill>
              <a:srgbClr val="D49A00"/>
            </a:solidFill>
            <a:prstDash val="solid"/>
          </a:ln>
        </p:spPr>
      </p:sp>
      <p:sp>
        <p:nvSpPr>
          <p:cNvPr id="29" name="Shape 26"/>
          <p:cNvSpPr/>
          <p:nvPr/>
        </p:nvSpPr>
        <p:spPr>
          <a:xfrm>
            <a:off x="7374636" y="1929384"/>
            <a:ext cx="137160" cy="137160"/>
          </a:xfrm>
          <a:prstGeom prst="ellipse">
            <a:avLst/>
          </a:prstGeom>
          <a:solidFill>
            <a:srgbClr val="D49A00"/>
          </a:solidFill>
          <a:ln w="15875">
            <a:solidFill>
              <a:srgbClr val="D49A00"/>
            </a:solidFill>
            <a:prstDash val="solid"/>
          </a:ln>
        </p:spPr>
      </p:sp>
      <p:sp>
        <p:nvSpPr>
          <p:cNvPr id="30" name="Shape 27"/>
          <p:cNvSpPr/>
          <p:nvPr/>
        </p:nvSpPr>
        <p:spPr>
          <a:xfrm>
            <a:off x="8179308" y="1929384"/>
            <a:ext cx="137160" cy="137160"/>
          </a:xfrm>
          <a:prstGeom prst="ellipse">
            <a:avLst/>
          </a:prstGeom>
          <a:solidFill>
            <a:srgbClr val="D49A00"/>
          </a:solidFill>
          <a:ln w="15875">
            <a:solidFill>
              <a:srgbClr val="D49A00"/>
            </a:solidFill>
            <a:prstDash val="solid"/>
          </a:ln>
        </p:spPr>
      </p:sp>
      <p:sp>
        <p:nvSpPr>
          <p:cNvPr id="31" name="Shape 28"/>
          <p:cNvSpPr/>
          <p:nvPr/>
        </p:nvSpPr>
        <p:spPr>
          <a:xfrm>
            <a:off x="457200" y="2130552"/>
            <a:ext cx="8193024" cy="265176"/>
          </a:xfrm>
          <a:prstGeom prst="rect">
            <a:avLst/>
          </a:prstGeom>
          <a:solidFill>
            <a:srgbClr val="F4F7F5"/>
          </a:solidFill>
          <a:ln w="12700">
            <a:solidFill>
              <a:srgbClr val="F4F7F5"/>
            </a:solidFill>
            <a:prstDash val="solid"/>
          </a:ln>
        </p:spPr>
      </p:sp>
      <p:sp>
        <p:nvSpPr>
          <p:cNvPr id="32" name="Text 29"/>
          <p:cNvSpPr txBox="1"/>
          <p:nvPr/>
        </p:nvSpPr>
        <p:spPr>
          <a:xfrm>
            <a:off x="548640" y="213055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Black Marble VNP46A2</a:t>
            </a:r>
            <a:endParaRPr lang="en-US" sz="1000" dirty="0"/>
          </a:p>
        </p:txBody>
      </p:sp>
      <p:sp>
        <p:nvSpPr>
          <p:cNvPr id="33" name="Shape 30"/>
          <p:cNvSpPr/>
          <p:nvPr/>
        </p:nvSpPr>
        <p:spPr>
          <a:xfrm>
            <a:off x="6569964" y="2194560"/>
            <a:ext cx="137160" cy="137160"/>
          </a:xfrm>
          <a:prstGeom prst="ellipse">
            <a:avLst/>
          </a:prstGeom>
          <a:solidFill>
            <a:srgbClr val="D49A00"/>
          </a:solidFill>
          <a:ln w="15875">
            <a:solidFill>
              <a:srgbClr val="D49A00"/>
            </a:solidFill>
            <a:prstDash val="solid"/>
          </a:ln>
        </p:spPr>
      </p:sp>
      <p:sp>
        <p:nvSpPr>
          <p:cNvPr id="34" name="Text 31"/>
          <p:cNvSpPr txBox="1"/>
          <p:nvPr/>
        </p:nvSpPr>
        <p:spPr>
          <a:xfrm>
            <a:off x="548640" y="239572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DMSP harmonised</a:t>
            </a:r>
            <a:endParaRPr lang="en-US" sz="1000" dirty="0"/>
          </a:p>
        </p:txBody>
      </p:sp>
      <p:sp>
        <p:nvSpPr>
          <p:cNvPr id="35" name="Shape 32"/>
          <p:cNvSpPr/>
          <p:nvPr/>
        </p:nvSpPr>
        <p:spPr>
          <a:xfrm>
            <a:off x="3351276" y="2459736"/>
            <a:ext cx="137160" cy="137160"/>
          </a:xfrm>
          <a:prstGeom prst="ellipse">
            <a:avLst/>
          </a:prstGeom>
          <a:solidFill>
            <a:srgbClr val="FFFFFF"/>
          </a:solidFill>
          <a:ln w="15875">
            <a:solidFill>
              <a:srgbClr val="D49A00"/>
            </a:solidFill>
            <a:prstDash val="solid"/>
          </a:ln>
        </p:spPr>
      </p:sp>
      <p:sp>
        <p:nvSpPr>
          <p:cNvPr id="36" name="Shape 33"/>
          <p:cNvSpPr/>
          <p:nvPr/>
        </p:nvSpPr>
        <p:spPr>
          <a:xfrm>
            <a:off x="4155948" y="2459736"/>
            <a:ext cx="137160" cy="137160"/>
          </a:xfrm>
          <a:prstGeom prst="ellipse">
            <a:avLst/>
          </a:prstGeom>
          <a:solidFill>
            <a:srgbClr val="D49A00"/>
          </a:solidFill>
          <a:ln w="15875">
            <a:solidFill>
              <a:srgbClr val="D49A00"/>
            </a:solidFill>
            <a:prstDash val="solid"/>
          </a:ln>
        </p:spPr>
      </p:sp>
      <p:sp>
        <p:nvSpPr>
          <p:cNvPr id="37" name="Shape 34"/>
          <p:cNvSpPr/>
          <p:nvPr/>
        </p:nvSpPr>
        <p:spPr>
          <a:xfrm>
            <a:off x="5765292" y="2459736"/>
            <a:ext cx="137160" cy="137160"/>
          </a:xfrm>
          <a:prstGeom prst="ellipse">
            <a:avLst/>
          </a:prstGeom>
          <a:solidFill>
            <a:srgbClr val="D49A00"/>
          </a:solidFill>
          <a:ln w="15875">
            <a:solidFill>
              <a:srgbClr val="D49A00"/>
            </a:solidFill>
            <a:prstDash val="solid"/>
          </a:ln>
        </p:spPr>
      </p:sp>
      <p:sp>
        <p:nvSpPr>
          <p:cNvPr id="38" name="Shape 35"/>
          <p:cNvSpPr/>
          <p:nvPr/>
        </p:nvSpPr>
        <p:spPr>
          <a:xfrm>
            <a:off x="457200" y="2660904"/>
            <a:ext cx="8193024" cy="265176"/>
          </a:xfrm>
          <a:prstGeom prst="rect">
            <a:avLst/>
          </a:prstGeom>
          <a:solidFill>
            <a:srgbClr val="F4F7F5"/>
          </a:solidFill>
          <a:ln w="12700">
            <a:solidFill>
              <a:srgbClr val="F4F7F5"/>
            </a:solidFill>
            <a:prstDash val="solid"/>
          </a:ln>
        </p:spPr>
      </p:sp>
      <p:sp>
        <p:nvSpPr>
          <p:cNvPr id="39" name="Text 36"/>
          <p:cNvSpPr txBox="1"/>
          <p:nvPr/>
        </p:nvSpPr>
        <p:spPr>
          <a:xfrm>
            <a:off x="548640" y="266090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GHS-POP / WorldPop</a:t>
            </a:r>
            <a:endParaRPr lang="en-US" sz="1000" dirty="0"/>
          </a:p>
        </p:txBody>
      </p:sp>
      <p:sp>
        <p:nvSpPr>
          <p:cNvPr id="40" name="Shape 37"/>
          <p:cNvSpPr/>
          <p:nvPr/>
        </p:nvSpPr>
        <p:spPr>
          <a:xfrm>
            <a:off x="3351276" y="2724912"/>
            <a:ext cx="137160" cy="137160"/>
          </a:xfrm>
          <a:prstGeom prst="ellipse">
            <a:avLst/>
          </a:prstGeom>
          <a:solidFill>
            <a:srgbClr val="D49A00"/>
          </a:solidFill>
          <a:ln w="15875">
            <a:solidFill>
              <a:srgbClr val="D49A00"/>
            </a:solidFill>
            <a:prstDash val="solid"/>
          </a:ln>
        </p:spPr>
      </p:sp>
      <p:sp>
        <p:nvSpPr>
          <p:cNvPr id="41" name="Shape 38"/>
          <p:cNvSpPr/>
          <p:nvPr/>
        </p:nvSpPr>
        <p:spPr>
          <a:xfrm>
            <a:off x="4960620" y="2724912"/>
            <a:ext cx="137160" cy="137160"/>
          </a:xfrm>
          <a:prstGeom prst="ellipse">
            <a:avLst/>
          </a:prstGeom>
          <a:solidFill>
            <a:srgbClr val="D49A00"/>
          </a:solidFill>
          <a:ln w="15875">
            <a:solidFill>
              <a:srgbClr val="D49A00"/>
            </a:solidFill>
            <a:prstDash val="solid"/>
          </a:ln>
        </p:spPr>
      </p:sp>
      <p:sp>
        <p:nvSpPr>
          <p:cNvPr id="42" name="Shape 39"/>
          <p:cNvSpPr/>
          <p:nvPr/>
        </p:nvSpPr>
        <p:spPr>
          <a:xfrm>
            <a:off x="7374636" y="2724912"/>
            <a:ext cx="137160" cy="137160"/>
          </a:xfrm>
          <a:prstGeom prst="ellipse">
            <a:avLst/>
          </a:prstGeom>
          <a:solidFill>
            <a:srgbClr val="D49A00"/>
          </a:solidFill>
          <a:ln w="15875">
            <a:solidFill>
              <a:srgbClr val="D49A00"/>
            </a:solidFill>
            <a:prstDash val="solid"/>
          </a:ln>
        </p:spPr>
      </p:sp>
      <p:sp>
        <p:nvSpPr>
          <p:cNvPr id="43" name="Shape 40"/>
          <p:cNvSpPr/>
          <p:nvPr/>
        </p:nvSpPr>
        <p:spPr>
          <a:xfrm>
            <a:off x="8179308" y="2724912"/>
            <a:ext cx="137160" cy="137160"/>
          </a:xfrm>
          <a:prstGeom prst="ellipse">
            <a:avLst/>
          </a:prstGeom>
          <a:solidFill>
            <a:srgbClr val="D49A00"/>
          </a:solidFill>
          <a:ln w="15875">
            <a:solidFill>
              <a:srgbClr val="D49A00"/>
            </a:solidFill>
            <a:prstDash val="solid"/>
          </a:ln>
        </p:spPr>
      </p:sp>
      <p:sp>
        <p:nvSpPr>
          <p:cNvPr id="44" name="Text 41"/>
          <p:cNvSpPr txBox="1"/>
          <p:nvPr/>
        </p:nvSpPr>
        <p:spPr>
          <a:xfrm>
            <a:off x="548640" y="292608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GHS-SMOD</a:t>
            </a:r>
            <a:endParaRPr lang="en-US" sz="1000" dirty="0"/>
          </a:p>
        </p:txBody>
      </p:sp>
      <p:sp>
        <p:nvSpPr>
          <p:cNvPr id="45" name="Shape 42"/>
          <p:cNvSpPr/>
          <p:nvPr/>
        </p:nvSpPr>
        <p:spPr>
          <a:xfrm>
            <a:off x="7374636" y="2990088"/>
            <a:ext cx="137160" cy="137160"/>
          </a:xfrm>
          <a:prstGeom prst="ellipse">
            <a:avLst/>
          </a:prstGeom>
          <a:solidFill>
            <a:srgbClr val="D49A00"/>
          </a:solidFill>
          <a:ln w="15875">
            <a:solidFill>
              <a:srgbClr val="D49A00"/>
            </a:solidFill>
            <a:prstDash val="solid"/>
          </a:ln>
        </p:spPr>
      </p:sp>
      <p:sp>
        <p:nvSpPr>
          <p:cNvPr id="46" name="Shape 43"/>
          <p:cNvSpPr/>
          <p:nvPr/>
        </p:nvSpPr>
        <p:spPr>
          <a:xfrm>
            <a:off x="457200" y="3191256"/>
            <a:ext cx="8193024" cy="265176"/>
          </a:xfrm>
          <a:prstGeom prst="rect">
            <a:avLst/>
          </a:prstGeom>
          <a:solidFill>
            <a:srgbClr val="F4F7F5"/>
          </a:solidFill>
          <a:ln w="12700">
            <a:solidFill>
              <a:srgbClr val="F4F7F5"/>
            </a:solidFill>
            <a:prstDash val="solid"/>
          </a:ln>
        </p:spPr>
      </p:sp>
      <p:sp>
        <p:nvSpPr>
          <p:cNvPr id="47" name="Text 44"/>
          <p:cNvSpPr txBox="1"/>
          <p:nvPr/>
        </p:nvSpPr>
        <p:spPr>
          <a:xfrm>
            <a:off x="548640" y="3191256"/>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GHS-BUILT-S</a:t>
            </a:r>
            <a:endParaRPr lang="en-US" sz="1000" dirty="0"/>
          </a:p>
        </p:txBody>
      </p:sp>
      <p:sp>
        <p:nvSpPr>
          <p:cNvPr id="48" name="Shape 45"/>
          <p:cNvSpPr/>
          <p:nvPr/>
        </p:nvSpPr>
        <p:spPr>
          <a:xfrm>
            <a:off x="3351276" y="3255264"/>
            <a:ext cx="137160" cy="137160"/>
          </a:xfrm>
          <a:prstGeom prst="ellipse">
            <a:avLst/>
          </a:prstGeom>
          <a:solidFill>
            <a:srgbClr val="D49A00"/>
          </a:solidFill>
          <a:ln w="15875">
            <a:solidFill>
              <a:srgbClr val="D49A00"/>
            </a:solidFill>
            <a:prstDash val="solid"/>
          </a:ln>
        </p:spPr>
      </p:sp>
      <p:sp>
        <p:nvSpPr>
          <p:cNvPr id="49" name="Shape 46"/>
          <p:cNvSpPr/>
          <p:nvPr/>
        </p:nvSpPr>
        <p:spPr>
          <a:xfrm>
            <a:off x="8179308" y="3255264"/>
            <a:ext cx="137160" cy="137160"/>
          </a:xfrm>
          <a:prstGeom prst="ellipse">
            <a:avLst/>
          </a:prstGeom>
          <a:solidFill>
            <a:srgbClr val="D49A00"/>
          </a:solidFill>
          <a:ln w="15875">
            <a:solidFill>
              <a:srgbClr val="D49A00"/>
            </a:solidFill>
            <a:prstDash val="solid"/>
          </a:ln>
        </p:spPr>
      </p:sp>
      <p:sp>
        <p:nvSpPr>
          <p:cNvPr id="50" name="Text 47"/>
          <p:cNvSpPr txBox="1"/>
          <p:nvPr/>
        </p:nvSpPr>
        <p:spPr>
          <a:xfrm>
            <a:off x="548640" y="3456432"/>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Sentinel-5P NO₂</a:t>
            </a:r>
            <a:endParaRPr lang="en-US" sz="1000" dirty="0"/>
          </a:p>
        </p:txBody>
      </p:sp>
      <p:sp>
        <p:nvSpPr>
          <p:cNvPr id="51" name="Shape 48"/>
          <p:cNvSpPr/>
          <p:nvPr/>
        </p:nvSpPr>
        <p:spPr>
          <a:xfrm>
            <a:off x="4960620" y="3520440"/>
            <a:ext cx="137160" cy="137160"/>
          </a:xfrm>
          <a:prstGeom prst="ellipse">
            <a:avLst/>
          </a:prstGeom>
          <a:solidFill>
            <a:srgbClr val="FFFFFF"/>
          </a:solidFill>
          <a:ln w="15875">
            <a:solidFill>
              <a:srgbClr val="D49A00"/>
            </a:solidFill>
            <a:prstDash val="solid"/>
          </a:ln>
        </p:spPr>
      </p:sp>
      <p:sp>
        <p:nvSpPr>
          <p:cNvPr id="52" name="Shape 49"/>
          <p:cNvSpPr/>
          <p:nvPr/>
        </p:nvSpPr>
        <p:spPr>
          <a:xfrm>
            <a:off x="8179308" y="3520440"/>
            <a:ext cx="137160" cy="137160"/>
          </a:xfrm>
          <a:prstGeom prst="ellipse">
            <a:avLst/>
          </a:prstGeom>
          <a:solidFill>
            <a:srgbClr val="D49A00"/>
          </a:solidFill>
          <a:ln w="15875">
            <a:solidFill>
              <a:srgbClr val="D49A00"/>
            </a:solidFill>
            <a:prstDash val="solid"/>
          </a:ln>
        </p:spPr>
      </p:sp>
      <p:sp>
        <p:nvSpPr>
          <p:cNvPr id="53" name="Shape 50"/>
          <p:cNvSpPr/>
          <p:nvPr/>
        </p:nvSpPr>
        <p:spPr>
          <a:xfrm>
            <a:off x="457200" y="3721608"/>
            <a:ext cx="8193024" cy="265176"/>
          </a:xfrm>
          <a:prstGeom prst="rect">
            <a:avLst/>
          </a:prstGeom>
          <a:solidFill>
            <a:srgbClr val="F4F7F5"/>
          </a:solidFill>
          <a:ln w="12700">
            <a:solidFill>
              <a:srgbClr val="F4F7F5"/>
            </a:solidFill>
            <a:prstDash val="solid"/>
          </a:ln>
        </p:spPr>
      </p:sp>
      <p:sp>
        <p:nvSpPr>
          <p:cNvPr id="54" name="Text 51"/>
          <p:cNvSpPr txBox="1"/>
          <p:nvPr/>
        </p:nvSpPr>
        <p:spPr>
          <a:xfrm>
            <a:off x="548640" y="3721608"/>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geoBoundaries / GAUL</a:t>
            </a:r>
            <a:endParaRPr lang="en-US" sz="1000" dirty="0"/>
          </a:p>
        </p:txBody>
      </p:sp>
      <p:sp>
        <p:nvSpPr>
          <p:cNvPr id="55" name="Shape 52"/>
          <p:cNvSpPr/>
          <p:nvPr/>
        </p:nvSpPr>
        <p:spPr>
          <a:xfrm>
            <a:off x="3351276" y="3785616"/>
            <a:ext cx="137160" cy="137160"/>
          </a:xfrm>
          <a:prstGeom prst="ellipse">
            <a:avLst/>
          </a:prstGeom>
          <a:solidFill>
            <a:srgbClr val="D49A00"/>
          </a:solidFill>
          <a:ln w="15875">
            <a:solidFill>
              <a:srgbClr val="D49A00"/>
            </a:solidFill>
            <a:prstDash val="solid"/>
          </a:ln>
        </p:spPr>
      </p:sp>
      <p:sp>
        <p:nvSpPr>
          <p:cNvPr id="56" name="Shape 53"/>
          <p:cNvSpPr/>
          <p:nvPr/>
        </p:nvSpPr>
        <p:spPr>
          <a:xfrm>
            <a:off x="4155948" y="3785616"/>
            <a:ext cx="137160" cy="137160"/>
          </a:xfrm>
          <a:prstGeom prst="ellipse">
            <a:avLst/>
          </a:prstGeom>
          <a:solidFill>
            <a:srgbClr val="D49A00"/>
          </a:solidFill>
          <a:ln w="15875">
            <a:solidFill>
              <a:srgbClr val="D49A00"/>
            </a:solidFill>
            <a:prstDash val="solid"/>
          </a:ln>
        </p:spPr>
      </p:sp>
      <p:sp>
        <p:nvSpPr>
          <p:cNvPr id="57" name="Shape 54"/>
          <p:cNvSpPr/>
          <p:nvPr/>
        </p:nvSpPr>
        <p:spPr>
          <a:xfrm>
            <a:off x="4960620" y="3785616"/>
            <a:ext cx="137160" cy="137160"/>
          </a:xfrm>
          <a:prstGeom prst="ellipse">
            <a:avLst/>
          </a:prstGeom>
          <a:solidFill>
            <a:srgbClr val="D49A00"/>
          </a:solidFill>
          <a:ln w="15875">
            <a:solidFill>
              <a:srgbClr val="D49A00"/>
            </a:solidFill>
            <a:prstDash val="solid"/>
          </a:ln>
        </p:spPr>
      </p:sp>
      <p:sp>
        <p:nvSpPr>
          <p:cNvPr id="58" name="Shape 55"/>
          <p:cNvSpPr/>
          <p:nvPr/>
        </p:nvSpPr>
        <p:spPr>
          <a:xfrm>
            <a:off x="5765292" y="3785616"/>
            <a:ext cx="137160" cy="137160"/>
          </a:xfrm>
          <a:prstGeom prst="ellipse">
            <a:avLst/>
          </a:prstGeom>
          <a:solidFill>
            <a:srgbClr val="D49A00"/>
          </a:solidFill>
          <a:ln w="15875">
            <a:solidFill>
              <a:srgbClr val="D49A00"/>
            </a:solidFill>
            <a:prstDash val="solid"/>
          </a:ln>
        </p:spPr>
      </p:sp>
      <p:sp>
        <p:nvSpPr>
          <p:cNvPr id="59" name="Shape 56"/>
          <p:cNvSpPr/>
          <p:nvPr/>
        </p:nvSpPr>
        <p:spPr>
          <a:xfrm>
            <a:off x="6569964" y="3785616"/>
            <a:ext cx="137160" cy="137160"/>
          </a:xfrm>
          <a:prstGeom prst="ellipse">
            <a:avLst/>
          </a:prstGeom>
          <a:solidFill>
            <a:srgbClr val="D49A00"/>
          </a:solidFill>
          <a:ln w="15875">
            <a:solidFill>
              <a:srgbClr val="D49A00"/>
            </a:solidFill>
            <a:prstDash val="solid"/>
          </a:ln>
        </p:spPr>
      </p:sp>
      <p:sp>
        <p:nvSpPr>
          <p:cNvPr id="60" name="Shape 57"/>
          <p:cNvSpPr/>
          <p:nvPr/>
        </p:nvSpPr>
        <p:spPr>
          <a:xfrm>
            <a:off x="7374636" y="3785616"/>
            <a:ext cx="137160" cy="137160"/>
          </a:xfrm>
          <a:prstGeom prst="ellipse">
            <a:avLst/>
          </a:prstGeom>
          <a:solidFill>
            <a:srgbClr val="D49A00"/>
          </a:solidFill>
          <a:ln w="15875">
            <a:solidFill>
              <a:srgbClr val="D49A00"/>
            </a:solidFill>
            <a:prstDash val="solid"/>
          </a:ln>
        </p:spPr>
      </p:sp>
      <p:sp>
        <p:nvSpPr>
          <p:cNvPr id="61" name="Shape 58"/>
          <p:cNvSpPr/>
          <p:nvPr/>
        </p:nvSpPr>
        <p:spPr>
          <a:xfrm>
            <a:off x="8179308" y="3785616"/>
            <a:ext cx="137160" cy="137160"/>
          </a:xfrm>
          <a:prstGeom prst="ellipse">
            <a:avLst/>
          </a:prstGeom>
          <a:solidFill>
            <a:srgbClr val="D49A00"/>
          </a:solidFill>
          <a:ln w="15875">
            <a:solidFill>
              <a:srgbClr val="D49A00"/>
            </a:solidFill>
            <a:prstDash val="solid"/>
          </a:ln>
        </p:spPr>
      </p:sp>
      <p:sp>
        <p:nvSpPr>
          <p:cNvPr id="62" name="Text 59"/>
          <p:cNvSpPr txBox="1"/>
          <p:nvPr/>
        </p:nvSpPr>
        <p:spPr>
          <a:xfrm>
            <a:off x="548640" y="3986784"/>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World Bank WDI</a:t>
            </a:r>
            <a:endParaRPr lang="en-US" sz="1000" dirty="0"/>
          </a:p>
        </p:txBody>
      </p:sp>
      <p:sp>
        <p:nvSpPr>
          <p:cNvPr id="63" name="Shape 60"/>
          <p:cNvSpPr/>
          <p:nvPr/>
        </p:nvSpPr>
        <p:spPr>
          <a:xfrm>
            <a:off x="3351276" y="4050792"/>
            <a:ext cx="137160" cy="137160"/>
          </a:xfrm>
          <a:prstGeom prst="ellipse">
            <a:avLst/>
          </a:prstGeom>
          <a:solidFill>
            <a:srgbClr val="FFFFFF"/>
          </a:solidFill>
          <a:ln w="15875">
            <a:solidFill>
              <a:srgbClr val="D49A00"/>
            </a:solidFill>
            <a:prstDash val="solid"/>
          </a:ln>
        </p:spPr>
      </p:sp>
      <p:sp>
        <p:nvSpPr>
          <p:cNvPr id="64" name="Shape 61"/>
          <p:cNvSpPr/>
          <p:nvPr/>
        </p:nvSpPr>
        <p:spPr>
          <a:xfrm>
            <a:off x="5765292" y="4050792"/>
            <a:ext cx="137160" cy="137160"/>
          </a:xfrm>
          <a:prstGeom prst="ellipse">
            <a:avLst/>
          </a:prstGeom>
          <a:solidFill>
            <a:srgbClr val="D49A00"/>
          </a:solidFill>
          <a:ln w="15875">
            <a:solidFill>
              <a:srgbClr val="D49A00"/>
            </a:solidFill>
            <a:prstDash val="solid"/>
          </a:ln>
        </p:spPr>
      </p:sp>
      <p:sp>
        <p:nvSpPr>
          <p:cNvPr id="65" name="Shape 62"/>
          <p:cNvSpPr/>
          <p:nvPr/>
        </p:nvSpPr>
        <p:spPr>
          <a:xfrm>
            <a:off x="7374636" y="4050792"/>
            <a:ext cx="137160" cy="137160"/>
          </a:xfrm>
          <a:prstGeom prst="ellipse">
            <a:avLst/>
          </a:prstGeom>
          <a:solidFill>
            <a:srgbClr val="FFFFFF"/>
          </a:solidFill>
          <a:ln w="15875">
            <a:solidFill>
              <a:srgbClr val="D49A00"/>
            </a:solidFill>
            <a:prstDash val="solid"/>
          </a:ln>
        </p:spPr>
      </p:sp>
      <p:sp>
        <p:nvSpPr>
          <p:cNvPr id="66" name="Shape 63"/>
          <p:cNvSpPr/>
          <p:nvPr/>
        </p:nvSpPr>
        <p:spPr>
          <a:xfrm>
            <a:off x="457200" y="4251960"/>
            <a:ext cx="8193024" cy="265176"/>
          </a:xfrm>
          <a:prstGeom prst="rect">
            <a:avLst/>
          </a:prstGeom>
          <a:solidFill>
            <a:srgbClr val="F4F7F5"/>
          </a:solidFill>
          <a:ln w="12700">
            <a:solidFill>
              <a:srgbClr val="F4F7F5"/>
            </a:solidFill>
            <a:prstDash val="solid"/>
          </a:ln>
        </p:spPr>
      </p:sp>
      <p:sp>
        <p:nvSpPr>
          <p:cNvPr id="67" name="Text 64"/>
          <p:cNvSpPr txBox="1"/>
          <p:nvPr/>
        </p:nvSpPr>
        <p:spPr>
          <a:xfrm>
            <a:off x="548640" y="4251960"/>
            <a:ext cx="2423160" cy="265176"/>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OpenStreetMap</a:t>
            </a:r>
            <a:endParaRPr lang="en-US" sz="1000" dirty="0"/>
          </a:p>
        </p:txBody>
      </p:sp>
      <p:sp>
        <p:nvSpPr>
          <p:cNvPr id="68" name="Shape 65"/>
          <p:cNvSpPr/>
          <p:nvPr/>
        </p:nvSpPr>
        <p:spPr>
          <a:xfrm>
            <a:off x="8179308" y="4315968"/>
            <a:ext cx="137160" cy="137160"/>
          </a:xfrm>
          <a:prstGeom prst="ellipse">
            <a:avLst/>
          </a:prstGeom>
          <a:solidFill>
            <a:srgbClr val="FFFFFF"/>
          </a:solidFill>
          <a:ln w="15875">
            <a:solidFill>
              <a:srgbClr val="D49A00"/>
            </a:solidFill>
            <a:prstDash val="solid"/>
          </a:ln>
        </p:spPr>
      </p:sp>
      <p:sp>
        <p:nvSpPr>
          <p:cNvPr id="69" name="Shape 66"/>
          <p:cNvSpPr/>
          <p:nvPr/>
        </p:nvSpPr>
        <p:spPr>
          <a:xfrm>
            <a:off x="3108960" y="4617720"/>
            <a:ext cx="137160" cy="137160"/>
          </a:xfrm>
          <a:prstGeom prst="ellipse">
            <a:avLst/>
          </a:prstGeom>
          <a:solidFill>
            <a:srgbClr val="D49A00"/>
          </a:solidFill>
          <a:ln w="15875">
            <a:solidFill>
              <a:srgbClr val="D49A00"/>
            </a:solidFill>
            <a:prstDash val="solid"/>
          </a:ln>
        </p:spPr>
      </p:sp>
      <p:sp>
        <p:nvSpPr>
          <p:cNvPr id="70" name="Text 67"/>
          <p:cNvSpPr txBox="1"/>
          <p:nvPr/>
        </p:nvSpPr>
        <p:spPr>
          <a:xfrm>
            <a:off x="3310128" y="4572000"/>
            <a:ext cx="182880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input of the metrics</a:t>
            </a:r>
            <a:endParaRPr lang="en-US" sz="950" dirty="0"/>
          </a:p>
        </p:txBody>
      </p:sp>
      <p:sp>
        <p:nvSpPr>
          <p:cNvPr id="71" name="Shape 68"/>
          <p:cNvSpPr/>
          <p:nvPr/>
        </p:nvSpPr>
        <p:spPr>
          <a:xfrm>
            <a:off x="5120640" y="4617720"/>
            <a:ext cx="137160" cy="137160"/>
          </a:xfrm>
          <a:prstGeom prst="ellipse">
            <a:avLst/>
          </a:prstGeom>
          <a:solidFill>
            <a:srgbClr val="FFFFFF"/>
          </a:solidFill>
          <a:ln w="15875">
            <a:solidFill>
              <a:srgbClr val="D49A00"/>
            </a:solidFill>
            <a:prstDash val="solid"/>
          </a:ln>
        </p:spPr>
      </p:sp>
      <p:sp>
        <p:nvSpPr>
          <p:cNvPr id="72" name="Text 69"/>
          <p:cNvSpPr txBox="1"/>
          <p:nvPr/>
        </p:nvSpPr>
        <p:spPr>
          <a:xfrm>
            <a:off x="5321808" y="4572000"/>
            <a:ext cx="2560320" cy="22860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check, context or validation</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BASE TABLES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From billions of pixels to two tables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377440" cy="841248"/>
          </a:xfrm>
          <a:prstGeom prst="roundRect">
            <a:avLst>
              <a:gd name="adj" fmla="val 8696"/>
            </a:avLst>
          </a:prstGeom>
          <a:solidFill>
            <a:srgbClr val="F4F7F5"/>
          </a:solidFill>
          <a:ln w="9525">
            <a:solidFill>
              <a:srgbClr val="D5DED9"/>
            </a:solidFill>
            <a:prstDash val="solid"/>
          </a:ln>
        </p:spPr>
      </p:sp>
      <p:sp>
        <p:nvSpPr>
          <p:cNvPr id="12" name="Shape 9"/>
          <p:cNvSpPr/>
          <p:nvPr/>
        </p:nvSpPr>
        <p:spPr>
          <a:xfrm>
            <a:off x="585216" y="1554480"/>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694944" y="1664208"/>
            <a:ext cx="237744" cy="237744"/>
          </a:xfrm>
          <a:prstGeom prst="rect">
            <a:avLst/>
          </a:prstGeom>
        </p:spPr>
      </p:pic>
      <p:sp>
        <p:nvSpPr>
          <p:cNvPr id="14" name="Text 10"/>
          <p:cNvSpPr txBox="1"/>
          <p:nvPr/>
        </p:nvSpPr>
        <p:spPr>
          <a:xfrm>
            <a:off x="1143000" y="1517904"/>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Clean pixels</a:t>
            </a:r>
            <a:endParaRPr lang="en-US" sz="1200" dirty="0"/>
          </a:p>
        </p:txBody>
      </p:sp>
      <p:sp>
        <p:nvSpPr>
          <p:cNvPr id="15" name="Text 11"/>
          <p:cNvSpPr txBox="1"/>
          <p:nvPr/>
        </p:nvSpPr>
        <p:spPr>
          <a:xfrm>
            <a:off x="1143000" y="1801368"/>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~464 m</a:t>
            </a:r>
            <a:endParaRPr lang="en-US" sz="950" dirty="0"/>
          </a:p>
        </p:txBody>
      </p:sp>
      <p:sp>
        <p:nvSpPr>
          <p:cNvPr id="16" name="Shape 12"/>
          <p:cNvSpPr/>
          <p:nvPr/>
        </p:nvSpPr>
        <p:spPr>
          <a:xfrm>
            <a:off x="1645920" y="2231136"/>
            <a:ext cx="914" cy="146304"/>
          </a:xfrm>
          <a:prstGeom prst="line">
            <a:avLst/>
          </a:prstGeom>
          <a:noFill/>
          <a:ln w="15875">
            <a:solidFill>
              <a:srgbClr val="5E6964"/>
            </a:solidFill>
            <a:prstDash val="solid"/>
            <a:tailEnd type="triangle"/>
          </a:ln>
        </p:spPr>
      </p:sp>
      <p:sp>
        <p:nvSpPr>
          <p:cNvPr id="17" name="Shape 13"/>
          <p:cNvSpPr/>
          <p:nvPr/>
        </p:nvSpPr>
        <p:spPr>
          <a:xfrm>
            <a:off x="457200" y="2395728"/>
            <a:ext cx="2377440" cy="841248"/>
          </a:xfrm>
          <a:prstGeom prst="roundRect">
            <a:avLst>
              <a:gd name="adj" fmla="val 8696"/>
            </a:avLst>
          </a:prstGeom>
          <a:solidFill>
            <a:srgbClr val="F4F7F5"/>
          </a:solidFill>
          <a:ln w="9525">
            <a:solidFill>
              <a:srgbClr val="D5DED9"/>
            </a:solidFill>
            <a:prstDash val="solid"/>
          </a:ln>
        </p:spPr>
      </p:sp>
      <p:sp>
        <p:nvSpPr>
          <p:cNvPr id="18" name="Shape 14"/>
          <p:cNvSpPr/>
          <p:nvPr/>
        </p:nvSpPr>
        <p:spPr>
          <a:xfrm>
            <a:off x="585216" y="2578608"/>
            <a:ext cx="457200" cy="457200"/>
          </a:xfrm>
          <a:prstGeom prst="ellipse">
            <a:avLst/>
          </a:prstGeom>
          <a:solidFill>
            <a:srgbClr val="D49A00">
              <a:alpha val="22000"/>
            </a:srgbClr>
          </a:solidFill>
          <a:ln w="12700">
            <a:solidFill>
              <a:srgbClr val="D49A00">
                <a:alpha val="0"/>
              </a:srgbClr>
            </a:solidFill>
            <a:prstDash val="solid"/>
          </a:ln>
        </p:spPr>
      </p:sp>
      <p:pic>
        <p:nvPicPr>
          <p:cNvPr id="19" name="Image 1" descr="preencoded.png">    </p:cNvPr>
          <p:cNvPicPr>
            <a:picLocks noChangeAspect="1"/>
          </p:cNvPicPr>
          <p:nvPr/>
        </p:nvPicPr>
        <p:blipFill>
          <a:blip r:embed="rId2"/>
          <a:stretch>
            <a:fillRect/>
          </a:stretch>
        </p:blipFill>
        <p:spPr>
          <a:xfrm>
            <a:off x="694944" y="2688336"/>
            <a:ext cx="237744" cy="237744"/>
          </a:xfrm>
          <a:prstGeom prst="rect">
            <a:avLst/>
          </a:prstGeom>
        </p:spPr>
      </p:pic>
      <p:sp>
        <p:nvSpPr>
          <p:cNvPr id="20" name="Text 15"/>
          <p:cNvSpPr txBox="1"/>
          <p:nvPr/>
        </p:nvSpPr>
        <p:spPr>
          <a:xfrm>
            <a:off x="1143000" y="2542032"/>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Sum per unit</a:t>
            </a:r>
            <a:endParaRPr lang="en-US" sz="1200" dirty="0"/>
          </a:p>
        </p:txBody>
      </p:sp>
      <p:sp>
        <p:nvSpPr>
          <p:cNvPr id="21" name="Text 16"/>
          <p:cNvSpPr txBox="1"/>
          <p:nvPr/>
        </p:nvSpPr>
        <p:spPr>
          <a:xfrm>
            <a:off x="1143000" y="2825496"/>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ADM0 · ADM1 · ADM2</a:t>
            </a:r>
            <a:endParaRPr lang="en-US" sz="950" dirty="0"/>
          </a:p>
        </p:txBody>
      </p:sp>
      <p:sp>
        <p:nvSpPr>
          <p:cNvPr id="22" name="Shape 17"/>
          <p:cNvSpPr/>
          <p:nvPr/>
        </p:nvSpPr>
        <p:spPr>
          <a:xfrm>
            <a:off x="1645920" y="3255264"/>
            <a:ext cx="914" cy="146304"/>
          </a:xfrm>
          <a:prstGeom prst="line">
            <a:avLst/>
          </a:prstGeom>
          <a:noFill/>
          <a:ln w="15875">
            <a:solidFill>
              <a:srgbClr val="5E6964"/>
            </a:solidFill>
            <a:prstDash val="solid"/>
            <a:tailEnd type="triangle"/>
          </a:ln>
        </p:spPr>
      </p:sp>
      <p:sp>
        <p:nvSpPr>
          <p:cNvPr id="23" name="Shape 18"/>
          <p:cNvSpPr/>
          <p:nvPr/>
        </p:nvSpPr>
        <p:spPr>
          <a:xfrm>
            <a:off x="457200" y="3419856"/>
            <a:ext cx="2377440" cy="841248"/>
          </a:xfrm>
          <a:prstGeom prst="roundRect">
            <a:avLst>
              <a:gd name="adj" fmla="val 8696"/>
            </a:avLst>
          </a:prstGeom>
          <a:solidFill>
            <a:srgbClr val="E8F5EF"/>
          </a:solidFill>
          <a:ln w="15875">
            <a:solidFill>
              <a:srgbClr val="D49A00"/>
            </a:solidFill>
            <a:prstDash val="solid"/>
          </a:ln>
        </p:spPr>
      </p:sp>
      <p:sp>
        <p:nvSpPr>
          <p:cNvPr id="24" name="Shape 19"/>
          <p:cNvSpPr/>
          <p:nvPr/>
        </p:nvSpPr>
        <p:spPr>
          <a:xfrm>
            <a:off x="585216" y="3602736"/>
            <a:ext cx="457200" cy="457200"/>
          </a:xfrm>
          <a:prstGeom prst="ellipse">
            <a:avLst/>
          </a:prstGeom>
          <a:solidFill>
            <a:srgbClr val="D49A00">
              <a:alpha val="22000"/>
            </a:srgbClr>
          </a:solidFill>
          <a:ln w="12700">
            <a:solidFill>
              <a:srgbClr val="D49A00">
                <a:alpha val="0"/>
              </a:srgbClr>
            </a:solidFill>
            <a:prstDash val="solid"/>
          </a:ln>
        </p:spPr>
      </p:sp>
      <p:pic>
        <p:nvPicPr>
          <p:cNvPr id="25" name="Image 2" descr="preencoded.png">    </p:cNvPr>
          <p:cNvPicPr>
            <a:picLocks noChangeAspect="1"/>
          </p:cNvPicPr>
          <p:nvPr/>
        </p:nvPicPr>
        <p:blipFill>
          <a:blip r:embed="rId3"/>
          <a:stretch>
            <a:fillRect/>
          </a:stretch>
        </p:blipFill>
        <p:spPr>
          <a:xfrm>
            <a:off x="694944" y="3712464"/>
            <a:ext cx="237744" cy="237744"/>
          </a:xfrm>
          <a:prstGeom prst="rect">
            <a:avLst/>
          </a:prstGeom>
        </p:spPr>
      </p:pic>
      <p:sp>
        <p:nvSpPr>
          <p:cNvPr id="26" name="Text 20"/>
          <p:cNvSpPr txBox="1"/>
          <p:nvPr/>
        </p:nvSpPr>
        <p:spPr>
          <a:xfrm>
            <a:off x="1143000" y="3566160"/>
            <a:ext cx="16459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Cached tables</a:t>
            </a:r>
            <a:endParaRPr lang="en-US" sz="1200" dirty="0"/>
          </a:p>
        </p:txBody>
      </p:sp>
      <p:sp>
        <p:nvSpPr>
          <p:cNvPr id="27" name="Text 21"/>
          <p:cNvSpPr txBox="1"/>
          <p:nvPr/>
        </p:nvSpPr>
        <p:spPr>
          <a:xfrm>
            <a:off x="1143000" y="3849624"/>
            <a:ext cx="1645920" cy="27432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 parameter signature</a:t>
            </a:r>
            <a:endParaRPr lang="en-US" sz="950" dirty="0"/>
          </a:p>
        </p:txBody>
      </p:sp>
      <p:sp>
        <p:nvSpPr>
          <p:cNvPr id="28" name="Shape 22"/>
          <p:cNvSpPr/>
          <p:nvPr/>
        </p:nvSpPr>
        <p:spPr>
          <a:xfrm>
            <a:off x="3108960" y="1371600"/>
            <a:ext cx="2697480" cy="3063240"/>
          </a:xfrm>
          <a:prstGeom prst="roundRect">
            <a:avLst>
              <a:gd name="adj" fmla="val 2712"/>
            </a:avLst>
          </a:prstGeom>
          <a:solidFill>
            <a:srgbClr val="F4F7F5"/>
          </a:solidFill>
          <a:ln w="9525">
            <a:solidFill>
              <a:srgbClr val="D5DED9"/>
            </a:solidFill>
            <a:prstDash val="solid"/>
          </a:ln>
        </p:spPr>
      </p:sp>
      <p:sp>
        <p:nvSpPr>
          <p:cNvPr id="29" name="Text 23"/>
          <p:cNvSpPr txBox="1"/>
          <p:nvPr/>
        </p:nvSpPr>
        <p:spPr>
          <a:xfrm>
            <a:off x="324612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Monthly table · unit × month</a:t>
            </a:r>
            <a:endParaRPr lang="en-US" sz="1150" dirty="0"/>
          </a:p>
        </p:txBody>
      </p:sp>
      <p:sp>
        <p:nvSpPr>
          <p:cNvPr id="30" name="Text 24"/>
          <p:cNvSpPr txBox="1"/>
          <p:nvPr/>
        </p:nvSpPr>
        <p:spPr>
          <a:xfrm>
            <a:off x="324612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a:t>
            </a:r>
            <a:endParaRPr lang="en-US" sz="900" dirty="0"/>
          </a:p>
        </p:txBody>
      </p:sp>
      <p:sp>
        <p:nvSpPr>
          <p:cNvPr id="31" name="Text 25"/>
          <p:cNvSpPr txBox="1"/>
          <p:nvPr/>
        </p:nvSpPr>
        <p:spPr>
          <a:xfrm>
            <a:off x="324612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sum of lights (observed + imputed)</a:t>
            </a:r>
            <a:endParaRPr lang="en-US" sz="900" dirty="0"/>
          </a:p>
        </p:txBody>
      </p:sp>
      <p:sp>
        <p:nvSpPr>
          <p:cNvPr id="32" name="Text 26"/>
          <p:cNvSpPr txBox="1"/>
          <p:nvPr/>
        </p:nvSpPr>
        <p:spPr>
          <a:xfrm>
            <a:off x="324612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valid_frac</a:t>
            </a:r>
            <a:endParaRPr lang="en-US" sz="900" dirty="0"/>
          </a:p>
        </p:txBody>
      </p:sp>
      <p:sp>
        <p:nvSpPr>
          <p:cNvPr id="33" name="Text 27"/>
          <p:cNvSpPr txBox="1"/>
          <p:nvPr/>
        </p:nvSpPr>
        <p:spPr>
          <a:xfrm>
            <a:off x="324612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share of the unit's pixels observed</a:t>
            </a:r>
            <a:endParaRPr lang="en-US" sz="900" dirty="0"/>
          </a:p>
        </p:txBody>
      </p:sp>
      <p:sp>
        <p:nvSpPr>
          <p:cNvPr id="34" name="Text 28"/>
          <p:cNvSpPr txBox="1"/>
          <p:nvPr/>
        </p:nvSpPr>
        <p:spPr>
          <a:xfrm>
            <a:off x="324612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sol_adj</a:t>
            </a:r>
            <a:endParaRPr lang="en-US" sz="900" dirty="0"/>
          </a:p>
        </p:txBody>
      </p:sp>
      <p:sp>
        <p:nvSpPr>
          <p:cNvPr id="35" name="Text 29"/>
          <p:cNvSpPr txBox="1"/>
          <p:nvPr/>
        </p:nvSpPr>
        <p:spPr>
          <a:xfrm>
            <a:off x="324612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if valid_frac ≥ 0.8, else missing</a:t>
            </a:r>
            <a:endParaRPr lang="en-US" sz="900" dirty="0"/>
          </a:p>
        </p:txBody>
      </p:sp>
      <p:sp>
        <p:nvSpPr>
          <p:cNvPr id="36" name="Text 30"/>
          <p:cNvSpPr txBox="1"/>
          <p:nvPr/>
        </p:nvSpPr>
        <p:spPr>
          <a:xfrm>
            <a:off x="324612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imputed_share</a:t>
            </a:r>
            <a:endParaRPr lang="en-US" sz="900" dirty="0"/>
          </a:p>
        </p:txBody>
      </p:sp>
      <p:sp>
        <p:nvSpPr>
          <p:cNvPr id="37" name="Text 31"/>
          <p:cNvSpPr txBox="1"/>
          <p:nvPr/>
        </p:nvSpPr>
        <p:spPr>
          <a:xfrm>
            <a:off x="324612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share of light imputed for clouds</a:t>
            </a:r>
            <a:endParaRPr lang="en-US" sz="900" dirty="0"/>
          </a:p>
        </p:txBody>
      </p:sp>
      <p:sp>
        <p:nvSpPr>
          <p:cNvPr id="38" name="Shape 32"/>
          <p:cNvSpPr/>
          <p:nvPr/>
        </p:nvSpPr>
        <p:spPr>
          <a:xfrm>
            <a:off x="5943600" y="1371600"/>
            <a:ext cx="2697480" cy="3063240"/>
          </a:xfrm>
          <a:prstGeom prst="roundRect">
            <a:avLst>
              <a:gd name="adj" fmla="val 2712"/>
            </a:avLst>
          </a:prstGeom>
          <a:solidFill>
            <a:srgbClr val="F4F7F5"/>
          </a:solidFill>
          <a:ln w="9525">
            <a:solidFill>
              <a:srgbClr val="D5DED9"/>
            </a:solidFill>
            <a:prstDash val="solid"/>
          </a:ln>
        </p:spPr>
      </p:sp>
      <p:sp>
        <p:nvSpPr>
          <p:cNvPr id="39" name="Text 33"/>
          <p:cNvSpPr txBox="1"/>
          <p:nvPr/>
        </p:nvSpPr>
        <p:spPr>
          <a:xfrm>
            <a:off x="6080760" y="1444752"/>
            <a:ext cx="2423160" cy="274320"/>
          </a:xfrm>
          <a:prstGeom prst="rect">
            <a:avLst/>
          </a:prstGeom>
          <a:noFill/>
          <a:ln/>
        </p:spPr>
        <p:txBody>
          <a:bodyPr wrap="square" lIns="0" tIns="0" rIns="0" bIns="0" rtlCol="0" anchor="t"/>
          <a:lstStyle/>
          <a:p>
            <a:pPr indent="0" marL="0">
              <a:buNone/>
            </a:pPr>
            <a:r>
              <a:rPr lang="en-US" sz="1150" b="1" dirty="0">
                <a:solidFill>
                  <a:srgbClr val="00553A"/>
                </a:solidFill>
                <a:latin typeface="Calibri" pitchFamily="34" charset="0"/>
                <a:ea typeface="Calibri" pitchFamily="34" charset="-122"/>
                <a:cs typeface="Calibri" pitchFamily="34" charset="-120"/>
              </a:rPr>
              <a:t>Annual table · unit × year</a:t>
            </a:r>
            <a:endParaRPr lang="en-US" sz="1150" dirty="0"/>
          </a:p>
        </p:txBody>
      </p:sp>
      <p:sp>
        <p:nvSpPr>
          <p:cNvPr id="40" name="Text 34"/>
          <p:cNvSpPr txBox="1"/>
          <p:nvPr/>
        </p:nvSpPr>
        <p:spPr>
          <a:xfrm>
            <a:off x="6080760" y="178308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sol · sol_raw</a:t>
            </a:r>
            <a:endParaRPr lang="en-US" sz="900" dirty="0"/>
          </a:p>
        </p:txBody>
      </p:sp>
      <p:sp>
        <p:nvSpPr>
          <p:cNvPr id="41" name="Text 35"/>
          <p:cNvSpPr txBox="1"/>
          <p:nvPr/>
        </p:nvSpPr>
        <p:spPr>
          <a:xfrm>
            <a:off x="6080760" y="196596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clean light · light before flare mask</a:t>
            </a:r>
            <a:endParaRPr lang="en-US" sz="900" dirty="0"/>
          </a:p>
        </p:txBody>
      </p:sp>
      <p:sp>
        <p:nvSpPr>
          <p:cNvPr id="42" name="Text 36"/>
          <p:cNvSpPr txBox="1"/>
          <p:nvPr/>
        </p:nvSpPr>
        <p:spPr>
          <a:xfrm>
            <a:off x="6080760" y="2212848"/>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lit_km2 · area_km2</a:t>
            </a:r>
            <a:endParaRPr lang="en-US" sz="900" dirty="0"/>
          </a:p>
        </p:txBody>
      </p:sp>
      <p:sp>
        <p:nvSpPr>
          <p:cNvPr id="43" name="Text 37"/>
          <p:cNvSpPr txBox="1"/>
          <p:nvPr/>
        </p:nvSpPr>
        <p:spPr>
          <a:xfrm>
            <a:off x="6080760" y="2395728"/>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area ≥ 0.5 nW · total area</a:t>
            </a:r>
            <a:endParaRPr lang="en-US" sz="900" dirty="0"/>
          </a:p>
        </p:txBody>
      </p:sp>
      <p:sp>
        <p:nvSpPr>
          <p:cNvPr id="44" name="Text 38"/>
          <p:cNvSpPr txBox="1"/>
          <p:nvPr/>
        </p:nvSpPr>
        <p:spPr>
          <a:xfrm>
            <a:off x="6080760" y="2642616"/>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 · pop_inhabited</a:t>
            </a:r>
            <a:endParaRPr lang="en-US" sz="900" dirty="0"/>
          </a:p>
        </p:txBody>
      </p:sp>
      <p:sp>
        <p:nvSpPr>
          <p:cNvPr id="45" name="Text 39"/>
          <p:cNvSpPr txBox="1"/>
          <p:nvPr/>
        </p:nvSpPr>
        <p:spPr>
          <a:xfrm>
            <a:off x="6080760" y="2825496"/>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 in pixels ≥ 5 people</a:t>
            </a:r>
            <a:endParaRPr lang="en-US" sz="900" dirty="0"/>
          </a:p>
        </p:txBody>
      </p:sp>
      <p:sp>
        <p:nvSpPr>
          <p:cNvPr id="46" name="Text 40"/>
          <p:cNvSpPr txBox="1"/>
          <p:nvPr/>
        </p:nvSpPr>
        <p:spPr>
          <a:xfrm>
            <a:off x="6080760" y="3072384"/>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pop_dark_&lt;t&gt;</a:t>
            </a:r>
            <a:endParaRPr lang="en-US" sz="900" dirty="0"/>
          </a:p>
        </p:txBody>
      </p:sp>
      <p:sp>
        <p:nvSpPr>
          <p:cNvPr id="47" name="Text 41"/>
          <p:cNvSpPr txBox="1"/>
          <p:nvPr/>
        </p:nvSpPr>
        <p:spPr>
          <a:xfrm>
            <a:off x="6080760" y="3255264"/>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inhabited, radiance &lt; threshold t</a:t>
            </a:r>
            <a:endParaRPr lang="en-US" sz="900" dirty="0"/>
          </a:p>
        </p:txBody>
      </p:sp>
      <p:sp>
        <p:nvSpPr>
          <p:cNvPr id="48" name="Text 42"/>
          <p:cNvSpPr txBox="1"/>
          <p:nvPr/>
        </p:nvSpPr>
        <p:spPr>
          <a:xfrm>
            <a:off x="6080760" y="3502152"/>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pop_urban · sol_urban</a:t>
            </a:r>
            <a:endParaRPr lang="en-US" sz="900" dirty="0"/>
          </a:p>
        </p:txBody>
      </p:sp>
      <p:sp>
        <p:nvSpPr>
          <p:cNvPr id="49" name="Text 43"/>
          <p:cNvSpPr txBox="1"/>
          <p:nvPr/>
        </p:nvSpPr>
        <p:spPr>
          <a:xfrm>
            <a:off x="6080760" y="3685032"/>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and light where SMOD ≥ 21</a:t>
            </a:r>
            <a:endParaRPr lang="en-US" sz="900" dirty="0"/>
          </a:p>
        </p:txBody>
      </p:sp>
      <p:sp>
        <p:nvSpPr>
          <p:cNvPr id="50" name="Text 44"/>
          <p:cNvSpPr txBox="1"/>
          <p:nvPr/>
        </p:nvSpPr>
        <p:spPr>
          <a:xfrm>
            <a:off x="6080760" y="3931920"/>
            <a:ext cx="2423160" cy="182880"/>
          </a:xfrm>
          <a:prstGeom prst="rect">
            <a:avLst/>
          </a:prstGeom>
          <a:noFill/>
          <a:ln/>
        </p:spPr>
        <p:txBody>
          <a:bodyPr wrap="square" lIns="0" tIns="0" rIns="0" bIns="0" rtlCol="0" anchor="t"/>
          <a:lstStyle/>
          <a:p>
            <a:pPr indent="0" marL="0">
              <a:buNone/>
            </a:pPr>
            <a:r>
              <a:rPr lang="en-US" sz="900" b="1" dirty="0">
                <a:solidFill>
                  <a:srgbClr val="00704A"/>
                </a:solidFill>
                <a:latin typeface="Courier New" pitchFamily="34" charset="0"/>
                <a:ea typeface="Courier New" pitchFamily="34" charset="-122"/>
                <a:cs typeface="Courier New" pitchFamily="34" charset="-120"/>
              </a:rPr>
              <a:t>flare_sol</a:t>
            </a:r>
            <a:endParaRPr lang="en-US" sz="900" dirty="0"/>
          </a:p>
        </p:txBody>
      </p:sp>
      <p:sp>
        <p:nvSpPr>
          <p:cNvPr id="51" name="Text 45"/>
          <p:cNvSpPr txBox="1"/>
          <p:nvPr/>
        </p:nvSpPr>
        <p:spPr>
          <a:xfrm>
            <a:off x="6080760" y="4114800"/>
            <a:ext cx="2423160" cy="219456"/>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light removed as gas flares</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CLEANING</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Remove everything that is not human activity</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98448"/>
          </a:xfrm>
          <a:prstGeom prst="roundRect">
            <a:avLst>
              <a:gd name="adj" fmla="val 5634"/>
            </a:avLst>
          </a:prstGeom>
          <a:solidFill>
            <a:srgbClr val="E8F5EF"/>
          </a:solidFill>
          <a:ln w="15875">
            <a:solidFill>
              <a:srgbClr val="D49A00"/>
            </a:solidFill>
            <a:prstDash val="solid"/>
          </a:ln>
        </p:spPr>
      </p:sp>
      <p:sp>
        <p:nvSpPr>
          <p:cNvPr id="12" name="Shape 9"/>
          <p:cNvSpPr/>
          <p:nvPr/>
        </p:nvSpPr>
        <p:spPr>
          <a:xfrm>
            <a:off x="603504" y="1517904"/>
            <a:ext cx="457200" cy="457200"/>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1 · Clouds</a:t>
            </a:r>
            <a:endParaRPr lang="en-US" sz="1300" dirty="0"/>
          </a:p>
        </p:txBody>
      </p:sp>
      <p:sp>
        <p:nvSpPr>
          <p:cNvPr id="15" name="Text 11"/>
          <p:cNvSpPr txBox="1"/>
          <p:nvPr/>
        </p:nvSpPr>
        <p:spPr>
          <a:xfrm>
            <a:off x="60350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cf_cvg ≥ 2 · cloudy pixel = its annual value · unit-month kept if ≥ 80 % observed</a:t>
            </a:r>
            <a:endParaRPr lang="en-US" sz="1050" dirty="0"/>
          </a:p>
        </p:txBody>
      </p:sp>
      <p:sp>
        <p:nvSpPr>
          <p:cNvPr id="16" name="Shape 12"/>
          <p:cNvSpPr/>
          <p:nvPr/>
        </p:nvSpPr>
        <p:spPr>
          <a:xfrm>
            <a:off x="3246120" y="1371600"/>
            <a:ext cx="2606040" cy="1298448"/>
          </a:xfrm>
          <a:prstGeom prst="roundRect">
            <a:avLst>
              <a:gd name="adj" fmla="val 5634"/>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D49A00">
              <a:alpha val="22000"/>
            </a:srgbClr>
          </a:solidFill>
          <a:ln w="12700">
            <a:solidFill>
              <a:srgbClr val="D49A00">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2 · Negatives</a:t>
            </a:r>
            <a:endParaRPr lang="en-US" sz="1300" dirty="0"/>
          </a:p>
        </p:txBody>
      </p:sp>
      <p:sp>
        <p:nvSpPr>
          <p:cNvPr id="20" name="Text 15"/>
          <p:cNvSpPr txBox="1"/>
          <p:nvPr/>
        </p:nvSpPr>
        <p:spPr>
          <a:xfrm>
            <a:off x="339242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Set to 0: calibration noise over dark areas</a:t>
            </a:r>
            <a:endParaRPr lang="en-US" sz="1050" dirty="0"/>
          </a:p>
        </p:txBody>
      </p:sp>
      <p:sp>
        <p:nvSpPr>
          <p:cNvPr id="21" name="Shape 16"/>
          <p:cNvSpPr/>
          <p:nvPr/>
        </p:nvSpPr>
        <p:spPr>
          <a:xfrm>
            <a:off x="6035040" y="1371600"/>
            <a:ext cx="2606040" cy="1298448"/>
          </a:xfrm>
          <a:prstGeom prst="roundRect">
            <a:avLst>
              <a:gd name="adj" fmla="val 5634"/>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D49A00">
              <a:alpha val="22000"/>
            </a:srgbClr>
          </a:solidFill>
          <a:ln w="12700">
            <a:solidFill>
              <a:srgbClr val="D49A00">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3 · Outliers</a:t>
            </a:r>
            <a:endParaRPr lang="en-US" sz="1300" dirty="0"/>
          </a:p>
        </p:txBody>
      </p:sp>
      <p:sp>
        <p:nvSpPr>
          <p:cNvPr id="25" name="Text 19"/>
          <p:cNvSpPr txBox="1"/>
          <p:nvPr/>
        </p:nvSpPr>
        <p:spPr>
          <a:xfrm>
            <a:off x="6181344" y="204825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Cap 1000 nW · &gt; 5 × annual median → median (fires, lightning, glints)</a:t>
            </a:r>
            <a:endParaRPr lang="en-US" sz="1050" dirty="0"/>
          </a:p>
        </p:txBody>
      </p:sp>
      <p:sp>
        <p:nvSpPr>
          <p:cNvPr id="26" name="Shape 20"/>
          <p:cNvSpPr/>
          <p:nvPr/>
        </p:nvSpPr>
        <p:spPr>
          <a:xfrm>
            <a:off x="457200" y="2834640"/>
            <a:ext cx="2606040" cy="1298448"/>
          </a:xfrm>
          <a:prstGeom prst="roundRect">
            <a:avLst>
              <a:gd name="adj" fmla="val 5634"/>
            </a:avLst>
          </a:prstGeom>
          <a:solidFill>
            <a:srgbClr val="F4F7F5"/>
          </a:solidFill>
          <a:ln w="9525">
            <a:solidFill>
              <a:srgbClr val="D5DED9"/>
            </a:solidFill>
            <a:prstDash val="solid"/>
          </a:ln>
        </p:spPr>
      </p:sp>
      <p:sp>
        <p:nvSpPr>
          <p:cNvPr id="27" name="Shape 21"/>
          <p:cNvSpPr/>
          <p:nvPr/>
        </p:nvSpPr>
        <p:spPr>
          <a:xfrm>
            <a:off x="603504" y="2980944"/>
            <a:ext cx="457200" cy="457200"/>
          </a:xfrm>
          <a:prstGeom prst="ellipse">
            <a:avLst/>
          </a:prstGeom>
          <a:solidFill>
            <a:srgbClr val="D49A00">
              <a:alpha val="22000"/>
            </a:srgbClr>
          </a:solidFill>
          <a:ln w="12700">
            <a:solidFill>
              <a:srgbClr val="D49A00">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3090672"/>
            <a:ext cx="237744" cy="237744"/>
          </a:xfrm>
          <a:prstGeom prst="rect">
            <a:avLst/>
          </a:prstGeom>
        </p:spPr>
      </p:pic>
      <p:sp>
        <p:nvSpPr>
          <p:cNvPr id="29" name="Text 22"/>
          <p:cNvSpPr txBox="1"/>
          <p:nvPr/>
        </p:nvSpPr>
        <p:spPr>
          <a:xfrm>
            <a:off x="117043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4 · Background</a:t>
            </a:r>
            <a:endParaRPr lang="en-US" sz="1300" dirty="0"/>
          </a:p>
        </p:txBody>
      </p:sp>
      <p:sp>
        <p:nvSpPr>
          <p:cNvPr id="30" name="Text 23"/>
          <p:cNvSpPr txBox="1"/>
          <p:nvPr/>
        </p:nvSpPr>
        <p:spPr>
          <a:xfrm>
            <a:off x="60350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Unlit in annual composite → 0; newly lit pixels kept for unpublished years</a:t>
            </a:r>
            <a:endParaRPr lang="en-US" sz="1050" dirty="0"/>
          </a:p>
        </p:txBody>
      </p:sp>
      <p:sp>
        <p:nvSpPr>
          <p:cNvPr id="31" name="Shape 24"/>
          <p:cNvSpPr/>
          <p:nvPr/>
        </p:nvSpPr>
        <p:spPr>
          <a:xfrm>
            <a:off x="3246120" y="2834640"/>
            <a:ext cx="2606040" cy="1298448"/>
          </a:xfrm>
          <a:prstGeom prst="roundRect">
            <a:avLst>
              <a:gd name="adj" fmla="val 5634"/>
            </a:avLst>
          </a:prstGeom>
          <a:solidFill>
            <a:srgbClr val="F4F7F5"/>
          </a:solidFill>
          <a:ln w="9525">
            <a:solidFill>
              <a:srgbClr val="D5DED9"/>
            </a:solidFill>
            <a:prstDash val="solid"/>
          </a:ln>
        </p:spPr>
      </p:sp>
      <p:sp>
        <p:nvSpPr>
          <p:cNvPr id="32" name="Shape 25"/>
          <p:cNvSpPr/>
          <p:nvPr/>
        </p:nvSpPr>
        <p:spPr>
          <a:xfrm>
            <a:off x="3392424" y="2980944"/>
            <a:ext cx="457200" cy="457200"/>
          </a:xfrm>
          <a:prstGeom prst="ellipse">
            <a:avLst/>
          </a:prstGeom>
          <a:solidFill>
            <a:srgbClr val="D49A00">
              <a:alpha val="22000"/>
            </a:srgbClr>
          </a:solidFill>
          <a:ln w="12700">
            <a:solidFill>
              <a:srgbClr val="D49A00">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3090672"/>
            <a:ext cx="237744" cy="237744"/>
          </a:xfrm>
          <a:prstGeom prst="rect">
            <a:avLst/>
          </a:prstGeom>
        </p:spPr>
      </p:pic>
      <p:sp>
        <p:nvSpPr>
          <p:cNvPr id="34" name="Text 26"/>
          <p:cNvSpPr txBox="1"/>
          <p:nvPr/>
        </p:nvSpPr>
        <p:spPr>
          <a:xfrm>
            <a:off x="395935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5 · Gas flares</a:t>
            </a:r>
            <a:endParaRPr lang="en-US" sz="1300" dirty="0"/>
          </a:p>
        </p:txBody>
      </p:sp>
      <p:sp>
        <p:nvSpPr>
          <p:cNvPr id="35" name="Text 27"/>
          <p:cNvSpPr txBox="1"/>
          <p:nvPr/>
        </p:nvSpPr>
        <p:spPr>
          <a:xfrm>
            <a:off x="339242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 50 nW, &lt; 5 inhabitants, not built-up → removed with a 2 km halo</a:t>
            </a:r>
            <a:endParaRPr lang="en-US" sz="1050" dirty="0"/>
          </a:p>
        </p:txBody>
      </p:sp>
      <p:sp>
        <p:nvSpPr>
          <p:cNvPr id="36" name="Shape 28"/>
          <p:cNvSpPr/>
          <p:nvPr/>
        </p:nvSpPr>
        <p:spPr>
          <a:xfrm>
            <a:off x="6035040" y="2834640"/>
            <a:ext cx="2606040" cy="1298448"/>
          </a:xfrm>
          <a:prstGeom prst="roundRect">
            <a:avLst>
              <a:gd name="adj" fmla="val 5634"/>
            </a:avLst>
          </a:prstGeom>
          <a:solidFill>
            <a:srgbClr val="F4F7F5"/>
          </a:solidFill>
          <a:ln w="9525">
            <a:solidFill>
              <a:srgbClr val="D5DED9"/>
            </a:solidFill>
            <a:prstDash val="solid"/>
          </a:ln>
        </p:spPr>
      </p:sp>
      <p:sp>
        <p:nvSpPr>
          <p:cNvPr id="37" name="Shape 29"/>
          <p:cNvSpPr/>
          <p:nvPr/>
        </p:nvSpPr>
        <p:spPr>
          <a:xfrm>
            <a:off x="6181344" y="2980944"/>
            <a:ext cx="457200" cy="457200"/>
          </a:xfrm>
          <a:prstGeom prst="ellipse">
            <a:avLst/>
          </a:prstGeom>
          <a:solidFill>
            <a:srgbClr val="D49A00">
              <a:alpha val="22000"/>
            </a:srgbClr>
          </a:solidFill>
          <a:ln w="12700">
            <a:solidFill>
              <a:srgbClr val="D49A00">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3090672"/>
            <a:ext cx="237744" cy="237744"/>
          </a:xfrm>
          <a:prstGeom prst="rect">
            <a:avLst/>
          </a:prstGeom>
        </p:spPr>
      </p:pic>
      <p:sp>
        <p:nvSpPr>
          <p:cNvPr id="39" name="Text 30"/>
          <p:cNvSpPr txBox="1"/>
          <p:nvPr/>
        </p:nvSpPr>
        <p:spPr>
          <a:xfrm>
            <a:off x="6748272" y="298094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6 · DMSP</a:t>
            </a:r>
            <a:endParaRPr lang="en-US" sz="1300" dirty="0"/>
          </a:p>
        </p:txBody>
      </p:sp>
      <p:sp>
        <p:nvSpPr>
          <p:cNvPr id="40" name="Text 31"/>
          <p:cNvSpPr txBox="1"/>
          <p:nvPr/>
        </p:nvSpPr>
        <p:spPr>
          <a:xfrm>
            <a:off x="6181344" y="3511296"/>
            <a:ext cx="2331720" cy="56692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Saturation (DN 63) measured; harmonised series thresholded at DN &gt; 7</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 Li et al. (2020) for the DMSP threshold · all thresholds are parameters of NTLConfig</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BASE METRICS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Base metrics and quality checks, used everywhere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384048"/>
          </a:xfrm>
          <a:prstGeom prst="roundRect">
            <a:avLst>
              <a:gd name="adj" fmla="val 11905"/>
            </a:avLst>
          </a:prstGeom>
          <a:solidFill>
            <a:srgbClr val="F4F7F5"/>
          </a:solidFill>
          <a:ln w="6350">
            <a:solidFill>
              <a:srgbClr val="D5DED9"/>
            </a:solidFill>
            <a:prstDash val="solid"/>
          </a:ln>
        </p:spPr>
      </p:sp>
      <p:sp>
        <p:nvSpPr>
          <p:cNvPr id="15" name="Text 12"/>
          <p:cNvSpPr txBox="1"/>
          <p:nvPr/>
        </p:nvSpPr>
        <p:spPr>
          <a:xfrm>
            <a:off x="548640" y="1609344"/>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Sum of lights (SoL)</a:t>
            </a:r>
            <a:endParaRPr lang="en-US" sz="1050" dirty="0"/>
          </a:p>
        </p:txBody>
      </p:sp>
      <p:sp>
        <p:nvSpPr>
          <p:cNvPr id="16" name="Text 13"/>
          <p:cNvSpPr txBox="1"/>
          <p:nvPr/>
        </p:nvSpPr>
        <p:spPr>
          <a:xfrm>
            <a:off x="2331720" y="1609344"/>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radiance of clean pixels in the unit</a:t>
            </a:r>
            <a:endParaRPr lang="en-US" sz="1000" dirty="0"/>
          </a:p>
        </p:txBody>
      </p:sp>
      <p:sp>
        <p:nvSpPr>
          <p:cNvPr id="17" name="Text 14"/>
          <p:cNvSpPr txBox="1"/>
          <p:nvPr/>
        </p:nvSpPr>
        <p:spPr>
          <a:xfrm>
            <a:off x="5394960" y="1609344"/>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An index of activity; compare across time, with care across latitudes</a:t>
            </a:r>
            <a:endParaRPr lang="en-US" sz="950" dirty="0"/>
          </a:p>
        </p:txBody>
      </p:sp>
      <p:sp>
        <p:nvSpPr>
          <p:cNvPr id="18" name="Shape 15"/>
          <p:cNvSpPr/>
          <p:nvPr/>
        </p:nvSpPr>
        <p:spPr>
          <a:xfrm>
            <a:off x="457200" y="2048256"/>
            <a:ext cx="8229600" cy="384048"/>
          </a:xfrm>
          <a:prstGeom prst="roundRect">
            <a:avLst>
              <a:gd name="adj" fmla="val 11905"/>
            </a:avLst>
          </a:prstGeom>
          <a:solidFill>
            <a:srgbClr val="FFFFFF"/>
          </a:solidFill>
          <a:ln w="6350">
            <a:solidFill>
              <a:srgbClr val="D5DED9"/>
            </a:solidFill>
            <a:prstDash val="solid"/>
          </a:ln>
        </p:spPr>
      </p:sp>
      <p:sp>
        <p:nvSpPr>
          <p:cNvPr id="19" name="Text 16"/>
          <p:cNvSpPr txBox="1"/>
          <p:nvPr/>
        </p:nvSpPr>
        <p:spPr>
          <a:xfrm>
            <a:off x="548640" y="2048256"/>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Light per capita</a:t>
            </a:r>
            <a:endParaRPr lang="en-US" sz="1050" dirty="0"/>
          </a:p>
        </p:txBody>
      </p:sp>
      <p:sp>
        <p:nvSpPr>
          <p:cNvPr id="20" name="Text 17"/>
          <p:cNvSpPr txBox="1"/>
          <p:nvPr/>
        </p:nvSpPr>
        <p:spPr>
          <a:xfrm>
            <a:off x="2331720" y="2048256"/>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 population</a:t>
            </a:r>
            <a:endParaRPr lang="en-US" sz="1000" dirty="0"/>
          </a:p>
        </p:txBody>
      </p:sp>
      <p:sp>
        <p:nvSpPr>
          <p:cNvPr id="21" name="Text 18"/>
          <p:cNvSpPr txBox="1"/>
          <p:nvPr/>
        </p:nvSpPr>
        <p:spPr>
          <a:xfrm>
            <a:off x="5394960" y="2048256"/>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Active vs merely populated area</a:t>
            </a:r>
            <a:endParaRPr lang="en-US" sz="950" dirty="0"/>
          </a:p>
        </p:txBody>
      </p:sp>
      <p:sp>
        <p:nvSpPr>
          <p:cNvPr id="22" name="Shape 19"/>
          <p:cNvSpPr/>
          <p:nvPr/>
        </p:nvSpPr>
        <p:spPr>
          <a:xfrm>
            <a:off x="457200" y="2487168"/>
            <a:ext cx="8229600" cy="384048"/>
          </a:xfrm>
          <a:prstGeom prst="roundRect">
            <a:avLst>
              <a:gd name="adj" fmla="val 11905"/>
            </a:avLst>
          </a:prstGeom>
          <a:solidFill>
            <a:srgbClr val="F4F7F5"/>
          </a:solidFill>
          <a:ln w="6350">
            <a:solidFill>
              <a:srgbClr val="D5DED9"/>
            </a:solidFill>
            <a:prstDash val="solid"/>
          </a:ln>
        </p:spPr>
      </p:sp>
      <p:sp>
        <p:nvSpPr>
          <p:cNvPr id="23" name="Text 20"/>
          <p:cNvSpPr txBox="1"/>
          <p:nvPr/>
        </p:nvSpPr>
        <p:spPr>
          <a:xfrm>
            <a:off x="548640" y="2487168"/>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Lit area share</a:t>
            </a:r>
            <a:endParaRPr lang="en-US" sz="1050" dirty="0"/>
          </a:p>
        </p:txBody>
      </p:sp>
      <p:sp>
        <p:nvSpPr>
          <p:cNvPr id="24" name="Text 21"/>
          <p:cNvSpPr txBox="1"/>
          <p:nvPr/>
        </p:nvSpPr>
        <p:spPr>
          <a:xfrm>
            <a:off x="2331720" y="2487168"/>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area with radiance ≥ 0.5 nW / unit area</a:t>
            </a:r>
            <a:endParaRPr lang="en-US" sz="1000" dirty="0"/>
          </a:p>
        </p:txBody>
      </p:sp>
      <p:sp>
        <p:nvSpPr>
          <p:cNvPr id="25" name="Text 22"/>
          <p:cNvSpPr txBox="1"/>
          <p:nvPr/>
        </p:nvSpPr>
        <p:spPr>
          <a:xfrm>
            <a:off x="5394960" y="2487168"/>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Spatial extent of electrification and settlement</a:t>
            </a:r>
            <a:endParaRPr lang="en-US" sz="950" dirty="0"/>
          </a:p>
        </p:txBody>
      </p:sp>
      <p:sp>
        <p:nvSpPr>
          <p:cNvPr id="26" name="Shape 23"/>
          <p:cNvSpPr/>
          <p:nvPr/>
        </p:nvSpPr>
        <p:spPr>
          <a:xfrm>
            <a:off x="457200" y="2926080"/>
            <a:ext cx="8229600" cy="384048"/>
          </a:xfrm>
          <a:prstGeom prst="roundRect">
            <a:avLst>
              <a:gd name="adj" fmla="val 11905"/>
            </a:avLst>
          </a:prstGeom>
          <a:solidFill>
            <a:srgbClr val="FFFFFF"/>
          </a:solidFill>
          <a:ln w="6350">
            <a:solidFill>
              <a:srgbClr val="D5DED9"/>
            </a:solidFill>
            <a:prstDash val="solid"/>
          </a:ln>
        </p:spPr>
      </p:sp>
      <p:sp>
        <p:nvSpPr>
          <p:cNvPr id="27" name="Text 24"/>
          <p:cNvSpPr txBox="1"/>
          <p:nvPr/>
        </p:nvSpPr>
        <p:spPr>
          <a:xfrm>
            <a:off x="548640" y="2926080"/>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Flare share</a:t>
            </a:r>
            <a:endParaRPr lang="en-US" sz="1050" dirty="0"/>
          </a:p>
        </p:txBody>
      </p:sp>
      <p:sp>
        <p:nvSpPr>
          <p:cNvPr id="28" name="Text 25"/>
          <p:cNvSpPr txBox="1"/>
          <p:nvPr/>
        </p:nvSpPr>
        <p:spPr>
          <a:xfrm>
            <a:off x="2331720" y="2926080"/>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flare_sol / sol_raw</a:t>
            </a:r>
            <a:endParaRPr lang="en-US" sz="1000" dirty="0"/>
          </a:p>
        </p:txBody>
      </p:sp>
      <p:sp>
        <p:nvSpPr>
          <p:cNvPr id="29" name="Text 26"/>
          <p:cNvSpPr txBox="1"/>
          <p:nvPr/>
        </p:nvSpPr>
        <p:spPr>
          <a:xfrm>
            <a:off x="5394960" y="2926080"/>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High → oil and gas light dominates; results less reliable</a:t>
            </a:r>
            <a:endParaRPr lang="en-US" sz="950" dirty="0"/>
          </a:p>
        </p:txBody>
      </p:sp>
      <p:sp>
        <p:nvSpPr>
          <p:cNvPr id="30" name="Shape 27"/>
          <p:cNvSpPr/>
          <p:nvPr/>
        </p:nvSpPr>
        <p:spPr>
          <a:xfrm>
            <a:off x="457200" y="3364992"/>
            <a:ext cx="8229600" cy="384048"/>
          </a:xfrm>
          <a:prstGeom prst="roundRect">
            <a:avLst>
              <a:gd name="adj" fmla="val 11905"/>
            </a:avLst>
          </a:prstGeom>
          <a:solidFill>
            <a:srgbClr val="F4F7F5"/>
          </a:solidFill>
          <a:ln w="6350">
            <a:solidFill>
              <a:srgbClr val="D5DED9"/>
            </a:solidFill>
            <a:prstDash val="solid"/>
          </a:ln>
        </p:spPr>
      </p:sp>
      <p:sp>
        <p:nvSpPr>
          <p:cNvPr id="31" name="Text 28"/>
          <p:cNvSpPr txBox="1"/>
          <p:nvPr/>
        </p:nvSpPr>
        <p:spPr>
          <a:xfrm>
            <a:off x="548640" y="3364992"/>
            <a:ext cx="1737360" cy="38404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Imputed share</a:t>
            </a:r>
            <a:endParaRPr lang="en-US" sz="1050" dirty="0"/>
          </a:p>
        </p:txBody>
      </p:sp>
      <p:sp>
        <p:nvSpPr>
          <p:cNvPr id="32" name="Text 29"/>
          <p:cNvSpPr txBox="1"/>
          <p:nvPr/>
        </p:nvSpPr>
        <p:spPr>
          <a:xfrm>
            <a:off x="2331720" y="3364992"/>
            <a:ext cx="2971800" cy="38404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light imputed for cloudy pixels / SoL</a:t>
            </a:r>
            <a:endParaRPr lang="en-US" sz="1000" dirty="0"/>
          </a:p>
        </p:txBody>
      </p:sp>
      <p:sp>
        <p:nvSpPr>
          <p:cNvPr id="33" name="Text 30"/>
          <p:cNvSpPr txBox="1"/>
          <p:nvPr/>
        </p:nvSpPr>
        <p:spPr>
          <a:xfrm>
            <a:off x="5394960" y="3364992"/>
            <a:ext cx="3200400" cy="38404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High → the month relies on annual values</a:t>
            </a:r>
            <a:endParaRPr lang="en-US" sz="950" dirty="0"/>
          </a:p>
        </p:txBody>
      </p:sp>
      <p:pic>
        <p:nvPicPr>
          <p:cNvPr id="34" name="Image 0" descr="preencoded.png">    </p:cNvPr>
          <p:cNvPicPr>
            <a:picLocks noChangeAspect="1"/>
          </p:cNvPicPr>
          <p:nvPr/>
        </p:nvPicPr>
        <p:blipFill>
          <a:blip r:embed="rId1"/>
          <a:stretch>
            <a:fillRect/>
          </a:stretch>
        </p:blipFill>
        <p:spPr>
          <a:xfrm>
            <a:off x="457200" y="4206240"/>
            <a:ext cx="201168" cy="201168"/>
          </a:xfrm>
          <a:prstGeom prst="rect">
            <a:avLst/>
          </a:prstGeom>
        </p:spPr>
      </p:pic>
      <p:sp>
        <p:nvSpPr>
          <p:cNvPr id="35" name="Text 31"/>
          <p:cNvSpPr txBox="1"/>
          <p:nvPr/>
        </p:nvSpPr>
        <p:spPr>
          <a:xfrm>
            <a:off x="73152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Population GHSL / World Bank in [0.7 ; 1.3]</a:t>
            </a:r>
            <a:endParaRPr lang="en-US" sz="950" dirty="0"/>
          </a:p>
        </p:txBody>
      </p:sp>
      <p:pic>
        <p:nvPicPr>
          <p:cNvPr id="36" name="Image 1" descr="preencoded.png">    </p:cNvPr>
          <p:cNvPicPr>
            <a:picLocks noChangeAspect="1"/>
          </p:cNvPicPr>
          <p:nvPr/>
        </p:nvPicPr>
        <p:blipFill>
          <a:blip r:embed="rId2"/>
          <a:stretch>
            <a:fillRect/>
          </a:stretch>
        </p:blipFill>
        <p:spPr>
          <a:xfrm>
            <a:off x="3246120" y="4206240"/>
            <a:ext cx="201168" cy="201168"/>
          </a:xfrm>
          <a:prstGeom prst="rect">
            <a:avLst/>
          </a:prstGeom>
        </p:spPr>
      </p:pic>
      <p:sp>
        <p:nvSpPr>
          <p:cNvPr id="37" name="Text 32"/>
          <p:cNvSpPr txBox="1"/>
          <p:nvPr/>
        </p:nvSpPr>
        <p:spPr>
          <a:xfrm>
            <a:off x="352044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Jump at VNL V2.1 → V2.2 vs neighbouring years</a:t>
            </a:r>
            <a:endParaRPr lang="en-US" sz="950" dirty="0"/>
          </a:p>
        </p:txBody>
      </p:sp>
      <p:pic>
        <p:nvPicPr>
          <p:cNvPr id="38" name="Image 2" descr="preencoded.png">    </p:cNvPr>
          <p:cNvPicPr>
            <a:picLocks noChangeAspect="1"/>
          </p:cNvPicPr>
          <p:nvPr/>
        </p:nvPicPr>
        <p:blipFill>
          <a:blip r:embed="rId3"/>
          <a:stretch>
            <a:fillRect/>
          </a:stretch>
        </p:blipFill>
        <p:spPr>
          <a:xfrm>
            <a:off x="6035040" y="4206240"/>
            <a:ext cx="201168" cy="201168"/>
          </a:xfrm>
          <a:prstGeom prst="rect">
            <a:avLst/>
          </a:prstGeom>
        </p:spPr>
      </p:pic>
      <p:sp>
        <p:nvSpPr>
          <p:cNvPr id="39" name="Text 33"/>
          <p:cNvSpPr txBox="1"/>
          <p:nvPr/>
        </p:nvSpPr>
        <p:spPr>
          <a:xfrm>
            <a:off x="6309360" y="4160520"/>
            <a:ext cx="2468880" cy="310896"/>
          </a:xfrm>
          <a:prstGeom prst="rect">
            <a:avLst/>
          </a:prstGeom>
          <a:noFill/>
          <a:ln/>
        </p:spPr>
        <p:txBody>
          <a:bodyPr wrap="square" lIns="0" tIns="0" rIns="0" bIns="0" rtlCol="0" anchor="ctr"/>
          <a:lstStyle/>
          <a:p>
            <a:pPr indent="0" marL="0">
              <a:buNone/>
            </a:pPr>
            <a:r>
              <a:rPr lang="en-US" sz="950" dirty="0">
                <a:solidFill>
                  <a:srgbClr val="231F20"/>
                </a:solidFill>
                <a:latin typeface="Calibri" pitchFamily="34" charset="0"/>
                <a:ea typeface="Calibri" pitchFamily="34" charset="-122"/>
                <a:cs typeface="Calibri" pitchFamily="34" charset="-120"/>
              </a:rPr>
              <a:t>Jump at DMSP → VIIRS (2013 → 2014)</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Time dynamics: is activity rising, and how fast?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Is light activity rising, falling or flat — and is a recent movement real or seasonal?</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monthly</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sol_adj per unit and month, 2014 →</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annual</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per unit and year</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DMSP–VIIRS harmonised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read as a trend only</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Regularise</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Complete monthly calendar; gaps ≤ 3 months filled log-linearly</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Decompose (robust STL)</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 = trend + season (period 12) + remainder</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Seasonally adjust</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SA = exp(trend + remainder): the curve to read</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Compare year on year</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Each month vs the same month a year earlier</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Estimate the annual trend</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Theil–Sen + Mann–Kendall on annual composites; regional (ADM1) series</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1</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Time dynamics: the metrics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Seasonally adjusted SoL</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exp(trend + remainder)</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The level net of the usual seasonal pattern</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Year-on-year change</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SoLₘ / SoLₘ₋₁₂ − 1</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Seasonality cancels out; noisy month to month</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Annual growth (%/yr)</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exp(Theil–Sen slope of log SoL) − 1, 95 % CI</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Robust trend; read the interval, not only the point</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Mann–Kendall p-value</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Test of a monotonic trend</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Confidence: high p &lt; 0.01 · medium p &lt; 0.10 · low otherwise or n &lt; 6</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Anomaly</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 − med(r)| / (1.4826·MAD) ≥ 3.5 and |deviation| ≥ 5 %</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A month out of the ordinary, to explain</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Structural break</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Binary segmentation, linear segments ≥ 12 months, BIC-type penalty</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Lasting change in level or slope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Cleveland et al. (1990) STL; Sen (1968); Mann (1945), Kendall (1975)</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Regional growth: who grows, and do regions converge?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457200" y="132588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2" name="Shape 9"/>
          <p:cNvSpPr/>
          <p:nvPr/>
        </p:nvSpPr>
        <p:spPr>
          <a:xfrm>
            <a:off x="457200" y="1600200"/>
            <a:ext cx="329184" cy="329184"/>
          </a:xfrm>
          <a:prstGeom prst="ellipse">
            <a:avLst/>
          </a:prstGeom>
          <a:solidFill>
            <a:srgbClr val="D49A00">
              <a:alpha val="22000"/>
            </a:srgbClr>
          </a:solidFill>
          <a:ln w="12700">
            <a:solidFill>
              <a:srgbClr val="D49A00">
                <a:alpha val="0"/>
              </a:srgbClr>
            </a:solidFill>
            <a:prstDash val="solid"/>
          </a:ln>
        </p:spPr>
      </p:sp>
      <p:pic>
        <p:nvPicPr>
          <p:cNvPr id="13" name="Image 0" descr="preencoded.png">    </p:cNvPr>
          <p:cNvPicPr>
            <a:picLocks noChangeAspect="1"/>
          </p:cNvPicPr>
          <p:nvPr/>
        </p:nvPicPr>
        <p:blipFill>
          <a:blip r:embed="rId1"/>
          <a:stretch>
            <a:fillRect/>
          </a:stretch>
        </p:blipFill>
        <p:spPr>
          <a:xfrm>
            <a:off x="536204" y="1679204"/>
            <a:ext cx="171176" cy="171176"/>
          </a:xfrm>
          <a:prstGeom prst="rect">
            <a:avLst/>
          </a:prstGeom>
        </p:spPr>
      </p:pic>
      <p:sp>
        <p:nvSpPr>
          <p:cNvPr id="14" name="Text 10"/>
          <p:cNvSpPr txBox="1"/>
          <p:nvPr/>
        </p:nvSpPr>
        <p:spPr>
          <a:xfrm>
            <a:off x="84124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VNL annual SoL per ADM1 / ADM2</a:t>
            </a:r>
            <a:endParaRPr lang="en-US" sz="900" dirty="0"/>
          </a:p>
        </p:txBody>
      </p:sp>
      <p:sp>
        <p:nvSpPr>
          <p:cNvPr id="15" name="Shape 11"/>
          <p:cNvSpPr/>
          <p:nvPr/>
        </p:nvSpPr>
        <p:spPr>
          <a:xfrm>
            <a:off x="2103120" y="1600200"/>
            <a:ext cx="329184" cy="329184"/>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2182124" y="1679204"/>
            <a:ext cx="171176" cy="171176"/>
          </a:xfrm>
          <a:prstGeom prst="rect">
            <a:avLst/>
          </a:prstGeom>
        </p:spPr>
      </p:pic>
      <p:sp>
        <p:nvSpPr>
          <p:cNvPr id="17" name="Text 12"/>
          <p:cNvSpPr txBox="1"/>
          <p:nvPr/>
        </p:nvSpPr>
        <p:spPr>
          <a:xfrm>
            <a:off x="248716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GHS-POP → light per capita</a:t>
            </a:r>
            <a:endParaRPr lang="en-US" sz="900" dirty="0"/>
          </a:p>
        </p:txBody>
      </p:sp>
      <p:sp>
        <p:nvSpPr>
          <p:cNvPr id="18" name="Shape 13"/>
          <p:cNvSpPr/>
          <p:nvPr/>
        </p:nvSpPr>
        <p:spPr>
          <a:xfrm>
            <a:off x="3749040" y="1600200"/>
            <a:ext cx="329184" cy="329184"/>
          </a:xfrm>
          <a:prstGeom prst="ellipse">
            <a:avLst/>
          </a:prstGeom>
          <a:solidFill>
            <a:srgbClr val="D49A00">
              <a:alpha val="22000"/>
            </a:srgbClr>
          </a:solidFill>
          <a:ln w="12700">
            <a:solidFill>
              <a:srgbClr val="D49A00">
                <a:alpha val="0"/>
              </a:srgbClr>
            </a:solidFill>
            <a:prstDash val="solid"/>
          </a:ln>
        </p:spPr>
      </p:sp>
      <p:pic>
        <p:nvPicPr>
          <p:cNvPr id="19" name="Image 2" descr="preencoded.png">    </p:cNvPr>
          <p:cNvPicPr>
            <a:picLocks noChangeAspect="1"/>
          </p:cNvPicPr>
          <p:nvPr/>
        </p:nvPicPr>
        <p:blipFill>
          <a:blip r:embed="rId3"/>
          <a:stretch>
            <a:fillRect/>
          </a:stretch>
        </p:blipFill>
        <p:spPr>
          <a:xfrm>
            <a:off x="3828044" y="1679204"/>
            <a:ext cx="171176" cy="171176"/>
          </a:xfrm>
          <a:prstGeom prst="rect">
            <a:avLst/>
          </a:prstGeom>
        </p:spPr>
      </p:pic>
      <p:sp>
        <p:nvSpPr>
          <p:cNvPr id="20" name="Text 14"/>
          <p:cNvSpPr txBox="1"/>
          <p:nvPr/>
        </p:nvSpPr>
        <p:spPr>
          <a:xfrm>
            <a:off x="4133088" y="1572768"/>
            <a:ext cx="1216152" cy="411480"/>
          </a:xfrm>
          <a:prstGeom prst="rect">
            <a:avLst/>
          </a:prstGeom>
          <a:noFill/>
          <a:ln/>
        </p:spPr>
        <p:txBody>
          <a:bodyPr wrap="square" lIns="0" tIns="0" rIns="0" bIns="0" rtlCol="0" anchor="ctr"/>
          <a:lstStyle/>
          <a:p>
            <a:pPr indent="0" marL="0">
              <a:buNone/>
            </a:pPr>
            <a:r>
              <a:rPr lang="en-US" sz="900" dirty="0">
                <a:solidFill>
                  <a:srgbClr val="231F20"/>
                </a:solidFill>
                <a:latin typeface="Calibri" pitchFamily="34" charset="0"/>
                <a:ea typeface="Calibri" pitchFamily="34" charset="-122"/>
                <a:cs typeface="Calibri" pitchFamily="34" charset="-120"/>
              </a:rPr>
              <a:t>Sentinel-5P NO₂, last year</a:t>
            </a:r>
            <a:endParaRPr lang="en-US" sz="900" dirty="0"/>
          </a:p>
        </p:txBody>
      </p:sp>
      <p:sp>
        <p:nvSpPr>
          <p:cNvPr id="21" name="Text 15"/>
          <p:cNvSpPr txBox="1"/>
          <p:nvPr/>
        </p:nvSpPr>
        <p:spPr>
          <a:xfrm>
            <a:off x="457200" y="2148840"/>
            <a:ext cx="47548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2" name="Shape 16"/>
          <p:cNvSpPr/>
          <p:nvPr/>
        </p:nvSpPr>
        <p:spPr>
          <a:xfrm>
            <a:off x="457200" y="2450592"/>
            <a:ext cx="310896" cy="310896"/>
          </a:xfrm>
          <a:prstGeom prst="ellipse">
            <a:avLst/>
          </a:prstGeom>
          <a:solidFill>
            <a:srgbClr val="D49A00"/>
          </a:solidFill>
          <a:ln w="12700">
            <a:solidFill>
              <a:srgbClr val="D49A00"/>
            </a:solidFill>
            <a:prstDash val="solid"/>
          </a:ln>
        </p:spPr>
      </p:sp>
      <p:sp>
        <p:nvSpPr>
          <p:cNvPr id="23" name="Text 17"/>
          <p:cNvSpPr txBox="1"/>
          <p:nvPr/>
        </p:nvSpPr>
        <p:spPr>
          <a:xfrm>
            <a:off x="457200" y="245059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4" name="Text 18"/>
          <p:cNvSpPr txBox="1"/>
          <p:nvPr/>
        </p:nvSpPr>
        <p:spPr>
          <a:xfrm>
            <a:off x="896112" y="2423160"/>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Robust growth per unit</a:t>
            </a:r>
            <a:endParaRPr lang="en-US" sz="1100" dirty="0"/>
          </a:p>
        </p:txBody>
      </p:sp>
      <p:sp>
        <p:nvSpPr>
          <p:cNvPr id="25" name="Text 19"/>
          <p:cNvSpPr txBox="1"/>
          <p:nvPr/>
        </p:nvSpPr>
        <p:spPr>
          <a:xfrm>
            <a:off x="896112" y="2642616"/>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Theil–Sen slope of log SoL, Mann–Kendall p</a:t>
            </a:r>
            <a:endParaRPr lang="en-US" sz="950" dirty="0"/>
          </a:p>
        </p:txBody>
      </p:sp>
      <p:sp>
        <p:nvSpPr>
          <p:cNvPr id="26" name="Shape 20"/>
          <p:cNvSpPr/>
          <p:nvPr/>
        </p:nvSpPr>
        <p:spPr>
          <a:xfrm>
            <a:off x="457200" y="2962656"/>
            <a:ext cx="310896" cy="310896"/>
          </a:xfrm>
          <a:prstGeom prst="ellipse">
            <a:avLst/>
          </a:prstGeom>
          <a:solidFill>
            <a:srgbClr val="D49A00"/>
          </a:solidFill>
          <a:ln w="12700">
            <a:solidFill>
              <a:srgbClr val="D49A00"/>
            </a:solidFill>
            <a:prstDash val="solid"/>
          </a:ln>
        </p:spPr>
      </p:sp>
      <p:sp>
        <p:nvSpPr>
          <p:cNvPr id="27" name="Text 21"/>
          <p:cNvSpPr txBox="1"/>
          <p:nvPr/>
        </p:nvSpPr>
        <p:spPr>
          <a:xfrm>
            <a:off x="457200" y="2962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2"/>
          <p:cNvSpPr txBox="1"/>
          <p:nvPr/>
        </p:nvSpPr>
        <p:spPr>
          <a:xfrm>
            <a:off x="896112" y="2935224"/>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Correct for multiple tests</a:t>
            </a:r>
            <a:endParaRPr lang="en-US" sz="1100" dirty="0"/>
          </a:p>
        </p:txBody>
      </p:sp>
      <p:sp>
        <p:nvSpPr>
          <p:cNvPr id="29" name="Text 23"/>
          <p:cNvSpPr txBox="1"/>
          <p:nvPr/>
        </p:nvSpPr>
        <p:spPr>
          <a:xfrm>
            <a:off x="896112" y="3154680"/>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Benjamini–Hochberg adjusted p (false discovery rate)</a:t>
            </a:r>
            <a:endParaRPr lang="en-US" sz="950" dirty="0"/>
          </a:p>
        </p:txBody>
      </p:sp>
      <p:sp>
        <p:nvSpPr>
          <p:cNvPr id="30" name="Shape 24"/>
          <p:cNvSpPr/>
          <p:nvPr/>
        </p:nvSpPr>
        <p:spPr>
          <a:xfrm>
            <a:off x="457200" y="3474720"/>
            <a:ext cx="310896" cy="310896"/>
          </a:xfrm>
          <a:prstGeom prst="ellipse">
            <a:avLst/>
          </a:prstGeom>
          <a:solidFill>
            <a:srgbClr val="D49A00"/>
          </a:solidFill>
          <a:ln w="12700">
            <a:solidFill>
              <a:srgbClr val="D49A00"/>
            </a:solidFill>
            <a:prstDash val="solid"/>
          </a:ln>
        </p:spPr>
      </p:sp>
      <p:sp>
        <p:nvSpPr>
          <p:cNvPr id="31" name="Text 25"/>
          <p:cNvSpPr txBox="1"/>
          <p:nvPr/>
        </p:nvSpPr>
        <p:spPr>
          <a:xfrm>
            <a:off x="457200" y="34747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2" name="Text 26"/>
          <p:cNvSpPr txBox="1"/>
          <p:nvPr/>
        </p:nvSpPr>
        <p:spPr>
          <a:xfrm>
            <a:off x="896112" y="3447288"/>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Classify</a:t>
            </a:r>
            <a:endParaRPr lang="en-US" sz="1100" dirty="0"/>
          </a:p>
        </p:txBody>
      </p:sp>
      <p:sp>
        <p:nvSpPr>
          <p:cNvPr id="33" name="Text 27"/>
          <p:cNvSpPr txBox="1"/>
          <p:nvPr/>
        </p:nvSpPr>
        <p:spPr>
          <a:xfrm>
            <a:off x="896112" y="3666744"/>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Growth / Decline if |slope| ≥ 1 %/yr and p_adj &lt; 0.10, else Stagnation</a:t>
            </a:r>
            <a:endParaRPr lang="en-US" sz="950" dirty="0"/>
          </a:p>
        </p:txBody>
      </p:sp>
      <p:sp>
        <p:nvSpPr>
          <p:cNvPr id="34" name="Shape 28"/>
          <p:cNvSpPr/>
          <p:nvPr/>
        </p:nvSpPr>
        <p:spPr>
          <a:xfrm>
            <a:off x="457200" y="3986784"/>
            <a:ext cx="310896" cy="310896"/>
          </a:xfrm>
          <a:prstGeom prst="ellipse">
            <a:avLst/>
          </a:prstGeom>
          <a:solidFill>
            <a:srgbClr val="D49A00"/>
          </a:solidFill>
          <a:ln w="12700">
            <a:solidFill>
              <a:srgbClr val="D49A00"/>
            </a:solidFill>
            <a:prstDash val="solid"/>
          </a:ln>
        </p:spPr>
      </p:sp>
      <p:sp>
        <p:nvSpPr>
          <p:cNvPr id="35" name="Text 29"/>
          <p:cNvSpPr txBox="1"/>
          <p:nvPr/>
        </p:nvSpPr>
        <p:spPr>
          <a:xfrm>
            <a:off x="457200" y="39867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6" name="Text 30"/>
          <p:cNvSpPr txBox="1"/>
          <p:nvPr/>
        </p:nvSpPr>
        <p:spPr>
          <a:xfrm>
            <a:off x="896112" y="3959352"/>
            <a:ext cx="4297680" cy="219456"/>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Concentration and convergence</a:t>
            </a:r>
            <a:endParaRPr lang="en-US" sz="1100" dirty="0"/>
          </a:p>
        </p:txBody>
      </p:sp>
      <p:sp>
        <p:nvSpPr>
          <p:cNvPr id="37" name="Text 31"/>
          <p:cNvSpPr txBox="1"/>
          <p:nvPr/>
        </p:nvSpPr>
        <p:spPr>
          <a:xfrm>
            <a:off x="896112" y="4178808"/>
            <a:ext cx="42976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Top shares, HHI, β (3-year initial mean), σ; NO₂ correlation</a:t>
            </a:r>
            <a:endParaRPr lang="en-US" sz="950" dirty="0"/>
          </a:p>
        </p:txBody>
      </p:sp>
      <p:graphicFrame>
        <p:nvGraphicFramePr>
          <p:cNvPr id="38" name="Chart 0" descr=""/>
          <p:cNvGraphicFramePr/>
          <p:nvPr/>
        </p:nvGraphicFramePr>
        <p:xfrm>
          <a:off x="5532120" y="1280160"/>
          <a:ext cx="3200400" cy="2514600"/>
        </p:xfrm>
        <a:graphic xmlns:a="http://schemas.openxmlformats.org/drawingml/2006/main">
          <a:graphicData uri="http://schemas.openxmlformats.org/drawingml/2006/chart">
            <c:chart xmlns:c="http://schemas.openxmlformats.org/drawingml/2006/chart" r:id="rId4"/>
          </a:graphicData>
        </a:graphic>
      </p:graphicFrame>
      <p:sp>
        <p:nvSpPr>
          <p:cNvPr id="39" name="Text 32"/>
          <p:cNvSpPr txBox="1"/>
          <p:nvPr/>
        </p:nvSpPr>
        <p:spPr>
          <a:xfrm>
            <a:off x="5577840" y="3840480"/>
            <a:ext cx="3108960" cy="59436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Simulation: 60 units, 12 years, 25 % noise, no true convergence — share of runs wrongly significant at 95 %</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2</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Regional growth: the metrics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Growth class</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 ≥ 1 %/yr and BH-adjusted p &lt; 0.10</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Growth / Decline / Stagnation (= not established)</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Top-1 and top-10 % shares</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of the brightest unit(s) / total SoL</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Weight of the capital or main pole</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Herfindahl index (HHI)</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sᵢ²  (sᵢ = SoLᵢ / Σ SoL)</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0 → dispersed · 1 → all light in one unit</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β-convergence</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gᵢ = a + β·log(initial light/cap.ᵢ) + ε, HC1 errors</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β &lt; 0 with CI &lt; 0 → lagging units catch up</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Half-life</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ln 2 / −ln(1 + β)</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Years needed to close half the gap</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σ-convergence</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st. dev. of log(light/cap.) across units, per year</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Falling σ → regions become more alike</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NO₂ correlation</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Spearman ρ(NO₂ mean, SoL) across units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High ρ → light reflects combustion activity</a:t>
            </a:r>
            <a:endParaRPr lang="en-US" sz="95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Benjamini &amp; Hochberg (1995); Barro &amp; Sala-i-Martin (1992); Herfindahl (1950)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Lights and GDP: measuring the elasticity</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Does light track official GDP, and by how much does it move when GDP moves by 1 %?</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annual, national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per year (+ V2.1 / V2.2 flag)</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Harmonised long series</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1992 →, sensor dummy</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World Bank NY.GDP.MKTP.KD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Real GDP, constant 2015 USD</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Levels</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log(SoLₜ) = α + β·log(GDPₜ) [+ δ·V22ₜ] + εₜ</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Growth rates</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Δlog(SoL) = α + β·Δlog(GDP): immune to common trends</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Long series</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Levels on 1992 → with a DMSP / VIIRS dummy</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Uncertainty</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Newey–West (HAC) 95 % CI + pairs bootstrap CI (999 draws)</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Diagnostics</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Durbin–Watson · Breusch–Pagan · Jarque–Bera · Ramsey RESET (n ≥ 12)</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3</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Lights and GDP: nowcast and regional estimate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Elasticity β</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slope of log SoL on log GDP (or of growth rates)</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+1 % GDP ↔ +β % light; Henderson's 0.3 ≈ 1/β</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Confidence of β</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high: n ≥ 15, p &lt; 0.01, CI width &lt; 1, R² ≥ 0.6</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medium if p &lt; 0.10 · low if n &lt; 8 or not significant</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Nowcast</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Δlog GDP = a + γ·Δlog SoL, chained from last official year</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Estimate for unpublished years, with 80 / 95 % bands</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Pseudo-real-time MAE</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mean |actual − predicted| growth, pp; expanding window ≥ 5 yrs</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Typical error of a forecaster using lights</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Relative MAE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MAE lights / min(MAE last-year, MAE past-mean)</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&lt; 1 → lights add information beyond naive rules</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Regional GDP (experimental)</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GDPᵢ = GDP · SoLᵢ^γ / Σ SoLⱼ^γ, γ = 1 ; 0.5</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Sums to national GDP; gap γ=1 vs 0.5 = uncertainty</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Henderson, Storeygard &amp; Weil (2012); Newey &amp; West (1987) · regional GDP is labelled experimental everywhere</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Shocks: how deep, how long, and is it real?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1828800" y="1417320"/>
            <a:ext cx="1143000" cy="2103120"/>
          </a:xfrm>
          <a:prstGeom prst="rect">
            <a:avLst/>
          </a:prstGeom>
          <a:solidFill>
            <a:srgbClr val="D49A00">
              <a:alpha val="15000"/>
            </a:srgbClr>
          </a:solidFill>
          <a:ln w="12700">
            <a:solidFill>
              <a:srgbClr val="D49A00">
                <a:alpha val="0"/>
              </a:srgbClr>
            </a:solidFill>
            <a:prstDash val="solid"/>
          </a:ln>
        </p:spPr>
      </p:sp>
      <p:sp>
        <p:nvSpPr>
          <p:cNvPr id="12" name="Shape 9"/>
          <p:cNvSpPr/>
          <p:nvPr/>
        </p:nvSpPr>
        <p:spPr>
          <a:xfrm flipV="1">
            <a:off x="548640" y="2011680"/>
            <a:ext cx="548640" cy="91440"/>
          </a:xfrm>
          <a:prstGeom prst="line">
            <a:avLst/>
          </a:prstGeom>
          <a:noFill/>
          <a:ln w="31750">
            <a:solidFill>
              <a:srgbClr val="00553A"/>
            </a:solidFill>
            <a:prstDash val="solid"/>
          </a:ln>
        </p:spPr>
      </p:sp>
      <p:sp>
        <p:nvSpPr>
          <p:cNvPr id="13" name="Shape 10"/>
          <p:cNvSpPr/>
          <p:nvPr/>
        </p:nvSpPr>
        <p:spPr>
          <a:xfrm flipV="1">
            <a:off x="1097280" y="1965960"/>
            <a:ext cx="548640" cy="45720"/>
          </a:xfrm>
          <a:prstGeom prst="line">
            <a:avLst/>
          </a:prstGeom>
          <a:noFill/>
          <a:ln w="31750">
            <a:solidFill>
              <a:srgbClr val="00553A"/>
            </a:solidFill>
            <a:prstDash val="solid"/>
          </a:ln>
        </p:spPr>
      </p:sp>
      <p:sp>
        <p:nvSpPr>
          <p:cNvPr id="14" name="Shape 11"/>
          <p:cNvSpPr/>
          <p:nvPr/>
        </p:nvSpPr>
        <p:spPr>
          <a:xfrm>
            <a:off x="1645920" y="1965960"/>
            <a:ext cx="457200" cy="960120"/>
          </a:xfrm>
          <a:prstGeom prst="line">
            <a:avLst/>
          </a:prstGeom>
          <a:noFill/>
          <a:ln w="31750">
            <a:solidFill>
              <a:srgbClr val="00553A"/>
            </a:solidFill>
            <a:prstDash val="solid"/>
          </a:ln>
        </p:spPr>
      </p:sp>
      <p:sp>
        <p:nvSpPr>
          <p:cNvPr id="15" name="Shape 12"/>
          <p:cNvSpPr/>
          <p:nvPr/>
        </p:nvSpPr>
        <p:spPr>
          <a:xfrm>
            <a:off x="2103120" y="2926080"/>
            <a:ext cx="457200" cy="228600"/>
          </a:xfrm>
          <a:prstGeom prst="line">
            <a:avLst/>
          </a:prstGeom>
          <a:noFill/>
          <a:ln w="31750">
            <a:solidFill>
              <a:srgbClr val="00553A"/>
            </a:solidFill>
            <a:prstDash val="solid"/>
          </a:ln>
        </p:spPr>
      </p:sp>
      <p:sp>
        <p:nvSpPr>
          <p:cNvPr id="16" name="Shape 13"/>
          <p:cNvSpPr/>
          <p:nvPr/>
        </p:nvSpPr>
        <p:spPr>
          <a:xfrm flipV="1">
            <a:off x="2560320" y="2651760"/>
            <a:ext cx="548640" cy="502920"/>
          </a:xfrm>
          <a:prstGeom prst="line">
            <a:avLst/>
          </a:prstGeom>
          <a:noFill/>
          <a:ln w="31750">
            <a:solidFill>
              <a:srgbClr val="00553A"/>
            </a:solidFill>
            <a:prstDash val="solid"/>
          </a:ln>
        </p:spPr>
      </p:sp>
      <p:sp>
        <p:nvSpPr>
          <p:cNvPr id="17" name="Shape 14"/>
          <p:cNvSpPr/>
          <p:nvPr/>
        </p:nvSpPr>
        <p:spPr>
          <a:xfrm flipV="1">
            <a:off x="3108960" y="2148840"/>
            <a:ext cx="548640" cy="502920"/>
          </a:xfrm>
          <a:prstGeom prst="line">
            <a:avLst/>
          </a:prstGeom>
          <a:noFill/>
          <a:ln w="31750">
            <a:solidFill>
              <a:srgbClr val="00553A"/>
            </a:solidFill>
            <a:prstDash val="solid"/>
          </a:ln>
        </p:spPr>
      </p:sp>
      <p:sp>
        <p:nvSpPr>
          <p:cNvPr id="18" name="Shape 15"/>
          <p:cNvSpPr/>
          <p:nvPr/>
        </p:nvSpPr>
        <p:spPr>
          <a:xfrm flipV="1">
            <a:off x="3657600" y="1965960"/>
            <a:ext cx="548640" cy="182880"/>
          </a:xfrm>
          <a:prstGeom prst="line">
            <a:avLst/>
          </a:prstGeom>
          <a:noFill/>
          <a:ln w="31750">
            <a:solidFill>
              <a:srgbClr val="00553A"/>
            </a:solidFill>
            <a:prstDash val="solid"/>
          </a:ln>
        </p:spPr>
      </p:sp>
      <p:sp>
        <p:nvSpPr>
          <p:cNvPr id="19" name="Shape 16"/>
          <p:cNvSpPr/>
          <p:nvPr/>
        </p:nvSpPr>
        <p:spPr>
          <a:xfrm>
            <a:off x="548640" y="2011680"/>
            <a:ext cx="3749040" cy="0"/>
          </a:xfrm>
          <a:prstGeom prst="line">
            <a:avLst/>
          </a:prstGeom>
          <a:noFill/>
          <a:ln w="12700">
            <a:solidFill>
              <a:srgbClr val="5E6964"/>
            </a:solidFill>
            <a:prstDash val="dash"/>
          </a:ln>
        </p:spPr>
      </p:sp>
      <p:sp>
        <p:nvSpPr>
          <p:cNvPr id="20" name="Shape 17"/>
          <p:cNvSpPr/>
          <p:nvPr/>
        </p:nvSpPr>
        <p:spPr>
          <a:xfrm>
            <a:off x="1828800" y="1965960"/>
            <a:ext cx="1143000" cy="109728"/>
          </a:xfrm>
          <a:prstGeom prst="line">
            <a:avLst/>
          </a:prstGeom>
          <a:noFill/>
          <a:ln w="12700">
            <a:solidFill>
              <a:srgbClr val="0E7C86"/>
            </a:solidFill>
            <a:prstDash val="sysDot"/>
          </a:ln>
        </p:spPr>
      </p:sp>
      <p:sp>
        <p:nvSpPr>
          <p:cNvPr id="21" name="Text 18"/>
          <p:cNvSpPr txBox="1"/>
          <p:nvPr/>
        </p:nvSpPr>
        <p:spPr>
          <a:xfrm>
            <a:off x="548640" y="1691640"/>
            <a:ext cx="182880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baseline (12 months before)</a:t>
            </a:r>
            <a:endParaRPr lang="en-US" sz="950" dirty="0"/>
          </a:p>
        </p:txBody>
      </p:sp>
      <p:sp>
        <p:nvSpPr>
          <p:cNvPr id="22" name="Text 19"/>
          <p:cNvSpPr txBox="1"/>
          <p:nvPr/>
        </p:nvSpPr>
        <p:spPr>
          <a:xfrm>
            <a:off x="2331720" y="3200400"/>
            <a:ext cx="731520" cy="256032"/>
          </a:xfrm>
          <a:prstGeom prst="rect">
            <a:avLst/>
          </a:prstGeom>
          <a:noFill/>
          <a:ln/>
        </p:spPr>
        <p:txBody>
          <a:bodyPr wrap="square" lIns="0" tIns="0" rIns="0" bIns="0" rtlCol="0" anchor="t"/>
          <a:lstStyle/>
          <a:p>
            <a:pPr indent="0" marL="0">
              <a:buNone/>
            </a:pPr>
            <a:r>
              <a:rPr lang="en-US" sz="1000" b="1" dirty="0">
                <a:solidFill>
                  <a:srgbClr val="B83B2E"/>
                </a:solidFill>
                <a:latin typeface="Calibri" pitchFamily="34" charset="0"/>
                <a:ea typeface="Calibri" pitchFamily="34" charset="-122"/>
                <a:cs typeface="Calibri" pitchFamily="34" charset="-120"/>
              </a:rPr>
              <a:t>trough</a:t>
            </a:r>
            <a:endParaRPr lang="en-US" sz="1000" dirty="0"/>
          </a:p>
        </p:txBody>
      </p:sp>
      <p:sp>
        <p:nvSpPr>
          <p:cNvPr id="23" name="Text 20"/>
          <p:cNvSpPr txBox="1"/>
          <p:nvPr/>
        </p:nvSpPr>
        <p:spPr>
          <a:xfrm>
            <a:off x="3429000" y="2194560"/>
            <a:ext cx="1005840" cy="256032"/>
          </a:xfrm>
          <a:prstGeom prst="rect">
            <a:avLst/>
          </a:prstGeom>
          <a:noFill/>
          <a:ln/>
        </p:spPr>
        <p:txBody>
          <a:bodyPr wrap="square" lIns="0" tIns="0" rIns="0" bIns="0" rtlCol="0" anchor="t"/>
          <a:lstStyle/>
          <a:p>
            <a:pPr indent="0" marL="0">
              <a:buNone/>
            </a:pPr>
            <a:r>
              <a:rPr lang="en-US" sz="1000" b="1" dirty="0">
                <a:solidFill>
                  <a:srgbClr val="00A86A"/>
                </a:solidFill>
                <a:latin typeface="Calibri" pitchFamily="34" charset="0"/>
                <a:ea typeface="Calibri" pitchFamily="34" charset="-122"/>
                <a:cs typeface="Calibri" pitchFamily="34" charset="-120"/>
              </a:rPr>
              <a:t>recovery</a:t>
            </a:r>
            <a:endParaRPr lang="en-US" sz="1000" dirty="0"/>
          </a:p>
        </p:txBody>
      </p:sp>
      <p:sp>
        <p:nvSpPr>
          <p:cNvPr id="24" name="Text 21"/>
          <p:cNvSpPr txBox="1"/>
          <p:nvPr/>
        </p:nvSpPr>
        <p:spPr>
          <a:xfrm>
            <a:off x="1828800" y="1463040"/>
            <a:ext cx="1143000" cy="256032"/>
          </a:xfrm>
          <a:prstGeom prst="rect">
            <a:avLst/>
          </a:prstGeom>
          <a:noFill/>
          <a:ln/>
        </p:spPr>
        <p:txBody>
          <a:bodyPr wrap="square" lIns="0" tIns="0" rIns="0" bIns="0" rtlCol="0" anchor="t"/>
          <a:lstStyle/>
          <a:p>
            <a:pPr algn="ctr" indent="0" marL="0">
              <a:buNone/>
            </a:pPr>
            <a:r>
              <a:rPr lang="en-US" sz="1000" b="1" dirty="0">
                <a:solidFill>
                  <a:srgbClr val="D49A00"/>
                </a:solidFill>
                <a:latin typeface="Calibri" pitchFamily="34" charset="0"/>
                <a:ea typeface="Calibri" pitchFamily="34" charset="-122"/>
                <a:cs typeface="Calibri" pitchFamily="34" charset="-120"/>
              </a:rPr>
              <a:t>event</a:t>
            </a:r>
            <a:endParaRPr lang="en-US" sz="1000" dirty="0"/>
          </a:p>
        </p:txBody>
      </p:sp>
      <p:sp>
        <p:nvSpPr>
          <p:cNvPr id="25" name="Text 22"/>
          <p:cNvSpPr txBox="1"/>
          <p:nvPr/>
        </p:nvSpPr>
        <p:spPr>
          <a:xfrm>
            <a:off x="548640" y="3657600"/>
            <a:ext cx="3840480" cy="274320"/>
          </a:xfrm>
          <a:prstGeom prst="rect">
            <a:avLst/>
          </a:prstGeom>
          <a:noFill/>
          <a:ln/>
        </p:spPr>
        <p:txBody>
          <a:bodyPr wrap="square" lIns="0" tIns="0" rIns="0" bIns="0" rtlCol="0" anchor="t"/>
          <a:lstStyle/>
          <a:p>
            <a:pPr indent="0" marL="0">
              <a:buNone/>
            </a:pPr>
            <a:r>
              <a:rPr lang="en-US" sz="950" i="1" dirty="0">
                <a:solidFill>
                  <a:srgbClr val="5E6964"/>
                </a:solidFill>
                <a:latin typeface="Calibri" pitchFamily="34" charset="0"/>
                <a:ea typeface="Calibri" pitchFamily="34" charset="-122"/>
                <a:cs typeface="Calibri" pitchFamily="34" charset="-120"/>
              </a:rPr>
              <a:t>Schematic: seasonally adjusted series around an event</a:t>
            </a:r>
            <a:endParaRPr lang="en-US" sz="950" dirty="0"/>
          </a:p>
        </p:txBody>
      </p:sp>
      <p:sp>
        <p:nvSpPr>
          <p:cNvPr id="26" name="Text 23"/>
          <p:cNvSpPr txBox="1"/>
          <p:nvPr/>
        </p:nvSpPr>
        <p:spPr>
          <a:xfrm>
            <a:off x="548640" y="3977640"/>
            <a:ext cx="38404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27" name="Text 24"/>
          <p:cNvSpPr txBox="1"/>
          <p:nvPr/>
        </p:nvSpPr>
        <p:spPr>
          <a:xfrm>
            <a:off x="548640" y="4206240"/>
            <a:ext cx="3931920" cy="41148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Seasonally adjusted monthly VNL (S1) · Black Marble VNP46A2 daily · event catalogue: COVID-19, CUSTOM_EVENTS, ACLED / EM-DAT</a:t>
            </a:r>
            <a:endParaRPr lang="en-US" sz="950" dirty="0"/>
          </a:p>
        </p:txBody>
      </p:sp>
      <p:sp>
        <p:nvSpPr>
          <p:cNvPr id="28" name="Text 25"/>
          <p:cNvSpPr txBox="1"/>
          <p:nvPr/>
        </p:nvSpPr>
        <p:spPr>
          <a:xfrm>
            <a:off x="4663440" y="1325880"/>
            <a:ext cx="10972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29" name="Text 26"/>
          <p:cNvSpPr txBox="1"/>
          <p:nvPr/>
        </p:nvSpPr>
        <p:spPr>
          <a:xfrm>
            <a:off x="5852160" y="1325880"/>
            <a:ext cx="16002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FORMULA</a:t>
            </a:r>
            <a:endParaRPr lang="en-US" sz="900" dirty="0"/>
          </a:p>
        </p:txBody>
      </p:sp>
      <p:sp>
        <p:nvSpPr>
          <p:cNvPr id="30" name="Text 27"/>
          <p:cNvSpPr txBox="1"/>
          <p:nvPr/>
        </p:nvSpPr>
        <p:spPr>
          <a:xfrm>
            <a:off x="7543800" y="1325880"/>
            <a:ext cx="11430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READING</a:t>
            </a:r>
            <a:endParaRPr lang="en-US" sz="900" dirty="0"/>
          </a:p>
        </p:txBody>
      </p:sp>
      <p:sp>
        <p:nvSpPr>
          <p:cNvPr id="31" name="Shape 28"/>
          <p:cNvSpPr/>
          <p:nvPr/>
        </p:nvSpPr>
        <p:spPr>
          <a:xfrm>
            <a:off x="4572000" y="1581912"/>
            <a:ext cx="4114800" cy="603504"/>
          </a:xfrm>
          <a:prstGeom prst="roundRect">
            <a:avLst>
              <a:gd name="adj" fmla="val 7576"/>
            </a:avLst>
          </a:prstGeom>
          <a:solidFill>
            <a:srgbClr val="F4F7F5"/>
          </a:solidFill>
          <a:ln w="6350">
            <a:solidFill>
              <a:srgbClr val="D5DED9"/>
            </a:solidFill>
            <a:prstDash val="solid"/>
          </a:ln>
        </p:spPr>
      </p:sp>
      <p:sp>
        <p:nvSpPr>
          <p:cNvPr id="32" name="Text 29"/>
          <p:cNvSpPr txBox="1"/>
          <p:nvPr/>
        </p:nvSpPr>
        <p:spPr>
          <a:xfrm>
            <a:off x="4663440" y="1581912"/>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Trough %</a:t>
            </a:r>
            <a:endParaRPr lang="en-US" sz="950" dirty="0"/>
          </a:p>
        </p:txBody>
      </p:sp>
      <p:sp>
        <p:nvSpPr>
          <p:cNvPr id="33" name="Text 30"/>
          <p:cNvSpPr txBox="1"/>
          <p:nvPr/>
        </p:nvSpPr>
        <p:spPr>
          <a:xfrm>
            <a:off x="5760720" y="1581912"/>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100·(exp(min SA − baseline) − 1)</a:t>
            </a:r>
            <a:endParaRPr lang="en-US" sz="900" dirty="0"/>
          </a:p>
        </p:txBody>
      </p:sp>
      <p:sp>
        <p:nvSpPr>
          <p:cNvPr id="34" name="Text 31"/>
          <p:cNvSpPr txBox="1"/>
          <p:nvPr/>
        </p:nvSpPr>
        <p:spPr>
          <a:xfrm>
            <a:off x="7452360" y="1581912"/>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Depth of the fall</a:t>
            </a:r>
            <a:endParaRPr lang="en-US" sz="850" dirty="0"/>
          </a:p>
        </p:txBody>
      </p:sp>
      <p:sp>
        <p:nvSpPr>
          <p:cNvPr id="35" name="Shape 32"/>
          <p:cNvSpPr/>
          <p:nvPr/>
        </p:nvSpPr>
        <p:spPr>
          <a:xfrm>
            <a:off x="4572000" y="2240280"/>
            <a:ext cx="4114800" cy="603504"/>
          </a:xfrm>
          <a:prstGeom prst="roundRect">
            <a:avLst>
              <a:gd name="adj" fmla="val 7576"/>
            </a:avLst>
          </a:prstGeom>
          <a:solidFill>
            <a:srgbClr val="FFFFFF"/>
          </a:solidFill>
          <a:ln w="6350">
            <a:solidFill>
              <a:srgbClr val="D5DED9"/>
            </a:solidFill>
            <a:prstDash val="solid"/>
          </a:ln>
        </p:spPr>
      </p:sp>
      <p:sp>
        <p:nvSpPr>
          <p:cNvPr id="36" name="Text 33"/>
          <p:cNvSpPr txBox="1"/>
          <p:nvPr/>
        </p:nvSpPr>
        <p:spPr>
          <a:xfrm>
            <a:off x="4663440" y="2240280"/>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Gap vs trend %</a:t>
            </a:r>
            <a:endParaRPr lang="en-US" sz="950" dirty="0"/>
          </a:p>
        </p:txBody>
      </p:sp>
      <p:sp>
        <p:nvSpPr>
          <p:cNvPr id="37" name="Text 34"/>
          <p:cNvSpPr txBox="1"/>
          <p:nvPr/>
        </p:nvSpPr>
        <p:spPr>
          <a:xfrm>
            <a:off x="5760720" y="2240280"/>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mean deviation from the 24-month pre-trend</a:t>
            </a:r>
            <a:endParaRPr lang="en-US" sz="900" dirty="0"/>
          </a:p>
        </p:txBody>
      </p:sp>
      <p:sp>
        <p:nvSpPr>
          <p:cNvPr id="38" name="Text 35"/>
          <p:cNvSpPr txBox="1"/>
          <p:nvPr/>
        </p:nvSpPr>
        <p:spPr>
          <a:xfrm>
            <a:off x="7452360" y="2240280"/>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Loss vs where activity was heading</a:t>
            </a:r>
            <a:endParaRPr lang="en-US" sz="850" dirty="0"/>
          </a:p>
        </p:txBody>
      </p:sp>
      <p:sp>
        <p:nvSpPr>
          <p:cNvPr id="39" name="Shape 36"/>
          <p:cNvSpPr/>
          <p:nvPr/>
        </p:nvSpPr>
        <p:spPr>
          <a:xfrm>
            <a:off x="4572000" y="2898648"/>
            <a:ext cx="4114800" cy="603504"/>
          </a:xfrm>
          <a:prstGeom prst="roundRect">
            <a:avLst>
              <a:gd name="adj" fmla="val 7576"/>
            </a:avLst>
          </a:prstGeom>
          <a:solidFill>
            <a:srgbClr val="F4F7F5"/>
          </a:solidFill>
          <a:ln w="6350">
            <a:solidFill>
              <a:srgbClr val="D5DED9"/>
            </a:solidFill>
            <a:prstDash val="solid"/>
          </a:ln>
        </p:spPr>
      </p:sp>
      <p:sp>
        <p:nvSpPr>
          <p:cNvPr id="40" name="Text 37"/>
          <p:cNvSpPr txBox="1"/>
          <p:nvPr/>
        </p:nvSpPr>
        <p:spPr>
          <a:xfrm>
            <a:off x="4663440" y="2898648"/>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Months to recovery</a:t>
            </a:r>
            <a:endParaRPr lang="en-US" sz="950" dirty="0"/>
          </a:p>
        </p:txBody>
      </p:sp>
      <p:sp>
        <p:nvSpPr>
          <p:cNvPr id="41" name="Text 38"/>
          <p:cNvSpPr txBox="1"/>
          <p:nvPr/>
        </p:nvSpPr>
        <p:spPr>
          <a:xfrm>
            <a:off x="5760720" y="2898648"/>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first month SA ≥ baseline (≤ 36)</a:t>
            </a:r>
            <a:endParaRPr lang="en-US" sz="900" dirty="0"/>
          </a:p>
        </p:txBody>
      </p:sp>
      <p:sp>
        <p:nvSpPr>
          <p:cNvPr id="42" name="Text 39"/>
          <p:cNvSpPr txBox="1"/>
          <p:nvPr/>
        </p:nvSpPr>
        <p:spPr>
          <a:xfrm>
            <a:off x="7452360" y="2898648"/>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Speed of recovery; none = not recovered</a:t>
            </a:r>
            <a:endParaRPr lang="en-US" sz="850" dirty="0"/>
          </a:p>
        </p:txBody>
      </p:sp>
      <p:sp>
        <p:nvSpPr>
          <p:cNvPr id="43" name="Shape 40"/>
          <p:cNvSpPr/>
          <p:nvPr/>
        </p:nvSpPr>
        <p:spPr>
          <a:xfrm>
            <a:off x="4572000" y="3557016"/>
            <a:ext cx="4114800" cy="603504"/>
          </a:xfrm>
          <a:prstGeom prst="roundRect">
            <a:avLst>
              <a:gd name="adj" fmla="val 7576"/>
            </a:avLst>
          </a:prstGeom>
          <a:solidFill>
            <a:srgbClr val="FFFFFF"/>
          </a:solidFill>
          <a:ln w="6350">
            <a:solidFill>
              <a:srgbClr val="D5DED9"/>
            </a:solidFill>
            <a:prstDash val="solid"/>
          </a:ln>
        </p:spPr>
      </p:sp>
      <p:sp>
        <p:nvSpPr>
          <p:cNvPr id="44" name="Text 41"/>
          <p:cNvSpPr txBox="1"/>
          <p:nvPr/>
        </p:nvSpPr>
        <p:spPr>
          <a:xfrm>
            <a:off x="4663440" y="3557016"/>
            <a:ext cx="1051560" cy="603504"/>
          </a:xfrm>
          <a:prstGeom prst="rect">
            <a:avLst/>
          </a:prstGeom>
          <a:noFill/>
          <a:ln/>
        </p:spPr>
        <p:txBody>
          <a:bodyPr wrap="square" lIns="0" tIns="0" rIns="0" bIns="0" rtlCol="0" anchor="ctr"/>
          <a:lstStyle/>
          <a:p>
            <a:pPr indent="0" marL="0">
              <a:buNone/>
            </a:pPr>
            <a:r>
              <a:rPr lang="en-US" sz="950" b="1" dirty="0">
                <a:solidFill>
                  <a:srgbClr val="231F20"/>
                </a:solidFill>
                <a:latin typeface="Calibri" pitchFamily="34" charset="0"/>
                <a:ea typeface="Calibri" pitchFamily="34" charset="-122"/>
                <a:cs typeface="Calibri" pitchFamily="34" charset="-120"/>
              </a:rPr>
              <a:t>Placebo test</a:t>
            </a:r>
            <a:endParaRPr lang="en-US" sz="950" dirty="0"/>
          </a:p>
        </p:txBody>
      </p:sp>
      <p:sp>
        <p:nvSpPr>
          <p:cNvPr id="45" name="Text 42"/>
          <p:cNvSpPr txBox="1"/>
          <p:nvPr/>
        </p:nvSpPr>
        <p:spPr>
          <a:xfrm>
            <a:off x="5760720" y="3557016"/>
            <a:ext cx="1600200" cy="603504"/>
          </a:xfrm>
          <a:prstGeom prst="rect">
            <a:avLst/>
          </a:prstGeom>
          <a:noFill/>
          <a:ln/>
        </p:spPr>
        <p:txBody>
          <a:bodyPr wrap="square" lIns="0" tIns="0" rIns="0" bIns="0" rtlCol="0" anchor="ctr"/>
          <a:lstStyle/>
          <a:p>
            <a:pPr indent="0" marL="0">
              <a:buNone/>
            </a:pPr>
            <a:r>
              <a:rPr lang="en-US" sz="900" dirty="0">
                <a:solidFill>
                  <a:srgbClr val="0E7C86"/>
                </a:solidFill>
                <a:latin typeface="Calibri" pitchFamily="34" charset="0"/>
                <a:ea typeface="Calibri" pitchFamily="34" charset="-122"/>
                <a:cs typeface="Calibri" pitchFamily="34" charset="-120"/>
              </a:rPr>
              <a:t>trough &lt; 5th percentile of earlier windows</a:t>
            </a:r>
            <a:endParaRPr lang="en-US" sz="900" dirty="0"/>
          </a:p>
        </p:txBody>
      </p:sp>
      <p:sp>
        <p:nvSpPr>
          <p:cNvPr id="46" name="Text 43"/>
          <p:cNvSpPr txBox="1"/>
          <p:nvPr/>
        </p:nvSpPr>
        <p:spPr>
          <a:xfrm>
            <a:off x="7452360" y="3557016"/>
            <a:ext cx="1143000" cy="603504"/>
          </a:xfrm>
          <a:prstGeom prst="rect">
            <a:avLst/>
          </a:prstGeom>
          <a:noFill/>
          <a:ln/>
        </p:spPr>
        <p:txBody>
          <a:bodyPr wrap="square" lIns="0" tIns="0" rIns="0" bIns="0" rtlCol="0" anchor="ctr"/>
          <a:lstStyle/>
          <a:p>
            <a:pPr indent="0" marL="0">
              <a:buNone/>
            </a:pPr>
            <a:r>
              <a:rPr lang="en-US" sz="850" dirty="0">
                <a:solidFill>
                  <a:srgbClr val="5E6964"/>
                </a:solidFill>
                <a:latin typeface="Calibri" pitchFamily="34" charset="0"/>
                <a:ea typeface="Calibri" pitchFamily="34" charset="-122"/>
                <a:cs typeface="Calibri" pitchFamily="34" charset="-120"/>
              </a:rPr>
              <a:t>Stands out from ordinary noise</a:t>
            </a:r>
            <a:endParaRPr lang="en-US" sz="8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4</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Shocks: daily zoom and regional impact</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08176"/>
            <a:ext cx="457200" cy="457200"/>
          </a:xfrm>
          <a:prstGeom prst="ellipse">
            <a:avLst/>
          </a:prstGeom>
          <a:solidFill>
            <a:srgbClr val="D49A00">
              <a:alpha val="22000"/>
            </a:srgbClr>
          </a:solidFill>
          <a:ln w="12700">
            <a:solidFill>
              <a:srgbClr val="D49A00">
                <a:alpha val="0"/>
              </a:srgbClr>
            </a:solidFill>
            <a:prstDash val="solid"/>
          </a:ln>
        </p:spPr>
      </p:sp>
      <p:pic>
        <p:nvPicPr>
          <p:cNvPr id="12" name="Image 0" descr="preencoded.png">    </p:cNvPr>
          <p:cNvPicPr>
            <a:picLocks noChangeAspect="1"/>
          </p:cNvPicPr>
          <p:nvPr/>
        </p:nvPicPr>
        <p:blipFill>
          <a:blip r:embed="rId1"/>
          <a:stretch>
            <a:fillRect/>
          </a:stretch>
        </p:blipFill>
        <p:spPr>
          <a:xfrm>
            <a:off x="566928" y="1517904"/>
            <a:ext cx="237744" cy="237744"/>
          </a:xfrm>
          <a:prstGeom prst="rect">
            <a:avLst/>
          </a:prstGeom>
        </p:spPr>
      </p:pic>
      <p:sp>
        <p:nvSpPr>
          <p:cNvPr id="13" name="Text 9"/>
          <p:cNvSpPr txBox="1"/>
          <p:nvPr/>
        </p:nvSpPr>
        <p:spPr>
          <a:xfrm>
            <a:off x="1024128" y="1371600"/>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Keep good nights</a:t>
            </a:r>
            <a:endParaRPr lang="en-US" sz="1200" dirty="0"/>
          </a:p>
        </p:txBody>
      </p:sp>
      <p:sp>
        <p:nvSpPr>
          <p:cNvPr id="14" name="Text 10"/>
          <p:cNvSpPr txBox="1"/>
          <p:nvPr/>
        </p:nvSpPr>
        <p:spPr>
          <a:xfrm>
            <a:off x="1024128" y="1645920"/>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Quality flag ∈ {0, 1} · cloud bits 6–7 ≤ 1 · no snow · pixel lit in the annual composite</a:t>
            </a:r>
            <a:endParaRPr lang="en-US" sz="950" dirty="0"/>
          </a:p>
        </p:txBody>
      </p:sp>
      <p:sp>
        <p:nvSpPr>
          <p:cNvPr id="15" name="Shape 11"/>
          <p:cNvSpPr/>
          <p:nvPr/>
        </p:nvSpPr>
        <p:spPr>
          <a:xfrm>
            <a:off x="457200" y="2176272"/>
            <a:ext cx="457200" cy="457200"/>
          </a:xfrm>
          <a:prstGeom prst="ellipse">
            <a:avLst/>
          </a:prstGeom>
          <a:solidFill>
            <a:srgbClr val="D49A00">
              <a:alpha val="22000"/>
            </a:srgbClr>
          </a:solidFill>
          <a:ln w="12700">
            <a:solidFill>
              <a:srgbClr val="D49A00">
                <a:alpha val="0"/>
              </a:srgbClr>
            </a:solidFill>
            <a:prstDash val="solid"/>
          </a:ln>
        </p:spPr>
      </p:sp>
      <p:pic>
        <p:nvPicPr>
          <p:cNvPr id="16" name="Image 1" descr="preencoded.png">    </p:cNvPr>
          <p:cNvPicPr>
            <a:picLocks noChangeAspect="1"/>
          </p:cNvPicPr>
          <p:nvPr/>
        </p:nvPicPr>
        <p:blipFill>
          <a:blip r:embed="rId2"/>
          <a:stretch>
            <a:fillRect/>
          </a:stretch>
        </p:blipFill>
        <p:spPr>
          <a:xfrm>
            <a:off x="566928" y="2286000"/>
            <a:ext cx="237744" cy="237744"/>
          </a:xfrm>
          <a:prstGeom prst="rect">
            <a:avLst/>
          </a:prstGeom>
        </p:spPr>
      </p:pic>
      <p:sp>
        <p:nvSpPr>
          <p:cNvPr id="17" name="Text 12"/>
          <p:cNvSpPr txBox="1"/>
          <p:nvPr/>
        </p:nvSpPr>
        <p:spPr>
          <a:xfrm>
            <a:off x="1024128" y="2139696"/>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Daily sum</a:t>
            </a:r>
            <a:endParaRPr lang="en-US" sz="1200" dirty="0"/>
          </a:p>
        </p:txBody>
      </p:sp>
      <p:sp>
        <p:nvSpPr>
          <p:cNvPr id="18" name="Text 13"/>
          <p:cNvSpPr txBox="1"/>
          <p:nvPr/>
        </p:nvSpPr>
        <p:spPr>
          <a:xfrm>
            <a:off x="1024128" y="2414016"/>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Day kept if ≥ 50 % of pixels observed; SoL scaled by the observed share</a:t>
            </a:r>
            <a:endParaRPr lang="en-US" sz="950" dirty="0"/>
          </a:p>
        </p:txBody>
      </p:sp>
      <p:sp>
        <p:nvSpPr>
          <p:cNvPr id="19" name="Shape 14"/>
          <p:cNvSpPr/>
          <p:nvPr/>
        </p:nvSpPr>
        <p:spPr>
          <a:xfrm>
            <a:off x="457200" y="2944368"/>
            <a:ext cx="457200" cy="457200"/>
          </a:xfrm>
          <a:prstGeom prst="ellipse">
            <a:avLst/>
          </a:prstGeom>
          <a:solidFill>
            <a:srgbClr val="D49A00">
              <a:alpha val="22000"/>
            </a:srgbClr>
          </a:solidFill>
          <a:ln w="12700">
            <a:solidFill>
              <a:srgbClr val="D49A00">
                <a:alpha val="0"/>
              </a:srgbClr>
            </a:solidFill>
            <a:prstDash val="solid"/>
          </a:ln>
        </p:spPr>
      </p:sp>
      <p:pic>
        <p:nvPicPr>
          <p:cNvPr id="20" name="Image 2" descr="preencoded.png">    </p:cNvPr>
          <p:cNvPicPr>
            <a:picLocks noChangeAspect="1"/>
          </p:cNvPicPr>
          <p:nvPr/>
        </p:nvPicPr>
        <p:blipFill>
          <a:blip r:embed="rId3"/>
          <a:stretch>
            <a:fillRect/>
          </a:stretch>
        </p:blipFill>
        <p:spPr>
          <a:xfrm>
            <a:off x="566928" y="3054096"/>
            <a:ext cx="237744" cy="237744"/>
          </a:xfrm>
          <a:prstGeom prst="rect">
            <a:avLst/>
          </a:prstGeom>
        </p:spPr>
      </p:pic>
      <p:sp>
        <p:nvSpPr>
          <p:cNvPr id="21" name="Text 15"/>
          <p:cNvSpPr txBox="1"/>
          <p:nvPr/>
        </p:nvSpPr>
        <p:spPr>
          <a:xfrm>
            <a:off x="1024128" y="2907792"/>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Smooth</a:t>
            </a:r>
            <a:endParaRPr lang="en-US" sz="1200" dirty="0"/>
          </a:p>
        </p:txBody>
      </p:sp>
      <p:sp>
        <p:nvSpPr>
          <p:cNvPr id="22" name="Text 16"/>
          <p:cNvSpPr txBox="1"/>
          <p:nvPr/>
        </p:nvSpPr>
        <p:spPr>
          <a:xfrm>
            <a:off x="1024128" y="3182112"/>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7-day rolling median: absorbs lunar residuals and cloudy days</a:t>
            </a:r>
            <a:endParaRPr lang="en-US" sz="950" dirty="0"/>
          </a:p>
        </p:txBody>
      </p:sp>
      <p:sp>
        <p:nvSpPr>
          <p:cNvPr id="23" name="Shape 17"/>
          <p:cNvSpPr/>
          <p:nvPr/>
        </p:nvSpPr>
        <p:spPr>
          <a:xfrm>
            <a:off x="457200" y="3712464"/>
            <a:ext cx="457200" cy="457200"/>
          </a:xfrm>
          <a:prstGeom prst="ellipse">
            <a:avLst/>
          </a:prstGeom>
          <a:solidFill>
            <a:srgbClr val="D49A00">
              <a:alpha val="22000"/>
            </a:srgbClr>
          </a:solidFill>
          <a:ln w="12700">
            <a:solidFill>
              <a:srgbClr val="D49A00">
                <a:alpha val="0"/>
              </a:srgbClr>
            </a:solidFill>
            <a:prstDash val="solid"/>
          </a:ln>
        </p:spPr>
      </p:sp>
      <p:pic>
        <p:nvPicPr>
          <p:cNvPr id="24" name="Image 3" descr="preencoded.png">    </p:cNvPr>
          <p:cNvPicPr>
            <a:picLocks noChangeAspect="1"/>
          </p:cNvPicPr>
          <p:nvPr/>
        </p:nvPicPr>
        <p:blipFill>
          <a:blip r:embed="rId4"/>
          <a:stretch>
            <a:fillRect/>
          </a:stretch>
        </p:blipFill>
        <p:spPr>
          <a:xfrm>
            <a:off x="566928" y="3822192"/>
            <a:ext cx="237744" cy="237744"/>
          </a:xfrm>
          <a:prstGeom prst="rect">
            <a:avLst/>
          </a:prstGeom>
        </p:spPr>
      </p:pic>
      <p:sp>
        <p:nvSpPr>
          <p:cNvPr id="25" name="Text 18"/>
          <p:cNvSpPr txBox="1"/>
          <p:nvPr/>
        </p:nvSpPr>
        <p:spPr>
          <a:xfrm>
            <a:off x="1024128" y="3675888"/>
            <a:ext cx="320040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Index</a:t>
            </a:r>
            <a:endParaRPr lang="en-US" sz="1200" dirty="0"/>
          </a:p>
        </p:txBody>
      </p:sp>
      <p:sp>
        <p:nvSpPr>
          <p:cNvPr id="26" name="Text 19"/>
          <p:cNvSpPr txBox="1"/>
          <p:nvPr/>
        </p:nvSpPr>
        <p:spPr>
          <a:xfrm>
            <a:off x="1024128" y="3950208"/>
            <a:ext cx="3200400" cy="43891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100 × SoL / same days 364 days earlier (same weekday)</a:t>
            </a:r>
            <a:endParaRPr lang="en-US" sz="950" dirty="0"/>
          </a:p>
        </p:txBody>
      </p:sp>
      <p:sp>
        <p:nvSpPr>
          <p:cNvPr id="27" name="Shape 20"/>
          <p:cNvSpPr/>
          <p:nvPr/>
        </p:nvSpPr>
        <p:spPr>
          <a:xfrm>
            <a:off x="4526280" y="1371600"/>
            <a:ext cx="4160520" cy="1600200"/>
          </a:xfrm>
          <a:prstGeom prst="roundRect">
            <a:avLst>
              <a:gd name="adj" fmla="val 4571"/>
            </a:avLst>
          </a:prstGeom>
          <a:solidFill>
            <a:srgbClr val="E8F5EF"/>
          </a:solidFill>
          <a:ln w="15875">
            <a:solidFill>
              <a:srgbClr val="D49A00"/>
            </a:solidFill>
            <a:prstDash val="solid"/>
          </a:ln>
        </p:spPr>
      </p:sp>
      <p:sp>
        <p:nvSpPr>
          <p:cNvPr id="28" name="Text 21"/>
          <p:cNvSpPr txBox="1"/>
          <p:nvPr/>
        </p:nvSpPr>
        <p:spPr>
          <a:xfrm>
            <a:off x="4681728" y="1444752"/>
            <a:ext cx="3840480" cy="256032"/>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Reading the daily index</a:t>
            </a:r>
            <a:endParaRPr lang="en-US" sz="1200" dirty="0"/>
          </a:p>
        </p:txBody>
      </p:sp>
      <p:sp>
        <p:nvSpPr>
          <p:cNvPr id="29" name="Text 22"/>
          <p:cNvSpPr txBox="1"/>
          <p:nvPr/>
        </p:nvSpPr>
        <p:spPr>
          <a:xfrm>
            <a:off x="4681728" y="1755648"/>
            <a:ext cx="731520" cy="329184"/>
          </a:xfrm>
          <a:prstGeom prst="rect">
            <a:avLst/>
          </a:prstGeom>
          <a:noFill/>
          <a:ln/>
        </p:spPr>
        <p:txBody>
          <a:bodyPr wrap="square" lIns="0" tIns="0" rIns="0" bIns="0" rtlCol="0" anchor="ctr"/>
          <a:lstStyle/>
          <a:p>
            <a:pPr indent="0" marL="0">
              <a:buNone/>
            </a:pPr>
            <a:r>
              <a:rPr lang="en-US" sz="1500" b="1" dirty="0">
                <a:solidFill>
                  <a:srgbClr val="5E6964"/>
                </a:solidFill>
                <a:latin typeface="Calibri" pitchFamily="34" charset="0"/>
                <a:ea typeface="Calibri" pitchFamily="34" charset="-122"/>
                <a:cs typeface="Calibri" pitchFamily="34" charset="-120"/>
              </a:rPr>
              <a:t>100</a:t>
            </a:r>
            <a:endParaRPr lang="en-US" sz="1500" dirty="0"/>
          </a:p>
        </p:txBody>
      </p:sp>
      <p:sp>
        <p:nvSpPr>
          <p:cNvPr id="30" name="Text 23"/>
          <p:cNvSpPr txBox="1"/>
          <p:nvPr/>
        </p:nvSpPr>
        <p:spPr>
          <a:xfrm>
            <a:off x="5440680" y="1755648"/>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same activity as a year earlier</a:t>
            </a:r>
            <a:endParaRPr lang="en-US" sz="1000" dirty="0"/>
          </a:p>
        </p:txBody>
      </p:sp>
      <p:sp>
        <p:nvSpPr>
          <p:cNvPr id="31" name="Text 24"/>
          <p:cNvSpPr txBox="1"/>
          <p:nvPr/>
        </p:nvSpPr>
        <p:spPr>
          <a:xfrm>
            <a:off x="4681728" y="2139696"/>
            <a:ext cx="731520" cy="329184"/>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&lt; 100</a:t>
            </a:r>
            <a:endParaRPr lang="en-US" sz="1500" dirty="0"/>
          </a:p>
        </p:txBody>
      </p:sp>
      <p:sp>
        <p:nvSpPr>
          <p:cNvPr id="32" name="Text 25"/>
          <p:cNvSpPr txBox="1"/>
          <p:nvPr/>
        </p:nvSpPr>
        <p:spPr>
          <a:xfrm>
            <a:off x="5440680" y="2139696"/>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activity below last year (outage, lockdown, conflict)</a:t>
            </a:r>
            <a:endParaRPr lang="en-US" sz="1000" dirty="0"/>
          </a:p>
        </p:txBody>
      </p:sp>
      <p:sp>
        <p:nvSpPr>
          <p:cNvPr id="33" name="Text 26"/>
          <p:cNvSpPr txBox="1"/>
          <p:nvPr/>
        </p:nvSpPr>
        <p:spPr>
          <a:xfrm>
            <a:off x="4681728" y="2523744"/>
            <a:ext cx="731520" cy="329184"/>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&gt; 100</a:t>
            </a:r>
            <a:endParaRPr lang="en-US" sz="1500" dirty="0"/>
          </a:p>
        </p:txBody>
      </p:sp>
      <p:sp>
        <p:nvSpPr>
          <p:cNvPr id="34" name="Text 27"/>
          <p:cNvSpPr txBox="1"/>
          <p:nvPr/>
        </p:nvSpPr>
        <p:spPr>
          <a:xfrm>
            <a:off x="5440680" y="2523744"/>
            <a:ext cx="3154680" cy="329184"/>
          </a:xfrm>
          <a:prstGeom prst="rect">
            <a:avLst/>
          </a:prstGeom>
          <a:noFill/>
          <a:ln/>
        </p:spPr>
        <p:txBody>
          <a:bodyPr wrap="square" lIns="0" tIns="0" rIns="0" bIns="0" rtlCol="0" anchor="ctr"/>
          <a:lstStyle/>
          <a:p>
            <a:pPr indent="0" marL="0">
              <a:buNone/>
            </a:pPr>
            <a:r>
              <a:rPr lang="en-US" sz="1000" dirty="0">
                <a:solidFill>
                  <a:srgbClr val="231F20"/>
                </a:solidFill>
                <a:latin typeface="Calibri" pitchFamily="34" charset="0"/>
                <a:ea typeface="Calibri" pitchFamily="34" charset="-122"/>
                <a:cs typeface="Calibri" pitchFamily="34" charset="-120"/>
              </a:rPr>
              <a:t>activity above last year (recovery, electrification)</a:t>
            </a:r>
            <a:endParaRPr lang="en-US" sz="1000" dirty="0"/>
          </a:p>
        </p:txBody>
      </p:sp>
      <p:sp>
        <p:nvSpPr>
          <p:cNvPr id="35" name="Shape 28"/>
          <p:cNvSpPr/>
          <p:nvPr/>
        </p:nvSpPr>
        <p:spPr>
          <a:xfrm>
            <a:off x="4526280" y="3108960"/>
            <a:ext cx="4160520" cy="1325880"/>
          </a:xfrm>
          <a:prstGeom prst="roundRect">
            <a:avLst>
              <a:gd name="adj" fmla="val 5517"/>
            </a:avLst>
          </a:prstGeom>
          <a:solidFill>
            <a:srgbClr val="F4F7F5"/>
          </a:solidFill>
          <a:ln w="9525">
            <a:solidFill>
              <a:srgbClr val="D5DED9"/>
            </a:solidFill>
            <a:prstDash val="solid"/>
          </a:ln>
        </p:spPr>
      </p:sp>
      <p:sp>
        <p:nvSpPr>
          <p:cNvPr id="36" name="Text 29"/>
          <p:cNvSpPr txBox="1"/>
          <p:nvPr/>
        </p:nvSpPr>
        <p:spPr>
          <a:xfrm>
            <a:off x="4681728" y="3182112"/>
            <a:ext cx="3840480" cy="256032"/>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Regional impact and unexplained breaks</a:t>
            </a:r>
            <a:endParaRPr lang="en-US" sz="1200" dirty="0"/>
          </a:p>
        </p:txBody>
      </p:sp>
      <p:sp>
        <p:nvSpPr>
          <p:cNvPr id="37" name="Text 30"/>
          <p:cNvSpPr txBox="1"/>
          <p:nvPr/>
        </p:nvSpPr>
        <p:spPr>
          <a:xfrm>
            <a:off x="4681728" y="3474720"/>
            <a:ext cx="3886200" cy="914400"/>
          </a:xfrm>
          <a:prstGeom prst="rect">
            <a:avLst/>
          </a:prstGeom>
          <a:noFill/>
          <a:ln/>
        </p:spPr>
        <p:txBody>
          <a:bodyPr wrap="square" lIns="0" tIns="0" rIns="0" bIns="0" rtlCol="0" anchor="t"/>
          <a:lstStyle/>
          <a:p>
            <a:pPr marL="342900" indent="-34290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Heat table: trough % by ADM1 × event (−30 % → +30 %).</a:t>
            </a:r>
            <a:endParaRPr lang="en-US" sz="1000" dirty="0"/>
          </a:p>
          <a:p>
            <a:pPr marL="342900" indent="-342900">
              <a:spcAft>
                <a:spcPts val="400"/>
              </a:spcAft>
              <a:buSzPct val="100000"/>
              <a:buChar char="•"/>
            </a:pPr>
            <a:r>
              <a:rPr lang="en-US" sz="1000" dirty="0">
                <a:solidFill>
                  <a:srgbClr val="5E6964"/>
                </a:solidFill>
                <a:latin typeface="Calibri" pitchFamily="34" charset="0"/>
                <a:ea typeface="Calibri" pitchFamily="34" charset="-122"/>
                <a:cs typeface="Calibri" pitchFamily="34" charset="-120"/>
              </a:rPr>
              <a:t>Breaks with no catalogued event within ±6 months → document before interpreting.</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Inequality: how unevenly is light shared?</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25880"/>
            <a:ext cx="3429000" cy="960120"/>
          </a:xfrm>
          <a:prstGeom prst="roundRect">
            <a:avLst>
              <a:gd name="adj" fmla="val 7619"/>
            </a:avLst>
          </a:prstGeom>
          <a:solidFill>
            <a:srgbClr val="E8F5EF"/>
          </a:solidFill>
          <a:ln w="15875">
            <a:solidFill>
              <a:srgbClr val="D49A00"/>
            </a:solidFill>
            <a:prstDash val="solid"/>
          </a:ln>
        </p:spPr>
      </p:sp>
      <p:sp>
        <p:nvSpPr>
          <p:cNvPr id="12" name="Text 9"/>
          <p:cNvSpPr txBox="1"/>
          <p:nvPr/>
        </p:nvSpPr>
        <p:spPr>
          <a:xfrm>
            <a:off x="621792" y="1399032"/>
            <a:ext cx="310896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QUESTION</a:t>
            </a:r>
            <a:endParaRPr lang="en-US" sz="900" dirty="0"/>
          </a:p>
        </p:txBody>
      </p:sp>
      <p:sp>
        <p:nvSpPr>
          <p:cNvPr id="13" name="Text 10"/>
          <p:cNvSpPr txBox="1"/>
          <p:nvPr/>
        </p:nvSpPr>
        <p:spPr>
          <a:xfrm>
            <a:off x="621792" y="1627632"/>
            <a:ext cx="3154680" cy="621792"/>
          </a:xfrm>
          <a:prstGeom prst="rect">
            <a:avLst/>
          </a:prstGeom>
          <a:noFill/>
          <a:ln/>
        </p:spPr>
        <p:txBody>
          <a:bodyPr wrap="square" lIns="0" tIns="0" rIns="0" bIns="0" rtlCol="0" anchor="ctr"/>
          <a:lstStyle/>
          <a:p>
            <a:pPr indent="0" marL="0">
              <a:buNone/>
            </a:pPr>
            <a:r>
              <a:rPr lang="en-US" sz="1250" b="1" i="1" dirty="0">
                <a:solidFill>
                  <a:srgbClr val="231F20"/>
                </a:solidFill>
                <a:latin typeface="Calibri" pitchFamily="34" charset="0"/>
                <a:ea typeface="Calibri" pitchFamily="34" charset="-122"/>
                <a:cs typeface="Calibri" pitchFamily="34" charset="-120"/>
              </a:rPr>
              <a:t>Is light per capita concentrated in a few places, and at which level should policy act?</a:t>
            </a:r>
            <a:endParaRPr lang="en-US" sz="1250" dirty="0"/>
          </a:p>
        </p:txBody>
      </p:sp>
      <p:sp>
        <p:nvSpPr>
          <p:cNvPr id="14" name="Text 11"/>
          <p:cNvSpPr txBox="1"/>
          <p:nvPr/>
        </p:nvSpPr>
        <p:spPr>
          <a:xfrm>
            <a:off x="457200" y="2395728"/>
            <a:ext cx="338328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DATA USED</a:t>
            </a:r>
            <a:endParaRPr lang="en-US" sz="900" dirty="0"/>
          </a:p>
        </p:txBody>
      </p:sp>
      <p:sp>
        <p:nvSpPr>
          <p:cNvPr id="15" name="Shape 12"/>
          <p:cNvSpPr/>
          <p:nvPr/>
        </p:nvSpPr>
        <p:spPr>
          <a:xfrm>
            <a:off x="457200" y="2670048"/>
            <a:ext cx="347472" cy="347472"/>
          </a:xfrm>
          <a:prstGeom prst="ellipse">
            <a:avLst/>
          </a:prstGeom>
          <a:solidFill>
            <a:srgbClr val="D49A00">
              <a:alpha val="22000"/>
            </a:srgbClr>
          </a:solidFill>
          <a:ln w="12700">
            <a:solidFill>
              <a:srgbClr val="D49A00">
                <a:alpha val="0"/>
              </a:srgbClr>
            </a:solidFill>
            <a:prstDash val="solid"/>
          </a:ln>
        </p:spPr>
      </p:sp>
      <p:pic>
        <p:nvPicPr>
          <p:cNvPr id="16" name="Image 0" descr="preencoded.png">    </p:cNvPr>
          <p:cNvPicPr>
            <a:picLocks noChangeAspect="1"/>
          </p:cNvPicPr>
          <p:nvPr/>
        </p:nvPicPr>
        <p:blipFill>
          <a:blip r:embed="rId1"/>
          <a:stretch>
            <a:fillRect/>
          </a:stretch>
        </p:blipFill>
        <p:spPr>
          <a:xfrm>
            <a:off x="540593" y="2753441"/>
            <a:ext cx="180685" cy="180685"/>
          </a:xfrm>
          <a:prstGeom prst="rect">
            <a:avLst/>
          </a:prstGeom>
        </p:spPr>
      </p:pic>
      <p:sp>
        <p:nvSpPr>
          <p:cNvPr id="17" name="Text 13"/>
          <p:cNvSpPr txBox="1"/>
          <p:nvPr/>
        </p:nvSpPr>
        <p:spPr>
          <a:xfrm>
            <a:off x="896112" y="26517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VIIRS VNL annual</a:t>
            </a:r>
            <a:endParaRPr lang="en-US" sz="1050" dirty="0"/>
          </a:p>
        </p:txBody>
      </p:sp>
      <p:sp>
        <p:nvSpPr>
          <p:cNvPr id="18" name="Text 14"/>
          <p:cNvSpPr txBox="1"/>
          <p:nvPr/>
        </p:nvSpPr>
        <p:spPr>
          <a:xfrm>
            <a:off x="896112" y="28437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SoL per district (finest level)</a:t>
            </a:r>
            <a:endParaRPr lang="en-US" sz="900" dirty="0"/>
          </a:p>
        </p:txBody>
      </p:sp>
      <p:sp>
        <p:nvSpPr>
          <p:cNvPr id="19" name="Shape 15"/>
          <p:cNvSpPr/>
          <p:nvPr/>
        </p:nvSpPr>
        <p:spPr>
          <a:xfrm>
            <a:off x="457200" y="3127248"/>
            <a:ext cx="347472" cy="347472"/>
          </a:xfrm>
          <a:prstGeom prst="ellipse">
            <a:avLst/>
          </a:prstGeom>
          <a:solidFill>
            <a:srgbClr val="D49A00">
              <a:alpha val="22000"/>
            </a:srgbClr>
          </a:solidFill>
          <a:ln w="12700">
            <a:solidFill>
              <a:srgbClr val="D49A00">
                <a:alpha val="0"/>
              </a:srgbClr>
            </a:solidFill>
            <a:prstDash val="solid"/>
          </a:ln>
        </p:spPr>
      </p:sp>
      <p:pic>
        <p:nvPicPr>
          <p:cNvPr id="20" name="Image 1" descr="preencoded.png">    </p:cNvPr>
          <p:cNvPicPr>
            <a:picLocks noChangeAspect="1"/>
          </p:cNvPicPr>
          <p:nvPr/>
        </p:nvPicPr>
        <p:blipFill>
          <a:blip r:embed="rId2"/>
          <a:stretch>
            <a:fillRect/>
          </a:stretch>
        </p:blipFill>
        <p:spPr>
          <a:xfrm>
            <a:off x="540593" y="3210641"/>
            <a:ext cx="180685" cy="180685"/>
          </a:xfrm>
          <a:prstGeom prst="rect">
            <a:avLst/>
          </a:prstGeom>
        </p:spPr>
      </p:pic>
      <p:sp>
        <p:nvSpPr>
          <p:cNvPr id="21" name="Text 16"/>
          <p:cNvSpPr txBox="1"/>
          <p:nvPr/>
        </p:nvSpPr>
        <p:spPr>
          <a:xfrm>
            <a:off x="896112" y="31089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GHS-POP</a:t>
            </a:r>
            <a:endParaRPr lang="en-US" sz="1050" dirty="0"/>
          </a:p>
        </p:txBody>
      </p:sp>
      <p:sp>
        <p:nvSpPr>
          <p:cNvPr id="22" name="Text 17"/>
          <p:cNvSpPr txBox="1"/>
          <p:nvPr/>
        </p:nvSpPr>
        <p:spPr>
          <a:xfrm>
            <a:off x="896112" y="33009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population weights, per-capita light</a:t>
            </a:r>
            <a:endParaRPr lang="en-US" sz="900" dirty="0"/>
          </a:p>
        </p:txBody>
      </p:sp>
      <p:sp>
        <p:nvSpPr>
          <p:cNvPr id="23" name="Shape 18"/>
          <p:cNvSpPr/>
          <p:nvPr/>
        </p:nvSpPr>
        <p:spPr>
          <a:xfrm>
            <a:off x="457200" y="3584448"/>
            <a:ext cx="347472" cy="347472"/>
          </a:xfrm>
          <a:prstGeom prst="ellipse">
            <a:avLst/>
          </a:prstGeom>
          <a:solidFill>
            <a:srgbClr val="D49A00">
              <a:alpha val="22000"/>
            </a:srgbClr>
          </a:solidFill>
          <a:ln w="12700">
            <a:solidFill>
              <a:srgbClr val="D49A00">
                <a:alpha val="0"/>
              </a:srgbClr>
            </a:solidFill>
            <a:prstDash val="solid"/>
          </a:ln>
        </p:spPr>
      </p:sp>
      <p:pic>
        <p:nvPicPr>
          <p:cNvPr id="24" name="Image 2" descr="preencoded.png">    </p:cNvPr>
          <p:cNvPicPr>
            <a:picLocks noChangeAspect="1"/>
          </p:cNvPicPr>
          <p:nvPr/>
        </p:nvPicPr>
        <p:blipFill>
          <a:blip r:embed="rId3"/>
          <a:stretch>
            <a:fillRect/>
          </a:stretch>
        </p:blipFill>
        <p:spPr>
          <a:xfrm>
            <a:off x="540593" y="3667841"/>
            <a:ext cx="180685" cy="180685"/>
          </a:xfrm>
          <a:prstGeom prst="rect">
            <a:avLst/>
          </a:prstGeom>
        </p:spPr>
      </p:pic>
      <p:sp>
        <p:nvSpPr>
          <p:cNvPr id="25" name="Text 19"/>
          <p:cNvSpPr txBox="1"/>
          <p:nvPr/>
        </p:nvSpPr>
        <p:spPr>
          <a:xfrm>
            <a:off x="896112" y="3566160"/>
            <a:ext cx="2971800" cy="201168"/>
          </a:xfrm>
          <a:prstGeom prst="rect">
            <a:avLst/>
          </a:prstGeom>
          <a:noFill/>
          <a:ln/>
        </p:spPr>
        <p:txBody>
          <a:bodyPr wrap="square" lIns="0" tIns="0" rIns="0" bIns="0" rtlCol="0" anchor="t"/>
          <a:lstStyle/>
          <a:p>
            <a:pPr indent="0" marL="0">
              <a:buNone/>
            </a:pPr>
            <a:r>
              <a:rPr lang="en-US" sz="1050" b="1" dirty="0">
                <a:solidFill>
                  <a:srgbClr val="231F20"/>
                </a:solidFill>
                <a:latin typeface="Calibri" pitchFamily="34" charset="0"/>
                <a:ea typeface="Calibri" pitchFamily="34" charset="-122"/>
                <a:cs typeface="Calibri" pitchFamily="34" charset="-120"/>
              </a:rPr>
              <a:t>GHS-SMOD</a:t>
            </a:r>
            <a:endParaRPr lang="en-US" sz="1050" dirty="0"/>
          </a:p>
        </p:txBody>
      </p:sp>
      <p:sp>
        <p:nvSpPr>
          <p:cNvPr id="26" name="Text 20"/>
          <p:cNvSpPr txBox="1"/>
          <p:nvPr/>
        </p:nvSpPr>
        <p:spPr>
          <a:xfrm>
            <a:off x="896112" y="3758184"/>
            <a:ext cx="2971800" cy="228600"/>
          </a:xfrm>
          <a:prstGeom prst="rect">
            <a:avLst/>
          </a:prstGeom>
          <a:noFill/>
          <a:ln/>
        </p:spPr>
        <p:txBody>
          <a:bodyPr wrap="square" lIns="0" tIns="0" rIns="0" bIns="0" rtlCol="0" anchor="t"/>
          <a:lstStyle/>
          <a:p>
            <a:pPr indent="0" marL="0">
              <a:buNone/>
            </a:pPr>
            <a:r>
              <a:rPr lang="en-US" sz="900" dirty="0">
                <a:solidFill>
                  <a:srgbClr val="5E6964"/>
                </a:solidFill>
                <a:latin typeface="Calibri" pitchFamily="34" charset="0"/>
                <a:ea typeface="Calibri" pitchFamily="34" charset="-122"/>
                <a:cs typeface="Calibri" pitchFamily="34" charset="-120"/>
              </a:rPr>
              <a:t>urban if code ≥ 21</a:t>
            </a:r>
            <a:endParaRPr lang="en-US" sz="900" dirty="0"/>
          </a:p>
        </p:txBody>
      </p:sp>
      <p:sp>
        <p:nvSpPr>
          <p:cNvPr id="27" name="Text 21"/>
          <p:cNvSpPr txBox="1"/>
          <p:nvPr/>
        </p:nvSpPr>
        <p:spPr>
          <a:xfrm>
            <a:off x="4206240" y="1325880"/>
            <a:ext cx="4480560" cy="219456"/>
          </a:xfrm>
          <a:prstGeom prst="rect">
            <a:avLst/>
          </a:prstGeom>
          <a:noFill/>
          <a:ln/>
        </p:spPr>
        <p:txBody>
          <a:bodyPr wrap="square" lIns="0" tIns="0" rIns="0" bIns="0" rtlCol="0" anchor="ctr"/>
          <a:lstStyle/>
          <a:p>
            <a:pPr indent="0" marL="0">
              <a:buNone/>
            </a:pPr>
            <a:r>
              <a:rPr lang="en-US" sz="900" b="1" spc="200" kern="0" dirty="0">
                <a:solidFill>
                  <a:srgbClr val="00704A"/>
                </a:solidFill>
                <a:latin typeface="Calibri" pitchFamily="34" charset="0"/>
                <a:ea typeface="Calibri" pitchFamily="34" charset="-122"/>
                <a:cs typeface="Calibri" pitchFamily="34" charset="-120"/>
              </a:rPr>
              <a:t>METHOD, STEP BY STEP</a:t>
            </a:r>
            <a:endParaRPr lang="en-US" sz="900" dirty="0"/>
          </a:p>
        </p:txBody>
      </p:sp>
      <p:sp>
        <p:nvSpPr>
          <p:cNvPr id="28" name="Shape 22"/>
          <p:cNvSpPr/>
          <p:nvPr/>
        </p:nvSpPr>
        <p:spPr>
          <a:xfrm>
            <a:off x="4206240" y="1645920"/>
            <a:ext cx="329184" cy="329184"/>
          </a:xfrm>
          <a:prstGeom prst="ellipse">
            <a:avLst/>
          </a:prstGeom>
          <a:solidFill>
            <a:srgbClr val="D49A00"/>
          </a:solidFill>
          <a:ln w="12700">
            <a:solidFill>
              <a:srgbClr val="D49A00"/>
            </a:solidFill>
            <a:prstDash val="solid"/>
          </a:ln>
        </p:spPr>
      </p:sp>
      <p:sp>
        <p:nvSpPr>
          <p:cNvPr id="29" name="Text 23"/>
          <p:cNvSpPr txBox="1"/>
          <p:nvPr/>
        </p:nvSpPr>
        <p:spPr>
          <a:xfrm>
            <a:off x="4206240" y="16459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30" name="Shape 24"/>
          <p:cNvSpPr/>
          <p:nvPr/>
        </p:nvSpPr>
        <p:spPr>
          <a:xfrm>
            <a:off x="4370832" y="1993392"/>
            <a:ext cx="0" cy="237744"/>
          </a:xfrm>
          <a:prstGeom prst="line">
            <a:avLst/>
          </a:prstGeom>
          <a:noFill/>
          <a:ln w="15875">
            <a:solidFill>
              <a:srgbClr val="D5DED9"/>
            </a:solidFill>
            <a:prstDash val="solid"/>
          </a:ln>
        </p:spPr>
      </p:sp>
      <p:sp>
        <p:nvSpPr>
          <p:cNvPr id="31" name="Text 25"/>
          <p:cNvSpPr txBox="1"/>
          <p:nvPr/>
        </p:nvSpPr>
        <p:spPr>
          <a:xfrm>
            <a:off x="4663440" y="1627632"/>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Light per capita by district</a:t>
            </a:r>
            <a:endParaRPr lang="en-US" sz="1150" dirty="0"/>
          </a:p>
        </p:txBody>
      </p:sp>
      <p:sp>
        <p:nvSpPr>
          <p:cNvPr id="32" name="Text 26"/>
          <p:cNvSpPr txBox="1"/>
          <p:nvPr/>
        </p:nvSpPr>
        <p:spPr>
          <a:xfrm>
            <a:off x="4663440" y="1847088"/>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xᵢ = SoLᵢ / popᵢ, weight wᵢ = popᵢ</a:t>
            </a:r>
            <a:endParaRPr lang="en-US" sz="950" dirty="0"/>
          </a:p>
        </p:txBody>
      </p:sp>
      <p:sp>
        <p:nvSpPr>
          <p:cNvPr id="33" name="Shape 27"/>
          <p:cNvSpPr/>
          <p:nvPr/>
        </p:nvSpPr>
        <p:spPr>
          <a:xfrm>
            <a:off x="4206240" y="2249424"/>
            <a:ext cx="329184" cy="329184"/>
          </a:xfrm>
          <a:prstGeom prst="ellipse">
            <a:avLst/>
          </a:prstGeom>
          <a:solidFill>
            <a:srgbClr val="D49A00"/>
          </a:solidFill>
          <a:ln w="12700">
            <a:solidFill>
              <a:srgbClr val="D49A00"/>
            </a:solidFill>
            <a:prstDash val="solid"/>
          </a:ln>
        </p:spPr>
      </p:sp>
      <p:sp>
        <p:nvSpPr>
          <p:cNvPr id="34" name="Text 28"/>
          <p:cNvSpPr txBox="1"/>
          <p:nvPr/>
        </p:nvSpPr>
        <p:spPr>
          <a:xfrm>
            <a:off x="4206240" y="224942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Shape 29"/>
          <p:cNvSpPr/>
          <p:nvPr/>
        </p:nvSpPr>
        <p:spPr>
          <a:xfrm>
            <a:off x="4370832" y="2596896"/>
            <a:ext cx="0" cy="237744"/>
          </a:xfrm>
          <a:prstGeom prst="line">
            <a:avLst/>
          </a:prstGeom>
          <a:noFill/>
          <a:ln w="15875">
            <a:solidFill>
              <a:srgbClr val="D5DED9"/>
            </a:solidFill>
            <a:prstDash val="solid"/>
          </a:ln>
        </p:spPr>
      </p:sp>
      <p:sp>
        <p:nvSpPr>
          <p:cNvPr id="36" name="Text 30"/>
          <p:cNvSpPr txBox="1"/>
          <p:nvPr/>
        </p:nvSpPr>
        <p:spPr>
          <a:xfrm>
            <a:off x="4663440" y="2231136"/>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Gini and Lorenz curve</a:t>
            </a:r>
            <a:endParaRPr lang="en-US" sz="1150" dirty="0"/>
          </a:p>
        </p:txBody>
      </p:sp>
      <p:sp>
        <p:nvSpPr>
          <p:cNvPr id="37" name="Text 31"/>
          <p:cNvSpPr txBox="1"/>
          <p:nvPr/>
        </p:nvSpPr>
        <p:spPr>
          <a:xfrm>
            <a:off x="4663440" y="2450592"/>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Cumulative population share vs cumulative light share</a:t>
            </a:r>
            <a:endParaRPr lang="en-US" sz="950" dirty="0"/>
          </a:p>
        </p:txBody>
      </p:sp>
      <p:sp>
        <p:nvSpPr>
          <p:cNvPr id="38" name="Shape 32"/>
          <p:cNvSpPr/>
          <p:nvPr/>
        </p:nvSpPr>
        <p:spPr>
          <a:xfrm>
            <a:off x="4206240" y="2852928"/>
            <a:ext cx="329184" cy="329184"/>
          </a:xfrm>
          <a:prstGeom prst="ellipse">
            <a:avLst/>
          </a:prstGeom>
          <a:solidFill>
            <a:srgbClr val="D49A00"/>
          </a:solidFill>
          <a:ln w="12700">
            <a:solidFill>
              <a:srgbClr val="D49A00"/>
            </a:solidFill>
            <a:prstDash val="solid"/>
          </a:ln>
        </p:spPr>
      </p:sp>
      <p:sp>
        <p:nvSpPr>
          <p:cNvPr id="39" name="Text 33"/>
          <p:cNvSpPr txBox="1"/>
          <p:nvPr/>
        </p:nvSpPr>
        <p:spPr>
          <a:xfrm>
            <a:off x="4206240" y="28529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0" name="Shape 34"/>
          <p:cNvSpPr/>
          <p:nvPr/>
        </p:nvSpPr>
        <p:spPr>
          <a:xfrm>
            <a:off x="4370832" y="3200400"/>
            <a:ext cx="0" cy="237744"/>
          </a:xfrm>
          <a:prstGeom prst="line">
            <a:avLst/>
          </a:prstGeom>
          <a:noFill/>
          <a:ln w="15875">
            <a:solidFill>
              <a:srgbClr val="D5DED9"/>
            </a:solidFill>
            <a:prstDash val="solid"/>
          </a:ln>
        </p:spPr>
      </p:sp>
      <p:sp>
        <p:nvSpPr>
          <p:cNvPr id="41" name="Text 35"/>
          <p:cNvSpPr txBox="1"/>
          <p:nvPr/>
        </p:nvSpPr>
        <p:spPr>
          <a:xfrm>
            <a:off x="4663440" y="2834640"/>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Theil T and its decomposition</a:t>
            </a:r>
            <a:endParaRPr lang="en-US" sz="1150" dirty="0"/>
          </a:p>
        </p:txBody>
      </p:sp>
      <p:sp>
        <p:nvSpPr>
          <p:cNvPr id="42" name="Text 36"/>
          <p:cNvSpPr txBox="1"/>
          <p:nvPr/>
        </p:nvSpPr>
        <p:spPr>
          <a:xfrm>
            <a:off x="4663440" y="3054096"/>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T = between regions (ADM1) + within regions</a:t>
            </a:r>
            <a:endParaRPr lang="en-US" sz="950" dirty="0"/>
          </a:p>
        </p:txBody>
      </p:sp>
      <p:sp>
        <p:nvSpPr>
          <p:cNvPr id="43" name="Shape 37"/>
          <p:cNvSpPr/>
          <p:nvPr/>
        </p:nvSpPr>
        <p:spPr>
          <a:xfrm>
            <a:off x="4206240" y="3456432"/>
            <a:ext cx="329184" cy="329184"/>
          </a:xfrm>
          <a:prstGeom prst="ellipse">
            <a:avLst/>
          </a:prstGeom>
          <a:solidFill>
            <a:srgbClr val="D49A00"/>
          </a:solidFill>
          <a:ln w="12700">
            <a:solidFill>
              <a:srgbClr val="D49A00"/>
            </a:solidFill>
            <a:prstDash val="solid"/>
          </a:ln>
        </p:spPr>
      </p:sp>
      <p:sp>
        <p:nvSpPr>
          <p:cNvPr id="44" name="Text 38"/>
          <p:cNvSpPr txBox="1"/>
          <p:nvPr/>
        </p:nvSpPr>
        <p:spPr>
          <a:xfrm>
            <a:off x="4206240" y="345643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45" name="Shape 39"/>
          <p:cNvSpPr/>
          <p:nvPr/>
        </p:nvSpPr>
        <p:spPr>
          <a:xfrm>
            <a:off x="4370832" y="3803904"/>
            <a:ext cx="0" cy="237744"/>
          </a:xfrm>
          <a:prstGeom prst="line">
            <a:avLst/>
          </a:prstGeom>
          <a:noFill/>
          <a:ln w="15875">
            <a:solidFill>
              <a:srgbClr val="D5DED9"/>
            </a:solidFill>
            <a:prstDash val="solid"/>
          </a:ln>
        </p:spPr>
      </p:sp>
      <p:sp>
        <p:nvSpPr>
          <p:cNvPr id="46" name="Text 40"/>
          <p:cNvSpPr txBox="1"/>
          <p:nvPr/>
        </p:nvSpPr>
        <p:spPr>
          <a:xfrm>
            <a:off x="4663440" y="3438144"/>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Change and its uncertainty</a:t>
            </a:r>
            <a:endParaRPr lang="en-US" sz="1150" dirty="0"/>
          </a:p>
        </p:txBody>
      </p:sp>
      <p:sp>
        <p:nvSpPr>
          <p:cNvPr id="47" name="Text 41"/>
          <p:cNvSpPr txBox="1"/>
          <p:nvPr/>
        </p:nvSpPr>
        <p:spPr>
          <a:xfrm>
            <a:off x="4663440" y="3657600"/>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ΔGini first → last year, bootstrap 300 paired draws, 95 % CI</a:t>
            </a:r>
            <a:endParaRPr lang="en-US" sz="950" dirty="0"/>
          </a:p>
        </p:txBody>
      </p:sp>
      <p:sp>
        <p:nvSpPr>
          <p:cNvPr id="48" name="Shape 42"/>
          <p:cNvSpPr/>
          <p:nvPr/>
        </p:nvSpPr>
        <p:spPr>
          <a:xfrm>
            <a:off x="4206240" y="4059936"/>
            <a:ext cx="329184" cy="329184"/>
          </a:xfrm>
          <a:prstGeom prst="ellipse">
            <a:avLst/>
          </a:prstGeom>
          <a:solidFill>
            <a:srgbClr val="D49A00"/>
          </a:solidFill>
          <a:ln w="12700">
            <a:solidFill>
              <a:srgbClr val="D49A00"/>
            </a:solidFill>
            <a:prstDash val="solid"/>
          </a:ln>
        </p:spPr>
      </p:sp>
      <p:sp>
        <p:nvSpPr>
          <p:cNvPr id="49" name="Text 43"/>
          <p:cNvSpPr txBox="1"/>
          <p:nvPr/>
        </p:nvSpPr>
        <p:spPr>
          <a:xfrm>
            <a:off x="4206240" y="405993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50" name="Text 44"/>
          <p:cNvSpPr txBox="1"/>
          <p:nvPr/>
        </p:nvSpPr>
        <p:spPr>
          <a:xfrm>
            <a:off x="4663440" y="4041648"/>
            <a:ext cx="4023360" cy="219456"/>
          </a:xfrm>
          <a:prstGeom prst="rect">
            <a:avLst/>
          </a:prstGeom>
          <a:noFill/>
          <a:ln/>
        </p:spPr>
        <p:txBody>
          <a:bodyPr wrap="square" lIns="0" tIns="0" rIns="0" bIns="0" rtlCol="0" anchor="t"/>
          <a:lstStyle/>
          <a:p>
            <a:pPr indent="0" marL="0">
              <a:buNone/>
            </a:pPr>
            <a:r>
              <a:rPr lang="en-US" sz="1150" b="1" dirty="0">
                <a:solidFill>
                  <a:srgbClr val="231F20"/>
                </a:solidFill>
                <a:latin typeface="Calibri" pitchFamily="34" charset="0"/>
                <a:ea typeface="Calibri" pitchFamily="34" charset="-122"/>
                <a:cs typeface="Calibri" pitchFamily="34" charset="-120"/>
              </a:rPr>
              <a:t>Urban / rural gap</a:t>
            </a:r>
            <a:endParaRPr lang="en-US" sz="1150" dirty="0"/>
          </a:p>
        </p:txBody>
      </p:sp>
      <p:sp>
        <p:nvSpPr>
          <p:cNvPr id="51" name="Text 45"/>
          <p:cNvSpPr txBox="1"/>
          <p:nvPr/>
        </p:nvSpPr>
        <p:spPr>
          <a:xfrm>
            <a:off x="4663440" y="4261104"/>
            <a:ext cx="4023360" cy="365760"/>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Light per capita urban / rural</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5</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Population in the dark: a proxy for access to electricity</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429768"/>
          </a:xfrm>
          <a:prstGeom prst="roundRect">
            <a:avLst>
              <a:gd name="adj" fmla="val 10638"/>
            </a:avLst>
          </a:prstGeom>
          <a:solidFill>
            <a:srgbClr val="F4F7F5"/>
          </a:solidFill>
          <a:ln w="6350">
            <a:solidFill>
              <a:srgbClr val="D5DED9"/>
            </a:solidFill>
            <a:prstDash val="solid"/>
          </a:ln>
        </p:spPr>
      </p:sp>
      <p:sp>
        <p:nvSpPr>
          <p:cNvPr id="15" name="Text 12"/>
          <p:cNvSpPr txBox="1"/>
          <p:nvPr/>
        </p:nvSpPr>
        <p:spPr>
          <a:xfrm>
            <a:off x="548640" y="160934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Gini</a:t>
            </a:r>
            <a:endParaRPr lang="en-US" sz="1050" dirty="0"/>
          </a:p>
        </p:txBody>
      </p:sp>
      <p:sp>
        <p:nvSpPr>
          <p:cNvPr id="16" name="Text 13"/>
          <p:cNvSpPr txBox="1"/>
          <p:nvPr/>
        </p:nvSpPr>
        <p:spPr>
          <a:xfrm>
            <a:off x="2331720" y="160934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weighted; 0 = equality, 1 = all light in one unit</a:t>
            </a:r>
            <a:endParaRPr lang="en-US" sz="1000" dirty="0"/>
          </a:p>
        </p:txBody>
      </p:sp>
      <p:sp>
        <p:nvSpPr>
          <p:cNvPr id="17" name="Text 14"/>
          <p:cNvSpPr txBox="1"/>
          <p:nvPr/>
        </p:nvSpPr>
        <p:spPr>
          <a:xfrm>
            <a:off x="5394960" y="160934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Overall concentration of light per capita</a:t>
            </a:r>
            <a:endParaRPr lang="en-US" sz="950" dirty="0"/>
          </a:p>
        </p:txBody>
      </p:sp>
      <p:sp>
        <p:nvSpPr>
          <p:cNvPr id="18" name="Shape 15"/>
          <p:cNvSpPr/>
          <p:nvPr/>
        </p:nvSpPr>
        <p:spPr>
          <a:xfrm>
            <a:off x="457200" y="2093976"/>
            <a:ext cx="8229600" cy="429768"/>
          </a:xfrm>
          <a:prstGeom prst="roundRect">
            <a:avLst>
              <a:gd name="adj" fmla="val 10638"/>
            </a:avLst>
          </a:prstGeom>
          <a:solidFill>
            <a:srgbClr val="FFFFFF"/>
          </a:solidFill>
          <a:ln w="6350">
            <a:solidFill>
              <a:srgbClr val="D5DED9"/>
            </a:solidFill>
            <a:prstDash val="solid"/>
          </a:ln>
        </p:spPr>
      </p:sp>
      <p:sp>
        <p:nvSpPr>
          <p:cNvPr id="19" name="Text 16"/>
          <p:cNvSpPr txBox="1"/>
          <p:nvPr/>
        </p:nvSpPr>
        <p:spPr>
          <a:xfrm>
            <a:off x="548640" y="2093976"/>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Theil T</a:t>
            </a:r>
            <a:endParaRPr lang="en-US" sz="1050" dirty="0"/>
          </a:p>
        </p:txBody>
      </p:sp>
      <p:sp>
        <p:nvSpPr>
          <p:cNvPr id="20" name="Text 17"/>
          <p:cNvSpPr txBox="1"/>
          <p:nvPr/>
        </p:nvSpPr>
        <p:spPr>
          <a:xfrm>
            <a:off x="2331720" y="2093976"/>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wᵢ (xᵢ/μ) ln(xᵢ/μ), wᵢ population shares</a:t>
            </a:r>
            <a:endParaRPr lang="en-US" sz="1000" dirty="0"/>
          </a:p>
        </p:txBody>
      </p:sp>
      <p:sp>
        <p:nvSpPr>
          <p:cNvPr id="21" name="Text 18"/>
          <p:cNvSpPr txBox="1"/>
          <p:nvPr/>
        </p:nvSpPr>
        <p:spPr>
          <a:xfrm>
            <a:off x="5394960" y="2093976"/>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Splits into between- and within-region parts</a:t>
            </a:r>
            <a:endParaRPr lang="en-US" sz="950" dirty="0"/>
          </a:p>
        </p:txBody>
      </p:sp>
      <p:sp>
        <p:nvSpPr>
          <p:cNvPr id="22" name="Shape 19"/>
          <p:cNvSpPr/>
          <p:nvPr/>
        </p:nvSpPr>
        <p:spPr>
          <a:xfrm>
            <a:off x="457200" y="2578608"/>
            <a:ext cx="8229600" cy="429768"/>
          </a:xfrm>
          <a:prstGeom prst="roundRect">
            <a:avLst>
              <a:gd name="adj" fmla="val 10638"/>
            </a:avLst>
          </a:prstGeom>
          <a:solidFill>
            <a:srgbClr val="F4F7F5"/>
          </a:solidFill>
          <a:ln w="6350">
            <a:solidFill>
              <a:srgbClr val="D5DED9"/>
            </a:solidFill>
            <a:prstDash val="solid"/>
          </a:ln>
        </p:spPr>
      </p:sp>
      <p:sp>
        <p:nvSpPr>
          <p:cNvPr id="23" name="Text 20"/>
          <p:cNvSpPr txBox="1"/>
          <p:nvPr/>
        </p:nvSpPr>
        <p:spPr>
          <a:xfrm>
            <a:off x="548640" y="2578608"/>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Urban / rural ratio</a:t>
            </a:r>
            <a:endParaRPr lang="en-US" sz="1050" dirty="0"/>
          </a:p>
        </p:txBody>
      </p:sp>
      <p:sp>
        <p:nvSpPr>
          <p:cNvPr id="24" name="Text 21"/>
          <p:cNvSpPr txBox="1"/>
          <p:nvPr/>
        </p:nvSpPr>
        <p:spPr>
          <a:xfrm>
            <a:off x="2331720" y="2578608"/>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light/cap. where SMOD ≥ 21 ÷ elsewhere</a:t>
            </a:r>
            <a:endParaRPr lang="en-US" sz="1000" dirty="0"/>
          </a:p>
        </p:txBody>
      </p:sp>
      <p:sp>
        <p:nvSpPr>
          <p:cNvPr id="25" name="Text 22"/>
          <p:cNvSpPr txBox="1"/>
          <p:nvPr/>
        </p:nvSpPr>
        <p:spPr>
          <a:xfrm>
            <a:off x="5394960" y="2578608"/>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How much more light an urban resident gets</a:t>
            </a:r>
            <a:endParaRPr lang="en-US" sz="950" dirty="0"/>
          </a:p>
        </p:txBody>
      </p:sp>
      <p:sp>
        <p:nvSpPr>
          <p:cNvPr id="26" name="Shape 23"/>
          <p:cNvSpPr/>
          <p:nvPr/>
        </p:nvSpPr>
        <p:spPr>
          <a:xfrm>
            <a:off x="457200" y="3063240"/>
            <a:ext cx="8229600" cy="429768"/>
          </a:xfrm>
          <a:prstGeom prst="roundRect">
            <a:avLst>
              <a:gd name="adj" fmla="val 10638"/>
            </a:avLst>
          </a:prstGeom>
          <a:solidFill>
            <a:srgbClr val="FFFFFF"/>
          </a:solidFill>
          <a:ln w="6350">
            <a:solidFill>
              <a:srgbClr val="D5DED9"/>
            </a:solidFill>
            <a:prstDash val="solid"/>
          </a:ln>
        </p:spPr>
      </p:sp>
      <p:sp>
        <p:nvSpPr>
          <p:cNvPr id="27" name="Text 24"/>
          <p:cNvSpPr txBox="1"/>
          <p:nvPr/>
        </p:nvSpPr>
        <p:spPr>
          <a:xfrm>
            <a:off x="548640" y="3063240"/>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Population in the dark</a:t>
            </a:r>
            <a:endParaRPr lang="en-US" sz="1050" dirty="0"/>
          </a:p>
        </p:txBody>
      </p:sp>
      <p:sp>
        <p:nvSpPr>
          <p:cNvPr id="28" name="Text 25"/>
          <p:cNvSpPr txBox="1"/>
          <p:nvPr/>
        </p:nvSpPr>
        <p:spPr>
          <a:xfrm>
            <a:off x="2331720" y="3063240"/>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Σ pop of pixels with ≥ 5 people and radiance &lt; t</a:t>
            </a:r>
            <a:endParaRPr lang="en-US" sz="1000" dirty="0"/>
          </a:p>
        </p:txBody>
      </p:sp>
      <p:sp>
        <p:nvSpPr>
          <p:cNvPr id="29" name="Text 26"/>
          <p:cNvSpPr txBox="1"/>
          <p:nvPr/>
        </p:nvSpPr>
        <p:spPr>
          <a:xfrm>
            <a:off x="5394960" y="3063240"/>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Published for t = 0.25 · 0.5 · 1 nW: a range</a:t>
            </a:r>
            <a:endParaRPr lang="en-US" sz="950" dirty="0"/>
          </a:p>
        </p:txBody>
      </p:sp>
      <p:sp>
        <p:nvSpPr>
          <p:cNvPr id="30" name="Shape 27"/>
          <p:cNvSpPr/>
          <p:nvPr/>
        </p:nvSpPr>
        <p:spPr>
          <a:xfrm>
            <a:off x="457200" y="3547872"/>
            <a:ext cx="8229600" cy="429768"/>
          </a:xfrm>
          <a:prstGeom prst="roundRect">
            <a:avLst>
              <a:gd name="adj" fmla="val 10638"/>
            </a:avLst>
          </a:prstGeom>
          <a:solidFill>
            <a:srgbClr val="F4F7F5"/>
          </a:solidFill>
          <a:ln w="6350">
            <a:solidFill>
              <a:srgbClr val="D5DED9"/>
            </a:solidFill>
            <a:prstDash val="solid"/>
          </a:ln>
        </p:spPr>
      </p:sp>
      <p:sp>
        <p:nvSpPr>
          <p:cNvPr id="31" name="Text 28"/>
          <p:cNvSpPr txBox="1"/>
          <p:nvPr/>
        </p:nvSpPr>
        <p:spPr>
          <a:xfrm>
            <a:off x="548640" y="3547872"/>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Dark share</a:t>
            </a:r>
            <a:endParaRPr lang="en-US" sz="1050" dirty="0"/>
          </a:p>
        </p:txBody>
      </p:sp>
      <p:sp>
        <p:nvSpPr>
          <p:cNvPr id="32" name="Text 29"/>
          <p:cNvSpPr txBox="1"/>
          <p:nvPr/>
        </p:nvSpPr>
        <p:spPr>
          <a:xfrm>
            <a:off x="2331720" y="3547872"/>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pop in the dark / inhabited population</a:t>
            </a:r>
            <a:endParaRPr lang="en-US" sz="1000" dirty="0"/>
          </a:p>
        </p:txBody>
      </p:sp>
      <p:sp>
        <p:nvSpPr>
          <p:cNvPr id="33" name="Text 30"/>
          <p:cNvSpPr txBox="1"/>
          <p:nvPr/>
        </p:nvSpPr>
        <p:spPr>
          <a:xfrm>
            <a:off x="5394960" y="3547872"/>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Proxy of the share without electricity</a:t>
            </a:r>
            <a:endParaRPr lang="en-US" sz="950" dirty="0"/>
          </a:p>
        </p:txBody>
      </p:sp>
      <p:sp>
        <p:nvSpPr>
          <p:cNvPr id="34" name="Shape 31"/>
          <p:cNvSpPr/>
          <p:nvPr/>
        </p:nvSpPr>
        <p:spPr>
          <a:xfrm>
            <a:off x="457200" y="4032504"/>
            <a:ext cx="8229600" cy="429768"/>
          </a:xfrm>
          <a:prstGeom prst="roundRect">
            <a:avLst>
              <a:gd name="adj" fmla="val 10638"/>
            </a:avLst>
          </a:prstGeom>
          <a:solidFill>
            <a:srgbClr val="FFFFFF"/>
          </a:solidFill>
          <a:ln w="6350">
            <a:solidFill>
              <a:srgbClr val="D5DED9"/>
            </a:solidFill>
            <a:prstDash val="solid"/>
          </a:ln>
        </p:spPr>
      </p:sp>
      <p:sp>
        <p:nvSpPr>
          <p:cNvPr id="35" name="Text 32"/>
          <p:cNvSpPr txBox="1"/>
          <p:nvPr/>
        </p:nvSpPr>
        <p:spPr>
          <a:xfrm>
            <a:off x="548640" y="4032504"/>
            <a:ext cx="1737360" cy="429768"/>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Gap with surveys (pp)</a:t>
            </a:r>
            <a:endParaRPr lang="en-US" sz="1050" dirty="0"/>
          </a:p>
        </p:txBody>
      </p:sp>
      <p:sp>
        <p:nvSpPr>
          <p:cNvPr id="36" name="Text 33"/>
          <p:cNvSpPr txBox="1"/>
          <p:nvPr/>
        </p:nvSpPr>
        <p:spPr>
          <a:xfrm>
            <a:off x="2331720" y="4032504"/>
            <a:ext cx="2971800" cy="429768"/>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(1 − dark share) − WDI access rate EG.ELC.ACCS.ZS</a:t>
            </a:r>
            <a:endParaRPr lang="en-US" sz="1000" dirty="0"/>
          </a:p>
        </p:txBody>
      </p:sp>
      <p:sp>
        <p:nvSpPr>
          <p:cNvPr id="37" name="Text 34"/>
          <p:cNvSpPr txBox="1"/>
          <p:nvPr/>
        </p:nvSpPr>
        <p:spPr>
          <a:xfrm>
            <a:off x="5394960" y="4032504"/>
            <a:ext cx="3200400" cy="429768"/>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Large gap → low-consumption access or data issue</a:t>
            </a:r>
            <a:endParaRPr lang="en-US" sz="950" dirty="0"/>
          </a:p>
        </p:txBody>
      </p:sp>
      <p:sp>
        <p:nvSpPr>
          <p:cNvPr id="38" name="Text 35"/>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Theil (1967); Schiavina et al. (2023) GHSL; World Bank WDI · flare halos excluded from the count</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Industrial zones: four signals, one score per pixel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25880"/>
            <a:ext cx="20116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SIGNAL</a:t>
            </a:r>
            <a:endParaRPr lang="en-US" sz="900" dirty="0"/>
          </a:p>
        </p:txBody>
      </p:sp>
      <p:sp>
        <p:nvSpPr>
          <p:cNvPr id="12" name="Text 9"/>
          <p:cNvSpPr txBox="1"/>
          <p:nvPr/>
        </p:nvSpPr>
        <p:spPr>
          <a:xfrm>
            <a:off x="2560320" y="1325880"/>
            <a:ext cx="1828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DATA</a:t>
            </a:r>
            <a:endParaRPr lang="en-US" sz="900" dirty="0"/>
          </a:p>
        </p:txBody>
      </p:sp>
      <p:sp>
        <p:nvSpPr>
          <p:cNvPr id="13" name="Text 10"/>
          <p:cNvSpPr txBox="1"/>
          <p:nvPr/>
        </p:nvSpPr>
        <p:spPr>
          <a:xfrm>
            <a:off x="4389120" y="1325880"/>
            <a:ext cx="25146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NORMALISATION (0–1)</a:t>
            </a:r>
            <a:endParaRPr lang="en-US" sz="900" dirty="0"/>
          </a:p>
        </p:txBody>
      </p:sp>
      <p:sp>
        <p:nvSpPr>
          <p:cNvPr id="14" name="Text 11"/>
          <p:cNvSpPr txBox="1"/>
          <p:nvPr/>
        </p:nvSpPr>
        <p:spPr>
          <a:xfrm>
            <a:off x="6903720" y="1325880"/>
            <a:ext cx="685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WEIGHT</a:t>
            </a:r>
            <a:endParaRPr lang="en-US" sz="900" dirty="0"/>
          </a:p>
        </p:txBody>
      </p:sp>
      <p:sp>
        <p:nvSpPr>
          <p:cNvPr id="15" name="Shape 12"/>
          <p:cNvSpPr/>
          <p:nvPr/>
        </p:nvSpPr>
        <p:spPr>
          <a:xfrm>
            <a:off x="457200" y="1600200"/>
            <a:ext cx="7132320" cy="411480"/>
          </a:xfrm>
          <a:prstGeom prst="roundRect">
            <a:avLst>
              <a:gd name="adj" fmla="val 11111"/>
            </a:avLst>
          </a:prstGeom>
          <a:solidFill>
            <a:srgbClr val="F4F7F5"/>
          </a:solidFill>
          <a:ln w="6350">
            <a:solidFill>
              <a:srgbClr val="D5DED9"/>
            </a:solidFill>
            <a:prstDash val="solid"/>
          </a:ln>
        </p:spPr>
      </p:sp>
      <p:sp>
        <p:nvSpPr>
          <p:cNvPr id="16" name="Text 13"/>
          <p:cNvSpPr txBox="1"/>
          <p:nvPr/>
        </p:nvSpPr>
        <p:spPr>
          <a:xfrm>
            <a:off x="548640" y="1600200"/>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Non-residential built-up</a:t>
            </a:r>
            <a:endParaRPr lang="en-US" sz="1000" dirty="0"/>
          </a:p>
        </p:txBody>
      </p:sp>
      <p:sp>
        <p:nvSpPr>
          <p:cNvPr id="17" name="Text 14"/>
          <p:cNvSpPr txBox="1"/>
          <p:nvPr/>
        </p:nvSpPr>
        <p:spPr>
          <a:xfrm>
            <a:off x="2560320" y="1600200"/>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BUILT-S</a:t>
            </a:r>
            <a:endParaRPr lang="en-US" sz="1000" dirty="0"/>
          </a:p>
        </p:txBody>
      </p:sp>
      <p:sp>
        <p:nvSpPr>
          <p:cNvPr id="18" name="Text 15"/>
          <p:cNvSpPr txBox="1"/>
          <p:nvPr/>
        </p:nvSpPr>
        <p:spPr>
          <a:xfrm>
            <a:off x="4389120" y="1600200"/>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nres share / 0.6</a:t>
            </a:r>
            <a:endParaRPr lang="en-US" sz="1000" dirty="0"/>
          </a:p>
        </p:txBody>
      </p:sp>
      <p:sp>
        <p:nvSpPr>
          <p:cNvPr id="19" name="Text 16"/>
          <p:cNvSpPr txBox="1"/>
          <p:nvPr/>
        </p:nvSpPr>
        <p:spPr>
          <a:xfrm>
            <a:off x="6903720" y="1600200"/>
            <a:ext cx="594360" cy="411480"/>
          </a:xfrm>
          <a:prstGeom prst="rect">
            <a:avLst/>
          </a:prstGeom>
          <a:noFill/>
          <a:ln/>
        </p:spPr>
        <p:txBody>
          <a:bodyPr wrap="square" lIns="0" tIns="0" rIns="0" bIns="0" rtlCol="0" anchor="ctr"/>
          <a:lstStyle/>
          <a:p>
            <a:pPr algn="ctr" indent="0" marL="0">
              <a:buNone/>
            </a:pPr>
            <a:r>
              <a:rPr lang="en-US" sz="1300" b="1" dirty="0">
                <a:solidFill>
                  <a:srgbClr val="00664A"/>
                </a:solidFill>
                <a:latin typeface="Calibri" pitchFamily="34" charset="0"/>
                <a:ea typeface="Calibri" pitchFamily="34" charset="-122"/>
                <a:cs typeface="Calibri" pitchFamily="34" charset="-120"/>
              </a:rPr>
              <a:t>35 %</a:t>
            </a:r>
            <a:endParaRPr lang="en-US" sz="1300" dirty="0"/>
          </a:p>
        </p:txBody>
      </p:sp>
      <p:sp>
        <p:nvSpPr>
          <p:cNvPr id="20" name="Shape 17"/>
          <p:cNvSpPr/>
          <p:nvPr/>
        </p:nvSpPr>
        <p:spPr>
          <a:xfrm>
            <a:off x="7726680" y="1691640"/>
            <a:ext cx="960120" cy="228600"/>
          </a:xfrm>
          <a:prstGeom prst="rect">
            <a:avLst/>
          </a:prstGeom>
          <a:solidFill>
            <a:srgbClr val="00664A"/>
          </a:solidFill>
          <a:ln w="12700">
            <a:solidFill>
              <a:srgbClr val="00664A"/>
            </a:solidFill>
            <a:prstDash val="solid"/>
          </a:ln>
        </p:spPr>
      </p:sp>
      <p:sp>
        <p:nvSpPr>
          <p:cNvPr id="21" name="Shape 18"/>
          <p:cNvSpPr/>
          <p:nvPr/>
        </p:nvSpPr>
        <p:spPr>
          <a:xfrm>
            <a:off x="457200" y="2075688"/>
            <a:ext cx="7132320" cy="411480"/>
          </a:xfrm>
          <a:prstGeom prst="roundRect">
            <a:avLst>
              <a:gd name="adj" fmla="val 11111"/>
            </a:avLst>
          </a:prstGeom>
          <a:solidFill>
            <a:srgbClr val="FFFFFF"/>
          </a:solidFill>
          <a:ln w="6350">
            <a:solidFill>
              <a:srgbClr val="D5DED9"/>
            </a:solidFill>
            <a:prstDash val="solid"/>
          </a:ln>
        </p:spPr>
      </p:sp>
      <p:sp>
        <p:nvSpPr>
          <p:cNvPr id="22" name="Text 19"/>
          <p:cNvSpPr txBox="1"/>
          <p:nvPr/>
        </p:nvSpPr>
        <p:spPr>
          <a:xfrm>
            <a:off x="548640" y="2075688"/>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Light intensity</a:t>
            </a:r>
            <a:endParaRPr lang="en-US" sz="1000" dirty="0"/>
          </a:p>
        </p:txBody>
      </p:sp>
      <p:sp>
        <p:nvSpPr>
          <p:cNvPr id="23" name="Text 20"/>
          <p:cNvSpPr txBox="1"/>
          <p:nvPr/>
        </p:nvSpPr>
        <p:spPr>
          <a:xfrm>
            <a:off x="2560320" y="2075688"/>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VNL, median last 3 yrs</a:t>
            </a:r>
            <a:endParaRPr lang="en-US" sz="1000" dirty="0"/>
          </a:p>
        </p:txBody>
      </p:sp>
      <p:sp>
        <p:nvSpPr>
          <p:cNvPr id="24" name="Text 21"/>
          <p:cNvSpPr txBox="1"/>
          <p:nvPr/>
        </p:nvSpPr>
        <p:spPr>
          <a:xfrm>
            <a:off x="4389120" y="2075688"/>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log₁₀(radiance) / 2</a:t>
            </a:r>
            <a:endParaRPr lang="en-US" sz="1000" dirty="0"/>
          </a:p>
        </p:txBody>
      </p:sp>
      <p:sp>
        <p:nvSpPr>
          <p:cNvPr id="25" name="Text 22"/>
          <p:cNvSpPr txBox="1"/>
          <p:nvPr/>
        </p:nvSpPr>
        <p:spPr>
          <a:xfrm>
            <a:off x="6903720" y="2075688"/>
            <a:ext cx="594360" cy="411480"/>
          </a:xfrm>
          <a:prstGeom prst="rect">
            <a:avLst/>
          </a:prstGeom>
          <a:noFill/>
          <a:ln/>
        </p:spPr>
        <p:txBody>
          <a:bodyPr wrap="square" lIns="0" tIns="0" rIns="0" bIns="0" rtlCol="0" anchor="ctr"/>
          <a:lstStyle/>
          <a:p>
            <a:pPr algn="ctr" indent="0" marL="0">
              <a:buNone/>
            </a:pPr>
            <a:r>
              <a:rPr lang="en-US" sz="1300" b="1" dirty="0">
                <a:solidFill>
                  <a:srgbClr val="10A06A"/>
                </a:solidFill>
                <a:latin typeface="Calibri" pitchFamily="34" charset="0"/>
                <a:ea typeface="Calibri" pitchFamily="34" charset="-122"/>
                <a:cs typeface="Calibri" pitchFamily="34" charset="-120"/>
              </a:rPr>
              <a:t>30 %</a:t>
            </a:r>
            <a:endParaRPr lang="en-US" sz="1300" dirty="0"/>
          </a:p>
        </p:txBody>
      </p:sp>
      <p:sp>
        <p:nvSpPr>
          <p:cNvPr id="26" name="Shape 23"/>
          <p:cNvSpPr/>
          <p:nvPr/>
        </p:nvSpPr>
        <p:spPr>
          <a:xfrm>
            <a:off x="7726680" y="2167128"/>
            <a:ext cx="822960" cy="228600"/>
          </a:xfrm>
          <a:prstGeom prst="rect">
            <a:avLst/>
          </a:prstGeom>
          <a:solidFill>
            <a:srgbClr val="10A06A"/>
          </a:solidFill>
          <a:ln w="12700">
            <a:solidFill>
              <a:srgbClr val="10A06A"/>
            </a:solidFill>
            <a:prstDash val="solid"/>
          </a:ln>
        </p:spPr>
      </p:sp>
      <p:sp>
        <p:nvSpPr>
          <p:cNvPr id="27" name="Shape 24"/>
          <p:cNvSpPr/>
          <p:nvPr/>
        </p:nvSpPr>
        <p:spPr>
          <a:xfrm>
            <a:off x="457200" y="2551176"/>
            <a:ext cx="7132320" cy="411480"/>
          </a:xfrm>
          <a:prstGeom prst="roundRect">
            <a:avLst>
              <a:gd name="adj" fmla="val 11111"/>
            </a:avLst>
          </a:prstGeom>
          <a:solidFill>
            <a:srgbClr val="F4F7F5"/>
          </a:solidFill>
          <a:ln w="6350">
            <a:solidFill>
              <a:srgbClr val="D5DED9"/>
            </a:solidFill>
            <a:prstDash val="solid"/>
          </a:ln>
        </p:spPr>
      </p:sp>
      <p:sp>
        <p:nvSpPr>
          <p:cNvPr id="28" name="Text 25"/>
          <p:cNvSpPr txBox="1"/>
          <p:nvPr/>
        </p:nvSpPr>
        <p:spPr>
          <a:xfrm>
            <a:off x="548640" y="2551176"/>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NO₂ emissions</a:t>
            </a:r>
            <a:endParaRPr lang="en-US" sz="1000" dirty="0"/>
          </a:p>
        </p:txBody>
      </p:sp>
      <p:sp>
        <p:nvSpPr>
          <p:cNvPr id="29" name="Text 26"/>
          <p:cNvSpPr txBox="1"/>
          <p:nvPr/>
        </p:nvSpPr>
        <p:spPr>
          <a:xfrm>
            <a:off x="2560320" y="2551176"/>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Sentinel-5P, annual mean</a:t>
            </a:r>
            <a:endParaRPr lang="en-US" sz="1000" dirty="0"/>
          </a:p>
        </p:txBody>
      </p:sp>
      <p:sp>
        <p:nvSpPr>
          <p:cNvPr id="30" name="Text 27"/>
          <p:cNvSpPr txBox="1"/>
          <p:nvPr/>
        </p:nvSpPr>
        <p:spPr>
          <a:xfrm>
            <a:off x="4389120" y="2551176"/>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(NO₂ − med) / (p98 − med)</a:t>
            </a:r>
            <a:endParaRPr lang="en-US" sz="1000" dirty="0"/>
          </a:p>
        </p:txBody>
      </p:sp>
      <p:sp>
        <p:nvSpPr>
          <p:cNvPr id="31" name="Text 28"/>
          <p:cNvSpPr txBox="1"/>
          <p:nvPr/>
        </p:nvSpPr>
        <p:spPr>
          <a:xfrm>
            <a:off x="6903720" y="2551176"/>
            <a:ext cx="594360" cy="411480"/>
          </a:xfrm>
          <a:prstGeom prst="rect">
            <a:avLst/>
          </a:prstGeom>
          <a:noFill/>
          <a:ln/>
        </p:spPr>
        <p:txBody>
          <a:bodyPr wrap="square" lIns="0" tIns="0" rIns="0" bIns="0" rtlCol="0" anchor="ctr"/>
          <a:lstStyle/>
          <a:p>
            <a:pPr algn="ctr" indent="0" marL="0">
              <a:buNone/>
            </a:pPr>
            <a:r>
              <a:rPr lang="en-US" sz="1300" b="1" dirty="0">
                <a:solidFill>
                  <a:srgbClr val="57BD92"/>
                </a:solidFill>
                <a:latin typeface="Calibri" pitchFamily="34" charset="0"/>
                <a:ea typeface="Calibri" pitchFamily="34" charset="-122"/>
                <a:cs typeface="Calibri" pitchFamily="34" charset="-120"/>
              </a:rPr>
              <a:t>20 %</a:t>
            </a:r>
            <a:endParaRPr lang="en-US" sz="1300" dirty="0"/>
          </a:p>
        </p:txBody>
      </p:sp>
      <p:sp>
        <p:nvSpPr>
          <p:cNvPr id="32" name="Shape 29"/>
          <p:cNvSpPr/>
          <p:nvPr/>
        </p:nvSpPr>
        <p:spPr>
          <a:xfrm>
            <a:off x="7726680" y="2642616"/>
            <a:ext cx="548640" cy="228600"/>
          </a:xfrm>
          <a:prstGeom prst="rect">
            <a:avLst/>
          </a:prstGeom>
          <a:solidFill>
            <a:srgbClr val="57BD92"/>
          </a:solidFill>
          <a:ln w="12700">
            <a:solidFill>
              <a:srgbClr val="57BD92"/>
            </a:solidFill>
            <a:prstDash val="solid"/>
          </a:ln>
        </p:spPr>
      </p:sp>
      <p:sp>
        <p:nvSpPr>
          <p:cNvPr id="33" name="Shape 30"/>
          <p:cNvSpPr/>
          <p:nvPr/>
        </p:nvSpPr>
        <p:spPr>
          <a:xfrm>
            <a:off x="457200" y="3026664"/>
            <a:ext cx="7132320" cy="411480"/>
          </a:xfrm>
          <a:prstGeom prst="roundRect">
            <a:avLst>
              <a:gd name="adj" fmla="val 11111"/>
            </a:avLst>
          </a:prstGeom>
          <a:solidFill>
            <a:srgbClr val="FFFFFF"/>
          </a:solidFill>
          <a:ln w="6350">
            <a:solidFill>
              <a:srgbClr val="D5DED9"/>
            </a:solidFill>
            <a:prstDash val="solid"/>
          </a:ln>
        </p:spPr>
      </p:sp>
      <p:sp>
        <p:nvSpPr>
          <p:cNvPr id="34" name="Text 31"/>
          <p:cNvSpPr txBox="1"/>
          <p:nvPr/>
        </p:nvSpPr>
        <p:spPr>
          <a:xfrm>
            <a:off x="548640" y="3026664"/>
            <a:ext cx="1920240" cy="411480"/>
          </a:xfrm>
          <a:prstGeom prst="rect">
            <a:avLst/>
          </a:prstGeom>
          <a:noFill/>
          <a:ln/>
        </p:spPr>
        <p:txBody>
          <a:bodyPr wrap="square" lIns="0" tIns="0" rIns="0" bIns="0" rtlCol="0" anchor="ctr"/>
          <a:lstStyle/>
          <a:p>
            <a:pPr algn="l" indent="0" marL="0">
              <a:buNone/>
            </a:pPr>
            <a:r>
              <a:rPr lang="en-US" sz="1000" b="1" dirty="0">
                <a:solidFill>
                  <a:srgbClr val="231F20"/>
                </a:solidFill>
                <a:latin typeface="Calibri" pitchFamily="34" charset="0"/>
                <a:ea typeface="Calibri" pitchFamily="34" charset="-122"/>
                <a:cs typeface="Calibri" pitchFamily="34" charset="-120"/>
              </a:rPr>
              <a:t>Few residents</a:t>
            </a:r>
            <a:endParaRPr lang="en-US" sz="1000" dirty="0"/>
          </a:p>
        </p:txBody>
      </p:sp>
      <p:sp>
        <p:nvSpPr>
          <p:cNvPr id="35" name="Text 32"/>
          <p:cNvSpPr txBox="1"/>
          <p:nvPr/>
        </p:nvSpPr>
        <p:spPr>
          <a:xfrm>
            <a:off x="2560320" y="3026664"/>
            <a:ext cx="1737360" cy="411480"/>
          </a:xfrm>
          <a:prstGeom prst="rect">
            <a:avLst/>
          </a:prstGeom>
          <a:noFill/>
          <a:ln/>
        </p:spPr>
        <p:txBody>
          <a:bodyPr wrap="square" lIns="0" tIns="0" rIns="0" bIns="0" rtlCol="0" anchor="ctr"/>
          <a:lstStyle/>
          <a:p>
            <a:pPr algn="l" indent="0" marL="0">
              <a:buNone/>
            </a:pPr>
            <a:r>
              <a:rPr lang="en-US" sz="1000" dirty="0">
                <a:solidFill>
                  <a:srgbClr val="231F20"/>
                </a:solidFill>
                <a:latin typeface="Calibri" pitchFamily="34" charset="0"/>
                <a:ea typeface="Calibri" pitchFamily="34" charset="-122"/>
                <a:cs typeface="Calibri" pitchFamily="34" charset="-120"/>
              </a:rPr>
              <a:t>GHSL GHS-POP</a:t>
            </a:r>
            <a:endParaRPr lang="en-US" sz="1000" dirty="0"/>
          </a:p>
        </p:txBody>
      </p:sp>
      <p:sp>
        <p:nvSpPr>
          <p:cNvPr id="36" name="Text 33"/>
          <p:cNvSpPr txBox="1"/>
          <p:nvPr/>
        </p:nvSpPr>
        <p:spPr>
          <a:xfrm>
            <a:off x="4389120" y="3026664"/>
            <a:ext cx="2423160" cy="411480"/>
          </a:xfrm>
          <a:prstGeom prst="rect">
            <a:avLst/>
          </a:prstGeom>
          <a:noFill/>
          <a:ln/>
        </p:spPr>
        <p:txBody>
          <a:bodyPr wrap="square" lIns="0" tIns="0" rIns="0" bIns="0" rtlCol="0" anchor="ctr"/>
          <a:lstStyle/>
          <a:p>
            <a:pPr algn="l" indent="0" marL="0">
              <a:buNone/>
            </a:pPr>
            <a:r>
              <a:rPr lang="en-US" sz="1000" dirty="0">
                <a:solidFill>
                  <a:srgbClr val="0E7C86"/>
                </a:solidFill>
                <a:latin typeface="Calibri" pitchFamily="34" charset="0"/>
                <a:ea typeface="Calibri" pitchFamily="34" charset="-122"/>
                <a:cs typeface="Calibri" pitchFamily="34" charset="-120"/>
              </a:rPr>
              <a:t>1 − log₁₀(1 + hab/km²) / log₁₀(5000)</a:t>
            </a:r>
            <a:endParaRPr lang="en-US" sz="1000" dirty="0"/>
          </a:p>
        </p:txBody>
      </p:sp>
      <p:sp>
        <p:nvSpPr>
          <p:cNvPr id="37" name="Text 34"/>
          <p:cNvSpPr txBox="1"/>
          <p:nvPr/>
        </p:nvSpPr>
        <p:spPr>
          <a:xfrm>
            <a:off x="6903720" y="3026664"/>
            <a:ext cx="594360" cy="411480"/>
          </a:xfrm>
          <a:prstGeom prst="rect">
            <a:avLst/>
          </a:prstGeom>
          <a:noFill/>
          <a:ln/>
        </p:spPr>
        <p:txBody>
          <a:bodyPr wrap="square" lIns="0" tIns="0" rIns="0" bIns="0" rtlCol="0" anchor="ctr"/>
          <a:lstStyle/>
          <a:p>
            <a:pPr algn="ctr" indent="0" marL="0">
              <a:buNone/>
            </a:pPr>
            <a:r>
              <a:rPr lang="en-US" sz="1300" b="1" dirty="0">
                <a:solidFill>
                  <a:srgbClr val="9ED9C0"/>
                </a:solidFill>
                <a:latin typeface="Calibri" pitchFamily="34" charset="0"/>
                <a:ea typeface="Calibri" pitchFamily="34" charset="-122"/>
                <a:cs typeface="Calibri" pitchFamily="34" charset="-120"/>
              </a:rPr>
              <a:t>15 %</a:t>
            </a:r>
            <a:endParaRPr lang="en-US" sz="1300" dirty="0"/>
          </a:p>
        </p:txBody>
      </p:sp>
      <p:sp>
        <p:nvSpPr>
          <p:cNvPr id="38" name="Shape 35"/>
          <p:cNvSpPr/>
          <p:nvPr/>
        </p:nvSpPr>
        <p:spPr>
          <a:xfrm>
            <a:off x="7726680" y="3118104"/>
            <a:ext cx="411480" cy="228600"/>
          </a:xfrm>
          <a:prstGeom prst="rect">
            <a:avLst/>
          </a:prstGeom>
          <a:solidFill>
            <a:srgbClr val="9ED9C0"/>
          </a:solidFill>
          <a:ln w="12700">
            <a:solidFill>
              <a:srgbClr val="9ED9C0"/>
            </a:solidFill>
            <a:prstDash val="solid"/>
          </a:ln>
        </p:spPr>
      </p:sp>
      <p:sp>
        <p:nvSpPr>
          <p:cNvPr id="39" name="Shape 36"/>
          <p:cNvSpPr/>
          <p:nvPr/>
        </p:nvSpPr>
        <p:spPr>
          <a:xfrm>
            <a:off x="457200" y="3611880"/>
            <a:ext cx="8229600" cy="822960"/>
          </a:xfrm>
          <a:prstGeom prst="roundRect">
            <a:avLst>
              <a:gd name="adj" fmla="val 8889"/>
            </a:avLst>
          </a:prstGeom>
          <a:solidFill>
            <a:srgbClr val="E8F5EF"/>
          </a:solidFill>
          <a:ln w="15875">
            <a:solidFill>
              <a:srgbClr val="D49A00"/>
            </a:solidFill>
            <a:prstDash val="solid"/>
          </a:ln>
        </p:spPr>
      </p:sp>
      <p:sp>
        <p:nvSpPr>
          <p:cNvPr id="40" name="Text 37"/>
          <p:cNvSpPr txBox="1"/>
          <p:nvPr/>
        </p:nvSpPr>
        <p:spPr>
          <a:xfrm>
            <a:off x="640080" y="3657600"/>
            <a:ext cx="2194560" cy="274320"/>
          </a:xfrm>
          <a:prstGeom prst="rect">
            <a:avLst/>
          </a:prstGeom>
          <a:noFill/>
          <a:ln/>
        </p:spPr>
        <p:txBody>
          <a:bodyPr wrap="square" lIns="0" tIns="0" rIns="0" bIns="0" rtlCol="0" anchor="t"/>
          <a:lstStyle/>
          <a:p>
            <a:pPr indent="0" marL="0">
              <a:buNone/>
            </a:pPr>
            <a:r>
              <a:rPr lang="en-US" sz="1200" b="1" dirty="0">
                <a:solidFill>
                  <a:srgbClr val="D49A00"/>
                </a:solidFill>
                <a:latin typeface="Calibri" pitchFamily="34" charset="0"/>
                <a:ea typeface="Calibri" pitchFamily="34" charset="-122"/>
                <a:cs typeface="Calibri" pitchFamily="34" charset="-120"/>
              </a:rPr>
              <a:t>Industrial score</a:t>
            </a:r>
            <a:endParaRPr lang="en-US" sz="1200" dirty="0"/>
          </a:p>
        </p:txBody>
      </p:sp>
      <p:sp>
        <p:nvSpPr>
          <p:cNvPr id="41" name="Text 38"/>
          <p:cNvSpPr txBox="1"/>
          <p:nvPr/>
        </p:nvSpPr>
        <p:spPr>
          <a:xfrm>
            <a:off x="640080" y="3931920"/>
            <a:ext cx="7863840" cy="41148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 = 0.35·built_nres + 0.30·light + 0.20·NO₂ + 0.15·few_residents   (each signal clipped to 0–1)</a:t>
            </a:r>
            <a:endParaRPr lang="en-US" sz="1300" dirty="0"/>
          </a:p>
        </p:txBody>
      </p:sp>
      <p:sp>
        <p:nvSpPr>
          <p:cNvPr id="42" name="Text 39"/>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Weights and thresholds: expert choices in IND.PARAMS, to be tested · Sources: Pesaresi et al. (2023); Copernicus Sentinel-5P</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SCENARIO 6</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Industrial zones: from pixels to validated candidates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Text 8"/>
          <p:cNvSpPr txBox="1"/>
          <p:nvPr/>
        </p:nvSpPr>
        <p:spPr>
          <a:xfrm>
            <a:off x="548640" y="1353312"/>
            <a:ext cx="17830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METRIC</a:t>
            </a:r>
            <a:endParaRPr lang="en-US" sz="900" dirty="0"/>
          </a:p>
        </p:txBody>
      </p:sp>
      <p:sp>
        <p:nvSpPr>
          <p:cNvPr id="12" name="Text 9"/>
          <p:cNvSpPr txBox="1"/>
          <p:nvPr/>
        </p:nvSpPr>
        <p:spPr>
          <a:xfrm>
            <a:off x="2423160" y="1353312"/>
            <a:ext cx="29718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DEFINITION / FORMULA</a:t>
            </a:r>
            <a:endParaRPr lang="en-US" sz="900" dirty="0"/>
          </a:p>
        </p:txBody>
      </p:sp>
      <p:sp>
        <p:nvSpPr>
          <p:cNvPr id="13" name="Text 10"/>
          <p:cNvSpPr txBox="1"/>
          <p:nvPr/>
        </p:nvSpPr>
        <p:spPr>
          <a:xfrm>
            <a:off x="5486400" y="1353312"/>
            <a:ext cx="320040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HOW TO READ IT</a:t>
            </a:r>
            <a:endParaRPr lang="en-US" sz="900" dirty="0"/>
          </a:p>
        </p:txBody>
      </p:sp>
      <p:sp>
        <p:nvSpPr>
          <p:cNvPr id="14" name="Shape 11"/>
          <p:cNvSpPr/>
          <p:nvPr/>
        </p:nvSpPr>
        <p:spPr>
          <a:xfrm>
            <a:off x="457200" y="1609344"/>
            <a:ext cx="8229600" cy="365760"/>
          </a:xfrm>
          <a:prstGeom prst="roundRect">
            <a:avLst>
              <a:gd name="adj" fmla="val 12500"/>
            </a:avLst>
          </a:prstGeom>
          <a:solidFill>
            <a:srgbClr val="F4F7F5"/>
          </a:solidFill>
          <a:ln w="6350">
            <a:solidFill>
              <a:srgbClr val="D5DED9"/>
            </a:solidFill>
            <a:prstDash val="solid"/>
          </a:ln>
        </p:spPr>
      </p:sp>
      <p:sp>
        <p:nvSpPr>
          <p:cNvPr id="15" name="Text 12"/>
          <p:cNvSpPr txBox="1"/>
          <p:nvPr/>
        </p:nvSpPr>
        <p:spPr>
          <a:xfrm>
            <a:off x="548640" y="160934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Candidate pixel</a:t>
            </a:r>
            <a:endParaRPr lang="en-US" sz="1050" dirty="0"/>
          </a:p>
        </p:txBody>
      </p:sp>
      <p:sp>
        <p:nvSpPr>
          <p:cNvPr id="16" name="Text 13"/>
          <p:cNvSpPr txBox="1"/>
          <p:nvPr/>
        </p:nvSpPr>
        <p:spPr>
          <a:xfrm>
            <a:off x="2331720" y="160934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radiance ≥ 5 nW, built ≥ 1 %, S ≥ 0.55 — or gas flare</a:t>
            </a:r>
            <a:endParaRPr lang="en-US" sz="1000" dirty="0"/>
          </a:p>
        </p:txBody>
      </p:sp>
      <p:sp>
        <p:nvSpPr>
          <p:cNvPr id="17" name="Text 14"/>
          <p:cNvSpPr txBox="1"/>
          <p:nvPr/>
        </p:nvSpPr>
        <p:spPr>
          <a:xfrm>
            <a:off x="5394960" y="160934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Neighbours (≥ 2 pixels) → zone; max 250 zones</a:t>
            </a:r>
            <a:endParaRPr lang="en-US" sz="950" dirty="0"/>
          </a:p>
        </p:txBody>
      </p:sp>
      <p:sp>
        <p:nvSpPr>
          <p:cNvPr id="18" name="Shape 15"/>
          <p:cNvSpPr/>
          <p:nvPr/>
        </p:nvSpPr>
        <p:spPr>
          <a:xfrm>
            <a:off x="457200" y="2029968"/>
            <a:ext cx="8229600" cy="365760"/>
          </a:xfrm>
          <a:prstGeom prst="roundRect">
            <a:avLst>
              <a:gd name="adj" fmla="val 12500"/>
            </a:avLst>
          </a:prstGeom>
          <a:solidFill>
            <a:srgbClr val="FFFFFF"/>
          </a:solidFill>
          <a:ln w="6350">
            <a:solidFill>
              <a:srgbClr val="D5DED9"/>
            </a:solidFill>
            <a:prstDash val="solid"/>
          </a:ln>
        </p:spPr>
      </p:sp>
      <p:sp>
        <p:nvSpPr>
          <p:cNvPr id="19" name="Text 16"/>
          <p:cNvSpPr txBox="1"/>
          <p:nvPr/>
        </p:nvSpPr>
        <p:spPr>
          <a:xfrm>
            <a:off x="548640" y="202996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Share of national light</a:t>
            </a:r>
            <a:endParaRPr lang="en-US" sz="1050" dirty="0"/>
          </a:p>
        </p:txBody>
      </p:sp>
      <p:sp>
        <p:nvSpPr>
          <p:cNvPr id="20" name="Text 17"/>
          <p:cNvSpPr txBox="1"/>
          <p:nvPr/>
        </p:nvSpPr>
        <p:spPr>
          <a:xfrm>
            <a:off x="2331720" y="202996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of zone / national SoL (last year)</a:t>
            </a:r>
            <a:endParaRPr lang="en-US" sz="1000" dirty="0"/>
          </a:p>
        </p:txBody>
      </p:sp>
      <p:sp>
        <p:nvSpPr>
          <p:cNvPr id="21" name="Text 18"/>
          <p:cNvSpPr txBox="1"/>
          <p:nvPr/>
        </p:nvSpPr>
        <p:spPr>
          <a:xfrm>
            <a:off x="5394960" y="202996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Economic weight of the zone</a:t>
            </a:r>
            <a:endParaRPr lang="en-US" sz="950" dirty="0"/>
          </a:p>
        </p:txBody>
      </p:sp>
      <p:sp>
        <p:nvSpPr>
          <p:cNvPr id="22" name="Shape 19"/>
          <p:cNvSpPr/>
          <p:nvPr/>
        </p:nvSpPr>
        <p:spPr>
          <a:xfrm>
            <a:off x="457200" y="2450592"/>
            <a:ext cx="8229600" cy="365760"/>
          </a:xfrm>
          <a:prstGeom prst="roundRect">
            <a:avLst>
              <a:gd name="adj" fmla="val 12500"/>
            </a:avLst>
          </a:prstGeom>
          <a:solidFill>
            <a:srgbClr val="F4F7F5"/>
          </a:solidFill>
          <a:ln w="6350">
            <a:solidFill>
              <a:srgbClr val="D5DED9"/>
            </a:solidFill>
            <a:prstDash val="solid"/>
          </a:ln>
        </p:spPr>
      </p:sp>
      <p:sp>
        <p:nvSpPr>
          <p:cNvPr id="23" name="Text 20"/>
          <p:cNvSpPr txBox="1"/>
          <p:nvPr/>
        </p:nvSpPr>
        <p:spPr>
          <a:xfrm>
            <a:off x="548640" y="2450592"/>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Zone dynamics</a:t>
            </a:r>
            <a:endParaRPr lang="en-US" sz="1050" dirty="0"/>
          </a:p>
        </p:txBody>
      </p:sp>
      <p:sp>
        <p:nvSpPr>
          <p:cNvPr id="24" name="Text 21"/>
          <p:cNvSpPr txBox="1"/>
          <p:nvPr/>
        </p:nvSpPr>
        <p:spPr>
          <a:xfrm>
            <a:off x="2331720" y="2450592"/>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Theil–Sen growth: &gt; +5 %/yr expanding, &lt; −3 % declining</a:t>
            </a:r>
            <a:endParaRPr lang="en-US" sz="1000" dirty="0"/>
          </a:p>
        </p:txBody>
      </p:sp>
      <p:sp>
        <p:nvSpPr>
          <p:cNvPr id="25" name="Text 22"/>
          <p:cNvSpPr txBox="1"/>
          <p:nvPr/>
        </p:nvSpPr>
        <p:spPr>
          <a:xfrm>
            <a:off x="5394960" y="2450592"/>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Opening, expansion or slowdown signal</a:t>
            </a:r>
            <a:endParaRPr lang="en-US" sz="950" dirty="0"/>
          </a:p>
        </p:txBody>
      </p:sp>
      <p:sp>
        <p:nvSpPr>
          <p:cNvPr id="26" name="Shape 23"/>
          <p:cNvSpPr/>
          <p:nvPr/>
        </p:nvSpPr>
        <p:spPr>
          <a:xfrm>
            <a:off x="457200" y="2871216"/>
            <a:ext cx="8229600" cy="365760"/>
          </a:xfrm>
          <a:prstGeom prst="roundRect">
            <a:avLst>
              <a:gd name="adj" fmla="val 12500"/>
            </a:avLst>
          </a:prstGeom>
          <a:solidFill>
            <a:srgbClr val="FFFFFF"/>
          </a:solidFill>
          <a:ln w="6350">
            <a:solidFill>
              <a:srgbClr val="D5DED9"/>
            </a:solidFill>
            <a:prstDash val="solid"/>
          </a:ln>
        </p:spPr>
      </p:sp>
      <p:sp>
        <p:nvSpPr>
          <p:cNvPr id="27" name="Text 24"/>
          <p:cNvSpPr txBox="1"/>
          <p:nvPr/>
        </p:nvSpPr>
        <p:spPr>
          <a:xfrm>
            <a:off x="548640" y="2871216"/>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Class</a:t>
            </a:r>
            <a:endParaRPr lang="en-US" sz="1050" dirty="0"/>
          </a:p>
        </p:txBody>
      </p:sp>
      <p:sp>
        <p:nvSpPr>
          <p:cNvPr id="28" name="Text 25"/>
          <p:cNvSpPr txBox="1"/>
          <p:nvPr/>
        </p:nvSpPr>
        <p:spPr>
          <a:xfrm>
            <a:off x="2331720" y="2871216"/>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energy: flare share &gt; 0.3 &amp; nres &lt; 0.3 · major: top 10 % SoL or ≥ 8 km²</a:t>
            </a:r>
            <a:endParaRPr lang="en-US" sz="1000" dirty="0"/>
          </a:p>
        </p:txBody>
      </p:sp>
      <p:sp>
        <p:nvSpPr>
          <p:cNvPr id="29" name="Text 26"/>
          <p:cNvSpPr txBox="1"/>
          <p:nvPr/>
        </p:nvSpPr>
        <p:spPr>
          <a:xfrm>
            <a:off x="5394960" y="2871216"/>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Energy site · major hub · industrial / logistics zone</a:t>
            </a:r>
            <a:endParaRPr lang="en-US" sz="950" dirty="0"/>
          </a:p>
        </p:txBody>
      </p:sp>
      <p:sp>
        <p:nvSpPr>
          <p:cNvPr id="30" name="Shape 27"/>
          <p:cNvSpPr/>
          <p:nvPr/>
        </p:nvSpPr>
        <p:spPr>
          <a:xfrm>
            <a:off x="457200" y="3291840"/>
            <a:ext cx="8229600" cy="365760"/>
          </a:xfrm>
          <a:prstGeom prst="roundRect">
            <a:avLst>
              <a:gd name="adj" fmla="val 12500"/>
            </a:avLst>
          </a:prstGeom>
          <a:solidFill>
            <a:srgbClr val="F4F7F5"/>
          </a:solidFill>
          <a:ln w="6350">
            <a:solidFill>
              <a:srgbClr val="D5DED9"/>
            </a:solidFill>
            <a:prstDash val="solid"/>
          </a:ln>
        </p:spPr>
      </p:sp>
      <p:sp>
        <p:nvSpPr>
          <p:cNvPr id="31" name="Text 28"/>
          <p:cNvSpPr txBox="1"/>
          <p:nvPr/>
        </p:nvSpPr>
        <p:spPr>
          <a:xfrm>
            <a:off x="548640" y="3291840"/>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Precision</a:t>
            </a:r>
            <a:endParaRPr lang="en-US" sz="1050" dirty="0"/>
          </a:p>
        </p:txBody>
      </p:sp>
      <p:sp>
        <p:nvSpPr>
          <p:cNvPr id="32" name="Text 29"/>
          <p:cNvSpPr txBox="1"/>
          <p:nvPr/>
        </p:nvSpPr>
        <p:spPr>
          <a:xfrm>
            <a:off x="2331720" y="3291840"/>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zones intersecting an OSM industrial area / zones</a:t>
            </a:r>
            <a:endParaRPr lang="en-US" sz="1000" dirty="0"/>
          </a:p>
        </p:txBody>
      </p:sp>
      <p:sp>
        <p:nvSpPr>
          <p:cNvPr id="33" name="Text 30"/>
          <p:cNvSpPr txBox="1"/>
          <p:nvPr/>
        </p:nvSpPr>
        <p:spPr>
          <a:xfrm>
            <a:off x="5394960" y="3291840"/>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 0.5 → medium confidence, else low</a:t>
            </a:r>
            <a:endParaRPr lang="en-US" sz="950" dirty="0"/>
          </a:p>
        </p:txBody>
      </p:sp>
      <p:sp>
        <p:nvSpPr>
          <p:cNvPr id="34" name="Shape 31"/>
          <p:cNvSpPr/>
          <p:nvPr/>
        </p:nvSpPr>
        <p:spPr>
          <a:xfrm>
            <a:off x="457200" y="3712464"/>
            <a:ext cx="8229600" cy="365760"/>
          </a:xfrm>
          <a:prstGeom prst="roundRect">
            <a:avLst>
              <a:gd name="adj" fmla="val 12500"/>
            </a:avLst>
          </a:prstGeom>
          <a:solidFill>
            <a:srgbClr val="FFFFFF"/>
          </a:solidFill>
          <a:ln w="6350">
            <a:solidFill>
              <a:srgbClr val="D5DED9"/>
            </a:solidFill>
            <a:prstDash val="solid"/>
          </a:ln>
        </p:spPr>
      </p:sp>
      <p:sp>
        <p:nvSpPr>
          <p:cNvPr id="35" name="Text 32"/>
          <p:cNvSpPr txBox="1"/>
          <p:nvPr/>
        </p:nvSpPr>
        <p:spPr>
          <a:xfrm>
            <a:off x="548640" y="3712464"/>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Recall</a:t>
            </a:r>
            <a:endParaRPr lang="en-US" sz="1050" dirty="0"/>
          </a:p>
        </p:txBody>
      </p:sp>
      <p:sp>
        <p:nvSpPr>
          <p:cNvPr id="36" name="Text 33"/>
          <p:cNvSpPr txBox="1"/>
          <p:nvPr/>
        </p:nvSpPr>
        <p:spPr>
          <a:xfrm>
            <a:off x="2331720" y="3712464"/>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OSM industrial areas found / OSM areas</a:t>
            </a:r>
            <a:endParaRPr lang="en-US" sz="1000" dirty="0"/>
          </a:p>
        </p:txBody>
      </p:sp>
      <p:sp>
        <p:nvSpPr>
          <p:cNvPr id="37" name="Text 34"/>
          <p:cNvSpPr txBox="1"/>
          <p:nvPr/>
        </p:nvSpPr>
        <p:spPr>
          <a:xfrm>
            <a:off x="5394960" y="3712464"/>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Coverage; depends on OSM completeness</a:t>
            </a:r>
            <a:endParaRPr lang="en-US" sz="950" dirty="0"/>
          </a:p>
        </p:txBody>
      </p:sp>
      <p:sp>
        <p:nvSpPr>
          <p:cNvPr id="38" name="Shape 35"/>
          <p:cNvSpPr/>
          <p:nvPr/>
        </p:nvSpPr>
        <p:spPr>
          <a:xfrm>
            <a:off x="457200" y="4133088"/>
            <a:ext cx="8229600" cy="365760"/>
          </a:xfrm>
          <a:prstGeom prst="roundRect">
            <a:avLst>
              <a:gd name="adj" fmla="val 12500"/>
            </a:avLst>
          </a:prstGeom>
          <a:solidFill>
            <a:srgbClr val="F4F7F5"/>
          </a:solidFill>
          <a:ln w="6350">
            <a:solidFill>
              <a:srgbClr val="D5DED9"/>
            </a:solidFill>
            <a:prstDash val="solid"/>
          </a:ln>
        </p:spPr>
      </p:sp>
      <p:sp>
        <p:nvSpPr>
          <p:cNvPr id="39" name="Text 36"/>
          <p:cNvSpPr txBox="1"/>
          <p:nvPr/>
        </p:nvSpPr>
        <p:spPr>
          <a:xfrm>
            <a:off x="548640" y="4133088"/>
            <a:ext cx="1737360" cy="365760"/>
          </a:xfrm>
          <a:prstGeom prst="rect">
            <a:avLst/>
          </a:prstGeom>
          <a:noFill/>
          <a:ln/>
        </p:spPr>
        <p:txBody>
          <a:bodyPr wrap="square" lIns="0" tIns="0" rIns="0" bIns="0" rtlCol="0" anchor="ctr"/>
          <a:lstStyle/>
          <a:p>
            <a:pPr indent="0" marL="0">
              <a:buNone/>
            </a:pPr>
            <a:r>
              <a:rPr lang="en-US" sz="1050" b="1" dirty="0">
                <a:solidFill>
                  <a:srgbClr val="231F20"/>
                </a:solidFill>
                <a:latin typeface="Calibri" pitchFamily="34" charset="0"/>
                <a:ea typeface="Calibri" pitchFamily="34" charset="-122"/>
                <a:cs typeface="Calibri" pitchFamily="34" charset="-120"/>
              </a:rPr>
              <a:t>Light-weighted precision</a:t>
            </a:r>
            <a:endParaRPr lang="en-US" sz="1050" dirty="0"/>
          </a:p>
        </p:txBody>
      </p:sp>
      <p:sp>
        <p:nvSpPr>
          <p:cNvPr id="40" name="Text 37"/>
          <p:cNvSpPr txBox="1"/>
          <p:nvPr/>
        </p:nvSpPr>
        <p:spPr>
          <a:xfrm>
            <a:off x="2331720" y="4133088"/>
            <a:ext cx="2971800" cy="365760"/>
          </a:xfrm>
          <a:prstGeom prst="rect">
            <a:avLst/>
          </a:prstGeom>
          <a:noFill/>
          <a:ln/>
        </p:spPr>
        <p:txBody>
          <a:bodyPr wrap="square" lIns="0" tIns="0" rIns="0" bIns="0" rtlCol="0" anchor="ctr"/>
          <a:lstStyle/>
          <a:p>
            <a:pPr indent="0" marL="0">
              <a:buNone/>
            </a:pPr>
            <a:r>
              <a:rPr lang="en-US" sz="1000" dirty="0">
                <a:solidFill>
                  <a:srgbClr val="0E7C86"/>
                </a:solidFill>
                <a:latin typeface="Calibri" pitchFamily="34" charset="0"/>
                <a:ea typeface="Calibri" pitchFamily="34" charset="-122"/>
                <a:cs typeface="Calibri" pitchFamily="34" charset="-120"/>
              </a:rPr>
              <a:t>SoL of confirmed zones / SoL of all zones</a:t>
            </a:r>
            <a:endParaRPr lang="en-US" sz="1000" dirty="0"/>
          </a:p>
        </p:txBody>
      </p:sp>
      <p:sp>
        <p:nvSpPr>
          <p:cNvPr id="41" name="Text 38"/>
          <p:cNvSpPr txBox="1"/>
          <p:nvPr/>
        </p:nvSpPr>
        <p:spPr>
          <a:xfrm>
            <a:off x="5394960" y="4133088"/>
            <a:ext cx="3200400" cy="365760"/>
          </a:xfrm>
          <a:prstGeom prst="rect">
            <a:avLst/>
          </a:prstGeom>
          <a:noFill/>
          <a:ln/>
        </p:spPr>
        <p:txBody>
          <a:bodyPr wrap="square" lIns="0" tIns="0" rIns="0" bIns="0" rtlCol="0" anchor="ctr"/>
          <a:lstStyle/>
          <a:p>
            <a:pPr indent="0" marL="0">
              <a:buNone/>
            </a:pPr>
            <a:r>
              <a:rPr lang="en-US" sz="950" dirty="0">
                <a:solidFill>
                  <a:srgbClr val="5E6964"/>
                </a:solidFill>
                <a:latin typeface="Calibri" pitchFamily="34" charset="0"/>
                <a:ea typeface="Calibri" pitchFamily="34" charset="-122"/>
                <a:cs typeface="Calibri" pitchFamily="34" charset="-120"/>
              </a:rPr>
              <a:t>Is the bulk of industrial light confirmed?</a:t>
            </a:r>
            <a:endParaRPr lang="en-US" sz="9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04 · ANALYSE · SYNTHESIS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From metrics to key messages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49A00"/>
          </a:solidFill>
          <a:ln w="12700">
            <a:solidFill>
              <a:srgbClr val="D49A00"/>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444752"/>
            <a:ext cx="411480" cy="411480"/>
          </a:xfrm>
          <a:prstGeom prst="ellipse">
            <a:avLst/>
          </a:prstGeom>
          <a:solidFill>
            <a:srgbClr val="00A86A"/>
          </a:solidFill>
          <a:ln w="12700">
            <a:solidFill>
              <a:srgbClr val="00A86A"/>
            </a:solidFill>
            <a:prstDash val="solid"/>
          </a:ln>
        </p:spPr>
      </p:sp>
      <p:sp>
        <p:nvSpPr>
          <p:cNvPr id="12" name="Text 9"/>
          <p:cNvSpPr txBox="1"/>
          <p:nvPr/>
        </p:nvSpPr>
        <p:spPr>
          <a:xfrm>
            <a:off x="1005840" y="1371600"/>
            <a:ext cx="1280160" cy="548640"/>
          </a:xfrm>
          <a:prstGeom prst="rect">
            <a:avLst/>
          </a:prstGeom>
          <a:noFill/>
          <a:ln/>
        </p:spPr>
        <p:txBody>
          <a:bodyPr wrap="square" lIns="0" tIns="0" rIns="0" bIns="0" rtlCol="0" anchor="ctr"/>
          <a:lstStyle/>
          <a:p>
            <a:pPr indent="0" marL="0">
              <a:buNone/>
            </a:pPr>
            <a:r>
              <a:rPr lang="en-US" sz="1500" b="1" dirty="0">
                <a:solidFill>
                  <a:srgbClr val="00A86A"/>
                </a:solidFill>
                <a:latin typeface="Calibri" pitchFamily="34" charset="0"/>
                <a:ea typeface="Calibri" pitchFamily="34" charset="-122"/>
                <a:cs typeface="Calibri" pitchFamily="34" charset="-120"/>
              </a:rPr>
              <a:t>High</a:t>
            </a:r>
            <a:endParaRPr lang="en-US" sz="1500" dirty="0"/>
          </a:p>
        </p:txBody>
      </p:sp>
      <p:sp>
        <p:nvSpPr>
          <p:cNvPr id="13" name="Text 10"/>
          <p:cNvSpPr txBox="1"/>
          <p:nvPr/>
        </p:nvSpPr>
        <p:spPr>
          <a:xfrm>
            <a:off x="2194560" y="13716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Established result: can be quoted with its interval</a:t>
            </a:r>
            <a:endParaRPr lang="en-US" sz="1000" dirty="0"/>
          </a:p>
        </p:txBody>
      </p:sp>
      <p:sp>
        <p:nvSpPr>
          <p:cNvPr id="14" name="Shape 11"/>
          <p:cNvSpPr/>
          <p:nvPr/>
        </p:nvSpPr>
        <p:spPr>
          <a:xfrm>
            <a:off x="457200" y="2130552"/>
            <a:ext cx="411480" cy="411480"/>
          </a:xfrm>
          <a:prstGeom prst="ellipse">
            <a:avLst/>
          </a:prstGeom>
          <a:solidFill>
            <a:srgbClr val="D49A00"/>
          </a:solidFill>
          <a:ln w="12700">
            <a:solidFill>
              <a:srgbClr val="D49A00"/>
            </a:solidFill>
            <a:prstDash val="solid"/>
          </a:ln>
        </p:spPr>
      </p:sp>
      <p:sp>
        <p:nvSpPr>
          <p:cNvPr id="15" name="Text 12"/>
          <p:cNvSpPr txBox="1"/>
          <p:nvPr/>
        </p:nvSpPr>
        <p:spPr>
          <a:xfrm>
            <a:off x="1005840" y="2057400"/>
            <a:ext cx="1280160" cy="548640"/>
          </a:xfrm>
          <a:prstGeom prst="rect">
            <a:avLst/>
          </a:prstGeom>
          <a:noFill/>
          <a:ln/>
        </p:spPr>
        <p:txBody>
          <a:bodyPr wrap="square" lIns="0" tIns="0" rIns="0" bIns="0" rtlCol="0" anchor="ctr"/>
          <a:lstStyle/>
          <a:p>
            <a:pPr indent="0" marL="0">
              <a:buNone/>
            </a:pPr>
            <a:r>
              <a:rPr lang="en-US" sz="1500" b="1" dirty="0">
                <a:solidFill>
                  <a:srgbClr val="D49A00"/>
                </a:solidFill>
                <a:latin typeface="Calibri" pitchFamily="34" charset="0"/>
                <a:ea typeface="Calibri" pitchFamily="34" charset="-122"/>
                <a:cs typeface="Calibri" pitchFamily="34" charset="-120"/>
              </a:rPr>
              <a:t>Medium</a:t>
            </a:r>
            <a:endParaRPr lang="en-US" sz="1500" dirty="0"/>
          </a:p>
        </p:txBody>
      </p:sp>
      <p:sp>
        <p:nvSpPr>
          <p:cNvPr id="16" name="Text 13"/>
          <p:cNvSpPr txBox="1"/>
          <p:nvPr/>
        </p:nvSpPr>
        <p:spPr>
          <a:xfrm>
            <a:off x="2194560" y="20574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Plausible result: quote with caution and context</a:t>
            </a:r>
            <a:endParaRPr lang="en-US" sz="1000" dirty="0"/>
          </a:p>
        </p:txBody>
      </p:sp>
      <p:sp>
        <p:nvSpPr>
          <p:cNvPr id="17" name="Shape 14"/>
          <p:cNvSpPr/>
          <p:nvPr/>
        </p:nvSpPr>
        <p:spPr>
          <a:xfrm>
            <a:off x="457200" y="2816352"/>
            <a:ext cx="411480" cy="411480"/>
          </a:xfrm>
          <a:prstGeom prst="ellipse">
            <a:avLst/>
          </a:prstGeom>
          <a:solidFill>
            <a:srgbClr val="B83B2E"/>
          </a:solidFill>
          <a:ln w="12700">
            <a:solidFill>
              <a:srgbClr val="B83B2E"/>
            </a:solidFill>
            <a:prstDash val="solid"/>
          </a:ln>
        </p:spPr>
      </p:sp>
      <p:sp>
        <p:nvSpPr>
          <p:cNvPr id="18" name="Text 15"/>
          <p:cNvSpPr txBox="1"/>
          <p:nvPr/>
        </p:nvSpPr>
        <p:spPr>
          <a:xfrm>
            <a:off x="1005840" y="2743200"/>
            <a:ext cx="1280160" cy="548640"/>
          </a:xfrm>
          <a:prstGeom prst="rect">
            <a:avLst/>
          </a:prstGeom>
          <a:noFill/>
          <a:ln/>
        </p:spPr>
        <p:txBody>
          <a:bodyPr wrap="square" lIns="0" tIns="0" rIns="0" bIns="0" rtlCol="0" anchor="ctr"/>
          <a:lstStyle/>
          <a:p>
            <a:pPr indent="0" marL="0">
              <a:buNone/>
            </a:pPr>
            <a:r>
              <a:rPr lang="en-US" sz="1500" b="1" dirty="0">
                <a:solidFill>
                  <a:srgbClr val="B83B2E"/>
                </a:solidFill>
                <a:latin typeface="Calibri" pitchFamily="34" charset="0"/>
                <a:ea typeface="Calibri" pitchFamily="34" charset="-122"/>
                <a:cs typeface="Calibri" pitchFamily="34" charset="-120"/>
              </a:rPr>
              <a:t>Low</a:t>
            </a:r>
            <a:endParaRPr lang="en-US" sz="1500" dirty="0"/>
          </a:p>
        </p:txBody>
      </p:sp>
      <p:sp>
        <p:nvSpPr>
          <p:cNvPr id="19" name="Text 16"/>
          <p:cNvSpPr txBox="1"/>
          <p:nvPr/>
        </p:nvSpPr>
        <p:spPr>
          <a:xfrm>
            <a:off x="2194560" y="2743200"/>
            <a:ext cx="2011680" cy="548640"/>
          </a:xfrm>
          <a:prstGeom prst="rect">
            <a:avLst/>
          </a:prstGeom>
          <a:noFill/>
          <a:ln/>
        </p:spPr>
        <p:txBody>
          <a:bodyPr wrap="square" lIns="0" tIns="0" rIns="0" bIns="0" rtlCol="0" anchor="ctr"/>
          <a:lstStyle/>
          <a:p>
            <a:pPr indent="0" marL="0">
              <a:buNone/>
            </a:pPr>
            <a:r>
              <a:rPr lang="en-US" sz="1000" dirty="0">
                <a:solidFill>
                  <a:srgbClr val="5E6964"/>
                </a:solidFill>
                <a:latin typeface="Calibri" pitchFamily="34" charset="0"/>
                <a:ea typeface="Calibri" pitchFamily="34" charset="-122"/>
                <a:cs typeface="Calibri" pitchFamily="34" charset="-120"/>
              </a:rPr>
              <a:t>A lead, not a conclusion: investigate before using</a:t>
            </a:r>
            <a:endParaRPr lang="en-US" sz="1000" dirty="0"/>
          </a:p>
        </p:txBody>
      </p:sp>
      <p:sp>
        <p:nvSpPr>
          <p:cNvPr id="20" name="Shape 17"/>
          <p:cNvSpPr/>
          <p:nvPr/>
        </p:nvSpPr>
        <p:spPr>
          <a:xfrm>
            <a:off x="4480560" y="1325880"/>
            <a:ext cx="4206240" cy="3108960"/>
          </a:xfrm>
          <a:prstGeom prst="roundRect">
            <a:avLst>
              <a:gd name="adj" fmla="val 2353"/>
            </a:avLst>
          </a:prstGeom>
          <a:solidFill>
            <a:srgbClr val="F4F7F5"/>
          </a:solidFill>
          <a:ln w="9525">
            <a:solidFill>
              <a:srgbClr val="D5DED9"/>
            </a:solidFill>
            <a:prstDash val="solid"/>
          </a:ln>
        </p:spPr>
      </p:sp>
      <p:sp>
        <p:nvSpPr>
          <p:cNvPr id="21" name="Text 18"/>
          <p:cNvSpPr txBox="1"/>
          <p:nvPr/>
        </p:nvSpPr>
        <p:spPr>
          <a:xfrm>
            <a:off x="4645152" y="1417320"/>
            <a:ext cx="3840480" cy="219456"/>
          </a:xfrm>
          <a:prstGeom prst="rect">
            <a:avLst/>
          </a:prstGeom>
          <a:noFill/>
          <a:ln/>
        </p:spPr>
        <p:txBody>
          <a:bodyPr wrap="square" lIns="0" tIns="0" rIns="0" bIns="0" rtlCol="0" anchor="ctr"/>
          <a:lstStyle/>
          <a:p>
            <a:pPr indent="0" marL="0">
              <a:buNone/>
            </a:pPr>
            <a:r>
              <a:rPr lang="en-US" sz="900" b="1" spc="200" kern="0" dirty="0">
                <a:solidFill>
                  <a:srgbClr val="D49A00"/>
                </a:solidFill>
                <a:latin typeface="Calibri" pitchFamily="34" charset="0"/>
                <a:ea typeface="Calibri" pitchFamily="34" charset="-122"/>
                <a:cs typeface="Calibri" pitchFamily="34" charset="-120"/>
              </a:rPr>
              <a:t>WHERE THE CONFIDENCE COMES FROM</a:t>
            </a:r>
            <a:endParaRPr lang="en-US" sz="900" dirty="0"/>
          </a:p>
        </p:txBody>
      </p:sp>
      <p:sp>
        <p:nvSpPr>
          <p:cNvPr id="22" name="Text 19"/>
          <p:cNvSpPr txBox="1"/>
          <p:nvPr/>
        </p:nvSpPr>
        <p:spPr>
          <a:xfrm>
            <a:off x="4645152" y="1737360"/>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Trend (S1, S2)</a:t>
            </a:r>
            <a:endParaRPr lang="en-US" sz="1100" dirty="0"/>
          </a:p>
        </p:txBody>
      </p:sp>
      <p:sp>
        <p:nvSpPr>
          <p:cNvPr id="23" name="Text 20"/>
          <p:cNvSpPr txBox="1"/>
          <p:nvPr/>
        </p:nvSpPr>
        <p:spPr>
          <a:xfrm>
            <a:off x="4645152" y="1965960"/>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high p &lt; 0.01 · medium p &lt; 0.10 · low if n &lt; 6</a:t>
            </a:r>
            <a:endParaRPr lang="en-US" sz="950" dirty="0"/>
          </a:p>
        </p:txBody>
      </p:sp>
      <p:sp>
        <p:nvSpPr>
          <p:cNvPr id="24" name="Text 21"/>
          <p:cNvSpPr txBox="1"/>
          <p:nvPr/>
        </p:nvSpPr>
        <p:spPr>
          <a:xfrm>
            <a:off x="4645152" y="2267712"/>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Elasticity (S3)</a:t>
            </a:r>
            <a:endParaRPr lang="en-US" sz="1100" dirty="0"/>
          </a:p>
        </p:txBody>
      </p:sp>
      <p:sp>
        <p:nvSpPr>
          <p:cNvPr id="25" name="Text 22"/>
          <p:cNvSpPr txBox="1"/>
          <p:nvPr/>
        </p:nvSpPr>
        <p:spPr>
          <a:xfrm>
            <a:off x="4645152" y="2496312"/>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n, p, CI width, R² (see S3)</a:t>
            </a:r>
            <a:endParaRPr lang="en-US" sz="950" dirty="0"/>
          </a:p>
        </p:txBody>
      </p:sp>
      <p:sp>
        <p:nvSpPr>
          <p:cNvPr id="26" name="Text 23"/>
          <p:cNvSpPr txBox="1"/>
          <p:nvPr/>
        </p:nvSpPr>
        <p:spPr>
          <a:xfrm>
            <a:off x="4645152" y="2798064"/>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Shock (S4)</a:t>
            </a:r>
            <a:endParaRPr lang="en-US" sz="1100" dirty="0"/>
          </a:p>
        </p:txBody>
      </p:sp>
      <p:sp>
        <p:nvSpPr>
          <p:cNvPr id="27" name="Text 24"/>
          <p:cNvSpPr txBox="1"/>
          <p:nvPr/>
        </p:nvSpPr>
        <p:spPr>
          <a:xfrm>
            <a:off x="4645152" y="3026664"/>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placebo test passed or not</a:t>
            </a:r>
            <a:endParaRPr lang="en-US" sz="950" dirty="0"/>
          </a:p>
        </p:txBody>
      </p:sp>
      <p:sp>
        <p:nvSpPr>
          <p:cNvPr id="28" name="Text 25"/>
          <p:cNvSpPr txBox="1"/>
          <p:nvPr/>
        </p:nvSpPr>
        <p:spPr>
          <a:xfrm>
            <a:off x="4645152" y="3328416"/>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Inequality (S5)</a:t>
            </a:r>
            <a:endParaRPr lang="en-US" sz="1100" dirty="0"/>
          </a:p>
        </p:txBody>
      </p:sp>
      <p:sp>
        <p:nvSpPr>
          <p:cNvPr id="29" name="Text 26"/>
          <p:cNvSpPr txBox="1"/>
          <p:nvPr/>
        </p:nvSpPr>
        <p:spPr>
          <a:xfrm>
            <a:off x="4645152" y="3557016"/>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bootstrap CI of ΔGini excludes 0</a:t>
            </a:r>
            <a:endParaRPr lang="en-US" sz="950" dirty="0"/>
          </a:p>
        </p:txBody>
      </p:sp>
      <p:sp>
        <p:nvSpPr>
          <p:cNvPr id="30" name="Text 27"/>
          <p:cNvSpPr txBox="1"/>
          <p:nvPr/>
        </p:nvSpPr>
        <p:spPr>
          <a:xfrm>
            <a:off x="4645152" y="3858768"/>
            <a:ext cx="3840480" cy="228600"/>
          </a:xfrm>
          <a:prstGeom prst="rect">
            <a:avLst/>
          </a:prstGeom>
          <a:noFill/>
          <a:ln/>
        </p:spPr>
        <p:txBody>
          <a:bodyPr wrap="square" lIns="0" tIns="0" rIns="0" bIns="0" rtlCol="0" anchor="t"/>
          <a:lstStyle/>
          <a:p>
            <a:pPr indent="0" marL="0">
              <a:buNone/>
            </a:pPr>
            <a:r>
              <a:rPr lang="en-US" sz="1100" b="1" dirty="0">
                <a:solidFill>
                  <a:srgbClr val="231F20"/>
                </a:solidFill>
                <a:latin typeface="Calibri" pitchFamily="34" charset="0"/>
                <a:ea typeface="Calibri" pitchFamily="34" charset="-122"/>
                <a:cs typeface="Calibri" pitchFamily="34" charset="-120"/>
              </a:rPr>
              <a:t>Industry (S6)</a:t>
            </a:r>
            <a:endParaRPr lang="en-US" sz="1100" dirty="0"/>
          </a:p>
        </p:txBody>
      </p:sp>
      <p:sp>
        <p:nvSpPr>
          <p:cNvPr id="31" name="Text 28"/>
          <p:cNvSpPr txBox="1"/>
          <p:nvPr/>
        </p:nvSpPr>
        <p:spPr>
          <a:xfrm>
            <a:off x="4645152" y="4087368"/>
            <a:ext cx="3840480" cy="256032"/>
          </a:xfrm>
          <a:prstGeom prst="rect">
            <a:avLst/>
          </a:prstGeom>
          <a:noFill/>
          <a:ln/>
        </p:spPr>
        <p:txBody>
          <a:bodyPr wrap="square" lIns="0" tIns="0" rIns="0" bIns="0" rtlCol="0" anchor="t"/>
          <a:lstStyle/>
          <a:p>
            <a:pPr indent="0" marL="0">
              <a:buNone/>
            </a:pPr>
            <a:r>
              <a:rPr lang="en-US" sz="950" dirty="0">
                <a:solidFill>
                  <a:srgbClr val="5E6964"/>
                </a:solidFill>
                <a:latin typeface="Calibri" pitchFamily="34" charset="0"/>
                <a:ea typeface="Calibri" pitchFamily="34" charset="-122"/>
                <a:cs typeface="Calibri" pitchFamily="34" charset="-120"/>
              </a:rPr>
              <a:t>OSM precision ≥ 0.5 → medium, else low</a:t>
            </a:r>
            <a:endParaRPr lang="en-US" sz="950" dirty="0"/>
          </a:p>
        </p:txBody>
      </p:sp>
      <p:sp>
        <p:nvSpPr>
          <p:cNvPr id="32" name="Text 29"/>
          <p:cNvSpPr txBox="1"/>
          <p:nvPr/>
        </p:nvSpPr>
        <p:spPr>
          <a:xfrm>
            <a:off x="457200" y="3611880"/>
            <a:ext cx="3749040" cy="548640"/>
          </a:xfrm>
          <a:prstGeom prst="rect">
            <a:avLst/>
          </a:prstGeom>
          <a:noFill/>
          <a:ln/>
        </p:spPr>
        <p:txBody>
          <a:bodyPr wrap="square" lIns="0" tIns="0" rIns="0" bIns="0" rtlCol="0" anchor="t"/>
          <a:lstStyle/>
          <a:p>
            <a:pPr indent="0" marL="0">
              <a:buNone/>
            </a:pPr>
            <a:r>
              <a:rPr lang="en-US" sz="1000" i="1" dirty="0">
                <a:solidFill>
                  <a:srgbClr val="5E6964"/>
                </a:solidFill>
                <a:latin typeface="Calibri" pitchFamily="34" charset="0"/>
                <a:ea typeface="Calibri" pitchFamily="34" charset="-122"/>
                <a:cs typeface="Calibri" pitchFamily="34" charset="-120"/>
              </a:rPr>
              <a:t>Messages are generated in EN and FR and fill the notebook's executive summary (section 00)</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05</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Publish and check</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How do results reach users, and how far can they be trusted?</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5C242"/>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FFFFF">
              <a:alpha val="40000"/>
            </a:srgbClr>
          </a:solidFill>
          <a:ln w="12700">
            <a:solidFill>
              <a:srgbClr val="FFFFFF">
                <a:alpha val="0"/>
              </a:srgbClr>
            </a:solidFill>
            <a:prstDash val="solid"/>
          </a:ln>
        </p:spPr>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PUBLISH · OUTPUTS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A static, bilingual dashboard published in one call</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1463040" cy="1371600"/>
          </a:xfrm>
          <a:prstGeom prst="roundRect">
            <a:avLst>
              <a:gd name="adj" fmla="val 5333"/>
            </a:avLst>
          </a:prstGeom>
          <a:solidFill>
            <a:srgbClr val="F4F7F5"/>
          </a:solidFill>
          <a:ln w="9525">
            <a:solidFill>
              <a:srgbClr val="D5DED9"/>
            </a:solidFill>
            <a:prstDash val="solid"/>
          </a:ln>
        </p:spPr>
      </p:sp>
      <p:sp>
        <p:nvSpPr>
          <p:cNvPr id="12" name="Shape 9"/>
          <p:cNvSpPr/>
          <p:nvPr/>
        </p:nvSpPr>
        <p:spPr>
          <a:xfrm>
            <a:off x="932688" y="1481328"/>
            <a:ext cx="502920" cy="502920"/>
          </a:xfrm>
          <a:prstGeom prst="ellipse">
            <a:avLst/>
          </a:prstGeom>
          <a:solidFill>
            <a:srgbClr val="C4621D">
              <a:alpha val="22000"/>
            </a:srgbClr>
          </a:solidFill>
          <a:ln w="12700">
            <a:solidFill>
              <a:srgbClr val="C4621D">
                <a:alpha val="0"/>
              </a:srgbClr>
            </a:solidFill>
            <a:prstDash val="solid"/>
          </a:ln>
        </p:spPr>
      </p:sp>
      <p:pic>
        <p:nvPicPr>
          <p:cNvPr id="13" name="Image 0" descr="preencoded.png">    </p:cNvPr>
          <p:cNvPicPr>
            <a:picLocks noChangeAspect="1"/>
          </p:cNvPicPr>
          <p:nvPr/>
        </p:nvPicPr>
        <p:blipFill>
          <a:blip r:embed="rId1"/>
          <a:stretch>
            <a:fillRect/>
          </a:stretch>
        </p:blipFill>
        <p:spPr>
          <a:xfrm>
            <a:off x="1053389" y="1602029"/>
            <a:ext cx="261518" cy="261518"/>
          </a:xfrm>
          <a:prstGeom prst="rect">
            <a:avLst/>
          </a:prstGeom>
        </p:spPr>
      </p:pic>
      <p:sp>
        <p:nvSpPr>
          <p:cNvPr id="14" name="Text 10"/>
          <p:cNvSpPr txBox="1"/>
          <p:nvPr/>
        </p:nvSpPr>
        <p:spPr>
          <a:xfrm>
            <a:off x="502920"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Earth Engine</a:t>
            </a:r>
            <a:endParaRPr lang="en-US" sz="1150" dirty="0"/>
          </a:p>
        </p:txBody>
      </p:sp>
      <p:sp>
        <p:nvSpPr>
          <p:cNvPr id="15" name="Text 11"/>
          <p:cNvSpPr txBox="1"/>
          <p:nvPr/>
        </p:nvSpPr>
        <p:spPr>
          <a:xfrm>
            <a:off x="502920"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zonal statistics</a:t>
            </a:r>
            <a:endParaRPr lang="en-US" sz="950" dirty="0"/>
          </a:p>
        </p:txBody>
      </p:sp>
      <p:sp>
        <p:nvSpPr>
          <p:cNvPr id="16" name="Shape 12"/>
          <p:cNvSpPr/>
          <p:nvPr/>
        </p:nvSpPr>
        <p:spPr>
          <a:xfrm>
            <a:off x="1938528" y="2057400"/>
            <a:ext cx="173736" cy="914"/>
          </a:xfrm>
          <a:prstGeom prst="line">
            <a:avLst/>
          </a:prstGeom>
          <a:noFill/>
          <a:ln w="15875">
            <a:solidFill>
              <a:srgbClr val="5E6964"/>
            </a:solidFill>
            <a:prstDash val="solid"/>
            <a:tailEnd type="triangle"/>
          </a:ln>
        </p:spPr>
      </p:sp>
      <p:sp>
        <p:nvSpPr>
          <p:cNvPr id="17" name="Shape 13"/>
          <p:cNvSpPr/>
          <p:nvPr/>
        </p:nvSpPr>
        <p:spPr>
          <a:xfrm>
            <a:off x="2130552" y="1371600"/>
            <a:ext cx="1463040" cy="1371600"/>
          </a:xfrm>
          <a:prstGeom prst="roundRect">
            <a:avLst>
              <a:gd name="adj" fmla="val 5333"/>
            </a:avLst>
          </a:prstGeom>
          <a:solidFill>
            <a:srgbClr val="F4F7F5"/>
          </a:solidFill>
          <a:ln w="9525">
            <a:solidFill>
              <a:srgbClr val="D5DED9"/>
            </a:solidFill>
            <a:prstDash val="solid"/>
          </a:ln>
        </p:spPr>
      </p:sp>
      <p:sp>
        <p:nvSpPr>
          <p:cNvPr id="18" name="Shape 14"/>
          <p:cNvSpPr/>
          <p:nvPr/>
        </p:nvSpPr>
        <p:spPr>
          <a:xfrm>
            <a:off x="2606040" y="1481328"/>
            <a:ext cx="502920" cy="502920"/>
          </a:xfrm>
          <a:prstGeom prst="ellipse">
            <a:avLst/>
          </a:prstGeom>
          <a:solidFill>
            <a:srgbClr val="C4621D">
              <a:alpha val="22000"/>
            </a:srgbClr>
          </a:solidFill>
          <a:ln w="12700">
            <a:solidFill>
              <a:srgbClr val="C4621D">
                <a:alpha val="0"/>
              </a:srgbClr>
            </a:solidFill>
            <a:prstDash val="solid"/>
          </a:ln>
        </p:spPr>
      </p:sp>
      <p:pic>
        <p:nvPicPr>
          <p:cNvPr id="19" name="Image 1" descr="preencoded.png">    </p:cNvPr>
          <p:cNvPicPr>
            <a:picLocks noChangeAspect="1"/>
          </p:cNvPicPr>
          <p:nvPr/>
        </p:nvPicPr>
        <p:blipFill>
          <a:blip r:embed="rId2"/>
          <a:stretch>
            <a:fillRect/>
          </a:stretch>
        </p:blipFill>
        <p:spPr>
          <a:xfrm>
            <a:off x="2726741" y="1602029"/>
            <a:ext cx="261518" cy="261518"/>
          </a:xfrm>
          <a:prstGeom prst="rect">
            <a:avLst/>
          </a:prstGeom>
        </p:spPr>
      </p:pic>
      <p:sp>
        <p:nvSpPr>
          <p:cNvPr id="20" name="Text 15"/>
          <p:cNvSpPr txBox="1"/>
          <p:nvPr/>
        </p:nvSpPr>
        <p:spPr>
          <a:xfrm>
            <a:off x="2176272"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Local cache</a:t>
            </a:r>
            <a:endParaRPr lang="en-US" sz="1150" dirty="0"/>
          </a:p>
        </p:txBody>
      </p:sp>
      <p:sp>
        <p:nvSpPr>
          <p:cNvPr id="21" name="Text 16"/>
          <p:cNvSpPr txBox="1"/>
          <p:nvPr/>
        </p:nvSpPr>
        <p:spPr>
          <a:xfrm>
            <a:off x="2176272"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no re-query on rerun</a:t>
            </a:r>
            <a:endParaRPr lang="en-US" sz="950" dirty="0"/>
          </a:p>
        </p:txBody>
      </p:sp>
      <p:sp>
        <p:nvSpPr>
          <p:cNvPr id="22" name="Shape 17"/>
          <p:cNvSpPr/>
          <p:nvPr/>
        </p:nvSpPr>
        <p:spPr>
          <a:xfrm>
            <a:off x="3611880" y="2057400"/>
            <a:ext cx="173736" cy="914"/>
          </a:xfrm>
          <a:prstGeom prst="line">
            <a:avLst/>
          </a:prstGeom>
          <a:noFill/>
          <a:ln w="15875">
            <a:solidFill>
              <a:srgbClr val="5E6964"/>
            </a:solidFill>
            <a:prstDash val="solid"/>
            <a:tailEnd type="triangle"/>
          </a:ln>
        </p:spPr>
      </p:sp>
      <p:sp>
        <p:nvSpPr>
          <p:cNvPr id="23" name="Shape 18"/>
          <p:cNvSpPr/>
          <p:nvPr/>
        </p:nvSpPr>
        <p:spPr>
          <a:xfrm>
            <a:off x="3803904" y="1371600"/>
            <a:ext cx="1463040" cy="1371600"/>
          </a:xfrm>
          <a:prstGeom prst="roundRect">
            <a:avLst>
              <a:gd name="adj" fmla="val 5333"/>
            </a:avLst>
          </a:prstGeom>
          <a:solidFill>
            <a:srgbClr val="F4F7F5"/>
          </a:solidFill>
          <a:ln w="9525">
            <a:solidFill>
              <a:srgbClr val="D5DED9"/>
            </a:solidFill>
            <a:prstDash val="solid"/>
          </a:ln>
        </p:spPr>
      </p:sp>
      <p:sp>
        <p:nvSpPr>
          <p:cNvPr id="24" name="Shape 19"/>
          <p:cNvSpPr/>
          <p:nvPr/>
        </p:nvSpPr>
        <p:spPr>
          <a:xfrm>
            <a:off x="4279392" y="1481328"/>
            <a:ext cx="502920" cy="502920"/>
          </a:xfrm>
          <a:prstGeom prst="ellipse">
            <a:avLst/>
          </a:prstGeom>
          <a:solidFill>
            <a:srgbClr val="C4621D">
              <a:alpha val="22000"/>
            </a:srgbClr>
          </a:solidFill>
          <a:ln w="12700">
            <a:solidFill>
              <a:srgbClr val="C4621D">
                <a:alpha val="0"/>
              </a:srgbClr>
            </a:solidFill>
            <a:prstDash val="solid"/>
          </a:ln>
        </p:spPr>
      </p:sp>
      <p:pic>
        <p:nvPicPr>
          <p:cNvPr id="25" name="Image 2" descr="preencoded.png">    </p:cNvPr>
          <p:cNvPicPr>
            <a:picLocks noChangeAspect="1"/>
          </p:cNvPicPr>
          <p:nvPr/>
        </p:nvPicPr>
        <p:blipFill>
          <a:blip r:embed="rId3"/>
          <a:stretch>
            <a:fillRect/>
          </a:stretch>
        </p:blipFill>
        <p:spPr>
          <a:xfrm>
            <a:off x="4400093" y="1602029"/>
            <a:ext cx="261518" cy="261518"/>
          </a:xfrm>
          <a:prstGeom prst="rect">
            <a:avLst/>
          </a:prstGeom>
        </p:spPr>
      </p:pic>
      <p:sp>
        <p:nvSpPr>
          <p:cNvPr id="26" name="Text 20"/>
          <p:cNvSpPr txBox="1"/>
          <p:nvPr/>
        </p:nvSpPr>
        <p:spPr>
          <a:xfrm>
            <a:off x="3849624"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Analyses</a:t>
            </a:r>
            <a:endParaRPr lang="en-US" sz="1150" dirty="0"/>
          </a:p>
        </p:txBody>
      </p:sp>
      <p:sp>
        <p:nvSpPr>
          <p:cNvPr id="27" name="Text 21"/>
          <p:cNvSpPr txBox="1"/>
          <p:nvPr/>
        </p:nvSpPr>
        <p:spPr>
          <a:xfrm>
            <a:off x="3849624"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pandas · statsmodels</a:t>
            </a:r>
            <a:endParaRPr lang="en-US" sz="950" dirty="0"/>
          </a:p>
        </p:txBody>
      </p:sp>
      <p:sp>
        <p:nvSpPr>
          <p:cNvPr id="28" name="Shape 22"/>
          <p:cNvSpPr/>
          <p:nvPr/>
        </p:nvSpPr>
        <p:spPr>
          <a:xfrm>
            <a:off x="5285232" y="2057400"/>
            <a:ext cx="173736" cy="914"/>
          </a:xfrm>
          <a:prstGeom prst="line">
            <a:avLst/>
          </a:prstGeom>
          <a:noFill/>
          <a:ln w="15875">
            <a:solidFill>
              <a:srgbClr val="5E6964"/>
            </a:solidFill>
            <a:prstDash val="solid"/>
            <a:tailEnd type="triangle"/>
          </a:ln>
        </p:spPr>
      </p:sp>
      <p:sp>
        <p:nvSpPr>
          <p:cNvPr id="29" name="Shape 23"/>
          <p:cNvSpPr/>
          <p:nvPr/>
        </p:nvSpPr>
        <p:spPr>
          <a:xfrm>
            <a:off x="5477256" y="1371600"/>
            <a:ext cx="1463040" cy="1371600"/>
          </a:xfrm>
          <a:prstGeom prst="roundRect">
            <a:avLst>
              <a:gd name="adj" fmla="val 5333"/>
            </a:avLst>
          </a:prstGeom>
          <a:solidFill>
            <a:srgbClr val="F4F7F5"/>
          </a:solidFill>
          <a:ln w="9525">
            <a:solidFill>
              <a:srgbClr val="D5DED9"/>
            </a:solidFill>
            <a:prstDash val="solid"/>
          </a:ln>
        </p:spPr>
      </p:sp>
      <p:sp>
        <p:nvSpPr>
          <p:cNvPr id="30" name="Shape 24"/>
          <p:cNvSpPr/>
          <p:nvPr/>
        </p:nvSpPr>
        <p:spPr>
          <a:xfrm>
            <a:off x="5952744" y="1481328"/>
            <a:ext cx="502920" cy="502920"/>
          </a:xfrm>
          <a:prstGeom prst="ellipse">
            <a:avLst/>
          </a:prstGeom>
          <a:solidFill>
            <a:srgbClr val="C4621D">
              <a:alpha val="22000"/>
            </a:srgbClr>
          </a:solidFill>
          <a:ln w="12700">
            <a:solidFill>
              <a:srgbClr val="C4621D">
                <a:alpha val="0"/>
              </a:srgbClr>
            </a:solidFill>
            <a:prstDash val="solid"/>
          </a:ln>
        </p:spPr>
      </p:sp>
      <p:pic>
        <p:nvPicPr>
          <p:cNvPr id="31" name="Image 3" descr="preencoded.png">    </p:cNvPr>
          <p:cNvPicPr>
            <a:picLocks noChangeAspect="1"/>
          </p:cNvPicPr>
          <p:nvPr/>
        </p:nvPicPr>
        <p:blipFill>
          <a:blip r:embed="rId4"/>
          <a:stretch>
            <a:fillRect/>
          </a:stretch>
        </p:blipFill>
        <p:spPr>
          <a:xfrm>
            <a:off x="6073445" y="1602029"/>
            <a:ext cx="261518" cy="261518"/>
          </a:xfrm>
          <a:prstGeom prst="rect">
            <a:avLst/>
          </a:prstGeom>
        </p:spPr>
      </p:pic>
      <p:sp>
        <p:nvSpPr>
          <p:cNvPr id="32" name="Text 25"/>
          <p:cNvSpPr txBox="1"/>
          <p:nvPr/>
        </p:nvSpPr>
        <p:spPr>
          <a:xfrm>
            <a:off x="5522976"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Static files</a:t>
            </a:r>
            <a:endParaRPr lang="en-US" sz="1150" dirty="0"/>
          </a:p>
        </p:txBody>
      </p:sp>
      <p:sp>
        <p:nvSpPr>
          <p:cNvPr id="33" name="Text 26"/>
          <p:cNvSpPr txBox="1"/>
          <p:nvPr/>
        </p:nvSpPr>
        <p:spPr>
          <a:xfrm>
            <a:off x="5522976"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GeoJSON · CSV · JSON · PNG</a:t>
            </a:r>
            <a:endParaRPr lang="en-US" sz="950" dirty="0"/>
          </a:p>
        </p:txBody>
      </p:sp>
      <p:sp>
        <p:nvSpPr>
          <p:cNvPr id="34" name="Shape 27"/>
          <p:cNvSpPr/>
          <p:nvPr/>
        </p:nvSpPr>
        <p:spPr>
          <a:xfrm>
            <a:off x="6958584" y="2057400"/>
            <a:ext cx="173736" cy="914"/>
          </a:xfrm>
          <a:prstGeom prst="line">
            <a:avLst/>
          </a:prstGeom>
          <a:noFill/>
          <a:ln w="15875">
            <a:solidFill>
              <a:srgbClr val="5E6964"/>
            </a:solidFill>
            <a:prstDash val="solid"/>
            <a:tailEnd type="triangle"/>
          </a:ln>
        </p:spPr>
      </p:sp>
      <p:sp>
        <p:nvSpPr>
          <p:cNvPr id="35" name="Shape 28"/>
          <p:cNvSpPr/>
          <p:nvPr/>
        </p:nvSpPr>
        <p:spPr>
          <a:xfrm>
            <a:off x="7150608" y="1371600"/>
            <a:ext cx="1463040" cy="1371600"/>
          </a:xfrm>
          <a:prstGeom prst="roundRect">
            <a:avLst>
              <a:gd name="adj" fmla="val 5333"/>
            </a:avLst>
          </a:prstGeom>
          <a:solidFill>
            <a:srgbClr val="E8F5EF"/>
          </a:solidFill>
          <a:ln w="15875">
            <a:solidFill>
              <a:srgbClr val="C4621D"/>
            </a:solidFill>
            <a:prstDash val="solid"/>
          </a:ln>
        </p:spPr>
      </p:sp>
      <p:sp>
        <p:nvSpPr>
          <p:cNvPr id="36" name="Shape 29"/>
          <p:cNvSpPr/>
          <p:nvPr/>
        </p:nvSpPr>
        <p:spPr>
          <a:xfrm>
            <a:off x="7626096" y="1481328"/>
            <a:ext cx="502920" cy="502920"/>
          </a:xfrm>
          <a:prstGeom prst="ellipse">
            <a:avLst/>
          </a:prstGeom>
          <a:solidFill>
            <a:srgbClr val="C4621D">
              <a:alpha val="22000"/>
            </a:srgbClr>
          </a:solidFill>
          <a:ln w="12700">
            <a:solidFill>
              <a:srgbClr val="C4621D">
                <a:alpha val="0"/>
              </a:srgbClr>
            </a:solidFill>
            <a:prstDash val="solid"/>
          </a:ln>
        </p:spPr>
      </p:sp>
      <p:pic>
        <p:nvPicPr>
          <p:cNvPr id="37" name="Image 4" descr="preencoded.png">    </p:cNvPr>
          <p:cNvPicPr>
            <a:picLocks noChangeAspect="1"/>
          </p:cNvPicPr>
          <p:nvPr/>
        </p:nvPicPr>
        <p:blipFill>
          <a:blip r:embed="rId5"/>
          <a:stretch>
            <a:fillRect/>
          </a:stretch>
        </p:blipFill>
        <p:spPr>
          <a:xfrm>
            <a:off x="7746797" y="1602029"/>
            <a:ext cx="261518" cy="261518"/>
          </a:xfrm>
          <a:prstGeom prst="rect">
            <a:avLst/>
          </a:prstGeom>
        </p:spPr>
      </p:pic>
      <p:sp>
        <p:nvSpPr>
          <p:cNvPr id="38" name="Text 30"/>
          <p:cNvSpPr txBox="1"/>
          <p:nvPr/>
        </p:nvSpPr>
        <p:spPr>
          <a:xfrm>
            <a:off x="7196328" y="2029968"/>
            <a:ext cx="1371600" cy="274320"/>
          </a:xfrm>
          <a:prstGeom prst="rect">
            <a:avLst/>
          </a:prstGeom>
          <a:noFill/>
          <a:ln/>
        </p:spPr>
        <p:txBody>
          <a:bodyPr wrap="square" lIns="0" tIns="0" rIns="0" bIns="0" rtlCol="0" anchor="t"/>
          <a:lstStyle/>
          <a:p>
            <a:pPr algn="ctr" indent="0" marL="0">
              <a:buNone/>
            </a:pPr>
            <a:r>
              <a:rPr lang="en-US" sz="1150" b="1" dirty="0">
                <a:solidFill>
                  <a:srgbClr val="231F20"/>
                </a:solidFill>
                <a:latin typeface="Calibri" pitchFamily="34" charset="0"/>
                <a:ea typeface="Calibri" pitchFamily="34" charset="-122"/>
                <a:cs typeface="Calibri" pitchFamily="34" charset="-120"/>
              </a:rPr>
              <a:t>GitHub Pages</a:t>
            </a:r>
            <a:endParaRPr lang="en-US" sz="1150" dirty="0"/>
          </a:p>
        </p:txBody>
      </p:sp>
      <p:sp>
        <p:nvSpPr>
          <p:cNvPr id="39" name="Text 31"/>
          <p:cNvSpPr txBox="1"/>
          <p:nvPr/>
        </p:nvSpPr>
        <p:spPr>
          <a:xfrm>
            <a:off x="7196328" y="2304288"/>
            <a:ext cx="1371600" cy="384048"/>
          </a:xfrm>
          <a:prstGeom prst="rect">
            <a:avLst/>
          </a:prstGeom>
          <a:noFill/>
          <a:ln/>
        </p:spPr>
        <p:txBody>
          <a:bodyPr wrap="square" lIns="0" tIns="0" rIns="0" bIns="0" rtlCol="0" anchor="t"/>
          <a:lstStyle/>
          <a:p>
            <a:pPr algn="ctr" indent="0" marL="0">
              <a:buNone/>
            </a:pPr>
            <a:r>
              <a:rPr lang="en-US" sz="950" dirty="0">
                <a:solidFill>
                  <a:srgbClr val="5E6964"/>
                </a:solidFill>
                <a:latin typeface="Calibri" pitchFamily="34" charset="0"/>
                <a:ea typeface="Calibri" pitchFamily="34" charset="-122"/>
                <a:cs typeface="Calibri" pitchFamily="34" charset="-120"/>
              </a:rPr>
              <a:t>public dashboard</a:t>
            </a:r>
            <a:endParaRPr lang="en-US" sz="950" dirty="0"/>
          </a:p>
        </p:txBody>
      </p:sp>
      <p:sp>
        <p:nvSpPr>
          <p:cNvPr id="40" name="Shape 32"/>
          <p:cNvSpPr/>
          <p:nvPr/>
        </p:nvSpPr>
        <p:spPr>
          <a:xfrm>
            <a:off x="457200" y="3063240"/>
            <a:ext cx="457200" cy="457200"/>
          </a:xfrm>
          <a:prstGeom prst="ellipse">
            <a:avLst/>
          </a:prstGeom>
          <a:solidFill>
            <a:srgbClr val="C4621D">
              <a:alpha val="22000"/>
            </a:srgbClr>
          </a:solidFill>
          <a:ln w="12700">
            <a:solidFill>
              <a:srgbClr val="C4621D">
                <a:alpha val="0"/>
              </a:srgbClr>
            </a:solidFill>
            <a:prstDash val="solid"/>
          </a:ln>
        </p:spPr>
      </p:sp>
      <p:pic>
        <p:nvPicPr>
          <p:cNvPr id="41" name="Image 5" descr="preencoded.png">    </p:cNvPr>
          <p:cNvPicPr>
            <a:picLocks noChangeAspect="1"/>
          </p:cNvPicPr>
          <p:nvPr/>
        </p:nvPicPr>
        <p:blipFill>
          <a:blip r:embed="rId6"/>
          <a:stretch>
            <a:fillRect/>
          </a:stretch>
        </p:blipFill>
        <p:spPr>
          <a:xfrm>
            <a:off x="566928" y="3172968"/>
            <a:ext cx="237744" cy="237744"/>
          </a:xfrm>
          <a:prstGeom prst="rect">
            <a:avLst/>
          </a:prstGeom>
        </p:spPr>
      </p:pic>
      <p:sp>
        <p:nvSpPr>
          <p:cNvPr id="42" name="Text 33"/>
          <p:cNvSpPr txBox="1"/>
          <p:nvPr/>
        </p:nvSpPr>
        <p:spPr>
          <a:xfrm>
            <a:off x="102412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Bilingual EN / FR</a:t>
            </a:r>
            <a:endParaRPr lang="en-US" sz="1200" dirty="0"/>
          </a:p>
        </p:txBody>
      </p:sp>
      <p:sp>
        <p:nvSpPr>
          <p:cNvPr id="43" name="Text 34"/>
          <p:cNvSpPr txBox="1"/>
          <p:nvPr/>
        </p:nvSpPr>
        <p:spPr>
          <a:xfrm>
            <a:off x="102412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Same figures, texts generated in each language</a:t>
            </a:r>
            <a:endParaRPr lang="en-US" sz="1050" dirty="0"/>
          </a:p>
        </p:txBody>
      </p:sp>
      <p:sp>
        <p:nvSpPr>
          <p:cNvPr id="44" name="Shape 35"/>
          <p:cNvSpPr/>
          <p:nvPr/>
        </p:nvSpPr>
        <p:spPr>
          <a:xfrm>
            <a:off x="3246120" y="3063240"/>
            <a:ext cx="457200" cy="457200"/>
          </a:xfrm>
          <a:prstGeom prst="ellipse">
            <a:avLst/>
          </a:prstGeom>
          <a:solidFill>
            <a:srgbClr val="C4621D">
              <a:alpha val="22000"/>
            </a:srgbClr>
          </a:solidFill>
          <a:ln w="12700">
            <a:solidFill>
              <a:srgbClr val="C4621D">
                <a:alpha val="0"/>
              </a:srgbClr>
            </a:solidFill>
            <a:prstDash val="solid"/>
          </a:ln>
        </p:spPr>
      </p:sp>
      <p:pic>
        <p:nvPicPr>
          <p:cNvPr id="45" name="Image 6" descr="preencoded.png">    </p:cNvPr>
          <p:cNvPicPr>
            <a:picLocks noChangeAspect="1"/>
          </p:cNvPicPr>
          <p:nvPr/>
        </p:nvPicPr>
        <p:blipFill>
          <a:blip r:embed="rId7"/>
          <a:stretch>
            <a:fillRect/>
          </a:stretch>
        </p:blipFill>
        <p:spPr>
          <a:xfrm>
            <a:off x="3355848" y="3172968"/>
            <a:ext cx="237744" cy="237744"/>
          </a:xfrm>
          <a:prstGeom prst="rect">
            <a:avLst/>
          </a:prstGeom>
        </p:spPr>
      </p:pic>
      <p:sp>
        <p:nvSpPr>
          <p:cNvPr id="46" name="Text 36"/>
          <p:cNvSpPr txBox="1"/>
          <p:nvPr/>
        </p:nvSpPr>
        <p:spPr>
          <a:xfrm>
            <a:off x="381304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Reproducibility manifest</a:t>
            </a:r>
            <a:endParaRPr lang="en-US" sz="1200" dirty="0"/>
          </a:p>
        </p:txBody>
      </p:sp>
      <p:sp>
        <p:nvSpPr>
          <p:cNvPr id="47" name="Text 37"/>
          <p:cNvSpPr txBox="1"/>
          <p:nvPr/>
        </p:nvSpPr>
        <p:spPr>
          <a:xfrm>
            <a:off x="381304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Parameters, versions, dataset availability</a:t>
            </a:r>
            <a:endParaRPr lang="en-US" sz="1050" dirty="0"/>
          </a:p>
        </p:txBody>
      </p:sp>
      <p:sp>
        <p:nvSpPr>
          <p:cNvPr id="48" name="Shape 38"/>
          <p:cNvSpPr/>
          <p:nvPr/>
        </p:nvSpPr>
        <p:spPr>
          <a:xfrm>
            <a:off x="6035040" y="3063240"/>
            <a:ext cx="457200" cy="457200"/>
          </a:xfrm>
          <a:prstGeom prst="ellipse">
            <a:avLst/>
          </a:prstGeom>
          <a:solidFill>
            <a:srgbClr val="C4621D">
              <a:alpha val="22000"/>
            </a:srgbClr>
          </a:solidFill>
          <a:ln w="12700">
            <a:solidFill>
              <a:srgbClr val="C4621D">
                <a:alpha val="0"/>
              </a:srgbClr>
            </a:solidFill>
            <a:prstDash val="solid"/>
          </a:ln>
        </p:spPr>
      </p:sp>
      <p:pic>
        <p:nvPicPr>
          <p:cNvPr id="49" name="Image 7" descr="preencoded.png">    </p:cNvPr>
          <p:cNvPicPr>
            <a:picLocks noChangeAspect="1"/>
          </p:cNvPicPr>
          <p:nvPr/>
        </p:nvPicPr>
        <p:blipFill>
          <a:blip r:embed="rId8"/>
          <a:stretch>
            <a:fillRect/>
          </a:stretch>
        </p:blipFill>
        <p:spPr>
          <a:xfrm>
            <a:off x="6144768" y="3172968"/>
            <a:ext cx="237744" cy="237744"/>
          </a:xfrm>
          <a:prstGeom prst="rect">
            <a:avLst/>
          </a:prstGeom>
        </p:spPr>
      </p:pic>
      <p:sp>
        <p:nvSpPr>
          <p:cNvPr id="50" name="Text 39"/>
          <p:cNvSpPr txBox="1"/>
          <p:nvPr/>
        </p:nvSpPr>
        <p:spPr>
          <a:xfrm>
            <a:off x="6601968" y="3035808"/>
            <a:ext cx="2103120" cy="274320"/>
          </a:xfrm>
          <a:prstGeom prst="rect">
            <a:avLst/>
          </a:prstGeom>
          <a:noFill/>
          <a:ln/>
        </p:spPr>
        <p:txBody>
          <a:bodyPr wrap="square" lIns="0" tIns="0" rIns="0" bIns="0" rtlCol="0" anchor="t"/>
          <a:lstStyle/>
          <a:p>
            <a:pPr indent="0" marL="0">
              <a:buNone/>
            </a:pPr>
            <a:r>
              <a:rPr lang="en-US" sz="1200" b="1" dirty="0">
                <a:solidFill>
                  <a:srgbClr val="231F20"/>
                </a:solidFill>
                <a:latin typeface="Calibri" pitchFamily="34" charset="0"/>
                <a:ea typeface="Calibri" pitchFamily="34" charset="-122"/>
                <a:cs typeface="Calibri" pitchFamily="34" charset="-120"/>
              </a:rPr>
              <a:t>Secure publication</a:t>
            </a:r>
            <a:endParaRPr lang="en-US" sz="1200" dirty="0"/>
          </a:p>
        </p:txBody>
      </p:sp>
      <p:sp>
        <p:nvSpPr>
          <p:cNvPr id="51" name="Text 40"/>
          <p:cNvSpPr txBox="1"/>
          <p:nvPr/>
        </p:nvSpPr>
        <p:spPr>
          <a:xfrm>
            <a:off x="6601968" y="3328416"/>
            <a:ext cx="2103120" cy="54864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Fine-grained token, 7–30 days, never written anywhere</a:t>
            </a:r>
            <a:endParaRPr lang="en-US" sz="1050" dirty="0"/>
          </a:p>
        </p:txBody>
      </p:sp>
      <p:sp>
        <p:nvSpPr>
          <p:cNvPr id="52" name="Shape 41"/>
          <p:cNvSpPr/>
          <p:nvPr/>
        </p:nvSpPr>
        <p:spPr>
          <a:xfrm>
            <a:off x="457200" y="4069080"/>
            <a:ext cx="3931920" cy="256032"/>
          </a:xfrm>
          <a:prstGeom prst="roundRect">
            <a:avLst>
              <a:gd name="adj" fmla="val 50000"/>
            </a:avLst>
          </a:prstGeom>
          <a:solidFill>
            <a:srgbClr val="C4621D">
              <a:alpha val="15000"/>
            </a:srgbClr>
          </a:solidFill>
          <a:ln w="9525">
            <a:solidFill>
              <a:srgbClr val="C4621D"/>
            </a:solidFill>
            <a:prstDash val="solid"/>
          </a:ln>
        </p:spPr>
      </p:sp>
      <p:sp>
        <p:nvSpPr>
          <p:cNvPr id="53" name="Text 42"/>
          <p:cNvSpPr txBox="1"/>
          <p:nvPr/>
        </p:nvSpPr>
        <p:spPr>
          <a:xfrm>
            <a:off x="457200" y="4069080"/>
            <a:ext cx="3931920" cy="256032"/>
          </a:xfrm>
          <a:prstGeom prst="rect">
            <a:avLst/>
          </a:prstGeom>
          <a:noFill/>
          <a:ln/>
        </p:spPr>
        <p:txBody>
          <a:bodyPr wrap="square" lIns="0" tIns="0" rIns="0" bIns="0" rtlCol="0" anchor="ctr"/>
          <a:lstStyle/>
          <a:p>
            <a:pPr algn="ctr" indent="0" marL="0">
              <a:buNone/>
            </a:pPr>
            <a:r>
              <a:rPr lang="en-US" sz="1000" b="1" dirty="0">
                <a:solidFill>
                  <a:srgbClr val="C4621D"/>
                </a:solidFill>
                <a:latin typeface="Calibri" pitchFamily="34" charset="0"/>
                <a:ea typeface="Calibri" pitchFamily="34" charset="-122"/>
                <a:cs typeface="Calibri" pitchFamily="34" charset="-120"/>
              </a:rPr>
              <a:t>Key messages with confidence: high · medium · low</a:t>
            </a:r>
            <a:endParaRPr lang="en-US" sz="1000" dirty="0"/>
          </a:p>
        </p:txBody>
      </p:sp>
      <p:sp>
        <p:nvSpPr>
          <p:cNvPr id="54" name="Shape 43"/>
          <p:cNvSpPr/>
          <p:nvPr/>
        </p:nvSpPr>
        <p:spPr>
          <a:xfrm>
            <a:off x="4572000" y="4069080"/>
            <a:ext cx="4114800" cy="256032"/>
          </a:xfrm>
          <a:prstGeom prst="roundRect">
            <a:avLst>
              <a:gd name="adj" fmla="val 50000"/>
            </a:avLst>
          </a:prstGeom>
          <a:solidFill>
            <a:srgbClr val="5E6964">
              <a:alpha val="15000"/>
            </a:srgbClr>
          </a:solidFill>
          <a:ln w="9525">
            <a:solidFill>
              <a:srgbClr val="5E6964"/>
            </a:solidFill>
            <a:prstDash val="solid"/>
          </a:ln>
        </p:spPr>
      </p:sp>
      <p:sp>
        <p:nvSpPr>
          <p:cNvPr id="55" name="Text 44"/>
          <p:cNvSpPr txBox="1"/>
          <p:nvPr/>
        </p:nvSpPr>
        <p:spPr>
          <a:xfrm>
            <a:off x="4572000" y="4069080"/>
            <a:ext cx="4114800" cy="256032"/>
          </a:xfrm>
          <a:prstGeom prst="rect">
            <a:avLst/>
          </a:prstGeom>
          <a:noFill/>
          <a:ln/>
        </p:spPr>
        <p:txBody>
          <a:bodyPr wrap="square" lIns="0" tIns="0" rIns="0" bIns="0" rtlCol="0" anchor="ctr"/>
          <a:lstStyle/>
          <a:p>
            <a:pPr algn="ctr" indent="0" marL="0">
              <a:buNone/>
            </a:pPr>
            <a:r>
              <a:rPr lang="en-US" sz="1000" b="1" dirty="0">
                <a:solidFill>
                  <a:srgbClr val="5E6964"/>
                </a:solidFill>
                <a:latin typeface="Calibri" pitchFamily="34" charset="0"/>
                <a:ea typeface="Calibri" pitchFamily="34" charset="-122"/>
                <a:cs typeface="Calibri" pitchFamily="34" charset="-120"/>
              </a:rPr>
              <a:t>Synthetic test country 'XTS': public publishing refused</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PUBLISH · QUALITY</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Checked before it ships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463040"/>
          </a:xfrm>
          <a:prstGeom prst="roundRect">
            <a:avLst>
              <a:gd name="adj" fmla="val 5000"/>
            </a:avLst>
          </a:prstGeom>
          <a:solidFill>
            <a:srgbClr val="E8F5EF"/>
          </a:solidFill>
          <a:ln w="15875">
            <a:solidFill>
              <a:srgbClr val="00A86A"/>
            </a:solidFill>
            <a:prstDash val="solid"/>
          </a:ln>
        </p:spPr>
      </p:sp>
      <p:sp>
        <p:nvSpPr>
          <p:cNvPr id="12" name="Text 9"/>
          <p:cNvSpPr txBox="1"/>
          <p:nvPr/>
        </p:nvSpPr>
        <p:spPr>
          <a:xfrm>
            <a:off x="640080" y="1463040"/>
            <a:ext cx="2286000" cy="685800"/>
          </a:xfrm>
          <a:prstGeom prst="rect">
            <a:avLst/>
          </a:prstGeom>
          <a:noFill/>
          <a:ln/>
        </p:spPr>
        <p:txBody>
          <a:bodyPr wrap="square" lIns="0" tIns="0" rIns="0" bIns="0" rtlCol="0" anchor="t"/>
          <a:lstStyle/>
          <a:p>
            <a:pPr indent="0" marL="0">
              <a:buNone/>
            </a:pPr>
            <a:r>
              <a:rPr lang="en-US" sz="3000" b="1" dirty="0">
                <a:solidFill>
                  <a:srgbClr val="00A86A"/>
                </a:solidFill>
                <a:latin typeface="Calibri" pitchFamily="34" charset="0"/>
                <a:ea typeface="Calibri" pitchFamily="34" charset="-122"/>
                <a:cs typeface="Calibri" pitchFamily="34" charset="-120"/>
              </a:rPr>
              <a:t>0</a:t>
            </a:r>
            <a:endParaRPr lang="en-US" sz="3000" dirty="0"/>
          </a:p>
        </p:txBody>
      </p:sp>
      <p:sp>
        <p:nvSpPr>
          <p:cNvPr id="13" name="Text 10"/>
          <p:cNvSpPr txBox="1"/>
          <p:nvPr/>
        </p:nvSpPr>
        <p:spPr>
          <a:xfrm>
            <a:off x="64008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execution errors in notebooks 1 and 2, EN and FR</a:t>
            </a:r>
            <a:endParaRPr lang="en-US" sz="1050" dirty="0"/>
          </a:p>
        </p:txBody>
      </p:sp>
      <p:sp>
        <p:nvSpPr>
          <p:cNvPr id="14" name="Shape 11"/>
          <p:cNvSpPr/>
          <p:nvPr/>
        </p:nvSpPr>
        <p:spPr>
          <a:xfrm>
            <a:off x="3246120" y="1371600"/>
            <a:ext cx="2606040" cy="1463040"/>
          </a:xfrm>
          <a:prstGeom prst="roundRect">
            <a:avLst>
              <a:gd name="adj" fmla="val 5000"/>
            </a:avLst>
          </a:prstGeom>
          <a:solidFill>
            <a:srgbClr val="F4F7F5"/>
          </a:solidFill>
          <a:ln w="9525">
            <a:solidFill>
              <a:srgbClr val="D5DED9"/>
            </a:solidFill>
            <a:prstDash val="solid"/>
          </a:ln>
        </p:spPr>
      </p:sp>
      <p:sp>
        <p:nvSpPr>
          <p:cNvPr id="15" name="Text 12"/>
          <p:cNvSpPr txBox="1"/>
          <p:nvPr/>
        </p:nvSpPr>
        <p:spPr>
          <a:xfrm>
            <a:off x="3429000" y="1463040"/>
            <a:ext cx="2286000" cy="685800"/>
          </a:xfrm>
          <a:prstGeom prst="rect">
            <a:avLst/>
          </a:prstGeom>
          <a:noFill/>
          <a:ln/>
        </p:spPr>
        <p:txBody>
          <a:bodyPr wrap="square" lIns="0" tIns="0" rIns="0" bIns="0" rtlCol="0" anchor="t"/>
          <a:lstStyle/>
          <a:p>
            <a:pPr indent="0" marL="0">
              <a:buNone/>
            </a:pPr>
            <a:r>
              <a:rPr lang="en-US" sz="3000" b="1" dirty="0">
                <a:solidFill>
                  <a:srgbClr val="C4621D"/>
                </a:solidFill>
                <a:latin typeface="Calibri" pitchFamily="34" charset="0"/>
                <a:ea typeface="Calibri" pitchFamily="34" charset="-122"/>
                <a:cs typeface="Calibri" pitchFamily="34" charset="-120"/>
              </a:rPr>
              <a:t>13.7%→0.7%</a:t>
            </a:r>
            <a:endParaRPr lang="en-US" sz="3000" dirty="0"/>
          </a:p>
        </p:txBody>
      </p:sp>
      <p:sp>
        <p:nvSpPr>
          <p:cNvPr id="16" name="Text 13"/>
          <p:cNvSpPr txBox="1"/>
          <p:nvPr/>
        </p:nvSpPr>
        <p:spPr>
          <a:xfrm>
            <a:off x="342900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false β-convergence under pure noise (simulation)</a:t>
            </a:r>
            <a:endParaRPr lang="en-US" sz="1050" dirty="0"/>
          </a:p>
        </p:txBody>
      </p:sp>
      <p:sp>
        <p:nvSpPr>
          <p:cNvPr id="17" name="Shape 14"/>
          <p:cNvSpPr/>
          <p:nvPr/>
        </p:nvSpPr>
        <p:spPr>
          <a:xfrm>
            <a:off x="6035040" y="1371600"/>
            <a:ext cx="2606040" cy="1463040"/>
          </a:xfrm>
          <a:prstGeom prst="roundRect">
            <a:avLst>
              <a:gd name="adj" fmla="val 5000"/>
            </a:avLst>
          </a:prstGeom>
          <a:solidFill>
            <a:srgbClr val="F4F7F5"/>
          </a:solidFill>
          <a:ln w="9525">
            <a:solidFill>
              <a:srgbClr val="D5DED9"/>
            </a:solidFill>
            <a:prstDash val="solid"/>
          </a:ln>
        </p:spPr>
      </p:sp>
      <p:sp>
        <p:nvSpPr>
          <p:cNvPr id="18" name="Text 15"/>
          <p:cNvSpPr txBox="1"/>
          <p:nvPr/>
        </p:nvSpPr>
        <p:spPr>
          <a:xfrm>
            <a:off x="6217920" y="1463040"/>
            <a:ext cx="2286000" cy="685800"/>
          </a:xfrm>
          <a:prstGeom prst="rect">
            <a:avLst/>
          </a:prstGeom>
          <a:noFill/>
          <a:ln/>
        </p:spPr>
        <p:txBody>
          <a:bodyPr wrap="square" lIns="0" tIns="0" rIns="0" bIns="0" rtlCol="0" anchor="t"/>
          <a:lstStyle/>
          <a:p>
            <a:pPr indent="0" marL="0">
              <a:buNone/>
            </a:pPr>
            <a:r>
              <a:rPr lang="en-US" sz="3000" b="1" dirty="0">
                <a:solidFill>
                  <a:srgbClr val="0E7C86"/>
                </a:solidFill>
                <a:latin typeface="Calibri" pitchFamily="34" charset="0"/>
                <a:ea typeface="Calibri" pitchFamily="34" charset="-122"/>
                <a:cs typeface="Calibri" pitchFamily="34" charset="-120"/>
              </a:rPr>
              <a:t>29 → 0</a:t>
            </a:r>
            <a:endParaRPr lang="en-US" sz="3000" dirty="0"/>
          </a:p>
        </p:txBody>
      </p:sp>
      <p:sp>
        <p:nvSpPr>
          <p:cNvPr id="19" name="Text 16"/>
          <p:cNvSpPr txBox="1"/>
          <p:nvPr/>
        </p:nvSpPr>
        <p:spPr>
          <a:xfrm>
            <a:off x="6217920" y="2176272"/>
            <a:ext cx="2286000" cy="594360"/>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spurious growth classes out of 300 null districts</a:t>
            </a:r>
            <a:endParaRPr lang="en-US" sz="1050" dirty="0"/>
          </a:p>
        </p:txBody>
      </p:sp>
      <p:pic>
        <p:nvPicPr>
          <p:cNvPr id="20" name="Image 0" descr="preencoded.png">    </p:cNvPr>
          <p:cNvPicPr>
            <a:picLocks noChangeAspect="1"/>
          </p:cNvPicPr>
          <p:nvPr/>
        </p:nvPicPr>
        <p:blipFill>
          <a:blip r:embed="rId1"/>
          <a:stretch>
            <a:fillRect/>
          </a:stretch>
        </p:blipFill>
        <p:spPr>
          <a:xfrm>
            <a:off x="457200" y="3118104"/>
            <a:ext cx="219456" cy="219456"/>
          </a:xfrm>
          <a:prstGeom prst="rect">
            <a:avLst/>
          </a:prstGeom>
        </p:spPr>
      </p:pic>
      <p:sp>
        <p:nvSpPr>
          <p:cNvPr id="21" name="Text 17"/>
          <p:cNvSpPr txBox="1"/>
          <p:nvPr/>
        </p:nvSpPr>
        <p:spPr>
          <a:xfrm>
            <a:off x="77724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Attributes and fill values read from each file</a:t>
            </a:r>
            <a:endParaRPr lang="en-US" sz="1100" dirty="0"/>
          </a:p>
        </p:txBody>
      </p:sp>
      <p:pic>
        <p:nvPicPr>
          <p:cNvPr id="22" name="Image 1" descr="preencoded.png">    </p:cNvPr>
          <p:cNvPicPr>
            <a:picLocks noChangeAspect="1"/>
          </p:cNvPicPr>
          <p:nvPr/>
        </p:nvPicPr>
        <p:blipFill>
          <a:blip r:embed="rId2"/>
          <a:stretch>
            <a:fillRect/>
          </a:stretch>
        </p:blipFill>
        <p:spPr>
          <a:xfrm>
            <a:off x="4663440" y="3118104"/>
            <a:ext cx="219456" cy="219456"/>
          </a:xfrm>
          <a:prstGeom prst="rect">
            <a:avLst/>
          </a:prstGeom>
        </p:spPr>
      </p:pic>
      <p:sp>
        <p:nvSpPr>
          <p:cNvPr id="23" name="Text 18"/>
          <p:cNvSpPr txBox="1"/>
          <p:nvPr/>
        </p:nvSpPr>
        <p:spPr>
          <a:xfrm>
            <a:off x="4983480" y="30632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Quality legend and water codes read, not assumed</a:t>
            </a:r>
            <a:endParaRPr lang="en-US" sz="1100" dirty="0"/>
          </a:p>
        </p:txBody>
      </p:sp>
      <p:pic>
        <p:nvPicPr>
          <p:cNvPr id="24" name="Image 2" descr="preencoded.png">    </p:cNvPr>
          <p:cNvPicPr>
            <a:picLocks noChangeAspect="1"/>
          </p:cNvPicPr>
          <p:nvPr/>
        </p:nvPicPr>
        <p:blipFill>
          <a:blip r:embed="rId3"/>
          <a:stretch>
            <a:fillRect/>
          </a:stretch>
        </p:blipFill>
        <p:spPr>
          <a:xfrm>
            <a:off x="457200" y="3575304"/>
            <a:ext cx="219456" cy="219456"/>
          </a:xfrm>
          <a:prstGeom prst="rect">
            <a:avLst/>
          </a:prstGeom>
        </p:spPr>
      </p:pic>
      <p:sp>
        <p:nvSpPr>
          <p:cNvPr id="25" name="Text 19"/>
          <p:cNvSpPr txBox="1"/>
          <p:nvPr/>
        </p:nvSpPr>
        <p:spPr>
          <a:xfrm>
            <a:off x="77724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Parameters and code version invalidate a stale cache</a:t>
            </a:r>
            <a:endParaRPr lang="en-US" sz="1100" dirty="0"/>
          </a:p>
        </p:txBody>
      </p:sp>
      <p:pic>
        <p:nvPicPr>
          <p:cNvPr id="26" name="Image 3" descr="preencoded.png">    </p:cNvPr>
          <p:cNvPicPr>
            <a:picLocks noChangeAspect="1"/>
          </p:cNvPicPr>
          <p:nvPr/>
        </p:nvPicPr>
        <p:blipFill>
          <a:blip r:embed="rId4"/>
          <a:stretch>
            <a:fillRect/>
          </a:stretch>
        </p:blipFill>
        <p:spPr>
          <a:xfrm>
            <a:off x="4663440" y="3575304"/>
            <a:ext cx="219456" cy="219456"/>
          </a:xfrm>
          <a:prstGeom prst="rect">
            <a:avLst/>
          </a:prstGeom>
        </p:spPr>
      </p:pic>
      <p:sp>
        <p:nvSpPr>
          <p:cNvPr id="27" name="Text 20"/>
          <p:cNvSpPr txBox="1"/>
          <p:nvPr/>
        </p:nvSpPr>
        <p:spPr>
          <a:xfrm>
            <a:off x="4983480" y="35204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GHSL population checked against the World Bank (±30 %)</a:t>
            </a:r>
            <a:endParaRPr lang="en-US" sz="1100" dirty="0"/>
          </a:p>
        </p:txBody>
      </p:sp>
      <p:pic>
        <p:nvPicPr>
          <p:cNvPr id="28" name="Image 4" descr="preencoded.png">    </p:cNvPr>
          <p:cNvPicPr>
            <a:picLocks noChangeAspect="1"/>
          </p:cNvPicPr>
          <p:nvPr/>
        </p:nvPicPr>
        <p:blipFill>
          <a:blip r:embed="rId5"/>
          <a:stretch>
            <a:fillRect/>
          </a:stretch>
        </p:blipFill>
        <p:spPr>
          <a:xfrm>
            <a:off x="457200" y="4032504"/>
            <a:ext cx="219456" cy="219456"/>
          </a:xfrm>
          <a:prstGeom prst="rect">
            <a:avLst/>
          </a:prstGeom>
        </p:spPr>
      </p:pic>
      <p:sp>
        <p:nvSpPr>
          <p:cNvPr id="29" name="Text 21"/>
          <p:cNvSpPr txBox="1"/>
          <p:nvPr/>
        </p:nvSpPr>
        <p:spPr>
          <a:xfrm>
            <a:off x="77724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Every export travels with its metadata and log</a:t>
            </a:r>
            <a:endParaRPr lang="en-US" sz="1100" dirty="0"/>
          </a:p>
        </p:txBody>
      </p:sp>
      <p:pic>
        <p:nvPicPr>
          <p:cNvPr id="30" name="Image 5" descr="preencoded.png">    </p:cNvPr>
          <p:cNvPicPr>
            <a:picLocks noChangeAspect="1"/>
          </p:cNvPicPr>
          <p:nvPr/>
        </p:nvPicPr>
        <p:blipFill>
          <a:blip r:embed="rId6"/>
          <a:stretch>
            <a:fillRect/>
          </a:stretch>
        </p:blipFill>
        <p:spPr>
          <a:xfrm>
            <a:off x="4663440" y="4032504"/>
            <a:ext cx="219456" cy="219456"/>
          </a:xfrm>
          <a:prstGeom prst="rect">
            <a:avLst/>
          </a:prstGeom>
        </p:spPr>
      </p:pic>
      <p:sp>
        <p:nvSpPr>
          <p:cNvPr id="31" name="Text 22"/>
          <p:cNvSpPr txBox="1"/>
          <p:nvPr/>
        </p:nvSpPr>
        <p:spPr>
          <a:xfrm>
            <a:off x="4983480" y="3977640"/>
            <a:ext cx="3794760" cy="329184"/>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Simulated values always flagged as such</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05 · PUBLISH · LIMITATIONS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Six artefacts to know before concluding anything</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C4621D"/>
          </a:solidFill>
          <a:ln w="12700">
            <a:solidFill>
              <a:srgbClr val="C4621D"/>
            </a:solidFill>
            <a:prstDash val="solid"/>
          </a:ln>
        </p:spPr>
      </p:sp>
      <p:sp>
        <p:nvSpPr>
          <p:cNvPr id="9" name="dot5"/>
          <p:cNvSpPr/>
          <p:nvPr/>
        </p:nvSpPr>
        <p:spPr>
          <a:xfrm>
            <a:off x="8513064" y="338328"/>
            <a:ext cx="100584" cy="100584"/>
          </a:xfrm>
          <a:prstGeom prst="ellipse">
            <a:avLst/>
          </a:prstGeom>
          <a:solidFill>
            <a:srgbClr val="D5DED9"/>
          </a:solidFill>
          <a:ln w="12700">
            <a:solidFill>
              <a:srgbClr val="D5DED9"/>
            </a:solidFill>
            <a:prstDash val="solid"/>
          </a:ln>
        </p:spPr>
      </p:sp>
      <p:sp>
        <p:nvSpPr>
          <p:cNvPr id="11" name="Shape 8"/>
          <p:cNvSpPr/>
          <p:nvPr/>
        </p:nvSpPr>
        <p:spPr>
          <a:xfrm>
            <a:off x="457200" y="1371600"/>
            <a:ext cx="2606040" cy="1207008"/>
          </a:xfrm>
          <a:prstGeom prst="roundRect">
            <a:avLst>
              <a:gd name="adj" fmla="val 6061"/>
            </a:avLst>
          </a:prstGeom>
          <a:solidFill>
            <a:srgbClr val="F4F7F5"/>
          </a:solidFill>
          <a:ln w="9525">
            <a:solidFill>
              <a:srgbClr val="D5DED9"/>
            </a:solidFill>
            <a:prstDash val="solid"/>
          </a:ln>
        </p:spPr>
      </p:sp>
      <p:sp>
        <p:nvSpPr>
          <p:cNvPr id="12" name="Shape 9"/>
          <p:cNvSpPr/>
          <p:nvPr/>
        </p:nvSpPr>
        <p:spPr>
          <a:xfrm>
            <a:off x="603504" y="1517904"/>
            <a:ext cx="457200" cy="457200"/>
          </a:xfrm>
          <a:prstGeom prst="ellipse">
            <a:avLst/>
          </a:prstGeom>
          <a:solidFill>
            <a:srgbClr val="B83B2E">
              <a:alpha val="22000"/>
            </a:srgbClr>
          </a:solidFill>
          <a:ln w="12700">
            <a:solidFill>
              <a:srgbClr val="B83B2E">
                <a:alpha val="0"/>
              </a:srgbClr>
            </a:solidFill>
            <a:prstDash val="solid"/>
          </a:ln>
        </p:spPr>
      </p:sp>
      <p:pic>
        <p:nvPicPr>
          <p:cNvPr id="13" name="Image 0" descr="preencoded.png">    </p:cNvPr>
          <p:cNvPicPr>
            <a:picLocks noChangeAspect="1"/>
          </p:cNvPicPr>
          <p:nvPr/>
        </p:nvPicPr>
        <p:blipFill>
          <a:blip r:embed="rId1"/>
          <a:stretch>
            <a:fillRect/>
          </a:stretch>
        </p:blipFill>
        <p:spPr>
          <a:xfrm>
            <a:off x="713232" y="1627632"/>
            <a:ext cx="237744" cy="237744"/>
          </a:xfrm>
          <a:prstGeom prst="rect">
            <a:avLst/>
          </a:prstGeom>
        </p:spPr>
      </p:pic>
      <p:sp>
        <p:nvSpPr>
          <p:cNvPr id="14" name="Text 10"/>
          <p:cNvSpPr txBox="1"/>
          <p:nvPr/>
        </p:nvSpPr>
        <p:spPr>
          <a:xfrm>
            <a:off x="117043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Blooming</a:t>
            </a:r>
            <a:endParaRPr lang="en-US" sz="1300" dirty="0"/>
          </a:p>
        </p:txBody>
      </p:sp>
      <p:sp>
        <p:nvSpPr>
          <p:cNvPr id="15" name="Text 11"/>
          <p:cNvSpPr txBox="1"/>
          <p:nvPr/>
        </p:nvSpPr>
        <p:spPr>
          <a:xfrm>
            <a:off x="60350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Light spills beyond built-up areas</a:t>
            </a:r>
            <a:endParaRPr lang="en-US" sz="1050" dirty="0"/>
          </a:p>
        </p:txBody>
      </p:sp>
      <p:sp>
        <p:nvSpPr>
          <p:cNvPr id="16" name="Shape 12"/>
          <p:cNvSpPr/>
          <p:nvPr/>
        </p:nvSpPr>
        <p:spPr>
          <a:xfrm>
            <a:off x="3246120" y="1371600"/>
            <a:ext cx="2606040" cy="1207008"/>
          </a:xfrm>
          <a:prstGeom prst="roundRect">
            <a:avLst>
              <a:gd name="adj" fmla="val 6061"/>
            </a:avLst>
          </a:prstGeom>
          <a:solidFill>
            <a:srgbClr val="F4F7F5"/>
          </a:solidFill>
          <a:ln w="9525">
            <a:solidFill>
              <a:srgbClr val="D5DED9"/>
            </a:solidFill>
            <a:prstDash val="solid"/>
          </a:ln>
        </p:spPr>
      </p:sp>
      <p:sp>
        <p:nvSpPr>
          <p:cNvPr id="17" name="Shape 13"/>
          <p:cNvSpPr/>
          <p:nvPr/>
        </p:nvSpPr>
        <p:spPr>
          <a:xfrm>
            <a:off x="3392424" y="1517904"/>
            <a:ext cx="457200" cy="457200"/>
          </a:xfrm>
          <a:prstGeom prst="ellipse">
            <a:avLst/>
          </a:prstGeom>
          <a:solidFill>
            <a:srgbClr val="B83B2E">
              <a:alpha val="22000"/>
            </a:srgbClr>
          </a:solidFill>
          <a:ln w="12700">
            <a:solidFill>
              <a:srgbClr val="B83B2E">
                <a:alpha val="0"/>
              </a:srgbClr>
            </a:solidFill>
            <a:prstDash val="solid"/>
          </a:ln>
        </p:spPr>
      </p:sp>
      <p:pic>
        <p:nvPicPr>
          <p:cNvPr id="18" name="Image 1" descr="preencoded.png">    </p:cNvPr>
          <p:cNvPicPr>
            <a:picLocks noChangeAspect="1"/>
          </p:cNvPicPr>
          <p:nvPr/>
        </p:nvPicPr>
        <p:blipFill>
          <a:blip r:embed="rId2"/>
          <a:stretch>
            <a:fillRect/>
          </a:stretch>
        </p:blipFill>
        <p:spPr>
          <a:xfrm>
            <a:off x="3502152" y="1627632"/>
            <a:ext cx="237744" cy="237744"/>
          </a:xfrm>
          <a:prstGeom prst="rect">
            <a:avLst/>
          </a:prstGeom>
        </p:spPr>
      </p:pic>
      <p:sp>
        <p:nvSpPr>
          <p:cNvPr id="19" name="Text 14"/>
          <p:cNvSpPr txBox="1"/>
          <p:nvPr/>
        </p:nvSpPr>
        <p:spPr>
          <a:xfrm>
            <a:off x="395935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Saturation</a:t>
            </a:r>
            <a:endParaRPr lang="en-US" sz="1300" dirty="0"/>
          </a:p>
        </p:txBody>
      </p:sp>
      <p:sp>
        <p:nvSpPr>
          <p:cNvPr id="20" name="Text 15"/>
          <p:cNvSpPr txBox="1"/>
          <p:nvPr/>
        </p:nvSpPr>
        <p:spPr>
          <a:xfrm>
            <a:off x="339242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Brightest cores plateau; DMSP saturates at 63</a:t>
            </a:r>
            <a:endParaRPr lang="en-US" sz="1050" dirty="0"/>
          </a:p>
        </p:txBody>
      </p:sp>
      <p:sp>
        <p:nvSpPr>
          <p:cNvPr id="21" name="Shape 16"/>
          <p:cNvSpPr/>
          <p:nvPr/>
        </p:nvSpPr>
        <p:spPr>
          <a:xfrm>
            <a:off x="6035040" y="1371600"/>
            <a:ext cx="2606040" cy="1207008"/>
          </a:xfrm>
          <a:prstGeom prst="roundRect">
            <a:avLst>
              <a:gd name="adj" fmla="val 6061"/>
            </a:avLst>
          </a:prstGeom>
          <a:solidFill>
            <a:srgbClr val="F4F7F5"/>
          </a:solidFill>
          <a:ln w="9525">
            <a:solidFill>
              <a:srgbClr val="D5DED9"/>
            </a:solidFill>
            <a:prstDash val="solid"/>
          </a:ln>
        </p:spPr>
      </p:sp>
      <p:sp>
        <p:nvSpPr>
          <p:cNvPr id="22" name="Shape 17"/>
          <p:cNvSpPr/>
          <p:nvPr/>
        </p:nvSpPr>
        <p:spPr>
          <a:xfrm>
            <a:off x="6181344" y="1517904"/>
            <a:ext cx="457200" cy="457200"/>
          </a:xfrm>
          <a:prstGeom prst="ellipse">
            <a:avLst/>
          </a:prstGeom>
          <a:solidFill>
            <a:srgbClr val="B83B2E">
              <a:alpha val="22000"/>
            </a:srgbClr>
          </a:solidFill>
          <a:ln w="12700">
            <a:solidFill>
              <a:srgbClr val="B83B2E">
                <a:alpha val="0"/>
              </a:srgbClr>
            </a:solidFill>
            <a:prstDash val="solid"/>
          </a:ln>
        </p:spPr>
      </p:sp>
      <p:pic>
        <p:nvPicPr>
          <p:cNvPr id="23" name="Image 2" descr="preencoded.png">    </p:cNvPr>
          <p:cNvPicPr>
            <a:picLocks noChangeAspect="1"/>
          </p:cNvPicPr>
          <p:nvPr/>
        </p:nvPicPr>
        <p:blipFill>
          <a:blip r:embed="rId3"/>
          <a:stretch>
            <a:fillRect/>
          </a:stretch>
        </p:blipFill>
        <p:spPr>
          <a:xfrm>
            <a:off x="6291072" y="1627632"/>
            <a:ext cx="237744" cy="237744"/>
          </a:xfrm>
          <a:prstGeom prst="rect">
            <a:avLst/>
          </a:prstGeom>
        </p:spPr>
      </p:pic>
      <p:sp>
        <p:nvSpPr>
          <p:cNvPr id="24" name="Text 18"/>
          <p:cNvSpPr txBox="1"/>
          <p:nvPr/>
        </p:nvSpPr>
        <p:spPr>
          <a:xfrm>
            <a:off x="6748272" y="15179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Gas flares</a:t>
            </a:r>
            <a:endParaRPr lang="en-US" sz="1300" dirty="0"/>
          </a:p>
        </p:txBody>
      </p:sp>
      <p:sp>
        <p:nvSpPr>
          <p:cNvPr id="25" name="Text 19"/>
          <p:cNvSpPr txBox="1"/>
          <p:nvPr/>
        </p:nvSpPr>
        <p:spPr>
          <a:xfrm>
            <a:off x="6181344" y="20482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Bright without local economic activity</a:t>
            </a:r>
            <a:endParaRPr lang="en-US" sz="1050" dirty="0"/>
          </a:p>
        </p:txBody>
      </p:sp>
      <p:sp>
        <p:nvSpPr>
          <p:cNvPr id="26" name="Shape 20"/>
          <p:cNvSpPr/>
          <p:nvPr/>
        </p:nvSpPr>
        <p:spPr>
          <a:xfrm>
            <a:off x="457200" y="2743200"/>
            <a:ext cx="2606040" cy="1207008"/>
          </a:xfrm>
          <a:prstGeom prst="roundRect">
            <a:avLst>
              <a:gd name="adj" fmla="val 6061"/>
            </a:avLst>
          </a:prstGeom>
          <a:solidFill>
            <a:srgbClr val="F4F7F5"/>
          </a:solidFill>
          <a:ln w="9525">
            <a:solidFill>
              <a:srgbClr val="D5DED9"/>
            </a:solidFill>
            <a:prstDash val="solid"/>
          </a:ln>
        </p:spPr>
      </p:sp>
      <p:sp>
        <p:nvSpPr>
          <p:cNvPr id="27" name="Shape 21"/>
          <p:cNvSpPr/>
          <p:nvPr/>
        </p:nvSpPr>
        <p:spPr>
          <a:xfrm>
            <a:off x="603504" y="2889504"/>
            <a:ext cx="457200" cy="457200"/>
          </a:xfrm>
          <a:prstGeom prst="ellipse">
            <a:avLst/>
          </a:prstGeom>
          <a:solidFill>
            <a:srgbClr val="B83B2E">
              <a:alpha val="22000"/>
            </a:srgbClr>
          </a:solidFill>
          <a:ln w="12700">
            <a:solidFill>
              <a:srgbClr val="B83B2E">
                <a:alpha val="0"/>
              </a:srgbClr>
            </a:solidFill>
            <a:prstDash val="solid"/>
          </a:ln>
        </p:spPr>
      </p:sp>
      <p:pic>
        <p:nvPicPr>
          <p:cNvPr id="28" name="Image 3" descr="preencoded.png">    </p:cNvPr>
          <p:cNvPicPr>
            <a:picLocks noChangeAspect="1"/>
          </p:cNvPicPr>
          <p:nvPr/>
        </p:nvPicPr>
        <p:blipFill>
          <a:blip r:embed="rId4"/>
          <a:stretch>
            <a:fillRect/>
          </a:stretch>
        </p:blipFill>
        <p:spPr>
          <a:xfrm>
            <a:off x="713232" y="2999232"/>
            <a:ext cx="237744" cy="237744"/>
          </a:xfrm>
          <a:prstGeom prst="rect">
            <a:avLst/>
          </a:prstGeom>
        </p:spPr>
      </p:pic>
      <p:sp>
        <p:nvSpPr>
          <p:cNvPr id="29" name="Text 22"/>
          <p:cNvSpPr txBox="1"/>
          <p:nvPr/>
        </p:nvSpPr>
        <p:spPr>
          <a:xfrm>
            <a:off x="117043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Seasonality</a:t>
            </a:r>
            <a:endParaRPr lang="en-US" sz="1300" dirty="0"/>
          </a:p>
        </p:txBody>
      </p:sp>
      <p:sp>
        <p:nvSpPr>
          <p:cNvPr id="30" name="Text 23"/>
          <p:cNvSpPr txBox="1"/>
          <p:nvPr/>
        </p:nvSpPr>
        <p:spPr>
          <a:xfrm>
            <a:off x="60350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Clouds and fires create non-economic cycles</a:t>
            </a:r>
            <a:endParaRPr lang="en-US" sz="1050" dirty="0"/>
          </a:p>
        </p:txBody>
      </p:sp>
      <p:sp>
        <p:nvSpPr>
          <p:cNvPr id="31" name="Shape 24"/>
          <p:cNvSpPr/>
          <p:nvPr/>
        </p:nvSpPr>
        <p:spPr>
          <a:xfrm>
            <a:off x="3246120" y="2743200"/>
            <a:ext cx="2606040" cy="1207008"/>
          </a:xfrm>
          <a:prstGeom prst="roundRect">
            <a:avLst>
              <a:gd name="adj" fmla="val 6061"/>
            </a:avLst>
          </a:prstGeom>
          <a:solidFill>
            <a:srgbClr val="F4F7F5"/>
          </a:solidFill>
          <a:ln w="9525">
            <a:solidFill>
              <a:srgbClr val="D5DED9"/>
            </a:solidFill>
            <a:prstDash val="solid"/>
          </a:ln>
        </p:spPr>
      </p:sp>
      <p:sp>
        <p:nvSpPr>
          <p:cNvPr id="32" name="Shape 25"/>
          <p:cNvSpPr/>
          <p:nvPr/>
        </p:nvSpPr>
        <p:spPr>
          <a:xfrm>
            <a:off x="3392424" y="2889504"/>
            <a:ext cx="457200" cy="457200"/>
          </a:xfrm>
          <a:prstGeom prst="ellipse">
            <a:avLst/>
          </a:prstGeom>
          <a:solidFill>
            <a:srgbClr val="B83B2E">
              <a:alpha val="22000"/>
            </a:srgbClr>
          </a:solidFill>
          <a:ln w="12700">
            <a:solidFill>
              <a:srgbClr val="B83B2E">
                <a:alpha val="0"/>
              </a:srgbClr>
            </a:solidFill>
            <a:prstDash val="solid"/>
          </a:ln>
        </p:spPr>
      </p:sp>
      <p:pic>
        <p:nvPicPr>
          <p:cNvPr id="33" name="Image 4" descr="preencoded.png">    </p:cNvPr>
          <p:cNvPicPr>
            <a:picLocks noChangeAspect="1"/>
          </p:cNvPicPr>
          <p:nvPr/>
        </p:nvPicPr>
        <p:blipFill>
          <a:blip r:embed="rId5"/>
          <a:stretch>
            <a:fillRect/>
          </a:stretch>
        </p:blipFill>
        <p:spPr>
          <a:xfrm>
            <a:off x="3502152" y="2999232"/>
            <a:ext cx="237744" cy="237744"/>
          </a:xfrm>
          <a:prstGeom prst="rect">
            <a:avLst/>
          </a:prstGeom>
        </p:spPr>
      </p:pic>
      <p:sp>
        <p:nvSpPr>
          <p:cNvPr id="34" name="Text 26"/>
          <p:cNvSpPr txBox="1"/>
          <p:nvPr/>
        </p:nvSpPr>
        <p:spPr>
          <a:xfrm>
            <a:off x="395935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Sensor breaks</a:t>
            </a:r>
            <a:endParaRPr lang="en-US" sz="1300" dirty="0"/>
          </a:p>
        </p:txBody>
      </p:sp>
      <p:sp>
        <p:nvSpPr>
          <p:cNvPr id="35" name="Text 27"/>
          <p:cNvSpPr txBox="1"/>
          <p:nvPr/>
        </p:nvSpPr>
        <p:spPr>
          <a:xfrm>
            <a:off x="339242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DMSP → VIIRS, VNL V2.1 → V2.2, collections</a:t>
            </a:r>
            <a:endParaRPr lang="en-US" sz="1050" dirty="0"/>
          </a:p>
        </p:txBody>
      </p:sp>
      <p:sp>
        <p:nvSpPr>
          <p:cNvPr id="36" name="Shape 28"/>
          <p:cNvSpPr/>
          <p:nvPr/>
        </p:nvSpPr>
        <p:spPr>
          <a:xfrm>
            <a:off x="6035040" y="2743200"/>
            <a:ext cx="2606040" cy="1207008"/>
          </a:xfrm>
          <a:prstGeom prst="roundRect">
            <a:avLst>
              <a:gd name="adj" fmla="val 6061"/>
            </a:avLst>
          </a:prstGeom>
          <a:solidFill>
            <a:srgbClr val="F4F7F5"/>
          </a:solidFill>
          <a:ln w="9525">
            <a:solidFill>
              <a:srgbClr val="D5DED9"/>
            </a:solidFill>
            <a:prstDash val="solid"/>
          </a:ln>
        </p:spPr>
      </p:sp>
      <p:sp>
        <p:nvSpPr>
          <p:cNvPr id="37" name="Shape 29"/>
          <p:cNvSpPr/>
          <p:nvPr/>
        </p:nvSpPr>
        <p:spPr>
          <a:xfrm>
            <a:off x="6181344" y="2889504"/>
            <a:ext cx="457200" cy="457200"/>
          </a:xfrm>
          <a:prstGeom prst="ellipse">
            <a:avLst/>
          </a:prstGeom>
          <a:solidFill>
            <a:srgbClr val="B83B2E">
              <a:alpha val="22000"/>
            </a:srgbClr>
          </a:solidFill>
          <a:ln w="12700">
            <a:solidFill>
              <a:srgbClr val="B83B2E">
                <a:alpha val="0"/>
              </a:srgbClr>
            </a:solidFill>
            <a:prstDash val="solid"/>
          </a:ln>
        </p:spPr>
      </p:sp>
      <p:pic>
        <p:nvPicPr>
          <p:cNvPr id="38" name="Image 5" descr="preencoded.png">    </p:cNvPr>
          <p:cNvPicPr>
            <a:picLocks noChangeAspect="1"/>
          </p:cNvPicPr>
          <p:nvPr/>
        </p:nvPicPr>
        <p:blipFill>
          <a:blip r:embed="rId6"/>
          <a:stretch>
            <a:fillRect/>
          </a:stretch>
        </p:blipFill>
        <p:spPr>
          <a:xfrm>
            <a:off x="6291072" y="2999232"/>
            <a:ext cx="237744" cy="237744"/>
          </a:xfrm>
          <a:prstGeom prst="rect">
            <a:avLst/>
          </a:prstGeom>
        </p:spPr>
      </p:pic>
      <p:sp>
        <p:nvSpPr>
          <p:cNvPr id="39" name="Text 30"/>
          <p:cNvSpPr txBox="1"/>
          <p:nvPr/>
        </p:nvSpPr>
        <p:spPr>
          <a:xfrm>
            <a:off x="6748272" y="2889504"/>
            <a:ext cx="1783080" cy="457200"/>
          </a:xfrm>
          <a:prstGeom prst="rect">
            <a:avLst/>
          </a:prstGeom>
          <a:noFill/>
          <a:ln/>
        </p:spPr>
        <p:txBody>
          <a:bodyPr wrap="square" lIns="0" tIns="0" rIns="0" bIns="0" rtlCol="0" anchor="ctr"/>
          <a:lstStyle/>
          <a:p>
            <a:pPr indent="0" marL="0">
              <a:buNone/>
            </a:pPr>
            <a:r>
              <a:rPr lang="en-US" sz="1300" b="1" dirty="0">
                <a:solidFill>
                  <a:srgbClr val="231F20"/>
                </a:solidFill>
                <a:latin typeface="Calibri" pitchFamily="34" charset="0"/>
                <a:ea typeface="Calibri" pitchFamily="34" charset="-122"/>
                <a:cs typeface="Calibri" pitchFamily="34" charset="-120"/>
              </a:rPr>
              <a:t>Rural noise</a:t>
            </a:r>
            <a:endParaRPr lang="en-US" sz="1300" dirty="0"/>
          </a:p>
        </p:txBody>
      </p:sp>
      <p:sp>
        <p:nvSpPr>
          <p:cNvPr id="40" name="Text 31"/>
          <p:cNvSpPr txBox="1"/>
          <p:nvPr/>
        </p:nvSpPr>
        <p:spPr>
          <a:xfrm>
            <a:off x="6181344" y="3419856"/>
            <a:ext cx="2331720" cy="475488"/>
          </a:xfrm>
          <a:prstGeom prst="rect">
            <a:avLst/>
          </a:prstGeom>
          <a:noFill/>
          <a:ln/>
        </p:spPr>
        <p:txBody>
          <a:bodyPr wrap="square" lIns="0" tIns="0" rIns="0" bIns="0" rtlCol="0" anchor="t"/>
          <a:lstStyle/>
          <a:p>
            <a:pPr indent="0" marL="0">
              <a:buNone/>
            </a:pPr>
            <a:r>
              <a:rPr lang="en-US" sz="1050" dirty="0">
                <a:solidFill>
                  <a:srgbClr val="5E6964"/>
                </a:solidFill>
                <a:latin typeface="Calibri" pitchFamily="34" charset="0"/>
                <a:ea typeface="Calibri" pitchFamily="34" charset="-122"/>
                <a:cs typeface="Calibri" pitchFamily="34" charset="-120"/>
              </a:rPr>
              <a:t>Weakest signal where the rural poor live</a:t>
            </a:r>
            <a:endParaRPr lang="en-US" sz="1050" dirty="0"/>
          </a:p>
        </p:txBody>
      </p:sp>
      <p:sp>
        <p:nvSpPr>
          <p:cNvPr id="41" name="Text 3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Sources: Gibson et al. (2021); Elvidge et al. (2021); Li et al. (2020)</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914400"/>
            <a:ext cx="2743200" cy="274320"/>
          </a:xfrm>
          <a:prstGeom prst="rect">
            <a:avLst/>
          </a:prstGeom>
          <a:noFill/>
          <a:ln/>
        </p:spPr>
        <p:txBody>
          <a:bodyPr wrap="square" lIns="0" tIns="0" rIns="0" bIns="0" rtlCol="0" anchor="t"/>
          <a:lstStyle/>
          <a:p>
            <a:pPr indent="0" marL="0">
              <a:buNone/>
            </a:pPr>
            <a:r>
              <a:rPr lang="en-US" sz="1050" b="1" spc="300" kern="0" dirty="0">
                <a:solidFill>
                  <a:srgbClr val="F5C242"/>
                </a:solidFill>
                <a:latin typeface="Calibri" pitchFamily="34" charset="0"/>
                <a:ea typeface="Calibri" pitchFamily="34" charset="-122"/>
                <a:cs typeface="Calibri" pitchFamily="34" charset="-120"/>
              </a:rPr>
              <a:t>SECTION</a:t>
            </a:r>
            <a:endParaRPr lang="en-US" sz="1050" dirty="0"/>
          </a:p>
        </p:txBody>
      </p:sp>
      <p:sp>
        <p:nvSpPr>
          <p:cNvPr id="3" name="Text 1"/>
          <p:cNvSpPr txBox="1"/>
          <p:nvPr/>
        </p:nvSpPr>
        <p:spPr>
          <a:xfrm>
            <a:off x="548640" y="1143000"/>
            <a:ext cx="2743200" cy="1188720"/>
          </a:xfrm>
          <a:prstGeom prst="rect">
            <a:avLst/>
          </a:prstGeom>
          <a:noFill/>
          <a:ln/>
        </p:spPr>
        <p:txBody>
          <a:bodyPr wrap="square" lIns="0" tIns="0" rIns="0" bIns="0" rtlCol="0" anchor="t"/>
          <a:lstStyle/>
          <a:p>
            <a:pPr indent="0" marL="0">
              <a:buNone/>
            </a:pPr>
            <a:r>
              <a:rPr lang="en-US" sz="8000" b="1" dirty="0">
                <a:solidFill>
                  <a:srgbClr val="F5C242"/>
                </a:solidFill>
                <a:latin typeface="Calibri" pitchFamily="34" charset="0"/>
                <a:ea typeface="Calibri" pitchFamily="34" charset="-122"/>
                <a:cs typeface="Calibri" pitchFamily="34" charset="-120"/>
              </a:rPr>
              <a:t>06</a:t>
            </a:r>
            <a:endParaRPr lang="en-US" sz="8000" dirty="0"/>
          </a:p>
        </p:txBody>
      </p:sp>
      <p:sp>
        <p:nvSpPr>
          <p:cNvPr id="4" name="Text 2"/>
          <p:cNvSpPr txBox="1"/>
          <p:nvPr/>
        </p:nvSpPr>
        <p:spPr>
          <a:xfrm>
            <a:off x="548640" y="2377440"/>
            <a:ext cx="5303520" cy="73152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Key takeaways</a:t>
            </a:r>
            <a:endParaRPr lang="en-US" sz="4000" dirty="0"/>
          </a:p>
        </p:txBody>
      </p:sp>
      <p:sp>
        <p:nvSpPr>
          <p:cNvPr id="5" name="Text 3"/>
          <p:cNvSpPr txBox="1"/>
          <p:nvPr/>
        </p:nvSpPr>
        <p:spPr>
          <a:xfrm>
            <a:off x="548640" y="3154680"/>
            <a:ext cx="5120640" cy="73152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What should a statistician remember?</a:t>
            </a:r>
            <a:endParaRPr lang="en-US" sz="1800" dirty="0"/>
          </a:p>
        </p:txBody>
      </p:sp>
      <p:sp>
        <p:nvSpPr>
          <p:cNvPr id="6" name="Shape 4"/>
          <p:cNvSpPr/>
          <p:nvPr/>
        </p:nvSpPr>
        <p:spPr>
          <a:xfrm>
            <a:off x="6309360" y="1234440"/>
            <a:ext cx="2286000" cy="2286000"/>
          </a:xfrm>
          <a:prstGeom prst="ellipse">
            <a:avLst/>
          </a:prstGeom>
          <a:solidFill>
            <a:srgbClr val="FFFFFF">
              <a:alpha val="8000"/>
            </a:srgbClr>
          </a:solidFill>
          <a:ln w="12700">
            <a:solidFill>
              <a:srgbClr val="FFFFFF">
                <a:alpha val="30000"/>
              </a:srgbClr>
            </a:solidFill>
            <a:prstDash val="solid"/>
          </a:ln>
        </p:spPr>
      </p:sp>
      <p:sp>
        <p:nvSpPr>
          <p:cNvPr id="7" name="Shape 5"/>
          <p:cNvSpPr/>
          <p:nvPr/>
        </p:nvSpPr>
        <p:spPr>
          <a:xfrm>
            <a:off x="6675120" y="1600200"/>
            <a:ext cx="1554480" cy="1554480"/>
          </a:xfrm>
          <a:prstGeom prst="ellipse">
            <a:avLst/>
          </a:prstGeom>
          <a:solidFill>
            <a:srgbClr val="FFFFFF"/>
          </a:solidFill>
          <a:ln w="12700">
            <a:solidFill>
              <a:srgbClr val="FFFFFF"/>
            </a:solidFill>
            <a:prstDash val="solid"/>
          </a:ln>
        </p:spPr>
      </p:sp>
      <p:pic>
        <p:nvPicPr>
          <p:cNvPr id="8" name="Image 0" descr="preencoded.png">    </p:cNvPr>
          <p:cNvPicPr>
            <a:picLocks noChangeAspect="1"/>
          </p:cNvPicPr>
          <p:nvPr/>
        </p:nvPicPr>
        <p:blipFill>
          <a:blip r:embed="rId1"/>
          <a:stretch>
            <a:fillRect/>
          </a:stretch>
        </p:blipFill>
        <p:spPr>
          <a:xfrm>
            <a:off x="7086600" y="2011680"/>
            <a:ext cx="731520" cy="731520"/>
          </a:xfrm>
          <a:prstGeom prst="rect">
            <a:avLst/>
          </a:prstGeom>
        </p:spPr>
      </p:pic>
      <p:sp>
        <p:nvSpPr>
          <p:cNvPr id="9" name="Shape 6"/>
          <p:cNvSpPr/>
          <p:nvPr/>
        </p:nvSpPr>
        <p:spPr>
          <a:xfrm>
            <a:off x="566928" y="4251960"/>
            <a:ext cx="118872" cy="118872"/>
          </a:xfrm>
          <a:prstGeom prst="ellipse">
            <a:avLst/>
          </a:prstGeom>
          <a:solidFill>
            <a:srgbClr val="FFFFFF">
              <a:alpha val="40000"/>
            </a:srgbClr>
          </a:solidFill>
          <a:ln w="12700">
            <a:solidFill>
              <a:srgbClr val="FFFFFF">
                <a:alpha val="0"/>
              </a:srgbClr>
            </a:solidFill>
            <a:prstDash val="solid"/>
          </a:ln>
        </p:spPr>
      </p:sp>
      <p:sp>
        <p:nvSpPr>
          <p:cNvPr id="10" name="Shape 7"/>
          <p:cNvSpPr/>
          <p:nvPr/>
        </p:nvSpPr>
        <p:spPr>
          <a:xfrm>
            <a:off x="786384" y="4251960"/>
            <a:ext cx="118872" cy="118872"/>
          </a:xfrm>
          <a:prstGeom prst="ellipse">
            <a:avLst/>
          </a:prstGeom>
          <a:solidFill>
            <a:srgbClr val="FFFFFF">
              <a:alpha val="40000"/>
            </a:srgbClr>
          </a:solidFill>
          <a:ln w="12700">
            <a:solidFill>
              <a:srgbClr val="FFFFFF">
                <a:alpha val="0"/>
              </a:srgbClr>
            </a:solidFill>
            <a:prstDash val="solid"/>
          </a:ln>
        </p:spPr>
      </p:sp>
      <p:sp>
        <p:nvSpPr>
          <p:cNvPr id="11" name="Shape 8"/>
          <p:cNvSpPr/>
          <p:nvPr/>
        </p:nvSpPr>
        <p:spPr>
          <a:xfrm>
            <a:off x="1005840" y="4251960"/>
            <a:ext cx="118872" cy="118872"/>
          </a:xfrm>
          <a:prstGeom prst="ellipse">
            <a:avLst/>
          </a:prstGeom>
          <a:solidFill>
            <a:srgbClr val="FFFFFF">
              <a:alpha val="40000"/>
            </a:srgbClr>
          </a:solidFill>
          <a:ln w="12700">
            <a:solidFill>
              <a:srgbClr val="FFFFFF">
                <a:alpha val="0"/>
              </a:srgbClr>
            </a:solidFill>
            <a:prstDash val="solid"/>
          </a:ln>
        </p:spPr>
      </p:sp>
      <p:sp>
        <p:nvSpPr>
          <p:cNvPr id="12" name="Shape 9"/>
          <p:cNvSpPr/>
          <p:nvPr/>
        </p:nvSpPr>
        <p:spPr>
          <a:xfrm>
            <a:off x="1225296" y="4251960"/>
            <a:ext cx="118872" cy="118872"/>
          </a:xfrm>
          <a:prstGeom prst="ellipse">
            <a:avLst/>
          </a:prstGeom>
          <a:solidFill>
            <a:srgbClr val="FFFFFF">
              <a:alpha val="40000"/>
            </a:srgbClr>
          </a:solidFill>
          <a:ln w="12700">
            <a:solidFill>
              <a:srgbClr val="FFFFFF">
                <a:alpha val="0"/>
              </a:srgbClr>
            </a:solidFill>
            <a:prstDash val="solid"/>
          </a:ln>
        </p:spPr>
      </p:sp>
      <p:sp>
        <p:nvSpPr>
          <p:cNvPr id="13" name="Shape 10"/>
          <p:cNvSpPr/>
          <p:nvPr/>
        </p:nvSpPr>
        <p:spPr>
          <a:xfrm>
            <a:off x="1444752" y="4251960"/>
            <a:ext cx="118872" cy="118872"/>
          </a:xfrm>
          <a:prstGeom prst="ellipse">
            <a:avLst/>
          </a:prstGeom>
          <a:solidFill>
            <a:srgbClr val="FFFFFF">
              <a:alpha val="40000"/>
            </a:srgbClr>
          </a:solidFill>
          <a:ln w="12700">
            <a:solidFill>
              <a:srgbClr val="FFFFFF">
                <a:alpha val="0"/>
              </a:srgbClr>
            </a:solidFill>
            <a:prstDash val="solid"/>
          </a:ln>
        </p:spPr>
      </p:sp>
      <p:sp>
        <p:nvSpPr>
          <p:cNvPr id="14" name="Shape 11"/>
          <p:cNvSpPr/>
          <p:nvPr/>
        </p:nvSpPr>
        <p:spPr>
          <a:xfrm>
            <a:off x="1664208" y="4251960"/>
            <a:ext cx="118872" cy="118872"/>
          </a:xfrm>
          <a:prstGeom prst="ellipse">
            <a:avLst/>
          </a:prstGeom>
          <a:solidFill>
            <a:srgbClr val="F5C242"/>
          </a:solidFill>
          <a:ln w="12700">
            <a:solidFill>
              <a:srgbClr val="FFFFFF">
                <a:alpha val="0"/>
              </a:srgbClr>
            </a:solidFill>
            <a:prstDash val="solid"/>
          </a:ln>
        </p:spPr>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KEY TAKEAWAYS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Twelve checks before publishing a night-lights figure</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53312"/>
            <a:ext cx="2606040" cy="658368"/>
          </a:xfrm>
          <a:prstGeom prst="roundRect">
            <a:avLst>
              <a:gd name="adj" fmla="val 11111"/>
            </a:avLst>
          </a:prstGeom>
          <a:solidFill>
            <a:srgbClr val="F4F7F5"/>
          </a:solidFill>
          <a:ln w="9525">
            <a:solidFill>
              <a:srgbClr val="D5DED9"/>
            </a:solidFill>
            <a:prstDash val="solid"/>
          </a:ln>
        </p:spPr>
      </p:sp>
      <p:sp>
        <p:nvSpPr>
          <p:cNvPr id="12" name="Shape 9"/>
          <p:cNvSpPr/>
          <p:nvPr/>
        </p:nvSpPr>
        <p:spPr>
          <a:xfrm>
            <a:off x="576072" y="1508760"/>
            <a:ext cx="347472" cy="347472"/>
          </a:xfrm>
          <a:prstGeom prst="ellipse">
            <a:avLst/>
          </a:prstGeom>
          <a:solidFill>
            <a:srgbClr val="00A86A"/>
          </a:solidFill>
          <a:ln w="12700">
            <a:solidFill>
              <a:srgbClr val="00A86A"/>
            </a:solidFill>
            <a:prstDash val="solid"/>
          </a:ln>
        </p:spPr>
      </p:sp>
      <p:sp>
        <p:nvSpPr>
          <p:cNvPr id="13" name="Text 10"/>
          <p:cNvSpPr txBox="1"/>
          <p:nvPr/>
        </p:nvSpPr>
        <p:spPr>
          <a:xfrm>
            <a:off x="57607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4" name="Text 11"/>
          <p:cNvSpPr txBox="1"/>
          <p:nvPr/>
        </p:nvSpPr>
        <p:spPr>
          <a:xfrm>
            <a:off x="102412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File names intact; year read from the name</a:t>
            </a:r>
            <a:endParaRPr lang="en-US" sz="1100" dirty="0"/>
          </a:p>
        </p:txBody>
      </p:sp>
      <p:sp>
        <p:nvSpPr>
          <p:cNvPr id="15" name="Shape 12"/>
          <p:cNvSpPr/>
          <p:nvPr/>
        </p:nvSpPr>
        <p:spPr>
          <a:xfrm>
            <a:off x="3246120" y="1353312"/>
            <a:ext cx="2606040" cy="658368"/>
          </a:xfrm>
          <a:prstGeom prst="roundRect">
            <a:avLst>
              <a:gd name="adj" fmla="val 11111"/>
            </a:avLst>
          </a:prstGeom>
          <a:solidFill>
            <a:srgbClr val="F4F7F5"/>
          </a:solidFill>
          <a:ln w="9525">
            <a:solidFill>
              <a:srgbClr val="D5DED9"/>
            </a:solidFill>
            <a:prstDash val="solid"/>
          </a:ln>
        </p:spPr>
      </p:sp>
      <p:sp>
        <p:nvSpPr>
          <p:cNvPr id="16" name="Shape 13"/>
          <p:cNvSpPr/>
          <p:nvPr/>
        </p:nvSpPr>
        <p:spPr>
          <a:xfrm>
            <a:off x="3364992" y="1508760"/>
            <a:ext cx="347472" cy="347472"/>
          </a:xfrm>
          <a:prstGeom prst="ellipse">
            <a:avLst/>
          </a:prstGeom>
          <a:solidFill>
            <a:srgbClr val="00A86A"/>
          </a:solidFill>
          <a:ln w="12700">
            <a:solidFill>
              <a:srgbClr val="00A86A"/>
            </a:solidFill>
            <a:prstDash val="solid"/>
          </a:ln>
        </p:spPr>
      </p:sp>
      <p:sp>
        <p:nvSpPr>
          <p:cNvPr id="17" name="Text 14"/>
          <p:cNvSpPr txBox="1"/>
          <p:nvPr/>
        </p:nvSpPr>
        <p:spPr>
          <a:xfrm>
            <a:off x="336499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8" name="Text 15"/>
          <p:cNvSpPr txBox="1"/>
          <p:nvPr/>
        </p:nvSpPr>
        <p:spPr>
          <a:xfrm>
            <a:off x="381304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Data group searched, not assumed</a:t>
            </a:r>
            <a:endParaRPr lang="en-US" sz="1100" dirty="0"/>
          </a:p>
        </p:txBody>
      </p:sp>
      <p:sp>
        <p:nvSpPr>
          <p:cNvPr id="19" name="Shape 16"/>
          <p:cNvSpPr/>
          <p:nvPr/>
        </p:nvSpPr>
        <p:spPr>
          <a:xfrm>
            <a:off x="6035040" y="1353312"/>
            <a:ext cx="2606040" cy="658368"/>
          </a:xfrm>
          <a:prstGeom prst="roundRect">
            <a:avLst>
              <a:gd name="adj" fmla="val 11111"/>
            </a:avLst>
          </a:prstGeom>
          <a:solidFill>
            <a:srgbClr val="F4F7F5"/>
          </a:solidFill>
          <a:ln w="9525">
            <a:solidFill>
              <a:srgbClr val="D5DED9"/>
            </a:solidFill>
            <a:prstDash val="solid"/>
          </a:ln>
        </p:spPr>
      </p:sp>
      <p:sp>
        <p:nvSpPr>
          <p:cNvPr id="20" name="Shape 17"/>
          <p:cNvSpPr/>
          <p:nvPr/>
        </p:nvSpPr>
        <p:spPr>
          <a:xfrm>
            <a:off x="6153912" y="1508760"/>
            <a:ext cx="347472" cy="347472"/>
          </a:xfrm>
          <a:prstGeom prst="ellipse">
            <a:avLst/>
          </a:prstGeom>
          <a:solidFill>
            <a:srgbClr val="00704A"/>
          </a:solidFill>
          <a:ln w="12700">
            <a:solidFill>
              <a:srgbClr val="00704A"/>
            </a:solidFill>
            <a:prstDash val="solid"/>
          </a:ln>
        </p:spPr>
      </p:sp>
      <p:sp>
        <p:nvSpPr>
          <p:cNvPr id="21" name="Text 18"/>
          <p:cNvSpPr txBox="1"/>
          <p:nvPr/>
        </p:nvSpPr>
        <p:spPr>
          <a:xfrm>
            <a:off x="6153912" y="1508760"/>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2" name="Text 19"/>
          <p:cNvSpPr txBox="1"/>
          <p:nvPr/>
        </p:nvSpPr>
        <p:spPr>
          <a:xfrm>
            <a:off x="6601968" y="1408176"/>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Scale, offset and fill read from the file</a:t>
            </a:r>
            <a:endParaRPr lang="en-US" sz="1100" dirty="0"/>
          </a:p>
        </p:txBody>
      </p:sp>
      <p:sp>
        <p:nvSpPr>
          <p:cNvPr id="23" name="Shape 20"/>
          <p:cNvSpPr/>
          <p:nvPr/>
        </p:nvSpPr>
        <p:spPr>
          <a:xfrm>
            <a:off x="457200" y="2139696"/>
            <a:ext cx="2606040" cy="658368"/>
          </a:xfrm>
          <a:prstGeom prst="roundRect">
            <a:avLst>
              <a:gd name="adj" fmla="val 11111"/>
            </a:avLst>
          </a:prstGeom>
          <a:solidFill>
            <a:srgbClr val="E8F5EF"/>
          </a:solidFill>
          <a:ln w="15875">
            <a:solidFill>
              <a:srgbClr val="B83B2E"/>
            </a:solidFill>
            <a:prstDash val="solid"/>
          </a:ln>
        </p:spPr>
      </p:sp>
      <p:sp>
        <p:nvSpPr>
          <p:cNvPr id="24" name="Shape 21"/>
          <p:cNvSpPr/>
          <p:nvPr/>
        </p:nvSpPr>
        <p:spPr>
          <a:xfrm>
            <a:off x="576072" y="2295144"/>
            <a:ext cx="347472" cy="347472"/>
          </a:xfrm>
          <a:prstGeom prst="ellipse">
            <a:avLst/>
          </a:prstGeom>
          <a:solidFill>
            <a:srgbClr val="00704A"/>
          </a:solidFill>
          <a:ln w="12700">
            <a:solidFill>
              <a:srgbClr val="00704A"/>
            </a:solidFill>
            <a:prstDash val="solid"/>
          </a:ln>
        </p:spPr>
      </p:sp>
      <p:sp>
        <p:nvSpPr>
          <p:cNvPr id="25" name="Text 22"/>
          <p:cNvSpPr txBox="1"/>
          <p:nvPr/>
        </p:nvSpPr>
        <p:spPr>
          <a:xfrm>
            <a:off x="57607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3"/>
          <p:cNvSpPr txBox="1"/>
          <p:nvPr/>
        </p:nvSpPr>
        <p:spPr>
          <a:xfrm>
            <a:off x="102412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Fill values set to NaN first</a:t>
            </a:r>
            <a:endParaRPr lang="en-US" sz="1100" dirty="0"/>
          </a:p>
        </p:txBody>
      </p:sp>
      <p:sp>
        <p:nvSpPr>
          <p:cNvPr id="27" name="Shape 24"/>
          <p:cNvSpPr/>
          <p:nvPr/>
        </p:nvSpPr>
        <p:spPr>
          <a:xfrm>
            <a:off x="3246120" y="2139696"/>
            <a:ext cx="2606040" cy="658368"/>
          </a:xfrm>
          <a:prstGeom prst="roundRect">
            <a:avLst>
              <a:gd name="adj" fmla="val 11111"/>
            </a:avLst>
          </a:prstGeom>
          <a:solidFill>
            <a:srgbClr val="F4F7F5"/>
          </a:solidFill>
          <a:ln w="9525">
            <a:solidFill>
              <a:srgbClr val="D5DED9"/>
            </a:solidFill>
            <a:prstDash val="solid"/>
          </a:ln>
        </p:spPr>
      </p:sp>
      <p:sp>
        <p:nvSpPr>
          <p:cNvPr id="28" name="Shape 25"/>
          <p:cNvSpPr/>
          <p:nvPr/>
        </p:nvSpPr>
        <p:spPr>
          <a:xfrm>
            <a:off x="3364992" y="2295144"/>
            <a:ext cx="347472" cy="347472"/>
          </a:xfrm>
          <a:prstGeom prst="ellipse">
            <a:avLst/>
          </a:prstGeom>
          <a:solidFill>
            <a:srgbClr val="0E7C86"/>
          </a:solidFill>
          <a:ln w="12700">
            <a:solidFill>
              <a:srgbClr val="0E7C86"/>
            </a:solidFill>
            <a:prstDash val="solid"/>
          </a:ln>
        </p:spPr>
      </p:sp>
      <p:sp>
        <p:nvSpPr>
          <p:cNvPr id="29" name="Text 26"/>
          <p:cNvSpPr txBox="1"/>
          <p:nvPr/>
        </p:nvSpPr>
        <p:spPr>
          <a:xfrm>
            <a:off x="336499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0" name="Text 27"/>
          <p:cNvSpPr txBox="1"/>
          <p:nvPr/>
        </p:nvSpPr>
        <p:spPr>
          <a:xfrm>
            <a:off x="381304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North at the top: row 0 is the northernmost</a:t>
            </a:r>
            <a:endParaRPr lang="en-US" sz="1100" dirty="0"/>
          </a:p>
        </p:txBody>
      </p:sp>
      <p:sp>
        <p:nvSpPr>
          <p:cNvPr id="31" name="Shape 28"/>
          <p:cNvSpPr/>
          <p:nvPr/>
        </p:nvSpPr>
        <p:spPr>
          <a:xfrm>
            <a:off x="6035040" y="2139696"/>
            <a:ext cx="2606040" cy="658368"/>
          </a:xfrm>
          <a:prstGeom prst="roundRect">
            <a:avLst>
              <a:gd name="adj" fmla="val 11111"/>
            </a:avLst>
          </a:prstGeom>
          <a:solidFill>
            <a:srgbClr val="F4F7F5"/>
          </a:solidFill>
          <a:ln w="9525">
            <a:solidFill>
              <a:srgbClr val="D5DED9"/>
            </a:solidFill>
            <a:prstDash val="solid"/>
          </a:ln>
        </p:spPr>
      </p:sp>
      <p:sp>
        <p:nvSpPr>
          <p:cNvPr id="32" name="Shape 29"/>
          <p:cNvSpPr/>
          <p:nvPr/>
        </p:nvSpPr>
        <p:spPr>
          <a:xfrm>
            <a:off x="6153912" y="2295144"/>
            <a:ext cx="347472" cy="347472"/>
          </a:xfrm>
          <a:prstGeom prst="ellipse">
            <a:avLst/>
          </a:prstGeom>
          <a:solidFill>
            <a:srgbClr val="0E7C86"/>
          </a:solidFill>
          <a:ln w="12700">
            <a:solidFill>
              <a:srgbClr val="0E7C86"/>
            </a:solidFill>
            <a:prstDash val="solid"/>
          </a:ln>
        </p:spPr>
      </p:sp>
      <p:sp>
        <p:nvSpPr>
          <p:cNvPr id="33" name="Text 30"/>
          <p:cNvSpPr txBox="1"/>
          <p:nvPr/>
        </p:nvSpPr>
        <p:spPr>
          <a:xfrm>
            <a:off x="6153912" y="22951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1"/>
          <p:cNvSpPr txBox="1"/>
          <p:nvPr/>
        </p:nvSpPr>
        <p:spPr>
          <a:xfrm>
            <a:off x="6601968" y="2194560"/>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Quality threshold documented</a:t>
            </a:r>
            <a:endParaRPr lang="en-US" sz="1100" dirty="0"/>
          </a:p>
        </p:txBody>
      </p:sp>
      <p:sp>
        <p:nvSpPr>
          <p:cNvPr id="35" name="Shape 32"/>
          <p:cNvSpPr/>
          <p:nvPr/>
        </p:nvSpPr>
        <p:spPr>
          <a:xfrm>
            <a:off x="457200" y="2926080"/>
            <a:ext cx="2606040" cy="658368"/>
          </a:xfrm>
          <a:prstGeom prst="roundRect">
            <a:avLst>
              <a:gd name="adj" fmla="val 11111"/>
            </a:avLst>
          </a:prstGeom>
          <a:solidFill>
            <a:srgbClr val="F4F7F5"/>
          </a:solidFill>
          <a:ln w="9525">
            <a:solidFill>
              <a:srgbClr val="D5DED9"/>
            </a:solidFill>
            <a:prstDash val="solid"/>
          </a:ln>
        </p:spPr>
      </p:sp>
      <p:sp>
        <p:nvSpPr>
          <p:cNvPr id="36" name="Shape 33"/>
          <p:cNvSpPr/>
          <p:nvPr/>
        </p:nvSpPr>
        <p:spPr>
          <a:xfrm>
            <a:off x="576072" y="3081528"/>
            <a:ext cx="347472" cy="347472"/>
          </a:xfrm>
          <a:prstGeom prst="ellipse">
            <a:avLst/>
          </a:prstGeom>
          <a:solidFill>
            <a:srgbClr val="D49A00"/>
          </a:solidFill>
          <a:ln w="12700">
            <a:solidFill>
              <a:srgbClr val="D49A00"/>
            </a:solidFill>
            <a:prstDash val="solid"/>
          </a:ln>
        </p:spPr>
      </p:sp>
      <p:sp>
        <p:nvSpPr>
          <p:cNvPr id="37" name="Text 34"/>
          <p:cNvSpPr txBox="1"/>
          <p:nvPr/>
        </p:nvSpPr>
        <p:spPr>
          <a:xfrm>
            <a:off x="57607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8" name="Text 35"/>
          <p:cNvSpPr txBox="1"/>
          <p:nvPr/>
        </p:nvSpPr>
        <p:spPr>
          <a:xfrm>
            <a:off x="102412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Ocean and sea masked</a:t>
            </a:r>
            <a:endParaRPr lang="en-US" sz="1100" dirty="0"/>
          </a:p>
        </p:txBody>
      </p:sp>
      <p:sp>
        <p:nvSpPr>
          <p:cNvPr id="39" name="Shape 36"/>
          <p:cNvSpPr/>
          <p:nvPr/>
        </p:nvSpPr>
        <p:spPr>
          <a:xfrm>
            <a:off x="3246120" y="2926080"/>
            <a:ext cx="2606040" cy="658368"/>
          </a:xfrm>
          <a:prstGeom prst="roundRect">
            <a:avLst>
              <a:gd name="adj" fmla="val 11111"/>
            </a:avLst>
          </a:prstGeom>
          <a:solidFill>
            <a:srgbClr val="F4F7F5"/>
          </a:solidFill>
          <a:ln w="9525">
            <a:solidFill>
              <a:srgbClr val="D5DED9"/>
            </a:solidFill>
            <a:prstDash val="solid"/>
          </a:ln>
        </p:spPr>
      </p:sp>
      <p:sp>
        <p:nvSpPr>
          <p:cNvPr id="40" name="Shape 37"/>
          <p:cNvSpPr/>
          <p:nvPr/>
        </p:nvSpPr>
        <p:spPr>
          <a:xfrm>
            <a:off x="3364992" y="3081528"/>
            <a:ext cx="347472" cy="347472"/>
          </a:xfrm>
          <a:prstGeom prst="ellipse">
            <a:avLst/>
          </a:prstGeom>
          <a:solidFill>
            <a:srgbClr val="D49A00"/>
          </a:solidFill>
          <a:ln w="12700">
            <a:solidFill>
              <a:srgbClr val="D49A00"/>
            </a:solidFill>
            <a:prstDash val="solid"/>
          </a:ln>
        </p:spPr>
      </p:sp>
      <p:sp>
        <p:nvSpPr>
          <p:cNvPr id="41" name="Text 38"/>
          <p:cNvSpPr txBox="1"/>
          <p:nvPr/>
        </p:nvSpPr>
        <p:spPr>
          <a:xfrm>
            <a:off x="336499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2" name="Text 39"/>
          <p:cNvSpPr txBox="1"/>
          <p:nvPr/>
        </p:nvSpPr>
        <p:spPr>
          <a:xfrm>
            <a:off x="381304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Number of nights inspected</a:t>
            </a:r>
            <a:endParaRPr lang="en-US" sz="1100" dirty="0"/>
          </a:p>
        </p:txBody>
      </p:sp>
      <p:sp>
        <p:nvSpPr>
          <p:cNvPr id="43" name="Shape 40"/>
          <p:cNvSpPr/>
          <p:nvPr/>
        </p:nvSpPr>
        <p:spPr>
          <a:xfrm>
            <a:off x="6035040" y="2926080"/>
            <a:ext cx="2606040" cy="658368"/>
          </a:xfrm>
          <a:prstGeom prst="roundRect">
            <a:avLst>
              <a:gd name="adj" fmla="val 11111"/>
            </a:avLst>
          </a:prstGeom>
          <a:solidFill>
            <a:srgbClr val="F4F7F5"/>
          </a:solidFill>
          <a:ln w="9525">
            <a:solidFill>
              <a:srgbClr val="D5DED9"/>
            </a:solidFill>
            <a:prstDash val="solid"/>
          </a:ln>
        </p:spPr>
      </p:sp>
      <p:sp>
        <p:nvSpPr>
          <p:cNvPr id="44" name="Shape 41"/>
          <p:cNvSpPr/>
          <p:nvPr/>
        </p:nvSpPr>
        <p:spPr>
          <a:xfrm>
            <a:off x="6153912" y="3081528"/>
            <a:ext cx="347472" cy="347472"/>
          </a:xfrm>
          <a:prstGeom prst="ellipse">
            <a:avLst/>
          </a:prstGeom>
          <a:solidFill>
            <a:srgbClr val="C4621D"/>
          </a:solidFill>
          <a:ln w="12700">
            <a:solidFill>
              <a:srgbClr val="C4621D"/>
            </a:solidFill>
            <a:prstDash val="solid"/>
          </a:ln>
        </p:spPr>
      </p:sp>
      <p:sp>
        <p:nvSpPr>
          <p:cNvPr id="45" name="Text 42"/>
          <p:cNvSpPr txBox="1"/>
          <p:nvPr/>
        </p:nvSpPr>
        <p:spPr>
          <a:xfrm>
            <a:off x="6153912" y="3081528"/>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6" name="Text 43"/>
          <p:cNvSpPr txBox="1"/>
          <p:nvPr/>
        </p:nvSpPr>
        <p:spPr>
          <a:xfrm>
            <a:off x="6601968" y="2980944"/>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Brightest pixel plausible</a:t>
            </a:r>
            <a:endParaRPr lang="en-US" sz="1100" dirty="0"/>
          </a:p>
        </p:txBody>
      </p:sp>
      <p:sp>
        <p:nvSpPr>
          <p:cNvPr id="47" name="Shape 44"/>
          <p:cNvSpPr/>
          <p:nvPr/>
        </p:nvSpPr>
        <p:spPr>
          <a:xfrm>
            <a:off x="457200" y="3712464"/>
            <a:ext cx="2606040" cy="658368"/>
          </a:xfrm>
          <a:prstGeom prst="roundRect">
            <a:avLst>
              <a:gd name="adj" fmla="val 11111"/>
            </a:avLst>
          </a:prstGeom>
          <a:solidFill>
            <a:srgbClr val="F4F7F5"/>
          </a:solidFill>
          <a:ln w="9525">
            <a:solidFill>
              <a:srgbClr val="D5DED9"/>
            </a:solidFill>
            <a:prstDash val="solid"/>
          </a:ln>
        </p:spPr>
      </p:sp>
      <p:sp>
        <p:nvSpPr>
          <p:cNvPr id="48" name="Shape 45"/>
          <p:cNvSpPr/>
          <p:nvPr/>
        </p:nvSpPr>
        <p:spPr>
          <a:xfrm>
            <a:off x="576072" y="3867912"/>
            <a:ext cx="347472" cy="347472"/>
          </a:xfrm>
          <a:prstGeom prst="ellipse">
            <a:avLst/>
          </a:prstGeom>
          <a:solidFill>
            <a:srgbClr val="C4621D"/>
          </a:solidFill>
          <a:ln w="12700">
            <a:solidFill>
              <a:srgbClr val="C4621D"/>
            </a:solidFill>
            <a:prstDash val="solid"/>
          </a:ln>
        </p:spPr>
      </p:sp>
      <p:sp>
        <p:nvSpPr>
          <p:cNvPr id="49" name="Text 46"/>
          <p:cNvSpPr txBox="1"/>
          <p:nvPr/>
        </p:nvSpPr>
        <p:spPr>
          <a:xfrm>
            <a:off x="57607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
        <p:nvSpPr>
          <p:cNvPr id="50" name="Text 47"/>
          <p:cNvSpPr txBox="1"/>
          <p:nvPr/>
        </p:nvSpPr>
        <p:spPr>
          <a:xfrm>
            <a:off x="102412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Same layer and version across the series</a:t>
            </a:r>
            <a:endParaRPr lang="en-US" sz="1100" dirty="0"/>
          </a:p>
        </p:txBody>
      </p:sp>
      <p:sp>
        <p:nvSpPr>
          <p:cNvPr id="51" name="Shape 48"/>
          <p:cNvSpPr/>
          <p:nvPr/>
        </p:nvSpPr>
        <p:spPr>
          <a:xfrm>
            <a:off x="3246120" y="3712464"/>
            <a:ext cx="2606040" cy="658368"/>
          </a:xfrm>
          <a:prstGeom prst="roundRect">
            <a:avLst>
              <a:gd name="adj" fmla="val 11111"/>
            </a:avLst>
          </a:prstGeom>
          <a:solidFill>
            <a:srgbClr val="F4F7F5"/>
          </a:solidFill>
          <a:ln w="9525">
            <a:solidFill>
              <a:srgbClr val="D5DED9"/>
            </a:solidFill>
            <a:prstDash val="solid"/>
          </a:ln>
        </p:spPr>
      </p:sp>
      <p:sp>
        <p:nvSpPr>
          <p:cNvPr id="52" name="Shape 49"/>
          <p:cNvSpPr/>
          <p:nvPr/>
        </p:nvSpPr>
        <p:spPr>
          <a:xfrm>
            <a:off x="3364992" y="3867912"/>
            <a:ext cx="347472" cy="347472"/>
          </a:xfrm>
          <a:prstGeom prst="ellipse">
            <a:avLst/>
          </a:prstGeom>
          <a:solidFill>
            <a:srgbClr val="B83B2E"/>
          </a:solidFill>
          <a:ln w="12700">
            <a:solidFill>
              <a:srgbClr val="B83B2E"/>
            </a:solidFill>
            <a:prstDash val="solid"/>
          </a:ln>
        </p:spPr>
      </p:sp>
      <p:sp>
        <p:nvSpPr>
          <p:cNvPr id="53" name="Text 50"/>
          <p:cNvSpPr txBox="1"/>
          <p:nvPr/>
        </p:nvSpPr>
        <p:spPr>
          <a:xfrm>
            <a:off x="336499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
        <p:nvSpPr>
          <p:cNvPr id="54" name="Text 51"/>
          <p:cNvSpPr txBox="1"/>
          <p:nvPr/>
        </p:nvSpPr>
        <p:spPr>
          <a:xfrm>
            <a:off x="381304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Right product for the question</a:t>
            </a:r>
            <a:endParaRPr lang="en-US" sz="1100" dirty="0"/>
          </a:p>
        </p:txBody>
      </p:sp>
      <p:sp>
        <p:nvSpPr>
          <p:cNvPr id="55" name="Shape 52"/>
          <p:cNvSpPr/>
          <p:nvPr/>
        </p:nvSpPr>
        <p:spPr>
          <a:xfrm>
            <a:off x="6035040" y="3712464"/>
            <a:ext cx="2606040" cy="658368"/>
          </a:xfrm>
          <a:prstGeom prst="roundRect">
            <a:avLst>
              <a:gd name="adj" fmla="val 11111"/>
            </a:avLst>
          </a:prstGeom>
          <a:solidFill>
            <a:srgbClr val="F4F7F5"/>
          </a:solidFill>
          <a:ln w="9525">
            <a:solidFill>
              <a:srgbClr val="D5DED9"/>
            </a:solidFill>
            <a:prstDash val="solid"/>
          </a:ln>
        </p:spPr>
      </p:sp>
      <p:sp>
        <p:nvSpPr>
          <p:cNvPr id="56" name="Shape 53"/>
          <p:cNvSpPr/>
          <p:nvPr/>
        </p:nvSpPr>
        <p:spPr>
          <a:xfrm>
            <a:off x="6153912" y="3867912"/>
            <a:ext cx="347472" cy="347472"/>
          </a:xfrm>
          <a:prstGeom prst="ellipse">
            <a:avLst/>
          </a:prstGeom>
          <a:solidFill>
            <a:srgbClr val="B83B2E"/>
          </a:solidFill>
          <a:ln w="12700">
            <a:solidFill>
              <a:srgbClr val="B83B2E"/>
            </a:solidFill>
            <a:prstDash val="solid"/>
          </a:ln>
        </p:spPr>
      </p:sp>
      <p:sp>
        <p:nvSpPr>
          <p:cNvPr id="57" name="Text 54"/>
          <p:cNvSpPr txBox="1"/>
          <p:nvPr/>
        </p:nvSpPr>
        <p:spPr>
          <a:xfrm>
            <a:off x="6153912" y="3867912"/>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
        <p:nvSpPr>
          <p:cNvPr id="58" name="Text 55"/>
          <p:cNvSpPr txBox="1"/>
          <p:nvPr/>
        </p:nvSpPr>
        <p:spPr>
          <a:xfrm>
            <a:off x="6601968" y="3767328"/>
            <a:ext cx="1965960" cy="548640"/>
          </a:xfrm>
          <a:prstGeom prst="rect">
            <a:avLst/>
          </a:prstGeom>
          <a:noFill/>
          <a:ln/>
        </p:spPr>
        <p:txBody>
          <a:bodyPr wrap="square" lIns="0" tIns="0" rIns="0" bIns="0" rtlCol="0" anchor="ctr"/>
          <a:lstStyle/>
          <a:p>
            <a:pPr indent="0" marL="0">
              <a:buNone/>
            </a:pPr>
            <a:r>
              <a:rPr lang="en-US" sz="1100" dirty="0">
                <a:solidFill>
                  <a:srgbClr val="231F20"/>
                </a:solidFill>
                <a:latin typeface="Calibri" pitchFamily="34" charset="0"/>
                <a:ea typeface="Calibri" pitchFamily="34" charset="-122"/>
                <a:cs typeface="Calibri" pitchFamily="34" charset="-120"/>
              </a:rPr>
              <a:t>Limitations written down</a:t>
            </a:r>
            <a:endParaRPr lang="en-US" sz="11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KEY TAKEAWAYS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Trend on A4, season on A3, event on A2</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2606040" cy="3063240"/>
          </a:xfrm>
          <a:prstGeom prst="roundRect">
            <a:avLst>
              <a:gd name="adj" fmla="val 2807"/>
            </a:avLst>
          </a:prstGeom>
          <a:solidFill>
            <a:srgbClr val="E8F5EF"/>
          </a:solidFill>
          <a:ln w="15875">
            <a:solidFill>
              <a:srgbClr val="00A86A"/>
            </a:solidFill>
            <a:prstDash val="solid"/>
          </a:ln>
        </p:spPr>
      </p:sp>
      <p:sp>
        <p:nvSpPr>
          <p:cNvPr id="12" name="Shape 9"/>
          <p:cNvSpPr/>
          <p:nvPr/>
        </p:nvSpPr>
        <p:spPr>
          <a:xfrm>
            <a:off x="1325880" y="1600200"/>
            <a:ext cx="868680" cy="868680"/>
          </a:xfrm>
          <a:prstGeom prst="ellipse">
            <a:avLst/>
          </a:prstGeom>
          <a:solidFill>
            <a:srgbClr val="00A86A">
              <a:alpha val="22000"/>
            </a:srgbClr>
          </a:solidFill>
          <a:ln w="12700">
            <a:solidFill>
              <a:srgbClr val="00A86A">
                <a:alpha val="0"/>
              </a:srgbClr>
            </a:solidFill>
            <a:prstDash val="solid"/>
          </a:ln>
        </p:spPr>
      </p:sp>
      <p:pic>
        <p:nvPicPr>
          <p:cNvPr id="13" name="Image 0" descr="preencoded.png">    </p:cNvPr>
          <p:cNvPicPr>
            <a:picLocks noChangeAspect="1"/>
          </p:cNvPicPr>
          <p:nvPr/>
        </p:nvPicPr>
        <p:blipFill>
          <a:blip r:embed="rId1"/>
          <a:stretch>
            <a:fillRect/>
          </a:stretch>
        </p:blipFill>
        <p:spPr>
          <a:xfrm>
            <a:off x="1534363" y="1808683"/>
            <a:ext cx="451714" cy="451714"/>
          </a:xfrm>
          <a:prstGeom prst="rect">
            <a:avLst/>
          </a:prstGeom>
        </p:spPr>
      </p:pic>
      <p:sp>
        <p:nvSpPr>
          <p:cNvPr id="14" name="Text 10"/>
          <p:cNvSpPr txBox="1"/>
          <p:nvPr/>
        </p:nvSpPr>
        <p:spPr>
          <a:xfrm>
            <a:off x="64008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Choose the product</a:t>
            </a:r>
            <a:endParaRPr lang="en-US" sz="1500" dirty="0"/>
          </a:p>
        </p:txBody>
      </p:sp>
      <p:sp>
        <p:nvSpPr>
          <p:cNvPr id="15" name="Text 11"/>
          <p:cNvSpPr txBox="1"/>
          <p:nvPr/>
        </p:nvSpPr>
        <p:spPr>
          <a:xfrm>
            <a:off x="65836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Trend → annual A4 · season → monthly A3 · dated event → daily A2. Never the other way round.</a:t>
            </a:r>
            <a:endParaRPr lang="en-US" sz="1150" dirty="0"/>
          </a:p>
        </p:txBody>
      </p:sp>
      <p:sp>
        <p:nvSpPr>
          <p:cNvPr id="16" name="Shape 12"/>
          <p:cNvSpPr/>
          <p:nvPr/>
        </p:nvSpPr>
        <p:spPr>
          <a:xfrm>
            <a:off x="3246120" y="1371600"/>
            <a:ext cx="2606040" cy="3063240"/>
          </a:xfrm>
          <a:prstGeom prst="roundRect">
            <a:avLst>
              <a:gd name="adj" fmla="val 2807"/>
            </a:avLst>
          </a:prstGeom>
          <a:solidFill>
            <a:srgbClr val="F4F7F5"/>
          </a:solidFill>
          <a:ln w="9525">
            <a:solidFill>
              <a:srgbClr val="D5DED9"/>
            </a:solidFill>
            <a:prstDash val="solid"/>
          </a:ln>
        </p:spPr>
      </p:sp>
      <p:sp>
        <p:nvSpPr>
          <p:cNvPr id="17" name="Shape 13"/>
          <p:cNvSpPr/>
          <p:nvPr/>
        </p:nvSpPr>
        <p:spPr>
          <a:xfrm>
            <a:off x="4114800" y="1600200"/>
            <a:ext cx="868680" cy="868680"/>
          </a:xfrm>
          <a:prstGeom prst="ellipse">
            <a:avLst/>
          </a:prstGeom>
          <a:solidFill>
            <a:srgbClr val="00704A">
              <a:alpha val="22000"/>
            </a:srgbClr>
          </a:solidFill>
          <a:ln w="12700">
            <a:solidFill>
              <a:srgbClr val="00704A">
                <a:alpha val="0"/>
              </a:srgbClr>
            </a:solidFill>
            <a:prstDash val="solid"/>
          </a:ln>
        </p:spPr>
      </p:sp>
      <p:pic>
        <p:nvPicPr>
          <p:cNvPr id="18" name="Image 1" descr="preencoded.png">    </p:cNvPr>
          <p:cNvPicPr>
            <a:picLocks noChangeAspect="1"/>
          </p:cNvPicPr>
          <p:nvPr/>
        </p:nvPicPr>
        <p:blipFill>
          <a:blip r:embed="rId2"/>
          <a:stretch>
            <a:fillRect/>
          </a:stretch>
        </p:blipFill>
        <p:spPr>
          <a:xfrm>
            <a:off x="4323283" y="1808683"/>
            <a:ext cx="451714" cy="451714"/>
          </a:xfrm>
          <a:prstGeom prst="rect">
            <a:avLst/>
          </a:prstGeom>
        </p:spPr>
      </p:pic>
      <p:sp>
        <p:nvSpPr>
          <p:cNvPr id="19" name="Text 14"/>
          <p:cNvSpPr txBox="1"/>
          <p:nvPr/>
        </p:nvSpPr>
        <p:spPr>
          <a:xfrm>
            <a:off x="342900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Respect the order</a:t>
            </a:r>
            <a:endParaRPr lang="en-US" sz="1500" dirty="0"/>
          </a:p>
        </p:txBody>
      </p:sp>
      <p:sp>
        <p:nvSpPr>
          <p:cNvPr id="20" name="Text 15"/>
          <p:cNvSpPr txBox="1"/>
          <p:nvPr/>
        </p:nvSpPr>
        <p:spPr>
          <a:xfrm>
            <a:off x="344728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Fill → NaN, quality, water, mosaic, clip. Each skipped step changes the figure silently.</a:t>
            </a:r>
            <a:endParaRPr lang="en-US" sz="1150" dirty="0"/>
          </a:p>
        </p:txBody>
      </p:sp>
      <p:sp>
        <p:nvSpPr>
          <p:cNvPr id="21" name="Shape 16"/>
          <p:cNvSpPr/>
          <p:nvPr/>
        </p:nvSpPr>
        <p:spPr>
          <a:xfrm>
            <a:off x="6035040" y="1371600"/>
            <a:ext cx="2606040" cy="3063240"/>
          </a:xfrm>
          <a:prstGeom prst="roundRect">
            <a:avLst>
              <a:gd name="adj" fmla="val 2807"/>
            </a:avLst>
          </a:prstGeom>
          <a:solidFill>
            <a:srgbClr val="F4F7F5"/>
          </a:solidFill>
          <a:ln w="9525">
            <a:solidFill>
              <a:srgbClr val="D5DED9"/>
            </a:solidFill>
            <a:prstDash val="solid"/>
          </a:ln>
        </p:spPr>
      </p:sp>
      <p:sp>
        <p:nvSpPr>
          <p:cNvPr id="22" name="Shape 17"/>
          <p:cNvSpPr/>
          <p:nvPr/>
        </p:nvSpPr>
        <p:spPr>
          <a:xfrm>
            <a:off x="6903720" y="1600200"/>
            <a:ext cx="868680" cy="868680"/>
          </a:xfrm>
          <a:prstGeom prst="ellipse">
            <a:avLst/>
          </a:prstGeom>
          <a:solidFill>
            <a:srgbClr val="0E7C86">
              <a:alpha val="22000"/>
            </a:srgbClr>
          </a:solidFill>
          <a:ln w="12700">
            <a:solidFill>
              <a:srgbClr val="0E7C86">
                <a:alpha val="0"/>
              </a:srgbClr>
            </a:solidFill>
            <a:prstDash val="solid"/>
          </a:ln>
        </p:spPr>
      </p:sp>
      <p:pic>
        <p:nvPicPr>
          <p:cNvPr id="23" name="Image 2" descr="preencoded.png">    </p:cNvPr>
          <p:cNvPicPr>
            <a:picLocks noChangeAspect="1"/>
          </p:cNvPicPr>
          <p:nvPr/>
        </p:nvPicPr>
        <p:blipFill>
          <a:blip r:embed="rId3"/>
          <a:stretch>
            <a:fillRect/>
          </a:stretch>
        </p:blipFill>
        <p:spPr>
          <a:xfrm>
            <a:off x="7112203" y="1808683"/>
            <a:ext cx="451714" cy="451714"/>
          </a:xfrm>
          <a:prstGeom prst="rect">
            <a:avLst/>
          </a:prstGeom>
        </p:spPr>
      </p:pic>
      <p:sp>
        <p:nvSpPr>
          <p:cNvPr id="24" name="Text 18"/>
          <p:cNvSpPr txBox="1"/>
          <p:nvPr/>
        </p:nvSpPr>
        <p:spPr>
          <a:xfrm>
            <a:off x="6217920" y="2651760"/>
            <a:ext cx="2240280" cy="365760"/>
          </a:xfrm>
          <a:prstGeom prst="rect">
            <a:avLst/>
          </a:prstGeom>
          <a:noFill/>
          <a:ln/>
        </p:spPr>
        <p:txBody>
          <a:bodyPr wrap="square" lIns="0" tIns="0" rIns="0" bIns="0" rtlCol="0" anchor="t"/>
          <a:lstStyle/>
          <a:p>
            <a:pPr algn="ctr" indent="0" marL="0">
              <a:buNone/>
            </a:pPr>
            <a:r>
              <a:rPr lang="en-US" sz="1500" b="1" dirty="0">
                <a:solidFill>
                  <a:srgbClr val="231F20"/>
                </a:solidFill>
                <a:latin typeface="Calibri" pitchFamily="34" charset="0"/>
                <a:ea typeface="Calibri" pitchFamily="34" charset="-122"/>
                <a:cs typeface="Calibri" pitchFamily="34" charset="-120"/>
              </a:rPr>
              <a:t>Complement, not substitute</a:t>
            </a:r>
            <a:endParaRPr lang="en-US" sz="1500" dirty="0"/>
          </a:p>
        </p:txBody>
      </p:sp>
      <p:sp>
        <p:nvSpPr>
          <p:cNvPr id="25" name="Text 19"/>
          <p:cNvSpPr txBox="1"/>
          <p:nvPr/>
        </p:nvSpPr>
        <p:spPr>
          <a:xfrm>
            <a:off x="6236208" y="3108960"/>
            <a:ext cx="2203704" cy="1188720"/>
          </a:xfrm>
          <a:prstGeom prst="rect">
            <a:avLst/>
          </a:prstGeom>
          <a:noFill/>
          <a:ln/>
        </p:spPr>
        <p:txBody>
          <a:bodyPr wrap="square" lIns="0" tIns="0" rIns="0" bIns="0" rtlCol="0" anchor="t"/>
          <a:lstStyle/>
          <a:p>
            <a:pPr indent="0" marL="0">
              <a:buNone/>
            </a:pPr>
            <a:r>
              <a:rPr lang="en-US" sz="1150" dirty="0">
                <a:solidFill>
                  <a:srgbClr val="5E6964"/>
                </a:solidFill>
                <a:latin typeface="Calibri" pitchFamily="34" charset="0"/>
                <a:ea typeface="Calibri" pitchFamily="34" charset="-122"/>
                <a:cs typeface="Calibri" pitchFamily="34" charset="-120"/>
              </a:rPr>
              <a:t>Direction, timing and geography of activity — always with official statistics and documented limits.</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3"/>
          <p:cNvSpPr/>
          <p:nvPr>
            <p:ph idx="105" type="body" hasCustomPrompt="1"/>
          </p:nvPr>
        </p:nvSpPr>
        <p:spPr>
          <a:xfrm>
            <a:off x="457200" y="274320"/>
            <a:ext cx="6217920" cy="256032"/>
          </a:xfrm>
          <a:prstGeom prst="rect">
            <a:avLst/>
          </a:prstGeom>
          <a:noFill/>
          <a:ln/>
        </p:spPr>
        <p:txBody>
          <a:bodyPr wrap="square" lIns="0" tIns="0" rIns="0" bIns="0" rtlCol="0" anchor="ctr"/>
          <a:lstStyle/>
          <a:p>
            <a:pPr algn="l" indent="0" marL="0">
              <a:buNone/>
            </a:pPr>
            <a:r>
              <a:rPr lang="en-US" sz="1050" b="1" spc="300" kern="0" dirty="0">
                <a:solidFill>
                  <a:srgbClr val="00704A"/>
                </a:solidFill>
                <a:latin typeface="Calibri" pitchFamily="34" charset="0"/>
                <a:ea typeface="Calibri" pitchFamily="34" charset="-122"/>
                <a:cs typeface="Calibri" pitchFamily="34" charset="-120"/>
              </a:rPr>
              <a:t>06 · SOURCES</a:t>
            </a:r>
            <a:endParaRPr lang="en-US" sz="1050" dirty="0"/>
          </a:p>
        </p:txBody>
      </p:sp>
      <p:sp>
        <p:nvSpPr>
          <p:cNvPr id="3" name="Text 3"/>
          <p:cNvSpPr/>
          <p:nvPr>
            <p:ph idx="106" type="title" hasCustomPrompt="1"/>
          </p:nvPr>
        </p:nvSpPr>
        <p:spPr>
          <a:xfrm>
            <a:off x="457200" y="548640"/>
            <a:ext cx="8229600" cy="566928"/>
          </a:xfrm>
          <a:prstGeom prst="rect">
            <a:avLst/>
          </a:prstGeom>
          <a:noFill/>
          <a:ln/>
        </p:spPr>
        <p:txBody>
          <a:bodyPr wrap="square" lIns="0" tIns="0" rIns="0" bIns="0" rtlCol="0" anchor="ctr"/>
          <a:lstStyle/>
          <a:p>
            <a:pPr algn="l" indent="0" marL="0">
              <a:buNone/>
            </a:pPr>
            <a:r>
              <a:rPr lang="en-US" sz="2800" b="1" dirty="0">
                <a:solidFill>
                  <a:srgbClr val="231F20"/>
                </a:solidFill>
                <a:latin typeface="Calibri" pitchFamily="34" charset="0"/>
                <a:ea typeface="Calibri" pitchFamily="34" charset="-122"/>
                <a:cs typeface="Calibri" pitchFamily="34" charset="-120"/>
              </a:rPr>
              <a:t>Sources and references</a:t>
            </a:r>
            <a:endParaRPr lang="en-US" sz="2800" dirty="0"/>
          </a:p>
        </p:txBody>
      </p:sp>
      <p:sp>
        <p:nvSpPr>
          <p:cNvPr id="4" name="dot0"/>
          <p:cNvSpPr/>
          <p:nvPr/>
        </p:nvSpPr>
        <p:spPr>
          <a:xfrm>
            <a:off x="7644384" y="338328"/>
            <a:ext cx="100584" cy="100584"/>
          </a:xfrm>
          <a:prstGeom prst="ellipse">
            <a:avLst/>
          </a:prstGeom>
          <a:solidFill>
            <a:srgbClr val="D5DED9"/>
          </a:solidFill>
          <a:ln w="12700">
            <a:solidFill>
              <a:srgbClr val="D5DED9"/>
            </a:solidFill>
            <a:prstDash val="solid"/>
          </a:ln>
        </p:spPr>
      </p:sp>
      <p:sp>
        <p:nvSpPr>
          <p:cNvPr id="5" name="dot1"/>
          <p:cNvSpPr/>
          <p:nvPr/>
        </p:nvSpPr>
        <p:spPr>
          <a:xfrm>
            <a:off x="7818120" y="338328"/>
            <a:ext cx="100584" cy="100584"/>
          </a:xfrm>
          <a:prstGeom prst="ellipse">
            <a:avLst/>
          </a:prstGeom>
          <a:solidFill>
            <a:srgbClr val="D5DED9"/>
          </a:solidFill>
          <a:ln w="12700">
            <a:solidFill>
              <a:srgbClr val="D5DED9"/>
            </a:solidFill>
            <a:prstDash val="solid"/>
          </a:ln>
        </p:spPr>
      </p:sp>
      <p:sp>
        <p:nvSpPr>
          <p:cNvPr id="6" name="dot2"/>
          <p:cNvSpPr/>
          <p:nvPr/>
        </p:nvSpPr>
        <p:spPr>
          <a:xfrm>
            <a:off x="7991856" y="338328"/>
            <a:ext cx="100584" cy="100584"/>
          </a:xfrm>
          <a:prstGeom prst="ellipse">
            <a:avLst/>
          </a:prstGeom>
          <a:solidFill>
            <a:srgbClr val="D5DED9"/>
          </a:solidFill>
          <a:ln w="12700">
            <a:solidFill>
              <a:srgbClr val="D5DED9"/>
            </a:solidFill>
            <a:prstDash val="solid"/>
          </a:ln>
        </p:spPr>
      </p:sp>
      <p:sp>
        <p:nvSpPr>
          <p:cNvPr id="7" name="dot3"/>
          <p:cNvSpPr/>
          <p:nvPr/>
        </p:nvSpPr>
        <p:spPr>
          <a:xfrm>
            <a:off x="8165592" y="338328"/>
            <a:ext cx="100584" cy="100584"/>
          </a:xfrm>
          <a:prstGeom prst="ellipse">
            <a:avLst/>
          </a:prstGeom>
          <a:solidFill>
            <a:srgbClr val="D5DED9"/>
          </a:solidFill>
          <a:ln w="12700">
            <a:solidFill>
              <a:srgbClr val="D5DED9"/>
            </a:solidFill>
            <a:prstDash val="solid"/>
          </a:ln>
        </p:spPr>
      </p:sp>
      <p:sp>
        <p:nvSpPr>
          <p:cNvPr id="8" name="dot4"/>
          <p:cNvSpPr/>
          <p:nvPr/>
        </p:nvSpPr>
        <p:spPr>
          <a:xfrm>
            <a:off x="8339328" y="338328"/>
            <a:ext cx="100584" cy="100584"/>
          </a:xfrm>
          <a:prstGeom prst="ellipse">
            <a:avLst/>
          </a:prstGeom>
          <a:solidFill>
            <a:srgbClr val="D5DED9"/>
          </a:solidFill>
          <a:ln w="12700">
            <a:solidFill>
              <a:srgbClr val="D5DED9"/>
            </a:solidFill>
            <a:prstDash val="solid"/>
          </a:ln>
        </p:spPr>
      </p:sp>
      <p:sp>
        <p:nvSpPr>
          <p:cNvPr id="9" name="dot5"/>
          <p:cNvSpPr/>
          <p:nvPr/>
        </p:nvSpPr>
        <p:spPr>
          <a:xfrm>
            <a:off x="8513064" y="338328"/>
            <a:ext cx="100584" cy="100584"/>
          </a:xfrm>
          <a:prstGeom prst="ellipse">
            <a:avLst/>
          </a:prstGeom>
          <a:solidFill>
            <a:srgbClr val="B83B2E"/>
          </a:solidFill>
          <a:ln w="12700">
            <a:solidFill>
              <a:srgbClr val="B83B2E"/>
            </a:solidFill>
            <a:prstDash val="solid"/>
          </a:ln>
        </p:spPr>
      </p:sp>
      <p:sp>
        <p:nvSpPr>
          <p:cNvPr id="11" name="Shape 8"/>
          <p:cNvSpPr/>
          <p:nvPr/>
        </p:nvSpPr>
        <p:spPr>
          <a:xfrm>
            <a:off x="457200" y="1371600"/>
            <a:ext cx="4023360" cy="3108960"/>
          </a:xfrm>
          <a:prstGeom prst="roundRect">
            <a:avLst>
              <a:gd name="adj" fmla="val 2353"/>
            </a:avLst>
          </a:prstGeom>
          <a:solidFill>
            <a:srgbClr val="F4F7F5"/>
          </a:solidFill>
          <a:ln w="9525">
            <a:solidFill>
              <a:srgbClr val="D5DED9"/>
            </a:solidFill>
            <a:prstDash val="solid"/>
          </a:ln>
        </p:spPr>
      </p:sp>
      <p:sp>
        <p:nvSpPr>
          <p:cNvPr id="12" name="Text 9"/>
          <p:cNvSpPr txBox="1"/>
          <p:nvPr/>
        </p:nvSpPr>
        <p:spPr>
          <a:xfrm>
            <a:off x="621792" y="1481328"/>
            <a:ext cx="3703320" cy="29260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Román, M. O. et al. (2018). NASA's Black Marble nighttime lights product suite. Remote Sensing of Environment 210, 113–143.</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NASA (2025). Black Marble User Guide, Collection 2.0. LAADS DAAC / Earthdata.</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(2017). VIIRS night-time lights. Int. J. Remote Sensing 38(21).</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Elvidge, C. D. et al. (2021). Annual time series of global VIIRS nighttime lights. Remote Sensing 13(5).</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Li, X. et al. (2020). A harmonized global nighttime light dataset 1992–2018. Scientific Data 7.</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Henderson, J. V., Storeygard, A., Weil, D. N. (2012). Measuring economic growth from outer space. AER 102(2).</a:t>
            </a:r>
            <a:endParaRPr lang="en-US" sz="950" dirty="0"/>
          </a:p>
        </p:txBody>
      </p:sp>
      <p:sp>
        <p:nvSpPr>
          <p:cNvPr id="13" name="Shape 10"/>
          <p:cNvSpPr/>
          <p:nvPr/>
        </p:nvSpPr>
        <p:spPr>
          <a:xfrm>
            <a:off x="4663440" y="1371600"/>
            <a:ext cx="4023360" cy="3108960"/>
          </a:xfrm>
          <a:prstGeom prst="roundRect">
            <a:avLst>
              <a:gd name="adj" fmla="val 2353"/>
            </a:avLst>
          </a:prstGeom>
          <a:solidFill>
            <a:srgbClr val="F4F7F5"/>
          </a:solidFill>
          <a:ln w="9525">
            <a:solidFill>
              <a:srgbClr val="D5DED9"/>
            </a:solidFill>
            <a:prstDash val="solid"/>
          </a:ln>
        </p:spPr>
      </p:sp>
      <p:sp>
        <p:nvSpPr>
          <p:cNvPr id="14" name="Text 11"/>
          <p:cNvSpPr txBox="1"/>
          <p:nvPr/>
        </p:nvSpPr>
        <p:spPr>
          <a:xfrm>
            <a:off x="4828032" y="1481328"/>
            <a:ext cx="3703320" cy="2926080"/>
          </a:xfrm>
          <a:prstGeom prst="rect">
            <a:avLst/>
          </a:prstGeom>
          <a:noFill/>
          <a:ln/>
        </p:spPr>
        <p:txBody>
          <a:bodyPr wrap="square" lIns="0" tIns="0" rIns="0" bIns="0" rtlCol="0" anchor="t"/>
          <a:lstStyle/>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Chen, X., Nordhaus, W. D. (2011). Using luminosity data as a proxy for economic statistics. PNAS 108(21).</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Gibson, J. et al. (2021). Which night lights data should we use in economics, and where? JDE 149.</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Cleveland, R. B. et al. (1990). STL: a seasonal-trend decomposition procedure based on Loess. JOS 6(1).</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Schiavina, M. et al. (2023). GHS-POP R2023A; Pesaresi, M. et al. (2023). GHS-BUILT-S R2023A. JRC.</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Runfola, D. et al. (2020). geoBoundaries. PLoS ONE 15(4) · Natural Earth (public domain).</a:t>
            </a:r>
            <a:endParaRPr lang="en-US" sz="950" dirty="0"/>
          </a:p>
          <a:p>
            <a:pPr marL="342900" indent="-342900">
              <a:spcAft>
                <a:spcPts val="500"/>
              </a:spcAft>
              <a:buSzPct val="100000"/>
              <a:buChar char="•"/>
            </a:pPr>
            <a:r>
              <a:rPr lang="en-US" sz="950" dirty="0">
                <a:solidFill>
                  <a:srgbClr val="231F20"/>
                </a:solidFill>
                <a:latin typeface="Calibri" pitchFamily="34" charset="0"/>
                <a:ea typeface="Calibri" pitchFamily="34" charset="-122"/>
                <a:cs typeface="Calibri" pitchFamily="34" charset="-120"/>
              </a:rPr>
              <a:t>World Bank, World Development Indicators · ESA WorldCover 2021 · Copernicus Sentinel-5P · OpenStreetMap contributors.</a:t>
            </a:r>
            <a:endParaRPr lang="en-US" sz="950" dirty="0"/>
          </a:p>
        </p:txBody>
      </p:sp>
      <p:sp>
        <p:nvSpPr>
          <p:cNvPr id="15" name="Text 12"/>
          <p:cNvSpPr txBox="1"/>
          <p:nvPr/>
        </p:nvSpPr>
        <p:spPr>
          <a:xfrm>
            <a:off x="457200" y="4553712"/>
            <a:ext cx="7223760" cy="219456"/>
          </a:xfrm>
          <a:prstGeom prst="rect">
            <a:avLst/>
          </a:prstGeom>
          <a:noFill/>
          <a:ln/>
        </p:spPr>
        <p:txBody>
          <a:bodyPr wrap="square" lIns="0" tIns="0" rIns="0" bIns="0" rtlCol="0" anchor="ctr"/>
          <a:lstStyle/>
          <a:p>
            <a:pPr indent="0" marL="0">
              <a:buNone/>
            </a:pPr>
            <a:r>
              <a:rPr lang="en-US" sz="900" i="1" dirty="0">
                <a:solidFill>
                  <a:srgbClr val="5E6964"/>
                </a:solidFill>
                <a:latin typeface="Calibri" pitchFamily="34" charset="0"/>
                <a:ea typeface="Calibri" pitchFamily="34" charset="-122"/>
                <a:cs typeface="Calibri" pitchFamily="34" charset="-120"/>
              </a:rPr>
              <a:t>Content: CC BY 4.0 · Code: MIT · Any reuse must cite “Source: AfDB-DI4A”</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ma14="http://schemas.microsoft.com/office/mac/drawingml/2011/main" val="0"/>
            </a:ext>
          </a:extLst>
        </p:spPr>
        <p:txBody>
          <a:bodyPr/>
          <a:lstStyle>
            <a:lvl1pPr>
              <a:defRPr sz="850">
                <a:solidFill>
                  <a:srgbClr val="8A9590"/>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1005840"/>
            <a:ext cx="8046720" cy="274320"/>
          </a:xfrm>
          <a:prstGeom prst="rect">
            <a:avLst/>
          </a:prstGeom>
          <a:noFill/>
          <a:ln/>
        </p:spPr>
        <p:txBody>
          <a:bodyPr wrap="square" lIns="0" tIns="0" rIns="0" bIns="0" rtlCol="0" anchor="t"/>
          <a:lstStyle/>
          <a:p>
            <a:pPr indent="0" marL="0">
              <a:buNone/>
            </a:pPr>
            <a:r>
              <a:rPr lang="en-US" sz="1100" b="1" spc="300" kern="0" dirty="0">
                <a:solidFill>
                  <a:srgbClr val="F5C242"/>
                </a:solidFill>
                <a:latin typeface="Calibri" pitchFamily="34" charset="0"/>
                <a:ea typeface="Calibri" pitchFamily="34" charset="-122"/>
                <a:cs typeface="Calibri" pitchFamily="34" charset="-120"/>
              </a:rPr>
              <a:t>AFRICAN DEVELOPMENT BANK × DATA INNOVATION FOR AFRICA (DI4A)</a:t>
            </a:r>
            <a:endParaRPr lang="en-US" sz="1100" dirty="0"/>
          </a:p>
        </p:txBody>
      </p:sp>
      <p:sp>
        <p:nvSpPr>
          <p:cNvPr id="3" name="Text 1"/>
          <p:cNvSpPr txBox="1"/>
          <p:nvPr/>
        </p:nvSpPr>
        <p:spPr>
          <a:xfrm>
            <a:off x="548640" y="1417320"/>
            <a:ext cx="8046720" cy="137160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One ISO3 code in,</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a public dashboard out</a:t>
            </a:r>
            <a:endParaRPr lang="en-US" sz="4000" dirty="0"/>
          </a:p>
        </p:txBody>
      </p:sp>
      <p:sp>
        <p:nvSpPr>
          <p:cNvPr id="4" name="Text 2"/>
          <p:cNvSpPr txBox="1"/>
          <p:nvPr/>
        </p:nvSpPr>
        <p:spPr>
          <a:xfrm>
            <a:off x="548640" y="2880360"/>
            <a:ext cx="6400800" cy="411480"/>
          </a:xfrm>
          <a:prstGeom prst="rect">
            <a:avLst/>
          </a:prstGeom>
          <a:noFill/>
          <a:ln/>
        </p:spPr>
        <p:txBody>
          <a:bodyPr wrap="square" lIns="0" tIns="0" rIns="0" bIns="0" rtlCol="0" anchor="t"/>
          <a:lstStyle/>
          <a:p>
            <a:pPr indent="0" marL="0">
              <a:buNone/>
            </a:pPr>
            <a:r>
              <a:rPr lang="en-US" sz="1800" i="1" dirty="0">
                <a:solidFill>
                  <a:srgbClr val="E6F6EE"/>
                </a:solidFill>
                <a:latin typeface="Calibri" pitchFamily="34" charset="0"/>
                <a:ea typeface="Calibri" pitchFamily="34" charset="-122"/>
                <a:cs typeface="Calibri" pitchFamily="34" charset="-120"/>
              </a:rPr>
              <a:t>Collect · Explore and understand · Analyse and publish</a:t>
            </a:r>
            <a:endParaRPr lang="en-US" sz="1800" dirty="0"/>
          </a:p>
        </p:txBody>
      </p:sp>
      <p:sp>
        <p:nvSpPr>
          <p:cNvPr id="5" name="Text 3"/>
          <p:cNvSpPr txBox="1"/>
          <p:nvPr/>
        </p:nvSpPr>
        <p:spPr>
          <a:xfrm>
            <a:off x="548640" y="4206240"/>
            <a:ext cx="8046720" cy="274320"/>
          </a:xfrm>
          <a:prstGeom prst="rect">
            <a:avLst/>
          </a:prstGeom>
          <a:noFill/>
          <a:ln/>
        </p:spPr>
        <p:txBody>
          <a:bodyPr wrap="square" lIns="0" tIns="0" rIns="0" bIns="0" rtlCol="0" anchor="t"/>
          <a:lstStyle/>
          <a:p>
            <a:pPr indent="0" marL="0">
              <a:buNone/>
            </a:pPr>
            <a:r>
              <a:rPr lang="en-US" sz="1000" dirty="0">
                <a:solidFill>
                  <a:srgbClr val="F5C242"/>
                </a:solidFill>
                <a:latin typeface="Calibri" pitchFamily="34" charset="0"/>
                <a:ea typeface="Calibri" pitchFamily="34" charset="-122"/>
                <a:cs typeface="Calibri" pitchFamily="34" charset="-120"/>
              </a:rPr>
              <a:t>© 2026 AfDB-DI4A · CC BY 4.0 (content) · MIT (code) · Any reuse must cite “Source: AfDB-DI4A”</a:t>
            </a:r>
            <a:endParaRPr lang="en-US" sz="1000" dirty="0"/>
          </a:p>
        </p:txBody>
      </p:sp>
    </p:spTree>
  </p:cSld>
  <p:clrMapOvr>
    <a:masterClrMapping/>
  </p:clrMapOvr>
</p:sld>
</file>

<file path=ppt/theme/theme1.xml><?xml version="1.0" encoding="utf-8"?>
<a:theme xmlns:a="http://schemas.openxmlformats.org/drawingml/2006/main" name="AfDB DI4A Night-time lights">
  <a:themeElements>
    <a:clrScheme name="AfDB DI4A Night-time lights">
      <a:dk1>
        <a:srgbClr val="231F20"/>
      </a:dk1>
      <a:lt1>
        <a:srgbClr val="FFFFFF"/>
      </a:lt1>
      <a:dk2>
        <a:srgbClr val="00553A"/>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0E7C86"/>
      </a:folHlink>
    </a:clrScheme>
    <a:fontScheme name="AfDB DI4A Night-time light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AfDB-DI4A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Night-time lights: from satellite to statistics</dc:title>
  <dc:subject>PptxGenJS Presentation</dc:subject>
  <dc:creator>AfDB-DI4A</dc:creator>
  <cp:lastModifiedBy>AfDB-DI4A</cp:lastModifiedBy>
  <cp:revision>1</cp:revision>
  <dcterms:created xsi:type="dcterms:W3CDTF">2026-10-26T03:13:02Z</dcterms:created>
  <dcterms:modified xsi:type="dcterms:W3CDTF">2026-10-26T03:13:02Z</dcterms:modified>
</cp:coreProperties>
</file>