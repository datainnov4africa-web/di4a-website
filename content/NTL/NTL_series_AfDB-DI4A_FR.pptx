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e2088b43-aaff-1200-bf3c-ae443b271b83}">
          <p14:sldIdLst>
            <p14:sldId id="256"/>
            <p14:sldId id="257"/>
          </p14:sldIdLst>
        </p14:section>
        <p14:section name="La série" id="{66c97d9a-50c6-f94e-6836-e1629bcf7e40}">
          <p14:sldIdLst>
            <p14:sldId id="258"/>
            <p14:sldId id="259"/>
            <p14:sldId id="260"/>
          </p14:sldIdLst>
        </p14:section>
        <p14:section name="Collecter" id="{145acde6-89b8-d5bd-170e-74508466f76a}">
          <p14:sldIdLst>
            <p14:sldId id="261"/>
            <p14:sldId id="262"/>
            <p14:sldId id="263"/>
            <p14:sldId id="264"/>
            <p14:sldId id="265"/>
            <p14:sldId id="266"/>
          </p14:sldIdLst>
        </p14:section>
        <p14:section name="Explorer et comprendre" id="{636577e1-fa39-b86d-4325-c2c64cf58a31}">
          <p14:sldIdLst>
            <p14:sldId id="267"/>
            <p14:sldId id="268"/>
            <p14:sldId id="269"/>
            <p14:sldId id="270"/>
            <p14:sldId id="271"/>
            <p14:sldId id="272"/>
          </p14:sldIdLst>
        </p14:section>
        <p14:section name="Analyser" id="{2c95b8ec-0a9d-7c00-c86d-bdc19bb1c8ec}">
          <p14:sldIdLst>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 name="Publier et contrôler" id="{2c6b212c-0465-a87b-7bf1-3593977f6e50}">
          <p14:sldIdLst>
            <p14:sldId id="295"/>
            <p14:sldId id="296"/>
            <p14:sldId id="297"/>
            <p14:sldId id="298"/>
          </p14:sldIdLst>
        </p14:section>
        <p14:section name="À retenir" id="{569d705b-bca7-74a0-8a55-07f8b37d21d2}">
          <p14:sldIdLst>
            <p14:sldId id="299"/>
            <p14:sldId id="300"/>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E6964"/>
                </a:solidFill>
                <a:latin typeface="+mn-lt"/>
              </a:defRPr>
            </a:pPr>
            <a:r>
              <a:rPr sz="1100" b="0" i="0" u="none" strike="noStrike">
                <a:solidFill>
                  <a:srgbClr val="5E6964"/>
                </a:solidFill>
                <a:latin typeface="+mn-lt"/>
              </a:rPr>
              <a:t>Somme des lumières (indice), données de démonstration</a:t>
            </a:r>
          </a:p>
        </c:rich>
      </c:tx>
      <c:layout/>
      <c:overlay val="0"/>
    </c:title>
    <c:autoTitleDeleted val="0"/>
    <c:plotArea>
      <c:layout/>
      <c:barChart>
        <c:barDir val="bar"/>
        <c:grouping val="clustered"/>
        <c:varyColors val="0"/>
        <c:ser>
          <c:idx val="0"/>
          <c:order val="0"/>
          <c:tx>
            <c:strRef>
              <c:f>Sheet1!$B$1</c:f>
              <c:strCache>
                <c:ptCount val="1"/>
                <c:pt idx="0">
                  <c:v>Somme des lumières</c:v>
                </c:pt>
              </c:strCache>
            </c:strRef>
          </c:tx>
          <c:spPr>
            <a:solidFill>
              <a:srgbClr val="10A06A"/>
            </a:solidFill>
            <a:effectLst/>
          </c:spPr>
          <c:invertIfNegative val="0"/>
          <c:dLbls>
            <c:numFmt formatCode="#,##0" sourceLinked="0"/>
            <c:txPr>
              <a:bodyPr/>
              <a:lstStyle/>
              <a:p>
                <a:pPr>
                  <a:defRPr b="0" i="0" strike="noStrike" sz="1000" u="none">
                    <a:solidFill>
                      <a:srgbClr val="231F20"/>
                    </a:solidFill>
                    <a:latin typeface="+mn-lt"/>
                  </a:defRPr>
                </a:pPr>
              </a:p>
            </c:txPr>
            <c:showLegendKey val="0"/>
            <c:showVal val="1"/>
            <c:showCatName val="0"/>
            <c:showSerName val="0"/>
            <c:showPercent val="0"/>
            <c:showBubbleSize val="0"/>
            <c:showLeaderLines val="0"/>
          </c:dLbls>
          <c:dPt>
            <c:idx val="0"/>
            <c:invertIfNegative val="0"/>
            <c:bubble3D val="0"/>
            <c:spPr>
              <a:solidFill>
                <a:srgbClr val="10A06A"/>
              </a:solidFill>
              <a:effectLst/>
            </c:spPr>
          </c:dPt>
          <c:dPt>
            <c:idx val="1"/>
            <c:invertIfNegative val="0"/>
            <c:bubble3D val="0"/>
            <c:spPr>
              <a:solidFill>
                <a:srgbClr val="33AF7C"/>
              </a:solidFill>
              <a:effectLst/>
            </c:spPr>
          </c:dPt>
          <c:dPt>
            <c:idx val="2"/>
            <c:invertIfNegative val="0"/>
            <c:bubble3D val="0"/>
            <c:spPr>
              <a:solidFill>
                <a:srgbClr val="57BD92"/>
              </a:solidFill>
              <a:effectLst/>
            </c:spPr>
          </c:dPt>
          <c:dPt>
            <c:idx val="3"/>
            <c:invertIfNegative val="0"/>
            <c:bubble3D val="0"/>
            <c:spPr>
              <a:solidFill>
                <a:srgbClr val="A9B5B0"/>
              </a:solidFill>
              <a:effectLst/>
            </c:spPr>
          </c:dPt>
          <c:dPt>
            <c:idx val="4"/>
            <c:invertIfNegative val="0"/>
            <c:bubble3D val="0"/>
            <c:spPr>
              <a:solidFill>
                <a:srgbClr val="00553A"/>
              </a:solidFill>
              <a:effectLst/>
            </c:spPr>
          </c:dPt>
          <c:cat>
            <c:multiLvlStrRef>
              <c:f>Sheet1!$A$2:$A$6</c:f>
              <c:multiLvlStrCache>
                <c:ptCount val="5"/>
                <c:lvl>
                  <c:pt idx="0">
                    <c:v>Remplissage → NaN</c:v>
                  </c:pt>
                  <c:pt idx="1">
                    <c:v>+ filtre qualité</c:v>
                  </c:pt>
                  <c:pt idx="2">
                    <c:v>+ masque eau</c:v>
                  </c:pt>
                  <c:pt idx="3">
                    <c:v>Mosaïque (2 tuiles)</c:v>
                  </c:pt>
                  <c:pt idx="4">
                    <c:v>Découpé sur frontière</c:v>
                  </c:pt>
                </c:lvl>
              </c:multiLvlStrCache>
            </c:multiLvlStrRef>
          </c:cat>
          <c:val>
            <c:numRef>
              <c:f>Sheet1!$B$2:$B$6</c:f>
              <c:numCache>
                <c:formatCode>General</c:formatCode>
                <c:ptCount val="5"/>
                <c:pt idx="0">
                  <c:v>49130</c:v>
                </c:pt>
                <c:pt idx="1">
                  <c:v>46510</c:v>
                </c:pt>
                <c:pt idx="2">
                  <c:v>40369</c:v>
                </c:pt>
                <c:pt idx="3">
                  <c:v>76873</c:v>
                </c:pt>
                <c:pt idx="4">
                  <c:v>22737</c:v>
                </c:pt>
              </c:numCache>
            </c:numRef>
          </c:val>
        </c:ser>
        <c:dLbls>
          <c:numFmt formatCode="#,##0" sourceLinked="0"/>
          <c:txPr>
            <a:bodyPr/>
            <a:lstStyle/>
            <a:p>
              <a:pPr>
                <a:defRPr b="0" i="0" strike="noStrike" sz="1000" u="none">
                  <a:solidFill>
                    <a:srgbClr val="231F2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E6964"/>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7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E696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E6964"/>
                </a:solidFill>
                <a:latin typeface="+mn-lt"/>
              </a:defRPr>
            </a:pPr>
            <a:r>
              <a:rPr sz="1100" b="0" i="0" u="none" strike="noStrike">
                <a:solidFill>
                  <a:srgbClr val="5E6964"/>
                </a:solidFill>
                <a:latin typeface="+mn-lt"/>
              </a:rPr>
              <a:t>« Convergence » fictive sous bruit pur</a:t>
            </a:r>
          </a:p>
        </c:rich>
      </c:tx>
      <c:layout/>
      <c:overlay val="0"/>
    </c:title>
    <c:autoTitleDeleted val="0"/>
    <c:plotArea>
      <c:layout/>
      <c:barChart>
        <c:barDir val="col"/>
        <c:grouping val="clustered"/>
        <c:varyColors val="0"/>
        <c:ser>
          <c:idx val="0"/>
          <c:order val="0"/>
          <c:tx>
            <c:strRef>
              <c:f>Sheet1!$B$1</c:f>
              <c:strCache>
                <c:ptCount val="1"/>
                <c:pt idx="0">
                  <c:v>Faux positifs</c:v>
                </c:pt>
              </c:strCache>
            </c:strRef>
          </c:tx>
          <c:spPr>
            <a:solidFill>
              <a:srgbClr val="A9B5B0"/>
            </a:solidFill>
            <a:effectLst/>
          </c:spPr>
          <c:invertIfNegative val="0"/>
          <c:dLbls>
            <c:numFmt formatCode="0.0&quot;%&quot;" sourceLinked="0"/>
            <c:txPr>
              <a:bodyPr/>
              <a:lstStyle/>
              <a:p>
                <a:pPr>
                  <a:defRPr b="0" i="0" strike="noStrike" sz="1100" u="none">
                    <a:solidFill>
                      <a:srgbClr val="231F20"/>
                    </a:solidFill>
                    <a:latin typeface="+mn-lt"/>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00A86A"/>
              </a:solidFill>
              <a:effectLst/>
            </c:spPr>
          </c:dPt>
          <c:cat>
            <c:multiLvlStrRef>
              <c:f>Sheet1!$A$2:$A$3</c:f>
              <c:multiLvlStrCache>
                <c:ptCount val="2"/>
                <c:lvl>
                  <c:pt idx="0">
                    <c:v>Avant</c:v>
                  </c:pt>
                  <c:pt idx="1">
                    <c:v>Après</c:v>
                  </c:pt>
                </c:lvl>
              </c:multiLvlStrCache>
            </c:multiLvlStrRef>
          </c:cat>
          <c:val>
            <c:numRef>
              <c:f>Sheet1!$B$2:$B$3</c:f>
              <c:numCache>
                <c:formatCode>General</c:formatCode>
                <c:ptCount val="2"/>
                <c:pt idx="0">
                  <c:v>13.7</c:v>
                </c:pt>
                <c:pt idx="1">
                  <c:v>0.7</c:v>
                </c:pt>
              </c:numCache>
            </c:numRef>
          </c:val>
        </c:ser>
        <c:dLbls>
          <c:numFmt formatCode="0.0&quot;%&quot;" sourceLinked="0"/>
          <c:txPr>
            <a:bodyPr/>
            <a:lstStyle/>
            <a:p>
              <a:pPr>
                <a:defRPr b="0" i="0" strike="noStrike" sz="1100" u="none">
                  <a:solidFill>
                    <a:srgbClr val="231F2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E6964"/>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Cette présentation parcourt les trois notebooks de la série Lumières nocturnes de la AfDB-DI4A : collecter les données NASA Black Marble, comprendre ce que contiennent les fichiers, puis transformer la radiance nocturne en indicateurs économiques publiés sur un tableau de bord. Tout est piloté par un seul paramètre, le code ISO3 du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présentation suit six sections, chacune avec sa couleur, reprise dans les points de progression en haut à droite de chaque diapositive. Les sections 2 à 4 correspondent chacune à un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D'abord l'intuition et l'architecture de la série.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Produire, transporter et consommer exige de l'énergie, dont une partie s'échappe la nuit sous forme de lumière. Les satellites la mesurent partout, chaque nuit, avec le même instrument. Les lumières sont donc homogènes entre pays, fines dans l'espace et rapides, là où les comptes nationaux sont annuels, tardifs et rarement régionaux. La littérature (Henderson, Storeygard et Weil 2012 ; Chen et Nordhaus 2011) montre qu'elles apportent le plus là où la statistique est la plus faible.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série est une chaîne. Le notebook 1 collecte les fichiers NASA d'un pays. Le notebook 2 explique, couche par couche, comment les lire correctement. Le notebook 3 passe à l'échelle avec Google Earth Engine pour produire des indicateurs nationaux et régionaux et un tableau de bord public. Dans chaque notebook, on ne modifie qu'une cellule de paramètres, à commencer par le code ISO3 du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1 : la collecte. L'objectif est une chaîne d'acquisition reproductible pilotée par un seul code ISO3.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notebook 1 compte neuf étapes. Les étapes 1 à 7 ne demandent aucun compte NASA : la recherche dans le catalogue est publique. Seule l'étape 8, le téléchargement, exige un jeton Earthdata, jamais écrit dans le notebook. Il tourne sur Colab, Kaggle et Jupyter local, et il est idempotent : relancer ignore les fichiers valides et reprend les téléchargements interrompus.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Marble est la suite NASA de lumières nocturnes corrigées issues de la bande Jour/Nuit de VIIRS sur Suomi-NPP : les effets de la Lune, de l'atmosphère, des nuages et de la neige sont retirés. Les quatre produits partagent la même grille et la même structure de fichier et ne diffèrent que par l'agrégation temporelle. Nous utilisons la Collection 2 : la NASA a cessé de produire la Collection 1 après janvier 2025, et les deux ne doivent jamais être mélangées dans une série.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globe est découpé en 36 × 18 tuiles fixes de 10 degrés. Les indices de tuile viennent d'une division entière de la longitude et de la latitude, appliquée aux quatre coins de l'emprise du pays. La Côte d'Ivoire demande deux tuiles, le Soudan six. Le notebook vérifie la formule sur des cas connus avant de l'utiliser. Les noms de fichiers ne sont jamais construits à la main car l'horodatage de production est imprévisible : le catalogue renvoie les vrais noms.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Comparer le 15 janvier au 3 août mélange saisonnalité et développement. Le notebook fixe donc la date et ne fait varier que l'année : une fenêtre de nuits autour d'un jour fixé pour les quotidiens, un mois fixé pour le mensuel, l'année entière pour l'annuel. Une nuit ne suffit jamais : le cycle lunaire dure 29,5 jours, si bien qu'une date fixe tombe une année sur une pleine Lune et une autre sur une nouvelle Lune. En Afrique de l'Ouest, janvier apporte aussi l'harmattan et les feux de brousse.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catalogue NASA CMR renvoie chaque granule qui recoupe l'emprise et la fenêtre de temps, avec sa taille. Le notebook envoie une requête étroite par année, pagine, garde une entrée par tuile et par date avec la version la plus haute, et filtre sur la date du nom de fichier. Il compare ensuite granules attendus et trouvés et trace une matrice produit × année. Le téléchargement reprend les fichiers partiels, suit les redirections en n'envoyant le jeton qu'aux serveurs NASA, vérifie la taille et ouvre chaque fichier en HDF5.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2 : comprendre le fichier. Aucune des erreurs montrées ici ne produit de message d'erreur.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fichier HDF5 contient des groupes (des intercalaires), des jeux de données (des tableaux de nombres) et des attributs (des notes qui y sont attachées). Le groupe utile est toujours sous HDFEOS/GRIDS/&lt;grille&gt;/Data Fields, mais le nom de la grille change entre le quotidien et les composites. Le notebook le cherche au lieu de le supposer. Cinq familles de couches coexistent : radiance, incertitude, qualité, contexte et coordonnées.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nombre stocké n'est pas toujours la radiance. Les produits quotidiens stockent des entiers pour gagner de la place : radiance = valeur stockée × facteur d'échelle + décalage. La valeur de remplissage signifie « aucune donnée ici » et doit devenir NaN avant tout calcul. Dans les fichiers quotidiens, elle vaut 65535 avec un facteur 0,1 : l'oublier ajoute 6 553,5 par pixel vide, plus que le centre de Lagos. Dans les composites Collection 2, elle vaut −999,9 : l'oublier retranche 999,9 par pixel vide. Dans les deux cas, le chiffre est faux de plusieurs ordres de grandeur sans message d'erreur.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pixel porte un code qualité dont le sens dépend du produit. Dans les composites mensuels et annuels, 0 = bonne qualité (plus de trois nuits), 1 = qualité médiocre (trois nuits ou moins), 2 = comblé à partir de l'historique. Le notebook lit la légende du fichier et ne garde par défaut que les codes qualifiés de bonne qualité. Les pixels d'océan et de mer sont retirés avec des codes eux aussi lus dans la légende, car le codage change d'une collection à l'autre. Le masque nuage quotidien est un champ de 16 bits lu bit à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fil rouge du notebook 2, ici sur ses données de démonstration pour la Côte d'Ivoire, qui reproduisent la structure des vrais fichiers Collection 2 avec des valeurs simulées. La somme naïve, où la valeur de remplissage est comptée comme une mesure, vaut environ moins 70,7 millions : impossible pour de la lumière, et pourtant aucune erreur n'apparaît. Mettre le remplissage à NaN donne 49 130. Le filtre qualité, le masque eau, la mosaïque de deux tuiles et le découpage sur la frontière nationale amènent ensuite le chiffre à 22 737. Les valeurs sont simulées : la leçon porte sur l'ordre des opérations, pas sur les chiffres.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tuile est un carré arbitraire de 10 degrés ; un pays ne l'est pas. Le notebook colle les tuiles dans une grille commune sans rééchantillonnage, puis ne garde que les pixels à l'intérieur de la frontière par un test point-dans-polygone. La radiance nocturne est extrêmement asymétrique : une poignée de pixels urbains porte l'essentiel de la lumière, d'où l'échelle logarithmique des cartes et la vérification systématique du pixel le plus brillant. Les pixels rétrécissent avec la latitude : une somme pondérée par la surface est proposée pour comparer des pays éloignés. Chaque export s'accompagne d'un fichier de métadonnées avec le journal de traitement.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3 : l'analyse. Six scénarios, chacun avec sa question, ses données, sa méthode et ses métriques.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notebook 3 compte quatorze sections. Les sections 02 à 04 préparent les données : paramètres, acquisition et nettoyage sur Earth Engine, puis exploration visuelle. Les sections 05 à 10 sont six scénarios indépendants, chacun répondant à une question de politique publique avec ses propres métriques. La section 11 transforme les résultats en messages clés dotés d'un niveau de confiance, et les sections 12 et 13 exportent et publient le tableau de bord. Tous les scénarios lisent les deux mêmes tables de base : les résultats sont donc cohérents entre 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produits de lumière sont lus dans Earth Engine. Le composite mensuel VIIRS VNL V2, corrigé de la lumière parasite, est la colonne vertébrale des séries : sa bande cf_cvg compte les observations sans nuage de chaque pixel. Les composites annuels VNL, V2.1 jusqu'en 2021 et V2.2 depuis 2022, masquent déjà le bruit de fond et les lumières éphémères : ils donnent les niveaux annuels et servent de masque de fond. Black Marble VNP46A2 est le seul produit quotidien, utilisé pour zoomer sur les chocs. La série harmonisée DMSP–VIIRS de Li et coauteurs prolonge l'analyse jusqu'en 1992, en nombres numériques de type DMSP, à lire seulement comme une 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lumière seule ne distingue pas une ville dense d'une usine. Les couches de population et de bâti du Global Human Settlement Layer du Centre commun de recherche de la Commission européenne y répondent. GHS-POP donne le nombre d'habitants par cellule de 100 m tous les cinq ans ; l'époque la plus proche est utilisée pour chaque année. WorldPop est une source de population alternative pour 2000 à 2020. GHS-SMOD classe chaque kilomètre carré par degré d'urbanisation : les codes 21 et plus sont comptés comme urbains. GHS-BUILT-S donne la surface bâtie et sa part non résidentielle. ESA WorldCover est enregistré et vérifié, et une fonction calcule les parts d'occupation du sol par unité, mais il n'est pas utilisé dans l'exécution par défaut.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autres sources complètent le tableau. Sentinel-5P mesure le dioxyde d'azote troposphérique, traceur de combustion, depuis juillet 2018 : sa moyenne annuelle par unité est comparée à la lumière et entre dans le score industriel. geoBoundaries fournit les limites nationales, régionales et de districts ; FAO GAUL sert de solution de repli. L'API de la Banque mondiale fournit le PIB officiel en dollars constants de 2015, les taux d'accès à l'électricité et la population. Les polygones industriels d'OpenStreetMap, interrogés via l'API Overpass, ne servent qu'à valider les zones industrielles candidates, jamais à les détecter.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matrice résume où chaque jeu de données est utilisé. Un point plein signifie que la donnée entre dans les métriques du scénario ; un point creux qu'elle sert à un contrôle, une variable de contexte ou une validation. Les limites administratives sont utilisées partout, car chaque chiffre est une somme sur une unité administrative.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Earth Engine somme chaque pixel nettoyé à l'intérieur de chaque unité, à la résolution native de 464 m, et ne renvoie que des tables. La table mensuelle a une ligne par unité et par mois ; la table annuelle une ligne par unité et par année, avec les variables de population et d'accès. Chaque étape est mise en cache par pays avec une signature des paramètres : changer la période ou un seuil force un recalcul au lieu de réutiliser en silence des chiffres périmés. La disponibilité des données est vérifiée d'abord, et l'année de fin est la dernière année complète disponible.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règles de nettoyage s'appliquent dans Earth Engine avant toute somme. Un pixel doit avoir au moins deux observations sans nuage dans le mois ; un pixel nuageux prend sa propre radiance annuelle plutôt que la moyenne de la zone ; une unité-mois n'est gardée que si 80 % de ses pixels sont observés. Les négatifs passent à zéro ; les valeurs au-delà de 1000 nW sont plafonnées et les pics au-delà de cinq fois la médiane annuelle du pixel remplacés par cette médiane. Le fond non éclairé du composite annuel est mis à zéro, en gardant les pixels nouvellement allumés quand l'année n'est pas encore publiée. Les torchères sont détectées comme des pixels très brillants, inhabités et non bâtis, et retirées avec un halo de 2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métriques de base reviennent dans tous les scénarios. La somme des lumières est un indice, pas une énergie : c'est la somme des radiances sur une unité. La lumière par habitant distingue une région active d'une région seulement peuplée. La part de surface éclairée mesure l'étendue spatiale de la lumière. La part des torchères et la part imputée sont des indicateurs de qualité : si l'une est élevée, les résultats de l'unité sont moins fiables. La section 3.4 lance aussi trois contrôles de cohérence : la population GHSL face à la Banque mondiale, le saut au passage de VNL V2.1 à V2.2, et la jonction DMSP–VIIRS de la série longue.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scénario 1 décrit la trajectoire nationale et régionale. Les sommes mensuelles sont placées sur un calendrier complet, les trous de trois mois au plus étant comblés par interpolation log-linéaire. STL sépare ensuite le logarithme de la série en tendance, saisonnalité et résidu ; elle est robuste, si bien qu'un mois extrême ne déforme pas la saison. La série désaisonnalisée vaut tendance plus résidu. Le glissement annuel compare chaque mois au même mois de l'année précédente. La tendance annuelle est estimée par Theil–Sen sur les composites annuels et testée par Mann–Kendall. La série longue harmonisée met la dernière décennie en perspective des trente dernières années.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taux de croissance est la pente de Theil–Sen du logarithme : la médiane des pentes entre toutes les paires d'années, convertie en pourcentage par an. Elle ignore une année aberrante. Mann–Kendall donne la p-value, qui fixe le niveau de confiance du message clé. Les anomalies utilisent un z-score robuste du résidu STL, fondé sur la médiane et l'écart absolu médian, et exigent à la fois un z de 3,5 et un écart de 5 %, pour que des séries très régulières ne déclenchent pas de fausses alertes. Les ruptures sont trouvées par segmentation binaire en segments linéaires d'au moins 12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scénario 2 compare régions et districts. Pour chaque unité, la somme annuelle des lumières donne un taux de croissance robuste et une p-value de Mann–Kendall. Comme des centaines de districts sont testés à la fois, les p-values sont ajustées par la procédure de Benjamini–Hochberg, qui contrôle la part de fausses découvertes. Une unité n'est classée Croissance ou Déclin que si sa pente dépasse 1 % par an et que sa p-value ajustée est inférieure à 0,10 ; sinon elle est en Stagnation, ce qui signifie souvent pas assez d'information. On mesure ensuite la concentration et la convergence, et le NO2 est corrélé à la lumière comme signal complémentaire. Le graphique montre pourquoi ces corrections comptent : sous bruit pur, l'ancienne méthode trouvait une convergence dans 13,7 % des simulations.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concentration se lit avec trois nombres : la part de l'unité la plus brillante, la part des 10 % d'unités les plus brillantes, et l'indice de Herfindahl–Hirschman, somme des parts au carré, égal à un si toute la lumière est dans une seule unité. La β-convergence régresse la croissance de la lumière par habitant de chaque unité sur le log de son niveau initial, moyenné sur les trois premières années, avec des erreurs robustes à l'hétéroscédasticité ; un β négatif dont tout l'intervalle est sous zéro signifie un rattrapage, et la demi-vie indique combien d'années il faut pour combler la moitié de l'écart. La σ-convergence suit la dispersion du log de la lumière par habitant entre unités au fil du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scénario 3 vérifie d'abord que les lumières évoluent avec le PIB officiel. Trois régressions sont estimées : niveaux VIIRS annuels, taux de croissance VIIRS annuels, et niveaux sur la série longue harmonisée avec une indicatrice de capteur. Quand la série annuelle mêle VNL V2.1 et V2.2, une indicatrice de version absorbe le changement de traitement. Avec dix à trente points annuels, les résidus sont souvent autocorrélés : on utilise des erreurs de Newey–West, et un second intervalle est calculé par bootstrap des années. Les diagnostics testent l'autocorrélation, l'hétéroscédasticité, la normalité et la forme fonctionnelle. Le niveau de confiance combine taille d'échantillon, p-value, largeur d'intervalle et R².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le lien mesuré, on l'utilise là où la statistique manque. La prévision régresse la croissance du PIB sur celle de la lumière sur les années où les deux existent, puis enchaîne l'estimation depuis le dernier PIB officiel pour les années non encore publiées, avec des intervalles à 80 et 95 % dont les variances s'additionnent d'année en année. Pour savoir si les lumières aident vraiment, chaque année passée est prédite avec les seules années antérieures, comme l'aurait fait un prévisionniste à l'époque, et comparée à deux prévisions naïves. L'erreur absolue moyenne est en points de croissance ; une erreur relative inférieure à un signifie que les lumières battent la meilleure prévision naïve. Le PIB régional répartit le PIB national selon la lumière élevée à la puissance γ, avec γ égal à 1 et 0,5 ; l'écart entre les deux mesure l'incertitude de l'hypothèse.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scénario 4 mesure l'impact d'événements datés. Le catalogue réunit la COVID-19, les événements de l'utilisateur avec leurs dates nationales et, en option, les cinq mois les plus graves d'un export ACLED ou EM-DAT. Pour chaque événement, la référence est le niveau désaisonnalisé moyen des douze mois précédents ; le creux est le niveau le plus bas entre le début de l'événement et six mois après sa fin ; l'écart à la tendance compare la période de l'événement à la tendance extrapolée des 24 mois précédents ; la reprise est le premier mois revenu au niveau de référence, dans un délai de 36 mois. Le test placebo calcule la même statistique de creux sur toutes les fenêtres antérieures de même longueur : le creux ne se distingue que s'il est plus profond que 95 % d'entre 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mensuelles lissent les chocs courts : on utilise donc les données quotidiennes Black Marble dans des fenêtres autour des événements. Seules les observations de haute qualité sont gardées : drapeau qualité 0 ou 1, ciel clair d'après les bits 6 et 7 du masque nuage, pas de neige, et seulement les pixels éclairés dans le composite annuel. Un jour compte si au moins la moitié des pixels est observée. L'indice divise une médiane glissante sur 7 jours par les mêmes jours 52 semaines plus tôt, au même jour de la semaine, si bien que saison et rythme hebdomadaire s'annulent ; si l'année précédente n'est pas couverte, on utilise la médiane des 60 premiers jours et la saison n'est pas retirée. Le tableau régional donne le creux de chaque région pour chaque événement ; les ruptures sans événement à six mois près sont listées pour enquête.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scénario 5 mesure l'inégalité spatiale de la lumière par habitant entre les unités les plus fines, généralement les districts, chacune pondérée par sa population. Le coefficient de Gini et la courbe de Lorenz montrent la concentration globale. L'indice de Theil T ajoute une décomposition : la part « entre » est l'inégalité entre régions, la part « intra » l'inégalité entre districts d'une même région. Si l'essentiel de l'inégalité est intra-régionale, les politiques doivent cibler les districts plutôt que des régions entières. La variation du Gini entre la première et la dernière année reçoit un intervalle bootstrap issu de 300 rééchantillonnages appariés des districts. Le ratio urbain–rural compare la lumière par habitant en zones urbaines et rurales au sens du GHSL.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seconde moitié du scénario 5 compte les personnes vivant dans le noir. Un pixel est habité s'il compte au moins cinq personnes sur ses 0,21 km² ; il est sombre si sa radiance annuelle reste sous un seuil de détection. Le seuil compte : on en utilise donc trois, 0,25, 0,5 et 1 nanowatt, calculés sur la radiance non masquée, car le masque de fond de l'EOG les rendrait identiques. Les pixels des halos de torchères sont exclus. La part dans le noir est comparée au taux d'accès de la Banque mondiale : un grand écart peut révéler des raccordements à faible consommation, comme des kits solaires, invisibles de l'espace, ou des limites d'enquête. Le chiffre est toujours publié comme une plage.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L'industrie est la composante du PIB la mieux captée par les lumières nocturnes, et peu de pays disposent d'un registre géolocalisé à jour des zones industrielles. Chaque pixel de 460 mètres reçoit un score issu de quatre signaux, chacun normalisé entre 0 et 1. L'intensité lumineuse utilise la médiane des trois derniers composites annuels en échelle log. La part de bâti non résidentiel vient de GHSL BUILT-S, divisée par 0,6. La faible densité résidentielle vaut un moins le log de la densité rapporté à 5 000 habitants par km². Le NO2 est mis à l'échelle entre la médiane nationale et le 98e centile. Les poids, 35, 30, 20 et 15 %, sont des choix d'experts : modifiez-les et vérifiez que les principales zones subsistent.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pixel devient candidat si sa radiance dépasse 5 nanowatts, qu'au moins 1 % de sa surface est bâtie et que son score dépasse 0,55, ou s'il appartient à une torchère détectée lors du nettoyage. Les candidats voisins, au moins deux pixels, sont regroupés en zones, 250 au plus. Chaque zone reçoit sa lumière, sa part de la lumière nationale, sa tendance de Theil–Sen, sa part non résidentielle, sa densité de population, sa surface et son district. Les zones sont classées sites énergétiques ou extractifs quand les torchères dominent, pôles majeurs quand elles sont parmi les 10 % les plus brillantes ou dépassent 8 km², sinon zones industrielles ou logistiques. Les zones industrielles d'OpenStreetMap donnent la précision, part des zones confirmées, et le rappel, part des zones OSM retrouvées.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11 convertit les résultats des six scénarios en cinq à huit messages clés, rédigés en anglais et en français, et remplit le résumé exécutif en tête du notebook. Chaque message porte un niveau de confiance et sa raison, déduits des statistiques sous-jacentes : p-value et nombre d'années pour les tendances ; taille d'échantillon, p-value, largeur d'intervalle et R² pour les élasticités ; test placebo pour les chocs ; intervalle bootstrap pour le Gini ; précision OpenStreetMap pour les zones industrielles. Un message de faible confiance est une piste à creuser, pas une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notebook au tableau de bord public, avec les contrôles qui rendent les chiffres défendables.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notebook 3 écrit des fichiers statiques — GeoJSON simplifié, CSV, JSON et PNG — pour que le site fonctionne sans Earth Engine, dont les tuiles expirent au bout de quelques heures. Le site est bilingue, anglais et français, et plusieurs pays peuvent y coexister. Un manifeste enregistre paramètres, versions des paquets et disponibilité des données, ce qui garantit la reproductibilité. La publication sur GitHub Pages tient en un appel de fonction avec un jeton à durée courte et à droits limités, qui n'apparaît jamais dans le code, les sorties ou l'historique. Les messages clés générés automatiquement portent un niveau de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notebooks ont été revus et corrigés en octobre 2026. Les notebooks 1 et 2 s'exécutent de bout en bout dans les deux langues sans erreur ; le notebook 2 donne des chiffres identiques en anglais et en français. Le réglage d'affichage ne change plus aucun chiffre. Dans le notebook 3, qui demande Earth Engine, les fonctions statistiques ont été testées sur données simulées : sous bruit pur, la convergence fictive passe de 13,7 à 0,7 %, et les classes de croissance parasites de 29 districts sur 300 à zéro avec la correction de Benjamini–Hochberg.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lumières mesurent un rayonnement vers 1 h 30, pas une valeur ajoutée. Six artefacts peuvent tromper : le débordement gonfle les surfaces éclairées ; la saturation masque la croissance des centres urbains les plus brillants ; les torchères peuvent dominer une région sans activité locale ; la saisonnalité des nuages et des feux n'est pas économique ; les changements de capteur, de DMSP à VIIRS ou entre versions de produit, peuvent créer de fausses ruptures ; et près du seuil de détection, le signal est le plus faible précisément là où vivent les ruraux pauvres. Ces limites font partie du livrable, pas d'une annexe.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qu'un statisticien doit retenir.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liste résume la série. Chaque point correspond à une étape d'un notebook et à une erreur qui ne produit aucun message. Publiez la chaîne de traitement, pas seulement le chiffre : deux équipes partant des mêmes fichiers peuvent publier des chiffres d'un ordre de grandeur différent sans erreur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messages à retenir. D'abord, choisir le produit selon la question : composites annuels pour les tendances, mensuels pour les saisons, quotidiens pour les événements datés. Ensuite, l'ordre des opérations n'est pas négociable : remplissage, qualité, eau, puis mosaïque et découpage. Enfin, les lumières nocturnes complètent puissamment la statistique officielle pour la direction, le calendrier et la géographie, mais elles ne mesurent pas le PIB.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Principales références scientifiques et de données utilisées dans les trois notebooks. Les données tierces restent sous la licence de leurs producteurs et doivent être citées en plus de la AfDB-DI4A.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Les trois notebooks tournent sur Colab, Kaggle et Jupyter local. Toute réutilisation des notebooks ou de ce qu'ils produisent doit citer : Source : Banque africaine de développement – Data Innovation for Africa (AfDB-DI4A).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HERO-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p:nvPr/>
        </p:nvSpPr>
        <p:spPr>
          <a:xfrm>
            <a:off x="457200" y="4818888"/>
            <a:ext cx="5486400" cy="22860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Série Lumières nocturnes · AfDB-DI4A</a:t>
            </a:r>
            <a:endParaRPr lang="en-US" sz="850" dirty="0"/>
          </a:p>
        </p:txBody>
      </p:sp>
      <p:sp>
        <p:nvSpPr>
          <p:cNvPr id="5" name="Text 3"/>
          <p:cNvSpPr/>
          <p:nvPr>
            <p:ph idx="105" type="body" hasCustomPrompt="1"/>
          </p:nvPr>
        </p:nvSpPr>
        <p:spPr>
          <a:xfrm>
            <a:off x="457200" y="274320"/>
            <a:ext cx="6217920" cy="256032"/>
          </a:xfrm>
          <a:prstGeom prst="rect">
            <a:avLst/>
          </a:prstGeom>
          <a:noFill/>
          <a:ln/>
        </p:spPr>
        <p:txBody>
          <a:bodyPr wrap="square" rtlCol="0"/>
          <a:lstStyle>
            <a:lvl1pPr algn="l" indent="0" marL="0">
              <a:buNone/>
              <a:defRPr lang="en-US" sz="1050" b="1" spc="300" kern="0" dirty="0">
                <a:solidFill>
                  <a:srgbClr val="00704A"/>
                </a:solidFill>
                <a:latin typeface="Calibri" pitchFamily="34" charset="0"/>
                <a:ea typeface="Calibri" pitchFamily="34" charset="-122"/>
                <a:cs typeface="Calibri" pitchFamily="34" charset="-120"/>
              </a:defRPr>
            </a:lvl1pPr>
          </a:lstStyle>
          <a:p>
            <a:pPr algn="l" indent="0" marL="0">
              <a:buNone/>
            </a:pPr>
            <a:endParaRPr lang="en-US" sz="1050" dirty="0"/>
          </a:p>
        </p:txBody>
      </p:sp>
      <p:sp>
        <p:nvSpPr>
          <p:cNvPr id="6" name="Text 3"/>
          <p:cNvSpPr/>
          <p:nvPr>
            <p:ph idx="106" type="title" hasCustomPrompt="1"/>
          </p:nvPr>
        </p:nvSpPr>
        <p:spPr>
          <a:xfrm>
            <a:off x="457200" y="548640"/>
            <a:ext cx="8229600" cy="566928"/>
          </a:xfrm>
          <a:prstGeom prst="rect">
            <a:avLst/>
          </a:prstGeom>
          <a:noFill/>
          <a:ln/>
        </p:spPr>
        <p:txBody>
          <a:bodyPr wrap="square" rtlCol="0"/>
          <a:lstStyle>
            <a:lvl1pPr algn="l" indent="0" marL="0">
              <a:buNone/>
              <a:defRPr lang="en-US" sz="2800" b="1" dirty="0">
                <a:solidFill>
                  <a:srgbClr val="231F20"/>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3.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3.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3.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5" Type="http://schemas.openxmlformats.org/officeDocument/2006/relationships/slideLayout" Target="../slideLayouts/slideLayout3.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3.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3.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3.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slideLayout" Target="../slideLayouts/slideLayout3.xml"/><Relationship Id="rId1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3.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3.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3.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502920"/>
            <a:ext cx="4206240" cy="384048"/>
          </a:xfrm>
          <a:prstGeom prst="roundRect">
            <a:avLst>
              <a:gd name="adj" fmla="val 50000"/>
            </a:avLst>
          </a:prstGeom>
          <a:solidFill>
            <a:srgbClr val="FFFFFF">
              <a:alpha val="12000"/>
            </a:srgbClr>
          </a:solidFill>
          <a:ln w="9525">
            <a:solidFill>
              <a:srgbClr val="FFFFFF">
                <a:alpha val="50000"/>
              </a:srgbClr>
            </a:solidFill>
            <a:prstDash val="solid"/>
          </a:ln>
        </p:spPr>
      </p:sp>
      <p:sp>
        <p:nvSpPr>
          <p:cNvPr id="3" name="Text 1"/>
          <p:cNvSpPr txBox="1"/>
          <p:nvPr/>
        </p:nvSpPr>
        <p:spPr>
          <a:xfrm>
            <a:off x="548640" y="502920"/>
            <a:ext cx="42062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AfDB · Data Innovation for Africa (DI4A)</a:t>
            </a:r>
            <a:endParaRPr lang="en-US" sz="1200" dirty="0"/>
          </a:p>
        </p:txBody>
      </p:sp>
      <p:sp>
        <p:nvSpPr>
          <p:cNvPr id="4" name="Text 2"/>
          <p:cNvSpPr txBox="1"/>
          <p:nvPr/>
        </p:nvSpPr>
        <p:spPr>
          <a:xfrm>
            <a:off x="548640" y="1325880"/>
            <a:ext cx="7315200" cy="27432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SÉRIE LUMIÈRES NOCTURNES · TROIS NOTEBOOKS</a:t>
            </a:r>
            <a:endParaRPr lang="en-US" sz="1100" dirty="0"/>
          </a:p>
        </p:txBody>
      </p:sp>
      <p:sp>
        <p:nvSpPr>
          <p:cNvPr id="5" name="Text 3"/>
          <p:cNvSpPr txBox="1"/>
          <p:nvPr/>
        </p:nvSpPr>
        <p:spPr>
          <a:xfrm>
            <a:off x="548640" y="1645920"/>
            <a:ext cx="6858000" cy="141732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Lumières nocturnes :</a:t>
            </a:r>
            <a:endParaRPr lang="en-US" sz="4200" dirty="0"/>
          </a:p>
          <a:p>
            <a:pPr indent="0" marL="0">
              <a:buNone/>
            </a:pPr>
            <a:r>
              <a:rPr lang="en-US" sz="4200" b="1" dirty="0">
                <a:solidFill>
                  <a:srgbClr val="FFFFFF"/>
                </a:solidFill>
                <a:latin typeface="Calibri" pitchFamily="34" charset="0"/>
                <a:ea typeface="Calibri" pitchFamily="34" charset="-122"/>
                <a:cs typeface="Calibri" pitchFamily="34" charset="-120"/>
              </a:rPr>
              <a:t>du satellite à la statistique</a:t>
            </a:r>
            <a:endParaRPr lang="en-US" sz="4200" dirty="0"/>
          </a:p>
        </p:txBody>
      </p:sp>
      <p:sp>
        <p:nvSpPr>
          <p:cNvPr id="6" name="Text 4"/>
          <p:cNvSpPr txBox="1"/>
          <p:nvPr/>
        </p:nvSpPr>
        <p:spPr>
          <a:xfrm>
            <a:off x="548640" y="3154680"/>
            <a:ext cx="5852160" cy="77724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Collecter, comprendre et analyser les données de lumières nocturnes NASA et NOAA pour mesurer l'activité économique — un code ISO3 en entrée, un tableau de bord public en sortie</a:t>
            </a:r>
            <a:endParaRPr lang="en-US" sz="1600" dirty="0"/>
          </a:p>
        </p:txBody>
      </p:sp>
      <p:sp>
        <p:nvSpPr>
          <p:cNvPr id="7" name="Shape 5"/>
          <p:cNvSpPr/>
          <p:nvPr/>
        </p:nvSpPr>
        <p:spPr>
          <a:xfrm>
            <a:off x="548640" y="4114800"/>
            <a:ext cx="1143000" cy="329184"/>
          </a:xfrm>
          <a:prstGeom prst="roundRect">
            <a:avLst>
              <a:gd name="adj" fmla="val 50000"/>
            </a:avLst>
          </a:prstGeom>
          <a:solidFill>
            <a:srgbClr val="F5C242"/>
          </a:solidFill>
          <a:ln w="9525">
            <a:solidFill>
              <a:srgbClr val="F5C242"/>
            </a:solidFill>
            <a:prstDash val="solid"/>
          </a:ln>
        </p:spPr>
      </p:sp>
      <p:sp>
        <p:nvSpPr>
          <p:cNvPr id="8" name="Text 6"/>
          <p:cNvSpPr txBox="1"/>
          <p:nvPr/>
        </p:nvSpPr>
        <p:spPr>
          <a:xfrm>
            <a:off x="548640" y="4114800"/>
            <a:ext cx="1143000" cy="329184"/>
          </a:xfrm>
          <a:prstGeom prst="rect">
            <a:avLst/>
          </a:prstGeom>
          <a:noFill/>
          <a:ln/>
        </p:spPr>
        <p:txBody>
          <a:bodyPr wrap="square" lIns="0" tIns="0" rIns="0" bIns="0" rtlCol="0" anchor="ctr"/>
          <a:lstStyle/>
          <a:p>
            <a:pPr algn="ctr" indent="0" marL="0">
              <a:buNone/>
            </a:pPr>
            <a:r>
              <a:rPr lang="en-US" sz="1100" b="1" dirty="0">
                <a:solidFill>
                  <a:srgbClr val="00553A"/>
                </a:solidFill>
                <a:latin typeface="Calibri" pitchFamily="34" charset="0"/>
                <a:ea typeface="Calibri" pitchFamily="34" charset="-122"/>
                <a:cs typeface="Calibri" pitchFamily="34" charset="-120"/>
              </a:rPr>
              <a:t>01  Collecter</a:t>
            </a:r>
            <a:endParaRPr lang="en-US" sz="1100" dirty="0"/>
          </a:p>
        </p:txBody>
      </p:sp>
      <p:sp>
        <p:nvSpPr>
          <p:cNvPr id="9" name="Shape 7"/>
          <p:cNvSpPr/>
          <p:nvPr/>
        </p:nvSpPr>
        <p:spPr>
          <a:xfrm>
            <a:off x="1920240" y="4114800"/>
            <a:ext cx="1965960" cy="329184"/>
          </a:xfrm>
          <a:prstGeom prst="roundRect">
            <a:avLst>
              <a:gd name="adj" fmla="val 50000"/>
            </a:avLst>
          </a:prstGeom>
          <a:solidFill>
            <a:srgbClr val="FFFFFF">
              <a:alpha val="12000"/>
            </a:srgbClr>
          </a:solidFill>
          <a:ln w="9525">
            <a:solidFill>
              <a:srgbClr val="FFFFFF">
                <a:alpha val="40000"/>
              </a:srgbClr>
            </a:solidFill>
            <a:prstDash val="solid"/>
          </a:ln>
        </p:spPr>
      </p:sp>
      <p:sp>
        <p:nvSpPr>
          <p:cNvPr id="10" name="Text 8"/>
          <p:cNvSpPr txBox="1"/>
          <p:nvPr/>
        </p:nvSpPr>
        <p:spPr>
          <a:xfrm>
            <a:off x="1920240" y="4114800"/>
            <a:ext cx="1965960" cy="329184"/>
          </a:xfrm>
          <a:prstGeom prst="rect">
            <a:avLst/>
          </a:prstGeom>
          <a:noFill/>
          <a:ln/>
        </p:spPr>
        <p:txBody>
          <a:bodyPr wrap="square" lIns="0" tIns="0" rIns="0" bIns="0" rtlCol="0" anchor="ctr"/>
          <a:lstStyle/>
          <a:p>
            <a:pPr algn="ctr" indent="0" marL="0">
              <a:buNone/>
            </a:pPr>
            <a:r>
              <a:rPr lang="en-US" sz="1100" b="1" dirty="0">
                <a:solidFill>
                  <a:srgbClr val="E6F6EE"/>
                </a:solidFill>
                <a:latin typeface="Calibri" pitchFamily="34" charset="0"/>
                <a:ea typeface="Calibri" pitchFamily="34" charset="-122"/>
                <a:cs typeface="Calibri" pitchFamily="34" charset="-120"/>
              </a:rPr>
              <a:t>02  Explorer et comprendre</a:t>
            </a:r>
            <a:endParaRPr lang="en-US" sz="1100" dirty="0"/>
          </a:p>
        </p:txBody>
      </p:sp>
      <p:sp>
        <p:nvSpPr>
          <p:cNvPr id="11" name="Shape 9"/>
          <p:cNvSpPr/>
          <p:nvPr/>
        </p:nvSpPr>
        <p:spPr>
          <a:xfrm>
            <a:off x="4114800" y="4114800"/>
            <a:ext cx="1783080" cy="329184"/>
          </a:xfrm>
          <a:prstGeom prst="roundRect">
            <a:avLst>
              <a:gd name="adj" fmla="val 50000"/>
            </a:avLst>
          </a:prstGeom>
          <a:solidFill>
            <a:srgbClr val="FFFFFF">
              <a:alpha val="12000"/>
            </a:srgbClr>
          </a:solidFill>
          <a:ln w="9525">
            <a:solidFill>
              <a:srgbClr val="FFFFFF">
                <a:alpha val="40000"/>
              </a:srgbClr>
            </a:solidFill>
            <a:prstDash val="solid"/>
          </a:ln>
        </p:spPr>
      </p:sp>
      <p:sp>
        <p:nvSpPr>
          <p:cNvPr id="12" name="Text 10"/>
          <p:cNvSpPr txBox="1"/>
          <p:nvPr/>
        </p:nvSpPr>
        <p:spPr>
          <a:xfrm>
            <a:off x="4114800" y="4114800"/>
            <a:ext cx="1783080" cy="329184"/>
          </a:xfrm>
          <a:prstGeom prst="rect">
            <a:avLst/>
          </a:prstGeom>
          <a:noFill/>
          <a:ln/>
        </p:spPr>
        <p:txBody>
          <a:bodyPr wrap="square" lIns="0" tIns="0" rIns="0" bIns="0" rtlCol="0" anchor="ctr"/>
          <a:lstStyle/>
          <a:p>
            <a:pPr algn="ctr" indent="0" marL="0">
              <a:buNone/>
            </a:pPr>
            <a:r>
              <a:rPr lang="en-US" sz="1100" b="1" dirty="0">
                <a:solidFill>
                  <a:srgbClr val="E6F6EE"/>
                </a:solidFill>
                <a:latin typeface="Calibri" pitchFamily="34" charset="0"/>
                <a:ea typeface="Calibri" pitchFamily="34" charset="-122"/>
                <a:cs typeface="Calibri" pitchFamily="34" charset="-120"/>
              </a:rPr>
              <a:t>03  Analyser et publier</a:t>
            </a:r>
            <a:endParaRPr lang="en-US" sz="1100" dirty="0"/>
          </a:p>
        </p:txBody>
      </p:sp>
      <p:sp>
        <p:nvSpPr>
          <p:cNvPr id="13" name="Text 11"/>
          <p:cNvSpPr txBox="1"/>
          <p:nvPr/>
        </p:nvSpPr>
        <p:spPr>
          <a:xfrm>
            <a:off x="6949440" y="4617720"/>
            <a:ext cx="1828800" cy="274320"/>
          </a:xfrm>
          <a:prstGeom prst="rect">
            <a:avLst/>
          </a:prstGeom>
          <a:noFill/>
          <a:ln/>
        </p:spPr>
        <p:txBody>
          <a:bodyPr wrap="square" lIns="0" tIns="0" rIns="0" bIns="0" rtlCol="0" anchor="t"/>
          <a:lstStyle/>
          <a:p>
            <a:pPr algn="r" indent="0" marL="0">
              <a:buNone/>
            </a:pPr>
            <a:r>
              <a:rPr lang="en-US" sz="900" dirty="0">
                <a:solidFill>
                  <a:srgbClr val="F5C242"/>
                </a:solidFill>
                <a:latin typeface="Calibri" pitchFamily="34" charset="0"/>
                <a:ea typeface="Calibri" pitchFamily="34" charset="-122"/>
                <a:cs typeface="Calibri" pitchFamily="34" charset="-120"/>
              </a:rPr>
              <a:t>© 2026 AfDB-DI4A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PROGRAMME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Six étapes, du ciel nocturne à l'indicateur publié</a:t>
            </a:r>
            <a:endParaRPr lang="en-US" sz="2800" dirty="0"/>
          </a:p>
        </p:txBody>
      </p:sp>
      <p:sp>
        <p:nvSpPr>
          <p:cNvPr id="4" name="Shape 2"/>
          <p:cNvSpPr/>
          <p:nvPr/>
        </p:nvSpPr>
        <p:spPr>
          <a:xfrm>
            <a:off x="457200" y="1371600"/>
            <a:ext cx="2606040" cy="1417320"/>
          </a:xfrm>
          <a:prstGeom prst="roundRect">
            <a:avLst>
              <a:gd name="adj" fmla="val 5161"/>
            </a:avLst>
          </a:prstGeom>
          <a:solidFill>
            <a:srgbClr val="F4F7F5"/>
          </a:solidFill>
          <a:ln w="9525">
            <a:solidFill>
              <a:srgbClr val="D5DED9"/>
            </a:solidFill>
            <a:prstDash val="solid"/>
          </a:ln>
        </p:spPr>
      </p:sp>
      <p:sp>
        <p:nvSpPr>
          <p:cNvPr id="5" name="Text 3"/>
          <p:cNvSpPr txBox="1"/>
          <p:nvPr/>
        </p:nvSpPr>
        <p:spPr>
          <a:xfrm>
            <a:off x="640080" y="1508760"/>
            <a:ext cx="731520" cy="457200"/>
          </a:xfrm>
          <a:prstGeom prst="rect">
            <a:avLst/>
          </a:prstGeom>
          <a:noFill/>
          <a:ln/>
        </p:spPr>
        <p:txBody>
          <a:bodyPr wrap="square" lIns="0" tIns="0" rIns="0" bIns="0" rtlCol="0" anchor="t"/>
          <a:lstStyle/>
          <a:p>
            <a:pPr indent="0" marL="0">
              <a:buNone/>
            </a:pPr>
            <a:r>
              <a:rPr lang="en-US" sz="2600" b="1" dirty="0">
                <a:solidFill>
                  <a:srgbClr val="00A86A"/>
                </a:solidFill>
                <a:latin typeface="Calibri" pitchFamily="34" charset="0"/>
                <a:ea typeface="Calibri" pitchFamily="34" charset="-122"/>
                <a:cs typeface="Calibri" pitchFamily="34" charset="-120"/>
              </a:rPr>
              <a:t>01</a:t>
            </a:r>
            <a:endParaRPr lang="en-US" sz="2600" dirty="0"/>
          </a:p>
        </p:txBody>
      </p:sp>
      <p:sp>
        <p:nvSpPr>
          <p:cNvPr id="6" name="Text 4"/>
          <p:cNvSpPr txBox="1"/>
          <p:nvPr/>
        </p:nvSpPr>
        <p:spPr>
          <a:xfrm>
            <a:off x="640080" y="19385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La série</a:t>
            </a:r>
            <a:endParaRPr lang="en-US" sz="1300" dirty="0"/>
          </a:p>
        </p:txBody>
      </p:sp>
      <p:sp>
        <p:nvSpPr>
          <p:cNvPr id="7" name="Text 5"/>
          <p:cNvSpPr txBox="1"/>
          <p:nvPr/>
        </p:nvSpPr>
        <p:spPr>
          <a:xfrm>
            <a:off x="640080" y="22128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Pourquoi les lumières mesurent l'activité, et comment s'articulent les trois notebooks</a:t>
            </a:r>
            <a:endParaRPr lang="en-US" sz="1050" dirty="0"/>
          </a:p>
        </p:txBody>
      </p:sp>
      <p:sp>
        <p:nvSpPr>
          <p:cNvPr id="8" name="Shape 6"/>
          <p:cNvSpPr/>
          <p:nvPr/>
        </p:nvSpPr>
        <p:spPr>
          <a:xfrm>
            <a:off x="3246120" y="1371600"/>
            <a:ext cx="2606040" cy="1417320"/>
          </a:xfrm>
          <a:prstGeom prst="roundRect">
            <a:avLst>
              <a:gd name="adj" fmla="val 5161"/>
            </a:avLst>
          </a:prstGeom>
          <a:solidFill>
            <a:srgbClr val="F4F7F5"/>
          </a:solidFill>
          <a:ln w="9525">
            <a:solidFill>
              <a:srgbClr val="D5DED9"/>
            </a:solidFill>
            <a:prstDash val="solid"/>
          </a:ln>
        </p:spPr>
      </p:sp>
      <p:sp>
        <p:nvSpPr>
          <p:cNvPr id="9" name="Text 7"/>
          <p:cNvSpPr txBox="1"/>
          <p:nvPr/>
        </p:nvSpPr>
        <p:spPr>
          <a:xfrm>
            <a:off x="3429000" y="1508760"/>
            <a:ext cx="731520" cy="457200"/>
          </a:xfrm>
          <a:prstGeom prst="rect">
            <a:avLst/>
          </a:prstGeom>
          <a:noFill/>
          <a:ln/>
        </p:spPr>
        <p:txBody>
          <a:bodyPr wrap="square" lIns="0" tIns="0" rIns="0" bIns="0" rtlCol="0" anchor="t"/>
          <a:lstStyle/>
          <a:p>
            <a:pPr indent="0" marL="0">
              <a:buNone/>
            </a:pPr>
            <a:r>
              <a:rPr lang="en-US" sz="2600" b="1" dirty="0">
                <a:solidFill>
                  <a:srgbClr val="00704A"/>
                </a:solidFill>
                <a:latin typeface="Calibri" pitchFamily="34" charset="0"/>
                <a:ea typeface="Calibri" pitchFamily="34" charset="-122"/>
                <a:cs typeface="Calibri" pitchFamily="34" charset="-120"/>
              </a:rPr>
              <a:t>02</a:t>
            </a:r>
            <a:endParaRPr lang="en-US" sz="2600" dirty="0"/>
          </a:p>
        </p:txBody>
      </p:sp>
      <p:sp>
        <p:nvSpPr>
          <p:cNvPr id="10" name="Text 8"/>
          <p:cNvSpPr txBox="1"/>
          <p:nvPr/>
        </p:nvSpPr>
        <p:spPr>
          <a:xfrm>
            <a:off x="3429000" y="19385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Collecter</a:t>
            </a:r>
            <a:endParaRPr lang="en-US" sz="1300" dirty="0"/>
          </a:p>
        </p:txBody>
      </p:sp>
      <p:sp>
        <p:nvSpPr>
          <p:cNvPr id="11" name="Text 9"/>
          <p:cNvSpPr txBox="1"/>
          <p:nvPr/>
        </p:nvSpPr>
        <p:spPr>
          <a:xfrm>
            <a:off x="3429000" y="22128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Notebook 1 : trouver, tester et télécharger les bons fichiers NASA Black Marble</a:t>
            </a:r>
            <a:endParaRPr lang="en-US" sz="1050" dirty="0"/>
          </a:p>
        </p:txBody>
      </p:sp>
      <p:sp>
        <p:nvSpPr>
          <p:cNvPr id="12" name="Shape 10"/>
          <p:cNvSpPr/>
          <p:nvPr/>
        </p:nvSpPr>
        <p:spPr>
          <a:xfrm>
            <a:off x="6035040" y="1371600"/>
            <a:ext cx="2606040" cy="1417320"/>
          </a:xfrm>
          <a:prstGeom prst="roundRect">
            <a:avLst>
              <a:gd name="adj" fmla="val 5161"/>
            </a:avLst>
          </a:prstGeom>
          <a:solidFill>
            <a:srgbClr val="F4F7F5"/>
          </a:solidFill>
          <a:ln w="9525">
            <a:solidFill>
              <a:srgbClr val="D5DED9"/>
            </a:solidFill>
            <a:prstDash val="solid"/>
          </a:ln>
        </p:spPr>
      </p:sp>
      <p:sp>
        <p:nvSpPr>
          <p:cNvPr id="13" name="Text 11"/>
          <p:cNvSpPr txBox="1"/>
          <p:nvPr/>
        </p:nvSpPr>
        <p:spPr>
          <a:xfrm>
            <a:off x="6217920" y="1508760"/>
            <a:ext cx="731520" cy="457200"/>
          </a:xfrm>
          <a:prstGeom prst="rect">
            <a:avLst/>
          </a:prstGeom>
          <a:noFill/>
          <a:ln/>
        </p:spPr>
        <p:txBody>
          <a:bodyPr wrap="square" lIns="0" tIns="0" rIns="0" bIns="0" rtlCol="0" anchor="t"/>
          <a:lstStyle/>
          <a:p>
            <a:pPr indent="0" marL="0">
              <a:buNone/>
            </a:pPr>
            <a:r>
              <a:rPr lang="en-US" sz="2600" b="1" dirty="0">
                <a:solidFill>
                  <a:srgbClr val="0E7C86"/>
                </a:solidFill>
                <a:latin typeface="Calibri" pitchFamily="34" charset="0"/>
                <a:ea typeface="Calibri" pitchFamily="34" charset="-122"/>
                <a:cs typeface="Calibri" pitchFamily="34" charset="-120"/>
              </a:rPr>
              <a:t>03</a:t>
            </a:r>
            <a:endParaRPr lang="en-US" sz="2600" dirty="0"/>
          </a:p>
        </p:txBody>
      </p:sp>
      <p:sp>
        <p:nvSpPr>
          <p:cNvPr id="14" name="Text 12"/>
          <p:cNvSpPr txBox="1"/>
          <p:nvPr/>
        </p:nvSpPr>
        <p:spPr>
          <a:xfrm>
            <a:off x="6217920" y="19385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Explorer et comprendre</a:t>
            </a:r>
            <a:endParaRPr lang="en-US" sz="1300" dirty="0"/>
          </a:p>
        </p:txBody>
      </p:sp>
      <p:sp>
        <p:nvSpPr>
          <p:cNvPr id="15" name="Text 13"/>
          <p:cNvSpPr txBox="1"/>
          <p:nvPr/>
        </p:nvSpPr>
        <p:spPr>
          <a:xfrm>
            <a:off x="6217920" y="22128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Notebook 2 : ouvrir le fichier, le décoder, le filtrer, le découper sur le pays</a:t>
            </a:r>
            <a:endParaRPr lang="en-US" sz="1050" dirty="0"/>
          </a:p>
        </p:txBody>
      </p:sp>
      <p:sp>
        <p:nvSpPr>
          <p:cNvPr id="16" name="Shape 14"/>
          <p:cNvSpPr/>
          <p:nvPr/>
        </p:nvSpPr>
        <p:spPr>
          <a:xfrm>
            <a:off x="457200" y="2971800"/>
            <a:ext cx="2606040" cy="1417320"/>
          </a:xfrm>
          <a:prstGeom prst="roundRect">
            <a:avLst>
              <a:gd name="adj" fmla="val 5161"/>
            </a:avLst>
          </a:prstGeom>
          <a:solidFill>
            <a:srgbClr val="F4F7F5"/>
          </a:solidFill>
          <a:ln w="9525">
            <a:solidFill>
              <a:srgbClr val="D5DED9"/>
            </a:solidFill>
            <a:prstDash val="solid"/>
          </a:ln>
        </p:spPr>
      </p:sp>
      <p:sp>
        <p:nvSpPr>
          <p:cNvPr id="17" name="Text 15"/>
          <p:cNvSpPr txBox="1"/>
          <p:nvPr/>
        </p:nvSpPr>
        <p:spPr>
          <a:xfrm>
            <a:off x="640080" y="3108960"/>
            <a:ext cx="731520" cy="457200"/>
          </a:xfrm>
          <a:prstGeom prst="rect">
            <a:avLst/>
          </a:prstGeom>
          <a:noFill/>
          <a:ln/>
        </p:spPr>
        <p:txBody>
          <a:bodyPr wrap="square" lIns="0" tIns="0" rIns="0" bIns="0" rtlCol="0" anchor="t"/>
          <a:lstStyle/>
          <a:p>
            <a:pPr indent="0" marL="0">
              <a:buNone/>
            </a:pPr>
            <a:r>
              <a:rPr lang="en-US" sz="2600" b="1" dirty="0">
                <a:solidFill>
                  <a:srgbClr val="D49A00"/>
                </a:solidFill>
                <a:latin typeface="Calibri" pitchFamily="34" charset="0"/>
                <a:ea typeface="Calibri" pitchFamily="34" charset="-122"/>
                <a:cs typeface="Calibri" pitchFamily="34" charset="-120"/>
              </a:rPr>
              <a:t>04</a:t>
            </a:r>
            <a:endParaRPr lang="en-US" sz="2600" dirty="0"/>
          </a:p>
        </p:txBody>
      </p:sp>
      <p:sp>
        <p:nvSpPr>
          <p:cNvPr id="18" name="Text 16"/>
          <p:cNvSpPr txBox="1"/>
          <p:nvPr/>
        </p:nvSpPr>
        <p:spPr>
          <a:xfrm>
            <a:off x="640080" y="35387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Analyser</a:t>
            </a:r>
            <a:endParaRPr lang="en-US" sz="1300" dirty="0"/>
          </a:p>
        </p:txBody>
      </p:sp>
      <p:sp>
        <p:nvSpPr>
          <p:cNvPr id="19" name="Text 17"/>
          <p:cNvSpPr txBox="1"/>
          <p:nvPr/>
        </p:nvSpPr>
        <p:spPr>
          <a:xfrm>
            <a:off x="640080" y="38130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Notebook 3 : tendances, régions, PIB, chocs, inégalités, zones industrielles</a:t>
            </a:r>
            <a:endParaRPr lang="en-US" sz="1050" dirty="0"/>
          </a:p>
        </p:txBody>
      </p:sp>
      <p:sp>
        <p:nvSpPr>
          <p:cNvPr id="20" name="Shape 18"/>
          <p:cNvSpPr/>
          <p:nvPr/>
        </p:nvSpPr>
        <p:spPr>
          <a:xfrm>
            <a:off x="3246120" y="2971800"/>
            <a:ext cx="2606040" cy="1417320"/>
          </a:xfrm>
          <a:prstGeom prst="roundRect">
            <a:avLst>
              <a:gd name="adj" fmla="val 5161"/>
            </a:avLst>
          </a:prstGeom>
          <a:solidFill>
            <a:srgbClr val="F4F7F5"/>
          </a:solidFill>
          <a:ln w="9525">
            <a:solidFill>
              <a:srgbClr val="D5DED9"/>
            </a:solidFill>
            <a:prstDash val="solid"/>
          </a:ln>
        </p:spPr>
      </p:sp>
      <p:sp>
        <p:nvSpPr>
          <p:cNvPr id="21" name="Text 19"/>
          <p:cNvSpPr txBox="1"/>
          <p:nvPr/>
        </p:nvSpPr>
        <p:spPr>
          <a:xfrm>
            <a:off x="3429000" y="3108960"/>
            <a:ext cx="731520" cy="457200"/>
          </a:xfrm>
          <a:prstGeom prst="rect">
            <a:avLst/>
          </a:prstGeom>
          <a:noFill/>
          <a:ln/>
        </p:spPr>
        <p:txBody>
          <a:bodyPr wrap="square" lIns="0" tIns="0" rIns="0" bIns="0" rtlCol="0" anchor="t"/>
          <a:lstStyle/>
          <a:p>
            <a:pPr indent="0" marL="0">
              <a:buNone/>
            </a:pPr>
            <a:r>
              <a:rPr lang="en-US" sz="2600" b="1" dirty="0">
                <a:solidFill>
                  <a:srgbClr val="C4621D"/>
                </a:solidFill>
                <a:latin typeface="Calibri" pitchFamily="34" charset="0"/>
                <a:ea typeface="Calibri" pitchFamily="34" charset="-122"/>
                <a:cs typeface="Calibri" pitchFamily="34" charset="-120"/>
              </a:rPr>
              <a:t>05</a:t>
            </a:r>
            <a:endParaRPr lang="en-US" sz="2600" dirty="0"/>
          </a:p>
        </p:txBody>
      </p:sp>
      <p:sp>
        <p:nvSpPr>
          <p:cNvPr id="22" name="Text 20"/>
          <p:cNvSpPr txBox="1"/>
          <p:nvPr/>
        </p:nvSpPr>
        <p:spPr>
          <a:xfrm>
            <a:off x="3429000" y="35387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Publier et contrôler</a:t>
            </a:r>
            <a:endParaRPr lang="en-US" sz="1300" dirty="0"/>
          </a:p>
        </p:txBody>
      </p:sp>
      <p:sp>
        <p:nvSpPr>
          <p:cNvPr id="23" name="Text 21"/>
          <p:cNvSpPr txBox="1"/>
          <p:nvPr/>
        </p:nvSpPr>
        <p:spPr>
          <a:xfrm>
            <a:off x="3429000" y="38130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Tableau de bord statique, manifeste de reproductibilité, contrôles et limites</a:t>
            </a:r>
            <a:endParaRPr lang="en-US" sz="1050" dirty="0"/>
          </a:p>
        </p:txBody>
      </p:sp>
      <p:sp>
        <p:nvSpPr>
          <p:cNvPr id="24" name="Shape 22"/>
          <p:cNvSpPr/>
          <p:nvPr/>
        </p:nvSpPr>
        <p:spPr>
          <a:xfrm>
            <a:off x="6035040" y="2971800"/>
            <a:ext cx="2606040" cy="1417320"/>
          </a:xfrm>
          <a:prstGeom prst="roundRect">
            <a:avLst>
              <a:gd name="adj" fmla="val 5161"/>
            </a:avLst>
          </a:prstGeom>
          <a:solidFill>
            <a:srgbClr val="F4F7F5"/>
          </a:solidFill>
          <a:ln w="9525">
            <a:solidFill>
              <a:srgbClr val="D5DED9"/>
            </a:solidFill>
            <a:prstDash val="solid"/>
          </a:ln>
        </p:spPr>
      </p:sp>
      <p:sp>
        <p:nvSpPr>
          <p:cNvPr id="25" name="Text 23"/>
          <p:cNvSpPr txBox="1"/>
          <p:nvPr/>
        </p:nvSpPr>
        <p:spPr>
          <a:xfrm>
            <a:off x="6217920" y="3108960"/>
            <a:ext cx="731520" cy="457200"/>
          </a:xfrm>
          <a:prstGeom prst="rect">
            <a:avLst/>
          </a:prstGeom>
          <a:noFill/>
          <a:ln/>
        </p:spPr>
        <p:txBody>
          <a:bodyPr wrap="square" lIns="0" tIns="0" rIns="0" bIns="0" rtlCol="0" anchor="t"/>
          <a:lstStyle/>
          <a:p>
            <a:pPr indent="0" marL="0">
              <a:buNone/>
            </a:pPr>
            <a:r>
              <a:rPr lang="en-US" sz="2600" b="1" dirty="0">
                <a:solidFill>
                  <a:srgbClr val="B83B2E"/>
                </a:solidFill>
                <a:latin typeface="Calibri" pitchFamily="34" charset="0"/>
                <a:ea typeface="Calibri" pitchFamily="34" charset="-122"/>
                <a:cs typeface="Calibri" pitchFamily="34" charset="-120"/>
              </a:rPr>
              <a:t>06</a:t>
            </a:r>
            <a:endParaRPr lang="en-US" sz="2600" dirty="0"/>
          </a:p>
        </p:txBody>
      </p:sp>
      <p:sp>
        <p:nvSpPr>
          <p:cNvPr id="26" name="Text 24"/>
          <p:cNvSpPr txBox="1"/>
          <p:nvPr/>
        </p:nvSpPr>
        <p:spPr>
          <a:xfrm>
            <a:off x="6217920" y="35387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À retenir</a:t>
            </a:r>
            <a:endParaRPr lang="en-US" sz="1300" dirty="0"/>
          </a:p>
        </p:txBody>
      </p:sp>
      <p:sp>
        <p:nvSpPr>
          <p:cNvPr id="27" name="Text 25"/>
          <p:cNvSpPr txBox="1"/>
          <p:nvPr/>
        </p:nvSpPr>
        <p:spPr>
          <a:xfrm>
            <a:off x="6217920" y="38130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Ce qu'il faut vérifier avant de publier un chiffre</a:t>
            </a:r>
            <a:endParaRPr lang="en-US" sz="1050" dirty="0"/>
          </a:p>
        </p:txBody>
      </p:sp>
      <p:sp>
        <p:nvSpPr>
          <p:cNvPr id="28" name="Shape 26"/>
          <p:cNvSpPr/>
          <p:nvPr/>
        </p:nvSpPr>
        <p:spPr>
          <a:xfrm>
            <a:off x="7644384" y="338328"/>
            <a:ext cx="100584" cy="100584"/>
          </a:xfrm>
          <a:prstGeom prst="ellipse">
            <a:avLst/>
          </a:prstGeom>
          <a:solidFill>
            <a:srgbClr val="00A86A"/>
          </a:solidFill>
          <a:ln w="12700">
            <a:solidFill>
              <a:srgbClr val="00A86A"/>
            </a:solidFill>
            <a:prstDash val="solid"/>
          </a:ln>
        </p:spPr>
      </p:sp>
      <p:sp>
        <p:nvSpPr>
          <p:cNvPr id="29" name="Shape 27"/>
          <p:cNvSpPr/>
          <p:nvPr/>
        </p:nvSpPr>
        <p:spPr>
          <a:xfrm>
            <a:off x="7818120" y="338328"/>
            <a:ext cx="100584" cy="100584"/>
          </a:xfrm>
          <a:prstGeom prst="ellipse">
            <a:avLst/>
          </a:prstGeom>
          <a:solidFill>
            <a:srgbClr val="00704A"/>
          </a:solidFill>
          <a:ln w="12700">
            <a:solidFill>
              <a:srgbClr val="00704A"/>
            </a:solidFill>
            <a:prstDash val="solid"/>
          </a:ln>
        </p:spPr>
      </p:sp>
      <p:sp>
        <p:nvSpPr>
          <p:cNvPr id="30" name="Shape 28"/>
          <p:cNvSpPr/>
          <p:nvPr/>
        </p:nvSpPr>
        <p:spPr>
          <a:xfrm>
            <a:off x="7991856" y="338328"/>
            <a:ext cx="100584" cy="100584"/>
          </a:xfrm>
          <a:prstGeom prst="ellipse">
            <a:avLst/>
          </a:prstGeom>
          <a:solidFill>
            <a:srgbClr val="0E7C86"/>
          </a:solidFill>
          <a:ln w="12700">
            <a:solidFill>
              <a:srgbClr val="0E7C86"/>
            </a:solidFill>
            <a:prstDash val="solid"/>
          </a:ln>
        </p:spPr>
      </p:sp>
      <p:sp>
        <p:nvSpPr>
          <p:cNvPr id="31" name="Shape 29"/>
          <p:cNvSpPr/>
          <p:nvPr/>
        </p:nvSpPr>
        <p:spPr>
          <a:xfrm>
            <a:off x="8165592" y="338328"/>
            <a:ext cx="100584" cy="100584"/>
          </a:xfrm>
          <a:prstGeom prst="ellipse">
            <a:avLst/>
          </a:prstGeom>
          <a:solidFill>
            <a:srgbClr val="D49A00"/>
          </a:solidFill>
          <a:ln w="12700">
            <a:solidFill>
              <a:srgbClr val="D49A00"/>
            </a:solidFill>
            <a:prstDash val="solid"/>
          </a:ln>
        </p:spPr>
      </p:sp>
      <p:sp>
        <p:nvSpPr>
          <p:cNvPr id="32" name="Shape 30"/>
          <p:cNvSpPr/>
          <p:nvPr/>
        </p:nvSpPr>
        <p:spPr>
          <a:xfrm>
            <a:off x="8339328" y="338328"/>
            <a:ext cx="100584" cy="100584"/>
          </a:xfrm>
          <a:prstGeom prst="ellipse">
            <a:avLst/>
          </a:prstGeom>
          <a:solidFill>
            <a:srgbClr val="C4621D"/>
          </a:solidFill>
          <a:ln w="12700">
            <a:solidFill>
              <a:srgbClr val="C4621D"/>
            </a:solidFill>
            <a:prstDash val="solid"/>
          </a:ln>
        </p:spPr>
      </p:sp>
      <p:sp>
        <p:nvSpPr>
          <p:cNvPr id="33" name="Shape 31"/>
          <p:cNvSpPr/>
          <p:nvPr/>
        </p:nvSpPr>
        <p:spPr>
          <a:xfrm>
            <a:off x="8513064" y="338328"/>
            <a:ext cx="100584" cy="100584"/>
          </a:xfrm>
          <a:prstGeom prst="ellipse">
            <a:avLst/>
          </a:prstGeom>
          <a:solidFill>
            <a:srgbClr val="B83B2E"/>
          </a:solidFill>
          <a:ln w="12700">
            <a:solidFill>
              <a:srgbClr val="B83B2E"/>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01</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La série</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Pourquoi des images satellites de la nuit renseignent-elles sur une économie ?</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5C242"/>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01 · LA SÉRIE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La lumière vue de l'espace, trace de l'activité</a:t>
            </a:r>
            <a:endParaRPr lang="en-US" sz="2800" dirty="0"/>
          </a:p>
        </p:txBody>
      </p:sp>
      <p:sp>
        <p:nvSpPr>
          <p:cNvPr id="4" name="dot0"/>
          <p:cNvSpPr/>
          <p:nvPr/>
        </p:nvSpPr>
        <p:spPr>
          <a:xfrm>
            <a:off x="7644384" y="338328"/>
            <a:ext cx="100584" cy="100584"/>
          </a:xfrm>
          <a:prstGeom prst="ellipse">
            <a:avLst/>
          </a:prstGeom>
          <a:solidFill>
            <a:srgbClr val="00A86A"/>
          </a:solidFill>
          <a:ln w="12700">
            <a:solidFill>
              <a:srgbClr val="00A86A"/>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3291840" cy="896112"/>
          </a:xfrm>
          <a:prstGeom prst="roundRect">
            <a:avLst>
              <a:gd name="adj" fmla="val 8163"/>
            </a:avLst>
          </a:prstGeom>
          <a:solidFill>
            <a:srgbClr val="E8F5EF"/>
          </a:solidFill>
          <a:ln w="15875">
            <a:solidFill>
              <a:srgbClr val="00A86A"/>
            </a:solidFill>
            <a:prstDash val="solid"/>
          </a:ln>
        </p:spPr>
      </p:sp>
      <p:sp>
        <p:nvSpPr>
          <p:cNvPr id="12" name="Text 9"/>
          <p:cNvSpPr txBox="1"/>
          <p:nvPr/>
        </p:nvSpPr>
        <p:spPr>
          <a:xfrm>
            <a:off x="640080" y="1463040"/>
            <a:ext cx="3017520" cy="457200"/>
          </a:xfrm>
          <a:prstGeom prst="rect">
            <a:avLst/>
          </a:prstGeom>
          <a:noFill/>
          <a:ln/>
        </p:spPr>
        <p:txBody>
          <a:bodyPr wrap="square" lIns="0" tIns="0" rIns="0" bIns="0" rtlCol="0" anchor="t"/>
          <a:lstStyle/>
          <a:p>
            <a:pPr indent="0" marL="0">
              <a:buNone/>
            </a:pPr>
            <a:r>
              <a:rPr lang="en-US" sz="3000" b="1" dirty="0">
                <a:solidFill>
                  <a:srgbClr val="00A86A"/>
                </a:solidFill>
                <a:latin typeface="Calibri" pitchFamily="34" charset="0"/>
                <a:ea typeface="Calibri" pitchFamily="34" charset="-122"/>
                <a:cs typeface="Calibri" pitchFamily="34" charset="-120"/>
              </a:rPr>
              <a:t>~463 m</a:t>
            </a:r>
            <a:endParaRPr lang="en-US" sz="3000" dirty="0"/>
          </a:p>
        </p:txBody>
      </p:sp>
      <p:sp>
        <p:nvSpPr>
          <p:cNvPr id="13" name="Text 10"/>
          <p:cNvSpPr txBox="1"/>
          <p:nvPr/>
        </p:nvSpPr>
        <p:spPr>
          <a:xfrm>
            <a:off x="640080" y="1920240"/>
            <a:ext cx="3017520" cy="27432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taille d'un pixel (15 secondes d'arc)</a:t>
            </a:r>
            <a:endParaRPr lang="en-US" sz="1100" dirty="0"/>
          </a:p>
        </p:txBody>
      </p:sp>
      <p:sp>
        <p:nvSpPr>
          <p:cNvPr id="14" name="Shape 11"/>
          <p:cNvSpPr/>
          <p:nvPr/>
        </p:nvSpPr>
        <p:spPr>
          <a:xfrm>
            <a:off x="457200" y="2395728"/>
            <a:ext cx="3291840" cy="896112"/>
          </a:xfrm>
          <a:prstGeom prst="roundRect">
            <a:avLst>
              <a:gd name="adj" fmla="val 8163"/>
            </a:avLst>
          </a:prstGeom>
          <a:solidFill>
            <a:srgbClr val="F4F7F5"/>
          </a:solidFill>
          <a:ln w="9525">
            <a:solidFill>
              <a:srgbClr val="D5DED9"/>
            </a:solidFill>
            <a:prstDash val="solid"/>
          </a:ln>
        </p:spPr>
      </p:sp>
      <p:sp>
        <p:nvSpPr>
          <p:cNvPr id="15" name="Text 12"/>
          <p:cNvSpPr txBox="1"/>
          <p:nvPr/>
        </p:nvSpPr>
        <p:spPr>
          <a:xfrm>
            <a:off x="640080" y="2487168"/>
            <a:ext cx="3017520" cy="457200"/>
          </a:xfrm>
          <a:prstGeom prst="rect">
            <a:avLst/>
          </a:prstGeom>
          <a:noFill/>
          <a:ln/>
        </p:spPr>
        <p:txBody>
          <a:bodyPr wrap="square" lIns="0" tIns="0" rIns="0" bIns="0" rtlCol="0" anchor="t"/>
          <a:lstStyle/>
          <a:p>
            <a:pPr indent="0" marL="0">
              <a:buNone/>
            </a:pPr>
            <a:r>
              <a:rPr lang="en-US" sz="3000" b="1" dirty="0">
                <a:solidFill>
                  <a:srgbClr val="00704A"/>
                </a:solidFill>
                <a:latin typeface="Calibri" pitchFamily="34" charset="0"/>
                <a:ea typeface="Calibri" pitchFamily="34" charset="-122"/>
                <a:cs typeface="Calibri" pitchFamily="34" charset="-120"/>
              </a:rPr>
              <a:t>Chaque nuit</a:t>
            </a:r>
            <a:endParaRPr lang="en-US" sz="3000" dirty="0"/>
          </a:p>
        </p:txBody>
      </p:sp>
      <p:sp>
        <p:nvSpPr>
          <p:cNvPr id="16" name="Text 13"/>
          <p:cNvSpPr txBox="1"/>
          <p:nvPr/>
        </p:nvSpPr>
        <p:spPr>
          <a:xfrm>
            <a:off x="640080" y="2944368"/>
            <a:ext cx="3017520" cy="27432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depuis le 19 janvier 2012 (Black Marble)</a:t>
            </a:r>
            <a:endParaRPr lang="en-US" sz="1100" dirty="0"/>
          </a:p>
        </p:txBody>
      </p:sp>
      <p:sp>
        <p:nvSpPr>
          <p:cNvPr id="17" name="Shape 14"/>
          <p:cNvSpPr/>
          <p:nvPr/>
        </p:nvSpPr>
        <p:spPr>
          <a:xfrm>
            <a:off x="457200" y="3419856"/>
            <a:ext cx="3291840" cy="896112"/>
          </a:xfrm>
          <a:prstGeom prst="roundRect">
            <a:avLst>
              <a:gd name="adj" fmla="val 8163"/>
            </a:avLst>
          </a:prstGeom>
          <a:solidFill>
            <a:srgbClr val="F4F7F5"/>
          </a:solidFill>
          <a:ln w="9525">
            <a:solidFill>
              <a:srgbClr val="D5DED9"/>
            </a:solidFill>
            <a:prstDash val="solid"/>
          </a:ln>
        </p:spPr>
      </p:sp>
      <p:sp>
        <p:nvSpPr>
          <p:cNvPr id="18" name="Text 15"/>
          <p:cNvSpPr txBox="1"/>
          <p:nvPr/>
        </p:nvSpPr>
        <p:spPr>
          <a:xfrm>
            <a:off x="640080" y="3511296"/>
            <a:ext cx="3017520" cy="457200"/>
          </a:xfrm>
          <a:prstGeom prst="rect">
            <a:avLst/>
          </a:prstGeom>
          <a:noFill/>
          <a:ln/>
        </p:spPr>
        <p:txBody>
          <a:bodyPr wrap="square" lIns="0" tIns="0" rIns="0" bIns="0" rtlCol="0" anchor="t"/>
          <a:lstStyle/>
          <a:p>
            <a:pPr indent="0" marL="0">
              <a:buNone/>
            </a:pPr>
            <a:r>
              <a:rPr lang="en-US" sz="3000" b="1" dirty="0">
                <a:solidFill>
                  <a:srgbClr val="0E7C86"/>
                </a:solidFill>
                <a:latin typeface="Calibri" pitchFamily="34" charset="0"/>
                <a:ea typeface="Calibri" pitchFamily="34" charset="-122"/>
                <a:cs typeface="Calibri" pitchFamily="34" charset="-120"/>
              </a:rPr>
              <a:t>01:30</a:t>
            </a:r>
            <a:endParaRPr lang="en-US" sz="3000" dirty="0"/>
          </a:p>
        </p:txBody>
      </p:sp>
      <p:sp>
        <p:nvSpPr>
          <p:cNvPr id="19" name="Text 16"/>
          <p:cNvSpPr txBox="1"/>
          <p:nvPr/>
        </p:nvSpPr>
        <p:spPr>
          <a:xfrm>
            <a:off x="640080" y="3968496"/>
            <a:ext cx="3017520" cy="27432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heure locale de passage du satellite</a:t>
            </a:r>
            <a:endParaRPr lang="en-US" sz="1100" dirty="0"/>
          </a:p>
        </p:txBody>
      </p:sp>
      <p:sp>
        <p:nvSpPr>
          <p:cNvPr id="20" name="Shape 17"/>
          <p:cNvSpPr/>
          <p:nvPr/>
        </p:nvSpPr>
        <p:spPr>
          <a:xfrm>
            <a:off x="4114800" y="1481328"/>
            <a:ext cx="566928" cy="566928"/>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r>
          <p:cNvPicPr>
            <a:picLocks noChangeAspect="1"/>
          </p:cNvPicPr>
          <p:nvPr/>
        </p:nvPicPr>
        <p:blipFill>
          <a:blip r:embed="rId1"/>
          <a:stretch>
            <a:fillRect/>
          </a:stretch>
        </p:blipFill>
        <p:spPr>
          <a:xfrm>
            <a:off x="4250863" y="1617391"/>
            <a:ext cx="294803" cy="294803"/>
          </a:xfrm>
          <a:prstGeom prst="rect">
            <a:avLst/>
          </a:prstGeom>
        </p:spPr>
      </p:pic>
      <p:sp>
        <p:nvSpPr>
          <p:cNvPr id="22" name="Text 18"/>
          <p:cNvSpPr txBox="1"/>
          <p:nvPr/>
        </p:nvSpPr>
        <p:spPr>
          <a:xfrm>
            <a:off x="4846320" y="1417320"/>
            <a:ext cx="384048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Ce que les lumières captent bien</a:t>
            </a:r>
            <a:endParaRPr lang="en-US" sz="1300" dirty="0"/>
          </a:p>
        </p:txBody>
      </p:sp>
      <p:sp>
        <p:nvSpPr>
          <p:cNvPr id="23" name="Text 19"/>
          <p:cNvSpPr txBox="1"/>
          <p:nvPr/>
        </p:nvSpPr>
        <p:spPr>
          <a:xfrm>
            <a:off x="4846320" y="1719072"/>
            <a:ext cx="3840480" cy="56692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Activité urbaine, industrie qui tourne la nuit, électrification, coupures, déplacements, chocs soudains</a:t>
            </a:r>
            <a:endParaRPr lang="en-US" sz="1100" dirty="0"/>
          </a:p>
        </p:txBody>
      </p:sp>
      <p:sp>
        <p:nvSpPr>
          <p:cNvPr id="24" name="Shape 20"/>
          <p:cNvSpPr/>
          <p:nvPr/>
        </p:nvSpPr>
        <p:spPr>
          <a:xfrm>
            <a:off x="4114800" y="2505456"/>
            <a:ext cx="566928" cy="566928"/>
          </a:xfrm>
          <a:prstGeom prst="ellipse">
            <a:avLst/>
          </a:prstGeom>
          <a:solidFill>
            <a:srgbClr val="00704A">
              <a:alpha val="22000"/>
            </a:srgbClr>
          </a:solidFill>
          <a:ln w="12700">
            <a:solidFill>
              <a:srgbClr val="00704A">
                <a:alpha val="0"/>
              </a:srgbClr>
            </a:solidFill>
            <a:prstDash val="solid"/>
          </a:ln>
        </p:spPr>
      </p:sp>
      <p:pic>
        <p:nvPicPr>
          <p:cNvPr id="25" name="Image 1" descr="preencoded.png">    </p:cNvPr>
          <p:cNvPicPr>
            <a:picLocks noChangeAspect="1"/>
          </p:cNvPicPr>
          <p:nvPr/>
        </p:nvPicPr>
        <p:blipFill>
          <a:blip r:embed="rId2"/>
          <a:stretch>
            <a:fillRect/>
          </a:stretch>
        </p:blipFill>
        <p:spPr>
          <a:xfrm>
            <a:off x="4250863" y="2641519"/>
            <a:ext cx="294803" cy="294803"/>
          </a:xfrm>
          <a:prstGeom prst="rect">
            <a:avLst/>
          </a:prstGeom>
        </p:spPr>
      </p:pic>
      <p:sp>
        <p:nvSpPr>
          <p:cNvPr id="26" name="Text 21"/>
          <p:cNvSpPr txBox="1"/>
          <p:nvPr/>
        </p:nvSpPr>
        <p:spPr>
          <a:xfrm>
            <a:off x="4846320" y="2441448"/>
            <a:ext cx="384048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Ce qu'elles voient mal</a:t>
            </a:r>
            <a:endParaRPr lang="en-US" sz="1300" dirty="0"/>
          </a:p>
        </p:txBody>
      </p:sp>
      <p:sp>
        <p:nvSpPr>
          <p:cNvPr id="27" name="Text 22"/>
          <p:cNvSpPr txBox="1"/>
          <p:nvPr/>
        </p:nvSpPr>
        <p:spPr>
          <a:xfrm>
            <a:off x="4846320" y="2743200"/>
            <a:ext cx="3840480" cy="56692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Agriculture, commerce de jour, une grande partie des services et l'économie informelle rurale</a:t>
            </a:r>
            <a:endParaRPr lang="en-US" sz="1100" dirty="0"/>
          </a:p>
        </p:txBody>
      </p:sp>
      <p:sp>
        <p:nvSpPr>
          <p:cNvPr id="28" name="Shape 23"/>
          <p:cNvSpPr/>
          <p:nvPr/>
        </p:nvSpPr>
        <p:spPr>
          <a:xfrm>
            <a:off x="4114800" y="3529584"/>
            <a:ext cx="566928" cy="566928"/>
          </a:xfrm>
          <a:prstGeom prst="ellipse">
            <a:avLst/>
          </a:prstGeom>
          <a:solidFill>
            <a:srgbClr val="0E7C86">
              <a:alpha val="22000"/>
            </a:srgbClr>
          </a:solidFill>
          <a:ln w="12700">
            <a:solidFill>
              <a:srgbClr val="0E7C86">
                <a:alpha val="0"/>
              </a:srgbClr>
            </a:solidFill>
            <a:prstDash val="solid"/>
          </a:ln>
        </p:spPr>
      </p:sp>
      <p:pic>
        <p:nvPicPr>
          <p:cNvPr id="29" name="Image 2" descr="preencoded.png">    </p:cNvPr>
          <p:cNvPicPr>
            <a:picLocks noChangeAspect="1"/>
          </p:cNvPicPr>
          <p:nvPr/>
        </p:nvPicPr>
        <p:blipFill>
          <a:blip r:embed="rId3"/>
          <a:stretch>
            <a:fillRect/>
          </a:stretch>
        </p:blipFill>
        <p:spPr>
          <a:xfrm>
            <a:off x="4250863" y="3665647"/>
            <a:ext cx="294803" cy="294803"/>
          </a:xfrm>
          <a:prstGeom prst="rect">
            <a:avLst/>
          </a:prstGeom>
        </p:spPr>
      </p:pic>
      <p:sp>
        <p:nvSpPr>
          <p:cNvPr id="30" name="Text 24"/>
          <p:cNvSpPr txBox="1"/>
          <p:nvPr/>
        </p:nvSpPr>
        <p:spPr>
          <a:xfrm>
            <a:off x="4846320" y="3465576"/>
            <a:ext cx="384048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Comment les utiliser</a:t>
            </a:r>
            <a:endParaRPr lang="en-US" sz="1300" dirty="0"/>
          </a:p>
        </p:txBody>
      </p:sp>
      <p:sp>
        <p:nvSpPr>
          <p:cNvPr id="31" name="Text 25"/>
          <p:cNvSpPr txBox="1"/>
          <p:nvPr/>
        </p:nvSpPr>
        <p:spPr>
          <a:xfrm>
            <a:off x="4846320" y="3767328"/>
            <a:ext cx="3840480" cy="56692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En complément de la statistique officielle : direction, calendrier et géographie de l'activité — pas en remplacement du PIB</a:t>
            </a:r>
            <a:endParaRPr lang="en-US" sz="1100" dirty="0"/>
          </a:p>
        </p:txBody>
      </p:sp>
      <p:sp>
        <p:nvSpPr>
          <p:cNvPr id="32" name="Text 26"/>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Román et al. (2018) ; Henderson, Storeygard &amp; Weil (2012) ; Chen &amp; Nordhaus (2011)</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01 · LA SÉRIE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Trois notebooks, une chaîne, un paramètre</a:t>
            </a:r>
            <a:endParaRPr lang="en-US" sz="2800" dirty="0"/>
          </a:p>
        </p:txBody>
      </p:sp>
      <p:sp>
        <p:nvSpPr>
          <p:cNvPr id="4" name="dot0"/>
          <p:cNvSpPr/>
          <p:nvPr/>
        </p:nvSpPr>
        <p:spPr>
          <a:xfrm>
            <a:off x="7644384" y="338328"/>
            <a:ext cx="100584" cy="100584"/>
          </a:xfrm>
          <a:prstGeom prst="ellipse">
            <a:avLst/>
          </a:prstGeom>
          <a:solidFill>
            <a:srgbClr val="00A86A"/>
          </a:solidFill>
          <a:ln w="12700">
            <a:solidFill>
              <a:srgbClr val="00A86A"/>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2560320" cy="3108960"/>
          </a:xfrm>
          <a:prstGeom prst="roundRect">
            <a:avLst>
              <a:gd name="adj" fmla="val 2857"/>
            </a:avLst>
          </a:prstGeom>
          <a:solidFill>
            <a:srgbClr val="E8F5EF"/>
          </a:solidFill>
          <a:ln w="15875">
            <a:solidFill>
              <a:srgbClr val="00704A"/>
            </a:solidFill>
            <a:prstDash val="solid"/>
          </a:ln>
        </p:spPr>
      </p:sp>
      <p:sp>
        <p:nvSpPr>
          <p:cNvPr id="12" name="Shape 9"/>
          <p:cNvSpPr/>
          <p:nvPr/>
        </p:nvSpPr>
        <p:spPr>
          <a:xfrm>
            <a:off x="640080" y="1508760"/>
            <a:ext cx="548640" cy="548640"/>
          </a:xfrm>
          <a:prstGeom prst="ellipse">
            <a:avLst/>
          </a:prstGeom>
          <a:solidFill>
            <a:srgbClr val="00704A">
              <a:alpha val="22000"/>
            </a:srgbClr>
          </a:solidFill>
          <a:ln w="12700">
            <a:solidFill>
              <a:srgbClr val="00704A">
                <a:alpha val="0"/>
              </a:srgbClr>
            </a:solidFill>
            <a:prstDash val="solid"/>
          </a:ln>
        </p:spPr>
      </p:sp>
      <p:pic>
        <p:nvPicPr>
          <p:cNvPr id="13" name="Image 0" descr="preencoded.png">    </p:cNvPr>
          <p:cNvPicPr>
            <a:picLocks noChangeAspect="1"/>
          </p:cNvPicPr>
          <p:nvPr/>
        </p:nvPicPr>
        <p:blipFill>
          <a:blip r:embed="rId1"/>
          <a:stretch>
            <a:fillRect/>
          </a:stretch>
        </p:blipFill>
        <p:spPr>
          <a:xfrm>
            <a:off x="771754" y="1640434"/>
            <a:ext cx="285293" cy="285293"/>
          </a:xfrm>
          <a:prstGeom prst="rect">
            <a:avLst/>
          </a:prstGeom>
        </p:spPr>
      </p:pic>
      <p:sp>
        <p:nvSpPr>
          <p:cNvPr id="14" name="Text 10"/>
          <p:cNvSpPr txBox="1"/>
          <p:nvPr/>
        </p:nvSpPr>
        <p:spPr>
          <a:xfrm>
            <a:off x="1325880" y="1508760"/>
            <a:ext cx="1600200" cy="5486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Notebook 1 · Collecter</a:t>
            </a:r>
            <a:endParaRPr lang="en-US" sz="1300" dirty="0"/>
          </a:p>
        </p:txBody>
      </p:sp>
      <p:sp>
        <p:nvSpPr>
          <p:cNvPr id="15" name="Text 11"/>
          <p:cNvSpPr txBox="1"/>
          <p:nvPr/>
        </p:nvSpPr>
        <p:spPr>
          <a:xfrm>
            <a:off x="640080" y="2167128"/>
            <a:ext cx="2240280" cy="411480"/>
          </a:xfrm>
          <a:prstGeom prst="rect">
            <a:avLst/>
          </a:prstGeom>
          <a:noFill/>
          <a:ln/>
        </p:spPr>
        <p:txBody>
          <a:bodyPr wrap="square" lIns="0" tIns="0" rIns="0" bIns="0" rtlCol="0" anchor="t"/>
          <a:lstStyle/>
          <a:p>
            <a:pPr indent="0" marL="0">
              <a:buNone/>
            </a:pPr>
            <a:r>
              <a:rPr lang="en-US" sz="1050" i="1" dirty="0">
                <a:solidFill>
                  <a:srgbClr val="00704A"/>
                </a:solidFill>
                <a:latin typeface="Calibri" pitchFamily="34" charset="0"/>
                <a:ea typeface="Calibri" pitchFamily="34" charset="-122"/>
                <a:cs typeface="Calibri" pitchFamily="34" charset="-120"/>
              </a:rPr>
              <a:t>NASA Black Marble (VNP46A1–A4)</a:t>
            </a:r>
            <a:endParaRPr lang="en-US" sz="1050" dirty="0"/>
          </a:p>
        </p:txBody>
      </p:sp>
      <p:sp>
        <p:nvSpPr>
          <p:cNvPr id="16" name="Text 12"/>
          <p:cNvSpPr txBox="1"/>
          <p:nvPr/>
        </p:nvSpPr>
        <p:spPr>
          <a:xfrm>
            <a:off x="640080" y="2624328"/>
            <a:ext cx="2240280" cy="11430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Emprise du pays et tuiles VIIRS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Requête au catalogue NASA CMR</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Matrice de disponibilité, téléchargement vérifié</a:t>
            </a:r>
            <a:endParaRPr lang="en-US" sz="1100" dirty="0"/>
          </a:p>
        </p:txBody>
      </p:sp>
      <p:sp>
        <p:nvSpPr>
          <p:cNvPr id="17" name="Text 13"/>
          <p:cNvSpPr txBox="1"/>
          <p:nvPr/>
        </p:nvSpPr>
        <p:spPr>
          <a:xfrm>
            <a:off x="640080" y="3867912"/>
            <a:ext cx="2240280" cy="411480"/>
          </a:xfrm>
          <a:prstGeom prst="rect">
            <a:avLst/>
          </a:prstGeom>
          <a:noFill/>
          <a:ln/>
        </p:spPr>
        <p:txBody>
          <a:bodyPr wrap="square" lIns="0" tIns="0" rIns="0" bIns="0" rtlCol="0" anchor="t"/>
          <a:lstStyle/>
          <a:p>
            <a:pPr indent="0" marL="0">
              <a:buNone/>
            </a:pPr>
            <a:r>
              <a:rPr lang="en-US" sz="1050" b="1" dirty="0">
                <a:solidFill>
                  <a:srgbClr val="5E6964"/>
                </a:solidFill>
                <a:latin typeface="Calibri" pitchFamily="34" charset="0"/>
                <a:ea typeface="Calibri" pitchFamily="34" charset="-122"/>
                <a:cs typeface="Calibri" pitchFamily="34" charset="-120"/>
              </a:rPr>
              <a:t>Sortie : fichiers .h5, inventaire, journal</a:t>
            </a:r>
            <a:endParaRPr lang="en-US" sz="1050" dirty="0"/>
          </a:p>
        </p:txBody>
      </p:sp>
      <p:sp>
        <p:nvSpPr>
          <p:cNvPr id="18" name="Shape 14"/>
          <p:cNvSpPr/>
          <p:nvPr/>
        </p:nvSpPr>
        <p:spPr>
          <a:xfrm>
            <a:off x="3044952" y="2880360"/>
            <a:ext cx="219456" cy="914"/>
          </a:xfrm>
          <a:prstGeom prst="line">
            <a:avLst/>
          </a:prstGeom>
          <a:noFill/>
          <a:ln w="15875">
            <a:solidFill>
              <a:srgbClr val="5E6964"/>
            </a:solidFill>
            <a:prstDash val="solid"/>
            <a:tailEnd type="triangle"/>
          </a:ln>
        </p:spPr>
      </p:sp>
      <p:sp>
        <p:nvSpPr>
          <p:cNvPr id="19" name="Shape 15"/>
          <p:cNvSpPr/>
          <p:nvPr/>
        </p:nvSpPr>
        <p:spPr>
          <a:xfrm>
            <a:off x="3291840" y="1325880"/>
            <a:ext cx="2560320" cy="3108960"/>
          </a:xfrm>
          <a:prstGeom prst="roundRect">
            <a:avLst>
              <a:gd name="adj" fmla="val 2857"/>
            </a:avLst>
          </a:prstGeom>
          <a:solidFill>
            <a:srgbClr val="F4F7F5"/>
          </a:solidFill>
          <a:ln w="9525">
            <a:solidFill>
              <a:srgbClr val="D5DED9"/>
            </a:solidFill>
            <a:prstDash val="solid"/>
          </a:ln>
        </p:spPr>
      </p:sp>
      <p:sp>
        <p:nvSpPr>
          <p:cNvPr id="20" name="Shape 16"/>
          <p:cNvSpPr/>
          <p:nvPr/>
        </p:nvSpPr>
        <p:spPr>
          <a:xfrm>
            <a:off x="3474720" y="1508760"/>
            <a:ext cx="548640" cy="548640"/>
          </a:xfrm>
          <a:prstGeom prst="ellipse">
            <a:avLst/>
          </a:prstGeom>
          <a:solidFill>
            <a:srgbClr val="0E7C86">
              <a:alpha val="22000"/>
            </a:srgbClr>
          </a:solidFill>
          <a:ln w="12700">
            <a:solidFill>
              <a:srgbClr val="0E7C86">
                <a:alpha val="0"/>
              </a:srgbClr>
            </a:solidFill>
            <a:prstDash val="solid"/>
          </a:ln>
        </p:spPr>
      </p:sp>
      <p:pic>
        <p:nvPicPr>
          <p:cNvPr id="21" name="Image 1" descr="preencoded.png">    </p:cNvPr>
          <p:cNvPicPr>
            <a:picLocks noChangeAspect="1"/>
          </p:cNvPicPr>
          <p:nvPr/>
        </p:nvPicPr>
        <p:blipFill>
          <a:blip r:embed="rId2"/>
          <a:stretch>
            <a:fillRect/>
          </a:stretch>
        </p:blipFill>
        <p:spPr>
          <a:xfrm>
            <a:off x="3606394" y="1640434"/>
            <a:ext cx="285293" cy="285293"/>
          </a:xfrm>
          <a:prstGeom prst="rect">
            <a:avLst/>
          </a:prstGeom>
        </p:spPr>
      </p:pic>
      <p:sp>
        <p:nvSpPr>
          <p:cNvPr id="22" name="Text 17"/>
          <p:cNvSpPr txBox="1"/>
          <p:nvPr/>
        </p:nvSpPr>
        <p:spPr>
          <a:xfrm>
            <a:off x="4160520" y="1508760"/>
            <a:ext cx="1600200" cy="5486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Notebook 2 · Explorer</a:t>
            </a:r>
            <a:endParaRPr lang="en-US" sz="1300" dirty="0"/>
          </a:p>
        </p:txBody>
      </p:sp>
      <p:sp>
        <p:nvSpPr>
          <p:cNvPr id="23" name="Text 18"/>
          <p:cNvSpPr txBox="1"/>
          <p:nvPr/>
        </p:nvSpPr>
        <p:spPr>
          <a:xfrm>
            <a:off x="3474720" y="2167128"/>
            <a:ext cx="2240280" cy="411480"/>
          </a:xfrm>
          <a:prstGeom prst="rect">
            <a:avLst/>
          </a:prstGeom>
          <a:noFill/>
          <a:ln/>
        </p:spPr>
        <p:txBody>
          <a:bodyPr wrap="square" lIns="0" tIns="0" rIns="0" bIns="0" rtlCol="0" anchor="t"/>
          <a:lstStyle/>
          <a:p>
            <a:pPr indent="0" marL="0">
              <a:buNone/>
            </a:pPr>
            <a:r>
              <a:rPr lang="en-US" sz="1050" i="1" dirty="0">
                <a:solidFill>
                  <a:srgbClr val="0E7C86"/>
                </a:solidFill>
                <a:latin typeface="Calibri" pitchFamily="34" charset="0"/>
                <a:ea typeface="Calibri" pitchFamily="34" charset="-122"/>
                <a:cs typeface="Calibri" pitchFamily="34" charset="-120"/>
              </a:rPr>
              <a:t>Anatomie d'un fichier Black Marble</a:t>
            </a:r>
            <a:endParaRPr lang="en-US" sz="1050" dirty="0"/>
          </a:p>
        </p:txBody>
      </p:sp>
      <p:sp>
        <p:nvSpPr>
          <p:cNvPr id="24" name="Text 19"/>
          <p:cNvSpPr txBox="1"/>
          <p:nvPr/>
        </p:nvSpPr>
        <p:spPr>
          <a:xfrm>
            <a:off x="3474720" y="2624328"/>
            <a:ext cx="2240280" cy="11430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Arbre HDF5, couches, attributs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Décodage, drapeaux qualité, masques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Mosaïque, découpage, distribution</a:t>
            </a:r>
            <a:endParaRPr lang="en-US" sz="1100" dirty="0"/>
          </a:p>
        </p:txBody>
      </p:sp>
      <p:sp>
        <p:nvSpPr>
          <p:cNvPr id="25" name="Text 20"/>
          <p:cNvSpPr txBox="1"/>
          <p:nvPr/>
        </p:nvSpPr>
        <p:spPr>
          <a:xfrm>
            <a:off x="3474720" y="3867912"/>
            <a:ext cx="2240280" cy="411480"/>
          </a:xfrm>
          <a:prstGeom prst="rect">
            <a:avLst/>
          </a:prstGeom>
          <a:noFill/>
          <a:ln/>
        </p:spPr>
        <p:txBody>
          <a:bodyPr wrap="square" lIns="0" tIns="0" rIns="0" bIns="0" rtlCol="0" anchor="t"/>
          <a:lstStyle/>
          <a:p>
            <a:pPr indent="0" marL="0">
              <a:buNone/>
            </a:pPr>
            <a:r>
              <a:rPr lang="en-US" sz="1050" b="1" dirty="0">
                <a:solidFill>
                  <a:srgbClr val="5E6964"/>
                </a:solidFill>
                <a:latin typeface="Calibri" pitchFamily="34" charset="0"/>
                <a:ea typeface="Calibri" pitchFamily="34" charset="-122"/>
                <a:cs typeface="Calibri" pitchFamily="34" charset="-120"/>
              </a:rPr>
              <a:t>Sortie : GeoTIFF, CSV, métadonnées JSON</a:t>
            </a:r>
            <a:endParaRPr lang="en-US" sz="1050" dirty="0"/>
          </a:p>
        </p:txBody>
      </p:sp>
      <p:sp>
        <p:nvSpPr>
          <p:cNvPr id="26" name="Shape 21"/>
          <p:cNvSpPr/>
          <p:nvPr/>
        </p:nvSpPr>
        <p:spPr>
          <a:xfrm>
            <a:off x="5879592" y="2880360"/>
            <a:ext cx="219456" cy="914"/>
          </a:xfrm>
          <a:prstGeom prst="line">
            <a:avLst/>
          </a:prstGeom>
          <a:noFill/>
          <a:ln w="15875">
            <a:solidFill>
              <a:srgbClr val="5E6964"/>
            </a:solidFill>
            <a:prstDash val="solid"/>
            <a:tailEnd type="triangle"/>
          </a:ln>
        </p:spPr>
      </p:sp>
      <p:sp>
        <p:nvSpPr>
          <p:cNvPr id="27" name="Shape 22"/>
          <p:cNvSpPr/>
          <p:nvPr/>
        </p:nvSpPr>
        <p:spPr>
          <a:xfrm>
            <a:off x="6126480" y="1325880"/>
            <a:ext cx="2560320" cy="3108960"/>
          </a:xfrm>
          <a:prstGeom prst="roundRect">
            <a:avLst>
              <a:gd name="adj" fmla="val 2857"/>
            </a:avLst>
          </a:prstGeom>
          <a:solidFill>
            <a:srgbClr val="F4F7F5"/>
          </a:solidFill>
          <a:ln w="9525">
            <a:solidFill>
              <a:srgbClr val="D5DED9"/>
            </a:solidFill>
            <a:prstDash val="solid"/>
          </a:ln>
        </p:spPr>
      </p:sp>
      <p:sp>
        <p:nvSpPr>
          <p:cNvPr id="28" name="Shape 23"/>
          <p:cNvSpPr/>
          <p:nvPr/>
        </p:nvSpPr>
        <p:spPr>
          <a:xfrm>
            <a:off x="6309360" y="1508760"/>
            <a:ext cx="548640" cy="548640"/>
          </a:xfrm>
          <a:prstGeom prst="ellipse">
            <a:avLst/>
          </a:prstGeom>
          <a:solidFill>
            <a:srgbClr val="D49A00">
              <a:alpha val="22000"/>
            </a:srgbClr>
          </a:solidFill>
          <a:ln w="12700">
            <a:solidFill>
              <a:srgbClr val="D49A00">
                <a:alpha val="0"/>
              </a:srgbClr>
            </a:solidFill>
            <a:prstDash val="solid"/>
          </a:ln>
        </p:spPr>
      </p:sp>
      <p:pic>
        <p:nvPicPr>
          <p:cNvPr id="29" name="Image 2" descr="preencoded.png">    </p:cNvPr>
          <p:cNvPicPr>
            <a:picLocks noChangeAspect="1"/>
          </p:cNvPicPr>
          <p:nvPr/>
        </p:nvPicPr>
        <p:blipFill>
          <a:blip r:embed="rId3"/>
          <a:stretch>
            <a:fillRect/>
          </a:stretch>
        </p:blipFill>
        <p:spPr>
          <a:xfrm>
            <a:off x="6441034" y="1640434"/>
            <a:ext cx="285293" cy="285293"/>
          </a:xfrm>
          <a:prstGeom prst="rect">
            <a:avLst/>
          </a:prstGeom>
        </p:spPr>
      </p:pic>
      <p:sp>
        <p:nvSpPr>
          <p:cNvPr id="30" name="Text 24"/>
          <p:cNvSpPr txBox="1"/>
          <p:nvPr/>
        </p:nvSpPr>
        <p:spPr>
          <a:xfrm>
            <a:off x="6995160" y="1508760"/>
            <a:ext cx="1600200" cy="5486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Notebook 3 · Analyser</a:t>
            </a:r>
            <a:endParaRPr lang="en-US" sz="1300" dirty="0"/>
          </a:p>
        </p:txBody>
      </p:sp>
      <p:sp>
        <p:nvSpPr>
          <p:cNvPr id="31" name="Text 25"/>
          <p:cNvSpPr txBox="1"/>
          <p:nvPr/>
        </p:nvSpPr>
        <p:spPr>
          <a:xfrm>
            <a:off x="6309360" y="2167128"/>
            <a:ext cx="2240280" cy="411480"/>
          </a:xfrm>
          <a:prstGeom prst="rect">
            <a:avLst/>
          </a:prstGeom>
          <a:noFill/>
          <a:ln/>
        </p:spPr>
        <p:txBody>
          <a:bodyPr wrap="square" lIns="0" tIns="0" rIns="0" bIns="0" rtlCol="0" anchor="t"/>
          <a:lstStyle/>
          <a:p>
            <a:pPr indent="0" marL="0">
              <a:buNone/>
            </a:pPr>
            <a:r>
              <a:rPr lang="en-US" sz="1050" i="1" dirty="0">
                <a:solidFill>
                  <a:srgbClr val="D49A00"/>
                </a:solidFill>
                <a:latin typeface="Calibri" pitchFamily="34" charset="0"/>
                <a:ea typeface="Calibri" pitchFamily="34" charset="-122"/>
                <a:cs typeface="Calibri" pitchFamily="34" charset="-120"/>
              </a:rPr>
              <a:t>VIIRS VNL V2 + Black Marble sur Earth Engine</a:t>
            </a:r>
            <a:endParaRPr lang="en-US" sz="1050" dirty="0"/>
          </a:p>
        </p:txBody>
      </p:sp>
      <p:sp>
        <p:nvSpPr>
          <p:cNvPr id="32" name="Text 26"/>
          <p:cNvSpPr txBox="1"/>
          <p:nvPr/>
        </p:nvSpPr>
        <p:spPr>
          <a:xfrm>
            <a:off x="6309360" y="2624328"/>
            <a:ext cx="2240280" cy="11430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Tendances, régions, convergence</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Lien PIB, chocs, inégalités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Zones industrielles</a:t>
            </a:r>
            <a:endParaRPr lang="en-US" sz="1100" dirty="0"/>
          </a:p>
        </p:txBody>
      </p:sp>
      <p:sp>
        <p:nvSpPr>
          <p:cNvPr id="33" name="Text 27"/>
          <p:cNvSpPr txBox="1"/>
          <p:nvPr/>
        </p:nvSpPr>
        <p:spPr>
          <a:xfrm>
            <a:off x="6309360" y="3867912"/>
            <a:ext cx="2240280" cy="411480"/>
          </a:xfrm>
          <a:prstGeom prst="rect">
            <a:avLst/>
          </a:prstGeom>
          <a:noFill/>
          <a:ln/>
        </p:spPr>
        <p:txBody>
          <a:bodyPr wrap="square" lIns="0" tIns="0" rIns="0" bIns="0" rtlCol="0" anchor="t"/>
          <a:lstStyle/>
          <a:p>
            <a:pPr indent="0" marL="0">
              <a:buNone/>
            </a:pPr>
            <a:r>
              <a:rPr lang="en-US" sz="1050" b="1" dirty="0">
                <a:solidFill>
                  <a:srgbClr val="5E6964"/>
                </a:solidFill>
                <a:latin typeface="Calibri" pitchFamily="34" charset="0"/>
                <a:ea typeface="Calibri" pitchFamily="34" charset="-122"/>
                <a:cs typeface="Calibri" pitchFamily="34" charset="-120"/>
              </a:rPr>
              <a:t>Sortie : tableau de bord GitHub Pages</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02</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Collecter</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Comment obtenir les bons fichiers NASA, et seulement ceux-là ?</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5C242"/>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COLLECTER · OBJECTIF</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Un code ISO3 en entrée, une collecte vérifiée en sortie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1481328" cy="1115568"/>
          </a:xfrm>
          <a:prstGeom prst="roundRect">
            <a:avLst>
              <a:gd name="adj" fmla="val 6557"/>
            </a:avLst>
          </a:prstGeom>
          <a:solidFill>
            <a:srgbClr val="F4F7F5"/>
          </a:solidFill>
          <a:ln w="9525">
            <a:solidFill>
              <a:srgbClr val="D5DED9"/>
            </a:solidFill>
            <a:prstDash val="solid"/>
          </a:ln>
        </p:spPr>
      </p:sp>
      <p:sp>
        <p:nvSpPr>
          <p:cNvPr id="12" name="Shape 9"/>
          <p:cNvSpPr/>
          <p:nvPr/>
        </p:nvSpPr>
        <p:spPr>
          <a:xfrm>
            <a:off x="960120" y="1490472"/>
            <a:ext cx="475488" cy="475488"/>
          </a:xfrm>
          <a:prstGeom prst="ellipse">
            <a:avLst/>
          </a:prstGeom>
          <a:solidFill>
            <a:srgbClr val="00704A">
              <a:alpha val="22000"/>
            </a:srgbClr>
          </a:solidFill>
          <a:ln w="12700">
            <a:solidFill>
              <a:srgbClr val="00704A">
                <a:alpha val="0"/>
              </a:srgbClr>
            </a:solidFill>
            <a:prstDash val="solid"/>
          </a:ln>
        </p:spPr>
      </p:sp>
      <p:pic>
        <p:nvPicPr>
          <p:cNvPr id="13" name="Image 0" descr="preencoded.png">    </p:cNvPr>
          <p:cNvPicPr>
            <a:picLocks noChangeAspect="1"/>
          </p:cNvPicPr>
          <p:nvPr/>
        </p:nvPicPr>
        <p:blipFill>
          <a:blip r:embed="rId1"/>
          <a:stretch>
            <a:fillRect/>
          </a:stretch>
        </p:blipFill>
        <p:spPr>
          <a:xfrm>
            <a:off x="1074237" y="1604589"/>
            <a:ext cx="247254" cy="247254"/>
          </a:xfrm>
          <a:prstGeom prst="rect">
            <a:avLst/>
          </a:prstGeom>
        </p:spPr>
      </p:pic>
      <p:sp>
        <p:nvSpPr>
          <p:cNvPr id="14" name="Text 10"/>
          <p:cNvSpPr txBox="1"/>
          <p:nvPr/>
        </p:nvSpPr>
        <p:spPr>
          <a:xfrm>
            <a:off x="566928"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1</a:t>
            </a:r>
            <a:endParaRPr lang="en-US" sz="1300" dirty="0"/>
          </a:p>
        </p:txBody>
      </p:sp>
      <p:sp>
        <p:nvSpPr>
          <p:cNvPr id="15" name="Text 11"/>
          <p:cNvSpPr txBox="1"/>
          <p:nvPr/>
        </p:nvSpPr>
        <p:spPr>
          <a:xfrm>
            <a:off x="530352"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Environnement</a:t>
            </a:r>
            <a:endParaRPr lang="en-US" sz="1100" dirty="0"/>
          </a:p>
        </p:txBody>
      </p:sp>
      <p:sp>
        <p:nvSpPr>
          <p:cNvPr id="16" name="Shape 12"/>
          <p:cNvSpPr/>
          <p:nvPr/>
        </p:nvSpPr>
        <p:spPr>
          <a:xfrm>
            <a:off x="2121408" y="1371600"/>
            <a:ext cx="1481328" cy="1115568"/>
          </a:xfrm>
          <a:prstGeom prst="roundRect">
            <a:avLst>
              <a:gd name="adj" fmla="val 6557"/>
            </a:avLst>
          </a:prstGeom>
          <a:solidFill>
            <a:srgbClr val="F4F7F5"/>
          </a:solidFill>
          <a:ln w="9525">
            <a:solidFill>
              <a:srgbClr val="D5DED9"/>
            </a:solidFill>
            <a:prstDash val="solid"/>
          </a:ln>
        </p:spPr>
      </p:sp>
      <p:sp>
        <p:nvSpPr>
          <p:cNvPr id="17" name="Shape 13"/>
          <p:cNvSpPr/>
          <p:nvPr/>
        </p:nvSpPr>
        <p:spPr>
          <a:xfrm>
            <a:off x="2624328" y="1490472"/>
            <a:ext cx="475488" cy="475488"/>
          </a:xfrm>
          <a:prstGeom prst="ellipse">
            <a:avLst/>
          </a:prstGeom>
          <a:solidFill>
            <a:srgbClr val="00704A">
              <a:alpha val="22000"/>
            </a:srgbClr>
          </a:solidFill>
          <a:ln w="12700">
            <a:solidFill>
              <a:srgbClr val="00704A">
                <a:alpha val="0"/>
              </a:srgbClr>
            </a:solidFill>
            <a:prstDash val="solid"/>
          </a:ln>
        </p:spPr>
      </p:sp>
      <p:pic>
        <p:nvPicPr>
          <p:cNvPr id="18" name="Image 1" descr="preencoded.png">    </p:cNvPr>
          <p:cNvPicPr>
            <a:picLocks noChangeAspect="1"/>
          </p:cNvPicPr>
          <p:nvPr/>
        </p:nvPicPr>
        <p:blipFill>
          <a:blip r:embed="rId2"/>
          <a:stretch>
            <a:fillRect/>
          </a:stretch>
        </p:blipFill>
        <p:spPr>
          <a:xfrm>
            <a:off x="2738445" y="1604589"/>
            <a:ext cx="247254" cy="247254"/>
          </a:xfrm>
          <a:prstGeom prst="rect">
            <a:avLst/>
          </a:prstGeom>
        </p:spPr>
      </p:pic>
      <p:sp>
        <p:nvSpPr>
          <p:cNvPr id="19" name="Text 14"/>
          <p:cNvSpPr txBox="1"/>
          <p:nvPr/>
        </p:nvSpPr>
        <p:spPr>
          <a:xfrm>
            <a:off x="2231136"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2</a:t>
            </a:r>
            <a:endParaRPr lang="en-US" sz="1300" dirty="0"/>
          </a:p>
        </p:txBody>
      </p:sp>
      <p:sp>
        <p:nvSpPr>
          <p:cNvPr id="20" name="Text 15"/>
          <p:cNvSpPr txBox="1"/>
          <p:nvPr/>
        </p:nvSpPr>
        <p:spPr>
          <a:xfrm>
            <a:off x="2194560"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Dépendances</a:t>
            </a:r>
            <a:endParaRPr lang="en-US" sz="1100" dirty="0"/>
          </a:p>
        </p:txBody>
      </p:sp>
      <p:sp>
        <p:nvSpPr>
          <p:cNvPr id="21" name="Shape 16"/>
          <p:cNvSpPr/>
          <p:nvPr/>
        </p:nvSpPr>
        <p:spPr>
          <a:xfrm>
            <a:off x="3785616" y="1371600"/>
            <a:ext cx="1481328" cy="1115568"/>
          </a:xfrm>
          <a:prstGeom prst="roundRect">
            <a:avLst>
              <a:gd name="adj" fmla="val 6557"/>
            </a:avLst>
          </a:prstGeom>
          <a:solidFill>
            <a:srgbClr val="F4F7F5"/>
          </a:solidFill>
          <a:ln w="9525">
            <a:solidFill>
              <a:srgbClr val="D5DED9"/>
            </a:solidFill>
            <a:prstDash val="solid"/>
          </a:ln>
        </p:spPr>
      </p:sp>
      <p:sp>
        <p:nvSpPr>
          <p:cNvPr id="22" name="Shape 17"/>
          <p:cNvSpPr/>
          <p:nvPr/>
        </p:nvSpPr>
        <p:spPr>
          <a:xfrm>
            <a:off x="4288536" y="1490472"/>
            <a:ext cx="475488" cy="475488"/>
          </a:xfrm>
          <a:prstGeom prst="ellipse">
            <a:avLst/>
          </a:prstGeom>
          <a:solidFill>
            <a:srgbClr val="00704A">
              <a:alpha val="22000"/>
            </a:srgbClr>
          </a:solidFill>
          <a:ln w="12700">
            <a:solidFill>
              <a:srgbClr val="00704A">
                <a:alpha val="0"/>
              </a:srgbClr>
            </a:solidFill>
            <a:prstDash val="solid"/>
          </a:ln>
        </p:spPr>
      </p:sp>
      <p:pic>
        <p:nvPicPr>
          <p:cNvPr id="23" name="Image 2" descr="preencoded.png">    </p:cNvPr>
          <p:cNvPicPr>
            <a:picLocks noChangeAspect="1"/>
          </p:cNvPicPr>
          <p:nvPr/>
        </p:nvPicPr>
        <p:blipFill>
          <a:blip r:embed="rId3"/>
          <a:stretch>
            <a:fillRect/>
          </a:stretch>
        </p:blipFill>
        <p:spPr>
          <a:xfrm>
            <a:off x="4402653" y="1604589"/>
            <a:ext cx="247254" cy="247254"/>
          </a:xfrm>
          <a:prstGeom prst="rect">
            <a:avLst/>
          </a:prstGeom>
        </p:spPr>
      </p:pic>
      <p:sp>
        <p:nvSpPr>
          <p:cNvPr id="24" name="Text 18"/>
          <p:cNvSpPr txBox="1"/>
          <p:nvPr/>
        </p:nvSpPr>
        <p:spPr>
          <a:xfrm>
            <a:off x="3895344"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3</a:t>
            </a:r>
            <a:endParaRPr lang="en-US" sz="1300" dirty="0"/>
          </a:p>
        </p:txBody>
      </p:sp>
      <p:sp>
        <p:nvSpPr>
          <p:cNvPr id="25" name="Text 19"/>
          <p:cNvSpPr txBox="1"/>
          <p:nvPr/>
        </p:nvSpPr>
        <p:spPr>
          <a:xfrm>
            <a:off x="3858768"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Jeton (4 sources)</a:t>
            </a:r>
            <a:endParaRPr lang="en-US" sz="1100" dirty="0"/>
          </a:p>
        </p:txBody>
      </p:sp>
      <p:sp>
        <p:nvSpPr>
          <p:cNvPr id="26" name="Shape 20"/>
          <p:cNvSpPr/>
          <p:nvPr/>
        </p:nvSpPr>
        <p:spPr>
          <a:xfrm>
            <a:off x="5449824" y="1371600"/>
            <a:ext cx="1481328" cy="1115568"/>
          </a:xfrm>
          <a:prstGeom prst="roundRect">
            <a:avLst>
              <a:gd name="adj" fmla="val 6557"/>
            </a:avLst>
          </a:prstGeom>
          <a:solidFill>
            <a:srgbClr val="E8F5EF"/>
          </a:solidFill>
          <a:ln w="15875">
            <a:solidFill>
              <a:srgbClr val="00704A"/>
            </a:solidFill>
            <a:prstDash val="solid"/>
          </a:ln>
        </p:spPr>
      </p:sp>
      <p:sp>
        <p:nvSpPr>
          <p:cNvPr id="27" name="Shape 21"/>
          <p:cNvSpPr/>
          <p:nvPr/>
        </p:nvSpPr>
        <p:spPr>
          <a:xfrm>
            <a:off x="5952744" y="1490472"/>
            <a:ext cx="475488" cy="475488"/>
          </a:xfrm>
          <a:prstGeom prst="ellipse">
            <a:avLst/>
          </a:prstGeom>
          <a:solidFill>
            <a:srgbClr val="00704A">
              <a:alpha val="22000"/>
            </a:srgbClr>
          </a:solidFill>
          <a:ln w="12700">
            <a:solidFill>
              <a:srgbClr val="00704A">
                <a:alpha val="0"/>
              </a:srgbClr>
            </a:solidFill>
            <a:prstDash val="solid"/>
          </a:ln>
        </p:spPr>
      </p:sp>
      <p:pic>
        <p:nvPicPr>
          <p:cNvPr id="28" name="Image 3" descr="preencoded.png">    </p:cNvPr>
          <p:cNvPicPr>
            <a:picLocks noChangeAspect="1"/>
          </p:cNvPicPr>
          <p:nvPr/>
        </p:nvPicPr>
        <p:blipFill>
          <a:blip r:embed="rId4"/>
          <a:stretch>
            <a:fillRect/>
          </a:stretch>
        </p:blipFill>
        <p:spPr>
          <a:xfrm>
            <a:off x="6066861" y="1604589"/>
            <a:ext cx="247254" cy="247254"/>
          </a:xfrm>
          <a:prstGeom prst="rect">
            <a:avLst/>
          </a:prstGeom>
        </p:spPr>
      </p:pic>
      <p:sp>
        <p:nvSpPr>
          <p:cNvPr id="29" name="Text 22"/>
          <p:cNvSpPr txBox="1"/>
          <p:nvPr/>
        </p:nvSpPr>
        <p:spPr>
          <a:xfrm>
            <a:off x="5559552"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4</a:t>
            </a:r>
            <a:endParaRPr lang="en-US" sz="1300" dirty="0"/>
          </a:p>
        </p:txBody>
      </p:sp>
      <p:sp>
        <p:nvSpPr>
          <p:cNvPr id="30" name="Text 23"/>
          <p:cNvSpPr txBox="1"/>
          <p:nvPr/>
        </p:nvSpPr>
        <p:spPr>
          <a:xfrm>
            <a:off x="5522976"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Paramètres</a:t>
            </a:r>
            <a:endParaRPr lang="en-US" sz="1100" dirty="0"/>
          </a:p>
        </p:txBody>
      </p:sp>
      <p:sp>
        <p:nvSpPr>
          <p:cNvPr id="31" name="Shape 24"/>
          <p:cNvSpPr/>
          <p:nvPr/>
        </p:nvSpPr>
        <p:spPr>
          <a:xfrm>
            <a:off x="7114032" y="1371600"/>
            <a:ext cx="1481328" cy="1115568"/>
          </a:xfrm>
          <a:prstGeom prst="roundRect">
            <a:avLst>
              <a:gd name="adj" fmla="val 6557"/>
            </a:avLst>
          </a:prstGeom>
          <a:solidFill>
            <a:srgbClr val="F4F7F5"/>
          </a:solidFill>
          <a:ln w="9525">
            <a:solidFill>
              <a:srgbClr val="D5DED9"/>
            </a:solidFill>
            <a:prstDash val="solid"/>
          </a:ln>
        </p:spPr>
      </p:sp>
      <p:sp>
        <p:nvSpPr>
          <p:cNvPr id="32" name="Shape 25"/>
          <p:cNvSpPr/>
          <p:nvPr/>
        </p:nvSpPr>
        <p:spPr>
          <a:xfrm>
            <a:off x="7616952" y="1490472"/>
            <a:ext cx="475488" cy="475488"/>
          </a:xfrm>
          <a:prstGeom prst="ellipse">
            <a:avLst/>
          </a:prstGeom>
          <a:solidFill>
            <a:srgbClr val="00704A">
              <a:alpha val="22000"/>
            </a:srgbClr>
          </a:solidFill>
          <a:ln w="12700">
            <a:solidFill>
              <a:srgbClr val="00704A">
                <a:alpha val="0"/>
              </a:srgbClr>
            </a:solidFill>
            <a:prstDash val="solid"/>
          </a:ln>
        </p:spPr>
      </p:sp>
      <p:pic>
        <p:nvPicPr>
          <p:cNvPr id="33" name="Image 4" descr="preencoded.png">    </p:cNvPr>
          <p:cNvPicPr>
            <a:picLocks noChangeAspect="1"/>
          </p:cNvPicPr>
          <p:nvPr/>
        </p:nvPicPr>
        <p:blipFill>
          <a:blip r:embed="rId5"/>
          <a:stretch>
            <a:fillRect/>
          </a:stretch>
        </p:blipFill>
        <p:spPr>
          <a:xfrm>
            <a:off x="7731069" y="1604589"/>
            <a:ext cx="247254" cy="247254"/>
          </a:xfrm>
          <a:prstGeom prst="rect">
            <a:avLst/>
          </a:prstGeom>
        </p:spPr>
      </p:pic>
      <p:sp>
        <p:nvSpPr>
          <p:cNvPr id="34" name="Text 26"/>
          <p:cNvSpPr txBox="1"/>
          <p:nvPr/>
        </p:nvSpPr>
        <p:spPr>
          <a:xfrm>
            <a:off x="7223760"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5</a:t>
            </a:r>
            <a:endParaRPr lang="en-US" sz="1300" dirty="0"/>
          </a:p>
        </p:txBody>
      </p:sp>
      <p:sp>
        <p:nvSpPr>
          <p:cNvPr id="35" name="Text 27"/>
          <p:cNvSpPr txBox="1"/>
          <p:nvPr/>
        </p:nvSpPr>
        <p:spPr>
          <a:xfrm>
            <a:off x="7187184"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Emprise et tuiles</a:t>
            </a:r>
            <a:endParaRPr lang="en-US" sz="1100" dirty="0"/>
          </a:p>
        </p:txBody>
      </p:sp>
      <p:sp>
        <p:nvSpPr>
          <p:cNvPr id="36" name="Shape 28"/>
          <p:cNvSpPr/>
          <p:nvPr/>
        </p:nvSpPr>
        <p:spPr>
          <a:xfrm>
            <a:off x="1289304" y="2670048"/>
            <a:ext cx="1481328" cy="1115568"/>
          </a:xfrm>
          <a:prstGeom prst="roundRect">
            <a:avLst>
              <a:gd name="adj" fmla="val 6557"/>
            </a:avLst>
          </a:prstGeom>
          <a:solidFill>
            <a:srgbClr val="F4F7F5"/>
          </a:solidFill>
          <a:ln w="9525">
            <a:solidFill>
              <a:srgbClr val="D5DED9"/>
            </a:solidFill>
            <a:prstDash val="solid"/>
          </a:ln>
        </p:spPr>
      </p:sp>
      <p:sp>
        <p:nvSpPr>
          <p:cNvPr id="37" name="Shape 29"/>
          <p:cNvSpPr/>
          <p:nvPr/>
        </p:nvSpPr>
        <p:spPr>
          <a:xfrm>
            <a:off x="1792224" y="2788920"/>
            <a:ext cx="475488" cy="475488"/>
          </a:xfrm>
          <a:prstGeom prst="ellipse">
            <a:avLst/>
          </a:prstGeom>
          <a:solidFill>
            <a:srgbClr val="00704A">
              <a:alpha val="22000"/>
            </a:srgbClr>
          </a:solidFill>
          <a:ln w="12700">
            <a:solidFill>
              <a:srgbClr val="00704A">
                <a:alpha val="0"/>
              </a:srgbClr>
            </a:solidFill>
            <a:prstDash val="solid"/>
          </a:ln>
        </p:spPr>
      </p:sp>
      <p:pic>
        <p:nvPicPr>
          <p:cNvPr id="38" name="Image 5" descr="preencoded.png">    </p:cNvPr>
          <p:cNvPicPr>
            <a:picLocks noChangeAspect="1"/>
          </p:cNvPicPr>
          <p:nvPr/>
        </p:nvPicPr>
        <p:blipFill>
          <a:blip r:embed="rId6"/>
          <a:stretch>
            <a:fillRect/>
          </a:stretch>
        </p:blipFill>
        <p:spPr>
          <a:xfrm>
            <a:off x="1906341" y="2903037"/>
            <a:ext cx="247254" cy="247254"/>
          </a:xfrm>
          <a:prstGeom prst="rect">
            <a:avLst/>
          </a:prstGeom>
        </p:spPr>
      </p:pic>
      <p:sp>
        <p:nvSpPr>
          <p:cNvPr id="39" name="Text 30"/>
          <p:cNvSpPr txBox="1"/>
          <p:nvPr/>
        </p:nvSpPr>
        <p:spPr>
          <a:xfrm>
            <a:off x="1399032"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6</a:t>
            </a:r>
            <a:endParaRPr lang="en-US" sz="1300" dirty="0"/>
          </a:p>
        </p:txBody>
      </p:sp>
      <p:sp>
        <p:nvSpPr>
          <p:cNvPr id="40" name="Text 31"/>
          <p:cNvSpPr txBox="1"/>
          <p:nvPr/>
        </p:nvSpPr>
        <p:spPr>
          <a:xfrm>
            <a:off x="1362456"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Requêtes CMR</a:t>
            </a:r>
            <a:endParaRPr lang="en-US" sz="1100" dirty="0"/>
          </a:p>
        </p:txBody>
      </p:sp>
      <p:sp>
        <p:nvSpPr>
          <p:cNvPr id="41" name="Shape 32"/>
          <p:cNvSpPr/>
          <p:nvPr/>
        </p:nvSpPr>
        <p:spPr>
          <a:xfrm>
            <a:off x="2953512" y="2670048"/>
            <a:ext cx="1481328" cy="1115568"/>
          </a:xfrm>
          <a:prstGeom prst="roundRect">
            <a:avLst>
              <a:gd name="adj" fmla="val 6557"/>
            </a:avLst>
          </a:prstGeom>
          <a:solidFill>
            <a:srgbClr val="F4F7F5"/>
          </a:solidFill>
          <a:ln w="9525">
            <a:solidFill>
              <a:srgbClr val="D5DED9"/>
            </a:solidFill>
            <a:prstDash val="solid"/>
          </a:ln>
        </p:spPr>
      </p:sp>
      <p:sp>
        <p:nvSpPr>
          <p:cNvPr id="42" name="Shape 33"/>
          <p:cNvSpPr/>
          <p:nvPr/>
        </p:nvSpPr>
        <p:spPr>
          <a:xfrm>
            <a:off x="3456432" y="2788920"/>
            <a:ext cx="475488" cy="475488"/>
          </a:xfrm>
          <a:prstGeom prst="ellipse">
            <a:avLst/>
          </a:prstGeom>
          <a:solidFill>
            <a:srgbClr val="00704A">
              <a:alpha val="22000"/>
            </a:srgbClr>
          </a:solidFill>
          <a:ln w="12700">
            <a:solidFill>
              <a:srgbClr val="00704A">
                <a:alpha val="0"/>
              </a:srgbClr>
            </a:solidFill>
            <a:prstDash val="solid"/>
          </a:ln>
        </p:spPr>
      </p:sp>
      <p:pic>
        <p:nvPicPr>
          <p:cNvPr id="43" name="Image 6" descr="preencoded.png">    </p:cNvPr>
          <p:cNvPicPr>
            <a:picLocks noChangeAspect="1"/>
          </p:cNvPicPr>
          <p:nvPr/>
        </p:nvPicPr>
        <p:blipFill>
          <a:blip r:embed="rId7"/>
          <a:stretch>
            <a:fillRect/>
          </a:stretch>
        </p:blipFill>
        <p:spPr>
          <a:xfrm>
            <a:off x="3570549" y="2903037"/>
            <a:ext cx="247254" cy="247254"/>
          </a:xfrm>
          <a:prstGeom prst="rect">
            <a:avLst/>
          </a:prstGeom>
        </p:spPr>
      </p:pic>
      <p:sp>
        <p:nvSpPr>
          <p:cNvPr id="44" name="Text 34"/>
          <p:cNvSpPr txBox="1"/>
          <p:nvPr/>
        </p:nvSpPr>
        <p:spPr>
          <a:xfrm>
            <a:off x="3063240"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7</a:t>
            </a:r>
            <a:endParaRPr lang="en-US" sz="1300" dirty="0"/>
          </a:p>
        </p:txBody>
      </p:sp>
      <p:sp>
        <p:nvSpPr>
          <p:cNvPr id="45" name="Text 35"/>
          <p:cNvSpPr txBox="1"/>
          <p:nvPr/>
        </p:nvSpPr>
        <p:spPr>
          <a:xfrm>
            <a:off x="3026664"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Test de disponibilité</a:t>
            </a:r>
            <a:endParaRPr lang="en-US" sz="1100" dirty="0"/>
          </a:p>
        </p:txBody>
      </p:sp>
      <p:sp>
        <p:nvSpPr>
          <p:cNvPr id="46" name="Shape 36"/>
          <p:cNvSpPr/>
          <p:nvPr/>
        </p:nvSpPr>
        <p:spPr>
          <a:xfrm>
            <a:off x="4617720" y="2670048"/>
            <a:ext cx="1481328" cy="1115568"/>
          </a:xfrm>
          <a:prstGeom prst="roundRect">
            <a:avLst>
              <a:gd name="adj" fmla="val 6557"/>
            </a:avLst>
          </a:prstGeom>
          <a:solidFill>
            <a:srgbClr val="E8F5EF"/>
          </a:solidFill>
          <a:ln w="15875">
            <a:solidFill>
              <a:srgbClr val="D49A00"/>
            </a:solidFill>
            <a:prstDash val="solid"/>
          </a:ln>
        </p:spPr>
      </p:sp>
      <p:sp>
        <p:nvSpPr>
          <p:cNvPr id="47" name="Shape 37"/>
          <p:cNvSpPr/>
          <p:nvPr/>
        </p:nvSpPr>
        <p:spPr>
          <a:xfrm>
            <a:off x="5120640" y="2788920"/>
            <a:ext cx="475488" cy="475488"/>
          </a:xfrm>
          <a:prstGeom prst="ellipse">
            <a:avLst/>
          </a:prstGeom>
          <a:solidFill>
            <a:srgbClr val="D49A00">
              <a:alpha val="22000"/>
            </a:srgbClr>
          </a:solidFill>
          <a:ln w="12700">
            <a:solidFill>
              <a:srgbClr val="D49A00">
                <a:alpha val="0"/>
              </a:srgbClr>
            </a:solidFill>
            <a:prstDash val="solid"/>
          </a:ln>
        </p:spPr>
      </p:sp>
      <p:pic>
        <p:nvPicPr>
          <p:cNvPr id="48" name="Image 7" descr="preencoded.png">    </p:cNvPr>
          <p:cNvPicPr>
            <a:picLocks noChangeAspect="1"/>
          </p:cNvPicPr>
          <p:nvPr/>
        </p:nvPicPr>
        <p:blipFill>
          <a:blip r:embed="rId8"/>
          <a:stretch>
            <a:fillRect/>
          </a:stretch>
        </p:blipFill>
        <p:spPr>
          <a:xfrm>
            <a:off x="5234757" y="2903037"/>
            <a:ext cx="247254" cy="247254"/>
          </a:xfrm>
          <a:prstGeom prst="rect">
            <a:avLst/>
          </a:prstGeom>
        </p:spPr>
      </p:pic>
      <p:sp>
        <p:nvSpPr>
          <p:cNvPr id="49" name="Text 38"/>
          <p:cNvSpPr txBox="1"/>
          <p:nvPr/>
        </p:nvSpPr>
        <p:spPr>
          <a:xfrm>
            <a:off x="4727448"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8</a:t>
            </a:r>
            <a:endParaRPr lang="en-US" sz="1300" dirty="0"/>
          </a:p>
        </p:txBody>
      </p:sp>
      <p:sp>
        <p:nvSpPr>
          <p:cNvPr id="50" name="Text 39"/>
          <p:cNvSpPr txBox="1"/>
          <p:nvPr/>
        </p:nvSpPr>
        <p:spPr>
          <a:xfrm>
            <a:off x="4690872"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Téléchargement vérifié</a:t>
            </a:r>
            <a:endParaRPr lang="en-US" sz="1100" dirty="0"/>
          </a:p>
        </p:txBody>
      </p:sp>
      <p:sp>
        <p:nvSpPr>
          <p:cNvPr id="51" name="Shape 40"/>
          <p:cNvSpPr/>
          <p:nvPr/>
        </p:nvSpPr>
        <p:spPr>
          <a:xfrm>
            <a:off x="6281928" y="2670048"/>
            <a:ext cx="1481328" cy="1115568"/>
          </a:xfrm>
          <a:prstGeom prst="roundRect">
            <a:avLst>
              <a:gd name="adj" fmla="val 6557"/>
            </a:avLst>
          </a:prstGeom>
          <a:solidFill>
            <a:srgbClr val="F4F7F5"/>
          </a:solidFill>
          <a:ln w="9525">
            <a:solidFill>
              <a:srgbClr val="D5DED9"/>
            </a:solidFill>
            <a:prstDash val="solid"/>
          </a:ln>
        </p:spPr>
      </p:sp>
      <p:sp>
        <p:nvSpPr>
          <p:cNvPr id="52" name="Shape 41"/>
          <p:cNvSpPr/>
          <p:nvPr/>
        </p:nvSpPr>
        <p:spPr>
          <a:xfrm>
            <a:off x="6784848" y="2788920"/>
            <a:ext cx="475488" cy="475488"/>
          </a:xfrm>
          <a:prstGeom prst="ellipse">
            <a:avLst/>
          </a:prstGeom>
          <a:solidFill>
            <a:srgbClr val="00704A">
              <a:alpha val="22000"/>
            </a:srgbClr>
          </a:solidFill>
          <a:ln w="12700">
            <a:solidFill>
              <a:srgbClr val="00704A">
                <a:alpha val="0"/>
              </a:srgbClr>
            </a:solidFill>
            <a:prstDash val="solid"/>
          </a:ln>
        </p:spPr>
      </p:sp>
      <p:pic>
        <p:nvPicPr>
          <p:cNvPr id="53" name="Image 8" descr="preencoded.png">    </p:cNvPr>
          <p:cNvPicPr>
            <a:picLocks noChangeAspect="1"/>
          </p:cNvPicPr>
          <p:nvPr/>
        </p:nvPicPr>
        <p:blipFill>
          <a:blip r:embed="rId9"/>
          <a:stretch>
            <a:fillRect/>
          </a:stretch>
        </p:blipFill>
        <p:spPr>
          <a:xfrm>
            <a:off x="6898965" y="2903037"/>
            <a:ext cx="247254" cy="247254"/>
          </a:xfrm>
          <a:prstGeom prst="rect">
            <a:avLst/>
          </a:prstGeom>
        </p:spPr>
      </p:pic>
      <p:sp>
        <p:nvSpPr>
          <p:cNvPr id="54" name="Text 42"/>
          <p:cNvSpPr txBox="1"/>
          <p:nvPr/>
        </p:nvSpPr>
        <p:spPr>
          <a:xfrm>
            <a:off x="6391656"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9</a:t>
            </a:r>
            <a:endParaRPr lang="en-US" sz="1300" dirty="0"/>
          </a:p>
        </p:txBody>
      </p:sp>
      <p:sp>
        <p:nvSpPr>
          <p:cNvPr id="55" name="Text 43"/>
          <p:cNvSpPr txBox="1"/>
          <p:nvPr/>
        </p:nvSpPr>
        <p:spPr>
          <a:xfrm>
            <a:off x="6355080"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Contrôle qualité</a:t>
            </a:r>
            <a:endParaRPr lang="en-US" sz="1100" dirty="0"/>
          </a:p>
        </p:txBody>
      </p:sp>
      <p:sp>
        <p:nvSpPr>
          <p:cNvPr id="56" name="Shape 44"/>
          <p:cNvSpPr/>
          <p:nvPr/>
        </p:nvSpPr>
        <p:spPr>
          <a:xfrm>
            <a:off x="457200" y="4069080"/>
            <a:ext cx="2651760" cy="256032"/>
          </a:xfrm>
          <a:prstGeom prst="roundRect">
            <a:avLst>
              <a:gd name="adj" fmla="val 50000"/>
            </a:avLst>
          </a:prstGeom>
          <a:solidFill>
            <a:srgbClr val="00704A">
              <a:alpha val="15000"/>
            </a:srgbClr>
          </a:solidFill>
          <a:ln w="9525">
            <a:solidFill>
              <a:srgbClr val="00704A"/>
            </a:solidFill>
            <a:prstDash val="solid"/>
          </a:ln>
        </p:spPr>
      </p:sp>
      <p:sp>
        <p:nvSpPr>
          <p:cNvPr id="57" name="Text 45"/>
          <p:cNvSpPr txBox="1"/>
          <p:nvPr/>
        </p:nvSpPr>
        <p:spPr>
          <a:xfrm>
            <a:off x="457200" y="4069080"/>
            <a:ext cx="265176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Étapes 1–7 : sans compte</a:t>
            </a:r>
            <a:endParaRPr lang="en-US" sz="1000" dirty="0"/>
          </a:p>
        </p:txBody>
      </p:sp>
      <p:sp>
        <p:nvSpPr>
          <p:cNvPr id="58" name="Shape 46"/>
          <p:cNvSpPr/>
          <p:nvPr/>
        </p:nvSpPr>
        <p:spPr>
          <a:xfrm>
            <a:off x="3291840" y="4069080"/>
            <a:ext cx="2743200" cy="256032"/>
          </a:xfrm>
          <a:prstGeom prst="roundRect">
            <a:avLst>
              <a:gd name="adj" fmla="val 50000"/>
            </a:avLst>
          </a:prstGeom>
          <a:solidFill>
            <a:srgbClr val="D49A00">
              <a:alpha val="15000"/>
            </a:srgbClr>
          </a:solidFill>
          <a:ln w="9525">
            <a:solidFill>
              <a:srgbClr val="D49A00"/>
            </a:solidFill>
            <a:prstDash val="solid"/>
          </a:ln>
        </p:spPr>
      </p:sp>
      <p:sp>
        <p:nvSpPr>
          <p:cNvPr id="59" name="Text 47"/>
          <p:cNvSpPr txBox="1"/>
          <p:nvPr/>
        </p:nvSpPr>
        <p:spPr>
          <a:xfrm>
            <a:off x="3291840" y="4069080"/>
            <a:ext cx="2743200" cy="256032"/>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Étape 8 : jeton Earthdata</a:t>
            </a:r>
            <a:endParaRPr lang="en-US" sz="1000" dirty="0"/>
          </a:p>
        </p:txBody>
      </p:sp>
      <p:sp>
        <p:nvSpPr>
          <p:cNvPr id="60" name="Shape 48"/>
          <p:cNvSpPr/>
          <p:nvPr/>
        </p:nvSpPr>
        <p:spPr>
          <a:xfrm>
            <a:off x="6217920" y="4069080"/>
            <a:ext cx="2468880" cy="256032"/>
          </a:xfrm>
          <a:prstGeom prst="roundRect">
            <a:avLst>
              <a:gd name="adj" fmla="val 50000"/>
            </a:avLst>
          </a:prstGeom>
          <a:solidFill>
            <a:srgbClr val="0E7C86">
              <a:alpha val="15000"/>
            </a:srgbClr>
          </a:solidFill>
          <a:ln w="9525">
            <a:solidFill>
              <a:srgbClr val="0E7C86"/>
            </a:solidFill>
            <a:prstDash val="solid"/>
          </a:ln>
        </p:spPr>
      </p:sp>
      <p:sp>
        <p:nvSpPr>
          <p:cNvPr id="61" name="Text 49"/>
          <p:cNvSpPr txBox="1"/>
          <p:nvPr/>
        </p:nvSpPr>
        <p:spPr>
          <a:xfrm>
            <a:off x="6217920" y="4069080"/>
            <a:ext cx="246888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Relance sans risque (idempotent)</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COLLECTER · DONNÉES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NASA Black Marble : quatre produits, une grille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1920240" cy="2331720"/>
          </a:xfrm>
          <a:prstGeom prst="roundRect">
            <a:avLst>
              <a:gd name="adj" fmla="val 3810"/>
            </a:avLst>
          </a:prstGeom>
          <a:solidFill>
            <a:srgbClr val="F4F7F5"/>
          </a:solidFill>
          <a:ln w="9525">
            <a:solidFill>
              <a:srgbClr val="D5DED9"/>
            </a:solidFill>
            <a:prstDash val="solid"/>
          </a:ln>
        </p:spPr>
      </p:sp>
      <p:sp>
        <p:nvSpPr>
          <p:cNvPr id="12" name="Text 9"/>
          <p:cNvSpPr txBox="1"/>
          <p:nvPr/>
        </p:nvSpPr>
        <p:spPr>
          <a:xfrm>
            <a:off x="594360" y="1481328"/>
            <a:ext cx="1645920" cy="365760"/>
          </a:xfrm>
          <a:prstGeom prst="rect">
            <a:avLst/>
          </a:prstGeom>
          <a:noFill/>
          <a:ln/>
        </p:spPr>
        <p:txBody>
          <a:bodyPr wrap="square" lIns="0" tIns="0" rIns="0" bIns="0" rtlCol="0" anchor="t"/>
          <a:lstStyle/>
          <a:p>
            <a:pPr indent="0" marL="0">
              <a:buNone/>
            </a:pPr>
            <a:r>
              <a:rPr lang="en-US" sz="1700" b="1" dirty="0">
                <a:solidFill>
                  <a:srgbClr val="5E6964"/>
                </a:solidFill>
                <a:latin typeface="Calibri" pitchFamily="34" charset="0"/>
                <a:ea typeface="Calibri" pitchFamily="34" charset="-122"/>
                <a:cs typeface="Calibri" pitchFamily="34" charset="-120"/>
              </a:rPr>
              <a:t>VNP46A1</a:t>
            </a:r>
            <a:endParaRPr lang="en-US" sz="1700" dirty="0"/>
          </a:p>
        </p:txBody>
      </p:sp>
      <p:sp>
        <p:nvSpPr>
          <p:cNvPr id="13" name="Text 10"/>
          <p:cNvSpPr txBox="1"/>
          <p:nvPr/>
        </p:nvSpPr>
        <p:spPr>
          <a:xfrm>
            <a:off x="594360"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Quotidien · brut</a:t>
            </a:r>
            <a:endParaRPr lang="en-US" sz="1150" dirty="0"/>
          </a:p>
        </p:txBody>
      </p:sp>
      <p:sp>
        <p:nvSpPr>
          <p:cNvPr id="14" name="Text 11"/>
          <p:cNvSpPr txBox="1"/>
          <p:nvPr/>
        </p:nvSpPr>
        <p:spPr>
          <a:xfrm>
            <a:off x="594360"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Radiance au capteur, sans correction</a:t>
            </a:r>
            <a:endParaRPr lang="en-US" sz="1100" dirty="0"/>
          </a:p>
        </p:txBody>
      </p:sp>
      <p:sp>
        <p:nvSpPr>
          <p:cNvPr id="15" name="Text 12"/>
          <p:cNvSpPr txBox="1"/>
          <p:nvPr/>
        </p:nvSpPr>
        <p:spPr>
          <a:xfrm>
            <a:off x="594360" y="2788920"/>
            <a:ext cx="1645920" cy="228600"/>
          </a:xfrm>
          <a:prstGeom prst="rect">
            <a:avLst/>
          </a:prstGeom>
          <a:noFill/>
          <a:ln/>
        </p:spPr>
        <p:txBody>
          <a:bodyPr wrap="square" lIns="0" tIns="0" rIns="0" bIns="0" rtlCol="0" anchor="t"/>
          <a:lstStyle/>
          <a:p>
            <a:pPr indent="0" marL="0">
              <a:buNone/>
            </a:pPr>
            <a:r>
              <a:rPr lang="en-US" sz="950" b="1" spc="200" kern="0" dirty="0">
                <a:solidFill>
                  <a:srgbClr val="5E6964"/>
                </a:solidFill>
                <a:latin typeface="Calibri" pitchFamily="34" charset="0"/>
                <a:ea typeface="Calibri" pitchFamily="34" charset="-122"/>
                <a:cs typeface="Calibri" pitchFamily="34" charset="-120"/>
              </a:rPr>
              <a:t>Usage</a:t>
            </a:r>
            <a:endParaRPr lang="en-US" sz="950" dirty="0"/>
          </a:p>
        </p:txBody>
      </p:sp>
      <p:sp>
        <p:nvSpPr>
          <p:cNvPr id="16" name="Text 13"/>
          <p:cNvSpPr txBox="1"/>
          <p:nvPr/>
        </p:nvSpPr>
        <p:spPr>
          <a:xfrm>
            <a:off x="594360"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Diagnostic</a:t>
            </a:r>
            <a:endParaRPr lang="en-US" sz="1100" dirty="0"/>
          </a:p>
        </p:txBody>
      </p:sp>
      <p:sp>
        <p:nvSpPr>
          <p:cNvPr id="17" name="Shape 14"/>
          <p:cNvSpPr/>
          <p:nvPr/>
        </p:nvSpPr>
        <p:spPr>
          <a:xfrm>
            <a:off x="2532888" y="1371600"/>
            <a:ext cx="1920240" cy="2331720"/>
          </a:xfrm>
          <a:prstGeom prst="roundRect">
            <a:avLst>
              <a:gd name="adj" fmla="val 3810"/>
            </a:avLst>
          </a:prstGeom>
          <a:solidFill>
            <a:srgbClr val="F4F7F5"/>
          </a:solidFill>
          <a:ln w="9525">
            <a:solidFill>
              <a:srgbClr val="D5DED9"/>
            </a:solidFill>
            <a:prstDash val="solid"/>
          </a:ln>
        </p:spPr>
      </p:sp>
      <p:sp>
        <p:nvSpPr>
          <p:cNvPr id="18" name="Text 15"/>
          <p:cNvSpPr txBox="1"/>
          <p:nvPr/>
        </p:nvSpPr>
        <p:spPr>
          <a:xfrm>
            <a:off x="2670048" y="1481328"/>
            <a:ext cx="1645920" cy="365760"/>
          </a:xfrm>
          <a:prstGeom prst="rect">
            <a:avLst/>
          </a:prstGeom>
          <a:noFill/>
          <a:ln/>
        </p:spPr>
        <p:txBody>
          <a:bodyPr wrap="square" lIns="0" tIns="0" rIns="0" bIns="0" rtlCol="0" anchor="t"/>
          <a:lstStyle/>
          <a:p>
            <a:pPr indent="0" marL="0">
              <a:buNone/>
            </a:pPr>
            <a:r>
              <a:rPr lang="en-US" sz="1700" b="1" dirty="0">
                <a:solidFill>
                  <a:srgbClr val="0E7C86"/>
                </a:solidFill>
                <a:latin typeface="Calibri" pitchFamily="34" charset="0"/>
                <a:ea typeface="Calibri" pitchFamily="34" charset="-122"/>
                <a:cs typeface="Calibri" pitchFamily="34" charset="-120"/>
              </a:rPr>
              <a:t>VNP46A2</a:t>
            </a:r>
            <a:endParaRPr lang="en-US" sz="1700" dirty="0"/>
          </a:p>
        </p:txBody>
      </p:sp>
      <p:sp>
        <p:nvSpPr>
          <p:cNvPr id="19" name="Text 16"/>
          <p:cNvSpPr txBox="1"/>
          <p:nvPr/>
        </p:nvSpPr>
        <p:spPr>
          <a:xfrm>
            <a:off x="2670048"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Quotidien · corrigé</a:t>
            </a:r>
            <a:endParaRPr lang="en-US" sz="1150" dirty="0"/>
          </a:p>
        </p:txBody>
      </p:sp>
      <p:sp>
        <p:nvSpPr>
          <p:cNvPr id="20" name="Text 17"/>
          <p:cNvSpPr txBox="1"/>
          <p:nvPr/>
        </p:nvSpPr>
        <p:spPr>
          <a:xfrm>
            <a:off x="2670048"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Nuit corrigée BRDF lunaire</a:t>
            </a:r>
            <a:endParaRPr lang="en-US" sz="1100" dirty="0"/>
          </a:p>
        </p:txBody>
      </p:sp>
      <p:sp>
        <p:nvSpPr>
          <p:cNvPr id="21" name="Text 18"/>
          <p:cNvSpPr txBox="1"/>
          <p:nvPr/>
        </p:nvSpPr>
        <p:spPr>
          <a:xfrm>
            <a:off x="2670048" y="2788920"/>
            <a:ext cx="1645920" cy="228600"/>
          </a:xfrm>
          <a:prstGeom prst="rect">
            <a:avLst/>
          </a:prstGeom>
          <a:noFill/>
          <a:ln/>
        </p:spPr>
        <p:txBody>
          <a:bodyPr wrap="square" lIns="0" tIns="0" rIns="0" bIns="0" rtlCol="0" anchor="t"/>
          <a:lstStyle/>
          <a:p>
            <a:pPr indent="0" marL="0">
              <a:buNone/>
            </a:pPr>
            <a:r>
              <a:rPr lang="en-US" sz="950" b="1" spc="200" kern="0" dirty="0">
                <a:solidFill>
                  <a:srgbClr val="0E7C86"/>
                </a:solidFill>
                <a:latin typeface="Calibri" pitchFamily="34" charset="0"/>
                <a:ea typeface="Calibri" pitchFamily="34" charset="-122"/>
                <a:cs typeface="Calibri" pitchFamily="34" charset="-120"/>
              </a:rPr>
              <a:t>Usage</a:t>
            </a:r>
            <a:endParaRPr lang="en-US" sz="950" dirty="0"/>
          </a:p>
        </p:txBody>
      </p:sp>
      <p:sp>
        <p:nvSpPr>
          <p:cNvPr id="22" name="Text 19"/>
          <p:cNvSpPr txBox="1"/>
          <p:nvPr/>
        </p:nvSpPr>
        <p:spPr>
          <a:xfrm>
            <a:off x="2670048"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Événements datés : coupures, catastrophes</a:t>
            </a:r>
            <a:endParaRPr lang="en-US" sz="1100" dirty="0"/>
          </a:p>
        </p:txBody>
      </p:sp>
      <p:sp>
        <p:nvSpPr>
          <p:cNvPr id="23" name="Shape 20"/>
          <p:cNvSpPr/>
          <p:nvPr/>
        </p:nvSpPr>
        <p:spPr>
          <a:xfrm>
            <a:off x="4608576" y="1371600"/>
            <a:ext cx="1920240" cy="2331720"/>
          </a:xfrm>
          <a:prstGeom prst="roundRect">
            <a:avLst>
              <a:gd name="adj" fmla="val 3810"/>
            </a:avLst>
          </a:prstGeom>
          <a:solidFill>
            <a:srgbClr val="F4F7F5"/>
          </a:solidFill>
          <a:ln w="9525">
            <a:solidFill>
              <a:srgbClr val="D5DED9"/>
            </a:solidFill>
            <a:prstDash val="solid"/>
          </a:ln>
        </p:spPr>
      </p:sp>
      <p:sp>
        <p:nvSpPr>
          <p:cNvPr id="24" name="Text 21"/>
          <p:cNvSpPr txBox="1"/>
          <p:nvPr/>
        </p:nvSpPr>
        <p:spPr>
          <a:xfrm>
            <a:off x="4745736" y="1481328"/>
            <a:ext cx="1645920" cy="365760"/>
          </a:xfrm>
          <a:prstGeom prst="rect">
            <a:avLst/>
          </a:prstGeom>
          <a:noFill/>
          <a:ln/>
        </p:spPr>
        <p:txBody>
          <a:bodyPr wrap="square" lIns="0" tIns="0" rIns="0" bIns="0" rtlCol="0" anchor="t"/>
          <a:lstStyle/>
          <a:p>
            <a:pPr indent="0" marL="0">
              <a:buNone/>
            </a:pPr>
            <a:r>
              <a:rPr lang="en-US" sz="1700" b="1" dirty="0">
                <a:solidFill>
                  <a:srgbClr val="00704A"/>
                </a:solidFill>
                <a:latin typeface="Calibri" pitchFamily="34" charset="0"/>
                <a:ea typeface="Calibri" pitchFamily="34" charset="-122"/>
                <a:cs typeface="Calibri" pitchFamily="34" charset="-120"/>
              </a:rPr>
              <a:t>VNP46A3</a:t>
            </a:r>
            <a:endParaRPr lang="en-US" sz="1700" dirty="0"/>
          </a:p>
        </p:txBody>
      </p:sp>
      <p:sp>
        <p:nvSpPr>
          <p:cNvPr id="25" name="Text 22"/>
          <p:cNvSpPr txBox="1"/>
          <p:nvPr/>
        </p:nvSpPr>
        <p:spPr>
          <a:xfrm>
            <a:off x="4745736"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Composite mensuel</a:t>
            </a:r>
            <a:endParaRPr lang="en-US" sz="1150" dirty="0"/>
          </a:p>
        </p:txBody>
      </p:sp>
      <p:sp>
        <p:nvSpPr>
          <p:cNvPr id="26" name="Text 23"/>
          <p:cNvSpPr txBox="1"/>
          <p:nvPr/>
        </p:nvSpPr>
        <p:spPr>
          <a:xfrm>
            <a:off x="4745736"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Nuages et aberrants retirés</a:t>
            </a:r>
            <a:endParaRPr lang="en-US" sz="1100" dirty="0"/>
          </a:p>
        </p:txBody>
      </p:sp>
      <p:sp>
        <p:nvSpPr>
          <p:cNvPr id="27" name="Text 24"/>
          <p:cNvSpPr txBox="1"/>
          <p:nvPr/>
        </p:nvSpPr>
        <p:spPr>
          <a:xfrm>
            <a:off x="4745736" y="2788920"/>
            <a:ext cx="1645920" cy="228600"/>
          </a:xfrm>
          <a:prstGeom prst="rect">
            <a:avLst/>
          </a:prstGeom>
          <a:noFill/>
          <a:ln/>
        </p:spPr>
        <p:txBody>
          <a:bodyPr wrap="square" lIns="0" tIns="0" rIns="0" bIns="0" rtlCol="0" anchor="t"/>
          <a:lstStyle/>
          <a:p>
            <a:pPr indent="0" marL="0">
              <a:buNone/>
            </a:pPr>
            <a:r>
              <a:rPr lang="en-US" sz="950" b="1" spc="200" kern="0" dirty="0">
                <a:solidFill>
                  <a:srgbClr val="00704A"/>
                </a:solidFill>
                <a:latin typeface="Calibri" pitchFamily="34" charset="0"/>
                <a:ea typeface="Calibri" pitchFamily="34" charset="-122"/>
                <a:cs typeface="Calibri" pitchFamily="34" charset="-120"/>
              </a:rPr>
              <a:t>Usage</a:t>
            </a:r>
            <a:endParaRPr lang="en-US" sz="950" dirty="0"/>
          </a:p>
        </p:txBody>
      </p:sp>
      <p:sp>
        <p:nvSpPr>
          <p:cNvPr id="28" name="Text 25"/>
          <p:cNvSpPr txBox="1"/>
          <p:nvPr/>
        </p:nvSpPr>
        <p:spPr>
          <a:xfrm>
            <a:off x="4745736"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Saisonnalité, séries mensuelles</a:t>
            </a:r>
            <a:endParaRPr lang="en-US" sz="1100" dirty="0"/>
          </a:p>
        </p:txBody>
      </p:sp>
      <p:sp>
        <p:nvSpPr>
          <p:cNvPr id="29" name="Shape 26"/>
          <p:cNvSpPr/>
          <p:nvPr/>
        </p:nvSpPr>
        <p:spPr>
          <a:xfrm>
            <a:off x="6684264" y="1371600"/>
            <a:ext cx="1920240" cy="2331720"/>
          </a:xfrm>
          <a:prstGeom prst="roundRect">
            <a:avLst>
              <a:gd name="adj" fmla="val 3810"/>
            </a:avLst>
          </a:prstGeom>
          <a:solidFill>
            <a:srgbClr val="E8F5EF"/>
          </a:solidFill>
          <a:ln w="15875">
            <a:solidFill>
              <a:srgbClr val="00A86A"/>
            </a:solidFill>
            <a:prstDash val="solid"/>
          </a:ln>
        </p:spPr>
      </p:sp>
      <p:sp>
        <p:nvSpPr>
          <p:cNvPr id="30" name="Text 27"/>
          <p:cNvSpPr txBox="1"/>
          <p:nvPr/>
        </p:nvSpPr>
        <p:spPr>
          <a:xfrm>
            <a:off x="6821424" y="1481328"/>
            <a:ext cx="1645920" cy="365760"/>
          </a:xfrm>
          <a:prstGeom prst="rect">
            <a:avLst/>
          </a:prstGeom>
          <a:noFill/>
          <a:ln/>
        </p:spPr>
        <p:txBody>
          <a:bodyPr wrap="square" lIns="0" tIns="0" rIns="0" bIns="0" rtlCol="0" anchor="t"/>
          <a:lstStyle/>
          <a:p>
            <a:pPr indent="0" marL="0">
              <a:buNone/>
            </a:pPr>
            <a:r>
              <a:rPr lang="en-US" sz="1700" b="1" dirty="0">
                <a:solidFill>
                  <a:srgbClr val="00A86A"/>
                </a:solidFill>
                <a:latin typeface="Calibri" pitchFamily="34" charset="0"/>
                <a:ea typeface="Calibri" pitchFamily="34" charset="-122"/>
                <a:cs typeface="Calibri" pitchFamily="34" charset="-120"/>
              </a:rPr>
              <a:t>VNP46A4</a:t>
            </a:r>
            <a:endParaRPr lang="en-US" sz="1700" dirty="0"/>
          </a:p>
        </p:txBody>
      </p:sp>
      <p:sp>
        <p:nvSpPr>
          <p:cNvPr id="31" name="Text 28"/>
          <p:cNvSpPr txBox="1"/>
          <p:nvPr/>
        </p:nvSpPr>
        <p:spPr>
          <a:xfrm>
            <a:off x="6821424"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Composite annuel</a:t>
            </a:r>
            <a:endParaRPr lang="en-US" sz="1150" dirty="0"/>
          </a:p>
        </p:txBody>
      </p:sp>
      <p:sp>
        <p:nvSpPr>
          <p:cNvPr id="32" name="Text 29"/>
          <p:cNvSpPr txBox="1"/>
          <p:nvPr/>
        </p:nvSpPr>
        <p:spPr>
          <a:xfrm>
            <a:off x="6821424"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Le plus stable des quatre</a:t>
            </a:r>
            <a:endParaRPr lang="en-US" sz="1100" dirty="0"/>
          </a:p>
        </p:txBody>
      </p:sp>
      <p:sp>
        <p:nvSpPr>
          <p:cNvPr id="33" name="Text 30"/>
          <p:cNvSpPr txBox="1"/>
          <p:nvPr/>
        </p:nvSpPr>
        <p:spPr>
          <a:xfrm>
            <a:off x="6821424" y="2788920"/>
            <a:ext cx="1645920" cy="228600"/>
          </a:xfrm>
          <a:prstGeom prst="rect">
            <a:avLst/>
          </a:prstGeom>
          <a:noFill/>
          <a:ln/>
        </p:spPr>
        <p:txBody>
          <a:bodyPr wrap="square" lIns="0" tIns="0" rIns="0" bIns="0" rtlCol="0" anchor="t"/>
          <a:lstStyle/>
          <a:p>
            <a:pPr indent="0" marL="0">
              <a:buNone/>
            </a:pPr>
            <a:r>
              <a:rPr lang="en-US" sz="950" b="1" spc="200" kern="0" dirty="0">
                <a:solidFill>
                  <a:srgbClr val="00A86A"/>
                </a:solidFill>
                <a:latin typeface="Calibri" pitchFamily="34" charset="0"/>
                <a:ea typeface="Calibri" pitchFamily="34" charset="-122"/>
                <a:cs typeface="Calibri" pitchFamily="34" charset="-120"/>
              </a:rPr>
              <a:t>Usage</a:t>
            </a:r>
            <a:endParaRPr lang="en-US" sz="950" dirty="0"/>
          </a:p>
        </p:txBody>
      </p:sp>
      <p:sp>
        <p:nvSpPr>
          <p:cNvPr id="34" name="Text 31"/>
          <p:cNvSpPr txBox="1"/>
          <p:nvPr/>
        </p:nvSpPr>
        <p:spPr>
          <a:xfrm>
            <a:off x="6821424"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Tendances, comparaisons régionales</a:t>
            </a:r>
            <a:endParaRPr lang="en-US" sz="1100" dirty="0"/>
          </a:p>
        </p:txBody>
      </p:sp>
      <p:sp>
        <p:nvSpPr>
          <p:cNvPr id="35" name="Shape 32"/>
          <p:cNvSpPr/>
          <p:nvPr/>
        </p:nvSpPr>
        <p:spPr>
          <a:xfrm>
            <a:off x="457200" y="3931920"/>
            <a:ext cx="1600200" cy="256032"/>
          </a:xfrm>
          <a:prstGeom prst="roundRect">
            <a:avLst>
              <a:gd name="adj" fmla="val 50000"/>
            </a:avLst>
          </a:prstGeom>
          <a:solidFill>
            <a:srgbClr val="00704A">
              <a:alpha val="15000"/>
            </a:srgbClr>
          </a:solidFill>
          <a:ln w="9525">
            <a:solidFill>
              <a:srgbClr val="00704A"/>
            </a:solidFill>
            <a:prstDash val="solid"/>
          </a:ln>
        </p:spPr>
      </p:sp>
      <p:sp>
        <p:nvSpPr>
          <p:cNvPr id="36" name="Text 33"/>
          <p:cNvSpPr txBox="1"/>
          <p:nvPr/>
        </p:nvSpPr>
        <p:spPr>
          <a:xfrm>
            <a:off x="457200" y="3931920"/>
            <a:ext cx="160020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Grille de tuiles 10° × 10°</a:t>
            </a:r>
            <a:endParaRPr lang="en-US" sz="1000" dirty="0"/>
          </a:p>
        </p:txBody>
      </p:sp>
      <p:sp>
        <p:nvSpPr>
          <p:cNvPr id="37" name="Shape 34"/>
          <p:cNvSpPr/>
          <p:nvPr/>
        </p:nvSpPr>
        <p:spPr>
          <a:xfrm>
            <a:off x="2167128" y="3931920"/>
            <a:ext cx="1965960" cy="256032"/>
          </a:xfrm>
          <a:prstGeom prst="roundRect">
            <a:avLst>
              <a:gd name="adj" fmla="val 50000"/>
            </a:avLst>
          </a:prstGeom>
          <a:solidFill>
            <a:srgbClr val="00704A">
              <a:alpha val="15000"/>
            </a:srgbClr>
          </a:solidFill>
          <a:ln w="9525">
            <a:solidFill>
              <a:srgbClr val="00704A"/>
            </a:solidFill>
            <a:prstDash val="solid"/>
          </a:ln>
        </p:spPr>
      </p:sp>
      <p:sp>
        <p:nvSpPr>
          <p:cNvPr id="38" name="Text 35"/>
          <p:cNvSpPr txBox="1"/>
          <p:nvPr/>
        </p:nvSpPr>
        <p:spPr>
          <a:xfrm>
            <a:off x="2167128" y="3931920"/>
            <a:ext cx="196596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2 400 × 2 400 pixels par tuile</a:t>
            </a:r>
            <a:endParaRPr lang="en-US" sz="1000" dirty="0"/>
          </a:p>
        </p:txBody>
      </p:sp>
      <p:sp>
        <p:nvSpPr>
          <p:cNvPr id="39" name="Shape 36"/>
          <p:cNvSpPr/>
          <p:nvPr/>
        </p:nvSpPr>
        <p:spPr>
          <a:xfrm>
            <a:off x="4242816" y="3931920"/>
            <a:ext cx="1188720" cy="256032"/>
          </a:xfrm>
          <a:prstGeom prst="roundRect">
            <a:avLst>
              <a:gd name="adj" fmla="val 50000"/>
            </a:avLst>
          </a:prstGeom>
          <a:solidFill>
            <a:srgbClr val="00704A">
              <a:alpha val="15000"/>
            </a:srgbClr>
          </a:solidFill>
          <a:ln w="9525">
            <a:solidFill>
              <a:srgbClr val="00704A"/>
            </a:solidFill>
            <a:prstDash val="solid"/>
          </a:ln>
        </p:spPr>
      </p:sp>
      <p:sp>
        <p:nvSpPr>
          <p:cNvPr id="40" name="Text 37"/>
          <p:cNvSpPr txBox="1"/>
          <p:nvPr/>
        </p:nvSpPr>
        <p:spPr>
          <a:xfrm>
            <a:off x="4242816" y="3931920"/>
            <a:ext cx="118872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nW·cm⁻²·sr⁻¹</a:t>
            </a:r>
            <a:endParaRPr lang="en-US" sz="1000" dirty="0"/>
          </a:p>
        </p:txBody>
      </p:sp>
      <p:sp>
        <p:nvSpPr>
          <p:cNvPr id="41" name="Shape 38"/>
          <p:cNvSpPr/>
          <p:nvPr/>
        </p:nvSpPr>
        <p:spPr>
          <a:xfrm>
            <a:off x="5541264" y="3931920"/>
            <a:ext cx="1188720" cy="256032"/>
          </a:xfrm>
          <a:prstGeom prst="roundRect">
            <a:avLst>
              <a:gd name="adj" fmla="val 50000"/>
            </a:avLst>
          </a:prstGeom>
          <a:solidFill>
            <a:srgbClr val="00704A">
              <a:alpha val="15000"/>
            </a:srgbClr>
          </a:solidFill>
          <a:ln w="9525">
            <a:solidFill>
              <a:srgbClr val="00704A"/>
            </a:solidFill>
            <a:prstDash val="solid"/>
          </a:ln>
        </p:spPr>
      </p:sp>
      <p:sp>
        <p:nvSpPr>
          <p:cNvPr id="42" name="Text 39"/>
          <p:cNvSpPr txBox="1"/>
          <p:nvPr/>
        </p:nvSpPr>
        <p:spPr>
          <a:xfrm>
            <a:off x="5541264" y="3931920"/>
            <a:ext cx="118872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HDF-EOS5 (.h5)</a:t>
            </a:r>
            <a:endParaRPr lang="en-US" sz="1000" dirty="0"/>
          </a:p>
        </p:txBody>
      </p:sp>
      <p:sp>
        <p:nvSpPr>
          <p:cNvPr id="43" name="Shape 40"/>
          <p:cNvSpPr/>
          <p:nvPr/>
        </p:nvSpPr>
        <p:spPr>
          <a:xfrm>
            <a:off x="6839712" y="3931920"/>
            <a:ext cx="1691640" cy="256032"/>
          </a:xfrm>
          <a:prstGeom prst="roundRect">
            <a:avLst>
              <a:gd name="adj" fmla="val 50000"/>
            </a:avLst>
          </a:prstGeom>
          <a:solidFill>
            <a:srgbClr val="00704A">
              <a:alpha val="15000"/>
            </a:srgbClr>
          </a:solidFill>
          <a:ln w="9525">
            <a:solidFill>
              <a:srgbClr val="00704A"/>
            </a:solidFill>
            <a:prstDash val="solid"/>
          </a:ln>
        </p:spPr>
      </p:sp>
      <p:sp>
        <p:nvSpPr>
          <p:cNvPr id="44" name="Text 41"/>
          <p:cNvSpPr txBox="1"/>
          <p:nvPr/>
        </p:nvSpPr>
        <p:spPr>
          <a:xfrm>
            <a:off x="6839712" y="3931920"/>
            <a:ext cx="169164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Collection 2 (v002)</a:t>
            </a:r>
            <a:endParaRPr lang="en-US" sz="1000" dirty="0"/>
          </a:p>
        </p:txBody>
      </p:sp>
      <p:sp>
        <p:nvSpPr>
          <p:cNvPr id="45" name="Text 4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Román et al. (2018) ; NASA Black Marble User Guide, Collection 2.0 (2025) ; LAADS DAAC</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COLLECTER · CALCUL</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D'un code pays aux tuiles, par simple arithmétique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3931920" cy="1417320"/>
          </a:xfrm>
          <a:prstGeom prst="roundRect">
            <a:avLst>
              <a:gd name="adj" fmla="val 5161"/>
            </a:avLst>
          </a:prstGeom>
          <a:solidFill>
            <a:srgbClr val="E8F5EF"/>
          </a:solidFill>
          <a:ln w="15875">
            <a:solidFill>
              <a:srgbClr val="00704A"/>
            </a:solidFill>
            <a:prstDash val="solid"/>
          </a:ln>
        </p:spPr>
      </p:sp>
      <p:sp>
        <p:nvSpPr>
          <p:cNvPr id="12" name="Text 9"/>
          <p:cNvSpPr txBox="1"/>
          <p:nvPr/>
        </p:nvSpPr>
        <p:spPr>
          <a:xfrm>
            <a:off x="640080" y="1463040"/>
            <a:ext cx="3566160" cy="274320"/>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Indice de tuile</a:t>
            </a:r>
            <a:endParaRPr lang="en-US" sz="1300" dirty="0"/>
          </a:p>
        </p:txBody>
      </p:sp>
      <p:sp>
        <p:nvSpPr>
          <p:cNvPr id="13" name="Text 10"/>
          <p:cNvSpPr txBox="1"/>
          <p:nvPr/>
        </p:nvSpPr>
        <p:spPr>
          <a:xfrm>
            <a:off x="640080" y="1783080"/>
            <a:ext cx="3566160" cy="640080"/>
          </a:xfrm>
          <a:prstGeom prst="rect">
            <a:avLst/>
          </a:prstGeom>
          <a:noFill/>
          <a:ln/>
        </p:spPr>
        <p:txBody>
          <a:bodyPr wrap="square" lIns="0" tIns="0" rIns="0" bIns="0" rtlCol="0" anchor="t"/>
          <a:lstStyle/>
          <a:p>
            <a:pPr indent="0" marL="0">
              <a:buNone/>
            </a:pPr>
            <a:r>
              <a:rPr lang="en-US" sz="1500" b="1" dirty="0">
                <a:solidFill>
                  <a:srgbClr val="231F20"/>
                </a:solidFill>
                <a:latin typeface="Courier New" pitchFamily="34" charset="0"/>
                <a:ea typeface="Courier New" pitchFamily="34" charset="-122"/>
                <a:cs typeface="Courier New" pitchFamily="34" charset="-120"/>
              </a:rPr>
              <a:t>h = ⌊(longitude + 180) / 10⌋</a:t>
            </a:r>
            <a:endParaRPr lang="en-US" sz="1500" dirty="0"/>
          </a:p>
          <a:p>
            <a:pPr indent="0" marL="0">
              <a:buNone/>
            </a:pPr>
            <a:r>
              <a:rPr lang="en-US" sz="1500" b="1" dirty="0">
                <a:solidFill>
                  <a:srgbClr val="231F20"/>
                </a:solidFill>
                <a:latin typeface="Courier New" pitchFamily="34" charset="0"/>
                <a:ea typeface="Courier New" pitchFamily="34" charset="-122"/>
                <a:cs typeface="Courier New" pitchFamily="34" charset="-120"/>
              </a:rPr>
              <a:t>v = ⌊(90 − latitude) / 10⌋</a:t>
            </a:r>
            <a:endParaRPr lang="en-US" sz="1500" dirty="0"/>
          </a:p>
        </p:txBody>
      </p:sp>
      <p:sp>
        <p:nvSpPr>
          <p:cNvPr id="14" name="Text 11"/>
          <p:cNvSpPr txBox="1"/>
          <p:nvPr/>
        </p:nvSpPr>
        <p:spPr>
          <a:xfrm>
            <a:off x="640080" y="2450592"/>
            <a:ext cx="3566160" cy="2743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h : 0 → 35 d'ouest en est · v : 0 → 17 du nord au sud</a:t>
            </a:r>
            <a:endParaRPr lang="en-US" sz="1050" dirty="0"/>
          </a:p>
        </p:txBody>
      </p:sp>
      <p:sp>
        <p:nvSpPr>
          <p:cNvPr id="15" name="Shape 12"/>
          <p:cNvSpPr/>
          <p:nvPr/>
        </p:nvSpPr>
        <p:spPr>
          <a:xfrm>
            <a:off x="548640" y="2971800"/>
            <a:ext cx="868680" cy="658368"/>
          </a:xfrm>
          <a:prstGeom prst="rect">
            <a:avLst/>
          </a:prstGeom>
          <a:solidFill>
            <a:srgbClr val="FFFFFF"/>
          </a:solidFill>
          <a:ln w="9525">
            <a:solidFill>
              <a:srgbClr val="D5DED9"/>
            </a:solidFill>
            <a:prstDash val="solid"/>
          </a:ln>
        </p:spPr>
      </p:sp>
      <p:sp>
        <p:nvSpPr>
          <p:cNvPr id="16" name="Text 13"/>
          <p:cNvSpPr txBox="1"/>
          <p:nvPr/>
        </p:nvSpPr>
        <p:spPr>
          <a:xfrm>
            <a:off x="548640" y="3172968"/>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h16v07</a:t>
            </a:r>
            <a:endParaRPr lang="en-US" sz="1000" dirty="0"/>
          </a:p>
        </p:txBody>
      </p:sp>
      <p:sp>
        <p:nvSpPr>
          <p:cNvPr id="17" name="Shape 14"/>
          <p:cNvSpPr/>
          <p:nvPr/>
        </p:nvSpPr>
        <p:spPr>
          <a:xfrm>
            <a:off x="1417320" y="2971800"/>
            <a:ext cx="868680" cy="658368"/>
          </a:xfrm>
          <a:prstGeom prst="rect">
            <a:avLst/>
          </a:prstGeom>
          <a:solidFill>
            <a:srgbClr val="E8F5EF"/>
          </a:solidFill>
          <a:ln w="19050">
            <a:solidFill>
              <a:srgbClr val="00A86A"/>
            </a:solidFill>
            <a:prstDash val="solid"/>
          </a:ln>
        </p:spPr>
      </p:sp>
      <p:sp>
        <p:nvSpPr>
          <p:cNvPr id="18" name="Text 15"/>
          <p:cNvSpPr txBox="1"/>
          <p:nvPr/>
        </p:nvSpPr>
        <p:spPr>
          <a:xfrm>
            <a:off x="1417320" y="3172968"/>
            <a:ext cx="868680" cy="256032"/>
          </a:xfrm>
          <a:prstGeom prst="rect">
            <a:avLst/>
          </a:prstGeom>
          <a:noFill/>
          <a:ln/>
        </p:spPr>
        <p:txBody>
          <a:bodyPr wrap="square" lIns="0" tIns="0" rIns="0" bIns="0" rtlCol="0" anchor="t"/>
          <a:lstStyle/>
          <a:p>
            <a:pPr algn="ctr" indent="0" marL="0">
              <a:buNone/>
            </a:pPr>
            <a:r>
              <a:rPr lang="en-US" sz="1000" b="1" dirty="0">
                <a:solidFill>
                  <a:srgbClr val="00704A"/>
                </a:solidFill>
                <a:latin typeface="Calibri" pitchFamily="34" charset="0"/>
                <a:ea typeface="Calibri" pitchFamily="34" charset="-122"/>
                <a:cs typeface="Calibri" pitchFamily="34" charset="-120"/>
              </a:rPr>
              <a:t>h17v07</a:t>
            </a:r>
            <a:endParaRPr lang="en-US" sz="1000" dirty="0"/>
          </a:p>
        </p:txBody>
      </p:sp>
      <p:sp>
        <p:nvSpPr>
          <p:cNvPr id="19" name="Shape 16"/>
          <p:cNvSpPr/>
          <p:nvPr/>
        </p:nvSpPr>
        <p:spPr>
          <a:xfrm>
            <a:off x="2286000" y="2971800"/>
            <a:ext cx="868680" cy="658368"/>
          </a:xfrm>
          <a:prstGeom prst="rect">
            <a:avLst/>
          </a:prstGeom>
          <a:solidFill>
            <a:srgbClr val="FFFFFF"/>
          </a:solidFill>
          <a:ln w="9525">
            <a:solidFill>
              <a:srgbClr val="D5DED9"/>
            </a:solidFill>
            <a:prstDash val="solid"/>
          </a:ln>
        </p:spPr>
      </p:sp>
      <p:sp>
        <p:nvSpPr>
          <p:cNvPr id="20" name="Text 17"/>
          <p:cNvSpPr txBox="1"/>
          <p:nvPr/>
        </p:nvSpPr>
        <p:spPr>
          <a:xfrm>
            <a:off x="2286000" y="3172968"/>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h18v07</a:t>
            </a:r>
            <a:endParaRPr lang="en-US" sz="1000" dirty="0"/>
          </a:p>
        </p:txBody>
      </p:sp>
      <p:sp>
        <p:nvSpPr>
          <p:cNvPr id="21" name="Shape 18"/>
          <p:cNvSpPr/>
          <p:nvPr/>
        </p:nvSpPr>
        <p:spPr>
          <a:xfrm>
            <a:off x="3154680" y="2971800"/>
            <a:ext cx="868680" cy="658368"/>
          </a:xfrm>
          <a:prstGeom prst="rect">
            <a:avLst/>
          </a:prstGeom>
          <a:solidFill>
            <a:srgbClr val="FFFFFF"/>
          </a:solidFill>
          <a:ln w="9525">
            <a:solidFill>
              <a:srgbClr val="D5DED9"/>
            </a:solidFill>
            <a:prstDash val="solid"/>
          </a:ln>
        </p:spPr>
      </p:sp>
      <p:sp>
        <p:nvSpPr>
          <p:cNvPr id="22" name="Text 19"/>
          <p:cNvSpPr txBox="1"/>
          <p:nvPr/>
        </p:nvSpPr>
        <p:spPr>
          <a:xfrm>
            <a:off x="3154680" y="3172968"/>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h19v07</a:t>
            </a:r>
            <a:endParaRPr lang="en-US" sz="1000" dirty="0"/>
          </a:p>
        </p:txBody>
      </p:sp>
      <p:sp>
        <p:nvSpPr>
          <p:cNvPr id="23" name="Shape 20"/>
          <p:cNvSpPr/>
          <p:nvPr/>
        </p:nvSpPr>
        <p:spPr>
          <a:xfrm>
            <a:off x="548640" y="3630168"/>
            <a:ext cx="868680" cy="658368"/>
          </a:xfrm>
          <a:prstGeom prst="rect">
            <a:avLst/>
          </a:prstGeom>
          <a:solidFill>
            <a:srgbClr val="FFFFFF"/>
          </a:solidFill>
          <a:ln w="9525">
            <a:solidFill>
              <a:srgbClr val="D5DED9"/>
            </a:solidFill>
            <a:prstDash val="solid"/>
          </a:ln>
        </p:spPr>
      </p:sp>
      <p:sp>
        <p:nvSpPr>
          <p:cNvPr id="24" name="Text 21"/>
          <p:cNvSpPr txBox="1"/>
          <p:nvPr/>
        </p:nvSpPr>
        <p:spPr>
          <a:xfrm>
            <a:off x="548640" y="3831336"/>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h16v08</a:t>
            </a:r>
            <a:endParaRPr lang="en-US" sz="1000" dirty="0"/>
          </a:p>
        </p:txBody>
      </p:sp>
      <p:sp>
        <p:nvSpPr>
          <p:cNvPr id="25" name="Shape 22"/>
          <p:cNvSpPr/>
          <p:nvPr/>
        </p:nvSpPr>
        <p:spPr>
          <a:xfrm>
            <a:off x="1417320" y="3630168"/>
            <a:ext cx="868680" cy="658368"/>
          </a:xfrm>
          <a:prstGeom prst="rect">
            <a:avLst/>
          </a:prstGeom>
          <a:solidFill>
            <a:srgbClr val="E8F5EF"/>
          </a:solidFill>
          <a:ln w="19050">
            <a:solidFill>
              <a:srgbClr val="00A86A"/>
            </a:solidFill>
            <a:prstDash val="solid"/>
          </a:ln>
        </p:spPr>
      </p:sp>
      <p:sp>
        <p:nvSpPr>
          <p:cNvPr id="26" name="Text 23"/>
          <p:cNvSpPr txBox="1"/>
          <p:nvPr/>
        </p:nvSpPr>
        <p:spPr>
          <a:xfrm>
            <a:off x="1417320" y="3831336"/>
            <a:ext cx="868680" cy="256032"/>
          </a:xfrm>
          <a:prstGeom prst="rect">
            <a:avLst/>
          </a:prstGeom>
          <a:noFill/>
          <a:ln/>
        </p:spPr>
        <p:txBody>
          <a:bodyPr wrap="square" lIns="0" tIns="0" rIns="0" bIns="0" rtlCol="0" anchor="t"/>
          <a:lstStyle/>
          <a:p>
            <a:pPr algn="ctr" indent="0" marL="0">
              <a:buNone/>
            </a:pPr>
            <a:r>
              <a:rPr lang="en-US" sz="1000" b="1" dirty="0">
                <a:solidFill>
                  <a:srgbClr val="00704A"/>
                </a:solidFill>
                <a:latin typeface="Calibri" pitchFamily="34" charset="0"/>
                <a:ea typeface="Calibri" pitchFamily="34" charset="-122"/>
                <a:cs typeface="Calibri" pitchFamily="34" charset="-120"/>
              </a:rPr>
              <a:t>h17v08</a:t>
            </a:r>
            <a:endParaRPr lang="en-US" sz="1000" dirty="0"/>
          </a:p>
        </p:txBody>
      </p:sp>
      <p:sp>
        <p:nvSpPr>
          <p:cNvPr id="27" name="Shape 24"/>
          <p:cNvSpPr/>
          <p:nvPr/>
        </p:nvSpPr>
        <p:spPr>
          <a:xfrm>
            <a:off x="2286000" y="3630168"/>
            <a:ext cx="868680" cy="658368"/>
          </a:xfrm>
          <a:prstGeom prst="rect">
            <a:avLst/>
          </a:prstGeom>
          <a:solidFill>
            <a:srgbClr val="FFFFFF"/>
          </a:solidFill>
          <a:ln w="9525">
            <a:solidFill>
              <a:srgbClr val="D5DED9"/>
            </a:solidFill>
            <a:prstDash val="solid"/>
          </a:ln>
        </p:spPr>
      </p:sp>
      <p:sp>
        <p:nvSpPr>
          <p:cNvPr id="28" name="Text 25"/>
          <p:cNvSpPr txBox="1"/>
          <p:nvPr/>
        </p:nvSpPr>
        <p:spPr>
          <a:xfrm>
            <a:off x="2286000" y="3831336"/>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h18v08</a:t>
            </a:r>
            <a:endParaRPr lang="en-US" sz="1000" dirty="0"/>
          </a:p>
        </p:txBody>
      </p:sp>
      <p:sp>
        <p:nvSpPr>
          <p:cNvPr id="29" name="Shape 26"/>
          <p:cNvSpPr/>
          <p:nvPr/>
        </p:nvSpPr>
        <p:spPr>
          <a:xfrm>
            <a:off x="3154680" y="3630168"/>
            <a:ext cx="868680" cy="658368"/>
          </a:xfrm>
          <a:prstGeom prst="rect">
            <a:avLst/>
          </a:prstGeom>
          <a:solidFill>
            <a:srgbClr val="FFFFFF"/>
          </a:solidFill>
          <a:ln w="9525">
            <a:solidFill>
              <a:srgbClr val="D5DED9"/>
            </a:solidFill>
            <a:prstDash val="solid"/>
          </a:ln>
        </p:spPr>
      </p:sp>
      <p:sp>
        <p:nvSpPr>
          <p:cNvPr id="30" name="Text 27"/>
          <p:cNvSpPr txBox="1"/>
          <p:nvPr/>
        </p:nvSpPr>
        <p:spPr>
          <a:xfrm>
            <a:off x="3154680" y="3831336"/>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h19v08</a:t>
            </a:r>
            <a:endParaRPr lang="en-US" sz="1000" dirty="0"/>
          </a:p>
        </p:txBody>
      </p:sp>
      <p:sp>
        <p:nvSpPr>
          <p:cNvPr id="31" name="Shape 28"/>
          <p:cNvSpPr/>
          <p:nvPr/>
        </p:nvSpPr>
        <p:spPr>
          <a:xfrm>
            <a:off x="1481328" y="3291840"/>
            <a:ext cx="530352" cy="868680"/>
          </a:xfrm>
          <a:prstGeom prst="rect">
            <a:avLst/>
          </a:prstGeom>
          <a:solidFill>
            <a:srgbClr val="F5C242">
              <a:alpha val="25000"/>
            </a:srgbClr>
          </a:solidFill>
          <a:ln w="19050">
            <a:solidFill>
              <a:srgbClr val="D49A00"/>
            </a:solidFill>
            <a:prstDash val="dash"/>
          </a:ln>
        </p:spPr>
      </p:sp>
      <p:sp>
        <p:nvSpPr>
          <p:cNvPr id="32" name="Text 29"/>
          <p:cNvSpPr txBox="1"/>
          <p:nvPr/>
        </p:nvSpPr>
        <p:spPr>
          <a:xfrm>
            <a:off x="548640" y="4315968"/>
            <a:ext cx="3566160" cy="228600"/>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Côte d'Ivoire → h17v07 + h17v08</a:t>
            </a:r>
            <a:endParaRPr lang="en-US" sz="1000" dirty="0"/>
          </a:p>
        </p:txBody>
      </p:sp>
      <p:sp>
        <p:nvSpPr>
          <p:cNvPr id="33" name="Text 30"/>
          <p:cNvSpPr txBox="1"/>
          <p:nvPr/>
        </p:nvSpPr>
        <p:spPr>
          <a:xfrm>
            <a:off x="4754880" y="1371600"/>
            <a:ext cx="393192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Anatomie d'un nom de fichier</a:t>
            </a:r>
            <a:endParaRPr lang="en-US" sz="1300" dirty="0"/>
          </a:p>
        </p:txBody>
      </p:sp>
      <p:sp>
        <p:nvSpPr>
          <p:cNvPr id="34" name="Shape 31"/>
          <p:cNvSpPr/>
          <p:nvPr/>
        </p:nvSpPr>
        <p:spPr>
          <a:xfrm>
            <a:off x="4754880" y="1755648"/>
            <a:ext cx="1417320" cy="402336"/>
          </a:xfrm>
          <a:prstGeom prst="roundRect">
            <a:avLst>
              <a:gd name="adj" fmla="val 13636"/>
            </a:avLst>
          </a:prstGeom>
          <a:solidFill>
            <a:srgbClr val="00A86A"/>
          </a:solidFill>
          <a:ln w="12700">
            <a:solidFill>
              <a:srgbClr val="00A86A"/>
            </a:solidFill>
            <a:prstDash val="solid"/>
          </a:ln>
        </p:spPr>
      </p:sp>
      <p:sp>
        <p:nvSpPr>
          <p:cNvPr id="35" name="Text 32"/>
          <p:cNvSpPr txBox="1"/>
          <p:nvPr/>
        </p:nvSpPr>
        <p:spPr>
          <a:xfrm>
            <a:off x="4754880" y="175564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VNP46A4</a:t>
            </a:r>
            <a:endParaRPr lang="en-US" sz="1200" dirty="0"/>
          </a:p>
        </p:txBody>
      </p:sp>
      <p:sp>
        <p:nvSpPr>
          <p:cNvPr id="36" name="Shape 33"/>
          <p:cNvSpPr/>
          <p:nvPr/>
        </p:nvSpPr>
        <p:spPr>
          <a:xfrm>
            <a:off x="6236208" y="1956816"/>
            <a:ext cx="301752" cy="914"/>
          </a:xfrm>
          <a:prstGeom prst="line">
            <a:avLst/>
          </a:prstGeom>
          <a:noFill/>
          <a:ln w="15875">
            <a:solidFill>
              <a:srgbClr val="5E6964"/>
            </a:solidFill>
            <a:prstDash val="solid"/>
            <a:tailEnd type="triangle"/>
          </a:ln>
        </p:spPr>
      </p:sp>
      <p:sp>
        <p:nvSpPr>
          <p:cNvPr id="37" name="Text 34"/>
          <p:cNvSpPr txBox="1"/>
          <p:nvPr/>
        </p:nvSpPr>
        <p:spPr>
          <a:xfrm>
            <a:off x="6629400" y="175564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produit</a:t>
            </a:r>
            <a:endParaRPr lang="en-US" sz="1150" dirty="0"/>
          </a:p>
        </p:txBody>
      </p:sp>
      <p:sp>
        <p:nvSpPr>
          <p:cNvPr id="38" name="Shape 35"/>
          <p:cNvSpPr/>
          <p:nvPr/>
        </p:nvSpPr>
        <p:spPr>
          <a:xfrm>
            <a:off x="4754880" y="2304288"/>
            <a:ext cx="1417320" cy="402336"/>
          </a:xfrm>
          <a:prstGeom prst="roundRect">
            <a:avLst>
              <a:gd name="adj" fmla="val 13636"/>
            </a:avLst>
          </a:prstGeom>
          <a:solidFill>
            <a:srgbClr val="D49A00"/>
          </a:solidFill>
          <a:ln w="12700">
            <a:solidFill>
              <a:srgbClr val="D49A00"/>
            </a:solidFill>
            <a:prstDash val="solid"/>
          </a:ln>
        </p:spPr>
      </p:sp>
      <p:sp>
        <p:nvSpPr>
          <p:cNvPr id="39" name="Text 36"/>
          <p:cNvSpPr txBox="1"/>
          <p:nvPr/>
        </p:nvSpPr>
        <p:spPr>
          <a:xfrm>
            <a:off x="4754880" y="230428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A2023001</a:t>
            </a:r>
            <a:endParaRPr lang="en-US" sz="1200" dirty="0"/>
          </a:p>
        </p:txBody>
      </p:sp>
      <p:sp>
        <p:nvSpPr>
          <p:cNvPr id="40" name="Shape 37"/>
          <p:cNvSpPr/>
          <p:nvPr/>
        </p:nvSpPr>
        <p:spPr>
          <a:xfrm>
            <a:off x="6236208" y="2505456"/>
            <a:ext cx="301752" cy="914"/>
          </a:xfrm>
          <a:prstGeom prst="line">
            <a:avLst/>
          </a:prstGeom>
          <a:noFill/>
          <a:ln w="15875">
            <a:solidFill>
              <a:srgbClr val="5E6964"/>
            </a:solidFill>
            <a:prstDash val="solid"/>
            <a:tailEnd type="triangle"/>
          </a:ln>
        </p:spPr>
      </p:sp>
      <p:sp>
        <p:nvSpPr>
          <p:cNvPr id="41" name="Text 38"/>
          <p:cNvSpPr txBox="1"/>
          <p:nvPr/>
        </p:nvSpPr>
        <p:spPr>
          <a:xfrm>
            <a:off x="6629400" y="230428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année + jour julien</a:t>
            </a:r>
            <a:endParaRPr lang="en-US" sz="1150" dirty="0"/>
          </a:p>
        </p:txBody>
      </p:sp>
      <p:sp>
        <p:nvSpPr>
          <p:cNvPr id="42" name="Shape 39"/>
          <p:cNvSpPr/>
          <p:nvPr/>
        </p:nvSpPr>
        <p:spPr>
          <a:xfrm>
            <a:off x="4754880" y="2852928"/>
            <a:ext cx="1417320" cy="402336"/>
          </a:xfrm>
          <a:prstGeom prst="roundRect">
            <a:avLst>
              <a:gd name="adj" fmla="val 13636"/>
            </a:avLst>
          </a:prstGeom>
          <a:solidFill>
            <a:srgbClr val="0E7C86"/>
          </a:solidFill>
          <a:ln w="12700">
            <a:solidFill>
              <a:srgbClr val="0E7C86"/>
            </a:solidFill>
            <a:prstDash val="solid"/>
          </a:ln>
        </p:spPr>
      </p:sp>
      <p:sp>
        <p:nvSpPr>
          <p:cNvPr id="43" name="Text 40"/>
          <p:cNvSpPr txBox="1"/>
          <p:nvPr/>
        </p:nvSpPr>
        <p:spPr>
          <a:xfrm>
            <a:off x="4754880" y="285292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h17v08</a:t>
            </a:r>
            <a:endParaRPr lang="en-US" sz="1200" dirty="0"/>
          </a:p>
        </p:txBody>
      </p:sp>
      <p:sp>
        <p:nvSpPr>
          <p:cNvPr id="44" name="Shape 41"/>
          <p:cNvSpPr/>
          <p:nvPr/>
        </p:nvSpPr>
        <p:spPr>
          <a:xfrm>
            <a:off x="6236208" y="3054096"/>
            <a:ext cx="301752" cy="914"/>
          </a:xfrm>
          <a:prstGeom prst="line">
            <a:avLst/>
          </a:prstGeom>
          <a:noFill/>
          <a:ln w="15875">
            <a:solidFill>
              <a:srgbClr val="5E6964"/>
            </a:solidFill>
            <a:prstDash val="solid"/>
            <a:tailEnd type="triangle"/>
          </a:ln>
        </p:spPr>
      </p:sp>
      <p:sp>
        <p:nvSpPr>
          <p:cNvPr id="45" name="Text 42"/>
          <p:cNvSpPr txBox="1"/>
          <p:nvPr/>
        </p:nvSpPr>
        <p:spPr>
          <a:xfrm>
            <a:off x="6629400" y="285292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tuile</a:t>
            </a:r>
            <a:endParaRPr lang="en-US" sz="1150" dirty="0"/>
          </a:p>
        </p:txBody>
      </p:sp>
      <p:sp>
        <p:nvSpPr>
          <p:cNvPr id="46" name="Shape 43"/>
          <p:cNvSpPr/>
          <p:nvPr/>
        </p:nvSpPr>
        <p:spPr>
          <a:xfrm>
            <a:off x="4754880" y="3401568"/>
            <a:ext cx="1417320" cy="402336"/>
          </a:xfrm>
          <a:prstGeom prst="roundRect">
            <a:avLst>
              <a:gd name="adj" fmla="val 13636"/>
            </a:avLst>
          </a:prstGeom>
          <a:solidFill>
            <a:srgbClr val="C4621D"/>
          </a:solidFill>
          <a:ln w="12700">
            <a:solidFill>
              <a:srgbClr val="C4621D"/>
            </a:solidFill>
            <a:prstDash val="solid"/>
          </a:ln>
        </p:spPr>
      </p:sp>
      <p:sp>
        <p:nvSpPr>
          <p:cNvPr id="47" name="Text 44"/>
          <p:cNvSpPr txBox="1"/>
          <p:nvPr/>
        </p:nvSpPr>
        <p:spPr>
          <a:xfrm>
            <a:off x="4754880" y="340156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002</a:t>
            </a:r>
            <a:endParaRPr lang="en-US" sz="1200" dirty="0"/>
          </a:p>
        </p:txBody>
      </p:sp>
      <p:sp>
        <p:nvSpPr>
          <p:cNvPr id="48" name="Shape 45"/>
          <p:cNvSpPr/>
          <p:nvPr/>
        </p:nvSpPr>
        <p:spPr>
          <a:xfrm>
            <a:off x="6236208" y="3602736"/>
            <a:ext cx="301752" cy="914"/>
          </a:xfrm>
          <a:prstGeom prst="line">
            <a:avLst/>
          </a:prstGeom>
          <a:noFill/>
          <a:ln w="15875">
            <a:solidFill>
              <a:srgbClr val="5E6964"/>
            </a:solidFill>
            <a:prstDash val="solid"/>
            <a:tailEnd type="triangle"/>
          </a:ln>
        </p:spPr>
      </p:sp>
      <p:sp>
        <p:nvSpPr>
          <p:cNvPr id="49" name="Text 46"/>
          <p:cNvSpPr txBox="1"/>
          <p:nvPr/>
        </p:nvSpPr>
        <p:spPr>
          <a:xfrm>
            <a:off x="6629400" y="340156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collection</a:t>
            </a:r>
            <a:endParaRPr lang="en-US" sz="1150" dirty="0"/>
          </a:p>
        </p:txBody>
      </p:sp>
      <p:sp>
        <p:nvSpPr>
          <p:cNvPr id="50" name="Shape 47"/>
          <p:cNvSpPr/>
          <p:nvPr/>
        </p:nvSpPr>
        <p:spPr>
          <a:xfrm>
            <a:off x="4754880" y="3950208"/>
            <a:ext cx="1417320" cy="402336"/>
          </a:xfrm>
          <a:prstGeom prst="roundRect">
            <a:avLst>
              <a:gd name="adj" fmla="val 13636"/>
            </a:avLst>
          </a:prstGeom>
          <a:solidFill>
            <a:srgbClr val="5E6964"/>
          </a:solidFill>
          <a:ln w="12700">
            <a:solidFill>
              <a:srgbClr val="5E6964"/>
            </a:solidFill>
            <a:prstDash val="solid"/>
          </a:ln>
        </p:spPr>
      </p:sp>
      <p:sp>
        <p:nvSpPr>
          <p:cNvPr id="51" name="Text 48"/>
          <p:cNvSpPr txBox="1"/>
          <p:nvPr/>
        </p:nvSpPr>
        <p:spPr>
          <a:xfrm>
            <a:off x="4754880" y="395020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2024…</a:t>
            </a:r>
            <a:endParaRPr lang="en-US" sz="1200" dirty="0"/>
          </a:p>
        </p:txBody>
      </p:sp>
      <p:sp>
        <p:nvSpPr>
          <p:cNvPr id="52" name="Shape 49"/>
          <p:cNvSpPr/>
          <p:nvPr/>
        </p:nvSpPr>
        <p:spPr>
          <a:xfrm>
            <a:off x="6236208" y="4151376"/>
            <a:ext cx="301752" cy="914"/>
          </a:xfrm>
          <a:prstGeom prst="line">
            <a:avLst/>
          </a:prstGeom>
          <a:noFill/>
          <a:ln w="15875">
            <a:solidFill>
              <a:srgbClr val="5E6964"/>
            </a:solidFill>
            <a:prstDash val="solid"/>
            <a:tailEnd type="triangle"/>
          </a:ln>
        </p:spPr>
      </p:sp>
      <p:sp>
        <p:nvSpPr>
          <p:cNvPr id="53" name="Text 50"/>
          <p:cNvSpPr txBox="1"/>
          <p:nvPr/>
        </p:nvSpPr>
        <p:spPr>
          <a:xfrm>
            <a:off x="6629400" y="395020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horodatage</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COLLECTER · GRILLE TEMPORELLE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Fixer la saison, varier l'année, jamais une seule nuit</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640080" y="2011680"/>
            <a:ext cx="7863840" cy="0"/>
          </a:xfrm>
          <a:prstGeom prst="line">
            <a:avLst/>
          </a:prstGeom>
          <a:noFill/>
          <a:ln w="25400">
            <a:solidFill>
              <a:srgbClr val="D5DED9"/>
            </a:solidFill>
            <a:prstDash val="solid"/>
          </a:ln>
        </p:spPr>
      </p:sp>
      <p:sp>
        <p:nvSpPr>
          <p:cNvPr id="12" name="Shape 9"/>
          <p:cNvSpPr/>
          <p:nvPr/>
        </p:nvSpPr>
        <p:spPr>
          <a:xfrm>
            <a:off x="557784" y="1929384"/>
            <a:ext cx="164592" cy="164592"/>
          </a:xfrm>
          <a:prstGeom prst="ellipse">
            <a:avLst/>
          </a:prstGeom>
          <a:solidFill>
            <a:srgbClr val="00A86A"/>
          </a:solidFill>
          <a:ln w="19050">
            <a:solidFill>
              <a:srgbClr val="FFFFFF"/>
            </a:solidFill>
            <a:prstDash val="solid"/>
          </a:ln>
        </p:spPr>
      </p:sp>
      <p:sp>
        <p:nvSpPr>
          <p:cNvPr id="13" name="Text 10"/>
          <p:cNvSpPr txBox="1"/>
          <p:nvPr/>
        </p:nvSpPr>
        <p:spPr>
          <a:xfrm>
            <a:off x="274320"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2013</a:t>
            </a:r>
            <a:endParaRPr lang="en-US" sz="1100" dirty="0"/>
          </a:p>
        </p:txBody>
      </p:sp>
      <p:sp>
        <p:nvSpPr>
          <p:cNvPr id="14" name="Text 11"/>
          <p:cNvSpPr txBox="1"/>
          <p:nvPr/>
        </p:nvSpPr>
        <p:spPr>
          <a:xfrm>
            <a:off x="137160"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15" name="Shape 12"/>
          <p:cNvSpPr/>
          <p:nvPr/>
        </p:nvSpPr>
        <p:spPr>
          <a:xfrm>
            <a:off x="1865376" y="1929384"/>
            <a:ext cx="164592" cy="164592"/>
          </a:xfrm>
          <a:prstGeom prst="ellipse">
            <a:avLst/>
          </a:prstGeom>
          <a:solidFill>
            <a:srgbClr val="00A86A"/>
          </a:solidFill>
          <a:ln w="19050">
            <a:solidFill>
              <a:srgbClr val="FFFFFF"/>
            </a:solidFill>
            <a:prstDash val="solid"/>
          </a:ln>
        </p:spPr>
      </p:sp>
      <p:sp>
        <p:nvSpPr>
          <p:cNvPr id="16" name="Text 13"/>
          <p:cNvSpPr txBox="1"/>
          <p:nvPr/>
        </p:nvSpPr>
        <p:spPr>
          <a:xfrm>
            <a:off x="1581912"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2015</a:t>
            </a:r>
            <a:endParaRPr lang="en-US" sz="1100" dirty="0"/>
          </a:p>
        </p:txBody>
      </p:sp>
      <p:sp>
        <p:nvSpPr>
          <p:cNvPr id="17" name="Text 14"/>
          <p:cNvSpPr txBox="1"/>
          <p:nvPr/>
        </p:nvSpPr>
        <p:spPr>
          <a:xfrm>
            <a:off x="1444752"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18" name="Shape 15"/>
          <p:cNvSpPr/>
          <p:nvPr/>
        </p:nvSpPr>
        <p:spPr>
          <a:xfrm>
            <a:off x="3172968" y="1929384"/>
            <a:ext cx="164592" cy="164592"/>
          </a:xfrm>
          <a:prstGeom prst="ellipse">
            <a:avLst/>
          </a:prstGeom>
          <a:solidFill>
            <a:srgbClr val="00A86A"/>
          </a:solidFill>
          <a:ln w="19050">
            <a:solidFill>
              <a:srgbClr val="FFFFFF"/>
            </a:solidFill>
            <a:prstDash val="solid"/>
          </a:ln>
        </p:spPr>
      </p:sp>
      <p:sp>
        <p:nvSpPr>
          <p:cNvPr id="19" name="Text 16"/>
          <p:cNvSpPr txBox="1"/>
          <p:nvPr/>
        </p:nvSpPr>
        <p:spPr>
          <a:xfrm>
            <a:off x="2889504"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2017</a:t>
            </a:r>
            <a:endParaRPr lang="en-US" sz="1100" dirty="0"/>
          </a:p>
        </p:txBody>
      </p:sp>
      <p:sp>
        <p:nvSpPr>
          <p:cNvPr id="20" name="Text 17"/>
          <p:cNvSpPr txBox="1"/>
          <p:nvPr/>
        </p:nvSpPr>
        <p:spPr>
          <a:xfrm>
            <a:off x="2752344"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21" name="Shape 18"/>
          <p:cNvSpPr/>
          <p:nvPr/>
        </p:nvSpPr>
        <p:spPr>
          <a:xfrm>
            <a:off x="4480560" y="1929384"/>
            <a:ext cx="164592" cy="164592"/>
          </a:xfrm>
          <a:prstGeom prst="ellipse">
            <a:avLst/>
          </a:prstGeom>
          <a:solidFill>
            <a:srgbClr val="00A86A"/>
          </a:solidFill>
          <a:ln w="19050">
            <a:solidFill>
              <a:srgbClr val="FFFFFF"/>
            </a:solidFill>
            <a:prstDash val="solid"/>
          </a:ln>
        </p:spPr>
      </p:sp>
      <p:sp>
        <p:nvSpPr>
          <p:cNvPr id="22" name="Text 19"/>
          <p:cNvSpPr txBox="1"/>
          <p:nvPr/>
        </p:nvSpPr>
        <p:spPr>
          <a:xfrm>
            <a:off x="4197096"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2019</a:t>
            </a:r>
            <a:endParaRPr lang="en-US" sz="1100" dirty="0"/>
          </a:p>
        </p:txBody>
      </p:sp>
      <p:sp>
        <p:nvSpPr>
          <p:cNvPr id="23" name="Text 20"/>
          <p:cNvSpPr txBox="1"/>
          <p:nvPr/>
        </p:nvSpPr>
        <p:spPr>
          <a:xfrm>
            <a:off x="4059936"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24" name="Shape 21"/>
          <p:cNvSpPr/>
          <p:nvPr/>
        </p:nvSpPr>
        <p:spPr>
          <a:xfrm>
            <a:off x="5788152" y="1929384"/>
            <a:ext cx="164592" cy="164592"/>
          </a:xfrm>
          <a:prstGeom prst="ellipse">
            <a:avLst/>
          </a:prstGeom>
          <a:solidFill>
            <a:srgbClr val="00A86A"/>
          </a:solidFill>
          <a:ln w="19050">
            <a:solidFill>
              <a:srgbClr val="FFFFFF"/>
            </a:solidFill>
            <a:prstDash val="solid"/>
          </a:ln>
        </p:spPr>
      </p:sp>
      <p:sp>
        <p:nvSpPr>
          <p:cNvPr id="25" name="Text 22"/>
          <p:cNvSpPr txBox="1"/>
          <p:nvPr/>
        </p:nvSpPr>
        <p:spPr>
          <a:xfrm>
            <a:off x="5504688"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2021</a:t>
            </a:r>
            <a:endParaRPr lang="en-US" sz="1100" dirty="0"/>
          </a:p>
        </p:txBody>
      </p:sp>
      <p:sp>
        <p:nvSpPr>
          <p:cNvPr id="26" name="Text 23"/>
          <p:cNvSpPr txBox="1"/>
          <p:nvPr/>
        </p:nvSpPr>
        <p:spPr>
          <a:xfrm>
            <a:off x="5367528"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27" name="Shape 24"/>
          <p:cNvSpPr/>
          <p:nvPr/>
        </p:nvSpPr>
        <p:spPr>
          <a:xfrm>
            <a:off x="7095744" y="1929384"/>
            <a:ext cx="164592" cy="164592"/>
          </a:xfrm>
          <a:prstGeom prst="ellipse">
            <a:avLst/>
          </a:prstGeom>
          <a:solidFill>
            <a:srgbClr val="00A86A"/>
          </a:solidFill>
          <a:ln w="19050">
            <a:solidFill>
              <a:srgbClr val="FFFFFF"/>
            </a:solidFill>
            <a:prstDash val="solid"/>
          </a:ln>
        </p:spPr>
      </p:sp>
      <p:sp>
        <p:nvSpPr>
          <p:cNvPr id="28" name="Text 25"/>
          <p:cNvSpPr txBox="1"/>
          <p:nvPr/>
        </p:nvSpPr>
        <p:spPr>
          <a:xfrm>
            <a:off x="6812280"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2023</a:t>
            </a:r>
            <a:endParaRPr lang="en-US" sz="1100" dirty="0"/>
          </a:p>
        </p:txBody>
      </p:sp>
      <p:sp>
        <p:nvSpPr>
          <p:cNvPr id="29" name="Text 26"/>
          <p:cNvSpPr txBox="1"/>
          <p:nvPr/>
        </p:nvSpPr>
        <p:spPr>
          <a:xfrm>
            <a:off x="6675120"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30" name="Shape 27"/>
          <p:cNvSpPr/>
          <p:nvPr/>
        </p:nvSpPr>
        <p:spPr>
          <a:xfrm>
            <a:off x="8403336" y="1929384"/>
            <a:ext cx="164592" cy="164592"/>
          </a:xfrm>
          <a:prstGeom prst="ellipse">
            <a:avLst/>
          </a:prstGeom>
          <a:solidFill>
            <a:srgbClr val="00A86A"/>
          </a:solidFill>
          <a:ln w="19050">
            <a:solidFill>
              <a:srgbClr val="FFFFFF"/>
            </a:solidFill>
            <a:prstDash val="solid"/>
          </a:ln>
        </p:spPr>
      </p:sp>
      <p:sp>
        <p:nvSpPr>
          <p:cNvPr id="31" name="Text 28"/>
          <p:cNvSpPr txBox="1"/>
          <p:nvPr/>
        </p:nvSpPr>
        <p:spPr>
          <a:xfrm>
            <a:off x="8119872"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2025</a:t>
            </a:r>
            <a:endParaRPr lang="en-US" sz="1100" dirty="0"/>
          </a:p>
        </p:txBody>
      </p:sp>
      <p:sp>
        <p:nvSpPr>
          <p:cNvPr id="32" name="Text 29"/>
          <p:cNvSpPr txBox="1"/>
          <p:nvPr/>
        </p:nvSpPr>
        <p:spPr>
          <a:xfrm>
            <a:off x="7982712"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janv. ±3</a:t>
            </a:r>
            <a:endParaRPr lang="en-US" sz="950" dirty="0"/>
          </a:p>
        </p:txBody>
      </p:sp>
      <p:sp>
        <p:nvSpPr>
          <p:cNvPr id="33" name="Shape 30"/>
          <p:cNvSpPr/>
          <p:nvPr/>
        </p:nvSpPr>
        <p:spPr>
          <a:xfrm>
            <a:off x="457200" y="2606040"/>
            <a:ext cx="2606040" cy="1417320"/>
          </a:xfrm>
          <a:prstGeom prst="roundRect">
            <a:avLst>
              <a:gd name="adj" fmla="val 5161"/>
            </a:avLst>
          </a:prstGeom>
          <a:solidFill>
            <a:srgbClr val="E8F5EF"/>
          </a:solidFill>
          <a:ln w="15875">
            <a:solidFill>
              <a:srgbClr val="00704A"/>
            </a:solidFill>
            <a:prstDash val="solid"/>
          </a:ln>
        </p:spPr>
      </p:sp>
      <p:sp>
        <p:nvSpPr>
          <p:cNvPr id="34" name="Shape 31"/>
          <p:cNvSpPr/>
          <p:nvPr/>
        </p:nvSpPr>
        <p:spPr>
          <a:xfrm>
            <a:off x="621792" y="2743200"/>
            <a:ext cx="457200" cy="457200"/>
          </a:xfrm>
          <a:prstGeom prst="ellipse">
            <a:avLst/>
          </a:prstGeom>
          <a:solidFill>
            <a:srgbClr val="00704A">
              <a:alpha val="22000"/>
            </a:srgbClr>
          </a:solidFill>
          <a:ln w="12700">
            <a:solidFill>
              <a:srgbClr val="00704A">
                <a:alpha val="0"/>
              </a:srgbClr>
            </a:solidFill>
            <a:prstDash val="solid"/>
          </a:ln>
        </p:spPr>
      </p:sp>
      <p:pic>
        <p:nvPicPr>
          <p:cNvPr id="35" name="Image 0" descr="preencoded.png">    </p:cNvPr>
          <p:cNvPicPr>
            <a:picLocks noChangeAspect="1"/>
          </p:cNvPicPr>
          <p:nvPr/>
        </p:nvPicPr>
        <p:blipFill>
          <a:blip r:embed="rId1"/>
          <a:stretch>
            <a:fillRect/>
          </a:stretch>
        </p:blipFill>
        <p:spPr>
          <a:xfrm>
            <a:off x="731520" y="2852928"/>
            <a:ext cx="237744" cy="237744"/>
          </a:xfrm>
          <a:prstGeom prst="rect">
            <a:avLst/>
          </a:prstGeom>
        </p:spPr>
      </p:pic>
      <p:sp>
        <p:nvSpPr>
          <p:cNvPr id="36" name="Text 32"/>
          <p:cNvSpPr txBox="1"/>
          <p:nvPr/>
        </p:nvSpPr>
        <p:spPr>
          <a:xfrm>
            <a:off x="1188720" y="2743200"/>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Quotidien A1 / A2</a:t>
            </a:r>
            <a:endParaRPr lang="en-US" sz="1300" dirty="0"/>
          </a:p>
        </p:txBody>
      </p:sp>
      <p:sp>
        <p:nvSpPr>
          <p:cNvPr id="37" name="Text 33"/>
          <p:cNvSpPr txBox="1"/>
          <p:nvPr/>
        </p:nvSpPr>
        <p:spPr>
          <a:xfrm>
            <a:off x="621792" y="3273552"/>
            <a:ext cx="2286000" cy="71323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Jour fixe ± 3 nuits (7 nuits par an), puis garder les nuits dégagées et de bonne qualité et en prendre la médiane</a:t>
            </a:r>
            <a:endParaRPr lang="en-US" sz="1050" dirty="0"/>
          </a:p>
        </p:txBody>
      </p:sp>
      <p:sp>
        <p:nvSpPr>
          <p:cNvPr id="38" name="Shape 34"/>
          <p:cNvSpPr/>
          <p:nvPr/>
        </p:nvSpPr>
        <p:spPr>
          <a:xfrm>
            <a:off x="3246120" y="2606040"/>
            <a:ext cx="2606040" cy="1417320"/>
          </a:xfrm>
          <a:prstGeom prst="roundRect">
            <a:avLst>
              <a:gd name="adj" fmla="val 5161"/>
            </a:avLst>
          </a:prstGeom>
          <a:solidFill>
            <a:srgbClr val="F4F7F5"/>
          </a:solidFill>
          <a:ln w="9525">
            <a:solidFill>
              <a:srgbClr val="D5DED9"/>
            </a:solidFill>
            <a:prstDash val="solid"/>
          </a:ln>
        </p:spPr>
      </p:sp>
      <p:sp>
        <p:nvSpPr>
          <p:cNvPr id="39" name="Shape 35"/>
          <p:cNvSpPr/>
          <p:nvPr/>
        </p:nvSpPr>
        <p:spPr>
          <a:xfrm>
            <a:off x="3410712" y="2743200"/>
            <a:ext cx="457200" cy="457200"/>
          </a:xfrm>
          <a:prstGeom prst="ellipse">
            <a:avLst/>
          </a:prstGeom>
          <a:solidFill>
            <a:srgbClr val="0E7C86">
              <a:alpha val="22000"/>
            </a:srgbClr>
          </a:solidFill>
          <a:ln w="12700">
            <a:solidFill>
              <a:srgbClr val="0E7C86">
                <a:alpha val="0"/>
              </a:srgbClr>
            </a:solidFill>
            <a:prstDash val="solid"/>
          </a:ln>
        </p:spPr>
      </p:sp>
      <p:pic>
        <p:nvPicPr>
          <p:cNvPr id="40" name="Image 1" descr="preencoded.png">    </p:cNvPr>
          <p:cNvPicPr>
            <a:picLocks noChangeAspect="1"/>
          </p:cNvPicPr>
          <p:nvPr/>
        </p:nvPicPr>
        <p:blipFill>
          <a:blip r:embed="rId2"/>
          <a:stretch>
            <a:fillRect/>
          </a:stretch>
        </p:blipFill>
        <p:spPr>
          <a:xfrm>
            <a:off x="3520440" y="2852928"/>
            <a:ext cx="237744" cy="237744"/>
          </a:xfrm>
          <a:prstGeom prst="rect">
            <a:avLst/>
          </a:prstGeom>
        </p:spPr>
      </p:pic>
      <p:sp>
        <p:nvSpPr>
          <p:cNvPr id="41" name="Text 36"/>
          <p:cNvSpPr txBox="1"/>
          <p:nvPr/>
        </p:nvSpPr>
        <p:spPr>
          <a:xfrm>
            <a:off x="3977640" y="2743200"/>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Mensuel A3</a:t>
            </a:r>
            <a:endParaRPr lang="en-US" sz="1300" dirty="0"/>
          </a:p>
        </p:txBody>
      </p:sp>
      <p:sp>
        <p:nvSpPr>
          <p:cNvPr id="42" name="Text 37"/>
          <p:cNvSpPr txBox="1"/>
          <p:nvPr/>
        </p:nvSpPr>
        <p:spPr>
          <a:xfrm>
            <a:off x="3410712" y="3273552"/>
            <a:ext cx="2286000" cy="71323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Le même mois chaque année : le composite absorbe déjà nuages et Lune</a:t>
            </a:r>
            <a:endParaRPr lang="en-US" sz="1050" dirty="0"/>
          </a:p>
        </p:txBody>
      </p:sp>
      <p:sp>
        <p:nvSpPr>
          <p:cNvPr id="43" name="Shape 38"/>
          <p:cNvSpPr/>
          <p:nvPr/>
        </p:nvSpPr>
        <p:spPr>
          <a:xfrm>
            <a:off x="6035040" y="2606040"/>
            <a:ext cx="2606040" cy="1417320"/>
          </a:xfrm>
          <a:prstGeom prst="roundRect">
            <a:avLst>
              <a:gd name="adj" fmla="val 5161"/>
            </a:avLst>
          </a:prstGeom>
          <a:solidFill>
            <a:srgbClr val="F4F7F5"/>
          </a:solidFill>
          <a:ln w="9525">
            <a:solidFill>
              <a:srgbClr val="D5DED9"/>
            </a:solidFill>
            <a:prstDash val="solid"/>
          </a:ln>
        </p:spPr>
      </p:sp>
      <p:sp>
        <p:nvSpPr>
          <p:cNvPr id="44" name="Shape 39"/>
          <p:cNvSpPr/>
          <p:nvPr/>
        </p:nvSpPr>
        <p:spPr>
          <a:xfrm>
            <a:off x="6199632" y="2743200"/>
            <a:ext cx="457200" cy="457200"/>
          </a:xfrm>
          <a:prstGeom prst="ellipse">
            <a:avLst/>
          </a:prstGeom>
          <a:solidFill>
            <a:srgbClr val="00A86A">
              <a:alpha val="22000"/>
            </a:srgbClr>
          </a:solidFill>
          <a:ln w="12700">
            <a:solidFill>
              <a:srgbClr val="00A86A">
                <a:alpha val="0"/>
              </a:srgbClr>
            </a:solidFill>
            <a:prstDash val="solid"/>
          </a:ln>
        </p:spPr>
      </p:sp>
      <p:pic>
        <p:nvPicPr>
          <p:cNvPr id="45" name="Image 2" descr="preencoded.png">    </p:cNvPr>
          <p:cNvPicPr>
            <a:picLocks noChangeAspect="1"/>
          </p:cNvPicPr>
          <p:nvPr/>
        </p:nvPicPr>
        <p:blipFill>
          <a:blip r:embed="rId3"/>
          <a:stretch>
            <a:fillRect/>
          </a:stretch>
        </p:blipFill>
        <p:spPr>
          <a:xfrm>
            <a:off x="6309360" y="2852928"/>
            <a:ext cx="237744" cy="237744"/>
          </a:xfrm>
          <a:prstGeom prst="rect">
            <a:avLst/>
          </a:prstGeom>
        </p:spPr>
      </p:pic>
      <p:sp>
        <p:nvSpPr>
          <p:cNvPr id="46" name="Text 40"/>
          <p:cNvSpPr txBox="1"/>
          <p:nvPr/>
        </p:nvSpPr>
        <p:spPr>
          <a:xfrm>
            <a:off x="6766560" y="2743200"/>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Annuel A4</a:t>
            </a:r>
            <a:endParaRPr lang="en-US" sz="1300" dirty="0"/>
          </a:p>
        </p:txBody>
      </p:sp>
      <p:sp>
        <p:nvSpPr>
          <p:cNvPr id="47" name="Text 41"/>
          <p:cNvSpPr txBox="1"/>
          <p:nvPr/>
        </p:nvSpPr>
        <p:spPr>
          <a:xfrm>
            <a:off x="6199632" y="3273552"/>
            <a:ext cx="2286000" cy="71323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L'année entière : le bon produit pour les tendances interannuelles</a:t>
            </a:r>
            <a:endParaRPr lang="en-US" sz="1050" dirty="0"/>
          </a:p>
        </p:txBody>
      </p:sp>
      <p:sp>
        <p:nvSpPr>
          <p:cNvPr id="48" name="Shape 42"/>
          <p:cNvSpPr/>
          <p:nvPr/>
        </p:nvSpPr>
        <p:spPr>
          <a:xfrm>
            <a:off x="457200" y="4114800"/>
            <a:ext cx="8229600" cy="384048"/>
          </a:xfrm>
          <a:prstGeom prst="roundRect">
            <a:avLst>
              <a:gd name="adj" fmla="val 14286"/>
            </a:avLst>
          </a:prstGeom>
          <a:solidFill>
            <a:srgbClr val="D49A00">
              <a:alpha val="13000"/>
            </a:srgbClr>
          </a:solidFill>
          <a:ln w="12700">
            <a:solidFill>
              <a:srgbClr val="D49A00"/>
            </a:solidFill>
            <a:prstDash val="solid"/>
          </a:ln>
        </p:spPr>
      </p:sp>
      <p:pic>
        <p:nvPicPr>
          <p:cNvPr id="49" name="Image 3" descr="preencoded.png">    </p:cNvPr>
          <p:cNvPicPr>
            <a:picLocks noChangeAspect="1"/>
          </p:cNvPicPr>
          <p:nvPr/>
        </p:nvPicPr>
        <p:blipFill>
          <a:blip r:embed="rId4"/>
          <a:stretch>
            <a:fillRect/>
          </a:stretch>
        </p:blipFill>
        <p:spPr>
          <a:xfrm>
            <a:off x="594360" y="4242816"/>
            <a:ext cx="237744" cy="237744"/>
          </a:xfrm>
          <a:prstGeom prst="rect">
            <a:avLst/>
          </a:prstGeom>
        </p:spPr>
      </p:pic>
      <p:sp>
        <p:nvSpPr>
          <p:cNvPr id="50" name="Text 43"/>
          <p:cNvSpPr txBox="1"/>
          <p:nvPr/>
        </p:nvSpPr>
        <p:spPr>
          <a:xfrm>
            <a:off x="932688" y="4206240"/>
            <a:ext cx="7635240" cy="201168"/>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Lune :  </a:t>
            </a:r>
            <a:pPr indent="0" marL="0">
              <a:buNone/>
            </a:pPr>
            <a:r>
              <a:rPr lang="en-US" sz="1100" dirty="0">
                <a:solidFill>
                  <a:srgbClr val="231F20"/>
                </a:solidFill>
                <a:latin typeface="Calibri" pitchFamily="34" charset="0"/>
                <a:ea typeface="Calibri" pitchFamily="34" charset="-122"/>
                <a:cs typeface="Calibri" pitchFamily="34" charset="-120"/>
              </a:rPr>
              <a:t>cycle de 29,5 jours — une date fixe ne fixe pas la phase lunaire.</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COLLECTER · RÉSULTATS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Interroger, mesurer la disponibilité, télécharger</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514600" cy="1508760"/>
          </a:xfrm>
          <a:prstGeom prst="roundRect">
            <a:avLst>
              <a:gd name="adj" fmla="val 4848"/>
            </a:avLst>
          </a:prstGeom>
          <a:solidFill>
            <a:srgbClr val="F4F7F5"/>
          </a:solidFill>
          <a:ln w="9525">
            <a:solidFill>
              <a:srgbClr val="D5DED9"/>
            </a:solidFill>
            <a:prstDash val="solid"/>
          </a:ln>
        </p:spPr>
      </p:sp>
      <p:sp>
        <p:nvSpPr>
          <p:cNvPr id="12" name="Shape 9"/>
          <p:cNvSpPr/>
          <p:nvPr/>
        </p:nvSpPr>
        <p:spPr>
          <a:xfrm>
            <a:off x="621792" y="1508760"/>
            <a:ext cx="457200" cy="457200"/>
          </a:xfrm>
          <a:prstGeom prst="ellipse">
            <a:avLst/>
          </a:prstGeom>
          <a:solidFill>
            <a:srgbClr val="00704A">
              <a:alpha val="22000"/>
            </a:srgbClr>
          </a:solidFill>
          <a:ln w="12700">
            <a:solidFill>
              <a:srgbClr val="00704A">
                <a:alpha val="0"/>
              </a:srgbClr>
            </a:solidFill>
            <a:prstDash val="solid"/>
          </a:ln>
        </p:spPr>
      </p:sp>
      <p:pic>
        <p:nvPicPr>
          <p:cNvPr id="13" name="Image 0" descr="preencoded.png">    </p:cNvPr>
          <p:cNvPicPr>
            <a:picLocks noChangeAspect="1"/>
          </p:cNvPicPr>
          <p:nvPr/>
        </p:nvPicPr>
        <p:blipFill>
          <a:blip r:embed="rId1"/>
          <a:stretch>
            <a:fillRect/>
          </a:stretch>
        </p:blipFill>
        <p:spPr>
          <a:xfrm>
            <a:off x="731520" y="1618488"/>
            <a:ext cx="237744" cy="237744"/>
          </a:xfrm>
          <a:prstGeom prst="rect">
            <a:avLst/>
          </a:prstGeom>
        </p:spPr>
      </p:pic>
      <p:sp>
        <p:nvSpPr>
          <p:cNvPr id="14" name="Text 10"/>
          <p:cNvSpPr txBox="1"/>
          <p:nvPr/>
        </p:nvSpPr>
        <p:spPr>
          <a:xfrm>
            <a:off x="1188720" y="1508760"/>
            <a:ext cx="169164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1 · Interroger</a:t>
            </a:r>
            <a:endParaRPr lang="en-US" sz="1300" dirty="0"/>
          </a:p>
        </p:txBody>
      </p:sp>
      <p:sp>
        <p:nvSpPr>
          <p:cNvPr id="15" name="Text 11"/>
          <p:cNvSpPr txBox="1"/>
          <p:nvPr/>
        </p:nvSpPr>
        <p:spPr>
          <a:xfrm>
            <a:off x="621792" y="2057400"/>
            <a:ext cx="2240280" cy="7772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Une requête par année · pagination (2 000 par page) · dédoublonnage par tuile et date</a:t>
            </a:r>
            <a:endParaRPr lang="en-US" sz="1050" dirty="0"/>
          </a:p>
        </p:txBody>
      </p:sp>
      <p:sp>
        <p:nvSpPr>
          <p:cNvPr id="16" name="Shape 12"/>
          <p:cNvSpPr/>
          <p:nvPr/>
        </p:nvSpPr>
        <p:spPr>
          <a:xfrm>
            <a:off x="2999232" y="2121408"/>
            <a:ext cx="219456" cy="914"/>
          </a:xfrm>
          <a:prstGeom prst="line">
            <a:avLst/>
          </a:prstGeom>
          <a:noFill/>
          <a:ln w="15875">
            <a:solidFill>
              <a:srgbClr val="5E6964"/>
            </a:solidFill>
            <a:prstDash val="solid"/>
            <a:tailEnd type="triangle"/>
          </a:ln>
        </p:spPr>
      </p:sp>
      <p:sp>
        <p:nvSpPr>
          <p:cNvPr id="17" name="Shape 13"/>
          <p:cNvSpPr/>
          <p:nvPr/>
        </p:nvSpPr>
        <p:spPr>
          <a:xfrm>
            <a:off x="3246120" y="1371600"/>
            <a:ext cx="2514600" cy="1508760"/>
          </a:xfrm>
          <a:prstGeom prst="roundRect">
            <a:avLst>
              <a:gd name="adj" fmla="val 4848"/>
            </a:avLst>
          </a:prstGeom>
          <a:solidFill>
            <a:srgbClr val="E8F5EF"/>
          </a:solidFill>
          <a:ln w="15875">
            <a:solidFill>
              <a:srgbClr val="00704A"/>
            </a:solidFill>
            <a:prstDash val="solid"/>
          </a:ln>
        </p:spPr>
      </p:sp>
      <p:sp>
        <p:nvSpPr>
          <p:cNvPr id="18" name="Shape 14"/>
          <p:cNvSpPr/>
          <p:nvPr/>
        </p:nvSpPr>
        <p:spPr>
          <a:xfrm>
            <a:off x="3410712" y="1508760"/>
            <a:ext cx="457200" cy="457200"/>
          </a:xfrm>
          <a:prstGeom prst="ellipse">
            <a:avLst/>
          </a:prstGeom>
          <a:solidFill>
            <a:srgbClr val="00704A">
              <a:alpha val="22000"/>
            </a:srgbClr>
          </a:solidFill>
          <a:ln w="12700">
            <a:solidFill>
              <a:srgbClr val="00704A">
                <a:alpha val="0"/>
              </a:srgbClr>
            </a:solidFill>
            <a:prstDash val="solid"/>
          </a:ln>
        </p:spPr>
      </p:sp>
      <p:pic>
        <p:nvPicPr>
          <p:cNvPr id="19" name="Image 1" descr="preencoded.png">    </p:cNvPr>
          <p:cNvPicPr>
            <a:picLocks noChangeAspect="1"/>
          </p:cNvPicPr>
          <p:nvPr/>
        </p:nvPicPr>
        <p:blipFill>
          <a:blip r:embed="rId2"/>
          <a:stretch>
            <a:fillRect/>
          </a:stretch>
        </p:blipFill>
        <p:spPr>
          <a:xfrm>
            <a:off x="3520440" y="1618488"/>
            <a:ext cx="237744" cy="237744"/>
          </a:xfrm>
          <a:prstGeom prst="rect">
            <a:avLst/>
          </a:prstGeom>
        </p:spPr>
      </p:pic>
      <p:sp>
        <p:nvSpPr>
          <p:cNvPr id="20" name="Text 15"/>
          <p:cNvSpPr txBox="1"/>
          <p:nvPr/>
        </p:nvSpPr>
        <p:spPr>
          <a:xfrm>
            <a:off x="3977640" y="1508760"/>
            <a:ext cx="169164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2 · Mesurer</a:t>
            </a:r>
            <a:endParaRPr lang="en-US" sz="1300" dirty="0"/>
          </a:p>
        </p:txBody>
      </p:sp>
      <p:sp>
        <p:nvSpPr>
          <p:cNvPr id="21" name="Text 16"/>
          <p:cNvSpPr txBox="1"/>
          <p:nvPr/>
        </p:nvSpPr>
        <p:spPr>
          <a:xfrm>
            <a:off x="3410712" y="2057400"/>
            <a:ext cx="2240280" cy="7772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Attendu = fenêtres × tuiles × nuits · trouvé · complétude · volume en Go</a:t>
            </a:r>
            <a:endParaRPr lang="en-US" sz="1050" dirty="0"/>
          </a:p>
        </p:txBody>
      </p:sp>
      <p:sp>
        <p:nvSpPr>
          <p:cNvPr id="22" name="Shape 17"/>
          <p:cNvSpPr/>
          <p:nvPr/>
        </p:nvSpPr>
        <p:spPr>
          <a:xfrm>
            <a:off x="5788152" y="2121408"/>
            <a:ext cx="219456" cy="914"/>
          </a:xfrm>
          <a:prstGeom prst="line">
            <a:avLst/>
          </a:prstGeom>
          <a:noFill/>
          <a:ln w="15875">
            <a:solidFill>
              <a:srgbClr val="5E6964"/>
            </a:solidFill>
            <a:prstDash val="solid"/>
            <a:tailEnd type="triangle"/>
          </a:ln>
        </p:spPr>
      </p:sp>
      <p:sp>
        <p:nvSpPr>
          <p:cNvPr id="23" name="Shape 18"/>
          <p:cNvSpPr/>
          <p:nvPr/>
        </p:nvSpPr>
        <p:spPr>
          <a:xfrm>
            <a:off x="6035040" y="1371600"/>
            <a:ext cx="2514600" cy="1508760"/>
          </a:xfrm>
          <a:prstGeom prst="roundRect">
            <a:avLst>
              <a:gd name="adj" fmla="val 4848"/>
            </a:avLst>
          </a:prstGeom>
          <a:solidFill>
            <a:srgbClr val="F4F7F5"/>
          </a:solidFill>
          <a:ln w="9525">
            <a:solidFill>
              <a:srgbClr val="D5DED9"/>
            </a:solidFill>
            <a:prstDash val="solid"/>
          </a:ln>
        </p:spPr>
      </p:sp>
      <p:sp>
        <p:nvSpPr>
          <p:cNvPr id="24" name="Shape 19"/>
          <p:cNvSpPr/>
          <p:nvPr/>
        </p:nvSpPr>
        <p:spPr>
          <a:xfrm>
            <a:off x="6199632" y="1508760"/>
            <a:ext cx="457200" cy="457200"/>
          </a:xfrm>
          <a:prstGeom prst="ellipse">
            <a:avLst/>
          </a:prstGeom>
          <a:solidFill>
            <a:srgbClr val="00704A">
              <a:alpha val="22000"/>
            </a:srgbClr>
          </a:solidFill>
          <a:ln w="12700">
            <a:solidFill>
              <a:srgbClr val="00704A">
                <a:alpha val="0"/>
              </a:srgbClr>
            </a:solidFill>
            <a:prstDash val="solid"/>
          </a:ln>
        </p:spPr>
      </p:sp>
      <p:pic>
        <p:nvPicPr>
          <p:cNvPr id="25" name="Image 2" descr="preencoded.png">    </p:cNvPr>
          <p:cNvPicPr>
            <a:picLocks noChangeAspect="1"/>
          </p:cNvPicPr>
          <p:nvPr/>
        </p:nvPicPr>
        <p:blipFill>
          <a:blip r:embed="rId3"/>
          <a:stretch>
            <a:fillRect/>
          </a:stretch>
        </p:blipFill>
        <p:spPr>
          <a:xfrm>
            <a:off x="6309360" y="1618488"/>
            <a:ext cx="237744" cy="237744"/>
          </a:xfrm>
          <a:prstGeom prst="rect">
            <a:avLst/>
          </a:prstGeom>
        </p:spPr>
      </p:pic>
      <p:sp>
        <p:nvSpPr>
          <p:cNvPr id="26" name="Text 20"/>
          <p:cNvSpPr txBox="1"/>
          <p:nvPr/>
        </p:nvSpPr>
        <p:spPr>
          <a:xfrm>
            <a:off x="6766560" y="1508760"/>
            <a:ext cx="169164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3 · Télécharger</a:t>
            </a:r>
            <a:endParaRPr lang="en-US" sz="1300" dirty="0"/>
          </a:p>
        </p:txBody>
      </p:sp>
      <p:sp>
        <p:nvSpPr>
          <p:cNvPr id="27" name="Text 21"/>
          <p:cNvSpPr txBox="1"/>
          <p:nvPr/>
        </p:nvSpPr>
        <p:spPr>
          <a:xfrm>
            <a:off x="6199632" y="2057400"/>
            <a:ext cx="2240280" cy="7772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Reprise · contrôle de taille · ouverture HDF5 · manifeste</a:t>
            </a:r>
            <a:endParaRPr lang="en-US" sz="1050" dirty="0"/>
          </a:p>
        </p:txBody>
      </p:sp>
      <p:sp>
        <p:nvSpPr>
          <p:cNvPr id="28" name="Text 22"/>
          <p:cNvSpPr txBox="1"/>
          <p:nvPr/>
        </p:nvSpPr>
        <p:spPr>
          <a:xfrm>
            <a:off x="457200" y="3063240"/>
            <a:ext cx="3657600" cy="256032"/>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Matrice de couverture (schéma)</a:t>
            </a:r>
            <a:endParaRPr lang="en-US" sz="1150" dirty="0"/>
          </a:p>
        </p:txBody>
      </p:sp>
      <p:sp>
        <p:nvSpPr>
          <p:cNvPr id="29" name="Text 23"/>
          <p:cNvSpPr txBox="1"/>
          <p:nvPr/>
        </p:nvSpPr>
        <p:spPr>
          <a:xfrm>
            <a:off x="457200" y="3364992"/>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A1</a:t>
            </a:r>
            <a:endParaRPr lang="en-US" sz="1000" dirty="0"/>
          </a:p>
        </p:txBody>
      </p:sp>
      <p:sp>
        <p:nvSpPr>
          <p:cNvPr id="30" name="Shape 24"/>
          <p:cNvSpPr/>
          <p:nvPr/>
        </p:nvSpPr>
        <p:spPr>
          <a:xfrm>
            <a:off x="868680" y="3364992"/>
            <a:ext cx="347472" cy="228600"/>
          </a:xfrm>
          <a:prstGeom prst="rect">
            <a:avLst/>
          </a:prstGeom>
          <a:solidFill>
            <a:srgbClr val="00A86A"/>
          </a:solidFill>
          <a:ln w="12700">
            <a:solidFill>
              <a:srgbClr val="FFFFFF"/>
            </a:solidFill>
            <a:prstDash val="solid"/>
          </a:ln>
        </p:spPr>
      </p:sp>
      <p:sp>
        <p:nvSpPr>
          <p:cNvPr id="31" name="Shape 25"/>
          <p:cNvSpPr/>
          <p:nvPr/>
        </p:nvSpPr>
        <p:spPr>
          <a:xfrm>
            <a:off x="1252728" y="3364992"/>
            <a:ext cx="347472" cy="228600"/>
          </a:xfrm>
          <a:prstGeom prst="rect">
            <a:avLst/>
          </a:prstGeom>
          <a:solidFill>
            <a:srgbClr val="00A86A"/>
          </a:solidFill>
          <a:ln w="12700">
            <a:solidFill>
              <a:srgbClr val="FFFFFF"/>
            </a:solidFill>
            <a:prstDash val="solid"/>
          </a:ln>
        </p:spPr>
      </p:sp>
      <p:sp>
        <p:nvSpPr>
          <p:cNvPr id="32" name="Shape 26"/>
          <p:cNvSpPr/>
          <p:nvPr/>
        </p:nvSpPr>
        <p:spPr>
          <a:xfrm>
            <a:off x="1636776" y="3364992"/>
            <a:ext cx="347472" cy="228600"/>
          </a:xfrm>
          <a:prstGeom prst="rect">
            <a:avLst/>
          </a:prstGeom>
          <a:solidFill>
            <a:srgbClr val="F5C242"/>
          </a:solidFill>
          <a:ln w="12700">
            <a:solidFill>
              <a:srgbClr val="FFFFFF"/>
            </a:solidFill>
            <a:prstDash val="solid"/>
          </a:ln>
        </p:spPr>
      </p:sp>
      <p:sp>
        <p:nvSpPr>
          <p:cNvPr id="33" name="Shape 27"/>
          <p:cNvSpPr/>
          <p:nvPr/>
        </p:nvSpPr>
        <p:spPr>
          <a:xfrm>
            <a:off x="2020824" y="3364992"/>
            <a:ext cx="347472" cy="228600"/>
          </a:xfrm>
          <a:prstGeom prst="rect">
            <a:avLst/>
          </a:prstGeom>
          <a:solidFill>
            <a:srgbClr val="00A86A"/>
          </a:solidFill>
          <a:ln w="12700">
            <a:solidFill>
              <a:srgbClr val="FFFFFF"/>
            </a:solidFill>
            <a:prstDash val="solid"/>
          </a:ln>
        </p:spPr>
      </p:sp>
      <p:sp>
        <p:nvSpPr>
          <p:cNvPr id="34" name="Shape 28"/>
          <p:cNvSpPr/>
          <p:nvPr/>
        </p:nvSpPr>
        <p:spPr>
          <a:xfrm>
            <a:off x="2404872" y="3364992"/>
            <a:ext cx="347472" cy="228600"/>
          </a:xfrm>
          <a:prstGeom prst="rect">
            <a:avLst/>
          </a:prstGeom>
          <a:solidFill>
            <a:srgbClr val="00A86A"/>
          </a:solidFill>
          <a:ln w="12700">
            <a:solidFill>
              <a:srgbClr val="FFFFFF"/>
            </a:solidFill>
            <a:prstDash val="solid"/>
          </a:ln>
        </p:spPr>
      </p:sp>
      <p:sp>
        <p:nvSpPr>
          <p:cNvPr id="35" name="Shape 29"/>
          <p:cNvSpPr/>
          <p:nvPr/>
        </p:nvSpPr>
        <p:spPr>
          <a:xfrm>
            <a:off x="2788920" y="3364992"/>
            <a:ext cx="347472" cy="228600"/>
          </a:xfrm>
          <a:prstGeom prst="rect">
            <a:avLst/>
          </a:prstGeom>
          <a:solidFill>
            <a:srgbClr val="B83B2E"/>
          </a:solidFill>
          <a:ln w="12700">
            <a:solidFill>
              <a:srgbClr val="FFFFFF"/>
            </a:solidFill>
            <a:prstDash val="solid"/>
          </a:ln>
        </p:spPr>
      </p:sp>
      <p:sp>
        <p:nvSpPr>
          <p:cNvPr id="36" name="Shape 30"/>
          <p:cNvSpPr/>
          <p:nvPr/>
        </p:nvSpPr>
        <p:spPr>
          <a:xfrm>
            <a:off x="3172968" y="3364992"/>
            <a:ext cx="347472" cy="228600"/>
          </a:xfrm>
          <a:prstGeom prst="rect">
            <a:avLst/>
          </a:prstGeom>
          <a:solidFill>
            <a:srgbClr val="00A86A"/>
          </a:solidFill>
          <a:ln w="12700">
            <a:solidFill>
              <a:srgbClr val="FFFFFF"/>
            </a:solidFill>
            <a:prstDash val="solid"/>
          </a:ln>
        </p:spPr>
      </p:sp>
      <p:sp>
        <p:nvSpPr>
          <p:cNvPr id="37" name="Text 31"/>
          <p:cNvSpPr txBox="1"/>
          <p:nvPr/>
        </p:nvSpPr>
        <p:spPr>
          <a:xfrm>
            <a:off x="457200" y="3630168"/>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A2</a:t>
            </a:r>
            <a:endParaRPr lang="en-US" sz="1000" dirty="0"/>
          </a:p>
        </p:txBody>
      </p:sp>
      <p:sp>
        <p:nvSpPr>
          <p:cNvPr id="38" name="Shape 32"/>
          <p:cNvSpPr/>
          <p:nvPr/>
        </p:nvSpPr>
        <p:spPr>
          <a:xfrm>
            <a:off x="868680" y="3630168"/>
            <a:ext cx="347472" cy="228600"/>
          </a:xfrm>
          <a:prstGeom prst="rect">
            <a:avLst/>
          </a:prstGeom>
          <a:solidFill>
            <a:srgbClr val="00A86A"/>
          </a:solidFill>
          <a:ln w="12700">
            <a:solidFill>
              <a:srgbClr val="FFFFFF"/>
            </a:solidFill>
            <a:prstDash val="solid"/>
          </a:ln>
        </p:spPr>
      </p:sp>
      <p:sp>
        <p:nvSpPr>
          <p:cNvPr id="39" name="Shape 33"/>
          <p:cNvSpPr/>
          <p:nvPr/>
        </p:nvSpPr>
        <p:spPr>
          <a:xfrm>
            <a:off x="1252728" y="3630168"/>
            <a:ext cx="347472" cy="228600"/>
          </a:xfrm>
          <a:prstGeom prst="rect">
            <a:avLst/>
          </a:prstGeom>
          <a:solidFill>
            <a:srgbClr val="00A86A"/>
          </a:solidFill>
          <a:ln w="12700">
            <a:solidFill>
              <a:srgbClr val="FFFFFF"/>
            </a:solidFill>
            <a:prstDash val="solid"/>
          </a:ln>
        </p:spPr>
      </p:sp>
      <p:sp>
        <p:nvSpPr>
          <p:cNvPr id="40" name="Shape 34"/>
          <p:cNvSpPr/>
          <p:nvPr/>
        </p:nvSpPr>
        <p:spPr>
          <a:xfrm>
            <a:off x="1636776" y="3630168"/>
            <a:ext cx="347472" cy="228600"/>
          </a:xfrm>
          <a:prstGeom prst="rect">
            <a:avLst/>
          </a:prstGeom>
          <a:solidFill>
            <a:srgbClr val="00A86A"/>
          </a:solidFill>
          <a:ln w="12700">
            <a:solidFill>
              <a:srgbClr val="FFFFFF"/>
            </a:solidFill>
            <a:prstDash val="solid"/>
          </a:ln>
        </p:spPr>
      </p:sp>
      <p:sp>
        <p:nvSpPr>
          <p:cNvPr id="41" name="Shape 35"/>
          <p:cNvSpPr/>
          <p:nvPr/>
        </p:nvSpPr>
        <p:spPr>
          <a:xfrm>
            <a:off x="2020824" y="3630168"/>
            <a:ext cx="347472" cy="228600"/>
          </a:xfrm>
          <a:prstGeom prst="rect">
            <a:avLst/>
          </a:prstGeom>
          <a:solidFill>
            <a:srgbClr val="F5C242"/>
          </a:solidFill>
          <a:ln w="12700">
            <a:solidFill>
              <a:srgbClr val="FFFFFF"/>
            </a:solidFill>
            <a:prstDash val="solid"/>
          </a:ln>
        </p:spPr>
      </p:sp>
      <p:sp>
        <p:nvSpPr>
          <p:cNvPr id="42" name="Shape 36"/>
          <p:cNvSpPr/>
          <p:nvPr/>
        </p:nvSpPr>
        <p:spPr>
          <a:xfrm>
            <a:off x="2404872" y="3630168"/>
            <a:ext cx="347472" cy="228600"/>
          </a:xfrm>
          <a:prstGeom prst="rect">
            <a:avLst/>
          </a:prstGeom>
          <a:solidFill>
            <a:srgbClr val="00A86A"/>
          </a:solidFill>
          <a:ln w="12700">
            <a:solidFill>
              <a:srgbClr val="FFFFFF"/>
            </a:solidFill>
            <a:prstDash val="solid"/>
          </a:ln>
        </p:spPr>
      </p:sp>
      <p:sp>
        <p:nvSpPr>
          <p:cNvPr id="43" name="Shape 37"/>
          <p:cNvSpPr/>
          <p:nvPr/>
        </p:nvSpPr>
        <p:spPr>
          <a:xfrm>
            <a:off x="2788920" y="3630168"/>
            <a:ext cx="347472" cy="228600"/>
          </a:xfrm>
          <a:prstGeom prst="rect">
            <a:avLst/>
          </a:prstGeom>
          <a:solidFill>
            <a:srgbClr val="00A86A"/>
          </a:solidFill>
          <a:ln w="12700">
            <a:solidFill>
              <a:srgbClr val="FFFFFF"/>
            </a:solidFill>
            <a:prstDash val="solid"/>
          </a:ln>
        </p:spPr>
      </p:sp>
      <p:sp>
        <p:nvSpPr>
          <p:cNvPr id="44" name="Shape 38"/>
          <p:cNvSpPr/>
          <p:nvPr/>
        </p:nvSpPr>
        <p:spPr>
          <a:xfrm>
            <a:off x="3172968" y="3630168"/>
            <a:ext cx="347472" cy="228600"/>
          </a:xfrm>
          <a:prstGeom prst="rect">
            <a:avLst/>
          </a:prstGeom>
          <a:solidFill>
            <a:srgbClr val="00A86A"/>
          </a:solidFill>
          <a:ln w="12700">
            <a:solidFill>
              <a:srgbClr val="FFFFFF"/>
            </a:solidFill>
            <a:prstDash val="solid"/>
          </a:ln>
        </p:spPr>
      </p:sp>
      <p:sp>
        <p:nvSpPr>
          <p:cNvPr id="45" name="Text 39"/>
          <p:cNvSpPr txBox="1"/>
          <p:nvPr/>
        </p:nvSpPr>
        <p:spPr>
          <a:xfrm>
            <a:off x="457200" y="3895344"/>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A3</a:t>
            </a:r>
            <a:endParaRPr lang="en-US" sz="1000" dirty="0"/>
          </a:p>
        </p:txBody>
      </p:sp>
      <p:sp>
        <p:nvSpPr>
          <p:cNvPr id="46" name="Shape 40"/>
          <p:cNvSpPr/>
          <p:nvPr/>
        </p:nvSpPr>
        <p:spPr>
          <a:xfrm>
            <a:off x="868680" y="3895344"/>
            <a:ext cx="347472" cy="228600"/>
          </a:xfrm>
          <a:prstGeom prst="rect">
            <a:avLst/>
          </a:prstGeom>
          <a:solidFill>
            <a:srgbClr val="00A86A"/>
          </a:solidFill>
          <a:ln w="12700">
            <a:solidFill>
              <a:srgbClr val="FFFFFF"/>
            </a:solidFill>
            <a:prstDash val="solid"/>
          </a:ln>
        </p:spPr>
      </p:sp>
      <p:sp>
        <p:nvSpPr>
          <p:cNvPr id="47" name="Shape 41"/>
          <p:cNvSpPr/>
          <p:nvPr/>
        </p:nvSpPr>
        <p:spPr>
          <a:xfrm>
            <a:off x="1252728" y="3895344"/>
            <a:ext cx="347472" cy="228600"/>
          </a:xfrm>
          <a:prstGeom prst="rect">
            <a:avLst/>
          </a:prstGeom>
          <a:solidFill>
            <a:srgbClr val="00A86A"/>
          </a:solidFill>
          <a:ln w="12700">
            <a:solidFill>
              <a:srgbClr val="FFFFFF"/>
            </a:solidFill>
            <a:prstDash val="solid"/>
          </a:ln>
        </p:spPr>
      </p:sp>
      <p:sp>
        <p:nvSpPr>
          <p:cNvPr id="48" name="Shape 42"/>
          <p:cNvSpPr/>
          <p:nvPr/>
        </p:nvSpPr>
        <p:spPr>
          <a:xfrm>
            <a:off x="1636776" y="3895344"/>
            <a:ext cx="347472" cy="228600"/>
          </a:xfrm>
          <a:prstGeom prst="rect">
            <a:avLst/>
          </a:prstGeom>
          <a:solidFill>
            <a:srgbClr val="00A86A"/>
          </a:solidFill>
          <a:ln w="12700">
            <a:solidFill>
              <a:srgbClr val="FFFFFF"/>
            </a:solidFill>
            <a:prstDash val="solid"/>
          </a:ln>
        </p:spPr>
      </p:sp>
      <p:sp>
        <p:nvSpPr>
          <p:cNvPr id="49" name="Shape 43"/>
          <p:cNvSpPr/>
          <p:nvPr/>
        </p:nvSpPr>
        <p:spPr>
          <a:xfrm>
            <a:off x="2020824" y="3895344"/>
            <a:ext cx="347472" cy="228600"/>
          </a:xfrm>
          <a:prstGeom prst="rect">
            <a:avLst/>
          </a:prstGeom>
          <a:solidFill>
            <a:srgbClr val="00A86A"/>
          </a:solidFill>
          <a:ln w="12700">
            <a:solidFill>
              <a:srgbClr val="FFFFFF"/>
            </a:solidFill>
            <a:prstDash val="solid"/>
          </a:ln>
        </p:spPr>
      </p:sp>
      <p:sp>
        <p:nvSpPr>
          <p:cNvPr id="50" name="Shape 44"/>
          <p:cNvSpPr/>
          <p:nvPr/>
        </p:nvSpPr>
        <p:spPr>
          <a:xfrm>
            <a:off x="2404872" y="3895344"/>
            <a:ext cx="347472" cy="228600"/>
          </a:xfrm>
          <a:prstGeom prst="rect">
            <a:avLst/>
          </a:prstGeom>
          <a:solidFill>
            <a:srgbClr val="00A86A"/>
          </a:solidFill>
          <a:ln w="12700">
            <a:solidFill>
              <a:srgbClr val="FFFFFF"/>
            </a:solidFill>
            <a:prstDash val="solid"/>
          </a:ln>
        </p:spPr>
      </p:sp>
      <p:sp>
        <p:nvSpPr>
          <p:cNvPr id="51" name="Shape 45"/>
          <p:cNvSpPr/>
          <p:nvPr/>
        </p:nvSpPr>
        <p:spPr>
          <a:xfrm>
            <a:off x="2788920" y="3895344"/>
            <a:ext cx="347472" cy="228600"/>
          </a:xfrm>
          <a:prstGeom prst="rect">
            <a:avLst/>
          </a:prstGeom>
          <a:solidFill>
            <a:srgbClr val="00A86A"/>
          </a:solidFill>
          <a:ln w="12700">
            <a:solidFill>
              <a:srgbClr val="FFFFFF"/>
            </a:solidFill>
            <a:prstDash val="solid"/>
          </a:ln>
        </p:spPr>
      </p:sp>
      <p:sp>
        <p:nvSpPr>
          <p:cNvPr id="52" name="Shape 46"/>
          <p:cNvSpPr/>
          <p:nvPr/>
        </p:nvSpPr>
        <p:spPr>
          <a:xfrm>
            <a:off x="3172968" y="3895344"/>
            <a:ext cx="347472" cy="228600"/>
          </a:xfrm>
          <a:prstGeom prst="rect">
            <a:avLst/>
          </a:prstGeom>
          <a:solidFill>
            <a:srgbClr val="00A86A"/>
          </a:solidFill>
          <a:ln w="12700">
            <a:solidFill>
              <a:srgbClr val="FFFFFF"/>
            </a:solidFill>
            <a:prstDash val="solid"/>
          </a:ln>
        </p:spPr>
      </p:sp>
      <p:sp>
        <p:nvSpPr>
          <p:cNvPr id="53" name="Text 47"/>
          <p:cNvSpPr txBox="1"/>
          <p:nvPr/>
        </p:nvSpPr>
        <p:spPr>
          <a:xfrm>
            <a:off x="457200" y="4160520"/>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A4</a:t>
            </a:r>
            <a:endParaRPr lang="en-US" sz="1000" dirty="0"/>
          </a:p>
        </p:txBody>
      </p:sp>
      <p:sp>
        <p:nvSpPr>
          <p:cNvPr id="54" name="Shape 48"/>
          <p:cNvSpPr/>
          <p:nvPr/>
        </p:nvSpPr>
        <p:spPr>
          <a:xfrm>
            <a:off x="868680" y="4160520"/>
            <a:ext cx="347472" cy="228600"/>
          </a:xfrm>
          <a:prstGeom prst="rect">
            <a:avLst/>
          </a:prstGeom>
          <a:solidFill>
            <a:srgbClr val="00A86A"/>
          </a:solidFill>
          <a:ln w="12700">
            <a:solidFill>
              <a:srgbClr val="FFFFFF"/>
            </a:solidFill>
            <a:prstDash val="solid"/>
          </a:ln>
        </p:spPr>
      </p:sp>
      <p:sp>
        <p:nvSpPr>
          <p:cNvPr id="55" name="Shape 49"/>
          <p:cNvSpPr/>
          <p:nvPr/>
        </p:nvSpPr>
        <p:spPr>
          <a:xfrm>
            <a:off x="1252728" y="4160520"/>
            <a:ext cx="347472" cy="228600"/>
          </a:xfrm>
          <a:prstGeom prst="rect">
            <a:avLst/>
          </a:prstGeom>
          <a:solidFill>
            <a:srgbClr val="00A86A"/>
          </a:solidFill>
          <a:ln w="12700">
            <a:solidFill>
              <a:srgbClr val="FFFFFF"/>
            </a:solidFill>
            <a:prstDash val="solid"/>
          </a:ln>
        </p:spPr>
      </p:sp>
      <p:sp>
        <p:nvSpPr>
          <p:cNvPr id="56" name="Shape 50"/>
          <p:cNvSpPr/>
          <p:nvPr/>
        </p:nvSpPr>
        <p:spPr>
          <a:xfrm>
            <a:off x="1636776" y="4160520"/>
            <a:ext cx="347472" cy="228600"/>
          </a:xfrm>
          <a:prstGeom prst="rect">
            <a:avLst/>
          </a:prstGeom>
          <a:solidFill>
            <a:srgbClr val="00A86A"/>
          </a:solidFill>
          <a:ln w="12700">
            <a:solidFill>
              <a:srgbClr val="FFFFFF"/>
            </a:solidFill>
            <a:prstDash val="solid"/>
          </a:ln>
        </p:spPr>
      </p:sp>
      <p:sp>
        <p:nvSpPr>
          <p:cNvPr id="57" name="Shape 51"/>
          <p:cNvSpPr/>
          <p:nvPr/>
        </p:nvSpPr>
        <p:spPr>
          <a:xfrm>
            <a:off x="2020824" y="4160520"/>
            <a:ext cx="347472" cy="228600"/>
          </a:xfrm>
          <a:prstGeom prst="rect">
            <a:avLst/>
          </a:prstGeom>
          <a:solidFill>
            <a:srgbClr val="00A86A"/>
          </a:solidFill>
          <a:ln w="12700">
            <a:solidFill>
              <a:srgbClr val="FFFFFF"/>
            </a:solidFill>
            <a:prstDash val="solid"/>
          </a:ln>
        </p:spPr>
      </p:sp>
      <p:sp>
        <p:nvSpPr>
          <p:cNvPr id="58" name="Shape 52"/>
          <p:cNvSpPr/>
          <p:nvPr/>
        </p:nvSpPr>
        <p:spPr>
          <a:xfrm>
            <a:off x="2404872" y="4160520"/>
            <a:ext cx="347472" cy="228600"/>
          </a:xfrm>
          <a:prstGeom prst="rect">
            <a:avLst/>
          </a:prstGeom>
          <a:solidFill>
            <a:srgbClr val="00A86A"/>
          </a:solidFill>
          <a:ln w="12700">
            <a:solidFill>
              <a:srgbClr val="FFFFFF"/>
            </a:solidFill>
            <a:prstDash val="solid"/>
          </a:ln>
        </p:spPr>
      </p:sp>
      <p:sp>
        <p:nvSpPr>
          <p:cNvPr id="59" name="Shape 53"/>
          <p:cNvSpPr/>
          <p:nvPr/>
        </p:nvSpPr>
        <p:spPr>
          <a:xfrm>
            <a:off x="2788920" y="4160520"/>
            <a:ext cx="347472" cy="228600"/>
          </a:xfrm>
          <a:prstGeom prst="rect">
            <a:avLst/>
          </a:prstGeom>
          <a:solidFill>
            <a:srgbClr val="00A86A"/>
          </a:solidFill>
          <a:ln w="12700">
            <a:solidFill>
              <a:srgbClr val="FFFFFF"/>
            </a:solidFill>
            <a:prstDash val="solid"/>
          </a:ln>
        </p:spPr>
      </p:sp>
      <p:sp>
        <p:nvSpPr>
          <p:cNvPr id="60" name="Shape 54"/>
          <p:cNvSpPr/>
          <p:nvPr/>
        </p:nvSpPr>
        <p:spPr>
          <a:xfrm>
            <a:off x="3172968" y="4160520"/>
            <a:ext cx="347472" cy="228600"/>
          </a:xfrm>
          <a:prstGeom prst="rect">
            <a:avLst/>
          </a:prstGeom>
          <a:solidFill>
            <a:srgbClr val="B83B2E"/>
          </a:solidFill>
          <a:ln w="12700">
            <a:solidFill>
              <a:srgbClr val="FFFFFF"/>
            </a:solidFill>
            <a:prstDash val="solid"/>
          </a:ln>
        </p:spPr>
      </p:sp>
      <p:sp>
        <p:nvSpPr>
          <p:cNvPr id="61" name="Shape 55"/>
          <p:cNvSpPr/>
          <p:nvPr/>
        </p:nvSpPr>
        <p:spPr>
          <a:xfrm>
            <a:off x="3749040" y="3401568"/>
            <a:ext cx="182880" cy="164592"/>
          </a:xfrm>
          <a:prstGeom prst="rect">
            <a:avLst/>
          </a:prstGeom>
          <a:solidFill>
            <a:srgbClr val="00A86A"/>
          </a:solidFill>
          <a:ln w="12700">
            <a:solidFill>
              <a:srgbClr val="00A86A"/>
            </a:solidFill>
            <a:prstDash val="solid"/>
          </a:ln>
        </p:spPr>
      </p:sp>
      <p:sp>
        <p:nvSpPr>
          <p:cNvPr id="62" name="Text 56"/>
          <p:cNvSpPr txBox="1"/>
          <p:nvPr/>
        </p:nvSpPr>
        <p:spPr>
          <a:xfrm>
            <a:off x="4005072" y="3364992"/>
            <a:ext cx="1097280" cy="237744"/>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complète</a:t>
            </a:r>
            <a:endParaRPr lang="en-US" sz="1000" dirty="0"/>
          </a:p>
        </p:txBody>
      </p:sp>
      <p:sp>
        <p:nvSpPr>
          <p:cNvPr id="63" name="Shape 57"/>
          <p:cNvSpPr/>
          <p:nvPr/>
        </p:nvSpPr>
        <p:spPr>
          <a:xfrm>
            <a:off x="3749040" y="3675888"/>
            <a:ext cx="182880" cy="164592"/>
          </a:xfrm>
          <a:prstGeom prst="rect">
            <a:avLst/>
          </a:prstGeom>
          <a:solidFill>
            <a:srgbClr val="F5C242"/>
          </a:solidFill>
          <a:ln w="12700">
            <a:solidFill>
              <a:srgbClr val="F5C242"/>
            </a:solidFill>
            <a:prstDash val="solid"/>
          </a:ln>
        </p:spPr>
      </p:sp>
      <p:sp>
        <p:nvSpPr>
          <p:cNvPr id="64" name="Text 58"/>
          <p:cNvSpPr txBox="1"/>
          <p:nvPr/>
        </p:nvSpPr>
        <p:spPr>
          <a:xfrm>
            <a:off x="4005072" y="3639312"/>
            <a:ext cx="1097280" cy="237744"/>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partielle</a:t>
            </a:r>
            <a:endParaRPr lang="en-US" sz="1000" dirty="0"/>
          </a:p>
        </p:txBody>
      </p:sp>
      <p:sp>
        <p:nvSpPr>
          <p:cNvPr id="65" name="Shape 59"/>
          <p:cNvSpPr/>
          <p:nvPr/>
        </p:nvSpPr>
        <p:spPr>
          <a:xfrm>
            <a:off x="3749040" y="3950208"/>
            <a:ext cx="182880" cy="164592"/>
          </a:xfrm>
          <a:prstGeom prst="rect">
            <a:avLst/>
          </a:prstGeom>
          <a:solidFill>
            <a:srgbClr val="B83B2E"/>
          </a:solidFill>
          <a:ln w="12700">
            <a:solidFill>
              <a:srgbClr val="B83B2E"/>
            </a:solidFill>
            <a:prstDash val="solid"/>
          </a:ln>
        </p:spPr>
      </p:sp>
      <p:sp>
        <p:nvSpPr>
          <p:cNvPr id="66" name="Text 60"/>
          <p:cNvSpPr txBox="1"/>
          <p:nvPr/>
        </p:nvSpPr>
        <p:spPr>
          <a:xfrm>
            <a:off x="4005072" y="3913632"/>
            <a:ext cx="1097280" cy="237744"/>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absente</a:t>
            </a:r>
            <a:endParaRPr lang="en-US" sz="1000" dirty="0"/>
          </a:p>
        </p:txBody>
      </p:sp>
      <p:sp>
        <p:nvSpPr>
          <p:cNvPr id="67" name="Shape 61"/>
          <p:cNvSpPr/>
          <p:nvPr/>
        </p:nvSpPr>
        <p:spPr>
          <a:xfrm>
            <a:off x="5212080" y="3108960"/>
            <a:ext cx="3474720" cy="1353312"/>
          </a:xfrm>
          <a:prstGeom prst="roundRect">
            <a:avLst>
              <a:gd name="adj" fmla="val 5405"/>
            </a:avLst>
          </a:prstGeom>
          <a:solidFill>
            <a:srgbClr val="E8F5EF"/>
          </a:solidFill>
          <a:ln w="15875">
            <a:solidFill>
              <a:srgbClr val="00A86A"/>
            </a:solidFill>
            <a:prstDash val="solid"/>
          </a:ln>
        </p:spPr>
      </p:sp>
      <p:sp>
        <p:nvSpPr>
          <p:cNvPr id="68" name="Shape 62"/>
          <p:cNvSpPr/>
          <p:nvPr/>
        </p:nvSpPr>
        <p:spPr>
          <a:xfrm>
            <a:off x="5349240" y="3246120"/>
            <a:ext cx="457200" cy="457200"/>
          </a:xfrm>
          <a:prstGeom prst="ellipse">
            <a:avLst/>
          </a:prstGeom>
          <a:solidFill>
            <a:srgbClr val="00A86A">
              <a:alpha val="22000"/>
            </a:srgbClr>
          </a:solidFill>
          <a:ln w="12700">
            <a:solidFill>
              <a:srgbClr val="00A86A">
                <a:alpha val="0"/>
              </a:srgbClr>
            </a:solidFill>
            <a:prstDash val="solid"/>
          </a:ln>
        </p:spPr>
      </p:sp>
      <p:pic>
        <p:nvPicPr>
          <p:cNvPr id="69" name="Image 3" descr="preencoded.png">    </p:cNvPr>
          <p:cNvPicPr>
            <a:picLocks noChangeAspect="1"/>
          </p:cNvPicPr>
          <p:nvPr/>
        </p:nvPicPr>
        <p:blipFill>
          <a:blip r:embed="rId4"/>
          <a:stretch>
            <a:fillRect/>
          </a:stretch>
        </p:blipFill>
        <p:spPr>
          <a:xfrm>
            <a:off x="5458968" y="3355848"/>
            <a:ext cx="237744" cy="237744"/>
          </a:xfrm>
          <a:prstGeom prst="rect">
            <a:avLst/>
          </a:prstGeom>
        </p:spPr>
      </p:pic>
      <p:sp>
        <p:nvSpPr>
          <p:cNvPr id="70" name="Text 63"/>
          <p:cNvSpPr txBox="1"/>
          <p:nvPr/>
        </p:nvSpPr>
        <p:spPr>
          <a:xfrm>
            <a:off x="5897880" y="3246120"/>
            <a:ext cx="26974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Sécurité dès la conception</a:t>
            </a:r>
            <a:endParaRPr lang="en-US" sz="1300" dirty="0"/>
          </a:p>
        </p:txBody>
      </p:sp>
      <p:sp>
        <p:nvSpPr>
          <p:cNvPr id="71" name="Text 64"/>
          <p:cNvSpPr txBox="1"/>
          <p:nvPr/>
        </p:nvSpPr>
        <p:spPr>
          <a:xfrm>
            <a:off x="5349240" y="3749040"/>
            <a:ext cx="320040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Le jeton vient d'une variable d'environnement, d'un fichier .env, des secrets Colab ou Kaggle, ou d'une saisie masquée — et n'est envoyé qu'à *.earthdata.nasa.gov et *.eosdis.nasa.gov.</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03</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Explorer et comprendre</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Qu'y a-t-il vraiment dans un fichier Black Marble ?</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5C242"/>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EXPLORER · STRUCTURE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Un fichier Black Marble est un classeur, pas une image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3657600" cy="420624"/>
          </a:xfrm>
          <a:prstGeom prst="roundRect">
            <a:avLst>
              <a:gd name="adj" fmla="val 10870"/>
            </a:avLst>
          </a:prstGeom>
          <a:solidFill>
            <a:srgbClr val="00553A"/>
          </a:solidFill>
          <a:ln w="12700">
            <a:solidFill>
              <a:srgbClr val="00553A"/>
            </a:solidFill>
            <a:prstDash val="solid"/>
          </a:ln>
        </p:spPr>
      </p:sp>
      <p:sp>
        <p:nvSpPr>
          <p:cNvPr id="12" name="Text 9"/>
          <p:cNvSpPr txBox="1"/>
          <p:nvPr/>
        </p:nvSpPr>
        <p:spPr>
          <a:xfrm>
            <a:off x="594360" y="1371600"/>
            <a:ext cx="3474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FICHIER  VNP46A4 … .h5</a:t>
            </a:r>
            <a:endParaRPr lang="en-US" sz="1150" dirty="0"/>
          </a:p>
        </p:txBody>
      </p:sp>
      <p:sp>
        <p:nvSpPr>
          <p:cNvPr id="13" name="Text 10"/>
          <p:cNvSpPr txBox="1"/>
          <p:nvPr/>
        </p:nvSpPr>
        <p:spPr>
          <a:xfrm>
            <a:off x="4297680" y="1371600"/>
            <a:ext cx="4389120" cy="420624"/>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attributs globaux : capteur, emprise, date de production</a:t>
            </a:r>
            <a:endParaRPr lang="en-US" sz="1050" dirty="0"/>
          </a:p>
        </p:txBody>
      </p:sp>
      <p:sp>
        <p:nvSpPr>
          <p:cNvPr id="14" name="Shape 11"/>
          <p:cNvSpPr/>
          <p:nvPr/>
        </p:nvSpPr>
        <p:spPr>
          <a:xfrm>
            <a:off x="777240" y="1938528"/>
            <a:ext cx="3337560" cy="420624"/>
          </a:xfrm>
          <a:prstGeom prst="roundRect">
            <a:avLst>
              <a:gd name="adj" fmla="val 10870"/>
            </a:avLst>
          </a:prstGeom>
          <a:solidFill>
            <a:srgbClr val="00704A"/>
          </a:solidFill>
          <a:ln w="12700">
            <a:solidFill>
              <a:srgbClr val="00704A"/>
            </a:solidFill>
            <a:prstDash val="solid"/>
          </a:ln>
        </p:spPr>
      </p:sp>
      <p:sp>
        <p:nvSpPr>
          <p:cNvPr id="15" name="Text 12"/>
          <p:cNvSpPr txBox="1"/>
          <p:nvPr/>
        </p:nvSpPr>
        <p:spPr>
          <a:xfrm>
            <a:off x="914400" y="1938528"/>
            <a:ext cx="3154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HDFEOS / GRIDS / &lt;grid&gt;</a:t>
            </a:r>
            <a:endParaRPr lang="en-US" sz="1150" dirty="0"/>
          </a:p>
        </p:txBody>
      </p:sp>
      <p:sp>
        <p:nvSpPr>
          <p:cNvPr id="16" name="Text 13"/>
          <p:cNvSpPr txBox="1"/>
          <p:nvPr/>
        </p:nvSpPr>
        <p:spPr>
          <a:xfrm>
            <a:off x="4297680" y="1938528"/>
            <a:ext cx="4389120" cy="420624"/>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le nom de grille dépend du produit — ne jamais le figer</a:t>
            </a:r>
            <a:endParaRPr lang="en-US" sz="1050" dirty="0"/>
          </a:p>
        </p:txBody>
      </p:sp>
      <p:sp>
        <p:nvSpPr>
          <p:cNvPr id="17" name="Shape 14"/>
          <p:cNvSpPr/>
          <p:nvPr/>
        </p:nvSpPr>
        <p:spPr>
          <a:xfrm>
            <a:off x="1097280" y="2505456"/>
            <a:ext cx="3017520" cy="420624"/>
          </a:xfrm>
          <a:prstGeom prst="roundRect">
            <a:avLst>
              <a:gd name="adj" fmla="val 10870"/>
            </a:avLst>
          </a:prstGeom>
          <a:solidFill>
            <a:srgbClr val="00A86A"/>
          </a:solidFill>
          <a:ln w="12700">
            <a:solidFill>
              <a:srgbClr val="00A86A"/>
            </a:solidFill>
            <a:prstDash val="solid"/>
          </a:ln>
        </p:spPr>
      </p:sp>
      <p:sp>
        <p:nvSpPr>
          <p:cNvPr id="18" name="Text 15"/>
          <p:cNvSpPr txBox="1"/>
          <p:nvPr/>
        </p:nvSpPr>
        <p:spPr>
          <a:xfrm>
            <a:off x="1234440" y="2505456"/>
            <a:ext cx="28346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Data Fields</a:t>
            </a:r>
            <a:endParaRPr lang="en-US" sz="1150" dirty="0"/>
          </a:p>
        </p:txBody>
      </p:sp>
      <p:sp>
        <p:nvSpPr>
          <p:cNvPr id="19" name="Text 16"/>
          <p:cNvSpPr txBox="1"/>
          <p:nvPr/>
        </p:nvSpPr>
        <p:spPr>
          <a:xfrm>
            <a:off x="4297680" y="2505456"/>
            <a:ext cx="4389120" cy="420624"/>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toutes les couches utiles sont ici</a:t>
            </a:r>
            <a:endParaRPr lang="en-US" sz="1050" dirty="0"/>
          </a:p>
        </p:txBody>
      </p:sp>
      <p:sp>
        <p:nvSpPr>
          <p:cNvPr id="20" name="Shape 17"/>
          <p:cNvSpPr/>
          <p:nvPr/>
        </p:nvSpPr>
        <p:spPr>
          <a:xfrm>
            <a:off x="457200" y="3200400"/>
            <a:ext cx="1536192" cy="1261872"/>
          </a:xfrm>
          <a:prstGeom prst="roundRect">
            <a:avLst>
              <a:gd name="adj" fmla="val 5797"/>
            </a:avLst>
          </a:prstGeom>
          <a:solidFill>
            <a:srgbClr val="F4F7F5"/>
          </a:solidFill>
          <a:ln w="9525">
            <a:solidFill>
              <a:srgbClr val="D5DED9"/>
            </a:solidFill>
            <a:prstDash val="solid"/>
          </a:ln>
        </p:spPr>
      </p:sp>
      <p:sp>
        <p:nvSpPr>
          <p:cNvPr id="21" name="Shape 18"/>
          <p:cNvSpPr/>
          <p:nvPr/>
        </p:nvSpPr>
        <p:spPr>
          <a:xfrm>
            <a:off x="987552" y="3291840"/>
            <a:ext cx="475488" cy="475488"/>
          </a:xfrm>
          <a:prstGeom prst="ellipse">
            <a:avLst/>
          </a:prstGeom>
          <a:solidFill>
            <a:srgbClr val="F5C242">
              <a:alpha val="22000"/>
            </a:srgbClr>
          </a:solidFill>
          <a:ln w="12700">
            <a:solidFill>
              <a:srgbClr val="F5C242">
                <a:alpha val="0"/>
              </a:srgbClr>
            </a:solidFill>
            <a:prstDash val="solid"/>
          </a:ln>
        </p:spPr>
      </p:sp>
      <p:pic>
        <p:nvPicPr>
          <p:cNvPr id="22" name="Image 0" descr="preencoded.png">    </p:cNvPr>
          <p:cNvPicPr>
            <a:picLocks noChangeAspect="1"/>
          </p:cNvPicPr>
          <p:nvPr/>
        </p:nvPicPr>
        <p:blipFill>
          <a:blip r:embed="rId1"/>
          <a:stretch>
            <a:fillRect/>
          </a:stretch>
        </p:blipFill>
        <p:spPr>
          <a:xfrm>
            <a:off x="1101669" y="3405957"/>
            <a:ext cx="247254" cy="247254"/>
          </a:xfrm>
          <a:prstGeom prst="rect">
            <a:avLst/>
          </a:prstGeom>
        </p:spPr>
      </p:pic>
      <p:sp>
        <p:nvSpPr>
          <p:cNvPr id="23" name="Text 19"/>
          <p:cNvSpPr txBox="1"/>
          <p:nvPr/>
        </p:nvSpPr>
        <p:spPr>
          <a:xfrm>
            <a:off x="530352"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Radiance</a:t>
            </a:r>
            <a:endParaRPr lang="en-US" sz="1200" dirty="0"/>
          </a:p>
        </p:txBody>
      </p:sp>
      <p:sp>
        <p:nvSpPr>
          <p:cNvPr id="24" name="Text 20"/>
          <p:cNvSpPr txBox="1"/>
          <p:nvPr/>
        </p:nvSpPr>
        <p:spPr>
          <a:xfrm>
            <a:off x="530352"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AllAngle_Composite_Snow_Free</a:t>
            </a:r>
            <a:endParaRPr lang="en-US" sz="750" dirty="0"/>
          </a:p>
        </p:txBody>
      </p:sp>
      <p:sp>
        <p:nvSpPr>
          <p:cNvPr id="25" name="Shape 21"/>
          <p:cNvSpPr/>
          <p:nvPr/>
        </p:nvSpPr>
        <p:spPr>
          <a:xfrm>
            <a:off x="2121408" y="3200400"/>
            <a:ext cx="1536192" cy="1261872"/>
          </a:xfrm>
          <a:prstGeom prst="roundRect">
            <a:avLst>
              <a:gd name="adj" fmla="val 5797"/>
            </a:avLst>
          </a:prstGeom>
          <a:solidFill>
            <a:srgbClr val="F4F7F5"/>
          </a:solidFill>
          <a:ln w="9525">
            <a:solidFill>
              <a:srgbClr val="D5DED9"/>
            </a:solidFill>
            <a:prstDash val="solid"/>
          </a:ln>
        </p:spPr>
      </p:sp>
      <p:sp>
        <p:nvSpPr>
          <p:cNvPr id="26" name="Shape 22"/>
          <p:cNvSpPr/>
          <p:nvPr/>
        </p:nvSpPr>
        <p:spPr>
          <a:xfrm>
            <a:off x="2651760" y="3291840"/>
            <a:ext cx="475488" cy="475488"/>
          </a:xfrm>
          <a:prstGeom prst="ellipse">
            <a:avLst/>
          </a:prstGeom>
          <a:solidFill>
            <a:srgbClr val="0E7C86">
              <a:alpha val="22000"/>
            </a:srgbClr>
          </a:solidFill>
          <a:ln w="12700">
            <a:solidFill>
              <a:srgbClr val="0E7C86">
                <a:alpha val="0"/>
              </a:srgbClr>
            </a:solidFill>
            <a:prstDash val="solid"/>
          </a:ln>
        </p:spPr>
      </p:sp>
      <p:pic>
        <p:nvPicPr>
          <p:cNvPr id="27" name="Image 1" descr="preencoded.png">    </p:cNvPr>
          <p:cNvPicPr>
            <a:picLocks noChangeAspect="1"/>
          </p:cNvPicPr>
          <p:nvPr/>
        </p:nvPicPr>
        <p:blipFill>
          <a:blip r:embed="rId2"/>
          <a:stretch>
            <a:fillRect/>
          </a:stretch>
        </p:blipFill>
        <p:spPr>
          <a:xfrm>
            <a:off x="2765877" y="3405957"/>
            <a:ext cx="247254" cy="247254"/>
          </a:xfrm>
          <a:prstGeom prst="rect">
            <a:avLst/>
          </a:prstGeom>
        </p:spPr>
      </p:pic>
      <p:sp>
        <p:nvSpPr>
          <p:cNvPr id="28" name="Text 23"/>
          <p:cNvSpPr txBox="1"/>
          <p:nvPr/>
        </p:nvSpPr>
        <p:spPr>
          <a:xfrm>
            <a:off x="2194560"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Incertitude</a:t>
            </a:r>
            <a:endParaRPr lang="en-US" sz="1200" dirty="0"/>
          </a:p>
        </p:txBody>
      </p:sp>
      <p:sp>
        <p:nvSpPr>
          <p:cNvPr id="29" name="Text 24"/>
          <p:cNvSpPr txBox="1"/>
          <p:nvPr/>
        </p:nvSpPr>
        <p:spPr>
          <a:xfrm>
            <a:off x="2194560"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…_Num · …_Std</a:t>
            </a:r>
            <a:endParaRPr lang="en-US" sz="750" dirty="0"/>
          </a:p>
        </p:txBody>
      </p:sp>
      <p:sp>
        <p:nvSpPr>
          <p:cNvPr id="30" name="Shape 25"/>
          <p:cNvSpPr/>
          <p:nvPr/>
        </p:nvSpPr>
        <p:spPr>
          <a:xfrm>
            <a:off x="3785616" y="3200400"/>
            <a:ext cx="1536192" cy="1261872"/>
          </a:xfrm>
          <a:prstGeom prst="roundRect">
            <a:avLst>
              <a:gd name="adj" fmla="val 5797"/>
            </a:avLst>
          </a:prstGeom>
          <a:solidFill>
            <a:srgbClr val="F4F7F5"/>
          </a:solidFill>
          <a:ln w="9525">
            <a:solidFill>
              <a:srgbClr val="D5DED9"/>
            </a:solidFill>
            <a:prstDash val="solid"/>
          </a:ln>
        </p:spPr>
      </p:sp>
      <p:sp>
        <p:nvSpPr>
          <p:cNvPr id="31" name="Shape 26"/>
          <p:cNvSpPr/>
          <p:nvPr/>
        </p:nvSpPr>
        <p:spPr>
          <a:xfrm>
            <a:off x="4315968" y="3291840"/>
            <a:ext cx="475488" cy="475488"/>
          </a:xfrm>
          <a:prstGeom prst="ellipse">
            <a:avLst/>
          </a:prstGeom>
          <a:solidFill>
            <a:srgbClr val="C4621D">
              <a:alpha val="22000"/>
            </a:srgbClr>
          </a:solidFill>
          <a:ln w="12700">
            <a:solidFill>
              <a:srgbClr val="C4621D">
                <a:alpha val="0"/>
              </a:srgbClr>
            </a:solidFill>
            <a:prstDash val="solid"/>
          </a:ln>
        </p:spPr>
      </p:sp>
      <p:pic>
        <p:nvPicPr>
          <p:cNvPr id="32" name="Image 2" descr="preencoded.png">    </p:cNvPr>
          <p:cNvPicPr>
            <a:picLocks noChangeAspect="1"/>
          </p:cNvPicPr>
          <p:nvPr/>
        </p:nvPicPr>
        <p:blipFill>
          <a:blip r:embed="rId3"/>
          <a:stretch>
            <a:fillRect/>
          </a:stretch>
        </p:blipFill>
        <p:spPr>
          <a:xfrm>
            <a:off x="4430085" y="3405957"/>
            <a:ext cx="247254" cy="247254"/>
          </a:xfrm>
          <a:prstGeom prst="rect">
            <a:avLst/>
          </a:prstGeom>
        </p:spPr>
      </p:pic>
      <p:sp>
        <p:nvSpPr>
          <p:cNvPr id="33" name="Text 27"/>
          <p:cNvSpPr txBox="1"/>
          <p:nvPr/>
        </p:nvSpPr>
        <p:spPr>
          <a:xfrm>
            <a:off x="3858768"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Qualité</a:t>
            </a:r>
            <a:endParaRPr lang="en-US" sz="1200" dirty="0"/>
          </a:p>
        </p:txBody>
      </p:sp>
      <p:sp>
        <p:nvSpPr>
          <p:cNvPr id="34" name="Text 28"/>
          <p:cNvSpPr txBox="1"/>
          <p:nvPr/>
        </p:nvSpPr>
        <p:spPr>
          <a:xfrm>
            <a:off x="3858768"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…_Quality · Mandatory_Quality_Flag</a:t>
            </a:r>
            <a:endParaRPr lang="en-US" sz="750" dirty="0"/>
          </a:p>
        </p:txBody>
      </p:sp>
      <p:sp>
        <p:nvSpPr>
          <p:cNvPr id="35" name="Shape 29"/>
          <p:cNvSpPr/>
          <p:nvPr/>
        </p:nvSpPr>
        <p:spPr>
          <a:xfrm>
            <a:off x="5449824" y="3200400"/>
            <a:ext cx="1536192" cy="1261872"/>
          </a:xfrm>
          <a:prstGeom prst="roundRect">
            <a:avLst>
              <a:gd name="adj" fmla="val 5797"/>
            </a:avLst>
          </a:prstGeom>
          <a:solidFill>
            <a:srgbClr val="F4F7F5"/>
          </a:solidFill>
          <a:ln w="9525">
            <a:solidFill>
              <a:srgbClr val="D5DED9"/>
            </a:solidFill>
            <a:prstDash val="solid"/>
          </a:ln>
        </p:spPr>
      </p:sp>
      <p:sp>
        <p:nvSpPr>
          <p:cNvPr id="36" name="Shape 30"/>
          <p:cNvSpPr/>
          <p:nvPr/>
        </p:nvSpPr>
        <p:spPr>
          <a:xfrm>
            <a:off x="5980176" y="3291840"/>
            <a:ext cx="475488" cy="475488"/>
          </a:xfrm>
          <a:prstGeom prst="ellipse">
            <a:avLst/>
          </a:prstGeom>
          <a:solidFill>
            <a:srgbClr val="5E6964">
              <a:alpha val="22000"/>
            </a:srgbClr>
          </a:solidFill>
          <a:ln w="12700">
            <a:solidFill>
              <a:srgbClr val="5E6964">
                <a:alpha val="0"/>
              </a:srgbClr>
            </a:solidFill>
            <a:prstDash val="solid"/>
          </a:ln>
        </p:spPr>
      </p:sp>
      <p:pic>
        <p:nvPicPr>
          <p:cNvPr id="37" name="Image 3" descr="preencoded.png">    </p:cNvPr>
          <p:cNvPicPr>
            <a:picLocks noChangeAspect="1"/>
          </p:cNvPicPr>
          <p:nvPr/>
        </p:nvPicPr>
        <p:blipFill>
          <a:blip r:embed="rId4"/>
          <a:stretch>
            <a:fillRect/>
          </a:stretch>
        </p:blipFill>
        <p:spPr>
          <a:xfrm>
            <a:off x="6094293" y="3405957"/>
            <a:ext cx="247254" cy="247254"/>
          </a:xfrm>
          <a:prstGeom prst="rect">
            <a:avLst/>
          </a:prstGeom>
        </p:spPr>
      </p:pic>
      <p:sp>
        <p:nvSpPr>
          <p:cNvPr id="38" name="Text 31"/>
          <p:cNvSpPr txBox="1"/>
          <p:nvPr/>
        </p:nvSpPr>
        <p:spPr>
          <a:xfrm>
            <a:off x="5522976"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Contexte</a:t>
            </a:r>
            <a:endParaRPr lang="en-US" sz="1200" dirty="0"/>
          </a:p>
        </p:txBody>
      </p:sp>
      <p:sp>
        <p:nvSpPr>
          <p:cNvPr id="39" name="Text 32"/>
          <p:cNvSpPr txBox="1"/>
          <p:nvPr/>
        </p:nvSpPr>
        <p:spPr>
          <a:xfrm>
            <a:off x="5522976"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Land_Water_Mask · DNB_Platform</a:t>
            </a:r>
            <a:endParaRPr lang="en-US" sz="750" dirty="0"/>
          </a:p>
        </p:txBody>
      </p:sp>
      <p:sp>
        <p:nvSpPr>
          <p:cNvPr id="40" name="Shape 33"/>
          <p:cNvSpPr/>
          <p:nvPr/>
        </p:nvSpPr>
        <p:spPr>
          <a:xfrm>
            <a:off x="7114032" y="3200400"/>
            <a:ext cx="1536192" cy="1261872"/>
          </a:xfrm>
          <a:prstGeom prst="roundRect">
            <a:avLst>
              <a:gd name="adj" fmla="val 5797"/>
            </a:avLst>
          </a:prstGeom>
          <a:solidFill>
            <a:srgbClr val="F4F7F5"/>
          </a:solidFill>
          <a:ln w="9525">
            <a:solidFill>
              <a:srgbClr val="D5DED9"/>
            </a:solidFill>
            <a:prstDash val="solid"/>
          </a:ln>
        </p:spPr>
      </p:sp>
      <p:sp>
        <p:nvSpPr>
          <p:cNvPr id="41" name="Shape 34"/>
          <p:cNvSpPr/>
          <p:nvPr/>
        </p:nvSpPr>
        <p:spPr>
          <a:xfrm>
            <a:off x="7644384" y="3291840"/>
            <a:ext cx="475488" cy="475488"/>
          </a:xfrm>
          <a:prstGeom prst="ellipse">
            <a:avLst/>
          </a:prstGeom>
          <a:solidFill>
            <a:srgbClr val="00704A">
              <a:alpha val="22000"/>
            </a:srgbClr>
          </a:solidFill>
          <a:ln w="12700">
            <a:solidFill>
              <a:srgbClr val="00704A">
                <a:alpha val="0"/>
              </a:srgbClr>
            </a:solidFill>
            <a:prstDash val="solid"/>
          </a:ln>
        </p:spPr>
      </p:sp>
      <p:pic>
        <p:nvPicPr>
          <p:cNvPr id="42" name="Image 4" descr="preencoded.png">    </p:cNvPr>
          <p:cNvPicPr>
            <a:picLocks noChangeAspect="1"/>
          </p:cNvPicPr>
          <p:nvPr/>
        </p:nvPicPr>
        <p:blipFill>
          <a:blip r:embed="rId5"/>
          <a:stretch>
            <a:fillRect/>
          </a:stretch>
        </p:blipFill>
        <p:spPr>
          <a:xfrm>
            <a:off x="7758501" y="3405957"/>
            <a:ext cx="247254" cy="247254"/>
          </a:xfrm>
          <a:prstGeom prst="rect">
            <a:avLst/>
          </a:prstGeom>
        </p:spPr>
      </p:pic>
      <p:sp>
        <p:nvSpPr>
          <p:cNvPr id="43" name="Text 35"/>
          <p:cNvSpPr txBox="1"/>
          <p:nvPr/>
        </p:nvSpPr>
        <p:spPr>
          <a:xfrm>
            <a:off x="7187184"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Coordonnées</a:t>
            </a:r>
            <a:endParaRPr lang="en-US" sz="1200" dirty="0"/>
          </a:p>
        </p:txBody>
      </p:sp>
      <p:sp>
        <p:nvSpPr>
          <p:cNvPr id="44" name="Text 36"/>
          <p:cNvSpPr txBox="1"/>
          <p:nvPr/>
        </p:nvSpPr>
        <p:spPr>
          <a:xfrm>
            <a:off x="7187184"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lat · lon</a:t>
            </a:r>
            <a:endParaRPr lang="en-US" sz="7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EXPLORER · CALCUL</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Décoder : une équation et un piège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8229600" cy="914400"/>
          </a:xfrm>
          <a:prstGeom prst="roundRect">
            <a:avLst>
              <a:gd name="adj" fmla="val 8000"/>
            </a:avLst>
          </a:prstGeom>
          <a:solidFill>
            <a:srgbClr val="E8F5EF"/>
          </a:solidFill>
          <a:ln w="15875">
            <a:solidFill>
              <a:srgbClr val="0E7C86"/>
            </a:solidFill>
            <a:prstDash val="solid"/>
          </a:ln>
        </p:spPr>
      </p:sp>
      <p:sp>
        <p:nvSpPr>
          <p:cNvPr id="12" name="Text 9"/>
          <p:cNvSpPr txBox="1"/>
          <p:nvPr/>
        </p:nvSpPr>
        <p:spPr>
          <a:xfrm>
            <a:off x="640080" y="1481328"/>
            <a:ext cx="7863840" cy="411480"/>
          </a:xfrm>
          <a:prstGeom prst="rect">
            <a:avLst/>
          </a:prstGeom>
          <a:noFill/>
          <a:ln/>
        </p:spPr>
        <p:txBody>
          <a:bodyPr wrap="square" lIns="0" tIns="0" rIns="0" bIns="0" rtlCol="0" anchor="t"/>
          <a:lstStyle/>
          <a:p>
            <a:pPr algn="ctr" indent="0" marL="0">
              <a:buNone/>
            </a:pPr>
            <a:r>
              <a:rPr lang="en-US" sz="2000" b="1" dirty="0">
                <a:solidFill>
                  <a:srgbClr val="0E7C86"/>
                </a:solidFill>
                <a:latin typeface="Calibri" pitchFamily="34" charset="0"/>
                <a:ea typeface="Calibri" pitchFamily="34" charset="-122"/>
                <a:cs typeface="Calibri" pitchFamily="34" charset="-120"/>
              </a:rPr>
              <a:t>radiance = valeur stockée × scale_factor + add_offset</a:t>
            </a:r>
            <a:endParaRPr lang="en-US" sz="2000" dirty="0"/>
          </a:p>
        </p:txBody>
      </p:sp>
      <p:sp>
        <p:nvSpPr>
          <p:cNvPr id="13" name="Text 10"/>
          <p:cNvSpPr txBox="1"/>
          <p:nvPr/>
        </p:nvSpPr>
        <p:spPr>
          <a:xfrm>
            <a:off x="640080" y="1892808"/>
            <a:ext cx="7863840" cy="292608"/>
          </a:xfrm>
          <a:prstGeom prst="rect">
            <a:avLst/>
          </a:prstGeom>
          <a:noFill/>
          <a:ln/>
        </p:spPr>
        <p:txBody>
          <a:bodyPr wrap="square" lIns="0" tIns="0" rIns="0" bIns="0" rtlCol="0" anchor="t"/>
          <a:lstStyle/>
          <a:p>
            <a:pPr algn="ctr" indent="0" marL="0">
              <a:buNone/>
            </a:pPr>
            <a:r>
              <a:rPr lang="en-US" sz="1150" i="1" dirty="0">
                <a:solidFill>
                  <a:srgbClr val="5E6964"/>
                </a:solidFill>
                <a:latin typeface="Calibri" pitchFamily="34" charset="0"/>
                <a:ea typeface="Calibri" pitchFamily="34" charset="-122"/>
                <a:cs typeface="Calibri" pitchFamily="34" charset="-120"/>
              </a:rPr>
              <a:t>…après avoir mis chaque pixel _FillValue à NaN — attributs toujours lus dans le fichier</a:t>
            </a:r>
            <a:endParaRPr lang="en-US" sz="1150" dirty="0"/>
          </a:p>
        </p:txBody>
      </p:sp>
      <p:sp>
        <p:nvSpPr>
          <p:cNvPr id="14" name="Shape 11"/>
          <p:cNvSpPr/>
          <p:nvPr/>
        </p:nvSpPr>
        <p:spPr>
          <a:xfrm>
            <a:off x="457200" y="2514600"/>
            <a:ext cx="4023360" cy="1463040"/>
          </a:xfrm>
          <a:prstGeom prst="roundRect">
            <a:avLst>
              <a:gd name="adj" fmla="val 5000"/>
            </a:avLst>
          </a:prstGeom>
          <a:solidFill>
            <a:srgbClr val="F4F7F5"/>
          </a:solidFill>
          <a:ln w="9525">
            <a:solidFill>
              <a:srgbClr val="D5DED9"/>
            </a:solidFill>
            <a:prstDash val="solid"/>
          </a:ln>
        </p:spPr>
      </p:sp>
      <p:sp>
        <p:nvSpPr>
          <p:cNvPr id="15" name="Text 12"/>
          <p:cNvSpPr txBox="1"/>
          <p:nvPr/>
        </p:nvSpPr>
        <p:spPr>
          <a:xfrm>
            <a:off x="640080" y="2606040"/>
            <a:ext cx="36576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Couche quotidienne (A2)</a:t>
            </a:r>
            <a:endParaRPr lang="en-US" sz="1300" dirty="0"/>
          </a:p>
        </p:txBody>
      </p:sp>
      <p:sp>
        <p:nvSpPr>
          <p:cNvPr id="16" name="Text 13"/>
          <p:cNvSpPr txBox="1"/>
          <p:nvPr/>
        </p:nvSpPr>
        <p:spPr>
          <a:xfrm>
            <a:off x="640080" y="2907792"/>
            <a:ext cx="3657600" cy="256032"/>
          </a:xfrm>
          <a:prstGeom prst="rect">
            <a:avLst/>
          </a:prstGeom>
          <a:noFill/>
          <a:ln/>
        </p:spPr>
        <p:txBody>
          <a:bodyPr wrap="square" lIns="0" tIns="0" rIns="0" bIns="0" rtlCol="0" anchor="t"/>
          <a:lstStyle/>
          <a:p>
            <a:pPr indent="0" marL="0">
              <a:buNone/>
            </a:pPr>
            <a:r>
              <a:rPr lang="en-US" sz="1100" dirty="0">
                <a:solidFill>
                  <a:srgbClr val="5E6964"/>
                </a:solidFill>
                <a:latin typeface="Courier New" pitchFamily="34" charset="0"/>
                <a:ea typeface="Courier New" pitchFamily="34" charset="-122"/>
                <a:cs typeface="Courier New" pitchFamily="34" charset="-120"/>
              </a:rPr>
              <a:t>uint16 · × 0.1 · fill 65535</a:t>
            </a:r>
            <a:endParaRPr lang="en-US" sz="1100" dirty="0"/>
          </a:p>
        </p:txBody>
      </p:sp>
      <p:sp>
        <p:nvSpPr>
          <p:cNvPr id="17" name="Text 14"/>
          <p:cNvSpPr txBox="1"/>
          <p:nvPr/>
        </p:nvSpPr>
        <p:spPr>
          <a:xfrm>
            <a:off x="640080" y="3200400"/>
            <a:ext cx="1828800" cy="27432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1247 → 124.7 nW</a:t>
            </a:r>
            <a:endParaRPr lang="en-US" sz="1200" dirty="0"/>
          </a:p>
        </p:txBody>
      </p:sp>
      <p:sp>
        <p:nvSpPr>
          <p:cNvPr id="18" name="Text 15"/>
          <p:cNvSpPr txBox="1"/>
          <p:nvPr/>
        </p:nvSpPr>
        <p:spPr>
          <a:xfrm>
            <a:off x="2514600" y="3127248"/>
            <a:ext cx="1828800" cy="457200"/>
          </a:xfrm>
          <a:prstGeom prst="rect">
            <a:avLst/>
          </a:prstGeom>
          <a:noFill/>
          <a:ln/>
        </p:spPr>
        <p:txBody>
          <a:bodyPr wrap="square" lIns="0" tIns="0" rIns="0" bIns="0" rtlCol="0" anchor="t"/>
          <a:lstStyle/>
          <a:p>
            <a:pPr algn="r" indent="0" marL="0">
              <a:buNone/>
            </a:pPr>
            <a:r>
              <a:rPr lang="en-US" sz="2600" b="1" dirty="0">
                <a:solidFill>
                  <a:srgbClr val="B83B2E"/>
                </a:solidFill>
                <a:latin typeface="Calibri" pitchFamily="34" charset="0"/>
                <a:ea typeface="Calibri" pitchFamily="34" charset="-122"/>
                <a:cs typeface="Calibri" pitchFamily="34" charset="-120"/>
              </a:rPr>
              <a:t>+6 553,5</a:t>
            </a:r>
            <a:endParaRPr lang="en-US" sz="2600" dirty="0"/>
          </a:p>
        </p:txBody>
      </p:sp>
      <p:sp>
        <p:nvSpPr>
          <p:cNvPr id="19" name="Text 16"/>
          <p:cNvSpPr txBox="1"/>
          <p:nvPr/>
        </p:nvSpPr>
        <p:spPr>
          <a:xfrm>
            <a:off x="640080" y="3566160"/>
            <a:ext cx="3657600" cy="32004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par pixel vide si le remplissage est ignoré</a:t>
            </a:r>
            <a:endParaRPr lang="en-US" sz="1050" dirty="0"/>
          </a:p>
        </p:txBody>
      </p:sp>
      <p:sp>
        <p:nvSpPr>
          <p:cNvPr id="20" name="Shape 17"/>
          <p:cNvSpPr/>
          <p:nvPr/>
        </p:nvSpPr>
        <p:spPr>
          <a:xfrm>
            <a:off x="4663440" y="2514600"/>
            <a:ext cx="4023360" cy="1463040"/>
          </a:xfrm>
          <a:prstGeom prst="roundRect">
            <a:avLst>
              <a:gd name="adj" fmla="val 5000"/>
            </a:avLst>
          </a:prstGeom>
          <a:solidFill>
            <a:srgbClr val="F4F7F5"/>
          </a:solidFill>
          <a:ln w="9525">
            <a:solidFill>
              <a:srgbClr val="D5DED9"/>
            </a:solidFill>
            <a:prstDash val="solid"/>
          </a:ln>
        </p:spPr>
      </p:sp>
      <p:sp>
        <p:nvSpPr>
          <p:cNvPr id="21" name="Text 18"/>
          <p:cNvSpPr txBox="1"/>
          <p:nvPr/>
        </p:nvSpPr>
        <p:spPr>
          <a:xfrm>
            <a:off x="4846320" y="2606040"/>
            <a:ext cx="36576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Composite (A3 / A4, Collection 2)</a:t>
            </a:r>
            <a:endParaRPr lang="en-US" sz="1300" dirty="0"/>
          </a:p>
        </p:txBody>
      </p:sp>
      <p:sp>
        <p:nvSpPr>
          <p:cNvPr id="22" name="Text 19"/>
          <p:cNvSpPr txBox="1"/>
          <p:nvPr/>
        </p:nvSpPr>
        <p:spPr>
          <a:xfrm>
            <a:off x="4846320" y="2907792"/>
            <a:ext cx="3657600" cy="256032"/>
          </a:xfrm>
          <a:prstGeom prst="rect">
            <a:avLst/>
          </a:prstGeom>
          <a:noFill/>
          <a:ln/>
        </p:spPr>
        <p:txBody>
          <a:bodyPr wrap="square" lIns="0" tIns="0" rIns="0" bIns="0" rtlCol="0" anchor="t"/>
          <a:lstStyle/>
          <a:p>
            <a:pPr indent="0" marL="0">
              <a:buNone/>
            </a:pPr>
            <a:r>
              <a:rPr lang="en-US" sz="1100" dirty="0">
                <a:solidFill>
                  <a:srgbClr val="5E6964"/>
                </a:solidFill>
                <a:latin typeface="Courier New" pitchFamily="34" charset="0"/>
                <a:ea typeface="Courier New" pitchFamily="34" charset="-122"/>
                <a:cs typeface="Courier New" pitchFamily="34" charset="-120"/>
              </a:rPr>
              <a:t>float32 · × 1 · fill −999.9</a:t>
            </a:r>
            <a:endParaRPr lang="en-US" sz="1100" dirty="0"/>
          </a:p>
        </p:txBody>
      </p:sp>
      <p:sp>
        <p:nvSpPr>
          <p:cNvPr id="23" name="Text 20"/>
          <p:cNvSpPr txBox="1"/>
          <p:nvPr/>
        </p:nvSpPr>
        <p:spPr>
          <a:xfrm>
            <a:off x="4846320" y="3200400"/>
            <a:ext cx="1828800" cy="27432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124.7 → 124.7 nW</a:t>
            </a:r>
            <a:endParaRPr lang="en-US" sz="1200" dirty="0"/>
          </a:p>
        </p:txBody>
      </p:sp>
      <p:sp>
        <p:nvSpPr>
          <p:cNvPr id="24" name="Text 21"/>
          <p:cNvSpPr txBox="1"/>
          <p:nvPr/>
        </p:nvSpPr>
        <p:spPr>
          <a:xfrm>
            <a:off x="6720840" y="3127248"/>
            <a:ext cx="1828800" cy="457200"/>
          </a:xfrm>
          <a:prstGeom prst="rect">
            <a:avLst/>
          </a:prstGeom>
          <a:noFill/>
          <a:ln/>
        </p:spPr>
        <p:txBody>
          <a:bodyPr wrap="square" lIns="0" tIns="0" rIns="0" bIns="0" rtlCol="0" anchor="t"/>
          <a:lstStyle/>
          <a:p>
            <a:pPr algn="r" indent="0" marL="0">
              <a:buNone/>
            </a:pPr>
            <a:r>
              <a:rPr lang="en-US" sz="2600" b="1" dirty="0">
                <a:solidFill>
                  <a:srgbClr val="B83B2E"/>
                </a:solidFill>
                <a:latin typeface="Calibri" pitchFamily="34" charset="0"/>
                <a:ea typeface="Calibri" pitchFamily="34" charset="-122"/>
                <a:cs typeface="Calibri" pitchFamily="34" charset="-120"/>
              </a:rPr>
              <a:t>−999,9</a:t>
            </a:r>
            <a:endParaRPr lang="en-US" sz="2600" dirty="0"/>
          </a:p>
        </p:txBody>
      </p:sp>
      <p:sp>
        <p:nvSpPr>
          <p:cNvPr id="25" name="Text 22"/>
          <p:cNvSpPr txBox="1"/>
          <p:nvPr/>
        </p:nvSpPr>
        <p:spPr>
          <a:xfrm>
            <a:off x="4846320" y="3566160"/>
            <a:ext cx="3657600" cy="32004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par pixel vide si le remplissage est ignoré</a:t>
            </a:r>
            <a:endParaRPr lang="en-US" sz="1050" dirty="0"/>
          </a:p>
        </p:txBody>
      </p:sp>
      <p:sp>
        <p:nvSpPr>
          <p:cNvPr id="26" name="Shape 23"/>
          <p:cNvSpPr/>
          <p:nvPr/>
        </p:nvSpPr>
        <p:spPr>
          <a:xfrm>
            <a:off x="457200" y="4114800"/>
            <a:ext cx="8229600" cy="384048"/>
          </a:xfrm>
          <a:prstGeom prst="roundRect">
            <a:avLst>
              <a:gd name="adj" fmla="val 14286"/>
            </a:avLst>
          </a:prstGeom>
          <a:solidFill>
            <a:srgbClr val="D49A00">
              <a:alpha val="13000"/>
            </a:srgbClr>
          </a:solidFill>
          <a:ln w="12700">
            <a:solidFill>
              <a:srgbClr val="D49A00"/>
            </a:solidFill>
            <a:prstDash val="solid"/>
          </a:ln>
        </p:spPr>
      </p:sp>
      <p:pic>
        <p:nvPicPr>
          <p:cNvPr id="27" name="Image 0" descr="preencoded.png">    </p:cNvPr>
          <p:cNvPicPr>
            <a:picLocks noChangeAspect="1"/>
          </p:cNvPicPr>
          <p:nvPr/>
        </p:nvPicPr>
        <p:blipFill>
          <a:blip r:embed="rId1"/>
          <a:stretch>
            <a:fillRect/>
          </a:stretch>
        </p:blipFill>
        <p:spPr>
          <a:xfrm>
            <a:off x="594360" y="4242816"/>
            <a:ext cx="237744" cy="237744"/>
          </a:xfrm>
          <a:prstGeom prst="rect">
            <a:avLst/>
          </a:prstGeom>
        </p:spPr>
      </p:pic>
      <p:sp>
        <p:nvSpPr>
          <p:cNvPr id="28" name="Text 24"/>
          <p:cNvSpPr txBox="1"/>
          <p:nvPr/>
        </p:nvSpPr>
        <p:spPr>
          <a:xfrm>
            <a:off x="932688" y="4206240"/>
            <a:ext cx="7635240" cy="201168"/>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Règle :  </a:t>
            </a:r>
            <a:pPr indent="0" marL="0">
              <a:buNone/>
            </a:pPr>
            <a:r>
              <a:rPr lang="en-US" sz="1100" dirty="0">
                <a:solidFill>
                  <a:srgbClr val="231F20"/>
                </a:solidFill>
                <a:latin typeface="Calibri" pitchFamily="34" charset="0"/>
                <a:ea typeface="Calibri" pitchFamily="34" charset="-122"/>
                <a:cs typeface="Calibri" pitchFamily="34" charset="-120"/>
              </a:rPr>
              <a:t>la valeur de remplissage n'est pas un zéro, et encore moins une mesure.</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EXPLORER · FILTRAGE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À quels pixels se fier ? Drapeaux qualité et masques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457200" y="1353312"/>
            <a:ext cx="402336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Codes qualité des composites (A3 / A4)</a:t>
            </a:r>
            <a:endParaRPr lang="en-US" sz="1300" dirty="0"/>
          </a:p>
        </p:txBody>
      </p:sp>
      <p:sp>
        <p:nvSpPr>
          <p:cNvPr id="12" name="Shape 9"/>
          <p:cNvSpPr/>
          <p:nvPr/>
        </p:nvSpPr>
        <p:spPr>
          <a:xfrm>
            <a:off x="457200" y="1691640"/>
            <a:ext cx="594360" cy="365760"/>
          </a:xfrm>
          <a:prstGeom prst="roundRect">
            <a:avLst>
              <a:gd name="adj" fmla="val 15000"/>
            </a:avLst>
          </a:prstGeom>
          <a:solidFill>
            <a:srgbClr val="00A86A"/>
          </a:solidFill>
          <a:ln w="12700">
            <a:solidFill>
              <a:srgbClr val="00A86A"/>
            </a:solidFill>
            <a:prstDash val="solid"/>
          </a:ln>
        </p:spPr>
      </p:sp>
      <p:sp>
        <p:nvSpPr>
          <p:cNvPr id="13" name="Text 10"/>
          <p:cNvSpPr txBox="1"/>
          <p:nvPr/>
        </p:nvSpPr>
        <p:spPr>
          <a:xfrm>
            <a:off x="457200" y="16916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14" name="Text 11"/>
          <p:cNvSpPr txBox="1"/>
          <p:nvPr/>
        </p:nvSpPr>
        <p:spPr>
          <a:xfrm>
            <a:off x="1170432" y="16916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Bonne qualité · &gt; 3 nuits</a:t>
            </a:r>
            <a:endParaRPr lang="en-US" sz="1150" dirty="0"/>
          </a:p>
        </p:txBody>
      </p:sp>
      <p:sp>
        <p:nvSpPr>
          <p:cNvPr id="15" name="Text 12"/>
          <p:cNvSpPr txBox="1"/>
          <p:nvPr/>
        </p:nvSpPr>
        <p:spPr>
          <a:xfrm>
            <a:off x="3474720" y="1691640"/>
            <a:ext cx="914400" cy="365760"/>
          </a:xfrm>
          <a:prstGeom prst="rect">
            <a:avLst/>
          </a:prstGeom>
          <a:noFill/>
          <a:ln/>
        </p:spPr>
        <p:txBody>
          <a:bodyPr wrap="square" lIns="0" tIns="0" rIns="0" bIns="0" rtlCol="0" anchor="ctr"/>
          <a:lstStyle/>
          <a:p>
            <a:pPr indent="0" marL="0">
              <a:buNone/>
            </a:pPr>
            <a:r>
              <a:rPr lang="en-US" sz="1050" b="1" dirty="0">
                <a:solidFill>
                  <a:srgbClr val="00A86A"/>
                </a:solidFill>
                <a:latin typeface="Calibri" pitchFamily="34" charset="0"/>
                <a:ea typeface="Calibri" pitchFamily="34" charset="-122"/>
                <a:cs typeface="Calibri" pitchFamily="34" charset="-120"/>
              </a:rPr>
              <a:t>gardé</a:t>
            </a:r>
            <a:endParaRPr lang="en-US" sz="1050" dirty="0"/>
          </a:p>
        </p:txBody>
      </p:sp>
      <p:sp>
        <p:nvSpPr>
          <p:cNvPr id="16" name="Shape 13"/>
          <p:cNvSpPr/>
          <p:nvPr/>
        </p:nvSpPr>
        <p:spPr>
          <a:xfrm>
            <a:off x="457200" y="2148840"/>
            <a:ext cx="594360" cy="365760"/>
          </a:xfrm>
          <a:prstGeom prst="roundRect">
            <a:avLst>
              <a:gd name="adj" fmla="val 15000"/>
            </a:avLst>
          </a:prstGeom>
          <a:solidFill>
            <a:srgbClr val="F5C242"/>
          </a:solidFill>
          <a:ln w="12700">
            <a:solidFill>
              <a:srgbClr val="F5C242"/>
            </a:solidFill>
            <a:prstDash val="solid"/>
          </a:ln>
        </p:spPr>
      </p:sp>
      <p:sp>
        <p:nvSpPr>
          <p:cNvPr id="17" name="Text 14"/>
          <p:cNvSpPr txBox="1"/>
          <p:nvPr/>
        </p:nvSpPr>
        <p:spPr>
          <a:xfrm>
            <a:off x="457200" y="21488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1170432" y="21488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Qualité médiocre · ≤ 3 nuits</a:t>
            </a:r>
            <a:endParaRPr lang="en-US" sz="1150" dirty="0"/>
          </a:p>
        </p:txBody>
      </p:sp>
      <p:sp>
        <p:nvSpPr>
          <p:cNvPr id="19" name="Text 16"/>
          <p:cNvSpPr txBox="1"/>
          <p:nvPr/>
        </p:nvSpPr>
        <p:spPr>
          <a:xfrm>
            <a:off x="3474720" y="2148840"/>
            <a:ext cx="914400" cy="365760"/>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écarté</a:t>
            </a:r>
            <a:endParaRPr lang="en-US" sz="1050" dirty="0"/>
          </a:p>
        </p:txBody>
      </p:sp>
      <p:sp>
        <p:nvSpPr>
          <p:cNvPr id="20" name="Shape 17"/>
          <p:cNvSpPr/>
          <p:nvPr/>
        </p:nvSpPr>
        <p:spPr>
          <a:xfrm>
            <a:off x="457200" y="2606040"/>
            <a:ext cx="594360" cy="365760"/>
          </a:xfrm>
          <a:prstGeom prst="roundRect">
            <a:avLst>
              <a:gd name="adj" fmla="val 15000"/>
            </a:avLst>
          </a:prstGeom>
          <a:solidFill>
            <a:srgbClr val="C4621D"/>
          </a:solidFill>
          <a:ln w="12700">
            <a:solidFill>
              <a:srgbClr val="C4621D"/>
            </a:solidFill>
            <a:prstDash val="solid"/>
          </a:ln>
        </p:spPr>
      </p:sp>
      <p:sp>
        <p:nvSpPr>
          <p:cNvPr id="21" name="Text 18"/>
          <p:cNvSpPr txBox="1"/>
          <p:nvPr/>
        </p:nvSpPr>
        <p:spPr>
          <a:xfrm>
            <a:off x="457200" y="26060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19"/>
          <p:cNvSpPr txBox="1"/>
          <p:nvPr/>
        </p:nvSpPr>
        <p:spPr>
          <a:xfrm>
            <a:off x="1170432" y="26060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Comblé par l'historique</a:t>
            </a:r>
            <a:endParaRPr lang="en-US" sz="1150" dirty="0"/>
          </a:p>
        </p:txBody>
      </p:sp>
      <p:sp>
        <p:nvSpPr>
          <p:cNvPr id="23" name="Text 20"/>
          <p:cNvSpPr txBox="1"/>
          <p:nvPr/>
        </p:nvSpPr>
        <p:spPr>
          <a:xfrm>
            <a:off x="3474720" y="2606040"/>
            <a:ext cx="914400" cy="365760"/>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écarté</a:t>
            </a:r>
            <a:endParaRPr lang="en-US" sz="1050" dirty="0"/>
          </a:p>
        </p:txBody>
      </p:sp>
      <p:sp>
        <p:nvSpPr>
          <p:cNvPr id="24" name="Shape 21"/>
          <p:cNvSpPr/>
          <p:nvPr/>
        </p:nvSpPr>
        <p:spPr>
          <a:xfrm>
            <a:off x="457200" y="3063240"/>
            <a:ext cx="594360" cy="365760"/>
          </a:xfrm>
          <a:prstGeom prst="roundRect">
            <a:avLst>
              <a:gd name="adj" fmla="val 15000"/>
            </a:avLst>
          </a:prstGeom>
          <a:solidFill>
            <a:srgbClr val="A9B5B0"/>
          </a:solidFill>
          <a:ln w="12700">
            <a:solidFill>
              <a:srgbClr val="A9B5B0"/>
            </a:solidFill>
            <a:prstDash val="solid"/>
          </a:ln>
        </p:spPr>
      </p:sp>
      <p:sp>
        <p:nvSpPr>
          <p:cNvPr id="25" name="Text 22"/>
          <p:cNvSpPr txBox="1"/>
          <p:nvPr/>
        </p:nvSpPr>
        <p:spPr>
          <a:xfrm>
            <a:off x="457200" y="30632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255</a:t>
            </a:r>
            <a:endParaRPr lang="en-US" sz="1300" dirty="0"/>
          </a:p>
        </p:txBody>
      </p:sp>
      <p:sp>
        <p:nvSpPr>
          <p:cNvPr id="26" name="Text 23"/>
          <p:cNvSpPr txBox="1"/>
          <p:nvPr/>
        </p:nvSpPr>
        <p:spPr>
          <a:xfrm>
            <a:off x="1170432" y="30632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Valeur de remplissage</a:t>
            </a:r>
            <a:endParaRPr lang="en-US" sz="1150" dirty="0"/>
          </a:p>
        </p:txBody>
      </p:sp>
      <p:sp>
        <p:nvSpPr>
          <p:cNvPr id="27" name="Text 24"/>
          <p:cNvSpPr txBox="1"/>
          <p:nvPr/>
        </p:nvSpPr>
        <p:spPr>
          <a:xfrm>
            <a:off x="3474720" y="3063240"/>
            <a:ext cx="914400" cy="365760"/>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écarté</a:t>
            </a:r>
            <a:endParaRPr lang="en-US" sz="1050" dirty="0"/>
          </a:p>
        </p:txBody>
      </p:sp>
      <p:sp>
        <p:nvSpPr>
          <p:cNvPr id="28" name="Text 25"/>
          <p:cNvSpPr txBox="1"/>
          <p:nvPr/>
        </p:nvSpPr>
        <p:spPr>
          <a:xfrm>
            <a:off x="457200" y="3566160"/>
            <a:ext cx="4023360" cy="27432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QA_MAX = "auto" lit cette légende dans le fichier</a:t>
            </a:r>
            <a:endParaRPr lang="en-US" sz="1050" dirty="0"/>
          </a:p>
        </p:txBody>
      </p:sp>
      <p:sp>
        <p:nvSpPr>
          <p:cNvPr id="29" name="Shape 26"/>
          <p:cNvSpPr/>
          <p:nvPr/>
        </p:nvSpPr>
        <p:spPr>
          <a:xfrm>
            <a:off x="4754880" y="1444752"/>
            <a:ext cx="502920" cy="502920"/>
          </a:xfrm>
          <a:prstGeom prst="ellipse">
            <a:avLst/>
          </a:prstGeom>
          <a:solidFill>
            <a:srgbClr val="0E7C86">
              <a:alpha val="22000"/>
            </a:srgbClr>
          </a:solidFill>
          <a:ln w="12700">
            <a:solidFill>
              <a:srgbClr val="0E7C86">
                <a:alpha val="0"/>
              </a:srgbClr>
            </a:solidFill>
            <a:prstDash val="solid"/>
          </a:ln>
        </p:spPr>
      </p:sp>
      <p:pic>
        <p:nvPicPr>
          <p:cNvPr id="30" name="Image 0" descr="preencoded.png">    </p:cNvPr>
          <p:cNvPicPr>
            <a:picLocks noChangeAspect="1"/>
          </p:cNvPicPr>
          <p:nvPr/>
        </p:nvPicPr>
        <p:blipFill>
          <a:blip r:embed="rId1"/>
          <a:stretch>
            <a:fillRect/>
          </a:stretch>
        </p:blipFill>
        <p:spPr>
          <a:xfrm>
            <a:off x="4875581" y="1565453"/>
            <a:ext cx="261518" cy="261518"/>
          </a:xfrm>
          <a:prstGeom prst="rect">
            <a:avLst/>
          </a:prstGeom>
        </p:spPr>
      </p:pic>
      <p:sp>
        <p:nvSpPr>
          <p:cNvPr id="31" name="Text 27"/>
          <p:cNvSpPr txBox="1"/>
          <p:nvPr/>
        </p:nvSpPr>
        <p:spPr>
          <a:xfrm>
            <a:off x="5394960" y="1371600"/>
            <a:ext cx="32918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Masque terre / eau</a:t>
            </a:r>
            <a:endParaRPr lang="en-US" sz="1300" dirty="0"/>
          </a:p>
        </p:txBody>
      </p:sp>
      <p:sp>
        <p:nvSpPr>
          <p:cNvPr id="32" name="Text 28"/>
          <p:cNvSpPr txBox="1"/>
          <p:nvPr/>
        </p:nvSpPr>
        <p:spPr>
          <a:xfrm>
            <a:off x="5394960" y="1664208"/>
            <a:ext cx="329184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Océan et mer retirés : reflets de Lune, navires et pêcheries ne sont pas noirs. Sans lui, pays côtiers et enclavés ne sont pas comparables.</a:t>
            </a:r>
            <a:endParaRPr lang="en-US" sz="1050" dirty="0"/>
          </a:p>
        </p:txBody>
      </p:sp>
      <p:sp>
        <p:nvSpPr>
          <p:cNvPr id="33" name="Shape 29"/>
          <p:cNvSpPr/>
          <p:nvPr/>
        </p:nvSpPr>
        <p:spPr>
          <a:xfrm>
            <a:off x="4754880" y="2468880"/>
            <a:ext cx="502920" cy="502920"/>
          </a:xfrm>
          <a:prstGeom prst="ellipse">
            <a:avLst/>
          </a:prstGeom>
          <a:solidFill>
            <a:srgbClr val="00704A">
              <a:alpha val="22000"/>
            </a:srgbClr>
          </a:solidFill>
          <a:ln w="12700">
            <a:solidFill>
              <a:srgbClr val="00704A">
                <a:alpha val="0"/>
              </a:srgbClr>
            </a:solidFill>
            <a:prstDash val="solid"/>
          </a:ln>
        </p:spPr>
      </p:sp>
      <p:pic>
        <p:nvPicPr>
          <p:cNvPr id="34" name="Image 1" descr="preencoded.png">    </p:cNvPr>
          <p:cNvPicPr>
            <a:picLocks noChangeAspect="1"/>
          </p:cNvPicPr>
          <p:nvPr/>
        </p:nvPicPr>
        <p:blipFill>
          <a:blip r:embed="rId2"/>
          <a:stretch>
            <a:fillRect/>
          </a:stretch>
        </p:blipFill>
        <p:spPr>
          <a:xfrm>
            <a:off x="4875581" y="2589581"/>
            <a:ext cx="261518" cy="261518"/>
          </a:xfrm>
          <a:prstGeom prst="rect">
            <a:avLst/>
          </a:prstGeom>
        </p:spPr>
      </p:pic>
      <p:sp>
        <p:nvSpPr>
          <p:cNvPr id="35" name="Text 30"/>
          <p:cNvSpPr txBox="1"/>
          <p:nvPr/>
        </p:nvSpPr>
        <p:spPr>
          <a:xfrm>
            <a:off x="5394960" y="2395728"/>
            <a:ext cx="32918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Masque nuage (quotidien)</a:t>
            </a:r>
            <a:endParaRPr lang="en-US" sz="1300" dirty="0"/>
          </a:p>
        </p:txBody>
      </p:sp>
      <p:sp>
        <p:nvSpPr>
          <p:cNvPr id="36" name="Text 31"/>
          <p:cNvSpPr txBox="1"/>
          <p:nvPr/>
        </p:nvSpPr>
        <p:spPr>
          <a:xfrm>
            <a:off x="5394960" y="2688336"/>
            <a:ext cx="329184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Bits 6–7 : clair certain → nuageux certain. Valeur = (entier &gt;&gt; 6) &amp; 3.</a:t>
            </a:r>
            <a:endParaRPr lang="en-US" sz="1050" dirty="0"/>
          </a:p>
        </p:txBody>
      </p:sp>
      <p:sp>
        <p:nvSpPr>
          <p:cNvPr id="37" name="Shape 32"/>
          <p:cNvSpPr/>
          <p:nvPr/>
        </p:nvSpPr>
        <p:spPr>
          <a:xfrm>
            <a:off x="4754880" y="3493008"/>
            <a:ext cx="502920" cy="502920"/>
          </a:xfrm>
          <a:prstGeom prst="ellipse">
            <a:avLst/>
          </a:prstGeom>
          <a:solidFill>
            <a:srgbClr val="00A86A">
              <a:alpha val="22000"/>
            </a:srgbClr>
          </a:solidFill>
          <a:ln w="12700">
            <a:solidFill>
              <a:srgbClr val="00A86A">
                <a:alpha val="0"/>
              </a:srgbClr>
            </a:solidFill>
            <a:prstDash val="solid"/>
          </a:ln>
        </p:spPr>
      </p:sp>
      <p:pic>
        <p:nvPicPr>
          <p:cNvPr id="38" name="Image 2" descr="preencoded.png">    </p:cNvPr>
          <p:cNvPicPr>
            <a:picLocks noChangeAspect="1"/>
          </p:cNvPicPr>
          <p:nvPr/>
        </p:nvPicPr>
        <p:blipFill>
          <a:blip r:embed="rId3"/>
          <a:stretch>
            <a:fillRect/>
          </a:stretch>
        </p:blipFill>
        <p:spPr>
          <a:xfrm>
            <a:off x="4875581" y="3613709"/>
            <a:ext cx="261518" cy="261518"/>
          </a:xfrm>
          <a:prstGeom prst="rect">
            <a:avLst/>
          </a:prstGeom>
        </p:spPr>
      </p:pic>
      <p:sp>
        <p:nvSpPr>
          <p:cNvPr id="39" name="Text 33"/>
          <p:cNvSpPr txBox="1"/>
          <p:nvPr/>
        </p:nvSpPr>
        <p:spPr>
          <a:xfrm>
            <a:off x="5394960" y="3419856"/>
            <a:ext cx="32918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Nombre de nuits</a:t>
            </a:r>
            <a:endParaRPr lang="en-US" sz="1300" dirty="0"/>
          </a:p>
        </p:txBody>
      </p:sp>
      <p:sp>
        <p:nvSpPr>
          <p:cNvPr id="40" name="Text 34"/>
          <p:cNvSpPr txBox="1"/>
          <p:nvPr/>
        </p:nvSpPr>
        <p:spPr>
          <a:xfrm>
            <a:off x="5394960" y="3712464"/>
            <a:ext cx="329184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…_Num indique combien de nuits soutiennent chaque pixel : cartographiez-le à côté de la radiance.</a:t>
            </a:r>
            <a:endParaRPr lang="en-US" sz="1050" dirty="0"/>
          </a:p>
        </p:txBody>
      </p:sp>
      <p:sp>
        <p:nvSpPr>
          <p:cNvPr id="41"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NASA Black Marble User Guide, Collection 2.0 (2025)</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EXPLORER · RÉSULTATS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La somme des lumières, corrigée pas à pas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graphicFrame>
        <p:nvGraphicFramePr>
          <p:cNvPr id="11" name="Chart 0" descr=""/>
          <p:cNvGraphicFramePr/>
          <p:nvPr/>
        </p:nvGraphicFramePr>
        <p:xfrm>
          <a:off x="365760" y="1280160"/>
          <a:ext cx="5394960" cy="324612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6035040" y="1371600"/>
            <a:ext cx="2651760" cy="1371600"/>
          </a:xfrm>
          <a:prstGeom prst="roundRect">
            <a:avLst>
              <a:gd name="adj" fmla="val 5333"/>
            </a:avLst>
          </a:prstGeom>
          <a:solidFill>
            <a:srgbClr val="E8F5EF"/>
          </a:solidFill>
          <a:ln w="15875">
            <a:solidFill>
              <a:srgbClr val="B83B2E"/>
            </a:solidFill>
            <a:prstDash val="solid"/>
          </a:ln>
        </p:spPr>
      </p:sp>
      <p:sp>
        <p:nvSpPr>
          <p:cNvPr id="13" name="Text 9"/>
          <p:cNvSpPr txBox="1"/>
          <p:nvPr/>
        </p:nvSpPr>
        <p:spPr>
          <a:xfrm>
            <a:off x="6217920" y="1463040"/>
            <a:ext cx="2286000" cy="274320"/>
          </a:xfrm>
          <a:prstGeom prst="rect">
            <a:avLst/>
          </a:prstGeom>
          <a:noFill/>
          <a:ln/>
        </p:spPr>
        <p:txBody>
          <a:bodyPr wrap="square" lIns="0" tIns="0" rIns="0" bIns="0" rtlCol="0" anchor="t"/>
          <a:lstStyle/>
          <a:p>
            <a:pPr indent="0" marL="0">
              <a:buNone/>
            </a:pPr>
            <a:r>
              <a:rPr lang="en-US" sz="1200" b="1" dirty="0">
                <a:solidFill>
                  <a:srgbClr val="B83B2E"/>
                </a:solidFill>
                <a:latin typeface="Calibri" pitchFamily="34" charset="0"/>
                <a:ea typeface="Calibri" pitchFamily="34" charset="-122"/>
                <a:cs typeface="Calibri" pitchFamily="34" charset="-120"/>
              </a:rPr>
              <a:t>Aucune précaution</a:t>
            </a:r>
            <a:endParaRPr lang="en-US" sz="1200" dirty="0"/>
          </a:p>
        </p:txBody>
      </p:sp>
      <p:sp>
        <p:nvSpPr>
          <p:cNvPr id="14" name="Text 10"/>
          <p:cNvSpPr txBox="1"/>
          <p:nvPr/>
        </p:nvSpPr>
        <p:spPr>
          <a:xfrm>
            <a:off x="6217920" y="1737360"/>
            <a:ext cx="2286000" cy="548640"/>
          </a:xfrm>
          <a:prstGeom prst="rect">
            <a:avLst/>
          </a:prstGeom>
          <a:noFill/>
          <a:ln/>
        </p:spPr>
        <p:txBody>
          <a:bodyPr wrap="square" lIns="0" tIns="0" rIns="0" bIns="0" rtlCol="0" anchor="t"/>
          <a:lstStyle/>
          <a:p>
            <a:pPr indent="0" marL="0">
              <a:buNone/>
            </a:pPr>
            <a:r>
              <a:rPr lang="en-US" sz="3400" b="1" dirty="0">
                <a:solidFill>
                  <a:srgbClr val="B83B2E"/>
                </a:solidFill>
                <a:latin typeface="Calibri" pitchFamily="34" charset="0"/>
                <a:ea typeface="Calibri" pitchFamily="34" charset="-122"/>
                <a:cs typeface="Calibri" pitchFamily="34" charset="-120"/>
              </a:rPr>
              <a:t>−70,7 M</a:t>
            </a:r>
            <a:endParaRPr lang="en-US" sz="3400" dirty="0"/>
          </a:p>
        </p:txBody>
      </p:sp>
      <p:sp>
        <p:nvSpPr>
          <p:cNvPr id="15" name="Text 11"/>
          <p:cNvSpPr txBox="1"/>
          <p:nvPr/>
        </p:nvSpPr>
        <p:spPr>
          <a:xfrm>
            <a:off x="6217920" y="2286000"/>
            <a:ext cx="2286000" cy="3657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remplissage −999,9 sommé comme de la lumière</a:t>
            </a:r>
            <a:endParaRPr lang="en-US" sz="1050" dirty="0"/>
          </a:p>
        </p:txBody>
      </p:sp>
      <p:sp>
        <p:nvSpPr>
          <p:cNvPr id="16" name="Shape 12"/>
          <p:cNvSpPr/>
          <p:nvPr/>
        </p:nvSpPr>
        <p:spPr>
          <a:xfrm>
            <a:off x="6035040" y="2880360"/>
            <a:ext cx="2651760" cy="1554480"/>
          </a:xfrm>
          <a:prstGeom prst="roundRect">
            <a:avLst>
              <a:gd name="adj" fmla="val 4706"/>
            </a:avLst>
          </a:prstGeom>
          <a:solidFill>
            <a:srgbClr val="F4F7F5"/>
          </a:solidFill>
          <a:ln w="9525">
            <a:solidFill>
              <a:srgbClr val="D5DED9"/>
            </a:solidFill>
            <a:prstDash val="solid"/>
          </a:ln>
        </p:spPr>
      </p:sp>
      <p:sp>
        <p:nvSpPr>
          <p:cNvPr id="17" name="Text 13"/>
          <p:cNvSpPr txBox="1"/>
          <p:nvPr/>
        </p:nvSpPr>
        <p:spPr>
          <a:xfrm>
            <a:off x="6217920" y="2971800"/>
            <a:ext cx="2286000" cy="274320"/>
          </a:xfrm>
          <a:prstGeom prst="rect">
            <a:avLst/>
          </a:prstGeom>
          <a:noFill/>
          <a:ln/>
        </p:spPr>
        <p:txBody>
          <a:bodyPr wrap="square" lIns="0" tIns="0" rIns="0" bIns="0" rtlCol="0" anchor="t"/>
          <a:lstStyle/>
          <a:p>
            <a:pPr indent="0" marL="0">
              <a:buNone/>
            </a:pPr>
            <a:r>
              <a:rPr lang="en-US" sz="1200" b="1" dirty="0">
                <a:solidFill>
                  <a:srgbClr val="00553A"/>
                </a:solidFill>
                <a:latin typeface="Calibri" pitchFamily="34" charset="0"/>
                <a:ea typeface="Calibri" pitchFamily="34" charset="-122"/>
                <a:cs typeface="Calibri" pitchFamily="34" charset="-120"/>
              </a:rPr>
              <a:t>Réponse finale</a:t>
            </a:r>
            <a:endParaRPr lang="en-US" sz="1200" dirty="0"/>
          </a:p>
        </p:txBody>
      </p:sp>
      <p:sp>
        <p:nvSpPr>
          <p:cNvPr id="18" name="Text 14"/>
          <p:cNvSpPr txBox="1"/>
          <p:nvPr/>
        </p:nvSpPr>
        <p:spPr>
          <a:xfrm>
            <a:off x="6217920" y="3246120"/>
            <a:ext cx="2286000" cy="548640"/>
          </a:xfrm>
          <a:prstGeom prst="rect">
            <a:avLst/>
          </a:prstGeom>
          <a:noFill/>
          <a:ln/>
        </p:spPr>
        <p:txBody>
          <a:bodyPr wrap="square" lIns="0" tIns="0" rIns="0" bIns="0" rtlCol="0" anchor="t"/>
          <a:lstStyle/>
          <a:p>
            <a:pPr indent="0" marL="0">
              <a:buNone/>
            </a:pPr>
            <a:r>
              <a:rPr lang="en-US" sz="3400" b="1" dirty="0">
                <a:solidFill>
                  <a:srgbClr val="00553A"/>
                </a:solidFill>
                <a:latin typeface="Calibri" pitchFamily="34" charset="0"/>
                <a:ea typeface="Calibri" pitchFamily="34" charset="-122"/>
                <a:cs typeface="Calibri" pitchFamily="34" charset="-120"/>
              </a:rPr>
              <a:t>22 737</a:t>
            </a:r>
            <a:endParaRPr lang="en-US" sz="3400" dirty="0"/>
          </a:p>
        </p:txBody>
      </p:sp>
      <p:sp>
        <p:nvSpPr>
          <p:cNvPr id="19" name="Text 15"/>
          <p:cNvSpPr txBox="1"/>
          <p:nvPr/>
        </p:nvSpPr>
        <p:spPr>
          <a:xfrm>
            <a:off x="6217920" y="3794760"/>
            <a:ext cx="228600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territoire national, filtré, eau masquée</a:t>
            </a:r>
            <a:endParaRPr lang="en-US" sz="1050" dirty="0"/>
          </a:p>
        </p:txBody>
      </p:sp>
      <p:sp>
        <p:nvSpPr>
          <p:cNvPr id="20" name="Text 16"/>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Jeu de démonstration du notebook 2 (valeurs simulées, Côte d'Ivoire, structure Collection 2)</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EXPLORER · DE LA TUILE AU PAYS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Mosaïque, découpage et distribution asymétrique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4023360" cy="1115568"/>
          </a:xfrm>
          <a:prstGeom prst="roundRect">
            <a:avLst>
              <a:gd name="adj" fmla="val 6557"/>
            </a:avLst>
          </a:prstGeom>
          <a:solidFill>
            <a:srgbClr val="F4F7F5"/>
          </a:solidFill>
          <a:ln w="9525">
            <a:solidFill>
              <a:srgbClr val="D5DED9"/>
            </a:solidFill>
            <a:prstDash val="solid"/>
          </a:ln>
        </p:spPr>
      </p:sp>
      <p:sp>
        <p:nvSpPr>
          <p:cNvPr id="12" name="Shape 9"/>
          <p:cNvSpPr/>
          <p:nvPr/>
        </p:nvSpPr>
        <p:spPr>
          <a:xfrm>
            <a:off x="621792" y="1536192"/>
            <a:ext cx="502920" cy="502920"/>
          </a:xfrm>
          <a:prstGeom prst="ellipse">
            <a:avLst/>
          </a:prstGeom>
          <a:solidFill>
            <a:srgbClr val="0E7C86">
              <a:alpha val="22000"/>
            </a:srgbClr>
          </a:solidFill>
          <a:ln w="12700">
            <a:solidFill>
              <a:srgbClr val="0E7C86">
                <a:alpha val="0"/>
              </a:srgbClr>
            </a:solidFill>
            <a:prstDash val="solid"/>
          </a:ln>
        </p:spPr>
      </p:sp>
      <p:pic>
        <p:nvPicPr>
          <p:cNvPr id="13" name="Image 0" descr="preencoded.png">    </p:cNvPr>
          <p:cNvPicPr>
            <a:picLocks noChangeAspect="1"/>
          </p:cNvPicPr>
          <p:nvPr/>
        </p:nvPicPr>
        <p:blipFill>
          <a:blip r:embed="rId1"/>
          <a:stretch>
            <a:fillRect/>
          </a:stretch>
        </p:blipFill>
        <p:spPr>
          <a:xfrm>
            <a:off x="742493" y="1656893"/>
            <a:ext cx="261518" cy="261518"/>
          </a:xfrm>
          <a:prstGeom prst="rect">
            <a:avLst/>
          </a:prstGeom>
        </p:spPr>
      </p:pic>
      <p:sp>
        <p:nvSpPr>
          <p:cNvPr id="14" name="Text 10"/>
          <p:cNvSpPr txBox="1"/>
          <p:nvPr/>
        </p:nvSpPr>
        <p:spPr>
          <a:xfrm>
            <a:off x="1280160" y="150876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Mosaïque</a:t>
            </a:r>
            <a:endParaRPr lang="en-US" sz="1300" dirty="0"/>
          </a:p>
        </p:txBody>
      </p:sp>
      <p:sp>
        <p:nvSpPr>
          <p:cNvPr id="15" name="Text 11"/>
          <p:cNvSpPr txBox="1"/>
          <p:nvPr/>
        </p:nvSpPr>
        <p:spPr>
          <a:xfrm>
            <a:off x="1280160" y="180136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Même grille, même résolution : tuiles collées par indice, sans distorsion</a:t>
            </a:r>
            <a:endParaRPr lang="en-US" sz="1050" dirty="0"/>
          </a:p>
        </p:txBody>
      </p:sp>
      <p:sp>
        <p:nvSpPr>
          <p:cNvPr id="16" name="Shape 12"/>
          <p:cNvSpPr/>
          <p:nvPr/>
        </p:nvSpPr>
        <p:spPr>
          <a:xfrm>
            <a:off x="4663440" y="1371600"/>
            <a:ext cx="4023360" cy="1115568"/>
          </a:xfrm>
          <a:prstGeom prst="roundRect">
            <a:avLst>
              <a:gd name="adj" fmla="val 6557"/>
            </a:avLst>
          </a:prstGeom>
          <a:solidFill>
            <a:srgbClr val="F4F7F5"/>
          </a:solidFill>
          <a:ln w="9525">
            <a:solidFill>
              <a:srgbClr val="D5DED9"/>
            </a:solidFill>
            <a:prstDash val="solid"/>
          </a:ln>
        </p:spPr>
      </p:sp>
      <p:sp>
        <p:nvSpPr>
          <p:cNvPr id="17" name="Shape 13"/>
          <p:cNvSpPr/>
          <p:nvPr/>
        </p:nvSpPr>
        <p:spPr>
          <a:xfrm>
            <a:off x="4828032" y="1536192"/>
            <a:ext cx="502920" cy="502920"/>
          </a:xfrm>
          <a:prstGeom prst="ellipse">
            <a:avLst/>
          </a:prstGeom>
          <a:solidFill>
            <a:srgbClr val="0E7C86">
              <a:alpha val="22000"/>
            </a:srgbClr>
          </a:solidFill>
          <a:ln w="12700">
            <a:solidFill>
              <a:srgbClr val="0E7C86">
                <a:alpha val="0"/>
              </a:srgbClr>
            </a:solidFill>
            <a:prstDash val="solid"/>
          </a:ln>
        </p:spPr>
      </p:sp>
      <p:pic>
        <p:nvPicPr>
          <p:cNvPr id="18" name="Image 1" descr="preencoded.png">    </p:cNvPr>
          <p:cNvPicPr>
            <a:picLocks noChangeAspect="1"/>
          </p:cNvPicPr>
          <p:nvPr/>
        </p:nvPicPr>
        <p:blipFill>
          <a:blip r:embed="rId2"/>
          <a:stretch>
            <a:fillRect/>
          </a:stretch>
        </p:blipFill>
        <p:spPr>
          <a:xfrm>
            <a:off x="4948733" y="1656893"/>
            <a:ext cx="261518" cy="261518"/>
          </a:xfrm>
          <a:prstGeom prst="rect">
            <a:avLst/>
          </a:prstGeom>
        </p:spPr>
      </p:pic>
      <p:sp>
        <p:nvSpPr>
          <p:cNvPr id="19" name="Text 14"/>
          <p:cNvSpPr txBox="1"/>
          <p:nvPr/>
        </p:nvSpPr>
        <p:spPr>
          <a:xfrm>
            <a:off x="5486400" y="150876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Découpage</a:t>
            </a:r>
            <a:endParaRPr lang="en-US" sz="1300" dirty="0"/>
          </a:p>
        </p:txBody>
      </p:sp>
      <p:sp>
        <p:nvSpPr>
          <p:cNvPr id="20" name="Text 15"/>
          <p:cNvSpPr txBox="1"/>
          <p:nvPr/>
        </p:nvSpPr>
        <p:spPr>
          <a:xfrm>
            <a:off x="5486400" y="180136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Point-dans-polygone sur la frontière nationale (les limites officielles peuvent remplacer celles intégrées)</a:t>
            </a:r>
            <a:endParaRPr lang="en-US" sz="1050" dirty="0"/>
          </a:p>
        </p:txBody>
      </p:sp>
      <p:sp>
        <p:nvSpPr>
          <p:cNvPr id="21" name="Shape 16"/>
          <p:cNvSpPr/>
          <p:nvPr/>
        </p:nvSpPr>
        <p:spPr>
          <a:xfrm>
            <a:off x="457200" y="2651760"/>
            <a:ext cx="4023360" cy="1115568"/>
          </a:xfrm>
          <a:prstGeom prst="roundRect">
            <a:avLst>
              <a:gd name="adj" fmla="val 6557"/>
            </a:avLst>
          </a:prstGeom>
          <a:solidFill>
            <a:srgbClr val="F4F7F5"/>
          </a:solidFill>
          <a:ln w="9525">
            <a:solidFill>
              <a:srgbClr val="D5DED9"/>
            </a:solidFill>
            <a:prstDash val="solid"/>
          </a:ln>
        </p:spPr>
      </p:sp>
      <p:sp>
        <p:nvSpPr>
          <p:cNvPr id="22" name="Shape 17"/>
          <p:cNvSpPr/>
          <p:nvPr/>
        </p:nvSpPr>
        <p:spPr>
          <a:xfrm>
            <a:off x="621792" y="2816352"/>
            <a:ext cx="502920" cy="502920"/>
          </a:xfrm>
          <a:prstGeom prst="ellipse">
            <a:avLst/>
          </a:prstGeom>
          <a:solidFill>
            <a:srgbClr val="0E7C86">
              <a:alpha val="22000"/>
            </a:srgbClr>
          </a:solidFill>
          <a:ln w="12700">
            <a:solidFill>
              <a:srgbClr val="0E7C86">
                <a:alpha val="0"/>
              </a:srgbClr>
            </a:solidFill>
            <a:prstDash val="solid"/>
          </a:ln>
        </p:spPr>
      </p:sp>
      <p:pic>
        <p:nvPicPr>
          <p:cNvPr id="23" name="Image 2" descr="preencoded.png">    </p:cNvPr>
          <p:cNvPicPr>
            <a:picLocks noChangeAspect="1"/>
          </p:cNvPicPr>
          <p:nvPr/>
        </p:nvPicPr>
        <p:blipFill>
          <a:blip r:embed="rId3"/>
          <a:stretch>
            <a:fillRect/>
          </a:stretch>
        </p:blipFill>
        <p:spPr>
          <a:xfrm>
            <a:off x="742493" y="2937053"/>
            <a:ext cx="261518" cy="261518"/>
          </a:xfrm>
          <a:prstGeom prst="rect">
            <a:avLst/>
          </a:prstGeom>
        </p:spPr>
      </p:pic>
      <p:sp>
        <p:nvSpPr>
          <p:cNvPr id="24" name="Text 18"/>
          <p:cNvSpPr txBox="1"/>
          <p:nvPr/>
        </p:nvSpPr>
        <p:spPr>
          <a:xfrm>
            <a:off x="1280160" y="278892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Distribution</a:t>
            </a:r>
            <a:endParaRPr lang="en-US" sz="1300" dirty="0"/>
          </a:p>
        </p:txBody>
      </p:sp>
      <p:sp>
        <p:nvSpPr>
          <p:cNvPr id="25" name="Text 19"/>
          <p:cNvSpPr txBox="1"/>
          <p:nvPr/>
        </p:nvSpPr>
        <p:spPr>
          <a:xfrm>
            <a:off x="1280160" y="308152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Échelle log ; médiane et somme disent des choses différentes ; vérifier les pixels extrêmes</a:t>
            </a:r>
            <a:endParaRPr lang="en-US" sz="1050" dirty="0"/>
          </a:p>
        </p:txBody>
      </p:sp>
      <p:sp>
        <p:nvSpPr>
          <p:cNvPr id="26" name="Shape 20"/>
          <p:cNvSpPr/>
          <p:nvPr/>
        </p:nvSpPr>
        <p:spPr>
          <a:xfrm>
            <a:off x="4663440" y="2651760"/>
            <a:ext cx="4023360" cy="1115568"/>
          </a:xfrm>
          <a:prstGeom prst="roundRect">
            <a:avLst>
              <a:gd name="adj" fmla="val 6557"/>
            </a:avLst>
          </a:prstGeom>
          <a:solidFill>
            <a:srgbClr val="F4F7F5"/>
          </a:solidFill>
          <a:ln w="9525">
            <a:solidFill>
              <a:srgbClr val="D5DED9"/>
            </a:solidFill>
            <a:prstDash val="solid"/>
          </a:ln>
        </p:spPr>
      </p:sp>
      <p:sp>
        <p:nvSpPr>
          <p:cNvPr id="27" name="Shape 21"/>
          <p:cNvSpPr/>
          <p:nvPr/>
        </p:nvSpPr>
        <p:spPr>
          <a:xfrm>
            <a:off x="4828032" y="2816352"/>
            <a:ext cx="502920" cy="502920"/>
          </a:xfrm>
          <a:prstGeom prst="ellipse">
            <a:avLst/>
          </a:prstGeom>
          <a:solidFill>
            <a:srgbClr val="0E7C86">
              <a:alpha val="22000"/>
            </a:srgbClr>
          </a:solidFill>
          <a:ln w="12700">
            <a:solidFill>
              <a:srgbClr val="0E7C86">
                <a:alpha val="0"/>
              </a:srgbClr>
            </a:solidFill>
            <a:prstDash val="solid"/>
          </a:ln>
        </p:spPr>
      </p:sp>
      <p:pic>
        <p:nvPicPr>
          <p:cNvPr id="28" name="Image 3" descr="preencoded.png">    </p:cNvPr>
          <p:cNvPicPr>
            <a:picLocks noChangeAspect="1"/>
          </p:cNvPicPr>
          <p:nvPr/>
        </p:nvPicPr>
        <p:blipFill>
          <a:blip r:embed="rId4"/>
          <a:stretch>
            <a:fillRect/>
          </a:stretch>
        </p:blipFill>
        <p:spPr>
          <a:xfrm>
            <a:off x="4948733" y="2937053"/>
            <a:ext cx="261518" cy="261518"/>
          </a:xfrm>
          <a:prstGeom prst="rect">
            <a:avLst/>
          </a:prstGeom>
        </p:spPr>
      </p:pic>
      <p:sp>
        <p:nvSpPr>
          <p:cNvPr id="29" name="Text 22"/>
          <p:cNvSpPr txBox="1"/>
          <p:nvPr/>
        </p:nvSpPr>
        <p:spPr>
          <a:xfrm>
            <a:off x="5486400" y="278892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Pondération par surface</a:t>
            </a:r>
            <a:endParaRPr lang="en-US" sz="1300" dirty="0"/>
          </a:p>
        </p:txBody>
      </p:sp>
      <p:sp>
        <p:nvSpPr>
          <p:cNvPr id="30" name="Text 23"/>
          <p:cNvSpPr txBox="1"/>
          <p:nvPr/>
        </p:nvSpPr>
        <p:spPr>
          <a:xfrm>
            <a:off x="5486400" y="308152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Surface du pixel ∝ cos(latitude) : −13 % à 30°, −20 % à 37°</a:t>
            </a:r>
            <a:endParaRPr lang="en-US" sz="1050" dirty="0"/>
          </a:p>
        </p:txBody>
      </p:sp>
      <p:sp>
        <p:nvSpPr>
          <p:cNvPr id="31" name="Text 24"/>
          <p:cNvSpPr txBox="1"/>
          <p:nvPr/>
        </p:nvSpPr>
        <p:spPr>
          <a:xfrm>
            <a:off x="457200" y="4023360"/>
            <a:ext cx="914400" cy="256032"/>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Exports</a:t>
            </a:r>
            <a:endParaRPr lang="en-US" sz="1100" dirty="0"/>
          </a:p>
        </p:txBody>
      </p:sp>
      <p:sp>
        <p:nvSpPr>
          <p:cNvPr id="32" name="Shape 25"/>
          <p:cNvSpPr/>
          <p:nvPr/>
        </p:nvSpPr>
        <p:spPr>
          <a:xfrm>
            <a:off x="1280160" y="4023360"/>
            <a:ext cx="914400" cy="256032"/>
          </a:xfrm>
          <a:prstGeom prst="roundRect">
            <a:avLst>
              <a:gd name="adj" fmla="val 50000"/>
            </a:avLst>
          </a:prstGeom>
          <a:solidFill>
            <a:srgbClr val="0E7C86">
              <a:alpha val="15000"/>
            </a:srgbClr>
          </a:solidFill>
          <a:ln w="9525">
            <a:solidFill>
              <a:srgbClr val="0E7C86"/>
            </a:solidFill>
            <a:prstDash val="solid"/>
          </a:ln>
        </p:spPr>
      </p:sp>
      <p:sp>
        <p:nvSpPr>
          <p:cNvPr id="33" name="Text 26"/>
          <p:cNvSpPr txBox="1"/>
          <p:nvPr/>
        </p:nvSpPr>
        <p:spPr>
          <a:xfrm>
            <a:off x="1280160" y="4023360"/>
            <a:ext cx="91440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GeoTIFF</a:t>
            </a:r>
            <a:endParaRPr lang="en-US" sz="1000" dirty="0"/>
          </a:p>
        </p:txBody>
      </p:sp>
      <p:sp>
        <p:nvSpPr>
          <p:cNvPr id="34" name="Shape 27"/>
          <p:cNvSpPr/>
          <p:nvPr/>
        </p:nvSpPr>
        <p:spPr>
          <a:xfrm>
            <a:off x="2304288" y="4023360"/>
            <a:ext cx="640080" cy="256032"/>
          </a:xfrm>
          <a:prstGeom prst="roundRect">
            <a:avLst>
              <a:gd name="adj" fmla="val 50000"/>
            </a:avLst>
          </a:prstGeom>
          <a:solidFill>
            <a:srgbClr val="0E7C86">
              <a:alpha val="15000"/>
            </a:srgbClr>
          </a:solidFill>
          <a:ln w="9525">
            <a:solidFill>
              <a:srgbClr val="0E7C86"/>
            </a:solidFill>
            <a:prstDash val="solid"/>
          </a:ln>
        </p:spPr>
      </p:sp>
      <p:sp>
        <p:nvSpPr>
          <p:cNvPr id="35" name="Text 28"/>
          <p:cNvSpPr txBox="1"/>
          <p:nvPr/>
        </p:nvSpPr>
        <p:spPr>
          <a:xfrm>
            <a:off x="2304288" y="4023360"/>
            <a:ext cx="64008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CSV</a:t>
            </a:r>
            <a:endParaRPr lang="en-US" sz="1000" dirty="0"/>
          </a:p>
        </p:txBody>
      </p:sp>
      <p:sp>
        <p:nvSpPr>
          <p:cNvPr id="36" name="Shape 29"/>
          <p:cNvSpPr/>
          <p:nvPr/>
        </p:nvSpPr>
        <p:spPr>
          <a:xfrm>
            <a:off x="3054096" y="4023360"/>
            <a:ext cx="640080" cy="256032"/>
          </a:xfrm>
          <a:prstGeom prst="roundRect">
            <a:avLst>
              <a:gd name="adj" fmla="val 50000"/>
            </a:avLst>
          </a:prstGeom>
          <a:solidFill>
            <a:srgbClr val="0E7C86">
              <a:alpha val="15000"/>
            </a:srgbClr>
          </a:solidFill>
          <a:ln w="9525">
            <a:solidFill>
              <a:srgbClr val="0E7C86"/>
            </a:solidFill>
            <a:prstDash val="solid"/>
          </a:ln>
        </p:spPr>
      </p:sp>
      <p:sp>
        <p:nvSpPr>
          <p:cNvPr id="37" name="Text 30"/>
          <p:cNvSpPr txBox="1"/>
          <p:nvPr/>
        </p:nvSpPr>
        <p:spPr>
          <a:xfrm>
            <a:off x="3054096" y="4023360"/>
            <a:ext cx="64008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NPZ</a:t>
            </a:r>
            <a:endParaRPr lang="en-US" sz="1000" dirty="0"/>
          </a:p>
        </p:txBody>
      </p:sp>
      <p:sp>
        <p:nvSpPr>
          <p:cNvPr id="38" name="Shape 31"/>
          <p:cNvSpPr/>
          <p:nvPr/>
        </p:nvSpPr>
        <p:spPr>
          <a:xfrm>
            <a:off x="3803904" y="4023360"/>
            <a:ext cx="1417320" cy="256032"/>
          </a:xfrm>
          <a:prstGeom prst="roundRect">
            <a:avLst>
              <a:gd name="adj" fmla="val 50000"/>
            </a:avLst>
          </a:prstGeom>
          <a:solidFill>
            <a:srgbClr val="0E7C86">
              <a:alpha val="15000"/>
            </a:srgbClr>
          </a:solidFill>
          <a:ln w="9525">
            <a:solidFill>
              <a:srgbClr val="0E7C86"/>
            </a:solidFill>
            <a:prstDash val="solid"/>
          </a:ln>
        </p:spPr>
      </p:sp>
      <p:sp>
        <p:nvSpPr>
          <p:cNvPr id="39" name="Text 32"/>
          <p:cNvSpPr txBox="1"/>
          <p:nvPr/>
        </p:nvSpPr>
        <p:spPr>
          <a:xfrm>
            <a:off x="3803904" y="4023360"/>
            <a:ext cx="141732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métadonnées JSON</a:t>
            </a:r>
            <a:endParaRPr lang="en-US" sz="1000" dirty="0"/>
          </a:p>
        </p:txBody>
      </p:sp>
      <p:sp>
        <p:nvSpPr>
          <p:cNvPr id="40" name="Shape 33"/>
          <p:cNvSpPr/>
          <p:nvPr/>
        </p:nvSpPr>
        <p:spPr>
          <a:xfrm>
            <a:off x="5330952" y="4023360"/>
            <a:ext cx="1645920" cy="256032"/>
          </a:xfrm>
          <a:prstGeom prst="roundRect">
            <a:avLst>
              <a:gd name="adj" fmla="val 50000"/>
            </a:avLst>
          </a:prstGeom>
          <a:solidFill>
            <a:srgbClr val="0E7C86">
              <a:alpha val="15000"/>
            </a:srgbClr>
          </a:solidFill>
          <a:ln w="9525">
            <a:solidFill>
              <a:srgbClr val="0E7C86"/>
            </a:solidFill>
            <a:prstDash val="solid"/>
          </a:ln>
        </p:spPr>
      </p:sp>
      <p:sp>
        <p:nvSpPr>
          <p:cNvPr id="41" name="Text 34"/>
          <p:cNvSpPr txBox="1"/>
          <p:nvPr/>
        </p:nvSpPr>
        <p:spPr>
          <a:xfrm>
            <a:off x="5330952" y="4023360"/>
            <a:ext cx="164592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journal de traitement</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04</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Analyser</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Comment transformer une radiance en indicateurs économiques ?</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5C242"/>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VUE D'ENSEMBLE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Une chaîne, six scénarios d'analyse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1234440" cy="457200"/>
          </a:xfrm>
          <a:prstGeom prst="roundRect">
            <a:avLst>
              <a:gd name="adj" fmla="val 16000"/>
            </a:avLst>
          </a:prstGeom>
          <a:solidFill>
            <a:srgbClr val="E8F5EF"/>
          </a:solidFill>
          <a:ln w="12700">
            <a:solidFill>
              <a:srgbClr val="00A86A"/>
            </a:solidFill>
            <a:prstDash val="solid"/>
          </a:ln>
        </p:spPr>
      </p:sp>
      <p:sp>
        <p:nvSpPr>
          <p:cNvPr id="12" name="Text 9"/>
          <p:cNvSpPr txBox="1"/>
          <p:nvPr/>
        </p:nvSpPr>
        <p:spPr>
          <a:xfrm>
            <a:off x="457200"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02  </a:t>
            </a:r>
            <a:pPr algn="ctr" indent="0" marL="0">
              <a:buNone/>
            </a:pPr>
            <a:r>
              <a:rPr lang="en-US" sz="950" dirty="0">
                <a:solidFill>
                  <a:srgbClr val="231F20"/>
                </a:solidFill>
                <a:latin typeface="Calibri" pitchFamily="34" charset="0"/>
                <a:ea typeface="Calibri" pitchFamily="34" charset="-122"/>
                <a:cs typeface="Calibri" pitchFamily="34" charset="-120"/>
              </a:rPr>
              <a:t>Paramètres</a:t>
            </a:r>
            <a:endParaRPr lang="en-US" sz="950" dirty="0"/>
          </a:p>
        </p:txBody>
      </p:sp>
      <p:sp>
        <p:nvSpPr>
          <p:cNvPr id="13" name="Shape 10"/>
          <p:cNvSpPr/>
          <p:nvPr/>
        </p:nvSpPr>
        <p:spPr>
          <a:xfrm>
            <a:off x="1700784" y="1554480"/>
            <a:ext cx="146304" cy="914"/>
          </a:xfrm>
          <a:prstGeom prst="line">
            <a:avLst/>
          </a:prstGeom>
          <a:noFill/>
          <a:ln w="15875">
            <a:solidFill>
              <a:srgbClr val="5E6964"/>
            </a:solidFill>
            <a:prstDash val="solid"/>
            <a:tailEnd type="triangle"/>
          </a:ln>
        </p:spPr>
      </p:sp>
      <p:sp>
        <p:nvSpPr>
          <p:cNvPr id="14" name="Shape 11"/>
          <p:cNvSpPr/>
          <p:nvPr/>
        </p:nvSpPr>
        <p:spPr>
          <a:xfrm>
            <a:off x="1856232" y="1325880"/>
            <a:ext cx="1234440" cy="457200"/>
          </a:xfrm>
          <a:prstGeom prst="roundRect">
            <a:avLst>
              <a:gd name="adj" fmla="val 16000"/>
            </a:avLst>
          </a:prstGeom>
          <a:solidFill>
            <a:srgbClr val="E8F5EF"/>
          </a:solidFill>
          <a:ln w="12700">
            <a:solidFill>
              <a:srgbClr val="00A86A"/>
            </a:solidFill>
            <a:prstDash val="solid"/>
          </a:ln>
        </p:spPr>
      </p:sp>
      <p:sp>
        <p:nvSpPr>
          <p:cNvPr id="15" name="Text 12"/>
          <p:cNvSpPr txBox="1"/>
          <p:nvPr/>
        </p:nvSpPr>
        <p:spPr>
          <a:xfrm>
            <a:off x="1856232"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03  </a:t>
            </a:r>
            <a:pPr algn="ctr" indent="0" marL="0">
              <a:buNone/>
            </a:pPr>
            <a:r>
              <a:rPr lang="en-US" sz="950" dirty="0">
                <a:solidFill>
                  <a:srgbClr val="231F20"/>
                </a:solidFill>
                <a:latin typeface="Calibri" pitchFamily="34" charset="0"/>
                <a:ea typeface="Calibri" pitchFamily="34" charset="-122"/>
                <a:cs typeface="Calibri" pitchFamily="34" charset="-120"/>
              </a:rPr>
              <a:t>Acquérir et nettoyer</a:t>
            </a:r>
            <a:endParaRPr lang="en-US" sz="950" dirty="0"/>
          </a:p>
        </p:txBody>
      </p:sp>
      <p:sp>
        <p:nvSpPr>
          <p:cNvPr id="16" name="Shape 13"/>
          <p:cNvSpPr/>
          <p:nvPr/>
        </p:nvSpPr>
        <p:spPr>
          <a:xfrm>
            <a:off x="3099816" y="1554480"/>
            <a:ext cx="146304" cy="914"/>
          </a:xfrm>
          <a:prstGeom prst="line">
            <a:avLst/>
          </a:prstGeom>
          <a:noFill/>
          <a:ln w="15875">
            <a:solidFill>
              <a:srgbClr val="5E6964"/>
            </a:solidFill>
            <a:prstDash val="solid"/>
            <a:tailEnd type="triangle"/>
          </a:ln>
        </p:spPr>
      </p:sp>
      <p:sp>
        <p:nvSpPr>
          <p:cNvPr id="17" name="Shape 14"/>
          <p:cNvSpPr/>
          <p:nvPr/>
        </p:nvSpPr>
        <p:spPr>
          <a:xfrm>
            <a:off x="3255264" y="1325880"/>
            <a:ext cx="1234440" cy="457200"/>
          </a:xfrm>
          <a:prstGeom prst="roundRect">
            <a:avLst>
              <a:gd name="adj" fmla="val 16000"/>
            </a:avLst>
          </a:prstGeom>
          <a:solidFill>
            <a:srgbClr val="E8F5EF"/>
          </a:solidFill>
          <a:ln w="12700">
            <a:solidFill>
              <a:srgbClr val="00A86A"/>
            </a:solidFill>
            <a:prstDash val="solid"/>
          </a:ln>
        </p:spPr>
      </p:sp>
      <p:sp>
        <p:nvSpPr>
          <p:cNvPr id="18" name="Text 15"/>
          <p:cNvSpPr txBox="1"/>
          <p:nvPr/>
        </p:nvSpPr>
        <p:spPr>
          <a:xfrm>
            <a:off x="3255264"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04  </a:t>
            </a:r>
            <a:pPr algn="ctr" indent="0" marL="0">
              <a:buNone/>
            </a:pPr>
            <a:r>
              <a:rPr lang="en-US" sz="950" dirty="0">
                <a:solidFill>
                  <a:srgbClr val="231F20"/>
                </a:solidFill>
                <a:latin typeface="Calibri" pitchFamily="34" charset="0"/>
                <a:ea typeface="Calibri" pitchFamily="34" charset="-122"/>
                <a:cs typeface="Calibri" pitchFamily="34" charset="-120"/>
              </a:rPr>
              <a:t>Explorer</a:t>
            </a:r>
            <a:endParaRPr lang="en-US" sz="950" dirty="0"/>
          </a:p>
        </p:txBody>
      </p:sp>
      <p:sp>
        <p:nvSpPr>
          <p:cNvPr id="19" name="Shape 16"/>
          <p:cNvSpPr/>
          <p:nvPr/>
        </p:nvSpPr>
        <p:spPr>
          <a:xfrm>
            <a:off x="4498848" y="1554480"/>
            <a:ext cx="146304" cy="914"/>
          </a:xfrm>
          <a:prstGeom prst="line">
            <a:avLst/>
          </a:prstGeom>
          <a:noFill/>
          <a:ln w="15875">
            <a:solidFill>
              <a:srgbClr val="5E6964"/>
            </a:solidFill>
            <a:prstDash val="solid"/>
            <a:tailEnd type="triangle"/>
          </a:ln>
        </p:spPr>
      </p:sp>
      <p:sp>
        <p:nvSpPr>
          <p:cNvPr id="20" name="Shape 17"/>
          <p:cNvSpPr/>
          <p:nvPr/>
        </p:nvSpPr>
        <p:spPr>
          <a:xfrm>
            <a:off x="4654296" y="1325880"/>
            <a:ext cx="1234440" cy="457200"/>
          </a:xfrm>
          <a:prstGeom prst="roundRect">
            <a:avLst>
              <a:gd name="adj" fmla="val 16000"/>
            </a:avLst>
          </a:prstGeom>
          <a:solidFill>
            <a:srgbClr val="D49A00"/>
          </a:solidFill>
          <a:ln w="12700">
            <a:solidFill>
              <a:srgbClr val="D49A00"/>
            </a:solidFill>
            <a:prstDash val="solid"/>
          </a:ln>
        </p:spPr>
      </p:sp>
      <p:sp>
        <p:nvSpPr>
          <p:cNvPr id="21" name="Text 18"/>
          <p:cNvSpPr txBox="1"/>
          <p:nvPr/>
        </p:nvSpPr>
        <p:spPr>
          <a:xfrm>
            <a:off x="4654296" y="1325880"/>
            <a:ext cx="123444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05–10  </a:t>
            </a:r>
            <a:pPr algn="ctr" indent="0" marL="0">
              <a:buNone/>
            </a:pPr>
            <a:r>
              <a:rPr lang="en-US" sz="950" dirty="0">
                <a:solidFill>
                  <a:srgbClr val="FFFFFF"/>
                </a:solidFill>
                <a:latin typeface="Calibri" pitchFamily="34" charset="0"/>
                <a:ea typeface="Calibri" pitchFamily="34" charset="-122"/>
                <a:cs typeface="Calibri" pitchFamily="34" charset="-120"/>
              </a:rPr>
              <a:t>6 scénarios</a:t>
            </a:r>
            <a:endParaRPr lang="en-US" sz="950" dirty="0"/>
          </a:p>
        </p:txBody>
      </p:sp>
      <p:sp>
        <p:nvSpPr>
          <p:cNvPr id="22" name="Shape 19"/>
          <p:cNvSpPr/>
          <p:nvPr/>
        </p:nvSpPr>
        <p:spPr>
          <a:xfrm>
            <a:off x="5897880" y="1554480"/>
            <a:ext cx="146304" cy="914"/>
          </a:xfrm>
          <a:prstGeom prst="line">
            <a:avLst/>
          </a:prstGeom>
          <a:noFill/>
          <a:ln w="15875">
            <a:solidFill>
              <a:srgbClr val="5E6964"/>
            </a:solidFill>
            <a:prstDash val="solid"/>
            <a:tailEnd type="triangle"/>
          </a:ln>
        </p:spPr>
      </p:sp>
      <p:sp>
        <p:nvSpPr>
          <p:cNvPr id="23" name="Shape 20"/>
          <p:cNvSpPr/>
          <p:nvPr/>
        </p:nvSpPr>
        <p:spPr>
          <a:xfrm>
            <a:off x="6053328" y="1325880"/>
            <a:ext cx="1234440" cy="457200"/>
          </a:xfrm>
          <a:prstGeom prst="roundRect">
            <a:avLst>
              <a:gd name="adj" fmla="val 16000"/>
            </a:avLst>
          </a:prstGeom>
          <a:solidFill>
            <a:srgbClr val="E8F5EF"/>
          </a:solidFill>
          <a:ln w="12700">
            <a:solidFill>
              <a:srgbClr val="00A86A"/>
            </a:solidFill>
            <a:prstDash val="solid"/>
          </a:ln>
        </p:spPr>
      </p:sp>
      <p:sp>
        <p:nvSpPr>
          <p:cNvPr id="24" name="Text 21"/>
          <p:cNvSpPr txBox="1"/>
          <p:nvPr/>
        </p:nvSpPr>
        <p:spPr>
          <a:xfrm>
            <a:off x="6053328"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11  </a:t>
            </a:r>
            <a:pPr algn="ctr" indent="0" marL="0">
              <a:buNone/>
            </a:pPr>
            <a:r>
              <a:rPr lang="en-US" sz="950" dirty="0">
                <a:solidFill>
                  <a:srgbClr val="231F20"/>
                </a:solidFill>
                <a:latin typeface="Calibri" pitchFamily="34" charset="0"/>
                <a:ea typeface="Calibri" pitchFamily="34" charset="-122"/>
                <a:cs typeface="Calibri" pitchFamily="34" charset="-120"/>
              </a:rPr>
              <a:t>Messages clés</a:t>
            </a:r>
            <a:endParaRPr lang="en-US" sz="950" dirty="0"/>
          </a:p>
        </p:txBody>
      </p:sp>
      <p:sp>
        <p:nvSpPr>
          <p:cNvPr id="25" name="Shape 22"/>
          <p:cNvSpPr/>
          <p:nvPr/>
        </p:nvSpPr>
        <p:spPr>
          <a:xfrm>
            <a:off x="7296912" y="1554480"/>
            <a:ext cx="146304" cy="914"/>
          </a:xfrm>
          <a:prstGeom prst="line">
            <a:avLst/>
          </a:prstGeom>
          <a:noFill/>
          <a:ln w="15875">
            <a:solidFill>
              <a:srgbClr val="5E6964"/>
            </a:solidFill>
            <a:prstDash val="solid"/>
            <a:tailEnd type="triangle"/>
          </a:ln>
        </p:spPr>
      </p:sp>
      <p:sp>
        <p:nvSpPr>
          <p:cNvPr id="26" name="Shape 23"/>
          <p:cNvSpPr/>
          <p:nvPr/>
        </p:nvSpPr>
        <p:spPr>
          <a:xfrm>
            <a:off x="7452360" y="1325880"/>
            <a:ext cx="1234440" cy="457200"/>
          </a:xfrm>
          <a:prstGeom prst="roundRect">
            <a:avLst>
              <a:gd name="adj" fmla="val 16000"/>
            </a:avLst>
          </a:prstGeom>
          <a:solidFill>
            <a:srgbClr val="E8F5EF"/>
          </a:solidFill>
          <a:ln w="12700">
            <a:solidFill>
              <a:srgbClr val="00A86A"/>
            </a:solidFill>
            <a:prstDash val="solid"/>
          </a:ln>
        </p:spPr>
      </p:sp>
      <p:sp>
        <p:nvSpPr>
          <p:cNvPr id="27" name="Text 24"/>
          <p:cNvSpPr txBox="1"/>
          <p:nvPr/>
        </p:nvSpPr>
        <p:spPr>
          <a:xfrm>
            <a:off x="7452360"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12–13  </a:t>
            </a:r>
            <a:pPr algn="ctr" indent="0" marL="0">
              <a:buNone/>
            </a:pPr>
            <a:r>
              <a:rPr lang="en-US" sz="950" dirty="0">
                <a:solidFill>
                  <a:srgbClr val="231F20"/>
                </a:solidFill>
                <a:latin typeface="Calibri" pitchFamily="34" charset="0"/>
                <a:ea typeface="Calibri" pitchFamily="34" charset="-122"/>
                <a:cs typeface="Calibri" pitchFamily="34" charset="-120"/>
              </a:rPr>
              <a:t>Exporter et publier</a:t>
            </a:r>
            <a:endParaRPr lang="en-US" sz="950" dirty="0"/>
          </a:p>
        </p:txBody>
      </p:sp>
      <p:sp>
        <p:nvSpPr>
          <p:cNvPr id="28" name="Shape 25"/>
          <p:cNvSpPr/>
          <p:nvPr/>
        </p:nvSpPr>
        <p:spPr>
          <a:xfrm>
            <a:off x="457200" y="1965960"/>
            <a:ext cx="2606040" cy="1188720"/>
          </a:xfrm>
          <a:prstGeom prst="roundRect">
            <a:avLst>
              <a:gd name="adj" fmla="val 6154"/>
            </a:avLst>
          </a:prstGeom>
          <a:solidFill>
            <a:srgbClr val="F4F7F5"/>
          </a:solidFill>
          <a:ln w="9525">
            <a:solidFill>
              <a:srgbClr val="D5DED9"/>
            </a:solidFill>
            <a:prstDash val="solid"/>
          </a:ln>
        </p:spPr>
      </p:sp>
      <p:sp>
        <p:nvSpPr>
          <p:cNvPr id="29" name="Shape 26"/>
          <p:cNvSpPr/>
          <p:nvPr/>
        </p:nvSpPr>
        <p:spPr>
          <a:xfrm>
            <a:off x="585216" y="2093976"/>
            <a:ext cx="420624" cy="420624"/>
          </a:xfrm>
          <a:prstGeom prst="ellipse">
            <a:avLst/>
          </a:prstGeom>
          <a:solidFill>
            <a:srgbClr val="D49A00">
              <a:alpha val="22000"/>
            </a:srgbClr>
          </a:solidFill>
          <a:ln w="12700">
            <a:solidFill>
              <a:srgbClr val="D49A00">
                <a:alpha val="0"/>
              </a:srgbClr>
            </a:solidFill>
            <a:prstDash val="solid"/>
          </a:ln>
        </p:spPr>
      </p:sp>
      <p:pic>
        <p:nvPicPr>
          <p:cNvPr id="30" name="Image 0" descr="preencoded.png">    </p:cNvPr>
          <p:cNvPicPr>
            <a:picLocks noChangeAspect="1"/>
          </p:cNvPicPr>
          <p:nvPr/>
        </p:nvPicPr>
        <p:blipFill>
          <a:blip r:embed="rId1"/>
          <a:stretch>
            <a:fillRect/>
          </a:stretch>
        </p:blipFill>
        <p:spPr>
          <a:xfrm>
            <a:off x="686166" y="2194926"/>
            <a:ext cx="218724" cy="218724"/>
          </a:xfrm>
          <a:prstGeom prst="rect">
            <a:avLst/>
          </a:prstGeom>
        </p:spPr>
      </p:pic>
      <p:sp>
        <p:nvSpPr>
          <p:cNvPr id="31" name="Text 27"/>
          <p:cNvSpPr txBox="1"/>
          <p:nvPr/>
        </p:nvSpPr>
        <p:spPr>
          <a:xfrm>
            <a:off x="1097280" y="2075688"/>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S1 · Dynamique temporelle</a:t>
            </a:r>
            <a:endParaRPr lang="en-US" sz="1150" dirty="0"/>
          </a:p>
        </p:txBody>
      </p:sp>
      <p:sp>
        <p:nvSpPr>
          <p:cNvPr id="32" name="Text 28"/>
          <p:cNvSpPr txBox="1"/>
          <p:nvPr/>
        </p:nvSpPr>
        <p:spPr>
          <a:xfrm>
            <a:off x="1097280" y="2295144"/>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L'activité progresse-t-elle, et à quel rythme ?</a:t>
            </a:r>
            <a:endParaRPr lang="en-US" sz="950" dirty="0"/>
          </a:p>
        </p:txBody>
      </p:sp>
      <p:sp>
        <p:nvSpPr>
          <p:cNvPr id="33" name="Text 29"/>
          <p:cNvSpPr txBox="1"/>
          <p:nvPr/>
        </p:nvSpPr>
        <p:spPr>
          <a:xfrm>
            <a:off x="585216" y="2660904"/>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Série désaisonnalisée · glissement annuel · tendance %/an · anomalies · ruptures</a:t>
            </a:r>
            <a:endParaRPr lang="en-US" sz="900" dirty="0"/>
          </a:p>
        </p:txBody>
      </p:sp>
      <p:sp>
        <p:nvSpPr>
          <p:cNvPr id="34" name="Shape 30"/>
          <p:cNvSpPr/>
          <p:nvPr/>
        </p:nvSpPr>
        <p:spPr>
          <a:xfrm>
            <a:off x="3246120" y="1965960"/>
            <a:ext cx="2606040" cy="1188720"/>
          </a:xfrm>
          <a:prstGeom prst="roundRect">
            <a:avLst>
              <a:gd name="adj" fmla="val 6154"/>
            </a:avLst>
          </a:prstGeom>
          <a:solidFill>
            <a:srgbClr val="F4F7F5"/>
          </a:solidFill>
          <a:ln w="9525">
            <a:solidFill>
              <a:srgbClr val="D5DED9"/>
            </a:solidFill>
            <a:prstDash val="solid"/>
          </a:ln>
        </p:spPr>
      </p:sp>
      <p:sp>
        <p:nvSpPr>
          <p:cNvPr id="35" name="Shape 31"/>
          <p:cNvSpPr/>
          <p:nvPr/>
        </p:nvSpPr>
        <p:spPr>
          <a:xfrm>
            <a:off x="3374136" y="2093976"/>
            <a:ext cx="420624" cy="420624"/>
          </a:xfrm>
          <a:prstGeom prst="ellipse">
            <a:avLst/>
          </a:prstGeom>
          <a:solidFill>
            <a:srgbClr val="D49A00">
              <a:alpha val="22000"/>
            </a:srgbClr>
          </a:solidFill>
          <a:ln w="12700">
            <a:solidFill>
              <a:srgbClr val="D49A00">
                <a:alpha val="0"/>
              </a:srgbClr>
            </a:solidFill>
            <a:prstDash val="solid"/>
          </a:ln>
        </p:spPr>
      </p:sp>
      <p:pic>
        <p:nvPicPr>
          <p:cNvPr id="36" name="Image 1" descr="preencoded.png">    </p:cNvPr>
          <p:cNvPicPr>
            <a:picLocks noChangeAspect="1"/>
          </p:cNvPicPr>
          <p:nvPr/>
        </p:nvPicPr>
        <p:blipFill>
          <a:blip r:embed="rId2"/>
          <a:stretch>
            <a:fillRect/>
          </a:stretch>
        </p:blipFill>
        <p:spPr>
          <a:xfrm>
            <a:off x="3475086" y="2194926"/>
            <a:ext cx="218724" cy="218724"/>
          </a:xfrm>
          <a:prstGeom prst="rect">
            <a:avLst/>
          </a:prstGeom>
        </p:spPr>
      </p:pic>
      <p:sp>
        <p:nvSpPr>
          <p:cNvPr id="37" name="Text 32"/>
          <p:cNvSpPr txBox="1"/>
          <p:nvPr/>
        </p:nvSpPr>
        <p:spPr>
          <a:xfrm>
            <a:off x="3886200" y="2075688"/>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S2 · Croissance régionale</a:t>
            </a:r>
            <a:endParaRPr lang="en-US" sz="1150" dirty="0"/>
          </a:p>
        </p:txBody>
      </p:sp>
      <p:sp>
        <p:nvSpPr>
          <p:cNvPr id="38" name="Text 33"/>
          <p:cNvSpPr txBox="1"/>
          <p:nvPr/>
        </p:nvSpPr>
        <p:spPr>
          <a:xfrm>
            <a:off x="3886200" y="2295144"/>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Quelles régions croissent, et convergent-elles ?</a:t>
            </a:r>
            <a:endParaRPr lang="en-US" sz="950" dirty="0"/>
          </a:p>
        </p:txBody>
      </p:sp>
      <p:sp>
        <p:nvSpPr>
          <p:cNvPr id="39" name="Text 34"/>
          <p:cNvSpPr txBox="1"/>
          <p:nvPr/>
        </p:nvSpPr>
        <p:spPr>
          <a:xfrm>
            <a:off x="3374136" y="2660904"/>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Classe de croissance · parts top 1 / top 10 % · HHI · convergence β et σ</a:t>
            </a:r>
            <a:endParaRPr lang="en-US" sz="900" dirty="0"/>
          </a:p>
        </p:txBody>
      </p:sp>
      <p:sp>
        <p:nvSpPr>
          <p:cNvPr id="40" name="Shape 35"/>
          <p:cNvSpPr/>
          <p:nvPr/>
        </p:nvSpPr>
        <p:spPr>
          <a:xfrm>
            <a:off x="6035040" y="1965960"/>
            <a:ext cx="2606040" cy="1188720"/>
          </a:xfrm>
          <a:prstGeom prst="roundRect">
            <a:avLst>
              <a:gd name="adj" fmla="val 6154"/>
            </a:avLst>
          </a:prstGeom>
          <a:solidFill>
            <a:srgbClr val="F4F7F5"/>
          </a:solidFill>
          <a:ln w="9525">
            <a:solidFill>
              <a:srgbClr val="D5DED9"/>
            </a:solidFill>
            <a:prstDash val="solid"/>
          </a:ln>
        </p:spPr>
      </p:sp>
      <p:sp>
        <p:nvSpPr>
          <p:cNvPr id="41" name="Shape 36"/>
          <p:cNvSpPr/>
          <p:nvPr/>
        </p:nvSpPr>
        <p:spPr>
          <a:xfrm>
            <a:off x="6163056" y="2093976"/>
            <a:ext cx="420624" cy="420624"/>
          </a:xfrm>
          <a:prstGeom prst="ellipse">
            <a:avLst/>
          </a:prstGeom>
          <a:solidFill>
            <a:srgbClr val="D49A00">
              <a:alpha val="22000"/>
            </a:srgbClr>
          </a:solidFill>
          <a:ln w="12700">
            <a:solidFill>
              <a:srgbClr val="D49A00">
                <a:alpha val="0"/>
              </a:srgbClr>
            </a:solidFill>
            <a:prstDash val="solid"/>
          </a:ln>
        </p:spPr>
      </p:sp>
      <p:pic>
        <p:nvPicPr>
          <p:cNvPr id="42" name="Image 2" descr="preencoded.png">    </p:cNvPr>
          <p:cNvPicPr>
            <a:picLocks noChangeAspect="1"/>
          </p:cNvPicPr>
          <p:nvPr/>
        </p:nvPicPr>
        <p:blipFill>
          <a:blip r:embed="rId3"/>
          <a:stretch>
            <a:fillRect/>
          </a:stretch>
        </p:blipFill>
        <p:spPr>
          <a:xfrm>
            <a:off x="6264006" y="2194926"/>
            <a:ext cx="218724" cy="218724"/>
          </a:xfrm>
          <a:prstGeom prst="rect">
            <a:avLst/>
          </a:prstGeom>
        </p:spPr>
      </p:pic>
      <p:sp>
        <p:nvSpPr>
          <p:cNvPr id="43" name="Text 37"/>
          <p:cNvSpPr txBox="1"/>
          <p:nvPr/>
        </p:nvSpPr>
        <p:spPr>
          <a:xfrm>
            <a:off x="6675120" y="2075688"/>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S3 · Lumières et PIB</a:t>
            </a:r>
            <a:endParaRPr lang="en-US" sz="1150" dirty="0"/>
          </a:p>
        </p:txBody>
      </p:sp>
      <p:sp>
        <p:nvSpPr>
          <p:cNvPr id="44" name="Text 38"/>
          <p:cNvSpPr txBox="1"/>
          <p:nvPr/>
        </p:nvSpPr>
        <p:spPr>
          <a:xfrm>
            <a:off x="6675120" y="2295144"/>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Les lumières suivent-elles le PIB, et comblent-elles les manques ?</a:t>
            </a:r>
            <a:endParaRPr lang="en-US" sz="950" dirty="0"/>
          </a:p>
        </p:txBody>
      </p:sp>
      <p:sp>
        <p:nvSpPr>
          <p:cNvPr id="45" name="Text 39"/>
          <p:cNvSpPr txBox="1"/>
          <p:nvPr/>
        </p:nvSpPr>
        <p:spPr>
          <a:xfrm>
            <a:off x="6163056" y="2660904"/>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Élasticité β · prévision · MAE vs naïf · PIB régional</a:t>
            </a:r>
            <a:endParaRPr lang="en-US" sz="900" dirty="0"/>
          </a:p>
        </p:txBody>
      </p:sp>
      <p:sp>
        <p:nvSpPr>
          <p:cNvPr id="46" name="Shape 40"/>
          <p:cNvSpPr/>
          <p:nvPr/>
        </p:nvSpPr>
        <p:spPr>
          <a:xfrm>
            <a:off x="457200" y="3264408"/>
            <a:ext cx="2606040" cy="1188720"/>
          </a:xfrm>
          <a:prstGeom prst="roundRect">
            <a:avLst>
              <a:gd name="adj" fmla="val 6154"/>
            </a:avLst>
          </a:prstGeom>
          <a:solidFill>
            <a:srgbClr val="F4F7F5"/>
          </a:solidFill>
          <a:ln w="9525">
            <a:solidFill>
              <a:srgbClr val="D5DED9"/>
            </a:solidFill>
            <a:prstDash val="solid"/>
          </a:ln>
        </p:spPr>
      </p:sp>
      <p:sp>
        <p:nvSpPr>
          <p:cNvPr id="47" name="Shape 41"/>
          <p:cNvSpPr/>
          <p:nvPr/>
        </p:nvSpPr>
        <p:spPr>
          <a:xfrm>
            <a:off x="585216" y="3392424"/>
            <a:ext cx="420624" cy="420624"/>
          </a:xfrm>
          <a:prstGeom prst="ellipse">
            <a:avLst/>
          </a:prstGeom>
          <a:solidFill>
            <a:srgbClr val="D49A00">
              <a:alpha val="22000"/>
            </a:srgbClr>
          </a:solidFill>
          <a:ln w="12700">
            <a:solidFill>
              <a:srgbClr val="D49A00">
                <a:alpha val="0"/>
              </a:srgbClr>
            </a:solidFill>
            <a:prstDash val="solid"/>
          </a:ln>
        </p:spPr>
      </p:sp>
      <p:pic>
        <p:nvPicPr>
          <p:cNvPr id="48" name="Image 3" descr="preencoded.png">    </p:cNvPr>
          <p:cNvPicPr>
            <a:picLocks noChangeAspect="1"/>
          </p:cNvPicPr>
          <p:nvPr/>
        </p:nvPicPr>
        <p:blipFill>
          <a:blip r:embed="rId4"/>
          <a:stretch>
            <a:fillRect/>
          </a:stretch>
        </p:blipFill>
        <p:spPr>
          <a:xfrm>
            <a:off x="686166" y="3493374"/>
            <a:ext cx="218724" cy="218724"/>
          </a:xfrm>
          <a:prstGeom prst="rect">
            <a:avLst/>
          </a:prstGeom>
        </p:spPr>
      </p:pic>
      <p:sp>
        <p:nvSpPr>
          <p:cNvPr id="49" name="Text 42"/>
          <p:cNvSpPr txBox="1"/>
          <p:nvPr/>
        </p:nvSpPr>
        <p:spPr>
          <a:xfrm>
            <a:off x="1097280" y="3374136"/>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S4 · Chocs</a:t>
            </a:r>
            <a:endParaRPr lang="en-US" sz="1150" dirty="0"/>
          </a:p>
        </p:txBody>
      </p:sp>
      <p:sp>
        <p:nvSpPr>
          <p:cNvPr id="50" name="Text 43"/>
          <p:cNvSpPr txBox="1"/>
          <p:nvPr/>
        </p:nvSpPr>
        <p:spPr>
          <a:xfrm>
            <a:off x="1097280" y="3593592"/>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Quelle profondeur du choc, quelle vitesse de reprise ?</a:t>
            </a:r>
            <a:endParaRPr lang="en-US" sz="950" dirty="0"/>
          </a:p>
        </p:txBody>
      </p:sp>
      <p:sp>
        <p:nvSpPr>
          <p:cNvPr id="51" name="Text 44"/>
          <p:cNvSpPr txBox="1"/>
          <p:nvPr/>
        </p:nvSpPr>
        <p:spPr>
          <a:xfrm>
            <a:off x="585216" y="3959352"/>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Creux % · écart à la tendance · mois de reprise · placebo · indice quotidien</a:t>
            </a:r>
            <a:endParaRPr lang="en-US" sz="900" dirty="0"/>
          </a:p>
        </p:txBody>
      </p:sp>
      <p:sp>
        <p:nvSpPr>
          <p:cNvPr id="52" name="Shape 45"/>
          <p:cNvSpPr/>
          <p:nvPr/>
        </p:nvSpPr>
        <p:spPr>
          <a:xfrm>
            <a:off x="3246120" y="3264408"/>
            <a:ext cx="2606040" cy="1188720"/>
          </a:xfrm>
          <a:prstGeom prst="roundRect">
            <a:avLst>
              <a:gd name="adj" fmla="val 6154"/>
            </a:avLst>
          </a:prstGeom>
          <a:solidFill>
            <a:srgbClr val="F4F7F5"/>
          </a:solidFill>
          <a:ln w="9525">
            <a:solidFill>
              <a:srgbClr val="D5DED9"/>
            </a:solidFill>
            <a:prstDash val="solid"/>
          </a:ln>
        </p:spPr>
      </p:sp>
      <p:sp>
        <p:nvSpPr>
          <p:cNvPr id="53" name="Shape 46"/>
          <p:cNvSpPr/>
          <p:nvPr/>
        </p:nvSpPr>
        <p:spPr>
          <a:xfrm>
            <a:off x="3374136" y="3392424"/>
            <a:ext cx="420624" cy="420624"/>
          </a:xfrm>
          <a:prstGeom prst="ellipse">
            <a:avLst/>
          </a:prstGeom>
          <a:solidFill>
            <a:srgbClr val="D49A00">
              <a:alpha val="22000"/>
            </a:srgbClr>
          </a:solidFill>
          <a:ln w="12700">
            <a:solidFill>
              <a:srgbClr val="D49A00">
                <a:alpha val="0"/>
              </a:srgbClr>
            </a:solidFill>
            <a:prstDash val="solid"/>
          </a:ln>
        </p:spPr>
      </p:sp>
      <p:pic>
        <p:nvPicPr>
          <p:cNvPr id="54" name="Image 4" descr="preencoded.png">    </p:cNvPr>
          <p:cNvPicPr>
            <a:picLocks noChangeAspect="1"/>
          </p:cNvPicPr>
          <p:nvPr/>
        </p:nvPicPr>
        <p:blipFill>
          <a:blip r:embed="rId5"/>
          <a:stretch>
            <a:fillRect/>
          </a:stretch>
        </p:blipFill>
        <p:spPr>
          <a:xfrm>
            <a:off x="3475086" y="3493374"/>
            <a:ext cx="218724" cy="218724"/>
          </a:xfrm>
          <a:prstGeom prst="rect">
            <a:avLst/>
          </a:prstGeom>
        </p:spPr>
      </p:pic>
      <p:sp>
        <p:nvSpPr>
          <p:cNvPr id="55" name="Text 47"/>
          <p:cNvSpPr txBox="1"/>
          <p:nvPr/>
        </p:nvSpPr>
        <p:spPr>
          <a:xfrm>
            <a:off x="3886200" y="3374136"/>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S5 · Inégalités et accès</a:t>
            </a:r>
            <a:endParaRPr lang="en-US" sz="1150" dirty="0"/>
          </a:p>
        </p:txBody>
      </p:sp>
      <p:sp>
        <p:nvSpPr>
          <p:cNvPr id="56" name="Text 48"/>
          <p:cNvSpPr txBox="1"/>
          <p:nvPr/>
        </p:nvSpPr>
        <p:spPr>
          <a:xfrm>
            <a:off x="3886200" y="3593592"/>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Quelle inégalité de lumière, et qui vit dans le noir ?</a:t>
            </a:r>
            <a:endParaRPr lang="en-US" sz="950" dirty="0"/>
          </a:p>
        </p:txBody>
      </p:sp>
      <p:sp>
        <p:nvSpPr>
          <p:cNvPr id="57" name="Text 49"/>
          <p:cNvSpPr txBox="1"/>
          <p:nvPr/>
        </p:nvSpPr>
        <p:spPr>
          <a:xfrm>
            <a:off x="3374136" y="3959352"/>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Gini · Lorenz · Theil T · ratio urbain/rural · population dans le noir</a:t>
            </a:r>
            <a:endParaRPr lang="en-US" sz="900" dirty="0"/>
          </a:p>
        </p:txBody>
      </p:sp>
      <p:sp>
        <p:nvSpPr>
          <p:cNvPr id="58" name="Shape 50"/>
          <p:cNvSpPr/>
          <p:nvPr/>
        </p:nvSpPr>
        <p:spPr>
          <a:xfrm>
            <a:off x="6035040" y="3264408"/>
            <a:ext cx="2606040" cy="1188720"/>
          </a:xfrm>
          <a:prstGeom prst="roundRect">
            <a:avLst>
              <a:gd name="adj" fmla="val 6154"/>
            </a:avLst>
          </a:prstGeom>
          <a:solidFill>
            <a:srgbClr val="F4F7F5"/>
          </a:solidFill>
          <a:ln w="9525">
            <a:solidFill>
              <a:srgbClr val="D5DED9"/>
            </a:solidFill>
            <a:prstDash val="solid"/>
          </a:ln>
        </p:spPr>
      </p:sp>
      <p:sp>
        <p:nvSpPr>
          <p:cNvPr id="59" name="Shape 51"/>
          <p:cNvSpPr/>
          <p:nvPr/>
        </p:nvSpPr>
        <p:spPr>
          <a:xfrm>
            <a:off x="6163056" y="3392424"/>
            <a:ext cx="420624" cy="420624"/>
          </a:xfrm>
          <a:prstGeom prst="ellipse">
            <a:avLst/>
          </a:prstGeom>
          <a:solidFill>
            <a:srgbClr val="D49A00">
              <a:alpha val="22000"/>
            </a:srgbClr>
          </a:solidFill>
          <a:ln w="12700">
            <a:solidFill>
              <a:srgbClr val="D49A00">
                <a:alpha val="0"/>
              </a:srgbClr>
            </a:solidFill>
            <a:prstDash val="solid"/>
          </a:ln>
        </p:spPr>
      </p:sp>
      <p:pic>
        <p:nvPicPr>
          <p:cNvPr id="60" name="Image 5" descr="preencoded.png">    </p:cNvPr>
          <p:cNvPicPr>
            <a:picLocks noChangeAspect="1"/>
          </p:cNvPicPr>
          <p:nvPr/>
        </p:nvPicPr>
        <p:blipFill>
          <a:blip r:embed="rId6"/>
          <a:stretch>
            <a:fillRect/>
          </a:stretch>
        </p:blipFill>
        <p:spPr>
          <a:xfrm>
            <a:off x="6264006" y="3493374"/>
            <a:ext cx="218724" cy="218724"/>
          </a:xfrm>
          <a:prstGeom prst="rect">
            <a:avLst/>
          </a:prstGeom>
        </p:spPr>
      </p:pic>
      <p:sp>
        <p:nvSpPr>
          <p:cNvPr id="61" name="Text 52"/>
          <p:cNvSpPr txBox="1"/>
          <p:nvPr/>
        </p:nvSpPr>
        <p:spPr>
          <a:xfrm>
            <a:off x="6675120" y="3374136"/>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S6 · Zones industrielles</a:t>
            </a:r>
            <a:endParaRPr lang="en-US" sz="1150" dirty="0"/>
          </a:p>
        </p:txBody>
      </p:sp>
      <p:sp>
        <p:nvSpPr>
          <p:cNvPr id="62" name="Text 53"/>
          <p:cNvSpPr txBox="1"/>
          <p:nvPr/>
        </p:nvSpPr>
        <p:spPr>
          <a:xfrm>
            <a:off x="6675120" y="3593592"/>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Où le pays produit-il ?</a:t>
            </a:r>
            <a:endParaRPr lang="en-US" sz="950" dirty="0"/>
          </a:p>
        </p:txBody>
      </p:sp>
      <p:sp>
        <p:nvSpPr>
          <p:cNvPr id="63" name="Text 54"/>
          <p:cNvSpPr txBox="1"/>
          <p:nvPr/>
        </p:nvSpPr>
        <p:spPr>
          <a:xfrm>
            <a:off x="6163056" y="3959352"/>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Score industriel · part et tendance des zones · précision / rappel vs OSM</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DONNÉES (1/3)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Données de lumière : quatre produits, quatre rôles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4023360" cy="1463040"/>
          </a:xfrm>
          <a:prstGeom prst="roundRect">
            <a:avLst>
              <a:gd name="adj" fmla="val 5000"/>
            </a:avLst>
          </a:prstGeom>
          <a:solidFill>
            <a:srgbClr val="E8F5EF"/>
          </a:solidFill>
          <a:ln w="15875">
            <a:solidFill>
              <a:srgbClr val="00A86A"/>
            </a:solidFill>
            <a:prstDash val="solid"/>
          </a:ln>
        </p:spPr>
      </p:sp>
      <p:sp>
        <p:nvSpPr>
          <p:cNvPr id="12" name="Shape 9"/>
          <p:cNvSpPr/>
          <p:nvPr/>
        </p:nvSpPr>
        <p:spPr>
          <a:xfrm>
            <a:off x="585216" y="1453896"/>
            <a:ext cx="457200" cy="457200"/>
          </a:xfrm>
          <a:prstGeom prst="ellipse">
            <a:avLst/>
          </a:prstGeom>
          <a:solidFill>
            <a:srgbClr val="00A86A">
              <a:alpha val="22000"/>
            </a:srgbClr>
          </a:solidFill>
          <a:ln w="12700">
            <a:solidFill>
              <a:srgbClr val="00A86A">
                <a:alpha val="0"/>
              </a:srgbClr>
            </a:solidFill>
            <a:prstDash val="solid"/>
          </a:ln>
        </p:spPr>
      </p:sp>
      <p:pic>
        <p:nvPicPr>
          <p:cNvPr id="13" name="Image 0" descr="preencoded.png">    </p:cNvPr>
          <p:cNvPicPr>
            <a:picLocks noChangeAspect="1"/>
          </p:cNvPicPr>
          <p:nvPr/>
        </p:nvPicPr>
        <p:blipFill>
          <a:blip r:embed="rId1"/>
          <a:stretch>
            <a:fillRect/>
          </a:stretch>
        </p:blipFill>
        <p:spPr>
          <a:xfrm>
            <a:off x="694944" y="1563624"/>
            <a:ext cx="237744" cy="237744"/>
          </a:xfrm>
          <a:prstGeom prst="rect">
            <a:avLst/>
          </a:prstGeom>
        </p:spPr>
      </p:pic>
      <p:sp>
        <p:nvSpPr>
          <p:cNvPr id="14" name="Text 10"/>
          <p:cNvSpPr txBox="1"/>
          <p:nvPr/>
        </p:nvSpPr>
        <p:spPr>
          <a:xfrm>
            <a:off x="114300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VIIRS VNL V2 · mensuel</a:t>
            </a:r>
            <a:endParaRPr lang="en-US" sz="1200" dirty="0"/>
          </a:p>
        </p:txBody>
      </p:sp>
      <p:sp>
        <p:nvSpPr>
          <p:cNvPr id="15" name="Text 11"/>
          <p:cNvSpPr txBox="1"/>
          <p:nvPr/>
        </p:nvSpPr>
        <p:spPr>
          <a:xfrm>
            <a:off x="114300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NOAA/VIIRS/DNB/MONTHLY_V1/VCMSLCFG</a:t>
            </a:r>
            <a:endParaRPr lang="en-US" sz="850" dirty="0"/>
          </a:p>
        </p:txBody>
      </p:sp>
      <p:sp>
        <p:nvSpPr>
          <p:cNvPr id="16" name="Text 12"/>
          <p:cNvSpPr txBox="1"/>
          <p:nvPr/>
        </p:nvSpPr>
        <p:spPr>
          <a:xfrm>
            <a:off x="585216" y="19842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2014 → · ~464 m · avg_rad (nW·cm⁻²·sr⁻¹) + cf_cvg</a:t>
            </a:r>
            <a:endParaRPr lang="en-US" sz="950" dirty="0"/>
          </a:p>
        </p:txBody>
      </p:sp>
      <p:sp>
        <p:nvSpPr>
          <p:cNvPr id="17" name="Text 13"/>
          <p:cNvSpPr txBox="1"/>
          <p:nvPr/>
        </p:nvSpPr>
        <p:spPr>
          <a:xfrm>
            <a:off x="585216" y="21945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Radiance mensuelle corrigée de la lumière parasite ; cf_cvg = nuits claires</a:t>
            </a:r>
            <a:endParaRPr lang="en-US" sz="950" dirty="0"/>
          </a:p>
        </p:txBody>
      </p:sp>
      <p:sp>
        <p:nvSpPr>
          <p:cNvPr id="18" name="Text 14"/>
          <p:cNvSpPr txBox="1"/>
          <p:nvPr/>
        </p:nvSpPr>
        <p:spPr>
          <a:xfrm>
            <a:off x="585216" y="24688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S1 saisonnalité, S3 prévision, S4 chocs</a:t>
            </a:r>
            <a:endParaRPr lang="en-US" sz="950" dirty="0"/>
          </a:p>
        </p:txBody>
      </p:sp>
      <p:sp>
        <p:nvSpPr>
          <p:cNvPr id="19" name="Shape 15"/>
          <p:cNvSpPr/>
          <p:nvPr/>
        </p:nvSpPr>
        <p:spPr>
          <a:xfrm>
            <a:off x="4663440" y="1325880"/>
            <a:ext cx="4023360" cy="1463040"/>
          </a:xfrm>
          <a:prstGeom prst="roundRect">
            <a:avLst>
              <a:gd name="adj" fmla="val 5000"/>
            </a:avLst>
          </a:prstGeom>
          <a:solidFill>
            <a:srgbClr val="F4F7F5"/>
          </a:solidFill>
          <a:ln w="9525">
            <a:solidFill>
              <a:srgbClr val="D5DED9"/>
            </a:solidFill>
            <a:prstDash val="solid"/>
          </a:ln>
        </p:spPr>
      </p:sp>
      <p:sp>
        <p:nvSpPr>
          <p:cNvPr id="20" name="Shape 16"/>
          <p:cNvSpPr/>
          <p:nvPr/>
        </p:nvSpPr>
        <p:spPr>
          <a:xfrm>
            <a:off x="4791456" y="1453896"/>
            <a:ext cx="457200" cy="457200"/>
          </a:xfrm>
          <a:prstGeom prst="ellipse">
            <a:avLst/>
          </a:prstGeom>
          <a:solidFill>
            <a:srgbClr val="00A86A">
              <a:alpha val="22000"/>
            </a:srgbClr>
          </a:solidFill>
          <a:ln w="12700">
            <a:solidFill>
              <a:srgbClr val="00A86A">
                <a:alpha val="0"/>
              </a:srgbClr>
            </a:solidFill>
            <a:prstDash val="solid"/>
          </a:ln>
        </p:spPr>
      </p:sp>
      <p:pic>
        <p:nvPicPr>
          <p:cNvPr id="21" name="Image 1" descr="preencoded.png">    </p:cNvPr>
          <p:cNvPicPr>
            <a:picLocks noChangeAspect="1"/>
          </p:cNvPicPr>
          <p:nvPr/>
        </p:nvPicPr>
        <p:blipFill>
          <a:blip r:embed="rId2"/>
          <a:stretch>
            <a:fillRect/>
          </a:stretch>
        </p:blipFill>
        <p:spPr>
          <a:xfrm>
            <a:off x="4901184" y="1563624"/>
            <a:ext cx="237744" cy="237744"/>
          </a:xfrm>
          <a:prstGeom prst="rect">
            <a:avLst/>
          </a:prstGeom>
        </p:spPr>
      </p:pic>
      <p:sp>
        <p:nvSpPr>
          <p:cNvPr id="22" name="Text 17"/>
          <p:cNvSpPr txBox="1"/>
          <p:nvPr/>
        </p:nvSpPr>
        <p:spPr>
          <a:xfrm>
            <a:off x="534924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VIIRS VNL V2.1 / V2.2 · annuel</a:t>
            </a:r>
            <a:endParaRPr lang="en-US" sz="1200" dirty="0"/>
          </a:p>
        </p:txBody>
      </p:sp>
      <p:sp>
        <p:nvSpPr>
          <p:cNvPr id="23" name="Text 18"/>
          <p:cNvSpPr txBox="1"/>
          <p:nvPr/>
        </p:nvSpPr>
        <p:spPr>
          <a:xfrm>
            <a:off x="534924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NOAA/VIIRS/DNB/ANNUAL_V21 · _V22</a:t>
            </a:r>
            <a:endParaRPr lang="en-US" sz="850" dirty="0"/>
          </a:p>
        </p:txBody>
      </p:sp>
      <p:sp>
        <p:nvSpPr>
          <p:cNvPr id="24" name="Text 19"/>
          <p:cNvSpPr txBox="1"/>
          <p:nvPr/>
        </p:nvSpPr>
        <p:spPr>
          <a:xfrm>
            <a:off x="4791456" y="19842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2013–2021 / 2022 → · ~464 m · average_masked</a:t>
            </a:r>
            <a:endParaRPr lang="en-US" sz="950" dirty="0"/>
          </a:p>
        </p:txBody>
      </p:sp>
      <p:sp>
        <p:nvSpPr>
          <p:cNvPr id="25" name="Text 20"/>
          <p:cNvSpPr txBox="1"/>
          <p:nvPr/>
        </p:nvSpPr>
        <p:spPr>
          <a:xfrm>
            <a:off x="4791456" y="21945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Radiance annuelle, fond et lumières éphémères masqués par l'EOG</a:t>
            </a:r>
            <a:endParaRPr lang="en-US" sz="950" dirty="0"/>
          </a:p>
        </p:txBody>
      </p:sp>
      <p:sp>
        <p:nvSpPr>
          <p:cNvPr id="26" name="Text 21"/>
          <p:cNvSpPr txBox="1"/>
          <p:nvPr/>
        </p:nvSpPr>
        <p:spPr>
          <a:xfrm>
            <a:off x="4791456" y="24688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Niveaux annuels de S1–S3, S5, S6 ; masque de fond</a:t>
            </a:r>
            <a:endParaRPr lang="en-US" sz="950" dirty="0"/>
          </a:p>
        </p:txBody>
      </p:sp>
      <p:sp>
        <p:nvSpPr>
          <p:cNvPr id="27" name="Shape 22"/>
          <p:cNvSpPr/>
          <p:nvPr/>
        </p:nvSpPr>
        <p:spPr>
          <a:xfrm>
            <a:off x="457200" y="2926080"/>
            <a:ext cx="4023360" cy="1463040"/>
          </a:xfrm>
          <a:prstGeom prst="roundRect">
            <a:avLst>
              <a:gd name="adj" fmla="val 5000"/>
            </a:avLst>
          </a:prstGeom>
          <a:solidFill>
            <a:srgbClr val="F4F7F5"/>
          </a:solidFill>
          <a:ln w="9525">
            <a:solidFill>
              <a:srgbClr val="D5DED9"/>
            </a:solidFill>
            <a:prstDash val="solid"/>
          </a:ln>
        </p:spPr>
      </p:sp>
      <p:sp>
        <p:nvSpPr>
          <p:cNvPr id="28" name="Shape 23"/>
          <p:cNvSpPr/>
          <p:nvPr/>
        </p:nvSpPr>
        <p:spPr>
          <a:xfrm>
            <a:off x="585216" y="3054096"/>
            <a:ext cx="457200" cy="45720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r>
          <p:cNvPicPr>
            <a:picLocks noChangeAspect="1"/>
          </p:cNvPicPr>
          <p:nvPr/>
        </p:nvPicPr>
        <p:blipFill>
          <a:blip r:embed="rId3"/>
          <a:stretch>
            <a:fillRect/>
          </a:stretch>
        </p:blipFill>
        <p:spPr>
          <a:xfrm>
            <a:off x="694944" y="3163824"/>
            <a:ext cx="237744" cy="237744"/>
          </a:xfrm>
          <a:prstGeom prst="rect">
            <a:avLst/>
          </a:prstGeom>
        </p:spPr>
      </p:pic>
      <p:sp>
        <p:nvSpPr>
          <p:cNvPr id="30" name="Text 24"/>
          <p:cNvSpPr txBox="1"/>
          <p:nvPr/>
        </p:nvSpPr>
        <p:spPr>
          <a:xfrm>
            <a:off x="114300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Black Marble VNP46A2 · quotidien</a:t>
            </a:r>
            <a:endParaRPr lang="en-US" sz="1200" dirty="0"/>
          </a:p>
        </p:txBody>
      </p:sp>
      <p:sp>
        <p:nvSpPr>
          <p:cNvPr id="31" name="Text 25"/>
          <p:cNvSpPr txBox="1"/>
          <p:nvPr/>
        </p:nvSpPr>
        <p:spPr>
          <a:xfrm>
            <a:off x="114300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NASA/VIIRS/002/VNP46A2</a:t>
            </a:r>
            <a:endParaRPr lang="en-US" sz="850" dirty="0"/>
          </a:p>
        </p:txBody>
      </p:sp>
      <p:sp>
        <p:nvSpPr>
          <p:cNvPr id="32" name="Text 26"/>
          <p:cNvSpPr txBox="1"/>
          <p:nvPr/>
        </p:nvSpPr>
        <p:spPr>
          <a:xfrm>
            <a:off x="585216" y="35844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2012 → · ~500 m · correction BRDF / Lune</a:t>
            </a:r>
            <a:endParaRPr lang="en-US" sz="950" dirty="0"/>
          </a:p>
        </p:txBody>
      </p:sp>
      <p:sp>
        <p:nvSpPr>
          <p:cNvPr id="33" name="Text 27"/>
          <p:cNvSpPr txBox="1"/>
          <p:nvPr/>
        </p:nvSpPr>
        <p:spPr>
          <a:xfrm>
            <a:off x="585216" y="37947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Radiance de chaque nuit ; drapeau qualité 0–1, ciel clair, sans neige</a:t>
            </a:r>
            <a:endParaRPr lang="en-US" sz="950" dirty="0"/>
          </a:p>
        </p:txBody>
      </p:sp>
      <p:sp>
        <p:nvSpPr>
          <p:cNvPr id="34" name="Text 28"/>
          <p:cNvSpPr txBox="1"/>
          <p:nvPr/>
        </p:nvSpPr>
        <p:spPr>
          <a:xfrm>
            <a:off x="585216" y="40690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S4 indice quotidien autour des événements</a:t>
            </a:r>
            <a:endParaRPr lang="en-US" sz="950" dirty="0"/>
          </a:p>
        </p:txBody>
      </p:sp>
      <p:sp>
        <p:nvSpPr>
          <p:cNvPr id="35" name="Shape 29"/>
          <p:cNvSpPr/>
          <p:nvPr/>
        </p:nvSpPr>
        <p:spPr>
          <a:xfrm>
            <a:off x="4663440" y="2926080"/>
            <a:ext cx="4023360" cy="1463040"/>
          </a:xfrm>
          <a:prstGeom prst="roundRect">
            <a:avLst>
              <a:gd name="adj" fmla="val 5000"/>
            </a:avLst>
          </a:prstGeom>
          <a:solidFill>
            <a:srgbClr val="F4F7F5"/>
          </a:solidFill>
          <a:ln w="9525">
            <a:solidFill>
              <a:srgbClr val="D5DED9"/>
            </a:solidFill>
            <a:prstDash val="solid"/>
          </a:ln>
        </p:spPr>
      </p:sp>
      <p:sp>
        <p:nvSpPr>
          <p:cNvPr id="36" name="Shape 30"/>
          <p:cNvSpPr/>
          <p:nvPr/>
        </p:nvSpPr>
        <p:spPr>
          <a:xfrm>
            <a:off x="4791456" y="3054096"/>
            <a:ext cx="457200" cy="457200"/>
          </a:xfrm>
          <a:prstGeom prst="ellipse">
            <a:avLst/>
          </a:prstGeom>
          <a:solidFill>
            <a:srgbClr val="00A86A">
              <a:alpha val="22000"/>
            </a:srgbClr>
          </a:solidFill>
          <a:ln w="12700">
            <a:solidFill>
              <a:srgbClr val="00A86A">
                <a:alpha val="0"/>
              </a:srgbClr>
            </a:solidFill>
            <a:prstDash val="solid"/>
          </a:ln>
        </p:spPr>
      </p:sp>
      <p:pic>
        <p:nvPicPr>
          <p:cNvPr id="37" name="Image 3" descr="preencoded.png">    </p:cNvPr>
          <p:cNvPicPr>
            <a:picLocks noChangeAspect="1"/>
          </p:cNvPicPr>
          <p:nvPr/>
        </p:nvPicPr>
        <p:blipFill>
          <a:blip r:embed="rId4"/>
          <a:stretch>
            <a:fillRect/>
          </a:stretch>
        </p:blipFill>
        <p:spPr>
          <a:xfrm>
            <a:off x="4901184" y="3163824"/>
            <a:ext cx="237744" cy="237744"/>
          </a:xfrm>
          <a:prstGeom prst="rect">
            <a:avLst/>
          </a:prstGeom>
        </p:spPr>
      </p:pic>
      <p:sp>
        <p:nvSpPr>
          <p:cNvPr id="38" name="Text 31"/>
          <p:cNvSpPr txBox="1"/>
          <p:nvPr/>
        </p:nvSpPr>
        <p:spPr>
          <a:xfrm>
            <a:off x="534924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DMSP-OLS · harmonisé</a:t>
            </a:r>
            <a:endParaRPr lang="en-US" sz="1200" dirty="0"/>
          </a:p>
        </p:txBody>
      </p:sp>
      <p:sp>
        <p:nvSpPr>
          <p:cNvPr id="39" name="Text 32"/>
          <p:cNvSpPr txBox="1"/>
          <p:nvPr/>
        </p:nvSpPr>
        <p:spPr>
          <a:xfrm>
            <a:off x="534924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NOAA/DMSP-OLS · sat-io Harmonized_NTL</a:t>
            </a:r>
            <a:endParaRPr lang="en-US" sz="850" dirty="0"/>
          </a:p>
        </p:txBody>
      </p:sp>
      <p:sp>
        <p:nvSpPr>
          <p:cNvPr id="40" name="Text 33"/>
          <p:cNvSpPr txBox="1"/>
          <p:nvPr/>
        </p:nvSpPr>
        <p:spPr>
          <a:xfrm>
            <a:off x="4791456" y="35844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1992–2013 (+ VIIRS type DMSP) · ~1 km · DN 0–63</a:t>
            </a:r>
            <a:endParaRPr lang="en-US" sz="950" dirty="0"/>
          </a:p>
        </p:txBody>
      </p:sp>
      <p:sp>
        <p:nvSpPr>
          <p:cNvPr id="41" name="Text 34"/>
          <p:cNvSpPr txBox="1"/>
          <p:nvPr/>
        </p:nvSpPr>
        <p:spPr>
          <a:xfrm>
            <a:off x="4791456" y="37947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Nombres numériques, saturés à 63 en centre-ville ; DN &gt; 7 gardés</a:t>
            </a:r>
            <a:endParaRPr lang="en-US" sz="950" dirty="0"/>
          </a:p>
        </p:txBody>
      </p:sp>
      <p:sp>
        <p:nvSpPr>
          <p:cNvPr id="42" name="Text 35"/>
          <p:cNvSpPr txBox="1"/>
          <p:nvPr/>
        </p:nvSpPr>
        <p:spPr>
          <a:xfrm>
            <a:off x="4791456" y="40690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S1 série longue, S3 élasticité longue</a:t>
            </a:r>
            <a:endParaRPr lang="en-US" sz="950" dirty="0"/>
          </a:p>
        </p:txBody>
      </p:sp>
      <p:sp>
        <p:nvSpPr>
          <p:cNvPr id="43" name="Text 36"/>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Elvidge et al. (2017, 2021) ; Román et al. (2018) ; Li et al. (2020) · identifiants vérifiés dans le catalogue Earth Engine à chaque exécution</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DONNÉES (2/3)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Qui y vit, et qu'y a-t-on construit ?</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8229600" cy="566928"/>
          </a:xfrm>
          <a:prstGeom prst="roundRect">
            <a:avLst>
              <a:gd name="adj" fmla="val 9677"/>
            </a:avLst>
          </a:prstGeom>
          <a:solidFill>
            <a:srgbClr val="F4F7F5"/>
          </a:solidFill>
          <a:ln w="9525">
            <a:solidFill>
              <a:srgbClr val="D5DED9"/>
            </a:solidFill>
            <a:prstDash val="solid"/>
          </a:ln>
        </p:spPr>
      </p:sp>
      <p:sp>
        <p:nvSpPr>
          <p:cNvPr id="12" name="Shape 9"/>
          <p:cNvSpPr/>
          <p:nvPr/>
        </p:nvSpPr>
        <p:spPr>
          <a:xfrm>
            <a:off x="566928" y="1417320"/>
            <a:ext cx="384048" cy="384048"/>
          </a:xfrm>
          <a:prstGeom prst="ellipse">
            <a:avLst/>
          </a:prstGeom>
          <a:solidFill>
            <a:srgbClr val="0E7C86">
              <a:alpha val="22000"/>
            </a:srgbClr>
          </a:solidFill>
          <a:ln w="12700">
            <a:solidFill>
              <a:srgbClr val="0E7C86">
                <a:alpha val="0"/>
              </a:srgbClr>
            </a:solidFill>
            <a:prstDash val="solid"/>
          </a:ln>
        </p:spPr>
      </p:sp>
      <p:pic>
        <p:nvPicPr>
          <p:cNvPr id="13" name="Image 0" descr="preencoded.png">    </p:cNvPr>
          <p:cNvPicPr>
            <a:picLocks noChangeAspect="1"/>
          </p:cNvPicPr>
          <p:nvPr/>
        </p:nvPicPr>
        <p:blipFill>
          <a:blip r:embed="rId1"/>
          <a:stretch>
            <a:fillRect/>
          </a:stretch>
        </p:blipFill>
        <p:spPr>
          <a:xfrm>
            <a:off x="659100" y="1509492"/>
            <a:ext cx="199705" cy="199705"/>
          </a:xfrm>
          <a:prstGeom prst="rect">
            <a:avLst/>
          </a:prstGeom>
        </p:spPr>
      </p:pic>
      <p:sp>
        <p:nvSpPr>
          <p:cNvPr id="14" name="Text 10"/>
          <p:cNvSpPr txBox="1"/>
          <p:nvPr/>
        </p:nvSpPr>
        <p:spPr>
          <a:xfrm>
            <a:off x="1051560" y="138074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GHSL GHS-POP R2023A</a:t>
            </a:r>
            <a:endParaRPr lang="en-US" sz="1150" dirty="0"/>
          </a:p>
        </p:txBody>
      </p:sp>
      <p:sp>
        <p:nvSpPr>
          <p:cNvPr id="15" name="Text 11"/>
          <p:cNvSpPr txBox="1"/>
          <p:nvPr/>
        </p:nvSpPr>
        <p:spPr>
          <a:xfrm>
            <a:off x="1051560" y="162763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JRC/GHSL/P2023A/GHS_POP</a:t>
            </a:r>
            <a:endParaRPr lang="en-US" sz="800" dirty="0"/>
          </a:p>
        </p:txBody>
      </p:sp>
      <p:sp>
        <p:nvSpPr>
          <p:cNvPr id="16" name="Text 12"/>
          <p:cNvSpPr txBox="1"/>
          <p:nvPr/>
        </p:nvSpPr>
        <p:spPr>
          <a:xfrm>
            <a:off x="3840480" y="138074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100 m · 1975–2030, époques de 5 ans · population_count</a:t>
            </a:r>
            <a:endParaRPr lang="en-US" sz="950" dirty="0"/>
          </a:p>
        </p:txBody>
      </p:sp>
      <p:sp>
        <p:nvSpPr>
          <p:cNvPr id="17" name="Text 13"/>
          <p:cNvSpPr txBox="1"/>
          <p:nvPr/>
        </p:nvSpPr>
        <p:spPr>
          <a:xfrm>
            <a:off x="3840480" y="160020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Lumière par habitant (S2, S5), pixels habités ≥ 5 personnes, population dans le noir, test torchère</a:t>
            </a:r>
            <a:endParaRPr lang="en-US" sz="950" dirty="0"/>
          </a:p>
        </p:txBody>
      </p:sp>
      <p:sp>
        <p:nvSpPr>
          <p:cNvPr id="18" name="Shape 14"/>
          <p:cNvSpPr/>
          <p:nvPr/>
        </p:nvSpPr>
        <p:spPr>
          <a:xfrm>
            <a:off x="457200" y="1965960"/>
            <a:ext cx="8229600" cy="566928"/>
          </a:xfrm>
          <a:prstGeom prst="roundRect">
            <a:avLst>
              <a:gd name="adj" fmla="val 9677"/>
            </a:avLst>
          </a:prstGeom>
          <a:solidFill>
            <a:srgbClr val="F4F7F5"/>
          </a:solidFill>
          <a:ln w="9525">
            <a:solidFill>
              <a:srgbClr val="D5DED9"/>
            </a:solidFill>
            <a:prstDash val="solid"/>
          </a:ln>
        </p:spPr>
      </p:sp>
      <p:sp>
        <p:nvSpPr>
          <p:cNvPr id="19" name="Shape 15"/>
          <p:cNvSpPr/>
          <p:nvPr/>
        </p:nvSpPr>
        <p:spPr>
          <a:xfrm>
            <a:off x="566928" y="2057400"/>
            <a:ext cx="384048" cy="384048"/>
          </a:xfrm>
          <a:prstGeom prst="ellipse">
            <a:avLst/>
          </a:prstGeom>
          <a:solidFill>
            <a:srgbClr val="0E7C86">
              <a:alpha val="22000"/>
            </a:srgbClr>
          </a:solidFill>
          <a:ln w="12700">
            <a:solidFill>
              <a:srgbClr val="0E7C86">
                <a:alpha val="0"/>
              </a:srgbClr>
            </a:solidFill>
            <a:prstDash val="solid"/>
          </a:ln>
        </p:spPr>
      </p:sp>
      <p:pic>
        <p:nvPicPr>
          <p:cNvPr id="20" name="Image 1" descr="preencoded.png">    </p:cNvPr>
          <p:cNvPicPr>
            <a:picLocks noChangeAspect="1"/>
          </p:cNvPicPr>
          <p:nvPr/>
        </p:nvPicPr>
        <p:blipFill>
          <a:blip r:embed="rId2"/>
          <a:stretch>
            <a:fillRect/>
          </a:stretch>
        </p:blipFill>
        <p:spPr>
          <a:xfrm>
            <a:off x="659100" y="2149572"/>
            <a:ext cx="199705" cy="199705"/>
          </a:xfrm>
          <a:prstGeom prst="rect">
            <a:avLst/>
          </a:prstGeom>
        </p:spPr>
      </p:pic>
      <p:sp>
        <p:nvSpPr>
          <p:cNvPr id="21" name="Text 16"/>
          <p:cNvSpPr txBox="1"/>
          <p:nvPr/>
        </p:nvSpPr>
        <p:spPr>
          <a:xfrm>
            <a:off x="1051560" y="202082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WorldPop</a:t>
            </a:r>
            <a:endParaRPr lang="en-US" sz="1150" dirty="0"/>
          </a:p>
        </p:txBody>
      </p:sp>
      <p:sp>
        <p:nvSpPr>
          <p:cNvPr id="22" name="Text 17"/>
          <p:cNvSpPr txBox="1"/>
          <p:nvPr/>
        </p:nvSpPr>
        <p:spPr>
          <a:xfrm>
            <a:off x="1051560" y="226771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WorldPop/GP/100m/pop</a:t>
            </a:r>
            <a:endParaRPr lang="en-US" sz="800" dirty="0"/>
          </a:p>
        </p:txBody>
      </p:sp>
      <p:sp>
        <p:nvSpPr>
          <p:cNvPr id="23" name="Text 18"/>
          <p:cNvSpPr txBox="1"/>
          <p:nvPr/>
        </p:nvSpPr>
        <p:spPr>
          <a:xfrm>
            <a:off x="3840480" y="202082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~100 m · 2000–2020 · population</a:t>
            </a:r>
            <a:endParaRPr lang="en-US" sz="950" dirty="0"/>
          </a:p>
        </p:txBody>
      </p:sp>
      <p:sp>
        <p:nvSpPr>
          <p:cNvPr id="24" name="Text 19"/>
          <p:cNvSpPr txBox="1"/>
          <p:nvPr/>
        </p:nvSpPr>
        <p:spPr>
          <a:xfrm>
            <a:off x="3840480" y="224028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Source de population alternative (pop_source = "worldpop")</a:t>
            </a:r>
            <a:endParaRPr lang="en-US" sz="950" dirty="0"/>
          </a:p>
        </p:txBody>
      </p:sp>
      <p:sp>
        <p:nvSpPr>
          <p:cNvPr id="25" name="Shape 20"/>
          <p:cNvSpPr/>
          <p:nvPr/>
        </p:nvSpPr>
        <p:spPr>
          <a:xfrm>
            <a:off x="457200" y="2606040"/>
            <a:ext cx="8229600" cy="566928"/>
          </a:xfrm>
          <a:prstGeom prst="roundRect">
            <a:avLst>
              <a:gd name="adj" fmla="val 9677"/>
            </a:avLst>
          </a:prstGeom>
          <a:solidFill>
            <a:srgbClr val="F4F7F5"/>
          </a:solidFill>
          <a:ln w="9525">
            <a:solidFill>
              <a:srgbClr val="D5DED9"/>
            </a:solidFill>
            <a:prstDash val="solid"/>
          </a:ln>
        </p:spPr>
      </p:sp>
      <p:sp>
        <p:nvSpPr>
          <p:cNvPr id="26" name="Shape 21"/>
          <p:cNvSpPr/>
          <p:nvPr/>
        </p:nvSpPr>
        <p:spPr>
          <a:xfrm>
            <a:off x="566928" y="2697480"/>
            <a:ext cx="384048" cy="384048"/>
          </a:xfrm>
          <a:prstGeom prst="ellipse">
            <a:avLst/>
          </a:prstGeom>
          <a:solidFill>
            <a:srgbClr val="0E7C86">
              <a:alpha val="22000"/>
            </a:srgbClr>
          </a:solidFill>
          <a:ln w="12700">
            <a:solidFill>
              <a:srgbClr val="0E7C86">
                <a:alpha val="0"/>
              </a:srgbClr>
            </a:solidFill>
            <a:prstDash val="solid"/>
          </a:ln>
        </p:spPr>
      </p:sp>
      <p:pic>
        <p:nvPicPr>
          <p:cNvPr id="27" name="Image 2" descr="preencoded.png">    </p:cNvPr>
          <p:cNvPicPr>
            <a:picLocks noChangeAspect="1"/>
          </p:cNvPicPr>
          <p:nvPr/>
        </p:nvPicPr>
        <p:blipFill>
          <a:blip r:embed="rId3"/>
          <a:stretch>
            <a:fillRect/>
          </a:stretch>
        </p:blipFill>
        <p:spPr>
          <a:xfrm>
            <a:off x="659100" y="2789652"/>
            <a:ext cx="199705" cy="199705"/>
          </a:xfrm>
          <a:prstGeom prst="rect">
            <a:avLst/>
          </a:prstGeom>
        </p:spPr>
      </p:pic>
      <p:sp>
        <p:nvSpPr>
          <p:cNvPr id="28" name="Text 22"/>
          <p:cNvSpPr txBox="1"/>
          <p:nvPr/>
        </p:nvSpPr>
        <p:spPr>
          <a:xfrm>
            <a:off x="1051560" y="266090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GHSL GHS-SMOD R2023A</a:t>
            </a:r>
            <a:endParaRPr lang="en-US" sz="1150" dirty="0"/>
          </a:p>
        </p:txBody>
      </p:sp>
      <p:sp>
        <p:nvSpPr>
          <p:cNvPr id="29" name="Text 23"/>
          <p:cNvSpPr txBox="1"/>
          <p:nvPr/>
        </p:nvSpPr>
        <p:spPr>
          <a:xfrm>
            <a:off x="1051560" y="290779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JRC/GHSL/P2023A/GHS_SMOD_V2-0</a:t>
            </a:r>
            <a:endParaRPr lang="en-US" sz="800" dirty="0"/>
          </a:p>
        </p:txBody>
      </p:sp>
      <p:sp>
        <p:nvSpPr>
          <p:cNvPr id="30" name="Text 24"/>
          <p:cNvSpPr txBox="1"/>
          <p:nvPr/>
        </p:nvSpPr>
        <p:spPr>
          <a:xfrm>
            <a:off x="3840480" y="266090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 km · époques de 5 ans · smod_code (degré d'urbanisation)</a:t>
            </a:r>
            <a:endParaRPr lang="en-US" sz="950" dirty="0"/>
          </a:p>
        </p:txBody>
      </p:sp>
      <p:sp>
        <p:nvSpPr>
          <p:cNvPr id="31" name="Text 25"/>
          <p:cNvSpPr txBox="1"/>
          <p:nvPr/>
        </p:nvSpPr>
        <p:spPr>
          <a:xfrm>
            <a:off x="3840480" y="288036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Urbain si code ≥ 21 → partage urbain / rural de la lumière et de la population dans le noir (S5)</a:t>
            </a:r>
            <a:endParaRPr lang="en-US" sz="950" dirty="0"/>
          </a:p>
        </p:txBody>
      </p:sp>
      <p:sp>
        <p:nvSpPr>
          <p:cNvPr id="32" name="Shape 26"/>
          <p:cNvSpPr/>
          <p:nvPr/>
        </p:nvSpPr>
        <p:spPr>
          <a:xfrm>
            <a:off x="457200" y="3246120"/>
            <a:ext cx="8229600" cy="566928"/>
          </a:xfrm>
          <a:prstGeom prst="roundRect">
            <a:avLst>
              <a:gd name="adj" fmla="val 9677"/>
            </a:avLst>
          </a:prstGeom>
          <a:solidFill>
            <a:srgbClr val="F4F7F5"/>
          </a:solidFill>
          <a:ln w="9525">
            <a:solidFill>
              <a:srgbClr val="D5DED9"/>
            </a:solidFill>
            <a:prstDash val="solid"/>
          </a:ln>
        </p:spPr>
      </p:sp>
      <p:sp>
        <p:nvSpPr>
          <p:cNvPr id="33" name="Shape 27"/>
          <p:cNvSpPr/>
          <p:nvPr/>
        </p:nvSpPr>
        <p:spPr>
          <a:xfrm>
            <a:off x="566928" y="3337560"/>
            <a:ext cx="384048" cy="384048"/>
          </a:xfrm>
          <a:prstGeom prst="ellipse">
            <a:avLst/>
          </a:prstGeom>
          <a:solidFill>
            <a:srgbClr val="0E7C86">
              <a:alpha val="22000"/>
            </a:srgbClr>
          </a:solidFill>
          <a:ln w="12700">
            <a:solidFill>
              <a:srgbClr val="0E7C86">
                <a:alpha val="0"/>
              </a:srgbClr>
            </a:solidFill>
            <a:prstDash val="solid"/>
          </a:ln>
        </p:spPr>
      </p:sp>
      <p:pic>
        <p:nvPicPr>
          <p:cNvPr id="34" name="Image 3" descr="preencoded.png">    </p:cNvPr>
          <p:cNvPicPr>
            <a:picLocks noChangeAspect="1"/>
          </p:cNvPicPr>
          <p:nvPr/>
        </p:nvPicPr>
        <p:blipFill>
          <a:blip r:embed="rId4"/>
          <a:stretch>
            <a:fillRect/>
          </a:stretch>
        </p:blipFill>
        <p:spPr>
          <a:xfrm>
            <a:off x="659100" y="3429732"/>
            <a:ext cx="199705" cy="199705"/>
          </a:xfrm>
          <a:prstGeom prst="rect">
            <a:avLst/>
          </a:prstGeom>
        </p:spPr>
      </p:pic>
      <p:sp>
        <p:nvSpPr>
          <p:cNvPr id="35" name="Text 28"/>
          <p:cNvSpPr txBox="1"/>
          <p:nvPr/>
        </p:nvSpPr>
        <p:spPr>
          <a:xfrm>
            <a:off x="1051560" y="330098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GHSL GHS-BUILT-S R2023A</a:t>
            </a:r>
            <a:endParaRPr lang="en-US" sz="1150" dirty="0"/>
          </a:p>
        </p:txBody>
      </p:sp>
      <p:sp>
        <p:nvSpPr>
          <p:cNvPr id="36" name="Text 29"/>
          <p:cNvSpPr txBox="1"/>
          <p:nvPr/>
        </p:nvSpPr>
        <p:spPr>
          <a:xfrm>
            <a:off x="1051560" y="354787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JRC/GHSL/P2023A/GHS_BUILT_S</a:t>
            </a:r>
            <a:endParaRPr lang="en-US" sz="800" dirty="0"/>
          </a:p>
        </p:txBody>
      </p:sp>
      <p:sp>
        <p:nvSpPr>
          <p:cNvPr id="37" name="Text 30"/>
          <p:cNvSpPr txBox="1"/>
          <p:nvPr/>
        </p:nvSpPr>
        <p:spPr>
          <a:xfrm>
            <a:off x="3840480" y="330098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100 m (issu du 10 m) · built_surface, built_surface_nres</a:t>
            </a:r>
            <a:endParaRPr lang="en-US" sz="950" dirty="0"/>
          </a:p>
        </p:txBody>
      </p:sp>
      <p:sp>
        <p:nvSpPr>
          <p:cNvPr id="38" name="Text 31"/>
          <p:cNvSpPr txBox="1"/>
          <p:nvPr/>
        </p:nvSpPr>
        <p:spPr>
          <a:xfrm>
            <a:off x="3840480" y="352044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Part non résidentielle du score industriel (S6) ; test « non bâti » des torchères</a:t>
            </a:r>
            <a:endParaRPr lang="en-US" sz="950" dirty="0"/>
          </a:p>
        </p:txBody>
      </p:sp>
      <p:sp>
        <p:nvSpPr>
          <p:cNvPr id="39" name="Shape 32"/>
          <p:cNvSpPr/>
          <p:nvPr/>
        </p:nvSpPr>
        <p:spPr>
          <a:xfrm>
            <a:off x="457200" y="3886200"/>
            <a:ext cx="8229600" cy="566928"/>
          </a:xfrm>
          <a:prstGeom prst="roundRect">
            <a:avLst>
              <a:gd name="adj" fmla="val 9677"/>
            </a:avLst>
          </a:prstGeom>
          <a:solidFill>
            <a:srgbClr val="FFFFFF"/>
          </a:solidFill>
          <a:ln w="9525">
            <a:solidFill>
              <a:srgbClr val="D5DED9"/>
            </a:solidFill>
            <a:prstDash val="dash"/>
          </a:ln>
        </p:spPr>
      </p:sp>
      <p:sp>
        <p:nvSpPr>
          <p:cNvPr id="40" name="Shape 33"/>
          <p:cNvSpPr/>
          <p:nvPr/>
        </p:nvSpPr>
        <p:spPr>
          <a:xfrm>
            <a:off x="566928" y="3977640"/>
            <a:ext cx="384048" cy="384048"/>
          </a:xfrm>
          <a:prstGeom prst="ellipse">
            <a:avLst/>
          </a:prstGeom>
          <a:solidFill>
            <a:srgbClr val="A9B5B0">
              <a:alpha val="22000"/>
            </a:srgbClr>
          </a:solidFill>
          <a:ln w="12700">
            <a:solidFill>
              <a:srgbClr val="A9B5B0">
                <a:alpha val="0"/>
              </a:srgbClr>
            </a:solidFill>
            <a:prstDash val="solid"/>
          </a:ln>
        </p:spPr>
      </p:sp>
      <p:pic>
        <p:nvPicPr>
          <p:cNvPr id="41" name="Image 4" descr="preencoded.png">    </p:cNvPr>
          <p:cNvPicPr>
            <a:picLocks noChangeAspect="1"/>
          </p:cNvPicPr>
          <p:nvPr/>
        </p:nvPicPr>
        <p:blipFill>
          <a:blip r:embed="rId5"/>
          <a:stretch>
            <a:fillRect/>
          </a:stretch>
        </p:blipFill>
        <p:spPr>
          <a:xfrm>
            <a:off x="659100" y="4069812"/>
            <a:ext cx="199705" cy="199705"/>
          </a:xfrm>
          <a:prstGeom prst="rect">
            <a:avLst/>
          </a:prstGeom>
        </p:spPr>
      </p:pic>
      <p:sp>
        <p:nvSpPr>
          <p:cNvPr id="42" name="Text 34"/>
          <p:cNvSpPr txBox="1"/>
          <p:nvPr/>
        </p:nvSpPr>
        <p:spPr>
          <a:xfrm>
            <a:off x="1051560" y="394106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ESA WorldCover v200</a:t>
            </a:r>
            <a:endParaRPr lang="en-US" sz="1150" dirty="0"/>
          </a:p>
        </p:txBody>
      </p:sp>
      <p:sp>
        <p:nvSpPr>
          <p:cNvPr id="43" name="Text 35"/>
          <p:cNvSpPr txBox="1"/>
          <p:nvPr/>
        </p:nvSpPr>
        <p:spPr>
          <a:xfrm>
            <a:off x="1051560" y="418795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ESA/WorldCover/v200</a:t>
            </a:r>
            <a:endParaRPr lang="en-US" sz="800" dirty="0"/>
          </a:p>
        </p:txBody>
      </p:sp>
      <p:sp>
        <p:nvSpPr>
          <p:cNvPr id="44" name="Text 36"/>
          <p:cNvSpPr txBox="1"/>
          <p:nvPr/>
        </p:nvSpPr>
        <p:spPr>
          <a:xfrm>
            <a:off x="3840480" y="394106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 m · 2021 · 11 classes d'occupation du sol</a:t>
            </a:r>
            <a:endParaRPr lang="en-US" sz="950" dirty="0"/>
          </a:p>
        </p:txBody>
      </p:sp>
      <p:sp>
        <p:nvSpPr>
          <p:cNvPr id="45" name="Text 37"/>
          <p:cNvSpPr txBox="1"/>
          <p:nvPr/>
        </p:nvSpPr>
        <p:spPr>
          <a:xfrm>
            <a:off x="3840480" y="416052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Optionnel : parts arbres, cultures, bâti, sol nu, eau par unité — non utilisé par défaut</a:t>
            </a:r>
            <a:endParaRPr lang="en-US" sz="950" dirty="0"/>
          </a:p>
        </p:txBody>
      </p:sp>
      <p:sp>
        <p:nvSpPr>
          <p:cNvPr id="46" name="Text 38"/>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Schiavina et al. (2023) ; Pesaresi et al. (2023), JRC GHSL R2023A ; WorldPop (2018) ; Zanaga et al. (2022)</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DONNÉES (3/3)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Limites, statistiques officielles et données de validation</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4023360" cy="1463040"/>
          </a:xfrm>
          <a:prstGeom prst="roundRect">
            <a:avLst>
              <a:gd name="adj" fmla="val 5000"/>
            </a:avLst>
          </a:prstGeom>
          <a:solidFill>
            <a:srgbClr val="F4F7F5"/>
          </a:solidFill>
          <a:ln w="9525">
            <a:solidFill>
              <a:srgbClr val="D5DED9"/>
            </a:solidFill>
            <a:prstDash val="solid"/>
          </a:ln>
        </p:spPr>
      </p:sp>
      <p:sp>
        <p:nvSpPr>
          <p:cNvPr id="12" name="Shape 9"/>
          <p:cNvSpPr/>
          <p:nvPr/>
        </p:nvSpPr>
        <p:spPr>
          <a:xfrm>
            <a:off x="585216" y="1453896"/>
            <a:ext cx="457200" cy="457200"/>
          </a:xfrm>
          <a:prstGeom prst="ellipse">
            <a:avLst/>
          </a:prstGeom>
          <a:solidFill>
            <a:srgbClr val="C4621D">
              <a:alpha val="22000"/>
            </a:srgbClr>
          </a:solidFill>
          <a:ln w="12700">
            <a:solidFill>
              <a:srgbClr val="C4621D">
                <a:alpha val="0"/>
              </a:srgbClr>
            </a:solidFill>
            <a:prstDash val="solid"/>
          </a:ln>
        </p:spPr>
      </p:sp>
      <p:pic>
        <p:nvPicPr>
          <p:cNvPr id="13" name="Image 0" descr="preencoded.png">    </p:cNvPr>
          <p:cNvPicPr>
            <a:picLocks noChangeAspect="1"/>
          </p:cNvPicPr>
          <p:nvPr/>
        </p:nvPicPr>
        <p:blipFill>
          <a:blip r:embed="rId1"/>
          <a:stretch>
            <a:fillRect/>
          </a:stretch>
        </p:blipFill>
        <p:spPr>
          <a:xfrm>
            <a:off x="694944" y="1563624"/>
            <a:ext cx="237744" cy="237744"/>
          </a:xfrm>
          <a:prstGeom prst="rect">
            <a:avLst/>
          </a:prstGeom>
        </p:spPr>
      </p:pic>
      <p:sp>
        <p:nvSpPr>
          <p:cNvPr id="14" name="Text 10"/>
          <p:cNvSpPr txBox="1"/>
          <p:nvPr/>
        </p:nvSpPr>
        <p:spPr>
          <a:xfrm>
            <a:off x="114300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Sentinel-5P TROPOMI NO₂</a:t>
            </a:r>
            <a:endParaRPr lang="en-US" sz="1200" dirty="0"/>
          </a:p>
        </p:txBody>
      </p:sp>
      <p:sp>
        <p:nvSpPr>
          <p:cNvPr id="15" name="Text 11"/>
          <p:cNvSpPr txBox="1"/>
          <p:nvPr/>
        </p:nvSpPr>
        <p:spPr>
          <a:xfrm>
            <a:off x="114300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COPERNICUS/S5P/OFFL/L3_NO2</a:t>
            </a:r>
            <a:endParaRPr lang="en-US" sz="850" dirty="0"/>
          </a:p>
        </p:txBody>
      </p:sp>
      <p:sp>
        <p:nvSpPr>
          <p:cNvPr id="16" name="Text 12"/>
          <p:cNvSpPr txBox="1"/>
          <p:nvPr/>
        </p:nvSpPr>
        <p:spPr>
          <a:xfrm>
            <a:off x="585216" y="20116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2018-07 → · grille ~1,1 km · colonne troposphérique (mol/m²)</a:t>
            </a:r>
            <a:endParaRPr lang="en-US" sz="950" dirty="0"/>
          </a:p>
        </p:txBody>
      </p:sp>
      <p:sp>
        <p:nvSpPr>
          <p:cNvPr id="17" name="Text 13"/>
          <p:cNvSpPr txBox="1"/>
          <p:nvPr/>
        </p:nvSpPr>
        <p:spPr>
          <a:xfrm>
            <a:off x="585216" y="22585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Moyenne annuelle par unité ; ρ de Spearman avec la lumière (S2) ; 20 % du score industriel (S6)</a:t>
            </a:r>
            <a:endParaRPr lang="en-US" sz="950" dirty="0"/>
          </a:p>
        </p:txBody>
      </p:sp>
      <p:sp>
        <p:nvSpPr>
          <p:cNvPr id="18" name="Shape 14"/>
          <p:cNvSpPr/>
          <p:nvPr/>
        </p:nvSpPr>
        <p:spPr>
          <a:xfrm>
            <a:off x="4663440" y="1325880"/>
            <a:ext cx="4023360" cy="1463040"/>
          </a:xfrm>
          <a:prstGeom prst="roundRect">
            <a:avLst>
              <a:gd name="adj" fmla="val 5000"/>
            </a:avLst>
          </a:prstGeom>
          <a:solidFill>
            <a:srgbClr val="F4F7F5"/>
          </a:solidFill>
          <a:ln w="9525">
            <a:solidFill>
              <a:srgbClr val="D5DED9"/>
            </a:solidFill>
            <a:prstDash val="solid"/>
          </a:ln>
        </p:spPr>
      </p:sp>
      <p:sp>
        <p:nvSpPr>
          <p:cNvPr id="19" name="Shape 15"/>
          <p:cNvSpPr/>
          <p:nvPr/>
        </p:nvSpPr>
        <p:spPr>
          <a:xfrm>
            <a:off x="4791456" y="1453896"/>
            <a:ext cx="457200" cy="457200"/>
          </a:xfrm>
          <a:prstGeom prst="ellipse">
            <a:avLst/>
          </a:prstGeom>
          <a:solidFill>
            <a:srgbClr val="C4621D">
              <a:alpha val="22000"/>
            </a:srgbClr>
          </a:solidFill>
          <a:ln w="12700">
            <a:solidFill>
              <a:srgbClr val="C4621D">
                <a:alpha val="0"/>
              </a:srgbClr>
            </a:solidFill>
            <a:prstDash val="solid"/>
          </a:ln>
        </p:spPr>
      </p:sp>
      <p:pic>
        <p:nvPicPr>
          <p:cNvPr id="20" name="Image 1" descr="preencoded.png">    </p:cNvPr>
          <p:cNvPicPr>
            <a:picLocks noChangeAspect="1"/>
          </p:cNvPicPr>
          <p:nvPr/>
        </p:nvPicPr>
        <p:blipFill>
          <a:blip r:embed="rId2"/>
          <a:stretch>
            <a:fillRect/>
          </a:stretch>
        </p:blipFill>
        <p:spPr>
          <a:xfrm>
            <a:off x="4901184" y="1563624"/>
            <a:ext cx="237744" cy="237744"/>
          </a:xfrm>
          <a:prstGeom prst="rect">
            <a:avLst/>
          </a:prstGeom>
        </p:spPr>
      </p:pic>
      <p:sp>
        <p:nvSpPr>
          <p:cNvPr id="21" name="Text 16"/>
          <p:cNvSpPr txBox="1"/>
          <p:nvPr/>
        </p:nvSpPr>
        <p:spPr>
          <a:xfrm>
            <a:off x="534924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geoBoundaries CGAZ · FAO GAUL</a:t>
            </a:r>
            <a:endParaRPr lang="en-US" sz="1200" dirty="0"/>
          </a:p>
        </p:txBody>
      </p:sp>
      <p:sp>
        <p:nvSpPr>
          <p:cNvPr id="22" name="Text 17"/>
          <p:cNvSpPr txBox="1"/>
          <p:nvPr/>
        </p:nvSpPr>
        <p:spPr>
          <a:xfrm>
            <a:off x="534924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WM/geoLab/geoBoundaries/600 · FAO/GAUL/2025</a:t>
            </a:r>
            <a:endParaRPr lang="en-US" sz="850" dirty="0"/>
          </a:p>
        </p:txBody>
      </p:sp>
      <p:sp>
        <p:nvSpPr>
          <p:cNvPr id="23" name="Text 18"/>
          <p:cNvSpPr txBox="1"/>
          <p:nvPr/>
        </p:nvSpPr>
        <p:spPr>
          <a:xfrm>
            <a:off x="4791456" y="20116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ADM0 pays · ADM1 régions · ADM2 districts</a:t>
            </a:r>
            <a:endParaRPr lang="en-US" sz="950" dirty="0"/>
          </a:p>
        </p:txBody>
      </p:sp>
      <p:sp>
        <p:nvSpPr>
          <p:cNvPr id="24" name="Text 19"/>
          <p:cNvSpPr txBox="1"/>
          <p:nvPr/>
        </p:nvSpPr>
        <p:spPr>
          <a:xfrm>
            <a:off x="4791456" y="22585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Unités sur lesquelles chaque pixel est sommé ; GAUL 2025 puis 2015 si geoBoundaries échoue</a:t>
            </a:r>
            <a:endParaRPr lang="en-US" sz="950" dirty="0"/>
          </a:p>
        </p:txBody>
      </p:sp>
      <p:sp>
        <p:nvSpPr>
          <p:cNvPr id="25" name="Shape 20"/>
          <p:cNvSpPr/>
          <p:nvPr/>
        </p:nvSpPr>
        <p:spPr>
          <a:xfrm>
            <a:off x="457200" y="2926080"/>
            <a:ext cx="4023360" cy="1463040"/>
          </a:xfrm>
          <a:prstGeom prst="roundRect">
            <a:avLst>
              <a:gd name="adj" fmla="val 5000"/>
            </a:avLst>
          </a:prstGeom>
          <a:solidFill>
            <a:srgbClr val="F4F7F5"/>
          </a:solidFill>
          <a:ln w="9525">
            <a:solidFill>
              <a:srgbClr val="D5DED9"/>
            </a:solidFill>
            <a:prstDash val="solid"/>
          </a:ln>
        </p:spPr>
      </p:sp>
      <p:sp>
        <p:nvSpPr>
          <p:cNvPr id="26" name="Shape 21"/>
          <p:cNvSpPr/>
          <p:nvPr/>
        </p:nvSpPr>
        <p:spPr>
          <a:xfrm>
            <a:off x="585216" y="3054096"/>
            <a:ext cx="457200" cy="457200"/>
          </a:xfrm>
          <a:prstGeom prst="ellipse">
            <a:avLst/>
          </a:prstGeom>
          <a:solidFill>
            <a:srgbClr val="C4621D">
              <a:alpha val="22000"/>
            </a:srgbClr>
          </a:solidFill>
          <a:ln w="12700">
            <a:solidFill>
              <a:srgbClr val="C4621D">
                <a:alpha val="0"/>
              </a:srgbClr>
            </a:solidFill>
            <a:prstDash val="solid"/>
          </a:ln>
        </p:spPr>
      </p:sp>
      <p:pic>
        <p:nvPicPr>
          <p:cNvPr id="27" name="Image 2" descr="preencoded.png">    </p:cNvPr>
          <p:cNvPicPr>
            <a:picLocks noChangeAspect="1"/>
          </p:cNvPicPr>
          <p:nvPr/>
        </p:nvPicPr>
        <p:blipFill>
          <a:blip r:embed="rId3"/>
          <a:stretch>
            <a:fillRect/>
          </a:stretch>
        </p:blipFill>
        <p:spPr>
          <a:xfrm>
            <a:off x="694944" y="3163824"/>
            <a:ext cx="237744" cy="237744"/>
          </a:xfrm>
          <a:prstGeom prst="rect">
            <a:avLst/>
          </a:prstGeom>
        </p:spPr>
      </p:pic>
      <p:sp>
        <p:nvSpPr>
          <p:cNvPr id="28" name="Text 22"/>
          <p:cNvSpPr txBox="1"/>
          <p:nvPr/>
        </p:nvSpPr>
        <p:spPr>
          <a:xfrm>
            <a:off x="114300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Banque mondiale WDI (API)</a:t>
            </a:r>
            <a:endParaRPr lang="en-US" sz="1200" dirty="0"/>
          </a:p>
        </p:txBody>
      </p:sp>
      <p:sp>
        <p:nvSpPr>
          <p:cNvPr id="29" name="Text 23"/>
          <p:cNvSpPr txBox="1"/>
          <p:nvPr/>
        </p:nvSpPr>
        <p:spPr>
          <a:xfrm>
            <a:off x="114300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NY.GDP.MKTP.KD · EG.ELC.ACCS.ZS · SP.POP.TOTL …</a:t>
            </a:r>
            <a:endParaRPr lang="en-US" sz="850" dirty="0"/>
          </a:p>
        </p:txBody>
      </p:sp>
      <p:sp>
        <p:nvSpPr>
          <p:cNvPr id="30" name="Text 24"/>
          <p:cNvSpPr txBox="1"/>
          <p:nvPr/>
        </p:nvSpPr>
        <p:spPr>
          <a:xfrm>
            <a:off x="585216" y="36118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8 indicateurs · annuels · national</a:t>
            </a:r>
            <a:endParaRPr lang="en-US" sz="950" dirty="0"/>
          </a:p>
        </p:txBody>
      </p:sp>
      <p:sp>
        <p:nvSpPr>
          <p:cNvPr id="31" name="Text 25"/>
          <p:cNvSpPr txBox="1"/>
          <p:nvPr/>
        </p:nvSpPr>
        <p:spPr>
          <a:xfrm>
            <a:off x="585216" y="38587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PIB réel (S3), accès à l'électricité total / urbain / rural (S5), contrôle de population (±30 %)</a:t>
            </a:r>
            <a:endParaRPr lang="en-US" sz="950" dirty="0"/>
          </a:p>
        </p:txBody>
      </p:sp>
      <p:sp>
        <p:nvSpPr>
          <p:cNvPr id="32" name="Shape 26"/>
          <p:cNvSpPr/>
          <p:nvPr/>
        </p:nvSpPr>
        <p:spPr>
          <a:xfrm>
            <a:off x="4663440" y="2926080"/>
            <a:ext cx="4023360" cy="1463040"/>
          </a:xfrm>
          <a:prstGeom prst="roundRect">
            <a:avLst>
              <a:gd name="adj" fmla="val 5000"/>
            </a:avLst>
          </a:prstGeom>
          <a:solidFill>
            <a:srgbClr val="F4F7F5"/>
          </a:solidFill>
          <a:ln w="9525">
            <a:solidFill>
              <a:srgbClr val="D5DED9"/>
            </a:solidFill>
            <a:prstDash val="solid"/>
          </a:ln>
        </p:spPr>
      </p:sp>
      <p:sp>
        <p:nvSpPr>
          <p:cNvPr id="33" name="Shape 27"/>
          <p:cNvSpPr/>
          <p:nvPr/>
        </p:nvSpPr>
        <p:spPr>
          <a:xfrm>
            <a:off x="4791456" y="3054096"/>
            <a:ext cx="457200" cy="457200"/>
          </a:xfrm>
          <a:prstGeom prst="ellipse">
            <a:avLst/>
          </a:prstGeom>
          <a:solidFill>
            <a:srgbClr val="C4621D">
              <a:alpha val="22000"/>
            </a:srgbClr>
          </a:solidFill>
          <a:ln w="12700">
            <a:solidFill>
              <a:srgbClr val="C4621D">
                <a:alpha val="0"/>
              </a:srgbClr>
            </a:solidFill>
            <a:prstDash val="solid"/>
          </a:ln>
        </p:spPr>
      </p:sp>
      <p:pic>
        <p:nvPicPr>
          <p:cNvPr id="34" name="Image 3" descr="preencoded.png">    </p:cNvPr>
          <p:cNvPicPr>
            <a:picLocks noChangeAspect="1"/>
          </p:cNvPicPr>
          <p:nvPr/>
        </p:nvPicPr>
        <p:blipFill>
          <a:blip r:embed="rId4"/>
          <a:stretch>
            <a:fillRect/>
          </a:stretch>
        </p:blipFill>
        <p:spPr>
          <a:xfrm>
            <a:off x="4901184" y="3163824"/>
            <a:ext cx="237744" cy="237744"/>
          </a:xfrm>
          <a:prstGeom prst="rect">
            <a:avLst/>
          </a:prstGeom>
        </p:spPr>
      </p:pic>
      <p:sp>
        <p:nvSpPr>
          <p:cNvPr id="35" name="Text 28"/>
          <p:cNvSpPr txBox="1"/>
          <p:nvPr/>
        </p:nvSpPr>
        <p:spPr>
          <a:xfrm>
            <a:off x="534924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OpenStreetMap (Overpass)</a:t>
            </a:r>
            <a:endParaRPr lang="en-US" sz="1200" dirty="0"/>
          </a:p>
        </p:txBody>
      </p:sp>
      <p:sp>
        <p:nvSpPr>
          <p:cNvPr id="36" name="Text 29"/>
          <p:cNvSpPr txBox="1"/>
          <p:nvPr/>
        </p:nvSpPr>
        <p:spPr>
          <a:xfrm>
            <a:off x="534924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landuse = industrial</a:t>
            </a:r>
            <a:endParaRPr lang="en-US" sz="850" dirty="0"/>
          </a:p>
        </p:txBody>
      </p:sp>
      <p:sp>
        <p:nvSpPr>
          <p:cNvPr id="37" name="Text 30"/>
          <p:cNvSpPr txBox="1"/>
          <p:nvPr/>
        </p:nvSpPr>
        <p:spPr>
          <a:xfrm>
            <a:off x="4791456" y="36118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Polygones contributifs · complétude variable selon les pays</a:t>
            </a:r>
            <a:endParaRPr lang="en-US" sz="950" dirty="0"/>
          </a:p>
        </p:txBody>
      </p:sp>
      <p:sp>
        <p:nvSpPr>
          <p:cNvPr id="38" name="Text 31"/>
          <p:cNvSpPr txBox="1"/>
          <p:nvPr/>
        </p:nvSpPr>
        <p:spPr>
          <a:xfrm>
            <a:off x="4791456" y="38587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Rôle : </a:t>
            </a:r>
            <a:pPr indent="0" marL="0">
              <a:buNone/>
            </a:pPr>
            <a:r>
              <a:rPr lang="en-US" sz="950" dirty="0">
                <a:solidFill>
                  <a:srgbClr val="231F20"/>
                </a:solidFill>
                <a:latin typeface="Calibri" pitchFamily="34" charset="0"/>
                <a:ea typeface="Calibri" pitchFamily="34" charset="-122"/>
                <a:cs typeface="Calibri" pitchFamily="34" charset="-120"/>
              </a:rPr>
              <a:t>Validation uniquement : précision et rappel des zones candidates (S6)</a:t>
            </a:r>
            <a:endParaRPr lang="en-US" sz="950" dirty="0"/>
          </a:p>
        </p:txBody>
      </p:sp>
      <p:sp>
        <p:nvSpPr>
          <p:cNvPr id="39" name="Text 3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Copernicus Sentinel-5P (ESA) ; Runfola et al. (2020) ; FAO GAUL 2025 ; Banque mondiale WDI ; © contributeurs OpenStreetMap (ODbL)</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CARTE DES DONNÉES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Quelle donnée alimente quel scénario ?</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3017520" y="1325880"/>
            <a:ext cx="804672" cy="237744"/>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Nettoyage</a:t>
            </a:r>
            <a:endParaRPr lang="en-US" sz="1000" dirty="0"/>
          </a:p>
        </p:txBody>
      </p:sp>
      <p:sp>
        <p:nvSpPr>
          <p:cNvPr id="12" name="Text 9"/>
          <p:cNvSpPr txBox="1"/>
          <p:nvPr/>
        </p:nvSpPr>
        <p:spPr>
          <a:xfrm>
            <a:off x="3822192"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S1</a:t>
            </a:r>
            <a:endParaRPr lang="en-US" sz="1000" dirty="0"/>
          </a:p>
        </p:txBody>
      </p:sp>
      <p:sp>
        <p:nvSpPr>
          <p:cNvPr id="13" name="Text 10"/>
          <p:cNvSpPr txBox="1"/>
          <p:nvPr/>
        </p:nvSpPr>
        <p:spPr>
          <a:xfrm>
            <a:off x="4626864"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S2</a:t>
            </a:r>
            <a:endParaRPr lang="en-US" sz="1000" dirty="0"/>
          </a:p>
        </p:txBody>
      </p:sp>
      <p:sp>
        <p:nvSpPr>
          <p:cNvPr id="14" name="Text 11"/>
          <p:cNvSpPr txBox="1"/>
          <p:nvPr/>
        </p:nvSpPr>
        <p:spPr>
          <a:xfrm>
            <a:off x="5431536"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S3</a:t>
            </a:r>
            <a:endParaRPr lang="en-US" sz="1000" dirty="0"/>
          </a:p>
        </p:txBody>
      </p:sp>
      <p:sp>
        <p:nvSpPr>
          <p:cNvPr id="15" name="Text 12"/>
          <p:cNvSpPr txBox="1"/>
          <p:nvPr/>
        </p:nvSpPr>
        <p:spPr>
          <a:xfrm>
            <a:off x="6236208"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S4</a:t>
            </a:r>
            <a:endParaRPr lang="en-US" sz="1000" dirty="0"/>
          </a:p>
        </p:txBody>
      </p:sp>
      <p:sp>
        <p:nvSpPr>
          <p:cNvPr id="16" name="Text 13"/>
          <p:cNvSpPr txBox="1"/>
          <p:nvPr/>
        </p:nvSpPr>
        <p:spPr>
          <a:xfrm>
            <a:off x="7040880"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S5</a:t>
            </a:r>
            <a:endParaRPr lang="en-US" sz="1000" dirty="0"/>
          </a:p>
        </p:txBody>
      </p:sp>
      <p:sp>
        <p:nvSpPr>
          <p:cNvPr id="17" name="Text 14"/>
          <p:cNvSpPr txBox="1"/>
          <p:nvPr/>
        </p:nvSpPr>
        <p:spPr>
          <a:xfrm>
            <a:off x="7845552"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S6</a:t>
            </a:r>
            <a:endParaRPr lang="en-US" sz="1000" dirty="0"/>
          </a:p>
        </p:txBody>
      </p:sp>
      <p:sp>
        <p:nvSpPr>
          <p:cNvPr id="18" name="Shape 15"/>
          <p:cNvSpPr/>
          <p:nvPr/>
        </p:nvSpPr>
        <p:spPr>
          <a:xfrm>
            <a:off x="457200" y="1600200"/>
            <a:ext cx="8193024" cy="265176"/>
          </a:xfrm>
          <a:prstGeom prst="rect">
            <a:avLst/>
          </a:prstGeom>
          <a:solidFill>
            <a:srgbClr val="F4F7F5"/>
          </a:solidFill>
          <a:ln w="12700">
            <a:solidFill>
              <a:srgbClr val="F4F7F5"/>
            </a:solidFill>
            <a:prstDash val="solid"/>
          </a:ln>
        </p:spPr>
      </p:sp>
      <p:sp>
        <p:nvSpPr>
          <p:cNvPr id="19" name="Text 16"/>
          <p:cNvSpPr txBox="1"/>
          <p:nvPr/>
        </p:nvSpPr>
        <p:spPr>
          <a:xfrm>
            <a:off x="548640" y="1600200"/>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VIIRS VNL mensuel</a:t>
            </a:r>
            <a:endParaRPr lang="en-US" sz="1000" dirty="0"/>
          </a:p>
        </p:txBody>
      </p:sp>
      <p:sp>
        <p:nvSpPr>
          <p:cNvPr id="20" name="Shape 17"/>
          <p:cNvSpPr/>
          <p:nvPr/>
        </p:nvSpPr>
        <p:spPr>
          <a:xfrm>
            <a:off x="3351276" y="1664208"/>
            <a:ext cx="137160" cy="137160"/>
          </a:xfrm>
          <a:prstGeom prst="ellipse">
            <a:avLst/>
          </a:prstGeom>
          <a:solidFill>
            <a:srgbClr val="D49A00"/>
          </a:solidFill>
          <a:ln w="15875">
            <a:solidFill>
              <a:srgbClr val="D49A00"/>
            </a:solidFill>
            <a:prstDash val="solid"/>
          </a:ln>
        </p:spPr>
      </p:sp>
      <p:sp>
        <p:nvSpPr>
          <p:cNvPr id="21" name="Shape 18"/>
          <p:cNvSpPr/>
          <p:nvPr/>
        </p:nvSpPr>
        <p:spPr>
          <a:xfrm>
            <a:off x="4155948" y="1664208"/>
            <a:ext cx="137160" cy="137160"/>
          </a:xfrm>
          <a:prstGeom prst="ellipse">
            <a:avLst/>
          </a:prstGeom>
          <a:solidFill>
            <a:srgbClr val="D49A00"/>
          </a:solidFill>
          <a:ln w="15875">
            <a:solidFill>
              <a:srgbClr val="D49A00"/>
            </a:solidFill>
            <a:prstDash val="solid"/>
          </a:ln>
        </p:spPr>
      </p:sp>
      <p:sp>
        <p:nvSpPr>
          <p:cNvPr id="22" name="Shape 19"/>
          <p:cNvSpPr/>
          <p:nvPr/>
        </p:nvSpPr>
        <p:spPr>
          <a:xfrm>
            <a:off x="5765292" y="1664208"/>
            <a:ext cx="137160" cy="137160"/>
          </a:xfrm>
          <a:prstGeom prst="ellipse">
            <a:avLst/>
          </a:prstGeom>
          <a:solidFill>
            <a:srgbClr val="D49A00"/>
          </a:solidFill>
          <a:ln w="15875">
            <a:solidFill>
              <a:srgbClr val="D49A00"/>
            </a:solidFill>
            <a:prstDash val="solid"/>
          </a:ln>
        </p:spPr>
      </p:sp>
      <p:sp>
        <p:nvSpPr>
          <p:cNvPr id="23" name="Shape 20"/>
          <p:cNvSpPr/>
          <p:nvPr/>
        </p:nvSpPr>
        <p:spPr>
          <a:xfrm>
            <a:off x="6569964" y="1664208"/>
            <a:ext cx="137160" cy="137160"/>
          </a:xfrm>
          <a:prstGeom prst="ellipse">
            <a:avLst/>
          </a:prstGeom>
          <a:solidFill>
            <a:srgbClr val="D49A00"/>
          </a:solidFill>
          <a:ln w="15875">
            <a:solidFill>
              <a:srgbClr val="D49A00"/>
            </a:solidFill>
            <a:prstDash val="solid"/>
          </a:ln>
        </p:spPr>
      </p:sp>
      <p:sp>
        <p:nvSpPr>
          <p:cNvPr id="24" name="Text 21"/>
          <p:cNvSpPr txBox="1"/>
          <p:nvPr/>
        </p:nvSpPr>
        <p:spPr>
          <a:xfrm>
            <a:off x="548640" y="1865376"/>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VIIRS VNL annuel</a:t>
            </a:r>
            <a:endParaRPr lang="en-US" sz="1000" dirty="0"/>
          </a:p>
        </p:txBody>
      </p:sp>
      <p:sp>
        <p:nvSpPr>
          <p:cNvPr id="25" name="Shape 22"/>
          <p:cNvSpPr/>
          <p:nvPr/>
        </p:nvSpPr>
        <p:spPr>
          <a:xfrm>
            <a:off x="3351276" y="1929384"/>
            <a:ext cx="137160" cy="137160"/>
          </a:xfrm>
          <a:prstGeom prst="ellipse">
            <a:avLst/>
          </a:prstGeom>
          <a:solidFill>
            <a:srgbClr val="D49A00"/>
          </a:solidFill>
          <a:ln w="15875">
            <a:solidFill>
              <a:srgbClr val="D49A00"/>
            </a:solidFill>
            <a:prstDash val="solid"/>
          </a:ln>
        </p:spPr>
      </p:sp>
      <p:sp>
        <p:nvSpPr>
          <p:cNvPr id="26" name="Shape 23"/>
          <p:cNvSpPr/>
          <p:nvPr/>
        </p:nvSpPr>
        <p:spPr>
          <a:xfrm>
            <a:off x="4155948" y="1929384"/>
            <a:ext cx="137160" cy="137160"/>
          </a:xfrm>
          <a:prstGeom prst="ellipse">
            <a:avLst/>
          </a:prstGeom>
          <a:solidFill>
            <a:srgbClr val="D49A00"/>
          </a:solidFill>
          <a:ln w="15875">
            <a:solidFill>
              <a:srgbClr val="D49A00"/>
            </a:solidFill>
            <a:prstDash val="solid"/>
          </a:ln>
        </p:spPr>
      </p:sp>
      <p:sp>
        <p:nvSpPr>
          <p:cNvPr id="27" name="Shape 24"/>
          <p:cNvSpPr/>
          <p:nvPr/>
        </p:nvSpPr>
        <p:spPr>
          <a:xfrm>
            <a:off x="4960620" y="1929384"/>
            <a:ext cx="137160" cy="137160"/>
          </a:xfrm>
          <a:prstGeom prst="ellipse">
            <a:avLst/>
          </a:prstGeom>
          <a:solidFill>
            <a:srgbClr val="D49A00"/>
          </a:solidFill>
          <a:ln w="15875">
            <a:solidFill>
              <a:srgbClr val="D49A00"/>
            </a:solidFill>
            <a:prstDash val="solid"/>
          </a:ln>
        </p:spPr>
      </p:sp>
      <p:sp>
        <p:nvSpPr>
          <p:cNvPr id="28" name="Shape 25"/>
          <p:cNvSpPr/>
          <p:nvPr/>
        </p:nvSpPr>
        <p:spPr>
          <a:xfrm>
            <a:off x="5765292" y="1929384"/>
            <a:ext cx="137160" cy="137160"/>
          </a:xfrm>
          <a:prstGeom prst="ellipse">
            <a:avLst/>
          </a:prstGeom>
          <a:solidFill>
            <a:srgbClr val="D49A00"/>
          </a:solidFill>
          <a:ln w="15875">
            <a:solidFill>
              <a:srgbClr val="D49A00"/>
            </a:solidFill>
            <a:prstDash val="solid"/>
          </a:ln>
        </p:spPr>
      </p:sp>
      <p:sp>
        <p:nvSpPr>
          <p:cNvPr id="29" name="Shape 26"/>
          <p:cNvSpPr/>
          <p:nvPr/>
        </p:nvSpPr>
        <p:spPr>
          <a:xfrm>
            <a:off x="7374636" y="1929384"/>
            <a:ext cx="137160" cy="137160"/>
          </a:xfrm>
          <a:prstGeom prst="ellipse">
            <a:avLst/>
          </a:prstGeom>
          <a:solidFill>
            <a:srgbClr val="D49A00"/>
          </a:solidFill>
          <a:ln w="15875">
            <a:solidFill>
              <a:srgbClr val="D49A00"/>
            </a:solidFill>
            <a:prstDash val="solid"/>
          </a:ln>
        </p:spPr>
      </p:sp>
      <p:sp>
        <p:nvSpPr>
          <p:cNvPr id="30" name="Shape 27"/>
          <p:cNvSpPr/>
          <p:nvPr/>
        </p:nvSpPr>
        <p:spPr>
          <a:xfrm>
            <a:off x="8179308" y="1929384"/>
            <a:ext cx="137160" cy="137160"/>
          </a:xfrm>
          <a:prstGeom prst="ellipse">
            <a:avLst/>
          </a:prstGeom>
          <a:solidFill>
            <a:srgbClr val="D49A00"/>
          </a:solidFill>
          <a:ln w="15875">
            <a:solidFill>
              <a:srgbClr val="D49A00"/>
            </a:solidFill>
            <a:prstDash val="solid"/>
          </a:ln>
        </p:spPr>
      </p:sp>
      <p:sp>
        <p:nvSpPr>
          <p:cNvPr id="31" name="Shape 28"/>
          <p:cNvSpPr/>
          <p:nvPr/>
        </p:nvSpPr>
        <p:spPr>
          <a:xfrm>
            <a:off x="457200" y="2130552"/>
            <a:ext cx="8193024" cy="265176"/>
          </a:xfrm>
          <a:prstGeom prst="rect">
            <a:avLst/>
          </a:prstGeom>
          <a:solidFill>
            <a:srgbClr val="F4F7F5"/>
          </a:solidFill>
          <a:ln w="12700">
            <a:solidFill>
              <a:srgbClr val="F4F7F5"/>
            </a:solidFill>
            <a:prstDash val="solid"/>
          </a:ln>
        </p:spPr>
      </p:sp>
      <p:sp>
        <p:nvSpPr>
          <p:cNvPr id="32" name="Text 29"/>
          <p:cNvSpPr txBox="1"/>
          <p:nvPr/>
        </p:nvSpPr>
        <p:spPr>
          <a:xfrm>
            <a:off x="548640" y="2130552"/>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Black Marble VNP46A2</a:t>
            </a:r>
            <a:endParaRPr lang="en-US" sz="1000" dirty="0"/>
          </a:p>
        </p:txBody>
      </p:sp>
      <p:sp>
        <p:nvSpPr>
          <p:cNvPr id="33" name="Shape 30"/>
          <p:cNvSpPr/>
          <p:nvPr/>
        </p:nvSpPr>
        <p:spPr>
          <a:xfrm>
            <a:off x="6569964" y="2194560"/>
            <a:ext cx="137160" cy="137160"/>
          </a:xfrm>
          <a:prstGeom prst="ellipse">
            <a:avLst/>
          </a:prstGeom>
          <a:solidFill>
            <a:srgbClr val="D49A00"/>
          </a:solidFill>
          <a:ln w="15875">
            <a:solidFill>
              <a:srgbClr val="D49A00"/>
            </a:solidFill>
            <a:prstDash val="solid"/>
          </a:ln>
        </p:spPr>
      </p:sp>
      <p:sp>
        <p:nvSpPr>
          <p:cNvPr id="34" name="Text 31"/>
          <p:cNvSpPr txBox="1"/>
          <p:nvPr/>
        </p:nvSpPr>
        <p:spPr>
          <a:xfrm>
            <a:off x="548640" y="2395728"/>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DMSP harmonisé</a:t>
            </a:r>
            <a:endParaRPr lang="en-US" sz="1000" dirty="0"/>
          </a:p>
        </p:txBody>
      </p:sp>
      <p:sp>
        <p:nvSpPr>
          <p:cNvPr id="35" name="Shape 32"/>
          <p:cNvSpPr/>
          <p:nvPr/>
        </p:nvSpPr>
        <p:spPr>
          <a:xfrm>
            <a:off x="3351276" y="2459736"/>
            <a:ext cx="137160" cy="137160"/>
          </a:xfrm>
          <a:prstGeom prst="ellipse">
            <a:avLst/>
          </a:prstGeom>
          <a:solidFill>
            <a:srgbClr val="FFFFFF"/>
          </a:solidFill>
          <a:ln w="15875">
            <a:solidFill>
              <a:srgbClr val="D49A00"/>
            </a:solidFill>
            <a:prstDash val="solid"/>
          </a:ln>
        </p:spPr>
      </p:sp>
      <p:sp>
        <p:nvSpPr>
          <p:cNvPr id="36" name="Shape 33"/>
          <p:cNvSpPr/>
          <p:nvPr/>
        </p:nvSpPr>
        <p:spPr>
          <a:xfrm>
            <a:off x="4155948" y="2459736"/>
            <a:ext cx="137160" cy="137160"/>
          </a:xfrm>
          <a:prstGeom prst="ellipse">
            <a:avLst/>
          </a:prstGeom>
          <a:solidFill>
            <a:srgbClr val="D49A00"/>
          </a:solidFill>
          <a:ln w="15875">
            <a:solidFill>
              <a:srgbClr val="D49A00"/>
            </a:solidFill>
            <a:prstDash val="solid"/>
          </a:ln>
        </p:spPr>
      </p:sp>
      <p:sp>
        <p:nvSpPr>
          <p:cNvPr id="37" name="Shape 34"/>
          <p:cNvSpPr/>
          <p:nvPr/>
        </p:nvSpPr>
        <p:spPr>
          <a:xfrm>
            <a:off x="5765292" y="2459736"/>
            <a:ext cx="137160" cy="137160"/>
          </a:xfrm>
          <a:prstGeom prst="ellipse">
            <a:avLst/>
          </a:prstGeom>
          <a:solidFill>
            <a:srgbClr val="D49A00"/>
          </a:solidFill>
          <a:ln w="15875">
            <a:solidFill>
              <a:srgbClr val="D49A00"/>
            </a:solidFill>
            <a:prstDash val="solid"/>
          </a:ln>
        </p:spPr>
      </p:sp>
      <p:sp>
        <p:nvSpPr>
          <p:cNvPr id="38" name="Shape 35"/>
          <p:cNvSpPr/>
          <p:nvPr/>
        </p:nvSpPr>
        <p:spPr>
          <a:xfrm>
            <a:off x="457200" y="2660904"/>
            <a:ext cx="8193024" cy="265176"/>
          </a:xfrm>
          <a:prstGeom prst="rect">
            <a:avLst/>
          </a:prstGeom>
          <a:solidFill>
            <a:srgbClr val="F4F7F5"/>
          </a:solidFill>
          <a:ln w="12700">
            <a:solidFill>
              <a:srgbClr val="F4F7F5"/>
            </a:solidFill>
            <a:prstDash val="solid"/>
          </a:ln>
        </p:spPr>
      </p:sp>
      <p:sp>
        <p:nvSpPr>
          <p:cNvPr id="39" name="Text 36"/>
          <p:cNvSpPr txBox="1"/>
          <p:nvPr/>
        </p:nvSpPr>
        <p:spPr>
          <a:xfrm>
            <a:off x="548640" y="2660904"/>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GHS-POP / WorldPop</a:t>
            </a:r>
            <a:endParaRPr lang="en-US" sz="1000" dirty="0"/>
          </a:p>
        </p:txBody>
      </p:sp>
      <p:sp>
        <p:nvSpPr>
          <p:cNvPr id="40" name="Shape 37"/>
          <p:cNvSpPr/>
          <p:nvPr/>
        </p:nvSpPr>
        <p:spPr>
          <a:xfrm>
            <a:off x="3351276" y="2724912"/>
            <a:ext cx="137160" cy="137160"/>
          </a:xfrm>
          <a:prstGeom prst="ellipse">
            <a:avLst/>
          </a:prstGeom>
          <a:solidFill>
            <a:srgbClr val="D49A00"/>
          </a:solidFill>
          <a:ln w="15875">
            <a:solidFill>
              <a:srgbClr val="D49A00"/>
            </a:solidFill>
            <a:prstDash val="solid"/>
          </a:ln>
        </p:spPr>
      </p:sp>
      <p:sp>
        <p:nvSpPr>
          <p:cNvPr id="41" name="Shape 38"/>
          <p:cNvSpPr/>
          <p:nvPr/>
        </p:nvSpPr>
        <p:spPr>
          <a:xfrm>
            <a:off x="4960620" y="2724912"/>
            <a:ext cx="137160" cy="137160"/>
          </a:xfrm>
          <a:prstGeom prst="ellipse">
            <a:avLst/>
          </a:prstGeom>
          <a:solidFill>
            <a:srgbClr val="D49A00"/>
          </a:solidFill>
          <a:ln w="15875">
            <a:solidFill>
              <a:srgbClr val="D49A00"/>
            </a:solidFill>
            <a:prstDash val="solid"/>
          </a:ln>
        </p:spPr>
      </p:sp>
      <p:sp>
        <p:nvSpPr>
          <p:cNvPr id="42" name="Shape 39"/>
          <p:cNvSpPr/>
          <p:nvPr/>
        </p:nvSpPr>
        <p:spPr>
          <a:xfrm>
            <a:off x="7374636" y="2724912"/>
            <a:ext cx="137160" cy="137160"/>
          </a:xfrm>
          <a:prstGeom prst="ellipse">
            <a:avLst/>
          </a:prstGeom>
          <a:solidFill>
            <a:srgbClr val="D49A00"/>
          </a:solidFill>
          <a:ln w="15875">
            <a:solidFill>
              <a:srgbClr val="D49A00"/>
            </a:solidFill>
            <a:prstDash val="solid"/>
          </a:ln>
        </p:spPr>
      </p:sp>
      <p:sp>
        <p:nvSpPr>
          <p:cNvPr id="43" name="Shape 40"/>
          <p:cNvSpPr/>
          <p:nvPr/>
        </p:nvSpPr>
        <p:spPr>
          <a:xfrm>
            <a:off x="8179308" y="2724912"/>
            <a:ext cx="137160" cy="137160"/>
          </a:xfrm>
          <a:prstGeom prst="ellipse">
            <a:avLst/>
          </a:prstGeom>
          <a:solidFill>
            <a:srgbClr val="D49A00"/>
          </a:solidFill>
          <a:ln w="15875">
            <a:solidFill>
              <a:srgbClr val="D49A00"/>
            </a:solidFill>
            <a:prstDash val="solid"/>
          </a:ln>
        </p:spPr>
      </p:sp>
      <p:sp>
        <p:nvSpPr>
          <p:cNvPr id="44" name="Text 41"/>
          <p:cNvSpPr txBox="1"/>
          <p:nvPr/>
        </p:nvSpPr>
        <p:spPr>
          <a:xfrm>
            <a:off x="548640" y="2926080"/>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GHS-SMOD</a:t>
            </a:r>
            <a:endParaRPr lang="en-US" sz="1000" dirty="0"/>
          </a:p>
        </p:txBody>
      </p:sp>
      <p:sp>
        <p:nvSpPr>
          <p:cNvPr id="45" name="Shape 42"/>
          <p:cNvSpPr/>
          <p:nvPr/>
        </p:nvSpPr>
        <p:spPr>
          <a:xfrm>
            <a:off x="7374636" y="2990088"/>
            <a:ext cx="137160" cy="137160"/>
          </a:xfrm>
          <a:prstGeom prst="ellipse">
            <a:avLst/>
          </a:prstGeom>
          <a:solidFill>
            <a:srgbClr val="D49A00"/>
          </a:solidFill>
          <a:ln w="15875">
            <a:solidFill>
              <a:srgbClr val="D49A00"/>
            </a:solidFill>
            <a:prstDash val="solid"/>
          </a:ln>
        </p:spPr>
      </p:sp>
      <p:sp>
        <p:nvSpPr>
          <p:cNvPr id="46" name="Shape 43"/>
          <p:cNvSpPr/>
          <p:nvPr/>
        </p:nvSpPr>
        <p:spPr>
          <a:xfrm>
            <a:off x="457200" y="3191256"/>
            <a:ext cx="8193024" cy="265176"/>
          </a:xfrm>
          <a:prstGeom prst="rect">
            <a:avLst/>
          </a:prstGeom>
          <a:solidFill>
            <a:srgbClr val="F4F7F5"/>
          </a:solidFill>
          <a:ln w="12700">
            <a:solidFill>
              <a:srgbClr val="F4F7F5"/>
            </a:solidFill>
            <a:prstDash val="solid"/>
          </a:ln>
        </p:spPr>
      </p:sp>
      <p:sp>
        <p:nvSpPr>
          <p:cNvPr id="47" name="Text 44"/>
          <p:cNvSpPr txBox="1"/>
          <p:nvPr/>
        </p:nvSpPr>
        <p:spPr>
          <a:xfrm>
            <a:off x="548640" y="3191256"/>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GHS-BUILT-S</a:t>
            </a:r>
            <a:endParaRPr lang="en-US" sz="1000" dirty="0"/>
          </a:p>
        </p:txBody>
      </p:sp>
      <p:sp>
        <p:nvSpPr>
          <p:cNvPr id="48" name="Shape 45"/>
          <p:cNvSpPr/>
          <p:nvPr/>
        </p:nvSpPr>
        <p:spPr>
          <a:xfrm>
            <a:off x="3351276" y="3255264"/>
            <a:ext cx="137160" cy="137160"/>
          </a:xfrm>
          <a:prstGeom prst="ellipse">
            <a:avLst/>
          </a:prstGeom>
          <a:solidFill>
            <a:srgbClr val="D49A00"/>
          </a:solidFill>
          <a:ln w="15875">
            <a:solidFill>
              <a:srgbClr val="D49A00"/>
            </a:solidFill>
            <a:prstDash val="solid"/>
          </a:ln>
        </p:spPr>
      </p:sp>
      <p:sp>
        <p:nvSpPr>
          <p:cNvPr id="49" name="Shape 46"/>
          <p:cNvSpPr/>
          <p:nvPr/>
        </p:nvSpPr>
        <p:spPr>
          <a:xfrm>
            <a:off x="8179308" y="3255264"/>
            <a:ext cx="137160" cy="137160"/>
          </a:xfrm>
          <a:prstGeom prst="ellipse">
            <a:avLst/>
          </a:prstGeom>
          <a:solidFill>
            <a:srgbClr val="D49A00"/>
          </a:solidFill>
          <a:ln w="15875">
            <a:solidFill>
              <a:srgbClr val="D49A00"/>
            </a:solidFill>
            <a:prstDash val="solid"/>
          </a:ln>
        </p:spPr>
      </p:sp>
      <p:sp>
        <p:nvSpPr>
          <p:cNvPr id="50" name="Text 47"/>
          <p:cNvSpPr txBox="1"/>
          <p:nvPr/>
        </p:nvSpPr>
        <p:spPr>
          <a:xfrm>
            <a:off x="548640" y="3456432"/>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Sentinel-5P NO₂</a:t>
            </a:r>
            <a:endParaRPr lang="en-US" sz="1000" dirty="0"/>
          </a:p>
        </p:txBody>
      </p:sp>
      <p:sp>
        <p:nvSpPr>
          <p:cNvPr id="51" name="Shape 48"/>
          <p:cNvSpPr/>
          <p:nvPr/>
        </p:nvSpPr>
        <p:spPr>
          <a:xfrm>
            <a:off x="4960620" y="3520440"/>
            <a:ext cx="137160" cy="137160"/>
          </a:xfrm>
          <a:prstGeom prst="ellipse">
            <a:avLst/>
          </a:prstGeom>
          <a:solidFill>
            <a:srgbClr val="FFFFFF"/>
          </a:solidFill>
          <a:ln w="15875">
            <a:solidFill>
              <a:srgbClr val="D49A00"/>
            </a:solidFill>
            <a:prstDash val="solid"/>
          </a:ln>
        </p:spPr>
      </p:sp>
      <p:sp>
        <p:nvSpPr>
          <p:cNvPr id="52" name="Shape 49"/>
          <p:cNvSpPr/>
          <p:nvPr/>
        </p:nvSpPr>
        <p:spPr>
          <a:xfrm>
            <a:off x="8179308" y="3520440"/>
            <a:ext cx="137160" cy="137160"/>
          </a:xfrm>
          <a:prstGeom prst="ellipse">
            <a:avLst/>
          </a:prstGeom>
          <a:solidFill>
            <a:srgbClr val="D49A00"/>
          </a:solidFill>
          <a:ln w="15875">
            <a:solidFill>
              <a:srgbClr val="D49A00"/>
            </a:solidFill>
            <a:prstDash val="solid"/>
          </a:ln>
        </p:spPr>
      </p:sp>
      <p:sp>
        <p:nvSpPr>
          <p:cNvPr id="53" name="Shape 50"/>
          <p:cNvSpPr/>
          <p:nvPr/>
        </p:nvSpPr>
        <p:spPr>
          <a:xfrm>
            <a:off x="457200" y="3721608"/>
            <a:ext cx="8193024" cy="265176"/>
          </a:xfrm>
          <a:prstGeom prst="rect">
            <a:avLst/>
          </a:prstGeom>
          <a:solidFill>
            <a:srgbClr val="F4F7F5"/>
          </a:solidFill>
          <a:ln w="12700">
            <a:solidFill>
              <a:srgbClr val="F4F7F5"/>
            </a:solidFill>
            <a:prstDash val="solid"/>
          </a:ln>
        </p:spPr>
      </p:sp>
      <p:sp>
        <p:nvSpPr>
          <p:cNvPr id="54" name="Text 51"/>
          <p:cNvSpPr txBox="1"/>
          <p:nvPr/>
        </p:nvSpPr>
        <p:spPr>
          <a:xfrm>
            <a:off x="548640" y="3721608"/>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geoBoundaries / GAUL</a:t>
            </a:r>
            <a:endParaRPr lang="en-US" sz="1000" dirty="0"/>
          </a:p>
        </p:txBody>
      </p:sp>
      <p:sp>
        <p:nvSpPr>
          <p:cNvPr id="55" name="Shape 52"/>
          <p:cNvSpPr/>
          <p:nvPr/>
        </p:nvSpPr>
        <p:spPr>
          <a:xfrm>
            <a:off x="3351276" y="3785616"/>
            <a:ext cx="137160" cy="137160"/>
          </a:xfrm>
          <a:prstGeom prst="ellipse">
            <a:avLst/>
          </a:prstGeom>
          <a:solidFill>
            <a:srgbClr val="D49A00"/>
          </a:solidFill>
          <a:ln w="15875">
            <a:solidFill>
              <a:srgbClr val="D49A00"/>
            </a:solidFill>
            <a:prstDash val="solid"/>
          </a:ln>
        </p:spPr>
      </p:sp>
      <p:sp>
        <p:nvSpPr>
          <p:cNvPr id="56" name="Shape 53"/>
          <p:cNvSpPr/>
          <p:nvPr/>
        </p:nvSpPr>
        <p:spPr>
          <a:xfrm>
            <a:off x="4155948" y="3785616"/>
            <a:ext cx="137160" cy="137160"/>
          </a:xfrm>
          <a:prstGeom prst="ellipse">
            <a:avLst/>
          </a:prstGeom>
          <a:solidFill>
            <a:srgbClr val="D49A00"/>
          </a:solidFill>
          <a:ln w="15875">
            <a:solidFill>
              <a:srgbClr val="D49A00"/>
            </a:solidFill>
            <a:prstDash val="solid"/>
          </a:ln>
        </p:spPr>
      </p:sp>
      <p:sp>
        <p:nvSpPr>
          <p:cNvPr id="57" name="Shape 54"/>
          <p:cNvSpPr/>
          <p:nvPr/>
        </p:nvSpPr>
        <p:spPr>
          <a:xfrm>
            <a:off x="4960620" y="3785616"/>
            <a:ext cx="137160" cy="137160"/>
          </a:xfrm>
          <a:prstGeom prst="ellipse">
            <a:avLst/>
          </a:prstGeom>
          <a:solidFill>
            <a:srgbClr val="D49A00"/>
          </a:solidFill>
          <a:ln w="15875">
            <a:solidFill>
              <a:srgbClr val="D49A00"/>
            </a:solidFill>
            <a:prstDash val="solid"/>
          </a:ln>
        </p:spPr>
      </p:sp>
      <p:sp>
        <p:nvSpPr>
          <p:cNvPr id="58" name="Shape 55"/>
          <p:cNvSpPr/>
          <p:nvPr/>
        </p:nvSpPr>
        <p:spPr>
          <a:xfrm>
            <a:off x="5765292" y="3785616"/>
            <a:ext cx="137160" cy="137160"/>
          </a:xfrm>
          <a:prstGeom prst="ellipse">
            <a:avLst/>
          </a:prstGeom>
          <a:solidFill>
            <a:srgbClr val="D49A00"/>
          </a:solidFill>
          <a:ln w="15875">
            <a:solidFill>
              <a:srgbClr val="D49A00"/>
            </a:solidFill>
            <a:prstDash val="solid"/>
          </a:ln>
        </p:spPr>
      </p:sp>
      <p:sp>
        <p:nvSpPr>
          <p:cNvPr id="59" name="Shape 56"/>
          <p:cNvSpPr/>
          <p:nvPr/>
        </p:nvSpPr>
        <p:spPr>
          <a:xfrm>
            <a:off x="6569964" y="3785616"/>
            <a:ext cx="137160" cy="137160"/>
          </a:xfrm>
          <a:prstGeom prst="ellipse">
            <a:avLst/>
          </a:prstGeom>
          <a:solidFill>
            <a:srgbClr val="D49A00"/>
          </a:solidFill>
          <a:ln w="15875">
            <a:solidFill>
              <a:srgbClr val="D49A00"/>
            </a:solidFill>
            <a:prstDash val="solid"/>
          </a:ln>
        </p:spPr>
      </p:sp>
      <p:sp>
        <p:nvSpPr>
          <p:cNvPr id="60" name="Shape 57"/>
          <p:cNvSpPr/>
          <p:nvPr/>
        </p:nvSpPr>
        <p:spPr>
          <a:xfrm>
            <a:off x="7374636" y="3785616"/>
            <a:ext cx="137160" cy="137160"/>
          </a:xfrm>
          <a:prstGeom prst="ellipse">
            <a:avLst/>
          </a:prstGeom>
          <a:solidFill>
            <a:srgbClr val="D49A00"/>
          </a:solidFill>
          <a:ln w="15875">
            <a:solidFill>
              <a:srgbClr val="D49A00"/>
            </a:solidFill>
            <a:prstDash val="solid"/>
          </a:ln>
        </p:spPr>
      </p:sp>
      <p:sp>
        <p:nvSpPr>
          <p:cNvPr id="61" name="Shape 58"/>
          <p:cNvSpPr/>
          <p:nvPr/>
        </p:nvSpPr>
        <p:spPr>
          <a:xfrm>
            <a:off x="8179308" y="3785616"/>
            <a:ext cx="137160" cy="137160"/>
          </a:xfrm>
          <a:prstGeom prst="ellipse">
            <a:avLst/>
          </a:prstGeom>
          <a:solidFill>
            <a:srgbClr val="D49A00"/>
          </a:solidFill>
          <a:ln w="15875">
            <a:solidFill>
              <a:srgbClr val="D49A00"/>
            </a:solidFill>
            <a:prstDash val="solid"/>
          </a:ln>
        </p:spPr>
      </p:sp>
      <p:sp>
        <p:nvSpPr>
          <p:cNvPr id="62" name="Text 59"/>
          <p:cNvSpPr txBox="1"/>
          <p:nvPr/>
        </p:nvSpPr>
        <p:spPr>
          <a:xfrm>
            <a:off x="548640" y="3986784"/>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Banque mondiale WDI</a:t>
            </a:r>
            <a:endParaRPr lang="en-US" sz="1000" dirty="0"/>
          </a:p>
        </p:txBody>
      </p:sp>
      <p:sp>
        <p:nvSpPr>
          <p:cNvPr id="63" name="Shape 60"/>
          <p:cNvSpPr/>
          <p:nvPr/>
        </p:nvSpPr>
        <p:spPr>
          <a:xfrm>
            <a:off x="3351276" y="4050792"/>
            <a:ext cx="137160" cy="137160"/>
          </a:xfrm>
          <a:prstGeom prst="ellipse">
            <a:avLst/>
          </a:prstGeom>
          <a:solidFill>
            <a:srgbClr val="FFFFFF"/>
          </a:solidFill>
          <a:ln w="15875">
            <a:solidFill>
              <a:srgbClr val="D49A00"/>
            </a:solidFill>
            <a:prstDash val="solid"/>
          </a:ln>
        </p:spPr>
      </p:sp>
      <p:sp>
        <p:nvSpPr>
          <p:cNvPr id="64" name="Shape 61"/>
          <p:cNvSpPr/>
          <p:nvPr/>
        </p:nvSpPr>
        <p:spPr>
          <a:xfrm>
            <a:off x="5765292" y="4050792"/>
            <a:ext cx="137160" cy="137160"/>
          </a:xfrm>
          <a:prstGeom prst="ellipse">
            <a:avLst/>
          </a:prstGeom>
          <a:solidFill>
            <a:srgbClr val="D49A00"/>
          </a:solidFill>
          <a:ln w="15875">
            <a:solidFill>
              <a:srgbClr val="D49A00"/>
            </a:solidFill>
            <a:prstDash val="solid"/>
          </a:ln>
        </p:spPr>
      </p:sp>
      <p:sp>
        <p:nvSpPr>
          <p:cNvPr id="65" name="Shape 62"/>
          <p:cNvSpPr/>
          <p:nvPr/>
        </p:nvSpPr>
        <p:spPr>
          <a:xfrm>
            <a:off x="7374636" y="4050792"/>
            <a:ext cx="137160" cy="137160"/>
          </a:xfrm>
          <a:prstGeom prst="ellipse">
            <a:avLst/>
          </a:prstGeom>
          <a:solidFill>
            <a:srgbClr val="FFFFFF"/>
          </a:solidFill>
          <a:ln w="15875">
            <a:solidFill>
              <a:srgbClr val="D49A00"/>
            </a:solidFill>
            <a:prstDash val="solid"/>
          </a:ln>
        </p:spPr>
      </p:sp>
      <p:sp>
        <p:nvSpPr>
          <p:cNvPr id="66" name="Shape 63"/>
          <p:cNvSpPr/>
          <p:nvPr/>
        </p:nvSpPr>
        <p:spPr>
          <a:xfrm>
            <a:off x="457200" y="4251960"/>
            <a:ext cx="8193024" cy="265176"/>
          </a:xfrm>
          <a:prstGeom prst="rect">
            <a:avLst/>
          </a:prstGeom>
          <a:solidFill>
            <a:srgbClr val="F4F7F5"/>
          </a:solidFill>
          <a:ln w="12700">
            <a:solidFill>
              <a:srgbClr val="F4F7F5"/>
            </a:solidFill>
            <a:prstDash val="solid"/>
          </a:ln>
        </p:spPr>
      </p:sp>
      <p:sp>
        <p:nvSpPr>
          <p:cNvPr id="67" name="Text 64"/>
          <p:cNvSpPr txBox="1"/>
          <p:nvPr/>
        </p:nvSpPr>
        <p:spPr>
          <a:xfrm>
            <a:off x="548640" y="4251960"/>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OpenStreetMap</a:t>
            </a:r>
            <a:endParaRPr lang="en-US" sz="1000" dirty="0"/>
          </a:p>
        </p:txBody>
      </p:sp>
      <p:sp>
        <p:nvSpPr>
          <p:cNvPr id="68" name="Shape 65"/>
          <p:cNvSpPr/>
          <p:nvPr/>
        </p:nvSpPr>
        <p:spPr>
          <a:xfrm>
            <a:off x="8179308" y="4315968"/>
            <a:ext cx="137160" cy="137160"/>
          </a:xfrm>
          <a:prstGeom prst="ellipse">
            <a:avLst/>
          </a:prstGeom>
          <a:solidFill>
            <a:srgbClr val="FFFFFF"/>
          </a:solidFill>
          <a:ln w="15875">
            <a:solidFill>
              <a:srgbClr val="D49A00"/>
            </a:solidFill>
            <a:prstDash val="solid"/>
          </a:ln>
        </p:spPr>
      </p:sp>
      <p:sp>
        <p:nvSpPr>
          <p:cNvPr id="69" name="Shape 66"/>
          <p:cNvSpPr/>
          <p:nvPr/>
        </p:nvSpPr>
        <p:spPr>
          <a:xfrm>
            <a:off x="3108960" y="4617720"/>
            <a:ext cx="137160" cy="137160"/>
          </a:xfrm>
          <a:prstGeom prst="ellipse">
            <a:avLst/>
          </a:prstGeom>
          <a:solidFill>
            <a:srgbClr val="D49A00"/>
          </a:solidFill>
          <a:ln w="15875">
            <a:solidFill>
              <a:srgbClr val="D49A00"/>
            </a:solidFill>
            <a:prstDash val="solid"/>
          </a:ln>
        </p:spPr>
      </p:sp>
      <p:sp>
        <p:nvSpPr>
          <p:cNvPr id="70" name="Text 67"/>
          <p:cNvSpPr txBox="1"/>
          <p:nvPr/>
        </p:nvSpPr>
        <p:spPr>
          <a:xfrm>
            <a:off x="3310128" y="4572000"/>
            <a:ext cx="1828800" cy="22860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entrée des métriques</a:t>
            </a:r>
            <a:endParaRPr lang="en-US" sz="950" dirty="0"/>
          </a:p>
        </p:txBody>
      </p:sp>
      <p:sp>
        <p:nvSpPr>
          <p:cNvPr id="71" name="Shape 68"/>
          <p:cNvSpPr/>
          <p:nvPr/>
        </p:nvSpPr>
        <p:spPr>
          <a:xfrm>
            <a:off x="5120640" y="4617720"/>
            <a:ext cx="137160" cy="137160"/>
          </a:xfrm>
          <a:prstGeom prst="ellipse">
            <a:avLst/>
          </a:prstGeom>
          <a:solidFill>
            <a:srgbClr val="FFFFFF"/>
          </a:solidFill>
          <a:ln w="15875">
            <a:solidFill>
              <a:srgbClr val="D49A00"/>
            </a:solidFill>
            <a:prstDash val="solid"/>
          </a:ln>
        </p:spPr>
      </p:sp>
      <p:sp>
        <p:nvSpPr>
          <p:cNvPr id="72" name="Text 69"/>
          <p:cNvSpPr txBox="1"/>
          <p:nvPr/>
        </p:nvSpPr>
        <p:spPr>
          <a:xfrm>
            <a:off x="5321808" y="4572000"/>
            <a:ext cx="2560320" cy="22860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contrôle, contexte ou validation</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TABLES DE BASE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De milliards de pixels à deux tables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377440" cy="841248"/>
          </a:xfrm>
          <a:prstGeom prst="roundRect">
            <a:avLst>
              <a:gd name="adj" fmla="val 8696"/>
            </a:avLst>
          </a:prstGeom>
          <a:solidFill>
            <a:srgbClr val="F4F7F5"/>
          </a:solidFill>
          <a:ln w="9525">
            <a:solidFill>
              <a:srgbClr val="D5DED9"/>
            </a:solidFill>
            <a:prstDash val="solid"/>
          </a:ln>
        </p:spPr>
      </p:sp>
      <p:sp>
        <p:nvSpPr>
          <p:cNvPr id="12" name="Shape 9"/>
          <p:cNvSpPr/>
          <p:nvPr/>
        </p:nvSpPr>
        <p:spPr>
          <a:xfrm>
            <a:off x="585216" y="1554480"/>
            <a:ext cx="457200" cy="457200"/>
          </a:xfrm>
          <a:prstGeom prst="ellipse">
            <a:avLst/>
          </a:prstGeom>
          <a:solidFill>
            <a:srgbClr val="D49A00">
              <a:alpha val="22000"/>
            </a:srgbClr>
          </a:solidFill>
          <a:ln w="12700">
            <a:solidFill>
              <a:srgbClr val="D49A00">
                <a:alpha val="0"/>
              </a:srgbClr>
            </a:solidFill>
            <a:prstDash val="solid"/>
          </a:ln>
        </p:spPr>
      </p:sp>
      <p:pic>
        <p:nvPicPr>
          <p:cNvPr id="13" name="Image 0" descr="preencoded.png">    </p:cNvPr>
          <p:cNvPicPr>
            <a:picLocks noChangeAspect="1"/>
          </p:cNvPicPr>
          <p:nvPr/>
        </p:nvPicPr>
        <p:blipFill>
          <a:blip r:embed="rId1"/>
          <a:stretch>
            <a:fillRect/>
          </a:stretch>
        </p:blipFill>
        <p:spPr>
          <a:xfrm>
            <a:off x="694944" y="1664208"/>
            <a:ext cx="237744" cy="237744"/>
          </a:xfrm>
          <a:prstGeom prst="rect">
            <a:avLst/>
          </a:prstGeom>
        </p:spPr>
      </p:pic>
      <p:sp>
        <p:nvSpPr>
          <p:cNvPr id="14" name="Text 10"/>
          <p:cNvSpPr txBox="1"/>
          <p:nvPr/>
        </p:nvSpPr>
        <p:spPr>
          <a:xfrm>
            <a:off x="1143000" y="1517904"/>
            <a:ext cx="16459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Pixels nettoyés</a:t>
            </a:r>
            <a:endParaRPr lang="en-US" sz="1200" dirty="0"/>
          </a:p>
        </p:txBody>
      </p:sp>
      <p:sp>
        <p:nvSpPr>
          <p:cNvPr id="15" name="Text 11"/>
          <p:cNvSpPr txBox="1"/>
          <p:nvPr/>
        </p:nvSpPr>
        <p:spPr>
          <a:xfrm>
            <a:off x="1143000" y="1801368"/>
            <a:ext cx="1645920" cy="2743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~464 m</a:t>
            </a:r>
            <a:endParaRPr lang="en-US" sz="950" dirty="0"/>
          </a:p>
        </p:txBody>
      </p:sp>
      <p:sp>
        <p:nvSpPr>
          <p:cNvPr id="16" name="Shape 12"/>
          <p:cNvSpPr/>
          <p:nvPr/>
        </p:nvSpPr>
        <p:spPr>
          <a:xfrm>
            <a:off x="1645920" y="2231136"/>
            <a:ext cx="914" cy="146304"/>
          </a:xfrm>
          <a:prstGeom prst="line">
            <a:avLst/>
          </a:prstGeom>
          <a:noFill/>
          <a:ln w="15875">
            <a:solidFill>
              <a:srgbClr val="5E6964"/>
            </a:solidFill>
            <a:prstDash val="solid"/>
            <a:tailEnd type="triangle"/>
          </a:ln>
        </p:spPr>
      </p:sp>
      <p:sp>
        <p:nvSpPr>
          <p:cNvPr id="17" name="Shape 13"/>
          <p:cNvSpPr/>
          <p:nvPr/>
        </p:nvSpPr>
        <p:spPr>
          <a:xfrm>
            <a:off x="457200" y="2395728"/>
            <a:ext cx="2377440" cy="841248"/>
          </a:xfrm>
          <a:prstGeom prst="roundRect">
            <a:avLst>
              <a:gd name="adj" fmla="val 8696"/>
            </a:avLst>
          </a:prstGeom>
          <a:solidFill>
            <a:srgbClr val="F4F7F5"/>
          </a:solidFill>
          <a:ln w="9525">
            <a:solidFill>
              <a:srgbClr val="D5DED9"/>
            </a:solidFill>
            <a:prstDash val="solid"/>
          </a:ln>
        </p:spPr>
      </p:sp>
      <p:sp>
        <p:nvSpPr>
          <p:cNvPr id="18" name="Shape 14"/>
          <p:cNvSpPr/>
          <p:nvPr/>
        </p:nvSpPr>
        <p:spPr>
          <a:xfrm>
            <a:off x="585216" y="2578608"/>
            <a:ext cx="457200" cy="457200"/>
          </a:xfrm>
          <a:prstGeom prst="ellipse">
            <a:avLst/>
          </a:prstGeom>
          <a:solidFill>
            <a:srgbClr val="D49A00">
              <a:alpha val="22000"/>
            </a:srgbClr>
          </a:solidFill>
          <a:ln w="12700">
            <a:solidFill>
              <a:srgbClr val="D49A00">
                <a:alpha val="0"/>
              </a:srgbClr>
            </a:solidFill>
            <a:prstDash val="solid"/>
          </a:ln>
        </p:spPr>
      </p:sp>
      <p:pic>
        <p:nvPicPr>
          <p:cNvPr id="19" name="Image 1" descr="preencoded.png">    </p:cNvPr>
          <p:cNvPicPr>
            <a:picLocks noChangeAspect="1"/>
          </p:cNvPicPr>
          <p:nvPr/>
        </p:nvPicPr>
        <p:blipFill>
          <a:blip r:embed="rId2"/>
          <a:stretch>
            <a:fillRect/>
          </a:stretch>
        </p:blipFill>
        <p:spPr>
          <a:xfrm>
            <a:off x="694944" y="2688336"/>
            <a:ext cx="237744" cy="237744"/>
          </a:xfrm>
          <a:prstGeom prst="rect">
            <a:avLst/>
          </a:prstGeom>
        </p:spPr>
      </p:pic>
      <p:sp>
        <p:nvSpPr>
          <p:cNvPr id="20" name="Text 15"/>
          <p:cNvSpPr txBox="1"/>
          <p:nvPr/>
        </p:nvSpPr>
        <p:spPr>
          <a:xfrm>
            <a:off x="1143000" y="2542032"/>
            <a:ext cx="16459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Somme par unité</a:t>
            </a:r>
            <a:endParaRPr lang="en-US" sz="1200" dirty="0"/>
          </a:p>
        </p:txBody>
      </p:sp>
      <p:sp>
        <p:nvSpPr>
          <p:cNvPr id="21" name="Text 16"/>
          <p:cNvSpPr txBox="1"/>
          <p:nvPr/>
        </p:nvSpPr>
        <p:spPr>
          <a:xfrm>
            <a:off x="1143000" y="2825496"/>
            <a:ext cx="1645920" cy="2743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ADM0 · ADM1 · ADM2</a:t>
            </a:r>
            <a:endParaRPr lang="en-US" sz="950" dirty="0"/>
          </a:p>
        </p:txBody>
      </p:sp>
      <p:sp>
        <p:nvSpPr>
          <p:cNvPr id="22" name="Shape 17"/>
          <p:cNvSpPr/>
          <p:nvPr/>
        </p:nvSpPr>
        <p:spPr>
          <a:xfrm>
            <a:off x="1645920" y="3255264"/>
            <a:ext cx="914" cy="146304"/>
          </a:xfrm>
          <a:prstGeom prst="line">
            <a:avLst/>
          </a:prstGeom>
          <a:noFill/>
          <a:ln w="15875">
            <a:solidFill>
              <a:srgbClr val="5E6964"/>
            </a:solidFill>
            <a:prstDash val="solid"/>
            <a:tailEnd type="triangle"/>
          </a:ln>
        </p:spPr>
      </p:sp>
      <p:sp>
        <p:nvSpPr>
          <p:cNvPr id="23" name="Shape 18"/>
          <p:cNvSpPr/>
          <p:nvPr/>
        </p:nvSpPr>
        <p:spPr>
          <a:xfrm>
            <a:off x="457200" y="3419856"/>
            <a:ext cx="2377440" cy="841248"/>
          </a:xfrm>
          <a:prstGeom prst="roundRect">
            <a:avLst>
              <a:gd name="adj" fmla="val 8696"/>
            </a:avLst>
          </a:prstGeom>
          <a:solidFill>
            <a:srgbClr val="E8F5EF"/>
          </a:solidFill>
          <a:ln w="15875">
            <a:solidFill>
              <a:srgbClr val="D49A00"/>
            </a:solidFill>
            <a:prstDash val="solid"/>
          </a:ln>
        </p:spPr>
      </p:sp>
      <p:sp>
        <p:nvSpPr>
          <p:cNvPr id="24" name="Shape 19"/>
          <p:cNvSpPr/>
          <p:nvPr/>
        </p:nvSpPr>
        <p:spPr>
          <a:xfrm>
            <a:off x="585216" y="3602736"/>
            <a:ext cx="457200" cy="457200"/>
          </a:xfrm>
          <a:prstGeom prst="ellipse">
            <a:avLst/>
          </a:prstGeom>
          <a:solidFill>
            <a:srgbClr val="D49A00">
              <a:alpha val="22000"/>
            </a:srgbClr>
          </a:solidFill>
          <a:ln w="12700">
            <a:solidFill>
              <a:srgbClr val="D49A00">
                <a:alpha val="0"/>
              </a:srgbClr>
            </a:solidFill>
            <a:prstDash val="solid"/>
          </a:ln>
        </p:spPr>
      </p:sp>
      <p:pic>
        <p:nvPicPr>
          <p:cNvPr id="25" name="Image 2" descr="preencoded.png">    </p:cNvPr>
          <p:cNvPicPr>
            <a:picLocks noChangeAspect="1"/>
          </p:cNvPicPr>
          <p:nvPr/>
        </p:nvPicPr>
        <p:blipFill>
          <a:blip r:embed="rId3"/>
          <a:stretch>
            <a:fillRect/>
          </a:stretch>
        </p:blipFill>
        <p:spPr>
          <a:xfrm>
            <a:off x="694944" y="3712464"/>
            <a:ext cx="237744" cy="237744"/>
          </a:xfrm>
          <a:prstGeom prst="rect">
            <a:avLst/>
          </a:prstGeom>
        </p:spPr>
      </p:pic>
      <p:sp>
        <p:nvSpPr>
          <p:cNvPr id="26" name="Text 20"/>
          <p:cNvSpPr txBox="1"/>
          <p:nvPr/>
        </p:nvSpPr>
        <p:spPr>
          <a:xfrm>
            <a:off x="1143000" y="3566160"/>
            <a:ext cx="16459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Tables en cache</a:t>
            </a:r>
            <a:endParaRPr lang="en-US" sz="1200" dirty="0"/>
          </a:p>
        </p:txBody>
      </p:sp>
      <p:sp>
        <p:nvSpPr>
          <p:cNvPr id="27" name="Text 21"/>
          <p:cNvSpPr txBox="1"/>
          <p:nvPr/>
        </p:nvSpPr>
        <p:spPr>
          <a:xfrm>
            <a:off x="1143000" y="3849624"/>
            <a:ext cx="1645920" cy="2743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 signature des paramètres</a:t>
            </a:r>
            <a:endParaRPr lang="en-US" sz="950" dirty="0"/>
          </a:p>
        </p:txBody>
      </p:sp>
      <p:sp>
        <p:nvSpPr>
          <p:cNvPr id="28" name="Shape 22"/>
          <p:cNvSpPr/>
          <p:nvPr/>
        </p:nvSpPr>
        <p:spPr>
          <a:xfrm>
            <a:off x="3108960" y="1371600"/>
            <a:ext cx="2697480" cy="3063240"/>
          </a:xfrm>
          <a:prstGeom prst="roundRect">
            <a:avLst>
              <a:gd name="adj" fmla="val 2712"/>
            </a:avLst>
          </a:prstGeom>
          <a:solidFill>
            <a:srgbClr val="F4F7F5"/>
          </a:solidFill>
          <a:ln w="9525">
            <a:solidFill>
              <a:srgbClr val="D5DED9"/>
            </a:solidFill>
            <a:prstDash val="solid"/>
          </a:ln>
        </p:spPr>
      </p:sp>
      <p:sp>
        <p:nvSpPr>
          <p:cNvPr id="29" name="Text 23"/>
          <p:cNvSpPr txBox="1"/>
          <p:nvPr/>
        </p:nvSpPr>
        <p:spPr>
          <a:xfrm>
            <a:off x="3246120" y="1444752"/>
            <a:ext cx="2423160" cy="274320"/>
          </a:xfrm>
          <a:prstGeom prst="rect">
            <a:avLst/>
          </a:prstGeom>
          <a:noFill/>
          <a:ln/>
        </p:spPr>
        <p:txBody>
          <a:bodyPr wrap="square" lIns="0" tIns="0" rIns="0" bIns="0" rtlCol="0" anchor="t"/>
          <a:lstStyle/>
          <a:p>
            <a:pPr indent="0" marL="0">
              <a:buNone/>
            </a:pPr>
            <a:r>
              <a:rPr lang="en-US" sz="1150" b="1" dirty="0">
                <a:solidFill>
                  <a:srgbClr val="00553A"/>
                </a:solidFill>
                <a:latin typeface="Calibri" pitchFamily="34" charset="0"/>
                <a:ea typeface="Calibri" pitchFamily="34" charset="-122"/>
                <a:cs typeface="Calibri" pitchFamily="34" charset="-120"/>
              </a:rPr>
              <a:t>Table mensuelle · unité × mois</a:t>
            </a:r>
            <a:endParaRPr lang="en-US" sz="1150" dirty="0"/>
          </a:p>
        </p:txBody>
      </p:sp>
      <p:sp>
        <p:nvSpPr>
          <p:cNvPr id="30" name="Text 24"/>
          <p:cNvSpPr txBox="1"/>
          <p:nvPr/>
        </p:nvSpPr>
        <p:spPr>
          <a:xfrm>
            <a:off x="3246120" y="1783080"/>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sol</a:t>
            </a:r>
            <a:endParaRPr lang="en-US" sz="900" dirty="0"/>
          </a:p>
        </p:txBody>
      </p:sp>
      <p:sp>
        <p:nvSpPr>
          <p:cNvPr id="31" name="Text 25"/>
          <p:cNvSpPr txBox="1"/>
          <p:nvPr/>
        </p:nvSpPr>
        <p:spPr>
          <a:xfrm>
            <a:off x="3246120" y="1965960"/>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somme des lumières (observée + imputée)</a:t>
            </a:r>
            <a:endParaRPr lang="en-US" sz="900" dirty="0"/>
          </a:p>
        </p:txBody>
      </p:sp>
      <p:sp>
        <p:nvSpPr>
          <p:cNvPr id="32" name="Text 26"/>
          <p:cNvSpPr txBox="1"/>
          <p:nvPr/>
        </p:nvSpPr>
        <p:spPr>
          <a:xfrm>
            <a:off x="3246120" y="2212848"/>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valid_frac</a:t>
            </a:r>
            <a:endParaRPr lang="en-US" sz="900" dirty="0"/>
          </a:p>
        </p:txBody>
      </p:sp>
      <p:sp>
        <p:nvSpPr>
          <p:cNvPr id="33" name="Text 27"/>
          <p:cNvSpPr txBox="1"/>
          <p:nvPr/>
        </p:nvSpPr>
        <p:spPr>
          <a:xfrm>
            <a:off x="3246120" y="2395728"/>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part des pixels de l'unité observés</a:t>
            </a:r>
            <a:endParaRPr lang="en-US" sz="900" dirty="0"/>
          </a:p>
        </p:txBody>
      </p:sp>
      <p:sp>
        <p:nvSpPr>
          <p:cNvPr id="34" name="Text 28"/>
          <p:cNvSpPr txBox="1"/>
          <p:nvPr/>
        </p:nvSpPr>
        <p:spPr>
          <a:xfrm>
            <a:off x="3246120" y="2642616"/>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sol_adj</a:t>
            </a:r>
            <a:endParaRPr lang="en-US" sz="900" dirty="0"/>
          </a:p>
        </p:txBody>
      </p:sp>
      <p:sp>
        <p:nvSpPr>
          <p:cNvPr id="35" name="Text 29"/>
          <p:cNvSpPr txBox="1"/>
          <p:nvPr/>
        </p:nvSpPr>
        <p:spPr>
          <a:xfrm>
            <a:off x="3246120" y="2825496"/>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si valid_frac ≥ 0,8, sinon manquant</a:t>
            </a:r>
            <a:endParaRPr lang="en-US" sz="900" dirty="0"/>
          </a:p>
        </p:txBody>
      </p:sp>
      <p:sp>
        <p:nvSpPr>
          <p:cNvPr id="36" name="Text 30"/>
          <p:cNvSpPr txBox="1"/>
          <p:nvPr/>
        </p:nvSpPr>
        <p:spPr>
          <a:xfrm>
            <a:off x="3246120" y="3072384"/>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imputed_share</a:t>
            </a:r>
            <a:endParaRPr lang="en-US" sz="900" dirty="0"/>
          </a:p>
        </p:txBody>
      </p:sp>
      <p:sp>
        <p:nvSpPr>
          <p:cNvPr id="37" name="Text 31"/>
          <p:cNvSpPr txBox="1"/>
          <p:nvPr/>
        </p:nvSpPr>
        <p:spPr>
          <a:xfrm>
            <a:off x="3246120" y="3255264"/>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part de lumière imputée (nuages)</a:t>
            </a:r>
            <a:endParaRPr lang="en-US" sz="900" dirty="0"/>
          </a:p>
        </p:txBody>
      </p:sp>
      <p:sp>
        <p:nvSpPr>
          <p:cNvPr id="38" name="Shape 32"/>
          <p:cNvSpPr/>
          <p:nvPr/>
        </p:nvSpPr>
        <p:spPr>
          <a:xfrm>
            <a:off x="5943600" y="1371600"/>
            <a:ext cx="2697480" cy="3063240"/>
          </a:xfrm>
          <a:prstGeom prst="roundRect">
            <a:avLst>
              <a:gd name="adj" fmla="val 2712"/>
            </a:avLst>
          </a:prstGeom>
          <a:solidFill>
            <a:srgbClr val="F4F7F5"/>
          </a:solidFill>
          <a:ln w="9525">
            <a:solidFill>
              <a:srgbClr val="D5DED9"/>
            </a:solidFill>
            <a:prstDash val="solid"/>
          </a:ln>
        </p:spPr>
      </p:sp>
      <p:sp>
        <p:nvSpPr>
          <p:cNvPr id="39" name="Text 33"/>
          <p:cNvSpPr txBox="1"/>
          <p:nvPr/>
        </p:nvSpPr>
        <p:spPr>
          <a:xfrm>
            <a:off x="6080760" y="1444752"/>
            <a:ext cx="2423160" cy="274320"/>
          </a:xfrm>
          <a:prstGeom prst="rect">
            <a:avLst/>
          </a:prstGeom>
          <a:noFill/>
          <a:ln/>
        </p:spPr>
        <p:txBody>
          <a:bodyPr wrap="square" lIns="0" tIns="0" rIns="0" bIns="0" rtlCol="0" anchor="t"/>
          <a:lstStyle/>
          <a:p>
            <a:pPr indent="0" marL="0">
              <a:buNone/>
            </a:pPr>
            <a:r>
              <a:rPr lang="en-US" sz="1150" b="1" dirty="0">
                <a:solidFill>
                  <a:srgbClr val="00553A"/>
                </a:solidFill>
                <a:latin typeface="Calibri" pitchFamily="34" charset="0"/>
                <a:ea typeface="Calibri" pitchFamily="34" charset="-122"/>
                <a:cs typeface="Calibri" pitchFamily="34" charset="-120"/>
              </a:rPr>
              <a:t>Table annuelle · unité × année</a:t>
            </a:r>
            <a:endParaRPr lang="en-US" sz="1150" dirty="0"/>
          </a:p>
        </p:txBody>
      </p:sp>
      <p:sp>
        <p:nvSpPr>
          <p:cNvPr id="40" name="Text 34"/>
          <p:cNvSpPr txBox="1"/>
          <p:nvPr/>
        </p:nvSpPr>
        <p:spPr>
          <a:xfrm>
            <a:off x="6080760" y="1783080"/>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sol · sol_raw</a:t>
            </a:r>
            <a:endParaRPr lang="en-US" sz="900" dirty="0"/>
          </a:p>
        </p:txBody>
      </p:sp>
      <p:sp>
        <p:nvSpPr>
          <p:cNvPr id="41" name="Text 35"/>
          <p:cNvSpPr txBox="1"/>
          <p:nvPr/>
        </p:nvSpPr>
        <p:spPr>
          <a:xfrm>
            <a:off x="6080760" y="1965960"/>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lumière nettoyée · avant masque torchères</a:t>
            </a:r>
            <a:endParaRPr lang="en-US" sz="900" dirty="0"/>
          </a:p>
        </p:txBody>
      </p:sp>
      <p:sp>
        <p:nvSpPr>
          <p:cNvPr id="42" name="Text 36"/>
          <p:cNvSpPr txBox="1"/>
          <p:nvPr/>
        </p:nvSpPr>
        <p:spPr>
          <a:xfrm>
            <a:off x="6080760" y="2212848"/>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lit_km2 · area_km2</a:t>
            </a:r>
            <a:endParaRPr lang="en-US" sz="900" dirty="0"/>
          </a:p>
        </p:txBody>
      </p:sp>
      <p:sp>
        <p:nvSpPr>
          <p:cNvPr id="43" name="Text 37"/>
          <p:cNvSpPr txBox="1"/>
          <p:nvPr/>
        </p:nvSpPr>
        <p:spPr>
          <a:xfrm>
            <a:off x="6080760" y="2395728"/>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surface ≥ 0,5 nW · surface totale</a:t>
            </a:r>
            <a:endParaRPr lang="en-US" sz="900" dirty="0"/>
          </a:p>
        </p:txBody>
      </p:sp>
      <p:sp>
        <p:nvSpPr>
          <p:cNvPr id="44" name="Text 38"/>
          <p:cNvSpPr txBox="1"/>
          <p:nvPr/>
        </p:nvSpPr>
        <p:spPr>
          <a:xfrm>
            <a:off x="6080760" y="2642616"/>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pop · pop_inhabited</a:t>
            </a:r>
            <a:endParaRPr lang="en-US" sz="900" dirty="0"/>
          </a:p>
        </p:txBody>
      </p:sp>
      <p:sp>
        <p:nvSpPr>
          <p:cNvPr id="45" name="Text 39"/>
          <p:cNvSpPr txBox="1"/>
          <p:nvPr/>
        </p:nvSpPr>
        <p:spPr>
          <a:xfrm>
            <a:off x="6080760" y="2825496"/>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population · dans pixels ≥ 5 personnes</a:t>
            </a:r>
            <a:endParaRPr lang="en-US" sz="900" dirty="0"/>
          </a:p>
        </p:txBody>
      </p:sp>
      <p:sp>
        <p:nvSpPr>
          <p:cNvPr id="46" name="Text 40"/>
          <p:cNvSpPr txBox="1"/>
          <p:nvPr/>
        </p:nvSpPr>
        <p:spPr>
          <a:xfrm>
            <a:off x="6080760" y="3072384"/>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pop_dark_&lt;t&gt;</a:t>
            </a:r>
            <a:endParaRPr lang="en-US" sz="900" dirty="0"/>
          </a:p>
        </p:txBody>
      </p:sp>
      <p:sp>
        <p:nvSpPr>
          <p:cNvPr id="47" name="Text 41"/>
          <p:cNvSpPr txBox="1"/>
          <p:nvPr/>
        </p:nvSpPr>
        <p:spPr>
          <a:xfrm>
            <a:off x="6080760" y="3255264"/>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habités, radiance &lt; seuil t</a:t>
            </a:r>
            <a:endParaRPr lang="en-US" sz="900" dirty="0"/>
          </a:p>
        </p:txBody>
      </p:sp>
      <p:sp>
        <p:nvSpPr>
          <p:cNvPr id="48" name="Text 42"/>
          <p:cNvSpPr txBox="1"/>
          <p:nvPr/>
        </p:nvSpPr>
        <p:spPr>
          <a:xfrm>
            <a:off x="6080760" y="3502152"/>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pop_urban · sol_urban</a:t>
            </a:r>
            <a:endParaRPr lang="en-US" sz="900" dirty="0"/>
          </a:p>
        </p:txBody>
      </p:sp>
      <p:sp>
        <p:nvSpPr>
          <p:cNvPr id="49" name="Text 43"/>
          <p:cNvSpPr txBox="1"/>
          <p:nvPr/>
        </p:nvSpPr>
        <p:spPr>
          <a:xfrm>
            <a:off x="6080760" y="3685032"/>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population et lumière où SMOD ≥ 21</a:t>
            </a:r>
            <a:endParaRPr lang="en-US" sz="900" dirty="0"/>
          </a:p>
        </p:txBody>
      </p:sp>
      <p:sp>
        <p:nvSpPr>
          <p:cNvPr id="50" name="Text 44"/>
          <p:cNvSpPr txBox="1"/>
          <p:nvPr/>
        </p:nvSpPr>
        <p:spPr>
          <a:xfrm>
            <a:off x="6080760" y="3931920"/>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flare_sol</a:t>
            </a:r>
            <a:endParaRPr lang="en-US" sz="900" dirty="0"/>
          </a:p>
        </p:txBody>
      </p:sp>
      <p:sp>
        <p:nvSpPr>
          <p:cNvPr id="51" name="Text 45"/>
          <p:cNvSpPr txBox="1"/>
          <p:nvPr/>
        </p:nvSpPr>
        <p:spPr>
          <a:xfrm>
            <a:off x="6080760" y="4114800"/>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lumière retirée comme torchère</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NETTOYAGE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Retirer tout ce qui n'est pas de l'activité humaine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606040" cy="1298448"/>
          </a:xfrm>
          <a:prstGeom prst="roundRect">
            <a:avLst>
              <a:gd name="adj" fmla="val 5634"/>
            </a:avLst>
          </a:prstGeom>
          <a:solidFill>
            <a:srgbClr val="E8F5EF"/>
          </a:solidFill>
          <a:ln w="15875">
            <a:solidFill>
              <a:srgbClr val="D49A00"/>
            </a:solidFill>
            <a:prstDash val="solid"/>
          </a:ln>
        </p:spPr>
      </p:sp>
      <p:sp>
        <p:nvSpPr>
          <p:cNvPr id="12" name="Shape 9"/>
          <p:cNvSpPr/>
          <p:nvPr/>
        </p:nvSpPr>
        <p:spPr>
          <a:xfrm>
            <a:off x="603504" y="1517904"/>
            <a:ext cx="457200" cy="457200"/>
          </a:xfrm>
          <a:prstGeom prst="ellipse">
            <a:avLst/>
          </a:prstGeom>
          <a:solidFill>
            <a:srgbClr val="D49A00">
              <a:alpha val="22000"/>
            </a:srgbClr>
          </a:solidFill>
          <a:ln w="12700">
            <a:solidFill>
              <a:srgbClr val="D49A00">
                <a:alpha val="0"/>
              </a:srgbClr>
            </a:solidFill>
            <a:prstDash val="solid"/>
          </a:ln>
        </p:spPr>
      </p:sp>
      <p:pic>
        <p:nvPicPr>
          <p:cNvPr id="13" name="Image 0" descr="preencoded.png">    </p:cNvPr>
          <p:cNvPicPr>
            <a:picLocks noChangeAspect="1"/>
          </p:cNvPicPr>
          <p:nvPr/>
        </p:nvPicPr>
        <p:blipFill>
          <a:blip r:embed="rId1"/>
          <a:stretch>
            <a:fillRect/>
          </a:stretch>
        </p:blipFill>
        <p:spPr>
          <a:xfrm>
            <a:off x="713232" y="1627632"/>
            <a:ext cx="237744" cy="237744"/>
          </a:xfrm>
          <a:prstGeom prst="rect">
            <a:avLst/>
          </a:prstGeom>
        </p:spPr>
      </p:pic>
      <p:sp>
        <p:nvSpPr>
          <p:cNvPr id="14" name="Text 10"/>
          <p:cNvSpPr txBox="1"/>
          <p:nvPr/>
        </p:nvSpPr>
        <p:spPr>
          <a:xfrm>
            <a:off x="117043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1 · Nuages</a:t>
            </a:r>
            <a:endParaRPr lang="en-US" sz="1300" dirty="0"/>
          </a:p>
        </p:txBody>
      </p:sp>
      <p:sp>
        <p:nvSpPr>
          <p:cNvPr id="15" name="Text 11"/>
          <p:cNvSpPr txBox="1"/>
          <p:nvPr/>
        </p:nvSpPr>
        <p:spPr>
          <a:xfrm>
            <a:off x="603504" y="204825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cf_cvg ≥ 2 · pixel nuageux = sa valeur annuelle · unité-mois gardée si ≥ 80 % observée</a:t>
            </a:r>
            <a:endParaRPr lang="en-US" sz="1050" dirty="0"/>
          </a:p>
        </p:txBody>
      </p:sp>
      <p:sp>
        <p:nvSpPr>
          <p:cNvPr id="16" name="Shape 12"/>
          <p:cNvSpPr/>
          <p:nvPr/>
        </p:nvSpPr>
        <p:spPr>
          <a:xfrm>
            <a:off x="3246120" y="1371600"/>
            <a:ext cx="2606040" cy="1298448"/>
          </a:xfrm>
          <a:prstGeom prst="roundRect">
            <a:avLst>
              <a:gd name="adj" fmla="val 5634"/>
            </a:avLst>
          </a:prstGeom>
          <a:solidFill>
            <a:srgbClr val="F4F7F5"/>
          </a:solidFill>
          <a:ln w="9525">
            <a:solidFill>
              <a:srgbClr val="D5DED9"/>
            </a:solidFill>
            <a:prstDash val="solid"/>
          </a:ln>
        </p:spPr>
      </p:sp>
      <p:sp>
        <p:nvSpPr>
          <p:cNvPr id="17" name="Shape 13"/>
          <p:cNvSpPr/>
          <p:nvPr/>
        </p:nvSpPr>
        <p:spPr>
          <a:xfrm>
            <a:off x="3392424" y="1517904"/>
            <a:ext cx="457200" cy="457200"/>
          </a:xfrm>
          <a:prstGeom prst="ellipse">
            <a:avLst/>
          </a:prstGeom>
          <a:solidFill>
            <a:srgbClr val="D49A00">
              <a:alpha val="22000"/>
            </a:srgbClr>
          </a:solidFill>
          <a:ln w="12700">
            <a:solidFill>
              <a:srgbClr val="D49A00">
                <a:alpha val="0"/>
              </a:srgbClr>
            </a:solidFill>
            <a:prstDash val="solid"/>
          </a:ln>
        </p:spPr>
      </p:sp>
      <p:pic>
        <p:nvPicPr>
          <p:cNvPr id="18" name="Image 1" descr="preencoded.png">    </p:cNvPr>
          <p:cNvPicPr>
            <a:picLocks noChangeAspect="1"/>
          </p:cNvPicPr>
          <p:nvPr/>
        </p:nvPicPr>
        <p:blipFill>
          <a:blip r:embed="rId2"/>
          <a:stretch>
            <a:fillRect/>
          </a:stretch>
        </p:blipFill>
        <p:spPr>
          <a:xfrm>
            <a:off x="3502152" y="1627632"/>
            <a:ext cx="237744" cy="237744"/>
          </a:xfrm>
          <a:prstGeom prst="rect">
            <a:avLst/>
          </a:prstGeom>
        </p:spPr>
      </p:pic>
      <p:sp>
        <p:nvSpPr>
          <p:cNvPr id="19" name="Text 14"/>
          <p:cNvSpPr txBox="1"/>
          <p:nvPr/>
        </p:nvSpPr>
        <p:spPr>
          <a:xfrm>
            <a:off x="395935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2 · Négatifs</a:t>
            </a:r>
            <a:endParaRPr lang="en-US" sz="1300" dirty="0"/>
          </a:p>
        </p:txBody>
      </p:sp>
      <p:sp>
        <p:nvSpPr>
          <p:cNvPr id="20" name="Text 15"/>
          <p:cNvSpPr txBox="1"/>
          <p:nvPr/>
        </p:nvSpPr>
        <p:spPr>
          <a:xfrm>
            <a:off x="3392424" y="204825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Mis à 0 : bruit de calibration sur zones sombres</a:t>
            </a:r>
            <a:endParaRPr lang="en-US" sz="1050" dirty="0"/>
          </a:p>
        </p:txBody>
      </p:sp>
      <p:sp>
        <p:nvSpPr>
          <p:cNvPr id="21" name="Shape 16"/>
          <p:cNvSpPr/>
          <p:nvPr/>
        </p:nvSpPr>
        <p:spPr>
          <a:xfrm>
            <a:off x="6035040" y="1371600"/>
            <a:ext cx="2606040" cy="1298448"/>
          </a:xfrm>
          <a:prstGeom prst="roundRect">
            <a:avLst>
              <a:gd name="adj" fmla="val 5634"/>
            </a:avLst>
          </a:prstGeom>
          <a:solidFill>
            <a:srgbClr val="F4F7F5"/>
          </a:solidFill>
          <a:ln w="9525">
            <a:solidFill>
              <a:srgbClr val="D5DED9"/>
            </a:solidFill>
            <a:prstDash val="solid"/>
          </a:ln>
        </p:spPr>
      </p:sp>
      <p:sp>
        <p:nvSpPr>
          <p:cNvPr id="22" name="Shape 17"/>
          <p:cNvSpPr/>
          <p:nvPr/>
        </p:nvSpPr>
        <p:spPr>
          <a:xfrm>
            <a:off x="6181344" y="1517904"/>
            <a:ext cx="457200" cy="457200"/>
          </a:xfrm>
          <a:prstGeom prst="ellipse">
            <a:avLst/>
          </a:prstGeom>
          <a:solidFill>
            <a:srgbClr val="D49A00">
              <a:alpha val="22000"/>
            </a:srgbClr>
          </a:solidFill>
          <a:ln w="12700">
            <a:solidFill>
              <a:srgbClr val="D49A00">
                <a:alpha val="0"/>
              </a:srgbClr>
            </a:solidFill>
            <a:prstDash val="solid"/>
          </a:ln>
        </p:spPr>
      </p:sp>
      <p:pic>
        <p:nvPicPr>
          <p:cNvPr id="23" name="Image 2" descr="preencoded.png">    </p:cNvPr>
          <p:cNvPicPr>
            <a:picLocks noChangeAspect="1"/>
          </p:cNvPicPr>
          <p:nvPr/>
        </p:nvPicPr>
        <p:blipFill>
          <a:blip r:embed="rId3"/>
          <a:stretch>
            <a:fillRect/>
          </a:stretch>
        </p:blipFill>
        <p:spPr>
          <a:xfrm>
            <a:off x="6291072" y="1627632"/>
            <a:ext cx="237744" cy="237744"/>
          </a:xfrm>
          <a:prstGeom prst="rect">
            <a:avLst/>
          </a:prstGeom>
        </p:spPr>
      </p:pic>
      <p:sp>
        <p:nvSpPr>
          <p:cNvPr id="24" name="Text 18"/>
          <p:cNvSpPr txBox="1"/>
          <p:nvPr/>
        </p:nvSpPr>
        <p:spPr>
          <a:xfrm>
            <a:off x="674827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3 · Aberrants</a:t>
            </a:r>
            <a:endParaRPr lang="en-US" sz="1300" dirty="0"/>
          </a:p>
        </p:txBody>
      </p:sp>
      <p:sp>
        <p:nvSpPr>
          <p:cNvPr id="25" name="Text 19"/>
          <p:cNvSpPr txBox="1"/>
          <p:nvPr/>
        </p:nvSpPr>
        <p:spPr>
          <a:xfrm>
            <a:off x="6181344" y="204825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Plafond 1000 nW · &gt; 5 × médiane annuelle → médiane (feux, éclairs, reflets)</a:t>
            </a:r>
            <a:endParaRPr lang="en-US" sz="1050" dirty="0"/>
          </a:p>
        </p:txBody>
      </p:sp>
      <p:sp>
        <p:nvSpPr>
          <p:cNvPr id="26" name="Shape 20"/>
          <p:cNvSpPr/>
          <p:nvPr/>
        </p:nvSpPr>
        <p:spPr>
          <a:xfrm>
            <a:off x="457200" y="2834640"/>
            <a:ext cx="2606040" cy="1298448"/>
          </a:xfrm>
          <a:prstGeom prst="roundRect">
            <a:avLst>
              <a:gd name="adj" fmla="val 5634"/>
            </a:avLst>
          </a:prstGeom>
          <a:solidFill>
            <a:srgbClr val="F4F7F5"/>
          </a:solidFill>
          <a:ln w="9525">
            <a:solidFill>
              <a:srgbClr val="D5DED9"/>
            </a:solidFill>
            <a:prstDash val="solid"/>
          </a:ln>
        </p:spPr>
      </p:sp>
      <p:sp>
        <p:nvSpPr>
          <p:cNvPr id="27" name="Shape 21"/>
          <p:cNvSpPr/>
          <p:nvPr/>
        </p:nvSpPr>
        <p:spPr>
          <a:xfrm>
            <a:off x="603504" y="2980944"/>
            <a:ext cx="457200" cy="457200"/>
          </a:xfrm>
          <a:prstGeom prst="ellipse">
            <a:avLst/>
          </a:prstGeom>
          <a:solidFill>
            <a:srgbClr val="D49A00">
              <a:alpha val="22000"/>
            </a:srgbClr>
          </a:solidFill>
          <a:ln w="12700">
            <a:solidFill>
              <a:srgbClr val="D49A00">
                <a:alpha val="0"/>
              </a:srgbClr>
            </a:solidFill>
            <a:prstDash val="solid"/>
          </a:ln>
        </p:spPr>
      </p:sp>
      <p:pic>
        <p:nvPicPr>
          <p:cNvPr id="28" name="Image 3" descr="preencoded.png">    </p:cNvPr>
          <p:cNvPicPr>
            <a:picLocks noChangeAspect="1"/>
          </p:cNvPicPr>
          <p:nvPr/>
        </p:nvPicPr>
        <p:blipFill>
          <a:blip r:embed="rId4"/>
          <a:stretch>
            <a:fillRect/>
          </a:stretch>
        </p:blipFill>
        <p:spPr>
          <a:xfrm>
            <a:off x="713232" y="3090672"/>
            <a:ext cx="237744" cy="237744"/>
          </a:xfrm>
          <a:prstGeom prst="rect">
            <a:avLst/>
          </a:prstGeom>
        </p:spPr>
      </p:pic>
      <p:sp>
        <p:nvSpPr>
          <p:cNvPr id="29" name="Text 22"/>
          <p:cNvSpPr txBox="1"/>
          <p:nvPr/>
        </p:nvSpPr>
        <p:spPr>
          <a:xfrm>
            <a:off x="1170432" y="298094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4 · Fond</a:t>
            </a:r>
            <a:endParaRPr lang="en-US" sz="1300" dirty="0"/>
          </a:p>
        </p:txBody>
      </p:sp>
      <p:sp>
        <p:nvSpPr>
          <p:cNvPr id="30" name="Text 23"/>
          <p:cNvSpPr txBox="1"/>
          <p:nvPr/>
        </p:nvSpPr>
        <p:spPr>
          <a:xfrm>
            <a:off x="603504" y="351129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Non éclairé dans l'annuel → 0 ; pixels nouvellement allumés gardés si année non publiée</a:t>
            </a:r>
            <a:endParaRPr lang="en-US" sz="1050" dirty="0"/>
          </a:p>
        </p:txBody>
      </p:sp>
      <p:sp>
        <p:nvSpPr>
          <p:cNvPr id="31" name="Shape 24"/>
          <p:cNvSpPr/>
          <p:nvPr/>
        </p:nvSpPr>
        <p:spPr>
          <a:xfrm>
            <a:off x="3246120" y="2834640"/>
            <a:ext cx="2606040" cy="1298448"/>
          </a:xfrm>
          <a:prstGeom prst="roundRect">
            <a:avLst>
              <a:gd name="adj" fmla="val 5634"/>
            </a:avLst>
          </a:prstGeom>
          <a:solidFill>
            <a:srgbClr val="F4F7F5"/>
          </a:solidFill>
          <a:ln w="9525">
            <a:solidFill>
              <a:srgbClr val="D5DED9"/>
            </a:solidFill>
            <a:prstDash val="solid"/>
          </a:ln>
        </p:spPr>
      </p:sp>
      <p:sp>
        <p:nvSpPr>
          <p:cNvPr id="32" name="Shape 25"/>
          <p:cNvSpPr/>
          <p:nvPr/>
        </p:nvSpPr>
        <p:spPr>
          <a:xfrm>
            <a:off x="3392424" y="2980944"/>
            <a:ext cx="457200" cy="457200"/>
          </a:xfrm>
          <a:prstGeom prst="ellipse">
            <a:avLst/>
          </a:prstGeom>
          <a:solidFill>
            <a:srgbClr val="D49A00">
              <a:alpha val="22000"/>
            </a:srgbClr>
          </a:solidFill>
          <a:ln w="12700">
            <a:solidFill>
              <a:srgbClr val="D49A00">
                <a:alpha val="0"/>
              </a:srgbClr>
            </a:solidFill>
            <a:prstDash val="solid"/>
          </a:ln>
        </p:spPr>
      </p:sp>
      <p:pic>
        <p:nvPicPr>
          <p:cNvPr id="33" name="Image 4" descr="preencoded.png">    </p:cNvPr>
          <p:cNvPicPr>
            <a:picLocks noChangeAspect="1"/>
          </p:cNvPicPr>
          <p:nvPr/>
        </p:nvPicPr>
        <p:blipFill>
          <a:blip r:embed="rId5"/>
          <a:stretch>
            <a:fillRect/>
          </a:stretch>
        </p:blipFill>
        <p:spPr>
          <a:xfrm>
            <a:off x="3502152" y="3090672"/>
            <a:ext cx="237744" cy="237744"/>
          </a:xfrm>
          <a:prstGeom prst="rect">
            <a:avLst/>
          </a:prstGeom>
        </p:spPr>
      </p:pic>
      <p:sp>
        <p:nvSpPr>
          <p:cNvPr id="34" name="Text 26"/>
          <p:cNvSpPr txBox="1"/>
          <p:nvPr/>
        </p:nvSpPr>
        <p:spPr>
          <a:xfrm>
            <a:off x="3959352" y="298094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5 · Torchères</a:t>
            </a:r>
            <a:endParaRPr lang="en-US" sz="1300" dirty="0"/>
          </a:p>
        </p:txBody>
      </p:sp>
      <p:sp>
        <p:nvSpPr>
          <p:cNvPr id="35" name="Text 27"/>
          <p:cNvSpPr txBox="1"/>
          <p:nvPr/>
        </p:nvSpPr>
        <p:spPr>
          <a:xfrm>
            <a:off x="3392424" y="351129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 50 nW, &lt; 5 habitants, non bâti → retirés avec un halo de 2 km</a:t>
            </a:r>
            <a:endParaRPr lang="en-US" sz="1050" dirty="0"/>
          </a:p>
        </p:txBody>
      </p:sp>
      <p:sp>
        <p:nvSpPr>
          <p:cNvPr id="36" name="Shape 28"/>
          <p:cNvSpPr/>
          <p:nvPr/>
        </p:nvSpPr>
        <p:spPr>
          <a:xfrm>
            <a:off x="6035040" y="2834640"/>
            <a:ext cx="2606040" cy="1298448"/>
          </a:xfrm>
          <a:prstGeom prst="roundRect">
            <a:avLst>
              <a:gd name="adj" fmla="val 5634"/>
            </a:avLst>
          </a:prstGeom>
          <a:solidFill>
            <a:srgbClr val="F4F7F5"/>
          </a:solidFill>
          <a:ln w="9525">
            <a:solidFill>
              <a:srgbClr val="D5DED9"/>
            </a:solidFill>
            <a:prstDash val="solid"/>
          </a:ln>
        </p:spPr>
      </p:sp>
      <p:sp>
        <p:nvSpPr>
          <p:cNvPr id="37" name="Shape 29"/>
          <p:cNvSpPr/>
          <p:nvPr/>
        </p:nvSpPr>
        <p:spPr>
          <a:xfrm>
            <a:off x="6181344" y="2980944"/>
            <a:ext cx="457200" cy="457200"/>
          </a:xfrm>
          <a:prstGeom prst="ellipse">
            <a:avLst/>
          </a:prstGeom>
          <a:solidFill>
            <a:srgbClr val="D49A00">
              <a:alpha val="22000"/>
            </a:srgbClr>
          </a:solidFill>
          <a:ln w="12700">
            <a:solidFill>
              <a:srgbClr val="D49A00">
                <a:alpha val="0"/>
              </a:srgbClr>
            </a:solidFill>
            <a:prstDash val="solid"/>
          </a:ln>
        </p:spPr>
      </p:sp>
      <p:pic>
        <p:nvPicPr>
          <p:cNvPr id="38" name="Image 5" descr="preencoded.png">    </p:cNvPr>
          <p:cNvPicPr>
            <a:picLocks noChangeAspect="1"/>
          </p:cNvPicPr>
          <p:nvPr/>
        </p:nvPicPr>
        <p:blipFill>
          <a:blip r:embed="rId6"/>
          <a:stretch>
            <a:fillRect/>
          </a:stretch>
        </p:blipFill>
        <p:spPr>
          <a:xfrm>
            <a:off x="6291072" y="3090672"/>
            <a:ext cx="237744" cy="237744"/>
          </a:xfrm>
          <a:prstGeom prst="rect">
            <a:avLst/>
          </a:prstGeom>
        </p:spPr>
      </p:pic>
      <p:sp>
        <p:nvSpPr>
          <p:cNvPr id="39" name="Text 30"/>
          <p:cNvSpPr txBox="1"/>
          <p:nvPr/>
        </p:nvSpPr>
        <p:spPr>
          <a:xfrm>
            <a:off x="6748272" y="298094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6 · DMSP</a:t>
            </a:r>
            <a:endParaRPr lang="en-US" sz="1300" dirty="0"/>
          </a:p>
        </p:txBody>
      </p:sp>
      <p:sp>
        <p:nvSpPr>
          <p:cNvPr id="40" name="Text 31"/>
          <p:cNvSpPr txBox="1"/>
          <p:nvPr/>
        </p:nvSpPr>
        <p:spPr>
          <a:xfrm>
            <a:off x="6181344" y="351129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Saturation (DN 63) mesurée ; série harmonisée seuillée à DN &gt; 7</a:t>
            </a:r>
            <a:endParaRPr lang="en-US" sz="1050" dirty="0"/>
          </a:p>
        </p:txBody>
      </p:sp>
      <p:sp>
        <p:nvSpPr>
          <p:cNvPr id="41" name="Text 3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Li et al. (2020) pour le seuil DMSP · tous les seuils sont des paramètres de NTLConfig</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MÉTRIQUES DE BASE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Métriques de base et contrôles, utilisés partout</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DÉFINITION / FORMULE</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COMMENT LA LIRE</a:t>
            </a:r>
            <a:endParaRPr lang="en-US" sz="900" dirty="0"/>
          </a:p>
        </p:txBody>
      </p:sp>
      <p:sp>
        <p:nvSpPr>
          <p:cNvPr id="14" name="Shape 11"/>
          <p:cNvSpPr/>
          <p:nvPr/>
        </p:nvSpPr>
        <p:spPr>
          <a:xfrm>
            <a:off x="457200" y="1609344"/>
            <a:ext cx="8229600" cy="384048"/>
          </a:xfrm>
          <a:prstGeom prst="roundRect">
            <a:avLst>
              <a:gd name="adj" fmla="val 11905"/>
            </a:avLst>
          </a:prstGeom>
          <a:solidFill>
            <a:srgbClr val="F4F7F5"/>
          </a:solidFill>
          <a:ln w="6350">
            <a:solidFill>
              <a:srgbClr val="D5DED9"/>
            </a:solidFill>
            <a:prstDash val="solid"/>
          </a:ln>
        </p:spPr>
      </p:sp>
      <p:sp>
        <p:nvSpPr>
          <p:cNvPr id="15" name="Text 12"/>
          <p:cNvSpPr txBox="1"/>
          <p:nvPr/>
        </p:nvSpPr>
        <p:spPr>
          <a:xfrm>
            <a:off x="548640" y="1609344"/>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Somme des lumières (SoL)</a:t>
            </a:r>
            <a:endParaRPr lang="en-US" sz="1050" dirty="0"/>
          </a:p>
        </p:txBody>
      </p:sp>
      <p:sp>
        <p:nvSpPr>
          <p:cNvPr id="16" name="Text 13"/>
          <p:cNvSpPr txBox="1"/>
          <p:nvPr/>
        </p:nvSpPr>
        <p:spPr>
          <a:xfrm>
            <a:off x="2331720" y="1609344"/>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radiance des pixels nettoyés de l'unité</a:t>
            </a:r>
            <a:endParaRPr lang="en-US" sz="1000" dirty="0"/>
          </a:p>
        </p:txBody>
      </p:sp>
      <p:sp>
        <p:nvSpPr>
          <p:cNvPr id="17" name="Text 14"/>
          <p:cNvSpPr txBox="1"/>
          <p:nvPr/>
        </p:nvSpPr>
        <p:spPr>
          <a:xfrm>
            <a:off x="5394960" y="1609344"/>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Indice d'activité ; comparer dans le temps, avec prudence entre latitudes</a:t>
            </a:r>
            <a:endParaRPr lang="en-US" sz="950" dirty="0"/>
          </a:p>
        </p:txBody>
      </p:sp>
      <p:sp>
        <p:nvSpPr>
          <p:cNvPr id="18" name="Shape 15"/>
          <p:cNvSpPr/>
          <p:nvPr/>
        </p:nvSpPr>
        <p:spPr>
          <a:xfrm>
            <a:off x="457200" y="2048256"/>
            <a:ext cx="8229600" cy="384048"/>
          </a:xfrm>
          <a:prstGeom prst="roundRect">
            <a:avLst>
              <a:gd name="adj" fmla="val 11905"/>
            </a:avLst>
          </a:prstGeom>
          <a:solidFill>
            <a:srgbClr val="FFFFFF"/>
          </a:solidFill>
          <a:ln w="6350">
            <a:solidFill>
              <a:srgbClr val="D5DED9"/>
            </a:solidFill>
            <a:prstDash val="solid"/>
          </a:ln>
        </p:spPr>
      </p:sp>
      <p:sp>
        <p:nvSpPr>
          <p:cNvPr id="19" name="Text 16"/>
          <p:cNvSpPr txBox="1"/>
          <p:nvPr/>
        </p:nvSpPr>
        <p:spPr>
          <a:xfrm>
            <a:off x="548640" y="2048256"/>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Lumière par habitant</a:t>
            </a:r>
            <a:endParaRPr lang="en-US" sz="1050" dirty="0"/>
          </a:p>
        </p:txBody>
      </p:sp>
      <p:sp>
        <p:nvSpPr>
          <p:cNvPr id="20" name="Text 17"/>
          <p:cNvSpPr txBox="1"/>
          <p:nvPr/>
        </p:nvSpPr>
        <p:spPr>
          <a:xfrm>
            <a:off x="2331720" y="2048256"/>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 population</a:t>
            </a:r>
            <a:endParaRPr lang="en-US" sz="1000" dirty="0"/>
          </a:p>
        </p:txBody>
      </p:sp>
      <p:sp>
        <p:nvSpPr>
          <p:cNvPr id="21" name="Text 18"/>
          <p:cNvSpPr txBox="1"/>
          <p:nvPr/>
        </p:nvSpPr>
        <p:spPr>
          <a:xfrm>
            <a:off x="5394960" y="2048256"/>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Zone active vs simplement peuplée</a:t>
            </a:r>
            <a:endParaRPr lang="en-US" sz="950" dirty="0"/>
          </a:p>
        </p:txBody>
      </p:sp>
      <p:sp>
        <p:nvSpPr>
          <p:cNvPr id="22" name="Shape 19"/>
          <p:cNvSpPr/>
          <p:nvPr/>
        </p:nvSpPr>
        <p:spPr>
          <a:xfrm>
            <a:off x="457200" y="2487168"/>
            <a:ext cx="8229600" cy="384048"/>
          </a:xfrm>
          <a:prstGeom prst="roundRect">
            <a:avLst>
              <a:gd name="adj" fmla="val 11905"/>
            </a:avLst>
          </a:prstGeom>
          <a:solidFill>
            <a:srgbClr val="F4F7F5"/>
          </a:solidFill>
          <a:ln w="6350">
            <a:solidFill>
              <a:srgbClr val="D5DED9"/>
            </a:solidFill>
            <a:prstDash val="solid"/>
          </a:ln>
        </p:spPr>
      </p:sp>
      <p:sp>
        <p:nvSpPr>
          <p:cNvPr id="23" name="Text 20"/>
          <p:cNvSpPr txBox="1"/>
          <p:nvPr/>
        </p:nvSpPr>
        <p:spPr>
          <a:xfrm>
            <a:off x="548640" y="2487168"/>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Part de surface éclairée</a:t>
            </a:r>
            <a:endParaRPr lang="en-US" sz="1050" dirty="0"/>
          </a:p>
        </p:txBody>
      </p:sp>
      <p:sp>
        <p:nvSpPr>
          <p:cNvPr id="24" name="Text 21"/>
          <p:cNvSpPr txBox="1"/>
          <p:nvPr/>
        </p:nvSpPr>
        <p:spPr>
          <a:xfrm>
            <a:off x="2331720" y="2487168"/>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surface à radiance ≥ 0,5 nW / surface de l'unité</a:t>
            </a:r>
            <a:endParaRPr lang="en-US" sz="1000" dirty="0"/>
          </a:p>
        </p:txBody>
      </p:sp>
      <p:sp>
        <p:nvSpPr>
          <p:cNvPr id="25" name="Text 22"/>
          <p:cNvSpPr txBox="1"/>
          <p:nvPr/>
        </p:nvSpPr>
        <p:spPr>
          <a:xfrm>
            <a:off x="5394960" y="2487168"/>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Étendue spatiale de l'électrification et du peuplement</a:t>
            </a:r>
            <a:endParaRPr lang="en-US" sz="950" dirty="0"/>
          </a:p>
        </p:txBody>
      </p:sp>
      <p:sp>
        <p:nvSpPr>
          <p:cNvPr id="26" name="Shape 23"/>
          <p:cNvSpPr/>
          <p:nvPr/>
        </p:nvSpPr>
        <p:spPr>
          <a:xfrm>
            <a:off x="457200" y="2926080"/>
            <a:ext cx="8229600" cy="384048"/>
          </a:xfrm>
          <a:prstGeom prst="roundRect">
            <a:avLst>
              <a:gd name="adj" fmla="val 11905"/>
            </a:avLst>
          </a:prstGeom>
          <a:solidFill>
            <a:srgbClr val="FFFFFF"/>
          </a:solidFill>
          <a:ln w="6350">
            <a:solidFill>
              <a:srgbClr val="D5DED9"/>
            </a:solidFill>
            <a:prstDash val="solid"/>
          </a:ln>
        </p:spPr>
      </p:sp>
      <p:sp>
        <p:nvSpPr>
          <p:cNvPr id="27" name="Text 24"/>
          <p:cNvSpPr txBox="1"/>
          <p:nvPr/>
        </p:nvSpPr>
        <p:spPr>
          <a:xfrm>
            <a:off x="548640" y="2926080"/>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Part des torchères</a:t>
            </a:r>
            <a:endParaRPr lang="en-US" sz="1050" dirty="0"/>
          </a:p>
        </p:txBody>
      </p:sp>
      <p:sp>
        <p:nvSpPr>
          <p:cNvPr id="28" name="Text 25"/>
          <p:cNvSpPr txBox="1"/>
          <p:nvPr/>
        </p:nvSpPr>
        <p:spPr>
          <a:xfrm>
            <a:off x="2331720" y="2926080"/>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flare_sol / sol_raw</a:t>
            </a:r>
            <a:endParaRPr lang="en-US" sz="1000" dirty="0"/>
          </a:p>
        </p:txBody>
      </p:sp>
      <p:sp>
        <p:nvSpPr>
          <p:cNvPr id="29" name="Text 26"/>
          <p:cNvSpPr txBox="1"/>
          <p:nvPr/>
        </p:nvSpPr>
        <p:spPr>
          <a:xfrm>
            <a:off x="5394960" y="2926080"/>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Élevée → la lumière pétrolière domine ; résultats moins fiables</a:t>
            </a:r>
            <a:endParaRPr lang="en-US" sz="950" dirty="0"/>
          </a:p>
        </p:txBody>
      </p:sp>
      <p:sp>
        <p:nvSpPr>
          <p:cNvPr id="30" name="Shape 27"/>
          <p:cNvSpPr/>
          <p:nvPr/>
        </p:nvSpPr>
        <p:spPr>
          <a:xfrm>
            <a:off x="457200" y="3364992"/>
            <a:ext cx="8229600" cy="384048"/>
          </a:xfrm>
          <a:prstGeom prst="roundRect">
            <a:avLst>
              <a:gd name="adj" fmla="val 11905"/>
            </a:avLst>
          </a:prstGeom>
          <a:solidFill>
            <a:srgbClr val="F4F7F5"/>
          </a:solidFill>
          <a:ln w="6350">
            <a:solidFill>
              <a:srgbClr val="D5DED9"/>
            </a:solidFill>
            <a:prstDash val="solid"/>
          </a:ln>
        </p:spPr>
      </p:sp>
      <p:sp>
        <p:nvSpPr>
          <p:cNvPr id="31" name="Text 28"/>
          <p:cNvSpPr txBox="1"/>
          <p:nvPr/>
        </p:nvSpPr>
        <p:spPr>
          <a:xfrm>
            <a:off x="548640" y="3364992"/>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Part imputée</a:t>
            </a:r>
            <a:endParaRPr lang="en-US" sz="1050" dirty="0"/>
          </a:p>
        </p:txBody>
      </p:sp>
      <p:sp>
        <p:nvSpPr>
          <p:cNvPr id="32" name="Text 29"/>
          <p:cNvSpPr txBox="1"/>
          <p:nvPr/>
        </p:nvSpPr>
        <p:spPr>
          <a:xfrm>
            <a:off x="2331720" y="3364992"/>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lumière imputée (pixels nuageux) / SoL</a:t>
            </a:r>
            <a:endParaRPr lang="en-US" sz="1000" dirty="0"/>
          </a:p>
        </p:txBody>
      </p:sp>
      <p:sp>
        <p:nvSpPr>
          <p:cNvPr id="33" name="Text 30"/>
          <p:cNvSpPr txBox="1"/>
          <p:nvPr/>
        </p:nvSpPr>
        <p:spPr>
          <a:xfrm>
            <a:off x="5394960" y="3364992"/>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Élevée → le mois repose sur des valeurs annuelles</a:t>
            </a:r>
            <a:endParaRPr lang="en-US" sz="950" dirty="0"/>
          </a:p>
        </p:txBody>
      </p:sp>
      <p:pic>
        <p:nvPicPr>
          <p:cNvPr id="34" name="Image 0" descr="preencoded.png">    </p:cNvPr>
          <p:cNvPicPr>
            <a:picLocks noChangeAspect="1"/>
          </p:cNvPicPr>
          <p:nvPr/>
        </p:nvPicPr>
        <p:blipFill>
          <a:blip r:embed="rId1"/>
          <a:stretch>
            <a:fillRect/>
          </a:stretch>
        </p:blipFill>
        <p:spPr>
          <a:xfrm>
            <a:off x="457200" y="4206240"/>
            <a:ext cx="201168" cy="201168"/>
          </a:xfrm>
          <a:prstGeom prst="rect">
            <a:avLst/>
          </a:prstGeom>
        </p:spPr>
      </p:pic>
      <p:sp>
        <p:nvSpPr>
          <p:cNvPr id="35" name="Text 31"/>
          <p:cNvSpPr txBox="1"/>
          <p:nvPr/>
        </p:nvSpPr>
        <p:spPr>
          <a:xfrm>
            <a:off x="731520" y="4160520"/>
            <a:ext cx="246888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Population GHSL / Banque mondiale dans [0,7 ; 1,3]</a:t>
            </a:r>
            <a:endParaRPr lang="en-US" sz="950" dirty="0"/>
          </a:p>
        </p:txBody>
      </p:sp>
      <p:pic>
        <p:nvPicPr>
          <p:cNvPr id="36" name="Image 1" descr="preencoded.png">    </p:cNvPr>
          <p:cNvPicPr>
            <a:picLocks noChangeAspect="1"/>
          </p:cNvPicPr>
          <p:nvPr/>
        </p:nvPicPr>
        <p:blipFill>
          <a:blip r:embed="rId2"/>
          <a:stretch>
            <a:fillRect/>
          </a:stretch>
        </p:blipFill>
        <p:spPr>
          <a:xfrm>
            <a:off x="3246120" y="4206240"/>
            <a:ext cx="201168" cy="201168"/>
          </a:xfrm>
          <a:prstGeom prst="rect">
            <a:avLst/>
          </a:prstGeom>
        </p:spPr>
      </p:pic>
      <p:sp>
        <p:nvSpPr>
          <p:cNvPr id="37" name="Text 32"/>
          <p:cNvSpPr txBox="1"/>
          <p:nvPr/>
        </p:nvSpPr>
        <p:spPr>
          <a:xfrm>
            <a:off x="3520440" y="4160520"/>
            <a:ext cx="246888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Saut VNL V2.1 → V2.2 vs années voisines</a:t>
            </a:r>
            <a:endParaRPr lang="en-US" sz="950" dirty="0"/>
          </a:p>
        </p:txBody>
      </p:sp>
      <p:pic>
        <p:nvPicPr>
          <p:cNvPr id="38" name="Image 2" descr="preencoded.png">    </p:cNvPr>
          <p:cNvPicPr>
            <a:picLocks noChangeAspect="1"/>
          </p:cNvPicPr>
          <p:nvPr/>
        </p:nvPicPr>
        <p:blipFill>
          <a:blip r:embed="rId3"/>
          <a:stretch>
            <a:fillRect/>
          </a:stretch>
        </p:blipFill>
        <p:spPr>
          <a:xfrm>
            <a:off x="6035040" y="4206240"/>
            <a:ext cx="201168" cy="201168"/>
          </a:xfrm>
          <a:prstGeom prst="rect">
            <a:avLst/>
          </a:prstGeom>
        </p:spPr>
      </p:pic>
      <p:sp>
        <p:nvSpPr>
          <p:cNvPr id="39" name="Text 33"/>
          <p:cNvSpPr txBox="1"/>
          <p:nvPr/>
        </p:nvSpPr>
        <p:spPr>
          <a:xfrm>
            <a:off x="6309360" y="4160520"/>
            <a:ext cx="246888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Saut DMSP → VIIRS (2013 → 2014)</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1</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Dynamique : l'activité progresse-t-elle ?</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3429000" cy="960120"/>
          </a:xfrm>
          <a:prstGeom prst="roundRect">
            <a:avLst>
              <a:gd name="adj" fmla="val 7619"/>
            </a:avLst>
          </a:prstGeom>
          <a:solidFill>
            <a:srgbClr val="E8F5EF"/>
          </a:solidFill>
          <a:ln w="15875">
            <a:solidFill>
              <a:srgbClr val="D49A00"/>
            </a:solidFill>
            <a:prstDash val="solid"/>
          </a:ln>
        </p:spPr>
      </p:sp>
      <p:sp>
        <p:nvSpPr>
          <p:cNvPr id="12" name="Text 9"/>
          <p:cNvSpPr txBox="1"/>
          <p:nvPr/>
        </p:nvSpPr>
        <p:spPr>
          <a:xfrm>
            <a:off x="621792" y="1399032"/>
            <a:ext cx="310896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QUESTION</a:t>
            </a:r>
            <a:endParaRPr lang="en-US" sz="900" dirty="0"/>
          </a:p>
        </p:txBody>
      </p:sp>
      <p:sp>
        <p:nvSpPr>
          <p:cNvPr id="13" name="Text 10"/>
          <p:cNvSpPr txBox="1"/>
          <p:nvPr/>
        </p:nvSpPr>
        <p:spPr>
          <a:xfrm>
            <a:off x="621792" y="1627632"/>
            <a:ext cx="3154680" cy="621792"/>
          </a:xfrm>
          <a:prstGeom prst="rect">
            <a:avLst/>
          </a:prstGeom>
          <a:noFill/>
          <a:ln/>
        </p:spPr>
        <p:txBody>
          <a:bodyPr wrap="square" lIns="0" tIns="0" rIns="0" bIns="0" rtlCol="0" anchor="ctr"/>
          <a:lstStyle/>
          <a:p>
            <a:pPr indent="0" marL="0">
              <a:buNone/>
            </a:pPr>
            <a:r>
              <a:rPr lang="en-US" sz="1250" b="1" i="1" dirty="0">
                <a:solidFill>
                  <a:srgbClr val="231F20"/>
                </a:solidFill>
                <a:latin typeface="Calibri" pitchFamily="34" charset="0"/>
                <a:ea typeface="Calibri" pitchFamily="34" charset="-122"/>
                <a:cs typeface="Calibri" pitchFamily="34" charset="-120"/>
              </a:rPr>
              <a:t>La lumière progresse-t-elle, recule-t-elle ou stagne-t-elle — et un mouvement récent est-il réel ou saisonnier ?</a:t>
            </a:r>
            <a:endParaRPr lang="en-US" sz="1250" dirty="0"/>
          </a:p>
        </p:txBody>
      </p:sp>
      <p:sp>
        <p:nvSpPr>
          <p:cNvPr id="14" name="Text 11"/>
          <p:cNvSpPr txBox="1"/>
          <p:nvPr/>
        </p:nvSpPr>
        <p:spPr>
          <a:xfrm>
            <a:off x="457200" y="2395728"/>
            <a:ext cx="33832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DONNÉES UTILISÉES</a:t>
            </a:r>
            <a:endParaRPr lang="en-US" sz="900" dirty="0"/>
          </a:p>
        </p:txBody>
      </p:sp>
      <p:sp>
        <p:nvSpPr>
          <p:cNvPr id="15" name="Shape 12"/>
          <p:cNvSpPr/>
          <p:nvPr/>
        </p:nvSpPr>
        <p:spPr>
          <a:xfrm>
            <a:off x="457200" y="2670048"/>
            <a:ext cx="347472" cy="347472"/>
          </a:xfrm>
          <a:prstGeom prst="ellipse">
            <a:avLst/>
          </a:prstGeom>
          <a:solidFill>
            <a:srgbClr val="D49A00">
              <a:alpha val="22000"/>
            </a:srgbClr>
          </a:solidFill>
          <a:ln w="12700">
            <a:solidFill>
              <a:srgbClr val="D49A00">
                <a:alpha val="0"/>
              </a:srgbClr>
            </a:solidFill>
            <a:prstDash val="solid"/>
          </a:ln>
        </p:spPr>
      </p:sp>
      <p:pic>
        <p:nvPicPr>
          <p:cNvPr id="16" name="Image 0" descr="preencoded.png">    </p:cNvPr>
          <p:cNvPicPr>
            <a:picLocks noChangeAspect="1"/>
          </p:cNvPicPr>
          <p:nvPr/>
        </p:nvPicPr>
        <p:blipFill>
          <a:blip r:embed="rId1"/>
          <a:stretch>
            <a:fillRect/>
          </a:stretch>
        </p:blipFill>
        <p:spPr>
          <a:xfrm>
            <a:off x="540593" y="2753441"/>
            <a:ext cx="180685" cy="180685"/>
          </a:xfrm>
          <a:prstGeom prst="rect">
            <a:avLst/>
          </a:prstGeom>
        </p:spPr>
      </p:pic>
      <p:sp>
        <p:nvSpPr>
          <p:cNvPr id="17" name="Text 13"/>
          <p:cNvSpPr txBox="1"/>
          <p:nvPr/>
        </p:nvSpPr>
        <p:spPr>
          <a:xfrm>
            <a:off x="896112" y="26517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mensuel</a:t>
            </a:r>
            <a:endParaRPr lang="en-US" sz="1050" dirty="0"/>
          </a:p>
        </p:txBody>
      </p:sp>
      <p:sp>
        <p:nvSpPr>
          <p:cNvPr id="18" name="Text 14"/>
          <p:cNvSpPr txBox="1"/>
          <p:nvPr/>
        </p:nvSpPr>
        <p:spPr>
          <a:xfrm>
            <a:off x="896112" y="28437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sol_adj par unité et par mois, 2014 →</a:t>
            </a:r>
            <a:endParaRPr lang="en-US" sz="900" dirty="0"/>
          </a:p>
        </p:txBody>
      </p:sp>
      <p:sp>
        <p:nvSpPr>
          <p:cNvPr id="19" name="Shape 15"/>
          <p:cNvSpPr/>
          <p:nvPr/>
        </p:nvSpPr>
        <p:spPr>
          <a:xfrm>
            <a:off x="457200" y="3127248"/>
            <a:ext cx="347472" cy="347472"/>
          </a:xfrm>
          <a:prstGeom prst="ellipse">
            <a:avLst/>
          </a:prstGeom>
          <a:solidFill>
            <a:srgbClr val="D49A00">
              <a:alpha val="22000"/>
            </a:srgbClr>
          </a:solidFill>
          <a:ln w="12700">
            <a:solidFill>
              <a:srgbClr val="D49A00">
                <a:alpha val="0"/>
              </a:srgbClr>
            </a:solidFill>
            <a:prstDash val="solid"/>
          </a:ln>
        </p:spPr>
      </p:sp>
      <p:pic>
        <p:nvPicPr>
          <p:cNvPr id="20" name="Image 1" descr="preencoded.png">    </p:cNvPr>
          <p:cNvPicPr>
            <a:picLocks noChangeAspect="1"/>
          </p:cNvPicPr>
          <p:nvPr/>
        </p:nvPicPr>
        <p:blipFill>
          <a:blip r:embed="rId2"/>
          <a:stretch>
            <a:fillRect/>
          </a:stretch>
        </p:blipFill>
        <p:spPr>
          <a:xfrm>
            <a:off x="540593" y="3210641"/>
            <a:ext cx="180685" cy="180685"/>
          </a:xfrm>
          <a:prstGeom prst="rect">
            <a:avLst/>
          </a:prstGeom>
        </p:spPr>
      </p:pic>
      <p:sp>
        <p:nvSpPr>
          <p:cNvPr id="21" name="Text 16"/>
          <p:cNvSpPr txBox="1"/>
          <p:nvPr/>
        </p:nvSpPr>
        <p:spPr>
          <a:xfrm>
            <a:off x="896112" y="31089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annuel</a:t>
            </a:r>
            <a:endParaRPr lang="en-US" sz="1050" dirty="0"/>
          </a:p>
        </p:txBody>
      </p:sp>
      <p:sp>
        <p:nvSpPr>
          <p:cNvPr id="22" name="Text 17"/>
          <p:cNvSpPr txBox="1"/>
          <p:nvPr/>
        </p:nvSpPr>
        <p:spPr>
          <a:xfrm>
            <a:off x="896112" y="33009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par unité et par année</a:t>
            </a:r>
            <a:endParaRPr lang="en-US" sz="900" dirty="0"/>
          </a:p>
        </p:txBody>
      </p:sp>
      <p:sp>
        <p:nvSpPr>
          <p:cNvPr id="23" name="Shape 18"/>
          <p:cNvSpPr/>
          <p:nvPr/>
        </p:nvSpPr>
        <p:spPr>
          <a:xfrm>
            <a:off x="457200" y="3584448"/>
            <a:ext cx="347472" cy="347472"/>
          </a:xfrm>
          <a:prstGeom prst="ellipse">
            <a:avLst/>
          </a:prstGeom>
          <a:solidFill>
            <a:srgbClr val="D49A00">
              <a:alpha val="22000"/>
            </a:srgbClr>
          </a:solidFill>
          <a:ln w="12700">
            <a:solidFill>
              <a:srgbClr val="D49A00">
                <a:alpha val="0"/>
              </a:srgbClr>
            </a:solidFill>
            <a:prstDash val="solid"/>
          </a:ln>
        </p:spPr>
      </p:sp>
      <p:pic>
        <p:nvPicPr>
          <p:cNvPr id="24" name="Image 2" descr="preencoded.png">    </p:cNvPr>
          <p:cNvPicPr>
            <a:picLocks noChangeAspect="1"/>
          </p:cNvPicPr>
          <p:nvPr/>
        </p:nvPicPr>
        <p:blipFill>
          <a:blip r:embed="rId3"/>
          <a:stretch>
            <a:fillRect/>
          </a:stretch>
        </p:blipFill>
        <p:spPr>
          <a:xfrm>
            <a:off x="540593" y="3667841"/>
            <a:ext cx="180685" cy="180685"/>
          </a:xfrm>
          <a:prstGeom prst="rect">
            <a:avLst/>
          </a:prstGeom>
        </p:spPr>
      </p:pic>
      <p:sp>
        <p:nvSpPr>
          <p:cNvPr id="25" name="Text 19"/>
          <p:cNvSpPr txBox="1"/>
          <p:nvPr/>
        </p:nvSpPr>
        <p:spPr>
          <a:xfrm>
            <a:off x="896112" y="35661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DMSP–VIIRS harmonisé</a:t>
            </a:r>
            <a:endParaRPr lang="en-US" sz="1050" dirty="0"/>
          </a:p>
        </p:txBody>
      </p:sp>
      <p:sp>
        <p:nvSpPr>
          <p:cNvPr id="26" name="Text 20"/>
          <p:cNvSpPr txBox="1"/>
          <p:nvPr/>
        </p:nvSpPr>
        <p:spPr>
          <a:xfrm>
            <a:off x="896112" y="37581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1992 →, à lire comme une tendance</a:t>
            </a:r>
            <a:endParaRPr lang="en-US" sz="900" dirty="0"/>
          </a:p>
        </p:txBody>
      </p:sp>
      <p:sp>
        <p:nvSpPr>
          <p:cNvPr id="27" name="Text 21"/>
          <p:cNvSpPr txBox="1"/>
          <p:nvPr/>
        </p:nvSpPr>
        <p:spPr>
          <a:xfrm>
            <a:off x="4206240" y="1325880"/>
            <a:ext cx="448056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MÉTHODE, PAS À PAS</a:t>
            </a:r>
            <a:endParaRPr lang="en-US" sz="900" dirty="0"/>
          </a:p>
        </p:txBody>
      </p:sp>
      <p:sp>
        <p:nvSpPr>
          <p:cNvPr id="28" name="Shape 22"/>
          <p:cNvSpPr/>
          <p:nvPr/>
        </p:nvSpPr>
        <p:spPr>
          <a:xfrm>
            <a:off x="4206240" y="1645920"/>
            <a:ext cx="329184" cy="329184"/>
          </a:xfrm>
          <a:prstGeom prst="ellipse">
            <a:avLst/>
          </a:prstGeom>
          <a:solidFill>
            <a:srgbClr val="D49A00"/>
          </a:solidFill>
          <a:ln w="12700">
            <a:solidFill>
              <a:srgbClr val="D49A00"/>
            </a:solidFill>
            <a:prstDash val="solid"/>
          </a:ln>
        </p:spPr>
      </p:sp>
      <p:sp>
        <p:nvSpPr>
          <p:cNvPr id="29" name="Text 23"/>
          <p:cNvSpPr txBox="1"/>
          <p:nvPr/>
        </p:nvSpPr>
        <p:spPr>
          <a:xfrm>
            <a:off x="4206240" y="1645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4"/>
          <p:cNvSpPr/>
          <p:nvPr/>
        </p:nvSpPr>
        <p:spPr>
          <a:xfrm>
            <a:off x="4370832" y="1993392"/>
            <a:ext cx="0" cy="237744"/>
          </a:xfrm>
          <a:prstGeom prst="line">
            <a:avLst/>
          </a:prstGeom>
          <a:noFill/>
          <a:ln w="15875">
            <a:solidFill>
              <a:srgbClr val="D5DED9"/>
            </a:solidFill>
            <a:prstDash val="solid"/>
          </a:ln>
        </p:spPr>
      </p:sp>
      <p:sp>
        <p:nvSpPr>
          <p:cNvPr id="31" name="Text 25"/>
          <p:cNvSpPr txBox="1"/>
          <p:nvPr/>
        </p:nvSpPr>
        <p:spPr>
          <a:xfrm>
            <a:off x="4663440" y="1627632"/>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Régulariser</a:t>
            </a:r>
            <a:endParaRPr lang="en-US" sz="1150" dirty="0"/>
          </a:p>
        </p:txBody>
      </p:sp>
      <p:sp>
        <p:nvSpPr>
          <p:cNvPr id="32" name="Text 26"/>
          <p:cNvSpPr txBox="1"/>
          <p:nvPr/>
        </p:nvSpPr>
        <p:spPr>
          <a:xfrm>
            <a:off x="4663440" y="1847088"/>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Calendrier mensuel complet ; trous ≤ 3 mois comblés en log-linéaire</a:t>
            </a:r>
            <a:endParaRPr lang="en-US" sz="950" dirty="0"/>
          </a:p>
        </p:txBody>
      </p:sp>
      <p:sp>
        <p:nvSpPr>
          <p:cNvPr id="33" name="Shape 27"/>
          <p:cNvSpPr/>
          <p:nvPr/>
        </p:nvSpPr>
        <p:spPr>
          <a:xfrm>
            <a:off x="4206240" y="2249424"/>
            <a:ext cx="329184" cy="329184"/>
          </a:xfrm>
          <a:prstGeom prst="ellipse">
            <a:avLst/>
          </a:prstGeom>
          <a:solidFill>
            <a:srgbClr val="D49A00"/>
          </a:solidFill>
          <a:ln w="12700">
            <a:solidFill>
              <a:srgbClr val="D49A00"/>
            </a:solidFill>
            <a:prstDash val="solid"/>
          </a:ln>
        </p:spPr>
      </p:sp>
      <p:sp>
        <p:nvSpPr>
          <p:cNvPr id="34" name="Text 28"/>
          <p:cNvSpPr txBox="1"/>
          <p:nvPr/>
        </p:nvSpPr>
        <p:spPr>
          <a:xfrm>
            <a:off x="42062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Shape 29"/>
          <p:cNvSpPr/>
          <p:nvPr/>
        </p:nvSpPr>
        <p:spPr>
          <a:xfrm>
            <a:off x="4370832" y="2596896"/>
            <a:ext cx="0" cy="237744"/>
          </a:xfrm>
          <a:prstGeom prst="line">
            <a:avLst/>
          </a:prstGeom>
          <a:noFill/>
          <a:ln w="15875">
            <a:solidFill>
              <a:srgbClr val="D5DED9"/>
            </a:solidFill>
            <a:prstDash val="solid"/>
          </a:ln>
        </p:spPr>
      </p:sp>
      <p:sp>
        <p:nvSpPr>
          <p:cNvPr id="36" name="Text 30"/>
          <p:cNvSpPr txBox="1"/>
          <p:nvPr/>
        </p:nvSpPr>
        <p:spPr>
          <a:xfrm>
            <a:off x="4663440" y="2231136"/>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Décomposer (STL robuste)</a:t>
            </a:r>
            <a:endParaRPr lang="en-US" sz="1150" dirty="0"/>
          </a:p>
        </p:txBody>
      </p:sp>
      <p:sp>
        <p:nvSpPr>
          <p:cNvPr id="37" name="Text 31"/>
          <p:cNvSpPr txBox="1"/>
          <p:nvPr/>
        </p:nvSpPr>
        <p:spPr>
          <a:xfrm>
            <a:off x="4663440" y="2450592"/>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log(SoL) = tendance + saison (période 12) + résidu</a:t>
            </a:r>
            <a:endParaRPr lang="en-US" sz="950" dirty="0"/>
          </a:p>
        </p:txBody>
      </p:sp>
      <p:sp>
        <p:nvSpPr>
          <p:cNvPr id="38" name="Shape 32"/>
          <p:cNvSpPr/>
          <p:nvPr/>
        </p:nvSpPr>
        <p:spPr>
          <a:xfrm>
            <a:off x="4206240" y="2852928"/>
            <a:ext cx="329184" cy="329184"/>
          </a:xfrm>
          <a:prstGeom prst="ellipse">
            <a:avLst/>
          </a:prstGeom>
          <a:solidFill>
            <a:srgbClr val="D49A00"/>
          </a:solidFill>
          <a:ln w="12700">
            <a:solidFill>
              <a:srgbClr val="D49A00"/>
            </a:solidFill>
            <a:prstDash val="solid"/>
          </a:ln>
        </p:spPr>
      </p:sp>
      <p:sp>
        <p:nvSpPr>
          <p:cNvPr id="39" name="Text 33"/>
          <p:cNvSpPr txBox="1"/>
          <p:nvPr/>
        </p:nvSpPr>
        <p:spPr>
          <a:xfrm>
            <a:off x="4206240"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Shape 34"/>
          <p:cNvSpPr/>
          <p:nvPr/>
        </p:nvSpPr>
        <p:spPr>
          <a:xfrm>
            <a:off x="4370832" y="3200400"/>
            <a:ext cx="0" cy="237744"/>
          </a:xfrm>
          <a:prstGeom prst="line">
            <a:avLst/>
          </a:prstGeom>
          <a:noFill/>
          <a:ln w="15875">
            <a:solidFill>
              <a:srgbClr val="D5DED9"/>
            </a:solidFill>
            <a:prstDash val="solid"/>
          </a:ln>
        </p:spPr>
      </p:sp>
      <p:sp>
        <p:nvSpPr>
          <p:cNvPr id="41" name="Text 35"/>
          <p:cNvSpPr txBox="1"/>
          <p:nvPr/>
        </p:nvSpPr>
        <p:spPr>
          <a:xfrm>
            <a:off x="4663440" y="2834640"/>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Désaisonnaliser</a:t>
            </a:r>
            <a:endParaRPr lang="en-US" sz="1150" dirty="0"/>
          </a:p>
        </p:txBody>
      </p:sp>
      <p:sp>
        <p:nvSpPr>
          <p:cNvPr id="42" name="Text 36"/>
          <p:cNvSpPr txBox="1"/>
          <p:nvPr/>
        </p:nvSpPr>
        <p:spPr>
          <a:xfrm>
            <a:off x="4663440" y="3054096"/>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SA = exp(tendance + résidu) : la courbe à lire</a:t>
            </a:r>
            <a:endParaRPr lang="en-US" sz="950" dirty="0"/>
          </a:p>
        </p:txBody>
      </p:sp>
      <p:sp>
        <p:nvSpPr>
          <p:cNvPr id="43" name="Shape 37"/>
          <p:cNvSpPr/>
          <p:nvPr/>
        </p:nvSpPr>
        <p:spPr>
          <a:xfrm>
            <a:off x="4206240" y="3456432"/>
            <a:ext cx="329184" cy="329184"/>
          </a:xfrm>
          <a:prstGeom prst="ellipse">
            <a:avLst/>
          </a:prstGeom>
          <a:solidFill>
            <a:srgbClr val="D49A00"/>
          </a:solidFill>
          <a:ln w="12700">
            <a:solidFill>
              <a:srgbClr val="D49A00"/>
            </a:solidFill>
            <a:prstDash val="solid"/>
          </a:ln>
        </p:spPr>
      </p:sp>
      <p:sp>
        <p:nvSpPr>
          <p:cNvPr id="44" name="Text 38"/>
          <p:cNvSpPr txBox="1"/>
          <p:nvPr/>
        </p:nvSpPr>
        <p:spPr>
          <a:xfrm>
            <a:off x="420624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Shape 39"/>
          <p:cNvSpPr/>
          <p:nvPr/>
        </p:nvSpPr>
        <p:spPr>
          <a:xfrm>
            <a:off x="4370832" y="3803904"/>
            <a:ext cx="0" cy="237744"/>
          </a:xfrm>
          <a:prstGeom prst="line">
            <a:avLst/>
          </a:prstGeom>
          <a:noFill/>
          <a:ln w="15875">
            <a:solidFill>
              <a:srgbClr val="D5DED9"/>
            </a:solidFill>
            <a:prstDash val="solid"/>
          </a:ln>
        </p:spPr>
      </p:sp>
      <p:sp>
        <p:nvSpPr>
          <p:cNvPr id="46" name="Text 40"/>
          <p:cNvSpPr txBox="1"/>
          <p:nvPr/>
        </p:nvSpPr>
        <p:spPr>
          <a:xfrm>
            <a:off x="4663440" y="3438144"/>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Comparer en glissement annuel</a:t>
            </a:r>
            <a:endParaRPr lang="en-US" sz="1150" dirty="0"/>
          </a:p>
        </p:txBody>
      </p:sp>
      <p:sp>
        <p:nvSpPr>
          <p:cNvPr id="47" name="Text 41"/>
          <p:cNvSpPr txBox="1"/>
          <p:nvPr/>
        </p:nvSpPr>
        <p:spPr>
          <a:xfrm>
            <a:off x="4663440" y="3657600"/>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Chaque mois vs le même mois un an plus tôt</a:t>
            </a:r>
            <a:endParaRPr lang="en-US" sz="950" dirty="0"/>
          </a:p>
        </p:txBody>
      </p:sp>
      <p:sp>
        <p:nvSpPr>
          <p:cNvPr id="48" name="Shape 42"/>
          <p:cNvSpPr/>
          <p:nvPr/>
        </p:nvSpPr>
        <p:spPr>
          <a:xfrm>
            <a:off x="4206240" y="4059936"/>
            <a:ext cx="329184" cy="329184"/>
          </a:xfrm>
          <a:prstGeom prst="ellipse">
            <a:avLst/>
          </a:prstGeom>
          <a:solidFill>
            <a:srgbClr val="D49A00"/>
          </a:solidFill>
          <a:ln w="12700">
            <a:solidFill>
              <a:srgbClr val="D49A00"/>
            </a:solidFill>
            <a:prstDash val="solid"/>
          </a:ln>
        </p:spPr>
      </p:sp>
      <p:sp>
        <p:nvSpPr>
          <p:cNvPr id="49" name="Text 43"/>
          <p:cNvSpPr txBox="1"/>
          <p:nvPr/>
        </p:nvSpPr>
        <p:spPr>
          <a:xfrm>
            <a:off x="4206240" y="40599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44"/>
          <p:cNvSpPr txBox="1"/>
          <p:nvPr/>
        </p:nvSpPr>
        <p:spPr>
          <a:xfrm>
            <a:off x="4663440" y="4041648"/>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Estimer la tendance annuelle</a:t>
            </a:r>
            <a:endParaRPr lang="en-US" sz="1150" dirty="0"/>
          </a:p>
        </p:txBody>
      </p:sp>
      <p:sp>
        <p:nvSpPr>
          <p:cNvPr id="51" name="Text 45"/>
          <p:cNvSpPr txBox="1"/>
          <p:nvPr/>
        </p:nvSpPr>
        <p:spPr>
          <a:xfrm>
            <a:off x="4663440" y="4261104"/>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Theil–Sen + Mann–Kendall sur les composites annuels ; séries régionales (ADM1)</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1</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Dynamique : les métriques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DÉFINITION / FORMULE</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COMMENT LA LIRE</a:t>
            </a:r>
            <a:endParaRPr lang="en-US" sz="900" dirty="0"/>
          </a:p>
        </p:txBody>
      </p:sp>
      <p:sp>
        <p:nvSpPr>
          <p:cNvPr id="14" name="Shape 11"/>
          <p:cNvSpPr/>
          <p:nvPr/>
        </p:nvSpPr>
        <p:spPr>
          <a:xfrm>
            <a:off x="457200" y="1609344"/>
            <a:ext cx="8229600" cy="429768"/>
          </a:xfrm>
          <a:prstGeom prst="roundRect">
            <a:avLst>
              <a:gd name="adj" fmla="val 10638"/>
            </a:avLst>
          </a:prstGeom>
          <a:solidFill>
            <a:srgbClr val="F4F7F5"/>
          </a:solidFill>
          <a:ln w="6350">
            <a:solidFill>
              <a:srgbClr val="D5DED9"/>
            </a:solidFill>
            <a:prstDash val="solid"/>
          </a:ln>
        </p:spPr>
      </p:sp>
      <p:sp>
        <p:nvSpPr>
          <p:cNvPr id="15" name="Text 12"/>
          <p:cNvSpPr txBox="1"/>
          <p:nvPr/>
        </p:nvSpPr>
        <p:spPr>
          <a:xfrm>
            <a:off x="548640" y="160934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SoL désaisonnalisée</a:t>
            </a:r>
            <a:endParaRPr lang="en-US" sz="1050" dirty="0"/>
          </a:p>
        </p:txBody>
      </p:sp>
      <p:sp>
        <p:nvSpPr>
          <p:cNvPr id="16" name="Text 13"/>
          <p:cNvSpPr txBox="1"/>
          <p:nvPr/>
        </p:nvSpPr>
        <p:spPr>
          <a:xfrm>
            <a:off x="2331720" y="160934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exp(trend + remainder)</a:t>
            </a:r>
            <a:endParaRPr lang="en-US" sz="1000" dirty="0"/>
          </a:p>
        </p:txBody>
      </p:sp>
      <p:sp>
        <p:nvSpPr>
          <p:cNvPr id="17" name="Text 14"/>
          <p:cNvSpPr txBox="1"/>
          <p:nvPr/>
        </p:nvSpPr>
        <p:spPr>
          <a:xfrm>
            <a:off x="5394960" y="160934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Le niveau net du profil saisonnier habituel</a:t>
            </a:r>
            <a:endParaRPr lang="en-US" sz="950" dirty="0"/>
          </a:p>
        </p:txBody>
      </p:sp>
      <p:sp>
        <p:nvSpPr>
          <p:cNvPr id="18" name="Shape 15"/>
          <p:cNvSpPr/>
          <p:nvPr/>
        </p:nvSpPr>
        <p:spPr>
          <a:xfrm>
            <a:off x="457200" y="2093976"/>
            <a:ext cx="8229600" cy="429768"/>
          </a:xfrm>
          <a:prstGeom prst="roundRect">
            <a:avLst>
              <a:gd name="adj" fmla="val 10638"/>
            </a:avLst>
          </a:prstGeom>
          <a:solidFill>
            <a:srgbClr val="FFFFFF"/>
          </a:solidFill>
          <a:ln w="6350">
            <a:solidFill>
              <a:srgbClr val="D5DED9"/>
            </a:solidFill>
            <a:prstDash val="solid"/>
          </a:ln>
        </p:spPr>
      </p:sp>
      <p:sp>
        <p:nvSpPr>
          <p:cNvPr id="19" name="Text 16"/>
          <p:cNvSpPr txBox="1"/>
          <p:nvPr/>
        </p:nvSpPr>
        <p:spPr>
          <a:xfrm>
            <a:off x="548640" y="2093976"/>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Glissement annuel</a:t>
            </a:r>
            <a:endParaRPr lang="en-US" sz="1050" dirty="0"/>
          </a:p>
        </p:txBody>
      </p:sp>
      <p:sp>
        <p:nvSpPr>
          <p:cNvPr id="20" name="Text 17"/>
          <p:cNvSpPr txBox="1"/>
          <p:nvPr/>
        </p:nvSpPr>
        <p:spPr>
          <a:xfrm>
            <a:off x="2331720" y="2093976"/>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SoLₘ / SoLₘ₋₁₂ − 1</a:t>
            </a:r>
            <a:endParaRPr lang="en-US" sz="1000" dirty="0"/>
          </a:p>
        </p:txBody>
      </p:sp>
      <p:sp>
        <p:nvSpPr>
          <p:cNvPr id="21" name="Text 18"/>
          <p:cNvSpPr txBox="1"/>
          <p:nvPr/>
        </p:nvSpPr>
        <p:spPr>
          <a:xfrm>
            <a:off x="5394960" y="2093976"/>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La saison s'annule ; bruité d'un mois à l'autre</a:t>
            </a:r>
            <a:endParaRPr lang="en-US" sz="950" dirty="0"/>
          </a:p>
        </p:txBody>
      </p:sp>
      <p:sp>
        <p:nvSpPr>
          <p:cNvPr id="22" name="Shape 19"/>
          <p:cNvSpPr/>
          <p:nvPr/>
        </p:nvSpPr>
        <p:spPr>
          <a:xfrm>
            <a:off x="457200" y="2578608"/>
            <a:ext cx="8229600" cy="429768"/>
          </a:xfrm>
          <a:prstGeom prst="roundRect">
            <a:avLst>
              <a:gd name="adj" fmla="val 10638"/>
            </a:avLst>
          </a:prstGeom>
          <a:solidFill>
            <a:srgbClr val="F4F7F5"/>
          </a:solidFill>
          <a:ln w="6350">
            <a:solidFill>
              <a:srgbClr val="D5DED9"/>
            </a:solidFill>
            <a:prstDash val="solid"/>
          </a:ln>
        </p:spPr>
      </p:sp>
      <p:sp>
        <p:nvSpPr>
          <p:cNvPr id="23" name="Text 20"/>
          <p:cNvSpPr txBox="1"/>
          <p:nvPr/>
        </p:nvSpPr>
        <p:spPr>
          <a:xfrm>
            <a:off x="548640" y="2578608"/>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Croissance annuelle (%/an)</a:t>
            </a:r>
            <a:endParaRPr lang="en-US" sz="1050" dirty="0"/>
          </a:p>
        </p:txBody>
      </p:sp>
      <p:sp>
        <p:nvSpPr>
          <p:cNvPr id="24" name="Text 21"/>
          <p:cNvSpPr txBox="1"/>
          <p:nvPr/>
        </p:nvSpPr>
        <p:spPr>
          <a:xfrm>
            <a:off x="2331720" y="2578608"/>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exp(pente de Theil–Sen du log SoL) − 1, IC 95 %</a:t>
            </a:r>
            <a:endParaRPr lang="en-US" sz="1000" dirty="0"/>
          </a:p>
        </p:txBody>
      </p:sp>
      <p:sp>
        <p:nvSpPr>
          <p:cNvPr id="25" name="Text 22"/>
          <p:cNvSpPr txBox="1"/>
          <p:nvPr/>
        </p:nvSpPr>
        <p:spPr>
          <a:xfrm>
            <a:off x="5394960" y="2578608"/>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Tendance robuste ; lire l'intervalle, pas seulement le point</a:t>
            </a:r>
            <a:endParaRPr lang="en-US" sz="950" dirty="0"/>
          </a:p>
        </p:txBody>
      </p:sp>
      <p:sp>
        <p:nvSpPr>
          <p:cNvPr id="26" name="Shape 23"/>
          <p:cNvSpPr/>
          <p:nvPr/>
        </p:nvSpPr>
        <p:spPr>
          <a:xfrm>
            <a:off x="457200" y="3063240"/>
            <a:ext cx="8229600" cy="429768"/>
          </a:xfrm>
          <a:prstGeom prst="roundRect">
            <a:avLst>
              <a:gd name="adj" fmla="val 10638"/>
            </a:avLst>
          </a:prstGeom>
          <a:solidFill>
            <a:srgbClr val="FFFFFF"/>
          </a:solidFill>
          <a:ln w="6350">
            <a:solidFill>
              <a:srgbClr val="D5DED9"/>
            </a:solidFill>
            <a:prstDash val="solid"/>
          </a:ln>
        </p:spPr>
      </p:sp>
      <p:sp>
        <p:nvSpPr>
          <p:cNvPr id="27" name="Text 24"/>
          <p:cNvSpPr txBox="1"/>
          <p:nvPr/>
        </p:nvSpPr>
        <p:spPr>
          <a:xfrm>
            <a:off x="548640" y="3063240"/>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p-value de Mann–Kendall</a:t>
            </a:r>
            <a:endParaRPr lang="en-US" sz="1050" dirty="0"/>
          </a:p>
        </p:txBody>
      </p:sp>
      <p:sp>
        <p:nvSpPr>
          <p:cNvPr id="28" name="Text 25"/>
          <p:cNvSpPr txBox="1"/>
          <p:nvPr/>
        </p:nvSpPr>
        <p:spPr>
          <a:xfrm>
            <a:off x="2331720" y="3063240"/>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Test d'une tendance monotone</a:t>
            </a:r>
            <a:endParaRPr lang="en-US" sz="1000" dirty="0"/>
          </a:p>
        </p:txBody>
      </p:sp>
      <p:sp>
        <p:nvSpPr>
          <p:cNvPr id="29" name="Text 26"/>
          <p:cNvSpPr txBox="1"/>
          <p:nvPr/>
        </p:nvSpPr>
        <p:spPr>
          <a:xfrm>
            <a:off x="5394960" y="3063240"/>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Confiance : élevée p &lt; 0,01 · moyenne p &lt; 0,10 · faible sinon ou n &lt; 6</a:t>
            </a:r>
            <a:endParaRPr lang="en-US" sz="950" dirty="0"/>
          </a:p>
        </p:txBody>
      </p:sp>
      <p:sp>
        <p:nvSpPr>
          <p:cNvPr id="30" name="Shape 27"/>
          <p:cNvSpPr/>
          <p:nvPr/>
        </p:nvSpPr>
        <p:spPr>
          <a:xfrm>
            <a:off x="457200" y="3547872"/>
            <a:ext cx="8229600" cy="429768"/>
          </a:xfrm>
          <a:prstGeom prst="roundRect">
            <a:avLst>
              <a:gd name="adj" fmla="val 10638"/>
            </a:avLst>
          </a:prstGeom>
          <a:solidFill>
            <a:srgbClr val="F4F7F5"/>
          </a:solidFill>
          <a:ln w="6350">
            <a:solidFill>
              <a:srgbClr val="D5DED9"/>
            </a:solidFill>
            <a:prstDash val="solid"/>
          </a:ln>
        </p:spPr>
      </p:sp>
      <p:sp>
        <p:nvSpPr>
          <p:cNvPr id="31" name="Text 28"/>
          <p:cNvSpPr txBox="1"/>
          <p:nvPr/>
        </p:nvSpPr>
        <p:spPr>
          <a:xfrm>
            <a:off x="548640" y="3547872"/>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Anomalie</a:t>
            </a:r>
            <a:endParaRPr lang="en-US" sz="1050" dirty="0"/>
          </a:p>
        </p:txBody>
      </p:sp>
      <p:sp>
        <p:nvSpPr>
          <p:cNvPr id="32" name="Text 29"/>
          <p:cNvSpPr txBox="1"/>
          <p:nvPr/>
        </p:nvSpPr>
        <p:spPr>
          <a:xfrm>
            <a:off x="2331720" y="3547872"/>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|r − méd(r)| / (1,4826·MAD) ≥ 3,5 et |écart| ≥ 5 %</a:t>
            </a:r>
            <a:endParaRPr lang="en-US" sz="1000" dirty="0"/>
          </a:p>
        </p:txBody>
      </p:sp>
      <p:sp>
        <p:nvSpPr>
          <p:cNvPr id="33" name="Text 30"/>
          <p:cNvSpPr txBox="1"/>
          <p:nvPr/>
        </p:nvSpPr>
        <p:spPr>
          <a:xfrm>
            <a:off x="5394960" y="3547872"/>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Un mois hors norme, à expliquer</a:t>
            </a:r>
            <a:endParaRPr lang="en-US" sz="950" dirty="0"/>
          </a:p>
        </p:txBody>
      </p:sp>
      <p:sp>
        <p:nvSpPr>
          <p:cNvPr id="34" name="Shape 31"/>
          <p:cNvSpPr/>
          <p:nvPr/>
        </p:nvSpPr>
        <p:spPr>
          <a:xfrm>
            <a:off x="457200" y="4032504"/>
            <a:ext cx="8229600" cy="429768"/>
          </a:xfrm>
          <a:prstGeom prst="roundRect">
            <a:avLst>
              <a:gd name="adj" fmla="val 10638"/>
            </a:avLst>
          </a:prstGeom>
          <a:solidFill>
            <a:srgbClr val="FFFFFF"/>
          </a:solidFill>
          <a:ln w="6350">
            <a:solidFill>
              <a:srgbClr val="D5DED9"/>
            </a:solidFill>
            <a:prstDash val="solid"/>
          </a:ln>
        </p:spPr>
      </p:sp>
      <p:sp>
        <p:nvSpPr>
          <p:cNvPr id="35" name="Text 32"/>
          <p:cNvSpPr txBox="1"/>
          <p:nvPr/>
        </p:nvSpPr>
        <p:spPr>
          <a:xfrm>
            <a:off x="548640" y="403250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Rupture structurelle</a:t>
            </a:r>
            <a:endParaRPr lang="en-US" sz="1050" dirty="0"/>
          </a:p>
        </p:txBody>
      </p:sp>
      <p:sp>
        <p:nvSpPr>
          <p:cNvPr id="36" name="Text 33"/>
          <p:cNvSpPr txBox="1"/>
          <p:nvPr/>
        </p:nvSpPr>
        <p:spPr>
          <a:xfrm>
            <a:off x="2331720" y="403250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Segmentation binaire, segments linéaires ≥ 12 mois, pénalité type BIC</a:t>
            </a:r>
            <a:endParaRPr lang="en-US" sz="1000" dirty="0"/>
          </a:p>
        </p:txBody>
      </p:sp>
      <p:sp>
        <p:nvSpPr>
          <p:cNvPr id="37" name="Text 34"/>
          <p:cNvSpPr txBox="1"/>
          <p:nvPr/>
        </p:nvSpPr>
        <p:spPr>
          <a:xfrm>
            <a:off x="5394960" y="403250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Changement durable de niveau ou de pente</a:t>
            </a:r>
            <a:endParaRPr lang="en-US" sz="950" dirty="0"/>
          </a:p>
        </p:txBody>
      </p:sp>
      <p:sp>
        <p:nvSpPr>
          <p:cNvPr id="38"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Cleveland et al. (1990) STL ; Sen (1968) ; Mann (1945), Kendall (1975)</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2</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Régions : qui croît, et convergent-elles ?</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457200" y="1325880"/>
            <a:ext cx="47548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DONNÉES UTILISÉES</a:t>
            </a:r>
            <a:endParaRPr lang="en-US" sz="900" dirty="0"/>
          </a:p>
        </p:txBody>
      </p:sp>
      <p:sp>
        <p:nvSpPr>
          <p:cNvPr id="12" name="Shape 9"/>
          <p:cNvSpPr/>
          <p:nvPr/>
        </p:nvSpPr>
        <p:spPr>
          <a:xfrm>
            <a:off x="457200" y="1600200"/>
            <a:ext cx="329184" cy="329184"/>
          </a:xfrm>
          <a:prstGeom prst="ellipse">
            <a:avLst/>
          </a:prstGeom>
          <a:solidFill>
            <a:srgbClr val="D49A00">
              <a:alpha val="22000"/>
            </a:srgbClr>
          </a:solidFill>
          <a:ln w="12700">
            <a:solidFill>
              <a:srgbClr val="D49A00">
                <a:alpha val="0"/>
              </a:srgbClr>
            </a:solidFill>
            <a:prstDash val="solid"/>
          </a:ln>
        </p:spPr>
      </p:sp>
      <p:pic>
        <p:nvPicPr>
          <p:cNvPr id="13" name="Image 0" descr="preencoded.png">    </p:cNvPr>
          <p:cNvPicPr>
            <a:picLocks noChangeAspect="1"/>
          </p:cNvPicPr>
          <p:nvPr/>
        </p:nvPicPr>
        <p:blipFill>
          <a:blip r:embed="rId1"/>
          <a:stretch>
            <a:fillRect/>
          </a:stretch>
        </p:blipFill>
        <p:spPr>
          <a:xfrm>
            <a:off x="536204" y="1679204"/>
            <a:ext cx="171176" cy="171176"/>
          </a:xfrm>
          <a:prstGeom prst="rect">
            <a:avLst/>
          </a:prstGeom>
        </p:spPr>
      </p:pic>
      <p:sp>
        <p:nvSpPr>
          <p:cNvPr id="14" name="Text 10"/>
          <p:cNvSpPr txBox="1"/>
          <p:nvPr/>
        </p:nvSpPr>
        <p:spPr>
          <a:xfrm>
            <a:off x="841248" y="1572768"/>
            <a:ext cx="1216152" cy="411480"/>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SoL annuelle VNL par ADM1 / ADM2</a:t>
            </a:r>
            <a:endParaRPr lang="en-US" sz="900" dirty="0"/>
          </a:p>
        </p:txBody>
      </p:sp>
      <p:sp>
        <p:nvSpPr>
          <p:cNvPr id="15" name="Shape 11"/>
          <p:cNvSpPr/>
          <p:nvPr/>
        </p:nvSpPr>
        <p:spPr>
          <a:xfrm>
            <a:off x="2103120" y="1600200"/>
            <a:ext cx="329184" cy="329184"/>
          </a:xfrm>
          <a:prstGeom prst="ellipse">
            <a:avLst/>
          </a:prstGeom>
          <a:solidFill>
            <a:srgbClr val="D49A00">
              <a:alpha val="22000"/>
            </a:srgbClr>
          </a:solidFill>
          <a:ln w="12700">
            <a:solidFill>
              <a:srgbClr val="D49A00">
                <a:alpha val="0"/>
              </a:srgbClr>
            </a:solidFill>
            <a:prstDash val="solid"/>
          </a:ln>
        </p:spPr>
      </p:sp>
      <p:pic>
        <p:nvPicPr>
          <p:cNvPr id="16" name="Image 1" descr="preencoded.png">    </p:cNvPr>
          <p:cNvPicPr>
            <a:picLocks noChangeAspect="1"/>
          </p:cNvPicPr>
          <p:nvPr/>
        </p:nvPicPr>
        <p:blipFill>
          <a:blip r:embed="rId2"/>
          <a:stretch>
            <a:fillRect/>
          </a:stretch>
        </p:blipFill>
        <p:spPr>
          <a:xfrm>
            <a:off x="2182124" y="1679204"/>
            <a:ext cx="171176" cy="171176"/>
          </a:xfrm>
          <a:prstGeom prst="rect">
            <a:avLst/>
          </a:prstGeom>
        </p:spPr>
      </p:pic>
      <p:sp>
        <p:nvSpPr>
          <p:cNvPr id="17" name="Text 12"/>
          <p:cNvSpPr txBox="1"/>
          <p:nvPr/>
        </p:nvSpPr>
        <p:spPr>
          <a:xfrm>
            <a:off x="2487168" y="1572768"/>
            <a:ext cx="1216152" cy="411480"/>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GHS-POP → lumière par habitant</a:t>
            </a:r>
            <a:endParaRPr lang="en-US" sz="900" dirty="0"/>
          </a:p>
        </p:txBody>
      </p:sp>
      <p:sp>
        <p:nvSpPr>
          <p:cNvPr id="18" name="Shape 13"/>
          <p:cNvSpPr/>
          <p:nvPr/>
        </p:nvSpPr>
        <p:spPr>
          <a:xfrm>
            <a:off x="3749040" y="1600200"/>
            <a:ext cx="329184" cy="329184"/>
          </a:xfrm>
          <a:prstGeom prst="ellipse">
            <a:avLst/>
          </a:prstGeom>
          <a:solidFill>
            <a:srgbClr val="D49A00">
              <a:alpha val="22000"/>
            </a:srgbClr>
          </a:solidFill>
          <a:ln w="12700">
            <a:solidFill>
              <a:srgbClr val="D49A00">
                <a:alpha val="0"/>
              </a:srgbClr>
            </a:solidFill>
            <a:prstDash val="solid"/>
          </a:ln>
        </p:spPr>
      </p:sp>
      <p:pic>
        <p:nvPicPr>
          <p:cNvPr id="19" name="Image 2" descr="preencoded.png">    </p:cNvPr>
          <p:cNvPicPr>
            <a:picLocks noChangeAspect="1"/>
          </p:cNvPicPr>
          <p:nvPr/>
        </p:nvPicPr>
        <p:blipFill>
          <a:blip r:embed="rId3"/>
          <a:stretch>
            <a:fillRect/>
          </a:stretch>
        </p:blipFill>
        <p:spPr>
          <a:xfrm>
            <a:off x="3828044" y="1679204"/>
            <a:ext cx="171176" cy="171176"/>
          </a:xfrm>
          <a:prstGeom prst="rect">
            <a:avLst/>
          </a:prstGeom>
        </p:spPr>
      </p:pic>
      <p:sp>
        <p:nvSpPr>
          <p:cNvPr id="20" name="Text 14"/>
          <p:cNvSpPr txBox="1"/>
          <p:nvPr/>
        </p:nvSpPr>
        <p:spPr>
          <a:xfrm>
            <a:off x="4133088" y="1572768"/>
            <a:ext cx="1216152" cy="411480"/>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NO₂ Sentinel-5P, dernière année</a:t>
            </a:r>
            <a:endParaRPr lang="en-US" sz="900" dirty="0"/>
          </a:p>
        </p:txBody>
      </p:sp>
      <p:sp>
        <p:nvSpPr>
          <p:cNvPr id="21" name="Text 15"/>
          <p:cNvSpPr txBox="1"/>
          <p:nvPr/>
        </p:nvSpPr>
        <p:spPr>
          <a:xfrm>
            <a:off x="457200" y="2148840"/>
            <a:ext cx="47548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MÉTHODE, PAS À PAS</a:t>
            </a:r>
            <a:endParaRPr lang="en-US" sz="900" dirty="0"/>
          </a:p>
        </p:txBody>
      </p:sp>
      <p:sp>
        <p:nvSpPr>
          <p:cNvPr id="22" name="Shape 16"/>
          <p:cNvSpPr/>
          <p:nvPr/>
        </p:nvSpPr>
        <p:spPr>
          <a:xfrm>
            <a:off x="457200" y="2450592"/>
            <a:ext cx="310896" cy="310896"/>
          </a:xfrm>
          <a:prstGeom prst="ellipse">
            <a:avLst/>
          </a:prstGeom>
          <a:solidFill>
            <a:srgbClr val="D49A00"/>
          </a:solidFill>
          <a:ln w="12700">
            <a:solidFill>
              <a:srgbClr val="D49A00"/>
            </a:solidFill>
            <a:prstDash val="solid"/>
          </a:ln>
        </p:spPr>
      </p:sp>
      <p:sp>
        <p:nvSpPr>
          <p:cNvPr id="23" name="Text 17"/>
          <p:cNvSpPr txBox="1"/>
          <p:nvPr/>
        </p:nvSpPr>
        <p:spPr>
          <a:xfrm>
            <a:off x="457200" y="24505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Text 18"/>
          <p:cNvSpPr txBox="1"/>
          <p:nvPr/>
        </p:nvSpPr>
        <p:spPr>
          <a:xfrm>
            <a:off x="896112" y="2423160"/>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Croissance robuste par unité</a:t>
            </a:r>
            <a:endParaRPr lang="en-US" sz="1100" dirty="0"/>
          </a:p>
        </p:txBody>
      </p:sp>
      <p:sp>
        <p:nvSpPr>
          <p:cNvPr id="25" name="Text 19"/>
          <p:cNvSpPr txBox="1"/>
          <p:nvPr/>
        </p:nvSpPr>
        <p:spPr>
          <a:xfrm>
            <a:off x="896112" y="2642616"/>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Pente de Theil–Sen du log SoL, p de Mann–Kendall</a:t>
            </a:r>
            <a:endParaRPr lang="en-US" sz="950" dirty="0"/>
          </a:p>
        </p:txBody>
      </p:sp>
      <p:sp>
        <p:nvSpPr>
          <p:cNvPr id="26" name="Shape 20"/>
          <p:cNvSpPr/>
          <p:nvPr/>
        </p:nvSpPr>
        <p:spPr>
          <a:xfrm>
            <a:off x="457200" y="2962656"/>
            <a:ext cx="310896" cy="310896"/>
          </a:xfrm>
          <a:prstGeom prst="ellipse">
            <a:avLst/>
          </a:prstGeom>
          <a:solidFill>
            <a:srgbClr val="D49A00"/>
          </a:solidFill>
          <a:ln w="12700">
            <a:solidFill>
              <a:srgbClr val="D49A00"/>
            </a:solidFill>
            <a:prstDash val="solid"/>
          </a:ln>
        </p:spPr>
      </p:sp>
      <p:sp>
        <p:nvSpPr>
          <p:cNvPr id="27" name="Text 21"/>
          <p:cNvSpPr txBox="1"/>
          <p:nvPr/>
        </p:nvSpPr>
        <p:spPr>
          <a:xfrm>
            <a:off x="457200" y="2962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2"/>
          <p:cNvSpPr txBox="1"/>
          <p:nvPr/>
        </p:nvSpPr>
        <p:spPr>
          <a:xfrm>
            <a:off x="896112" y="2935224"/>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Corriger les tests multiples</a:t>
            </a:r>
            <a:endParaRPr lang="en-US" sz="1100" dirty="0"/>
          </a:p>
        </p:txBody>
      </p:sp>
      <p:sp>
        <p:nvSpPr>
          <p:cNvPr id="29" name="Text 23"/>
          <p:cNvSpPr txBox="1"/>
          <p:nvPr/>
        </p:nvSpPr>
        <p:spPr>
          <a:xfrm>
            <a:off x="896112" y="3154680"/>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 ajustée de Benjamini–Hochberg (taux de fausses découvertes)</a:t>
            </a:r>
            <a:endParaRPr lang="en-US" sz="950" dirty="0"/>
          </a:p>
        </p:txBody>
      </p:sp>
      <p:sp>
        <p:nvSpPr>
          <p:cNvPr id="30" name="Shape 24"/>
          <p:cNvSpPr/>
          <p:nvPr/>
        </p:nvSpPr>
        <p:spPr>
          <a:xfrm>
            <a:off x="457200" y="3474720"/>
            <a:ext cx="310896" cy="310896"/>
          </a:xfrm>
          <a:prstGeom prst="ellipse">
            <a:avLst/>
          </a:prstGeom>
          <a:solidFill>
            <a:srgbClr val="D49A00"/>
          </a:solidFill>
          <a:ln w="12700">
            <a:solidFill>
              <a:srgbClr val="D49A00"/>
            </a:solidFill>
            <a:prstDash val="solid"/>
          </a:ln>
        </p:spPr>
      </p:sp>
      <p:sp>
        <p:nvSpPr>
          <p:cNvPr id="31" name="Text 25"/>
          <p:cNvSpPr txBox="1"/>
          <p:nvPr/>
        </p:nvSpPr>
        <p:spPr>
          <a:xfrm>
            <a:off x="457200" y="34747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2" name="Text 26"/>
          <p:cNvSpPr txBox="1"/>
          <p:nvPr/>
        </p:nvSpPr>
        <p:spPr>
          <a:xfrm>
            <a:off x="896112" y="3447288"/>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Classer</a:t>
            </a:r>
            <a:endParaRPr lang="en-US" sz="1100" dirty="0"/>
          </a:p>
        </p:txBody>
      </p:sp>
      <p:sp>
        <p:nvSpPr>
          <p:cNvPr id="33" name="Text 27"/>
          <p:cNvSpPr txBox="1"/>
          <p:nvPr/>
        </p:nvSpPr>
        <p:spPr>
          <a:xfrm>
            <a:off x="896112" y="3666744"/>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Croissance / Déclin si |pente| ≥ 1 %/an et p_ajustée &lt; 0,10, sinon Stagnation</a:t>
            </a:r>
            <a:endParaRPr lang="en-US" sz="950" dirty="0"/>
          </a:p>
        </p:txBody>
      </p:sp>
      <p:sp>
        <p:nvSpPr>
          <p:cNvPr id="34" name="Shape 28"/>
          <p:cNvSpPr/>
          <p:nvPr/>
        </p:nvSpPr>
        <p:spPr>
          <a:xfrm>
            <a:off x="457200" y="3986784"/>
            <a:ext cx="310896" cy="310896"/>
          </a:xfrm>
          <a:prstGeom prst="ellipse">
            <a:avLst/>
          </a:prstGeom>
          <a:solidFill>
            <a:srgbClr val="D49A00"/>
          </a:solidFill>
          <a:ln w="12700">
            <a:solidFill>
              <a:srgbClr val="D49A00"/>
            </a:solidFill>
            <a:prstDash val="solid"/>
          </a:ln>
        </p:spPr>
      </p:sp>
      <p:sp>
        <p:nvSpPr>
          <p:cNvPr id="35" name="Text 29"/>
          <p:cNvSpPr txBox="1"/>
          <p:nvPr/>
        </p:nvSpPr>
        <p:spPr>
          <a:xfrm>
            <a:off x="457200" y="39867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6" name="Text 30"/>
          <p:cNvSpPr txBox="1"/>
          <p:nvPr/>
        </p:nvSpPr>
        <p:spPr>
          <a:xfrm>
            <a:off x="896112" y="3959352"/>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Concentration et convergence</a:t>
            </a:r>
            <a:endParaRPr lang="en-US" sz="1100" dirty="0"/>
          </a:p>
        </p:txBody>
      </p:sp>
      <p:sp>
        <p:nvSpPr>
          <p:cNvPr id="37" name="Text 31"/>
          <p:cNvSpPr txBox="1"/>
          <p:nvPr/>
        </p:nvSpPr>
        <p:spPr>
          <a:xfrm>
            <a:off x="896112" y="4178808"/>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Parts du sommet, HHI, β (moyenne initiale sur 3 ans), σ ; corrélation NO₂</a:t>
            </a:r>
            <a:endParaRPr lang="en-US" sz="950" dirty="0"/>
          </a:p>
        </p:txBody>
      </p:sp>
      <p:graphicFrame>
        <p:nvGraphicFramePr>
          <p:cNvPr id="38" name="Chart 0" descr=""/>
          <p:cNvGraphicFramePr/>
          <p:nvPr/>
        </p:nvGraphicFramePr>
        <p:xfrm>
          <a:off x="5532120" y="1280160"/>
          <a:ext cx="3200400" cy="2514600"/>
        </p:xfrm>
        <a:graphic xmlns:a="http://schemas.openxmlformats.org/drawingml/2006/main">
          <a:graphicData uri="http://schemas.openxmlformats.org/drawingml/2006/chart">
            <c:chart xmlns:c="http://schemas.openxmlformats.org/drawingml/2006/chart" r:id="rId4"/>
          </a:graphicData>
        </a:graphic>
      </p:graphicFrame>
      <p:sp>
        <p:nvSpPr>
          <p:cNvPr id="39" name="Text 32"/>
          <p:cNvSpPr txBox="1"/>
          <p:nvPr/>
        </p:nvSpPr>
        <p:spPr>
          <a:xfrm>
            <a:off x="5577840" y="3840480"/>
            <a:ext cx="3108960" cy="59436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Simulation : 60 unités, 12 ans, bruit de 25 %, aucune convergence réelle — part des tirages faussement significatifs à 95 %</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2</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Croissance régionale : les métriques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DÉFINITION / FORMULE</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COMMENT LA LIRE</a:t>
            </a:r>
            <a:endParaRPr lang="en-US" sz="900" dirty="0"/>
          </a:p>
        </p:txBody>
      </p:sp>
      <p:sp>
        <p:nvSpPr>
          <p:cNvPr id="14" name="Shape 11"/>
          <p:cNvSpPr/>
          <p:nvPr/>
        </p:nvSpPr>
        <p:spPr>
          <a:xfrm>
            <a:off x="457200" y="1609344"/>
            <a:ext cx="8229600" cy="365760"/>
          </a:xfrm>
          <a:prstGeom prst="roundRect">
            <a:avLst>
              <a:gd name="adj" fmla="val 12500"/>
            </a:avLst>
          </a:prstGeom>
          <a:solidFill>
            <a:srgbClr val="F4F7F5"/>
          </a:solidFill>
          <a:ln w="6350">
            <a:solidFill>
              <a:srgbClr val="D5DED9"/>
            </a:solidFill>
            <a:prstDash val="solid"/>
          </a:ln>
        </p:spPr>
      </p:sp>
      <p:sp>
        <p:nvSpPr>
          <p:cNvPr id="15" name="Text 12"/>
          <p:cNvSpPr txBox="1"/>
          <p:nvPr/>
        </p:nvSpPr>
        <p:spPr>
          <a:xfrm>
            <a:off x="548640" y="160934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Classe de croissance</a:t>
            </a:r>
            <a:endParaRPr lang="en-US" sz="1050" dirty="0"/>
          </a:p>
        </p:txBody>
      </p:sp>
      <p:sp>
        <p:nvSpPr>
          <p:cNvPr id="16" name="Text 13"/>
          <p:cNvSpPr txBox="1"/>
          <p:nvPr/>
        </p:nvSpPr>
        <p:spPr>
          <a:xfrm>
            <a:off x="2331720" y="160934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|g| ≥ 1 %/an et p ajustée BH &lt; 0,10</a:t>
            </a:r>
            <a:endParaRPr lang="en-US" sz="1000" dirty="0"/>
          </a:p>
        </p:txBody>
      </p:sp>
      <p:sp>
        <p:nvSpPr>
          <p:cNvPr id="17" name="Text 14"/>
          <p:cNvSpPr txBox="1"/>
          <p:nvPr/>
        </p:nvSpPr>
        <p:spPr>
          <a:xfrm>
            <a:off x="5394960" y="160934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Croissance / Déclin / Stagnation (= non établie)</a:t>
            </a:r>
            <a:endParaRPr lang="en-US" sz="950" dirty="0"/>
          </a:p>
        </p:txBody>
      </p:sp>
      <p:sp>
        <p:nvSpPr>
          <p:cNvPr id="18" name="Shape 15"/>
          <p:cNvSpPr/>
          <p:nvPr/>
        </p:nvSpPr>
        <p:spPr>
          <a:xfrm>
            <a:off x="457200" y="2029968"/>
            <a:ext cx="8229600" cy="365760"/>
          </a:xfrm>
          <a:prstGeom prst="roundRect">
            <a:avLst>
              <a:gd name="adj" fmla="val 12500"/>
            </a:avLst>
          </a:prstGeom>
          <a:solidFill>
            <a:srgbClr val="FFFFFF"/>
          </a:solidFill>
          <a:ln w="6350">
            <a:solidFill>
              <a:srgbClr val="D5DED9"/>
            </a:solidFill>
            <a:prstDash val="solid"/>
          </a:ln>
        </p:spPr>
      </p:sp>
      <p:sp>
        <p:nvSpPr>
          <p:cNvPr id="19" name="Text 16"/>
          <p:cNvSpPr txBox="1"/>
          <p:nvPr/>
        </p:nvSpPr>
        <p:spPr>
          <a:xfrm>
            <a:off x="548640" y="202996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Parts top 1 et top 10 %</a:t>
            </a:r>
            <a:endParaRPr lang="en-US" sz="1050" dirty="0"/>
          </a:p>
        </p:txBody>
      </p:sp>
      <p:sp>
        <p:nvSpPr>
          <p:cNvPr id="20" name="Text 17"/>
          <p:cNvSpPr txBox="1"/>
          <p:nvPr/>
        </p:nvSpPr>
        <p:spPr>
          <a:xfrm>
            <a:off x="2331720" y="202996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de(s) unité(s) la/les plus brillante(s) / SoL totale</a:t>
            </a:r>
            <a:endParaRPr lang="en-US" sz="1000" dirty="0"/>
          </a:p>
        </p:txBody>
      </p:sp>
      <p:sp>
        <p:nvSpPr>
          <p:cNvPr id="21" name="Text 18"/>
          <p:cNvSpPr txBox="1"/>
          <p:nvPr/>
        </p:nvSpPr>
        <p:spPr>
          <a:xfrm>
            <a:off x="5394960" y="202996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Poids de la capitale ou du pôle principal</a:t>
            </a:r>
            <a:endParaRPr lang="en-US" sz="950" dirty="0"/>
          </a:p>
        </p:txBody>
      </p:sp>
      <p:sp>
        <p:nvSpPr>
          <p:cNvPr id="22" name="Shape 19"/>
          <p:cNvSpPr/>
          <p:nvPr/>
        </p:nvSpPr>
        <p:spPr>
          <a:xfrm>
            <a:off x="457200" y="2450592"/>
            <a:ext cx="8229600" cy="365760"/>
          </a:xfrm>
          <a:prstGeom prst="roundRect">
            <a:avLst>
              <a:gd name="adj" fmla="val 12500"/>
            </a:avLst>
          </a:prstGeom>
          <a:solidFill>
            <a:srgbClr val="F4F7F5"/>
          </a:solidFill>
          <a:ln w="6350">
            <a:solidFill>
              <a:srgbClr val="D5DED9"/>
            </a:solidFill>
            <a:prstDash val="solid"/>
          </a:ln>
        </p:spPr>
      </p:sp>
      <p:sp>
        <p:nvSpPr>
          <p:cNvPr id="23" name="Text 20"/>
          <p:cNvSpPr txBox="1"/>
          <p:nvPr/>
        </p:nvSpPr>
        <p:spPr>
          <a:xfrm>
            <a:off x="548640" y="2450592"/>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Indice de Herfindahl (HHI)</a:t>
            </a:r>
            <a:endParaRPr lang="en-US" sz="1050" dirty="0"/>
          </a:p>
        </p:txBody>
      </p:sp>
      <p:sp>
        <p:nvSpPr>
          <p:cNvPr id="24" name="Text 21"/>
          <p:cNvSpPr txBox="1"/>
          <p:nvPr/>
        </p:nvSpPr>
        <p:spPr>
          <a:xfrm>
            <a:off x="2331720" y="2450592"/>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sᵢ²  (sᵢ = SoLᵢ / Σ SoL)</a:t>
            </a:r>
            <a:endParaRPr lang="en-US" sz="1000" dirty="0"/>
          </a:p>
        </p:txBody>
      </p:sp>
      <p:sp>
        <p:nvSpPr>
          <p:cNvPr id="25" name="Text 22"/>
          <p:cNvSpPr txBox="1"/>
          <p:nvPr/>
        </p:nvSpPr>
        <p:spPr>
          <a:xfrm>
            <a:off x="5394960" y="2450592"/>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0 → dispersée · 1 → toute la lumière dans une unité</a:t>
            </a:r>
            <a:endParaRPr lang="en-US" sz="950" dirty="0"/>
          </a:p>
        </p:txBody>
      </p:sp>
      <p:sp>
        <p:nvSpPr>
          <p:cNvPr id="26" name="Shape 23"/>
          <p:cNvSpPr/>
          <p:nvPr/>
        </p:nvSpPr>
        <p:spPr>
          <a:xfrm>
            <a:off x="457200" y="2871216"/>
            <a:ext cx="8229600" cy="365760"/>
          </a:xfrm>
          <a:prstGeom prst="roundRect">
            <a:avLst>
              <a:gd name="adj" fmla="val 12500"/>
            </a:avLst>
          </a:prstGeom>
          <a:solidFill>
            <a:srgbClr val="FFFFFF"/>
          </a:solidFill>
          <a:ln w="6350">
            <a:solidFill>
              <a:srgbClr val="D5DED9"/>
            </a:solidFill>
            <a:prstDash val="solid"/>
          </a:ln>
        </p:spPr>
      </p:sp>
      <p:sp>
        <p:nvSpPr>
          <p:cNvPr id="27" name="Text 24"/>
          <p:cNvSpPr txBox="1"/>
          <p:nvPr/>
        </p:nvSpPr>
        <p:spPr>
          <a:xfrm>
            <a:off x="548640" y="2871216"/>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β-convergence</a:t>
            </a:r>
            <a:endParaRPr lang="en-US" sz="1050" dirty="0"/>
          </a:p>
        </p:txBody>
      </p:sp>
      <p:sp>
        <p:nvSpPr>
          <p:cNvPr id="28" name="Text 25"/>
          <p:cNvSpPr txBox="1"/>
          <p:nvPr/>
        </p:nvSpPr>
        <p:spPr>
          <a:xfrm>
            <a:off x="2331720" y="2871216"/>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gᵢ = a + β·log(lumière/hab. initialeᵢ) + ε, erreurs HC1</a:t>
            </a:r>
            <a:endParaRPr lang="en-US" sz="1000" dirty="0"/>
          </a:p>
        </p:txBody>
      </p:sp>
      <p:sp>
        <p:nvSpPr>
          <p:cNvPr id="29" name="Text 26"/>
          <p:cNvSpPr txBox="1"/>
          <p:nvPr/>
        </p:nvSpPr>
        <p:spPr>
          <a:xfrm>
            <a:off x="5394960" y="2871216"/>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β &lt; 0 avec IC &lt; 0 → les unités en retard rattrapent</a:t>
            </a:r>
            <a:endParaRPr lang="en-US" sz="950" dirty="0"/>
          </a:p>
        </p:txBody>
      </p:sp>
      <p:sp>
        <p:nvSpPr>
          <p:cNvPr id="30" name="Shape 27"/>
          <p:cNvSpPr/>
          <p:nvPr/>
        </p:nvSpPr>
        <p:spPr>
          <a:xfrm>
            <a:off x="457200" y="3291840"/>
            <a:ext cx="8229600" cy="365760"/>
          </a:xfrm>
          <a:prstGeom prst="roundRect">
            <a:avLst>
              <a:gd name="adj" fmla="val 12500"/>
            </a:avLst>
          </a:prstGeom>
          <a:solidFill>
            <a:srgbClr val="F4F7F5"/>
          </a:solidFill>
          <a:ln w="6350">
            <a:solidFill>
              <a:srgbClr val="D5DED9"/>
            </a:solidFill>
            <a:prstDash val="solid"/>
          </a:ln>
        </p:spPr>
      </p:sp>
      <p:sp>
        <p:nvSpPr>
          <p:cNvPr id="31" name="Text 28"/>
          <p:cNvSpPr txBox="1"/>
          <p:nvPr/>
        </p:nvSpPr>
        <p:spPr>
          <a:xfrm>
            <a:off x="548640" y="3291840"/>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Demi-vie</a:t>
            </a:r>
            <a:endParaRPr lang="en-US" sz="1050" dirty="0"/>
          </a:p>
        </p:txBody>
      </p:sp>
      <p:sp>
        <p:nvSpPr>
          <p:cNvPr id="32" name="Text 29"/>
          <p:cNvSpPr txBox="1"/>
          <p:nvPr/>
        </p:nvSpPr>
        <p:spPr>
          <a:xfrm>
            <a:off x="2331720" y="3291840"/>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ln 2 / −ln(1 + β)</a:t>
            </a:r>
            <a:endParaRPr lang="en-US" sz="1000" dirty="0"/>
          </a:p>
        </p:txBody>
      </p:sp>
      <p:sp>
        <p:nvSpPr>
          <p:cNvPr id="33" name="Text 30"/>
          <p:cNvSpPr txBox="1"/>
          <p:nvPr/>
        </p:nvSpPr>
        <p:spPr>
          <a:xfrm>
            <a:off x="5394960" y="3291840"/>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Années pour combler la moitié de l'écart</a:t>
            </a:r>
            <a:endParaRPr lang="en-US" sz="950" dirty="0"/>
          </a:p>
        </p:txBody>
      </p:sp>
      <p:sp>
        <p:nvSpPr>
          <p:cNvPr id="34" name="Shape 31"/>
          <p:cNvSpPr/>
          <p:nvPr/>
        </p:nvSpPr>
        <p:spPr>
          <a:xfrm>
            <a:off x="457200" y="3712464"/>
            <a:ext cx="8229600" cy="365760"/>
          </a:xfrm>
          <a:prstGeom prst="roundRect">
            <a:avLst>
              <a:gd name="adj" fmla="val 12500"/>
            </a:avLst>
          </a:prstGeom>
          <a:solidFill>
            <a:srgbClr val="FFFFFF"/>
          </a:solidFill>
          <a:ln w="6350">
            <a:solidFill>
              <a:srgbClr val="D5DED9"/>
            </a:solidFill>
            <a:prstDash val="solid"/>
          </a:ln>
        </p:spPr>
      </p:sp>
      <p:sp>
        <p:nvSpPr>
          <p:cNvPr id="35" name="Text 32"/>
          <p:cNvSpPr txBox="1"/>
          <p:nvPr/>
        </p:nvSpPr>
        <p:spPr>
          <a:xfrm>
            <a:off x="548640" y="371246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σ-convergence</a:t>
            </a:r>
            <a:endParaRPr lang="en-US" sz="1050" dirty="0"/>
          </a:p>
        </p:txBody>
      </p:sp>
      <p:sp>
        <p:nvSpPr>
          <p:cNvPr id="36" name="Text 33"/>
          <p:cNvSpPr txBox="1"/>
          <p:nvPr/>
        </p:nvSpPr>
        <p:spPr>
          <a:xfrm>
            <a:off x="2331720" y="371246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écart-type du log(lumière/hab.) entre unités, par an</a:t>
            </a:r>
            <a:endParaRPr lang="en-US" sz="1000" dirty="0"/>
          </a:p>
        </p:txBody>
      </p:sp>
      <p:sp>
        <p:nvSpPr>
          <p:cNvPr id="37" name="Text 34"/>
          <p:cNvSpPr txBox="1"/>
          <p:nvPr/>
        </p:nvSpPr>
        <p:spPr>
          <a:xfrm>
            <a:off x="5394960" y="371246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σ en baisse → les régions se ressemblent davantage</a:t>
            </a:r>
            <a:endParaRPr lang="en-US" sz="950" dirty="0"/>
          </a:p>
        </p:txBody>
      </p:sp>
      <p:sp>
        <p:nvSpPr>
          <p:cNvPr id="38" name="Shape 35"/>
          <p:cNvSpPr/>
          <p:nvPr/>
        </p:nvSpPr>
        <p:spPr>
          <a:xfrm>
            <a:off x="457200" y="4133088"/>
            <a:ext cx="8229600" cy="365760"/>
          </a:xfrm>
          <a:prstGeom prst="roundRect">
            <a:avLst>
              <a:gd name="adj" fmla="val 12500"/>
            </a:avLst>
          </a:prstGeom>
          <a:solidFill>
            <a:srgbClr val="F4F7F5"/>
          </a:solidFill>
          <a:ln w="6350">
            <a:solidFill>
              <a:srgbClr val="D5DED9"/>
            </a:solidFill>
            <a:prstDash val="solid"/>
          </a:ln>
        </p:spPr>
      </p:sp>
      <p:sp>
        <p:nvSpPr>
          <p:cNvPr id="39" name="Text 36"/>
          <p:cNvSpPr txBox="1"/>
          <p:nvPr/>
        </p:nvSpPr>
        <p:spPr>
          <a:xfrm>
            <a:off x="548640" y="413308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Corrélation NO₂</a:t>
            </a:r>
            <a:endParaRPr lang="en-US" sz="1050" dirty="0"/>
          </a:p>
        </p:txBody>
      </p:sp>
      <p:sp>
        <p:nvSpPr>
          <p:cNvPr id="40" name="Text 37"/>
          <p:cNvSpPr txBox="1"/>
          <p:nvPr/>
        </p:nvSpPr>
        <p:spPr>
          <a:xfrm>
            <a:off x="2331720" y="413308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ρ de Spearman (NO₂ moyen, SoL) entre unités</a:t>
            </a:r>
            <a:endParaRPr lang="en-US" sz="1000" dirty="0"/>
          </a:p>
        </p:txBody>
      </p:sp>
      <p:sp>
        <p:nvSpPr>
          <p:cNvPr id="41" name="Text 38"/>
          <p:cNvSpPr txBox="1"/>
          <p:nvPr/>
        </p:nvSpPr>
        <p:spPr>
          <a:xfrm>
            <a:off x="5394960" y="413308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ρ élevé → la lumière reflète l'activité de combustion</a:t>
            </a:r>
            <a:endParaRPr lang="en-US" sz="950" dirty="0"/>
          </a:p>
        </p:txBody>
      </p:sp>
      <p:sp>
        <p:nvSpPr>
          <p:cNvPr id="42" name="Text 39"/>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Benjamini &amp; Hochberg (1995) ; Barro &amp; Sala-i-Martin (1992) ; Herfindahl (1950)</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Lumières et PIB : mesurer l'élasticité</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3429000" cy="960120"/>
          </a:xfrm>
          <a:prstGeom prst="roundRect">
            <a:avLst>
              <a:gd name="adj" fmla="val 7619"/>
            </a:avLst>
          </a:prstGeom>
          <a:solidFill>
            <a:srgbClr val="E8F5EF"/>
          </a:solidFill>
          <a:ln w="15875">
            <a:solidFill>
              <a:srgbClr val="D49A00"/>
            </a:solidFill>
            <a:prstDash val="solid"/>
          </a:ln>
        </p:spPr>
      </p:sp>
      <p:sp>
        <p:nvSpPr>
          <p:cNvPr id="12" name="Text 9"/>
          <p:cNvSpPr txBox="1"/>
          <p:nvPr/>
        </p:nvSpPr>
        <p:spPr>
          <a:xfrm>
            <a:off x="621792" y="1399032"/>
            <a:ext cx="310896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QUESTION</a:t>
            </a:r>
            <a:endParaRPr lang="en-US" sz="900" dirty="0"/>
          </a:p>
        </p:txBody>
      </p:sp>
      <p:sp>
        <p:nvSpPr>
          <p:cNvPr id="13" name="Text 10"/>
          <p:cNvSpPr txBox="1"/>
          <p:nvPr/>
        </p:nvSpPr>
        <p:spPr>
          <a:xfrm>
            <a:off x="621792" y="1627632"/>
            <a:ext cx="3154680" cy="621792"/>
          </a:xfrm>
          <a:prstGeom prst="rect">
            <a:avLst/>
          </a:prstGeom>
          <a:noFill/>
          <a:ln/>
        </p:spPr>
        <p:txBody>
          <a:bodyPr wrap="square" lIns="0" tIns="0" rIns="0" bIns="0" rtlCol="0" anchor="ctr"/>
          <a:lstStyle/>
          <a:p>
            <a:pPr indent="0" marL="0">
              <a:buNone/>
            </a:pPr>
            <a:r>
              <a:rPr lang="en-US" sz="1250" b="1" i="1" dirty="0">
                <a:solidFill>
                  <a:srgbClr val="231F20"/>
                </a:solidFill>
                <a:latin typeface="Calibri" pitchFamily="34" charset="0"/>
                <a:ea typeface="Calibri" pitchFamily="34" charset="-122"/>
                <a:cs typeface="Calibri" pitchFamily="34" charset="-120"/>
              </a:rPr>
              <a:t>La lumière suit-elle le PIB officiel, et de combien bouge-t-elle quand le PIB bouge de 1 % ?</a:t>
            </a:r>
            <a:endParaRPr lang="en-US" sz="1250" dirty="0"/>
          </a:p>
        </p:txBody>
      </p:sp>
      <p:sp>
        <p:nvSpPr>
          <p:cNvPr id="14" name="Text 11"/>
          <p:cNvSpPr txBox="1"/>
          <p:nvPr/>
        </p:nvSpPr>
        <p:spPr>
          <a:xfrm>
            <a:off x="457200" y="2395728"/>
            <a:ext cx="33832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DONNÉES UTILISÉES</a:t>
            </a:r>
            <a:endParaRPr lang="en-US" sz="900" dirty="0"/>
          </a:p>
        </p:txBody>
      </p:sp>
      <p:sp>
        <p:nvSpPr>
          <p:cNvPr id="15" name="Shape 12"/>
          <p:cNvSpPr/>
          <p:nvPr/>
        </p:nvSpPr>
        <p:spPr>
          <a:xfrm>
            <a:off x="457200" y="2670048"/>
            <a:ext cx="347472" cy="347472"/>
          </a:xfrm>
          <a:prstGeom prst="ellipse">
            <a:avLst/>
          </a:prstGeom>
          <a:solidFill>
            <a:srgbClr val="D49A00">
              <a:alpha val="22000"/>
            </a:srgbClr>
          </a:solidFill>
          <a:ln w="12700">
            <a:solidFill>
              <a:srgbClr val="D49A00">
                <a:alpha val="0"/>
              </a:srgbClr>
            </a:solidFill>
            <a:prstDash val="solid"/>
          </a:ln>
        </p:spPr>
      </p:sp>
      <p:pic>
        <p:nvPicPr>
          <p:cNvPr id="16" name="Image 0" descr="preencoded.png">    </p:cNvPr>
          <p:cNvPicPr>
            <a:picLocks noChangeAspect="1"/>
          </p:cNvPicPr>
          <p:nvPr/>
        </p:nvPicPr>
        <p:blipFill>
          <a:blip r:embed="rId1"/>
          <a:stretch>
            <a:fillRect/>
          </a:stretch>
        </p:blipFill>
        <p:spPr>
          <a:xfrm>
            <a:off x="540593" y="2753441"/>
            <a:ext cx="180685" cy="180685"/>
          </a:xfrm>
          <a:prstGeom prst="rect">
            <a:avLst/>
          </a:prstGeom>
        </p:spPr>
      </p:pic>
      <p:sp>
        <p:nvSpPr>
          <p:cNvPr id="17" name="Text 13"/>
          <p:cNvSpPr txBox="1"/>
          <p:nvPr/>
        </p:nvSpPr>
        <p:spPr>
          <a:xfrm>
            <a:off x="896112" y="26517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annuel, national</a:t>
            </a:r>
            <a:endParaRPr lang="en-US" sz="1050" dirty="0"/>
          </a:p>
        </p:txBody>
      </p:sp>
      <p:sp>
        <p:nvSpPr>
          <p:cNvPr id="18" name="Text 14"/>
          <p:cNvSpPr txBox="1"/>
          <p:nvPr/>
        </p:nvSpPr>
        <p:spPr>
          <a:xfrm>
            <a:off x="896112" y="28437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par an (+ indicateur V2.1 / V2.2)</a:t>
            </a:r>
            <a:endParaRPr lang="en-US" sz="900" dirty="0"/>
          </a:p>
        </p:txBody>
      </p:sp>
      <p:sp>
        <p:nvSpPr>
          <p:cNvPr id="19" name="Shape 15"/>
          <p:cNvSpPr/>
          <p:nvPr/>
        </p:nvSpPr>
        <p:spPr>
          <a:xfrm>
            <a:off x="457200" y="3127248"/>
            <a:ext cx="347472" cy="347472"/>
          </a:xfrm>
          <a:prstGeom prst="ellipse">
            <a:avLst/>
          </a:prstGeom>
          <a:solidFill>
            <a:srgbClr val="D49A00">
              <a:alpha val="22000"/>
            </a:srgbClr>
          </a:solidFill>
          <a:ln w="12700">
            <a:solidFill>
              <a:srgbClr val="D49A00">
                <a:alpha val="0"/>
              </a:srgbClr>
            </a:solidFill>
            <a:prstDash val="solid"/>
          </a:ln>
        </p:spPr>
      </p:sp>
      <p:pic>
        <p:nvPicPr>
          <p:cNvPr id="20" name="Image 1" descr="preencoded.png">    </p:cNvPr>
          <p:cNvPicPr>
            <a:picLocks noChangeAspect="1"/>
          </p:cNvPicPr>
          <p:nvPr/>
        </p:nvPicPr>
        <p:blipFill>
          <a:blip r:embed="rId2"/>
          <a:stretch>
            <a:fillRect/>
          </a:stretch>
        </p:blipFill>
        <p:spPr>
          <a:xfrm>
            <a:off x="540593" y="3210641"/>
            <a:ext cx="180685" cy="180685"/>
          </a:xfrm>
          <a:prstGeom prst="rect">
            <a:avLst/>
          </a:prstGeom>
        </p:spPr>
      </p:pic>
      <p:sp>
        <p:nvSpPr>
          <p:cNvPr id="21" name="Text 16"/>
          <p:cNvSpPr txBox="1"/>
          <p:nvPr/>
        </p:nvSpPr>
        <p:spPr>
          <a:xfrm>
            <a:off x="896112" y="31089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Série longue harmonisée</a:t>
            </a:r>
            <a:endParaRPr lang="en-US" sz="1050" dirty="0"/>
          </a:p>
        </p:txBody>
      </p:sp>
      <p:sp>
        <p:nvSpPr>
          <p:cNvPr id="22" name="Text 17"/>
          <p:cNvSpPr txBox="1"/>
          <p:nvPr/>
        </p:nvSpPr>
        <p:spPr>
          <a:xfrm>
            <a:off x="896112" y="33009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1992 →, indicatrice de capteur</a:t>
            </a:r>
            <a:endParaRPr lang="en-US" sz="900" dirty="0"/>
          </a:p>
        </p:txBody>
      </p:sp>
      <p:sp>
        <p:nvSpPr>
          <p:cNvPr id="23" name="Shape 18"/>
          <p:cNvSpPr/>
          <p:nvPr/>
        </p:nvSpPr>
        <p:spPr>
          <a:xfrm>
            <a:off x="457200" y="3584448"/>
            <a:ext cx="347472" cy="347472"/>
          </a:xfrm>
          <a:prstGeom prst="ellipse">
            <a:avLst/>
          </a:prstGeom>
          <a:solidFill>
            <a:srgbClr val="D49A00">
              <a:alpha val="22000"/>
            </a:srgbClr>
          </a:solidFill>
          <a:ln w="12700">
            <a:solidFill>
              <a:srgbClr val="D49A00">
                <a:alpha val="0"/>
              </a:srgbClr>
            </a:solidFill>
            <a:prstDash val="solid"/>
          </a:ln>
        </p:spPr>
      </p:sp>
      <p:pic>
        <p:nvPicPr>
          <p:cNvPr id="24" name="Image 2" descr="preencoded.png">    </p:cNvPr>
          <p:cNvPicPr>
            <a:picLocks noChangeAspect="1"/>
          </p:cNvPicPr>
          <p:nvPr/>
        </p:nvPicPr>
        <p:blipFill>
          <a:blip r:embed="rId3"/>
          <a:stretch>
            <a:fillRect/>
          </a:stretch>
        </p:blipFill>
        <p:spPr>
          <a:xfrm>
            <a:off x="540593" y="3667841"/>
            <a:ext cx="180685" cy="180685"/>
          </a:xfrm>
          <a:prstGeom prst="rect">
            <a:avLst/>
          </a:prstGeom>
        </p:spPr>
      </p:pic>
      <p:sp>
        <p:nvSpPr>
          <p:cNvPr id="25" name="Text 19"/>
          <p:cNvSpPr txBox="1"/>
          <p:nvPr/>
        </p:nvSpPr>
        <p:spPr>
          <a:xfrm>
            <a:off x="896112" y="35661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World Bank NY.GDP.MKTP.KD</a:t>
            </a:r>
            <a:endParaRPr lang="en-US" sz="1050" dirty="0"/>
          </a:p>
        </p:txBody>
      </p:sp>
      <p:sp>
        <p:nvSpPr>
          <p:cNvPr id="26" name="Text 20"/>
          <p:cNvSpPr txBox="1"/>
          <p:nvPr/>
        </p:nvSpPr>
        <p:spPr>
          <a:xfrm>
            <a:off x="896112" y="37581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PIB réel, USD constants 2015</a:t>
            </a:r>
            <a:endParaRPr lang="en-US" sz="900" dirty="0"/>
          </a:p>
        </p:txBody>
      </p:sp>
      <p:sp>
        <p:nvSpPr>
          <p:cNvPr id="27" name="Text 21"/>
          <p:cNvSpPr txBox="1"/>
          <p:nvPr/>
        </p:nvSpPr>
        <p:spPr>
          <a:xfrm>
            <a:off x="4206240" y="1325880"/>
            <a:ext cx="448056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MÉTHODE, PAS À PAS</a:t>
            </a:r>
            <a:endParaRPr lang="en-US" sz="900" dirty="0"/>
          </a:p>
        </p:txBody>
      </p:sp>
      <p:sp>
        <p:nvSpPr>
          <p:cNvPr id="28" name="Shape 22"/>
          <p:cNvSpPr/>
          <p:nvPr/>
        </p:nvSpPr>
        <p:spPr>
          <a:xfrm>
            <a:off x="4206240" y="1645920"/>
            <a:ext cx="329184" cy="329184"/>
          </a:xfrm>
          <a:prstGeom prst="ellipse">
            <a:avLst/>
          </a:prstGeom>
          <a:solidFill>
            <a:srgbClr val="D49A00"/>
          </a:solidFill>
          <a:ln w="12700">
            <a:solidFill>
              <a:srgbClr val="D49A00"/>
            </a:solidFill>
            <a:prstDash val="solid"/>
          </a:ln>
        </p:spPr>
      </p:sp>
      <p:sp>
        <p:nvSpPr>
          <p:cNvPr id="29" name="Text 23"/>
          <p:cNvSpPr txBox="1"/>
          <p:nvPr/>
        </p:nvSpPr>
        <p:spPr>
          <a:xfrm>
            <a:off x="4206240" y="1645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4"/>
          <p:cNvSpPr/>
          <p:nvPr/>
        </p:nvSpPr>
        <p:spPr>
          <a:xfrm>
            <a:off x="4370832" y="1993392"/>
            <a:ext cx="0" cy="237744"/>
          </a:xfrm>
          <a:prstGeom prst="line">
            <a:avLst/>
          </a:prstGeom>
          <a:noFill/>
          <a:ln w="15875">
            <a:solidFill>
              <a:srgbClr val="D5DED9"/>
            </a:solidFill>
            <a:prstDash val="solid"/>
          </a:ln>
        </p:spPr>
      </p:sp>
      <p:sp>
        <p:nvSpPr>
          <p:cNvPr id="31" name="Text 25"/>
          <p:cNvSpPr txBox="1"/>
          <p:nvPr/>
        </p:nvSpPr>
        <p:spPr>
          <a:xfrm>
            <a:off x="4663440" y="1627632"/>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Niveaux</a:t>
            </a:r>
            <a:endParaRPr lang="en-US" sz="1150" dirty="0"/>
          </a:p>
        </p:txBody>
      </p:sp>
      <p:sp>
        <p:nvSpPr>
          <p:cNvPr id="32" name="Text 26"/>
          <p:cNvSpPr txBox="1"/>
          <p:nvPr/>
        </p:nvSpPr>
        <p:spPr>
          <a:xfrm>
            <a:off x="4663440" y="1847088"/>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log(SoLₜ) = α + β·log(GDPₜ) [+ δ·V22ₜ] + εₜ</a:t>
            </a:r>
            <a:endParaRPr lang="en-US" sz="950" dirty="0"/>
          </a:p>
        </p:txBody>
      </p:sp>
      <p:sp>
        <p:nvSpPr>
          <p:cNvPr id="33" name="Shape 27"/>
          <p:cNvSpPr/>
          <p:nvPr/>
        </p:nvSpPr>
        <p:spPr>
          <a:xfrm>
            <a:off x="4206240" y="2249424"/>
            <a:ext cx="329184" cy="329184"/>
          </a:xfrm>
          <a:prstGeom prst="ellipse">
            <a:avLst/>
          </a:prstGeom>
          <a:solidFill>
            <a:srgbClr val="D49A00"/>
          </a:solidFill>
          <a:ln w="12700">
            <a:solidFill>
              <a:srgbClr val="D49A00"/>
            </a:solidFill>
            <a:prstDash val="solid"/>
          </a:ln>
        </p:spPr>
      </p:sp>
      <p:sp>
        <p:nvSpPr>
          <p:cNvPr id="34" name="Text 28"/>
          <p:cNvSpPr txBox="1"/>
          <p:nvPr/>
        </p:nvSpPr>
        <p:spPr>
          <a:xfrm>
            <a:off x="42062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Shape 29"/>
          <p:cNvSpPr/>
          <p:nvPr/>
        </p:nvSpPr>
        <p:spPr>
          <a:xfrm>
            <a:off x="4370832" y="2596896"/>
            <a:ext cx="0" cy="237744"/>
          </a:xfrm>
          <a:prstGeom prst="line">
            <a:avLst/>
          </a:prstGeom>
          <a:noFill/>
          <a:ln w="15875">
            <a:solidFill>
              <a:srgbClr val="D5DED9"/>
            </a:solidFill>
            <a:prstDash val="solid"/>
          </a:ln>
        </p:spPr>
      </p:sp>
      <p:sp>
        <p:nvSpPr>
          <p:cNvPr id="36" name="Text 30"/>
          <p:cNvSpPr txBox="1"/>
          <p:nvPr/>
        </p:nvSpPr>
        <p:spPr>
          <a:xfrm>
            <a:off x="4663440" y="2231136"/>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Taux de croissance</a:t>
            </a:r>
            <a:endParaRPr lang="en-US" sz="1150" dirty="0"/>
          </a:p>
        </p:txBody>
      </p:sp>
      <p:sp>
        <p:nvSpPr>
          <p:cNvPr id="37" name="Text 31"/>
          <p:cNvSpPr txBox="1"/>
          <p:nvPr/>
        </p:nvSpPr>
        <p:spPr>
          <a:xfrm>
            <a:off x="4663440" y="2450592"/>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Δlog(SoL) = α + β·Δlog(PIB) : insensible aux tendances communes</a:t>
            </a:r>
            <a:endParaRPr lang="en-US" sz="950" dirty="0"/>
          </a:p>
        </p:txBody>
      </p:sp>
      <p:sp>
        <p:nvSpPr>
          <p:cNvPr id="38" name="Shape 32"/>
          <p:cNvSpPr/>
          <p:nvPr/>
        </p:nvSpPr>
        <p:spPr>
          <a:xfrm>
            <a:off x="4206240" y="2852928"/>
            <a:ext cx="329184" cy="329184"/>
          </a:xfrm>
          <a:prstGeom prst="ellipse">
            <a:avLst/>
          </a:prstGeom>
          <a:solidFill>
            <a:srgbClr val="D49A00"/>
          </a:solidFill>
          <a:ln w="12700">
            <a:solidFill>
              <a:srgbClr val="D49A00"/>
            </a:solidFill>
            <a:prstDash val="solid"/>
          </a:ln>
        </p:spPr>
      </p:sp>
      <p:sp>
        <p:nvSpPr>
          <p:cNvPr id="39" name="Text 33"/>
          <p:cNvSpPr txBox="1"/>
          <p:nvPr/>
        </p:nvSpPr>
        <p:spPr>
          <a:xfrm>
            <a:off x="4206240"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Shape 34"/>
          <p:cNvSpPr/>
          <p:nvPr/>
        </p:nvSpPr>
        <p:spPr>
          <a:xfrm>
            <a:off x="4370832" y="3200400"/>
            <a:ext cx="0" cy="237744"/>
          </a:xfrm>
          <a:prstGeom prst="line">
            <a:avLst/>
          </a:prstGeom>
          <a:noFill/>
          <a:ln w="15875">
            <a:solidFill>
              <a:srgbClr val="D5DED9"/>
            </a:solidFill>
            <a:prstDash val="solid"/>
          </a:ln>
        </p:spPr>
      </p:sp>
      <p:sp>
        <p:nvSpPr>
          <p:cNvPr id="41" name="Text 35"/>
          <p:cNvSpPr txBox="1"/>
          <p:nvPr/>
        </p:nvSpPr>
        <p:spPr>
          <a:xfrm>
            <a:off x="4663440" y="2834640"/>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Série longue</a:t>
            </a:r>
            <a:endParaRPr lang="en-US" sz="1150" dirty="0"/>
          </a:p>
        </p:txBody>
      </p:sp>
      <p:sp>
        <p:nvSpPr>
          <p:cNvPr id="42" name="Text 36"/>
          <p:cNvSpPr txBox="1"/>
          <p:nvPr/>
        </p:nvSpPr>
        <p:spPr>
          <a:xfrm>
            <a:off x="4663440" y="3054096"/>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Niveaux sur 1992 → avec indicatrice DMSP / VIIRS</a:t>
            </a:r>
            <a:endParaRPr lang="en-US" sz="950" dirty="0"/>
          </a:p>
        </p:txBody>
      </p:sp>
      <p:sp>
        <p:nvSpPr>
          <p:cNvPr id="43" name="Shape 37"/>
          <p:cNvSpPr/>
          <p:nvPr/>
        </p:nvSpPr>
        <p:spPr>
          <a:xfrm>
            <a:off x="4206240" y="3456432"/>
            <a:ext cx="329184" cy="329184"/>
          </a:xfrm>
          <a:prstGeom prst="ellipse">
            <a:avLst/>
          </a:prstGeom>
          <a:solidFill>
            <a:srgbClr val="D49A00"/>
          </a:solidFill>
          <a:ln w="12700">
            <a:solidFill>
              <a:srgbClr val="D49A00"/>
            </a:solidFill>
            <a:prstDash val="solid"/>
          </a:ln>
        </p:spPr>
      </p:sp>
      <p:sp>
        <p:nvSpPr>
          <p:cNvPr id="44" name="Text 38"/>
          <p:cNvSpPr txBox="1"/>
          <p:nvPr/>
        </p:nvSpPr>
        <p:spPr>
          <a:xfrm>
            <a:off x="420624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Shape 39"/>
          <p:cNvSpPr/>
          <p:nvPr/>
        </p:nvSpPr>
        <p:spPr>
          <a:xfrm>
            <a:off x="4370832" y="3803904"/>
            <a:ext cx="0" cy="237744"/>
          </a:xfrm>
          <a:prstGeom prst="line">
            <a:avLst/>
          </a:prstGeom>
          <a:noFill/>
          <a:ln w="15875">
            <a:solidFill>
              <a:srgbClr val="D5DED9"/>
            </a:solidFill>
            <a:prstDash val="solid"/>
          </a:ln>
        </p:spPr>
      </p:sp>
      <p:sp>
        <p:nvSpPr>
          <p:cNvPr id="46" name="Text 40"/>
          <p:cNvSpPr txBox="1"/>
          <p:nvPr/>
        </p:nvSpPr>
        <p:spPr>
          <a:xfrm>
            <a:off x="4663440" y="3438144"/>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Incertitude</a:t>
            </a:r>
            <a:endParaRPr lang="en-US" sz="1150" dirty="0"/>
          </a:p>
        </p:txBody>
      </p:sp>
      <p:sp>
        <p:nvSpPr>
          <p:cNvPr id="47" name="Text 41"/>
          <p:cNvSpPr txBox="1"/>
          <p:nvPr/>
        </p:nvSpPr>
        <p:spPr>
          <a:xfrm>
            <a:off x="4663440" y="3657600"/>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IC 95 % Newey–West (HAC) + IC bootstrap par paires (999 tirages)</a:t>
            </a:r>
            <a:endParaRPr lang="en-US" sz="950" dirty="0"/>
          </a:p>
        </p:txBody>
      </p:sp>
      <p:sp>
        <p:nvSpPr>
          <p:cNvPr id="48" name="Shape 42"/>
          <p:cNvSpPr/>
          <p:nvPr/>
        </p:nvSpPr>
        <p:spPr>
          <a:xfrm>
            <a:off x="4206240" y="4059936"/>
            <a:ext cx="329184" cy="329184"/>
          </a:xfrm>
          <a:prstGeom prst="ellipse">
            <a:avLst/>
          </a:prstGeom>
          <a:solidFill>
            <a:srgbClr val="D49A00"/>
          </a:solidFill>
          <a:ln w="12700">
            <a:solidFill>
              <a:srgbClr val="D49A00"/>
            </a:solidFill>
            <a:prstDash val="solid"/>
          </a:ln>
        </p:spPr>
      </p:sp>
      <p:sp>
        <p:nvSpPr>
          <p:cNvPr id="49" name="Text 43"/>
          <p:cNvSpPr txBox="1"/>
          <p:nvPr/>
        </p:nvSpPr>
        <p:spPr>
          <a:xfrm>
            <a:off x="4206240" y="40599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44"/>
          <p:cNvSpPr txBox="1"/>
          <p:nvPr/>
        </p:nvSpPr>
        <p:spPr>
          <a:xfrm>
            <a:off x="4663440" y="4041648"/>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Diagnostics</a:t>
            </a:r>
            <a:endParaRPr lang="en-US" sz="1150" dirty="0"/>
          </a:p>
        </p:txBody>
      </p:sp>
      <p:sp>
        <p:nvSpPr>
          <p:cNvPr id="51" name="Text 45"/>
          <p:cNvSpPr txBox="1"/>
          <p:nvPr/>
        </p:nvSpPr>
        <p:spPr>
          <a:xfrm>
            <a:off x="4663440" y="4261104"/>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Durbin–Watson · Breusch–Pagan · Jarque–Bera · Ramsey RESET (n ≥ 12)</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Lumières et PIB : prévision et estimation régionale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DÉFINITION / FORMULE</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COMMENT LA LIRE</a:t>
            </a:r>
            <a:endParaRPr lang="en-US" sz="900" dirty="0"/>
          </a:p>
        </p:txBody>
      </p:sp>
      <p:sp>
        <p:nvSpPr>
          <p:cNvPr id="14" name="Shape 11"/>
          <p:cNvSpPr/>
          <p:nvPr/>
        </p:nvSpPr>
        <p:spPr>
          <a:xfrm>
            <a:off x="457200" y="1609344"/>
            <a:ext cx="8229600" cy="429768"/>
          </a:xfrm>
          <a:prstGeom prst="roundRect">
            <a:avLst>
              <a:gd name="adj" fmla="val 10638"/>
            </a:avLst>
          </a:prstGeom>
          <a:solidFill>
            <a:srgbClr val="F4F7F5"/>
          </a:solidFill>
          <a:ln w="6350">
            <a:solidFill>
              <a:srgbClr val="D5DED9"/>
            </a:solidFill>
            <a:prstDash val="solid"/>
          </a:ln>
        </p:spPr>
      </p:sp>
      <p:sp>
        <p:nvSpPr>
          <p:cNvPr id="15" name="Text 12"/>
          <p:cNvSpPr txBox="1"/>
          <p:nvPr/>
        </p:nvSpPr>
        <p:spPr>
          <a:xfrm>
            <a:off x="548640" y="160934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Élasticité β</a:t>
            </a:r>
            <a:endParaRPr lang="en-US" sz="1050" dirty="0"/>
          </a:p>
        </p:txBody>
      </p:sp>
      <p:sp>
        <p:nvSpPr>
          <p:cNvPr id="16" name="Text 13"/>
          <p:cNvSpPr txBox="1"/>
          <p:nvPr/>
        </p:nvSpPr>
        <p:spPr>
          <a:xfrm>
            <a:off x="2331720" y="160934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pente du log SoL sur le log PIB (ou des taux)</a:t>
            </a:r>
            <a:endParaRPr lang="en-US" sz="1000" dirty="0"/>
          </a:p>
        </p:txBody>
      </p:sp>
      <p:sp>
        <p:nvSpPr>
          <p:cNvPr id="17" name="Text 14"/>
          <p:cNvSpPr txBox="1"/>
          <p:nvPr/>
        </p:nvSpPr>
        <p:spPr>
          <a:xfrm>
            <a:off x="5394960" y="160934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+1 % PIB ↔ +β % lumière ; le 0,3 de Henderson ≈ 1/β</a:t>
            </a:r>
            <a:endParaRPr lang="en-US" sz="950" dirty="0"/>
          </a:p>
        </p:txBody>
      </p:sp>
      <p:sp>
        <p:nvSpPr>
          <p:cNvPr id="18" name="Shape 15"/>
          <p:cNvSpPr/>
          <p:nvPr/>
        </p:nvSpPr>
        <p:spPr>
          <a:xfrm>
            <a:off x="457200" y="2093976"/>
            <a:ext cx="8229600" cy="429768"/>
          </a:xfrm>
          <a:prstGeom prst="roundRect">
            <a:avLst>
              <a:gd name="adj" fmla="val 10638"/>
            </a:avLst>
          </a:prstGeom>
          <a:solidFill>
            <a:srgbClr val="FFFFFF"/>
          </a:solidFill>
          <a:ln w="6350">
            <a:solidFill>
              <a:srgbClr val="D5DED9"/>
            </a:solidFill>
            <a:prstDash val="solid"/>
          </a:ln>
        </p:spPr>
      </p:sp>
      <p:sp>
        <p:nvSpPr>
          <p:cNvPr id="19" name="Text 16"/>
          <p:cNvSpPr txBox="1"/>
          <p:nvPr/>
        </p:nvSpPr>
        <p:spPr>
          <a:xfrm>
            <a:off x="548640" y="2093976"/>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Confiance de β</a:t>
            </a:r>
            <a:endParaRPr lang="en-US" sz="1050" dirty="0"/>
          </a:p>
        </p:txBody>
      </p:sp>
      <p:sp>
        <p:nvSpPr>
          <p:cNvPr id="20" name="Text 17"/>
          <p:cNvSpPr txBox="1"/>
          <p:nvPr/>
        </p:nvSpPr>
        <p:spPr>
          <a:xfrm>
            <a:off x="2331720" y="2093976"/>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élevée : n ≥ 15, p &lt; 0,01, largeur IC &lt; 1, R² ≥ 0,6</a:t>
            </a:r>
            <a:endParaRPr lang="en-US" sz="1000" dirty="0"/>
          </a:p>
        </p:txBody>
      </p:sp>
      <p:sp>
        <p:nvSpPr>
          <p:cNvPr id="21" name="Text 18"/>
          <p:cNvSpPr txBox="1"/>
          <p:nvPr/>
        </p:nvSpPr>
        <p:spPr>
          <a:xfrm>
            <a:off x="5394960" y="2093976"/>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moyenne si p &lt; 0,10 · faible si n &lt; 8 ou non significatif</a:t>
            </a:r>
            <a:endParaRPr lang="en-US" sz="950" dirty="0"/>
          </a:p>
        </p:txBody>
      </p:sp>
      <p:sp>
        <p:nvSpPr>
          <p:cNvPr id="22" name="Shape 19"/>
          <p:cNvSpPr/>
          <p:nvPr/>
        </p:nvSpPr>
        <p:spPr>
          <a:xfrm>
            <a:off x="457200" y="2578608"/>
            <a:ext cx="8229600" cy="429768"/>
          </a:xfrm>
          <a:prstGeom prst="roundRect">
            <a:avLst>
              <a:gd name="adj" fmla="val 10638"/>
            </a:avLst>
          </a:prstGeom>
          <a:solidFill>
            <a:srgbClr val="F4F7F5"/>
          </a:solidFill>
          <a:ln w="6350">
            <a:solidFill>
              <a:srgbClr val="D5DED9"/>
            </a:solidFill>
            <a:prstDash val="solid"/>
          </a:ln>
        </p:spPr>
      </p:sp>
      <p:sp>
        <p:nvSpPr>
          <p:cNvPr id="23" name="Text 20"/>
          <p:cNvSpPr txBox="1"/>
          <p:nvPr/>
        </p:nvSpPr>
        <p:spPr>
          <a:xfrm>
            <a:off x="548640" y="2578608"/>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Prévision immédiate</a:t>
            </a:r>
            <a:endParaRPr lang="en-US" sz="1050" dirty="0"/>
          </a:p>
        </p:txBody>
      </p:sp>
      <p:sp>
        <p:nvSpPr>
          <p:cNvPr id="24" name="Text 21"/>
          <p:cNvSpPr txBox="1"/>
          <p:nvPr/>
        </p:nvSpPr>
        <p:spPr>
          <a:xfrm>
            <a:off x="2331720" y="2578608"/>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Δlog PIB = a + γ·Δlog SoL, enchaîné depuis la dernière année officielle</a:t>
            </a:r>
            <a:endParaRPr lang="en-US" sz="1000" dirty="0"/>
          </a:p>
        </p:txBody>
      </p:sp>
      <p:sp>
        <p:nvSpPr>
          <p:cNvPr id="25" name="Text 22"/>
          <p:cNvSpPr txBox="1"/>
          <p:nvPr/>
        </p:nvSpPr>
        <p:spPr>
          <a:xfrm>
            <a:off x="5394960" y="2578608"/>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Estimation des années non publiées, bandes 80 / 95 %</a:t>
            </a:r>
            <a:endParaRPr lang="en-US" sz="950" dirty="0"/>
          </a:p>
        </p:txBody>
      </p:sp>
      <p:sp>
        <p:nvSpPr>
          <p:cNvPr id="26" name="Shape 23"/>
          <p:cNvSpPr/>
          <p:nvPr/>
        </p:nvSpPr>
        <p:spPr>
          <a:xfrm>
            <a:off x="457200" y="3063240"/>
            <a:ext cx="8229600" cy="429768"/>
          </a:xfrm>
          <a:prstGeom prst="roundRect">
            <a:avLst>
              <a:gd name="adj" fmla="val 10638"/>
            </a:avLst>
          </a:prstGeom>
          <a:solidFill>
            <a:srgbClr val="FFFFFF"/>
          </a:solidFill>
          <a:ln w="6350">
            <a:solidFill>
              <a:srgbClr val="D5DED9"/>
            </a:solidFill>
            <a:prstDash val="solid"/>
          </a:ln>
        </p:spPr>
      </p:sp>
      <p:sp>
        <p:nvSpPr>
          <p:cNvPr id="27" name="Text 24"/>
          <p:cNvSpPr txBox="1"/>
          <p:nvPr/>
        </p:nvSpPr>
        <p:spPr>
          <a:xfrm>
            <a:off x="548640" y="3063240"/>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MAE en pseudo temps réel</a:t>
            </a:r>
            <a:endParaRPr lang="en-US" sz="1050" dirty="0"/>
          </a:p>
        </p:txBody>
      </p:sp>
      <p:sp>
        <p:nvSpPr>
          <p:cNvPr id="28" name="Text 25"/>
          <p:cNvSpPr txBox="1"/>
          <p:nvPr/>
        </p:nvSpPr>
        <p:spPr>
          <a:xfrm>
            <a:off x="2331720" y="3063240"/>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moyenne |réel − prédit| de croissance, en points ; fenêtre croissante ≥ 5 ans</a:t>
            </a:r>
            <a:endParaRPr lang="en-US" sz="1000" dirty="0"/>
          </a:p>
        </p:txBody>
      </p:sp>
      <p:sp>
        <p:nvSpPr>
          <p:cNvPr id="29" name="Text 26"/>
          <p:cNvSpPr txBox="1"/>
          <p:nvPr/>
        </p:nvSpPr>
        <p:spPr>
          <a:xfrm>
            <a:off x="5394960" y="3063240"/>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Erreur typique d'un prévisionniste utilisant la lumière</a:t>
            </a:r>
            <a:endParaRPr lang="en-US" sz="950" dirty="0"/>
          </a:p>
        </p:txBody>
      </p:sp>
      <p:sp>
        <p:nvSpPr>
          <p:cNvPr id="30" name="Shape 27"/>
          <p:cNvSpPr/>
          <p:nvPr/>
        </p:nvSpPr>
        <p:spPr>
          <a:xfrm>
            <a:off x="457200" y="3547872"/>
            <a:ext cx="8229600" cy="429768"/>
          </a:xfrm>
          <a:prstGeom prst="roundRect">
            <a:avLst>
              <a:gd name="adj" fmla="val 10638"/>
            </a:avLst>
          </a:prstGeom>
          <a:solidFill>
            <a:srgbClr val="F4F7F5"/>
          </a:solidFill>
          <a:ln w="6350">
            <a:solidFill>
              <a:srgbClr val="D5DED9"/>
            </a:solidFill>
            <a:prstDash val="solid"/>
          </a:ln>
        </p:spPr>
      </p:sp>
      <p:sp>
        <p:nvSpPr>
          <p:cNvPr id="31" name="Text 28"/>
          <p:cNvSpPr txBox="1"/>
          <p:nvPr/>
        </p:nvSpPr>
        <p:spPr>
          <a:xfrm>
            <a:off x="548640" y="3547872"/>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MAE relative</a:t>
            </a:r>
            <a:endParaRPr lang="en-US" sz="1050" dirty="0"/>
          </a:p>
        </p:txBody>
      </p:sp>
      <p:sp>
        <p:nvSpPr>
          <p:cNvPr id="32" name="Text 29"/>
          <p:cNvSpPr txBox="1"/>
          <p:nvPr/>
        </p:nvSpPr>
        <p:spPr>
          <a:xfrm>
            <a:off x="2331720" y="3547872"/>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MAE lumières / min(MAE an passé, MAE moyenne passée)</a:t>
            </a:r>
            <a:endParaRPr lang="en-US" sz="1000" dirty="0"/>
          </a:p>
        </p:txBody>
      </p:sp>
      <p:sp>
        <p:nvSpPr>
          <p:cNvPr id="33" name="Text 30"/>
          <p:cNvSpPr txBox="1"/>
          <p:nvPr/>
        </p:nvSpPr>
        <p:spPr>
          <a:xfrm>
            <a:off x="5394960" y="3547872"/>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&lt; 1 → les lumières apportent plus que les règles naïves</a:t>
            </a:r>
            <a:endParaRPr lang="en-US" sz="950" dirty="0"/>
          </a:p>
        </p:txBody>
      </p:sp>
      <p:sp>
        <p:nvSpPr>
          <p:cNvPr id="34" name="Shape 31"/>
          <p:cNvSpPr/>
          <p:nvPr/>
        </p:nvSpPr>
        <p:spPr>
          <a:xfrm>
            <a:off x="457200" y="4032504"/>
            <a:ext cx="8229600" cy="429768"/>
          </a:xfrm>
          <a:prstGeom prst="roundRect">
            <a:avLst>
              <a:gd name="adj" fmla="val 10638"/>
            </a:avLst>
          </a:prstGeom>
          <a:solidFill>
            <a:srgbClr val="FFFFFF"/>
          </a:solidFill>
          <a:ln w="6350">
            <a:solidFill>
              <a:srgbClr val="D5DED9"/>
            </a:solidFill>
            <a:prstDash val="solid"/>
          </a:ln>
        </p:spPr>
      </p:sp>
      <p:sp>
        <p:nvSpPr>
          <p:cNvPr id="35" name="Text 32"/>
          <p:cNvSpPr txBox="1"/>
          <p:nvPr/>
        </p:nvSpPr>
        <p:spPr>
          <a:xfrm>
            <a:off x="548640" y="403250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PIB régional (expérimental)</a:t>
            </a:r>
            <a:endParaRPr lang="en-US" sz="1050" dirty="0"/>
          </a:p>
        </p:txBody>
      </p:sp>
      <p:sp>
        <p:nvSpPr>
          <p:cNvPr id="36" name="Text 33"/>
          <p:cNvSpPr txBox="1"/>
          <p:nvPr/>
        </p:nvSpPr>
        <p:spPr>
          <a:xfrm>
            <a:off x="2331720" y="403250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GDPᵢ = GDP · SoLᵢ^γ / Σ SoLⱼ^γ, γ = 1 ; 0.5</a:t>
            </a:r>
            <a:endParaRPr lang="en-US" sz="1000" dirty="0"/>
          </a:p>
        </p:txBody>
      </p:sp>
      <p:sp>
        <p:nvSpPr>
          <p:cNvPr id="37" name="Text 34"/>
          <p:cNvSpPr txBox="1"/>
          <p:nvPr/>
        </p:nvSpPr>
        <p:spPr>
          <a:xfrm>
            <a:off x="5394960" y="403250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Somme = PIB national ; écart γ=1 vs 0,5 = incertitude</a:t>
            </a:r>
            <a:endParaRPr lang="en-US" sz="950" dirty="0"/>
          </a:p>
        </p:txBody>
      </p:sp>
      <p:sp>
        <p:nvSpPr>
          <p:cNvPr id="38"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Henderson, Storeygard &amp; Weil (2012) ; Newey &amp; West (1987) · le PIB régional est étiqueté expérimental partout</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4</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Chocs : quelle profondeur, quelle durée, et est-ce réel ?</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1828800" y="1417320"/>
            <a:ext cx="1143000" cy="2103120"/>
          </a:xfrm>
          <a:prstGeom prst="rect">
            <a:avLst/>
          </a:prstGeom>
          <a:solidFill>
            <a:srgbClr val="D49A00">
              <a:alpha val="15000"/>
            </a:srgbClr>
          </a:solidFill>
          <a:ln w="12700">
            <a:solidFill>
              <a:srgbClr val="D49A00">
                <a:alpha val="0"/>
              </a:srgbClr>
            </a:solidFill>
            <a:prstDash val="solid"/>
          </a:ln>
        </p:spPr>
      </p:sp>
      <p:sp>
        <p:nvSpPr>
          <p:cNvPr id="12" name="Shape 9"/>
          <p:cNvSpPr/>
          <p:nvPr/>
        </p:nvSpPr>
        <p:spPr>
          <a:xfrm flipV="1">
            <a:off x="548640" y="2011680"/>
            <a:ext cx="548640" cy="91440"/>
          </a:xfrm>
          <a:prstGeom prst="line">
            <a:avLst/>
          </a:prstGeom>
          <a:noFill/>
          <a:ln w="31750">
            <a:solidFill>
              <a:srgbClr val="00553A"/>
            </a:solidFill>
            <a:prstDash val="solid"/>
          </a:ln>
        </p:spPr>
      </p:sp>
      <p:sp>
        <p:nvSpPr>
          <p:cNvPr id="13" name="Shape 10"/>
          <p:cNvSpPr/>
          <p:nvPr/>
        </p:nvSpPr>
        <p:spPr>
          <a:xfrm flipV="1">
            <a:off x="1097280" y="1965960"/>
            <a:ext cx="548640" cy="45720"/>
          </a:xfrm>
          <a:prstGeom prst="line">
            <a:avLst/>
          </a:prstGeom>
          <a:noFill/>
          <a:ln w="31750">
            <a:solidFill>
              <a:srgbClr val="00553A"/>
            </a:solidFill>
            <a:prstDash val="solid"/>
          </a:ln>
        </p:spPr>
      </p:sp>
      <p:sp>
        <p:nvSpPr>
          <p:cNvPr id="14" name="Shape 11"/>
          <p:cNvSpPr/>
          <p:nvPr/>
        </p:nvSpPr>
        <p:spPr>
          <a:xfrm>
            <a:off x="1645920" y="1965960"/>
            <a:ext cx="457200" cy="960120"/>
          </a:xfrm>
          <a:prstGeom prst="line">
            <a:avLst/>
          </a:prstGeom>
          <a:noFill/>
          <a:ln w="31750">
            <a:solidFill>
              <a:srgbClr val="00553A"/>
            </a:solidFill>
            <a:prstDash val="solid"/>
          </a:ln>
        </p:spPr>
      </p:sp>
      <p:sp>
        <p:nvSpPr>
          <p:cNvPr id="15" name="Shape 12"/>
          <p:cNvSpPr/>
          <p:nvPr/>
        </p:nvSpPr>
        <p:spPr>
          <a:xfrm>
            <a:off x="2103120" y="2926080"/>
            <a:ext cx="457200" cy="228600"/>
          </a:xfrm>
          <a:prstGeom prst="line">
            <a:avLst/>
          </a:prstGeom>
          <a:noFill/>
          <a:ln w="31750">
            <a:solidFill>
              <a:srgbClr val="00553A"/>
            </a:solidFill>
            <a:prstDash val="solid"/>
          </a:ln>
        </p:spPr>
      </p:sp>
      <p:sp>
        <p:nvSpPr>
          <p:cNvPr id="16" name="Shape 13"/>
          <p:cNvSpPr/>
          <p:nvPr/>
        </p:nvSpPr>
        <p:spPr>
          <a:xfrm flipV="1">
            <a:off x="2560320" y="2651760"/>
            <a:ext cx="548640" cy="502920"/>
          </a:xfrm>
          <a:prstGeom prst="line">
            <a:avLst/>
          </a:prstGeom>
          <a:noFill/>
          <a:ln w="31750">
            <a:solidFill>
              <a:srgbClr val="00553A"/>
            </a:solidFill>
            <a:prstDash val="solid"/>
          </a:ln>
        </p:spPr>
      </p:sp>
      <p:sp>
        <p:nvSpPr>
          <p:cNvPr id="17" name="Shape 14"/>
          <p:cNvSpPr/>
          <p:nvPr/>
        </p:nvSpPr>
        <p:spPr>
          <a:xfrm flipV="1">
            <a:off x="3108960" y="2148840"/>
            <a:ext cx="548640" cy="502920"/>
          </a:xfrm>
          <a:prstGeom prst="line">
            <a:avLst/>
          </a:prstGeom>
          <a:noFill/>
          <a:ln w="31750">
            <a:solidFill>
              <a:srgbClr val="00553A"/>
            </a:solidFill>
            <a:prstDash val="solid"/>
          </a:ln>
        </p:spPr>
      </p:sp>
      <p:sp>
        <p:nvSpPr>
          <p:cNvPr id="18" name="Shape 15"/>
          <p:cNvSpPr/>
          <p:nvPr/>
        </p:nvSpPr>
        <p:spPr>
          <a:xfrm flipV="1">
            <a:off x="3657600" y="1965960"/>
            <a:ext cx="548640" cy="182880"/>
          </a:xfrm>
          <a:prstGeom prst="line">
            <a:avLst/>
          </a:prstGeom>
          <a:noFill/>
          <a:ln w="31750">
            <a:solidFill>
              <a:srgbClr val="00553A"/>
            </a:solidFill>
            <a:prstDash val="solid"/>
          </a:ln>
        </p:spPr>
      </p:sp>
      <p:sp>
        <p:nvSpPr>
          <p:cNvPr id="19" name="Shape 16"/>
          <p:cNvSpPr/>
          <p:nvPr/>
        </p:nvSpPr>
        <p:spPr>
          <a:xfrm>
            <a:off x="548640" y="2011680"/>
            <a:ext cx="3749040" cy="0"/>
          </a:xfrm>
          <a:prstGeom prst="line">
            <a:avLst/>
          </a:prstGeom>
          <a:noFill/>
          <a:ln w="12700">
            <a:solidFill>
              <a:srgbClr val="5E6964"/>
            </a:solidFill>
            <a:prstDash val="dash"/>
          </a:ln>
        </p:spPr>
      </p:sp>
      <p:sp>
        <p:nvSpPr>
          <p:cNvPr id="20" name="Shape 17"/>
          <p:cNvSpPr/>
          <p:nvPr/>
        </p:nvSpPr>
        <p:spPr>
          <a:xfrm>
            <a:off x="1828800" y="1965960"/>
            <a:ext cx="1143000" cy="109728"/>
          </a:xfrm>
          <a:prstGeom prst="line">
            <a:avLst/>
          </a:prstGeom>
          <a:noFill/>
          <a:ln w="12700">
            <a:solidFill>
              <a:srgbClr val="0E7C86"/>
            </a:solidFill>
            <a:prstDash val="sysDot"/>
          </a:ln>
        </p:spPr>
      </p:sp>
      <p:sp>
        <p:nvSpPr>
          <p:cNvPr id="21" name="Text 18"/>
          <p:cNvSpPr txBox="1"/>
          <p:nvPr/>
        </p:nvSpPr>
        <p:spPr>
          <a:xfrm>
            <a:off x="548640" y="1691640"/>
            <a:ext cx="182880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référence (12 mois avant)</a:t>
            </a:r>
            <a:endParaRPr lang="en-US" sz="950" dirty="0"/>
          </a:p>
        </p:txBody>
      </p:sp>
      <p:sp>
        <p:nvSpPr>
          <p:cNvPr id="22" name="Text 19"/>
          <p:cNvSpPr txBox="1"/>
          <p:nvPr/>
        </p:nvSpPr>
        <p:spPr>
          <a:xfrm>
            <a:off x="2331720" y="3200400"/>
            <a:ext cx="731520" cy="256032"/>
          </a:xfrm>
          <a:prstGeom prst="rect">
            <a:avLst/>
          </a:prstGeom>
          <a:noFill/>
          <a:ln/>
        </p:spPr>
        <p:txBody>
          <a:bodyPr wrap="square" lIns="0" tIns="0" rIns="0" bIns="0" rtlCol="0" anchor="t"/>
          <a:lstStyle/>
          <a:p>
            <a:pPr indent="0" marL="0">
              <a:buNone/>
            </a:pPr>
            <a:r>
              <a:rPr lang="en-US" sz="1000" b="1" dirty="0">
                <a:solidFill>
                  <a:srgbClr val="B83B2E"/>
                </a:solidFill>
                <a:latin typeface="Calibri" pitchFamily="34" charset="0"/>
                <a:ea typeface="Calibri" pitchFamily="34" charset="-122"/>
                <a:cs typeface="Calibri" pitchFamily="34" charset="-120"/>
              </a:rPr>
              <a:t>creux</a:t>
            </a:r>
            <a:endParaRPr lang="en-US" sz="1000" dirty="0"/>
          </a:p>
        </p:txBody>
      </p:sp>
      <p:sp>
        <p:nvSpPr>
          <p:cNvPr id="23" name="Text 20"/>
          <p:cNvSpPr txBox="1"/>
          <p:nvPr/>
        </p:nvSpPr>
        <p:spPr>
          <a:xfrm>
            <a:off x="3429000" y="2194560"/>
            <a:ext cx="1005840" cy="256032"/>
          </a:xfrm>
          <a:prstGeom prst="rect">
            <a:avLst/>
          </a:prstGeom>
          <a:noFill/>
          <a:ln/>
        </p:spPr>
        <p:txBody>
          <a:bodyPr wrap="square" lIns="0" tIns="0" rIns="0" bIns="0" rtlCol="0" anchor="t"/>
          <a:lstStyle/>
          <a:p>
            <a:pPr indent="0" marL="0">
              <a:buNone/>
            </a:pPr>
            <a:r>
              <a:rPr lang="en-US" sz="1000" b="1" dirty="0">
                <a:solidFill>
                  <a:srgbClr val="00A86A"/>
                </a:solidFill>
                <a:latin typeface="Calibri" pitchFamily="34" charset="0"/>
                <a:ea typeface="Calibri" pitchFamily="34" charset="-122"/>
                <a:cs typeface="Calibri" pitchFamily="34" charset="-120"/>
              </a:rPr>
              <a:t>reprise</a:t>
            </a:r>
            <a:endParaRPr lang="en-US" sz="1000" dirty="0"/>
          </a:p>
        </p:txBody>
      </p:sp>
      <p:sp>
        <p:nvSpPr>
          <p:cNvPr id="24" name="Text 21"/>
          <p:cNvSpPr txBox="1"/>
          <p:nvPr/>
        </p:nvSpPr>
        <p:spPr>
          <a:xfrm>
            <a:off x="1828800" y="1463040"/>
            <a:ext cx="1143000" cy="256032"/>
          </a:xfrm>
          <a:prstGeom prst="rect">
            <a:avLst/>
          </a:prstGeom>
          <a:noFill/>
          <a:ln/>
        </p:spPr>
        <p:txBody>
          <a:bodyPr wrap="square" lIns="0" tIns="0" rIns="0" bIns="0" rtlCol="0" anchor="t"/>
          <a:lstStyle/>
          <a:p>
            <a:pPr algn="ctr" indent="0" marL="0">
              <a:buNone/>
            </a:pPr>
            <a:r>
              <a:rPr lang="en-US" sz="1000" b="1" dirty="0">
                <a:solidFill>
                  <a:srgbClr val="D49A00"/>
                </a:solidFill>
                <a:latin typeface="Calibri" pitchFamily="34" charset="0"/>
                <a:ea typeface="Calibri" pitchFamily="34" charset="-122"/>
                <a:cs typeface="Calibri" pitchFamily="34" charset="-120"/>
              </a:rPr>
              <a:t>événement</a:t>
            </a:r>
            <a:endParaRPr lang="en-US" sz="1000" dirty="0"/>
          </a:p>
        </p:txBody>
      </p:sp>
      <p:sp>
        <p:nvSpPr>
          <p:cNvPr id="25" name="Text 22"/>
          <p:cNvSpPr txBox="1"/>
          <p:nvPr/>
        </p:nvSpPr>
        <p:spPr>
          <a:xfrm>
            <a:off x="548640" y="3657600"/>
            <a:ext cx="3840480" cy="27432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Schéma : série désaisonnalisée autour d'un événement</a:t>
            </a:r>
            <a:endParaRPr lang="en-US" sz="950" dirty="0"/>
          </a:p>
        </p:txBody>
      </p:sp>
      <p:sp>
        <p:nvSpPr>
          <p:cNvPr id="26" name="Text 23"/>
          <p:cNvSpPr txBox="1"/>
          <p:nvPr/>
        </p:nvSpPr>
        <p:spPr>
          <a:xfrm>
            <a:off x="548640" y="3977640"/>
            <a:ext cx="38404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DONNÉES UTILISÉES</a:t>
            </a:r>
            <a:endParaRPr lang="en-US" sz="900" dirty="0"/>
          </a:p>
        </p:txBody>
      </p:sp>
      <p:sp>
        <p:nvSpPr>
          <p:cNvPr id="27" name="Text 24"/>
          <p:cNvSpPr txBox="1"/>
          <p:nvPr/>
        </p:nvSpPr>
        <p:spPr>
          <a:xfrm>
            <a:off x="548640" y="4206240"/>
            <a:ext cx="393192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VNL mensuel désaisonnalisé (S1) · Black Marble VNP46A2 quotidien · catalogue : COVID-19, CUSTOM_EVENTS, ACLED / EM-DAT</a:t>
            </a:r>
            <a:endParaRPr lang="en-US" sz="950" dirty="0"/>
          </a:p>
        </p:txBody>
      </p:sp>
      <p:sp>
        <p:nvSpPr>
          <p:cNvPr id="28" name="Text 25"/>
          <p:cNvSpPr txBox="1"/>
          <p:nvPr/>
        </p:nvSpPr>
        <p:spPr>
          <a:xfrm>
            <a:off x="4663440" y="1325880"/>
            <a:ext cx="10972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29" name="Text 26"/>
          <p:cNvSpPr txBox="1"/>
          <p:nvPr/>
        </p:nvSpPr>
        <p:spPr>
          <a:xfrm>
            <a:off x="5852160" y="1325880"/>
            <a:ext cx="16002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FORMULE</a:t>
            </a:r>
            <a:endParaRPr lang="en-US" sz="900" dirty="0"/>
          </a:p>
        </p:txBody>
      </p:sp>
      <p:sp>
        <p:nvSpPr>
          <p:cNvPr id="30" name="Text 27"/>
          <p:cNvSpPr txBox="1"/>
          <p:nvPr/>
        </p:nvSpPr>
        <p:spPr>
          <a:xfrm>
            <a:off x="7543800" y="1325880"/>
            <a:ext cx="11430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LECTURE</a:t>
            </a:r>
            <a:endParaRPr lang="en-US" sz="900" dirty="0"/>
          </a:p>
        </p:txBody>
      </p:sp>
      <p:sp>
        <p:nvSpPr>
          <p:cNvPr id="31" name="Shape 28"/>
          <p:cNvSpPr/>
          <p:nvPr/>
        </p:nvSpPr>
        <p:spPr>
          <a:xfrm>
            <a:off x="4572000" y="1581912"/>
            <a:ext cx="4114800" cy="603504"/>
          </a:xfrm>
          <a:prstGeom prst="roundRect">
            <a:avLst>
              <a:gd name="adj" fmla="val 7576"/>
            </a:avLst>
          </a:prstGeom>
          <a:solidFill>
            <a:srgbClr val="F4F7F5"/>
          </a:solidFill>
          <a:ln w="6350">
            <a:solidFill>
              <a:srgbClr val="D5DED9"/>
            </a:solidFill>
            <a:prstDash val="solid"/>
          </a:ln>
        </p:spPr>
      </p:sp>
      <p:sp>
        <p:nvSpPr>
          <p:cNvPr id="32" name="Text 29"/>
          <p:cNvSpPr txBox="1"/>
          <p:nvPr/>
        </p:nvSpPr>
        <p:spPr>
          <a:xfrm>
            <a:off x="4663440" y="1581912"/>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Creux %</a:t>
            </a:r>
            <a:endParaRPr lang="en-US" sz="950" dirty="0"/>
          </a:p>
        </p:txBody>
      </p:sp>
      <p:sp>
        <p:nvSpPr>
          <p:cNvPr id="33" name="Text 30"/>
          <p:cNvSpPr txBox="1"/>
          <p:nvPr/>
        </p:nvSpPr>
        <p:spPr>
          <a:xfrm>
            <a:off x="5760720" y="1581912"/>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100·(exp(min SA − référence) − 1)</a:t>
            </a:r>
            <a:endParaRPr lang="en-US" sz="900" dirty="0"/>
          </a:p>
        </p:txBody>
      </p:sp>
      <p:sp>
        <p:nvSpPr>
          <p:cNvPr id="34" name="Text 31"/>
          <p:cNvSpPr txBox="1"/>
          <p:nvPr/>
        </p:nvSpPr>
        <p:spPr>
          <a:xfrm>
            <a:off x="7452360" y="1581912"/>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Profondeur de la chute</a:t>
            </a:r>
            <a:endParaRPr lang="en-US" sz="850" dirty="0"/>
          </a:p>
        </p:txBody>
      </p:sp>
      <p:sp>
        <p:nvSpPr>
          <p:cNvPr id="35" name="Shape 32"/>
          <p:cNvSpPr/>
          <p:nvPr/>
        </p:nvSpPr>
        <p:spPr>
          <a:xfrm>
            <a:off x="4572000" y="2240280"/>
            <a:ext cx="4114800" cy="603504"/>
          </a:xfrm>
          <a:prstGeom prst="roundRect">
            <a:avLst>
              <a:gd name="adj" fmla="val 7576"/>
            </a:avLst>
          </a:prstGeom>
          <a:solidFill>
            <a:srgbClr val="FFFFFF"/>
          </a:solidFill>
          <a:ln w="6350">
            <a:solidFill>
              <a:srgbClr val="D5DED9"/>
            </a:solidFill>
            <a:prstDash val="solid"/>
          </a:ln>
        </p:spPr>
      </p:sp>
      <p:sp>
        <p:nvSpPr>
          <p:cNvPr id="36" name="Text 33"/>
          <p:cNvSpPr txBox="1"/>
          <p:nvPr/>
        </p:nvSpPr>
        <p:spPr>
          <a:xfrm>
            <a:off x="4663440" y="2240280"/>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Écart à la tendance %</a:t>
            </a:r>
            <a:endParaRPr lang="en-US" sz="950" dirty="0"/>
          </a:p>
        </p:txBody>
      </p:sp>
      <p:sp>
        <p:nvSpPr>
          <p:cNvPr id="37" name="Text 34"/>
          <p:cNvSpPr txBox="1"/>
          <p:nvPr/>
        </p:nvSpPr>
        <p:spPr>
          <a:xfrm>
            <a:off x="5760720" y="2240280"/>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écart moyen à la tendance des 24 mois avant</a:t>
            </a:r>
            <a:endParaRPr lang="en-US" sz="900" dirty="0"/>
          </a:p>
        </p:txBody>
      </p:sp>
      <p:sp>
        <p:nvSpPr>
          <p:cNvPr id="38" name="Text 35"/>
          <p:cNvSpPr txBox="1"/>
          <p:nvPr/>
        </p:nvSpPr>
        <p:spPr>
          <a:xfrm>
            <a:off x="7452360" y="2240280"/>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Perte vs la trajectoire attendue</a:t>
            </a:r>
            <a:endParaRPr lang="en-US" sz="850" dirty="0"/>
          </a:p>
        </p:txBody>
      </p:sp>
      <p:sp>
        <p:nvSpPr>
          <p:cNvPr id="39" name="Shape 36"/>
          <p:cNvSpPr/>
          <p:nvPr/>
        </p:nvSpPr>
        <p:spPr>
          <a:xfrm>
            <a:off x="4572000" y="2898648"/>
            <a:ext cx="4114800" cy="603504"/>
          </a:xfrm>
          <a:prstGeom prst="roundRect">
            <a:avLst>
              <a:gd name="adj" fmla="val 7576"/>
            </a:avLst>
          </a:prstGeom>
          <a:solidFill>
            <a:srgbClr val="F4F7F5"/>
          </a:solidFill>
          <a:ln w="6350">
            <a:solidFill>
              <a:srgbClr val="D5DED9"/>
            </a:solidFill>
            <a:prstDash val="solid"/>
          </a:ln>
        </p:spPr>
      </p:sp>
      <p:sp>
        <p:nvSpPr>
          <p:cNvPr id="40" name="Text 37"/>
          <p:cNvSpPr txBox="1"/>
          <p:nvPr/>
        </p:nvSpPr>
        <p:spPr>
          <a:xfrm>
            <a:off x="4663440" y="2898648"/>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Mois de reprise</a:t>
            </a:r>
            <a:endParaRPr lang="en-US" sz="950" dirty="0"/>
          </a:p>
        </p:txBody>
      </p:sp>
      <p:sp>
        <p:nvSpPr>
          <p:cNvPr id="41" name="Text 38"/>
          <p:cNvSpPr txBox="1"/>
          <p:nvPr/>
        </p:nvSpPr>
        <p:spPr>
          <a:xfrm>
            <a:off x="5760720" y="2898648"/>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premier mois SA ≥ référence (≤ 36)</a:t>
            </a:r>
            <a:endParaRPr lang="en-US" sz="900" dirty="0"/>
          </a:p>
        </p:txBody>
      </p:sp>
      <p:sp>
        <p:nvSpPr>
          <p:cNvPr id="42" name="Text 39"/>
          <p:cNvSpPr txBox="1"/>
          <p:nvPr/>
        </p:nvSpPr>
        <p:spPr>
          <a:xfrm>
            <a:off x="7452360" y="2898648"/>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Vitesse de reprise ; aucun = non rétabli</a:t>
            </a:r>
            <a:endParaRPr lang="en-US" sz="850" dirty="0"/>
          </a:p>
        </p:txBody>
      </p:sp>
      <p:sp>
        <p:nvSpPr>
          <p:cNvPr id="43" name="Shape 40"/>
          <p:cNvSpPr/>
          <p:nvPr/>
        </p:nvSpPr>
        <p:spPr>
          <a:xfrm>
            <a:off x="4572000" y="3557016"/>
            <a:ext cx="4114800" cy="603504"/>
          </a:xfrm>
          <a:prstGeom prst="roundRect">
            <a:avLst>
              <a:gd name="adj" fmla="val 7576"/>
            </a:avLst>
          </a:prstGeom>
          <a:solidFill>
            <a:srgbClr val="FFFFFF"/>
          </a:solidFill>
          <a:ln w="6350">
            <a:solidFill>
              <a:srgbClr val="D5DED9"/>
            </a:solidFill>
            <a:prstDash val="solid"/>
          </a:ln>
        </p:spPr>
      </p:sp>
      <p:sp>
        <p:nvSpPr>
          <p:cNvPr id="44" name="Text 41"/>
          <p:cNvSpPr txBox="1"/>
          <p:nvPr/>
        </p:nvSpPr>
        <p:spPr>
          <a:xfrm>
            <a:off x="4663440" y="3557016"/>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Test placebo</a:t>
            </a:r>
            <a:endParaRPr lang="en-US" sz="950" dirty="0"/>
          </a:p>
        </p:txBody>
      </p:sp>
      <p:sp>
        <p:nvSpPr>
          <p:cNvPr id="45" name="Text 42"/>
          <p:cNvSpPr txBox="1"/>
          <p:nvPr/>
        </p:nvSpPr>
        <p:spPr>
          <a:xfrm>
            <a:off x="5760720" y="3557016"/>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creux &lt; 5e centile des fenêtres antérieures</a:t>
            </a:r>
            <a:endParaRPr lang="en-US" sz="900" dirty="0"/>
          </a:p>
        </p:txBody>
      </p:sp>
      <p:sp>
        <p:nvSpPr>
          <p:cNvPr id="46" name="Text 43"/>
          <p:cNvSpPr txBox="1"/>
          <p:nvPr/>
        </p:nvSpPr>
        <p:spPr>
          <a:xfrm>
            <a:off x="7452360" y="3557016"/>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Se distingue du bruit ordinaire</a:t>
            </a:r>
            <a:endParaRPr lang="en-US" sz="8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4</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Chocs : zoom quotidien et impact régional</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408176"/>
            <a:ext cx="457200" cy="457200"/>
          </a:xfrm>
          <a:prstGeom prst="ellipse">
            <a:avLst/>
          </a:prstGeom>
          <a:solidFill>
            <a:srgbClr val="D49A00">
              <a:alpha val="22000"/>
            </a:srgbClr>
          </a:solidFill>
          <a:ln w="12700">
            <a:solidFill>
              <a:srgbClr val="D49A00">
                <a:alpha val="0"/>
              </a:srgbClr>
            </a:solidFill>
            <a:prstDash val="solid"/>
          </a:ln>
        </p:spPr>
      </p:sp>
      <p:pic>
        <p:nvPicPr>
          <p:cNvPr id="12" name="Image 0" descr="preencoded.png">    </p:cNvPr>
          <p:cNvPicPr>
            <a:picLocks noChangeAspect="1"/>
          </p:cNvPicPr>
          <p:nvPr/>
        </p:nvPicPr>
        <p:blipFill>
          <a:blip r:embed="rId1"/>
          <a:stretch>
            <a:fillRect/>
          </a:stretch>
        </p:blipFill>
        <p:spPr>
          <a:xfrm>
            <a:off x="566928" y="1517904"/>
            <a:ext cx="237744" cy="237744"/>
          </a:xfrm>
          <a:prstGeom prst="rect">
            <a:avLst/>
          </a:prstGeom>
        </p:spPr>
      </p:pic>
      <p:sp>
        <p:nvSpPr>
          <p:cNvPr id="13" name="Text 9"/>
          <p:cNvSpPr txBox="1"/>
          <p:nvPr/>
        </p:nvSpPr>
        <p:spPr>
          <a:xfrm>
            <a:off x="1024128" y="1371600"/>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Garder les bonnes nuits</a:t>
            </a:r>
            <a:endParaRPr lang="en-US" sz="1200" dirty="0"/>
          </a:p>
        </p:txBody>
      </p:sp>
      <p:sp>
        <p:nvSpPr>
          <p:cNvPr id="14" name="Text 10"/>
          <p:cNvSpPr txBox="1"/>
          <p:nvPr/>
        </p:nvSpPr>
        <p:spPr>
          <a:xfrm>
            <a:off x="1024128" y="1645920"/>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Drapeau qualité ∈ {0, 1} · bits nuage 6–7 ≤ 1 · sans neige · pixel éclairé dans l'annuel</a:t>
            </a:r>
            <a:endParaRPr lang="en-US" sz="950" dirty="0"/>
          </a:p>
        </p:txBody>
      </p:sp>
      <p:sp>
        <p:nvSpPr>
          <p:cNvPr id="15" name="Shape 11"/>
          <p:cNvSpPr/>
          <p:nvPr/>
        </p:nvSpPr>
        <p:spPr>
          <a:xfrm>
            <a:off x="457200" y="2176272"/>
            <a:ext cx="457200" cy="457200"/>
          </a:xfrm>
          <a:prstGeom prst="ellipse">
            <a:avLst/>
          </a:prstGeom>
          <a:solidFill>
            <a:srgbClr val="D49A00">
              <a:alpha val="22000"/>
            </a:srgbClr>
          </a:solidFill>
          <a:ln w="12700">
            <a:solidFill>
              <a:srgbClr val="D49A00">
                <a:alpha val="0"/>
              </a:srgbClr>
            </a:solidFill>
            <a:prstDash val="solid"/>
          </a:ln>
        </p:spPr>
      </p:sp>
      <p:pic>
        <p:nvPicPr>
          <p:cNvPr id="16" name="Image 1" descr="preencoded.png">    </p:cNvPr>
          <p:cNvPicPr>
            <a:picLocks noChangeAspect="1"/>
          </p:cNvPicPr>
          <p:nvPr/>
        </p:nvPicPr>
        <p:blipFill>
          <a:blip r:embed="rId2"/>
          <a:stretch>
            <a:fillRect/>
          </a:stretch>
        </p:blipFill>
        <p:spPr>
          <a:xfrm>
            <a:off x="566928" y="2286000"/>
            <a:ext cx="237744" cy="237744"/>
          </a:xfrm>
          <a:prstGeom prst="rect">
            <a:avLst/>
          </a:prstGeom>
        </p:spPr>
      </p:pic>
      <p:sp>
        <p:nvSpPr>
          <p:cNvPr id="17" name="Text 12"/>
          <p:cNvSpPr txBox="1"/>
          <p:nvPr/>
        </p:nvSpPr>
        <p:spPr>
          <a:xfrm>
            <a:off x="1024128" y="2139696"/>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Somme quotidienne</a:t>
            </a:r>
            <a:endParaRPr lang="en-US" sz="1200" dirty="0"/>
          </a:p>
        </p:txBody>
      </p:sp>
      <p:sp>
        <p:nvSpPr>
          <p:cNvPr id="18" name="Text 13"/>
          <p:cNvSpPr txBox="1"/>
          <p:nvPr/>
        </p:nvSpPr>
        <p:spPr>
          <a:xfrm>
            <a:off x="1024128" y="2414016"/>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Jour gardé si ≥ 50 % des pixels observés ; SoL rapportée à la part observée</a:t>
            </a:r>
            <a:endParaRPr lang="en-US" sz="950" dirty="0"/>
          </a:p>
        </p:txBody>
      </p:sp>
      <p:sp>
        <p:nvSpPr>
          <p:cNvPr id="19" name="Shape 14"/>
          <p:cNvSpPr/>
          <p:nvPr/>
        </p:nvSpPr>
        <p:spPr>
          <a:xfrm>
            <a:off x="457200" y="2944368"/>
            <a:ext cx="457200" cy="457200"/>
          </a:xfrm>
          <a:prstGeom prst="ellipse">
            <a:avLst/>
          </a:prstGeom>
          <a:solidFill>
            <a:srgbClr val="D49A00">
              <a:alpha val="22000"/>
            </a:srgbClr>
          </a:solidFill>
          <a:ln w="12700">
            <a:solidFill>
              <a:srgbClr val="D49A00">
                <a:alpha val="0"/>
              </a:srgbClr>
            </a:solidFill>
            <a:prstDash val="solid"/>
          </a:ln>
        </p:spPr>
      </p:sp>
      <p:pic>
        <p:nvPicPr>
          <p:cNvPr id="20" name="Image 2" descr="preencoded.png">    </p:cNvPr>
          <p:cNvPicPr>
            <a:picLocks noChangeAspect="1"/>
          </p:cNvPicPr>
          <p:nvPr/>
        </p:nvPicPr>
        <p:blipFill>
          <a:blip r:embed="rId3"/>
          <a:stretch>
            <a:fillRect/>
          </a:stretch>
        </p:blipFill>
        <p:spPr>
          <a:xfrm>
            <a:off x="566928" y="3054096"/>
            <a:ext cx="237744" cy="237744"/>
          </a:xfrm>
          <a:prstGeom prst="rect">
            <a:avLst/>
          </a:prstGeom>
        </p:spPr>
      </p:pic>
      <p:sp>
        <p:nvSpPr>
          <p:cNvPr id="21" name="Text 15"/>
          <p:cNvSpPr txBox="1"/>
          <p:nvPr/>
        </p:nvSpPr>
        <p:spPr>
          <a:xfrm>
            <a:off x="1024128" y="2907792"/>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Lisser</a:t>
            </a:r>
            <a:endParaRPr lang="en-US" sz="1200" dirty="0"/>
          </a:p>
        </p:txBody>
      </p:sp>
      <p:sp>
        <p:nvSpPr>
          <p:cNvPr id="22" name="Text 16"/>
          <p:cNvSpPr txBox="1"/>
          <p:nvPr/>
        </p:nvSpPr>
        <p:spPr>
          <a:xfrm>
            <a:off x="1024128" y="3182112"/>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Médiane glissante 7 jours : absorbe résidus lunaires et jours nuageux</a:t>
            </a:r>
            <a:endParaRPr lang="en-US" sz="950" dirty="0"/>
          </a:p>
        </p:txBody>
      </p:sp>
      <p:sp>
        <p:nvSpPr>
          <p:cNvPr id="23" name="Shape 17"/>
          <p:cNvSpPr/>
          <p:nvPr/>
        </p:nvSpPr>
        <p:spPr>
          <a:xfrm>
            <a:off x="457200" y="3712464"/>
            <a:ext cx="457200" cy="457200"/>
          </a:xfrm>
          <a:prstGeom prst="ellipse">
            <a:avLst/>
          </a:prstGeom>
          <a:solidFill>
            <a:srgbClr val="D49A00">
              <a:alpha val="22000"/>
            </a:srgbClr>
          </a:solidFill>
          <a:ln w="12700">
            <a:solidFill>
              <a:srgbClr val="D49A00">
                <a:alpha val="0"/>
              </a:srgbClr>
            </a:solidFill>
            <a:prstDash val="solid"/>
          </a:ln>
        </p:spPr>
      </p:sp>
      <p:pic>
        <p:nvPicPr>
          <p:cNvPr id="24" name="Image 3" descr="preencoded.png">    </p:cNvPr>
          <p:cNvPicPr>
            <a:picLocks noChangeAspect="1"/>
          </p:cNvPicPr>
          <p:nvPr/>
        </p:nvPicPr>
        <p:blipFill>
          <a:blip r:embed="rId4"/>
          <a:stretch>
            <a:fillRect/>
          </a:stretch>
        </p:blipFill>
        <p:spPr>
          <a:xfrm>
            <a:off x="566928" y="3822192"/>
            <a:ext cx="237744" cy="237744"/>
          </a:xfrm>
          <a:prstGeom prst="rect">
            <a:avLst/>
          </a:prstGeom>
        </p:spPr>
      </p:pic>
      <p:sp>
        <p:nvSpPr>
          <p:cNvPr id="25" name="Text 18"/>
          <p:cNvSpPr txBox="1"/>
          <p:nvPr/>
        </p:nvSpPr>
        <p:spPr>
          <a:xfrm>
            <a:off x="1024128" y="3675888"/>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Indice</a:t>
            </a:r>
            <a:endParaRPr lang="en-US" sz="1200" dirty="0"/>
          </a:p>
        </p:txBody>
      </p:sp>
      <p:sp>
        <p:nvSpPr>
          <p:cNvPr id="26" name="Text 19"/>
          <p:cNvSpPr txBox="1"/>
          <p:nvPr/>
        </p:nvSpPr>
        <p:spPr>
          <a:xfrm>
            <a:off x="1024128" y="3950208"/>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100 × SoL / mêmes jours 364 jours plus tôt (même jour de semaine)</a:t>
            </a:r>
            <a:endParaRPr lang="en-US" sz="950" dirty="0"/>
          </a:p>
        </p:txBody>
      </p:sp>
      <p:sp>
        <p:nvSpPr>
          <p:cNvPr id="27" name="Shape 20"/>
          <p:cNvSpPr/>
          <p:nvPr/>
        </p:nvSpPr>
        <p:spPr>
          <a:xfrm>
            <a:off x="4526280" y="1371600"/>
            <a:ext cx="4160520" cy="1600200"/>
          </a:xfrm>
          <a:prstGeom prst="roundRect">
            <a:avLst>
              <a:gd name="adj" fmla="val 4571"/>
            </a:avLst>
          </a:prstGeom>
          <a:solidFill>
            <a:srgbClr val="E8F5EF"/>
          </a:solidFill>
          <a:ln w="15875">
            <a:solidFill>
              <a:srgbClr val="D49A00"/>
            </a:solidFill>
            <a:prstDash val="solid"/>
          </a:ln>
        </p:spPr>
      </p:sp>
      <p:sp>
        <p:nvSpPr>
          <p:cNvPr id="28" name="Text 21"/>
          <p:cNvSpPr txBox="1"/>
          <p:nvPr/>
        </p:nvSpPr>
        <p:spPr>
          <a:xfrm>
            <a:off x="4681728" y="1444752"/>
            <a:ext cx="3840480" cy="256032"/>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Lire l'indice quotidien</a:t>
            </a:r>
            <a:endParaRPr lang="en-US" sz="1200" dirty="0"/>
          </a:p>
        </p:txBody>
      </p:sp>
      <p:sp>
        <p:nvSpPr>
          <p:cNvPr id="29" name="Text 22"/>
          <p:cNvSpPr txBox="1"/>
          <p:nvPr/>
        </p:nvSpPr>
        <p:spPr>
          <a:xfrm>
            <a:off x="4681728" y="1755648"/>
            <a:ext cx="731520" cy="329184"/>
          </a:xfrm>
          <a:prstGeom prst="rect">
            <a:avLst/>
          </a:prstGeom>
          <a:noFill/>
          <a:ln/>
        </p:spPr>
        <p:txBody>
          <a:bodyPr wrap="square" lIns="0" tIns="0" rIns="0" bIns="0" rtlCol="0" anchor="ctr"/>
          <a:lstStyle/>
          <a:p>
            <a:pPr indent="0" marL="0">
              <a:buNone/>
            </a:pPr>
            <a:r>
              <a:rPr lang="en-US" sz="1500" b="1" dirty="0">
                <a:solidFill>
                  <a:srgbClr val="5E6964"/>
                </a:solidFill>
                <a:latin typeface="Calibri" pitchFamily="34" charset="0"/>
                <a:ea typeface="Calibri" pitchFamily="34" charset="-122"/>
                <a:cs typeface="Calibri" pitchFamily="34" charset="-120"/>
              </a:rPr>
              <a:t>100</a:t>
            </a:r>
            <a:endParaRPr lang="en-US" sz="1500" dirty="0"/>
          </a:p>
        </p:txBody>
      </p:sp>
      <p:sp>
        <p:nvSpPr>
          <p:cNvPr id="30" name="Text 23"/>
          <p:cNvSpPr txBox="1"/>
          <p:nvPr/>
        </p:nvSpPr>
        <p:spPr>
          <a:xfrm>
            <a:off x="5440680" y="1755648"/>
            <a:ext cx="3154680" cy="329184"/>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même activité qu'un an plus tôt</a:t>
            </a:r>
            <a:endParaRPr lang="en-US" sz="1000" dirty="0"/>
          </a:p>
        </p:txBody>
      </p:sp>
      <p:sp>
        <p:nvSpPr>
          <p:cNvPr id="31" name="Text 24"/>
          <p:cNvSpPr txBox="1"/>
          <p:nvPr/>
        </p:nvSpPr>
        <p:spPr>
          <a:xfrm>
            <a:off x="4681728" y="2139696"/>
            <a:ext cx="731520" cy="329184"/>
          </a:xfrm>
          <a:prstGeom prst="rect">
            <a:avLst/>
          </a:prstGeom>
          <a:noFill/>
          <a:ln/>
        </p:spPr>
        <p:txBody>
          <a:bodyPr wrap="square" lIns="0" tIns="0" rIns="0" bIns="0" rtlCol="0" anchor="ctr"/>
          <a:lstStyle/>
          <a:p>
            <a:pPr indent="0" marL="0">
              <a:buNone/>
            </a:pPr>
            <a:r>
              <a:rPr lang="en-US" sz="1500" b="1" dirty="0">
                <a:solidFill>
                  <a:srgbClr val="B83B2E"/>
                </a:solidFill>
                <a:latin typeface="Calibri" pitchFamily="34" charset="0"/>
                <a:ea typeface="Calibri" pitchFamily="34" charset="-122"/>
                <a:cs typeface="Calibri" pitchFamily="34" charset="-120"/>
              </a:rPr>
              <a:t>&lt; 100</a:t>
            </a:r>
            <a:endParaRPr lang="en-US" sz="1500" dirty="0"/>
          </a:p>
        </p:txBody>
      </p:sp>
      <p:sp>
        <p:nvSpPr>
          <p:cNvPr id="32" name="Text 25"/>
          <p:cNvSpPr txBox="1"/>
          <p:nvPr/>
        </p:nvSpPr>
        <p:spPr>
          <a:xfrm>
            <a:off x="5440680" y="2139696"/>
            <a:ext cx="3154680" cy="329184"/>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activité inférieure à l'an passé (coupure, confinement, conflit)</a:t>
            </a:r>
            <a:endParaRPr lang="en-US" sz="1000" dirty="0"/>
          </a:p>
        </p:txBody>
      </p:sp>
      <p:sp>
        <p:nvSpPr>
          <p:cNvPr id="33" name="Text 26"/>
          <p:cNvSpPr txBox="1"/>
          <p:nvPr/>
        </p:nvSpPr>
        <p:spPr>
          <a:xfrm>
            <a:off x="4681728" y="2523744"/>
            <a:ext cx="731520" cy="329184"/>
          </a:xfrm>
          <a:prstGeom prst="rect">
            <a:avLst/>
          </a:prstGeom>
          <a:noFill/>
          <a:ln/>
        </p:spPr>
        <p:txBody>
          <a:bodyPr wrap="square" lIns="0" tIns="0" rIns="0" bIns="0" rtlCol="0" anchor="ctr"/>
          <a:lstStyle/>
          <a:p>
            <a:pPr indent="0" marL="0">
              <a:buNone/>
            </a:pPr>
            <a:r>
              <a:rPr lang="en-US" sz="1500" b="1" dirty="0">
                <a:solidFill>
                  <a:srgbClr val="00A86A"/>
                </a:solidFill>
                <a:latin typeface="Calibri" pitchFamily="34" charset="0"/>
                <a:ea typeface="Calibri" pitchFamily="34" charset="-122"/>
                <a:cs typeface="Calibri" pitchFamily="34" charset="-120"/>
              </a:rPr>
              <a:t>&gt; 100</a:t>
            </a:r>
            <a:endParaRPr lang="en-US" sz="1500" dirty="0"/>
          </a:p>
        </p:txBody>
      </p:sp>
      <p:sp>
        <p:nvSpPr>
          <p:cNvPr id="34" name="Text 27"/>
          <p:cNvSpPr txBox="1"/>
          <p:nvPr/>
        </p:nvSpPr>
        <p:spPr>
          <a:xfrm>
            <a:off x="5440680" y="2523744"/>
            <a:ext cx="3154680" cy="329184"/>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activité supérieure à l'an passé (reprise, électrification)</a:t>
            </a:r>
            <a:endParaRPr lang="en-US" sz="1000" dirty="0"/>
          </a:p>
        </p:txBody>
      </p:sp>
      <p:sp>
        <p:nvSpPr>
          <p:cNvPr id="35" name="Shape 28"/>
          <p:cNvSpPr/>
          <p:nvPr/>
        </p:nvSpPr>
        <p:spPr>
          <a:xfrm>
            <a:off x="4526280" y="3108960"/>
            <a:ext cx="4160520" cy="1325880"/>
          </a:xfrm>
          <a:prstGeom prst="roundRect">
            <a:avLst>
              <a:gd name="adj" fmla="val 5517"/>
            </a:avLst>
          </a:prstGeom>
          <a:solidFill>
            <a:srgbClr val="F4F7F5"/>
          </a:solidFill>
          <a:ln w="9525">
            <a:solidFill>
              <a:srgbClr val="D5DED9"/>
            </a:solidFill>
            <a:prstDash val="solid"/>
          </a:ln>
        </p:spPr>
      </p:sp>
      <p:sp>
        <p:nvSpPr>
          <p:cNvPr id="36" name="Text 29"/>
          <p:cNvSpPr txBox="1"/>
          <p:nvPr/>
        </p:nvSpPr>
        <p:spPr>
          <a:xfrm>
            <a:off x="4681728" y="3182112"/>
            <a:ext cx="384048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Impact régional et ruptures inexpliquées</a:t>
            </a:r>
            <a:endParaRPr lang="en-US" sz="1200" dirty="0"/>
          </a:p>
        </p:txBody>
      </p:sp>
      <p:sp>
        <p:nvSpPr>
          <p:cNvPr id="37" name="Text 30"/>
          <p:cNvSpPr txBox="1"/>
          <p:nvPr/>
        </p:nvSpPr>
        <p:spPr>
          <a:xfrm>
            <a:off x="4681728" y="3474720"/>
            <a:ext cx="3886200" cy="9144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5E6964"/>
                </a:solidFill>
                <a:latin typeface="Calibri" pitchFamily="34" charset="0"/>
                <a:ea typeface="Calibri" pitchFamily="34" charset="-122"/>
                <a:cs typeface="Calibri" pitchFamily="34" charset="-120"/>
              </a:rPr>
              <a:t>Tableau de chaleur : creux % par ADM1 × événement (−30 % → +30 %).</a:t>
            </a:r>
            <a:endParaRPr lang="en-US" sz="1000" dirty="0"/>
          </a:p>
          <a:p>
            <a:pPr marL="342900" indent="-342900">
              <a:spcAft>
                <a:spcPts val="400"/>
              </a:spcAft>
              <a:buSzPct val="100000"/>
              <a:buChar char="•"/>
            </a:pPr>
            <a:r>
              <a:rPr lang="en-US" sz="1000" dirty="0">
                <a:solidFill>
                  <a:srgbClr val="5E6964"/>
                </a:solidFill>
                <a:latin typeface="Calibri" pitchFamily="34" charset="0"/>
                <a:ea typeface="Calibri" pitchFamily="34" charset="-122"/>
                <a:cs typeface="Calibri" pitchFamily="34" charset="-120"/>
              </a:rPr>
              <a:t>Ruptures sans événement catalogué à ±6 mois → documenter avant d'interpréter.</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5</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Inégalités : la lumière est-elle inégalement répartie ?</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3429000" cy="960120"/>
          </a:xfrm>
          <a:prstGeom prst="roundRect">
            <a:avLst>
              <a:gd name="adj" fmla="val 7619"/>
            </a:avLst>
          </a:prstGeom>
          <a:solidFill>
            <a:srgbClr val="E8F5EF"/>
          </a:solidFill>
          <a:ln w="15875">
            <a:solidFill>
              <a:srgbClr val="D49A00"/>
            </a:solidFill>
            <a:prstDash val="solid"/>
          </a:ln>
        </p:spPr>
      </p:sp>
      <p:sp>
        <p:nvSpPr>
          <p:cNvPr id="12" name="Text 9"/>
          <p:cNvSpPr txBox="1"/>
          <p:nvPr/>
        </p:nvSpPr>
        <p:spPr>
          <a:xfrm>
            <a:off x="621792" y="1399032"/>
            <a:ext cx="310896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QUESTION</a:t>
            </a:r>
            <a:endParaRPr lang="en-US" sz="900" dirty="0"/>
          </a:p>
        </p:txBody>
      </p:sp>
      <p:sp>
        <p:nvSpPr>
          <p:cNvPr id="13" name="Text 10"/>
          <p:cNvSpPr txBox="1"/>
          <p:nvPr/>
        </p:nvSpPr>
        <p:spPr>
          <a:xfrm>
            <a:off x="621792" y="1627632"/>
            <a:ext cx="3154680" cy="621792"/>
          </a:xfrm>
          <a:prstGeom prst="rect">
            <a:avLst/>
          </a:prstGeom>
          <a:noFill/>
          <a:ln/>
        </p:spPr>
        <p:txBody>
          <a:bodyPr wrap="square" lIns="0" tIns="0" rIns="0" bIns="0" rtlCol="0" anchor="ctr"/>
          <a:lstStyle/>
          <a:p>
            <a:pPr indent="0" marL="0">
              <a:buNone/>
            </a:pPr>
            <a:r>
              <a:rPr lang="en-US" sz="1250" b="1" i="1" dirty="0">
                <a:solidFill>
                  <a:srgbClr val="231F20"/>
                </a:solidFill>
                <a:latin typeface="Calibri" pitchFamily="34" charset="0"/>
                <a:ea typeface="Calibri" pitchFamily="34" charset="-122"/>
                <a:cs typeface="Calibri" pitchFamily="34" charset="-120"/>
              </a:rPr>
              <a:t>La lumière par habitant est-elle concentrée en quelques lieux, et à quel niveau agir ?</a:t>
            </a:r>
            <a:endParaRPr lang="en-US" sz="1250" dirty="0"/>
          </a:p>
        </p:txBody>
      </p:sp>
      <p:sp>
        <p:nvSpPr>
          <p:cNvPr id="14" name="Text 11"/>
          <p:cNvSpPr txBox="1"/>
          <p:nvPr/>
        </p:nvSpPr>
        <p:spPr>
          <a:xfrm>
            <a:off x="457200" y="2395728"/>
            <a:ext cx="33832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DONNÉES UTILISÉES</a:t>
            </a:r>
            <a:endParaRPr lang="en-US" sz="900" dirty="0"/>
          </a:p>
        </p:txBody>
      </p:sp>
      <p:sp>
        <p:nvSpPr>
          <p:cNvPr id="15" name="Shape 12"/>
          <p:cNvSpPr/>
          <p:nvPr/>
        </p:nvSpPr>
        <p:spPr>
          <a:xfrm>
            <a:off x="457200" y="2670048"/>
            <a:ext cx="347472" cy="347472"/>
          </a:xfrm>
          <a:prstGeom prst="ellipse">
            <a:avLst/>
          </a:prstGeom>
          <a:solidFill>
            <a:srgbClr val="D49A00">
              <a:alpha val="22000"/>
            </a:srgbClr>
          </a:solidFill>
          <a:ln w="12700">
            <a:solidFill>
              <a:srgbClr val="D49A00">
                <a:alpha val="0"/>
              </a:srgbClr>
            </a:solidFill>
            <a:prstDash val="solid"/>
          </a:ln>
        </p:spPr>
      </p:sp>
      <p:pic>
        <p:nvPicPr>
          <p:cNvPr id="16" name="Image 0" descr="preencoded.png">    </p:cNvPr>
          <p:cNvPicPr>
            <a:picLocks noChangeAspect="1"/>
          </p:cNvPicPr>
          <p:nvPr/>
        </p:nvPicPr>
        <p:blipFill>
          <a:blip r:embed="rId1"/>
          <a:stretch>
            <a:fillRect/>
          </a:stretch>
        </p:blipFill>
        <p:spPr>
          <a:xfrm>
            <a:off x="540593" y="2753441"/>
            <a:ext cx="180685" cy="180685"/>
          </a:xfrm>
          <a:prstGeom prst="rect">
            <a:avLst/>
          </a:prstGeom>
        </p:spPr>
      </p:pic>
      <p:sp>
        <p:nvSpPr>
          <p:cNvPr id="17" name="Text 13"/>
          <p:cNvSpPr txBox="1"/>
          <p:nvPr/>
        </p:nvSpPr>
        <p:spPr>
          <a:xfrm>
            <a:off x="896112" y="26517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annuel</a:t>
            </a:r>
            <a:endParaRPr lang="en-US" sz="1050" dirty="0"/>
          </a:p>
        </p:txBody>
      </p:sp>
      <p:sp>
        <p:nvSpPr>
          <p:cNvPr id="18" name="Text 14"/>
          <p:cNvSpPr txBox="1"/>
          <p:nvPr/>
        </p:nvSpPr>
        <p:spPr>
          <a:xfrm>
            <a:off x="896112" y="28437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par district (niveau le plus fin)</a:t>
            </a:r>
            <a:endParaRPr lang="en-US" sz="900" dirty="0"/>
          </a:p>
        </p:txBody>
      </p:sp>
      <p:sp>
        <p:nvSpPr>
          <p:cNvPr id="19" name="Shape 15"/>
          <p:cNvSpPr/>
          <p:nvPr/>
        </p:nvSpPr>
        <p:spPr>
          <a:xfrm>
            <a:off x="457200" y="3127248"/>
            <a:ext cx="347472" cy="347472"/>
          </a:xfrm>
          <a:prstGeom prst="ellipse">
            <a:avLst/>
          </a:prstGeom>
          <a:solidFill>
            <a:srgbClr val="D49A00">
              <a:alpha val="22000"/>
            </a:srgbClr>
          </a:solidFill>
          <a:ln w="12700">
            <a:solidFill>
              <a:srgbClr val="D49A00">
                <a:alpha val="0"/>
              </a:srgbClr>
            </a:solidFill>
            <a:prstDash val="solid"/>
          </a:ln>
        </p:spPr>
      </p:sp>
      <p:pic>
        <p:nvPicPr>
          <p:cNvPr id="20" name="Image 1" descr="preencoded.png">    </p:cNvPr>
          <p:cNvPicPr>
            <a:picLocks noChangeAspect="1"/>
          </p:cNvPicPr>
          <p:nvPr/>
        </p:nvPicPr>
        <p:blipFill>
          <a:blip r:embed="rId2"/>
          <a:stretch>
            <a:fillRect/>
          </a:stretch>
        </p:blipFill>
        <p:spPr>
          <a:xfrm>
            <a:off x="540593" y="3210641"/>
            <a:ext cx="180685" cy="180685"/>
          </a:xfrm>
          <a:prstGeom prst="rect">
            <a:avLst/>
          </a:prstGeom>
        </p:spPr>
      </p:pic>
      <p:sp>
        <p:nvSpPr>
          <p:cNvPr id="21" name="Text 16"/>
          <p:cNvSpPr txBox="1"/>
          <p:nvPr/>
        </p:nvSpPr>
        <p:spPr>
          <a:xfrm>
            <a:off x="896112" y="31089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GHS-POP</a:t>
            </a:r>
            <a:endParaRPr lang="en-US" sz="1050" dirty="0"/>
          </a:p>
        </p:txBody>
      </p:sp>
      <p:sp>
        <p:nvSpPr>
          <p:cNvPr id="22" name="Text 17"/>
          <p:cNvSpPr txBox="1"/>
          <p:nvPr/>
        </p:nvSpPr>
        <p:spPr>
          <a:xfrm>
            <a:off x="896112" y="33009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poids de population, lumière par habitant</a:t>
            </a:r>
            <a:endParaRPr lang="en-US" sz="900" dirty="0"/>
          </a:p>
        </p:txBody>
      </p:sp>
      <p:sp>
        <p:nvSpPr>
          <p:cNvPr id="23" name="Shape 18"/>
          <p:cNvSpPr/>
          <p:nvPr/>
        </p:nvSpPr>
        <p:spPr>
          <a:xfrm>
            <a:off x="457200" y="3584448"/>
            <a:ext cx="347472" cy="347472"/>
          </a:xfrm>
          <a:prstGeom prst="ellipse">
            <a:avLst/>
          </a:prstGeom>
          <a:solidFill>
            <a:srgbClr val="D49A00">
              <a:alpha val="22000"/>
            </a:srgbClr>
          </a:solidFill>
          <a:ln w="12700">
            <a:solidFill>
              <a:srgbClr val="D49A00">
                <a:alpha val="0"/>
              </a:srgbClr>
            </a:solidFill>
            <a:prstDash val="solid"/>
          </a:ln>
        </p:spPr>
      </p:sp>
      <p:pic>
        <p:nvPicPr>
          <p:cNvPr id="24" name="Image 2" descr="preencoded.png">    </p:cNvPr>
          <p:cNvPicPr>
            <a:picLocks noChangeAspect="1"/>
          </p:cNvPicPr>
          <p:nvPr/>
        </p:nvPicPr>
        <p:blipFill>
          <a:blip r:embed="rId3"/>
          <a:stretch>
            <a:fillRect/>
          </a:stretch>
        </p:blipFill>
        <p:spPr>
          <a:xfrm>
            <a:off x="540593" y="3667841"/>
            <a:ext cx="180685" cy="180685"/>
          </a:xfrm>
          <a:prstGeom prst="rect">
            <a:avLst/>
          </a:prstGeom>
        </p:spPr>
      </p:pic>
      <p:sp>
        <p:nvSpPr>
          <p:cNvPr id="25" name="Text 19"/>
          <p:cNvSpPr txBox="1"/>
          <p:nvPr/>
        </p:nvSpPr>
        <p:spPr>
          <a:xfrm>
            <a:off x="896112" y="35661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GHS-SMOD</a:t>
            </a:r>
            <a:endParaRPr lang="en-US" sz="1050" dirty="0"/>
          </a:p>
        </p:txBody>
      </p:sp>
      <p:sp>
        <p:nvSpPr>
          <p:cNvPr id="26" name="Text 20"/>
          <p:cNvSpPr txBox="1"/>
          <p:nvPr/>
        </p:nvSpPr>
        <p:spPr>
          <a:xfrm>
            <a:off x="896112" y="37581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urbain si code ≥ 21</a:t>
            </a:r>
            <a:endParaRPr lang="en-US" sz="900" dirty="0"/>
          </a:p>
        </p:txBody>
      </p:sp>
      <p:sp>
        <p:nvSpPr>
          <p:cNvPr id="27" name="Text 21"/>
          <p:cNvSpPr txBox="1"/>
          <p:nvPr/>
        </p:nvSpPr>
        <p:spPr>
          <a:xfrm>
            <a:off x="4206240" y="1325880"/>
            <a:ext cx="448056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MÉTHODE, PAS À PAS</a:t>
            </a:r>
            <a:endParaRPr lang="en-US" sz="900" dirty="0"/>
          </a:p>
        </p:txBody>
      </p:sp>
      <p:sp>
        <p:nvSpPr>
          <p:cNvPr id="28" name="Shape 22"/>
          <p:cNvSpPr/>
          <p:nvPr/>
        </p:nvSpPr>
        <p:spPr>
          <a:xfrm>
            <a:off x="4206240" y="1645920"/>
            <a:ext cx="329184" cy="329184"/>
          </a:xfrm>
          <a:prstGeom prst="ellipse">
            <a:avLst/>
          </a:prstGeom>
          <a:solidFill>
            <a:srgbClr val="D49A00"/>
          </a:solidFill>
          <a:ln w="12700">
            <a:solidFill>
              <a:srgbClr val="D49A00"/>
            </a:solidFill>
            <a:prstDash val="solid"/>
          </a:ln>
        </p:spPr>
      </p:sp>
      <p:sp>
        <p:nvSpPr>
          <p:cNvPr id="29" name="Text 23"/>
          <p:cNvSpPr txBox="1"/>
          <p:nvPr/>
        </p:nvSpPr>
        <p:spPr>
          <a:xfrm>
            <a:off x="4206240" y="1645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4"/>
          <p:cNvSpPr/>
          <p:nvPr/>
        </p:nvSpPr>
        <p:spPr>
          <a:xfrm>
            <a:off x="4370832" y="1993392"/>
            <a:ext cx="0" cy="237744"/>
          </a:xfrm>
          <a:prstGeom prst="line">
            <a:avLst/>
          </a:prstGeom>
          <a:noFill/>
          <a:ln w="15875">
            <a:solidFill>
              <a:srgbClr val="D5DED9"/>
            </a:solidFill>
            <a:prstDash val="solid"/>
          </a:ln>
        </p:spPr>
      </p:sp>
      <p:sp>
        <p:nvSpPr>
          <p:cNvPr id="31" name="Text 25"/>
          <p:cNvSpPr txBox="1"/>
          <p:nvPr/>
        </p:nvSpPr>
        <p:spPr>
          <a:xfrm>
            <a:off x="4663440" y="1627632"/>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Lumière par habitant par district</a:t>
            </a:r>
            <a:endParaRPr lang="en-US" sz="1150" dirty="0"/>
          </a:p>
        </p:txBody>
      </p:sp>
      <p:sp>
        <p:nvSpPr>
          <p:cNvPr id="32" name="Text 26"/>
          <p:cNvSpPr txBox="1"/>
          <p:nvPr/>
        </p:nvSpPr>
        <p:spPr>
          <a:xfrm>
            <a:off x="4663440" y="1847088"/>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xᵢ = SoLᵢ / popᵢ, poids wᵢ = popᵢ</a:t>
            </a:r>
            <a:endParaRPr lang="en-US" sz="950" dirty="0"/>
          </a:p>
        </p:txBody>
      </p:sp>
      <p:sp>
        <p:nvSpPr>
          <p:cNvPr id="33" name="Shape 27"/>
          <p:cNvSpPr/>
          <p:nvPr/>
        </p:nvSpPr>
        <p:spPr>
          <a:xfrm>
            <a:off x="4206240" y="2249424"/>
            <a:ext cx="329184" cy="329184"/>
          </a:xfrm>
          <a:prstGeom prst="ellipse">
            <a:avLst/>
          </a:prstGeom>
          <a:solidFill>
            <a:srgbClr val="D49A00"/>
          </a:solidFill>
          <a:ln w="12700">
            <a:solidFill>
              <a:srgbClr val="D49A00"/>
            </a:solidFill>
            <a:prstDash val="solid"/>
          </a:ln>
        </p:spPr>
      </p:sp>
      <p:sp>
        <p:nvSpPr>
          <p:cNvPr id="34" name="Text 28"/>
          <p:cNvSpPr txBox="1"/>
          <p:nvPr/>
        </p:nvSpPr>
        <p:spPr>
          <a:xfrm>
            <a:off x="42062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Shape 29"/>
          <p:cNvSpPr/>
          <p:nvPr/>
        </p:nvSpPr>
        <p:spPr>
          <a:xfrm>
            <a:off x="4370832" y="2596896"/>
            <a:ext cx="0" cy="237744"/>
          </a:xfrm>
          <a:prstGeom prst="line">
            <a:avLst/>
          </a:prstGeom>
          <a:noFill/>
          <a:ln w="15875">
            <a:solidFill>
              <a:srgbClr val="D5DED9"/>
            </a:solidFill>
            <a:prstDash val="solid"/>
          </a:ln>
        </p:spPr>
      </p:sp>
      <p:sp>
        <p:nvSpPr>
          <p:cNvPr id="36" name="Text 30"/>
          <p:cNvSpPr txBox="1"/>
          <p:nvPr/>
        </p:nvSpPr>
        <p:spPr>
          <a:xfrm>
            <a:off x="4663440" y="2231136"/>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Gini et courbe de Lorenz</a:t>
            </a:r>
            <a:endParaRPr lang="en-US" sz="1150" dirty="0"/>
          </a:p>
        </p:txBody>
      </p:sp>
      <p:sp>
        <p:nvSpPr>
          <p:cNvPr id="37" name="Text 31"/>
          <p:cNvSpPr txBox="1"/>
          <p:nvPr/>
        </p:nvSpPr>
        <p:spPr>
          <a:xfrm>
            <a:off x="4663440" y="2450592"/>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Part cumulée de population vs part cumulée de lumière</a:t>
            </a:r>
            <a:endParaRPr lang="en-US" sz="950" dirty="0"/>
          </a:p>
        </p:txBody>
      </p:sp>
      <p:sp>
        <p:nvSpPr>
          <p:cNvPr id="38" name="Shape 32"/>
          <p:cNvSpPr/>
          <p:nvPr/>
        </p:nvSpPr>
        <p:spPr>
          <a:xfrm>
            <a:off x="4206240" y="2852928"/>
            <a:ext cx="329184" cy="329184"/>
          </a:xfrm>
          <a:prstGeom prst="ellipse">
            <a:avLst/>
          </a:prstGeom>
          <a:solidFill>
            <a:srgbClr val="D49A00"/>
          </a:solidFill>
          <a:ln w="12700">
            <a:solidFill>
              <a:srgbClr val="D49A00"/>
            </a:solidFill>
            <a:prstDash val="solid"/>
          </a:ln>
        </p:spPr>
      </p:sp>
      <p:sp>
        <p:nvSpPr>
          <p:cNvPr id="39" name="Text 33"/>
          <p:cNvSpPr txBox="1"/>
          <p:nvPr/>
        </p:nvSpPr>
        <p:spPr>
          <a:xfrm>
            <a:off x="4206240"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Shape 34"/>
          <p:cNvSpPr/>
          <p:nvPr/>
        </p:nvSpPr>
        <p:spPr>
          <a:xfrm>
            <a:off x="4370832" y="3200400"/>
            <a:ext cx="0" cy="237744"/>
          </a:xfrm>
          <a:prstGeom prst="line">
            <a:avLst/>
          </a:prstGeom>
          <a:noFill/>
          <a:ln w="15875">
            <a:solidFill>
              <a:srgbClr val="D5DED9"/>
            </a:solidFill>
            <a:prstDash val="solid"/>
          </a:ln>
        </p:spPr>
      </p:sp>
      <p:sp>
        <p:nvSpPr>
          <p:cNvPr id="41" name="Text 35"/>
          <p:cNvSpPr txBox="1"/>
          <p:nvPr/>
        </p:nvSpPr>
        <p:spPr>
          <a:xfrm>
            <a:off x="4663440" y="2834640"/>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Theil T et sa décomposition</a:t>
            </a:r>
            <a:endParaRPr lang="en-US" sz="1150" dirty="0"/>
          </a:p>
        </p:txBody>
      </p:sp>
      <p:sp>
        <p:nvSpPr>
          <p:cNvPr id="42" name="Text 36"/>
          <p:cNvSpPr txBox="1"/>
          <p:nvPr/>
        </p:nvSpPr>
        <p:spPr>
          <a:xfrm>
            <a:off x="4663440" y="3054096"/>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 = entre régions (ADM1) + intra-régions</a:t>
            </a:r>
            <a:endParaRPr lang="en-US" sz="950" dirty="0"/>
          </a:p>
        </p:txBody>
      </p:sp>
      <p:sp>
        <p:nvSpPr>
          <p:cNvPr id="43" name="Shape 37"/>
          <p:cNvSpPr/>
          <p:nvPr/>
        </p:nvSpPr>
        <p:spPr>
          <a:xfrm>
            <a:off x="4206240" y="3456432"/>
            <a:ext cx="329184" cy="329184"/>
          </a:xfrm>
          <a:prstGeom prst="ellipse">
            <a:avLst/>
          </a:prstGeom>
          <a:solidFill>
            <a:srgbClr val="D49A00"/>
          </a:solidFill>
          <a:ln w="12700">
            <a:solidFill>
              <a:srgbClr val="D49A00"/>
            </a:solidFill>
            <a:prstDash val="solid"/>
          </a:ln>
        </p:spPr>
      </p:sp>
      <p:sp>
        <p:nvSpPr>
          <p:cNvPr id="44" name="Text 38"/>
          <p:cNvSpPr txBox="1"/>
          <p:nvPr/>
        </p:nvSpPr>
        <p:spPr>
          <a:xfrm>
            <a:off x="420624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Shape 39"/>
          <p:cNvSpPr/>
          <p:nvPr/>
        </p:nvSpPr>
        <p:spPr>
          <a:xfrm>
            <a:off x="4370832" y="3803904"/>
            <a:ext cx="0" cy="237744"/>
          </a:xfrm>
          <a:prstGeom prst="line">
            <a:avLst/>
          </a:prstGeom>
          <a:noFill/>
          <a:ln w="15875">
            <a:solidFill>
              <a:srgbClr val="D5DED9"/>
            </a:solidFill>
            <a:prstDash val="solid"/>
          </a:ln>
        </p:spPr>
      </p:sp>
      <p:sp>
        <p:nvSpPr>
          <p:cNvPr id="46" name="Text 40"/>
          <p:cNvSpPr txBox="1"/>
          <p:nvPr/>
        </p:nvSpPr>
        <p:spPr>
          <a:xfrm>
            <a:off x="4663440" y="3438144"/>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Variation et son incertitude</a:t>
            </a:r>
            <a:endParaRPr lang="en-US" sz="1150" dirty="0"/>
          </a:p>
        </p:txBody>
      </p:sp>
      <p:sp>
        <p:nvSpPr>
          <p:cNvPr id="47" name="Text 41"/>
          <p:cNvSpPr txBox="1"/>
          <p:nvPr/>
        </p:nvSpPr>
        <p:spPr>
          <a:xfrm>
            <a:off x="4663440" y="3657600"/>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ΔGini première → dernière année, bootstrap 300 tirages appariés, IC 95 %</a:t>
            </a:r>
            <a:endParaRPr lang="en-US" sz="950" dirty="0"/>
          </a:p>
        </p:txBody>
      </p:sp>
      <p:sp>
        <p:nvSpPr>
          <p:cNvPr id="48" name="Shape 42"/>
          <p:cNvSpPr/>
          <p:nvPr/>
        </p:nvSpPr>
        <p:spPr>
          <a:xfrm>
            <a:off x="4206240" y="4059936"/>
            <a:ext cx="329184" cy="329184"/>
          </a:xfrm>
          <a:prstGeom prst="ellipse">
            <a:avLst/>
          </a:prstGeom>
          <a:solidFill>
            <a:srgbClr val="D49A00"/>
          </a:solidFill>
          <a:ln w="12700">
            <a:solidFill>
              <a:srgbClr val="D49A00"/>
            </a:solidFill>
            <a:prstDash val="solid"/>
          </a:ln>
        </p:spPr>
      </p:sp>
      <p:sp>
        <p:nvSpPr>
          <p:cNvPr id="49" name="Text 43"/>
          <p:cNvSpPr txBox="1"/>
          <p:nvPr/>
        </p:nvSpPr>
        <p:spPr>
          <a:xfrm>
            <a:off x="4206240" y="40599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44"/>
          <p:cNvSpPr txBox="1"/>
          <p:nvPr/>
        </p:nvSpPr>
        <p:spPr>
          <a:xfrm>
            <a:off x="4663440" y="4041648"/>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Écart urbain / rural</a:t>
            </a:r>
            <a:endParaRPr lang="en-US" sz="1150" dirty="0"/>
          </a:p>
        </p:txBody>
      </p:sp>
      <p:sp>
        <p:nvSpPr>
          <p:cNvPr id="51" name="Text 45"/>
          <p:cNvSpPr txBox="1"/>
          <p:nvPr/>
        </p:nvSpPr>
        <p:spPr>
          <a:xfrm>
            <a:off x="4663440" y="4261104"/>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Lumière par habitant urbaine / rurale</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5</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Population dans le noir et accès à l'électricité</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DÉFINITION / FORMULE</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COMMENT LA LIRE</a:t>
            </a:r>
            <a:endParaRPr lang="en-US" sz="900" dirty="0"/>
          </a:p>
        </p:txBody>
      </p:sp>
      <p:sp>
        <p:nvSpPr>
          <p:cNvPr id="14" name="Shape 11"/>
          <p:cNvSpPr/>
          <p:nvPr/>
        </p:nvSpPr>
        <p:spPr>
          <a:xfrm>
            <a:off x="457200" y="1609344"/>
            <a:ext cx="8229600" cy="429768"/>
          </a:xfrm>
          <a:prstGeom prst="roundRect">
            <a:avLst>
              <a:gd name="adj" fmla="val 10638"/>
            </a:avLst>
          </a:prstGeom>
          <a:solidFill>
            <a:srgbClr val="F4F7F5"/>
          </a:solidFill>
          <a:ln w="6350">
            <a:solidFill>
              <a:srgbClr val="D5DED9"/>
            </a:solidFill>
            <a:prstDash val="solid"/>
          </a:ln>
        </p:spPr>
      </p:sp>
      <p:sp>
        <p:nvSpPr>
          <p:cNvPr id="15" name="Text 12"/>
          <p:cNvSpPr txBox="1"/>
          <p:nvPr/>
        </p:nvSpPr>
        <p:spPr>
          <a:xfrm>
            <a:off x="548640" y="160934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Gini</a:t>
            </a:r>
            <a:endParaRPr lang="en-US" sz="1050" dirty="0"/>
          </a:p>
        </p:txBody>
      </p:sp>
      <p:sp>
        <p:nvSpPr>
          <p:cNvPr id="16" name="Text 13"/>
          <p:cNvSpPr txBox="1"/>
          <p:nvPr/>
        </p:nvSpPr>
        <p:spPr>
          <a:xfrm>
            <a:off x="2331720" y="160934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pondéré ; 0 = égalité, 1 = toute la lumière dans une unité</a:t>
            </a:r>
            <a:endParaRPr lang="en-US" sz="1000" dirty="0"/>
          </a:p>
        </p:txBody>
      </p:sp>
      <p:sp>
        <p:nvSpPr>
          <p:cNvPr id="17" name="Text 14"/>
          <p:cNvSpPr txBox="1"/>
          <p:nvPr/>
        </p:nvSpPr>
        <p:spPr>
          <a:xfrm>
            <a:off x="5394960" y="160934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Concentration globale de la lumière par habitant</a:t>
            </a:r>
            <a:endParaRPr lang="en-US" sz="950" dirty="0"/>
          </a:p>
        </p:txBody>
      </p:sp>
      <p:sp>
        <p:nvSpPr>
          <p:cNvPr id="18" name="Shape 15"/>
          <p:cNvSpPr/>
          <p:nvPr/>
        </p:nvSpPr>
        <p:spPr>
          <a:xfrm>
            <a:off x="457200" y="2093976"/>
            <a:ext cx="8229600" cy="429768"/>
          </a:xfrm>
          <a:prstGeom prst="roundRect">
            <a:avLst>
              <a:gd name="adj" fmla="val 10638"/>
            </a:avLst>
          </a:prstGeom>
          <a:solidFill>
            <a:srgbClr val="FFFFFF"/>
          </a:solidFill>
          <a:ln w="6350">
            <a:solidFill>
              <a:srgbClr val="D5DED9"/>
            </a:solidFill>
            <a:prstDash val="solid"/>
          </a:ln>
        </p:spPr>
      </p:sp>
      <p:sp>
        <p:nvSpPr>
          <p:cNvPr id="19" name="Text 16"/>
          <p:cNvSpPr txBox="1"/>
          <p:nvPr/>
        </p:nvSpPr>
        <p:spPr>
          <a:xfrm>
            <a:off x="548640" y="2093976"/>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Theil T</a:t>
            </a:r>
            <a:endParaRPr lang="en-US" sz="1050" dirty="0"/>
          </a:p>
        </p:txBody>
      </p:sp>
      <p:sp>
        <p:nvSpPr>
          <p:cNvPr id="20" name="Text 17"/>
          <p:cNvSpPr txBox="1"/>
          <p:nvPr/>
        </p:nvSpPr>
        <p:spPr>
          <a:xfrm>
            <a:off x="2331720" y="2093976"/>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wᵢ (xᵢ/μ) ln(xᵢ/μ), wᵢ parts de population</a:t>
            </a:r>
            <a:endParaRPr lang="en-US" sz="1000" dirty="0"/>
          </a:p>
        </p:txBody>
      </p:sp>
      <p:sp>
        <p:nvSpPr>
          <p:cNvPr id="21" name="Text 18"/>
          <p:cNvSpPr txBox="1"/>
          <p:nvPr/>
        </p:nvSpPr>
        <p:spPr>
          <a:xfrm>
            <a:off x="5394960" y="2093976"/>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Se décompose entre et intra-régions</a:t>
            </a:r>
            <a:endParaRPr lang="en-US" sz="950" dirty="0"/>
          </a:p>
        </p:txBody>
      </p:sp>
      <p:sp>
        <p:nvSpPr>
          <p:cNvPr id="22" name="Shape 19"/>
          <p:cNvSpPr/>
          <p:nvPr/>
        </p:nvSpPr>
        <p:spPr>
          <a:xfrm>
            <a:off x="457200" y="2578608"/>
            <a:ext cx="8229600" cy="429768"/>
          </a:xfrm>
          <a:prstGeom prst="roundRect">
            <a:avLst>
              <a:gd name="adj" fmla="val 10638"/>
            </a:avLst>
          </a:prstGeom>
          <a:solidFill>
            <a:srgbClr val="F4F7F5"/>
          </a:solidFill>
          <a:ln w="6350">
            <a:solidFill>
              <a:srgbClr val="D5DED9"/>
            </a:solidFill>
            <a:prstDash val="solid"/>
          </a:ln>
        </p:spPr>
      </p:sp>
      <p:sp>
        <p:nvSpPr>
          <p:cNvPr id="23" name="Text 20"/>
          <p:cNvSpPr txBox="1"/>
          <p:nvPr/>
        </p:nvSpPr>
        <p:spPr>
          <a:xfrm>
            <a:off x="548640" y="2578608"/>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Ratio urbain / rural</a:t>
            </a:r>
            <a:endParaRPr lang="en-US" sz="1050" dirty="0"/>
          </a:p>
        </p:txBody>
      </p:sp>
      <p:sp>
        <p:nvSpPr>
          <p:cNvPr id="24" name="Text 21"/>
          <p:cNvSpPr txBox="1"/>
          <p:nvPr/>
        </p:nvSpPr>
        <p:spPr>
          <a:xfrm>
            <a:off x="2331720" y="2578608"/>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lumière/hab. où SMOD ≥ 21 ÷ ailleurs</a:t>
            </a:r>
            <a:endParaRPr lang="en-US" sz="1000" dirty="0"/>
          </a:p>
        </p:txBody>
      </p:sp>
      <p:sp>
        <p:nvSpPr>
          <p:cNvPr id="25" name="Text 22"/>
          <p:cNvSpPr txBox="1"/>
          <p:nvPr/>
        </p:nvSpPr>
        <p:spPr>
          <a:xfrm>
            <a:off x="5394960" y="2578608"/>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Combien de lumière en plus pour un urbain</a:t>
            </a:r>
            <a:endParaRPr lang="en-US" sz="950" dirty="0"/>
          </a:p>
        </p:txBody>
      </p:sp>
      <p:sp>
        <p:nvSpPr>
          <p:cNvPr id="26" name="Shape 23"/>
          <p:cNvSpPr/>
          <p:nvPr/>
        </p:nvSpPr>
        <p:spPr>
          <a:xfrm>
            <a:off x="457200" y="3063240"/>
            <a:ext cx="8229600" cy="429768"/>
          </a:xfrm>
          <a:prstGeom prst="roundRect">
            <a:avLst>
              <a:gd name="adj" fmla="val 10638"/>
            </a:avLst>
          </a:prstGeom>
          <a:solidFill>
            <a:srgbClr val="FFFFFF"/>
          </a:solidFill>
          <a:ln w="6350">
            <a:solidFill>
              <a:srgbClr val="D5DED9"/>
            </a:solidFill>
            <a:prstDash val="solid"/>
          </a:ln>
        </p:spPr>
      </p:sp>
      <p:sp>
        <p:nvSpPr>
          <p:cNvPr id="27" name="Text 24"/>
          <p:cNvSpPr txBox="1"/>
          <p:nvPr/>
        </p:nvSpPr>
        <p:spPr>
          <a:xfrm>
            <a:off x="548640" y="3063240"/>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Population dans le noir</a:t>
            </a:r>
            <a:endParaRPr lang="en-US" sz="1050" dirty="0"/>
          </a:p>
        </p:txBody>
      </p:sp>
      <p:sp>
        <p:nvSpPr>
          <p:cNvPr id="28" name="Text 25"/>
          <p:cNvSpPr txBox="1"/>
          <p:nvPr/>
        </p:nvSpPr>
        <p:spPr>
          <a:xfrm>
            <a:off x="2331720" y="3063240"/>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pop des pixels ≥ 5 personnes et radiance &lt; t</a:t>
            </a:r>
            <a:endParaRPr lang="en-US" sz="1000" dirty="0"/>
          </a:p>
        </p:txBody>
      </p:sp>
      <p:sp>
        <p:nvSpPr>
          <p:cNvPr id="29" name="Text 26"/>
          <p:cNvSpPr txBox="1"/>
          <p:nvPr/>
        </p:nvSpPr>
        <p:spPr>
          <a:xfrm>
            <a:off x="5394960" y="3063240"/>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Publiée pour t = 0,25 · 0,5 · 1 nW : une plage</a:t>
            </a:r>
            <a:endParaRPr lang="en-US" sz="950" dirty="0"/>
          </a:p>
        </p:txBody>
      </p:sp>
      <p:sp>
        <p:nvSpPr>
          <p:cNvPr id="30" name="Shape 27"/>
          <p:cNvSpPr/>
          <p:nvPr/>
        </p:nvSpPr>
        <p:spPr>
          <a:xfrm>
            <a:off x="457200" y="3547872"/>
            <a:ext cx="8229600" cy="429768"/>
          </a:xfrm>
          <a:prstGeom prst="roundRect">
            <a:avLst>
              <a:gd name="adj" fmla="val 10638"/>
            </a:avLst>
          </a:prstGeom>
          <a:solidFill>
            <a:srgbClr val="F4F7F5"/>
          </a:solidFill>
          <a:ln w="6350">
            <a:solidFill>
              <a:srgbClr val="D5DED9"/>
            </a:solidFill>
            <a:prstDash val="solid"/>
          </a:ln>
        </p:spPr>
      </p:sp>
      <p:sp>
        <p:nvSpPr>
          <p:cNvPr id="31" name="Text 28"/>
          <p:cNvSpPr txBox="1"/>
          <p:nvPr/>
        </p:nvSpPr>
        <p:spPr>
          <a:xfrm>
            <a:off x="548640" y="3547872"/>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Part dans le noir</a:t>
            </a:r>
            <a:endParaRPr lang="en-US" sz="1050" dirty="0"/>
          </a:p>
        </p:txBody>
      </p:sp>
      <p:sp>
        <p:nvSpPr>
          <p:cNvPr id="32" name="Text 29"/>
          <p:cNvSpPr txBox="1"/>
          <p:nvPr/>
        </p:nvSpPr>
        <p:spPr>
          <a:xfrm>
            <a:off x="2331720" y="3547872"/>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pop dans le noir / population habitée</a:t>
            </a:r>
            <a:endParaRPr lang="en-US" sz="1000" dirty="0"/>
          </a:p>
        </p:txBody>
      </p:sp>
      <p:sp>
        <p:nvSpPr>
          <p:cNvPr id="33" name="Text 30"/>
          <p:cNvSpPr txBox="1"/>
          <p:nvPr/>
        </p:nvSpPr>
        <p:spPr>
          <a:xfrm>
            <a:off x="5394960" y="3547872"/>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Proxy de la part sans électricité</a:t>
            </a:r>
            <a:endParaRPr lang="en-US" sz="950" dirty="0"/>
          </a:p>
        </p:txBody>
      </p:sp>
      <p:sp>
        <p:nvSpPr>
          <p:cNvPr id="34" name="Shape 31"/>
          <p:cNvSpPr/>
          <p:nvPr/>
        </p:nvSpPr>
        <p:spPr>
          <a:xfrm>
            <a:off x="457200" y="4032504"/>
            <a:ext cx="8229600" cy="429768"/>
          </a:xfrm>
          <a:prstGeom prst="roundRect">
            <a:avLst>
              <a:gd name="adj" fmla="val 10638"/>
            </a:avLst>
          </a:prstGeom>
          <a:solidFill>
            <a:srgbClr val="FFFFFF"/>
          </a:solidFill>
          <a:ln w="6350">
            <a:solidFill>
              <a:srgbClr val="D5DED9"/>
            </a:solidFill>
            <a:prstDash val="solid"/>
          </a:ln>
        </p:spPr>
      </p:sp>
      <p:sp>
        <p:nvSpPr>
          <p:cNvPr id="35" name="Text 32"/>
          <p:cNvSpPr txBox="1"/>
          <p:nvPr/>
        </p:nvSpPr>
        <p:spPr>
          <a:xfrm>
            <a:off x="548640" y="403250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Écart aux enquêtes (pts)</a:t>
            </a:r>
            <a:endParaRPr lang="en-US" sz="1050" dirty="0"/>
          </a:p>
        </p:txBody>
      </p:sp>
      <p:sp>
        <p:nvSpPr>
          <p:cNvPr id="36" name="Text 33"/>
          <p:cNvSpPr txBox="1"/>
          <p:nvPr/>
        </p:nvSpPr>
        <p:spPr>
          <a:xfrm>
            <a:off x="2331720" y="403250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(1 − part dans le noir) − taux d'accès WDI EG.ELC.ACCS.ZS</a:t>
            </a:r>
            <a:endParaRPr lang="en-US" sz="1000" dirty="0"/>
          </a:p>
        </p:txBody>
      </p:sp>
      <p:sp>
        <p:nvSpPr>
          <p:cNvPr id="37" name="Text 34"/>
          <p:cNvSpPr txBox="1"/>
          <p:nvPr/>
        </p:nvSpPr>
        <p:spPr>
          <a:xfrm>
            <a:off x="5394960" y="403250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Grand écart → accès à faible consommation ou problème de données</a:t>
            </a:r>
            <a:endParaRPr lang="en-US" sz="950" dirty="0"/>
          </a:p>
        </p:txBody>
      </p:sp>
      <p:sp>
        <p:nvSpPr>
          <p:cNvPr id="38"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Theil (1967) ; Schiavina et al. (2023) GHSL ; Banque mondiale WDI · halos de torchères exclus du décompte</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6</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Zones industrielles : quatre signaux, un score par pixel</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25880"/>
            <a:ext cx="20116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SIGNAL</a:t>
            </a:r>
            <a:endParaRPr lang="en-US" sz="900" dirty="0"/>
          </a:p>
        </p:txBody>
      </p:sp>
      <p:sp>
        <p:nvSpPr>
          <p:cNvPr id="12" name="Text 9"/>
          <p:cNvSpPr txBox="1"/>
          <p:nvPr/>
        </p:nvSpPr>
        <p:spPr>
          <a:xfrm>
            <a:off x="2560320" y="1325880"/>
            <a:ext cx="1828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DONNÉE</a:t>
            </a:r>
            <a:endParaRPr lang="en-US" sz="900" dirty="0"/>
          </a:p>
        </p:txBody>
      </p:sp>
      <p:sp>
        <p:nvSpPr>
          <p:cNvPr id="13" name="Text 10"/>
          <p:cNvSpPr txBox="1"/>
          <p:nvPr/>
        </p:nvSpPr>
        <p:spPr>
          <a:xfrm>
            <a:off x="4389120" y="1325880"/>
            <a:ext cx="25146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NORMALISATION (0–1)</a:t>
            </a:r>
            <a:endParaRPr lang="en-US" sz="900" dirty="0"/>
          </a:p>
        </p:txBody>
      </p:sp>
      <p:sp>
        <p:nvSpPr>
          <p:cNvPr id="14" name="Text 11"/>
          <p:cNvSpPr txBox="1"/>
          <p:nvPr/>
        </p:nvSpPr>
        <p:spPr>
          <a:xfrm>
            <a:off x="6903720" y="1325880"/>
            <a:ext cx="685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POIDS</a:t>
            </a:r>
            <a:endParaRPr lang="en-US" sz="900" dirty="0"/>
          </a:p>
        </p:txBody>
      </p:sp>
      <p:sp>
        <p:nvSpPr>
          <p:cNvPr id="15" name="Shape 12"/>
          <p:cNvSpPr/>
          <p:nvPr/>
        </p:nvSpPr>
        <p:spPr>
          <a:xfrm>
            <a:off x="457200" y="1600200"/>
            <a:ext cx="7132320" cy="411480"/>
          </a:xfrm>
          <a:prstGeom prst="roundRect">
            <a:avLst>
              <a:gd name="adj" fmla="val 11111"/>
            </a:avLst>
          </a:prstGeom>
          <a:solidFill>
            <a:srgbClr val="F4F7F5"/>
          </a:solidFill>
          <a:ln w="6350">
            <a:solidFill>
              <a:srgbClr val="D5DED9"/>
            </a:solidFill>
            <a:prstDash val="solid"/>
          </a:ln>
        </p:spPr>
      </p:sp>
      <p:sp>
        <p:nvSpPr>
          <p:cNvPr id="16" name="Text 13"/>
          <p:cNvSpPr txBox="1"/>
          <p:nvPr/>
        </p:nvSpPr>
        <p:spPr>
          <a:xfrm>
            <a:off x="548640" y="1600200"/>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Bâti non résidentiel</a:t>
            </a:r>
            <a:endParaRPr lang="en-US" sz="1000" dirty="0"/>
          </a:p>
        </p:txBody>
      </p:sp>
      <p:sp>
        <p:nvSpPr>
          <p:cNvPr id="17" name="Text 14"/>
          <p:cNvSpPr txBox="1"/>
          <p:nvPr/>
        </p:nvSpPr>
        <p:spPr>
          <a:xfrm>
            <a:off x="2560320" y="1600200"/>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GHSL BUILT-S</a:t>
            </a:r>
            <a:endParaRPr lang="en-US" sz="1000" dirty="0"/>
          </a:p>
        </p:txBody>
      </p:sp>
      <p:sp>
        <p:nvSpPr>
          <p:cNvPr id="18" name="Text 15"/>
          <p:cNvSpPr txBox="1"/>
          <p:nvPr/>
        </p:nvSpPr>
        <p:spPr>
          <a:xfrm>
            <a:off x="4389120" y="1600200"/>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part nres / 0,6</a:t>
            </a:r>
            <a:endParaRPr lang="en-US" sz="1000" dirty="0"/>
          </a:p>
        </p:txBody>
      </p:sp>
      <p:sp>
        <p:nvSpPr>
          <p:cNvPr id="19" name="Text 16"/>
          <p:cNvSpPr txBox="1"/>
          <p:nvPr/>
        </p:nvSpPr>
        <p:spPr>
          <a:xfrm>
            <a:off x="6903720" y="1600200"/>
            <a:ext cx="594360" cy="411480"/>
          </a:xfrm>
          <a:prstGeom prst="rect">
            <a:avLst/>
          </a:prstGeom>
          <a:noFill/>
          <a:ln/>
        </p:spPr>
        <p:txBody>
          <a:bodyPr wrap="square" lIns="0" tIns="0" rIns="0" bIns="0" rtlCol="0" anchor="ctr"/>
          <a:lstStyle/>
          <a:p>
            <a:pPr algn="ctr" indent="0" marL="0">
              <a:buNone/>
            </a:pPr>
            <a:r>
              <a:rPr lang="en-US" sz="1300" b="1" dirty="0">
                <a:solidFill>
                  <a:srgbClr val="00664A"/>
                </a:solidFill>
                <a:latin typeface="Calibri" pitchFamily="34" charset="0"/>
                <a:ea typeface="Calibri" pitchFamily="34" charset="-122"/>
                <a:cs typeface="Calibri" pitchFamily="34" charset="-120"/>
              </a:rPr>
              <a:t>35 %</a:t>
            </a:r>
            <a:endParaRPr lang="en-US" sz="1300" dirty="0"/>
          </a:p>
        </p:txBody>
      </p:sp>
      <p:sp>
        <p:nvSpPr>
          <p:cNvPr id="20" name="Shape 17"/>
          <p:cNvSpPr/>
          <p:nvPr/>
        </p:nvSpPr>
        <p:spPr>
          <a:xfrm>
            <a:off x="7726680" y="1691640"/>
            <a:ext cx="960120" cy="228600"/>
          </a:xfrm>
          <a:prstGeom prst="rect">
            <a:avLst/>
          </a:prstGeom>
          <a:solidFill>
            <a:srgbClr val="00664A"/>
          </a:solidFill>
          <a:ln w="12700">
            <a:solidFill>
              <a:srgbClr val="00664A"/>
            </a:solidFill>
            <a:prstDash val="solid"/>
          </a:ln>
        </p:spPr>
      </p:sp>
      <p:sp>
        <p:nvSpPr>
          <p:cNvPr id="21" name="Shape 18"/>
          <p:cNvSpPr/>
          <p:nvPr/>
        </p:nvSpPr>
        <p:spPr>
          <a:xfrm>
            <a:off x="457200" y="2075688"/>
            <a:ext cx="7132320" cy="411480"/>
          </a:xfrm>
          <a:prstGeom prst="roundRect">
            <a:avLst>
              <a:gd name="adj" fmla="val 11111"/>
            </a:avLst>
          </a:prstGeom>
          <a:solidFill>
            <a:srgbClr val="FFFFFF"/>
          </a:solidFill>
          <a:ln w="6350">
            <a:solidFill>
              <a:srgbClr val="D5DED9"/>
            </a:solidFill>
            <a:prstDash val="solid"/>
          </a:ln>
        </p:spPr>
      </p:sp>
      <p:sp>
        <p:nvSpPr>
          <p:cNvPr id="22" name="Text 19"/>
          <p:cNvSpPr txBox="1"/>
          <p:nvPr/>
        </p:nvSpPr>
        <p:spPr>
          <a:xfrm>
            <a:off x="548640" y="2075688"/>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Intensité lumineuse</a:t>
            </a:r>
            <a:endParaRPr lang="en-US" sz="1000" dirty="0"/>
          </a:p>
        </p:txBody>
      </p:sp>
      <p:sp>
        <p:nvSpPr>
          <p:cNvPr id="23" name="Text 20"/>
          <p:cNvSpPr txBox="1"/>
          <p:nvPr/>
        </p:nvSpPr>
        <p:spPr>
          <a:xfrm>
            <a:off x="2560320" y="2075688"/>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VNL, médiane 3 dern. ans</a:t>
            </a:r>
            <a:endParaRPr lang="en-US" sz="1000" dirty="0"/>
          </a:p>
        </p:txBody>
      </p:sp>
      <p:sp>
        <p:nvSpPr>
          <p:cNvPr id="24" name="Text 21"/>
          <p:cNvSpPr txBox="1"/>
          <p:nvPr/>
        </p:nvSpPr>
        <p:spPr>
          <a:xfrm>
            <a:off x="4389120" y="2075688"/>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log₁₀(radiance) / 2</a:t>
            </a:r>
            <a:endParaRPr lang="en-US" sz="1000" dirty="0"/>
          </a:p>
        </p:txBody>
      </p:sp>
      <p:sp>
        <p:nvSpPr>
          <p:cNvPr id="25" name="Text 22"/>
          <p:cNvSpPr txBox="1"/>
          <p:nvPr/>
        </p:nvSpPr>
        <p:spPr>
          <a:xfrm>
            <a:off x="6903720" y="2075688"/>
            <a:ext cx="594360" cy="411480"/>
          </a:xfrm>
          <a:prstGeom prst="rect">
            <a:avLst/>
          </a:prstGeom>
          <a:noFill/>
          <a:ln/>
        </p:spPr>
        <p:txBody>
          <a:bodyPr wrap="square" lIns="0" tIns="0" rIns="0" bIns="0" rtlCol="0" anchor="ctr"/>
          <a:lstStyle/>
          <a:p>
            <a:pPr algn="ctr" indent="0" marL="0">
              <a:buNone/>
            </a:pPr>
            <a:r>
              <a:rPr lang="en-US" sz="1300" b="1" dirty="0">
                <a:solidFill>
                  <a:srgbClr val="10A06A"/>
                </a:solidFill>
                <a:latin typeface="Calibri" pitchFamily="34" charset="0"/>
                <a:ea typeface="Calibri" pitchFamily="34" charset="-122"/>
                <a:cs typeface="Calibri" pitchFamily="34" charset="-120"/>
              </a:rPr>
              <a:t>30 %</a:t>
            </a:r>
            <a:endParaRPr lang="en-US" sz="1300" dirty="0"/>
          </a:p>
        </p:txBody>
      </p:sp>
      <p:sp>
        <p:nvSpPr>
          <p:cNvPr id="26" name="Shape 23"/>
          <p:cNvSpPr/>
          <p:nvPr/>
        </p:nvSpPr>
        <p:spPr>
          <a:xfrm>
            <a:off x="7726680" y="2167128"/>
            <a:ext cx="822960" cy="228600"/>
          </a:xfrm>
          <a:prstGeom prst="rect">
            <a:avLst/>
          </a:prstGeom>
          <a:solidFill>
            <a:srgbClr val="10A06A"/>
          </a:solidFill>
          <a:ln w="12700">
            <a:solidFill>
              <a:srgbClr val="10A06A"/>
            </a:solidFill>
            <a:prstDash val="solid"/>
          </a:ln>
        </p:spPr>
      </p:sp>
      <p:sp>
        <p:nvSpPr>
          <p:cNvPr id="27" name="Shape 24"/>
          <p:cNvSpPr/>
          <p:nvPr/>
        </p:nvSpPr>
        <p:spPr>
          <a:xfrm>
            <a:off x="457200" y="2551176"/>
            <a:ext cx="7132320" cy="411480"/>
          </a:xfrm>
          <a:prstGeom prst="roundRect">
            <a:avLst>
              <a:gd name="adj" fmla="val 11111"/>
            </a:avLst>
          </a:prstGeom>
          <a:solidFill>
            <a:srgbClr val="F4F7F5"/>
          </a:solidFill>
          <a:ln w="6350">
            <a:solidFill>
              <a:srgbClr val="D5DED9"/>
            </a:solidFill>
            <a:prstDash val="solid"/>
          </a:ln>
        </p:spPr>
      </p:sp>
      <p:sp>
        <p:nvSpPr>
          <p:cNvPr id="28" name="Text 25"/>
          <p:cNvSpPr txBox="1"/>
          <p:nvPr/>
        </p:nvSpPr>
        <p:spPr>
          <a:xfrm>
            <a:off x="548640" y="2551176"/>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Émissions de NO₂</a:t>
            </a:r>
            <a:endParaRPr lang="en-US" sz="1000" dirty="0"/>
          </a:p>
        </p:txBody>
      </p:sp>
      <p:sp>
        <p:nvSpPr>
          <p:cNvPr id="29" name="Text 26"/>
          <p:cNvSpPr txBox="1"/>
          <p:nvPr/>
        </p:nvSpPr>
        <p:spPr>
          <a:xfrm>
            <a:off x="2560320" y="2551176"/>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Sentinel-5P, moyenne annuelle</a:t>
            </a:r>
            <a:endParaRPr lang="en-US" sz="1000" dirty="0"/>
          </a:p>
        </p:txBody>
      </p:sp>
      <p:sp>
        <p:nvSpPr>
          <p:cNvPr id="30" name="Text 27"/>
          <p:cNvSpPr txBox="1"/>
          <p:nvPr/>
        </p:nvSpPr>
        <p:spPr>
          <a:xfrm>
            <a:off x="4389120" y="2551176"/>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(NO₂ − med) / (p98 − med)</a:t>
            </a:r>
            <a:endParaRPr lang="en-US" sz="1000" dirty="0"/>
          </a:p>
        </p:txBody>
      </p:sp>
      <p:sp>
        <p:nvSpPr>
          <p:cNvPr id="31" name="Text 28"/>
          <p:cNvSpPr txBox="1"/>
          <p:nvPr/>
        </p:nvSpPr>
        <p:spPr>
          <a:xfrm>
            <a:off x="6903720" y="2551176"/>
            <a:ext cx="594360" cy="411480"/>
          </a:xfrm>
          <a:prstGeom prst="rect">
            <a:avLst/>
          </a:prstGeom>
          <a:noFill/>
          <a:ln/>
        </p:spPr>
        <p:txBody>
          <a:bodyPr wrap="square" lIns="0" tIns="0" rIns="0" bIns="0" rtlCol="0" anchor="ctr"/>
          <a:lstStyle/>
          <a:p>
            <a:pPr algn="ctr" indent="0" marL="0">
              <a:buNone/>
            </a:pPr>
            <a:r>
              <a:rPr lang="en-US" sz="1300" b="1" dirty="0">
                <a:solidFill>
                  <a:srgbClr val="57BD92"/>
                </a:solidFill>
                <a:latin typeface="Calibri" pitchFamily="34" charset="0"/>
                <a:ea typeface="Calibri" pitchFamily="34" charset="-122"/>
                <a:cs typeface="Calibri" pitchFamily="34" charset="-120"/>
              </a:rPr>
              <a:t>20 %</a:t>
            </a:r>
            <a:endParaRPr lang="en-US" sz="1300" dirty="0"/>
          </a:p>
        </p:txBody>
      </p:sp>
      <p:sp>
        <p:nvSpPr>
          <p:cNvPr id="32" name="Shape 29"/>
          <p:cNvSpPr/>
          <p:nvPr/>
        </p:nvSpPr>
        <p:spPr>
          <a:xfrm>
            <a:off x="7726680" y="2642616"/>
            <a:ext cx="548640" cy="228600"/>
          </a:xfrm>
          <a:prstGeom prst="rect">
            <a:avLst/>
          </a:prstGeom>
          <a:solidFill>
            <a:srgbClr val="57BD92"/>
          </a:solidFill>
          <a:ln w="12700">
            <a:solidFill>
              <a:srgbClr val="57BD92"/>
            </a:solidFill>
            <a:prstDash val="solid"/>
          </a:ln>
        </p:spPr>
      </p:sp>
      <p:sp>
        <p:nvSpPr>
          <p:cNvPr id="33" name="Shape 30"/>
          <p:cNvSpPr/>
          <p:nvPr/>
        </p:nvSpPr>
        <p:spPr>
          <a:xfrm>
            <a:off x="457200" y="3026664"/>
            <a:ext cx="7132320" cy="411480"/>
          </a:xfrm>
          <a:prstGeom prst="roundRect">
            <a:avLst>
              <a:gd name="adj" fmla="val 11111"/>
            </a:avLst>
          </a:prstGeom>
          <a:solidFill>
            <a:srgbClr val="FFFFFF"/>
          </a:solidFill>
          <a:ln w="6350">
            <a:solidFill>
              <a:srgbClr val="D5DED9"/>
            </a:solidFill>
            <a:prstDash val="solid"/>
          </a:ln>
        </p:spPr>
      </p:sp>
      <p:sp>
        <p:nvSpPr>
          <p:cNvPr id="34" name="Text 31"/>
          <p:cNvSpPr txBox="1"/>
          <p:nvPr/>
        </p:nvSpPr>
        <p:spPr>
          <a:xfrm>
            <a:off x="548640" y="3026664"/>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Peu de résidents</a:t>
            </a:r>
            <a:endParaRPr lang="en-US" sz="1000" dirty="0"/>
          </a:p>
        </p:txBody>
      </p:sp>
      <p:sp>
        <p:nvSpPr>
          <p:cNvPr id="35" name="Text 32"/>
          <p:cNvSpPr txBox="1"/>
          <p:nvPr/>
        </p:nvSpPr>
        <p:spPr>
          <a:xfrm>
            <a:off x="2560320" y="3026664"/>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GHSL GHS-POP</a:t>
            </a:r>
            <a:endParaRPr lang="en-US" sz="1000" dirty="0"/>
          </a:p>
        </p:txBody>
      </p:sp>
      <p:sp>
        <p:nvSpPr>
          <p:cNvPr id="36" name="Text 33"/>
          <p:cNvSpPr txBox="1"/>
          <p:nvPr/>
        </p:nvSpPr>
        <p:spPr>
          <a:xfrm>
            <a:off x="4389120" y="3026664"/>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1 − log₁₀(1 + hab/km²) / log₁₀(5000)</a:t>
            </a:r>
            <a:endParaRPr lang="en-US" sz="1000" dirty="0"/>
          </a:p>
        </p:txBody>
      </p:sp>
      <p:sp>
        <p:nvSpPr>
          <p:cNvPr id="37" name="Text 34"/>
          <p:cNvSpPr txBox="1"/>
          <p:nvPr/>
        </p:nvSpPr>
        <p:spPr>
          <a:xfrm>
            <a:off x="6903720" y="3026664"/>
            <a:ext cx="594360" cy="411480"/>
          </a:xfrm>
          <a:prstGeom prst="rect">
            <a:avLst/>
          </a:prstGeom>
          <a:noFill/>
          <a:ln/>
        </p:spPr>
        <p:txBody>
          <a:bodyPr wrap="square" lIns="0" tIns="0" rIns="0" bIns="0" rtlCol="0" anchor="ctr"/>
          <a:lstStyle/>
          <a:p>
            <a:pPr algn="ctr" indent="0" marL="0">
              <a:buNone/>
            </a:pPr>
            <a:r>
              <a:rPr lang="en-US" sz="1300" b="1" dirty="0">
                <a:solidFill>
                  <a:srgbClr val="9ED9C0"/>
                </a:solidFill>
                <a:latin typeface="Calibri" pitchFamily="34" charset="0"/>
                <a:ea typeface="Calibri" pitchFamily="34" charset="-122"/>
                <a:cs typeface="Calibri" pitchFamily="34" charset="-120"/>
              </a:rPr>
              <a:t>15 %</a:t>
            </a:r>
            <a:endParaRPr lang="en-US" sz="1300" dirty="0"/>
          </a:p>
        </p:txBody>
      </p:sp>
      <p:sp>
        <p:nvSpPr>
          <p:cNvPr id="38" name="Shape 35"/>
          <p:cNvSpPr/>
          <p:nvPr/>
        </p:nvSpPr>
        <p:spPr>
          <a:xfrm>
            <a:off x="7726680" y="3118104"/>
            <a:ext cx="411480" cy="228600"/>
          </a:xfrm>
          <a:prstGeom prst="rect">
            <a:avLst/>
          </a:prstGeom>
          <a:solidFill>
            <a:srgbClr val="9ED9C0"/>
          </a:solidFill>
          <a:ln w="12700">
            <a:solidFill>
              <a:srgbClr val="9ED9C0"/>
            </a:solidFill>
            <a:prstDash val="solid"/>
          </a:ln>
        </p:spPr>
      </p:sp>
      <p:sp>
        <p:nvSpPr>
          <p:cNvPr id="39" name="Shape 36"/>
          <p:cNvSpPr/>
          <p:nvPr/>
        </p:nvSpPr>
        <p:spPr>
          <a:xfrm>
            <a:off x="457200" y="3611880"/>
            <a:ext cx="8229600" cy="822960"/>
          </a:xfrm>
          <a:prstGeom prst="roundRect">
            <a:avLst>
              <a:gd name="adj" fmla="val 8889"/>
            </a:avLst>
          </a:prstGeom>
          <a:solidFill>
            <a:srgbClr val="E8F5EF"/>
          </a:solidFill>
          <a:ln w="15875">
            <a:solidFill>
              <a:srgbClr val="D49A00"/>
            </a:solidFill>
            <a:prstDash val="solid"/>
          </a:ln>
        </p:spPr>
      </p:sp>
      <p:sp>
        <p:nvSpPr>
          <p:cNvPr id="40" name="Text 37"/>
          <p:cNvSpPr txBox="1"/>
          <p:nvPr/>
        </p:nvSpPr>
        <p:spPr>
          <a:xfrm>
            <a:off x="640080" y="3657600"/>
            <a:ext cx="2194560" cy="27432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Score industriel</a:t>
            </a:r>
            <a:endParaRPr lang="en-US" sz="1200" dirty="0"/>
          </a:p>
        </p:txBody>
      </p:sp>
      <p:sp>
        <p:nvSpPr>
          <p:cNvPr id="41" name="Text 38"/>
          <p:cNvSpPr txBox="1"/>
          <p:nvPr/>
        </p:nvSpPr>
        <p:spPr>
          <a:xfrm>
            <a:off x="640080" y="3931920"/>
            <a:ext cx="7863840" cy="41148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 = 0,35·bâti_nres + 0,30·lumière + 0,20·NO₂ + 0,15·peu_résidents   (chaque signal borné à 0–1)</a:t>
            </a:r>
            <a:endParaRPr lang="en-US" sz="1300" dirty="0"/>
          </a:p>
        </p:txBody>
      </p:sp>
      <p:sp>
        <p:nvSpPr>
          <p:cNvPr id="42" name="Text 39"/>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Poids et seuils : choix d'experts dans IND.PARAMS, à tester · Sources : Pesaresi et al. (2023) ; Copernicus Sentinel-5P</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SCÉNARIO 6</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Zones industrielles : des pixels aux candidates validées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MÉTRIQUE</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DÉFINITION / FORMULE</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COMMENT LA LIRE</a:t>
            </a:r>
            <a:endParaRPr lang="en-US" sz="900" dirty="0"/>
          </a:p>
        </p:txBody>
      </p:sp>
      <p:sp>
        <p:nvSpPr>
          <p:cNvPr id="14" name="Shape 11"/>
          <p:cNvSpPr/>
          <p:nvPr/>
        </p:nvSpPr>
        <p:spPr>
          <a:xfrm>
            <a:off x="457200" y="1609344"/>
            <a:ext cx="8229600" cy="365760"/>
          </a:xfrm>
          <a:prstGeom prst="roundRect">
            <a:avLst>
              <a:gd name="adj" fmla="val 12500"/>
            </a:avLst>
          </a:prstGeom>
          <a:solidFill>
            <a:srgbClr val="F4F7F5"/>
          </a:solidFill>
          <a:ln w="6350">
            <a:solidFill>
              <a:srgbClr val="D5DED9"/>
            </a:solidFill>
            <a:prstDash val="solid"/>
          </a:ln>
        </p:spPr>
      </p:sp>
      <p:sp>
        <p:nvSpPr>
          <p:cNvPr id="15" name="Text 12"/>
          <p:cNvSpPr txBox="1"/>
          <p:nvPr/>
        </p:nvSpPr>
        <p:spPr>
          <a:xfrm>
            <a:off x="548640" y="160934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Pixel candidat</a:t>
            </a:r>
            <a:endParaRPr lang="en-US" sz="1050" dirty="0"/>
          </a:p>
        </p:txBody>
      </p:sp>
      <p:sp>
        <p:nvSpPr>
          <p:cNvPr id="16" name="Text 13"/>
          <p:cNvSpPr txBox="1"/>
          <p:nvPr/>
        </p:nvSpPr>
        <p:spPr>
          <a:xfrm>
            <a:off x="2331720" y="160934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radiance ≥ 5 nW, bâti ≥ 1 %, S ≥ 0,55 — ou torchère</a:t>
            </a:r>
            <a:endParaRPr lang="en-US" sz="1000" dirty="0"/>
          </a:p>
        </p:txBody>
      </p:sp>
      <p:sp>
        <p:nvSpPr>
          <p:cNvPr id="17" name="Text 14"/>
          <p:cNvSpPr txBox="1"/>
          <p:nvPr/>
        </p:nvSpPr>
        <p:spPr>
          <a:xfrm>
            <a:off x="5394960" y="160934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Voisins (≥ 2 pixels) → zone ; 250 zones max</a:t>
            </a:r>
            <a:endParaRPr lang="en-US" sz="950" dirty="0"/>
          </a:p>
        </p:txBody>
      </p:sp>
      <p:sp>
        <p:nvSpPr>
          <p:cNvPr id="18" name="Shape 15"/>
          <p:cNvSpPr/>
          <p:nvPr/>
        </p:nvSpPr>
        <p:spPr>
          <a:xfrm>
            <a:off x="457200" y="2029968"/>
            <a:ext cx="8229600" cy="365760"/>
          </a:xfrm>
          <a:prstGeom prst="roundRect">
            <a:avLst>
              <a:gd name="adj" fmla="val 12500"/>
            </a:avLst>
          </a:prstGeom>
          <a:solidFill>
            <a:srgbClr val="FFFFFF"/>
          </a:solidFill>
          <a:ln w="6350">
            <a:solidFill>
              <a:srgbClr val="D5DED9"/>
            </a:solidFill>
            <a:prstDash val="solid"/>
          </a:ln>
        </p:spPr>
      </p:sp>
      <p:sp>
        <p:nvSpPr>
          <p:cNvPr id="19" name="Text 16"/>
          <p:cNvSpPr txBox="1"/>
          <p:nvPr/>
        </p:nvSpPr>
        <p:spPr>
          <a:xfrm>
            <a:off x="548640" y="202996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Part de la lumière nationale</a:t>
            </a:r>
            <a:endParaRPr lang="en-US" sz="1050" dirty="0"/>
          </a:p>
        </p:txBody>
      </p:sp>
      <p:sp>
        <p:nvSpPr>
          <p:cNvPr id="20" name="Text 17"/>
          <p:cNvSpPr txBox="1"/>
          <p:nvPr/>
        </p:nvSpPr>
        <p:spPr>
          <a:xfrm>
            <a:off x="2331720" y="202996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de la zone / SoL nationale (dernière année)</a:t>
            </a:r>
            <a:endParaRPr lang="en-US" sz="1000" dirty="0"/>
          </a:p>
        </p:txBody>
      </p:sp>
      <p:sp>
        <p:nvSpPr>
          <p:cNvPr id="21" name="Text 18"/>
          <p:cNvSpPr txBox="1"/>
          <p:nvPr/>
        </p:nvSpPr>
        <p:spPr>
          <a:xfrm>
            <a:off x="5394960" y="202996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Poids économique de la zone</a:t>
            </a:r>
            <a:endParaRPr lang="en-US" sz="950" dirty="0"/>
          </a:p>
        </p:txBody>
      </p:sp>
      <p:sp>
        <p:nvSpPr>
          <p:cNvPr id="22" name="Shape 19"/>
          <p:cNvSpPr/>
          <p:nvPr/>
        </p:nvSpPr>
        <p:spPr>
          <a:xfrm>
            <a:off x="457200" y="2450592"/>
            <a:ext cx="8229600" cy="365760"/>
          </a:xfrm>
          <a:prstGeom prst="roundRect">
            <a:avLst>
              <a:gd name="adj" fmla="val 12500"/>
            </a:avLst>
          </a:prstGeom>
          <a:solidFill>
            <a:srgbClr val="F4F7F5"/>
          </a:solidFill>
          <a:ln w="6350">
            <a:solidFill>
              <a:srgbClr val="D5DED9"/>
            </a:solidFill>
            <a:prstDash val="solid"/>
          </a:ln>
        </p:spPr>
      </p:sp>
      <p:sp>
        <p:nvSpPr>
          <p:cNvPr id="23" name="Text 20"/>
          <p:cNvSpPr txBox="1"/>
          <p:nvPr/>
        </p:nvSpPr>
        <p:spPr>
          <a:xfrm>
            <a:off x="548640" y="2450592"/>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Dynamique de la zone</a:t>
            </a:r>
            <a:endParaRPr lang="en-US" sz="1050" dirty="0"/>
          </a:p>
        </p:txBody>
      </p:sp>
      <p:sp>
        <p:nvSpPr>
          <p:cNvPr id="24" name="Text 21"/>
          <p:cNvSpPr txBox="1"/>
          <p:nvPr/>
        </p:nvSpPr>
        <p:spPr>
          <a:xfrm>
            <a:off x="2331720" y="2450592"/>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Croissance Theil–Sen : &gt; +5 %/an expansion, &lt; −3 % recul</a:t>
            </a:r>
            <a:endParaRPr lang="en-US" sz="1000" dirty="0"/>
          </a:p>
        </p:txBody>
      </p:sp>
      <p:sp>
        <p:nvSpPr>
          <p:cNvPr id="25" name="Text 22"/>
          <p:cNvSpPr txBox="1"/>
          <p:nvPr/>
        </p:nvSpPr>
        <p:spPr>
          <a:xfrm>
            <a:off x="5394960" y="2450592"/>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Signal d'ouverture, d'expansion ou de ralentissement</a:t>
            </a:r>
            <a:endParaRPr lang="en-US" sz="950" dirty="0"/>
          </a:p>
        </p:txBody>
      </p:sp>
      <p:sp>
        <p:nvSpPr>
          <p:cNvPr id="26" name="Shape 23"/>
          <p:cNvSpPr/>
          <p:nvPr/>
        </p:nvSpPr>
        <p:spPr>
          <a:xfrm>
            <a:off x="457200" y="2871216"/>
            <a:ext cx="8229600" cy="365760"/>
          </a:xfrm>
          <a:prstGeom prst="roundRect">
            <a:avLst>
              <a:gd name="adj" fmla="val 12500"/>
            </a:avLst>
          </a:prstGeom>
          <a:solidFill>
            <a:srgbClr val="FFFFFF"/>
          </a:solidFill>
          <a:ln w="6350">
            <a:solidFill>
              <a:srgbClr val="D5DED9"/>
            </a:solidFill>
            <a:prstDash val="solid"/>
          </a:ln>
        </p:spPr>
      </p:sp>
      <p:sp>
        <p:nvSpPr>
          <p:cNvPr id="27" name="Text 24"/>
          <p:cNvSpPr txBox="1"/>
          <p:nvPr/>
        </p:nvSpPr>
        <p:spPr>
          <a:xfrm>
            <a:off x="548640" y="2871216"/>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Classe</a:t>
            </a:r>
            <a:endParaRPr lang="en-US" sz="1050" dirty="0"/>
          </a:p>
        </p:txBody>
      </p:sp>
      <p:sp>
        <p:nvSpPr>
          <p:cNvPr id="28" name="Text 25"/>
          <p:cNvSpPr txBox="1"/>
          <p:nvPr/>
        </p:nvSpPr>
        <p:spPr>
          <a:xfrm>
            <a:off x="2331720" y="2871216"/>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énergie : part torchère &gt; 0,3 et nres &lt; 0,3 · majeur : top 10 % SoL ou ≥ 8 km²</a:t>
            </a:r>
            <a:endParaRPr lang="en-US" sz="1000" dirty="0"/>
          </a:p>
        </p:txBody>
      </p:sp>
      <p:sp>
        <p:nvSpPr>
          <p:cNvPr id="29" name="Text 26"/>
          <p:cNvSpPr txBox="1"/>
          <p:nvPr/>
        </p:nvSpPr>
        <p:spPr>
          <a:xfrm>
            <a:off x="5394960" y="2871216"/>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Site énergétique · pôle majeur · zone industrielle / logistique</a:t>
            </a:r>
            <a:endParaRPr lang="en-US" sz="950" dirty="0"/>
          </a:p>
        </p:txBody>
      </p:sp>
      <p:sp>
        <p:nvSpPr>
          <p:cNvPr id="30" name="Shape 27"/>
          <p:cNvSpPr/>
          <p:nvPr/>
        </p:nvSpPr>
        <p:spPr>
          <a:xfrm>
            <a:off x="457200" y="3291840"/>
            <a:ext cx="8229600" cy="365760"/>
          </a:xfrm>
          <a:prstGeom prst="roundRect">
            <a:avLst>
              <a:gd name="adj" fmla="val 12500"/>
            </a:avLst>
          </a:prstGeom>
          <a:solidFill>
            <a:srgbClr val="F4F7F5"/>
          </a:solidFill>
          <a:ln w="6350">
            <a:solidFill>
              <a:srgbClr val="D5DED9"/>
            </a:solidFill>
            <a:prstDash val="solid"/>
          </a:ln>
        </p:spPr>
      </p:sp>
      <p:sp>
        <p:nvSpPr>
          <p:cNvPr id="31" name="Text 28"/>
          <p:cNvSpPr txBox="1"/>
          <p:nvPr/>
        </p:nvSpPr>
        <p:spPr>
          <a:xfrm>
            <a:off x="548640" y="3291840"/>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Précision</a:t>
            </a:r>
            <a:endParaRPr lang="en-US" sz="1050" dirty="0"/>
          </a:p>
        </p:txBody>
      </p:sp>
      <p:sp>
        <p:nvSpPr>
          <p:cNvPr id="32" name="Text 29"/>
          <p:cNvSpPr txBox="1"/>
          <p:nvPr/>
        </p:nvSpPr>
        <p:spPr>
          <a:xfrm>
            <a:off x="2331720" y="3291840"/>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zones recoupant une zone OSM industrielle / zones</a:t>
            </a:r>
            <a:endParaRPr lang="en-US" sz="1000" dirty="0"/>
          </a:p>
        </p:txBody>
      </p:sp>
      <p:sp>
        <p:nvSpPr>
          <p:cNvPr id="33" name="Text 30"/>
          <p:cNvSpPr txBox="1"/>
          <p:nvPr/>
        </p:nvSpPr>
        <p:spPr>
          <a:xfrm>
            <a:off x="5394960" y="3291840"/>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 0,5 → confiance moyenne, sinon faible</a:t>
            </a:r>
            <a:endParaRPr lang="en-US" sz="950" dirty="0"/>
          </a:p>
        </p:txBody>
      </p:sp>
      <p:sp>
        <p:nvSpPr>
          <p:cNvPr id="34" name="Shape 31"/>
          <p:cNvSpPr/>
          <p:nvPr/>
        </p:nvSpPr>
        <p:spPr>
          <a:xfrm>
            <a:off x="457200" y="3712464"/>
            <a:ext cx="8229600" cy="365760"/>
          </a:xfrm>
          <a:prstGeom prst="roundRect">
            <a:avLst>
              <a:gd name="adj" fmla="val 12500"/>
            </a:avLst>
          </a:prstGeom>
          <a:solidFill>
            <a:srgbClr val="FFFFFF"/>
          </a:solidFill>
          <a:ln w="6350">
            <a:solidFill>
              <a:srgbClr val="D5DED9"/>
            </a:solidFill>
            <a:prstDash val="solid"/>
          </a:ln>
        </p:spPr>
      </p:sp>
      <p:sp>
        <p:nvSpPr>
          <p:cNvPr id="35" name="Text 32"/>
          <p:cNvSpPr txBox="1"/>
          <p:nvPr/>
        </p:nvSpPr>
        <p:spPr>
          <a:xfrm>
            <a:off x="548640" y="371246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Rappel</a:t>
            </a:r>
            <a:endParaRPr lang="en-US" sz="1050" dirty="0"/>
          </a:p>
        </p:txBody>
      </p:sp>
      <p:sp>
        <p:nvSpPr>
          <p:cNvPr id="36" name="Text 33"/>
          <p:cNvSpPr txBox="1"/>
          <p:nvPr/>
        </p:nvSpPr>
        <p:spPr>
          <a:xfrm>
            <a:off x="2331720" y="371246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zones OSM industrielles retrouvées / zones OSM</a:t>
            </a:r>
            <a:endParaRPr lang="en-US" sz="1000" dirty="0"/>
          </a:p>
        </p:txBody>
      </p:sp>
      <p:sp>
        <p:nvSpPr>
          <p:cNvPr id="37" name="Text 34"/>
          <p:cNvSpPr txBox="1"/>
          <p:nvPr/>
        </p:nvSpPr>
        <p:spPr>
          <a:xfrm>
            <a:off x="5394960" y="371246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Couverture ; dépend de la complétude d'OSM</a:t>
            </a:r>
            <a:endParaRPr lang="en-US" sz="950" dirty="0"/>
          </a:p>
        </p:txBody>
      </p:sp>
      <p:sp>
        <p:nvSpPr>
          <p:cNvPr id="38" name="Shape 35"/>
          <p:cNvSpPr/>
          <p:nvPr/>
        </p:nvSpPr>
        <p:spPr>
          <a:xfrm>
            <a:off x="457200" y="4133088"/>
            <a:ext cx="8229600" cy="365760"/>
          </a:xfrm>
          <a:prstGeom prst="roundRect">
            <a:avLst>
              <a:gd name="adj" fmla="val 12500"/>
            </a:avLst>
          </a:prstGeom>
          <a:solidFill>
            <a:srgbClr val="F4F7F5"/>
          </a:solidFill>
          <a:ln w="6350">
            <a:solidFill>
              <a:srgbClr val="D5DED9"/>
            </a:solidFill>
            <a:prstDash val="solid"/>
          </a:ln>
        </p:spPr>
      </p:sp>
      <p:sp>
        <p:nvSpPr>
          <p:cNvPr id="39" name="Text 36"/>
          <p:cNvSpPr txBox="1"/>
          <p:nvPr/>
        </p:nvSpPr>
        <p:spPr>
          <a:xfrm>
            <a:off x="548640" y="413308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Précision pondérée</a:t>
            </a:r>
            <a:endParaRPr lang="en-US" sz="1050" dirty="0"/>
          </a:p>
        </p:txBody>
      </p:sp>
      <p:sp>
        <p:nvSpPr>
          <p:cNvPr id="40" name="Text 37"/>
          <p:cNvSpPr txBox="1"/>
          <p:nvPr/>
        </p:nvSpPr>
        <p:spPr>
          <a:xfrm>
            <a:off x="2331720" y="413308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des zones confirmées / SoL de toutes les zones</a:t>
            </a:r>
            <a:endParaRPr lang="en-US" sz="1000" dirty="0"/>
          </a:p>
        </p:txBody>
      </p:sp>
      <p:sp>
        <p:nvSpPr>
          <p:cNvPr id="41" name="Text 38"/>
          <p:cNvSpPr txBox="1"/>
          <p:nvPr/>
        </p:nvSpPr>
        <p:spPr>
          <a:xfrm>
            <a:off x="5394960" y="413308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L'essentiel de la lumière industrielle est-il confirmé ?</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ANALYSER · SYNTHÈSE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Des métriques aux messages clés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444752"/>
            <a:ext cx="411480" cy="411480"/>
          </a:xfrm>
          <a:prstGeom prst="ellipse">
            <a:avLst/>
          </a:prstGeom>
          <a:solidFill>
            <a:srgbClr val="00A86A"/>
          </a:solidFill>
          <a:ln w="12700">
            <a:solidFill>
              <a:srgbClr val="00A86A"/>
            </a:solidFill>
            <a:prstDash val="solid"/>
          </a:ln>
        </p:spPr>
      </p:sp>
      <p:sp>
        <p:nvSpPr>
          <p:cNvPr id="12" name="Text 9"/>
          <p:cNvSpPr txBox="1"/>
          <p:nvPr/>
        </p:nvSpPr>
        <p:spPr>
          <a:xfrm>
            <a:off x="1005840" y="1371600"/>
            <a:ext cx="1280160" cy="548640"/>
          </a:xfrm>
          <a:prstGeom prst="rect">
            <a:avLst/>
          </a:prstGeom>
          <a:noFill/>
          <a:ln/>
        </p:spPr>
        <p:txBody>
          <a:bodyPr wrap="square" lIns="0" tIns="0" rIns="0" bIns="0" rtlCol="0" anchor="ctr"/>
          <a:lstStyle/>
          <a:p>
            <a:pPr indent="0" marL="0">
              <a:buNone/>
            </a:pPr>
            <a:r>
              <a:rPr lang="en-US" sz="1500" b="1" dirty="0">
                <a:solidFill>
                  <a:srgbClr val="00A86A"/>
                </a:solidFill>
                <a:latin typeface="Calibri" pitchFamily="34" charset="0"/>
                <a:ea typeface="Calibri" pitchFamily="34" charset="-122"/>
                <a:cs typeface="Calibri" pitchFamily="34" charset="-120"/>
              </a:rPr>
              <a:t>Élevée</a:t>
            </a:r>
            <a:endParaRPr lang="en-US" sz="1500" dirty="0"/>
          </a:p>
        </p:txBody>
      </p:sp>
      <p:sp>
        <p:nvSpPr>
          <p:cNvPr id="13" name="Text 10"/>
          <p:cNvSpPr txBox="1"/>
          <p:nvPr/>
        </p:nvSpPr>
        <p:spPr>
          <a:xfrm>
            <a:off x="2194560" y="1371600"/>
            <a:ext cx="2011680" cy="54864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Résultat établi : citable avec son intervalle</a:t>
            </a:r>
            <a:endParaRPr lang="en-US" sz="1000" dirty="0"/>
          </a:p>
        </p:txBody>
      </p:sp>
      <p:sp>
        <p:nvSpPr>
          <p:cNvPr id="14" name="Shape 11"/>
          <p:cNvSpPr/>
          <p:nvPr/>
        </p:nvSpPr>
        <p:spPr>
          <a:xfrm>
            <a:off x="457200" y="2130552"/>
            <a:ext cx="411480" cy="411480"/>
          </a:xfrm>
          <a:prstGeom prst="ellipse">
            <a:avLst/>
          </a:prstGeom>
          <a:solidFill>
            <a:srgbClr val="D49A00"/>
          </a:solidFill>
          <a:ln w="12700">
            <a:solidFill>
              <a:srgbClr val="D49A00"/>
            </a:solidFill>
            <a:prstDash val="solid"/>
          </a:ln>
        </p:spPr>
      </p:sp>
      <p:sp>
        <p:nvSpPr>
          <p:cNvPr id="15" name="Text 12"/>
          <p:cNvSpPr txBox="1"/>
          <p:nvPr/>
        </p:nvSpPr>
        <p:spPr>
          <a:xfrm>
            <a:off x="1005840" y="2057400"/>
            <a:ext cx="1280160" cy="548640"/>
          </a:xfrm>
          <a:prstGeom prst="rect">
            <a:avLst/>
          </a:prstGeom>
          <a:noFill/>
          <a:ln/>
        </p:spPr>
        <p:txBody>
          <a:bodyPr wrap="square" lIns="0" tIns="0" rIns="0" bIns="0" rtlCol="0" anchor="ctr"/>
          <a:lstStyle/>
          <a:p>
            <a:pPr indent="0" marL="0">
              <a:buNone/>
            </a:pPr>
            <a:r>
              <a:rPr lang="en-US" sz="1500" b="1" dirty="0">
                <a:solidFill>
                  <a:srgbClr val="D49A00"/>
                </a:solidFill>
                <a:latin typeface="Calibri" pitchFamily="34" charset="0"/>
                <a:ea typeface="Calibri" pitchFamily="34" charset="-122"/>
                <a:cs typeface="Calibri" pitchFamily="34" charset="-120"/>
              </a:rPr>
              <a:t>Moyenne</a:t>
            </a:r>
            <a:endParaRPr lang="en-US" sz="1500" dirty="0"/>
          </a:p>
        </p:txBody>
      </p:sp>
      <p:sp>
        <p:nvSpPr>
          <p:cNvPr id="16" name="Text 13"/>
          <p:cNvSpPr txBox="1"/>
          <p:nvPr/>
        </p:nvSpPr>
        <p:spPr>
          <a:xfrm>
            <a:off x="2194560" y="2057400"/>
            <a:ext cx="2011680" cy="54864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Résultat plausible : citer avec prudence et contexte</a:t>
            </a:r>
            <a:endParaRPr lang="en-US" sz="1000" dirty="0"/>
          </a:p>
        </p:txBody>
      </p:sp>
      <p:sp>
        <p:nvSpPr>
          <p:cNvPr id="17" name="Shape 14"/>
          <p:cNvSpPr/>
          <p:nvPr/>
        </p:nvSpPr>
        <p:spPr>
          <a:xfrm>
            <a:off x="457200" y="2816352"/>
            <a:ext cx="411480" cy="411480"/>
          </a:xfrm>
          <a:prstGeom prst="ellipse">
            <a:avLst/>
          </a:prstGeom>
          <a:solidFill>
            <a:srgbClr val="B83B2E"/>
          </a:solidFill>
          <a:ln w="12700">
            <a:solidFill>
              <a:srgbClr val="B83B2E"/>
            </a:solidFill>
            <a:prstDash val="solid"/>
          </a:ln>
        </p:spPr>
      </p:sp>
      <p:sp>
        <p:nvSpPr>
          <p:cNvPr id="18" name="Text 15"/>
          <p:cNvSpPr txBox="1"/>
          <p:nvPr/>
        </p:nvSpPr>
        <p:spPr>
          <a:xfrm>
            <a:off x="1005840" y="2743200"/>
            <a:ext cx="1280160" cy="548640"/>
          </a:xfrm>
          <a:prstGeom prst="rect">
            <a:avLst/>
          </a:prstGeom>
          <a:noFill/>
          <a:ln/>
        </p:spPr>
        <p:txBody>
          <a:bodyPr wrap="square" lIns="0" tIns="0" rIns="0" bIns="0" rtlCol="0" anchor="ctr"/>
          <a:lstStyle/>
          <a:p>
            <a:pPr indent="0" marL="0">
              <a:buNone/>
            </a:pPr>
            <a:r>
              <a:rPr lang="en-US" sz="1500" b="1" dirty="0">
                <a:solidFill>
                  <a:srgbClr val="B83B2E"/>
                </a:solidFill>
                <a:latin typeface="Calibri" pitchFamily="34" charset="0"/>
                <a:ea typeface="Calibri" pitchFamily="34" charset="-122"/>
                <a:cs typeface="Calibri" pitchFamily="34" charset="-120"/>
              </a:rPr>
              <a:t>Faible</a:t>
            </a:r>
            <a:endParaRPr lang="en-US" sz="1500" dirty="0"/>
          </a:p>
        </p:txBody>
      </p:sp>
      <p:sp>
        <p:nvSpPr>
          <p:cNvPr id="19" name="Text 16"/>
          <p:cNvSpPr txBox="1"/>
          <p:nvPr/>
        </p:nvSpPr>
        <p:spPr>
          <a:xfrm>
            <a:off x="2194560" y="2743200"/>
            <a:ext cx="2011680" cy="54864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Une piste, pas une conclusion : vérifier avant usage</a:t>
            </a:r>
            <a:endParaRPr lang="en-US" sz="1000" dirty="0"/>
          </a:p>
        </p:txBody>
      </p:sp>
      <p:sp>
        <p:nvSpPr>
          <p:cNvPr id="20" name="Shape 17"/>
          <p:cNvSpPr/>
          <p:nvPr/>
        </p:nvSpPr>
        <p:spPr>
          <a:xfrm>
            <a:off x="4480560" y="1325880"/>
            <a:ext cx="4206240" cy="3108960"/>
          </a:xfrm>
          <a:prstGeom prst="roundRect">
            <a:avLst>
              <a:gd name="adj" fmla="val 2353"/>
            </a:avLst>
          </a:prstGeom>
          <a:solidFill>
            <a:srgbClr val="F4F7F5"/>
          </a:solidFill>
          <a:ln w="9525">
            <a:solidFill>
              <a:srgbClr val="D5DED9"/>
            </a:solidFill>
            <a:prstDash val="solid"/>
          </a:ln>
        </p:spPr>
      </p:sp>
      <p:sp>
        <p:nvSpPr>
          <p:cNvPr id="21" name="Text 18"/>
          <p:cNvSpPr txBox="1"/>
          <p:nvPr/>
        </p:nvSpPr>
        <p:spPr>
          <a:xfrm>
            <a:off x="4645152" y="1417320"/>
            <a:ext cx="38404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D'OÙ VIENT LA CONFIANCE</a:t>
            </a:r>
            <a:endParaRPr lang="en-US" sz="900" dirty="0"/>
          </a:p>
        </p:txBody>
      </p:sp>
      <p:sp>
        <p:nvSpPr>
          <p:cNvPr id="22" name="Text 19"/>
          <p:cNvSpPr txBox="1"/>
          <p:nvPr/>
        </p:nvSpPr>
        <p:spPr>
          <a:xfrm>
            <a:off x="4645152" y="1737360"/>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Tendance (S1, S2)</a:t>
            </a:r>
            <a:endParaRPr lang="en-US" sz="1100" dirty="0"/>
          </a:p>
        </p:txBody>
      </p:sp>
      <p:sp>
        <p:nvSpPr>
          <p:cNvPr id="23" name="Text 20"/>
          <p:cNvSpPr txBox="1"/>
          <p:nvPr/>
        </p:nvSpPr>
        <p:spPr>
          <a:xfrm>
            <a:off x="4645152" y="1965960"/>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élevée p &lt; 0,01 · moyenne p &lt; 0,10 · faible si n &lt; 6</a:t>
            </a:r>
            <a:endParaRPr lang="en-US" sz="950" dirty="0"/>
          </a:p>
        </p:txBody>
      </p:sp>
      <p:sp>
        <p:nvSpPr>
          <p:cNvPr id="24" name="Text 21"/>
          <p:cNvSpPr txBox="1"/>
          <p:nvPr/>
        </p:nvSpPr>
        <p:spPr>
          <a:xfrm>
            <a:off x="4645152" y="2267712"/>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Élasticité (S3)</a:t>
            </a:r>
            <a:endParaRPr lang="en-US" sz="1100" dirty="0"/>
          </a:p>
        </p:txBody>
      </p:sp>
      <p:sp>
        <p:nvSpPr>
          <p:cNvPr id="25" name="Text 22"/>
          <p:cNvSpPr txBox="1"/>
          <p:nvPr/>
        </p:nvSpPr>
        <p:spPr>
          <a:xfrm>
            <a:off x="4645152" y="2496312"/>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n, p, largeur d'IC, R² (voir S3)</a:t>
            </a:r>
            <a:endParaRPr lang="en-US" sz="950" dirty="0"/>
          </a:p>
        </p:txBody>
      </p:sp>
      <p:sp>
        <p:nvSpPr>
          <p:cNvPr id="26" name="Text 23"/>
          <p:cNvSpPr txBox="1"/>
          <p:nvPr/>
        </p:nvSpPr>
        <p:spPr>
          <a:xfrm>
            <a:off x="4645152" y="2798064"/>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Choc (S4)</a:t>
            </a:r>
            <a:endParaRPr lang="en-US" sz="1100" dirty="0"/>
          </a:p>
        </p:txBody>
      </p:sp>
      <p:sp>
        <p:nvSpPr>
          <p:cNvPr id="27" name="Text 24"/>
          <p:cNvSpPr txBox="1"/>
          <p:nvPr/>
        </p:nvSpPr>
        <p:spPr>
          <a:xfrm>
            <a:off x="4645152" y="3026664"/>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test placebo réussi ou non</a:t>
            </a:r>
            <a:endParaRPr lang="en-US" sz="950" dirty="0"/>
          </a:p>
        </p:txBody>
      </p:sp>
      <p:sp>
        <p:nvSpPr>
          <p:cNvPr id="28" name="Text 25"/>
          <p:cNvSpPr txBox="1"/>
          <p:nvPr/>
        </p:nvSpPr>
        <p:spPr>
          <a:xfrm>
            <a:off x="4645152" y="3328416"/>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Inégalités (S5)</a:t>
            </a:r>
            <a:endParaRPr lang="en-US" sz="1100" dirty="0"/>
          </a:p>
        </p:txBody>
      </p:sp>
      <p:sp>
        <p:nvSpPr>
          <p:cNvPr id="29" name="Text 26"/>
          <p:cNvSpPr txBox="1"/>
          <p:nvPr/>
        </p:nvSpPr>
        <p:spPr>
          <a:xfrm>
            <a:off x="4645152" y="3557016"/>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l'IC bootstrap de ΔGini exclut 0</a:t>
            </a:r>
            <a:endParaRPr lang="en-US" sz="950" dirty="0"/>
          </a:p>
        </p:txBody>
      </p:sp>
      <p:sp>
        <p:nvSpPr>
          <p:cNvPr id="30" name="Text 27"/>
          <p:cNvSpPr txBox="1"/>
          <p:nvPr/>
        </p:nvSpPr>
        <p:spPr>
          <a:xfrm>
            <a:off x="4645152" y="3858768"/>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Industrie (S6)</a:t>
            </a:r>
            <a:endParaRPr lang="en-US" sz="1100" dirty="0"/>
          </a:p>
        </p:txBody>
      </p:sp>
      <p:sp>
        <p:nvSpPr>
          <p:cNvPr id="31" name="Text 28"/>
          <p:cNvSpPr txBox="1"/>
          <p:nvPr/>
        </p:nvSpPr>
        <p:spPr>
          <a:xfrm>
            <a:off x="4645152" y="4087368"/>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précision OSM ≥ 0,5 → moyenne, sinon faible</a:t>
            </a:r>
            <a:endParaRPr lang="en-US" sz="950" dirty="0"/>
          </a:p>
        </p:txBody>
      </p:sp>
      <p:sp>
        <p:nvSpPr>
          <p:cNvPr id="32" name="Text 29"/>
          <p:cNvSpPr txBox="1"/>
          <p:nvPr/>
        </p:nvSpPr>
        <p:spPr>
          <a:xfrm>
            <a:off x="457200" y="3611880"/>
            <a:ext cx="3749040" cy="548640"/>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Les messages sont générés en EN et FR et remplissent le résumé exécutif du notebook (section 00)</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05</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Publier et contrôler</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Comment les résultats arrivent-ils aux utilisateurs, et jusqu'où s'y fier ?</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5C242"/>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05 · PUBLIER · SORTIES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Un tableau de bord statique, bilingue, en un appel</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C4621D"/>
          </a:solidFill>
          <a:ln w="12700">
            <a:solidFill>
              <a:srgbClr val="C4621D"/>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1463040" cy="1371600"/>
          </a:xfrm>
          <a:prstGeom prst="roundRect">
            <a:avLst>
              <a:gd name="adj" fmla="val 5333"/>
            </a:avLst>
          </a:prstGeom>
          <a:solidFill>
            <a:srgbClr val="F4F7F5"/>
          </a:solidFill>
          <a:ln w="9525">
            <a:solidFill>
              <a:srgbClr val="D5DED9"/>
            </a:solidFill>
            <a:prstDash val="solid"/>
          </a:ln>
        </p:spPr>
      </p:sp>
      <p:sp>
        <p:nvSpPr>
          <p:cNvPr id="12" name="Shape 9"/>
          <p:cNvSpPr/>
          <p:nvPr/>
        </p:nvSpPr>
        <p:spPr>
          <a:xfrm>
            <a:off x="932688" y="1481328"/>
            <a:ext cx="502920" cy="502920"/>
          </a:xfrm>
          <a:prstGeom prst="ellipse">
            <a:avLst/>
          </a:prstGeom>
          <a:solidFill>
            <a:srgbClr val="C4621D">
              <a:alpha val="22000"/>
            </a:srgbClr>
          </a:solidFill>
          <a:ln w="12700">
            <a:solidFill>
              <a:srgbClr val="C4621D">
                <a:alpha val="0"/>
              </a:srgbClr>
            </a:solidFill>
            <a:prstDash val="solid"/>
          </a:ln>
        </p:spPr>
      </p:sp>
      <p:pic>
        <p:nvPicPr>
          <p:cNvPr id="13" name="Image 0" descr="preencoded.png">    </p:cNvPr>
          <p:cNvPicPr>
            <a:picLocks noChangeAspect="1"/>
          </p:cNvPicPr>
          <p:nvPr/>
        </p:nvPicPr>
        <p:blipFill>
          <a:blip r:embed="rId1"/>
          <a:stretch>
            <a:fillRect/>
          </a:stretch>
        </p:blipFill>
        <p:spPr>
          <a:xfrm>
            <a:off x="1053389" y="1602029"/>
            <a:ext cx="261518" cy="261518"/>
          </a:xfrm>
          <a:prstGeom prst="rect">
            <a:avLst/>
          </a:prstGeom>
        </p:spPr>
      </p:pic>
      <p:sp>
        <p:nvSpPr>
          <p:cNvPr id="14" name="Text 10"/>
          <p:cNvSpPr txBox="1"/>
          <p:nvPr/>
        </p:nvSpPr>
        <p:spPr>
          <a:xfrm>
            <a:off x="502920"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Earth Engine</a:t>
            </a:r>
            <a:endParaRPr lang="en-US" sz="1150" dirty="0"/>
          </a:p>
        </p:txBody>
      </p:sp>
      <p:sp>
        <p:nvSpPr>
          <p:cNvPr id="15" name="Text 11"/>
          <p:cNvSpPr txBox="1"/>
          <p:nvPr/>
        </p:nvSpPr>
        <p:spPr>
          <a:xfrm>
            <a:off x="502920"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statistiques zonales</a:t>
            </a:r>
            <a:endParaRPr lang="en-US" sz="950" dirty="0"/>
          </a:p>
        </p:txBody>
      </p:sp>
      <p:sp>
        <p:nvSpPr>
          <p:cNvPr id="16" name="Shape 12"/>
          <p:cNvSpPr/>
          <p:nvPr/>
        </p:nvSpPr>
        <p:spPr>
          <a:xfrm>
            <a:off x="1938528" y="2057400"/>
            <a:ext cx="173736" cy="914"/>
          </a:xfrm>
          <a:prstGeom prst="line">
            <a:avLst/>
          </a:prstGeom>
          <a:noFill/>
          <a:ln w="15875">
            <a:solidFill>
              <a:srgbClr val="5E6964"/>
            </a:solidFill>
            <a:prstDash val="solid"/>
            <a:tailEnd type="triangle"/>
          </a:ln>
        </p:spPr>
      </p:sp>
      <p:sp>
        <p:nvSpPr>
          <p:cNvPr id="17" name="Shape 13"/>
          <p:cNvSpPr/>
          <p:nvPr/>
        </p:nvSpPr>
        <p:spPr>
          <a:xfrm>
            <a:off x="2130552" y="1371600"/>
            <a:ext cx="1463040" cy="1371600"/>
          </a:xfrm>
          <a:prstGeom prst="roundRect">
            <a:avLst>
              <a:gd name="adj" fmla="val 5333"/>
            </a:avLst>
          </a:prstGeom>
          <a:solidFill>
            <a:srgbClr val="F4F7F5"/>
          </a:solidFill>
          <a:ln w="9525">
            <a:solidFill>
              <a:srgbClr val="D5DED9"/>
            </a:solidFill>
            <a:prstDash val="solid"/>
          </a:ln>
        </p:spPr>
      </p:sp>
      <p:sp>
        <p:nvSpPr>
          <p:cNvPr id="18" name="Shape 14"/>
          <p:cNvSpPr/>
          <p:nvPr/>
        </p:nvSpPr>
        <p:spPr>
          <a:xfrm>
            <a:off x="2606040" y="1481328"/>
            <a:ext cx="502920" cy="502920"/>
          </a:xfrm>
          <a:prstGeom prst="ellipse">
            <a:avLst/>
          </a:prstGeom>
          <a:solidFill>
            <a:srgbClr val="C4621D">
              <a:alpha val="22000"/>
            </a:srgbClr>
          </a:solidFill>
          <a:ln w="12700">
            <a:solidFill>
              <a:srgbClr val="C4621D">
                <a:alpha val="0"/>
              </a:srgbClr>
            </a:solidFill>
            <a:prstDash val="solid"/>
          </a:ln>
        </p:spPr>
      </p:sp>
      <p:pic>
        <p:nvPicPr>
          <p:cNvPr id="19" name="Image 1" descr="preencoded.png">    </p:cNvPr>
          <p:cNvPicPr>
            <a:picLocks noChangeAspect="1"/>
          </p:cNvPicPr>
          <p:nvPr/>
        </p:nvPicPr>
        <p:blipFill>
          <a:blip r:embed="rId2"/>
          <a:stretch>
            <a:fillRect/>
          </a:stretch>
        </p:blipFill>
        <p:spPr>
          <a:xfrm>
            <a:off x="2726741" y="1602029"/>
            <a:ext cx="261518" cy="261518"/>
          </a:xfrm>
          <a:prstGeom prst="rect">
            <a:avLst/>
          </a:prstGeom>
        </p:spPr>
      </p:pic>
      <p:sp>
        <p:nvSpPr>
          <p:cNvPr id="20" name="Text 15"/>
          <p:cNvSpPr txBox="1"/>
          <p:nvPr/>
        </p:nvSpPr>
        <p:spPr>
          <a:xfrm>
            <a:off x="2176272"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Cache local</a:t>
            </a:r>
            <a:endParaRPr lang="en-US" sz="1150" dirty="0"/>
          </a:p>
        </p:txBody>
      </p:sp>
      <p:sp>
        <p:nvSpPr>
          <p:cNvPr id="21" name="Text 16"/>
          <p:cNvSpPr txBox="1"/>
          <p:nvPr/>
        </p:nvSpPr>
        <p:spPr>
          <a:xfrm>
            <a:off x="2176272"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pas de nouvelle requête</a:t>
            </a:r>
            <a:endParaRPr lang="en-US" sz="950" dirty="0"/>
          </a:p>
        </p:txBody>
      </p:sp>
      <p:sp>
        <p:nvSpPr>
          <p:cNvPr id="22" name="Shape 17"/>
          <p:cNvSpPr/>
          <p:nvPr/>
        </p:nvSpPr>
        <p:spPr>
          <a:xfrm>
            <a:off x="3611880" y="2057400"/>
            <a:ext cx="173736" cy="914"/>
          </a:xfrm>
          <a:prstGeom prst="line">
            <a:avLst/>
          </a:prstGeom>
          <a:noFill/>
          <a:ln w="15875">
            <a:solidFill>
              <a:srgbClr val="5E6964"/>
            </a:solidFill>
            <a:prstDash val="solid"/>
            <a:tailEnd type="triangle"/>
          </a:ln>
        </p:spPr>
      </p:sp>
      <p:sp>
        <p:nvSpPr>
          <p:cNvPr id="23" name="Shape 18"/>
          <p:cNvSpPr/>
          <p:nvPr/>
        </p:nvSpPr>
        <p:spPr>
          <a:xfrm>
            <a:off x="3803904" y="1371600"/>
            <a:ext cx="1463040" cy="1371600"/>
          </a:xfrm>
          <a:prstGeom prst="roundRect">
            <a:avLst>
              <a:gd name="adj" fmla="val 5333"/>
            </a:avLst>
          </a:prstGeom>
          <a:solidFill>
            <a:srgbClr val="F4F7F5"/>
          </a:solidFill>
          <a:ln w="9525">
            <a:solidFill>
              <a:srgbClr val="D5DED9"/>
            </a:solidFill>
            <a:prstDash val="solid"/>
          </a:ln>
        </p:spPr>
      </p:sp>
      <p:sp>
        <p:nvSpPr>
          <p:cNvPr id="24" name="Shape 19"/>
          <p:cNvSpPr/>
          <p:nvPr/>
        </p:nvSpPr>
        <p:spPr>
          <a:xfrm>
            <a:off x="4279392" y="1481328"/>
            <a:ext cx="502920" cy="502920"/>
          </a:xfrm>
          <a:prstGeom prst="ellipse">
            <a:avLst/>
          </a:prstGeom>
          <a:solidFill>
            <a:srgbClr val="C4621D">
              <a:alpha val="22000"/>
            </a:srgbClr>
          </a:solidFill>
          <a:ln w="12700">
            <a:solidFill>
              <a:srgbClr val="C4621D">
                <a:alpha val="0"/>
              </a:srgbClr>
            </a:solidFill>
            <a:prstDash val="solid"/>
          </a:ln>
        </p:spPr>
      </p:sp>
      <p:pic>
        <p:nvPicPr>
          <p:cNvPr id="25" name="Image 2" descr="preencoded.png">    </p:cNvPr>
          <p:cNvPicPr>
            <a:picLocks noChangeAspect="1"/>
          </p:cNvPicPr>
          <p:nvPr/>
        </p:nvPicPr>
        <p:blipFill>
          <a:blip r:embed="rId3"/>
          <a:stretch>
            <a:fillRect/>
          </a:stretch>
        </p:blipFill>
        <p:spPr>
          <a:xfrm>
            <a:off x="4400093" y="1602029"/>
            <a:ext cx="261518" cy="261518"/>
          </a:xfrm>
          <a:prstGeom prst="rect">
            <a:avLst/>
          </a:prstGeom>
        </p:spPr>
      </p:pic>
      <p:sp>
        <p:nvSpPr>
          <p:cNvPr id="26" name="Text 20"/>
          <p:cNvSpPr txBox="1"/>
          <p:nvPr/>
        </p:nvSpPr>
        <p:spPr>
          <a:xfrm>
            <a:off x="3849624"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Analyses</a:t>
            </a:r>
            <a:endParaRPr lang="en-US" sz="1150" dirty="0"/>
          </a:p>
        </p:txBody>
      </p:sp>
      <p:sp>
        <p:nvSpPr>
          <p:cNvPr id="27" name="Text 21"/>
          <p:cNvSpPr txBox="1"/>
          <p:nvPr/>
        </p:nvSpPr>
        <p:spPr>
          <a:xfrm>
            <a:off x="3849624"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pandas · statsmodels</a:t>
            </a:r>
            <a:endParaRPr lang="en-US" sz="950" dirty="0"/>
          </a:p>
        </p:txBody>
      </p:sp>
      <p:sp>
        <p:nvSpPr>
          <p:cNvPr id="28" name="Shape 22"/>
          <p:cNvSpPr/>
          <p:nvPr/>
        </p:nvSpPr>
        <p:spPr>
          <a:xfrm>
            <a:off x="5285232" y="2057400"/>
            <a:ext cx="173736" cy="914"/>
          </a:xfrm>
          <a:prstGeom prst="line">
            <a:avLst/>
          </a:prstGeom>
          <a:noFill/>
          <a:ln w="15875">
            <a:solidFill>
              <a:srgbClr val="5E6964"/>
            </a:solidFill>
            <a:prstDash val="solid"/>
            <a:tailEnd type="triangle"/>
          </a:ln>
        </p:spPr>
      </p:sp>
      <p:sp>
        <p:nvSpPr>
          <p:cNvPr id="29" name="Shape 23"/>
          <p:cNvSpPr/>
          <p:nvPr/>
        </p:nvSpPr>
        <p:spPr>
          <a:xfrm>
            <a:off x="5477256" y="1371600"/>
            <a:ext cx="1463040" cy="1371600"/>
          </a:xfrm>
          <a:prstGeom prst="roundRect">
            <a:avLst>
              <a:gd name="adj" fmla="val 5333"/>
            </a:avLst>
          </a:prstGeom>
          <a:solidFill>
            <a:srgbClr val="F4F7F5"/>
          </a:solidFill>
          <a:ln w="9525">
            <a:solidFill>
              <a:srgbClr val="D5DED9"/>
            </a:solidFill>
            <a:prstDash val="solid"/>
          </a:ln>
        </p:spPr>
      </p:sp>
      <p:sp>
        <p:nvSpPr>
          <p:cNvPr id="30" name="Shape 24"/>
          <p:cNvSpPr/>
          <p:nvPr/>
        </p:nvSpPr>
        <p:spPr>
          <a:xfrm>
            <a:off x="5952744" y="1481328"/>
            <a:ext cx="502920" cy="502920"/>
          </a:xfrm>
          <a:prstGeom prst="ellipse">
            <a:avLst/>
          </a:prstGeom>
          <a:solidFill>
            <a:srgbClr val="C4621D">
              <a:alpha val="22000"/>
            </a:srgbClr>
          </a:solidFill>
          <a:ln w="12700">
            <a:solidFill>
              <a:srgbClr val="C4621D">
                <a:alpha val="0"/>
              </a:srgbClr>
            </a:solidFill>
            <a:prstDash val="solid"/>
          </a:ln>
        </p:spPr>
      </p:sp>
      <p:pic>
        <p:nvPicPr>
          <p:cNvPr id="31" name="Image 3" descr="preencoded.png">    </p:cNvPr>
          <p:cNvPicPr>
            <a:picLocks noChangeAspect="1"/>
          </p:cNvPicPr>
          <p:nvPr/>
        </p:nvPicPr>
        <p:blipFill>
          <a:blip r:embed="rId4"/>
          <a:stretch>
            <a:fillRect/>
          </a:stretch>
        </p:blipFill>
        <p:spPr>
          <a:xfrm>
            <a:off x="6073445" y="1602029"/>
            <a:ext cx="261518" cy="261518"/>
          </a:xfrm>
          <a:prstGeom prst="rect">
            <a:avLst/>
          </a:prstGeom>
        </p:spPr>
      </p:pic>
      <p:sp>
        <p:nvSpPr>
          <p:cNvPr id="32" name="Text 25"/>
          <p:cNvSpPr txBox="1"/>
          <p:nvPr/>
        </p:nvSpPr>
        <p:spPr>
          <a:xfrm>
            <a:off x="5522976"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Fichiers statiques</a:t>
            </a:r>
            <a:endParaRPr lang="en-US" sz="1150" dirty="0"/>
          </a:p>
        </p:txBody>
      </p:sp>
      <p:sp>
        <p:nvSpPr>
          <p:cNvPr id="33" name="Text 26"/>
          <p:cNvSpPr txBox="1"/>
          <p:nvPr/>
        </p:nvSpPr>
        <p:spPr>
          <a:xfrm>
            <a:off x="5522976"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GeoJSON · CSV · JSON · PNG</a:t>
            </a:r>
            <a:endParaRPr lang="en-US" sz="950" dirty="0"/>
          </a:p>
        </p:txBody>
      </p:sp>
      <p:sp>
        <p:nvSpPr>
          <p:cNvPr id="34" name="Shape 27"/>
          <p:cNvSpPr/>
          <p:nvPr/>
        </p:nvSpPr>
        <p:spPr>
          <a:xfrm>
            <a:off x="6958584" y="2057400"/>
            <a:ext cx="173736" cy="914"/>
          </a:xfrm>
          <a:prstGeom prst="line">
            <a:avLst/>
          </a:prstGeom>
          <a:noFill/>
          <a:ln w="15875">
            <a:solidFill>
              <a:srgbClr val="5E6964"/>
            </a:solidFill>
            <a:prstDash val="solid"/>
            <a:tailEnd type="triangle"/>
          </a:ln>
        </p:spPr>
      </p:sp>
      <p:sp>
        <p:nvSpPr>
          <p:cNvPr id="35" name="Shape 28"/>
          <p:cNvSpPr/>
          <p:nvPr/>
        </p:nvSpPr>
        <p:spPr>
          <a:xfrm>
            <a:off x="7150608" y="1371600"/>
            <a:ext cx="1463040" cy="1371600"/>
          </a:xfrm>
          <a:prstGeom prst="roundRect">
            <a:avLst>
              <a:gd name="adj" fmla="val 5333"/>
            </a:avLst>
          </a:prstGeom>
          <a:solidFill>
            <a:srgbClr val="E8F5EF"/>
          </a:solidFill>
          <a:ln w="15875">
            <a:solidFill>
              <a:srgbClr val="C4621D"/>
            </a:solidFill>
            <a:prstDash val="solid"/>
          </a:ln>
        </p:spPr>
      </p:sp>
      <p:sp>
        <p:nvSpPr>
          <p:cNvPr id="36" name="Shape 29"/>
          <p:cNvSpPr/>
          <p:nvPr/>
        </p:nvSpPr>
        <p:spPr>
          <a:xfrm>
            <a:off x="7626096" y="1481328"/>
            <a:ext cx="502920" cy="502920"/>
          </a:xfrm>
          <a:prstGeom prst="ellipse">
            <a:avLst/>
          </a:prstGeom>
          <a:solidFill>
            <a:srgbClr val="C4621D">
              <a:alpha val="22000"/>
            </a:srgbClr>
          </a:solidFill>
          <a:ln w="12700">
            <a:solidFill>
              <a:srgbClr val="C4621D">
                <a:alpha val="0"/>
              </a:srgbClr>
            </a:solidFill>
            <a:prstDash val="solid"/>
          </a:ln>
        </p:spPr>
      </p:sp>
      <p:pic>
        <p:nvPicPr>
          <p:cNvPr id="37" name="Image 4" descr="preencoded.png">    </p:cNvPr>
          <p:cNvPicPr>
            <a:picLocks noChangeAspect="1"/>
          </p:cNvPicPr>
          <p:nvPr/>
        </p:nvPicPr>
        <p:blipFill>
          <a:blip r:embed="rId5"/>
          <a:stretch>
            <a:fillRect/>
          </a:stretch>
        </p:blipFill>
        <p:spPr>
          <a:xfrm>
            <a:off x="7746797" y="1602029"/>
            <a:ext cx="261518" cy="261518"/>
          </a:xfrm>
          <a:prstGeom prst="rect">
            <a:avLst/>
          </a:prstGeom>
        </p:spPr>
      </p:pic>
      <p:sp>
        <p:nvSpPr>
          <p:cNvPr id="38" name="Text 30"/>
          <p:cNvSpPr txBox="1"/>
          <p:nvPr/>
        </p:nvSpPr>
        <p:spPr>
          <a:xfrm>
            <a:off x="7196328"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GitHub Pages</a:t>
            </a:r>
            <a:endParaRPr lang="en-US" sz="1150" dirty="0"/>
          </a:p>
        </p:txBody>
      </p:sp>
      <p:sp>
        <p:nvSpPr>
          <p:cNvPr id="39" name="Text 31"/>
          <p:cNvSpPr txBox="1"/>
          <p:nvPr/>
        </p:nvSpPr>
        <p:spPr>
          <a:xfrm>
            <a:off x="7196328"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tableau de bord public</a:t>
            </a:r>
            <a:endParaRPr lang="en-US" sz="950" dirty="0"/>
          </a:p>
        </p:txBody>
      </p:sp>
      <p:sp>
        <p:nvSpPr>
          <p:cNvPr id="40" name="Shape 32"/>
          <p:cNvSpPr/>
          <p:nvPr/>
        </p:nvSpPr>
        <p:spPr>
          <a:xfrm>
            <a:off x="457200" y="3063240"/>
            <a:ext cx="457200" cy="457200"/>
          </a:xfrm>
          <a:prstGeom prst="ellipse">
            <a:avLst/>
          </a:prstGeom>
          <a:solidFill>
            <a:srgbClr val="C4621D">
              <a:alpha val="22000"/>
            </a:srgbClr>
          </a:solidFill>
          <a:ln w="12700">
            <a:solidFill>
              <a:srgbClr val="C4621D">
                <a:alpha val="0"/>
              </a:srgbClr>
            </a:solidFill>
            <a:prstDash val="solid"/>
          </a:ln>
        </p:spPr>
      </p:sp>
      <p:pic>
        <p:nvPicPr>
          <p:cNvPr id="41" name="Image 5" descr="preencoded.png">    </p:cNvPr>
          <p:cNvPicPr>
            <a:picLocks noChangeAspect="1"/>
          </p:cNvPicPr>
          <p:nvPr/>
        </p:nvPicPr>
        <p:blipFill>
          <a:blip r:embed="rId6"/>
          <a:stretch>
            <a:fillRect/>
          </a:stretch>
        </p:blipFill>
        <p:spPr>
          <a:xfrm>
            <a:off x="566928" y="3172968"/>
            <a:ext cx="237744" cy="237744"/>
          </a:xfrm>
          <a:prstGeom prst="rect">
            <a:avLst/>
          </a:prstGeom>
        </p:spPr>
      </p:pic>
      <p:sp>
        <p:nvSpPr>
          <p:cNvPr id="42" name="Text 33"/>
          <p:cNvSpPr txBox="1"/>
          <p:nvPr/>
        </p:nvSpPr>
        <p:spPr>
          <a:xfrm>
            <a:off x="1024128" y="3035808"/>
            <a:ext cx="21031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Bilingue EN / FR</a:t>
            </a:r>
            <a:endParaRPr lang="en-US" sz="1200" dirty="0"/>
          </a:p>
        </p:txBody>
      </p:sp>
      <p:sp>
        <p:nvSpPr>
          <p:cNvPr id="43" name="Text 34"/>
          <p:cNvSpPr txBox="1"/>
          <p:nvPr/>
        </p:nvSpPr>
        <p:spPr>
          <a:xfrm>
            <a:off x="1024128" y="3328416"/>
            <a:ext cx="210312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Mêmes chiffres, textes générés dans chaque langue</a:t>
            </a:r>
            <a:endParaRPr lang="en-US" sz="1050" dirty="0"/>
          </a:p>
        </p:txBody>
      </p:sp>
      <p:sp>
        <p:nvSpPr>
          <p:cNvPr id="44" name="Shape 35"/>
          <p:cNvSpPr/>
          <p:nvPr/>
        </p:nvSpPr>
        <p:spPr>
          <a:xfrm>
            <a:off x="3246120" y="3063240"/>
            <a:ext cx="457200" cy="457200"/>
          </a:xfrm>
          <a:prstGeom prst="ellipse">
            <a:avLst/>
          </a:prstGeom>
          <a:solidFill>
            <a:srgbClr val="C4621D">
              <a:alpha val="22000"/>
            </a:srgbClr>
          </a:solidFill>
          <a:ln w="12700">
            <a:solidFill>
              <a:srgbClr val="C4621D">
                <a:alpha val="0"/>
              </a:srgbClr>
            </a:solidFill>
            <a:prstDash val="solid"/>
          </a:ln>
        </p:spPr>
      </p:sp>
      <p:pic>
        <p:nvPicPr>
          <p:cNvPr id="45" name="Image 6" descr="preencoded.png">    </p:cNvPr>
          <p:cNvPicPr>
            <a:picLocks noChangeAspect="1"/>
          </p:cNvPicPr>
          <p:nvPr/>
        </p:nvPicPr>
        <p:blipFill>
          <a:blip r:embed="rId7"/>
          <a:stretch>
            <a:fillRect/>
          </a:stretch>
        </p:blipFill>
        <p:spPr>
          <a:xfrm>
            <a:off x="3355848" y="3172968"/>
            <a:ext cx="237744" cy="237744"/>
          </a:xfrm>
          <a:prstGeom prst="rect">
            <a:avLst/>
          </a:prstGeom>
        </p:spPr>
      </p:pic>
      <p:sp>
        <p:nvSpPr>
          <p:cNvPr id="46" name="Text 36"/>
          <p:cNvSpPr txBox="1"/>
          <p:nvPr/>
        </p:nvSpPr>
        <p:spPr>
          <a:xfrm>
            <a:off x="3813048" y="3035808"/>
            <a:ext cx="21031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Manifeste de reproductibilité</a:t>
            </a:r>
            <a:endParaRPr lang="en-US" sz="1200" dirty="0"/>
          </a:p>
        </p:txBody>
      </p:sp>
      <p:sp>
        <p:nvSpPr>
          <p:cNvPr id="47" name="Text 37"/>
          <p:cNvSpPr txBox="1"/>
          <p:nvPr/>
        </p:nvSpPr>
        <p:spPr>
          <a:xfrm>
            <a:off x="3813048" y="3328416"/>
            <a:ext cx="210312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Paramètres, versions, disponibilité des données</a:t>
            </a:r>
            <a:endParaRPr lang="en-US" sz="1050" dirty="0"/>
          </a:p>
        </p:txBody>
      </p:sp>
      <p:sp>
        <p:nvSpPr>
          <p:cNvPr id="48" name="Shape 38"/>
          <p:cNvSpPr/>
          <p:nvPr/>
        </p:nvSpPr>
        <p:spPr>
          <a:xfrm>
            <a:off x="6035040" y="3063240"/>
            <a:ext cx="457200" cy="457200"/>
          </a:xfrm>
          <a:prstGeom prst="ellipse">
            <a:avLst/>
          </a:prstGeom>
          <a:solidFill>
            <a:srgbClr val="C4621D">
              <a:alpha val="22000"/>
            </a:srgbClr>
          </a:solidFill>
          <a:ln w="12700">
            <a:solidFill>
              <a:srgbClr val="C4621D">
                <a:alpha val="0"/>
              </a:srgbClr>
            </a:solidFill>
            <a:prstDash val="solid"/>
          </a:ln>
        </p:spPr>
      </p:sp>
      <p:pic>
        <p:nvPicPr>
          <p:cNvPr id="49" name="Image 7" descr="preencoded.png">    </p:cNvPr>
          <p:cNvPicPr>
            <a:picLocks noChangeAspect="1"/>
          </p:cNvPicPr>
          <p:nvPr/>
        </p:nvPicPr>
        <p:blipFill>
          <a:blip r:embed="rId8"/>
          <a:stretch>
            <a:fillRect/>
          </a:stretch>
        </p:blipFill>
        <p:spPr>
          <a:xfrm>
            <a:off x="6144768" y="3172968"/>
            <a:ext cx="237744" cy="237744"/>
          </a:xfrm>
          <a:prstGeom prst="rect">
            <a:avLst/>
          </a:prstGeom>
        </p:spPr>
      </p:pic>
      <p:sp>
        <p:nvSpPr>
          <p:cNvPr id="50" name="Text 39"/>
          <p:cNvSpPr txBox="1"/>
          <p:nvPr/>
        </p:nvSpPr>
        <p:spPr>
          <a:xfrm>
            <a:off x="6601968" y="3035808"/>
            <a:ext cx="21031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Publication sécurisée</a:t>
            </a:r>
            <a:endParaRPr lang="en-US" sz="1200" dirty="0"/>
          </a:p>
        </p:txBody>
      </p:sp>
      <p:sp>
        <p:nvSpPr>
          <p:cNvPr id="51" name="Text 40"/>
          <p:cNvSpPr txBox="1"/>
          <p:nvPr/>
        </p:nvSpPr>
        <p:spPr>
          <a:xfrm>
            <a:off x="6601968" y="3328416"/>
            <a:ext cx="210312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Jeton à droits limités, 7–30 jours, écrit nulle part</a:t>
            </a:r>
            <a:endParaRPr lang="en-US" sz="1050" dirty="0"/>
          </a:p>
        </p:txBody>
      </p:sp>
      <p:sp>
        <p:nvSpPr>
          <p:cNvPr id="52" name="Shape 41"/>
          <p:cNvSpPr/>
          <p:nvPr/>
        </p:nvSpPr>
        <p:spPr>
          <a:xfrm>
            <a:off x="457200" y="4069080"/>
            <a:ext cx="3931920" cy="256032"/>
          </a:xfrm>
          <a:prstGeom prst="roundRect">
            <a:avLst>
              <a:gd name="adj" fmla="val 50000"/>
            </a:avLst>
          </a:prstGeom>
          <a:solidFill>
            <a:srgbClr val="C4621D">
              <a:alpha val="15000"/>
            </a:srgbClr>
          </a:solidFill>
          <a:ln w="9525">
            <a:solidFill>
              <a:srgbClr val="C4621D"/>
            </a:solidFill>
            <a:prstDash val="solid"/>
          </a:ln>
        </p:spPr>
      </p:sp>
      <p:sp>
        <p:nvSpPr>
          <p:cNvPr id="53" name="Text 42"/>
          <p:cNvSpPr txBox="1"/>
          <p:nvPr/>
        </p:nvSpPr>
        <p:spPr>
          <a:xfrm>
            <a:off x="457200" y="4069080"/>
            <a:ext cx="3931920" cy="256032"/>
          </a:xfrm>
          <a:prstGeom prst="rect">
            <a:avLst/>
          </a:prstGeom>
          <a:noFill/>
          <a:ln/>
        </p:spPr>
        <p:txBody>
          <a:bodyPr wrap="square" lIns="0" tIns="0" rIns="0" bIns="0" rtlCol="0" anchor="ctr"/>
          <a:lstStyle/>
          <a:p>
            <a:pPr algn="ctr" indent="0" marL="0">
              <a:buNone/>
            </a:pPr>
            <a:r>
              <a:rPr lang="en-US" sz="1000" b="1" dirty="0">
                <a:solidFill>
                  <a:srgbClr val="C4621D"/>
                </a:solidFill>
                <a:latin typeface="Calibri" pitchFamily="34" charset="0"/>
                <a:ea typeface="Calibri" pitchFamily="34" charset="-122"/>
                <a:cs typeface="Calibri" pitchFamily="34" charset="-120"/>
              </a:rPr>
              <a:t>Messages clés avec confiance : élevée · moyenne · faible</a:t>
            </a:r>
            <a:endParaRPr lang="en-US" sz="1000" dirty="0"/>
          </a:p>
        </p:txBody>
      </p:sp>
      <p:sp>
        <p:nvSpPr>
          <p:cNvPr id="54" name="Shape 43"/>
          <p:cNvSpPr/>
          <p:nvPr/>
        </p:nvSpPr>
        <p:spPr>
          <a:xfrm>
            <a:off x="4572000" y="4069080"/>
            <a:ext cx="4114800" cy="256032"/>
          </a:xfrm>
          <a:prstGeom prst="roundRect">
            <a:avLst>
              <a:gd name="adj" fmla="val 50000"/>
            </a:avLst>
          </a:prstGeom>
          <a:solidFill>
            <a:srgbClr val="5E6964">
              <a:alpha val="15000"/>
            </a:srgbClr>
          </a:solidFill>
          <a:ln w="9525">
            <a:solidFill>
              <a:srgbClr val="5E6964"/>
            </a:solidFill>
            <a:prstDash val="solid"/>
          </a:ln>
        </p:spPr>
      </p:sp>
      <p:sp>
        <p:nvSpPr>
          <p:cNvPr id="55" name="Text 44"/>
          <p:cNvSpPr txBox="1"/>
          <p:nvPr/>
        </p:nvSpPr>
        <p:spPr>
          <a:xfrm>
            <a:off x="4572000" y="4069080"/>
            <a:ext cx="4114800" cy="256032"/>
          </a:xfrm>
          <a:prstGeom prst="rect">
            <a:avLst/>
          </a:prstGeom>
          <a:noFill/>
          <a:ln/>
        </p:spPr>
        <p:txBody>
          <a:bodyPr wrap="square" lIns="0" tIns="0" rIns="0" bIns="0" rtlCol="0" anchor="ctr"/>
          <a:lstStyle/>
          <a:p>
            <a:pPr algn="ctr" indent="0" marL="0">
              <a:buNone/>
            </a:pPr>
            <a:r>
              <a:rPr lang="en-US" sz="1000" b="1" dirty="0">
                <a:solidFill>
                  <a:srgbClr val="5E6964"/>
                </a:solidFill>
                <a:latin typeface="Calibri" pitchFamily="34" charset="0"/>
                <a:ea typeface="Calibri" pitchFamily="34" charset="-122"/>
                <a:cs typeface="Calibri" pitchFamily="34" charset="-120"/>
              </a:rPr>
              <a:t>Pays test synthétique « XTS » : publication publique refusée</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05 · PUBLIER · QUALITÉ</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Vérifié avant diffusion</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C4621D"/>
          </a:solidFill>
          <a:ln w="12700">
            <a:solidFill>
              <a:srgbClr val="C4621D"/>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606040" cy="1463040"/>
          </a:xfrm>
          <a:prstGeom prst="roundRect">
            <a:avLst>
              <a:gd name="adj" fmla="val 5000"/>
            </a:avLst>
          </a:prstGeom>
          <a:solidFill>
            <a:srgbClr val="E8F5EF"/>
          </a:solidFill>
          <a:ln w="15875">
            <a:solidFill>
              <a:srgbClr val="00A86A"/>
            </a:solidFill>
            <a:prstDash val="solid"/>
          </a:ln>
        </p:spPr>
      </p:sp>
      <p:sp>
        <p:nvSpPr>
          <p:cNvPr id="12" name="Text 9"/>
          <p:cNvSpPr txBox="1"/>
          <p:nvPr/>
        </p:nvSpPr>
        <p:spPr>
          <a:xfrm>
            <a:off x="640080" y="1463040"/>
            <a:ext cx="2286000" cy="685800"/>
          </a:xfrm>
          <a:prstGeom prst="rect">
            <a:avLst/>
          </a:prstGeom>
          <a:noFill/>
          <a:ln/>
        </p:spPr>
        <p:txBody>
          <a:bodyPr wrap="square" lIns="0" tIns="0" rIns="0" bIns="0" rtlCol="0" anchor="t"/>
          <a:lstStyle/>
          <a:p>
            <a:pPr indent="0" marL="0">
              <a:buNone/>
            </a:pPr>
            <a:r>
              <a:rPr lang="en-US" sz="3000" b="1" dirty="0">
                <a:solidFill>
                  <a:srgbClr val="00A86A"/>
                </a:solidFill>
                <a:latin typeface="Calibri" pitchFamily="34" charset="0"/>
                <a:ea typeface="Calibri" pitchFamily="34" charset="-122"/>
                <a:cs typeface="Calibri" pitchFamily="34" charset="-120"/>
              </a:rPr>
              <a:t>0</a:t>
            </a:r>
            <a:endParaRPr lang="en-US" sz="3000" dirty="0"/>
          </a:p>
        </p:txBody>
      </p:sp>
      <p:sp>
        <p:nvSpPr>
          <p:cNvPr id="13" name="Text 10"/>
          <p:cNvSpPr txBox="1"/>
          <p:nvPr/>
        </p:nvSpPr>
        <p:spPr>
          <a:xfrm>
            <a:off x="640080" y="2176272"/>
            <a:ext cx="2286000" cy="5943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erreur d'exécution, notebooks 1 et 2, EN et FR</a:t>
            </a:r>
            <a:endParaRPr lang="en-US" sz="1050" dirty="0"/>
          </a:p>
        </p:txBody>
      </p:sp>
      <p:sp>
        <p:nvSpPr>
          <p:cNvPr id="14" name="Shape 11"/>
          <p:cNvSpPr/>
          <p:nvPr/>
        </p:nvSpPr>
        <p:spPr>
          <a:xfrm>
            <a:off x="3246120" y="1371600"/>
            <a:ext cx="2606040" cy="1463040"/>
          </a:xfrm>
          <a:prstGeom prst="roundRect">
            <a:avLst>
              <a:gd name="adj" fmla="val 5000"/>
            </a:avLst>
          </a:prstGeom>
          <a:solidFill>
            <a:srgbClr val="F4F7F5"/>
          </a:solidFill>
          <a:ln w="9525">
            <a:solidFill>
              <a:srgbClr val="D5DED9"/>
            </a:solidFill>
            <a:prstDash val="solid"/>
          </a:ln>
        </p:spPr>
      </p:sp>
      <p:sp>
        <p:nvSpPr>
          <p:cNvPr id="15" name="Text 12"/>
          <p:cNvSpPr txBox="1"/>
          <p:nvPr/>
        </p:nvSpPr>
        <p:spPr>
          <a:xfrm>
            <a:off x="3429000" y="1463040"/>
            <a:ext cx="2286000" cy="685800"/>
          </a:xfrm>
          <a:prstGeom prst="rect">
            <a:avLst/>
          </a:prstGeom>
          <a:noFill/>
          <a:ln/>
        </p:spPr>
        <p:txBody>
          <a:bodyPr wrap="square" lIns="0" tIns="0" rIns="0" bIns="0" rtlCol="0" anchor="t"/>
          <a:lstStyle/>
          <a:p>
            <a:pPr indent="0" marL="0">
              <a:buNone/>
            </a:pPr>
            <a:r>
              <a:rPr lang="en-US" sz="3000" b="1" dirty="0">
                <a:solidFill>
                  <a:srgbClr val="C4621D"/>
                </a:solidFill>
                <a:latin typeface="Calibri" pitchFamily="34" charset="0"/>
                <a:ea typeface="Calibri" pitchFamily="34" charset="-122"/>
                <a:cs typeface="Calibri" pitchFamily="34" charset="-120"/>
              </a:rPr>
              <a:t>13,7%→0,7%</a:t>
            </a:r>
            <a:endParaRPr lang="en-US" sz="3000" dirty="0"/>
          </a:p>
        </p:txBody>
      </p:sp>
      <p:sp>
        <p:nvSpPr>
          <p:cNvPr id="16" name="Text 13"/>
          <p:cNvSpPr txBox="1"/>
          <p:nvPr/>
        </p:nvSpPr>
        <p:spPr>
          <a:xfrm>
            <a:off x="3429000" y="2176272"/>
            <a:ext cx="2286000" cy="5943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β-convergence fictive sous bruit pur (simulation)</a:t>
            </a:r>
            <a:endParaRPr lang="en-US" sz="1050" dirty="0"/>
          </a:p>
        </p:txBody>
      </p:sp>
      <p:sp>
        <p:nvSpPr>
          <p:cNvPr id="17" name="Shape 14"/>
          <p:cNvSpPr/>
          <p:nvPr/>
        </p:nvSpPr>
        <p:spPr>
          <a:xfrm>
            <a:off x="6035040" y="1371600"/>
            <a:ext cx="2606040" cy="1463040"/>
          </a:xfrm>
          <a:prstGeom prst="roundRect">
            <a:avLst>
              <a:gd name="adj" fmla="val 5000"/>
            </a:avLst>
          </a:prstGeom>
          <a:solidFill>
            <a:srgbClr val="F4F7F5"/>
          </a:solidFill>
          <a:ln w="9525">
            <a:solidFill>
              <a:srgbClr val="D5DED9"/>
            </a:solidFill>
            <a:prstDash val="solid"/>
          </a:ln>
        </p:spPr>
      </p:sp>
      <p:sp>
        <p:nvSpPr>
          <p:cNvPr id="18" name="Text 15"/>
          <p:cNvSpPr txBox="1"/>
          <p:nvPr/>
        </p:nvSpPr>
        <p:spPr>
          <a:xfrm>
            <a:off x="6217920" y="1463040"/>
            <a:ext cx="2286000" cy="685800"/>
          </a:xfrm>
          <a:prstGeom prst="rect">
            <a:avLst/>
          </a:prstGeom>
          <a:noFill/>
          <a:ln/>
        </p:spPr>
        <p:txBody>
          <a:bodyPr wrap="square" lIns="0" tIns="0" rIns="0" bIns="0" rtlCol="0" anchor="t"/>
          <a:lstStyle/>
          <a:p>
            <a:pPr indent="0" marL="0">
              <a:buNone/>
            </a:pPr>
            <a:r>
              <a:rPr lang="en-US" sz="3000" b="1" dirty="0">
                <a:solidFill>
                  <a:srgbClr val="0E7C86"/>
                </a:solidFill>
                <a:latin typeface="Calibri" pitchFamily="34" charset="0"/>
                <a:ea typeface="Calibri" pitchFamily="34" charset="-122"/>
                <a:cs typeface="Calibri" pitchFamily="34" charset="-120"/>
              </a:rPr>
              <a:t>29 → 0</a:t>
            </a:r>
            <a:endParaRPr lang="en-US" sz="3000" dirty="0"/>
          </a:p>
        </p:txBody>
      </p:sp>
      <p:sp>
        <p:nvSpPr>
          <p:cNvPr id="19" name="Text 16"/>
          <p:cNvSpPr txBox="1"/>
          <p:nvPr/>
        </p:nvSpPr>
        <p:spPr>
          <a:xfrm>
            <a:off x="6217920" y="2176272"/>
            <a:ext cx="2286000" cy="5943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classes de croissance parasites sur 300 districts nuls</a:t>
            </a:r>
            <a:endParaRPr lang="en-US" sz="1050" dirty="0"/>
          </a:p>
        </p:txBody>
      </p:sp>
      <p:pic>
        <p:nvPicPr>
          <p:cNvPr id="20" name="Image 0" descr="preencoded.png">    </p:cNvPr>
          <p:cNvPicPr>
            <a:picLocks noChangeAspect="1"/>
          </p:cNvPicPr>
          <p:nvPr/>
        </p:nvPicPr>
        <p:blipFill>
          <a:blip r:embed="rId1"/>
          <a:stretch>
            <a:fillRect/>
          </a:stretch>
        </p:blipFill>
        <p:spPr>
          <a:xfrm>
            <a:off x="457200" y="3118104"/>
            <a:ext cx="219456" cy="219456"/>
          </a:xfrm>
          <a:prstGeom prst="rect">
            <a:avLst/>
          </a:prstGeom>
        </p:spPr>
      </p:pic>
      <p:sp>
        <p:nvSpPr>
          <p:cNvPr id="21" name="Text 17"/>
          <p:cNvSpPr txBox="1"/>
          <p:nvPr/>
        </p:nvSpPr>
        <p:spPr>
          <a:xfrm>
            <a:off x="777240" y="30632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Attributs et remplissage lus dans chaque fichier</a:t>
            </a:r>
            <a:endParaRPr lang="en-US" sz="1100" dirty="0"/>
          </a:p>
        </p:txBody>
      </p:sp>
      <p:pic>
        <p:nvPicPr>
          <p:cNvPr id="22" name="Image 1" descr="preencoded.png">    </p:cNvPr>
          <p:cNvPicPr>
            <a:picLocks noChangeAspect="1"/>
          </p:cNvPicPr>
          <p:nvPr/>
        </p:nvPicPr>
        <p:blipFill>
          <a:blip r:embed="rId2"/>
          <a:stretch>
            <a:fillRect/>
          </a:stretch>
        </p:blipFill>
        <p:spPr>
          <a:xfrm>
            <a:off x="4663440" y="3118104"/>
            <a:ext cx="219456" cy="219456"/>
          </a:xfrm>
          <a:prstGeom prst="rect">
            <a:avLst/>
          </a:prstGeom>
        </p:spPr>
      </p:pic>
      <p:sp>
        <p:nvSpPr>
          <p:cNvPr id="23" name="Text 18"/>
          <p:cNvSpPr txBox="1"/>
          <p:nvPr/>
        </p:nvSpPr>
        <p:spPr>
          <a:xfrm>
            <a:off x="4983480" y="30632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Légende qualité et codes eau lus, pas supposés</a:t>
            </a:r>
            <a:endParaRPr lang="en-US" sz="1100" dirty="0"/>
          </a:p>
        </p:txBody>
      </p:sp>
      <p:pic>
        <p:nvPicPr>
          <p:cNvPr id="24" name="Image 2" descr="preencoded.png">    </p:cNvPr>
          <p:cNvPicPr>
            <a:picLocks noChangeAspect="1"/>
          </p:cNvPicPr>
          <p:nvPr/>
        </p:nvPicPr>
        <p:blipFill>
          <a:blip r:embed="rId3"/>
          <a:stretch>
            <a:fillRect/>
          </a:stretch>
        </p:blipFill>
        <p:spPr>
          <a:xfrm>
            <a:off x="457200" y="3575304"/>
            <a:ext cx="219456" cy="219456"/>
          </a:xfrm>
          <a:prstGeom prst="rect">
            <a:avLst/>
          </a:prstGeom>
        </p:spPr>
      </p:pic>
      <p:sp>
        <p:nvSpPr>
          <p:cNvPr id="25" name="Text 19"/>
          <p:cNvSpPr txBox="1"/>
          <p:nvPr/>
        </p:nvSpPr>
        <p:spPr>
          <a:xfrm>
            <a:off x="777240" y="35204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Paramètres et version de code invalident un cache périmé</a:t>
            </a:r>
            <a:endParaRPr lang="en-US" sz="1100" dirty="0"/>
          </a:p>
        </p:txBody>
      </p:sp>
      <p:pic>
        <p:nvPicPr>
          <p:cNvPr id="26" name="Image 3" descr="preencoded.png">    </p:cNvPr>
          <p:cNvPicPr>
            <a:picLocks noChangeAspect="1"/>
          </p:cNvPicPr>
          <p:nvPr/>
        </p:nvPicPr>
        <p:blipFill>
          <a:blip r:embed="rId4"/>
          <a:stretch>
            <a:fillRect/>
          </a:stretch>
        </p:blipFill>
        <p:spPr>
          <a:xfrm>
            <a:off x="4663440" y="3575304"/>
            <a:ext cx="219456" cy="219456"/>
          </a:xfrm>
          <a:prstGeom prst="rect">
            <a:avLst/>
          </a:prstGeom>
        </p:spPr>
      </p:pic>
      <p:sp>
        <p:nvSpPr>
          <p:cNvPr id="27" name="Text 20"/>
          <p:cNvSpPr txBox="1"/>
          <p:nvPr/>
        </p:nvSpPr>
        <p:spPr>
          <a:xfrm>
            <a:off x="4983480" y="35204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Population GHSL vérifiée face à la Banque mondiale (±30 %)</a:t>
            </a:r>
            <a:endParaRPr lang="en-US" sz="1100" dirty="0"/>
          </a:p>
        </p:txBody>
      </p:sp>
      <p:pic>
        <p:nvPicPr>
          <p:cNvPr id="28" name="Image 4" descr="preencoded.png">    </p:cNvPr>
          <p:cNvPicPr>
            <a:picLocks noChangeAspect="1"/>
          </p:cNvPicPr>
          <p:nvPr/>
        </p:nvPicPr>
        <p:blipFill>
          <a:blip r:embed="rId5"/>
          <a:stretch>
            <a:fillRect/>
          </a:stretch>
        </p:blipFill>
        <p:spPr>
          <a:xfrm>
            <a:off x="457200" y="4032504"/>
            <a:ext cx="219456" cy="219456"/>
          </a:xfrm>
          <a:prstGeom prst="rect">
            <a:avLst/>
          </a:prstGeom>
        </p:spPr>
      </p:pic>
      <p:sp>
        <p:nvSpPr>
          <p:cNvPr id="29" name="Text 21"/>
          <p:cNvSpPr txBox="1"/>
          <p:nvPr/>
        </p:nvSpPr>
        <p:spPr>
          <a:xfrm>
            <a:off x="777240" y="39776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Chaque export voyage avec ses métadonnées et son journal</a:t>
            </a:r>
            <a:endParaRPr lang="en-US" sz="1100" dirty="0"/>
          </a:p>
        </p:txBody>
      </p:sp>
      <p:pic>
        <p:nvPicPr>
          <p:cNvPr id="30" name="Image 5" descr="preencoded.png">    </p:cNvPr>
          <p:cNvPicPr>
            <a:picLocks noChangeAspect="1"/>
          </p:cNvPicPr>
          <p:nvPr/>
        </p:nvPicPr>
        <p:blipFill>
          <a:blip r:embed="rId6"/>
          <a:stretch>
            <a:fillRect/>
          </a:stretch>
        </p:blipFill>
        <p:spPr>
          <a:xfrm>
            <a:off x="4663440" y="4032504"/>
            <a:ext cx="219456" cy="219456"/>
          </a:xfrm>
          <a:prstGeom prst="rect">
            <a:avLst/>
          </a:prstGeom>
        </p:spPr>
      </p:pic>
      <p:sp>
        <p:nvSpPr>
          <p:cNvPr id="31" name="Text 22"/>
          <p:cNvSpPr txBox="1"/>
          <p:nvPr/>
        </p:nvSpPr>
        <p:spPr>
          <a:xfrm>
            <a:off x="4983480" y="39776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Valeurs simulées toujours signalées comme telles</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05 · PUBLIER · LIMITES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Six artefacts à connaître avant de conclure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C4621D"/>
          </a:solidFill>
          <a:ln w="12700">
            <a:solidFill>
              <a:srgbClr val="C4621D"/>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606040" cy="1207008"/>
          </a:xfrm>
          <a:prstGeom prst="roundRect">
            <a:avLst>
              <a:gd name="adj" fmla="val 6061"/>
            </a:avLst>
          </a:prstGeom>
          <a:solidFill>
            <a:srgbClr val="F4F7F5"/>
          </a:solidFill>
          <a:ln w="9525">
            <a:solidFill>
              <a:srgbClr val="D5DED9"/>
            </a:solidFill>
            <a:prstDash val="solid"/>
          </a:ln>
        </p:spPr>
      </p:sp>
      <p:sp>
        <p:nvSpPr>
          <p:cNvPr id="12" name="Shape 9"/>
          <p:cNvSpPr/>
          <p:nvPr/>
        </p:nvSpPr>
        <p:spPr>
          <a:xfrm>
            <a:off x="603504" y="1517904"/>
            <a:ext cx="457200" cy="457200"/>
          </a:xfrm>
          <a:prstGeom prst="ellipse">
            <a:avLst/>
          </a:prstGeom>
          <a:solidFill>
            <a:srgbClr val="B83B2E">
              <a:alpha val="22000"/>
            </a:srgbClr>
          </a:solidFill>
          <a:ln w="12700">
            <a:solidFill>
              <a:srgbClr val="B83B2E">
                <a:alpha val="0"/>
              </a:srgbClr>
            </a:solidFill>
            <a:prstDash val="solid"/>
          </a:ln>
        </p:spPr>
      </p:sp>
      <p:pic>
        <p:nvPicPr>
          <p:cNvPr id="13" name="Image 0" descr="preencoded.png">    </p:cNvPr>
          <p:cNvPicPr>
            <a:picLocks noChangeAspect="1"/>
          </p:cNvPicPr>
          <p:nvPr/>
        </p:nvPicPr>
        <p:blipFill>
          <a:blip r:embed="rId1"/>
          <a:stretch>
            <a:fillRect/>
          </a:stretch>
        </p:blipFill>
        <p:spPr>
          <a:xfrm>
            <a:off x="713232" y="1627632"/>
            <a:ext cx="237744" cy="237744"/>
          </a:xfrm>
          <a:prstGeom prst="rect">
            <a:avLst/>
          </a:prstGeom>
        </p:spPr>
      </p:pic>
      <p:sp>
        <p:nvSpPr>
          <p:cNvPr id="14" name="Text 10"/>
          <p:cNvSpPr txBox="1"/>
          <p:nvPr/>
        </p:nvSpPr>
        <p:spPr>
          <a:xfrm>
            <a:off x="117043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Débordement</a:t>
            </a:r>
            <a:endParaRPr lang="en-US" sz="1300" dirty="0"/>
          </a:p>
        </p:txBody>
      </p:sp>
      <p:sp>
        <p:nvSpPr>
          <p:cNvPr id="15" name="Text 11"/>
          <p:cNvSpPr txBox="1"/>
          <p:nvPr/>
        </p:nvSpPr>
        <p:spPr>
          <a:xfrm>
            <a:off x="603504" y="20482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La lumière déborde du bâti</a:t>
            </a:r>
            <a:endParaRPr lang="en-US" sz="1050" dirty="0"/>
          </a:p>
        </p:txBody>
      </p:sp>
      <p:sp>
        <p:nvSpPr>
          <p:cNvPr id="16" name="Shape 12"/>
          <p:cNvSpPr/>
          <p:nvPr/>
        </p:nvSpPr>
        <p:spPr>
          <a:xfrm>
            <a:off x="3246120" y="1371600"/>
            <a:ext cx="2606040" cy="1207008"/>
          </a:xfrm>
          <a:prstGeom prst="roundRect">
            <a:avLst>
              <a:gd name="adj" fmla="val 6061"/>
            </a:avLst>
          </a:prstGeom>
          <a:solidFill>
            <a:srgbClr val="F4F7F5"/>
          </a:solidFill>
          <a:ln w="9525">
            <a:solidFill>
              <a:srgbClr val="D5DED9"/>
            </a:solidFill>
            <a:prstDash val="solid"/>
          </a:ln>
        </p:spPr>
      </p:sp>
      <p:sp>
        <p:nvSpPr>
          <p:cNvPr id="17" name="Shape 13"/>
          <p:cNvSpPr/>
          <p:nvPr/>
        </p:nvSpPr>
        <p:spPr>
          <a:xfrm>
            <a:off x="3392424" y="1517904"/>
            <a:ext cx="457200" cy="457200"/>
          </a:xfrm>
          <a:prstGeom prst="ellipse">
            <a:avLst/>
          </a:prstGeom>
          <a:solidFill>
            <a:srgbClr val="B83B2E">
              <a:alpha val="22000"/>
            </a:srgbClr>
          </a:solidFill>
          <a:ln w="12700">
            <a:solidFill>
              <a:srgbClr val="B83B2E">
                <a:alpha val="0"/>
              </a:srgbClr>
            </a:solidFill>
            <a:prstDash val="solid"/>
          </a:ln>
        </p:spPr>
      </p:sp>
      <p:pic>
        <p:nvPicPr>
          <p:cNvPr id="18" name="Image 1" descr="preencoded.png">    </p:cNvPr>
          <p:cNvPicPr>
            <a:picLocks noChangeAspect="1"/>
          </p:cNvPicPr>
          <p:nvPr/>
        </p:nvPicPr>
        <p:blipFill>
          <a:blip r:embed="rId2"/>
          <a:stretch>
            <a:fillRect/>
          </a:stretch>
        </p:blipFill>
        <p:spPr>
          <a:xfrm>
            <a:off x="3502152" y="1627632"/>
            <a:ext cx="237744" cy="237744"/>
          </a:xfrm>
          <a:prstGeom prst="rect">
            <a:avLst/>
          </a:prstGeom>
        </p:spPr>
      </p:pic>
      <p:sp>
        <p:nvSpPr>
          <p:cNvPr id="19" name="Text 14"/>
          <p:cNvSpPr txBox="1"/>
          <p:nvPr/>
        </p:nvSpPr>
        <p:spPr>
          <a:xfrm>
            <a:off x="395935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Saturation</a:t>
            </a:r>
            <a:endParaRPr lang="en-US" sz="1300" dirty="0"/>
          </a:p>
        </p:txBody>
      </p:sp>
      <p:sp>
        <p:nvSpPr>
          <p:cNvPr id="20" name="Text 15"/>
          <p:cNvSpPr txBox="1"/>
          <p:nvPr/>
        </p:nvSpPr>
        <p:spPr>
          <a:xfrm>
            <a:off x="3392424" y="20482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Les centres les plus brillants plafonnent ; DMSP sature à 63</a:t>
            </a:r>
            <a:endParaRPr lang="en-US" sz="1050" dirty="0"/>
          </a:p>
        </p:txBody>
      </p:sp>
      <p:sp>
        <p:nvSpPr>
          <p:cNvPr id="21" name="Shape 16"/>
          <p:cNvSpPr/>
          <p:nvPr/>
        </p:nvSpPr>
        <p:spPr>
          <a:xfrm>
            <a:off x="6035040" y="1371600"/>
            <a:ext cx="2606040" cy="1207008"/>
          </a:xfrm>
          <a:prstGeom prst="roundRect">
            <a:avLst>
              <a:gd name="adj" fmla="val 6061"/>
            </a:avLst>
          </a:prstGeom>
          <a:solidFill>
            <a:srgbClr val="F4F7F5"/>
          </a:solidFill>
          <a:ln w="9525">
            <a:solidFill>
              <a:srgbClr val="D5DED9"/>
            </a:solidFill>
            <a:prstDash val="solid"/>
          </a:ln>
        </p:spPr>
      </p:sp>
      <p:sp>
        <p:nvSpPr>
          <p:cNvPr id="22" name="Shape 17"/>
          <p:cNvSpPr/>
          <p:nvPr/>
        </p:nvSpPr>
        <p:spPr>
          <a:xfrm>
            <a:off x="6181344" y="1517904"/>
            <a:ext cx="457200" cy="457200"/>
          </a:xfrm>
          <a:prstGeom prst="ellipse">
            <a:avLst/>
          </a:prstGeom>
          <a:solidFill>
            <a:srgbClr val="B83B2E">
              <a:alpha val="22000"/>
            </a:srgbClr>
          </a:solidFill>
          <a:ln w="12700">
            <a:solidFill>
              <a:srgbClr val="B83B2E">
                <a:alpha val="0"/>
              </a:srgbClr>
            </a:solidFill>
            <a:prstDash val="solid"/>
          </a:ln>
        </p:spPr>
      </p:sp>
      <p:pic>
        <p:nvPicPr>
          <p:cNvPr id="23" name="Image 2" descr="preencoded.png">    </p:cNvPr>
          <p:cNvPicPr>
            <a:picLocks noChangeAspect="1"/>
          </p:cNvPicPr>
          <p:nvPr/>
        </p:nvPicPr>
        <p:blipFill>
          <a:blip r:embed="rId3"/>
          <a:stretch>
            <a:fillRect/>
          </a:stretch>
        </p:blipFill>
        <p:spPr>
          <a:xfrm>
            <a:off x="6291072" y="1627632"/>
            <a:ext cx="237744" cy="237744"/>
          </a:xfrm>
          <a:prstGeom prst="rect">
            <a:avLst/>
          </a:prstGeom>
        </p:spPr>
      </p:pic>
      <p:sp>
        <p:nvSpPr>
          <p:cNvPr id="24" name="Text 18"/>
          <p:cNvSpPr txBox="1"/>
          <p:nvPr/>
        </p:nvSpPr>
        <p:spPr>
          <a:xfrm>
            <a:off x="674827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Torchères</a:t>
            </a:r>
            <a:endParaRPr lang="en-US" sz="1300" dirty="0"/>
          </a:p>
        </p:txBody>
      </p:sp>
      <p:sp>
        <p:nvSpPr>
          <p:cNvPr id="25" name="Text 19"/>
          <p:cNvSpPr txBox="1"/>
          <p:nvPr/>
        </p:nvSpPr>
        <p:spPr>
          <a:xfrm>
            <a:off x="6181344" y="20482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Brillantes sans activité économique locale</a:t>
            </a:r>
            <a:endParaRPr lang="en-US" sz="1050" dirty="0"/>
          </a:p>
        </p:txBody>
      </p:sp>
      <p:sp>
        <p:nvSpPr>
          <p:cNvPr id="26" name="Shape 20"/>
          <p:cNvSpPr/>
          <p:nvPr/>
        </p:nvSpPr>
        <p:spPr>
          <a:xfrm>
            <a:off x="457200" y="2743200"/>
            <a:ext cx="2606040" cy="1207008"/>
          </a:xfrm>
          <a:prstGeom prst="roundRect">
            <a:avLst>
              <a:gd name="adj" fmla="val 6061"/>
            </a:avLst>
          </a:prstGeom>
          <a:solidFill>
            <a:srgbClr val="F4F7F5"/>
          </a:solidFill>
          <a:ln w="9525">
            <a:solidFill>
              <a:srgbClr val="D5DED9"/>
            </a:solidFill>
            <a:prstDash val="solid"/>
          </a:ln>
        </p:spPr>
      </p:sp>
      <p:sp>
        <p:nvSpPr>
          <p:cNvPr id="27" name="Shape 21"/>
          <p:cNvSpPr/>
          <p:nvPr/>
        </p:nvSpPr>
        <p:spPr>
          <a:xfrm>
            <a:off x="603504" y="2889504"/>
            <a:ext cx="457200" cy="457200"/>
          </a:xfrm>
          <a:prstGeom prst="ellipse">
            <a:avLst/>
          </a:prstGeom>
          <a:solidFill>
            <a:srgbClr val="B83B2E">
              <a:alpha val="22000"/>
            </a:srgbClr>
          </a:solidFill>
          <a:ln w="12700">
            <a:solidFill>
              <a:srgbClr val="B83B2E">
                <a:alpha val="0"/>
              </a:srgbClr>
            </a:solidFill>
            <a:prstDash val="solid"/>
          </a:ln>
        </p:spPr>
      </p:sp>
      <p:pic>
        <p:nvPicPr>
          <p:cNvPr id="28" name="Image 3" descr="preencoded.png">    </p:cNvPr>
          <p:cNvPicPr>
            <a:picLocks noChangeAspect="1"/>
          </p:cNvPicPr>
          <p:nvPr/>
        </p:nvPicPr>
        <p:blipFill>
          <a:blip r:embed="rId4"/>
          <a:stretch>
            <a:fillRect/>
          </a:stretch>
        </p:blipFill>
        <p:spPr>
          <a:xfrm>
            <a:off x="713232" y="2999232"/>
            <a:ext cx="237744" cy="237744"/>
          </a:xfrm>
          <a:prstGeom prst="rect">
            <a:avLst/>
          </a:prstGeom>
        </p:spPr>
      </p:pic>
      <p:sp>
        <p:nvSpPr>
          <p:cNvPr id="29" name="Text 22"/>
          <p:cNvSpPr txBox="1"/>
          <p:nvPr/>
        </p:nvSpPr>
        <p:spPr>
          <a:xfrm>
            <a:off x="1170432" y="28895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Saisonnalité</a:t>
            </a:r>
            <a:endParaRPr lang="en-US" sz="1300" dirty="0"/>
          </a:p>
        </p:txBody>
      </p:sp>
      <p:sp>
        <p:nvSpPr>
          <p:cNvPr id="30" name="Text 23"/>
          <p:cNvSpPr txBox="1"/>
          <p:nvPr/>
        </p:nvSpPr>
        <p:spPr>
          <a:xfrm>
            <a:off x="603504" y="34198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Nuages et feux créent des cycles non économiques</a:t>
            </a:r>
            <a:endParaRPr lang="en-US" sz="1050" dirty="0"/>
          </a:p>
        </p:txBody>
      </p:sp>
      <p:sp>
        <p:nvSpPr>
          <p:cNvPr id="31" name="Shape 24"/>
          <p:cNvSpPr/>
          <p:nvPr/>
        </p:nvSpPr>
        <p:spPr>
          <a:xfrm>
            <a:off x="3246120" y="2743200"/>
            <a:ext cx="2606040" cy="1207008"/>
          </a:xfrm>
          <a:prstGeom prst="roundRect">
            <a:avLst>
              <a:gd name="adj" fmla="val 6061"/>
            </a:avLst>
          </a:prstGeom>
          <a:solidFill>
            <a:srgbClr val="F4F7F5"/>
          </a:solidFill>
          <a:ln w="9525">
            <a:solidFill>
              <a:srgbClr val="D5DED9"/>
            </a:solidFill>
            <a:prstDash val="solid"/>
          </a:ln>
        </p:spPr>
      </p:sp>
      <p:sp>
        <p:nvSpPr>
          <p:cNvPr id="32" name="Shape 25"/>
          <p:cNvSpPr/>
          <p:nvPr/>
        </p:nvSpPr>
        <p:spPr>
          <a:xfrm>
            <a:off x="3392424" y="2889504"/>
            <a:ext cx="457200" cy="457200"/>
          </a:xfrm>
          <a:prstGeom prst="ellipse">
            <a:avLst/>
          </a:prstGeom>
          <a:solidFill>
            <a:srgbClr val="B83B2E">
              <a:alpha val="22000"/>
            </a:srgbClr>
          </a:solidFill>
          <a:ln w="12700">
            <a:solidFill>
              <a:srgbClr val="B83B2E">
                <a:alpha val="0"/>
              </a:srgbClr>
            </a:solidFill>
            <a:prstDash val="solid"/>
          </a:ln>
        </p:spPr>
      </p:sp>
      <p:pic>
        <p:nvPicPr>
          <p:cNvPr id="33" name="Image 4" descr="preencoded.png">    </p:cNvPr>
          <p:cNvPicPr>
            <a:picLocks noChangeAspect="1"/>
          </p:cNvPicPr>
          <p:nvPr/>
        </p:nvPicPr>
        <p:blipFill>
          <a:blip r:embed="rId5"/>
          <a:stretch>
            <a:fillRect/>
          </a:stretch>
        </p:blipFill>
        <p:spPr>
          <a:xfrm>
            <a:off x="3502152" y="2999232"/>
            <a:ext cx="237744" cy="237744"/>
          </a:xfrm>
          <a:prstGeom prst="rect">
            <a:avLst/>
          </a:prstGeom>
        </p:spPr>
      </p:pic>
      <p:sp>
        <p:nvSpPr>
          <p:cNvPr id="34" name="Text 26"/>
          <p:cNvSpPr txBox="1"/>
          <p:nvPr/>
        </p:nvSpPr>
        <p:spPr>
          <a:xfrm>
            <a:off x="3959352" y="28895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Ruptures de capteur</a:t>
            </a:r>
            <a:endParaRPr lang="en-US" sz="1300" dirty="0"/>
          </a:p>
        </p:txBody>
      </p:sp>
      <p:sp>
        <p:nvSpPr>
          <p:cNvPr id="35" name="Text 27"/>
          <p:cNvSpPr txBox="1"/>
          <p:nvPr/>
        </p:nvSpPr>
        <p:spPr>
          <a:xfrm>
            <a:off x="3392424" y="34198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DMSP → VIIRS, VNL V2.1 → V2.2, collections</a:t>
            </a:r>
            <a:endParaRPr lang="en-US" sz="1050" dirty="0"/>
          </a:p>
        </p:txBody>
      </p:sp>
      <p:sp>
        <p:nvSpPr>
          <p:cNvPr id="36" name="Shape 28"/>
          <p:cNvSpPr/>
          <p:nvPr/>
        </p:nvSpPr>
        <p:spPr>
          <a:xfrm>
            <a:off x="6035040" y="2743200"/>
            <a:ext cx="2606040" cy="1207008"/>
          </a:xfrm>
          <a:prstGeom prst="roundRect">
            <a:avLst>
              <a:gd name="adj" fmla="val 6061"/>
            </a:avLst>
          </a:prstGeom>
          <a:solidFill>
            <a:srgbClr val="F4F7F5"/>
          </a:solidFill>
          <a:ln w="9525">
            <a:solidFill>
              <a:srgbClr val="D5DED9"/>
            </a:solidFill>
            <a:prstDash val="solid"/>
          </a:ln>
        </p:spPr>
      </p:sp>
      <p:sp>
        <p:nvSpPr>
          <p:cNvPr id="37" name="Shape 29"/>
          <p:cNvSpPr/>
          <p:nvPr/>
        </p:nvSpPr>
        <p:spPr>
          <a:xfrm>
            <a:off x="6181344" y="2889504"/>
            <a:ext cx="457200" cy="457200"/>
          </a:xfrm>
          <a:prstGeom prst="ellipse">
            <a:avLst/>
          </a:prstGeom>
          <a:solidFill>
            <a:srgbClr val="B83B2E">
              <a:alpha val="22000"/>
            </a:srgbClr>
          </a:solidFill>
          <a:ln w="12700">
            <a:solidFill>
              <a:srgbClr val="B83B2E">
                <a:alpha val="0"/>
              </a:srgbClr>
            </a:solidFill>
            <a:prstDash val="solid"/>
          </a:ln>
        </p:spPr>
      </p:sp>
      <p:pic>
        <p:nvPicPr>
          <p:cNvPr id="38" name="Image 5" descr="preencoded.png">    </p:cNvPr>
          <p:cNvPicPr>
            <a:picLocks noChangeAspect="1"/>
          </p:cNvPicPr>
          <p:nvPr/>
        </p:nvPicPr>
        <p:blipFill>
          <a:blip r:embed="rId6"/>
          <a:stretch>
            <a:fillRect/>
          </a:stretch>
        </p:blipFill>
        <p:spPr>
          <a:xfrm>
            <a:off x="6291072" y="2999232"/>
            <a:ext cx="237744" cy="237744"/>
          </a:xfrm>
          <a:prstGeom prst="rect">
            <a:avLst/>
          </a:prstGeom>
        </p:spPr>
      </p:pic>
      <p:sp>
        <p:nvSpPr>
          <p:cNvPr id="39" name="Text 30"/>
          <p:cNvSpPr txBox="1"/>
          <p:nvPr/>
        </p:nvSpPr>
        <p:spPr>
          <a:xfrm>
            <a:off x="6748272" y="28895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Bruit rural</a:t>
            </a:r>
            <a:endParaRPr lang="en-US" sz="1300" dirty="0"/>
          </a:p>
        </p:txBody>
      </p:sp>
      <p:sp>
        <p:nvSpPr>
          <p:cNvPr id="40" name="Text 31"/>
          <p:cNvSpPr txBox="1"/>
          <p:nvPr/>
        </p:nvSpPr>
        <p:spPr>
          <a:xfrm>
            <a:off x="6181344" y="34198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Signal le plus faible là où vivent les ruraux pauvres</a:t>
            </a:r>
            <a:endParaRPr lang="en-US" sz="1050" dirty="0"/>
          </a:p>
        </p:txBody>
      </p:sp>
      <p:sp>
        <p:nvSpPr>
          <p:cNvPr id="41" name="Text 3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 Gibson et al. (2021) ; Elvidge et al. (2021) ; Li et al. (2020)</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06</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À retenir</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Que doit retenir un statisticien ?</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5C242"/>
          </a:solidFill>
          <a:ln w="12700">
            <a:solidFill>
              <a:srgbClr val="FFFFFF">
                <a:alpha val="0"/>
              </a:srgbClr>
            </a:solidFill>
            <a:prstDash val="solid"/>
          </a:ln>
        </p:spPr>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06 · À RETENIR</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Douze vérifications avant de publier un chiffre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B83B2E"/>
          </a:solidFill>
          <a:ln w="12700">
            <a:solidFill>
              <a:srgbClr val="B83B2E"/>
            </a:solidFill>
            <a:prstDash val="solid"/>
          </a:ln>
        </p:spPr>
      </p:sp>
      <p:sp>
        <p:nvSpPr>
          <p:cNvPr id="11" name="Shape 8"/>
          <p:cNvSpPr/>
          <p:nvPr/>
        </p:nvSpPr>
        <p:spPr>
          <a:xfrm>
            <a:off x="457200" y="1353312"/>
            <a:ext cx="2606040" cy="658368"/>
          </a:xfrm>
          <a:prstGeom prst="roundRect">
            <a:avLst>
              <a:gd name="adj" fmla="val 11111"/>
            </a:avLst>
          </a:prstGeom>
          <a:solidFill>
            <a:srgbClr val="F4F7F5"/>
          </a:solidFill>
          <a:ln w="9525">
            <a:solidFill>
              <a:srgbClr val="D5DED9"/>
            </a:solidFill>
            <a:prstDash val="solid"/>
          </a:ln>
        </p:spPr>
      </p:sp>
      <p:sp>
        <p:nvSpPr>
          <p:cNvPr id="12" name="Shape 9"/>
          <p:cNvSpPr/>
          <p:nvPr/>
        </p:nvSpPr>
        <p:spPr>
          <a:xfrm>
            <a:off x="576072" y="1508760"/>
            <a:ext cx="347472" cy="347472"/>
          </a:xfrm>
          <a:prstGeom prst="ellipse">
            <a:avLst/>
          </a:prstGeom>
          <a:solidFill>
            <a:srgbClr val="00A86A"/>
          </a:solidFill>
          <a:ln w="12700">
            <a:solidFill>
              <a:srgbClr val="00A86A"/>
            </a:solidFill>
            <a:prstDash val="solid"/>
          </a:ln>
        </p:spPr>
      </p:sp>
      <p:sp>
        <p:nvSpPr>
          <p:cNvPr id="13" name="Text 10"/>
          <p:cNvSpPr txBox="1"/>
          <p:nvPr/>
        </p:nvSpPr>
        <p:spPr>
          <a:xfrm>
            <a:off x="576072" y="15087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1"/>
          <p:cNvSpPr txBox="1"/>
          <p:nvPr/>
        </p:nvSpPr>
        <p:spPr>
          <a:xfrm>
            <a:off x="1024128" y="1408176"/>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Noms de fichiers intacts ; année lue dans le nom</a:t>
            </a:r>
            <a:endParaRPr lang="en-US" sz="1100" dirty="0"/>
          </a:p>
        </p:txBody>
      </p:sp>
      <p:sp>
        <p:nvSpPr>
          <p:cNvPr id="15" name="Shape 12"/>
          <p:cNvSpPr/>
          <p:nvPr/>
        </p:nvSpPr>
        <p:spPr>
          <a:xfrm>
            <a:off x="3246120" y="1353312"/>
            <a:ext cx="2606040" cy="658368"/>
          </a:xfrm>
          <a:prstGeom prst="roundRect">
            <a:avLst>
              <a:gd name="adj" fmla="val 11111"/>
            </a:avLst>
          </a:prstGeom>
          <a:solidFill>
            <a:srgbClr val="F4F7F5"/>
          </a:solidFill>
          <a:ln w="9525">
            <a:solidFill>
              <a:srgbClr val="D5DED9"/>
            </a:solidFill>
            <a:prstDash val="solid"/>
          </a:ln>
        </p:spPr>
      </p:sp>
      <p:sp>
        <p:nvSpPr>
          <p:cNvPr id="16" name="Shape 13"/>
          <p:cNvSpPr/>
          <p:nvPr/>
        </p:nvSpPr>
        <p:spPr>
          <a:xfrm>
            <a:off x="3364992" y="1508760"/>
            <a:ext cx="347472" cy="347472"/>
          </a:xfrm>
          <a:prstGeom prst="ellipse">
            <a:avLst/>
          </a:prstGeom>
          <a:solidFill>
            <a:srgbClr val="00A86A"/>
          </a:solidFill>
          <a:ln w="12700">
            <a:solidFill>
              <a:srgbClr val="00A86A"/>
            </a:solidFill>
            <a:prstDash val="solid"/>
          </a:ln>
        </p:spPr>
      </p:sp>
      <p:sp>
        <p:nvSpPr>
          <p:cNvPr id="17" name="Text 14"/>
          <p:cNvSpPr txBox="1"/>
          <p:nvPr/>
        </p:nvSpPr>
        <p:spPr>
          <a:xfrm>
            <a:off x="3364992" y="15087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5"/>
          <p:cNvSpPr txBox="1"/>
          <p:nvPr/>
        </p:nvSpPr>
        <p:spPr>
          <a:xfrm>
            <a:off x="3813048" y="1408176"/>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Groupe de données cherché, pas supposé</a:t>
            </a:r>
            <a:endParaRPr lang="en-US" sz="1100" dirty="0"/>
          </a:p>
        </p:txBody>
      </p:sp>
      <p:sp>
        <p:nvSpPr>
          <p:cNvPr id="19" name="Shape 16"/>
          <p:cNvSpPr/>
          <p:nvPr/>
        </p:nvSpPr>
        <p:spPr>
          <a:xfrm>
            <a:off x="6035040" y="1353312"/>
            <a:ext cx="2606040" cy="658368"/>
          </a:xfrm>
          <a:prstGeom prst="roundRect">
            <a:avLst>
              <a:gd name="adj" fmla="val 11111"/>
            </a:avLst>
          </a:prstGeom>
          <a:solidFill>
            <a:srgbClr val="F4F7F5"/>
          </a:solidFill>
          <a:ln w="9525">
            <a:solidFill>
              <a:srgbClr val="D5DED9"/>
            </a:solidFill>
            <a:prstDash val="solid"/>
          </a:ln>
        </p:spPr>
      </p:sp>
      <p:sp>
        <p:nvSpPr>
          <p:cNvPr id="20" name="Shape 17"/>
          <p:cNvSpPr/>
          <p:nvPr/>
        </p:nvSpPr>
        <p:spPr>
          <a:xfrm>
            <a:off x="6153912" y="1508760"/>
            <a:ext cx="347472" cy="347472"/>
          </a:xfrm>
          <a:prstGeom prst="ellipse">
            <a:avLst/>
          </a:prstGeom>
          <a:solidFill>
            <a:srgbClr val="00704A"/>
          </a:solidFill>
          <a:ln w="12700">
            <a:solidFill>
              <a:srgbClr val="00704A"/>
            </a:solidFill>
            <a:prstDash val="solid"/>
          </a:ln>
        </p:spPr>
      </p:sp>
      <p:sp>
        <p:nvSpPr>
          <p:cNvPr id="21" name="Text 18"/>
          <p:cNvSpPr txBox="1"/>
          <p:nvPr/>
        </p:nvSpPr>
        <p:spPr>
          <a:xfrm>
            <a:off x="6153912" y="15087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19"/>
          <p:cNvSpPr txBox="1"/>
          <p:nvPr/>
        </p:nvSpPr>
        <p:spPr>
          <a:xfrm>
            <a:off x="6601968" y="1408176"/>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Échelle, décalage et remplissage lus dans le fichier</a:t>
            </a:r>
            <a:endParaRPr lang="en-US" sz="1100" dirty="0"/>
          </a:p>
        </p:txBody>
      </p:sp>
      <p:sp>
        <p:nvSpPr>
          <p:cNvPr id="23" name="Shape 20"/>
          <p:cNvSpPr/>
          <p:nvPr/>
        </p:nvSpPr>
        <p:spPr>
          <a:xfrm>
            <a:off x="457200" y="2139696"/>
            <a:ext cx="2606040" cy="658368"/>
          </a:xfrm>
          <a:prstGeom prst="roundRect">
            <a:avLst>
              <a:gd name="adj" fmla="val 11111"/>
            </a:avLst>
          </a:prstGeom>
          <a:solidFill>
            <a:srgbClr val="E8F5EF"/>
          </a:solidFill>
          <a:ln w="15875">
            <a:solidFill>
              <a:srgbClr val="B83B2E"/>
            </a:solidFill>
            <a:prstDash val="solid"/>
          </a:ln>
        </p:spPr>
      </p:sp>
      <p:sp>
        <p:nvSpPr>
          <p:cNvPr id="24" name="Shape 21"/>
          <p:cNvSpPr/>
          <p:nvPr/>
        </p:nvSpPr>
        <p:spPr>
          <a:xfrm>
            <a:off x="576072" y="2295144"/>
            <a:ext cx="347472" cy="347472"/>
          </a:xfrm>
          <a:prstGeom prst="ellipse">
            <a:avLst/>
          </a:prstGeom>
          <a:solidFill>
            <a:srgbClr val="00704A"/>
          </a:solidFill>
          <a:ln w="12700">
            <a:solidFill>
              <a:srgbClr val="00704A"/>
            </a:solidFill>
            <a:prstDash val="solid"/>
          </a:ln>
        </p:spPr>
      </p:sp>
      <p:sp>
        <p:nvSpPr>
          <p:cNvPr id="25" name="Text 22"/>
          <p:cNvSpPr txBox="1"/>
          <p:nvPr/>
        </p:nvSpPr>
        <p:spPr>
          <a:xfrm>
            <a:off x="576072" y="22951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3"/>
          <p:cNvSpPr txBox="1"/>
          <p:nvPr/>
        </p:nvSpPr>
        <p:spPr>
          <a:xfrm>
            <a:off x="1024128" y="2194560"/>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Remplissage mis à NaN d'abord</a:t>
            </a:r>
            <a:endParaRPr lang="en-US" sz="1100" dirty="0"/>
          </a:p>
        </p:txBody>
      </p:sp>
      <p:sp>
        <p:nvSpPr>
          <p:cNvPr id="27" name="Shape 24"/>
          <p:cNvSpPr/>
          <p:nvPr/>
        </p:nvSpPr>
        <p:spPr>
          <a:xfrm>
            <a:off x="3246120" y="2139696"/>
            <a:ext cx="2606040" cy="658368"/>
          </a:xfrm>
          <a:prstGeom prst="roundRect">
            <a:avLst>
              <a:gd name="adj" fmla="val 11111"/>
            </a:avLst>
          </a:prstGeom>
          <a:solidFill>
            <a:srgbClr val="F4F7F5"/>
          </a:solidFill>
          <a:ln w="9525">
            <a:solidFill>
              <a:srgbClr val="D5DED9"/>
            </a:solidFill>
            <a:prstDash val="solid"/>
          </a:ln>
        </p:spPr>
      </p:sp>
      <p:sp>
        <p:nvSpPr>
          <p:cNvPr id="28" name="Shape 25"/>
          <p:cNvSpPr/>
          <p:nvPr/>
        </p:nvSpPr>
        <p:spPr>
          <a:xfrm>
            <a:off x="3364992" y="2295144"/>
            <a:ext cx="347472" cy="347472"/>
          </a:xfrm>
          <a:prstGeom prst="ellipse">
            <a:avLst/>
          </a:prstGeom>
          <a:solidFill>
            <a:srgbClr val="0E7C86"/>
          </a:solidFill>
          <a:ln w="12700">
            <a:solidFill>
              <a:srgbClr val="0E7C86"/>
            </a:solidFill>
            <a:prstDash val="solid"/>
          </a:ln>
        </p:spPr>
      </p:sp>
      <p:sp>
        <p:nvSpPr>
          <p:cNvPr id="29" name="Text 26"/>
          <p:cNvSpPr txBox="1"/>
          <p:nvPr/>
        </p:nvSpPr>
        <p:spPr>
          <a:xfrm>
            <a:off x="3364992" y="22951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7"/>
          <p:cNvSpPr txBox="1"/>
          <p:nvPr/>
        </p:nvSpPr>
        <p:spPr>
          <a:xfrm>
            <a:off x="3813048" y="2194560"/>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Le nord en haut : la ligne 0 est la plus au nord</a:t>
            </a:r>
            <a:endParaRPr lang="en-US" sz="1100" dirty="0"/>
          </a:p>
        </p:txBody>
      </p:sp>
      <p:sp>
        <p:nvSpPr>
          <p:cNvPr id="31" name="Shape 28"/>
          <p:cNvSpPr/>
          <p:nvPr/>
        </p:nvSpPr>
        <p:spPr>
          <a:xfrm>
            <a:off x="6035040" y="2139696"/>
            <a:ext cx="2606040" cy="658368"/>
          </a:xfrm>
          <a:prstGeom prst="roundRect">
            <a:avLst>
              <a:gd name="adj" fmla="val 11111"/>
            </a:avLst>
          </a:prstGeom>
          <a:solidFill>
            <a:srgbClr val="F4F7F5"/>
          </a:solidFill>
          <a:ln w="9525">
            <a:solidFill>
              <a:srgbClr val="D5DED9"/>
            </a:solidFill>
            <a:prstDash val="solid"/>
          </a:ln>
        </p:spPr>
      </p:sp>
      <p:sp>
        <p:nvSpPr>
          <p:cNvPr id="32" name="Shape 29"/>
          <p:cNvSpPr/>
          <p:nvPr/>
        </p:nvSpPr>
        <p:spPr>
          <a:xfrm>
            <a:off x="6153912" y="2295144"/>
            <a:ext cx="347472" cy="347472"/>
          </a:xfrm>
          <a:prstGeom prst="ellipse">
            <a:avLst/>
          </a:prstGeom>
          <a:solidFill>
            <a:srgbClr val="0E7C86"/>
          </a:solidFill>
          <a:ln w="12700">
            <a:solidFill>
              <a:srgbClr val="0E7C86"/>
            </a:solidFill>
            <a:prstDash val="solid"/>
          </a:ln>
        </p:spPr>
      </p:sp>
      <p:sp>
        <p:nvSpPr>
          <p:cNvPr id="33" name="Text 30"/>
          <p:cNvSpPr txBox="1"/>
          <p:nvPr/>
        </p:nvSpPr>
        <p:spPr>
          <a:xfrm>
            <a:off x="6153912" y="22951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1"/>
          <p:cNvSpPr txBox="1"/>
          <p:nvPr/>
        </p:nvSpPr>
        <p:spPr>
          <a:xfrm>
            <a:off x="6601968" y="2194560"/>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Seuil qualité documenté</a:t>
            </a:r>
            <a:endParaRPr lang="en-US" sz="1100" dirty="0"/>
          </a:p>
        </p:txBody>
      </p:sp>
      <p:sp>
        <p:nvSpPr>
          <p:cNvPr id="35" name="Shape 32"/>
          <p:cNvSpPr/>
          <p:nvPr/>
        </p:nvSpPr>
        <p:spPr>
          <a:xfrm>
            <a:off x="457200" y="2926080"/>
            <a:ext cx="2606040" cy="658368"/>
          </a:xfrm>
          <a:prstGeom prst="roundRect">
            <a:avLst>
              <a:gd name="adj" fmla="val 11111"/>
            </a:avLst>
          </a:prstGeom>
          <a:solidFill>
            <a:srgbClr val="F4F7F5"/>
          </a:solidFill>
          <a:ln w="9525">
            <a:solidFill>
              <a:srgbClr val="D5DED9"/>
            </a:solidFill>
            <a:prstDash val="solid"/>
          </a:ln>
        </p:spPr>
      </p:sp>
      <p:sp>
        <p:nvSpPr>
          <p:cNvPr id="36" name="Shape 33"/>
          <p:cNvSpPr/>
          <p:nvPr/>
        </p:nvSpPr>
        <p:spPr>
          <a:xfrm>
            <a:off x="576072" y="3081528"/>
            <a:ext cx="347472" cy="347472"/>
          </a:xfrm>
          <a:prstGeom prst="ellipse">
            <a:avLst/>
          </a:prstGeom>
          <a:solidFill>
            <a:srgbClr val="D49A00"/>
          </a:solidFill>
          <a:ln w="12700">
            <a:solidFill>
              <a:srgbClr val="D49A00"/>
            </a:solidFill>
            <a:prstDash val="solid"/>
          </a:ln>
        </p:spPr>
      </p:sp>
      <p:sp>
        <p:nvSpPr>
          <p:cNvPr id="37" name="Text 34"/>
          <p:cNvSpPr txBox="1"/>
          <p:nvPr/>
        </p:nvSpPr>
        <p:spPr>
          <a:xfrm>
            <a:off x="576072" y="3081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8" name="Text 35"/>
          <p:cNvSpPr txBox="1"/>
          <p:nvPr/>
        </p:nvSpPr>
        <p:spPr>
          <a:xfrm>
            <a:off x="1024128" y="2980944"/>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Océan et mer masqués</a:t>
            </a:r>
            <a:endParaRPr lang="en-US" sz="1100" dirty="0"/>
          </a:p>
        </p:txBody>
      </p:sp>
      <p:sp>
        <p:nvSpPr>
          <p:cNvPr id="39" name="Shape 36"/>
          <p:cNvSpPr/>
          <p:nvPr/>
        </p:nvSpPr>
        <p:spPr>
          <a:xfrm>
            <a:off x="3246120" y="2926080"/>
            <a:ext cx="2606040" cy="658368"/>
          </a:xfrm>
          <a:prstGeom prst="roundRect">
            <a:avLst>
              <a:gd name="adj" fmla="val 11111"/>
            </a:avLst>
          </a:prstGeom>
          <a:solidFill>
            <a:srgbClr val="F4F7F5"/>
          </a:solidFill>
          <a:ln w="9525">
            <a:solidFill>
              <a:srgbClr val="D5DED9"/>
            </a:solidFill>
            <a:prstDash val="solid"/>
          </a:ln>
        </p:spPr>
      </p:sp>
      <p:sp>
        <p:nvSpPr>
          <p:cNvPr id="40" name="Shape 37"/>
          <p:cNvSpPr/>
          <p:nvPr/>
        </p:nvSpPr>
        <p:spPr>
          <a:xfrm>
            <a:off x="3364992" y="3081528"/>
            <a:ext cx="347472" cy="347472"/>
          </a:xfrm>
          <a:prstGeom prst="ellipse">
            <a:avLst/>
          </a:prstGeom>
          <a:solidFill>
            <a:srgbClr val="D49A00"/>
          </a:solidFill>
          <a:ln w="12700">
            <a:solidFill>
              <a:srgbClr val="D49A00"/>
            </a:solidFill>
            <a:prstDash val="solid"/>
          </a:ln>
        </p:spPr>
      </p:sp>
      <p:sp>
        <p:nvSpPr>
          <p:cNvPr id="41" name="Text 38"/>
          <p:cNvSpPr txBox="1"/>
          <p:nvPr/>
        </p:nvSpPr>
        <p:spPr>
          <a:xfrm>
            <a:off x="3364992" y="3081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2" name="Text 39"/>
          <p:cNvSpPr txBox="1"/>
          <p:nvPr/>
        </p:nvSpPr>
        <p:spPr>
          <a:xfrm>
            <a:off x="3813048" y="2980944"/>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Nombre de nuits examiné</a:t>
            </a:r>
            <a:endParaRPr lang="en-US" sz="1100" dirty="0"/>
          </a:p>
        </p:txBody>
      </p:sp>
      <p:sp>
        <p:nvSpPr>
          <p:cNvPr id="43" name="Shape 40"/>
          <p:cNvSpPr/>
          <p:nvPr/>
        </p:nvSpPr>
        <p:spPr>
          <a:xfrm>
            <a:off x="6035040" y="2926080"/>
            <a:ext cx="2606040" cy="658368"/>
          </a:xfrm>
          <a:prstGeom prst="roundRect">
            <a:avLst>
              <a:gd name="adj" fmla="val 11111"/>
            </a:avLst>
          </a:prstGeom>
          <a:solidFill>
            <a:srgbClr val="F4F7F5"/>
          </a:solidFill>
          <a:ln w="9525">
            <a:solidFill>
              <a:srgbClr val="D5DED9"/>
            </a:solidFill>
            <a:prstDash val="solid"/>
          </a:ln>
        </p:spPr>
      </p:sp>
      <p:sp>
        <p:nvSpPr>
          <p:cNvPr id="44" name="Shape 41"/>
          <p:cNvSpPr/>
          <p:nvPr/>
        </p:nvSpPr>
        <p:spPr>
          <a:xfrm>
            <a:off x="6153912" y="3081528"/>
            <a:ext cx="347472" cy="347472"/>
          </a:xfrm>
          <a:prstGeom prst="ellipse">
            <a:avLst/>
          </a:prstGeom>
          <a:solidFill>
            <a:srgbClr val="C4621D"/>
          </a:solidFill>
          <a:ln w="12700">
            <a:solidFill>
              <a:srgbClr val="C4621D"/>
            </a:solidFill>
            <a:prstDash val="solid"/>
          </a:ln>
        </p:spPr>
      </p:sp>
      <p:sp>
        <p:nvSpPr>
          <p:cNvPr id="45" name="Text 42"/>
          <p:cNvSpPr txBox="1"/>
          <p:nvPr/>
        </p:nvSpPr>
        <p:spPr>
          <a:xfrm>
            <a:off x="6153912" y="3081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6" name="Text 43"/>
          <p:cNvSpPr txBox="1"/>
          <p:nvPr/>
        </p:nvSpPr>
        <p:spPr>
          <a:xfrm>
            <a:off x="6601968" y="2980944"/>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Pixel le plus brillant plausible</a:t>
            </a:r>
            <a:endParaRPr lang="en-US" sz="1100" dirty="0"/>
          </a:p>
        </p:txBody>
      </p:sp>
      <p:sp>
        <p:nvSpPr>
          <p:cNvPr id="47" name="Shape 44"/>
          <p:cNvSpPr/>
          <p:nvPr/>
        </p:nvSpPr>
        <p:spPr>
          <a:xfrm>
            <a:off x="457200" y="3712464"/>
            <a:ext cx="2606040" cy="658368"/>
          </a:xfrm>
          <a:prstGeom prst="roundRect">
            <a:avLst>
              <a:gd name="adj" fmla="val 11111"/>
            </a:avLst>
          </a:prstGeom>
          <a:solidFill>
            <a:srgbClr val="F4F7F5"/>
          </a:solidFill>
          <a:ln w="9525">
            <a:solidFill>
              <a:srgbClr val="D5DED9"/>
            </a:solidFill>
            <a:prstDash val="solid"/>
          </a:ln>
        </p:spPr>
      </p:sp>
      <p:sp>
        <p:nvSpPr>
          <p:cNvPr id="48" name="Shape 45"/>
          <p:cNvSpPr/>
          <p:nvPr/>
        </p:nvSpPr>
        <p:spPr>
          <a:xfrm>
            <a:off x="576072" y="3867912"/>
            <a:ext cx="347472" cy="347472"/>
          </a:xfrm>
          <a:prstGeom prst="ellipse">
            <a:avLst/>
          </a:prstGeom>
          <a:solidFill>
            <a:srgbClr val="C4621D"/>
          </a:solidFill>
          <a:ln w="12700">
            <a:solidFill>
              <a:srgbClr val="C4621D"/>
            </a:solidFill>
            <a:prstDash val="solid"/>
          </a:ln>
        </p:spPr>
      </p:sp>
      <p:sp>
        <p:nvSpPr>
          <p:cNvPr id="49" name="Text 46"/>
          <p:cNvSpPr txBox="1"/>
          <p:nvPr/>
        </p:nvSpPr>
        <p:spPr>
          <a:xfrm>
            <a:off x="576072" y="3867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0" name="Text 47"/>
          <p:cNvSpPr txBox="1"/>
          <p:nvPr/>
        </p:nvSpPr>
        <p:spPr>
          <a:xfrm>
            <a:off x="1024128" y="3767328"/>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Même couche et même version sur toute la série</a:t>
            </a:r>
            <a:endParaRPr lang="en-US" sz="1100" dirty="0"/>
          </a:p>
        </p:txBody>
      </p:sp>
      <p:sp>
        <p:nvSpPr>
          <p:cNvPr id="51" name="Shape 48"/>
          <p:cNvSpPr/>
          <p:nvPr/>
        </p:nvSpPr>
        <p:spPr>
          <a:xfrm>
            <a:off x="3246120" y="3712464"/>
            <a:ext cx="2606040" cy="658368"/>
          </a:xfrm>
          <a:prstGeom prst="roundRect">
            <a:avLst>
              <a:gd name="adj" fmla="val 11111"/>
            </a:avLst>
          </a:prstGeom>
          <a:solidFill>
            <a:srgbClr val="F4F7F5"/>
          </a:solidFill>
          <a:ln w="9525">
            <a:solidFill>
              <a:srgbClr val="D5DED9"/>
            </a:solidFill>
            <a:prstDash val="solid"/>
          </a:ln>
        </p:spPr>
      </p:sp>
      <p:sp>
        <p:nvSpPr>
          <p:cNvPr id="52" name="Shape 49"/>
          <p:cNvSpPr/>
          <p:nvPr/>
        </p:nvSpPr>
        <p:spPr>
          <a:xfrm>
            <a:off x="3364992" y="3867912"/>
            <a:ext cx="347472" cy="347472"/>
          </a:xfrm>
          <a:prstGeom prst="ellipse">
            <a:avLst/>
          </a:prstGeom>
          <a:solidFill>
            <a:srgbClr val="B83B2E"/>
          </a:solidFill>
          <a:ln w="12700">
            <a:solidFill>
              <a:srgbClr val="B83B2E"/>
            </a:solidFill>
            <a:prstDash val="solid"/>
          </a:ln>
        </p:spPr>
      </p:sp>
      <p:sp>
        <p:nvSpPr>
          <p:cNvPr id="53" name="Text 50"/>
          <p:cNvSpPr txBox="1"/>
          <p:nvPr/>
        </p:nvSpPr>
        <p:spPr>
          <a:xfrm>
            <a:off x="3364992" y="3867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54" name="Text 51"/>
          <p:cNvSpPr txBox="1"/>
          <p:nvPr/>
        </p:nvSpPr>
        <p:spPr>
          <a:xfrm>
            <a:off x="3813048" y="3767328"/>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Le bon produit pour la question</a:t>
            </a:r>
            <a:endParaRPr lang="en-US" sz="1100" dirty="0"/>
          </a:p>
        </p:txBody>
      </p:sp>
      <p:sp>
        <p:nvSpPr>
          <p:cNvPr id="55" name="Shape 52"/>
          <p:cNvSpPr/>
          <p:nvPr/>
        </p:nvSpPr>
        <p:spPr>
          <a:xfrm>
            <a:off x="6035040" y="3712464"/>
            <a:ext cx="2606040" cy="658368"/>
          </a:xfrm>
          <a:prstGeom prst="roundRect">
            <a:avLst>
              <a:gd name="adj" fmla="val 11111"/>
            </a:avLst>
          </a:prstGeom>
          <a:solidFill>
            <a:srgbClr val="F4F7F5"/>
          </a:solidFill>
          <a:ln w="9525">
            <a:solidFill>
              <a:srgbClr val="D5DED9"/>
            </a:solidFill>
            <a:prstDash val="solid"/>
          </a:ln>
        </p:spPr>
      </p:sp>
      <p:sp>
        <p:nvSpPr>
          <p:cNvPr id="56" name="Shape 53"/>
          <p:cNvSpPr/>
          <p:nvPr/>
        </p:nvSpPr>
        <p:spPr>
          <a:xfrm>
            <a:off x="6153912" y="3867912"/>
            <a:ext cx="347472" cy="347472"/>
          </a:xfrm>
          <a:prstGeom prst="ellipse">
            <a:avLst/>
          </a:prstGeom>
          <a:solidFill>
            <a:srgbClr val="B83B2E"/>
          </a:solidFill>
          <a:ln w="12700">
            <a:solidFill>
              <a:srgbClr val="B83B2E"/>
            </a:solidFill>
            <a:prstDash val="solid"/>
          </a:ln>
        </p:spPr>
      </p:sp>
      <p:sp>
        <p:nvSpPr>
          <p:cNvPr id="57" name="Text 54"/>
          <p:cNvSpPr txBox="1"/>
          <p:nvPr/>
        </p:nvSpPr>
        <p:spPr>
          <a:xfrm>
            <a:off x="6153912" y="3867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58" name="Text 55"/>
          <p:cNvSpPr txBox="1"/>
          <p:nvPr/>
        </p:nvSpPr>
        <p:spPr>
          <a:xfrm>
            <a:off x="6601968" y="3767328"/>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Limites écrites</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06 · À RETENIR</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Tendance sur A4, saison sur A3, événement sur A2</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B83B2E"/>
          </a:solidFill>
          <a:ln w="12700">
            <a:solidFill>
              <a:srgbClr val="B83B2E"/>
            </a:solidFill>
            <a:prstDash val="solid"/>
          </a:ln>
        </p:spPr>
      </p:sp>
      <p:sp>
        <p:nvSpPr>
          <p:cNvPr id="11" name="Shape 8"/>
          <p:cNvSpPr/>
          <p:nvPr/>
        </p:nvSpPr>
        <p:spPr>
          <a:xfrm>
            <a:off x="457200" y="1371600"/>
            <a:ext cx="2606040" cy="3063240"/>
          </a:xfrm>
          <a:prstGeom prst="roundRect">
            <a:avLst>
              <a:gd name="adj" fmla="val 2807"/>
            </a:avLst>
          </a:prstGeom>
          <a:solidFill>
            <a:srgbClr val="E8F5EF"/>
          </a:solidFill>
          <a:ln w="15875">
            <a:solidFill>
              <a:srgbClr val="00A86A"/>
            </a:solidFill>
            <a:prstDash val="solid"/>
          </a:ln>
        </p:spPr>
      </p:sp>
      <p:sp>
        <p:nvSpPr>
          <p:cNvPr id="12" name="Shape 9"/>
          <p:cNvSpPr/>
          <p:nvPr/>
        </p:nvSpPr>
        <p:spPr>
          <a:xfrm>
            <a:off x="1325880" y="1600200"/>
            <a:ext cx="868680" cy="868680"/>
          </a:xfrm>
          <a:prstGeom prst="ellipse">
            <a:avLst/>
          </a:prstGeom>
          <a:solidFill>
            <a:srgbClr val="00A86A">
              <a:alpha val="22000"/>
            </a:srgbClr>
          </a:solidFill>
          <a:ln w="12700">
            <a:solidFill>
              <a:srgbClr val="00A86A">
                <a:alpha val="0"/>
              </a:srgbClr>
            </a:solidFill>
            <a:prstDash val="solid"/>
          </a:ln>
        </p:spPr>
      </p:sp>
      <p:pic>
        <p:nvPicPr>
          <p:cNvPr id="13" name="Image 0" descr="preencoded.png">    </p:cNvPr>
          <p:cNvPicPr>
            <a:picLocks noChangeAspect="1"/>
          </p:cNvPicPr>
          <p:nvPr/>
        </p:nvPicPr>
        <p:blipFill>
          <a:blip r:embed="rId1"/>
          <a:stretch>
            <a:fillRect/>
          </a:stretch>
        </p:blipFill>
        <p:spPr>
          <a:xfrm>
            <a:off x="1534363" y="1808683"/>
            <a:ext cx="451714" cy="451714"/>
          </a:xfrm>
          <a:prstGeom prst="rect">
            <a:avLst/>
          </a:prstGeom>
        </p:spPr>
      </p:pic>
      <p:sp>
        <p:nvSpPr>
          <p:cNvPr id="14" name="Text 10"/>
          <p:cNvSpPr txBox="1"/>
          <p:nvPr/>
        </p:nvSpPr>
        <p:spPr>
          <a:xfrm>
            <a:off x="640080" y="2651760"/>
            <a:ext cx="2240280" cy="36576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Choisir le produit</a:t>
            </a:r>
            <a:endParaRPr lang="en-US" sz="1500" dirty="0"/>
          </a:p>
        </p:txBody>
      </p:sp>
      <p:sp>
        <p:nvSpPr>
          <p:cNvPr id="15" name="Text 11"/>
          <p:cNvSpPr txBox="1"/>
          <p:nvPr/>
        </p:nvSpPr>
        <p:spPr>
          <a:xfrm>
            <a:off x="658368" y="3108960"/>
            <a:ext cx="2203704"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Tendance → annuel A4 · saison → mensuel A3 · événement daté → quotidien A2. Jamais l'inverse.</a:t>
            </a:r>
            <a:endParaRPr lang="en-US" sz="1150" dirty="0"/>
          </a:p>
        </p:txBody>
      </p:sp>
      <p:sp>
        <p:nvSpPr>
          <p:cNvPr id="16" name="Shape 12"/>
          <p:cNvSpPr/>
          <p:nvPr/>
        </p:nvSpPr>
        <p:spPr>
          <a:xfrm>
            <a:off x="3246120" y="1371600"/>
            <a:ext cx="2606040" cy="3063240"/>
          </a:xfrm>
          <a:prstGeom prst="roundRect">
            <a:avLst>
              <a:gd name="adj" fmla="val 2807"/>
            </a:avLst>
          </a:prstGeom>
          <a:solidFill>
            <a:srgbClr val="F4F7F5"/>
          </a:solidFill>
          <a:ln w="9525">
            <a:solidFill>
              <a:srgbClr val="D5DED9"/>
            </a:solidFill>
            <a:prstDash val="solid"/>
          </a:ln>
        </p:spPr>
      </p:sp>
      <p:sp>
        <p:nvSpPr>
          <p:cNvPr id="17" name="Shape 13"/>
          <p:cNvSpPr/>
          <p:nvPr/>
        </p:nvSpPr>
        <p:spPr>
          <a:xfrm>
            <a:off x="4114800" y="1600200"/>
            <a:ext cx="868680" cy="868680"/>
          </a:xfrm>
          <a:prstGeom prst="ellipse">
            <a:avLst/>
          </a:prstGeom>
          <a:solidFill>
            <a:srgbClr val="00704A">
              <a:alpha val="22000"/>
            </a:srgbClr>
          </a:solidFill>
          <a:ln w="12700">
            <a:solidFill>
              <a:srgbClr val="00704A">
                <a:alpha val="0"/>
              </a:srgbClr>
            </a:solidFill>
            <a:prstDash val="solid"/>
          </a:ln>
        </p:spPr>
      </p:sp>
      <p:pic>
        <p:nvPicPr>
          <p:cNvPr id="18" name="Image 1" descr="preencoded.png">    </p:cNvPr>
          <p:cNvPicPr>
            <a:picLocks noChangeAspect="1"/>
          </p:cNvPicPr>
          <p:nvPr/>
        </p:nvPicPr>
        <p:blipFill>
          <a:blip r:embed="rId2"/>
          <a:stretch>
            <a:fillRect/>
          </a:stretch>
        </p:blipFill>
        <p:spPr>
          <a:xfrm>
            <a:off x="4323283" y="1808683"/>
            <a:ext cx="451714" cy="451714"/>
          </a:xfrm>
          <a:prstGeom prst="rect">
            <a:avLst/>
          </a:prstGeom>
        </p:spPr>
      </p:pic>
      <p:sp>
        <p:nvSpPr>
          <p:cNvPr id="19" name="Text 14"/>
          <p:cNvSpPr txBox="1"/>
          <p:nvPr/>
        </p:nvSpPr>
        <p:spPr>
          <a:xfrm>
            <a:off x="3429000" y="2651760"/>
            <a:ext cx="2240280" cy="36576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Respecter l'ordre</a:t>
            </a:r>
            <a:endParaRPr lang="en-US" sz="1500" dirty="0"/>
          </a:p>
        </p:txBody>
      </p:sp>
      <p:sp>
        <p:nvSpPr>
          <p:cNvPr id="20" name="Text 15"/>
          <p:cNvSpPr txBox="1"/>
          <p:nvPr/>
        </p:nvSpPr>
        <p:spPr>
          <a:xfrm>
            <a:off x="3447288" y="3108960"/>
            <a:ext cx="2203704"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Remplissage → NaN, qualité, eau, mosaïque, découpage. Chaque étape sautée change le chiffre en silence.</a:t>
            </a:r>
            <a:endParaRPr lang="en-US" sz="1150" dirty="0"/>
          </a:p>
        </p:txBody>
      </p:sp>
      <p:sp>
        <p:nvSpPr>
          <p:cNvPr id="21" name="Shape 16"/>
          <p:cNvSpPr/>
          <p:nvPr/>
        </p:nvSpPr>
        <p:spPr>
          <a:xfrm>
            <a:off x="6035040" y="1371600"/>
            <a:ext cx="2606040" cy="3063240"/>
          </a:xfrm>
          <a:prstGeom prst="roundRect">
            <a:avLst>
              <a:gd name="adj" fmla="val 2807"/>
            </a:avLst>
          </a:prstGeom>
          <a:solidFill>
            <a:srgbClr val="F4F7F5"/>
          </a:solidFill>
          <a:ln w="9525">
            <a:solidFill>
              <a:srgbClr val="D5DED9"/>
            </a:solidFill>
            <a:prstDash val="solid"/>
          </a:ln>
        </p:spPr>
      </p:sp>
      <p:sp>
        <p:nvSpPr>
          <p:cNvPr id="22" name="Shape 17"/>
          <p:cNvSpPr/>
          <p:nvPr/>
        </p:nvSpPr>
        <p:spPr>
          <a:xfrm>
            <a:off x="6903720" y="1600200"/>
            <a:ext cx="868680" cy="868680"/>
          </a:xfrm>
          <a:prstGeom prst="ellipse">
            <a:avLst/>
          </a:prstGeom>
          <a:solidFill>
            <a:srgbClr val="0E7C86">
              <a:alpha val="22000"/>
            </a:srgbClr>
          </a:solidFill>
          <a:ln w="12700">
            <a:solidFill>
              <a:srgbClr val="0E7C86">
                <a:alpha val="0"/>
              </a:srgbClr>
            </a:solidFill>
            <a:prstDash val="solid"/>
          </a:ln>
        </p:spPr>
      </p:sp>
      <p:pic>
        <p:nvPicPr>
          <p:cNvPr id="23" name="Image 2" descr="preencoded.png">    </p:cNvPr>
          <p:cNvPicPr>
            <a:picLocks noChangeAspect="1"/>
          </p:cNvPicPr>
          <p:nvPr/>
        </p:nvPicPr>
        <p:blipFill>
          <a:blip r:embed="rId3"/>
          <a:stretch>
            <a:fillRect/>
          </a:stretch>
        </p:blipFill>
        <p:spPr>
          <a:xfrm>
            <a:off x="7112203" y="1808683"/>
            <a:ext cx="451714" cy="451714"/>
          </a:xfrm>
          <a:prstGeom prst="rect">
            <a:avLst/>
          </a:prstGeom>
        </p:spPr>
      </p:pic>
      <p:sp>
        <p:nvSpPr>
          <p:cNvPr id="24" name="Text 18"/>
          <p:cNvSpPr txBox="1"/>
          <p:nvPr/>
        </p:nvSpPr>
        <p:spPr>
          <a:xfrm>
            <a:off x="6217920" y="2651760"/>
            <a:ext cx="2240280" cy="36576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Compléter, pas remplacer</a:t>
            </a:r>
            <a:endParaRPr lang="en-US" sz="1500" dirty="0"/>
          </a:p>
        </p:txBody>
      </p:sp>
      <p:sp>
        <p:nvSpPr>
          <p:cNvPr id="25" name="Text 19"/>
          <p:cNvSpPr txBox="1"/>
          <p:nvPr/>
        </p:nvSpPr>
        <p:spPr>
          <a:xfrm>
            <a:off x="6236208" y="3108960"/>
            <a:ext cx="2203704"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Direction, calendrier et géographie de l'activité — toujours avec la statistique officielle et des limites documentées.</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06 · SOURCES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Sources et références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B83B2E"/>
          </a:solidFill>
          <a:ln w="12700">
            <a:solidFill>
              <a:srgbClr val="B83B2E"/>
            </a:solidFill>
            <a:prstDash val="solid"/>
          </a:ln>
        </p:spPr>
      </p:sp>
      <p:sp>
        <p:nvSpPr>
          <p:cNvPr id="11" name="Shape 8"/>
          <p:cNvSpPr/>
          <p:nvPr/>
        </p:nvSpPr>
        <p:spPr>
          <a:xfrm>
            <a:off x="457200" y="1371600"/>
            <a:ext cx="4023360" cy="3108960"/>
          </a:xfrm>
          <a:prstGeom prst="roundRect">
            <a:avLst>
              <a:gd name="adj" fmla="val 2353"/>
            </a:avLst>
          </a:prstGeom>
          <a:solidFill>
            <a:srgbClr val="F4F7F5"/>
          </a:solidFill>
          <a:ln w="9525">
            <a:solidFill>
              <a:srgbClr val="D5DED9"/>
            </a:solidFill>
            <a:prstDash val="solid"/>
          </a:ln>
        </p:spPr>
      </p:sp>
      <p:sp>
        <p:nvSpPr>
          <p:cNvPr id="12" name="Text 9"/>
          <p:cNvSpPr txBox="1"/>
          <p:nvPr/>
        </p:nvSpPr>
        <p:spPr>
          <a:xfrm>
            <a:off x="621792" y="1481328"/>
            <a:ext cx="3703320" cy="29260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Román, M. O. et al. (2018). NASA's Black Marble nighttime lights product suite. Remote Sensing of Environment 210, 113–143.</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NASA (2025). Black Marble User Guide, Collection 2.0. LAADS DAAC / Earthdata.</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Elvidge, C. D. et al. (2017). VIIRS night-time lights. Int. J. Remote Sensing 38(21).</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Elvidge, C. D. et al. (2021). Annual time series of global VIIRS nighttime lights. Remote Sensing 13(5).</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Li, X. et al. (2020). A harmonized global nighttime light dataset 1992–2018. Scientific Data 7.</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Henderson, J. V., Storeygard, A., Weil, D. N. (2012). Measuring economic growth from outer space. AER 102(2).</a:t>
            </a:r>
            <a:endParaRPr lang="en-US" sz="950" dirty="0"/>
          </a:p>
        </p:txBody>
      </p:sp>
      <p:sp>
        <p:nvSpPr>
          <p:cNvPr id="13" name="Shape 10"/>
          <p:cNvSpPr/>
          <p:nvPr/>
        </p:nvSpPr>
        <p:spPr>
          <a:xfrm>
            <a:off x="4663440" y="1371600"/>
            <a:ext cx="4023360" cy="3108960"/>
          </a:xfrm>
          <a:prstGeom prst="roundRect">
            <a:avLst>
              <a:gd name="adj" fmla="val 2353"/>
            </a:avLst>
          </a:prstGeom>
          <a:solidFill>
            <a:srgbClr val="F4F7F5"/>
          </a:solidFill>
          <a:ln w="9525">
            <a:solidFill>
              <a:srgbClr val="D5DED9"/>
            </a:solidFill>
            <a:prstDash val="solid"/>
          </a:ln>
        </p:spPr>
      </p:sp>
      <p:sp>
        <p:nvSpPr>
          <p:cNvPr id="14" name="Text 11"/>
          <p:cNvSpPr txBox="1"/>
          <p:nvPr/>
        </p:nvSpPr>
        <p:spPr>
          <a:xfrm>
            <a:off x="4828032" y="1481328"/>
            <a:ext cx="3703320" cy="29260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Chen, X., Nordhaus, W. D. (2011). Using luminosity data as a proxy for economic statistics. PNAS 108(21).</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Gibson, J. et al. (2021). Which night lights data should we use in economics, and where? JDE 149.</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Cleveland, R. B. et al. (1990). STL: a seasonal-trend decomposition procedure based on Loess. JOS 6(1).</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Schiavina, M. et al. (2023). GHS-POP R2023A; Pesaresi, M. et al. (2023). GHS-BUILT-S R2023A. JRC.</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Runfola, D. et al. (2020). geoBoundaries. PLoS ONE 15(4) · Natural Earth (public domain).</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Banque mondiale, World Development Indicators · ESA WorldCover 2021 · Copernicus Sentinel-5P · contributeurs OpenStreetMap.</a:t>
            </a:r>
            <a:endParaRPr lang="en-US" sz="950" dirty="0"/>
          </a:p>
        </p:txBody>
      </p:sp>
      <p:sp>
        <p:nvSpPr>
          <p:cNvPr id="15" name="Text 1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Contenu : CC BY 4.0 · Code : MIT · Toute réutilisation doit citer « Source : AfDB-DI4A »</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1005840"/>
            <a:ext cx="8046720" cy="27432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BANQUE AFRICAINE DE DÉVELOPPEMENT × DATA INNOVATION FOR AFRICA (DI4A)</a:t>
            </a:r>
            <a:endParaRPr lang="en-US" sz="1100" dirty="0"/>
          </a:p>
        </p:txBody>
      </p:sp>
      <p:sp>
        <p:nvSpPr>
          <p:cNvPr id="3" name="Text 1"/>
          <p:cNvSpPr txBox="1"/>
          <p:nvPr/>
        </p:nvSpPr>
        <p:spPr>
          <a:xfrm>
            <a:off x="548640" y="1417320"/>
            <a:ext cx="8046720" cy="13716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Un code ISO3 en entrée,</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un tableau de bord en sortie</a:t>
            </a:r>
            <a:endParaRPr lang="en-US" sz="4000" dirty="0"/>
          </a:p>
        </p:txBody>
      </p:sp>
      <p:sp>
        <p:nvSpPr>
          <p:cNvPr id="4" name="Text 2"/>
          <p:cNvSpPr txBox="1"/>
          <p:nvPr/>
        </p:nvSpPr>
        <p:spPr>
          <a:xfrm>
            <a:off x="548640" y="2880360"/>
            <a:ext cx="6400800" cy="41148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Collecter · Explorer et comprendre · Analyser et publier</a:t>
            </a:r>
            <a:endParaRPr lang="en-US" sz="1800" dirty="0"/>
          </a:p>
        </p:txBody>
      </p:sp>
      <p:sp>
        <p:nvSpPr>
          <p:cNvPr id="5" name="Text 3"/>
          <p:cNvSpPr txBox="1"/>
          <p:nvPr/>
        </p:nvSpPr>
        <p:spPr>
          <a:xfrm>
            <a:off x="548640" y="4206240"/>
            <a:ext cx="8046720" cy="274320"/>
          </a:xfrm>
          <a:prstGeom prst="rect">
            <a:avLst/>
          </a:prstGeom>
          <a:noFill/>
          <a:ln/>
        </p:spPr>
        <p:txBody>
          <a:bodyPr wrap="square" lIns="0" tIns="0" rIns="0" bIns="0" rtlCol="0" anchor="t"/>
          <a:lstStyle/>
          <a:p>
            <a:pPr indent="0" marL="0">
              <a:buNone/>
            </a:pPr>
            <a:r>
              <a:rPr lang="en-US" sz="1000" dirty="0">
                <a:solidFill>
                  <a:srgbClr val="F5C242"/>
                </a:solidFill>
                <a:latin typeface="Calibri" pitchFamily="34" charset="0"/>
                <a:ea typeface="Calibri" pitchFamily="34" charset="-122"/>
                <a:cs typeface="Calibri" pitchFamily="34" charset="-120"/>
              </a:rPr>
              <a:t>© 2026 AfDB-DI4A · CC BY 4.0 (contenu) · MIT (code) · Toute réutilisation doit citer « Source : AfDB-DI4A »</a:t>
            </a:r>
            <a:endParaRPr lang="en-US" sz="1000" dirty="0"/>
          </a:p>
        </p:txBody>
      </p:sp>
    </p:spTree>
  </p:cSld>
  <p:clrMapOvr>
    <a:masterClrMapping/>
  </p:clrMapOvr>
</p:sld>
</file>

<file path=ppt/theme/theme1.xml><?xml version="1.0" encoding="utf-8"?>
<a:theme xmlns:a="http://schemas.openxmlformats.org/drawingml/2006/main" name="AfDB DI4A Night-time lights">
  <a:themeElements>
    <a:clrScheme name="AfDB DI4A Night-time lights">
      <a:dk1>
        <a:srgbClr val="231F20"/>
      </a:dk1>
      <a:lt1>
        <a:srgbClr val="FFFFFF"/>
      </a:lt1>
      <a:dk2>
        <a:srgbClr val="00553A"/>
      </a:dk2>
      <a:lt2>
        <a:srgbClr val="F4F7F5"/>
      </a:lt2>
      <a:accent1>
        <a:srgbClr val="00A86A"/>
      </a:accent1>
      <a:accent2>
        <a:srgbClr val="00704A"/>
      </a:accent2>
      <a:accent3>
        <a:srgbClr val="0E7C86"/>
      </a:accent3>
      <a:accent4>
        <a:srgbClr val="D49A00"/>
      </a:accent4>
      <a:accent5>
        <a:srgbClr val="C4621D"/>
      </a:accent5>
      <a:accent6>
        <a:srgbClr val="B83B2E"/>
      </a:accent6>
      <a:hlink>
        <a:srgbClr val="00704A"/>
      </a:hlink>
      <a:folHlink>
        <a:srgbClr val="0E7C86"/>
      </a:folHlink>
    </a:clrScheme>
    <a:fontScheme name="AfDB DI4A Night-time light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AfDB-DI4A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Lumières nocturnes : du satellite à la statistique</dc:title>
  <dc:subject>PptxGenJS Presentation</dc:subject>
  <dc:creator>AfDB-DI4A</dc:creator>
  <cp:lastModifiedBy>AfDB-DI4A</cp:lastModifiedBy>
  <cp:revision>1</cp:revision>
  <dcterms:created xsi:type="dcterms:W3CDTF">2026-10-26T03:13:03Z</dcterms:created>
  <dcterms:modified xsi:type="dcterms:W3CDTF">2026-10-26T03:13:03Z</dcterms:modified>
</cp:coreProperties>
</file>