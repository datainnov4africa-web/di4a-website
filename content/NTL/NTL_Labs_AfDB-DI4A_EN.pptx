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2.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e2088b43-aaff-1200-bf3c-ae443b271b83}">
          <p14:sldIdLst>
            <p14:sldId id="256"/>
            <p14:sldId id="257"/>
          </p14:sldIdLst>
        </p14:section>
        <p14:section name="La série" id="{66c97d9a-50c6-f94e-6836-e1629bcf7e40}">
          <p14:sldIdLst>
            <p14:sldId id="258"/>
            <p14:sldId id="259"/>
            <p14:sldId id="260"/>
          </p14:sldIdLst>
        </p14:section>
        <p14:section name="Collecter" id="{145acde6-89b8-d5bd-170e-74508466f76a}">
          <p14:sldIdLst>
            <p14:sldId id="261"/>
            <p14:sldId id="262"/>
            <p14:sldId id="263"/>
            <p14:sldId id="264"/>
            <p14:sldId id="265"/>
            <p14:sldId id="266"/>
          </p14:sldIdLst>
        </p14:section>
        <p14:section name="Explorer et comprendre" id="{636577e1-fa39-b86d-4325-c2c64cf58a31}">
          <p14:sldIdLst>
            <p14:sldId id="267"/>
            <p14:sldId id="268"/>
            <p14:sldId id="269"/>
            <p14:sldId id="270"/>
            <p14:sldId id="271"/>
            <p14:sldId id="272"/>
          </p14:sldIdLst>
        </p14:section>
        <p14:section name="Analyser" id="{2c95b8ec-0a9d-7c00-c86d-bdc19bb1c8ec}">
          <p14:sldIdLst>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Lst>
        </p14:section>
        <p14:section name="Publier et contrôler" id="{2c6b212c-0465-a87b-7bf1-3593977f6e50}">
          <p14:sldIdLst>
            <p14:sldId id="295"/>
            <p14:sldId id="296"/>
            <p14:sldId id="297"/>
            <p14:sldId id="298"/>
          </p14:sldIdLst>
        </p14:section>
        <p14:section name="À retenir" id="{569d705b-bca7-74a0-8a55-07f8b37d21d2}">
          <p14:sldIdLst>
            <p14:sldId id="299"/>
            <p14:sldId id="300"/>
            <p14:sldId id="301"/>
            <p14:sldId id="302"/>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E6964"/>
                </a:solidFill>
                <a:latin typeface="+mn-lt"/>
              </a:defRPr>
            </a:pPr>
            <a:r>
              <a:rPr sz="1100" b="0" i="0" u="none" strike="noStrike">
                <a:solidFill>
                  <a:srgbClr val="5E6964"/>
                </a:solidFill>
                <a:latin typeface="+mn-lt"/>
              </a:rPr>
              <a:t>Sum of lights (index), demo data</a:t>
            </a:r>
          </a:p>
        </c:rich>
      </c:tx>
      <c:layout/>
      <c:overlay val="0"/>
    </c:title>
    <c:autoTitleDeleted val="0"/>
    <c:plotArea>
      <c:layout/>
      <c:barChart>
        <c:barDir val="bar"/>
        <c:grouping val="clustered"/>
        <c:varyColors val="0"/>
        <c:ser>
          <c:idx val="0"/>
          <c:order val="0"/>
          <c:tx>
            <c:strRef>
              <c:f>Sheet1!$B$1</c:f>
              <c:strCache>
                <c:ptCount val="1"/>
                <c:pt idx="0">
                  <c:v>Sum of lights</c:v>
                </c:pt>
              </c:strCache>
            </c:strRef>
          </c:tx>
          <c:spPr>
            <a:solidFill>
              <a:srgbClr val="10A06A"/>
            </a:solidFill>
            <a:effectLst/>
          </c:spPr>
          <c:invertIfNegative val="0"/>
          <c:dLbls>
            <c:numFmt formatCode="#,##0" sourceLinked="0"/>
            <c:txPr>
              <a:bodyPr/>
              <a:lstStyle/>
              <a:p>
                <a:pPr>
                  <a:defRPr b="0" i="0" strike="noStrike" sz="1000" u="none">
                    <a:solidFill>
                      <a:srgbClr val="231F20"/>
                    </a:solidFill>
                    <a:latin typeface="+mn-lt"/>
                  </a:defRPr>
                </a:pPr>
              </a:p>
            </c:txPr>
            <c:showLegendKey val="0"/>
            <c:showVal val="1"/>
            <c:showCatName val="0"/>
            <c:showSerName val="0"/>
            <c:showPercent val="0"/>
            <c:showBubbleSize val="0"/>
            <c:showLeaderLines val="0"/>
          </c:dLbls>
          <c:dPt>
            <c:idx val="0"/>
            <c:invertIfNegative val="0"/>
            <c:bubble3D val="0"/>
            <c:spPr>
              <a:solidFill>
                <a:srgbClr val="10A06A"/>
              </a:solidFill>
              <a:effectLst/>
            </c:spPr>
          </c:dPt>
          <c:dPt>
            <c:idx val="1"/>
            <c:invertIfNegative val="0"/>
            <c:bubble3D val="0"/>
            <c:spPr>
              <a:solidFill>
                <a:srgbClr val="33AF7C"/>
              </a:solidFill>
              <a:effectLst/>
            </c:spPr>
          </c:dPt>
          <c:dPt>
            <c:idx val="2"/>
            <c:invertIfNegative val="0"/>
            <c:bubble3D val="0"/>
            <c:spPr>
              <a:solidFill>
                <a:srgbClr val="57BD92"/>
              </a:solidFill>
              <a:effectLst/>
            </c:spPr>
          </c:dPt>
          <c:dPt>
            <c:idx val="3"/>
            <c:invertIfNegative val="0"/>
            <c:bubble3D val="0"/>
            <c:spPr>
              <a:solidFill>
                <a:srgbClr val="A9B5B0"/>
              </a:solidFill>
              <a:effectLst/>
            </c:spPr>
          </c:dPt>
          <c:dPt>
            <c:idx val="4"/>
            <c:invertIfNegative val="0"/>
            <c:bubble3D val="0"/>
            <c:spPr>
              <a:solidFill>
                <a:srgbClr val="00553A"/>
              </a:solidFill>
              <a:effectLst/>
            </c:spPr>
          </c:dPt>
          <c:cat>
            <c:multiLvlStrRef>
              <c:f>Sheet1!$A$2:$A$6</c:f>
              <c:multiLvlStrCache>
                <c:ptCount val="5"/>
                <c:lvl>
                  <c:pt idx="0">
                    <c:v>Fill → NaN</c:v>
                  </c:pt>
                  <c:pt idx="1">
                    <c:v>+ quality filter</c:v>
                  </c:pt>
                  <c:pt idx="2">
                    <c:v>+ water mask</c:v>
                  </c:pt>
                  <c:pt idx="3">
                    <c:v>Mosaic (2 tiles)</c:v>
                  </c:pt>
                  <c:pt idx="4">
                    <c:v>Clipped to border</c:v>
                  </c:pt>
                </c:lvl>
              </c:multiLvlStrCache>
            </c:multiLvlStrRef>
          </c:cat>
          <c:val>
            <c:numRef>
              <c:f>Sheet1!$B$2:$B$6</c:f>
              <c:numCache>
                <c:formatCode>General</c:formatCode>
                <c:ptCount val="5"/>
                <c:pt idx="0">
                  <c:v>49130</c:v>
                </c:pt>
                <c:pt idx="1">
                  <c:v>46510</c:v>
                </c:pt>
                <c:pt idx="2">
                  <c:v>40369</c:v>
                </c:pt>
                <c:pt idx="3">
                  <c:v>76873</c:v>
                </c:pt>
                <c:pt idx="4">
                  <c:v>22737</c:v>
                </c:pt>
              </c:numCache>
            </c:numRef>
          </c:val>
        </c:ser>
        <c:dLbls>
          <c:numFmt formatCode="#,##0" sourceLinked="0"/>
          <c:txPr>
            <a:bodyPr/>
            <a:lstStyle/>
            <a:p>
              <a:pPr>
                <a:defRPr b="0" i="0" strike="noStrike" sz="1000" u="none">
                  <a:solidFill>
                    <a:srgbClr val="231F2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5E6964"/>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1E7E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E696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E6964"/>
                </a:solidFill>
                <a:latin typeface="+mn-lt"/>
              </a:defRPr>
            </a:pPr>
            <a:r>
              <a:rPr sz="1100" b="0" i="0" u="none" strike="noStrike">
                <a:solidFill>
                  <a:srgbClr val="5E6964"/>
                </a:solidFill>
                <a:latin typeface="+mn-lt"/>
              </a:rPr>
              <a:t>Spurious "convergence" under pure noise</a:t>
            </a:r>
          </a:p>
        </c:rich>
      </c:tx>
      <c:layout/>
      <c:overlay val="0"/>
    </c:title>
    <c:autoTitleDeleted val="0"/>
    <c:plotArea>
      <c:layout/>
      <c:barChart>
        <c:barDir val="col"/>
        <c:grouping val="clustered"/>
        <c:varyColors val="0"/>
        <c:ser>
          <c:idx val="0"/>
          <c:order val="0"/>
          <c:tx>
            <c:strRef>
              <c:f>Sheet1!$B$1</c:f>
              <c:strCache>
                <c:ptCount val="1"/>
                <c:pt idx="0">
                  <c:v>False positives</c:v>
                </c:pt>
              </c:strCache>
            </c:strRef>
          </c:tx>
          <c:spPr>
            <a:solidFill>
              <a:srgbClr val="A9B5B0"/>
            </a:solidFill>
            <a:effectLst/>
          </c:spPr>
          <c:invertIfNegative val="0"/>
          <c:dLbls>
            <c:numFmt formatCode="0.0&quot;%&quot;" sourceLinked="0"/>
            <c:txPr>
              <a:bodyPr/>
              <a:lstStyle/>
              <a:p>
                <a:pPr>
                  <a:defRPr b="0" i="0" strike="noStrike" sz="1100" u="none">
                    <a:solidFill>
                      <a:srgbClr val="231F20"/>
                    </a:solidFill>
                    <a:latin typeface="+mn-lt"/>
                  </a:defRPr>
                </a:pPr>
              </a:p>
            </c:txPr>
            <c:showLegendKey val="0"/>
            <c:showVal val="1"/>
            <c:showCatName val="0"/>
            <c:showSerName val="0"/>
            <c:showPercent val="0"/>
            <c:showBubbleSize val="0"/>
            <c:showLeaderLines val="0"/>
          </c:dLbls>
          <c:dPt>
            <c:idx val="0"/>
            <c:invertIfNegative val="0"/>
            <c:bubble3D val="0"/>
            <c:spPr>
              <a:solidFill>
                <a:srgbClr val="A9B5B0"/>
              </a:solidFill>
              <a:effectLst/>
            </c:spPr>
          </c:dPt>
          <c:dPt>
            <c:idx val="1"/>
            <c:invertIfNegative val="0"/>
            <c:bubble3D val="0"/>
            <c:spPr>
              <a:solidFill>
                <a:srgbClr val="00A86A"/>
              </a:solidFill>
              <a:effectLst/>
            </c:spPr>
          </c:dPt>
          <c:cat>
            <c:multiLvlStrRef>
              <c:f>Sheet1!$A$2:$A$3</c:f>
              <c:multiLvlStrCache>
                <c:ptCount val="2"/>
                <c:lvl>
                  <c:pt idx="0">
                    <c:v>Before</c:v>
                  </c:pt>
                  <c:pt idx="1">
                    <c:v>After</c:v>
                  </c:pt>
                </c:lvl>
              </c:multiLvlStrCache>
            </c:multiLvlStrRef>
          </c:cat>
          <c:val>
            <c:numRef>
              <c:f>Sheet1!$B$2:$B$3</c:f>
              <c:numCache>
                <c:formatCode>General</c:formatCode>
                <c:ptCount val="2"/>
                <c:pt idx="0">
                  <c:v>13.7</c:v>
                </c:pt>
                <c:pt idx="1">
                  <c:v>0.7</c:v>
                </c:pt>
              </c:numCache>
            </c:numRef>
          </c:val>
        </c:ser>
        <c:dLbls>
          <c:numFmt formatCode="0.0&quot;%&quot;" sourceLinked="0"/>
          <c:txPr>
            <a:bodyPr/>
            <a:lstStyle/>
            <a:p>
              <a:pPr>
                <a:defRPr b="0" i="0" strike="noStrike" sz="1100" u="none">
                  <a:solidFill>
                    <a:srgbClr val="231F2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E6964"/>
                </a:solidFill>
                <a:latin typeface="+mn-lt"/>
              </a:defRPr>
            </a:pPr>
            <a:endParaRPr lang="en-US"/>
          </a:p>
        </c:txPr>
        <c:crossAx val="2094734552"/>
        <c:crosses val="autoZero"/>
        <c:auto val="1"/>
        <c:lblAlgn val="ctr"/>
        <c:noMultiLvlLbl val="1"/>
      </c:catAx>
      <c:valAx>
        <c:axId val="2094734552"/>
        <c:scaling>
          <c:orientation val="minMax"/>
          <c:max val="1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walks through the three notebooks of the AfDB DI4A Night Lights series: collecting NASA Black Marble data, understanding what the files contain, then turning night-time radiance into economic indicators published on a dashboard. Everything is driven by a single parameter, the country's ISO3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presentation follows six sections, each with its own colour, echoed in the progress dots at the top right of every slide. Sections 2 to 4 each correspond to one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intuition and the architecture of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Producing, transporting and consuming require energy, part of which escapes at night as light. Satellites measure it everywhere, every night, with the same instrument. Lights are therefore consistent across countries, spatially detailed and timely, where national accounts are annual, late and rarely regional. The literature (Henderson, Storeygard and Weil 2012; Chen and Nordhaus 2011) shows they add the most where statistics are weakest.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series is a pipeline. Notebook 1 collects a country's NASA files. Notebook 2 explains, layer by layer, how to read them correctly. Notebook 3 scales up with Google Earth Engine to produce national and regional indicators and a public dashboard. In each notebook, only one parameter cell is changed, starting with the country's ISO3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1: collection. The goal is a reproducible acquisition pipeline driven by a single ISO3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1 has nine steps. Steps 1 to 7 need no NASA account: catalogue search is public. Only step 8, the download, needs an Earthdata token, which is never written in the notebook. It runs on Colab, Kaggle and local Jupyter, and it is idempotent: re-running skips valid files and resumes interrupted downloads.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Marble is NASA's suite of corrected night-time lights from the VIIRS Day/Night Band on Suomi-NPP: the effects of the Moon, the atmosphere, clouds and snow are removed. The four products share the same grid and file structure and differ only in temporal aggregation. We use Collection 2: NASA stopped producing Collection 1 after January 2025, and the two must never be mixed in one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globe is divided into 36 × 18 fixed 10-degree tiles. Tile indices come from an integer division of longitude and latitude, applied to the four corners of the country's footprint. Côte d'Ivoire needs two tiles, Sudan six. The notebook checks the formula on known cases before using it. File names are never built by hand because the production timestamp is unpredictable: the catalogue returns the real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Comparing 15 January with 3 August mixes seasonality and development. The notebook therefore fixes the date and varies only the year: a window of nights around a fixed day for daily products, a fixed month for the monthly product, the whole year for the annual one. One night is never enough: the lunar cycle lasts 29.5 days, so a fixed date falls on a full Moon one year and a new Moon another. In West Africa, January also brings the harmattan and bush 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NASA CMR catalogue returns every granule that intersects the footprint and the time window, with its size. The notebook sends one narrow query per year, paginates, keeps one entry per tile and date with the highest version, and filters on the date in the file name. It then compares expected and found granules and plots a product × year matrix. The download resumes partial files, follows redirects while sending the token only to NASA servers, checks the size and opens every file as HDF5.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2: understanding the file. None of the errors shown here produces an error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HDF5 file contains groups (like folders), datasets (arrays of numbers) and attributes (notes attached to them). The useful group is always under HDFEOS/GRIDS/&lt;grid&gt;/Data Fields, but the grid name changes between the daily product and the composites. The notebook searches for it rather than assuming it. Five families of layers coexist: radiance, uncertainty, quality, context and coordinates.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stored number is not always the radiance. Daily products store integers to save space: radiance = stored value × scale factor + offset. The fill value means "no data here" and must become NaN before any calculation. In daily files it is 65535 with a 0.1 factor: forgetting it adds 6,553.5 per empty pixel, more than central Lagos. In Collection 2 composites it is −999.9: forgetting it subtracts 999.9 per empty pixel. In both cases the number is wrong by several orders of magnitude, with no error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pixel carries a quality code whose meaning depends on the product. In monthly and annual composites, 0 = good quality (more than three nights), 1 = poor quality (three nights or fewer), 2 = gap-filled from history. The notebook reads the legend from the file and by default keeps only codes described as good quality. Ocean and sea pixels are removed using codes also read from the legend, because the coding changes between collections. The daily cloud mask is a 16-bit field read bit by 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thread running through notebook 2, shown on its Côte d'Ivoire demo data, which reproduce the structure of real Collection 2 files with simulated values. The naive sum, where the fill value is counted as a measurement, is about minus 70.7 million: impossible for light, yet no error appears. Setting fill to NaN gives 49,130. The quality filter, the water mask, the two-tile mosaic and clipping to the national border then bring the number to 22,737. The values are simulated: the lesson is about the order of operations, not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tile is an arbitrary 10-degree square; a country is not. The notebook stitches tiles onto a common grid without resampling, then keeps only the pixels inside the border with a point-in-polygon test. Night-time radiance is extremely skewed: a handful of urban pixels carries most of the light, hence the log scale on maps and the systematic check of the brightest pixel. Pixels shrink with latitude: an area-weighted sum is offered to compare distant countries. Every export comes with a metadata file containing the processing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3: analysis. Six scenarios, each with its question, data, method and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3 has fourteen sections. Sections 02 to 04 prepare the data: parameters, acquisition and cleaning on Earth Engine, then visual exploration. Sections 05 to 10 are six independent scenarios, each answering a policy question with its own metrics. Section 11 turns the results into key messages with a confidence level, and sections 12 and 13 export and publish the dashboard. All scenarios read the same two base tables, so their results are consistent with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light products are read in Earth Engine. The VIIRS VNL V2 monthly composite, corrected for stray light, is the backbone of the series: its cf_cvg band counts the cloud-free observations of each pixel. The annual VNL composites, V2.1 up to 2021 and V2.2 since 2022, already mask background noise and ephemeral lights: they provide annual levels and serve as the background mask. Black Marble VNP46A2 is the only daily product, used to zoom in on shocks. The harmonised DMSP–VIIRS series by Li and co-authors extends the analysis back to 1992, in DMSP-like digital numbers, to be read only as a trend.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 alone cannot tell a dense city from a factory. The population and built-up layers of the European Commission Joint Research Centre's Global Human Settlement Layer address this. GHS-POP gives the number of residents per 100 m cell every five years; the nearest epoch is used for each year. WorldPop is an alternative population source for 2000 to 2020. GHS-SMOD classifies every square kilometre by degree of urbanisation: codes 21 and above count as urban. GHS-BUILT-S gives the built-up surface and its non-residential share. ESA WorldCover is registered and checked, and a function computes land-cover shares per unit, but it is not used in the default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other sources complete the picture. Sentinel-5P has measured tropospheric nitrogen dioxide, a combustion tracer, since July 2018: its annual mean per unit is compared with light and enters the industrial score. geoBoundaries provides national, regional and district boundaries; FAO GAUL is the fallback. The World Bank API provides official GDP in constant 2015 dollars, electricity access rates and population. OpenStreetMap industrial polygons, queried through the Overpass API, are used only to validate candidate industrial zones, never to detect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summarises where each dataset is used. A filled dot means the data enters the scenario's metrics; a hollow dot means it is used for a check, a context variable or validation. Administrative boundaries are used everywhere, because every number is a sum over an administrative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Earth Engine sums every cleaned pixel within each unit, at the native 464 m resolution, and returns only tables. The monthly table has one row per unit and month; the annual table one row per unit and year, with the population and access variables. Every step is cached per country with a parameter signature: changing the period or a threshold forces a recalculation instead of silently reusing stale numbers. Data availability is checked first, and the end year is the latest complete year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cleaning rules are applied in Earth Engine before any sum. A pixel must have at least two cloud-free observations in the month; a cloudy pixel takes its own annual radiance rather than the area average; a unit-month is kept only if 80% of its pixels are observed. Negatives are set to zero; values above 1,000 nW are capped and spikes above five times the pixel's annual median are replaced by that median. The unlit background of the annual composite is set to zero, keeping newly lit pixels when the year is not yet published. Gas flares are detected as very bright, uninhabited, non-built-up pixels and removed with a 2 km halo.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base metrics recur in every scenario. The sum of lights is an index, not an energy: it is the sum of radiances over a unit. Light per capita separates an active region from one that is merely populated. The lit area share measures the spatial extent of light. The gas-flare share and the imputed share are quality indicators: if either is high, the unit's results are less reliable. Section 3.4 also runs three consistency checks: GHSL population against the World Bank, the jump from VNL V2.1 to V2.2, and the DMSP–VIIRS join of the long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1 describes the national and regional trajectory. Monthly sums are placed on a complete calendar, with gaps of three months or less filled by log-linear interpolation. STL then splits the log of the series into trend, seasonality and remainder; it is robust, so an extreme month does not distort the season. The seasonally adjusted series is trend plus remainder. The year-on-year change compares each month with the same month of the previous year. The annual trend is estimated with Theil–Sen on the annual composites and tested with Mann–Kendall. The harmonised long series puts the last decade in the perspective of the past thirty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growth rate is the Theil–Sen slope of the log: the median of the slopes between all pairs of years, converted to a percentage per year. It ignores an outlying year. Mann–Kendall gives the p-value, which sets the confidence level of the key message. Anomalies use a robust z-score of the STL remainder, based on the median and the median absolute deviation, and require both a z of 3.5 and a 5% deviation, so that very smooth series do not trigger false alarms. Breaks are found by binary segmentation into linear segments of at least 12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2 compares regions and districts. For each unit, the annual sum of lights gives a robust growth rate and a Mann–Kendall p-value. Because hundreds of districts are tested at once, p-values are adjusted with the Benjamini–Hochberg procedure, which controls the share of false discoveries. A unit is classified as Growth or Decline only if its slope exceeds 1% a year and its adjusted p-value is below 0.10; otherwise it is Stagnation, which often means not enough information. Concentration and convergence are then measured, and NO2 is correlated with light as a complementary signal. The chart shows why these corrections matter: under pure noise, the old method found convergence in 13.7% of simulations.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Concentration is read with three numbers: the share of the brightest unit, the share of the brightest 10% of units, and the Herfindahl–Hirschman index, the sum of squared shares, equal to one if all light is in a single unit. β-convergence regresses each unit's growth in light per capita on the log of its initial level, averaged over the first three years, with heteroscedasticity-robust errors; a negative β whose whole interval is below zero means catching up, and the half-life shows how many years it takes to close half the gap. σ-convergence tracks the dispersion of log light per capita across units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3 first checks that lights move with official GDP. Three regressions are estimated: annual VIIRS levels, annual VIIRS growth rates, and levels on the harmonised long series with a sensor dummy. When the annual series mixes VNL V2.1 and V2.2, a version dummy absorbs the processing change. With ten to thirty annual points, residuals are often autocorrelated: Newey–West errors are used, and a second interval is computed by bootstrapping the years. Diagnostics test autocorrelation, heteroscedasticity, normality and functional form. The confidence level combines sample size, p-value, interval width and R².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link is measured, it is used where statistics are missing. The forecast regresses GDP growth on light growth over the years where both exist, then chains the estimate from the last official GDP for years not yet published, with 80 and 95% intervals whose variances add up year after year. To know whether lights really help, each past year is predicted using only earlier years, as a forecaster would have done at the time, and compared with two naive forecasts. The mean absolute error is in growth points; a relative error below one means lights beat the best naive forecast. Regional GDP allocates national GDP according to light raised to the power γ, with γ equal to 1 and 0.5; the gap between the two measures the uncertainty of the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4 measures the impact of dated events. The catalogue brings together COVID-19, user events with their national dates and, optionally, the five most severe months from an ACLED or EM-DAT export. For each event, the baseline is the mean seasonally adjusted level of the previous twelve months; the trough is the lowest level between the start of the event and six months after its end; the deviation from trend compares the event period with the trend extrapolated from the previous 24 months; recovery is the first month back at the baseline level, within 36 months. The placebo test computes the same trough statistic over all earlier windows of the same length: the trough stands out only if it is deeper than 95%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data smooth out short shocks, so daily Black Marble data are used in windows around events. Only high-quality observations are kept: quality flag 0 or 1, clear sky according to bits 6 and 7 of the cloud mask, no snow, and only pixels lit in the annual composite. A day counts if at least half of the pixels are observed. The index divides a 7-day rolling median by the same days 52 weeks earlier, on the same weekday, so that season and weekly rhythm cancel out; if the previous year is not covered, the median of the first 60 days is used and the season is not removed. The regional table gives each region's trough for each event; breaks with no event within six months are listed for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5 measures the spatial inequality of light per capita across the finest units, usually districts, each weighted by its population. The Gini coefficient and the Lorenz curve show overall concentration. The Theil T index adds a decomposition: the "between" part is inequality between regions, the "within" part inequality between districts of the same region. If most inequality is within regions, policies should target districts rather than whole regions. The change in Gini between the first and last year gets a bootstrap interval from 300 paired resamples of districts. The urban–rural ratio compares light per capita in urban and rural areas as defined by the GHSL.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scenario 5 counts the people living in the dark. A pixel is inhabited if it has at least five people over its 0.21 km²; it is dark if its annual radiance stays below a detection threshold. The threshold matters, so three are used — 0.25, 0.5 and 1 nanowatt — computed on unmasked radiance, because the EOG background mask would make them identical. Pixels in gas-flare halos are excluded. The share in the dark is compared with the World Bank access rate: a large gap may reveal low-consumption connections, such as solar kits, invisible from space, or survey limitations. The number is always published as a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Industry is the component of GDP best captured by night-time lights, and few countries have an up-to-date geolocated register of industrial zones. Each 460-metre pixel receives a score built from four signals, each normalised between 0 and 1. Light intensity uses the median of the last three annual composites on a log scale. The non-residential built-up share comes from GHSL BUILT-S, divided by 0.6. Low residential density is one minus the log of density relative to 5,000 people per km². NO2 is scaled between the national median and the 98th percentile. The weights — 35, 30, 20 and 15% — are expert choices: change them and check that the main zones remain.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pixel becomes a candidate if its radiance exceeds 5 nanowatts, at least 1% of its area is built up and its score exceeds 0.55, or if it belongs to a gas flare detected during cleaning. Neighbouring candidates, at least two pixels, are grouped into zones, 250 at most. Each zone gets its light, its share of national light, its Theil–Sen trend, its non-residential share, its population density, its area and its district. Zones are classed as energy or extractive sites when gas flares dominate, major hubs when they are among the brightest 10% or exceed 8 km², and otherwise as industrial or logistics zones. OpenStreetMap industrial areas give precision, the share of zones confirmed, and recall, the share of OSM areas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11 converts the results of the six scenarios into five to eight key messages, written in English and French, and fills the executive summary at the top of the notebook. Each message carries a confidence level and its reason, derived from the underlying statistics: p-value and number of years for trends; sample size, p-value, interval width and R² for elasticities; placebo test for shocks; bootstrap interval for the Gini; OpenStreetMap precision for industrial zones. A low-confidence message is a lead to follow up, not a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notebook to public dashboard, with the checks that make the numbers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3 writes static files — simplified GeoJSON, CSV, JSON and PNG — so the site works without Earth Engine, whose tiles expire after a few hours. The site is bilingual, English and French, and several countries can coexist on it. A manifest records parameters, package versions and data availability, which guarantees reproducibility. Publishing to GitHub Pages takes one function call with a short-lived, limited-scope token that never appears in the code, outputs or history. Automatically generated key messages carry a confidence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notebooks were reviewed and corrected in October 2026. Notebooks 1 and 2 run end to end in both languages without errors; notebook 2 gives identical numbers in English and French. The display setting no longer changes any number. In notebook 3, which requires Earth Engine, the statistical functions were tested on simulated data: under pure noise, spurious convergence falls from 13.7% to 0.7%, and spurious growth classes from 29 out of 300 districts to zero with the Benjamini–Hochberg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Lights measure radiation at around 1:30 a.m., not value added. Six artefacts can mislead: blooming inflates lit areas; saturation hides growth in the brightest urban centres; gas flares can dominate a region with no local activity; the seasonality of clouds and fires is not economic; sensor changes, from DMSP to VIIRS or between product versions, can create false breaks; and near the detection threshold, the signal is weakest precisely where the rural poor live. These limits are part of the deliverable, not an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 statistician should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list summarises the series. Each item matches a notebook step and an error that produces no message. Publish the processing chain, not just the number: two teams starting from the same files can publish numbers an order of magnitude apart with no visible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messages to remember. First, choose the product to fit the question: annual composites for trends, monthly for seasons, daily for dated events. Second, the order of operations is not negotiable: fill, quality, water, then mosaic and clipping. Third, night-time lights are a powerful complement to official statistics for direction, timing and geography, but they do not measure GDP.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scientific and data references used in the three notebooks. Third-party data remain under their producers' licences and must be cited in addition to the AfDB DI4A initiative.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three notebooks run on Colab, Kaggle and local Jupyter. Any reuse of the notebooks or of what they produce must cite: Source: African Development Bank – Data Innovation for Africa (AfDB-DI4A).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HERO-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p:nvPr/>
        </p:nvSpPr>
        <p:spPr>
          <a:xfrm>
            <a:off x="457200" y="4818888"/>
            <a:ext cx="5486400" cy="22860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Night Lights Series · AfDB – DI4A</a:t>
            </a:r>
            <a:endParaRPr lang="en-US" sz="850" dirty="0"/>
          </a:p>
        </p:txBody>
      </p:sp>
      <p:sp>
        <p:nvSpPr>
          <p:cNvPr id="5" name="Text 3"/>
          <p:cNvSpPr/>
          <p:nvPr>
            <p:ph idx="105" type="body" hasCustomPrompt="1"/>
          </p:nvPr>
        </p:nvSpPr>
        <p:spPr>
          <a:xfrm>
            <a:off x="457200" y="274320"/>
            <a:ext cx="6217920" cy="256032"/>
          </a:xfrm>
          <a:prstGeom prst="rect">
            <a:avLst/>
          </a:prstGeom>
          <a:noFill/>
          <a:ln/>
        </p:spPr>
        <p:txBody>
          <a:bodyPr wrap="square" rtlCol="0"/>
          <a:lstStyle>
            <a:lvl1pPr algn="l" indent="0" marL="0">
              <a:buNone/>
              <a:defRPr lang="en-US" sz="1050" b="1" spc="300" kern="0" dirty="0">
                <a:solidFill>
                  <a:srgbClr val="00704A"/>
                </a:solidFill>
                <a:latin typeface="Calibri" pitchFamily="34" charset="0"/>
                <a:ea typeface="Calibri" pitchFamily="34" charset="-122"/>
                <a:cs typeface="Calibri" pitchFamily="34" charset="-120"/>
              </a:defRPr>
            </a:lvl1pPr>
          </a:lstStyle>
          <a:p>
            <a:pPr algn="l" indent="0" marL="0">
              <a:buNone/>
            </a:pPr>
            <a:endParaRPr lang="en-US" sz="1050" dirty="0"/>
          </a:p>
        </p:txBody>
      </p:sp>
      <p:sp>
        <p:nvSpPr>
          <p:cNvPr id="6" name="Text 3"/>
          <p:cNvSpPr/>
          <p:nvPr>
            <p:ph idx="106" type="title" hasCustomPrompt="1"/>
          </p:nvPr>
        </p:nvSpPr>
        <p:spPr>
          <a:xfrm>
            <a:off x="457200" y="548640"/>
            <a:ext cx="8229600" cy="566928"/>
          </a:xfrm>
          <a:prstGeom prst="rect">
            <a:avLst/>
          </a:prstGeom>
          <a:noFill/>
          <a:ln/>
        </p:spPr>
        <p:txBody>
          <a:bodyPr wrap="square" rtlCol="0"/>
          <a:lstStyle>
            <a:lvl1pPr algn="l" indent="0" marL="0">
              <a:buNone/>
              <a:defRPr lang="en-US" sz="2800" b="1" dirty="0">
                <a:solidFill>
                  <a:srgbClr val="231F20"/>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di4a-robot-circle.png"/><Relationship Id="rId4" Type="http://schemas.openxmlformats.org/officeDocument/2006/relationships/image" Target="../media/afdb-logo.png"/><Relationship Id="rId5" Type="http://schemas.openxmlformats.org/officeDocument/2006/relationships/image" Target="../media/di4a-logo.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3.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3.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3.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3.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3.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3.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3.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3.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4" Type="http://schemas.openxmlformats.org/officeDocument/2006/relationships/chart" Target="/ppt/charts/chart2.xml"/><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5" Type="http://schemas.openxmlformats.org/officeDocument/2006/relationships/slideLayout" Target="../slideLayouts/slideLayout3.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3.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3.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3.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slideLayout" Target="../slideLayouts/slideLayout3.xml"/><Relationship Id="rId10"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slideLayout" Target="../slideLayouts/slideLayout3.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slideLayout" Target="../slideLayouts/slideLayout3.xml"/><Relationship Id="rId8"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3.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di4a-robot-circle.png"/><Relationship Id="rId4" Type="http://schemas.openxmlformats.org/officeDocument/2006/relationships/image" Target="../media/afdb-logo.png"/><Relationship Id="rId5" Type="http://schemas.openxmlformats.org/officeDocument/2006/relationships/image" Target="../media/di4a-logo.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2"/>
          <p:cNvSpPr txBox="1"/>
          <p:nvPr/>
        </p:nvSpPr>
        <p:spPr>
          <a:xfrm>
            <a:off x="548640" y="1325880"/>
            <a:ext cx="7315200" cy="27432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NIGHT LIGHTS SERIES · THREE NOTEBOOKS</a:t>
            </a:r>
            <a:endParaRPr lang="en-US" sz="1100" dirty="0"/>
          </a:p>
        </p:txBody>
      </p:sp>
      <p:sp>
        <p:nvSpPr>
          <p:cNvPr id="5" name="Text 3"/>
          <p:cNvSpPr txBox="1"/>
          <p:nvPr/>
        </p:nvSpPr>
        <p:spPr>
          <a:xfrm>
            <a:off x="548640" y="1645920"/>
            <a:ext cx="6858000" cy="141732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Night lights:</a:t>
            </a:r>
            <a:endParaRPr lang="en-US" sz="4200" dirty="0"/>
          </a:p>
          <a:p>
            <a:pPr indent="0" marL="0">
              <a:buNone/>
            </a:pPr>
            <a:r>
              <a:rPr lang="en-US" sz="4200" b="1" dirty="0">
                <a:solidFill>
                  <a:srgbClr val="FFFFFF"/>
                </a:solidFill>
                <a:latin typeface="Calibri" pitchFamily="34" charset="0"/>
                <a:ea typeface="Calibri" pitchFamily="34" charset="-122"/>
                <a:cs typeface="Calibri" pitchFamily="34" charset="-120"/>
              </a:rPr>
              <a:t>from satellite to statistics</a:t>
            </a:r>
            <a:endParaRPr lang="en-US" sz="4200" dirty="0"/>
          </a:p>
        </p:txBody>
      </p:sp>
      <p:sp>
        <p:nvSpPr>
          <p:cNvPr id="6" name="Text 4"/>
          <p:cNvSpPr txBox="1"/>
          <p:nvPr/>
        </p:nvSpPr>
        <p:spPr>
          <a:xfrm>
            <a:off x="548640" y="3154680"/>
            <a:ext cx="5852160" cy="77724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Collect, understand and analyse NASA and NOAA night-time lights data to measure economic activity — one ISO3 code in, a public dashboard out</a:t>
            </a:r>
            <a:endParaRPr lang="en-US" sz="1600" dirty="0"/>
          </a:p>
        </p:txBody>
      </p:sp>
      <p:sp>
        <p:nvSpPr>
          <p:cNvPr id="7" name="Shape 5"/>
          <p:cNvSpPr/>
          <p:nvPr/>
        </p:nvSpPr>
        <p:spPr>
          <a:xfrm>
            <a:off x="548640" y="4114800"/>
            <a:ext cx="1143000" cy="329184"/>
          </a:xfrm>
          <a:prstGeom prst="roundRect">
            <a:avLst>
              <a:gd name="adj" fmla="val 50000"/>
            </a:avLst>
          </a:prstGeom>
          <a:solidFill>
            <a:srgbClr val="F5C242"/>
          </a:solidFill>
          <a:ln w="9525">
            <a:solidFill>
              <a:srgbClr val="F5C242"/>
            </a:solidFill>
            <a:prstDash val="solid"/>
          </a:ln>
        </p:spPr>
      </p:sp>
      <p:sp>
        <p:nvSpPr>
          <p:cNvPr id="8" name="Text 6"/>
          <p:cNvSpPr txBox="1"/>
          <p:nvPr/>
        </p:nvSpPr>
        <p:spPr>
          <a:xfrm>
            <a:off x="548640" y="4114800"/>
            <a:ext cx="1143000" cy="329184"/>
          </a:xfrm>
          <a:prstGeom prst="rect">
            <a:avLst/>
          </a:prstGeom>
          <a:noFill/>
          <a:ln/>
        </p:spPr>
        <p:txBody>
          <a:bodyPr wrap="square" lIns="0" tIns="0" rIns="0" bIns="0" rtlCol="0" anchor="ctr"/>
          <a:lstStyle/>
          <a:p>
            <a:pPr algn="ctr" indent="0" marL="0">
              <a:buNone/>
            </a:pPr>
            <a:r>
              <a:rPr lang="en-US" sz="1100" b="1" dirty="0">
                <a:solidFill>
                  <a:srgbClr val="00553A"/>
                </a:solidFill>
                <a:latin typeface="Calibri" pitchFamily="34" charset="0"/>
                <a:ea typeface="Calibri" pitchFamily="34" charset="-122"/>
                <a:cs typeface="Calibri" pitchFamily="34" charset="-120"/>
              </a:rPr>
              <a:t>01  Collect</a:t>
            </a:r>
            <a:endParaRPr lang="en-US" sz="1100" dirty="0"/>
          </a:p>
        </p:txBody>
      </p:sp>
      <p:sp>
        <p:nvSpPr>
          <p:cNvPr id="9" name="Shape 7"/>
          <p:cNvSpPr/>
          <p:nvPr/>
        </p:nvSpPr>
        <p:spPr>
          <a:xfrm>
            <a:off x="1920240" y="4114800"/>
            <a:ext cx="1965960" cy="329184"/>
          </a:xfrm>
          <a:prstGeom prst="roundRect">
            <a:avLst>
              <a:gd name="adj" fmla="val 50000"/>
            </a:avLst>
          </a:prstGeom>
          <a:solidFill>
            <a:srgbClr val="FFFFFF">
              <a:alpha val="12000"/>
            </a:srgbClr>
          </a:solidFill>
          <a:ln w="9525">
            <a:solidFill>
              <a:srgbClr val="FFFFFF">
                <a:alpha val="40000"/>
              </a:srgbClr>
            </a:solidFill>
            <a:prstDash val="solid"/>
          </a:ln>
        </p:spPr>
      </p:sp>
      <p:sp>
        <p:nvSpPr>
          <p:cNvPr id="10" name="Text 8"/>
          <p:cNvSpPr txBox="1"/>
          <p:nvPr/>
        </p:nvSpPr>
        <p:spPr>
          <a:xfrm>
            <a:off x="1920240" y="4114800"/>
            <a:ext cx="1965960" cy="329184"/>
          </a:xfrm>
          <a:prstGeom prst="rect">
            <a:avLst/>
          </a:prstGeom>
          <a:noFill/>
          <a:ln/>
        </p:spPr>
        <p:txBody>
          <a:bodyPr wrap="square" lIns="0" tIns="0" rIns="0" bIns="0" rtlCol="0" anchor="ctr"/>
          <a:lstStyle/>
          <a:p>
            <a:pPr algn="ctr" indent="0" marL="0">
              <a:buNone/>
            </a:pPr>
            <a:r>
              <a:rPr lang="en-US" sz="1100" b="1" dirty="0">
                <a:solidFill>
                  <a:srgbClr val="E6F6EE"/>
                </a:solidFill>
                <a:latin typeface="Calibri" pitchFamily="34" charset="0"/>
                <a:ea typeface="Calibri" pitchFamily="34" charset="-122"/>
                <a:cs typeface="Calibri" pitchFamily="34" charset="-120"/>
              </a:rPr>
              <a:t>02  Explore and understand</a:t>
            </a:r>
            <a:endParaRPr lang="en-US" sz="1100" dirty="0"/>
          </a:p>
        </p:txBody>
      </p:sp>
      <p:sp>
        <p:nvSpPr>
          <p:cNvPr id="11" name="Shape 9"/>
          <p:cNvSpPr/>
          <p:nvPr/>
        </p:nvSpPr>
        <p:spPr>
          <a:xfrm>
            <a:off x="4114800" y="4114800"/>
            <a:ext cx="1783080" cy="329184"/>
          </a:xfrm>
          <a:prstGeom prst="roundRect">
            <a:avLst>
              <a:gd name="adj" fmla="val 50000"/>
            </a:avLst>
          </a:prstGeom>
          <a:solidFill>
            <a:srgbClr val="FFFFFF">
              <a:alpha val="12000"/>
            </a:srgbClr>
          </a:solidFill>
          <a:ln w="9525">
            <a:solidFill>
              <a:srgbClr val="FFFFFF">
                <a:alpha val="40000"/>
              </a:srgbClr>
            </a:solidFill>
            <a:prstDash val="solid"/>
          </a:ln>
        </p:spPr>
      </p:sp>
      <p:sp>
        <p:nvSpPr>
          <p:cNvPr id="12" name="Text 10"/>
          <p:cNvSpPr txBox="1"/>
          <p:nvPr/>
        </p:nvSpPr>
        <p:spPr>
          <a:xfrm>
            <a:off x="4114800" y="4114800"/>
            <a:ext cx="1783080" cy="329184"/>
          </a:xfrm>
          <a:prstGeom prst="rect">
            <a:avLst/>
          </a:prstGeom>
          <a:noFill/>
          <a:ln/>
        </p:spPr>
        <p:txBody>
          <a:bodyPr wrap="square" lIns="0" tIns="0" rIns="0" bIns="0" rtlCol="0" anchor="ctr"/>
          <a:lstStyle/>
          <a:p>
            <a:pPr algn="ctr" indent="0" marL="0">
              <a:buNone/>
            </a:pPr>
            <a:r>
              <a:rPr lang="en-US" sz="1100" b="1" dirty="0">
                <a:solidFill>
                  <a:srgbClr val="E6F6EE"/>
                </a:solidFill>
                <a:latin typeface="Calibri" pitchFamily="34" charset="0"/>
                <a:ea typeface="Calibri" pitchFamily="34" charset="-122"/>
                <a:cs typeface="Calibri" pitchFamily="34" charset="-120"/>
              </a:rPr>
              <a:t>03  Analyse and publish</a:t>
            </a:r>
            <a:endParaRPr lang="en-US" sz="1100" dirty="0"/>
          </a:p>
        </p:txBody>
      </p:sp>
      <p:sp>
        <p:nvSpPr>
          <p:cNvPr id="13" name="Text 11"/>
          <p:cNvSpPr txBox="1"/>
          <p:nvPr/>
        </p:nvSpPr>
        <p:spPr>
          <a:xfrm>
            <a:off x="6949440" y="4617720"/>
            <a:ext cx="1828800" cy="274320"/>
          </a:xfrm>
          <a:prstGeom prst="rect">
            <a:avLst/>
          </a:prstGeom>
          <a:noFill/>
          <a:ln/>
        </p:spPr>
        <p:txBody>
          <a:bodyPr wrap="square" lIns="0" tIns="0" rIns="0" bIns="0" rtlCol="0" anchor="t"/>
          <a:lstStyle/>
          <a:p>
            <a:pPr algn="r" indent="0" marL="0">
              <a:buNone/>
            </a:pPr>
            <a:r>
              <a:rPr lang="en-US" sz="900" dirty="0">
                <a:solidFill>
                  <a:srgbClr val="F5C242"/>
                </a:solidFill>
                <a:latin typeface="Calibri" pitchFamily="34" charset="0"/>
                <a:ea typeface="Calibri" pitchFamily="34" charset="-122"/>
                <a:cs typeface="Calibri" pitchFamily="34" charset="-120"/>
              </a:rPr>
              <a:t>© 2026 AfDB – DI4A</a:t>
            </a:r>
            <a:endParaRPr lang="en-US" sz="900" dirty="0"/>
          </a:p>
        </p:txBody>
      </p:sp>
      <p:sp>
        <p:nvSpPr>
          <p:cNvPr id="214" name="Logo Pill"/>
          <p:cNvSpPr/>
          <p:nvPr/>
        </p:nvSpPr>
        <p:spPr>
          <a:xfrm>
            <a:off x="548640" y="384048"/>
            <a:ext cx="2788920" cy="566928"/>
          </a:xfrm>
          <a:prstGeom prst="roundRect">
            <a:avLst>
              <a:gd name="adj" fmla="val 50000"/>
            </a:avLst>
          </a:prstGeom>
          <a:solidFill>
            <a:srgbClr val="FFFFFF"/>
          </a:solidFill>
          <a:ln>
            <a:noFill/>
          </a:ln>
        </p:spPr>
        <p:txBody>
          <a:bodyPr rtlCol="0" anchor="ctr"/>
          <a:lstStyle/>
          <a:p>
            <a:endParaRPr lang="en-US"/>
          </a:p>
        </p:txBody>
      </p:sp>
      <p:pic>
        <p:nvPicPr>
          <p:cNvPr id="215" name="AfDB Logo" descr="African Development Bank Group logo"/>
          <p:cNvPicPr>
            <a:picLocks noChangeAspect="1"/>
          </p:cNvPicPr>
          <p:nvPr/>
        </p:nvPicPr>
        <p:blipFill>
          <a:blip r:embed="rId4"/>
          <a:stretch>
            <a:fillRect/>
          </a:stretch>
        </p:blipFill>
        <p:spPr>
          <a:xfrm>
            <a:off x="749808" y="502920"/>
            <a:ext cx="1367816" cy="329184"/>
          </a:xfrm>
          <a:prstGeom prst="rect">
            <a:avLst/>
          </a:prstGeom>
        </p:spPr>
      </p:pic>
      <p:sp>
        <p:nvSpPr>
          <p:cNvPr id="216" name="Logo Divider"/>
          <p:cNvSpPr/>
          <p:nvPr/>
        </p:nvSpPr>
        <p:spPr>
          <a:xfrm>
            <a:off x="2300504" y="493776"/>
            <a:ext cx="9525" cy="347472"/>
          </a:xfrm>
          <a:prstGeom prst="rect">
            <a:avLst/>
          </a:prstGeom>
          <a:solidFill>
            <a:srgbClr val="D5DED9"/>
          </a:solidFill>
          <a:ln>
            <a:noFill/>
          </a:ln>
        </p:spPr>
        <p:txBody>
          <a:bodyPr rtlCol="0" anchor="ctr"/>
          <a:lstStyle/>
          <a:p>
            <a:endParaRPr lang="en-US"/>
          </a:p>
        </p:txBody>
      </p:sp>
      <p:pic>
        <p:nvPicPr>
          <p:cNvPr id="217" name="DI4A Logo" descr="Data Innovation for Africa logo"/>
          <p:cNvPicPr>
            <a:picLocks noChangeAspect="1"/>
          </p:cNvPicPr>
          <p:nvPr/>
        </p:nvPicPr>
        <p:blipFill>
          <a:blip r:embed="rId5"/>
          <a:stretch>
            <a:fillRect/>
          </a:stretch>
        </p:blipFill>
        <p:spPr>
          <a:xfrm>
            <a:off x="2587752" y="429768"/>
            <a:ext cx="475488" cy="475488"/>
          </a:xfrm>
          <a:prstGeom prst="rect">
            <a:avLst/>
          </a:prstGeom>
        </p:spPr>
      </p:pic>
      <p:sp>
        <p:nvSpPr>
          <p:cNvPr id="218" name="Medallion Ring"/>
          <p:cNvSpPr/>
          <p:nvPr/>
        </p:nvSpPr>
        <p:spPr>
          <a:xfrm>
            <a:off x="6359651" y="1284732"/>
            <a:ext cx="2734056" cy="2734056"/>
          </a:xfrm>
          <a:prstGeom prst="ellipse">
            <a:avLst/>
          </a:prstGeom>
          <a:noFill/>
          <a:ln w="9525">
            <a:solidFill>
              <a:srgbClr val="FFFFFF">
                <a:alpha val="15000"/>
              </a:srgbClr>
            </a:solidFill>
          </a:ln>
        </p:spPr>
        <p:txBody>
          <a:bodyPr rtlCol="0" anchor="ctr"/>
          <a:lstStyle/>
          <a:p>
            <a:endParaRPr lang="en-US"/>
          </a:p>
        </p:txBody>
      </p:sp>
      <p:sp>
        <p:nvSpPr>
          <p:cNvPr id="219" name="Medallion Ring"/>
          <p:cNvSpPr/>
          <p:nvPr/>
        </p:nvSpPr>
        <p:spPr>
          <a:xfrm>
            <a:off x="6524243" y="1449324"/>
            <a:ext cx="2404872" cy="2404872"/>
          </a:xfrm>
          <a:prstGeom prst="ellipse">
            <a:avLst/>
          </a:prstGeom>
          <a:noFill/>
          <a:ln w="9525">
            <a:solidFill>
              <a:srgbClr val="FFFFFF">
                <a:alpha val="28000"/>
              </a:srgbClr>
            </a:solidFill>
          </a:ln>
        </p:spPr>
        <p:txBody>
          <a:bodyPr rtlCol="0" anchor="ctr"/>
          <a:lstStyle/>
          <a:p>
            <a:endParaRPr lang="en-US"/>
          </a:p>
        </p:txBody>
      </p:sp>
      <p:sp>
        <p:nvSpPr>
          <p:cNvPr id="220" name="Medallion Ring"/>
          <p:cNvSpPr/>
          <p:nvPr/>
        </p:nvSpPr>
        <p:spPr>
          <a:xfrm>
            <a:off x="6652259" y="1577340"/>
            <a:ext cx="2148840" cy="2148840"/>
          </a:xfrm>
          <a:prstGeom prst="ellipse">
            <a:avLst/>
          </a:prstGeom>
          <a:noFill/>
          <a:ln w="19050">
            <a:solidFill>
              <a:srgbClr val="FFFFFF">
                <a:alpha val="50000"/>
              </a:srgbClr>
            </a:solidFill>
          </a:ln>
        </p:spPr>
        <p:txBody>
          <a:bodyPr rtlCol="0" anchor="ctr"/>
          <a:lstStyle/>
          <a:p>
            <a:endParaRPr lang="en-US"/>
          </a:p>
        </p:txBody>
      </p:sp>
      <p:pic>
        <p:nvPicPr>
          <p:cNvPr id="221" name="Robot Medallion" descr="DI4A robot mascot"/>
          <p:cNvPicPr>
            <a:picLocks noChangeAspect="1"/>
          </p:cNvPicPr>
          <p:nvPr/>
        </p:nvPicPr>
        <p:blipFill>
          <a:blip r:embed="rId3"/>
          <a:stretch>
            <a:fillRect/>
          </a:stretch>
        </p:blipFill>
        <p:spPr>
          <a:xfrm>
            <a:off x="6743699" y="1668780"/>
            <a:ext cx="1965960" cy="1965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PROGRAMME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Six steps, from the night sky to a published indicator</a:t>
            </a:r>
            <a:endParaRPr lang="en-US" sz="2800" dirty="0"/>
          </a:p>
        </p:txBody>
      </p:sp>
      <p:sp>
        <p:nvSpPr>
          <p:cNvPr id="4" name="Shape 2"/>
          <p:cNvSpPr/>
          <p:nvPr/>
        </p:nvSpPr>
        <p:spPr>
          <a:xfrm>
            <a:off x="457200" y="1371600"/>
            <a:ext cx="2606040" cy="1417320"/>
          </a:xfrm>
          <a:prstGeom prst="roundRect">
            <a:avLst>
              <a:gd name="adj" fmla="val 5161"/>
            </a:avLst>
          </a:prstGeom>
          <a:solidFill>
            <a:srgbClr val="F4F7F5"/>
          </a:solidFill>
          <a:ln w="9525">
            <a:solidFill>
              <a:srgbClr val="D5DED9"/>
            </a:solidFill>
            <a:prstDash val="solid"/>
          </a:ln>
        </p:spPr>
      </p:sp>
      <p:sp>
        <p:nvSpPr>
          <p:cNvPr id="5" name="Text 3"/>
          <p:cNvSpPr txBox="1"/>
          <p:nvPr/>
        </p:nvSpPr>
        <p:spPr>
          <a:xfrm>
            <a:off x="640080" y="1508760"/>
            <a:ext cx="731520" cy="457200"/>
          </a:xfrm>
          <a:prstGeom prst="rect">
            <a:avLst/>
          </a:prstGeom>
          <a:noFill/>
          <a:ln/>
        </p:spPr>
        <p:txBody>
          <a:bodyPr wrap="square" lIns="0" tIns="0" rIns="0" bIns="0" rtlCol="0" anchor="t"/>
          <a:lstStyle/>
          <a:p>
            <a:pPr indent="0" marL="0">
              <a:buNone/>
            </a:pPr>
            <a:r>
              <a:rPr lang="en-US" sz="2600" b="1" dirty="0">
                <a:solidFill>
                  <a:srgbClr val="00A86A"/>
                </a:solidFill>
                <a:latin typeface="Calibri" pitchFamily="34" charset="0"/>
                <a:ea typeface="Calibri" pitchFamily="34" charset="-122"/>
                <a:cs typeface="Calibri" pitchFamily="34" charset="-120"/>
              </a:rPr>
              <a:t>01</a:t>
            </a:r>
            <a:endParaRPr lang="en-US" sz="2600" dirty="0"/>
          </a:p>
        </p:txBody>
      </p:sp>
      <p:sp>
        <p:nvSpPr>
          <p:cNvPr id="6" name="Text 4"/>
          <p:cNvSpPr txBox="1"/>
          <p:nvPr/>
        </p:nvSpPr>
        <p:spPr>
          <a:xfrm>
            <a:off x="640080" y="1938528"/>
            <a:ext cx="22860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The series</a:t>
            </a:r>
            <a:endParaRPr lang="en-US" sz="1300" dirty="0"/>
          </a:p>
        </p:txBody>
      </p:sp>
      <p:sp>
        <p:nvSpPr>
          <p:cNvPr id="7" name="Text 5"/>
          <p:cNvSpPr txBox="1"/>
          <p:nvPr/>
        </p:nvSpPr>
        <p:spPr>
          <a:xfrm>
            <a:off x="640080" y="2212848"/>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Why lights measure activity, and how the three notebooks fit together</a:t>
            </a:r>
            <a:endParaRPr lang="en-US" sz="1050" dirty="0"/>
          </a:p>
        </p:txBody>
      </p:sp>
      <p:sp>
        <p:nvSpPr>
          <p:cNvPr id="8" name="Shape 6"/>
          <p:cNvSpPr/>
          <p:nvPr/>
        </p:nvSpPr>
        <p:spPr>
          <a:xfrm>
            <a:off x="3246120" y="1371600"/>
            <a:ext cx="2606040" cy="1417320"/>
          </a:xfrm>
          <a:prstGeom prst="roundRect">
            <a:avLst>
              <a:gd name="adj" fmla="val 5161"/>
            </a:avLst>
          </a:prstGeom>
          <a:solidFill>
            <a:srgbClr val="F4F7F5"/>
          </a:solidFill>
          <a:ln w="9525">
            <a:solidFill>
              <a:srgbClr val="D5DED9"/>
            </a:solidFill>
            <a:prstDash val="solid"/>
          </a:ln>
        </p:spPr>
      </p:sp>
      <p:sp>
        <p:nvSpPr>
          <p:cNvPr id="9" name="Text 7"/>
          <p:cNvSpPr txBox="1"/>
          <p:nvPr/>
        </p:nvSpPr>
        <p:spPr>
          <a:xfrm>
            <a:off x="3429000" y="1508760"/>
            <a:ext cx="731520" cy="457200"/>
          </a:xfrm>
          <a:prstGeom prst="rect">
            <a:avLst/>
          </a:prstGeom>
          <a:noFill/>
          <a:ln/>
        </p:spPr>
        <p:txBody>
          <a:bodyPr wrap="square" lIns="0" tIns="0" rIns="0" bIns="0" rtlCol="0" anchor="t"/>
          <a:lstStyle/>
          <a:p>
            <a:pPr indent="0" marL="0">
              <a:buNone/>
            </a:pPr>
            <a:r>
              <a:rPr lang="en-US" sz="2600" b="1" dirty="0">
                <a:solidFill>
                  <a:srgbClr val="00704A"/>
                </a:solidFill>
                <a:latin typeface="Calibri" pitchFamily="34" charset="0"/>
                <a:ea typeface="Calibri" pitchFamily="34" charset="-122"/>
                <a:cs typeface="Calibri" pitchFamily="34" charset="-120"/>
              </a:rPr>
              <a:t>02</a:t>
            </a:r>
            <a:endParaRPr lang="en-US" sz="2600" dirty="0"/>
          </a:p>
        </p:txBody>
      </p:sp>
      <p:sp>
        <p:nvSpPr>
          <p:cNvPr id="10" name="Text 8"/>
          <p:cNvSpPr txBox="1"/>
          <p:nvPr/>
        </p:nvSpPr>
        <p:spPr>
          <a:xfrm>
            <a:off x="3429000" y="1938528"/>
            <a:ext cx="22860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Collect</a:t>
            </a:r>
            <a:endParaRPr lang="en-US" sz="1300" dirty="0"/>
          </a:p>
        </p:txBody>
      </p:sp>
      <p:sp>
        <p:nvSpPr>
          <p:cNvPr id="11" name="Text 9"/>
          <p:cNvSpPr txBox="1"/>
          <p:nvPr/>
        </p:nvSpPr>
        <p:spPr>
          <a:xfrm>
            <a:off x="3429000" y="2212848"/>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Notebook 1: find, test and download the right NASA Black Marble files</a:t>
            </a:r>
            <a:endParaRPr lang="en-US" sz="1050" dirty="0"/>
          </a:p>
        </p:txBody>
      </p:sp>
      <p:sp>
        <p:nvSpPr>
          <p:cNvPr id="12" name="Shape 10"/>
          <p:cNvSpPr/>
          <p:nvPr/>
        </p:nvSpPr>
        <p:spPr>
          <a:xfrm>
            <a:off x="6035040" y="1371600"/>
            <a:ext cx="2606040" cy="1417320"/>
          </a:xfrm>
          <a:prstGeom prst="roundRect">
            <a:avLst>
              <a:gd name="adj" fmla="val 5161"/>
            </a:avLst>
          </a:prstGeom>
          <a:solidFill>
            <a:srgbClr val="F4F7F5"/>
          </a:solidFill>
          <a:ln w="9525">
            <a:solidFill>
              <a:srgbClr val="D5DED9"/>
            </a:solidFill>
            <a:prstDash val="solid"/>
          </a:ln>
        </p:spPr>
      </p:sp>
      <p:sp>
        <p:nvSpPr>
          <p:cNvPr id="13" name="Text 11"/>
          <p:cNvSpPr txBox="1"/>
          <p:nvPr/>
        </p:nvSpPr>
        <p:spPr>
          <a:xfrm>
            <a:off x="6217920" y="1508760"/>
            <a:ext cx="731520" cy="457200"/>
          </a:xfrm>
          <a:prstGeom prst="rect">
            <a:avLst/>
          </a:prstGeom>
          <a:noFill/>
          <a:ln/>
        </p:spPr>
        <p:txBody>
          <a:bodyPr wrap="square" lIns="0" tIns="0" rIns="0" bIns="0" rtlCol="0" anchor="t"/>
          <a:lstStyle/>
          <a:p>
            <a:pPr indent="0" marL="0">
              <a:buNone/>
            </a:pPr>
            <a:r>
              <a:rPr lang="en-US" sz="2600" b="1" dirty="0">
                <a:solidFill>
                  <a:srgbClr val="0E7C86"/>
                </a:solidFill>
                <a:latin typeface="Calibri" pitchFamily="34" charset="0"/>
                <a:ea typeface="Calibri" pitchFamily="34" charset="-122"/>
                <a:cs typeface="Calibri" pitchFamily="34" charset="-120"/>
              </a:rPr>
              <a:t>03</a:t>
            </a:r>
            <a:endParaRPr lang="en-US" sz="2600" dirty="0"/>
          </a:p>
        </p:txBody>
      </p:sp>
      <p:sp>
        <p:nvSpPr>
          <p:cNvPr id="14" name="Text 12"/>
          <p:cNvSpPr txBox="1"/>
          <p:nvPr/>
        </p:nvSpPr>
        <p:spPr>
          <a:xfrm>
            <a:off x="6217920" y="1938528"/>
            <a:ext cx="22860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Explore and understand</a:t>
            </a:r>
            <a:endParaRPr lang="en-US" sz="1300" dirty="0"/>
          </a:p>
        </p:txBody>
      </p:sp>
      <p:sp>
        <p:nvSpPr>
          <p:cNvPr id="15" name="Text 13"/>
          <p:cNvSpPr txBox="1"/>
          <p:nvPr/>
        </p:nvSpPr>
        <p:spPr>
          <a:xfrm>
            <a:off x="6217920" y="2212848"/>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Notebook 2: open the file, decode it, filter it, clip it to the country</a:t>
            </a:r>
            <a:endParaRPr lang="en-US" sz="1050" dirty="0"/>
          </a:p>
        </p:txBody>
      </p:sp>
      <p:sp>
        <p:nvSpPr>
          <p:cNvPr id="16" name="Shape 14"/>
          <p:cNvSpPr/>
          <p:nvPr/>
        </p:nvSpPr>
        <p:spPr>
          <a:xfrm>
            <a:off x="457200" y="2971800"/>
            <a:ext cx="2606040" cy="1417320"/>
          </a:xfrm>
          <a:prstGeom prst="roundRect">
            <a:avLst>
              <a:gd name="adj" fmla="val 5161"/>
            </a:avLst>
          </a:prstGeom>
          <a:solidFill>
            <a:srgbClr val="F4F7F5"/>
          </a:solidFill>
          <a:ln w="9525">
            <a:solidFill>
              <a:srgbClr val="D5DED9"/>
            </a:solidFill>
            <a:prstDash val="solid"/>
          </a:ln>
        </p:spPr>
      </p:sp>
      <p:sp>
        <p:nvSpPr>
          <p:cNvPr id="17" name="Text 15"/>
          <p:cNvSpPr txBox="1"/>
          <p:nvPr/>
        </p:nvSpPr>
        <p:spPr>
          <a:xfrm>
            <a:off x="640080" y="3108960"/>
            <a:ext cx="731520" cy="457200"/>
          </a:xfrm>
          <a:prstGeom prst="rect">
            <a:avLst/>
          </a:prstGeom>
          <a:noFill/>
          <a:ln/>
        </p:spPr>
        <p:txBody>
          <a:bodyPr wrap="square" lIns="0" tIns="0" rIns="0" bIns="0" rtlCol="0" anchor="t"/>
          <a:lstStyle/>
          <a:p>
            <a:pPr indent="0" marL="0">
              <a:buNone/>
            </a:pPr>
            <a:r>
              <a:rPr lang="en-US" sz="2600" b="1" dirty="0">
                <a:solidFill>
                  <a:srgbClr val="D49A00"/>
                </a:solidFill>
                <a:latin typeface="Calibri" pitchFamily="34" charset="0"/>
                <a:ea typeface="Calibri" pitchFamily="34" charset="-122"/>
                <a:cs typeface="Calibri" pitchFamily="34" charset="-120"/>
              </a:rPr>
              <a:t>04</a:t>
            </a:r>
            <a:endParaRPr lang="en-US" sz="2600" dirty="0"/>
          </a:p>
        </p:txBody>
      </p:sp>
      <p:sp>
        <p:nvSpPr>
          <p:cNvPr id="18" name="Text 16"/>
          <p:cNvSpPr txBox="1"/>
          <p:nvPr/>
        </p:nvSpPr>
        <p:spPr>
          <a:xfrm>
            <a:off x="640080" y="3538728"/>
            <a:ext cx="22860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Analyse</a:t>
            </a:r>
            <a:endParaRPr lang="en-US" sz="1300" dirty="0"/>
          </a:p>
        </p:txBody>
      </p:sp>
      <p:sp>
        <p:nvSpPr>
          <p:cNvPr id="19" name="Text 17"/>
          <p:cNvSpPr txBox="1"/>
          <p:nvPr/>
        </p:nvSpPr>
        <p:spPr>
          <a:xfrm>
            <a:off x="640080" y="3813048"/>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Notebook 3: trends, regions, GDP, shocks, inequality, industrial zones</a:t>
            </a:r>
            <a:endParaRPr lang="en-US" sz="1050" dirty="0"/>
          </a:p>
        </p:txBody>
      </p:sp>
      <p:sp>
        <p:nvSpPr>
          <p:cNvPr id="20" name="Shape 18"/>
          <p:cNvSpPr/>
          <p:nvPr/>
        </p:nvSpPr>
        <p:spPr>
          <a:xfrm>
            <a:off x="3246120" y="2971800"/>
            <a:ext cx="2606040" cy="1417320"/>
          </a:xfrm>
          <a:prstGeom prst="roundRect">
            <a:avLst>
              <a:gd name="adj" fmla="val 5161"/>
            </a:avLst>
          </a:prstGeom>
          <a:solidFill>
            <a:srgbClr val="F4F7F5"/>
          </a:solidFill>
          <a:ln w="9525">
            <a:solidFill>
              <a:srgbClr val="D5DED9"/>
            </a:solidFill>
            <a:prstDash val="solid"/>
          </a:ln>
        </p:spPr>
      </p:sp>
      <p:sp>
        <p:nvSpPr>
          <p:cNvPr id="21" name="Text 19"/>
          <p:cNvSpPr txBox="1"/>
          <p:nvPr/>
        </p:nvSpPr>
        <p:spPr>
          <a:xfrm>
            <a:off x="3429000" y="3108960"/>
            <a:ext cx="731520" cy="457200"/>
          </a:xfrm>
          <a:prstGeom prst="rect">
            <a:avLst/>
          </a:prstGeom>
          <a:noFill/>
          <a:ln/>
        </p:spPr>
        <p:txBody>
          <a:bodyPr wrap="square" lIns="0" tIns="0" rIns="0" bIns="0" rtlCol="0" anchor="t"/>
          <a:lstStyle/>
          <a:p>
            <a:pPr indent="0" marL="0">
              <a:buNone/>
            </a:pPr>
            <a:r>
              <a:rPr lang="en-US" sz="2600" b="1" dirty="0">
                <a:solidFill>
                  <a:srgbClr val="C4621D"/>
                </a:solidFill>
                <a:latin typeface="Calibri" pitchFamily="34" charset="0"/>
                <a:ea typeface="Calibri" pitchFamily="34" charset="-122"/>
                <a:cs typeface="Calibri" pitchFamily="34" charset="-120"/>
              </a:rPr>
              <a:t>05</a:t>
            </a:r>
            <a:endParaRPr lang="en-US" sz="2600" dirty="0"/>
          </a:p>
        </p:txBody>
      </p:sp>
      <p:sp>
        <p:nvSpPr>
          <p:cNvPr id="22" name="Text 20"/>
          <p:cNvSpPr txBox="1"/>
          <p:nvPr/>
        </p:nvSpPr>
        <p:spPr>
          <a:xfrm>
            <a:off x="3429000" y="3538728"/>
            <a:ext cx="22860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Publish and check</a:t>
            </a:r>
            <a:endParaRPr lang="en-US" sz="1300" dirty="0"/>
          </a:p>
        </p:txBody>
      </p:sp>
      <p:sp>
        <p:nvSpPr>
          <p:cNvPr id="23" name="Text 21"/>
          <p:cNvSpPr txBox="1"/>
          <p:nvPr/>
        </p:nvSpPr>
        <p:spPr>
          <a:xfrm>
            <a:off x="3429000" y="3813048"/>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Static dashboard, reproducibility manifest, checks and limits</a:t>
            </a:r>
            <a:endParaRPr lang="en-US" sz="1050" dirty="0"/>
          </a:p>
        </p:txBody>
      </p:sp>
      <p:sp>
        <p:nvSpPr>
          <p:cNvPr id="24" name="Shape 22"/>
          <p:cNvSpPr/>
          <p:nvPr/>
        </p:nvSpPr>
        <p:spPr>
          <a:xfrm>
            <a:off x="6035040" y="2971800"/>
            <a:ext cx="2606040" cy="1417320"/>
          </a:xfrm>
          <a:prstGeom prst="roundRect">
            <a:avLst>
              <a:gd name="adj" fmla="val 5161"/>
            </a:avLst>
          </a:prstGeom>
          <a:solidFill>
            <a:srgbClr val="F4F7F5"/>
          </a:solidFill>
          <a:ln w="9525">
            <a:solidFill>
              <a:srgbClr val="D5DED9"/>
            </a:solidFill>
            <a:prstDash val="solid"/>
          </a:ln>
        </p:spPr>
      </p:sp>
      <p:sp>
        <p:nvSpPr>
          <p:cNvPr id="25" name="Text 23"/>
          <p:cNvSpPr txBox="1"/>
          <p:nvPr/>
        </p:nvSpPr>
        <p:spPr>
          <a:xfrm>
            <a:off x="6217920" y="3108960"/>
            <a:ext cx="731520" cy="457200"/>
          </a:xfrm>
          <a:prstGeom prst="rect">
            <a:avLst/>
          </a:prstGeom>
          <a:noFill/>
          <a:ln/>
        </p:spPr>
        <p:txBody>
          <a:bodyPr wrap="square" lIns="0" tIns="0" rIns="0" bIns="0" rtlCol="0" anchor="t"/>
          <a:lstStyle/>
          <a:p>
            <a:pPr indent="0" marL="0">
              <a:buNone/>
            </a:pPr>
            <a:r>
              <a:rPr lang="en-US" sz="2600" b="1" dirty="0">
                <a:solidFill>
                  <a:srgbClr val="B83B2E"/>
                </a:solidFill>
                <a:latin typeface="Calibri" pitchFamily="34" charset="0"/>
                <a:ea typeface="Calibri" pitchFamily="34" charset="-122"/>
                <a:cs typeface="Calibri" pitchFamily="34" charset="-120"/>
              </a:rPr>
              <a:t>06</a:t>
            </a:r>
            <a:endParaRPr lang="en-US" sz="2600" dirty="0"/>
          </a:p>
        </p:txBody>
      </p:sp>
      <p:sp>
        <p:nvSpPr>
          <p:cNvPr id="26" name="Text 24"/>
          <p:cNvSpPr txBox="1"/>
          <p:nvPr/>
        </p:nvSpPr>
        <p:spPr>
          <a:xfrm>
            <a:off x="6217920" y="3538728"/>
            <a:ext cx="22860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Key takeaways</a:t>
            </a:r>
            <a:endParaRPr lang="en-US" sz="1300" dirty="0"/>
          </a:p>
        </p:txBody>
      </p:sp>
      <p:sp>
        <p:nvSpPr>
          <p:cNvPr id="27" name="Text 25"/>
          <p:cNvSpPr txBox="1"/>
          <p:nvPr/>
        </p:nvSpPr>
        <p:spPr>
          <a:xfrm>
            <a:off x="6217920" y="3813048"/>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What to verify before publishing a number</a:t>
            </a:r>
            <a:endParaRPr lang="en-US" sz="1050" dirty="0"/>
          </a:p>
        </p:txBody>
      </p:sp>
      <p:sp>
        <p:nvSpPr>
          <p:cNvPr id="28" name="Shape 26"/>
          <p:cNvSpPr/>
          <p:nvPr/>
        </p:nvSpPr>
        <p:spPr>
          <a:xfrm>
            <a:off x="7644384" y="338328"/>
            <a:ext cx="100584" cy="100584"/>
          </a:xfrm>
          <a:prstGeom prst="ellipse">
            <a:avLst/>
          </a:prstGeom>
          <a:solidFill>
            <a:srgbClr val="00A86A"/>
          </a:solidFill>
          <a:ln w="12700">
            <a:solidFill>
              <a:srgbClr val="00A86A"/>
            </a:solidFill>
            <a:prstDash val="solid"/>
          </a:ln>
        </p:spPr>
      </p:sp>
      <p:sp>
        <p:nvSpPr>
          <p:cNvPr id="29" name="Shape 27"/>
          <p:cNvSpPr/>
          <p:nvPr/>
        </p:nvSpPr>
        <p:spPr>
          <a:xfrm>
            <a:off x="7818120" y="338328"/>
            <a:ext cx="100584" cy="100584"/>
          </a:xfrm>
          <a:prstGeom prst="ellipse">
            <a:avLst/>
          </a:prstGeom>
          <a:solidFill>
            <a:srgbClr val="00704A"/>
          </a:solidFill>
          <a:ln w="12700">
            <a:solidFill>
              <a:srgbClr val="00704A"/>
            </a:solidFill>
            <a:prstDash val="solid"/>
          </a:ln>
        </p:spPr>
      </p:sp>
      <p:sp>
        <p:nvSpPr>
          <p:cNvPr id="30" name="Shape 28"/>
          <p:cNvSpPr/>
          <p:nvPr/>
        </p:nvSpPr>
        <p:spPr>
          <a:xfrm>
            <a:off x="7991856" y="338328"/>
            <a:ext cx="100584" cy="100584"/>
          </a:xfrm>
          <a:prstGeom prst="ellipse">
            <a:avLst/>
          </a:prstGeom>
          <a:solidFill>
            <a:srgbClr val="0E7C86"/>
          </a:solidFill>
          <a:ln w="12700">
            <a:solidFill>
              <a:srgbClr val="0E7C86"/>
            </a:solidFill>
            <a:prstDash val="solid"/>
          </a:ln>
        </p:spPr>
      </p:sp>
      <p:sp>
        <p:nvSpPr>
          <p:cNvPr id="31" name="Shape 29"/>
          <p:cNvSpPr/>
          <p:nvPr/>
        </p:nvSpPr>
        <p:spPr>
          <a:xfrm>
            <a:off x="8165592" y="338328"/>
            <a:ext cx="100584" cy="100584"/>
          </a:xfrm>
          <a:prstGeom prst="ellipse">
            <a:avLst/>
          </a:prstGeom>
          <a:solidFill>
            <a:srgbClr val="D49A00"/>
          </a:solidFill>
          <a:ln w="12700">
            <a:solidFill>
              <a:srgbClr val="D49A00"/>
            </a:solidFill>
            <a:prstDash val="solid"/>
          </a:ln>
        </p:spPr>
      </p:sp>
      <p:sp>
        <p:nvSpPr>
          <p:cNvPr id="32" name="Shape 30"/>
          <p:cNvSpPr/>
          <p:nvPr/>
        </p:nvSpPr>
        <p:spPr>
          <a:xfrm>
            <a:off x="8339328" y="338328"/>
            <a:ext cx="100584" cy="100584"/>
          </a:xfrm>
          <a:prstGeom prst="ellipse">
            <a:avLst/>
          </a:prstGeom>
          <a:solidFill>
            <a:srgbClr val="C4621D"/>
          </a:solidFill>
          <a:ln w="12700">
            <a:solidFill>
              <a:srgbClr val="C4621D"/>
            </a:solidFill>
            <a:prstDash val="solid"/>
          </a:ln>
        </p:spPr>
      </p:sp>
      <p:sp>
        <p:nvSpPr>
          <p:cNvPr id="33" name="Shape 31"/>
          <p:cNvSpPr/>
          <p:nvPr/>
        </p:nvSpPr>
        <p:spPr>
          <a:xfrm>
            <a:off x="8513064" y="338328"/>
            <a:ext cx="100584" cy="100584"/>
          </a:xfrm>
          <a:prstGeom prst="ellipse">
            <a:avLst/>
          </a:prstGeom>
          <a:solidFill>
            <a:srgbClr val="B83B2E"/>
          </a:solidFill>
          <a:ln w="12700">
            <a:solidFill>
              <a:srgbClr val="B83B2E"/>
            </a:solidFill>
            <a:prstDash val="solid"/>
          </a:ln>
        </p:spPr>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t"/>
          <a:lstStyle/>
          <a:p>
            <a:pPr indent="0" marL="0">
              <a:buNone/>
            </a:pPr>
            <a:r>
              <a:rPr lang="en-US" sz="8000" b="1" dirty="0">
                <a:solidFill>
                  <a:srgbClr val="F5C242"/>
                </a:solidFill>
                <a:latin typeface="Calibri" pitchFamily="34" charset="0"/>
                <a:ea typeface="Calibri" pitchFamily="34" charset="-122"/>
                <a:cs typeface="Calibri" pitchFamily="34" charset="-120"/>
              </a:rPr>
              <a:t>01</a:t>
            </a:r>
            <a:endParaRPr lang="en-US" sz="8000" dirty="0"/>
          </a:p>
        </p:txBody>
      </p:sp>
      <p:sp>
        <p:nvSpPr>
          <p:cNvPr id="4" name="Text 2"/>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The series</a:t>
            </a:r>
            <a:endParaRPr lang="en-US" sz="4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Why do night-time satellite images tell us about an economy?</a:t>
            </a:r>
            <a:endParaRPr lang="en-US" sz="1800" dirty="0"/>
          </a:p>
        </p:txBody>
      </p:sp>
      <p:sp>
        <p:nvSpPr>
          <p:cNvPr id="6" name="Shape 4"/>
          <p:cNvSpPr/>
          <p:nvPr/>
        </p:nvSpPr>
        <p:spPr>
          <a:xfrm>
            <a:off x="6309360" y="1234440"/>
            <a:ext cx="2286000" cy="2286000"/>
          </a:xfrm>
          <a:prstGeom prst="ellipse">
            <a:avLst/>
          </a:prstGeom>
          <a:solidFill>
            <a:srgbClr val="FFFFFF">
              <a:alpha val="8000"/>
            </a:srgbClr>
          </a:solidFill>
          <a:ln w="12700">
            <a:solidFill>
              <a:srgbClr val="FFFFFF">
                <a:alpha val="30000"/>
              </a:srgbClr>
            </a:solidFill>
            <a:prstDash val="solid"/>
          </a:ln>
        </p:spPr>
      </p:sp>
      <p:sp>
        <p:nvSpPr>
          <p:cNvPr id="7" name="Shape 5"/>
          <p:cNvSpPr/>
          <p:nvPr/>
        </p:nvSpPr>
        <p:spPr>
          <a:xfrm>
            <a:off x="6675120" y="1600200"/>
            <a:ext cx="1554480" cy="1554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086600" y="2011680"/>
            <a:ext cx="731520" cy="731520"/>
          </a:xfrm>
          <a:prstGeom prst="rect">
            <a:avLst/>
          </a:prstGeom>
        </p:spPr>
      </p:pic>
      <p:sp>
        <p:nvSpPr>
          <p:cNvPr id="9" name="Shape 6"/>
          <p:cNvSpPr/>
          <p:nvPr/>
        </p:nvSpPr>
        <p:spPr>
          <a:xfrm>
            <a:off x="566928" y="4251960"/>
            <a:ext cx="118872" cy="118872"/>
          </a:xfrm>
          <a:prstGeom prst="ellipse">
            <a:avLst/>
          </a:prstGeom>
          <a:solidFill>
            <a:srgbClr val="F5C242"/>
          </a:solidFill>
          <a:ln w="12700">
            <a:solidFill>
              <a:srgbClr val="FFFFFF">
                <a:alpha val="0"/>
              </a:srgbClr>
            </a:solidFill>
            <a:prstDash val="solid"/>
          </a:ln>
        </p:spPr>
      </p:sp>
      <p:sp>
        <p:nvSpPr>
          <p:cNvPr id="10" name="Shape 7"/>
          <p:cNvSpPr/>
          <p:nvPr/>
        </p:nvSpPr>
        <p:spPr>
          <a:xfrm>
            <a:off x="786384" y="4251960"/>
            <a:ext cx="118872" cy="118872"/>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005840" y="4251960"/>
            <a:ext cx="118872" cy="118872"/>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225296" y="4251960"/>
            <a:ext cx="118872" cy="118872"/>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1444752" y="4251960"/>
            <a:ext cx="118872" cy="118872"/>
          </a:xfrm>
          <a:prstGeom prst="ellipse">
            <a:avLst/>
          </a:prstGeom>
          <a:solidFill>
            <a:srgbClr val="FFFFFF">
              <a:alpha val="40000"/>
            </a:srgbClr>
          </a:solidFill>
          <a:ln w="12700">
            <a:solidFill>
              <a:srgbClr val="FFFFFF">
                <a:alpha val="0"/>
              </a:srgbClr>
            </a:solidFill>
            <a:prstDash val="solid"/>
          </a:ln>
        </p:spPr>
      </p:sp>
      <p:sp>
        <p:nvSpPr>
          <p:cNvPr id="14" name="Shape 11"/>
          <p:cNvSpPr/>
          <p:nvPr/>
        </p:nvSpPr>
        <p:spPr>
          <a:xfrm>
            <a:off x="1664208" y="4251960"/>
            <a:ext cx="118872" cy="118872"/>
          </a:xfrm>
          <a:prstGeom prst="ellipse">
            <a:avLst/>
          </a:prstGeom>
          <a:solidFill>
            <a:srgbClr val="FFFFFF">
              <a:alpha val="40000"/>
            </a:srgbClr>
          </a:solidFill>
          <a:ln w="12700">
            <a:solidFill>
              <a:srgbClr val="FFFFFF">
                <a:alpha val="0"/>
              </a:srgbClr>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01 · THE SERIES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Light seen from space, a footprint of activity</a:t>
            </a:r>
            <a:endParaRPr lang="en-US" sz="2800" dirty="0"/>
          </a:p>
        </p:txBody>
      </p:sp>
      <p:sp>
        <p:nvSpPr>
          <p:cNvPr id="4" name="dot0"/>
          <p:cNvSpPr/>
          <p:nvPr/>
        </p:nvSpPr>
        <p:spPr>
          <a:xfrm>
            <a:off x="7644384" y="338328"/>
            <a:ext cx="100584" cy="100584"/>
          </a:xfrm>
          <a:prstGeom prst="ellipse">
            <a:avLst/>
          </a:prstGeom>
          <a:solidFill>
            <a:srgbClr val="00A86A"/>
          </a:solidFill>
          <a:ln w="12700">
            <a:solidFill>
              <a:srgbClr val="00A86A"/>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3291840" cy="896112"/>
          </a:xfrm>
          <a:prstGeom prst="roundRect">
            <a:avLst>
              <a:gd name="adj" fmla="val 8163"/>
            </a:avLst>
          </a:prstGeom>
          <a:solidFill>
            <a:srgbClr val="E8F5EF"/>
          </a:solidFill>
          <a:ln w="15875">
            <a:solidFill>
              <a:srgbClr val="00A86A"/>
            </a:solidFill>
            <a:prstDash val="solid"/>
          </a:ln>
        </p:spPr>
      </p:sp>
      <p:sp>
        <p:nvSpPr>
          <p:cNvPr id="12" name="Text 9"/>
          <p:cNvSpPr txBox="1"/>
          <p:nvPr/>
        </p:nvSpPr>
        <p:spPr>
          <a:xfrm>
            <a:off x="640080" y="1463040"/>
            <a:ext cx="3017520" cy="457200"/>
          </a:xfrm>
          <a:prstGeom prst="rect">
            <a:avLst/>
          </a:prstGeom>
          <a:noFill/>
          <a:ln/>
        </p:spPr>
        <p:txBody>
          <a:bodyPr wrap="square" lIns="0" tIns="0" rIns="0" bIns="0" rtlCol="0" anchor="t"/>
          <a:lstStyle/>
          <a:p>
            <a:pPr indent="0" marL="0">
              <a:buNone/>
            </a:pPr>
            <a:r>
              <a:rPr lang="en-US" sz="3000" b="1" dirty="0">
                <a:solidFill>
                  <a:srgbClr val="00A86A"/>
                </a:solidFill>
                <a:latin typeface="Calibri" pitchFamily="34" charset="0"/>
                <a:ea typeface="Calibri" pitchFamily="34" charset="-122"/>
                <a:cs typeface="Calibri" pitchFamily="34" charset="-120"/>
              </a:rPr>
              <a:t>~463 m</a:t>
            </a:r>
            <a:endParaRPr lang="en-US" sz="3000" dirty="0"/>
          </a:p>
        </p:txBody>
      </p:sp>
      <p:sp>
        <p:nvSpPr>
          <p:cNvPr id="13" name="Text 10"/>
          <p:cNvSpPr txBox="1"/>
          <p:nvPr/>
        </p:nvSpPr>
        <p:spPr>
          <a:xfrm>
            <a:off x="640080" y="1920240"/>
            <a:ext cx="3017520" cy="27432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pixel size (15 arc-seconds)</a:t>
            </a:r>
            <a:endParaRPr lang="en-US" sz="1100" dirty="0"/>
          </a:p>
        </p:txBody>
      </p:sp>
      <p:sp>
        <p:nvSpPr>
          <p:cNvPr id="14" name="Shape 11"/>
          <p:cNvSpPr/>
          <p:nvPr/>
        </p:nvSpPr>
        <p:spPr>
          <a:xfrm>
            <a:off x="457200" y="2395728"/>
            <a:ext cx="3291840" cy="896112"/>
          </a:xfrm>
          <a:prstGeom prst="roundRect">
            <a:avLst>
              <a:gd name="adj" fmla="val 8163"/>
            </a:avLst>
          </a:prstGeom>
          <a:solidFill>
            <a:srgbClr val="F4F7F5"/>
          </a:solidFill>
          <a:ln w="9525">
            <a:solidFill>
              <a:srgbClr val="D5DED9"/>
            </a:solidFill>
            <a:prstDash val="solid"/>
          </a:ln>
        </p:spPr>
      </p:sp>
      <p:sp>
        <p:nvSpPr>
          <p:cNvPr id="15" name="Text 12"/>
          <p:cNvSpPr txBox="1"/>
          <p:nvPr/>
        </p:nvSpPr>
        <p:spPr>
          <a:xfrm>
            <a:off x="640080" y="2487168"/>
            <a:ext cx="3017520" cy="457200"/>
          </a:xfrm>
          <a:prstGeom prst="rect">
            <a:avLst/>
          </a:prstGeom>
          <a:noFill/>
          <a:ln/>
        </p:spPr>
        <p:txBody>
          <a:bodyPr wrap="square" lIns="0" tIns="0" rIns="0" bIns="0" rtlCol="0" anchor="t"/>
          <a:lstStyle/>
          <a:p>
            <a:pPr indent="0" marL="0">
              <a:buNone/>
            </a:pPr>
            <a:r>
              <a:rPr lang="en-US" sz="3000" b="1" dirty="0">
                <a:solidFill>
                  <a:srgbClr val="00704A"/>
                </a:solidFill>
                <a:latin typeface="Calibri" pitchFamily="34" charset="0"/>
                <a:ea typeface="Calibri" pitchFamily="34" charset="-122"/>
                <a:cs typeface="Calibri" pitchFamily="34" charset="-120"/>
              </a:rPr>
              <a:t>Every night</a:t>
            </a:r>
            <a:endParaRPr lang="en-US" sz="3000" dirty="0"/>
          </a:p>
        </p:txBody>
      </p:sp>
      <p:sp>
        <p:nvSpPr>
          <p:cNvPr id="16" name="Text 13"/>
          <p:cNvSpPr txBox="1"/>
          <p:nvPr/>
        </p:nvSpPr>
        <p:spPr>
          <a:xfrm>
            <a:off x="640080" y="2944368"/>
            <a:ext cx="3017520" cy="27432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since 19 January 2012 (Black Marble)</a:t>
            </a:r>
            <a:endParaRPr lang="en-US" sz="1100" dirty="0"/>
          </a:p>
        </p:txBody>
      </p:sp>
      <p:sp>
        <p:nvSpPr>
          <p:cNvPr id="17" name="Shape 14"/>
          <p:cNvSpPr/>
          <p:nvPr/>
        </p:nvSpPr>
        <p:spPr>
          <a:xfrm>
            <a:off x="457200" y="3419856"/>
            <a:ext cx="3291840" cy="896112"/>
          </a:xfrm>
          <a:prstGeom prst="roundRect">
            <a:avLst>
              <a:gd name="adj" fmla="val 8163"/>
            </a:avLst>
          </a:prstGeom>
          <a:solidFill>
            <a:srgbClr val="F4F7F5"/>
          </a:solidFill>
          <a:ln w="9525">
            <a:solidFill>
              <a:srgbClr val="D5DED9"/>
            </a:solidFill>
            <a:prstDash val="solid"/>
          </a:ln>
        </p:spPr>
      </p:sp>
      <p:sp>
        <p:nvSpPr>
          <p:cNvPr id="18" name="Text 15"/>
          <p:cNvSpPr txBox="1"/>
          <p:nvPr/>
        </p:nvSpPr>
        <p:spPr>
          <a:xfrm>
            <a:off x="640080" y="3511296"/>
            <a:ext cx="3017520" cy="457200"/>
          </a:xfrm>
          <a:prstGeom prst="rect">
            <a:avLst/>
          </a:prstGeom>
          <a:noFill/>
          <a:ln/>
        </p:spPr>
        <p:txBody>
          <a:bodyPr wrap="square" lIns="0" tIns="0" rIns="0" bIns="0" rtlCol="0" anchor="t"/>
          <a:lstStyle/>
          <a:p>
            <a:pPr indent="0" marL="0">
              <a:buNone/>
            </a:pPr>
            <a:r>
              <a:rPr lang="en-US" sz="3000" b="1" dirty="0">
                <a:solidFill>
                  <a:srgbClr val="0E7C86"/>
                </a:solidFill>
                <a:latin typeface="Calibri" pitchFamily="34" charset="0"/>
                <a:ea typeface="Calibri" pitchFamily="34" charset="-122"/>
                <a:cs typeface="Calibri" pitchFamily="34" charset="-120"/>
              </a:rPr>
              <a:t>01:30</a:t>
            </a:r>
            <a:endParaRPr lang="en-US" sz="3000" dirty="0"/>
          </a:p>
        </p:txBody>
      </p:sp>
      <p:sp>
        <p:nvSpPr>
          <p:cNvPr id="19" name="Text 16"/>
          <p:cNvSpPr txBox="1"/>
          <p:nvPr/>
        </p:nvSpPr>
        <p:spPr>
          <a:xfrm>
            <a:off x="640080" y="3968496"/>
            <a:ext cx="3017520" cy="27432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local satellite overpass time</a:t>
            </a:r>
            <a:endParaRPr lang="en-US" sz="1100" dirty="0"/>
          </a:p>
        </p:txBody>
      </p:sp>
      <p:sp>
        <p:nvSpPr>
          <p:cNvPr id="20" name="Shape 17"/>
          <p:cNvSpPr/>
          <p:nvPr/>
        </p:nvSpPr>
        <p:spPr>
          <a:xfrm>
            <a:off x="4114800" y="1481328"/>
            <a:ext cx="566928" cy="566928"/>
          </a:xfrm>
          <a:prstGeom prst="ellipse">
            <a:avLst/>
          </a:prstGeom>
          <a:solidFill>
            <a:srgbClr val="00A86A">
              <a:alpha val="22000"/>
            </a:srgbClr>
          </a:solidFill>
          <a:ln w="12700">
            <a:solidFill>
              <a:srgbClr val="00A86A">
                <a:alpha val="0"/>
              </a:srgbClr>
            </a:solidFill>
            <a:prstDash val="solid"/>
          </a:ln>
        </p:spPr>
      </p:sp>
      <p:pic>
        <p:nvPicPr>
          <p:cNvPr id="21" name="Image 0" descr="preencoded.png">    </p:cNvPr>
          <p:cNvPicPr>
            <a:picLocks noChangeAspect="1"/>
          </p:cNvPicPr>
          <p:nvPr/>
        </p:nvPicPr>
        <p:blipFill>
          <a:blip r:embed="rId1"/>
          <a:stretch>
            <a:fillRect/>
          </a:stretch>
        </p:blipFill>
        <p:spPr>
          <a:xfrm>
            <a:off x="4250863" y="1617391"/>
            <a:ext cx="294803" cy="294803"/>
          </a:xfrm>
          <a:prstGeom prst="rect">
            <a:avLst/>
          </a:prstGeom>
        </p:spPr>
      </p:pic>
      <p:sp>
        <p:nvSpPr>
          <p:cNvPr id="22" name="Text 18"/>
          <p:cNvSpPr txBox="1"/>
          <p:nvPr/>
        </p:nvSpPr>
        <p:spPr>
          <a:xfrm>
            <a:off x="4846320" y="1417320"/>
            <a:ext cx="384048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What lights capture well</a:t>
            </a:r>
            <a:endParaRPr lang="en-US" sz="1300" dirty="0"/>
          </a:p>
        </p:txBody>
      </p:sp>
      <p:sp>
        <p:nvSpPr>
          <p:cNvPr id="23" name="Text 19"/>
          <p:cNvSpPr txBox="1"/>
          <p:nvPr/>
        </p:nvSpPr>
        <p:spPr>
          <a:xfrm>
            <a:off x="4846320" y="1719072"/>
            <a:ext cx="3840480" cy="566928"/>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Urban activity, industry running at night, electrification, outages, displacement, sudden shocks</a:t>
            </a:r>
            <a:endParaRPr lang="en-US" sz="1100" dirty="0"/>
          </a:p>
        </p:txBody>
      </p:sp>
      <p:sp>
        <p:nvSpPr>
          <p:cNvPr id="24" name="Shape 20"/>
          <p:cNvSpPr/>
          <p:nvPr/>
        </p:nvSpPr>
        <p:spPr>
          <a:xfrm>
            <a:off x="4114800" y="2505456"/>
            <a:ext cx="566928" cy="566928"/>
          </a:xfrm>
          <a:prstGeom prst="ellipse">
            <a:avLst/>
          </a:prstGeom>
          <a:solidFill>
            <a:srgbClr val="00704A">
              <a:alpha val="22000"/>
            </a:srgbClr>
          </a:solidFill>
          <a:ln w="12700">
            <a:solidFill>
              <a:srgbClr val="00704A">
                <a:alpha val="0"/>
              </a:srgbClr>
            </a:solidFill>
            <a:prstDash val="solid"/>
          </a:ln>
        </p:spPr>
      </p:sp>
      <p:pic>
        <p:nvPicPr>
          <p:cNvPr id="25" name="Image 1" descr="preencoded.png">    </p:cNvPr>
          <p:cNvPicPr>
            <a:picLocks noChangeAspect="1"/>
          </p:cNvPicPr>
          <p:nvPr/>
        </p:nvPicPr>
        <p:blipFill>
          <a:blip r:embed="rId2"/>
          <a:stretch>
            <a:fillRect/>
          </a:stretch>
        </p:blipFill>
        <p:spPr>
          <a:xfrm>
            <a:off x="4250863" y="2641519"/>
            <a:ext cx="294803" cy="294803"/>
          </a:xfrm>
          <a:prstGeom prst="rect">
            <a:avLst/>
          </a:prstGeom>
        </p:spPr>
      </p:pic>
      <p:sp>
        <p:nvSpPr>
          <p:cNvPr id="26" name="Text 21"/>
          <p:cNvSpPr txBox="1"/>
          <p:nvPr/>
        </p:nvSpPr>
        <p:spPr>
          <a:xfrm>
            <a:off x="4846320" y="2441448"/>
            <a:ext cx="384048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What they capture poorly</a:t>
            </a:r>
            <a:endParaRPr lang="en-US" sz="1300" dirty="0"/>
          </a:p>
        </p:txBody>
      </p:sp>
      <p:sp>
        <p:nvSpPr>
          <p:cNvPr id="27" name="Text 22"/>
          <p:cNvSpPr txBox="1"/>
          <p:nvPr/>
        </p:nvSpPr>
        <p:spPr>
          <a:xfrm>
            <a:off x="4846320" y="2743200"/>
            <a:ext cx="3840480" cy="566928"/>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Agriculture, daytime trade, much of the services sector and the rural informal economy</a:t>
            </a:r>
            <a:endParaRPr lang="en-US" sz="1100" dirty="0"/>
          </a:p>
        </p:txBody>
      </p:sp>
      <p:sp>
        <p:nvSpPr>
          <p:cNvPr id="28" name="Shape 23"/>
          <p:cNvSpPr/>
          <p:nvPr/>
        </p:nvSpPr>
        <p:spPr>
          <a:xfrm>
            <a:off x="4114800" y="3529584"/>
            <a:ext cx="566928" cy="566928"/>
          </a:xfrm>
          <a:prstGeom prst="ellipse">
            <a:avLst/>
          </a:prstGeom>
          <a:solidFill>
            <a:srgbClr val="0E7C86">
              <a:alpha val="22000"/>
            </a:srgbClr>
          </a:solidFill>
          <a:ln w="12700">
            <a:solidFill>
              <a:srgbClr val="0E7C86">
                <a:alpha val="0"/>
              </a:srgbClr>
            </a:solidFill>
            <a:prstDash val="solid"/>
          </a:ln>
        </p:spPr>
      </p:sp>
      <p:pic>
        <p:nvPicPr>
          <p:cNvPr id="29" name="Image 2" descr="preencoded.png">    </p:cNvPr>
          <p:cNvPicPr>
            <a:picLocks noChangeAspect="1"/>
          </p:cNvPicPr>
          <p:nvPr/>
        </p:nvPicPr>
        <p:blipFill>
          <a:blip r:embed="rId3"/>
          <a:stretch>
            <a:fillRect/>
          </a:stretch>
        </p:blipFill>
        <p:spPr>
          <a:xfrm>
            <a:off x="4250863" y="3665647"/>
            <a:ext cx="294803" cy="294803"/>
          </a:xfrm>
          <a:prstGeom prst="rect">
            <a:avLst/>
          </a:prstGeom>
        </p:spPr>
      </p:pic>
      <p:sp>
        <p:nvSpPr>
          <p:cNvPr id="30" name="Text 24"/>
          <p:cNvSpPr txBox="1"/>
          <p:nvPr/>
        </p:nvSpPr>
        <p:spPr>
          <a:xfrm>
            <a:off x="4846320" y="3465576"/>
            <a:ext cx="384048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How to use them</a:t>
            </a:r>
            <a:endParaRPr lang="en-US" sz="1300" dirty="0"/>
          </a:p>
        </p:txBody>
      </p:sp>
      <p:sp>
        <p:nvSpPr>
          <p:cNvPr id="31" name="Text 25"/>
          <p:cNvSpPr txBox="1"/>
          <p:nvPr/>
        </p:nvSpPr>
        <p:spPr>
          <a:xfrm>
            <a:off x="4846320" y="3767328"/>
            <a:ext cx="3840480" cy="566928"/>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To complement official statistics: direction, timing and geography of activity — not as a substitute for GDP</a:t>
            </a:r>
            <a:endParaRPr lang="en-US" sz="1100" dirty="0"/>
          </a:p>
        </p:txBody>
      </p:sp>
      <p:sp>
        <p:nvSpPr>
          <p:cNvPr id="32" name="Text 26"/>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Román et al. (2018); Henderson, Storeygard &amp; Weil (2012); Chen &amp; Nordhaus (2011)</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01 · THE SERIES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Three notebooks, one pipeline, one parameter</a:t>
            </a:r>
            <a:endParaRPr lang="en-US" sz="2800" dirty="0"/>
          </a:p>
        </p:txBody>
      </p:sp>
      <p:sp>
        <p:nvSpPr>
          <p:cNvPr id="4" name="dot0"/>
          <p:cNvSpPr/>
          <p:nvPr/>
        </p:nvSpPr>
        <p:spPr>
          <a:xfrm>
            <a:off x="7644384" y="338328"/>
            <a:ext cx="100584" cy="100584"/>
          </a:xfrm>
          <a:prstGeom prst="ellipse">
            <a:avLst/>
          </a:prstGeom>
          <a:solidFill>
            <a:srgbClr val="00A86A"/>
          </a:solidFill>
          <a:ln w="12700">
            <a:solidFill>
              <a:srgbClr val="00A86A"/>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2560320" cy="3108960"/>
          </a:xfrm>
          <a:prstGeom prst="roundRect">
            <a:avLst>
              <a:gd name="adj" fmla="val 2857"/>
            </a:avLst>
          </a:prstGeom>
          <a:solidFill>
            <a:srgbClr val="E8F5EF"/>
          </a:solidFill>
          <a:ln w="15875">
            <a:solidFill>
              <a:srgbClr val="00704A"/>
            </a:solidFill>
            <a:prstDash val="solid"/>
          </a:ln>
        </p:spPr>
      </p:sp>
      <p:sp>
        <p:nvSpPr>
          <p:cNvPr id="12" name="Shape 9"/>
          <p:cNvSpPr/>
          <p:nvPr/>
        </p:nvSpPr>
        <p:spPr>
          <a:xfrm>
            <a:off x="640080" y="1508760"/>
            <a:ext cx="548640" cy="548640"/>
          </a:xfrm>
          <a:prstGeom prst="ellipse">
            <a:avLst/>
          </a:prstGeom>
          <a:solidFill>
            <a:srgbClr val="00704A">
              <a:alpha val="22000"/>
            </a:srgbClr>
          </a:solidFill>
          <a:ln w="12700">
            <a:solidFill>
              <a:srgbClr val="00704A">
                <a:alpha val="0"/>
              </a:srgbClr>
            </a:solidFill>
            <a:prstDash val="solid"/>
          </a:ln>
        </p:spPr>
      </p:sp>
      <p:pic>
        <p:nvPicPr>
          <p:cNvPr id="13" name="Image 0" descr="preencoded.png">    </p:cNvPr>
          <p:cNvPicPr>
            <a:picLocks noChangeAspect="1"/>
          </p:cNvPicPr>
          <p:nvPr/>
        </p:nvPicPr>
        <p:blipFill>
          <a:blip r:embed="rId1"/>
          <a:stretch>
            <a:fillRect/>
          </a:stretch>
        </p:blipFill>
        <p:spPr>
          <a:xfrm>
            <a:off x="771754" y="1640434"/>
            <a:ext cx="285293" cy="285293"/>
          </a:xfrm>
          <a:prstGeom prst="rect">
            <a:avLst/>
          </a:prstGeom>
        </p:spPr>
      </p:pic>
      <p:sp>
        <p:nvSpPr>
          <p:cNvPr id="14" name="Text 10"/>
          <p:cNvSpPr txBox="1"/>
          <p:nvPr/>
        </p:nvSpPr>
        <p:spPr>
          <a:xfrm>
            <a:off x="1325880" y="1508760"/>
            <a:ext cx="1600200" cy="54864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Notebook 1 · Collect</a:t>
            </a:r>
            <a:endParaRPr lang="en-US" sz="1300" dirty="0"/>
          </a:p>
        </p:txBody>
      </p:sp>
      <p:sp>
        <p:nvSpPr>
          <p:cNvPr id="15" name="Text 11"/>
          <p:cNvSpPr txBox="1"/>
          <p:nvPr/>
        </p:nvSpPr>
        <p:spPr>
          <a:xfrm>
            <a:off x="640080" y="2167128"/>
            <a:ext cx="2240280" cy="411480"/>
          </a:xfrm>
          <a:prstGeom prst="rect">
            <a:avLst/>
          </a:prstGeom>
          <a:noFill/>
          <a:ln/>
        </p:spPr>
        <p:txBody>
          <a:bodyPr wrap="square" lIns="0" tIns="0" rIns="0" bIns="0" rtlCol="0" anchor="t"/>
          <a:lstStyle/>
          <a:p>
            <a:pPr indent="0" marL="0">
              <a:buNone/>
            </a:pPr>
            <a:r>
              <a:rPr lang="en-US" sz="1050" i="1" dirty="0">
                <a:solidFill>
                  <a:srgbClr val="00704A"/>
                </a:solidFill>
                <a:latin typeface="Calibri" pitchFamily="34" charset="0"/>
                <a:ea typeface="Calibri" pitchFamily="34" charset="-122"/>
                <a:cs typeface="Calibri" pitchFamily="34" charset="-120"/>
              </a:rPr>
              <a:t>NASA Black Marble (VNP46A1–A4)</a:t>
            </a:r>
            <a:endParaRPr lang="en-US" sz="1050" dirty="0"/>
          </a:p>
        </p:txBody>
      </p:sp>
      <p:sp>
        <p:nvSpPr>
          <p:cNvPr id="16" name="Text 12"/>
          <p:cNvSpPr txBox="1"/>
          <p:nvPr/>
        </p:nvSpPr>
        <p:spPr>
          <a:xfrm>
            <a:off x="640080" y="2624328"/>
            <a:ext cx="2240280" cy="1143000"/>
          </a:xfrm>
          <a:prstGeom prst="rect">
            <a:avLst/>
          </a:prstGeom>
          <a:noFill/>
          <a:ln/>
        </p:spPr>
        <p:txBody>
          <a:bodyPr wrap="square" lIns="0" tIns="0" rIns="0" bIns="0" rtlCol="0" anchor="t"/>
          <a:lstStyle/>
          <a:p>
            <a:pPr marL="171450" indent="-17145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Country footprint and VIIRS tiles</a:t>
            </a:r>
            <a:endParaRPr lang="en-US" sz="1100" dirty="0"/>
          </a:p>
          <a:p>
            <a:pPr marL="171450" indent="-17145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NASA CMR catalogue query</a:t>
            </a:r>
            <a:endParaRPr lang="en-US" sz="1100" dirty="0"/>
          </a:p>
          <a:p>
            <a:pPr marL="171450" indent="-17145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Availability matrix, verified download</a:t>
            </a:r>
            <a:endParaRPr lang="en-US" sz="1100" dirty="0"/>
          </a:p>
        </p:txBody>
      </p:sp>
      <p:sp>
        <p:nvSpPr>
          <p:cNvPr id="17" name="Text 13"/>
          <p:cNvSpPr txBox="1"/>
          <p:nvPr/>
        </p:nvSpPr>
        <p:spPr>
          <a:xfrm>
            <a:off x="640080" y="3867912"/>
            <a:ext cx="2240280" cy="411480"/>
          </a:xfrm>
          <a:prstGeom prst="rect">
            <a:avLst/>
          </a:prstGeom>
          <a:noFill/>
          <a:ln/>
        </p:spPr>
        <p:txBody>
          <a:bodyPr wrap="square" lIns="0" tIns="0" rIns="0" bIns="0" rtlCol="0" anchor="t"/>
          <a:lstStyle/>
          <a:p>
            <a:pPr indent="0" marL="0">
              <a:buNone/>
            </a:pPr>
            <a:r>
              <a:rPr lang="en-US" sz="1050" b="1" dirty="0">
                <a:solidFill>
                  <a:srgbClr val="5E6964"/>
                </a:solidFill>
                <a:latin typeface="Calibri" pitchFamily="34" charset="0"/>
                <a:ea typeface="Calibri" pitchFamily="34" charset="-122"/>
                <a:cs typeface="Calibri" pitchFamily="34" charset="-120"/>
              </a:rPr>
              <a:t>Output: .h5 files, inventory, log</a:t>
            </a:r>
            <a:endParaRPr lang="en-US" sz="1050" dirty="0"/>
          </a:p>
        </p:txBody>
      </p:sp>
      <p:sp>
        <p:nvSpPr>
          <p:cNvPr id="18" name="Shape 14"/>
          <p:cNvSpPr/>
          <p:nvPr/>
        </p:nvSpPr>
        <p:spPr>
          <a:xfrm>
            <a:off x="3044952" y="2880360"/>
            <a:ext cx="219456" cy="914"/>
          </a:xfrm>
          <a:prstGeom prst="line">
            <a:avLst/>
          </a:prstGeom>
          <a:noFill/>
          <a:ln w="15875">
            <a:solidFill>
              <a:srgbClr val="5E6964"/>
            </a:solidFill>
            <a:prstDash val="solid"/>
            <a:tailEnd type="triangle"/>
          </a:ln>
        </p:spPr>
      </p:sp>
      <p:sp>
        <p:nvSpPr>
          <p:cNvPr id="19" name="Shape 15"/>
          <p:cNvSpPr/>
          <p:nvPr/>
        </p:nvSpPr>
        <p:spPr>
          <a:xfrm>
            <a:off x="3291840" y="1325880"/>
            <a:ext cx="2560320" cy="3108960"/>
          </a:xfrm>
          <a:prstGeom prst="roundRect">
            <a:avLst>
              <a:gd name="adj" fmla="val 2857"/>
            </a:avLst>
          </a:prstGeom>
          <a:solidFill>
            <a:srgbClr val="F4F7F5"/>
          </a:solidFill>
          <a:ln w="9525">
            <a:solidFill>
              <a:srgbClr val="D5DED9"/>
            </a:solidFill>
            <a:prstDash val="solid"/>
          </a:ln>
        </p:spPr>
      </p:sp>
      <p:sp>
        <p:nvSpPr>
          <p:cNvPr id="20" name="Shape 16"/>
          <p:cNvSpPr/>
          <p:nvPr/>
        </p:nvSpPr>
        <p:spPr>
          <a:xfrm>
            <a:off x="3474720" y="1508760"/>
            <a:ext cx="548640" cy="548640"/>
          </a:xfrm>
          <a:prstGeom prst="ellipse">
            <a:avLst/>
          </a:prstGeom>
          <a:solidFill>
            <a:srgbClr val="0E7C86">
              <a:alpha val="22000"/>
            </a:srgbClr>
          </a:solidFill>
          <a:ln w="12700">
            <a:solidFill>
              <a:srgbClr val="0E7C86">
                <a:alpha val="0"/>
              </a:srgbClr>
            </a:solidFill>
            <a:prstDash val="solid"/>
          </a:ln>
        </p:spPr>
      </p:sp>
      <p:pic>
        <p:nvPicPr>
          <p:cNvPr id="21" name="Image 1" descr="preencoded.png">    </p:cNvPr>
          <p:cNvPicPr>
            <a:picLocks noChangeAspect="1"/>
          </p:cNvPicPr>
          <p:nvPr/>
        </p:nvPicPr>
        <p:blipFill>
          <a:blip r:embed="rId2"/>
          <a:stretch>
            <a:fillRect/>
          </a:stretch>
        </p:blipFill>
        <p:spPr>
          <a:xfrm>
            <a:off x="3606394" y="1640434"/>
            <a:ext cx="285293" cy="285293"/>
          </a:xfrm>
          <a:prstGeom prst="rect">
            <a:avLst/>
          </a:prstGeom>
        </p:spPr>
      </p:pic>
      <p:sp>
        <p:nvSpPr>
          <p:cNvPr id="22" name="Text 17"/>
          <p:cNvSpPr txBox="1"/>
          <p:nvPr/>
        </p:nvSpPr>
        <p:spPr>
          <a:xfrm>
            <a:off x="4160520" y="1508760"/>
            <a:ext cx="1600200" cy="54864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Notebook 2 · Explore</a:t>
            </a:r>
            <a:endParaRPr lang="en-US" sz="1300" dirty="0"/>
          </a:p>
        </p:txBody>
      </p:sp>
      <p:sp>
        <p:nvSpPr>
          <p:cNvPr id="23" name="Text 18"/>
          <p:cNvSpPr txBox="1"/>
          <p:nvPr/>
        </p:nvSpPr>
        <p:spPr>
          <a:xfrm>
            <a:off x="3474720" y="2167128"/>
            <a:ext cx="2240280" cy="411480"/>
          </a:xfrm>
          <a:prstGeom prst="rect">
            <a:avLst/>
          </a:prstGeom>
          <a:noFill/>
          <a:ln/>
        </p:spPr>
        <p:txBody>
          <a:bodyPr wrap="square" lIns="0" tIns="0" rIns="0" bIns="0" rtlCol="0" anchor="t"/>
          <a:lstStyle/>
          <a:p>
            <a:pPr indent="0" marL="0">
              <a:buNone/>
            </a:pPr>
            <a:r>
              <a:rPr lang="en-US" sz="1050" i="1" dirty="0">
                <a:solidFill>
                  <a:srgbClr val="0E7C86"/>
                </a:solidFill>
                <a:latin typeface="Calibri" pitchFamily="34" charset="0"/>
                <a:ea typeface="Calibri" pitchFamily="34" charset="-122"/>
                <a:cs typeface="Calibri" pitchFamily="34" charset="-120"/>
              </a:rPr>
              <a:t>Anatomy of a Black Marble file</a:t>
            </a:r>
            <a:endParaRPr lang="en-US" sz="1050" dirty="0"/>
          </a:p>
        </p:txBody>
      </p:sp>
      <p:sp>
        <p:nvSpPr>
          <p:cNvPr id="24" name="Text 19"/>
          <p:cNvSpPr txBox="1"/>
          <p:nvPr/>
        </p:nvSpPr>
        <p:spPr>
          <a:xfrm>
            <a:off x="3474720" y="2624328"/>
            <a:ext cx="2240280" cy="1143000"/>
          </a:xfrm>
          <a:prstGeom prst="rect">
            <a:avLst/>
          </a:prstGeom>
          <a:noFill/>
          <a:ln/>
        </p:spPr>
        <p:txBody>
          <a:bodyPr wrap="square" lIns="0" tIns="0" rIns="0" bIns="0" rtlCol="0" anchor="t"/>
          <a:lstStyle/>
          <a:p>
            <a:pPr marL="171450" indent="-17145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HDF5 tree, layers, attributes</a:t>
            </a:r>
            <a:endParaRPr lang="en-US" sz="1100" dirty="0"/>
          </a:p>
          <a:p>
            <a:pPr marL="171450" indent="-17145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Decoding, quality flags, masks</a:t>
            </a:r>
            <a:endParaRPr lang="en-US" sz="1100" dirty="0"/>
          </a:p>
          <a:p>
            <a:pPr marL="171450" indent="-17145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Mosaic, clipping, distribution</a:t>
            </a:r>
            <a:endParaRPr lang="en-US" sz="1100" dirty="0"/>
          </a:p>
        </p:txBody>
      </p:sp>
      <p:sp>
        <p:nvSpPr>
          <p:cNvPr id="25" name="Text 20"/>
          <p:cNvSpPr txBox="1"/>
          <p:nvPr/>
        </p:nvSpPr>
        <p:spPr>
          <a:xfrm>
            <a:off x="3474720" y="3867912"/>
            <a:ext cx="2240280" cy="411480"/>
          </a:xfrm>
          <a:prstGeom prst="rect">
            <a:avLst/>
          </a:prstGeom>
          <a:noFill/>
          <a:ln/>
        </p:spPr>
        <p:txBody>
          <a:bodyPr wrap="square" lIns="0" tIns="0" rIns="0" bIns="0" rtlCol="0" anchor="t"/>
          <a:lstStyle/>
          <a:p>
            <a:pPr indent="0" marL="0">
              <a:buNone/>
            </a:pPr>
            <a:r>
              <a:rPr lang="en-US" sz="1050" b="1" dirty="0">
                <a:solidFill>
                  <a:srgbClr val="5E6964"/>
                </a:solidFill>
                <a:latin typeface="Calibri" pitchFamily="34" charset="0"/>
                <a:ea typeface="Calibri" pitchFamily="34" charset="-122"/>
                <a:cs typeface="Calibri" pitchFamily="34" charset="-120"/>
              </a:rPr>
              <a:t>Output: GeoTIFF, CSV, JSON metadata</a:t>
            </a:r>
            <a:endParaRPr lang="en-US" sz="1050" dirty="0"/>
          </a:p>
        </p:txBody>
      </p:sp>
      <p:sp>
        <p:nvSpPr>
          <p:cNvPr id="26" name="Shape 21"/>
          <p:cNvSpPr/>
          <p:nvPr/>
        </p:nvSpPr>
        <p:spPr>
          <a:xfrm>
            <a:off x="5879592" y="2880360"/>
            <a:ext cx="219456" cy="914"/>
          </a:xfrm>
          <a:prstGeom prst="line">
            <a:avLst/>
          </a:prstGeom>
          <a:noFill/>
          <a:ln w="15875">
            <a:solidFill>
              <a:srgbClr val="5E6964"/>
            </a:solidFill>
            <a:prstDash val="solid"/>
            <a:tailEnd type="triangle"/>
          </a:ln>
        </p:spPr>
      </p:sp>
      <p:sp>
        <p:nvSpPr>
          <p:cNvPr id="27" name="Shape 22"/>
          <p:cNvSpPr/>
          <p:nvPr/>
        </p:nvSpPr>
        <p:spPr>
          <a:xfrm>
            <a:off x="6126480" y="1325880"/>
            <a:ext cx="2560320" cy="3108960"/>
          </a:xfrm>
          <a:prstGeom prst="roundRect">
            <a:avLst>
              <a:gd name="adj" fmla="val 2857"/>
            </a:avLst>
          </a:prstGeom>
          <a:solidFill>
            <a:srgbClr val="F4F7F5"/>
          </a:solidFill>
          <a:ln w="9525">
            <a:solidFill>
              <a:srgbClr val="D5DED9"/>
            </a:solidFill>
            <a:prstDash val="solid"/>
          </a:ln>
        </p:spPr>
      </p:sp>
      <p:sp>
        <p:nvSpPr>
          <p:cNvPr id="28" name="Shape 23"/>
          <p:cNvSpPr/>
          <p:nvPr/>
        </p:nvSpPr>
        <p:spPr>
          <a:xfrm>
            <a:off x="6309360" y="1508760"/>
            <a:ext cx="548640" cy="548640"/>
          </a:xfrm>
          <a:prstGeom prst="ellipse">
            <a:avLst/>
          </a:prstGeom>
          <a:solidFill>
            <a:srgbClr val="D49A00">
              <a:alpha val="22000"/>
            </a:srgbClr>
          </a:solidFill>
          <a:ln w="12700">
            <a:solidFill>
              <a:srgbClr val="D49A00">
                <a:alpha val="0"/>
              </a:srgbClr>
            </a:solidFill>
            <a:prstDash val="solid"/>
          </a:ln>
        </p:spPr>
      </p:sp>
      <p:pic>
        <p:nvPicPr>
          <p:cNvPr id="29" name="Image 2" descr="preencoded.png">    </p:cNvPr>
          <p:cNvPicPr>
            <a:picLocks noChangeAspect="1"/>
          </p:cNvPicPr>
          <p:nvPr/>
        </p:nvPicPr>
        <p:blipFill>
          <a:blip r:embed="rId3"/>
          <a:stretch>
            <a:fillRect/>
          </a:stretch>
        </p:blipFill>
        <p:spPr>
          <a:xfrm>
            <a:off x="6441034" y="1640434"/>
            <a:ext cx="285293" cy="285293"/>
          </a:xfrm>
          <a:prstGeom prst="rect">
            <a:avLst/>
          </a:prstGeom>
        </p:spPr>
      </p:pic>
      <p:sp>
        <p:nvSpPr>
          <p:cNvPr id="30" name="Text 24"/>
          <p:cNvSpPr txBox="1"/>
          <p:nvPr/>
        </p:nvSpPr>
        <p:spPr>
          <a:xfrm>
            <a:off x="6995160" y="1508760"/>
            <a:ext cx="1600200" cy="54864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Notebook 3 · Analyse</a:t>
            </a:r>
            <a:endParaRPr lang="en-US" sz="1300" dirty="0"/>
          </a:p>
        </p:txBody>
      </p:sp>
      <p:sp>
        <p:nvSpPr>
          <p:cNvPr id="31" name="Text 25"/>
          <p:cNvSpPr txBox="1"/>
          <p:nvPr/>
        </p:nvSpPr>
        <p:spPr>
          <a:xfrm>
            <a:off x="6309360" y="2167128"/>
            <a:ext cx="2240280" cy="411480"/>
          </a:xfrm>
          <a:prstGeom prst="rect">
            <a:avLst/>
          </a:prstGeom>
          <a:noFill/>
          <a:ln/>
        </p:spPr>
        <p:txBody>
          <a:bodyPr wrap="square" lIns="0" tIns="0" rIns="0" bIns="0" rtlCol="0" anchor="t"/>
          <a:lstStyle/>
          <a:p>
            <a:pPr indent="0" marL="0">
              <a:buNone/>
            </a:pPr>
            <a:r>
              <a:rPr lang="en-US" sz="1050" i="1" dirty="0">
                <a:solidFill>
                  <a:srgbClr val="D49A00"/>
                </a:solidFill>
                <a:latin typeface="Calibri" pitchFamily="34" charset="0"/>
                <a:ea typeface="Calibri" pitchFamily="34" charset="-122"/>
                <a:cs typeface="Calibri" pitchFamily="34" charset="-120"/>
              </a:rPr>
              <a:t>VIIRS VNL V2 + Black Marble on Earth Engine</a:t>
            </a:r>
            <a:endParaRPr lang="en-US" sz="1050" dirty="0"/>
          </a:p>
        </p:txBody>
      </p:sp>
      <p:sp>
        <p:nvSpPr>
          <p:cNvPr id="32" name="Text 26"/>
          <p:cNvSpPr txBox="1"/>
          <p:nvPr/>
        </p:nvSpPr>
        <p:spPr>
          <a:xfrm>
            <a:off x="6309360" y="2624328"/>
            <a:ext cx="2240280" cy="1143000"/>
          </a:xfrm>
          <a:prstGeom prst="rect">
            <a:avLst/>
          </a:prstGeom>
          <a:noFill/>
          <a:ln/>
        </p:spPr>
        <p:txBody>
          <a:bodyPr wrap="square" lIns="0" tIns="0" rIns="0" bIns="0" rtlCol="0" anchor="t"/>
          <a:lstStyle/>
          <a:p>
            <a:pPr marL="171450" indent="-17145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Trends, regions, convergence</a:t>
            </a:r>
            <a:endParaRPr lang="en-US" sz="1100" dirty="0"/>
          </a:p>
          <a:p>
            <a:pPr marL="171450" indent="-17145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GDP link, shocks, inequality</a:t>
            </a:r>
            <a:endParaRPr lang="en-US" sz="1100" dirty="0"/>
          </a:p>
          <a:p>
            <a:pPr marL="171450" indent="-17145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Industrial zones</a:t>
            </a:r>
            <a:endParaRPr lang="en-US" sz="1100" dirty="0"/>
          </a:p>
        </p:txBody>
      </p:sp>
      <p:sp>
        <p:nvSpPr>
          <p:cNvPr id="33" name="Text 27"/>
          <p:cNvSpPr txBox="1"/>
          <p:nvPr/>
        </p:nvSpPr>
        <p:spPr>
          <a:xfrm>
            <a:off x="6309360" y="3867912"/>
            <a:ext cx="2240280" cy="411480"/>
          </a:xfrm>
          <a:prstGeom prst="rect">
            <a:avLst/>
          </a:prstGeom>
          <a:noFill/>
          <a:ln/>
        </p:spPr>
        <p:txBody>
          <a:bodyPr wrap="square" lIns="0" tIns="0" rIns="0" bIns="0" rtlCol="0" anchor="t"/>
          <a:lstStyle/>
          <a:p>
            <a:pPr indent="0" marL="0">
              <a:buNone/>
            </a:pPr>
            <a:r>
              <a:rPr lang="en-US" sz="1050" b="1" dirty="0">
                <a:solidFill>
                  <a:srgbClr val="5E6964"/>
                </a:solidFill>
                <a:latin typeface="Calibri" pitchFamily="34" charset="0"/>
                <a:ea typeface="Calibri" pitchFamily="34" charset="-122"/>
                <a:cs typeface="Calibri" pitchFamily="34" charset="-120"/>
              </a:rPr>
              <a:t>Output: GitHub Pages dashboard</a:t>
            </a:r>
            <a:endParaRPr lang="en-US" sz="10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t"/>
          <a:lstStyle/>
          <a:p>
            <a:pPr indent="0" marL="0">
              <a:buNone/>
            </a:pPr>
            <a:r>
              <a:rPr lang="en-US" sz="8000" b="1" dirty="0">
                <a:solidFill>
                  <a:srgbClr val="F5C242"/>
                </a:solidFill>
                <a:latin typeface="Calibri" pitchFamily="34" charset="0"/>
                <a:ea typeface="Calibri" pitchFamily="34" charset="-122"/>
                <a:cs typeface="Calibri" pitchFamily="34" charset="-120"/>
              </a:rPr>
              <a:t>02</a:t>
            </a:r>
            <a:endParaRPr lang="en-US" sz="8000" dirty="0"/>
          </a:p>
        </p:txBody>
      </p:sp>
      <p:sp>
        <p:nvSpPr>
          <p:cNvPr id="4" name="Text 2"/>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Collect</a:t>
            </a:r>
            <a:endParaRPr lang="en-US" sz="4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How do we get the right NASA files, and only those?</a:t>
            </a:r>
            <a:endParaRPr lang="en-US" sz="1800" dirty="0"/>
          </a:p>
        </p:txBody>
      </p:sp>
      <p:sp>
        <p:nvSpPr>
          <p:cNvPr id="6" name="Shape 4"/>
          <p:cNvSpPr/>
          <p:nvPr/>
        </p:nvSpPr>
        <p:spPr>
          <a:xfrm>
            <a:off x="6309360" y="1234440"/>
            <a:ext cx="2286000" cy="2286000"/>
          </a:xfrm>
          <a:prstGeom prst="ellipse">
            <a:avLst/>
          </a:prstGeom>
          <a:solidFill>
            <a:srgbClr val="FFFFFF">
              <a:alpha val="8000"/>
            </a:srgbClr>
          </a:solidFill>
          <a:ln w="12700">
            <a:solidFill>
              <a:srgbClr val="FFFFFF">
                <a:alpha val="30000"/>
              </a:srgbClr>
            </a:solidFill>
            <a:prstDash val="solid"/>
          </a:ln>
        </p:spPr>
      </p:sp>
      <p:sp>
        <p:nvSpPr>
          <p:cNvPr id="7" name="Shape 5"/>
          <p:cNvSpPr/>
          <p:nvPr/>
        </p:nvSpPr>
        <p:spPr>
          <a:xfrm>
            <a:off x="6675120" y="1600200"/>
            <a:ext cx="1554480" cy="1554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086600" y="2011680"/>
            <a:ext cx="731520" cy="731520"/>
          </a:xfrm>
          <a:prstGeom prst="rect">
            <a:avLst/>
          </a:prstGeom>
        </p:spPr>
      </p:pic>
      <p:sp>
        <p:nvSpPr>
          <p:cNvPr id="9" name="Shape 6"/>
          <p:cNvSpPr/>
          <p:nvPr/>
        </p:nvSpPr>
        <p:spPr>
          <a:xfrm>
            <a:off x="566928" y="425196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786384" y="4251960"/>
            <a:ext cx="118872" cy="118872"/>
          </a:xfrm>
          <a:prstGeom prst="ellipse">
            <a:avLst/>
          </a:prstGeom>
          <a:solidFill>
            <a:srgbClr val="F5C242"/>
          </a:solidFill>
          <a:ln w="12700">
            <a:solidFill>
              <a:srgbClr val="FFFFFF">
                <a:alpha val="0"/>
              </a:srgbClr>
            </a:solidFill>
            <a:prstDash val="solid"/>
          </a:ln>
        </p:spPr>
      </p:sp>
      <p:sp>
        <p:nvSpPr>
          <p:cNvPr id="11" name="Shape 8"/>
          <p:cNvSpPr/>
          <p:nvPr/>
        </p:nvSpPr>
        <p:spPr>
          <a:xfrm>
            <a:off x="1005840" y="4251960"/>
            <a:ext cx="118872" cy="118872"/>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225296" y="4251960"/>
            <a:ext cx="118872" cy="118872"/>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1444752" y="4251960"/>
            <a:ext cx="118872" cy="118872"/>
          </a:xfrm>
          <a:prstGeom prst="ellipse">
            <a:avLst/>
          </a:prstGeom>
          <a:solidFill>
            <a:srgbClr val="FFFFFF">
              <a:alpha val="40000"/>
            </a:srgbClr>
          </a:solidFill>
          <a:ln w="12700">
            <a:solidFill>
              <a:srgbClr val="FFFFFF">
                <a:alpha val="0"/>
              </a:srgbClr>
            </a:solidFill>
            <a:prstDash val="solid"/>
          </a:ln>
        </p:spPr>
      </p:sp>
      <p:sp>
        <p:nvSpPr>
          <p:cNvPr id="14" name="Shape 11"/>
          <p:cNvSpPr/>
          <p:nvPr/>
        </p:nvSpPr>
        <p:spPr>
          <a:xfrm>
            <a:off x="1664208" y="4251960"/>
            <a:ext cx="118872" cy="118872"/>
          </a:xfrm>
          <a:prstGeom prst="ellipse">
            <a:avLst/>
          </a:prstGeom>
          <a:solidFill>
            <a:srgbClr val="FFFFFF">
              <a:alpha val="40000"/>
            </a:srgbClr>
          </a:solidFill>
          <a:ln w="12700">
            <a:solidFill>
              <a:srgbClr val="FFFFFF">
                <a:alpha val="0"/>
              </a:srgbClr>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02 · COLLECT · OBJECTIVE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One ISO3 code in, a verified collection out</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00704A"/>
          </a:solidFill>
          <a:ln w="12700">
            <a:solidFill>
              <a:srgbClr val="00704A"/>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1481328" cy="1115568"/>
          </a:xfrm>
          <a:prstGeom prst="roundRect">
            <a:avLst>
              <a:gd name="adj" fmla="val 6557"/>
            </a:avLst>
          </a:prstGeom>
          <a:solidFill>
            <a:srgbClr val="F4F7F5"/>
          </a:solidFill>
          <a:ln w="9525">
            <a:solidFill>
              <a:srgbClr val="D5DED9"/>
            </a:solidFill>
            <a:prstDash val="solid"/>
          </a:ln>
        </p:spPr>
      </p:sp>
      <p:sp>
        <p:nvSpPr>
          <p:cNvPr id="12" name="Shape 9"/>
          <p:cNvSpPr/>
          <p:nvPr/>
        </p:nvSpPr>
        <p:spPr>
          <a:xfrm>
            <a:off x="960120" y="1490472"/>
            <a:ext cx="475488" cy="475488"/>
          </a:xfrm>
          <a:prstGeom prst="ellipse">
            <a:avLst/>
          </a:prstGeom>
          <a:solidFill>
            <a:srgbClr val="00704A">
              <a:alpha val="22000"/>
            </a:srgbClr>
          </a:solidFill>
          <a:ln w="12700">
            <a:solidFill>
              <a:srgbClr val="00704A">
                <a:alpha val="0"/>
              </a:srgbClr>
            </a:solidFill>
            <a:prstDash val="solid"/>
          </a:ln>
        </p:spPr>
      </p:sp>
      <p:pic>
        <p:nvPicPr>
          <p:cNvPr id="13" name="Image 0" descr="preencoded.png">    </p:cNvPr>
          <p:cNvPicPr>
            <a:picLocks noChangeAspect="1"/>
          </p:cNvPicPr>
          <p:nvPr/>
        </p:nvPicPr>
        <p:blipFill>
          <a:blip r:embed="rId1"/>
          <a:stretch>
            <a:fillRect/>
          </a:stretch>
        </p:blipFill>
        <p:spPr>
          <a:xfrm>
            <a:off x="1074237" y="1604589"/>
            <a:ext cx="247254" cy="247254"/>
          </a:xfrm>
          <a:prstGeom prst="rect">
            <a:avLst/>
          </a:prstGeom>
        </p:spPr>
      </p:pic>
      <p:sp>
        <p:nvSpPr>
          <p:cNvPr id="14" name="Text 10"/>
          <p:cNvSpPr txBox="1"/>
          <p:nvPr/>
        </p:nvSpPr>
        <p:spPr>
          <a:xfrm>
            <a:off x="566928" y="1463040"/>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1</a:t>
            </a:r>
            <a:endParaRPr lang="en-US" sz="1300" dirty="0"/>
          </a:p>
        </p:txBody>
      </p:sp>
      <p:sp>
        <p:nvSpPr>
          <p:cNvPr id="15" name="Text 11"/>
          <p:cNvSpPr txBox="1"/>
          <p:nvPr/>
        </p:nvSpPr>
        <p:spPr>
          <a:xfrm>
            <a:off x="530352" y="2029968"/>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Environment</a:t>
            </a:r>
            <a:endParaRPr lang="en-US" sz="1100" dirty="0"/>
          </a:p>
        </p:txBody>
      </p:sp>
      <p:sp>
        <p:nvSpPr>
          <p:cNvPr id="16" name="Shape 12"/>
          <p:cNvSpPr/>
          <p:nvPr/>
        </p:nvSpPr>
        <p:spPr>
          <a:xfrm>
            <a:off x="2121408" y="1371600"/>
            <a:ext cx="1481328" cy="1115568"/>
          </a:xfrm>
          <a:prstGeom prst="roundRect">
            <a:avLst>
              <a:gd name="adj" fmla="val 6557"/>
            </a:avLst>
          </a:prstGeom>
          <a:solidFill>
            <a:srgbClr val="F4F7F5"/>
          </a:solidFill>
          <a:ln w="9525">
            <a:solidFill>
              <a:srgbClr val="D5DED9"/>
            </a:solidFill>
            <a:prstDash val="solid"/>
          </a:ln>
        </p:spPr>
      </p:sp>
      <p:sp>
        <p:nvSpPr>
          <p:cNvPr id="17" name="Shape 13"/>
          <p:cNvSpPr/>
          <p:nvPr/>
        </p:nvSpPr>
        <p:spPr>
          <a:xfrm>
            <a:off x="2624328" y="1490472"/>
            <a:ext cx="475488" cy="475488"/>
          </a:xfrm>
          <a:prstGeom prst="ellipse">
            <a:avLst/>
          </a:prstGeom>
          <a:solidFill>
            <a:srgbClr val="00704A">
              <a:alpha val="22000"/>
            </a:srgbClr>
          </a:solidFill>
          <a:ln w="12700">
            <a:solidFill>
              <a:srgbClr val="00704A">
                <a:alpha val="0"/>
              </a:srgbClr>
            </a:solidFill>
            <a:prstDash val="solid"/>
          </a:ln>
        </p:spPr>
      </p:sp>
      <p:pic>
        <p:nvPicPr>
          <p:cNvPr id="18" name="Image 1" descr="preencoded.png">    </p:cNvPr>
          <p:cNvPicPr>
            <a:picLocks noChangeAspect="1"/>
          </p:cNvPicPr>
          <p:nvPr/>
        </p:nvPicPr>
        <p:blipFill>
          <a:blip r:embed="rId2"/>
          <a:stretch>
            <a:fillRect/>
          </a:stretch>
        </p:blipFill>
        <p:spPr>
          <a:xfrm>
            <a:off x="2738445" y="1604589"/>
            <a:ext cx="247254" cy="247254"/>
          </a:xfrm>
          <a:prstGeom prst="rect">
            <a:avLst/>
          </a:prstGeom>
        </p:spPr>
      </p:pic>
      <p:sp>
        <p:nvSpPr>
          <p:cNvPr id="19" name="Text 14"/>
          <p:cNvSpPr txBox="1"/>
          <p:nvPr/>
        </p:nvSpPr>
        <p:spPr>
          <a:xfrm>
            <a:off x="2231136" y="1463040"/>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2</a:t>
            </a:r>
            <a:endParaRPr lang="en-US" sz="1300" dirty="0"/>
          </a:p>
        </p:txBody>
      </p:sp>
      <p:sp>
        <p:nvSpPr>
          <p:cNvPr id="20" name="Text 15"/>
          <p:cNvSpPr txBox="1"/>
          <p:nvPr/>
        </p:nvSpPr>
        <p:spPr>
          <a:xfrm>
            <a:off x="2194560" y="2029968"/>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Dependencies</a:t>
            </a:r>
            <a:endParaRPr lang="en-US" sz="1100" dirty="0"/>
          </a:p>
        </p:txBody>
      </p:sp>
      <p:sp>
        <p:nvSpPr>
          <p:cNvPr id="21" name="Shape 16"/>
          <p:cNvSpPr/>
          <p:nvPr/>
        </p:nvSpPr>
        <p:spPr>
          <a:xfrm>
            <a:off x="3785616" y="1371600"/>
            <a:ext cx="1481328" cy="1115568"/>
          </a:xfrm>
          <a:prstGeom prst="roundRect">
            <a:avLst>
              <a:gd name="adj" fmla="val 6557"/>
            </a:avLst>
          </a:prstGeom>
          <a:solidFill>
            <a:srgbClr val="F4F7F5"/>
          </a:solidFill>
          <a:ln w="9525">
            <a:solidFill>
              <a:srgbClr val="D5DED9"/>
            </a:solidFill>
            <a:prstDash val="solid"/>
          </a:ln>
        </p:spPr>
      </p:sp>
      <p:sp>
        <p:nvSpPr>
          <p:cNvPr id="22" name="Shape 17"/>
          <p:cNvSpPr/>
          <p:nvPr/>
        </p:nvSpPr>
        <p:spPr>
          <a:xfrm>
            <a:off x="4288536" y="1490472"/>
            <a:ext cx="475488" cy="475488"/>
          </a:xfrm>
          <a:prstGeom prst="ellipse">
            <a:avLst/>
          </a:prstGeom>
          <a:solidFill>
            <a:srgbClr val="00704A">
              <a:alpha val="22000"/>
            </a:srgbClr>
          </a:solidFill>
          <a:ln w="12700">
            <a:solidFill>
              <a:srgbClr val="00704A">
                <a:alpha val="0"/>
              </a:srgbClr>
            </a:solidFill>
            <a:prstDash val="solid"/>
          </a:ln>
        </p:spPr>
      </p:sp>
      <p:pic>
        <p:nvPicPr>
          <p:cNvPr id="23" name="Image 2" descr="preencoded.png">    </p:cNvPr>
          <p:cNvPicPr>
            <a:picLocks noChangeAspect="1"/>
          </p:cNvPicPr>
          <p:nvPr/>
        </p:nvPicPr>
        <p:blipFill>
          <a:blip r:embed="rId3"/>
          <a:stretch>
            <a:fillRect/>
          </a:stretch>
        </p:blipFill>
        <p:spPr>
          <a:xfrm>
            <a:off x="4402653" y="1604589"/>
            <a:ext cx="247254" cy="247254"/>
          </a:xfrm>
          <a:prstGeom prst="rect">
            <a:avLst/>
          </a:prstGeom>
        </p:spPr>
      </p:pic>
      <p:sp>
        <p:nvSpPr>
          <p:cNvPr id="24" name="Text 18"/>
          <p:cNvSpPr txBox="1"/>
          <p:nvPr/>
        </p:nvSpPr>
        <p:spPr>
          <a:xfrm>
            <a:off x="3895344" y="1463040"/>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3</a:t>
            </a:r>
            <a:endParaRPr lang="en-US" sz="1300" dirty="0"/>
          </a:p>
        </p:txBody>
      </p:sp>
      <p:sp>
        <p:nvSpPr>
          <p:cNvPr id="25" name="Text 19"/>
          <p:cNvSpPr txBox="1"/>
          <p:nvPr/>
        </p:nvSpPr>
        <p:spPr>
          <a:xfrm>
            <a:off x="3858768" y="2029968"/>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Token (4 sources)</a:t>
            </a:r>
            <a:endParaRPr lang="en-US" sz="1100" dirty="0"/>
          </a:p>
        </p:txBody>
      </p:sp>
      <p:sp>
        <p:nvSpPr>
          <p:cNvPr id="26" name="Shape 20"/>
          <p:cNvSpPr/>
          <p:nvPr/>
        </p:nvSpPr>
        <p:spPr>
          <a:xfrm>
            <a:off x="5449824" y="1371600"/>
            <a:ext cx="1481328" cy="1115568"/>
          </a:xfrm>
          <a:prstGeom prst="roundRect">
            <a:avLst>
              <a:gd name="adj" fmla="val 6557"/>
            </a:avLst>
          </a:prstGeom>
          <a:solidFill>
            <a:srgbClr val="E8F5EF"/>
          </a:solidFill>
          <a:ln w="15875">
            <a:solidFill>
              <a:srgbClr val="00704A"/>
            </a:solidFill>
            <a:prstDash val="solid"/>
          </a:ln>
        </p:spPr>
      </p:sp>
      <p:sp>
        <p:nvSpPr>
          <p:cNvPr id="27" name="Shape 21"/>
          <p:cNvSpPr/>
          <p:nvPr/>
        </p:nvSpPr>
        <p:spPr>
          <a:xfrm>
            <a:off x="5952744" y="1490472"/>
            <a:ext cx="475488" cy="475488"/>
          </a:xfrm>
          <a:prstGeom prst="ellipse">
            <a:avLst/>
          </a:prstGeom>
          <a:solidFill>
            <a:srgbClr val="00704A">
              <a:alpha val="22000"/>
            </a:srgbClr>
          </a:solidFill>
          <a:ln w="12700">
            <a:solidFill>
              <a:srgbClr val="00704A">
                <a:alpha val="0"/>
              </a:srgbClr>
            </a:solidFill>
            <a:prstDash val="solid"/>
          </a:ln>
        </p:spPr>
      </p:sp>
      <p:pic>
        <p:nvPicPr>
          <p:cNvPr id="28" name="Image 3" descr="preencoded.png">    </p:cNvPr>
          <p:cNvPicPr>
            <a:picLocks noChangeAspect="1"/>
          </p:cNvPicPr>
          <p:nvPr/>
        </p:nvPicPr>
        <p:blipFill>
          <a:blip r:embed="rId4"/>
          <a:stretch>
            <a:fillRect/>
          </a:stretch>
        </p:blipFill>
        <p:spPr>
          <a:xfrm>
            <a:off x="6066861" y="1604589"/>
            <a:ext cx="247254" cy="247254"/>
          </a:xfrm>
          <a:prstGeom prst="rect">
            <a:avLst/>
          </a:prstGeom>
        </p:spPr>
      </p:pic>
      <p:sp>
        <p:nvSpPr>
          <p:cNvPr id="29" name="Text 22"/>
          <p:cNvSpPr txBox="1"/>
          <p:nvPr/>
        </p:nvSpPr>
        <p:spPr>
          <a:xfrm>
            <a:off x="5559552" y="1463040"/>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4</a:t>
            </a:r>
            <a:endParaRPr lang="en-US" sz="1300" dirty="0"/>
          </a:p>
        </p:txBody>
      </p:sp>
      <p:sp>
        <p:nvSpPr>
          <p:cNvPr id="30" name="Text 23"/>
          <p:cNvSpPr txBox="1"/>
          <p:nvPr/>
        </p:nvSpPr>
        <p:spPr>
          <a:xfrm>
            <a:off x="5522976" y="2029968"/>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Parameters</a:t>
            </a:r>
            <a:endParaRPr lang="en-US" sz="1100" dirty="0"/>
          </a:p>
        </p:txBody>
      </p:sp>
      <p:sp>
        <p:nvSpPr>
          <p:cNvPr id="31" name="Shape 24"/>
          <p:cNvSpPr/>
          <p:nvPr/>
        </p:nvSpPr>
        <p:spPr>
          <a:xfrm>
            <a:off x="7114032" y="1371600"/>
            <a:ext cx="1481328" cy="1115568"/>
          </a:xfrm>
          <a:prstGeom prst="roundRect">
            <a:avLst>
              <a:gd name="adj" fmla="val 6557"/>
            </a:avLst>
          </a:prstGeom>
          <a:solidFill>
            <a:srgbClr val="F4F7F5"/>
          </a:solidFill>
          <a:ln w="9525">
            <a:solidFill>
              <a:srgbClr val="D5DED9"/>
            </a:solidFill>
            <a:prstDash val="solid"/>
          </a:ln>
        </p:spPr>
      </p:sp>
      <p:sp>
        <p:nvSpPr>
          <p:cNvPr id="32" name="Shape 25"/>
          <p:cNvSpPr/>
          <p:nvPr/>
        </p:nvSpPr>
        <p:spPr>
          <a:xfrm>
            <a:off x="7616952" y="1490472"/>
            <a:ext cx="475488" cy="475488"/>
          </a:xfrm>
          <a:prstGeom prst="ellipse">
            <a:avLst/>
          </a:prstGeom>
          <a:solidFill>
            <a:srgbClr val="00704A">
              <a:alpha val="22000"/>
            </a:srgbClr>
          </a:solidFill>
          <a:ln w="12700">
            <a:solidFill>
              <a:srgbClr val="00704A">
                <a:alpha val="0"/>
              </a:srgbClr>
            </a:solidFill>
            <a:prstDash val="solid"/>
          </a:ln>
        </p:spPr>
      </p:sp>
      <p:pic>
        <p:nvPicPr>
          <p:cNvPr id="33" name="Image 4" descr="preencoded.png">    </p:cNvPr>
          <p:cNvPicPr>
            <a:picLocks noChangeAspect="1"/>
          </p:cNvPicPr>
          <p:nvPr/>
        </p:nvPicPr>
        <p:blipFill>
          <a:blip r:embed="rId5"/>
          <a:stretch>
            <a:fillRect/>
          </a:stretch>
        </p:blipFill>
        <p:spPr>
          <a:xfrm>
            <a:off x="7731069" y="1604589"/>
            <a:ext cx="247254" cy="247254"/>
          </a:xfrm>
          <a:prstGeom prst="rect">
            <a:avLst/>
          </a:prstGeom>
        </p:spPr>
      </p:pic>
      <p:sp>
        <p:nvSpPr>
          <p:cNvPr id="34" name="Text 26"/>
          <p:cNvSpPr txBox="1"/>
          <p:nvPr/>
        </p:nvSpPr>
        <p:spPr>
          <a:xfrm>
            <a:off x="7223760" y="1463040"/>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5</a:t>
            </a:r>
            <a:endParaRPr lang="en-US" sz="1300" dirty="0"/>
          </a:p>
        </p:txBody>
      </p:sp>
      <p:sp>
        <p:nvSpPr>
          <p:cNvPr id="35" name="Text 27"/>
          <p:cNvSpPr txBox="1"/>
          <p:nvPr/>
        </p:nvSpPr>
        <p:spPr>
          <a:xfrm>
            <a:off x="7187184" y="2029968"/>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Footprint and tiles</a:t>
            </a:r>
            <a:endParaRPr lang="en-US" sz="1100" dirty="0"/>
          </a:p>
        </p:txBody>
      </p:sp>
      <p:sp>
        <p:nvSpPr>
          <p:cNvPr id="36" name="Shape 28"/>
          <p:cNvSpPr/>
          <p:nvPr/>
        </p:nvSpPr>
        <p:spPr>
          <a:xfrm>
            <a:off x="1289304" y="2670048"/>
            <a:ext cx="1481328" cy="1115568"/>
          </a:xfrm>
          <a:prstGeom prst="roundRect">
            <a:avLst>
              <a:gd name="adj" fmla="val 6557"/>
            </a:avLst>
          </a:prstGeom>
          <a:solidFill>
            <a:srgbClr val="F4F7F5"/>
          </a:solidFill>
          <a:ln w="9525">
            <a:solidFill>
              <a:srgbClr val="D5DED9"/>
            </a:solidFill>
            <a:prstDash val="solid"/>
          </a:ln>
        </p:spPr>
      </p:sp>
      <p:sp>
        <p:nvSpPr>
          <p:cNvPr id="37" name="Shape 29"/>
          <p:cNvSpPr/>
          <p:nvPr/>
        </p:nvSpPr>
        <p:spPr>
          <a:xfrm>
            <a:off x="1792224" y="2788920"/>
            <a:ext cx="475488" cy="475488"/>
          </a:xfrm>
          <a:prstGeom prst="ellipse">
            <a:avLst/>
          </a:prstGeom>
          <a:solidFill>
            <a:srgbClr val="00704A">
              <a:alpha val="22000"/>
            </a:srgbClr>
          </a:solidFill>
          <a:ln w="12700">
            <a:solidFill>
              <a:srgbClr val="00704A">
                <a:alpha val="0"/>
              </a:srgbClr>
            </a:solidFill>
            <a:prstDash val="solid"/>
          </a:ln>
        </p:spPr>
      </p:sp>
      <p:pic>
        <p:nvPicPr>
          <p:cNvPr id="38" name="Image 5" descr="preencoded.png">    </p:cNvPr>
          <p:cNvPicPr>
            <a:picLocks noChangeAspect="1"/>
          </p:cNvPicPr>
          <p:nvPr/>
        </p:nvPicPr>
        <p:blipFill>
          <a:blip r:embed="rId6"/>
          <a:stretch>
            <a:fillRect/>
          </a:stretch>
        </p:blipFill>
        <p:spPr>
          <a:xfrm>
            <a:off x="1906341" y="2903037"/>
            <a:ext cx="247254" cy="247254"/>
          </a:xfrm>
          <a:prstGeom prst="rect">
            <a:avLst/>
          </a:prstGeom>
        </p:spPr>
      </p:pic>
      <p:sp>
        <p:nvSpPr>
          <p:cNvPr id="39" name="Text 30"/>
          <p:cNvSpPr txBox="1"/>
          <p:nvPr/>
        </p:nvSpPr>
        <p:spPr>
          <a:xfrm>
            <a:off x="1399032" y="2761488"/>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6</a:t>
            </a:r>
            <a:endParaRPr lang="en-US" sz="1300" dirty="0"/>
          </a:p>
        </p:txBody>
      </p:sp>
      <p:sp>
        <p:nvSpPr>
          <p:cNvPr id="40" name="Text 31"/>
          <p:cNvSpPr txBox="1"/>
          <p:nvPr/>
        </p:nvSpPr>
        <p:spPr>
          <a:xfrm>
            <a:off x="1362456" y="3328416"/>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CMR queries</a:t>
            </a:r>
            <a:endParaRPr lang="en-US" sz="1100" dirty="0"/>
          </a:p>
        </p:txBody>
      </p:sp>
      <p:sp>
        <p:nvSpPr>
          <p:cNvPr id="41" name="Shape 32"/>
          <p:cNvSpPr/>
          <p:nvPr/>
        </p:nvSpPr>
        <p:spPr>
          <a:xfrm>
            <a:off x="2953512" y="2670048"/>
            <a:ext cx="1481328" cy="1115568"/>
          </a:xfrm>
          <a:prstGeom prst="roundRect">
            <a:avLst>
              <a:gd name="adj" fmla="val 6557"/>
            </a:avLst>
          </a:prstGeom>
          <a:solidFill>
            <a:srgbClr val="F4F7F5"/>
          </a:solidFill>
          <a:ln w="9525">
            <a:solidFill>
              <a:srgbClr val="D5DED9"/>
            </a:solidFill>
            <a:prstDash val="solid"/>
          </a:ln>
        </p:spPr>
      </p:sp>
      <p:sp>
        <p:nvSpPr>
          <p:cNvPr id="42" name="Shape 33"/>
          <p:cNvSpPr/>
          <p:nvPr/>
        </p:nvSpPr>
        <p:spPr>
          <a:xfrm>
            <a:off x="3456432" y="2788920"/>
            <a:ext cx="475488" cy="475488"/>
          </a:xfrm>
          <a:prstGeom prst="ellipse">
            <a:avLst/>
          </a:prstGeom>
          <a:solidFill>
            <a:srgbClr val="00704A">
              <a:alpha val="22000"/>
            </a:srgbClr>
          </a:solidFill>
          <a:ln w="12700">
            <a:solidFill>
              <a:srgbClr val="00704A">
                <a:alpha val="0"/>
              </a:srgbClr>
            </a:solidFill>
            <a:prstDash val="solid"/>
          </a:ln>
        </p:spPr>
      </p:sp>
      <p:pic>
        <p:nvPicPr>
          <p:cNvPr id="43" name="Image 6" descr="preencoded.png">    </p:cNvPr>
          <p:cNvPicPr>
            <a:picLocks noChangeAspect="1"/>
          </p:cNvPicPr>
          <p:nvPr/>
        </p:nvPicPr>
        <p:blipFill>
          <a:blip r:embed="rId7"/>
          <a:stretch>
            <a:fillRect/>
          </a:stretch>
        </p:blipFill>
        <p:spPr>
          <a:xfrm>
            <a:off x="3570549" y="2903037"/>
            <a:ext cx="247254" cy="247254"/>
          </a:xfrm>
          <a:prstGeom prst="rect">
            <a:avLst/>
          </a:prstGeom>
        </p:spPr>
      </p:pic>
      <p:sp>
        <p:nvSpPr>
          <p:cNvPr id="44" name="Text 34"/>
          <p:cNvSpPr txBox="1"/>
          <p:nvPr/>
        </p:nvSpPr>
        <p:spPr>
          <a:xfrm>
            <a:off x="3063240" y="2761488"/>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7</a:t>
            </a:r>
            <a:endParaRPr lang="en-US" sz="1300" dirty="0"/>
          </a:p>
        </p:txBody>
      </p:sp>
      <p:sp>
        <p:nvSpPr>
          <p:cNvPr id="45" name="Text 35"/>
          <p:cNvSpPr txBox="1"/>
          <p:nvPr/>
        </p:nvSpPr>
        <p:spPr>
          <a:xfrm>
            <a:off x="3026664" y="3328416"/>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Availability test</a:t>
            </a:r>
            <a:endParaRPr lang="en-US" sz="1100" dirty="0"/>
          </a:p>
        </p:txBody>
      </p:sp>
      <p:sp>
        <p:nvSpPr>
          <p:cNvPr id="46" name="Shape 36"/>
          <p:cNvSpPr/>
          <p:nvPr/>
        </p:nvSpPr>
        <p:spPr>
          <a:xfrm>
            <a:off x="4617720" y="2670048"/>
            <a:ext cx="1481328" cy="1115568"/>
          </a:xfrm>
          <a:prstGeom prst="roundRect">
            <a:avLst>
              <a:gd name="adj" fmla="val 6557"/>
            </a:avLst>
          </a:prstGeom>
          <a:solidFill>
            <a:srgbClr val="E8F5EF"/>
          </a:solidFill>
          <a:ln w="15875">
            <a:solidFill>
              <a:srgbClr val="D49A00"/>
            </a:solidFill>
            <a:prstDash val="solid"/>
          </a:ln>
        </p:spPr>
      </p:sp>
      <p:sp>
        <p:nvSpPr>
          <p:cNvPr id="47" name="Shape 37"/>
          <p:cNvSpPr/>
          <p:nvPr/>
        </p:nvSpPr>
        <p:spPr>
          <a:xfrm>
            <a:off x="5120640" y="2788920"/>
            <a:ext cx="475488" cy="475488"/>
          </a:xfrm>
          <a:prstGeom prst="ellipse">
            <a:avLst/>
          </a:prstGeom>
          <a:solidFill>
            <a:srgbClr val="D49A00">
              <a:alpha val="22000"/>
            </a:srgbClr>
          </a:solidFill>
          <a:ln w="12700">
            <a:solidFill>
              <a:srgbClr val="D49A00">
                <a:alpha val="0"/>
              </a:srgbClr>
            </a:solidFill>
            <a:prstDash val="solid"/>
          </a:ln>
        </p:spPr>
      </p:sp>
      <p:pic>
        <p:nvPicPr>
          <p:cNvPr id="48" name="Image 7" descr="preencoded.png">    </p:cNvPr>
          <p:cNvPicPr>
            <a:picLocks noChangeAspect="1"/>
          </p:cNvPicPr>
          <p:nvPr/>
        </p:nvPicPr>
        <p:blipFill>
          <a:blip r:embed="rId8"/>
          <a:stretch>
            <a:fillRect/>
          </a:stretch>
        </p:blipFill>
        <p:spPr>
          <a:xfrm>
            <a:off x="5234757" y="2903037"/>
            <a:ext cx="247254" cy="247254"/>
          </a:xfrm>
          <a:prstGeom prst="rect">
            <a:avLst/>
          </a:prstGeom>
        </p:spPr>
      </p:pic>
      <p:sp>
        <p:nvSpPr>
          <p:cNvPr id="49" name="Text 38"/>
          <p:cNvSpPr txBox="1"/>
          <p:nvPr/>
        </p:nvSpPr>
        <p:spPr>
          <a:xfrm>
            <a:off x="4727448" y="2761488"/>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8</a:t>
            </a:r>
            <a:endParaRPr lang="en-US" sz="1300" dirty="0"/>
          </a:p>
        </p:txBody>
      </p:sp>
      <p:sp>
        <p:nvSpPr>
          <p:cNvPr id="50" name="Text 39"/>
          <p:cNvSpPr txBox="1"/>
          <p:nvPr/>
        </p:nvSpPr>
        <p:spPr>
          <a:xfrm>
            <a:off x="4690872" y="3328416"/>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Verified download</a:t>
            </a:r>
            <a:endParaRPr lang="en-US" sz="1100" dirty="0"/>
          </a:p>
        </p:txBody>
      </p:sp>
      <p:sp>
        <p:nvSpPr>
          <p:cNvPr id="51" name="Shape 40"/>
          <p:cNvSpPr/>
          <p:nvPr/>
        </p:nvSpPr>
        <p:spPr>
          <a:xfrm>
            <a:off x="6281928" y="2670048"/>
            <a:ext cx="1481328" cy="1115568"/>
          </a:xfrm>
          <a:prstGeom prst="roundRect">
            <a:avLst>
              <a:gd name="adj" fmla="val 6557"/>
            </a:avLst>
          </a:prstGeom>
          <a:solidFill>
            <a:srgbClr val="F4F7F5"/>
          </a:solidFill>
          <a:ln w="9525">
            <a:solidFill>
              <a:srgbClr val="D5DED9"/>
            </a:solidFill>
            <a:prstDash val="solid"/>
          </a:ln>
        </p:spPr>
      </p:sp>
      <p:sp>
        <p:nvSpPr>
          <p:cNvPr id="52" name="Shape 41"/>
          <p:cNvSpPr/>
          <p:nvPr/>
        </p:nvSpPr>
        <p:spPr>
          <a:xfrm>
            <a:off x="6784848" y="2788920"/>
            <a:ext cx="475488" cy="475488"/>
          </a:xfrm>
          <a:prstGeom prst="ellipse">
            <a:avLst/>
          </a:prstGeom>
          <a:solidFill>
            <a:srgbClr val="00704A">
              <a:alpha val="22000"/>
            </a:srgbClr>
          </a:solidFill>
          <a:ln w="12700">
            <a:solidFill>
              <a:srgbClr val="00704A">
                <a:alpha val="0"/>
              </a:srgbClr>
            </a:solidFill>
            <a:prstDash val="solid"/>
          </a:ln>
        </p:spPr>
      </p:sp>
      <p:pic>
        <p:nvPicPr>
          <p:cNvPr id="53" name="Image 8" descr="preencoded.png">    </p:cNvPr>
          <p:cNvPicPr>
            <a:picLocks noChangeAspect="1"/>
          </p:cNvPicPr>
          <p:nvPr/>
        </p:nvPicPr>
        <p:blipFill>
          <a:blip r:embed="rId9"/>
          <a:stretch>
            <a:fillRect/>
          </a:stretch>
        </p:blipFill>
        <p:spPr>
          <a:xfrm>
            <a:off x="6898965" y="2903037"/>
            <a:ext cx="247254" cy="247254"/>
          </a:xfrm>
          <a:prstGeom prst="rect">
            <a:avLst/>
          </a:prstGeom>
        </p:spPr>
      </p:pic>
      <p:sp>
        <p:nvSpPr>
          <p:cNvPr id="54" name="Text 42"/>
          <p:cNvSpPr txBox="1"/>
          <p:nvPr/>
        </p:nvSpPr>
        <p:spPr>
          <a:xfrm>
            <a:off x="6391656" y="2761488"/>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9</a:t>
            </a:r>
            <a:endParaRPr lang="en-US" sz="1300" dirty="0"/>
          </a:p>
        </p:txBody>
      </p:sp>
      <p:sp>
        <p:nvSpPr>
          <p:cNvPr id="55" name="Text 43"/>
          <p:cNvSpPr txBox="1"/>
          <p:nvPr/>
        </p:nvSpPr>
        <p:spPr>
          <a:xfrm>
            <a:off x="6355080" y="3328416"/>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Quality check</a:t>
            </a:r>
            <a:endParaRPr lang="en-US" sz="1100" dirty="0"/>
          </a:p>
        </p:txBody>
      </p:sp>
      <p:sp>
        <p:nvSpPr>
          <p:cNvPr id="56" name="Shape 44"/>
          <p:cNvSpPr/>
          <p:nvPr/>
        </p:nvSpPr>
        <p:spPr>
          <a:xfrm>
            <a:off x="457200" y="4069080"/>
            <a:ext cx="2651760" cy="256032"/>
          </a:xfrm>
          <a:prstGeom prst="roundRect">
            <a:avLst>
              <a:gd name="adj" fmla="val 50000"/>
            </a:avLst>
          </a:prstGeom>
          <a:solidFill>
            <a:srgbClr val="00704A">
              <a:alpha val="15000"/>
            </a:srgbClr>
          </a:solidFill>
          <a:ln w="9525">
            <a:solidFill>
              <a:srgbClr val="00704A"/>
            </a:solidFill>
            <a:prstDash val="solid"/>
          </a:ln>
        </p:spPr>
      </p:sp>
      <p:sp>
        <p:nvSpPr>
          <p:cNvPr id="57" name="Text 45"/>
          <p:cNvSpPr txBox="1"/>
          <p:nvPr/>
        </p:nvSpPr>
        <p:spPr>
          <a:xfrm>
            <a:off x="457200" y="4069080"/>
            <a:ext cx="2651760" cy="256032"/>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Steps 1–7: no account needed</a:t>
            </a:r>
            <a:endParaRPr lang="en-US" sz="1000" dirty="0"/>
          </a:p>
        </p:txBody>
      </p:sp>
      <p:sp>
        <p:nvSpPr>
          <p:cNvPr id="58" name="Shape 46"/>
          <p:cNvSpPr/>
          <p:nvPr/>
        </p:nvSpPr>
        <p:spPr>
          <a:xfrm>
            <a:off x="3291840" y="4069080"/>
            <a:ext cx="2743200" cy="256032"/>
          </a:xfrm>
          <a:prstGeom prst="roundRect">
            <a:avLst>
              <a:gd name="adj" fmla="val 50000"/>
            </a:avLst>
          </a:prstGeom>
          <a:solidFill>
            <a:srgbClr val="D49A00">
              <a:alpha val="15000"/>
            </a:srgbClr>
          </a:solidFill>
          <a:ln w="9525">
            <a:solidFill>
              <a:srgbClr val="D49A00"/>
            </a:solidFill>
            <a:prstDash val="solid"/>
          </a:ln>
        </p:spPr>
      </p:sp>
      <p:sp>
        <p:nvSpPr>
          <p:cNvPr id="59" name="Text 47"/>
          <p:cNvSpPr txBox="1"/>
          <p:nvPr/>
        </p:nvSpPr>
        <p:spPr>
          <a:xfrm>
            <a:off x="3291840" y="4069080"/>
            <a:ext cx="2743200" cy="256032"/>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Step 8: Earthdata token</a:t>
            </a:r>
            <a:endParaRPr lang="en-US" sz="1000" dirty="0"/>
          </a:p>
        </p:txBody>
      </p:sp>
      <p:sp>
        <p:nvSpPr>
          <p:cNvPr id="60" name="Shape 48"/>
          <p:cNvSpPr/>
          <p:nvPr/>
        </p:nvSpPr>
        <p:spPr>
          <a:xfrm>
            <a:off x="6217920" y="4069080"/>
            <a:ext cx="2468880" cy="256032"/>
          </a:xfrm>
          <a:prstGeom prst="roundRect">
            <a:avLst>
              <a:gd name="adj" fmla="val 50000"/>
            </a:avLst>
          </a:prstGeom>
          <a:solidFill>
            <a:srgbClr val="0E7C86">
              <a:alpha val="15000"/>
            </a:srgbClr>
          </a:solidFill>
          <a:ln w="9525">
            <a:solidFill>
              <a:srgbClr val="0E7C86"/>
            </a:solidFill>
            <a:prstDash val="solid"/>
          </a:ln>
        </p:spPr>
      </p:sp>
      <p:sp>
        <p:nvSpPr>
          <p:cNvPr id="61" name="Text 49"/>
          <p:cNvSpPr txBox="1"/>
          <p:nvPr/>
        </p:nvSpPr>
        <p:spPr>
          <a:xfrm>
            <a:off x="6217920" y="4069080"/>
            <a:ext cx="2468880" cy="256032"/>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Safe to re-run (idempotent)</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02 · COLLECT · DATA</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NASA Black Marble: four products, one grid</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00704A"/>
          </a:solidFill>
          <a:ln w="12700">
            <a:solidFill>
              <a:srgbClr val="00704A"/>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1920240" cy="2331720"/>
          </a:xfrm>
          <a:prstGeom prst="roundRect">
            <a:avLst>
              <a:gd name="adj" fmla="val 3810"/>
            </a:avLst>
          </a:prstGeom>
          <a:solidFill>
            <a:srgbClr val="F4F7F5"/>
          </a:solidFill>
          <a:ln w="9525">
            <a:solidFill>
              <a:srgbClr val="D5DED9"/>
            </a:solidFill>
            <a:prstDash val="solid"/>
          </a:ln>
        </p:spPr>
      </p:sp>
      <p:sp>
        <p:nvSpPr>
          <p:cNvPr id="12" name="Text 9"/>
          <p:cNvSpPr txBox="1"/>
          <p:nvPr/>
        </p:nvSpPr>
        <p:spPr>
          <a:xfrm>
            <a:off x="594360" y="1481328"/>
            <a:ext cx="1645920" cy="365760"/>
          </a:xfrm>
          <a:prstGeom prst="rect">
            <a:avLst/>
          </a:prstGeom>
          <a:noFill/>
          <a:ln/>
        </p:spPr>
        <p:txBody>
          <a:bodyPr wrap="square" lIns="0" tIns="0" rIns="0" bIns="0" rtlCol="0" anchor="t"/>
          <a:lstStyle/>
          <a:p>
            <a:pPr indent="0" marL="0">
              <a:buNone/>
            </a:pPr>
            <a:r>
              <a:rPr lang="en-US" sz="1700" b="1" dirty="0">
                <a:solidFill>
                  <a:srgbClr val="5E6964"/>
                </a:solidFill>
                <a:latin typeface="Calibri" pitchFamily="34" charset="0"/>
                <a:ea typeface="Calibri" pitchFamily="34" charset="-122"/>
                <a:cs typeface="Calibri" pitchFamily="34" charset="-120"/>
              </a:rPr>
              <a:t>VNP46A1</a:t>
            </a:r>
            <a:endParaRPr lang="en-US" sz="1700" dirty="0"/>
          </a:p>
        </p:txBody>
      </p:sp>
      <p:sp>
        <p:nvSpPr>
          <p:cNvPr id="13" name="Text 10"/>
          <p:cNvSpPr txBox="1"/>
          <p:nvPr/>
        </p:nvSpPr>
        <p:spPr>
          <a:xfrm>
            <a:off x="594360" y="1847088"/>
            <a:ext cx="164592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Daily · raw</a:t>
            </a:r>
            <a:endParaRPr lang="en-US" sz="1150" dirty="0"/>
          </a:p>
        </p:txBody>
      </p:sp>
      <p:sp>
        <p:nvSpPr>
          <p:cNvPr id="14" name="Text 11"/>
          <p:cNvSpPr txBox="1"/>
          <p:nvPr/>
        </p:nvSpPr>
        <p:spPr>
          <a:xfrm>
            <a:off x="594360" y="2176272"/>
            <a:ext cx="1645920" cy="54864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At-sensor radiance, uncorrected</a:t>
            </a:r>
            <a:endParaRPr lang="en-US" sz="1100" dirty="0"/>
          </a:p>
        </p:txBody>
      </p:sp>
      <p:sp>
        <p:nvSpPr>
          <p:cNvPr id="15" name="Text 12"/>
          <p:cNvSpPr txBox="1"/>
          <p:nvPr/>
        </p:nvSpPr>
        <p:spPr>
          <a:xfrm>
            <a:off x="594360" y="2788920"/>
            <a:ext cx="1645920" cy="228600"/>
          </a:xfrm>
          <a:prstGeom prst="rect">
            <a:avLst/>
          </a:prstGeom>
          <a:noFill/>
          <a:ln/>
        </p:spPr>
        <p:txBody>
          <a:bodyPr wrap="square" lIns="0" tIns="0" rIns="0" bIns="0" rtlCol="0" anchor="t"/>
          <a:lstStyle/>
          <a:p>
            <a:pPr indent="0" marL="0">
              <a:buNone/>
            </a:pPr>
            <a:r>
              <a:rPr lang="en-US" sz="950" b="1" spc="200" kern="0" dirty="0">
                <a:solidFill>
                  <a:srgbClr val="5E6964"/>
                </a:solidFill>
                <a:latin typeface="Calibri" pitchFamily="34" charset="0"/>
                <a:ea typeface="Calibri" pitchFamily="34" charset="-122"/>
                <a:cs typeface="Calibri" pitchFamily="34" charset="-120"/>
              </a:rPr>
              <a:t>Use</a:t>
            </a:r>
            <a:endParaRPr lang="en-US" sz="950" dirty="0"/>
          </a:p>
        </p:txBody>
      </p:sp>
      <p:sp>
        <p:nvSpPr>
          <p:cNvPr id="16" name="Text 13"/>
          <p:cNvSpPr txBox="1"/>
          <p:nvPr/>
        </p:nvSpPr>
        <p:spPr>
          <a:xfrm>
            <a:off x="594360" y="3017520"/>
            <a:ext cx="164592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Diagnostics</a:t>
            </a:r>
            <a:endParaRPr lang="en-US" sz="1100" dirty="0"/>
          </a:p>
        </p:txBody>
      </p:sp>
      <p:sp>
        <p:nvSpPr>
          <p:cNvPr id="17" name="Shape 14"/>
          <p:cNvSpPr/>
          <p:nvPr/>
        </p:nvSpPr>
        <p:spPr>
          <a:xfrm>
            <a:off x="2532888" y="1371600"/>
            <a:ext cx="1920240" cy="2331720"/>
          </a:xfrm>
          <a:prstGeom prst="roundRect">
            <a:avLst>
              <a:gd name="adj" fmla="val 3810"/>
            </a:avLst>
          </a:prstGeom>
          <a:solidFill>
            <a:srgbClr val="F4F7F5"/>
          </a:solidFill>
          <a:ln w="9525">
            <a:solidFill>
              <a:srgbClr val="D5DED9"/>
            </a:solidFill>
            <a:prstDash val="solid"/>
          </a:ln>
        </p:spPr>
      </p:sp>
      <p:sp>
        <p:nvSpPr>
          <p:cNvPr id="18" name="Text 15"/>
          <p:cNvSpPr txBox="1"/>
          <p:nvPr/>
        </p:nvSpPr>
        <p:spPr>
          <a:xfrm>
            <a:off x="2670048" y="1481328"/>
            <a:ext cx="1645920" cy="365760"/>
          </a:xfrm>
          <a:prstGeom prst="rect">
            <a:avLst/>
          </a:prstGeom>
          <a:noFill/>
          <a:ln/>
        </p:spPr>
        <p:txBody>
          <a:bodyPr wrap="square" lIns="0" tIns="0" rIns="0" bIns="0" rtlCol="0" anchor="t"/>
          <a:lstStyle/>
          <a:p>
            <a:pPr indent="0" marL="0">
              <a:buNone/>
            </a:pPr>
            <a:r>
              <a:rPr lang="en-US" sz="1700" b="1" dirty="0">
                <a:solidFill>
                  <a:srgbClr val="0E7C86"/>
                </a:solidFill>
                <a:latin typeface="Calibri" pitchFamily="34" charset="0"/>
                <a:ea typeface="Calibri" pitchFamily="34" charset="-122"/>
                <a:cs typeface="Calibri" pitchFamily="34" charset="-120"/>
              </a:rPr>
              <a:t>VNP46A2</a:t>
            </a:r>
            <a:endParaRPr lang="en-US" sz="1700" dirty="0"/>
          </a:p>
        </p:txBody>
      </p:sp>
      <p:sp>
        <p:nvSpPr>
          <p:cNvPr id="19" name="Text 16"/>
          <p:cNvSpPr txBox="1"/>
          <p:nvPr/>
        </p:nvSpPr>
        <p:spPr>
          <a:xfrm>
            <a:off x="2670048" y="1847088"/>
            <a:ext cx="164592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Daily · corrected</a:t>
            </a:r>
            <a:endParaRPr lang="en-US" sz="1150" dirty="0"/>
          </a:p>
        </p:txBody>
      </p:sp>
      <p:sp>
        <p:nvSpPr>
          <p:cNvPr id="20" name="Text 17"/>
          <p:cNvSpPr txBox="1"/>
          <p:nvPr/>
        </p:nvSpPr>
        <p:spPr>
          <a:xfrm>
            <a:off x="2670048" y="2176272"/>
            <a:ext cx="1645920" cy="54864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Night corrected for lunar BRDF</a:t>
            </a:r>
            <a:endParaRPr lang="en-US" sz="1100" dirty="0"/>
          </a:p>
        </p:txBody>
      </p:sp>
      <p:sp>
        <p:nvSpPr>
          <p:cNvPr id="21" name="Text 18"/>
          <p:cNvSpPr txBox="1"/>
          <p:nvPr/>
        </p:nvSpPr>
        <p:spPr>
          <a:xfrm>
            <a:off x="2670048" y="2788920"/>
            <a:ext cx="1645920" cy="228600"/>
          </a:xfrm>
          <a:prstGeom prst="rect">
            <a:avLst/>
          </a:prstGeom>
          <a:noFill/>
          <a:ln/>
        </p:spPr>
        <p:txBody>
          <a:bodyPr wrap="square" lIns="0" tIns="0" rIns="0" bIns="0" rtlCol="0" anchor="t"/>
          <a:lstStyle/>
          <a:p>
            <a:pPr indent="0" marL="0">
              <a:buNone/>
            </a:pPr>
            <a:r>
              <a:rPr lang="en-US" sz="950" b="1" spc="200" kern="0" dirty="0">
                <a:solidFill>
                  <a:srgbClr val="0E7C86"/>
                </a:solidFill>
                <a:latin typeface="Calibri" pitchFamily="34" charset="0"/>
                <a:ea typeface="Calibri" pitchFamily="34" charset="-122"/>
                <a:cs typeface="Calibri" pitchFamily="34" charset="-120"/>
              </a:rPr>
              <a:t>Use</a:t>
            </a:r>
            <a:endParaRPr lang="en-US" sz="950" dirty="0"/>
          </a:p>
        </p:txBody>
      </p:sp>
      <p:sp>
        <p:nvSpPr>
          <p:cNvPr id="22" name="Text 19"/>
          <p:cNvSpPr txBox="1"/>
          <p:nvPr/>
        </p:nvSpPr>
        <p:spPr>
          <a:xfrm>
            <a:off x="2670048" y="3017520"/>
            <a:ext cx="164592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Dated events: outages, disasters</a:t>
            </a:r>
            <a:endParaRPr lang="en-US" sz="1100" dirty="0"/>
          </a:p>
        </p:txBody>
      </p:sp>
      <p:sp>
        <p:nvSpPr>
          <p:cNvPr id="23" name="Shape 20"/>
          <p:cNvSpPr/>
          <p:nvPr/>
        </p:nvSpPr>
        <p:spPr>
          <a:xfrm>
            <a:off x="4608576" y="1371600"/>
            <a:ext cx="1920240" cy="2331720"/>
          </a:xfrm>
          <a:prstGeom prst="roundRect">
            <a:avLst>
              <a:gd name="adj" fmla="val 3810"/>
            </a:avLst>
          </a:prstGeom>
          <a:solidFill>
            <a:srgbClr val="F4F7F5"/>
          </a:solidFill>
          <a:ln w="9525">
            <a:solidFill>
              <a:srgbClr val="D5DED9"/>
            </a:solidFill>
            <a:prstDash val="solid"/>
          </a:ln>
        </p:spPr>
      </p:sp>
      <p:sp>
        <p:nvSpPr>
          <p:cNvPr id="24" name="Text 21"/>
          <p:cNvSpPr txBox="1"/>
          <p:nvPr/>
        </p:nvSpPr>
        <p:spPr>
          <a:xfrm>
            <a:off x="4745736" y="1481328"/>
            <a:ext cx="1645920" cy="365760"/>
          </a:xfrm>
          <a:prstGeom prst="rect">
            <a:avLst/>
          </a:prstGeom>
          <a:noFill/>
          <a:ln/>
        </p:spPr>
        <p:txBody>
          <a:bodyPr wrap="square" lIns="0" tIns="0" rIns="0" bIns="0" rtlCol="0" anchor="t"/>
          <a:lstStyle/>
          <a:p>
            <a:pPr indent="0" marL="0">
              <a:buNone/>
            </a:pPr>
            <a:r>
              <a:rPr lang="en-US" sz="1700" b="1" dirty="0">
                <a:solidFill>
                  <a:srgbClr val="00704A"/>
                </a:solidFill>
                <a:latin typeface="Calibri" pitchFamily="34" charset="0"/>
                <a:ea typeface="Calibri" pitchFamily="34" charset="-122"/>
                <a:cs typeface="Calibri" pitchFamily="34" charset="-120"/>
              </a:rPr>
              <a:t>VNP46A3</a:t>
            </a:r>
            <a:endParaRPr lang="en-US" sz="1700" dirty="0"/>
          </a:p>
        </p:txBody>
      </p:sp>
      <p:sp>
        <p:nvSpPr>
          <p:cNvPr id="25" name="Text 22"/>
          <p:cNvSpPr txBox="1"/>
          <p:nvPr/>
        </p:nvSpPr>
        <p:spPr>
          <a:xfrm>
            <a:off x="4745736" y="1847088"/>
            <a:ext cx="164592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Monthly composite</a:t>
            </a:r>
            <a:endParaRPr lang="en-US" sz="1150" dirty="0"/>
          </a:p>
        </p:txBody>
      </p:sp>
      <p:sp>
        <p:nvSpPr>
          <p:cNvPr id="26" name="Text 23"/>
          <p:cNvSpPr txBox="1"/>
          <p:nvPr/>
        </p:nvSpPr>
        <p:spPr>
          <a:xfrm>
            <a:off x="4745736" y="2176272"/>
            <a:ext cx="1645920" cy="54864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Clouds and outliers removed</a:t>
            </a:r>
            <a:endParaRPr lang="en-US" sz="1100" dirty="0"/>
          </a:p>
        </p:txBody>
      </p:sp>
      <p:sp>
        <p:nvSpPr>
          <p:cNvPr id="27" name="Text 24"/>
          <p:cNvSpPr txBox="1"/>
          <p:nvPr/>
        </p:nvSpPr>
        <p:spPr>
          <a:xfrm>
            <a:off x="4745736" y="2788920"/>
            <a:ext cx="1645920" cy="228600"/>
          </a:xfrm>
          <a:prstGeom prst="rect">
            <a:avLst/>
          </a:prstGeom>
          <a:noFill/>
          <a:ln/>
        </p:spPr>
        <p:txBody>
          <a:bodyPr wrap="square" lIns="0" tIns="0" rIns="0" bIns="0" rtlCol="0" anchor="t"/>
          <a:lstStyle/>
          <a:p>
            <a:pPr indent="0" marL="0">
              <a:buNone/>
            </a:pPr>
            <a:r>
              <a:rPr lang="en-US" sz="950" b="1" spc="200" kern="0" dirty="0">
                <a:solidFill>
                  <a:srgbClr val="00704A"/>
                </a:solidFill>
                <a:latin typeface="Calibri" pitchFamily="34" charset="0"/>
                <a:ea typeface="Calibri" pitchFamily="34" charset="-122"/>
                <a:cs typeface="Calibri" pitchFamily="34" charset="-120"/>
              </a:rPr>
              <a:t>Use</a:t>
            </a:r>
            <a:endParaRPr lang="en-US" sz="950" dirty="0"/>
          </a:p>
        </p:txBody>
      </p:sp>
      <p:sp>
        <p:nvSpPr>
          <p:cNvPr id="28" name="Text 25"/>
          <p:cNvSpPr txBox="1"/>
          <p:nvPr/>
        </p:nvSpPr>
        <p:spPr>
          <a:xfrm>
            <a:off x="4745736" y="3017520"/>
            <a:ext cx="164592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Seasonality, monthly series</a:t>
            </a:r>
            <a:endParaRPr lang="en-US" sz="1100" dirty="0"/>
          </a:p>
        </p:txBody>
      </p:sp>
      <p:sp>
        <p:nvSpPr>
          <p:cNvPr id="29" name="Shape 26"/>
          <p:cNvSpPr/>
          <p:nvPr/>
        </p:nvSpPr>
        <p:spPr>
          <a:xfrm>
            <a:off x="6684264" y="1371600"/>
            <a:ext cx="1920240" cy="2331720"/>
          </a:xfrm>
          <a:prstGeom prst="roundRect">
            <a:avLst>
              <a:gd name="adj" fmla="val 3810"/>
            </a:avLst>
          </a:prstGeom>
          <a:solidFill>
            <a:srgbClr val="E8F5EF"/>
          </a:solidFill>
          <a:ln w="15875">
            <a:solidFill>
              <a:srgbClr val="00A86A"/>
            </a:solidFill>
            <a:prstDash val="solid"/>
          </a:ln>
        </p:spPr>
      </p:sp>
      <p:sp>
        <p:nvSpPr>
          <p:cNvPr id="30" name="Text 27"/>
          <p:cNvSpPr txBox="1"/>
          <p:nvPr/>
        </p:nvSpPr>
        <p:spPr>
          <a:xfrm>
            <a:off x="6821424" y="1481328"/>
            <a:ext cx="1645920" cy="365760"/>
          </a:xfrm>
          <a:prstGeom prst="rect">
            <a:avLst/>
          </a:prstGeom>
          <a:noFill/>
          <a:ln/>
        </p:spPr>
        <p:txBody>
          <a:bodyPr wrap="square" lIns="0" tIns="0" rIns="0" bIns="0" rtlCol="0" anchor="t"/>
          <a:lstStyle/>
          <a:p>
            <a:pPr indent="0" marL="0">
              <a:buNone/>
            </a:pPr>
            <a:r>
              <a:rPr lang="en-US" sz="1700" b="1" dirty="0">
                <a:solidFill>
                  <a:srgbClr val="00A86A"/>
                </a:solidFill>
                <a:latin typeface="Calibri" pitchFamily="34" charset="0"/>
                <a:ea typeface="Calibri" pitchFamily="34" charset="-122"/>
                <a:cs typeface="Calibri" pitchFamily="34" charset="-120"/>
              </a:rPr>
              <a:t>VNP46A4</a:t>
            </a:r>
            <a:endParaRPr lang="en-US" sz="1700" dirty="0"/>
          </a:p>
        </p:txBody>
      </p:sp>
      <p:sp>
        <p:nvSpPr>
          <p:cNvPr id="31" name="Text 28"/>
          <p:cNvSpPr txBox="1"/>
          <p:nvPr/>
        </p:nvSpPr>
        <p:spPr>
          <a:xfrm>
            <a:off x="6821424" y="1847088"/>
            <a:ext cx="164592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Annual composite</a:t>
            </a:r>
            <a:endParaRPr lang="en-US" sz="1150" dirty="0"/>
          </a:p>
        </p:txBody>
      </p:sp>
      <p:sp>
        <p:nvSpPr>
          <p:cNvPr id="32" name="Text 29"/>
          <p:cNvSpPr txBox="1"/>
          <p:nvPr/>
        </p:nvSpPr>
        <p:spPr>
          <a:xfrm>
            <a:off x="6821424" y="2176272"/>
            <a:ext cx="1645920" cy="54864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The most stable of the four</a:t>
            </a:r>
            <a:endParaRPr lang="en-US" sz="1100" dirty="0"/>
          </a:p>
        </p:txBody>
      </p:sp>
      <p:sp>
        <p:nvSpPr>
          <p:cNvPr id="33" name="Text 30"/>
          <p:cNvSpPr txBox="1"/>
          <p:nvPr/>
        </p:nvSpPr>
        <p:spPr>
          <a:xfrm>
            <a:off x="6821424" y="2788920"/>
            <a:ext cx="1645920" cy="228600"/>
          </a:xfrm>
          <a:prstGeom prst="rect">
            <a:avLst/>
          </a:prstGeom>
          <a:noFill/>
          <a:ln/>
        </p:spPr>
        <p:txBody>
          <a:bodyPr wrap="square" lIns="0" tIns="0" rIns="0" bIns="0" rtlCol="0" anchor="t"/>
          <a:lstStyle/>
          <a:p>
            <a:pPr indent="0" marL="0">
              <a:buNone/>
            </a:pPr>
            <a:r>
              <a:rPr lang="en-US" sz="950" b="1" spc="200" kern="0" dirty="0">
                <a:solidFill>
                  <a:srgbClr val="00A86A"/>
                </a:solidFill>
                <a:latin typeface="Calibri" pitchFamily="34" charset="0"/>
                <a:ea typeface="Calibri" pitchFamily="34" charset="-122"/>
                <a:cs typeface="Calibri" pitchFamily="34" charset="-120"/>
              </a:rPr>
              <a:t>Use</a:t>
            </a:r>
            <a:endParaRPr lang="en-US" sz="950" dirty="0"/>
          </a:p>
        </p:txBody>
      </p:sp>
      <p:sp>
        <p:nvSpPr>
          <p:cNvPr id="34" name="Text 31"/>
          <p:cNvSpPr txBox="1"/>
          <p:nvPr/>
        </p:nvSpPr>
        <p:spPr>
          <a:xfrm>
            <a:off x="6821424" y="3017520"/>
            <a:ext cx="164592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Trends, regional comparisons</a:t>
            </a:r>
            <a:endParaRPr lang="en-US" sz="1100" dirty="0"/>
          </a:p>
        </p:txBody>
      </p:sp>
      <p:sp>
        <p:nvSpPr>
          <p:cNvPr id="35" name="Shape 32"/>
          <p:cNvSpPr/>
          <p:nvPr/>
        </p:nvSpPr>
        <p:spPr>
          <a:xfrm>
            <a:off x="457200" y="3931920"/>
            <a:ext cx="1600200" cy="256032"/>
          </a:xfrm>
          <a:prstGeom prst="roundRect">
            <a:avLst>
              <a:gd name="adj" fmla="val 50000"/>
            </a:avLst>
          </a:prstGeom>
          <a:solidFill>
            <a:srgbClr val="00704A">
              <a:alpha val="15000"/>
            </a:srgbClr>
          </a:solidFill>
          <a:ln w="9525">
            <a:solidFill>
              <a:srgbClr val="00704A"/>
            </a:solidFill>
            <a:prstDash val="solid"/>
          </a:ln>
        </p:spPr>
      </p:sp>
      <p:sp>
        <p:nvSpPr>
          <p:cNvPr id="36" name="Text 33"/>
          <p:cNvSpPr txBox="1"/>
          <p:nvPr/>
        </p:nvSpPr>
        <p:spPr>
          <a:xfrm>
            <a:off x="457200" y="3931920"/>
            <a:ext cx="1600200" cy="256032"/>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10° × 10° tile grid</a:t>
            </a:r>
            <a:endParaRPr lang="en-US" sz="1000" dirty="0"/>
          </a:p>
        </p:txBody>
      </p:sp>
      <p:sp>
        <p:nvSpPr>
          <p:cNvPr id="37" name="Shape 34"/>
          <p:cNvSpPr/>
          <p:nvPr/>
        </p:nvSpPr>
        <p:spPr>
          <a:xfrm>
            <a:off x="2167128" y="3931920"/>
            <a:ext cx="1965960" cy="256032"/>
          </a:xfrm>
          <a:prstGeom prst="roundRect">
            <a:avLst>
              <a:gd name="adj" fmla="val 50000"/>
            </a:avLst>
          </a:prstGeom>
          <a:solidFill>
            <a:srgbClr val="00704A">
              <a:alpha val="15000"/>
            </a:srgbClr>
          </a:solidFill>
          <a:ln w="9525">
            <a:solidFill>
              <a:srgbClr val="00704A"/>
            </a:solidFill>
            <a:prstDash val="solid"/>
          </a:ln>
        </p:spPr>
      </p:sp>
      <p:sp>
        <p:nvSpPr>
          <p:cNvPr id="38" name="Text 35"/>
          <p:cNvSpPr txBox="1"/>
          <p:nvPr/>
        </p:nvSpPr>
        <p:spPr>
          <a:xfrm>
            <a:off x="2167128" y="3931920"/>
            <a:ext cx="1965960" cy="256032"/>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2,400 × 2,400 pixels per tile</a:t>
            </a:r>
            <a:endParaRPr lang="en-US" sz="1000" dirty="0"/>
          </a:p>
        </p:txBody>
      </p:sp>
      <p:sp>
        <p:nvSpPr>
          <p:cNvPr id="39" name="Shape 36"/>
          <p:cNvSpPr/>
          <p:nvPr/>
        </p:nvSpPr>
        <p:spPr>
          <a:xfrm>
            <a:off x="4242816" y="3931920"/>
            <a:ext cx="1188720" cy="256032"/>
          </a:xfrm>
          <a:prstGeom prst="roundRect">
            <a:avLst>
              <a:gd name="adj" fmla="val 50000"/>
            </a:avLst>
          </a:prstGeom>
          <a:solidFill>
            <a:srgbClr val="00704A">
              <a:alpha val="15000"/>
            </a:srgbClr>
          </a:solidFill>
          <a:ln w="9525">
            <a:solidFill>
              <a:srgbClr val="00704A"/>
            </a:solidFill>
            <a:prstDash val="solid"/>
          </a:ln>
        </p:spPr>
      </p:sp>
      <p:sp>
        <p:nvSpPr>
          <p:cNvPr id="40" name="Text 37"/>
          <p:cNvSpPr txBox="1"/>
          <p:nvPr/>
        </p:nvSpPr>
        <p:spPr>
          <a:xfrm>
            <a:off x="4242816" y="3931920"/>
            <a:ext cx="1188720" cy="256032"/>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nW·cm⁻²·sr⁻¹</a:t>
            </a:r>
            <a:endParaRPr lang="en-US" sz="1000" dirty="0"/>
          </a:p>
        </p:txBody>
      </p:sp>
      <p:sp>
        <p:nvSpPr>
          <p:cNvPr id="41" name="Shape 38"/>
          <p:cNvSpPr/>
          <p:nvPr/>
        </p:nvSpPr>
        <p:spPr>
          <a:xfrm>
            <a:off x="5541264" y="3931920"/>
            <a:ext cx="1188720" cy="256032"/>
          </a:xfrm>
          <a:prstGeom prst="roundRect">
            <a:avLst>
              <a:gd name="adj" fmla="val 50000"/>
            </a:avLst>
          </a:prstGeom>
          <a:solidFill>
            <a:srgbClr val="00704A">
              <a:alpha val="15000"/>
            </a:srgbClr>
          </a:solidFill>
          <a:ln w="9525">
            <a:solidFill>
              <a:srgbClr val="00704A"/>
            </a:solidFill>
            <a:prstDash val="solid"/>
          </a:ln>
        </p:spPr>
      </p:sp>
      <p:sp>
        <p:nvSpPr>
          <p:cNvPr id="42" name="Text 39"/>
          <p:cNvSpPr txBox="1"/>
          <p:nvPr/>
        </p:nvSpPr>
        <p:spPr>
          <a:xfrm>
            <a:off x="5541264" y="3931920"/>
            <a:ext cx="1188720" cy="256032"/>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HDF-EOS5 (.h5)</a:t>
            </a:r>
            <a:endParaRPr lang="en-US" sz="1000" dirty="0"/>
          </a:p>
        </p:txBody>
      </p:sp>
      <p:sp>
        <p:nvSpPr>
          <p:cNvPr id="43" name="Shape 40"/>
          <p:cNvSpPr/>
          <p:nvPr/>
        </p:nvSpPr>
        <p:spPr>
          <a:xfrm>
            <a:off x="6839712" y="3931920"/>
            <a:ext cx="1691640" cy="256032"/>
          </a:xfrm>
          <a:prstGeom prst="roundRect">
            <a:avLst>
              <a:gd name="adj" fmla="val 50000"/>
            </a:avLst>
          </a:prstGeom>
          <a:solidFill>
            <a:srgbClr val="00704A">
              <a:alpha val="15000"/>
            </a:srgbClr>
          </a:solidFill>
          <a:ln w="9525">
            <a:solidFill>
              <a:srgbClr val="00704A"/>
            </a:solidFill>
            <a:prstDash val="solid"/>
          </a:ln>
        </p:spPr>
      </p:sp>
      <p:sp>
        <p:nvSpPr>
          <p:cNvPr id="44" name="Text 41"/>
          <p:cNvSpPr txBox="1"/>
          <p:nvPr/>
        </p:nvSpPr>
        <p:spPr>
          <a:xfrm>
            <a:off x="6839712" y="3931920"/>
            <a:ext cx="1691640" cy="256032"/>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Collection 2 (v002)</a:t>
            </a:r>
            <a:endParaRPr lang="en-US" sz="1000" dirty="0"/>
          </a:p>
        </p:txBody>
      </p:sp>
      <p:sp>
        <p:nvSpPr>
          <p:cNvPr id="45" name="Text 42"/>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Román et al. (2018); NASA Black Marble User Guide, Collection 2.0 (2025); LAADS DAAC</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02 · COLLECT · CALCULATION</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From a country code to tiles, with simple arithmetic</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00704A"/>
          </a:solidFill>
          <a:ln w="12700">
            <a:solidFill>
              <a:srgbClr val="00704A"/>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3931920" cy="1417320"/>
          </a:xfrm>
          <a:prstGeom prst="roundRect">
            <a:avLst>
              <a:gd name="adj" fmla="val 5161"/>
            </a:avLst>
          </a:prstGeom>
          <a:solidFill>
            <a:srgbClr val="E8F5EF"/>
          </a:solidFill>
          <a:ln w="15875">
            <a:solidFill>
              <a:srgbClr val="00704A"/>
            </a:solidFill>
            <a:prstDash val="solid"/>
          </a:ln>
        </p:spPr>
      </p:sp>
      <p:sp>
        <p:nvSpPr>
          <p:cNvPr id="12" name="Text 9"/>
          <p:cNvSpPr txBox="1"/>
          <p:nvPr/>
        </p:nvSpPr>
        <p:spPr>
          <a:xfrm>
            <a:off x="640080" y="1463040"/>
            <a:ext cx="3566160" cy="274320"/>
          </a:xfrm>
          <a:prstGeom prst="rect">
            <a:avLst/>
          </a:prstGeom>
          <a:noFill/>
          <a:ln/>
        </p:spPr>
        <p:txBody>
          <a:bodyPr wrap="square" lIns="0" tIns="0" rIns="0" bIns="0" rtlCol="0" anchor="t"/>
          <a:lstStyle/>
          <a:p>
            <a:pPr indent="0" marL="0">
              <a:buNone/>
            </a:pPr>
            <a:r>
              <a:rPr lang="en-US" sz="1300" b="1" dirty="0">
                <a:solidFill>
                  <a:srgbClr val="00704A"/>
                </a:solidFill>
                <a:latin typeface="Calibri" pitchFamily="34" charset="0"/>
                <a:ea typeface="Calibri" pitchFamily="34" charset="-122"/>
                <a:cs typeface="Calibri" pitchFamily="34" charset="-120"/>
              </a:rPr>
              <a:t>Tile index</a:t>
            </a:r>
            <a:endParaRPr lang="en-US" sz="1300" dirty="0"/>
          </a:p>
        </p:txBody>
      </p:sp>
      <p:sp>
        <p:nvSpPr>
          <p:cNvPr id="13" name="Text 10"/>
          <p:cNvSpPr txBox="1"/>
          <p:nvPr/>
        </p:nvSpPr>
        <p:spPr>
          <a:xfrm>
            <a:off x="640080" y="1783080"/>
            <a:ext cx="3566160" cy="640080"/>
          </a:xfrm>
          <a:prstGeom prst="rect">
            <a:avLst/>
          </a:prstGeom>
          <a:noFill/>
          <a:ln/>
        </p:spPr>
        <p:txBody>
          <a:bodyPr wrap="square" lIns="0" tIns="0" rIns="0" bIns="0" rtlCol="0" anchor="t"/>
          <a:lstStyle/>
          <a:p>
            <a:pPr indent="0" marL="0">
              <a:buNone/>
            </a:pPr>
            <a:r>
              <a:rPr lang="en-US" sz="1500" b="1" dirty="0">
                <a:solidFill>
                  <a:srgbClr val="231F20"/>
                </a:solidFill>
                <a:latin typeface="Courier New" pitchFamily="34" charset="0"/>
                <a:ea typeface="Courier New" pitchFamily="34" charset="-122"/>
                <a:cs typeface="Courier New" pitchFamily="34" charset="-120"/>
              </a:rPr>
              <a:t>h = ⌊(longitude + 180) / 10⌋</a:t>
            </a:r>
            <a:endParaRPr lang="en-US" sz="1500" dirty="0"/>
          </a:p>
          <a:p>
            <a:pPr indent="0" marL="0">
              <a:buNone/>
            </a:pPr>
            <a:r>
              <a:rPr lang="en-US" sz="1500" b="1" dirty="0">
                <a:solidFill>
                  <a:srgbClr val="231F20"/>
                </a:solidFill>
                <a:latin typeface="Courier New" pitchFamily="34" charset="0"/>
                <a:ea typeface="Courier New" pitchFamily="34" charset="-122"/>
                <a:cs typeface="Courier New" pitchFamily="34" charset="-120"/>
              </a:rPr>
              <a:t>v = ⌊(90 − latitude) / 10⌋</a:t>
            </a:r>
            <a:endParaRPr lang="en-US" sz="1500" dirty="0"/>
          </a:p>
        </p:txBody>
      </p:sp>
      <p:sp>
        <p:nvSpPr>
          <p:cNvPr id="14" name="Text 11"/>
          <p:cNvSpPr txBox="1"/>
          <p:nvPr/>
        </p:nvSpPr>
        <p:spPr>
          <a:xfrm>
            <a:off x="640080" y="2450592"/>
            <a:ext cx="3566160" cy="27432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h: 0 → 35 west to east · v: 0 → 17 north to south</a:t>
            </a:r>
            <a:endParaRPr lang="en-US" sz="1050" dirty="0"/>
          </a:p>
        </p:txBody>
      </p:sp>
      <p:sp>
        <p:nvSpPr>
          <p:cNvPr id="15" name="Shape 12"/>
          <p:cNvSpPr/>
          <p:nvPr/>
        </p:nvSpPr>
        <p:spPr>
          <a:xfrm>
            <a:off x="548640" y="2971800"/>
            <a:ext cx="868680" cy="658368"/>
          </a:xfrm>
          <a:prstGeom prst="rect">
            <a:avLst/>
          </a:prstGeom>
          <a:solidFill>
            <a:srgbClr val="FFFFFF"/>
          </a:solidFill>
          <a:ln w="9525">
            <a:solidFill>
              <a:srgbClr val="D5DED9"/>
            </a:solidFill>
            <a:prstDash val="solid"/>
          </a:ln>
        </p:spPr>
      </p:sp>
      <p:sp>
        <p:nvSpPr>
          <p:cNvPr id="16" name="Text 13"/>
          <p:cNvSpPr txBox="1"/>
          <p:nvPr/>
        </p:nvSpPr>
        <p:spPr>
          <a:xfrm>
            <a:off x="548640" y="3172968"/>
            <a:ext cx="868680" cy="256032"/>
          </a:xfrm>
          <a:prstGeom prst="rect">
            <a:avLst/>
          </a:prstGeom>
          <a:noFill/>
          <a:ln/>
        </p:spPr>
        <p:txBody>
          <a:bodyPr wrap="square" lIns="0" tIns="0" rIns="0" bIns="0" rtlCol="0" anchor="t"/>
          <a:lstStyle/>
          <a:p>
            <a:pPr algn="ctr" indent="0" marL="0">
              <a:buNone/>
            </a:pPr>
            <a:r>
              <a:rPr lang="en-US" sz="1000" dirty="0">
                <a:solidFill>
                  <a:srgbClr val="A9B5B0"/>
                </a:solidFill>
                <a:latin typeface="Calibri" pitchFamily="34" charset="0"/>
                <a:ea typeface="Calibri" pitchFamily="34" charset="-122"/>
                <a:cs typeface="Calibri" pitchFamily="34" charset="-120"/>
              </a:rPr>
              <a:t>h16v07</a:t>
            </a:r>
            <a:endParaRPr lang="en-US" sz="1000" dirty="0"/>
          </a:p>
        </p:txBody>
      </p:sp>
      <p:sp>
        <p:nvSpPr>
          <p:cNvPr id="17" name="Shape 14"/>
          <p:cNvSpPr/>
          <p:nvPr/>
        </p:nvSpPr>
        <p:spPr>
          <a:xfrm>
            <a:off x="1417320" y="2971800"/>
            <a:ext cx="868680" cy="658368"/>
          </a:xfrm>
          <a:prstGeom prst="rect">
            <a:avLst/>
          </a:prstGeom>
          <a:solidFill>
            <a:srgbClr val="E8F5EF"/>
          </a:solidFill>
          <a:ln w="19050">
            <a:solidFill>
              <a:srgbClr val="00A86A"/>
            </a:solidFill>
            <a:prstDash val="solid"/>
          </a:ln>
        </p:spPr>
      </p:sp>
      <p:sp>
        <p:nvSpPr>
          <p:cNvPr id="18" name="Text 15"/>
          <p:cNvSpPr txBox="1"/>
          <p:nvPr/>
        </p:nvSpPr>
        <p:spPr>
          <a:xfrm>
            <a:off x="1417320" y="3172968"/>
            <a:ext cx="868680" cy="256032"/>
          </a:xfrm>
          <a:prstGeom prst="rect">
            <a:avLst/>
          </a:prstGeom>
          <a:noFill/>
          <a:ln/>
        </p:spPr>
        <p:txBody>
          <a:bodyPr wrap="square" lIns="0" tIns="0" rIns="0" bIns="0" rtlCol="0" anchor="t"/>
          <a:lstStyle/>
          <a:p>
            <a:pPr algn="ctr" indent="0" marL="0">
              <a:buNone/>
            </a:pPr>
            <a:r>
              <a:rPr lang="en-US" sz="1000" b="1" dirty="0">
                <a:solidFill>
                  <a:srgbClr val="00704A"/>
                </a:solidFill>
                <a:latin typeface="Calibri" pitchFamily="34" charset="0"/>
                <a:ea typeface="Calibri" pitchFamily="34" charset="-122"/>
                <a:cs typeface="Calibri" pitchFamily="34" charset="-120"/>
              </a:rPr>
              <a:t>h17v07</a:t>
            </a:r>
            <a:endParaRPr lang="en-US" sz="1000" dirty="0"/>
          </a:p>
        </p:txBody>
      </p:sp>
      <p:sp>
        <p:nvSpPr>
          <p:cNvPr id="19" name="Shape 16"/>
          <p:cNvSpPr/>
          <p:nvPr/>
        </p:nvSpPr>
        <p:spPr>
          <a:xfrm>
            <a:off x="2286000" y="2971800"/>
            <a:ext cx="868680" cy="658368"/>
          </a:xfrm>
          <a:prstGeom prst="rect">
            <a:avLst/>
          </a:prstGeom>
          <a:solidFill>
            <a:srgbClr val="FFFFFF"/>
          </a:solidFill>
          <a:ln w="9525">
            <a:solidFill>
              <a:srgbClr val="D5DED9"/>
            </a:solidFill>
            <a:prstDash val="solid"/>
          </a:ln>
        </p:spPr>
      </p:sp>
      <p:sp>
        <p:nvSpPr>
          <p:cNvPr id="20" name="Text 17"/>
          <p:cNvSpPr txBox="1"/>
          <p:nvPr/>
        </p:nvSpPr>
        <p:spPr>
          <a:xfrm>
            <a:off x="2286000" y="3172968"/>
            <a:ext cx="868680" cy="256032"/>
          </a:xfrm>
          <a:prstGeom prst="rect">
            <a:avLst/>
          </a:prstGeom>
          <a:noFill/>
          <a:ln/>
        </p:spPr>
        <p:txBody>
          <a:bodyPr wrap="square" lIns="0" tIns="0" rIns="0" bIns="0" rtlCol="0" anchor="t"/>
          <a:lstStyle/>
          <a:p>
            <a:pPr algn="ctr" indent="0" marL="0">
              <a:buNone/>
            </a:pPr>
            <a:r>
              <a:rPr lang="en-US" sz="1000" dirty="0">
                <a:solidFill>
                  <a:srgbClr val="A9B5B0"/>
                </a:solidFill>
                <a:latin typeface="Calibri" pitchFamily="34" charset="0"/>
                <a:ea typeface="Calibri" pitchFamily="34" charset="-122"/>
                <a:cs typeface="Calibri" pitchFamily="34" charset="-120"/>
              </a:rPr>
              <a:t>h18v07</a:t>
            </a:r>
            <a:endParaRPr lang="en-US" sz="1000" dirty="0"/>
          </a:p>
        </p:txBody>
      </p:sp>
      <p:sp>
        <p:nvSpPr>
          <p:cNvPr id="21" name="Shape 18"/>
          <p:cNvSpPr/>
          <p:nvPr/>
        </p:nvSpPr>
        <p:spPr>
          <a:xfrm>
            <a:off x="3154680" y="2971800"/>
            <a:ext cx="868680" cy="658368"/>
          </a:xfrm>
          <a:prstGeom prst="rect">
            <a:avLst/>
          </a:prstGeom>
          <a:solidFill>
            <a:srgbClr val="FFFFFF"/>
          </a:solidFill>
          <a:ln w="9525">
            <a:solidFill>
              <a:srgbClr val="D5DED9"/>
            </a:solidFill>
            <a:prstDash val="solid"/>
          </a:ln>
        </p:spPr>
      </p:sp>
      <p:sp>
        <p:nvSpPr>
          <p:cNvPr id="22" name="Text 19"/>
          <p:cNvSpPr txBox="1"/>
          <p:nvPr/>
        </p:nvSpPr>
        <p:spPr>
          <a:xfrm>
            <a:off x="3154680" y="3172968"/>
            <a:ext cx="868680" cy="256032"/>
          </a:xfrm>
          <a:prstGeom prst="rect">
            <a:avLst/>
          </a:prstGeom>
          <a:noFill/>
          <a:ln/>
        </p:spPr>
        <p:txBody>
          <a:bodyPr wrap="square" lIns="0" tIns="0" rIns="0" bIns="0" rtlCol="0" anchor="t"/>
          <a:lstStyle/>
          <a:p>
            <a:pPr algn="ctr" indent="0" marL="0">
              <a:buNone/>
            </a:pPr>
            <a:r>
              <a:rPr lang="en-US" sz="1000" dirty="0">
                <a:solidFill>
                  <a:srgbClr val="A9B5B0"/>
                </a:solidFill>
                <a:latin typeface="Calibri" pitchFamily="34" charset="0"/>
                <a:ea typeface="Calibri" pitchFamily="34" charset="-122"/>
                <a:cs typeface="Calibri" pitchFamily="34" charset="-120"/>
              </a:rPr>
              <a:t>h19v07</a:t>
            </a:r>
            <a:endParaRPr lang="en-US" sz="1000" dirty="0"/>
          </a:p>
        </p:txBody>
      </p:sp>
      <p:sp>
        <p:nvSpPr>
          <p:cNvPr id="23" name="Shape 20"/>
          <p:cNvSpPr/>
          <p:nvPr/>
        </p:nvSpPr>
        <p:spPr>
          <a:xfrm>
            <a:off x="548640" y="3630168"/>
            <a:ext cx="868680" cy="658368"/>
          </a:xfrm>
          <a:prstGeom prst="rect">
            <a:avLst/>
          </a:prstGeom>
          <a:solidFill>
            <a:srgbClr val="FFFFFF"/>
          </a:solidFill>
          <a:ln w="9525">
            <a:solidFill>
              <a:srgbClr val="D5DED9"/>
            </a:solidFill>
            <a:prstDash val="solid"/>
          </a:ln>
        </p:spPr>
      </p:sp>
      <p:sp>
        <p:nvSpPr>
          <p:cNvPr id="24" name="Text 21"/>
          <p:cNvSpPr txBox="1"/>
          <p:nvPr/>
        </p:nvSpPr>
        <p:spPr>
          <a:xfrm>
            <a:off x="548640" y="3831336"/>
            <a:ext cx="868680" cy="256032"/>
          </a:xfrm>
          <a:prstGeom prst="rect">
            <a:avLst/>
          </a:prstGeom>
          <a:noFill/>
          <a:ln/>
        </p:spPr>
        <p:txBody>
          <a:bodyPr wrap="square" lIns="0" tIns="0" rIns="0" bIns="0" rtlCol="0" anchor="t"/>
          <a:lstStyle/>
          <a:p>
            <a:pPr algn="ctr" indent="0" marL="0">
              <a:buNone/>
            </a:pPr>
            <a:r>
              <a:rPr lang="en-US" sz="1000" dirty="0">
                <a:solidFill>
                  <a:srgbClr val="A9B5B0"/>
                </a:solidFill>
                <a:latin typeface="Calibri" pitchFamily="34" charset="0"/>
                <a:ea typeface="Calibri" pitchFamily="34" charset="-122"/>
                <a:cs typeface="Calibri" pitchFamily="34" charset="-120"/>
              </a:rPr>
              <a:t>h16v08</a:t>
            </a:r>
            <a:endParaRPr lang="en-US" sz="1000" dirty="0"/>
          </a:p>
        </p:txBody>
      </p:sp>
      <p:sp>
        <p:nvSpPr>
          <p:cNvPr id="25" name="Shape 22"/>
          <p:cNvSpPr/>
          <p:nvPr/>
        </p:nvSpPr>
        <p:spPr>
          <a:xfrm>
            <a:off x="1417320" y="3630168"/>
            <a:ext cx="868680" cy="658368"/>
          </a:xfrm>
          <a:prstGeom prst="rect">
            <a:avLst/>
          </a:prstGeom>
          <a:solidFill>
            <a:srgbClr val="E8F5EF"/>
          </a:solidFill>
          <a:ln w="19050">
            <a:solidFill>
              <a:srgbClr val="00A86A"/>
            </a:solidFill>
            <a:prstDash val="solid"/>
          </a:ln>
        </p:spPr>
      </p:sp>
      <p:sp>
        <p:nvSpPr>
          <p:cNvPr id="26" name="Text 23"/>
          <p:cNvSpPr txBox="1"/>
          <p:nvPr/>
        </p:nvSpPr>
        <p:spPr>
          <a:xfrm>
            <a:off x="1417320" y="3831336"/>
            <a:ext cx="868680" cy="256032"/>
          </a:xfrm>
          <a:prstGeom prst="rect">
            <a:avLst/>
          </a:prstGeom>
          <a:noFill/>
          <a:ln/>
        </p:spPr>
        <p:txBody>
          <a:bodyPr wrap="square" lIns="0" tIns="0" rIns="0" bIns="0" rtlCol="0" anchor="t"/>
          <a:lstStyle/>
          <a:p>
            <a:pPr algn="ctr" indent="0" marL="0">
              <a:buNone/>
            </a:pPr>
            <a:r>
              <a:rPr lang="en-US" sz="1000" b="1" dirty="0">
                <a:solidFill>
                  <a:srgbClr val="00704A"/>
                </a:solidFill>
                <a:latin typeface="Calibri" pitchFamily="34" charset="0"/>
                <a:ea typeface="Calibri" pitchFamily="34" charset="-122"/>
                <a:cs typeface="Calibri" pitchFamily="34" charset="-120"/>
              </a:rPr>
              <a:t>h17v08</a:t>
            </a:r>
            <a:endParaRPr lang="en-US" sz="1000" dirty="0"/>
          </a:p>
        </p:txBody>
      </p:sp>
      <p:sp>
        <p:nvSpPr>
          <p:cNvPr id="27" name="Shape 24"/>
          <p:cNvSpPr/>
          <p:nvPr/>
        </p:nvSpPr>
        <p:spPr>
          <a:xfrm>
            <a:off x="2286000" y="3630168"/>
            <a:ext cx="868680" cy="658368"/>
          </a:xfrm>
          <a:prstGeom prst="rect">
            <a:avLst/>
          </a:prstGeom>
          <a:solidFill>
            <a:srgbClr val="FFFFFF"/>
          </a:solidFill>
          <a:ln w="9525">
            <a:solidFill>
              <a:srgbClr val="D5DED9"/>
            </a:solidFill>
            <a:prstDash val="solid"/>
          </a:ln>
        </p:spPr>
      </p:sp>
      <p:sp>
        <p:nvSpPr>
          <p:cNvPr id="28" name="Text 25"/>
          <p:cNvSpPr txBox="1"/>
          <p:nvPr/>
        </p:nvSpPr>
        <p:spPr>
          <a:xfrm>
            <a:off x="2286000" y="3831336"/>
            <a:ext cx="868680" cy="256032"/>
          </a:xfrm>
          <a:prstGeom prst="rect">
            <a:avLst/>
          </a:prstGeom>
          <a:noFill/>
          <a:ln/>
        </p:spPr>
        <p:txBody>
          <a:bodyPr wrap="square" lIns="0" tIns="0" rIns="0" bIns="0" rtlCol="0" anchor="t"/>
          <a:lstStyle/>
          <a:p>
            <a:pPr algn="ctr" indent="0" marL="0">
              <a:buNone/>
            </a:pPr>
            <a:r>
              <a:rPr lang="en-US" sz="1000" dirty="0">
                <a:solidFill>
                  <a:srgbClr val="A9B5B0"/>
                </a:solidFill>
                <a:latin typeface="Calibri" pitchFamily="34" charset="0"/>
                <a:ea typeface="Calibri" pitchFamily="34" charset="-122"/>
                <a:cs typeface="Calibri" pitchFamily="34" charset="-120"/>
              </a:rPr>
              <a:t>h18v08</a:t>
            </a:r>
            <a:endParaRPr lang="en-US" sz="1000" dirty="0"/>
          </a:p>
        </p:txBody>
      </p:sp>
      <p:sp>
        <p:nvSpPr>
          <p:cNvPr id="29" name="Shape 26"/>
          <p:cNvSpPr/>
          <p:nvPr/>
        </p:nvSpPr>
        <p:spPr>
          <a:xfrm>
            <a:off x="3154680" y="3630168"/>
            <a:ext cx="868680" cy="658368"/>
          </a:xfrm>
          <a:prstGeom prst="rect">
            <a:avLst/>
          </a:prstGeom>
          <a:solidFill>
            <a:srgbClr val="FFFFFF"/>
          </a:solidFill>
          <a:ln w="9525">
            <a:solidFill>
              <a:srgbClr val="D5DED9"/>
            </a:solidFill>
            <a:prstDash val="solid"/>
          </a:ln>
        </p:spPr>
      </p:sp>
      <p:sp>
        <p:nvSpPr>
          <p:cNvPr id="30" name="Text 27"/>
          <p:cNvSpPr txBox="1"/>
          <p:nvPr/>
        </p:nvSpPr>
        <p:spPr>
          <a:xfrm>
            <a:off x="3154680" y="3831336"/>
            <a:ext cx="868680" cy="256032"/>
          </a:xfrm>
          <a:prstGeom prst="rect">
            <a:avLst/>
          </a:prstGeom>
          <a:noFill/>
          <a:ln/>
        </p:spPr>
        <p:txBody>
          <a:bodyPr wrap="square" lIns="0" tIns="0" rIns="0" bIns="0" rtlCol="0" anchor="t"/>
          <a:lstStyle/>
          <a:p>
            <a:pPr algn="ctr" indent="0" marL="0">
              <a:buNone/>
            </a:pPr>
            <a:r>
              <a:rPr lang="en-US" sz="1000" dirty="0">
                <a:solidFill>
                  <a:srgbClr val="A9B5B0"/>
                </a:solidFill>
                <a:latin typeface="Calibri" pitchFamily="34" charset="0"/>
                <a:ea typeface="Calibri" pitchFamily="34" charset="-122"/>
                <a:cs typeface="Calibri" pitchFamily="34" charset="-120"/>
              </a:rPr>
              <a:t>h19v08</a:t>
            </a:r>
            <a:endParaRPr lang="en-US" sz="1000" dirty="0"/>
          </a:p>
        </p:txBody>
      </p:sp>
      <p:sp>
        <p:nvSpPr>
          <p:cNvPr id="31" name="Shape 28"/>
          <p:cNvSpPr/>
          <p:nvPr/>
        </p:nvSpPr>
        <p:spPr>
          <a:xfrm>
            <a:off x="1481328" y="3291840"/>
            <a:ext cx="530352" cy="868680"/>
          </a:xfrm>
          <a:prstGeom prst="rect">
            <a:avLst/>
          </a:prstGeom>
          <a:solidFill>
            <a:srgbClr val="F5C242">
              <a:alpha val="25000"/>
            </a:srgbClr>
          </a:solidFill>
          <a:ln w="19050">
            <a:solidFill>
              <a:srgbClr val="D49A00"/>
            </a:solidFill>
            <a:prstDash val="dash"/>
          </a:ln>
        </p:spPr>
      </p:sp>
      <p:sp>
        <p:nvSpPr>
          <p:cNvPr id="32" name="Text 29"/>
          <p:cNvSpPr txBox="1"/>
          <p:nvPr/>
        </p:nvSpPr>
        <p:spPr>
          <a:xfrm>
            <a:off x="548640" y="4315968"/>
            <a:ext cx="3566160" cy="228600"/>
          </a:xfrm>
          <a:prstGeom prst="rect">
            <a:avLst/>
          </a:prstGeom>
          <a:noFill/>
          <a:ln/>
        </p:spPr>
        <p:txBody>
          <a:bodyPr wrap="square" lIns="0" tIns="0" rIns="0" bIns="0" rtlCol="0" anchor="t"/>
          <a:lstStyle/>
          <a:p>
            <a:pPr indent="0" marL="0">
              <a:buNone/>
            </a:pPr>
            <a:r>
              <a:rPr lang="en-US" sz="1000" i="1" dirty="0">
                <a:solidFill>
                  <a:srgbClr val="5E6964"/>
                </a:solidFill>
                <a:latin typeface="Calibri" pitchFamily="34" charset="0"/>
                <a:ea typeface="Calibri" pitchFamily="34" charset="-122"/>
                <a:cs typeface="Calibri" pitchFamily="34" charset="-120"/>
              </a:rPr>
              <a:t>Côte d'Ivoire → h17v07 + h17v08</a:t>
            </a:r>
            <a:endParaRPr lang="en-US" sz="1000" dirty="0"/>
          </a:p>
        </p:txBody>
      </p:sp>
      <p:sp>
        <p:nvSpPr>
          <p:cNvPr id="33" name="Text 30"/>
          <p:cNvSpPr txBox="1"/>
          <p:nvPr/>
        </p:nvSpPr>
        <p:spPr>
          <a:xfrm>
            <a:off x="4754880" y="1371600"/>
            <a:ext cx="393192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Anatomy of a file name</a:t>
            </a:r>
            <a:endParaRPr lang="en-US" sz="1300" dirty="0"/>
          </a:p>
        </p:txBody>
      </p:sp>
      <p:sp>
        <p:nvSpPr>
          <p:cNvPr id="34" name="Shape 31"/>
          <p:cNvSpPr/>
          <p:nvPr/>
        </p:nvSpPr>
        <p:spPr>
          <a:xfrm>
            <a:off x="4754880" y="1755648"/>
            <a:ext cx="1417320" cy="402336"/>
          </a:xfrm>
          <a:prstGeom prst="roundRect">
            <a:avLst>
              <a:gd name="adj" fmla="val 13636"/>
            </a:avLst>
          </a:prstGeom>
          <a:solidFill>
            <a:srgbClr val="00A86A"/>
          </a:solidFill>
          <a:ln w="12700">
            <a:solidFill>
              <a:srgbClr val="00A86A"/>
            </a:solidFill>
            <a:prstDash val="solid"/>
          </a:ln>
        </p:spPr>
      </p:sp>
      <p:sp>
        <p:nvSpPr>
          <p:cNvPr id="35" name="Text 32"/>
          <p:cNvSpPr txBox="1"/>
          <p:nvPr/>
        </p:nvSpPr>
        <p:spPr>
          <a:xfrm>
            <a:off x="4754880" y="1755648"/>
            <a:ext cx="141732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VNP46A4</a:t>
            </a:r>
            <a:endParaRPr lang="en-US" sz="1200" dirty="0"/>
          </a:p>
        </p:txBody>
      </p:sp>
      <p:sp>
        <p:nvSpPr>
          <p:cNvPr id="36" name="Shape 33"/>
          <p:cNvSpPr/>
          <p:nvPr/>
        </p:nvSpPr>
        <p:spPr>
          <a:xfrm>
            <a:off x="6236208" y="1956816"/>
            <a:ext cx="301752" cy="914"/>
          </a:xfrm>
          <a:prstGeom prst="line">
            <a:avLst/>
          </a:prstGeom>
          <a:noFill/>
          <a:ln w="15875">
            <a:solidFill>
              <a:srgbClr val="5E6964"/>
            </a:solidFill>
            <a:prstDash val="solid"/>
            <a:tailEnd type="triangle"/>
          </a:ln>
        </p:spPr>
      </p:sp>
      <p:sp>
        <p:nvSpPr>
          <p:cNvPr id="37" name="Text 34"/>
          <p:cNvSpPr txBox="1"/>
          <p:nvPr/>
        </p:nvSpPr>
        <p:spPr>
          <a:xfrm>
            <a:off x="6629400" y="1755648"/>
            <a:ext cx="2011680" cy="40233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product</a:t>
            </a:r>
            <a:endParaRPr lang="en-US" sz="1150" dirty="0"/>
          </a:p>
        </p:txBody>
      </p:sp>
      <p:sp>
        <p:nvSpPr>
          <p:cNvPr id="38" name="Shape 35"/>
          <p:cNvSpPr/>
          <p:nvPr/>
        </p:nvSpPr>
        <p:spPr>
          <a:xfrm>
            <a:off x="4754880" y="2304288"/>
            <a:ext cx="1417320" cy="402336"/>
          </a:xfrm>
          <a:prstGeom prst="roundRect">
            <a:avLst>
              <a:gd name="adj" fmla="val 13636"/>
            </a:avLst>
          </a:prstGeom>
          <a:solidFill>
            <a:srgbClr val="D49A00"/>
          </a:solidFill>
          <a:ln w="12700">
            <a:solidFill>
              <a:srgbClr val="D49A00"/>
            </a:solidFill>
            <a:prstDash val="solid"/>
          </a:ln>
        </p:spPr>
      </p:sp>
      <p:sp>
        <p:nvSpPr>
          <p:cNvPr id="39" name="Text 36"/>
          <p:cNvSpPr txBox="1"/>
          <p:nvPr/>
        </p:nvSpPr>
        <p:spPr>
          <a:xfrm>
            <a:off x="4754880" y="2304288"/>
            <a:ext cx="141732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A2023001</a:t>
            </a:r>
            <a:endParaRPr lang="en-US" sz="1200" dirty="0"/>
          </a:p>
        </p:txBody>
      </p:sp>
      <p:sp>
        <p:nvSpPr>
          <p:cNvPr id="40" name="Shape 37"/>
          <p:cNvSpPr/>
          <p:nvPr/>
        </p:nvSpPr>
        <p:spPr>
          <a:xfrm>
            <a:off x="6236208" y="2505456"/>
            <a:ext cx="301752" cy="914"/>
          </a:xfrm>
          <a:prstGeom prst="line">
            <a:avLst/>
          </a:prstGeom>
          <a:noFill/>
          <a:ln w="15875">
            <a:solidFill>
              <a:srgbClr val="5E6964"/>
            </a:solidFill>
            <a:prstDash val="solid"/>
            <a:tailEnd type="triangle"/>
          </a:ln>
        </p:spPr>
      </p:sp>
      <p:sp>
        <p:nvSpPr>
          <p:cNvPr id="41" name="Text 38"/>
          <p:cNvSpPr txBox="1"/>
          <p:nvPr/>
        </p:nvSpPr>
        <p:spPr>
          <a:xfrm>
            <a:off x="6629400" y="2304288"/>
            <a:ext cx="2011680" cy="40233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year + Julian day</a:t>
            </a:r>
            <a:endParaRPr lang="en-US" sz="1150" dirty="0"/>
          </a:p>
        </p:txBody>
      </p:sp>
      <p:sp>
        <p:nvSpPr>
          <p:cNvPr id="42" name="Shape 39"/>
          <p:cNvSpPr/>
          <p:nvPr/>
        </p:nvSpPr>
        <p:spPr>
          <a:xfrm>
            <a:off x="4754880" y="2852928"/>
            <a:ext cx="1417320" cy="402336"/>
          </a:xfrm>
          <a:prstGeom prst="roundRect">
            <a:avLst>
              <a:gd name="adj" fmla="val 13636"/>
            </a:avLst>
          </a:prstGeom>
          <a:solidFill>
            <a:srgbClr val="0E7C86"/>
          </a:solidFill>
          <a:ln w="12700">
            <a:solidFill>
              <a:srgbClr val="0E7C86"/>
            </a:solidFill>
            <a:prstDash val="solid"/>
          </a:ln>
        </p:spPr>
      </p:sp>
      <p:sp>
        <p:nvSpPr>
          <p:cNvPr id="43" name="Text 40"/>
          <p:cNvSpPr txBox="1"/>
          <p:nvPr/>
        </p:nvSpPr>
        <p:spPr>
          <a:xfrm>
            <a:off x="4754880" y="2852928"/>
            <a:ext cx="141732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h17v08</a:t>
            </a:r>
            <a:endParaRPr lang="en-US" sz="1200" dirty="0"/>
          </a:p>
        </p:txBody>
      </p:sp>
      <p:sp>
        <p:nvSpPr>
          <p:cNvPr id="44" name="Shape 41"/>
          <p:cNvSpPr/>
          <p:nvPr/>
        </p:nvSpPr>
        <p:spPr>
          <a:xfrm>
            <a:off x="6236208" y="3054096"/>
            <a:ext cx="301752" cy="914"/>
          </a:xfrm>
          <a:prstGeom prst="line">
            <a:avLst/>
          </a:prstGeom>
          <a:noFill/>
          <a:ln w="15875">
            <a:solidFill>
              <a:srgbClr val="5E6964"/>
            </a:solidFill>
            <a:prstDash val="solid"/>
            <a:tailEnd type="triangle"/>
          </a:ln>
        </p:spPr>
      </p:sp>
      <p:sp>
        <p:nvSpPr>
          <p:cNvPr id="45" name="Text 42"/>
          <p:cNvSpPr txBox="1"/>
          <p:nvPr/>
        </p:nvSpPr>
        <p:spPr>
          <a:xfrm>
            <a:off x="6629400" y="2852928"/>
            <a:ext cx="2011680" cy="40233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tile</a:t>
            </a:r>
            <a:endParaRPr lang="en-US" sz="1150" dirty="0"/>
          </a:p>
        </p:txBody>
      </p:sp>
      <p:sp>
        <p:nvSpPr>
          <p:cNvPr id="46" name="Shape 43"/>
          <p:cNvSpPr/>
          <p:nvPr/>
        </p:nvSpPr>
        <p:spPr>
          <a:xfrm>
            <a:off x="4754880" y="3401568"/>
            <a:ext cx="1417320" cy="402336"/>
          </a:xfrm>
          <a:prstGeom prst="roundRect">
            <a:avLst>
              <a:gd name="adj" fmla="val 13636"/>
            </a:avLst>
          </a:prstGeom>
          <a:solidFill>
            <a:srgbClr val="C4621D"/>
          </a:solidFill>
          <a:ln w="12700">
            <a:solidFill>
              <a:srgbClr val="C4621D"/>
            </a:solidFill>
            <a:prstDash val="solid"/>
          </a:ln>
        </p:spPr>
      </p:sp>
      <p:sp>
        <p:nvSpPr>
          <p:cNvPr id="47" name="Text 44"/>
          <p:cNvSpPr txBox="1"/>
          <p:nvPr/>
        </p:nvSpPr>
        <p:spPr>
          <a:xfrm>
            <a:off x="4754880" y="3401568"/>
            <a:ext cx="141732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002</a:t>
            </a:r>
            <a:endParaRPr lang="en-US" sz="1200" dirty="0"/>
          </a:p>
        </p:txBody>
      </p:sp>
      <p:sp>
        <p:nvSpPr>
          <p:cNvPr id="48" name="Shape 45"/>
          <p:cNvSpPr/>
          <p:nvPr/>
        </p:nvSpPr>
        <p:spPr>
          <a:xfrm>
            <a:off x="6236208" y="3602736"/>
            <a:ext cx="301752" cy="914"/>
          </a:xfrm>
          <a:prstGeom prst="line">
            <a:avLst/>
          </a:prstGeom>
          <a:noFill/>
          <a:ln w="15875">
            <a:solidFill>
              <a:srgbClr val="5E6964"/>
            </a:solidFill>
            <a:prstDash val="solid"/>
            <a:tailEnd type="triangle"/>
          </a:ln>
        </p:spPr>
      </p:sp>
      <p:sp>
        <p:nvSpPr>
          <p:cNvPr id="49" name="Text 46"/>
          <p:cNvSpPr txBox="1"/>
          <p:nvPr/>
        </p:nvSpPr>
        <p:spPr>
          <a:xfrm>
            <a:off x="6629400" y="3401568"/>
            <a:ext cx="2011680" cy="40233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collection</a:t>
            </a:r>
            <a:endParaRPr lang="en-US" sz="1150" dirty="0"/>
          </a:p>
        </p:txBody>
      </p:sp>
      <p:sp>
        <p:nvSpPr>
          <p:cNvPr id="50" name="Shape 47"/>
          <p:cNvSpPr/>
          <p:nvPr/>
        </p:nvSpPr>
        <p:spPr>
          <a:xfrm>
            <a:off x="4754880" y="3950208"/>
            <a:ext cx="1417320" cy="402336"/>
          </a:xfrm>
          <a:prstGeom prst="roundRect">
            <a:avLst>
              <a:gd name="adj" fmla="val 13636"/>
            </a:avLst>
          </a:prstGeom>
          <a:solidFill>
            <a:srgbClr val="5E6964"/>
          </a:solidFill>
          <a:ln w="12700">
            <a:solidFill>
              <a:srgbClr val="5E6964"/>
            </a:solidFill>
            <a:prstDash val="solid"/>
          </a:ln>
        </p:spPr>
      </p:sp>
      <p:sp>
        <p:nvSpPr>
          <p:cNvPr id="51" name="Text 48"/>
          <p:cNvSpPr txBox="1"/>
          <p:nvPr/>
        </p:nvSpPr>
        <p:spPr>
          <a:xfrm>
            <a:off x="4754880" y="3950208"/>
            <a:ext cx="141732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2024…</a:t>
            </a:r>
            <a:endParaRPr lang="en-US" sz="1200" dirty="0"/>
          </a:p>
        </p:txBody>
      </p:sp>
      <p:sp>
        <p:nvSpPr>
          <p:cNvPr id="52" name="Shape 49"/>
          <p:cNvSpPr/>
          <p:nvPr/>
        </p:nvSpPr>
        <p:spPr>
          <a:xfrm>
            <a:off x="6236208" y="4151376"/>
            <a:ext cx="301752" cy="914"/>
          </a:xfrm>
          <a:prstGeom prst="line">
            <a:avLst/>
          </a:prstGeom>
          <a:noFill/>
          <a:ln w="15875">
            <a:solidFill>
              <a:srgbClr val="5E6964"/>
            </a:solidFill>
            <a:prstDash val="solid"/>
            <a:tailEnd type="triangle"/>
          </a:ln>
        </p:spPr>
      </p:sp>
      <p:sp>
        <p:nvSpPr>
          <p:cNvPr id="53" name="Text 50"/>
          <p:cNvSpPr txBox="1"/>
          <p:nvPr/>
        </p:nvSpPr>
        <p:spPr>
          <a:xfrm>
            <a:off x="6629400" y="3950208"/>
            <a:ext cx="2011680" cy="40233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timestamp</a:t>
            </a:r>
            <a:endParaRPr lang="en-US" sz="11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02 · COLLECT · TIME GRID</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Fix the season, vary the year, never a single night</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00704A"/>
          </a:solidFill>
          <a:ln w="12700">
            <a:solidFill>
              <a:srgbClr val="00704A"/>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640080" y="2011680"/>
            <a:ext cx="7863840" cy="0"/>
          </a:xfrm>
          <a:prstGeom prst="line">
            <a:avLst/>
          </a:prstGeom>
          <a:noFill/>
          <a:ln w="25400">
            <a:solidFill>
              <a:srgbClr val="D5DED9"/>
            </a:solidFill>
            <a:prstDash val="solid"/>
          </a:ln>
        </p:spPr>
      </p:sp>
      <p:sp>
        <p:nvSpPr>
          <p:cNvPr id="12" name="Shape 9"/>
          <p:cNvSpPr/>
          <p:nvPr/>
        </p:nvSpPr>
        <p:spPr>
          <a:xfrm>
            <a:off x="557784" y="1929384"/>
            <a:ext cx="164592" cy="164592"/>
          </a:xfrm>
          <a:prstGeom prst="ellipse">
            <a:avLst/>
          </a:prstGeom>
          <a:solidFill>
            <a:srgbClr val="00A86A"/>
          </a:solidFill>
          <a:ln w="19050">
            <a:solidFill>
              <a:srgbClr val="FFFFFF"/>
            </a:solidFill>
            <a:prstDash val="solid"/>
          </a:ln>
        </p:spPr>
      </p:sp>
      <p:sp>
        <p:nvSpPr>
          <p:cNvPr id="13" name="Text 10"/>
          <p:cNvSpPr txBox="1"/>
          <p:nvPr/>
        </p:nvSpPr>
        <p:spPr>
          <a:xfrm>
            <a:off x="274320"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2013</a:t>
            </a:r>
            <a:endParaRPr lang="en-US" sz="1100" dirty="0"/>
          </a:p>
        </p:txBody>
      </p:sp>
      <p:sp>
        <p:nvSpPr>
          <p:cNvPr id="14" name="Text 11"/>
          <p:cNvSpPr txBox="1"/>
          <p:nvPr/>
        </p:nvSpPr>
        <p:spPr>
          <a:xfrm>
            <a:off x="137160"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 ±3</a:t>
            </a:r>
            <a:endParaRPr lang="en-US" sz="950" dirty="0"/>
          </a:p>
        </p:txBody>
      </p:sp>
      <p:sp>
        <p:nvSpPr>
          <p:cNvPr id="15" name="Shape 12"/>
          <p:cNvSpPr/>
          <p:nvPr/>
        </p:nvSpPr>
        <p:spPr>
          <a:xfrm>
            <a:off x="1865376" y="1929384"/>
            <a:ext cx="164592" cy="164592"/>
          </a:xfrm>
          <a:prstGeom prst="ellipse">
            <a:avLst/>
          </a:prstGeom>
          <a:solidFill>
            <a:srgbClr val="00A86A"/>
          </a:solidFill>
          <a:ln w="19050">
            <a:solidFill>
              <a:srgbClr val="FFFFFF"/>
            </a:solidFill>
            <a:prstDash val="solid"/>
          </a:ln>
        </p:spPr>
      </p:sp>
      <p:sp>
        <p:nvSpPr>
          <p:cNvPr id="16" name="Text 13"/>
          <p:cNvSpPr txBox="1"/>
          <p:nvPr/>
        </p:nvSpPr>
        <p:spPr>
          <a:xfrm>
            <a:off x="1581912"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2015</a:t>
            </a:r>
            <a:endParaRPr lang="en-US" sz="1100" dirty="0"/>
          </a:p>
        </p:txBody>
      </p:sp>
      <p:sp>
        <p:nvSpPr>
          <p:cNvPr id="17" name="Text 14"/>
          <p:cNvSpPr txBox="1"/>
          <p:nvPr/>
        </p:nvSpPr>
        <p:spPr>
          <a:xfrm>
            <a:off x="1444752"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 ±3</a:t>
            </a:r>
            <a:endParaRPr lang="en-US" sz="950" dirty="0"/>
          </a:p>
        </p:txBody>
      </p:sp>
      <p:sp>
        <p:nvSpPr>
          <p:cNvPr id="18" name="Shape 15"/>
          <p:cNvSpPr/>
          <p:nvPr/>
        </p:nvSpPr>
        <p:spPr>
          <a:xfrm>
            <a:off x="3172968" y="1929384"/>
            <a:ext cx="164592" cy="164592"/>
          </a:xfrm>
          <a:prstGeom prst="ellipse">
            <a:avLst/>
          </a:prstGeom>
          <a:solidFill>
            <a:srgbClr val="00A86A"/>
          </a:solidFill>
          <a:ln w="19050">
            <a:solidFill>
              <a:srgbClr val="FFFFFF"/>
            </a:solidFill>
            <a:prstDash val="solid"/>
          </a:ln>
        </p:spPr>
      </p:sp>
      <p:sp>
        <p:nvSpPr>
          <p:cNvPr id="19" name="Text 16"/>
          <p:cNvSpPr txBox="1"/>
          <p:nvPr/>
        </p:nvSpPr>
        <p:spPr>
          <a:xfrm>
            <a:off x="2889504"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2017</a:t>
            </a:r>
            <a:endParaRPr lang="en-US" sz="1100" dirty="0"/>
          </a:p>
        </p:txBody>
      </p:sp>
      <p:sp>
        <p:nvSpPr>
          <p:cNvPr id="20" name="Text 17"/>
          <p:cNvSpPr txBox="1"/>
          <p:nvPr/>
        </p:nvSpPr>
        <p:spPr>
          <a:xfrm>
            <a:off x="2752344"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 ±3</a:t>
            </a:r>
            <a:endParaRPr lang="en-US" sz="950" dirty="0"/>
          </a:p>
        </p:txBody>
      </p:sp>
      <p:sp>
        <p:nvSpPr>
          <p:cNvPr id="21" name="Shape 18"/>
          <p:cNvSpPr/>
          <p:nvPr/>
        </p:nvSpPr>
        <p:spPr>
          <a:xfrm>
            <a:off x="4480560" y="1929384"/>
            <a:ext cx="164592" cy="164592"/>
          </a:xfrm>
          <a:prstGeom prst="ellipse">
            <a:avLst/>
          </a:prstGeom>
          <a:solidFill>
            <a:srgbClr val="00A86A"/>
          </a:solidFill>
          <a:ln w="19050">
            <a:solidFill>
              <a:srgbClr val="FFFFFF"/>
            </a:solidFill>
            <a:prstDash val="solid"/>
          </a:ln>
        </p:spPr>
      </p:sp>
      <p:sp>
        <p:nvSpPr>
          <p:cNvPr id="22" name="Text 19"/>
          <p:cNvSpPr txBox="1"/>
          <p:nvPr/>
        </p:nvSpPr>
        <p:spPr>
          <a:xfrm>
            <a:off x="4197096"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2019</a:t>
            </a:r>
            <a:endParaRPr lang="en-US" sz="1100" dirty="0"/>
          </a:p>
        </p:txBody>
      </p:sp>
      <p:sp>
        <p:nvSpPr>
          <p:cNvPr id="23" name="Text 20"/>
          <p:cNvSpPr txBox="1"/>
          <p:nvPr/>
        </p:nvSpPr>
        <p:spPr>
          <a:xfrm>
            <a:off x="4059936"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 ±3</a:t>
            </a:r>
            <a:endParaRPr lang="en-US" sz="950" dirty="0"/>
          </a:p>
        </p:txBody>
      </p:sp>
      <p:sp>
        <p:nvSpPr>
          <p:cNvPr id="24" name="Shape 21"/>
          <p:cNvSpPr/>
          <p:nvPr/>
        </p:nvSpPr>
        <p:spPr>
          <a:xfrm>
            <a:off x="5788152" y="1929384"/>
            <a:ext cx="164592" cy="164592"/>
          </a:xfrm>
          <a:prstGeom prst="ellipse">
            <a:avLst/>
          </a:prstGeom>
          <a:solidFill>
            <a:srgbClr val="00A86A"/>
          </a:solidFill>
          <a:ln w="19050">
            <a:solidFill>
              <a:srgbClr val="FFFFFF"/>
            </a:solidFill>
            <a:prstDash val="solid"/>
          </a:ln>
        </p:spPr>
      </p:sp>
      <p:sp>
        <p:nvSpPr>
          <p:cNvPr id="25" name="Text 22"/>
          <p:cNvSpPr txBox="1"/>
          <p:nvPr/>
        </p:nvSpPr>
        <p:spPr>
          <a:xfrm>
            <a:off x="5504688"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2021</a:t>
            </a:r>
            <a:endParaRPr lang="en-US" sz="1100" dirty="0"/>
          </a:p>
        </p:txBody>
      </p:sp>
      <p:sp>
        <p:nvSpPr>
          <p:cNvPr id="26" name="Text 23"/>
          <p:cNvSpPr txBox="1"/>
          <p:nvPr/>
        </p:nvSpPr>
        <p:spPr>
          <a:xfrm>
            <a:off x="5367528"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 ±3</a:t>
            </a:r>
            <a:endParaRPr lang="en-US" sz="950" dirty="0"/>
          </a:p>
        </p:txBody>
      </p:sp>
      <p:sp>
        <p:nvSpPr>
          <p:cNvPr id="27" name="Shape 24"/>
          <p:cNvSpPr/>
          <p:nvPr/>
        </p:nvSpPr>
        <p:spPr>
          <a:xfrm>
            <a:off x="7095744" y="1929384"/>
            <a:ext cx="164592" cy="164592"/>
          </a:xfrm>
          <a:prstGeom prst="ellipse">
            <a:avLst/>
          </a:prstGeom>
          <a:solidFill>
            <a:srgbClr val="00A86A"/>
          </a:solidFill>
          <a:ln w="19050">
            <a:solidFill>
              <a:srgbClr val="FFFFFF"/>
            </a:solidFill>
            <a:prstDash val="solid"/>
          </a:ln>
        </p:spPr>
      </p:sp>
      <p:sp>
        <p:nvSpPr>
          <p:cNvPr id="28" name="Text 25"/>
          <p:cNvSpPr txBox="1"/>
          <p:nvPr/>
        </p:nvSpPr>
        <p:spPr>
          <a:xfrm>
            <a:off x="6812280"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2023</a:t>
            </a:r>
            <a:endParaRPr lang="en-US" sz="1100" dirty="0"/>
          </a:p>
        </p:txBody>
      </p:sp>
      <p:sp>
        <p:nvSpPr>
          <p:cNvPr id="29" name="Text 26"/>
          <p:cNvSpPr txBox="1"/>
          <p:nvPr/>
        </p:nvSpPr>
        <p:spPr>
          <a:xfrm>
            <a:off x="6675120"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 ±3</a:t>
            </a:r>
            <a:endParaRPr lang="en-US" sz="950" dirty="0"/>
          </a:p>
        </p:txBody>
      </p:sp>
      <p:sp>
        <p:nvSpPr>
          <p:cNvPr id="30" name="Shape 27"/>
          <p:cNvSpPr/>
          <p:nvPr/>
        </p:nvSpPr>
        <p:spPr>
          <a:xfrm>
            <a:off x="8403336" y="1929384"/>
            <a:ext cx="164592" cy="164592"/>
          </a:xfrm>
          <a:prstGeom prst="ellipse">
            <a:avLst/>
          </a:prstGeom>
          <a:solidFill>
            <a:srgbClr val="00A86A"/>
          </a:solidFill>
          <a:ln w="19050">
            <a:solidFill>
              <a:srgbClr val="FFFFFF"/>
            </a:solidFill>
            <a:prstDash val="solid"/>
          </a:ln>
        </p:spPr>
      </p:sp>
      <p:sp>
        <p:nvSpPr>
          <p:cNvPr id="31" name="Text 28"/>
          <p:cNvSpPr txBox="1"/>
          <p:nvPr/>
        </p:nvSpPr>
        <p:spPr>
          <a:xfrm>
            <a:off x="8119872"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2025</a:t>
            </a:r>
            <a:endParaRPr lang="en-US" sz="1100" dirty="0"/>
          </a:p>
        </p:txBody>
      </p:sp>
      <p:sp>
        <p:nvSpPr>
          <p:cNvPr id="32" name="Text 29"/>
          <p:cNvSpPr txBox="1"/>
          <p:nvPr/>
        </p:nvSpPr>
        <p:spPr>
          <a:xfrm>
            <a:off x="7982712"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 ±3</a:t>
            </a:r>
            <a:endParaRPr lang="en-US" sz="950" dirty="0"/>
          </a:p>
        </p:txBody>
      </p:sp>
      <p:sp>
        <p:nvSpPr>
          <p:cNvPr id="33" name="Shape 30"/>
          <p:cNvSpPr/>
          <p:nvPr/>
        </p:nvSpPr>
        <p:spPr>
          <a:xfrm>
            <a:off x="457200" y="2606040"/>
            <a:ext cx="2606040" cy="1417320"/>
          </a:xfrm>
          <a:prstGeom prst="roundRect">
            <a:avLst>
              <a:gd name="adj" fmla="val 5161"/>
            </a:avLst>
          </a:prstGeom>
          <a:solidFill>
            <a:srgbClr val="E8F5EF"/>
          </a:solidFill>
          <a:ln w="15875">
            <a:solidFill>
              <a:srgbClr val="00704A"/>
            </a:solidFill>
            <a:prstDash val="solid"/>
          </a:ln>
        </p:spPr>
      </p:sp>
      <p:sp>
        <p:nvSpPr>
          <p:cNvPr id="34" name="Shape 31"/>
          <p:cNvSpPr/>
          <p:nvPr/>
        </p:nvSpPr>
        <p:spPr>
          <a:xfrm>
            <a:off x="621792" y="2743200"/>
            <a:ext cx="457200" cy="457200"/>
          </a:xfrm>
          <a:prstGeom prst="ellipse">
            <a:avLst/>
          </a:prstGeom>
          <a:solidFill>
            <a:srgbClr val="00704A">
              <a:alpha val="22000"/>
            </a:srgbClr>
          </a:solidFill>
          <a:ln w="12700">
            <a:solidFill>
              <a:srgbClr val="00704A">
                <a:alpha val="0"/>
              </a:srgbClr>
            </a:solidFill>
            <a:prstDash val="solid"/>
          </a:ln>
        </p:spPr>
      </p:sp>
      <p:pic>
        <p:nvPicPr>
          <p:cNvPr id="35" name="Image 0" descr="preencoded.png">    </p:cNvPr>
          <p:cNvPicPr>
            <a:picLocks noChangeAspect="1"/>
          </p:cNvPicPr>
          <p:nvPr/>
        </p:nvPicPr>
        <p:blipFill>
          <a:blip r:embed="rId1"/>
          <a:stretch>
            <a:fillRect/>
          </a:stretch>
        </p:blipFill>
        <p:spPr>
          <a:xfrm>
            <a:off x="731520" y="2852928"/>
            <a:ext cx="237744" cy="237744"/>
          </a:xfrm>
          <a:prstGeom prst="rect">
            <a:avLst/>
          </a:prstGeom>
        </p:spPr>
      </p:pic>
      <p:sp>
        <p:nvSpPr>
          <p:cNvPr id="36" name="Text 32"/>
          <p:cNvSpPr txBox="1"/>
          <p:nvPr/>
        </p:nvSpPr>
        <p:spPr>
          <a:xfrm>
            <a:off x="1188720" y="2743200"/>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Daily A1 / A2</a:t>
            </a:r>
            <a:endParaRPr lang="en-US" sz="1300" dirty="0"/>
          </a:p>
        </p:txBody>
      </p:sp>
      <p:sp>
        <p:nvSpPr>
          <p:cNvPr id="37" name="Text 33"/>
          <p:cNvSpPr txBox="1"/>
          <p:nvPr/>
        </p:nvSpPr>
        <p:spPr>
          <a:xfrm>
            <a:off x="621792" y="3273552"/>
            <a:ext cx="2286000" cy="71323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Fixed day ± 3 nights (7 nights a year), then keep clear, good-quality nights and take their median</a:t>
            </a:r>
            <a:endParaRPr lang="en-US" sz="1050" dirty="0"/>
          </a:p>
        </p:txBody>
      </p:sp>
      <p:sp>
        <p:nvSpPr>
          <p:cNvPr id="38" name="Shape 34"/>
          <p:cNvSpPr/>
          <p:nvPr/>
        </p:nvSpPr>
        <p:spPr>
          <a:xfrm>
            <a:off x="3246120" y="2606040"/>
            <a:ext cx="2606040" cy="1417320"/>
          </a:xfrm>
          <a:prstGeom prst="roundRect">
            <a:avLst>
              <a:gd name="adj" fmla="val 5161"/>
            </a:avLst>
          </a:prstGeom>
          <a:solidFill>
            <a:srgbClr val="F4F7F5"/>
          </a:solidFill>
          <a:ln w="9525">
            <a:solidFill>
              <a:srgbClr val="D5DED9"/>
            </a:solidFill>
            <a:prstDash val="solid"/>
          </a:ln>
        </p:spPr>
      </p:sp>
      <p:sp>
        <p:nvSpPr>
          <p:cNvPr id="39" name="Shape 35"/>
          <p:cNvSpPr/>
          <p:nvPr/>
        </p:nvSpPr>
        <p:spPr>
          <a:xfrm>
            <a:off x="3410712" y="2743200"/>
            <a:ext cx="457200" cy="457200"/>
          </a:xfrm>
          <a:prstGeom prst="ellipse">
            <a:avLst/>
          </a:prstGeom>
          <a:solidFill>
            <a:srgbClr val="0E7C86">
              <a:alpha val="22000"/>
            </a:srgbClr>
          </a:solidFill>
          <a:ln w="12700">
            <a:solidFill>
              <a:srgbClr val="0E7C86">
                <a:alpha val="0"/>
              </a:srgbClr>
            </a:solidFill>
            <a:prstDash val="solid"/>
          </a:ln>
        </p:spPr>
      </p:sp>
      <p:pic>
        <p:nvPicPr>
          <p:cNvPr id="40" name="Image 1" descr="preencoded.png">    </p:cNvPr>
          <p:cNvPicPr>
            <a:picLocks noChangeAspect="1"/>
          </p:cNvPicPr>
          <p:nvPr/>
        </p:nvPicPr>
        <p:blipFill>
          <a:blip r:embed="rId2"/>
          <a:stretch>
            <a:fillRect/>
          </a:stretch>
        </p:blipFill>
        <p:spPr>
          <a:xfrm>
            <a:off x="3520440" y="2852928"/>
            <a:ext cx="237744" cy="237744"/>
          </a:xfrm>
          <a:prstGeom prst="rect">
            <a:avLst/>
          </a:prstGeom>
        </p:spPr>
      </p:pic>
      <p:sp>
        <p:nvSpPr>
          <p:cNvPr id="41" name="Text 36"/>
          <p:cNvSpPr txBox="1"/>
          <p:nvPr/>
        </p:nvSpPr>
        <p:spPr>
          <a:xfrm>
            <a:off x="3977640" y="2743200"/>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Monthly A3</a:t>
            </a:r>
            <a:endParaRPr lang="en-US" sz="1300" dirty="0"/>
          </a:p>
        </p:txBody>
      </p:sp>
      <p:sp>
        <p:nvSpPr>
          <p:cNvPr id="42" name="Text 37"/>
          <p:cNvSpPr txBox="1"/>
          <p:nvPr/>
        </p:nvSpPr>
        <p:spPr>
          <a:xfrm>
            <a:off x="3410712" y="3273552"/>
            <a:ext cx="2286000" cy="71323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The same month every year: the composite already absorbs clouds and the Moon</a:t>
            </a:r>
            <a:endParaRPr lang="en-US" sz="1050" dirty="0"/>
          </a:p>
        </p:txBody>
      </p:sp>
      <p:sp>
        <p:nvSpPr>
          <p:cNvPr id="43" name="Shape 38"/>
          <p:cNvSpPr/>
          <p:nvPr/>
        </p:nvSpPr>
        <p:spPr>
          <a:xfrm>
            <a:off x="6035040" y="2606040"/>
            <a:ext cx="2606040" cy="1417320"/>
          </a:xfrm>
          <a:prstGeom prst="roundRect">
            <a:avLst>
              <a:gd name="adj" fmla="val 5161"/>
            </a:avLst>
          </a:prstGeom>
          <a:solidFill>
            <a:srgbClr val="F4F7F5"/>
          </a:solidFill>
          <a:ln w="9525">
            <a:solidFill>
              <a:srgbClr val="D5DED9"/>
            </a:solidFill>
            <a:prstDash val="solid"/>
          </a:ln>
        </p:spPr>
      </p:sp>
      <p:sp>
        <p:nvSpPr>
          <p:cNvPr id="44" name="Shape 39"/>
          <p:cNvSpPr/>
          <p:nvPr/>
        </p:nvSpPr>
        <p:spPr>
          <a:xfrm>
            <a:off x="6199632" y="2743200"/>
            <a:ext cx="457200" cy="457200"/>
          </a:xfrm>
          <a:prstGeom prst="ellipse">
            <a:avLst/>
          </a:prstGeom>
          <a:solidFill>
            <a:srgbClr val="00A86A">
              <a:alpha val="22000"/>
            </a:srgbClr>
          </a:solidFill>
          <a:ln w="12700">
            <a:solidFill>
              <a:srgbClr val="00A86A">
                <a:alpha val="0"/>
              </a:srgbClr>
            </a:solidFill>
            <a:prstDash val="solid"/>
          </a:ln>
        </p:spPr>
      </p:sp>
      <p:pic>
        <p:nvPicPr>
          <p:cNvPr id="45" name="Image 2" descr="preencoded.png">    </p:cNvPr>
          <p:cNvPicPr>
            <a:picLocks noChangeAspect="1"/>
          </p:cNvPicPr>
          <p:nvPr/>
        </p:nvPicPr>
        <p:blipFill>
          <a:blip r:embed="rId3"/>
          <a:stretch>
            <a:fillRect/>
          </a:stretch>
        </p:blipFill>
        <p:spPr>
          <a:xfrm>
            <a:off x="6309360" y="2852928"/>
            <a:ext cx="237744" cy="237744"/>
          </a:xfrm>
          <a:prstGeom prst="rect">
            <a:avLst/>
          </a:prstGeom>
        </p:spPr>
      </p:pic>
      <p:sp>
        <p:nvSpPr>
          <p:cNvPr id="46" name="Text 40"/>
          <p:cNvSpPr txBox="1"/>
          <p:nvPr/>
        </p:nvSpPr>
        <p:spPr>
          <a:xfrm>
            <a:off x="6766560" y="2743200"/>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Annual A4</a:t>
            </a:r>
            <a:endParaRPr lang="en-US" sz="1300" dirty="0"/>
          </a:p>
        </p:txBody>
      </p:sp>
      <p:sp>
        <p:nvSpPr>
          <p:cNvPr id="47" name="Text 41"/>
          <p:cNvSpPr txBox="1"/>
          <p:nvPr/>
        </p:nvSpPr>
        <p:spPr>
          <a:xfrm>
            <a:off x="6199632" y="3273552"/>
            <a:ext cx="2286000" cy="71323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The whole year: the right product for year-on-year trends</a:t>
            </a:r>
            <a:endParaRPr lang="en-US" sz="1050" dirty="0"/>
          </a:p>
        </p:txBody>
      </p:sp>
      <p:sp>
        <p:nvSpPr>
          <p:cNvPr id="48" name="Shape 42"/>
          <p:cNvSpPr/>
          <p:nvPr/>
        </p:nvSpPr>
        <p:spPr>
          <a:xfrm>
            <a:off x="457200" y="4114800"/>
            <a:ext cx="8229600" cy="384048"/>
          </a:xfrm>
          <a:prstGeom prst="roundRect">
            <a:avLst>
              <a:gd name="adj" fmla="val 14286"/>
            </a:avLst>
          </a:prstGeom>
          <a:solidFill>
            <a:srgbClr val="D49A00">
              <a:alpha val="13000"/>
            </a:srgbClr>
          </a:solidFill>
          <a:ln w="12700">
            <a:solidFill>
              <a:srgbClr val="D49A00"/>
            </a:solidFill>
            <a:prstDash val="solid"/>
          </a:ln>
        </p:spPr>
      </p:sp>
      <p:pic>
        <p:nvPicPr>
          <p:cNvPr id="49" name="Image 3" descr="preencoded.png">    </p:cNvPr>
          <p:cNvPicPr>
            <a:picLocks noChangeAspect="1"/>
          </p:cNvPicPr>
          <p:nvPr/>
        </p:nvPicPr>
        <p:blipFill>
          <a:blip r:embed="rId4"/>
          <a:stretch>
            <a:fillRect/>
          </a:stretch>
        </p:blipFill>
        <p:spPr>
          <a:xfrm>
            <a:off x="594360" y="4242816"/>
            <a:ext cx="237744" cy="237744"/>
          </a:xfrm>
          <a:prstGeom prst="rect">
            <a:avLst/>
          </a:prstGeom>
        </p:spPr>
      </p:pic>
      <p:sp>
        <p:nvSpPr>
          <p:cNvPr id="50" name="Text 43"/>
          <p:cNvSpPr txBox="1"/>
          <p:nvPr/>
        </p:nvSpPr>
        <p:spPr>
          <a:xfrm>
            <a:off x="932688" y="4206240"/>
            <a:ext cx="7635240" cy="201168"/>
          </a:xfrm>
          <a:prstGeom prst="rect">
            <a:avLst/>
          </a:prstGeom>
          <a:noFill/>
          <a:ln/>
        </p:spPr>
        <p:txBody>
          <a:bodyPr wrap="square" lIns="0" tIns="0" rIns="0" bIns="0" rtlCol="0" anchor="ctr"/>
          <a:lstStyle/>
          <a:p>
            <a:pPr indent="0" marL="0">
              <a:buNone/>
            </a:pPr>
            <a:r>
              <a:rPr lang="en-US" sz="1100" b="1" dirty="0">
                <a:solidFill>
                  <a:srgbClr val="D49A00"/>
                </a:solidFill>
                <a:latin typeface="Calibri" pitchFamily="34" charset="0"/>
                <a:ea typeface="Calibri" pitchFamily="34" charset="-122"/>
                <a:cs typeface="Calibri" pitchFamily="34" charset="-120"/>
              </a:rPr>
              <a:t xml:space="preserve">Moon:  </a:t>
            </a:r>
            <a:pPr indent="0" marL="0">
              <a:buNone/>
            </a:pPr>
            <a:r>
              <a:rPr lang="en-US" sz="1100" dirty="0">
                <a:solidFill>
                  <a:srgbClr val="231F20"/>
                </a:solidFill>
                <a:latin typeface="Calibri" pitchFamily="34" charset="0"/>
                <a:ea typeface="Calibri" pitchFamily="34" charset="-122"/>
                <a:cs typeface="Calibri" pitchFamily="34" charset="-120"/>
              </a:rPr>
              <a:t>29.5-day cycle — a fixed date does not fix the lunar phase.</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02 · COLLECT · RESULTS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Query, measure availability, download</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00704A"/>
          </a:solidFill>
          <a:ln w="12700">
            <a:solidFill>
              <a:srgbClr val="00704A"/>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2514600" cy="1508760"/>
          </a:xfrm>
          <a:prstGeom prst="roundRect">
            <a:avLst>
              <a:gd name="adj" fmla="val 4848"/>
            </a:avLst>
          </a:prstGeom>
          <a:solidFill>
            <a:srgbClr val="F4F7F5"/>
          </a:solidFill>
          <a:ln w="9525">
            <a:solidFill>
              <a:srgbClr val="D5DED9"/>
            </a:solidFill>
            <a:prstDash val="solid"/>
          </a:ln>
        </p:spPr>
      </p:sp>
      <p:sp>
        <p:nvSpPr>
          <p:cNvPr id="12" name="Shape 9"/>
          <p:cNvSpPr/>
          <p:nvPr/>
        </p:nvSpPr>
        <p:spPr>
          <a:xfrm>
            <a:off x="621792" y="1508760"/>
            <a:ext cx="457200" cy="457200"/>
          </a:xfrm>
          <a:prstGeom prst="ellipse">
            <a:avLst/>
          </a:prstGeom>
          <a:solidFill>
            <a:srgbClr val="00704A">
              <a:alpha val="22000"/>
            </a:srgbClr>
          </a:solidFill>
          <a:ln w="12700">
            <a:solidFill>
              <a:srgbClr val="00704A">
                <a:alpha val="0"/>
              </a:srgbClr>
            </a:solidFill>
            <a:prstDash val="solid"/>
          </a:ln>
        </p:spPr>
      </p:sp>
      <p:pic>
        <p:nvPicPr>
          <p:cNvPr id="13" name="Image 0" descr="preencoded.png">    </p:cNvPr>
          <p:cNvPicPr>
            <a:picLocks noChangeAspect="1"/>
          </p:cNvPicPr>
          <p:nvPr/>
        </p:nvPicPr>
        <p:blipFill>
          <a:blip r:embed="rId1"/>
          <a:stretch>
            <a:fillRect/>
          </a:stretch>
        </p:blipFill>
        <p:spPr>
          <a:xfrm>
            <a:off x="731520" y="1618488"/>
            <a:ext cx="237744" cy="237744"/>
          </a:xfrm>
          <a:prstGeom prst="rect">
            <a:avLst/>
          </a:prstGeom>
        </p:spPr>
      </p:pic>
      <p:sp>
        <p:nvSpPr>
          <p:cNvPr id="14" name="Text 10"/>
          <p:cNvSpPr txBox="1"/>
          <p:nvPr/>
        </p:nvSpPr>
        <p:spPr>
          <a:xfrm>
            <a:off x="1188720" y="1508760"/>
            <a:ext cx="169164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1 · Query</a:t>
            </a:r>
            <a:endParaRPr lang="en-US" sz="1300" dirty="0"/>
          </a:p>
        </p:txBody>
      </p:sp>
      <p:sp>
        <p:nvSpPr>
          <p:cNvPr id="15" name="Text 11"/>
          <p:cNvSpPr txBox="1"/>
          <p:nvPr/>
        </p:nvSpPr>
        <p:spPr>
          <a:xfrm>
            <a:off x="621792" y="2057400"/>
            <a:ext cx="2240280" cy="7772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One query per year · pagination (2,000 per page) · de-duplication by tile and date</a:t>
            </a:r>
            <a:endParaRPr lang="en-US" sz="1050" dirty="0"/>
          </a:p>
        </p:txBody>
      </p:sp>
      <p:sp>
        <p:nvSpPr>
          <p:cNvPr id="16" name="Shape 12"/>
          <p:cNvSpPr/>
          <p:nvPr/>
        </p:nvSpPr>
        <p:spPr>
          <a:xfrm>
            <a:off x="2999232" y="2121408"/>
            <a:ext cx="219456" cy="914"/>
          </a:xfrm>
          <a:prstGeom prst="line">
            <a:avLst/>
          </a:prstGeom>
          <a:noFill/>
          <a:ln w="15875">
            <a:solidFill>
              <a:srgbClr val="5E6964"/>
            </a:solidFill>
            <a:prstDash val="solid"/>
            <a:tailEnd type="triangle"/>
          </a:ln>
        </p:spPr>
      </p:sp>
      <p:sp>
        <p:nvSpPr>
          <p:cNvPr id="17" name="Shape 13"/>
          <p:cNvSpPr/>
          <p:nvPr/>
        </p:nvSpPr>
        <p:spPr>
          <a:xfrm>
            <a:off x="3246120" y="1371600"/>
            <a:ext cx="2514600" cy="1508760"/>
          </a:xfrm>
          <a:prstGeom prst="roundRect">
            <a:avLst>
              <a:gd name="adj" fmla="val 4848"/>
            </a:avLst>
          </a:prstGeom>
          <a:solidFill>
            <a:srgbClr val="E8F5EF"/>
          </a:solidFill>
          <a:ln w="15875">
            <a:solidFill>
              <a:srgbClr val="00704A"/>
            </a:solidFill>
            <a:prstDash val="solid"/>
          </a:ln>
        </p:spPr>
      </p:sp>
      <p:sp>
        <p:nvSpPr>
          <p:cNvPr id="18" name="Shape 14"/>
          <p:cNvSpPr/>
          <p:nvPr/>
        </p:nvSpPr>
        <p:spPr>
          <a:xfrm>
            <a:off x="3410712" y="1508760"/>
            <a:ext cx="457200" cy="457200"/>
          </a:xfrm>
          <a:prstGeom prst="ellipse">
            <a:avLst/>
          </a:prstGeom>
          <a:solidFill>
            <a:srgbClr val="00704A">
              <a:alpha val="22000"/>
            </a:srgbClr>
          </a:solidFill>
          <a:ln w="12700">
            <a:solidFill>
              <a:srgbClr val="00704A">
                <a:alpha val="0"/>
              </a:srgbClr>
            </a:solidFill>
            <a:prstDash val="solid"/>
          </a:ln>
        </p:spPr>
      </p:sp>
      <p:pic>
        <p:nvPicPr>
          <p:cNvPr id="19" name="Image 1" descr="preencoded.png">    </p:cNvPr>
          <p:cNvPicPr>
            <a:picLocks noChangeAspect="1"/>
          </p:cNvPicPr>
          <p:nvPr/>
        </p:nvPicPr>
        <p:blipFill>
          <a:blip r:embed="rId2"/>
          <a:stretch>
            <a:fillRect/>
          </a:stretch>
        </p:blipFill>
        <p:spPr>
          <a:xfrm>
            <a:off x="3520440" y="1618488"/>
            <a:ext cx="237744" cy="237744"/>
          </a:xfrm>
          <a:prstGeom prst="rect">
            <a:avLst/>
          </a:prstGeom>
        </p:spPr>
      </p:pic>
      <p:sp>
        <p:nvSpPr>
          <p:cNvPr id="20" name="Text 15"/>
          <p:cNvSpPr txBox="1"/>
          <p:nvPr/>
        </p:nvSpPr>
        <p:spPr>
          <a:xfrm>
            <a:off x="3977640" y="1508760"/>
            <a:ext cx="169164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2 · Measure</a:t>
            </a:r>
            <a:endParaRPr lang="en-US" sz="1300" dirty="0"/>
          </a:p>
        </p:txBody>
      </p:sp>
      <p:sp>
        <p:nvSpPr>
          <p:cNvPr id="21" name="Text 16"/>
          <p:cNvSpPr txBox="1"/>
          <p:nvPr/>
        </p:nvSpPr>
        <p:spPr>
          <a:xfrm>
            <a:off x="3410712" y="2057400"/>
            <a:ext cx="2240280" cy="7772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Expected = windows × tiles × nights · found · completeness · volume in GB</a:t>
            </a:r>
            <a:endParaRPr lang="en-US" sz="1050" dirty="0"/>
          </a:p>
        </p:txBody>
      </p:sp>
      <p:sp>
        <p:nvSpPr>
          <p:cNvPr id="22" name="Shape 17"/>
          <p:cNvSpPr/>
          <p:nvPr/>
        </p:nvSpPr>
        <p:spPr>
          <a:xfrm>
            <a:off x="5788152" y="2121408"/>
            <a:ext cx="219456" cy="914"/>
          </a:xfrm>
          <a:prstGeom prst="line">
            <a:avLst/>
          </a:prstGeom>
          <a:noFill/>
          <a:ln w="15875">
            <a:solidFill>
              <a:srgbClr val="5E6964"/>
            </a:solidFill>
            <a:prstDash val="solid"/>
            <a:tailEnd type="triangle"/>
          </a:ln>
        </p:spPr>
      </p:sp>
      <p:sp>
        <p:nvSpPr>
          <p:cNvPr id="23" name="Shape 18"/>
          <p:cNvSpPr/>
          <p:nvPr/>
        </p:nvSpPr>
        <p:spPr>
          <a:xfrm>
            <a:off x="6035040" y="1371600"/>
            <a:ext cx="2514600" cy="1508760"/>
          </a:xfrm>
          <a:prstGeom prst="roundRect">
            <a:avLst>
              <a:gd name="adj" fmla="val 4848"/>
            </a:avLst>
          </a:prstGeom>
          <a:solidFill>
            <a:srgbClr val="F4F7F5"/>
          </a:solidFill>
          <a:ln w="9525">
            <a:solidFill>
              <a:srgbClr val="D5DED9"/>
            </a:solidFill>
            <a:prstDash val="solid"/>
          </a:ln>
        </p:spPr>
      </p:sp>
      <p:sp>
        <p:nvSpPr>
          <p:cNvPr id="24" name="Shape 19"/>
          <p:cNvSpPr/>
          <p:nvPr/>
        </p:nvSpPr>
        <p:spPr>
          <a:xfrm>
            <a:off x="6199632" y="1508760"/>
            <a:ext cx="457200" cy="457200"/>
          </a:xfrm>
          <a:prstGeom prst="ellipse">
            <a:avLst/>
          </a:prstGeom>
          <a:solidFill>
            <a:srgbClr val="00704A">
              <a:alpha val="22000"/>
            </a:srgbClr>
          </a:solidFill>
          <a:ln w="12700">
            <a:solidFill>
              <a:srgbClr val="00704A">
                <a:alpha val="0"/>
              </a:srgbClr>
            </a:solidFill>
            <a:prstDash val="solid"/>
          </a:ln>
        </p:spPr>
      </p:sp>
      <p:pic>
        <p:nvPicPr>
          <p:cNvPr id="25" name="Image 2" descr="preencoded.png">    </p:cNvPr>
          <p:cNvPicPr>
            <a:picLocks noChangeAspect="1"/>
          </p:cNvPicPr>
          <p:nvPr/>
        </p:nvPicPr>
        <p:blipFill>
          <a:blip r:embed="rId3"/>
          <a:stretch>
            <a:fillRect/>
          </a:stretch>
        </p:blipFill>
        <p:spPr>
          <a:xfrm>
            <a:off x="6309360" y="1618488"/>
            <a:ext cx="237744" cy="237744"/>
          </a:xfrm>
          <a:prstGeom prst="rect">
            <a:avLst/>
          </a:prstGeom>
        </p:spPr>
      </p:pic>
      <p:sp>
        <p:nvSpPr>
          <p:cNvPr id="26" name="Text 20"/>
          <p:cNvSpPr txBox="1"/>
          <p:nvPr/>
        </p:nvSpPr>
        <p:spPr>
          <a:xfrm>
            <a:off x="6766560" y="1508760"/>
            <a:ext cx="169164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3 · Download</a:t>
            </a:r>
            <a:endParaRPr lang="en-US" sz="1300" dirty="0"/>
          </a:p>
        </p:txBody>
      </p:sp>
      <p:sp>
        <p:nvSpPr>
          <p:cNvPr id="27" name="Text 21"/>
          <p:cNvSpPr txBox="1"/>
          <p:nvPr/>
        </p:nvSpPr>
        <p:spPr>
          <a:xfrm>
            <a:off x="6199632" y="2057400"/>
            <a:ext cx="2240280" cy="7772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Resume · size check · HDF5 open test · manifest</a:t>
            </a:r>
            <a:endParaRPr lang="en-US" sz="1050" dirty="0"/>
          </a:p>
        </p:txBody>
      </p:sp>
      <p:sp>
        <p:nvSpPr>
          <p:cNvPr id="28" name="Text 22"/>
          <p:cNvSpPr txBox="1"/>
          <p:nvPr/>
        </p:nvSpPr>
        <p:spPr>
          <a:xfrm>
            <a:off x="457200" y="3063240"/>
            <a:ext cx="3657600" cy="256032"/>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Coverage matrix (schematic)</a:t>
            </a:r>
            <a:endParaRPr lang="en-US" sz="1150" dirty="0"/>
          </a:p>
        </p:txBody>
      </p:sp>
      <p:sp>
        <p:nvSpPr>
          <p:cNvPr id="29" name="Text 23"/>
          <p:cNvSpPr txBox="1"/>
          <p:nvPr/>
        </p:nvSpPr>
        <p:spPr>
          <a:xfrm>
            <a:off x="457200" y="3364992"/>
            <a:ext cx="365760" cy="228600"/>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A1</a:t>
            </a:r>
            <a:endParaRPr lang="en-US" sz="1000" dirty="0"/>
          </a:p>
        </p:txBody>
      </p:sp>
      <p:sp>
        <p:nvSpPr>
          <p:cNvPr id="30" name="Shape 24"/>
          <p:cNvSpPr/>
          <p:nvPr/>
        </p:nvSpPr>
        <p:spPr>
          <a:xfrm>
            <a:off x="868680" y="3364992"/>
            <a:ext cx="347472" cy="228600"/>
          </a:xfrm>
          <a:prstGeom prst="rect">
            <a:avLst/>
          </a:prstGeom>
          <a:solidFill>
            <a:srgbClr val="00A86A"/>
          </a:solidFill>
          <a:ln w="12700">
            <a:solidFill>
              <a:srgbClr val="FFFFFF"/>
            </a:solidFill>
            <a:prstDash val="solid"/>
          </a:ln>
        </p:spPr>
      </p:sp>
      <p:sp>
        <p:nvSpPr>
          <p:cNvPr id="31" name="Shape 25"/>
          <p:cNvSpPr/>
          <p:nvPr/>
        </p:nvSpPr>
        <p:spPr>
          <a:xfrm>
            <a:off x="1252728" y="3364992"/>
            <a:ext cx="347472" cy="228600"/>
          </a:xfrm>
          <a:prstGeom prst="rect">
            <a:avLst/>
          </a:prstGeom>
          <a:solidFill>
            <a:srgbClr val="00A86A"/>
          </a:solidFill>
          <a:ln w="12700">
            <a:solidFill>
              <a:srgbClr val="FFFFFF"/>
            </a:solidFill>
            <a:prstDash val="solid"/>
          </a:ln>
        </p:spPr>
      </p:sp>
      <p:sp>
        <p:nvSpPr>
          <p:cNvPr id="32" name="Shape 26"/>
          <p:cNvSpPr/>
          <p:nvPr/>
        </p:nvSpPr>
        <p:spPr>
          <a:xfrm>
            <a:off x="1636776" y="3364992"/>
            <a:ext cx="347472" cy="228600"/>
          </a:xfrm>
          <a:prstGeom prst="rect">
            <a:avLst/>
          </a:prstGeom>
          <a:solidFill>
            <a:srgbClr val="F5C242"/>
          </a:solidFill>
          <a:ln w="12700">
            <a:solidFill>
              <a:srgbClr val="FFFFFF"/>
            </a:solidFill>
            <a:prstDash val="solid"/>
          </a:ln>
        </p:spPr>
      </p:sp>
      <p:sp>
        <p:nvSpPr>
          <p:cNvPr id="33" name="Shape 27"/>
          <p:cNvSpPr/>
          <p:nvPr/>
        </p:nvSpPr>
        <p:spPr>
          <a:xfrm>
            <a:off x="2020824" y="3364992"/>
            <a:ext cx="347472" cy="228600"/>
          </a:xfrm>
          <a:prstGeom prst="rect">
            <a:avLst/>
          </a:prstGeom>
          <a:solidFill>
            <a:srgbClr val="00A86A"/>
          </a:solidFill>
          <a:ln w="12700">
            <a:solidFill>
              <a:srgbClr val="FFFFFF"/>
            </a:solidFill>
            <a:prstDash val="solid"/>
          </a:ln>
        </p:spPr>
      </p:sp>
      <p:sp>
        <p:nvSpPr>
          <p:cNvPr id="34" name="Shape 28"/>
          <p:cNvSpPr/>
          <p:nvPr/>
        </p:nvSpPr>
        <p:spPr>
          <a:xfrm>
            <a:off x="2404872" y="3364992"/>
            <a:ext cx="347472" cy="228600"/>
          </a:xfrm>
          <a:prstGeom prst="rect">
            <a:avLst/>
          </a:prstGeom>
          <a:solidFill>
            <a:srgbClr val="00A86A"/>
          </a:solidFill>
          <a:ln w="12700">
            <a:solidFill>
              <a:srgbClr val="FFFFFF"/>
            </a:solidFill>
            <a:prstDash val="solid"/>
          </a:ln>
        </p:spPr>
      </p:sp>
      <p:sp>
        <p:nvSpPr>
          <p:cNvPr id="35" name="Shape 29"/>
          <p:cNvSpPr/>
          <p:nvPr/>
        </p:nvSpPr>
        <p:spPr>
          <a:xfrm>
            <a:off x="2788920" y="3364992"/>
            <a:ext cx="347472" cy="228600"/>
          </a:xfrm>
          <a:prstGeom prst="rect">
            <a:avLst/>
          </a:prstGeom>
          <a:solidFill>
            <a:srgbClr val="B83B2E"/>
          </a:solidFill>
          <a:ln w="12700">
            <a:solidFill>
              <a:srgbClr val="FFFFFF"/>
            </a:solidFill>
            <a:prstDash val="solid"/>
          </a:ln>
        </p:spPr>
      </p:sp>
      <p:sp>
        <p:nvSpPr>
          <p:cNvPr id="36" name="Shape 30"/>
          <p:cNvSpPr/>
          <p:nvPr/>
        </p:nvSpPr>
        <p:spPr>
          <a:xfrm>
            <a:off x="3172968" y="3364992"/>
            <a:ext cx="347472" cy="228600"/>
          </a:xfrm>
          <a:prstGeom prst="rect">
            <a:avLst/>
          </a:prstGeom>
          <a:solidFill>
            <a:srgbClr val="00A86A"/>
          </a:solidFill>
          <a:ln w="12700">
            <a:solidFill>
              <a:srgbClr val="FFFFFF"/>
            </a:solidFill>
            <a:prstDash val="solid"/>
          </a:ln>
        </p:spPr>
      </p:sp>
      <p:sp>
        <p:nvSpPr>
          <p:cNvPr id="37" name="Text 31"/>
          <p:cNvSpPr txBox="1"/>
          <p:nvPr/>
        </p:nvSpPr>
        <p:spPr>
          <a:xfrm>
            <a:off x="457200" y="3630168"/>
            <a:ext cx="365760" cy="228600"/>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A2</a:t>
            </a:r>
            <a:endParaRPr lang="en-US" sz="1000" dirty="0"/>
          </a:p>
        </p:txBody>
      </p:sp>
      <p:sp>
        <p:nvSpPr>
          <p:cNvPr id="38" name="Shape 32"/>
          <p:cNvSpPr/>
          <p:nvPr/>
        </p:nvSpPr>
        <p:spPr>
          <a:xfrm>
            <a:off x="868680" y="3630168"/>
            <a:ext cx="347472" cy="228600"/>
          </a:xfrm>
          <a:prstGeom prst="rect">
            <a:avLst/>
          </a:prstGeom>
          <a:solidFill>
            <a:srgbClr val="00A86A"/>
          </a:solidFill>
          <a:ln w="12700">
            <a:solidFill>
              <a:srgbClr val="FFFFFF"/>
            </a:solidFill>
            <a:prstDash val="solid"/>
          </a:ln>
        </p:spPr>
      </p:sp>
      <p:sp>
        <p:nvSpPr>
          <p:cNvPr id="39" name="Shape 33"/>
          <p:cNvSpPr/>
          <p:nvPr/>
        </p:nvSpPr>
        <p:spPr>
          <a:xfrm>
            <a:off x="1252728" y="3630168"/>
            <a:ext cx="347472" cy="228600"/>
          </a:xfrm>
          <a:prstGeom prst="rect">
            <a:avLst/>
          </a:prstGeom>
          <a:solidFill>
            <a:srgbClr val="00A86A"/>
          </a:solidFill>
          <a:ln w="12700">
            <a:solidFill>
              <a:srgbClr val="FFFFFF"/>
            </a:solidFill>
            <a:prstDash val="solid"/>
          </a:ln>
        </p:spPr>
      </p:sp>
      <p:sp>
        <p:nvSpPr>
          <p:cNvPr id="40" name="Shape 34"/>
          <p:cNvSpPr/>
          <p:nvPr/>
        </p:nvSpPr>
        <p:spPr>
          <a:xfrm>
            <a:off x="1636776" y="3630168"/>
            <a:ext cx="347472" cy="228600"/>
          </a:xfrm>
          <a:prstGeom prst="rect">
            <a:avLst/>
          </a:prstGeom>
          <a:solidFill>
            <a:srgbClr val="00A86A"/>
          </a:solidFill>
          <a:ln w="12700">
            <a:solidFill>
              <a:srgbClr val="FFFFFF"/>
            </a:solidFill>
            <a:prstDash val="solid"/>
          </a:ln>
        </p:spPr>
      </p:sp>
      <p:sp>
        <p:nvSpPr>
          <p:cNvPr id="41" name="Shape 35"/>
          <p:cNvSpPr/>
          <p:nvPr/>
        </p:nvSpPr>
        <p:spPr>
          <a:xfrm>
            <a:off x="2020824" y="3630168"/>
            <a:ext cx="347472" cy="228600"/>
          </a:xfrm>
          <a:prstGeom prst="rect">
            <a:avLst/>
          </a:prstGeom>
          <a:solidFill>
            <a:srgbClr val="F5C242"/>
          </a:solidFill>
          <a:ln w="12700">
            <a:solidFill>
              <a:srgbClr val="FFFFFF"/>
            </a:solidFill>
            <a:prstDash val="solid"/>
          </a:ln>
        </p:spPr>
      </p:sp>
      <p:sp>
        <p:nvSpPr>
          <p:cNvPr id="42" name="Shape 36"/>
          <p:cNvSpPr/>
          <p:nvPr/>
        </p:nvSpPr>
        <p:spPr>
          <a:xfrm>
            <a:off x="2404872" y="3630168"/>
            <a:ext cx="347472" cy="228600"/>
          </a:xfrm>
          <a:prstGeom prst="rect">
            <a:avLst/>
          </a:prstGeom>
          <a:solidFill>
            <a:srgbClr val="00A86A"/>
          </a:solidFill>
          <a:ln w="12700">
            <a:solidFill>
              <a:srgbClr val="FFFFFF"/>
            </a:solidFill>
            <a:prstDash val="solid"/>
          </a:ln>
        </p:spPr>
      </p:sp>
      <p:sp>
        <p:nvSpPr>
          <p:cNvPr id="43" name="Shape 37"/>
          <p:cNvSpPr/>
          <p:nvPr/>
        </p:nvSpPr>
        <p:spPr>
          <a:xfrm>
            <a:off x="2788920" y="3630168"/>
            <a:ext cx="347472" cy="228600"/>
          </a:xfrm>
          <a:prstGeom prst="rect">
            <a:avLst/>
          </a:prstGeom>
          <a:solidFill>
            <a:srgbClr val="00A86A"/>
          </a:solidFill>
          <a:ln w="12700">
            <a:solidFill>
              <a:srgbClr val="FFFFFF"/>
            </a:solidFill>
            <a:prstDash val="solid"/>
          </a:ln>
        </p:spPr>
      </p:sp>
      <p:sp>
        <p:nvSpPr>
          <p:cNvPr id="44" name="Shape 38"/>
          <p:cNvSpPr/>
          <p:nvPr/>
        </p:nvSpPr>
        <p:spPr>
          <a:xfrm>
            <a:off x="3172968" y="3630168"/>
            <a:ext cx="347472" cy="228600"/>
          </a:xfrm>
          <a:prstGeom prst="rect">
            <a:avLst/>
          </a:prstGeom>
          <a:solidFill>
            <a:srgbClr val="00A86A"/>
          </a:solidFill>
          <a:ln w="12700">
            <a:solidFill>
              <a:srgbClr val="FFFFFF"/>
            </a:solidFill>
            <a:prstDash val="solid"/>
          </a:ln>
        </p:spPr>
      </p:sp>
      <p:sp>
        <p:nvSpPr>
          <p:cNvPr id="45" name="Text 39"/>
          <p:cNvSpPr txBox="1"/>
          <p:nvPr/>
        </p:nvSpPr>
        <p:spPr>
          <a:xfrm>
            <a:off x="457200" y="3895344"/>
            <a:ext cx="365760" cy="228600"/>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A3</a:t>
            </a:r>
            <a:endParaRPr lang="en-US" sz="1000" dirty="0"/>
          </a:p>
        </p:txBody>
      </p:sp>
      <p:sp>
        <p:nvSpPr>
          <p:cNvPr id="46" name="Shape 40"/>
          <p:cNvSpPr/>
          <p:nvPr/>
        </p:nvSpPr>
        <p:spPr>
          <a:xfrm>
            <a:off x="868680" y="3895344"/>
            <a:ext cx="347472" cy="228600"/>
          </a:xfrm>
          <a:prstGeom prst="rect">
            <a:avLst/>
          </a:prstGeom>
          <a:solidFill>
            <a:srgbClr val="00A86A"/>
          </a:solidFill>
          <a:ln w="12700">
            <a:solidFill>
              <a:srgbClr val="FFFFFF"/>
            </a:solidFill>
            <a:prstDash val="solid"/>
          </a:ln>
        </p:spPr>
      </p:sp>
      <p:sp>
        <p:nvSpPr>
          <p:cNvPr id="47" name="Shape 41"/>
          <p:cNvSpPr/>
          <p:nvPr/>
        </p:nvSpPr>
        <p:spPr>
          <a:xfrm>
            <a:off x="1252728" y="3895344"/>
            <a:ext cx="347472" cy="228600"/>
          </a:xfrm>
          <a:prstGeom prst="rect">
            <a:avLst/>
          </a:prstGeom>
          <a:solidFill>
            <a:srgbClr val="00A86A"/>
          </a:solidFill>
          <a:ln w="12700">
            <a:solidFill>
              <a:srgbClr val="FFFFFF"/>
            </a:solidFill>
            <a:prstDash val="solid"/>
          </a:ln>
        </p:spPr>
      </p:sp>
      <p:sp>
        <p:nvSpPr>
          <p:cNvPr id="48" name="Shape 42"/>
          <p:cNvSpPr/>
          <p:nvPr/>
        </p:nvSpPr>
        <p:spPr>
          <a:xfrm>
            <a:off x="1636776" y="3895344"/>
            <a:ext cx="347472" cy="228600"/>
          </a:xfrm>
          <a:prstGeom prst="rect">
            <a:avLst/>
          </a:prstGeom>
          <a:solidFill>
            <a:srgbClr val="00A86A"/>
          </a:solidFill>
          <a:ln w="12700">
            <a:solidFill>
              <a:srgbClr val="FFFFFF"/>
            </a:solidFill>
            <a:prstDash val="solid"/>
          </a:ln>
        </p:spPr>
      </p:sp>
      <p:sp>
        <p:nvSpPr>
          <p:cNvPr id="49" name="Shape 43"/>
          <p:cNvSpPr/>
          <p:nvPr/>
        </p:nvSpPr>
        <p:spPr>
          <a:xfrm>
            <a:off x="2020824" y="3895344"/>
            <a:ext cx="347472" cy="228600"/>
          </a:xfrm>
          <a:prstGeom prst="rect">
            <a:avLst/>
          </a:prstGeom>
          <a:solidFill>
            <a:srgbClr val="00A86A"/>
          </a:solidFill>
          <a:ln w="12700">
            <a:solidFill>
              <a:srgbClr val="FFFFFF"/>
            </a:solidFill>
            <a:prstDash val="solid"/>
          </a:ln>
        </p:spPr>
      </p:sp>
      <p:sp>
        <p:nvSpPr>
          <p:cNvPr id="50" name="Shape 44"/>
          <p:cNvSpPr/>
          <p:nvPr/>
        </p:nvSpPr>
        <p:spPr>
          <a:xfrm>
            <a:off x="2404872" y="3895344"/>
            <a:ext cx="347472" cy="228600"/>
          </a:xfrm>
          <a:prstGeom prst="rect">
            <a:avLst/>
          </a:prstGeom>
          <a:solidFill>
            <a:srgbClr val="00A86A"/>
          </a:solidFill>
          <a:ln w="12700">
            <a:solidFill>
              <a:srgbClr val="FFFFFF"/>
            </a:solidFill>
            <a:prstDash val="solid"/>
          </a:ln>
        </p:spPr>
      </p:sp>
      <p:sp>
        <p:nvSpPr>
          <p:cNvPr id="51" name="Shape 45"/>
          <p:cNvSpPr/>
          <p:nvPr/>
        </p:nvSpPr>
        <p:spPr>
          <a:xfrm>
            <a:off x="2788920" y="3895344"/>
            <a:ext cx="347472" cy="228600"/>
          </a:xfrm>
          <a:prstGeom prst="rect">
            <a:avLst/>
          </a:prstGeom>
          <a:solidFill>
            <a:srgbClr val="00A86A"/>
          </a:solidFill>
          <a:ln w="12700">
            <a:solidFill>
              <a:srgbClr val="FFFFFF"/>
            </a:solidFill>
            <a:prstDash val="solid"/>
          </a:ln>
        </p:spPr>
      </p:sp>
      <p:sp>
        <p:nvSpPr>
          <p:cNvPr id="52" name="Shape 46"/>
          <p:cNvSpPr/>
          <p:nvPr/>
        </p:nvSpPr>
        <p:spPr>
          <a:xfrm>
            <a:off x="3172968" y="3895344"/>
            <a:ext cx="347472" cy="228600"/>
          </a:xfrm>
          <a:prstGeom prst="rect">
            <a:avLst/>
          </a:prstGeom>
          <a:solidFill>
            <a:srgbClr val="00A86A"/>
          </a:solidFill>
          <a:ln w="12700">
            <a:solidFill>
              <a:srgbClr val="FFFFFF"/>
            </a:solidFill>
            <a:prstDash val="solid"/>
          </a:ln>
        </p:spPr>
      </p:sp>
      <p:sp>
        <p:nvSpPr>
          <p:cNvPr id="53" name="Text 47"/>
          <p:cNvSpPr txBox="1"/>
          <p:nvPr/>
        </p:nvSpPr>
        <p:spPr>
          <a:xfrm>
            <a:off x="457200" y="4160520"/>
            <a:ext cx="365760" cy="228600"/>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A4</a:t>
            </a:r>
            <a:endParaRPr lang="en-US" sz="1000" dirty="0"/>
          </a:p>
        </p:txBody>
      </p:sp>
      <p:sp>
        <p:nvSpPr>
          <p:cNvPr id="54" name="Shape 48"/>
          <p:cNvSpPr/>
          <p:nvPr/>
        </p:nvSpPr>
        <p:spPr>
          <a:xfrm>
            <a:off x="868680" y="4160520"/>
            <a:ext cx="347472" cy="228600"/>
          </a:xfrm>
          <a:prstGeom prst="rect">
            <a:avLst/>
          </a:prstGeom>
          <a:solidFill>
            <a:srgbClr val="00A86A"/>
          </a:solidFill>
          <a:ln w="12700">
            <a:solidFill>
              <a:srgbClr val="FFFFFF"/>
            </a:solidFill>
            <a:prstDash val="solid"/>
          </a:ln>
        </p:spPr>
      </p:sp>
      <p:sp>
        <p:nvSpPr>
          <p:cNvPr id="55" name="Shape 49"/>
          <p:cNvSpPr/>
          <p:nvPr/>
        </p:nvSpPr>
        <p:spPr>
          <a:xfrm>
            <a:off x="1252728" y="4160520"/>
            <a:ext cx="347472" cy="228600"/>
          </a:xfrm>
          <a:prstGeom prst="rect">
            <a:avLst/>
          </a:prstGeom>
          <a:solidFill>
            <a:srgbClr val="00A86A"/>
          </a:solidFill>
          <a:ln w="12700">
            <a:solidFill>
              <a:srgbClr val="FFFFFF"/>
            </a:solidFill>
            <a:prstDash val="solid"/>
          </a:ln>
        </p:spPr>
      </p:sp>
      <p:sp>
        <p:nvSpPr>
          <p:cNvPr id="56" name="Shape 50"/>
          <p:cNvSpPr/>
          <p:nvPr/>
        </p:nvSpPr>
        <p:spPr>
          <a:xfrm>
            <a:off x="1636776" y="4160520"/>
            <a:ext cx="347472" cy="228600"/>
          </a:xfrm>
          <a:prstGeom prst="rect">
            <a:avLst/>
          </a:prstGeom>
          <a:solidFill>
            <a:srgbClr val="00A86A"/>
          </a:solidFill>
          <a:ln w="12700">
            <a:solidFill>
              <a:srgbClr val="FFFFFF"/>
            </a:solidFill>
            <a:prstDash val="solid"/>
          </a:ln>
        </p:spPr>
      </p:sp>
      <p:sp>
        <p:nvSpPr>
          <p:cNvPr id="57" name="Shape 51"/>
          <p:cNvSpPr/>
          <p:nvPr/>
        </p:nvSpPr>
        <p:spPr>
          <a:xfrm>
            <a:off x="2020824" y="4160520"/>
            <a:ext cx="347472" cy="228600"/>
          </a:xfrm>
          <a:prstGeom prst="rect">
            <a:avLst/>
          </a:prstGeom>
          <a:solidFill>
            <a:srgbClr val="00A86A"/>
          </a:solidFill>
          <a:ln w="12700">
            <a:solidFill>
              <a:srgbClr val="FFFFFF"/>
            </a:solidFill>
            <a:prstDash val="solid"/>
          </a:ln>
        </p:spPr>
      </p:sp>
      <p:sp>
        <p:nvSpPr>
          <p:cNvPr id="58" name="Shape 52"/>
          <p:cNvSpPr/>
          <p:nvPr/>
        </p:nvSpPr>
        <p:spPr>
          <a:xfrm>
            <a:off x="2404872" y="4160520"/>
            <a:ext cx="347472" cy="228600"/>
          </a:xfrm>
          <a:prstGeom prst="rect">
            <a:avLst/>
          </a:prstGeom>
          <a:solidFill>
            <a:srgbClr val="00A86A"/>
          </a:solidFill>
          <a:ln w="12700">
            <a:solidFill>
              <a:srgbClr val="FFFFFF"/>
            </a:solidFill>
            <a:prstDash val="solid"/>
          </a:ln>
        </p:spPr>
      </p:sp>
      <p:sp>
        <p:nvSpPr>
          <p:cNvPr id="59" name="Shape 53"/>
          <p:cNvSpPr/>
          <p:nvPr/>
        </p:nvSpPr>
        <p:spPr>
          <a:xfrm>
            <a:off x="2788920" y="4160520"/>
            <a:ext cx="347472" cy="228600"/>
          </a:xfrm>
          <a:prstGeom prst="rect">
            <a:avLst/>
          </a:prstGeom>
          <a:solidFill>
            <a:srgbClr val="00A86A"/>
          </a:solidFill>
          <a:ln w="12700">
            <a:solidFill>
              <a:srgbClr val="FFFFFF"/>
            </a:solidFill>
            <a:prstDash val="solid"/>
          </a:ln>
        </p:spPr>
      </p:sp>
      <p:sp>
        <p:nvSpPr>
          <p:cNvPr id="60" name="Shape 54"/>
          <p:cNvSpPr/>
          <p:nvPr/>
        </p:nvSpPr>
        <p:spPr>
          <a:xfrm>
            <a:off x="3172968" y="4160520"/>
            <a:ext cx="347472" cy="228600"/>
          </a:xfrm>
          <a:prstGeom prst="rect">
            <a:avLst/>
          </a:prstGeom>
          <a:solidFill>
            <a:srgbClr val="B83B2E"/>
          </a:solidFill>
          <a:ln w="12700">
            <a:solidFill>
              <a:srgbClr val="FFFFFF"/>
            </a:solidFill>
            <a:prstDash val="solid"/>
          </a:ln>
        </p:spPr>
      </p:sp>
      <p:sp>
        <p:nvSpPr>
          <p:cNvPr id="61" name="Shape 55"/>
          <p:cNvSpPr/>
          <p:nvPr/>
        </p:nvSpPr>
        <p:spPr>
          <a:xfrm>
            <a:off x="3749040" y="3401568"/>
            <a:ext cx="182880" cy="164592"/>
          </a:xfrm>
          <a:prstGeom prst="rect">
            <a:avLst/>
          </a:prstGeom>
          <a:solidFill>
            <a:srgbClr val="00A86A"/>
          </a:solidFill>
          <a:ln w="12700">
            <a:solidFill>
              <a:srgbClr val="00A86A"/>
            </a:solidFill>
            <a:prstDash val="solid"/>
          </a:ln>
        </p:spPr>
      </p:sp>
      <p:sp>
        <p:nvSpPr>
          <p:cNvPr id="62" name="Text 56"/>
          <p:cNvSpPr txBox="1"/>
          <p:nvPr/>
        </p:nvSpPr>
        <p:spPr>
          <a:xfrm>
            <a:off x="4005072" y="3364992"/>
            <a:ext cx="1097280" cy="237744"/>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complete</a:t>
            </a:r>
            <a:endParaRPr lang="en-US" sz="1000" dirty="0"/>
          </a:p>
        </p:txBody>
      </p:sp>
      <p:sp>
        <p:nvSpPr>
          <p:cNvPr id="63" name="Shape 57"/>
          <p:cNvSpPr/>
          <p:nvPr/>
        </p:nvSpPr>
        <p:spPr>
          <a:xfrm>
            <a:off x="3749040" y="3675888"/>
            <a:ext cx="182880" cy="164592"/>
          </a:xfrm>
          <a:prstGeom prst="rect">
            <a:avLst/>
          </a:prstGeom>
          <a:solidFill>
            <a:srgbClr val="F5C242"/>
          </a:solidFill>
          <a:ln w="12700">
            <a:solidFill>
              <a:srgbClr val="F5C242"/>
            </a:solidFill>
            <a:prstDash val="solid"/>
          </a:ln>
        </p:spPr>
      </p:sp>
      <p:sp>
        <p:nvSpPr>
          <p:cNvPr id="64" name="Text 58"/>
          <p:cNvSpPr txBox="1"/>
          <p:nvPr/>
        </p:nvSpPr>
        <p:spPr>
          <a:xfrm>
            <a:off x="4005072" y="3639312"/>
            <a:ext cx="1097280" cy="237744"/>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partial</a:t>
            </a:r>
            <a:endParaRPr lang="en-US" sz="1000" dirty="0"/>
          </a:p>
        </p:txBody>
      </p:sp>
      <p:sp>
        <p:nvSpPr>
          <p:cNvPr id="65" name="Shape 59"/>
          <p:cNvSpPr/>
          <p:nvPr/>
        </p:nvSpPr>
        <p:spPr>
          <a:xfrm>
            <a:off x="3749040" y="3950208"/>
            <a:ext cx="182880" cy="164592"/>
          </a:xfrm>
          <a:prstGeom prst="rect">
            <a:avLst/>
          </a:prstGeom>
          <a:solidFill>
            <a:srgbClr val="B83B2E"/>
          </a:solidFill>
          <a:ln w="12700">
            <a:solidFill>
              <a:srgbClr val="B83B2E"/>
            </a:solidFill>
            <a:prstDash val="solid"/>
          </a:ln>
        </p:spPr>
      </p:sp>
      <p:sp>
        <p:nvSpPr>
          <p:cNvPr id="66" name="Text 60"/>
          <p:cNvSpPr txBox="1"/>
          <p:nvPr/>
        </p:nvSpPr>
        <p:spPr>
          <a:xfrm>
            <a:off x="4005072" y="3913632"/>
            <a:ext cx="1097280" cy="237744"/>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missing</a:t>
            </a:r>
            <a:endParaRPr lang="en-US" sz="1000" dirty="0"/>
          </a:p>
        </p:txBody>
      </p:sp>
      <p:sp>
        <p:nvSpPr>
          <p:cNvPr id="67" name="Shape 61"/>
          <p:cNvSpPr/>
          <p:nvPr/>
        </p:nvSpPr>
        <p:spPr>
          <a:xfrm>
            <a:off x="5212080" y="3108960"/>
            <a:ext cx="3474720" cy="1353312"/>
          </a:xfrm>
          <a:prstGeom prst="roundRect">
            <a:avLst>
              <a:gd name="adj" fmla="val 5405"/>
            </a:avLst>
          </a:prstGeom>
          <a:solidFill>
            <a:srgbClr val="E8F5EF"/>
          </a:solidFill>
          <a:ln w="15875">
            <a:solidFill>
              <a:srgbClr val="00A86A"/>
            </a:solidFill>
            <a:prstDash val="solid"/>
          </a:ln>
        </p:spPr>
      </p:sp>
      <p:sp>
        <p:nvSpPr>
          <p:cNvPr id="68" name="Shape 62"/>
          <p:cNvSpPr/>
          <p:nvPr/>
        </p:nvSpPr>
        <p:spPr>
          <a:xfrm>
            <a:off x="5349240" y="3246120"/>
            <a:ext cx="457200" cy="457200"/>
          </a:xfrm>
          <a:prstGeom prst="ellipse">
            <a:avLst/>
          </a:prstGeom>
          <a:solidFill>
            <a:srgbClr val="00A86A">
              <a:alpha val="22000"/>
            </a:srgbClr>
          </a:solidFill>
          <a:ln w="12700">
            <a:solidFill>
              <a:srgbClr val="00A86A">
                <a:alpha val="0"/>
              </a:srgbClr>
            </a:solidFill>
            <a:prstDash val="solid"/>
          </a:ln>
        </p:spPr>
      </p:sp>
      <p:pic>
        <p:nvPicPr>
          <p:cNvPr id="69" name="Image 3" descr="preencoded.png">    </p:cNvPr>
          <p:cNvPicPr>
            <a:picLocks noChangeAspect="1"/>
          </p:cNvPicPr>
          <p:nvPr/>
        </p:nvPicPr>
        <p:blipFill>
          <a:blip r:embed="rId4"/>
          <a:stretch>
            <a:fillRect/>
          </a:stretch>
        </p:blipFill>
        <p:spPr>
          <a:xfrm>
            <a:off x="5458968" y="3355848"/>
            <a:ext cx="237744" cy="237744"/>
          </a:xfrm>
          <a:prstGeom prst="rect">
            <a:avLst/>
          </a:prstGeom>
        </p:spPr>
      </p:pic>
      <p:sp>
        <p:nvSpPr>
          <p:cNvPr id="70" name="Text 63"/>
          <p:cNvSpPr txBox="1"/>
          <p:nvPr/>
        </p:nvSpPr>
        <p:spPr>
          <a:xfrm>
            <a:off x="5897880" y="3246120"/>
            <a:ext cx="26974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Secure by design</a:t>
            </a:r>
            <a:endParaRPr lang="en-US" sz="1300" dirty="0"/>
          </a:p>
        </p:txBody>
      </p:sp>
      <p:sp>
        <p:nvSpPr>
          <p:cNvPr id="71" name="Text 64"/>
          <p:cNvSpPr txBox="1"/>
          <p:nvPr/>
        </p:nvSpPr>
        <p:spPr>
          <a:xfrm>
            <a:off x="5349240" y="3749040"/>
            <a:ext cx="3200400" cy="6858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The token comes from an environment variable, a .env file, Colab or Kaggle secrets, or a masked prompt — and is only ever sent to *.earthdata.nasa.gov and *.eosdis.nasa.gov.</a:t>
            </a:r>
            <a:endParaRPr lang="en-US" sz="10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t"/>
          <a:lstStyle/>
          <a:p>
            <a:pPr indent="0" marL="0">
              <a:buNone/>
            </a:pPr>
            <a:r>
              <a:rPr lang="en-US" sz="8000" b="1" dirty="0">
                <a:solidFill>
                  <a:srgbClr val="F5C242"/>
                </a:solidFill>
                <a:latin typeface="Calibri" pitchFamily="34" charset="0"/>
                <a:ea typeface="Calibri" pitchFamily="34" charset="-122"/>
                <a:cs typeface="Calibri" pitchFamily="34" charset="-120"/>
              </a:rPr>
              <a:t>03</a:t>
            </a:r>
            <a:endParaRPr lang="en-US" sz="8000" dirty="0"/>
          </a:p>
        </p:txBody>
      </p:sp>
      <p:sp>
        <p:nvSpPr>
          <p:cNvPr id="4" name="Text 2"/>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Explore and understand</a:t>
            </a:r>
            <a:endParaRPr lang="en-US" sz="4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What is really inside a Black Marble file?</a:t>
            </a:r>
            <a:endParaRPr lang="en-US" sz="1800" dirty="0"/>
          </a:p>
        </p:txBody>
      </p:sp>
      <p:sp>
        <p:nvSpPr>
          <p:cNvPr id="6" name="Shape 4"/>
          <p:cNvSpPr/>
          <p:nvPr/>
        </p:nvSpPr>
        <p:spPr>
          <a:xfrm>
            <a:off x="6309360" y="1234440"/>
            <a:ext cx="2286000" cy="2286000"/>
          </a:xfrm>
          <a:prstGeom prst="ellipse">
            <a:avLst/>
          </a:prstGeom>
          <a:solidFill>
            <a:srgbClr val="FFFFFF">
              <a:alpha val="8000"/>
            </a:srgbClr>
          </a:solidFill>
          <a:ln w="12700">
            <a:solidFill>
              <a:srgbClr val="FFFFFF">
                <a:alpha val="30000"/>
              </a:srgbClr>
            </a:solidFill>
            <a:prstDash val="solid"/>
          </a:ln>
        </p:spPr>
      </p:sp>
      <p:sp>
        <p:nvSpPr>
          <p:cNvPr id="7" name="Shape 5"/>
          <p:cNvSpPr/>
          <p:nvPr/>
        </p:nvSpPr>
        <p:spPr>
          <a:xfrm>
            <a:off x="6675120" y="1600200"/>
            <a:ext cx="1554480" cy="1554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086600" y="2011680"/>
            <a:ext cx="731520" cy="731520"/>
          </a:xfrm>
          <a:prstGeom prst="rect">
            <a:avLst/>
          </a:prstGeom>
        </p:spPr>
      </p:pic>
      <p:sp>
        <p:nvSpPr>
          <p:cNvPr id="9" name="Shape 6"/>
          <p:cNvSpPr/>
          <p:nvPr/>
        </p:nvSpPr>
        <p:spPr>
          <a:xfrm>
            <a:off x="566928" y="425196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786384" y="4251960"/>
            <a:ext cx="118872" cy="118872"/>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005840" y="4251960"/>
            <a:ext cx="118872" cy="118872"/>
          </a:xfrm>
          <a:prstGeom prst="ellipse">
            <a:avLst/>
          </a:prstGeom>
          <a:solidFill>
            <a:srgbClr val="F5C242"/>
          </a:solidFill>
          <a:ln w="12700">
            <a:solidFill>
              <a:srgbClr val="FFFFFF">
                <a:alpha val="0"/>
              </a:srgbClr>
            </a:solidFill>
            <a:prstDash val="solid"/>
          </a:ln>
        </p:spPr>
      </p:sp>
      <p:sp>
        <p:nvSpPr>
          <p:cNvPr id="12" name="Shape 9"/>
          <p:cNvSpPr/>
          <p:nvPr/>
        </p:nvSpPr>
        <p:spPr>
          <a:xfrm>
            <a:off x="1225296" y="4251960"/>
            <a:ext cx="118872" cy="118872"/>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1444752" y="4251960"/>
            <a:ext cx="118872" cy="118872"/>
          </a:xfrm>
          <a:prstGeom prst="ellipse">
            <a:avLst/>
          </a:prstGeom>
          <a:solidFill>
            <a:srgbClr val="FFFFFF">
              <a:alpha val="40000"/>
            </a:srgbClr>
          </a:solidFill>
          <a:ln w="12700">
            <a:solidFill>
              <a:srgbClr val="FFFFFF">
                <a:alpha val="0"/>
              </a:srgbClr>
            </a:solidFill>
            <a:prstDash val="solid"/>
          </a:ln>
        </p:spPr>
      </p:sp>
      <p:sp>
        <p:nvSpPr>
          <p:cNvPr id="14" name="Shape 11"/>
          <p:cNvSpPr/>
          <p:nvPr/>
        </p:nvSpPr>
        <p:spPr>
          <a:xfrm>
            <a:off x="1664208" y="4251960"/>
            <a:ext cx="118872" cy="118872"/>
          </a:xfrm>
          <a:prstGeom prst="ellipse">
            <a:avLst/>
          </a:prstGeom>
          <a:solidFill>
            <a:srgbClr val="FFFFFF">
              <a:alpha val="40000"/>
            </a:srgbClr>
          </a:solidFill>
          <a:ln w="12700">
            <a:solidFill>
              <a:srgbClr val="FFFFFF">
                <a:alpha val="0"/>
              </a:srgbClr>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03 · EXPLORE · STRUCTURE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A Black Marble file is a workbook, not an image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0E7C86"/>
          </a:solidFill>
          <a:ln w="12700">
            <a:solidFill>
              <a:srgbClr val="0E7C86"/>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3657600" cy="420624"/>
          </a:xfrm>
          <a:prstGeom prst="roundRect">
            <a:avLst>
              <a:gd name="adj" fmla="val 10870"/>
            </a:avLst>
          </a:prstGeom>
          <a:solidFill>
            <a:srgbClr val="00553A"/>
          </a:solidFill>
          <a:ln w="12700">
            <a:solidFill>
              <a:srgbClr val="00553A"/>
            </a:solidFill>
            <a:prstDash val="solid"/>
          </a:ln>
        </p:spPr>
      </p:sp>
      <p:sp>
        <p:nvSpPr>
          <p:cNvPr id="12" name="Text 9"/>
          <p:cNvSpPr txBox="1"/>
          <p:nvPr/>
        </p:nvSpPr>
        <p:spPr>
          <a:xfrm>
            <a:off x="594360" y="1371600"/>
            <a:ext cx="34747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FILE  VNP46A4 … .h5</a:t>
            </a:r>
            <a:endParaRPr lang="en-US" sz="1150" dirty="0"/>
          </a:p>
        </p:txBody>
      </p:sp>
      <p:sp>
        <p:nvSpPr>
          <p:cNvPr id="13" name="Text 10"/>
          <p:cNvSpPr txBox="1"/>
          <p:nvPr/>
        </p:nvSpPr>
        <p:spPr>
          <a:xfrm>
            <a:off x="4297680" y="1371600"/>
            <a:ext cx="4389120" cy="420624"/>
          </a:xfrm>
          <a:prstGeom prst="rect">
            <a:avLst/>
          </a:prstGeom>
          <a:noFill/>
          <a:ln/>
        </p:spPr>
        <p:txBody>
          <a:bodyPr wrap="square" lIns="0" tIns="0" rIns="0" bIns="0" rtlCol="0" anchor="ctr"/>
          <a:lstStyle/>
          <a:p>
            <a:pPr indent="0" marL="0">
              <a:buNone/>
            </a:pPr>
            <a:r>
              <a:rPr lang="en-US" sz="1050" i="1" dirty="0">
                <a:solidFill>
                  <a:srgbClr val="5E6964"/>
                </a:solidFill>
                <a:latin typeface="Calibri" pitchFamily="34" charset="0"/>
                <a:ea typeface="Calibri" pitchFamily="34" charset="-122"/>
                <a:cs typeface="Calibri" pitchFamily="34" charset="-120"/>
              </a:rPr>
              <a:t>global attributes: sensor, footprint, production date</a:t>
            </a:r>
            <a:endParaRPr lang="en-US" sz="1050" dirty="0"/>
          </a:p>
        </p:txBody>
      </p:sp>
      <p:sp>
        <p:nvSpPr>
          <p:cNvPr id="14" name="Shape 11"/>
          <p:cNvSpPr/>
          <p:nvPr/>
        </p:nvSpPr>
        <p:spPr>
          <a:xfrm>
            <a:off x="777240" y="1938528"/>
            <a:ext cx="3337560" cy="420624"/>
          </a:xfrm>
          <a:prstGeom prst="roundRect">
            <a:avLst>
              <a:gd name="adj" fmla="val 10870"/>
            </a:avLst>
          </a:prstGeom>
          <a:solidFill>
            <a:srgbClr val="00704A"/>
          </a:solidFill>
          <a:ln w="12700">
            <a:solidFill>
              <a:srgbClr val="00704A"/>
            </a:solidFill>
            <a:prstDash val="solid"/>
          </a:ln>
        </p:spPr>
      </p:sp>
      <p:sp>
        <p:nvSpPr>
          <p:cNvPr id="15" name="Text 12"/>
          <p:cNvSpPr txBox="1"/>
          <p:nvPr/>
        </p:nvSpPr>
        <p:spPr>
          <a:xfrm>
            <a:off x="914400" y="1938528"/>
            <a:ext cx="31546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HDFEOS / GRIDS / &lt;grid&gt;</a:t>
            </a:r>
            <a:endParaRPr lang="en-US" sz="1150" dirty="0"/>
          </a:p>
        </p:txBody>
      </p:sp>
      <p:sp>
        <p:nvSpPr>
          <p:cNvPr id="16" name="Text 13"/>
          <p:cNvSpPr txBox="1"/>
          <p:nvPr/>
        </p:nvSpPr>
        <p:spPr>
          <a:xfrm>
            <a:off x="4297680" y="1938528"/>
            <a:ext cx="4389120" cy="420624"/>
          </a:xfrm>
          <a:prstGeom prst="rect">
            <a:avLst/>
          </a:prstGeom>
          <a:noFill/>
          <a:ln/>
        </p:spPr>
        <p:txBody>
          <a:bodyPr wrap="square" lIns="0" tIns="0" rIns="0" bIns="0" rtlCol="0" anchor="ctr"/>
          <a:lstStyle/>
          <a:p>
            <a:pPr indent="0" marL="0">
              <a:buNone/>
            </a:pPr>
            <a:r>
              <a:rPr lang="en-US" sz="1050" i="1" dirty="0">
                <a:solidFill>
                  <a:srgbClr val="5E6964"/>
                </a:solidFill>
                <a:latin typeface="Calibri" pitchFamily="34" charset="0"/>
                <a:ea typeface="Calibri" pitchFamily="34" charset="-122"/>
                <a:cs typeface="Calibri" pitchFamily="34" charset="-120"/>
              </a:rPr>
              <a:t>the grid name depends on the product — never hard-code it</a:t>
            </a:r>
            <a:endParaRPr lang="en-US" sz="1050" dirty="0"/>
          </a:p>
        </p:txBody>
      </p:sp>
      <p:sp>
        <p:nvSpPr>
          <p:cNvPr id="17" name="Shape 14"/>
          <p:cNvSpPr/>
          <p:nvPr/>
        </p:nvSpPr>
        <p:spPr>
          <a:xfrm>
            <a:off x="1097280" y="2505456"/>
            <a:ext cx="3017520" cy="420624"/>
          </a:xfrm>
          <a:prstGeom prst="roundRect">
            <a:avLst>
              <a:gd name="adj" fmla="val 10870"/>
            </a:avLst>
          </a:prstGeom>
          <a:solidFill>
            <a:srgbClr val="00A86A"/>
          </a:solidFill>
          <a:ln w="12700">
            <a:solidFill>
              <a:srgbClr val="00A86A"/>
            </a:solidFill>
            <a:prstDash val="solid"/>
          </a:ln>
        </p:spPr>
      </p:sp>
      <p:sp>
        <p:nvSpPr>
          <p:cNvPr id="18" name="Text 15"/>
          <p:cNvSpPr txBox="1"/>
          <p:nvPr/>
        </p:nvSpPr>
        <p:spPr>
          <a:xfrm>
            <a:off x="1234440" y="2505456"/>
            <a:ext cx="28346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Data Fields</a:t>
            </a:r>
            <a:endParaRPr lang="en-US" sz="1150" dirty="0"/>
          </a:p>
        </p:txBody>
      </p:sp>
      <p:sp>
        <p:nvSpPr>
          <p:cNvPr id="19" name="Text 16"/>
          <p:cNvSpPr txBox="1"/>
          <p:nvPr/>
        </p:nvSpPr>
        <p:spPr>
          <a:xfrm>
            <a:off x="4297680" y="2505456"/>
            <a:ext cx="4389120" cy="420624"/>
          </a:xfrm>
          <a:prstGeom prst="rect">
            <a:avLst/>
          </a:prstGeom>
          <a:noFill/>
          <a:ln/>
        </p:spPr>
        <p:txBody>
          <a:bodyPr wrap="square" lIns="0" tIns="0" rIns="0" bIns="0" rtlCol="0" anchor="ctr"/>
          <a:lstStyle/>
          <a:p>
            <a:pPr indent="0" marL="0">
              <a:buNone/>
            </a:pPr>
            <a:r>
              <a:rPr lang="en-US" sz="1050" i="1" dirty="0">
                <a:solidFill>
                  <a:srgbClr val="5E6964"/>
                </a:solidFill>
                <a:latin typeface="Calibri" pitchFamily="34" charset="0"/>
                <a:ea typeface="Calibri" pitchFamily="34" charset="-122"/>
                <a:cs typeface="Calibri" pitchFamily="34" charset="-120"/>
              </a:rPr>
              <a:t>every useful layer lives here</a:t>
            </a:r>
            <a:endParaRPr lang="en-US" sz="1050" dirty="0"/>
          </a:p>
        </p:txBody>
      </p:sp>
      <p:sp>
        <p:nvSpPr>
          <p:cNvPr id="20" name="Shape 17"/>
          <p:cNvSpPr/>
          <p:nvPr/>
        </p:nvSpPr>
        <p:spPr>
          <a:xfrm>
            <a:off x="457200" y="3200400"/>
            <a:ext cx="1536192" cy="1261872"/>
          </a:xfrm>
          <a:prstGeom prst="roundRect">
            <a:avLst>
              <a:gd name="adj" fmla="val 5797"/>
            </a:avLst>
          </a:prstGeom>
          <a:solidFill>
            <a:srgbClr val="F4F7F5"/>
          </a:solidFill>
          <a:ln w="9525">
            <a:solidFill>
              <a:srgbClr val="D5DED9"/>
            </a:solidFill>
            <a:prstDash val="solid"/>
          </a:ln>
        </p:spPr>
      </p:sp>
      <p:sp>
        <p:nvSpPr>
          <p:cNvPr id="21" name="Shape 18"/>
          <p:cNvSpPr/>
          <p:nvPr/>
        </p:nvSpPr>
        <p:spPr>
          <a:xfrm>
            <a:off x="987552" y="3291840"/>
            <a:ext cx="475488" cy="475488"/>
          </a:xfrm>
          <a:prstGeom prst="ellipse">
            <a:avLst/>
          </a:prstGeom>
          <a:solidFill>
            <a:srgbClr val="F5C242">
              <a:alpha val="22000"/>
            </a:srgbClr>
          </a:solidFill>
          <a:ln w="12700">
            <a:solidFill>
              <a:srgbClr val="F5C242">
                <a:alpha val="0"/>
              </a:srgbClr>
            </a:solidFill>
            <a:prstDash val="solid"/>
          </a:ln>
        </p:spPr>
      </p:sp>
      <p:pic>
        <p:nvPicPr>
          <p:cNvPr id="22" name="Image 0" descr="preencoded.png">    </p:cNvPr>
          <p:cNvPicPr>
            <a:picLocks noChangeAspect="1"/>
          </p:cNvPicPr>
          <p:nvPr/>
        </p:nvPicPr>
        <p:blipFill>
          <a:blip r:embed="rId1"/>
          <a:stretch>
            <a:fillRect/>
          </a:stretch>
        </p:blipFill>
        <p:spPr>
          <a:xfrm>
            <a:off x="1101669" y="3405957"/>
            <a:ext cx="247254" cy="247254"/>
          </a:xfrm>
          <a:prstGeom prst="rect">
            <a:avLst/>
          </a:prstGeom>
        </p:spPr>
      </p:pic>
      <p:sp>
        <p:nvSpPr>
          <p:cNvPr id="23" name="Text 19"/>
          <p:cNvSpPr txBox="1"/>
          <p:nvPr/>
        </p:nvSpPr>
        <p:spPr>
          <a:xfrm>
            <a:off x="530352" y="3813048"/>
            <a:ext cx="1389888" cy="256032"/>
          </a:xfrm>
          <a:prstGeom prst="rect">
            <a:avLst/>
          </a:prstGeom>
          <a:noFill/>
          <a:ln/>
        </p:spPr>
        <p:txBody>
          <a:bodyPr wrap="square" lIns="0" tIns="0" rIns="0" bIns="0" rtlCol="0" anchor="t"/>
          <a:lstStyle/>
          <a:p>
            <a:pPr algn="ctr" indent="0" marL="0">
              <a:buNone/>
            </a:pPr>
            <a:r>
              <a:rPr lang="en-US" sz="1200" b="1" dirty="0">
                <a:solidFill>
                  <a:srgbClr val="231F20"/>
                </a:solidFill>
                <a:latin typeface="Calibri" pitchFamily="34" charset="0"/>
                <a:ea typeface="Calibri" pitchFamily="34" charset="-122"/>
                <a:cs typeface="Calibri" pitchFamily="34" charset="-120"/>
              </a:rPr>
              <a:t>Radiance</a:t>
            </a:r>
            <a:endParaRPr lang="en-US" sz="1200" dirty="0"/>
          </a:p>
        </p:txBody>
      </p:sp>
      <p:sp>
        <p:nvSpPr>
          <p:cNvPr id="24" name="Text 20"/>
          <p:cNvSpPr txBox="1"/>
          <p:nvPr/>
        </p:nvSpPr>
        <p:spPr>
          <a:xfrm>
            <a:off x="530352" y="4069080"/>
            <a:ext cx="1389888" cy="365760"/>
          </a:xfrm>
          <a:prstGeom prst="rect">
            <a:avLst/>
          </a:prstGeom>
          <a:noFill/>
          <a:ln/>
        </p:spPr>
        <p:txBody>
          <a:bodyPr wrap="square" lIns="0" tIns="0" rIns="0" bIns="0" rtlCol="0" anchor="t"/>
          <a:lstStyle/>
          <a:p>
            <a:pPr algn="ctr" indent="0" marL="0">
              <a:buNone/>
            </a:pPr>
            <a:r>
              <a:rPr lang="en-US" sz="750" dirty="0">
                <a:solidFill>
                  <a:srgbClr val="5E6964"/>
                </a:solidFill>
                <a:latin typeface="Courier New" pitchFamily="34" charset="0"/>
                <a:ea typeface="Courier New" pitchFamily="34" charset="-122"/>
                <a:cs typeface="Courier New" pitchFamily="34" charset="-120"/>
              </a:rPr>
              <a:t>AllAngle_Composite_Snow_Free</a:t>
            </a:r>
            <a:endParaRPr lang="en-US" sz="750" dirty="0"/>
          </a:p>
        </p:txBody>
      </p:sp>
      <p:sp>
        <p:nvSpPr>
          <p:cNvPr id="25" name="Shape 21"/>
          <p:cNvSpPr/>
          <p:nvPr/>
        </p:nvSpPr>
        <p:spPr>
          <a:xfrm>
            <a:off x="2121408" y="3200400"/>
            <a:ext cx="1536192" cy="1261872"/>
          </a:xfrm>
          <a:prstGeom prst="roundRect">
            <a:avLst>
              <a:gd name="adj" fmla="val 5797"/>
            </a:avLst>
          </a:prstGeom>
          <a:solidFill>
            <a:srgbClr val="F4F7F5"/>
          </a:solidFill>
          <a:ln w="9525">
            <a:solidFill>
              <a:srgbClr val="D5DED9"/>
            </a:solidFill>
            <a:prstDash val="solid"/>
          </a:ln>
        </p:spPr>
      </p:sp>
      <p:sp>
        <p:nvSpPr>
          <p:cNvPr id="26" name="Shape 22"/>
          <p:cNvSpPr/>
          <p:nvPr/>
        </p:nvSpPr>
        <p:spPr>
          <a:xfrm>
            <a:off x="2651760" y="3291840"/>
            <a:ext cx="475488" cy="475488"/>
          </a:xfrm>
          <a:prstGeom prst="ellipse">
            <a:avLst/>
          </a:prstGeom>
          <a:solidFill>
            <a:srgbClr val="0E7C86">
              <a:alpha val="22000"/>
            </a:srgbClr>
          </a:solidFill>
          <a:ln w="12700">
            <a:solidFill>
              <a:srgbClr val="0E7C86">
                <a:alpha val="0"/>
              </a:srgbClr>
            </a:solidFill>
            <a:prstDash val="solid"/>
          </a:ln>
        </p:spPr>
      </p:sp>
      <p:pic>
        <p:nvPicPr>
          <p:cNvPr id="27" name="Image 1" descr="preencoded.png">    </p:cNvPr>
          <p:cNvPicPr>
            <a:picLocks noChangeAspect="1"/>
          </p:cNvPicPr>
          <p:nvPr/>
        </p:nvPicPr>
        <p:blipFill>
          <a:blip r:embed="rId2"/>
          <a:stretch>
            <a:fillRect/>
          </a:stretch>
        </p:blipFill>
        <p:spPr>
          <a:xfrm>
            <a:off x="2765877" y="3405957"/>
            <a:ext cx="247254" cy="247254"/>
          </a:xfrm>
          <a:prstGeom prst="rect">
            <a:avLst/>
          </a:prstGeom>
        </p:spPr>
      </p:pic>
      <p:sp>
        <p:nvSpPr>
          <p:cNvPr id="28" name="Text 23"/>
          <p:cNvSpPr txBox="1"/>
          <p:nvPr/>
        </p:nvSpPr>
        <p:spPr>
          <a:xfrm>
            <a:off x="2194560" y="3813048"/>
            <a:ext cx="1389888" cy="256032"/>
          </a:xfrm>
          <a:prstGeom prst="rect">
            <a:avLst/>
          </a:prstGeom>
          <a:noFill/>
          <a:ln/>
        </p:spPr>
        <p:txBody>
          <a:bodyPr wrap="square" lIns="0" tIns="0" rIns="0" bIns="0" rtlCol="0" anchor="t"/>
          <a:lstStyle/>
          <a:p>
            <a:pPr algn="ctr" indent="0" marL="0">
              <a:buNone/>
            </a:pPr>
            <a:r>
              <a:rPr lang="en-US" sz="1200" b="1" dirty="0">
                <a:solidFill>
                  <a:srgbClr val="231F20"/>
                </a:solidFill>
                <a:latin typeface="Calibri" pitchFamily="34" charset="0"/>
                <a:ea typeface="Calibri" pitchFamily="34" charset="-122"/>
                <a:cs typeface="Calibri" pitchFamily="34" charset="-120"/>
              </a:rPr>
              <a:t>Uncertainty</a:t>
            </a:r>
            <a:endParaRPr lang="en-US" sz="1200" dirty="0"/>
          </a:p>
        </p:txBody>
      </p:sp>
      <p:sp>
        <p:nvSpPr>
          <p:cNvPr id="29" name="Text 24"/>
          <p:cNvSpPr txBox="1"/>
          <p:nvPr/>
        </p:nvSpPr>
        <p:spPr>
          <a:xfrm>
            <a:off x="2194560" y="4069080"/>
            <a:ext cx="1389888" cy="365760"/>
          </a:xfrm>
          <a:prstGeom prst="rect">
            <a:avLst/>
          </a:prstGeom>
          <a:noFill/>
          <a:ln/>
        </p:spPr>
        <p:txBody>
          <a:bodyPr wrap="square" lIns="0" tIns="0" rIns="0" bIns="0" rtlCol="0" anchor="t"/>
          <a:lstStyle/>
          <a:p>
            <a:pPr algn="ctr" indent="0" marL="0">
              <a:buNone/>
            </a:pPr>
            <a:r>
              <a:rPr lang="en-US" sz="750" dirty="0">
                <a:solidFill>
                  <a:srgbClr val="5E6964"/>
                </a:solidFill>
                <a:latin typeface="Courier New" pitchFamily="34" charset="0"/>
                <a:ea typeface="Courier New" pitchFamily="34" charset="-122"/>
                <a:cs typeface="Courier New" pitchFamily="34" charset="-120"/>
              </a:rPr>
              <a:t>…_Num · …_Std</a:t>
            </a:r>
            <a:endParaRPr lang="en-US" sz="750" dirty="0"/>
          </a:p>
        </p:txBody>
      </p:sp>
      <p:sp>
        <p:nvSpPr>
          <p:cNvPr id="30" name="Shape 25"/>
          <p:cNvSpPr/>
          <p:nvPr/>
        </p:nvSpPr>
        <p:spPr>
          <a:xfrm>
            <a:off x="3785616" y="3200400"/>
            <a:ext cx="1536192" cy="1261872"/>
          </a:xfrm>
          <a:prstGeom prst="roundRect">
            <a:avLst>
              <a:gd name="adj" fmla="val 5797"/>
            </a:avLst>
          </a:prstGeom>
          <a:solidFill>
            <a:srgbClr val="F4F7F5"/>
          </a:solidFill>
          <a:ln w="9525">
            <a:solidFill>
              <a:srgbClr val="D5DED9"/>
            </a:solidFill>
            <a:prstDash val="solid"/>
          </a:ln>
        </p:spPr>
      </p:sp>
      <p:sp>
        <p:nvSpPr>
          <p:cNvPr id="31" name="Shape 26"/>
          <p:cNvSpPr/>
          <p:nvPr/>
        </p:nvSpPr>
        <p:spPr>
          <a:xfrm>
            <a:off x="4315968" y="3291840"/>
            <a:ext cx="475488" cy="475488"/>
          </a:xfrm>
          <a:prstGeom prst="ellipse">
            <a:avLst/>
          </a:prstGeom>
          <a:solidFill>
            <a:srgbClr val="C4621D">
              <a:alpha val="22000"/>
            </a:srgbClr>
          </a:solidFill>
          <a:ln w="12700">
            <a:solidFill>
              <a:srgbClr val="C4621D">
                <a:alpha val="0"/>
              </a:srgbClr>
            </a:solidFill>
            <a:prstDash val="solid"/>
          </a:ln>
        </p:spPr>
      </p:sp>
      <p:pic>
        <p:nvPicPr>
          <p:cNvPr id="32" name="Image 2" descr="preencoded.png">    </p:cNvPr>
          <p:cNvPicPr>
            <a:picLocks noChangeAspect="1"/>
          </p:cNvPicPr>
          <p:nvPr/>
        </p:nvPicPr>
        <p:blipFill>
          <a:blip r:embed="rId3"/>
          <a:stretch>
            <a:fillRect/>
          </a:stretch>
        </p:blipFill>
        <p:spPr>
          <a:xfrm>
            <a:off x="4430085" y="3405957"/>
            <a:ext cx="247254" cy="247254"/>
          </a:xfrm>
          <a:prstGeom prst="rect">
            <a:avLst/>
          </a:prstGeom>
        </p:spPr>
      </p:pic>
      <p:sp>
        <p:nvSpPr>
          <p:cNvPr id="33" name="Text 27"/>
          <p:cNvSpPr txBox="1"/>
          <p:nvPr/>
        </p:nvSpPr>
        <p:spPr>
          <a:xfrm>
            <a:off x="3858768" y="3813048"/>
            <a:ext cx="1389888" cy="256032"/>
          </a:xfrm>
          <a:prstGeom prst="rect">
            <a:avLst/>
          </a:prstGeom>
          <a:noFill/>
          <a:ln/>
        </p:spPr>
        <p:txBody>
          <a:bodyPr wrap="square" lIns="0" tIns="0" rIns="0" bIns="0" rtlCol="0" anchor="t"/>
          <a:lstStyle/>
          <a:p>
            <a:pPr algn="ctr" indent="0" marL="0">
              <a:buNone/>
            </a:pPr>
            <a:r>
              <a:rPr lang="en-US" sz="1200" b="1" dirty="0">
                <a:solidFill>
                  <a:srgbClr val="231F20"/>
                </a:solidFill>
                <a:latin typeface="Calibri" pitchFamily="34" charset="0"/>
                <a:ea typeface="Calibri" pitchFamily="34" charset="-122"/>
                <a:cs typeface="Calibri" pitchFamily="34" charset="-120"/>
              </a:rPr>
              <a:t>Quality</a:t>
            </a:r>
            <a:endParaRPr lang="en-US" sz="1200" dirty="0"/>
          </a:p>
        </p:txBody>
      </p:sp>
      <p:sp>
        <p:nvSpPr>
          <p:cNvPr id="34" name="Text 28"/>
          <p:cNvSpPr txBox="1"/>
          <p:nvPr/>
        </p:nvSpPr>
        <p:spPr>
          <a:xfrm>
            <a:off x="3858768" y="4069080"/>
            <a:ext cx="1389888" cy="365760"/>
          </a:xfrm>
          <a:prstGeom prst="rect">
            <a:avLst/>
          </a:prstGeom>
          <a:noFill/>
          <a:ln/>
        </p:spPr>
        <p:txBody>
          <a:bodyPr wrap="square" lIns="0" tIns="0" rIns="0" bIns="0" rtlCol="0" anchor="t"/>
          <a:lstStyle/>
          <a:p>
            <a:pPr algn="ctr" indent="0" marL="0">
              <a:buNone/>
            </a:pPr>
            <a:r>
              <a:rPr lang="en-US" sz="750" dirty="0">
                <a:solidFill>
                  <a:srgbClr val="5E6964"/>
                </a:solidFill>
                <a:latin typeface="Courier New" pitchFamily="34" charset="0"/>
                <a:ea typeface="Courier New" pitchFamily="34" charset="-122"/>
                <a:cs typeface="Courier New" pitchFamily="34" charset="-120"/>
              </a:rPr>
              <a:t>…_Quality · Mandatory_Quality_Flag</a:t>
            </a:r>
            <a:endParaRPr lang="en-US" sz="750" dirty="0"/>
          </a:p>
        </p:txBody>
      </p:sp>
      <p:sp>
        <p:nvSpPr>
          <p:cNvPr id="35" name="Shape 29"/>
          <p:cNvSpPr/>
          <p:nvPr/>
        </p:nvSpPr>
        <p:spPr>
          <a:xfrm>
            <a:off x="5449824" y="3200400"/>
            <a:ext cx="1536192" cy="1261872"/>
          </a:xfrm>
          <a:prstGeom prst="roundRect">
            <a:avLst>
              <a:gd name="adj" fmla="val 5797"/>
            </a:avLst>
          </a:prstGeom>
          <a:solidFill>
            <a:srgbClr val="F4F7F5"/>
          </a:solidFill>
          <a:ln w="9525">
            <a:solidFill>
              <a:srgbClr val="D5DED9"/>
            </a:solidFill>
            <a:prstDash val="solid"/>
          </a:ln>
        </p:spPr>
      </p:sp>
      <p:sp>
        <p:nvSpPr>
          <p:cNvPr id="36" name="Shape 30"/>
          <p:cNvSpPr/>
          <p:nvPr/>
        </p:nvSpPr>
        <p:spPr>
          <a:xfrm>
            <a:off x="5980176" y="3291840"/>
            <a:ext cx="475488" cy="475488"/>
          </a:xfrm>
          <a:prstGeom prst="ellipse">
            <a:avLst/>
          </a:prstGeom>
          <a:solidFill>
            <a:srgbClr val="5E6964">
              <a:alpha val="22000"/>
            </a:srgbClr>
          </a:solidFill>
          <a:ln w="12700">
            <a:solidFill>
              <a:srgbClr val="5E6964">
                <a:alpha val="0"/>
              </a:srgbClr>
            </a:solidFill>
            <a:prstDash val="solid"/>
          </a:ln>
        </p:spPr>
      </p:sp>
      <p:pic>
        <p:nvPicPr>
          <p:cNvPr id="37" name="Image 3" descr="preencoded.png">    </p:cNvPr>
          <p:cNvPicPr>
            <a:picLocks noChangeAspect="1"/>
          </p:cNvPicPr>
          <p:nvPr/>
        </p:nvPicPr>
        <p:blipFill>
          <a:blip r:embed="rId4"/>
          <a:stretch>
            <a:fillRect/>
          </a:stretch>
        </p:blipFill>
        <p:spPr>
          <a:xfrm>
            <a:off x="6094293" y="3405957"/>
            <a:ext cx="247254" cy="247254"/>
          </a:xfrm>
          <a:prstGeom prst="rect">
            <a:avLst/>
          </a:prstGeom>
        </p:spPr>
      </p:pic>
      <p:sp>
        <p:nvSpPr>
          <p:cNvPr id="38" name="Text 31"/>
          <p:cNvSpPr txBox="1"/>
          <p:nvPr/>
        </p:nvSpPr>
        <p:spPr>
          <a:xfrm>
            <a:off x="5522976" y="3813048"/>
            <a:ext cx="1389888" cy="256032"/>
          </a:xfrm>
          <a:prstGeom prst="rect">
            <a:avLst/>
          </a:prstGeom>
          <a:noFill/>
          <a:ln/>
        </p:spPr>
        <p:txBody>
          <a:bodyPr wrap="square" lIns="0" tIns="0" rIns="0" bIns="0" rtlCol="0" anchor="t"/>
          <a:lstStyle/>
          <a:p>
            <a:pPr algn="ctr" indent="0" marL="0">
              <a:buNone/>
            </a:pPr>
            <a:r>
              <a:rPr lang="en-US" sz="1200" b="1" dirty="0">
                <a:solidFill>
                  <a:srgbClr val="231F20"/>
                </a:solidFill>
                <a:latin typeface="Calibri" pitchFamily="34" charset="0"/>
                <a:ea typeface="Calibri" pitchFamily="34" charset="-122"/>
                <a:cs typeface="Calibri" pitchFamily="34" charset="-120"/>
              </a:rPr>
              <a:t>Context</a:t>
            </a:r>
            <a:endParaRPr lang="en-US" sz="1200" dirty="0"/>
          </a:p>
        </p:txBody>
      </p:sp>
      <p:sp>
        <p:nvSpPr>
          <p:cNvPr id="39" name="Text 32"/>
          <p:cNvSpPr txBox="1"/>
          <p:nvPr/>
        </p:nvSpPr>
        <p:spPr>
          <a:xfrm>
            <a:off x="5522976" y="4069080"/>
            <a:ext cx="1389888" cy="365760"/>
          </a:xfrm>
          <a:prstGeom prst="rect">
            <a:avLst/>
          </a:prstGeom>
          <a:noFill/>
          <a:ln/>
        </p:spPr>
        <p:txBody>
          <a:bodyPr wrap="square" lIns="0" tIns="0" rIns="0" bIns="0" rtlCol="0" anchor="t"/>
          <a:lstStyle/>
          <a:p>
            <a:pPr algn="ctr" indent="0" marL="0">
              <a:buNone/>
            </a:pPr>
            <a:r>
              <a:rPr lang="en-US" sz="750" dirty="0">
                <a:solidFill>
                  <a:srgbClr val="5E6964"/>
                </a:solidFill>
                <a:latin typeface="Courier New" pitchFamily="34" charset="0"/>
                <a:ea typeface="Courier New" pitchFamily="34" charset="-122"/>
                <a:cs typeface="Courier New" pitchFamily="34" charset="-120"/>
              </a:rPr>
              <a:t>Land_Water_Mask · DNB_Platform</a:t>
            </a:r>
            <a:endParaRPr lang="en-US" sz="750" dirty="0"/>
          </a:p>
        </p:txBody>
      </p:sp>
      <p:sp>
        <p:nvSpPr>
          <p:cNvPr id="40" name="Shape 33"/>
          <p:cNvSpPr/>
          <p:nvPr/>
        </p:nvSpPr>
        <p:spPr>
          <a:xfrm>
            <a:off x="7114032" y="3200400"/>
            <a:ext cx="1536192" cy="1261872"/>
          </a:xfrm>
          <a:prstGeom prst="roundRect">
            <a:avLst>
              <a:gd name="adj" fmla="val 5797"/>
            </a:avLst>
          </a:prstGeom>
          <a:solidFill>
            <a:srgbClr val="F4F7F5"/>
          </a:solidFill>
          <a:ln w="9525">
            <a:solidFill>
              <a:srgbClr val="D5DED9"/>
            </a:solidFill>
            <a:prstDash val="solid"/>
          </a:ln>
        </p:spPr>
      </p:sp>
      <p:sp>
        <p:nvSpPr>
          <p:cNvPr id="41" name="Shape 34"/>
          <p:cNvSpPr/>
          <p:nvPr/>
        </p:nvSpPr>
        <p:spPr>
          <a:xfrm>
            <a:off x="7644384" y="3291840"/>
            <a:ext cx="475488" cy="475488"/>
          </a:xfrm>
          <a:prstGeom prst="ellipse">
            <a:avLst/>
          </a:prstGeom>
          <a:solidFill>
            <a:srgbClr val="00704A">
              <a:alpha val="22000"/>
            </a:srgbClr>
          </a:solidFill>
          <a:ln w="12700">
            <a:solidFill>
              <a:srgbClr val="00704A">
                <a:alpha val="0"/>
              </a:srgbClr>
            </a:solidFill>
            <a:prstDash val="solid"/>
          </a:ln>
        </p:spPr>
      </p:sp>
      <p:pic>
        <p:nvPicPr>
          <p:cNvPr id="42" name="Image 4" descr="preencoded.png">    </p:cNvPr>
          <p:cNvPicPr>
            <a:picLocks noChangeAspect="1"/>
          </p:cNvPicPr>
          <p:nvPr/>
        </p:nvPicPr>
        <p:blipFill>
          <a:blip r:embed="rId5"/>
          <a:stretch>
            <a:fillRect/>
          </a:stretch>
        </p:blipFill>
        <p:spPr>
          <a:xfrm>
            <a:off x="7758501" y="3405957"/>
            <a:ext cx="247254" cy="247254"/>
          </a:xfrm>
          <a:prstGeom prst="rect">
            <a:avLst/>
          </a:prstGeom>
        </p:spPr>
      </p:pic>
      <p:sp>
        <p:nvSpPr>
          <p:cNvPr id="43" name="Text 35"/>
          <p:cNvSpPr txBox="1"/>
          <p:nvPr/>
        </p:nvSpPr>
        <p:spPr>
          <a:xfrm>
            <a:off x="7187184" y="3813048"/>
            <a:ext cx="1389888" cy="256032"/>
          </a:xfrm>
          <a:prstGeom prst="rect">
            <a:avLst/>
          </a:prstGeom>
          <a:noFill/>
          <a:ln/>
        </p:spPr>
        <p:txBody>
          <a:bodyPr wrap="square" lIns="0" tIns="0" rIns="0" bIns="0" rtlCol="0" anchor="t"/>
          <a:lstStyle/>
          <a:p>
            <a:pPr algn="ctr" indent="0" marL="0">
              <a:buNone/>
            </a:pPr>
            <a:r>
              <a:rPr lang="en-US" sz="1200" b="1" dirty="0">
                <a:solidFill>
                  <a:srgbClr val="231F20"/>
                </a:solidFill>
                <a:latin typeface="Calibri" pitchFamily="34" charset="0"/>
                <a:ea typeface="Calibri" pitchFamily="34" charset="-122"/>
                <a:cs typeface="Calibri" pitchFamily="34" charset="-120"/>
              </a:rPr>
              <a:t>Coordinates</a:t>
            </a:r>
            <a:endParaRPr lang="en-US" sz="1200" dirty="0"/>
          </a:p>
        </p:txBody>
      </p:sp>
      <p:sp>
        <p:nvSpPr>
          <p:cNvPr id="44" name="Text 36"/>
          <p:cNvSpPr txBox="1"/>
          <p:nvPr/>
        </p:nvSpPr>
        <p:spPr>
          <a:xfrm>
            <a:off x="7187184" y="4069080"/>
            <a:ext cx="1389888" cy="365760"/>
          </a:xfrm>
          <a:prstGeom prst="rect">
            <a:avLst/>
          </a:prstGeom>
          <a:noFill/>
          <a:ln/>
        </p:spPr>
        <p:txBody>
          <a:bodyPr wrap="square" lIns="0" tIns="0" rIns="0" bIns="0" rtlCol="0" anchor="t"/>
          <a:lstStyle/>
          <a:p>
            <a:pPr algn="ctr" indent="0" marL="0">
              <a:buNone/>
            </a:pPr>
            <a:r>
              <a:rPr lang="en-US" sz="750" dirty="0">
                <a:solidFill>
                  <a:srgbClr val="5E6964"/>
                </a:solidFill>
                <a:latin typeface="Courier New" pitchFamily="34" charset="0"/>
                <a:ea typeface="Courier New" pitchFamily="34" charset="-122"/>
                <a:cs typeface="Courier New" pitchFamily="34" charset="-120"/>
              </a:rPr>
              <a:t>lat · lon</a:t>
            </a:r>
            <a:endParaRPr lang="en-US" sz="7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03 · EXPLORE · CALCULATION</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Decoding: one equation and one trap</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0E7C86"/>
          </a:solidFill>
          <a:ln w="12700">
            <a:solidFill>
              <a:srgbClr val="0E7C86"/>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8229600" cy="914400"/>
          </a:xfrm>
          <a:prstGeom prst="roundRect">
            <a:avLst>
              <a:gd name="adj" fmla="val 8000"/>
            </a:avLst>
          </a:prstGeom>
          <a:solidFill>
            <a:srgbClr val="E8F5EF"/>
          </a:solidFill>
          <a:ln w="15875">
            <a:solidFill>
              <a:srgbClr val="0E7C86"/>
            </a:solidFill>
            <a:prstDash val="solid"/>
          </a:ln>
        </p:spPr>
      </p:sp>
      <p:sp>
        <p:nvSpPr>
          <p:cNvPr id="12" name="Text 9"/>
          <p:cNvSpPr txBox="1"/>
          <p:nvPr/>
        </p:nvSpPr>
        <p:spPr>
          <a:xfrm>
            <a:off x="640080" y="1481328"/>
            <a:ext cx="7863840" cy="411480"/>
          </a:xfrm>
          <a:prstGeom prst="rect">
            <a:avLst/>
          </a:prstGeom>
          <a:noFill/>
          <a:ln/>
        </p:spPr>
        <p:txBody>
          <a:bodyPr wrap="square" lIns="0" tIns="0" rIns="0" bIns="0" rtlCol="0" anchor="t"/>
          <a:lstStyle/>
          <a:p>
            <a:pPr algn="ctr" indent="0" marL="0">
              <a:buNone/>
            </a:pPr>
            <a:r>
              <a:rPr lang="en-US" sz="2000" b="1" dirty="0">
                <a:solidFill>
                  <a:srgbClr val="0E7C86"/>
                </a:solidFill>
                <a:latin typeface="Calibri" pitchFamily="34" charset="0"/>
                <a:ea typeface="Calibri" pitchFamily="34" charset="-122"/>
                <a:cs typeface="Calibri" pitchFamily="34" charset="-120"/>
              </a:rPr>
              <a:t>radiance = stored value × scale_factor + add_offset</a:t>
            </a:r>
            <a:endParaRPr lang="en-US" sz="2000" dirty="0"/>
          </a:p>
        </p:txBody>
      </p:sp>
      <p:sp>
        <p:nvSpPr>
          <p:cNvPr id="13" name="Text 10"/>
          <p:cNvSpPr txBox="1"/>
          <p:nvPr/>
        </p:nvSpPr>
        <p:spPr>
          <a:xfrm>
            <a:off x="640080" y="1892808"/>
            <a:ext cx="7863840" cy="292608"/>
          </a:xfrm>
          <a:prstGeom prst="rect">
            <a:avLst/>
          </a:prstGeom>
          <a:noFill/>
          <a:ln/>
        </p:spPr>
        <p:txBody>
          <a:bodyPr wrap="square" lIns="0" tIns="0" rIns="0" bIns="0" rtlCol="0" anchor="t"/>
          <a:lstStyle/>
          <a:p>
            <a:pPr algn="ctr" indent="0" marL="0">
              <a:buNone/>
            </a:pPr>
            <a:r>
              <a:rPr lang="en-US" sz="1150" i="1" dirty="0">
                <a:solidFill>
                  <a:srgbClr val="5E6964"/>
                </a:solidFill>
                <a:latin typeface="Calibri" pitchFamily="34" charset="0"/>
                <a:ea typeface="Calibri" pitchFamily="34" charset="-122"/>
                <a:cs typeface="Calibri" pitchFamily="34" charset="-120"/>
              </a:rPr>
              <a:t>…after setting every _FillValue pixel to NaN — attributes always read from the file</a:t>
            </a:r>
            <a:endParaRPr lang="en-US" sz="1150" dirty="0"/>
          </a:p>
        </p:txBody>
      </p:sp>
      <p:sp>
        <p:nvSpPr>
          <p:cNvPr id="14" name="Shape 11"/>
          <p:cNvSpPr/>
          <p:nvPr/>
        </p:nvSpPr>
        <p:spPr>
          <a:xfrm>
            <a:off x="457200" y="2514600"/>
            <a:ext cx="4023360" cy="1463040"/>
          </a:xfrm>
          <a:prstGeom prst="roundRect">
            <a:avLst>
              <a:gd name="adj" fmla="val 5000"/>
            </a:avLst>
          </a:prstGeom>
          <a:solidFill>
            <a:srgbClr val="F4F7F5"/>
          </a:solidFill>
          <a:ln w="9525">
            <a:solidFill>
              <a:srgbClr val="D5DED9"/>
            </a:solidFill>
            <a:prstDash val="solid"/>
          </a:ln>
        </p:spPr>
      </p:sp>
      <p:sp>
        <p:nvSpPr>
          <p:cNvPr id="15" name="Text 12"/>
          <p:cNvSpPr txBox="1"/>
          <p:nvPr/>
        </p:nvSpPr>
        <p:spPr>
          <a:xfrm>
            <a:off x="640080" y="2606040"/>
            <a:ext cx="36576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Daily layer (A2)</a:t>
            </a:r>
            <a:endParaRPr lang="en-US" sz="1300" dirty="0"/>
          </a:p>
        </p:txBody>
      </p:sp>
      <p:sp>
        <p:nvSpPr>
          <p:cNvPr id="16" name="Text 13"/>
          <p:cNvSpPr txBox="1"/>
          <p:nvPr/>
        </p:nvSpPr>
        <p:spPr>
          <a:xfrm>
            <a:off x="640080" y="2907792"/>
            <a:ext cx="3657600" cy="256032"/>
          </a:xfrm>
          <a:prstGeom prst="rect">
            <a:avLst/>
          </a:prstGeom>
          <a:noFill/>
          <a:ln/>
        </p:spPr>
        <p:txBody>
          <a:bodyPr wrap="square" lIns="0" tIns="0" rIns="0" bIns="0" rtlCol="0" anchor="t"/>
          <a:lstStyle/>
          <a:p>
            <a:pPr indent="0" marL="0">
              <a:buNone/>
            </a:pPr>
            <a:r>
              <a:rPr lang="en-US" sz="1100" dirty="0">
                <a:solidFill>
                  <a:srgbClr val="5E6964"/>
                </a:solidFill>
                <a:latin typeface="Courier New" pitchFamily="34" charset="0"/>
                <a:ea typeface="Courier New" pitchFamily="34" charset="-122"/>
                <a:cs typeface="Courier New" pitchFamily="34" charset="-120"/>
              </a:rPr>
              <a:t>uint16 · × 0.1 · fill 65535</a:t>
            </a:r>
            <a:endParaRPr lang="en-US" sz="1100" dirty="0"/>
          </a:p>
        </p:txBody>
      </p:sp>
      <p:sp>
        <p:nvSpPr>
          <p:cNvPr id="17" name="Text 14"/>
          <p:cNvSpPr txBox="1"/>
          <p:nvPr/>
        </p:nvSpPr>
        <p:spPr>
          <a:xfrm>
            <a:off x="640080" y="3200400"/>
            <a:ext cx="1828800" cy="274320"/>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1247 → 124.7 nW</a:t>
            </a:r>
            <a:endParaRPr lang="en-US" sz="1200" dirty="0"/>
          </a:p>
        </p:txBody>
      </p:sp>
      <p:sp>
        <p:nvSpPr>
          <p:cNvPr id="18" name="Text 15"/>
          <p:cNvSpPr txBox="1"/>
          <p:nvPr/>
        </p:nvSpPr>
        <p:spPr>
          <a:xfrm>
            <a:off x="2514600" y="3127248"/>
            <a:ext cx="1828800" cy="457200"/>
          </a:xfrm>
          <a:prstGeom prst="rect">
            <a:avLst/>
          </a:prstGeom>
          <a:noFill/>
          <a:ln/>
        </p:spPr>
        <p:txBody>
          <a:bodyPr wrap="square" lIns="0" tIns="0" rIns="0" bIns="0" rtlCol="0" anchor="t"/>
          <a:lstStyle/>
          <a:p>
            <a:pPr algn="r" indent="0" marL="0">
              <a:buNone/>
            </a:pPr>
            <a:r>
              <a:rPr lang="en-US" sz="2600" b="1" dirty="0">
                <a:solidFill>
                  <a:srgbClr val="B83B2E"/>
                </a:solidFill>
                <a:latin typeface="Calibri" pitchFamily="34" charset="0"/>
                <a:ea typeface="Calibri" pitchFamily="34" charset="-122"/>
                <a:cs typeface="Calibri" pitchFamily="34" charset="-120"/>
              </a:rPr>
              <a:t>+6,553.5</a:t>
            </a:r>
            <a:endParaRPr lang="en-US" sz="2600" dirty="0"/>
          </a:p>
        </p:txBody>
      </p:sp>
      <p:sp>
        <p:nvSpPr>
          <p:cNvPr id="19" name="Text 16"/>
          <p:cNvSpPr txBox="1"/>
          <p:nvPr/>
        </p:nvSpPr>
        <p:spPr>
          <a:xfrm>
            <a:off x="640080" y="3566160"/>
            <a:ext cx="3657600" cy="320040"/>
          </a:xfrm>
          <a:prstGeom prst="rect">
            <a:avLst/>
          </a:prstGeom>
          <a:noFill/>
          <a:ln/>
        </p:spPr>
        <p:txBody>
          <a:bodyPr wrap="square" lIns="0" tIns="0" rIns="0" bIns="0" rtlCol="0" anchor="t"/>
          <a:lstStyle/>
          <a:p>
            <a:pPr indent="0" marL="0">
              <a:buNone/>
            </a:pPr>
            <a:r>
              <a:rPr lang="en-US" sz="1050" i="1" dirty="0">
                <a:solidFill>
                  <a:srgbClr val="5E6964"/>
                </a:solidFill>
                <a:latin typeface="Calibri" pitchFamily="34" charset="0"/>
                <a:ea typeface="Calibri" pitchFamily="34" charset="-122"/>
                <a:cs typeface="Calibri" pitchFamily="34" charset="-120"/>
              </a:rPr>
              <a:t>per empty pixel if fill is ignored</a:t>
            </a:r>
            <a:endParaRPr lang="en-US" sz="1050" dirty="0"/>
          </a:p>
        </p:txBody>
      </p:sp>
      <p:sp>
        <p:nvSpPr>
          <p:cNvPr id="20" name="Shape 17"/>
          <p:cNvSpPr/>
          <p:nvPr/>
        </p:nvSpPr>
        <p:spPr>
          <a:xfrm>
            <a:off x="4663440" y="2514600"/>
            <a:ext cx="4023360" cy="1463040"/>
          </a:xfrm>
          <a:prstGeom prst="roundRect">
            <a:avLst>
              <a:gd name="adj" fmla="val 5000"/>
            </a:avLst>
          </a:prstGeom>
          <a:solidFill>
            <a:srgbClr val="F4F7F5"/>
          </a:solidFill>
          <a:ln w="9525">
            <a:solidFill>
              <a:srgbClr val="D5DED9"/>
            </a:solidFill>
            <a:prstDash val="solid"/>
          </a:ln>
        </p:spPr>
      </p:sp>
      <p:sp>
        <p:nvSpPr>
          <p:cNvPr id="21" name="Text 18"/>
          <p:cNvSpPr txBox="1"/>
          <p:nvPr/>
        </p:nvSpPr>
        <p:spPr>
          <a:xfrm>
            <a:off x="4846320" y="2606040"/>
            <a:ext cx="36576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Composite (A3 / A4, Collection 2)</a:t>
            </a:r>
            <a:endParaRPr lang="en-US" sz="1300" dirty="0"/>
          </a:p>
        </p:txBody>
      </p:sp>
      <p:sp>
        <p:nvSpPr>
          <p:cNvPr id="22" name="Text 19"/>
          <p:cNvSpPr txBox="1"/>
          <p:nvPr/>
        </p:nvSpPr>
        <p:spPr>
          <a:xfrm>
            <a:off x="4846320" y="2907792"/>
            <a:ext cx="3657600" cy="256032"/>
          </a:xfrm>
          <a:prstGeom prst="rect">
            <a:avLst/>
          </a:prstGeom>
          <a:noFill/>
          <a:ln/>
        </p:spPr>
        <p:txBody>
          <a:bodyPr wrap="square" lIns="0" tIns="0" rIns="0" bIns="0" rtlCol="0" anchor="t"/>
          <a:lstStyle/>
          <a:p>
            <a:pPr indent="0" marL="0">
              <a:buNone/>
            </a:pPr>
            <a:r>
              <a:rPr lang="en-US" sz="1100" dirty="0">
                <a:solidFill>
                  <a:srgbClr val="5E6964"/>
                </a:solidFill>
                <a:latin typeface="Courier New" pitchFamily="34" charset="0"/>
                <a:ea typeface="Courier New" pitchFamily="34" charset="-122"/>
                <a:cs typeface="Courier New" pitchFamily="34" charset="-120"/>
              </a:rPr>
              <a:t>float32 · × 1 · fill −999.9</a:t>
            </a:r>
            <a:endParaRPr lang="en-US" sz="1100" dirty="0"/>
          </a:p>
        </p:txBody>
      </p:sp>
      <p:sp>
        <p:nvSpPr>
          <p:cNvPr id="23" name="Text 20"/>
          <p:cNvSpPr txBox="1"/>
          <p:nvPr/>
        </p:nvSpPr>
        <p:spPr>
          <a:xfrm>
            <a:off x="4846320" y="3200400"/>
            <a:ext cx="1828800" cy="274320"/>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124.7 → 124.7 nW</a:t>
            </a:r>
            <a:endParaRPr lang="en-US" sz="1200" dirty="0"/>
          </a:p>
        </p:txBody>
      </p:sp>
      <p:sp>
        <p:nvSpPr>
          <p:cNvPr id="24" name="Text 21"/>
          <p:cNvSpPr txBox="1"/>
          <p:nvPr/>
        </p:nvSpPr>
        <p:spPr>
          <a:xfrm>
            <a:off x="6720840" y="3127248"/>
            <a:ext cx="1828800" cy="457200"/>
          </a:xfrm>
          <a:prstGeom prst="rect">
            <a:avLst/>
          </a:prstGeom>
          <a:noFill/>
          <a:ln/>
        </p:spPr>
        <p:txBody>
          <a:bodyPr wrap="square" lIns="0" tIns="0" rIns="0" bIns="0" rtlCol="0" anchor="t"/>
          <a:lstStyle/>
          <a:p>
            <a:pPr algn="r" indent="0" marL="0">
              <a:buNone/>
            </a:pPr>
            <a:r>
              <a:rPr lang="en-US" sz="2600" b="1" dirty="0">
                <a:solidFill>
                  <a:srgbClr val="B83B2E"/>
                </a:solidFill>
                <a:latin typeface="Calibri" pitchFamily="34" charset="0"/>
                <a:ea typeface="Calibri" pitchFamily="34" charset="-122"/>
                <a:cs typeface="Calibri" pitchFamily="34" charset="-120"/>
              </a:rPr>
              <a:t>−999.9</a:t>
            </a:r>
            <a:endParaRPr lang="en-US" sz="2600" dirty="0"/>
          </a:p>
        </p:txBody>
      </p:sp>
      <p:sp>
        <p:nvSpPr>
          <p:cNvPr id="25" name="Text 22"/>
          <p:cNvSpPr txBox="1"/>
          <p:nvPr/>
        </p:nvSpPr>
        <p:spPr>
          <a:xfrm>
            <a:off x="4846320" y="3566160"/>
            <a:ext cx="3657600" cy="320040"/>
          </a:xfrm>
          <a:prstGeom prst="rect">
            <a:avLst/>
          </a:prstGeom>
          <a:noFill/>
          <a:ln/>
        </p:spPr>
        <p:txBody>
          <a:bodyPr wrap="square" lIns="0" tIns="0" rIns="0" bIns="0" rtlCol="0" anchor="t"/>
          <a:lstStyle/>
          <a:p>
            <a:pPr indent="0" marL="0">
              <a:buNone/>
            </a:pPr>
            <a:r>
              <a:rPr lang="en-US" sz="1050" i="1" dirty="0">
                <a:solidFill>
                  <a:srgbClr val="5E6964"/>
                </a:solidFill>
                <a:latin typeface="Calibri" pitchFamily="34" charset="0"/>
                <a:ea typeface="Calibri" pitchFamily="34" charset="-122"/>
                <a:cs typeface="Calibri" pitchFamily="34" charset="-120"/>
              </a:rPr>
              <a:t>per empty pixel if fill is ignored</a:t>
            </a:r>
            <a:endParaRPr lang="en-US" sz="1050" dirty="0"/>
          </a:p>
        </p:txBody>
      </p:sp>
      <p:sp>
        <p:nvSpPr>
          <p:cNvPr id="26" name="Shape 23"/>
          <p:cNvSpPr/>
          <p:nvPr/>
        </p:nvSpPr>
        <p:spPr>
          <a:xfrm>
            <a:off x="457200" y="4114800"/>
            <a:ext cx="8229600" cy="384048"/>
          </a:xfrm>
          <a:prstGeom prst="roundRect">
            <a:avLst>
              <a:gd name="adj" fmla="val 14286"/>
            </a:avLst>
          </a:prstGeom>
          <a:solidFill>
            <a:srgbClr val="D49A00">
              <a:alpha val="13000"/>
            </a:srgbClr>
          </a:solidFill>
          <a:ln w="12700">
            <a:solidFill>
              <a:srgbClr val="D49A00"/>
            </a:solidFill>
            <a:prstDash val="solid"/>
          </a:ln>
        </p:spPr>
      </p:sp>
      <p:pic>
        <p:nvPicPr>
          <p:cNvPr id="27" name="Image 0" descr="preencoded.png">    </p:cNvPr>
          <p:cNvPicPr>
            <a:picLocks noChangeAspect="1"/>
          </p:cNvPicPr>
          <p:nvPr/>
        </p:nvPicPr>
        <p:blipFill>
          <a:blip r:embed="rId1"/>
          <a:stretch>
            <a:fillRect/>
          </a:stretch>
        </p:blipFill>
        <p:spPr>
          <a:xfrm>
            <a:off x="594360" y="4242816"/>
            <a:ext cx="237744" cy="237744"/>
          </a:xfrm>
          <a:prstGeom prst="rect">
            <a:avLst/>
          </a:prstGeom>
        </p:spPr>
      </p:pic>
      <p:sp>
        <p:nvSpPr>
          <p:cNvPr id="28" name="Text 24"/>
          <p:cNvSpPr txBox="1"/>
          <p:nvPr/>
        </p:nvSpPr>
        <p:spPr>
          <a:xfrm>
            <a:off x="932688" y="4206240"/>
            <a:ext cx="7635240" cy="201168"/>
          </a:xfrm>
          <a:prstGeom prst="rect">
            <a:avLst/>
          </a:prstGeom>
          <a:noFill/>
          <a:ln/>
        </p:spPr>
        <p:txBody>
          <a:bodyPr wrap="square" lIns="0" tIns="0" rIns="0" bIns="0" rtlCol="0" anchor="ctr"/>
          <a:lstStyle/>
          <a:p>
            <a:pPr indent="0" marL="0">
              <a:buNone/>
            </a:pPr>
            <a:r>
              <a:rPr lang="en-US" sz="1100" b="1" dirty="0">
                <a:solidFill>
                  <a:srgbClr val="D49A00"/>
                </a:solidFill>
                <a:latin typeface="Calibri" pitchFamily="34" charset="0"/>
                <a:ea typeface="Calibri" pitchFamily="34" charset="-122"/>
                <a:cs typeface="Calibri" pitchFamily="34" charset="-120"/>
              </a:rPr>
              <a:t xml:space="preserve">Rule:  </a:t>
            </a:r>
            <a:pPr indent="0" marL="0">
              <a:buNone/>
            </a:pPr>
            <a:r>
              <a:rPr lang="en-US" sz="1100" dirty="0">
                <a:solidFill>
                  <a:srgbClr val="231F20"/>
                </a:solidFill>
                <a:latin typeface="Calibri" pitchFamily="34" charset="0"/>
                <a:ea typeface="Calibri" pitchFamily="34" charset="-122"/>
                <a:cs typeface="Calibri" pitchFamily="34" charset="-120"/>
              </a:rPr>
              <a:t>the fill value is not a zero, let alone a measurement.</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03 · EXPLORE · FILTERING</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Which pixels to trust? Quality flags and masks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0E7C86"/>
          </a:solidFill>
          <a:ln w="12700">
            <a:solidFill>
              <a:srgbClr val="0E7C86"/>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457200" y="1353312"/>
            <a:ext cx="402336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Composite quality codes (A3 / A4)</a:t>
            </a:r>
            <a:endParaRPr lang="en-US" sz="1300" dirty="0"/>
          </a:p>
        </p:txBody>
      </p:sp>
      <p:sp>
        <p:nvSpPr>
          <p:cNvPr id="12" name="Shape 9"/>
          <p:cNvSpPr/>
          <p:nvPr/>
        </p:nvSpPr>
        <p:spPr>
          <a:xfrm>
            <a:off x="457200" y="1691640"/>
            <a:ext cx="594360" cy="365760"/>
          </a:xfrm>
          <a:prstGeom prst="roundRect">
            <a:avLst>
              <a:gd name="adj" fmla="val 15000"/>
            </a:avLst>
          </a:prstGeom>
          <a:solidFill>
            <a:srgbClr val="00A86A"/>
          </a:solidFill>
          <a:ln w="12700">
            <a:solidFill>
              <a:srgbClr val="00A86A"/>
            </a:solidFill>
            <a:prstDash val="solid"/>
          </a:ln>
        </p:spPr>
      </p:sp>
      <p:sp>
        <p:nvSpPr>
          <p:cNvPr id="13" name="Text 10"/>
          <p:cNvSpPr txBox="1"/>
          <p:nvPr/>
        </p:nvSpPr>
        <p:spPr>
          <a:xfrm>
            <a:off x="457200" y="1691640"/>
            <a:ext cx="5943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14" name="Text 11"/>
          <p:cNvSpPr txBox="1"/>
          <p:nvPr/>
        </p:nvSpPr>
        <p:spPr>
          <a:xfrm>
            <a:off x="1170432" y="1691640"/>
            <a:ext cx="2286000" cy="365760"/>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Good quality · &gt; 3 nights</a:t>
            </a:r>
            <a:endParaRPr lang="en-US" sz="1150" dirty="0"/>
          </a:p>
        </p:txBody>
      </p:sp>
      <p:sp>
        <p:nvSpPr>
          <p:cNvPr id="15" name="Text 12"/>
          <p:cNvSpPr txBox="1"/>
          <p:nvPr/>
        </p:nvSpPr>
        <p:spPr>
          <a:xfrm>
            <a:off x="3474720" y="1691640"/>
            <a:ext cx="914400" cy="365760"/>
          </a:xfrm>
          <a:prstGeom prst="rect">
            <a:avLst/>
          </a:prstGeom>
          <a:noFill/>
          <a:ln/>
        </p:spPr>
        <p:txBody>
          <a:bodyPr wrap="square" lIns="0" tIns="0" rIns="0" bIns="0" rtlCol="0" anchor="ctr"/>
          <a:lstStyle/>
          <a:p>
            <a:pPr indent="0" marL="0">
              <a:buNone/>
            </a:pPr>
            <a:r>
              <a:rPr lang="en-US" sz="1050" b="1" dirty="0">
                <a:solidFill>
                  <a:srgbClr val="00A86A"/>
                </a:solidFill>
                <a:latin typeface="Calibri" pitchFamily="34" charset="0"/>
                <a:ea typeface="Calibri" pitchFamily="34" charset="-122"/>
                <a:cs typeface="Calibri" pitchFamily="34" charset="-120"/>
              </a:rPr>
              <a:t>kept</a:t>
            </a:r>
            <a:endParaRPr lang="en-US" sz="1050" dirty="0"/>
          </a:p>
        </p:txBody>
      </p:sp>
      <p:sp>
        <p:nvSpPr>
          <p:cNvPr id="16" name="Shape 13"/>
          <p:cNvSpPr/>
          <p:nvPr/>
        </p:nvSpPr>
        <p:spPr>
          <a:xfrm>
            <a:off x="457200" y="2148840"/>
            <a:ext cx="594360" cy="365760"/>
          </a:xfrm>
          <a:prstGeom prst="roundRect">
            <a:avLst>
              <a:gd name="adj" fmla="val 15000"/>
            </a:avLst>
          </a:prstGeom>
          <a:solidFill>
            <a:srgbClr val="F5C242"/>
          </a:solidFill>
          <a:ln w="12700">
            <a:solidFill>
              <a:srgbClr val="F5C242"/>
            </a:solidFill>
            <a:prstDash val="solid"/>
          </a:ln>
        </p:spPr>
      </p:sp>
      <p:sp>
        <p:nvSpPr>
          <p:cNvPr id="17" name="Text 14"/>
          <p:cNvSpPr txBox="1"/>
          <p:nvPr/>
        </p:nvSpPr>
        <p:spPr>
          <a:xfrm>
            <a:off x="457200" y="2148840"/>
            <a:ext cx="5943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1170432" y="2148840"/>
            <a:ext cx="2286000" cy="365760"/>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Poor quality · ≤ 3 nights</a:t>
            </a:r>
            <a:endParaRPr lang="en-US" sz="1150" dirty="0"/>
          </a:p>
        </p:txBody>
      </p:sp>
      <p:sp>
        <p:nvSpPr>
          <p:cNvPr id="19" name="Text 16"/>
          <p:cNvSpPr txBox="1"/>
          <p:nvPr/>
        </p:nvSpPr>
        <p:spPr>
          <a:xfrm>
            <a:off x="3474720" y="2148840"/>
            <a:ext cx="914400" cy="365760"/>
          </a:xfrm>
          <a:prstGeom prst="rect">
            <a:avLst/>
          </a:prstGeom>
          <a:noFill/>
          <a:ln/>
        </p:spPr>
        <p:txBody>
          <a:bodyPr wrap="square" lIns="0" tIns="0" rIns="0" bIns="0" rtlCol="0" anchor="ctr"/>
          <a:lstStyle/>
          <a:p>
            <a:pPr indent="0" marL="0">
              <a:buNone/>
            </a:pPr>
            <a:r>
              <a:rPr lang="en-US" sz="1050" b="1" dirty="0">
                <a:solidFill>
                  <a:srgbClr val="5E6964"/>
                </a:solidFill>
                <a:latin typeface="Calibri" pitchFamily="34" charset="0"/>
                <a:ea typeface="Calibri" pitchFamily="34" charset="-122"/>
                <a:cs typeface="Calibri" pitchFamily="34" charset="-120"/>
              </a:rPr>
              <a:t>dropped</a:t>
            </a:r>
            <a:endParaRPr lang="en-US" sz="1050" dirty="0"/>
          </a:p>
        </p:txBody>
      </p:sp>
      <p:sp>
        <p:nvSpPr>
          <p:cNvPr id="20" name="Shape 17"/>
          <p:cNvSpPr/>
          <p:nvPr/>
        </p:nvSpPr>
        <p:spPr>
          <a:xfrm>
            <a:off x="457200" y="2606040"/>
            <a:ext cx="594360" cy="365760"/>
          </a:xfrm>
          <a:prstGeom prst="roundRect">
            <a:avLst>
              <a:gd name="adj" fmla="val 15000"/>
            </a:avLst>
          </a:prstGeom>
          <a:solidFill>
            <a:srgbClr val="C4621D"/>
          </a:solidFill>
          <a:ln w="12700">
            <a:solidFill>
              <a:srgbClr val="C4621D"/>
            </a:solidFill>
            <a:prstDash val="solid"/>
          </a:ln>
        </p:spPr>
      </p:sp>
      <p:sp>
        <p:nvSpPr>
          <p:cNvPr id="21" name="Text 18"/>
          <p:cNvSpPr txBox="1"/>
          <p:nvPr/>
        </p:nvSpPr>
        <p:spPr>
          <a:xfrm>
            <a:off x="457200" y="2606040"/>
            <a:ext cx="5943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2" name="Text 19"/>
          <p:cNvSpPr txBox="1"/>
          <p:nvPr/>
        </p:nvSpPr>
        <p:spPr>
          <a:xfrm>
            <a:off x="1170432" y="2606040"/>
            <a:ext cx="2286000" cy="365760"/>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Gap-filled from history</a:t>
            </a:r>
            <a:endParaRPr lang="en-US" sz="1150" dirty="0"/>
          </a:p>
        </p:txBody>
      </p:sp>
      <p:sp>
        <p:nvSpPr>
          <p:cNvPr id="23" name="Text 20"/>
          <p:cNvSpPr txBox="1"/>
          <p:nvPr/>
        </p:nvSpPr>
        <p:spPr>
          <a:xfrm>
            <a:off x="3474720" y="2606040"/>
            <a:ext cx="914400" cy="365760"/>
          </a:xfrm>
          <a:prstGeom prst="rect">
            <a:avLst/>
          </a:prstGeom>
          <a:noFill/>
          <a:ln/>
        </p:spPr>
        <p:txBody>
          <a:bodyPr wrap="square" lIns="0" tIns="0" rIns="0" bIns="0" rtlCol="0" anchor="ctr"/>
          <a:lstStyle/>
          <a:p>
            <a:pPr indent="0" marL="0">
              <a:buNone/>
            </a:pPr>
            <a:r>
              <a:rPr lang="en-US" sz="1050" b="1" dirty="0">
                <a:solidFill>
                  <a:srgbClr val="5E6964"/>
                </a:solidFill>
                <a:latin typeface="Calibri" pitchFamily="34" charset="0"/>
                <a:ea typeface="Calibri" pitchFamily="34" charset="-122"/>
                <a:cs typeface="Calibri" pitchFamily="34" charset="-120"/>
              </a:rPr>
              <a:t>dropped</a:t>
            </a:r>
            <a:endParaRPr lang="en-US" sz="1050" dirty="0"/>
          </a:p>
        </p:txBody>
      </p:sp>
      <p:sp>
        <p:nvSpPr>
          <p:cNvPr id="24" name="Shape 21"/>
          <p:cNvSpPr/>
          <p:nvPr/>
        </p:nvSpPr>
        <p:spPr>
          <a:xfrm>
            <a:off x="457200" y="3063240"/>
            <a:ext cx="594360" cy="365760"/>
          </a:xfrm>
          <a:prstGeom prst="roundRect">
            <a:avLst>
              <a:gd name="adj" fmla="val 15000"/>
            </a:avLst>
          </a:prstGeom>
          <a:solidFill>
            <a:srgbClr val="A9B5B0"/>
          </a:solidFill>
          <a:ln w="12700">
            <a:solidFill>
              <a:srgbClr val="A9B5B0"/>
            </a:solidFill>
            <a:prstDash val="solid"/>
          </a:ln>
        </p:spPr>
      </p:sp>
      <p:sp>
        <p:nvSpPr>
          <p:cNvPr id="25" name="Text 22"/>
          <p:cNvSpPr txBox="1"/>
          <p:nvPr/>
        </p:nvSpPr>
        <p:spPr>
          <a:xfrm>
            <a:off x="457200" y="3063240"/>
            <a:ext cx="5943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255</a:t>
            </a:r>
            <a:endParaRPr lang="en-US" sz="1300" dirty="0"/>
          </a:p>
        </p:txBody>
      </p:sp>
      <p:sp>
        <p:nvSpPr>
          <p:cNvPr id="26" name="Text 23"/>
          <p:cNvSpPr txBox="1"/>
          <p:nvPr/>
        </p:nvSpPr>
        <p:spPr>
          <a:xfrm>
            <a:off x="1170432" y="3063240"/>
            <a:ext cx="2286000" cy="365760"/>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Fill value</a:t>
            </a:r>
            <a:endParaRPr lang="en-US" sz="1150" dirty="0"/>
          </a:p>
        </p:txBody>
      </p:sp>
      <p:sp>
        <p:nvSpPr>
          <p:cNvPr id="27" name="Text 24"/>
          <p:cNvSpPr txBox="1"/>
          <p:nvPr/>
        </p:nvSpPr>
        <p:spPr>
          <a:xfrm>
            <a:off x="3474720" y="3063240"/>
            <a:ext cx="914400" cy="365760"/>
          </a:xfrm>
          <a:prstGeom prst="rect">
            <a:avLst/>
          </a:prstGeom>
          <a:noFill/>
          <a:ln/>
        </p:spPr>
        <p:txBody>
          <a:bodyPr wrap="square" lIns="0" tIns="0" rIns="0" bIns="0" rtlCol="0" anchor="ctr"/>
          <a:lstStyle/>
          <a:p>
            <a:pPr indent="0" marL="0">
              <a:buNone/>
            </a:pPr>
            <a:r>
              <a:rPr lang="en-US" sz="1050" b="1" dirty="0">
                <a:solidFill>
                  <a:srgbClr val="5E6964"/>
                </a:solidFill>
                <a:latin typeface="Calibri" pitchFamily="34" charset="0"/>
                <a:ea typeface="Calibri" pitchFamily="34" charset="-122"/>
                <a:cs typeface="Calibri" pitchFamily="34" charset="-120"/>
              </a:rPr>
              <a:t>dropped</a:t>
            </a:r>
            <a:endParaRPr lang="en-US" sz="1050" dirty="0"/>
          </a:p>
        </p:txBody>
      </p:sp>
      <p:sp>
        <p:nvSpPr>
          <p:cNvPr id="28" name="Text 25"/>
          <p:cNvSpPr txBox="1"/>
          <p:nvPr/>
        </p:nvSpPr>
        <p:spPr>
          <a:xfrm>
            <a:off x="457200" y="3566160"/>
            <a:ext cx="4023360" cy="274320"/>
          </a:xfrm>
          <a:prstGeom prst="rect">
            <a:avLst/>
          </a:prstGeom>
          <a:noFill/>
          <a:ln/>
        </p:spPr>
        <p:txBody>
          <a:bodyPr wrap="square" lIns="0" tIns="0" rIns="0" bIns="0" rtlCol="0" anchor="t"/>
          <a:lstStyle/>
          <a:p>
            <a:pPr indent="0" marL="0">
              <a:buNone/>
            </a:pPr>
            <a:r>
              <a:rPr lang="en-US" sz="1050" i="1" dirty="0">
                <a:solidFill>
                  <a:srgbClr val="5E6964"/>
                </a:solidFill>
                <a:latin typeface="Calibri" pitchFamily="34" charset="0"/>
                <a:ea typeface="Calibri" pitchFamily="34" charset="-122"/>
                <a:cs typeface="Calibri" pitchFamily="34" charset="-120"/>
              </a:rPr>
              <a:t>QA_MAX = "auto" reads this legend from the file</a:t>
            </a:r>
            <a:endParaRPr lang="en-US" sz="1050" dirty="0"/>
          </a:p>
        </p:txBody>
      </p:sp>
      <p:sp>
        <p:nvSpPr>
          <p:cNvPr id="29" name="Shape 26"/>
          <p:cNvSpPr/>
          <p:nvPr/>
        </p:nvSpPr>
        <p:spPr>
          <a:xfrm>
            <a:off x="4754880" y="1444752"/>
            <a:ext cx="502920" cy="502920"/>
          </a:xfrm>
          <a:prstGeom prst="ellipse">
            <a:avLst/>
          </a:prstGeom>
          <a:solidFill>
            <a:srgbClr val="0E7C86">
              <a:alpha val="22000"/>
            </a:srgbClr>
          </a:solidFill>
          <a:ln w="12700">
            <a:solidFill>
              <a:srgbClr val="0E7C86">
                <a:alpha val="0"/>
              </a:srgbClr>
            </a:solidFill>
            <a:prstDash val="solid"/>
          </a:ln>
        </p:spPr>
      </p:sp>
      <p:pic>
        <p:nvPicPr>
          <p:cNvPr id="30" name="Image 0" descr="preencoded.png">    </p:cNvPr>
          <p:cNvPicPr>
            <a:picLocks noChangeAspect="1"/>
          </p:cNvPicPr>
          <p:nvPr/>
        </p:nvPicPr>
        <p:blipFill>
          <a:blip r:embed="rId1"/>
          <a:stretch>
            <a:fillRect/>
          </a:stretch>
        </p:blipFill>
        <p:spPr>
          <a:xfrm>
            <a:off x="4875581" y="1565453"/>
            <a:ext cx="261518" cy="261518"/>
          </a:xfrm>
          <a:prstGeom prst="rect">
            <a:avLst/>
          </a:prstGeom>
        </p:spPr>
      </p:pic>
      <p:sp>
        <p:nvSpPr>
          <p:cNvPr id="31" name="Text 27"/>
          <p:cNvSpPr txBox="1"/>
          <p:nvPr/>
        </p:nvSpPr>
        <p:spPr>
          <a:xfrm>
            <a:off x="5394960" y="1371600"/>
            <a:ext cx="32918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Land / water mask</a:t>
            </a:r>
            <a:endParaRPr lang="en-US" sz="1300" dirty="0"/>
          </a:p>
        </p:txBody>
      </p:sp>
      <p:sp>
        <p:nvSpPr>
          <p:cNvPr id="32" name="Text 28"/>
          <p:cNvSpPr txBox="1"/>
          <p:nvPr/>
        </p:nvSpPr>
        <p:spPr>
          <a:xfrm>
            <a:off x="5394960" y="1664208"/>
            <a:ext cx="3291840" cy="65836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Oceans and seas removed: moonlight glint, ships and fisheries are not dark. Without it, coastal and landlocked countries are not comparable.</a:t>
            </a:r>
            <a:endParaRPr lang="en-US" sz="1050" dirty="0"/>
          </a:p>
        </p:txBody>
      </p:sp>
      <p:sp>
        <p:nvSpPr>
          <p:cNvPr id="33" name="Shape 29"/>
          <p:cNvSpPr/>
          <p:nvPr/>
        </p:nvSpPr>
        <p:spPr>
          <a:xfrm>
            <a:off x="4754880" y="2468880"/>
            <a:ext cx="502920" cy="502920"/>
          </a:xfrm>
          <a:prstGeom prst="ellipse">
            <a:avLst/>
          </a:prstGeom>
          <a:solidFill>
            <a:srgbClr val="00704A">
              <a:alpha val="22000"/>
            </a:srgbClr>
          </a:solidFill>
          <a:ln w="12700">
            <a:solidFill>
              <a:srgbClr val="00704A">
                <a:alpha val="0"/>
              </a:srgbClr>
            </a:solidFill>
            <a:prstDash val="solid"/>
          </a:ln>
        </p:spPr>
      </p:sp>
      <p:pic>
        <p:nvPicPr>
          <p:cNvPr id="34" name="Image 1" descr="preencoded.png">    </p:cNvPr>
          <p:cNvPicPr>
            <a:picLocks noChangeAspect="1"/>
          </p:cNvPicPr>
          <p:nvPr/>
        </p:nvPicPr>
        <p:blipFill>
          <a:blip r:embed="rId2"/>
          <a:stretch>
            <a:fillRect/>
          </a:stretch>
        </p:blipFill>
        <p:spPr>
          <a:xfrm>
            <a:off x="4875581" y="2589581"/>
            <a:ext cx="261518" cy="261518"/>
          </a:xfrm>
          <a:prstGeom prst="rect">
            <a:avLst/>
          </a:prstGeom>
        </p:spPr>
      </p:pic>
      <p:sp>
        <p:nvSpPr>
          <p:cNvPr id="35" name="Text 30"/>
          <p:cNvSpPr txBox="1"/>
          <p:nvPr/>
        </p:nvSpPr>
        <p:spPr>
          <a:xfrm>
            <a:off x="5394960" y="2395728"/>
            <a:ext cx="32918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Cloud mask (daily)</a:t>
            </a:r>
            <a:endParaRPr lang="en-US" sz="1300" dirty="0"/>
          </a:p>
        </p:txBody>
      </p:sp>
      <p:sp>
        <p:nvSpPr>
          <p:cNvPr id="36" name="Text 31"/>
          <p:cNvSpPr txBox="1"/>
          <p:nvPr/>
        </p:nvSpPr>
        <p:spPr>
          <a:xfrm>
            <a:off x="5394960" y="2688336"/>
            <a:ext cx="3291840" cy="65836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Bits 6–7: confident clear → confident cloudy. Value = (integer &gt;&gt; 6) &amp; 3.</a:t>
            </a:r>
            <a:endParaRPr lang="en-US" sz="1050" dirty="0"/>
          </a:p>
        </p:txBody>
      </p:sp>
      <p:sp>
        <p:nvSpPr>
          <p:cNvPr id="37" name="Shape 32"/>
          <p:cNvSpPr/>
          <p:nvPr/>
        </p:nvSpPr>
        <p:spPr>
          <a:xfrm>
            <a:off x="4754880" y="3493008"/>
            <a:ext cx="502920" cy="502920"/>
          </a:xfrm>
          <a:prstGeom prst="ellipse">
            <a:avLst/>
          </a:prstGeom>
          <a:solidFill>
            <a:srgbClr val="00A86A">
              <a:alpha val="22000"/>
            </a:srgbClr>
          </a:solidFill>
          <a:ln w="12700">
            <a:solidFill>
              <a:srgbClr val="00A86A">
                <a:alpha val="0"/>
              </a:srgbClr>
            </a:solidFill>
            <a:prstDash val="solid"/>
          </a:ln>
        </p:spPr>
      </p:sp>
      <p:pic>
        <p:nvPicPr>
          <p:cNvPr id="38" name="Image 2" descr="preencoded.png">    </p:cNvPr>
          <p:cNvPicPr>
            <a:picLocks noChangeAspect="1"/>
          </p:cNvPicPr>
          <p:nvPr/>
        </p:nvPicPr>
        <p:blipFill>
          <a:blip r:embed="rId3"/>
          <a:stretch>
            <a:fillRect/>
          </a:stretch>
        </p:blipFill>
        <p:spPr>
          <a:xfrm>
            <a:off x="4875581" y="3613709"/>
            <a:ext cx="261518" cy="261518"/>
          </a:xfrm>
          <a:prstGeom prst="rect">
            <a:avLst/>
          </a:prstGeom>
        </p:spPr>
      </p:pic>
      <p:sp>
        <p:nvSpPr>
          <p:cNvPr id="39" name="Text 33"/>
          <p:cNvSpPr txBox="1"/>
          <p:nvPr/>
        </p:nvSpPr>
        <p:spPr>
          <a:xfrm>
            <a:off x="5394960" y="3419856"/>
            <a:ext cx="32918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Number of nights</a:t>
            </a:r>
            <a:endParaRPr lang="en-US" sz="1300" dirty="0"/>
          </a:p>
        </p:txBody>
      </p:sp>
      <p:sp>
        <p:nvSpPr>
          <p:cNvPr id="40" name="Text 34"/>
          <p:cNvSpPr txBox="1"/>
          <p:nvPr/>
        </p:nvSpPr>
        <p:spPr>
          <a:xfrm>
            <a:off x="5394960" y="3712464"/>
            <a:ext cx="3291840" cy="65836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…_Num tells how many nights support each pixel: map it next to the radiance.</a:t>
            </a:r>
            <a:endParaRPr lang="en-US" sz="1050" dirty="0"/>
          </a:p>
        </p:txBody>
      </p:sp>
      <p:sp>
        <p:nvSpPr>
          <p:cNvPr id="41" name="Text 35"/>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NASA Black Marble User Guide, Collection 2.0 (2025)</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03 · EXPLORE · RESULTS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The sum of lights, corrected step by step</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0E7C86"/>
          </a:solidFill>
          <a:ln w="12700">
            <a:solidFill>
              <a:srgbClr val="0E7C86"/>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graphicFrame>
        <p:nvGraphicFramePr>
          <p:cNvPr id="11" name="Chart 0" descr=""/>
          <p:cNvGraphicFramePr/>
          <p:nvPr/>
        </p:nvGraphicFramePr>
        <p:xfrm>
          <a:off x="365760" y="1280160"/>
          <a:ext cx="5394960" cy="3246120"/>
        </p:xfrm>
        <a:graphic xmlns:a="http://schemas.openxmlformats.org/drawingml/2006/main">
          <a:graphicData uri="http://schemas.openxmlformats.org/drawingml/2006/chart">
            <c:chart xmlns:c="http://schemas.openxmlformats.org/drawingml/2006/chart" r:id="rId1"/>
          </a:graphicData>
        </a:graphic>
      </p:graphicFrame>
      <p:sp>
        <p:nvSpPr>
          <p:cNvPr id="12" name="Shape 8"/>
          <p:cNvSpPr/>
          <p:nvPr/>
        </p:nvSpPr>
        <p:spPr>
          <a:xfrm>
            <a:off x="6035040" y="1371600"/>
            <a:ext cx="2651760" cy="1371600"/>
          </a:xfrm>
          <a:prstGeom prst="roundRect">
            <a:avLst>
              <a:gd name="adj" fmla="val 5333"/>
            </a:avLst>
          </a:prstGeom>
          <a:solidFill>
            <a:srgbClr val="E8F5EF"/>
          </a:solidFill>
          <a:ln w="15875">
            <a:solidFill>
              <a:srgbClr val="B83B2E"/>
            </a:solidFill>
            <a:prstDash val="solid"/>
          </a:ln>
        </p:spPr>
      </p:sp>
      <p:sp>
        <p:nvSpPr>
          <p:cNvPr id="13" name="Text 9"/>
          <p:cNvSpPr txBox="1"/>
          <p:nvPr/>
        </p:nvSpPr>
        <p:spPr>
          <a:xfrm>
            <a:off x="6217920" y="1463040"/>
            <a:ext cx="2286000" cy="274320"/>
          </a:xfrm>
          <a:prstGeom prst="rect">
            <a:avLst/>
          </a:prstGeom>
          <a:noFill/>
          <a:ln/>
        </p:spPr>
        <p:txBody>
          <a:bodyPr wrap="square" lIns="0" tIns="0" rIns="0" bIns="0" rtlCol="0" anchor="t"/>
          <a:lstStyle/>
          <a:p>
            <a:pPr indent="0" marL="0">
              <a:buNone/>
            </a:pPr>
            <a:r>
              <a:rPr lang="en-US" sz="1200" b="1" dirty="0">
                <a:solidFill>
                  <a:srgbClr val="B83B2E"/>
                </a:solidFill>
                <a:latin typeface="Calibri" pitchFamily="34" charset="0"/>
                <a:ea typeface="Calibri" pitchFamily="34" charset="-122"/>
                <a:cs typeface="Calibri" pitchFamily="34" charset="-120"/>
              </a:rPr>
              <a:t>No precautions</a:t>
            </a:r>
            <a:endParaRPr lang="en-US" sz="1200" dirty="0"/>
          </a:p>
        </p:txBody>
      </p:sp>
      <p:sp>
        <p:nvSpPr>
          <p:cNvPr id="14" name="Text 10"/>
          <p:cNvSpPr txBox="1"/>
          <p:nvPr/>
        </p:nvSpPr>
        <p:spPr>
          <a:xfrm>
            <a:off x="6217920" y="1737360"/>
            <a:ext cx="2286000" cy="548640"/>
          </a:xfrm>
          <a:prstGeom prst="rect">
            <a:avLst/>
          </a:prstGeom>
          <a:noFill/>
          <a:ln/>
        </p:spPr>
        <p:txBody>
          <a:bodyPr wrap="square" lIns="0" tIns="0" rIns="0" bIns="0" rtlCol="0" anchor="t"/>
          <a:lstStyle/>
          <a:p>
            <a:pPr indent="0" marL="0">
              <a:buNone/>
            </a:pPr>
            <a:r>
              <a:rPr lang="en-US" sz="3400" b="1" dirty="0">
                <a:solidFill>
                  <a:srgbClr val="B83B2E"/>
                </a:solidFill>
                <a:latin typeface="Calibri" pitchFamily="34" charset="0"/>
                <a:ea typeface="Calibri" pitchFamily="34" charset="-122"/>
                <a:cs typeface="Calibri" pitchFamily="34" charset="-120"/>
              </a:rPr>
              <a:t>−70.7 M</a:t>
            </a:r>
            <a:endParaRPr lang="en-US" sz="3400" dirty="0"/>
          </a:p>
        </p:txBody>
      </p:sp>
      <p:sp>
        <p:nvSpPr>
          <p:cNvPr id="15" name="Text 11"/>
          <p:cNvSpPr txBox="1"/>
          <p:nvPr/>
        </p:nvSpPr>
        <p:spPr>
          <a:xfrm>
            <a:off x="6217920" y="2286000"/>
            <a:ext cx="2286000" cy="36576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fill −999.9 summed as if it were light</a:t>
            </a:r>
            <a:endParaRPr lang="en-US" sz="1050" dirty="0"/>
          </a:p>
        </p:txBody>
      </p:sp>
      <p:sp>
        <p:nvSpPr>
          <p:cNvPr id="16" name="Shape 12"/>
          <p:cNvSpPr/>
          <p:nvPr/>
        </p:nvSpPr>
        <p:spPr>
          <a:xfrm>
            <a:off x="6035040" y="2880360"/>
            <a:ext cx="2651760" cy="1554480"/>
          </a:xfrm>
          <a:prstGeom prst="roundRect">
            <a:avLst>
              <a:gd name="adj" fmla="val 4706"/>
            </a:avLst>
          </a:prstGeom>
          <a:solidFill>
            <a:srgbClr val="F4F7F5"/>
          </a:solidFill>
          <a:ln w="9525">
            <a:solidFill>
              <a:srgbClr val="D5DED9"/>
            </a:solidFill>
            <a:prstDash val="solid"/>
          </a:ln>
        </p:spPr>
      </p:sp>
      <p:sp>
        <p:nvSpPr>
          <p:cNvPr id="17" name="Text 13"/>
          <p:cNvSpPr txBox="1"/>
          <p:nvPr/>
        </p:nvSpPr>
        <p:spPr>
          <a:xfrm>
            <a:off x="6217920" y="2971800"/>
            <a:ext cx="2286000" cy="274320"/>
          </a:xfrm>
          <a:prstGeom prst="rect">
            <a:avLst/>
          </a:prstGeom>
          <a:noFill/>
          <a:ln/>
        </p:spPr>
        <p:txBody>
          <a:bodyPr wrap="square" lIns="0" tIns="0" rIns="0" bIns="0" rtlCol="0" anchor="t"/>
          <a:lstStyle/>
          <a:p>
            <a:pPr indent="0" marL="0">
              <a:buNone/>
            </a:pPr>
            <a:r>
              <a:rPr lang="en-US" sz="1200" b="1" dirty="0">
                <a:solidFill>
                  <a:srgbClr val="00553A"/>
                </a:solidFill>
                <a:latin typeface="Calibri" pitchFamily="34" charset="0"/>
                <a:ea typeface="Calibri" pitchFamily="34" charset="-122"/>
                <a:cs typeface="Calibri" pitchFamily="34" charset="-120"/>
              </a:rPr>
              <a:t>Final answer</a:t>
            </a:r>
            <a:endParaRPr lang="en-US" sz="1200" dirty="0"/>
          </a:p>
        </p:txBody>
      </p:sp>
      <p:sp>
        <p:nvSpPr>
          <p:cNvPr id="18" name="Text 14"/>
          <p:cNvSpPr txBox="1"/>
          <p:nvPr/>
        </p:nvSpPr>
        <p:spPr>
          <a:xfrm>
            <a:off x="6217920" y="3246120"/>
            <a:ext cx="2286000" cy="548640"/>
          </a:xfrm>
          <a:prstGeom prst="rect">
            <a:avLst/>
          </a:prstGeom>
          <a:noFill/>
          <a:ln/>
        </p:spPr>
        <p:txBody>
          <a:bodyPr wrap="square" lIns="0" tIns="0" rIns="0" bIns="0" rtlCol="0" anchor="t"/>
          <a:lstStyle/>
          <a:p>
            <a:pPr indent="0" marL="0">
              <a:buNone/>
            </a:pPr>
            <a:r>
              <a:rPr lang="en-US" sz="3400" b="1" dirty="0">
                <a:solidFill>
                  <a:srgbClr val="00553A"/>
                </a:solidFill>
                <a:latin typeface="Calibri" pitchFamily="34" charset="0"/>
                <a:ea typeface="Calibri" pitchFamily="34" charset="-122"/>
                <a:cs typeface="Calibri" pitchFamily="34" charset="-120"/>
              </a:rPr>
              <a:t>22,737</a:t>
            </a:r>
            <a:endParaRPr lang="en-US" sz="3400" dirty="0"/>
          </a:p>
        </p:txBody>
      </p:sp>
      <p:sp>
        <p:nvSpPr>
          <p:cNvPr id="19" name="Text 15"/>
          <p:cNvSpPr txBox="1"/>
          <p:nvPr/>
        </p:nvSpPr>
        <p:spPr>
          <a:xfrm>
            <a:off x="6217920" y="3794760"/>
            <a:ext cx="2286000" cy="5486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national territory, filtered, water masked</a:t>
            </a:r>
            <a:endParaRPr lang="en-US" sz="1050" dirty="0"/>
          </a:p>
        </p:txBody>
      </p:sp>
      <p:sp>
        <p:nvSpPr>
          <p:cNvPr id="20" name="Text 16"/>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Notebook 2 demo dataset (simulated values, Côte d'Ivoire, Collection 2 structure)</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03 · EXPLORE · FROM TILE TO COUNTRY</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Mosaic, clipping and a skewed distribution</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0E7C86"/>
          </a:solidFill>
          <a:ln w="12700">
            <a:solidFill>
              <a:srgbClr val="0E7C86"/>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4023360" cy="1115568"/>
          </a:xfrm>
          <a:prstGeom prst="roundRect">
            <a:avLst>
              <a:gd name="adj" fmla="val 6557"/>
            </a:avLst>
          </a:prstGeom>
          <a:solidFill>
            <a:srgbClr val="F4F7F5"/>
          </a:solidFill>
          <a:ln w="9525">
            <a:solidFill>
              <a:srgbClr val="D5DED9"/>
            </a:solidFill>
            <a:prstDash val="solid"/>
          </a:ln>
        </p:spPr>
      </p:sp>
      <p:sp>
        <p:nvSpPr>
          <p:cNvPr id="12" name="Shape 9"/>
          <p:cNvSpPr/>
          <p:nvPr/>
        </p:nvSpPr>
        <p:spPr>
          <a:xfrm>
            <a:off x="621792" y="1536192"/>
            <a:ext cx="502920" cy="502920"/>
          </a:xfrm>
          <a:prstGeom prst="ellipse">
            <a:avLst/>
          </a:prstGeom>
          <a:solidFill>
            <a:srgbClr val="0E7C86">
              <a:alpha val="22000"/>
            </a:srgbClr>
          </a:solidFill>
          <a:ln w="12700">
            <a:solidFill>
              <a:srgbClr val="0E7C86">
                <a:alpha val="0"/>
              </a:srgbClr>
            </a:solidFill>
            <a:prstDash val="solid"/>
          </a:ln>
        </p:spPr>
      </p:sp>
      <p:pic>
        <p:nvPicPr>
          <p:cNvPr id="13" name="Image 0" descr="preencoded.png">    </p:cNvPr>
          <p:cNvPicPr>
            <a:picLocks noChangeAspect="1"/>
          </p:cNvPicPr>
          <p:nvPr/>
        </p:nvPicPr>
        <p:blipFill>
          <a:blip r:embed="rId1"/>
          <a:stretch>
            <a:fillRect/>
          </a:stretch>
        </p:blipFill>
        <p:spPr>
          <a:xfrm>
            <a:off x="742493" y="1656893"/>
            <a:ext cx="261518" cy="261518"/>
          </a:xfrm>
          <a:prstGeom prst="rect">
            <a:avLst/>
          </a:prstGeom>
        </p:spPr>
      </p:pic>
      <p:sp>
        <p:nvSpPr>
          <p:cNvPr id="14" name="Text 10"/>
          <p:cNvSpPr txBox="1"/>
          <p:nvPr/>
        </p:nvSpPr>
        <p:spPr>
          <a:xfrm>
            <a:off x="1280160" y="1508760"/>
            <a:ext cx="30632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Mosaic</a:t>
            </a:r>
            <a:endParaRPr lang="en-US" sz="1300" dirty="0"/>
          </a:p>
        </p:txBody>
      </p:sp>
      <p:sp>
        <p:nvSpPr>
          <p:cNvPr id="15" name="Text 11"/>
          <p:cNvSpPr txBox="1"/>
          <p:nvPr/>
        </p:nvSpPr>
        <p:spPr>
          <a:xfrm>
            <a:off x="1280160" y="1801368"/>
            <a:ext cx="3063240" cy="6400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Same grid, same resolution: tiles joined by index, no distortion</a:t>
            </a:r>
            <a:endParaRPr lang="en-US" sz="1050" dirty="0"/>
          </a:p>
        </p:txBody>
      </p:sp>
      <p:sp>
        <p:nvSpPr>
          <p:cNvPr id="16" name="Shape 12"/>
          <p:cNvSpPr/>
          <p:nvPr/>
        </p:nvSpPr>
        <p:spPr>
          <a:xfrm>
            <a:off x="4663440" y="1371600"/>
            <a:ext cx="4023360" cy="1115568"/>
          </a:xfrm>
          <a:prstGeom prst="roundRect">
            <a:avLst>
              <a:gd name="adj" fmla="val 6557"/>
            </a:avLst>
          </a:prstGeom>
          <a:solidFill>
            <a:srgbClr val="F4F7F5"/>
          </a:solidFill>
          <a:ln w="9525">
            <a:solidFill>
              <a:srgbClr val="D5DED9"/>
            </a:solidFill>
            <a:prstDash val="solid"/>
          </a:ln>
        </p:spPr>
      </p:sp>
      <p:sp>
        <p:nvSpPr>
          <p:cNvPr id="17" name="Shape 13"/>
          <p:cNvSpPr/>
          <p:nvPr/>
        </p:nvSpPr>
        <p:spPr>
          <a:xfrm>
            <a:off x="4828032" y="1536192"/>
            <a:ext cx="502920" cy="502920"/>
          </a:xfrm>
          <a:prstGeom prst="ellipse">
            <a:avLst/>
          </a:prstGeom>
          <a:solidFill>
            <a:srgbClr val="0E7C86">
              <a:alpha val="22000"/>
            </a:srgbClr>
          </a:solidFill>
          <a:ln w="12700">
            <a:solidFill>
              <a:srgbClr val="0E7C86">
                <a:alpha val="0"/>
              </a:srgbClr>
            </a:solidFill>
            <a:prstDash val="solid"/>
          </a:ln>
        </p:spPr>
      </p:sp>
      <p:pic>
        <p:nvPicPr>
          <p:cNvPr id="18" name="Image 1" descr="preencoded.png">    </p:cNvPr>
          <p:cNvPicPr>
            <a:picLocks noChangeAspect="1"/>
          </p:cNvPicPr>
          <p:nvPr/>
        </p:nvPicPr>
        <p:blipFill>
          <a:blip r:embed="rId2"/>
          <a:stretch>
            <a:fillRect/>
          </a:stretch>
        </p:blipFill>
        <p:spPr>
          <a:xfrm>
            <a:off x="4948733" y="1656893"/>
            <a:ext cx="261518" cy="261518"/>
          </a:xfrm>
          <a:prstGeom prst="rect">
            <a:avLst/>
          </a:prstGeom>
        </p:spPr>
      </p:pic>
      <p:sp>
        <p:nvSpPr>
          <p:cNvPr id="19" name="Text 14"/>
          <p:cNvSpPr txBox="1"/>
          <p:nvPr/>
        </p:nvSpPr>
        <p:spPr>
          <a:xfrm>
            <a:off x="5486400" y="1508760"/>
            <a:ext cx="30632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Clipping</a:t>
            </a:r>
            <a:endParaRPr lang="en-US" sz="1300" dirty="0"/>
          </a:p>
        </p:txBody>
      </p:sp>
      <p:sp>
        <p:nvSpPr>
          <p:cNvPr id="20" name="Text 15"/>
          <p:cNvSpPr txBox="1"/>
          <p:nvPr/>
        </p:nvSpPr>
        <p:spPr>
          <a:xfrm>
            <a:off x="5486400" y="1801368"/>
            <a:ext cx="3063240" cy="6400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Point-in-polygon on the national border (official boundaries can replace the built-in ones)</a:t>
            </a:r>
            <a:endParaRPr lang="en-US" sz="1050" dirty="0"/>
          </a:p>
        </p:txBody>
      </p:sp>
      <p:sp>
        <p:nvSpPr>
          <p:cNvPr id="21" name="Shape 16"/>
          <p:cNvSpPr/>
          <p:nvPr/>
        </p:nvSpPr>
        <p:spPr>
          <a:xfrm>
            <a:off x="457200" y="2651760"/>
            <a:ext cx="4023360" cy="1115568"/>
          </a:xfrm>
          <a:prstGeom prst="roundRect">
            <a:avLst>
              <a:gd name="adj" fmla="val 6557"/>
            </a:avLst>
          </a:prstGeom>
          <a:solidFill>
            <a:srgbClr val="F4F7F5"/>
          </a:solidFill>
          <a:ln w="9525">
            <a:solidFill>
              <a:srgbClr val="D5DED9"/>
            </a:solidFill>
            <a:prstDash val="solid"/>
          </a:ln>
        </p:spPr>
      </p:sp>
      <p:sp>
        <p:nvSpPr>
          <p:cNvPr id="22" name="Shape 17"/>
          <p:cNvSpPr/>
          <p:nvPr/>
        </p:nvSpPr>
        <p:spPr>
          <a:xfrm>
            <a:off x="621792" y="2816352"/>
            <a:ext cx="502920" cy="502920"/>
          </a:xfrm>
          <a:prstGeom prst="ellipse">
            <a:avLst/>
          </a:prstGeom>
          <a:solidFill>
            <a:srgbClr val="0E7C86">
              <a:alpha val="22000"/>
            </a:srgbClr>
          </a:solidFill>
          <a:ln w="12700">
            <a:solidFill>
              <a:srgbClr val="0E7C86">
                <a:alpha val="0"/>
              </a:srgbClr>
            </a:solidFill>
            <a:prstDash val="solid"/>
          </a:ln>
        </p:spPr>
      </p:sp>
      <p:pic>
        <p:nvPicPr>
          <p:cNvPr id="23" name="Image 2" descr="preencoded.png">    </p:cNvPr>
          <p:cNvPicPr>
            <a:picLocks noChangeAspect="1"/>
          </p:cNvPicPr>
          <p:nvPr/>
        </p:nvPicPr>
        <p:blipFill>
          <a:blip r:embed="rId3"/>
          <a:stretch>
            <a:fillRect/>
          </a:stretch>
        </p:blipFill>
        <p:spPr>
          <a:xfrm>
            <a:off x="742493" y="2937053"/>
            <a:ext cx="261518" cy="261518"/>
          </a:xfrm>
          <a:prstGeom prst="rect">
            <a:avLst/>
          </a:prstGeom>
        </p:spPr>
      </p:pic>
      <p:sp>
        <p:nvSpPr>
          <p:cNvPr id="24" name="Text 18"/>
          <p:cNvSpPr txBox="1"/>
          <p:nvPr/>
        </p:nvSpPr>
        <p:spPr>
          <a:xfrm>
            <a:off x="1280160" y="2788920"/>
            <a:ext cx="30632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Distribution</a:t>
            </a:r>
            <a:endParaRPr lang="en-US" sz="1300" dirty="0"/>
          </a:p>
        </p:txBody>
      </p:sp>
      <p:sp>
        <p:nvSpPr>
          <p:cNvPr id="25" name="Text 19"/>
          <p:cNvSpPr txBox="1"/>
          <p:nvPr/>
        </p:nvSpPr>
        <p:spPr>
          <a:xfrm>
            <a:off x="1280160" y="3081528"/>
            <a:ext cx="3063240" cy="6400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Log scale; median and sum tell different stories; check the extreme pixels</a:t>
            </a:r>
            <a:endParaRPr lang="en-US" sz="1050" dirty="0"/>
          </a:p>
        </p:txBody>
      </p:sp>
      <p:sp>
        <p:nvSpPr>
          <p:cNvPr id="26" name="Shape 20"/>
          <p:cNvSpPr/>
          <p:nvPr/>
        </p:nvSpPr>
        <p:spPr>
          <a:xfrm>
            <a:off x="4663440" y="2651760"/>
            <a:ext cx="4023360" cy="1115568"/>
          </a:xfrm>
          <a:prstGeom prst="roundRect">
            <a:avLst>
              <a:gd name="adj" fmla="val 6557"/>
            </a:avLst>
          </a:prstGeom>
          <a:solidFill>
            <a:srgbClr val="F4F7F5"/>
          </a:solidFill>
          <a:ln w="9525">
            <a:solidFill>
              <a:srgbClr val="D5DED9"/>
            </a:solidFill>
            <a:prstDash val="solid"/>
          </a:ln>
        </p:spPr>
      </p:sp>
      <p:sp>
        <p:nvSpPr>
          <p:cNvPr id="27" name="Shape 21"/>
          <p:cNvSpPr/>
          <p:nvPr/>
        </p:nvSpPr>
        <p:spPr>
          <a:xfrm>
            <a:off x="4828032" y="2816352"/>
            <a:ext cx="502920" cy="502920"/>
          </a:xfrm>
          <a:prstGeom prst="ellipse">
            <a:avLst/>
          </a:prstGeom>
          <a:solidFill>
            <a:srgbClr val="0E7C86">
              <a:alpha val="22000"/>
            </a:srgbClr>
          </a:solidFill>
          <a:ln w="12700">
            <a:solidFill>
              <a:srgbClr val="0E7C86">
                <a:alpha val="0"/>
              </a:srgbClr>
            </a:solidFill>
            <a:prstDash val="solid"/>
          </a:ln>
        </p:spPr>
      </p:sp>
      <p:pic>
        <p:nvPicPr>
          <p:cNvPr id="28" name="Image 3" descr="preencoded.png">    </p:cNvPr>
          <p:cNvPicPr>
            <a:picLocks noChangeAspect="1"/>
          </p:cNvPicPr>
          <p:nvPr/>
        </p:nvPicPr>
        <p:blipFill>
          <a:blip r:embed="rId4"/>
          <a:stretch>
            <a:fillRect/>
          </a:stretch>
        </p:blipFill>
        <p:spPr>
          <a:xfrm>
            <a:off x="4948733" y="2937053"/>
            <a:ext cx="261518" cy="261518"/>
          </a:xfrm>
          <a:prstGeom prst="rect">
            <a:avLst/>
          </a:prstGeom>
        </p:spPr>
      </p:pic>
      <p:sp>
        <p:nvSpPr>
          <p:cNvPr id="29" name="Text 22"/>
          <p:cNvSpPr txBox="1"/>
          <p:nvPr/>
        </p:nvSpPr>
        <p:spPr>
          <a:xfrm>
            <a:off x="5486400" y="2788920"/>
            <a:ext cx="30632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Area weighting</a:t>
            </a:r>
            <a:endParaRPr lang="en-US" sz="1300" dirty="0"/>
          </a:p>
        </p:txBody>
      </p:sp>
      <p:sp>
        <p:nvSpPr>
          <p:cNvPr id="30" name="Text 23"/>
          <p:cNvSpPr txBox="1"/>
          <p:nvPr/>
        </p:nvSpPr>
        <p:spPr>
          <a:xfrm>
            <a:off x="5486400" y="3081528"/>
            <a:ext cx="3063240" cy="6400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Pixel area ∝ cos(latitude): −13% at 30°, −20% at 37°</a:t>
            </a:r>
            <a:endParaRPr lang="en-US" sz="1050" dirty="0"/>
          </a:p>
        </p:txBody>
      </p:sp>
      <p:sp>
        <p:nvSpPr>
          <p:cNvPr id="31" name="Text 24"/>
          <p:cNvSpPr txBox="1"/>
          <p:nvPr/>
        </p:nvSpPr>
        <p:spPr>
          <a:xfrm>
            <a:off x="457200" y="4023360"/>
            <a:ext cx="914400" cy="256032"/>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Exports</a:t>
            </a:r>
            <a:endParaRPr lang="en-US" sz="1100" dirty="0"/>
          </a:p>
        </p:txBody>
      </p:sp>
      <p:sp>
        <p:nvSpPr>
          <p:cNvPr id="32" name="Shape 25"/>
          <p:cNvSpPr/>
          <p:nvPr/>
        </p:nvSpPr>
        <p:spPr>
          <a:xfrm>
            <a:off x="1280160" y="4023360"/>
            <a:ext cx="914400" cy="256032"/>
          </a:xfrm>
          <a:prstGeom prst="roundRect">
            <a:avLst>
              <a:gd name="adj" fmla="val 50000"/>
            </a:avLst>
          </a:prstGeom>
          <a:solidFill>
            <a:srgbClr val="0E7C86">
              <a:alpha val="15000"/>
            </a:srgbClr>
          </a:solidFill>
          <a:ln w="9525">
            <a:solidFill>
              <a:srgbClr val="0E7C86"/>
            </a:solidFill>
            <a:prstDash val="solid"/>
          </a:ln>
        </p:spPr>
      </p:sp>
      <p:sp>
        <p:nvSpPr>
          <p:cNvPr id="33" name="Text 26"/>
          <p:cNvSpPr txBox="1"/>
          <p:nvPr/>
        </p:nvSpPr>
        <p:spPr>
          <a:xfrm>
            <a:off x="1280160" y="4023360"/>
            <a:ext cx="914400" cy="256032"/>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GeoTIFF</a:t>
            </a:r>
            <a:endParaRPr lang="en-US" sz="1000" dirty="0"/>
          </a:p>
        </p:txBody>
      </p:sp>
      <p:sp>
        <p:nvSpPr>
          <p:cNvPr id="34" name="Shape 27"/>
          <p:cNvSpPr/>
          <p:nvPr/>
        </p:nvSpPr>
        <p:spPr>
          <a:xfrm>
            <a:off x="2304288" y="4023360"/>
            <a:ext cx="640080" cy="256032"/>
          </a:xfrm>
          <a:prstGeom prst="roundRect">
            <a:avLst>
              <a:gd name="adj" fmla="val 50000"/>
            </a:avLst>
          </a:prstGeom>
          <a:solidFill>
            <a:srgbClr val="0E7C86">
              <a:alpha val="15000"/>
            </a:srgbClr>
          </a:solidFill>
          <a:ln w="9525">
            <a:solidFill>
              <a:srgbClr val="0E7C86"/>
            </a:solidFill>
            <a:prstDash val="solid"/>
          </a:ln>
        </p:spPr>
      </p:sp>
      <p:sp>
        <p:nvSpPr>
          <p:cNvPr id="35" name="Text 28"/>
          <p:cNvSpPr txBox="1"/>
          <p:nvPr/>
        </p:nvSpPr>
        <p:spPr>
          <a:xfrm>
            <a:off x="2304288" y="4023360"/>
            <a:ext cx="640080" cy="256032"/>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CSV</a:t>
            </a:r>
            <a:endParaRPr lang="en-US" sz="1000" dirty="0"/>
          </a:p>
        </p:txBody>
      </p:sp>
      <p:sp>
        <p:nvSpPr>
          <p:cNvPr id="36" name="Shape 29"/>
          <p:cNvSpPr/>
          <p:nvPr/>
        </p:nvSpPr>
        <p:spPr>
          <a:xfrm>
            <a:off x="3054096" y="4023360"/>
            <a:ext cx="640080" cy="256032"/>
          </a:xfrm>
          <a:prstGeom prst="roundRect">
            <a:avLst>
              <a:gd name="adj" fmla="val 50000"/>
            </a:avLst>
          </a:prstGeom>
          <a:solidFill>
            <a:srgbClr val="0E7C86">
              <a:alpha val="15000"/>
            </a:srgbClr>
          </a:solidFill>
          <a:ln w="9525">
            <a:solidFill>
              <a:srgbClr val="0E7C86"/>
            </a:solidFill>
            <a:prstDash val="solid"/>
          </a:ln>
        </p:spPr>
      </p:sp>
      <p:sp>
        <p:nvSpPr>
          <p:cNvPr id="37" name="Text 30"/>
          <p:cNvSpPr txBox="1"/>
          <p:nvPr/>
        </p:nvSpPr>
        <p:spPr>
          <a:xfrm>
            <a:off x="3054096" y="4023360"/>
            <a:ext cx="640080" cy="256032"/>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NPZ</a:t>
            </a:r>
            <a:endParaRPr lang="en-US" sz="1000" dirty="0"/>
          </a:p>
        </p:txBody>
      </p:sp>
      <p:sp>
        <p:nvSpPr>
          <p:cNvPr id="38" name="Shape 31"/>
          <p:cNvSpPr/>
          <p:nvPr/>
        </p:nvSpPr>
        <p:spPr>
          <a:xfrm>
            <a:off x="3803904" y="4023360"/>
            <a:ext cx="1417320" cy="256032"/>
          </a:xfrm>
          <a:prstGeom prst="roundRect">
            <a:avLst>
              <a:gd name="adj" fmla="val 50000"/>
            </a:avLst>
          </a:prstGeom>
          <a:solidFill>
            <a:srgbClr val="0E7C86">
              <a:alpha val="15000"/>
            </a:srgbClr>
          </a:solidFill>
          <a:ln w="9525">
            <a:solidFill>
              <a:srgbClr val="0E7C86"/>
            </a:solidFill>
            <a:prstDash val="solid"/>
          </a:ln>
        </p:spPr>
      </p:sp>
      <p:sp>
        <p:nvSpPr>
          <p:cNvPr id="39" name="Text 32"/>
          <p:cNvSpPr txBox="1"/>
          <p:nvPr/>
        </p:nvSpPr>
        <p:spPr>
          <a:xfrm>
            <a:off x="3803904" y="4023360"/>
            <a:ext cx="1417320" cy="256032"/>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JSON metadata</a:t>
            </a:r>
            <a:endParaRPr lang="en-US" sz="1000" dirty="0"/>
          </a:p>
        </p:txBody>
      </p:sp>
      <p:sp>
        <p:nvSpPr>
          <p:cNvPr id="40" name="Shape 33"/>
          <p:cNvSpPr/>
          <p:nvPr/>
        </p:nvSpPr>
        <p:spPr>
          <a:xfrm>
            <a:off x="5330952" y="4023360"/>
            <a:ext cx="1645920" cy="256032"/>
          </a:xfrm>
          <a:prstGeom prst="roundRect">
            <a:avLst>
              <a:gd name="adj" fmla="val 50000"/>
            </a:avLst>
          </a:prstGeom>
          <a:solidFill>
            <a:srgbClr val="0E7C86">
              <a:alpha val="15000"/>
            </a:srgbClr>
          </a:solidFill>
          <a:ln w="9525">
            <a:solidFill>
              <a:srgbClr val="0E7C86"/>
            </a:solidFill>
            <a:prstDash val="solid"/>
          </a:ln>
        </p:spPr>
      </p:sp>
      <p:sp>
        <p:nvSpPr>
          <p:cNvPr id="41" name="Text 34"/>
          <p:cNvSpPr txBox="1"/>
          <p:nvPr/>
        </p:nvSpPr>
        <p:spPr>
          <a:xfrm>
            <a:off x="5330952" y="4023360"/>
            <a:ext cx="1645920" cy="256032"/>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processing log</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t"/>
          <a:lstStyle/>
          <a:p>
            <a:pPr indent="0" marL="0">
              <a:buNone/>
            </a:pPr>
            <a:r>
              <a:rPr lang="en-US" sz="8000" b="1" dirty="0">
                <a:solidFill>
                  <a:srgbClr val="F5C242"/>
                </a:solidFill>
                <a:latin typeface="Calibri" pitchFamily="34" charset="0"/>
                <a:ea typeface="Calibri" pitchFamily="34" charset="-122"/>
                <a:cs typeface="Calibri" pitchFamily="34" charset="-120"/>
              </a:rPr>
              <a:t>04</a:t>
            </a:r>
            <a:endParaRPr lang="en-US" sz="8000" dirty="0"/>
          </a:p>
        </p:txBody>
      </p:sp>
      <p:sp>
        <p:nvSpPr>
          <p:cNvPr id="4" name="Text 2"/>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Analyse</a:t>
            </a:r>
            <a:endParaRPr lang="en-US" sz="4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How do we turn radiance into economic indicators?</a:t>
            </a:r>
            <a:endParaRPr lang="en-US" sz="1800" dirty="0"/>
          </a:p>
        </p:txBody>
      </p:sp>
      <p:sp>
        <p:nvSpPr>
          <p:cNvPr id="6" name="Shape 4"/>
          <p:cNvSpPr/>
          <p:nvPr/>
        </p:nvSpPr>
        <p:spPr>
          <a:xfrm>
            <a:off x="6309360" y="1234440"/>
            <a:ext cx="2286000" cy="2286000"/>
          </a:xfrm>
          <a:prstGeom prst="ellipse">
            <a:avLst/>
          </a:prstGeom>
          <a:solidFill>
            <a:srgbClr val="FFFFFF">
              <a:alpha val="8000"/>
            </a:srgbClr>
          </a:solidFill>
          <a:ln w="12700">
            <a:solidFill>
              <a:srgbClr val="FFFFFF">
                <a:alpha val="30000"/>
              </a:srgbClr>
            </a:solidFill>
            <a:prstDash val="solid"/>
          </a:ln>
        </p:spPr>
      </p:sp>
      <p:sp>
        <p:nvSpPr>
          <p:cNvPr id="7" name="Shape 5"/>
          <p:cNvSpPr/>
          <p:nvPr/>
        </p:nvSpPr>
        <p:spPr>
          <a:xfrm>
            <a:off x="6675120" y="1600200"/>
            <a:ext cx="1554480" cy="1554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086600" y="2011680"/>
            <a:ext cx="731520" cy="731520"/>
          </a:xfrm>
          <a:prstGeom prst="rect">
            <a:avLst/>
          </a:prstGeom>
        </p:spPr>
      </p:pic>
      <p:sp>
        <p:nvSpPr>
          <p:cNvPr id="9" name="Shape 6"/>
          <p:cNvSpPr/>
          <p:nvPr/>
        </p:nvSpPr>
        <p:spPr>
          <a:xfrm>
            <a:off x="566928" y="425196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786384" y="4251960"/>
            <a:ext cx="118872" cy="118872"/>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005840" y="4251960"/>
            <a:ext cx="118872" cy="118872"/>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225296" y="4251960"/>
            <a:ext cx="118872" cy="118872"/>
          </a:xfrm>
          <a:prstGeom prst="ellipse">
            <a:avLst/>
          </a:prstGeom>
          <a:solidFill>
            <a:srgbClr val="F5C242"/>
          </a:solidFill>
          <a:ln w="12700">
            <a:solidFill>
              <a:srgbClr val="FFFFFF">
                <a:alpha val="0"/>
              </a:srgbClr>
            </a:solidFill>
            <a:prstDash val="solid"/>
          </a:ln>
        </p:spPr>
      </p:sp>
      <p:sp>
        <p:nvSpPr>
          <p:cNvPr id="13" name="Shape 10"/>
          <p:cNvSpPr/>
          <p:nvPr/>
        </p:nvSpPr>
        <p:spPr>
          <a:xfrm>
            <a:off x="1444752" y="4251960"/>
            <a:ext cx="118872" cy="118872"/>
          </a:xfrm>
          <a:prstGeom prst="ellipse">
            <a:avLst/>
          </a:prstGeom>
          <a:solidFill>
            <a:srgbClr val="FFFFFF">
              <a:alpha val="40000"/>
            </a:srgbClr>
          </a:solidFill>
          <a:ln w="12700">
            <a:solidFill>
              <a:srgbClr val="FFFFFF">
                <a:alpha val="0"/>
              </a:srgbClr>
            </a:solidFill>
            <a:prstDash val="solid"/>
          </a:ln>
        </p:spPr>
      </p:sp>
      <p:sp>
        <p:nvSpPr>
          <p:cNvPr id="14" name="Shape 11"/>
          <p:cNvSpPr/>
          <p:nvPr/>
        </p:nvSpPr>
        <p:spPr>
          <a:xfrm>
            <a:off x="1664208" y="4251960"/>
            <a:ext cx="118872" cy="118872"/>
          </a:xfrm>
          <a:prstGeom prst="ellipse">
            <a:avLst/>
          </a:prstGeom>
          <a:solidFill>
            <a:srgbClr val="FFFFFF">
              <a:alpha val="40000"/>
            </a:srgbClr>
          </a:solidFill>
          <a:ln w="12700">
            <a:solidFill>
              <a:srgbClr val="FFFFFF">
                <a:alpha val="0"/>
              </a:srgbClr>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OVERVIEW</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One pipeline, six analysis scenarios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1234440" cy="457200"/>
          </a:xfrm>
          <a:prstGeom prst="roundRect">
            <a:avLst>
              <a:gd name="adj" fmla="val 16000"/>
            </a:avLst>
          </a:prstGeom>
          <a:solidFill>
            <a:srgbClr val="E8F5EF"/>
          </a:solidFill>
          <a:ln w="12700">
            <a:solidFill>
              <a:srgbClr val="00A86A"/>
            </a:solidFill>
            <a:prstDash val="solid"/>
          </a:ln>
        </p:spPr>
      </p:sp>
      <p:sp>
        <p:nvSpPr>
          <p:cNvPr id="12" name="Text 9"/>
          <p:cNvSpPr txBox="1"/>
          <p:nvPr/>
        </p:nvSpPr>
        <p:spPr>
          <a:xfrm>
            <a:off x="457200" y="1325880"/>
            <a:ext cx="1234440" cy="457200"/>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 xml:space="preserve">02  </a:t>
            </a:r>
            <a:pPr algn="ctr" indent="0" marL="0">
              <a:buNone/>
            </a:pPr>
            <a:r>
              <a:rPr lang="en-US" sz="950" dirty="0">
                <a:solidFill>
                  <a:srgbClr val="231F20"/>
                </a:solidFill>
                <a:latin typeface="Calibri" pitchFamily="34" charset="0"/>
                <a:ea typeface="Calibri" pitchFamily="34" charset="-122"/>
                <a:cs typeface="Calibri" pitchFamily="34" charset="-120"/>
              </a:rPr>
              <a:t>Parameters</a:t>
            </a:r>
            <a:endParaRPr lang="en-US" sz="950" dirty="0"/>
          </a:p>
        </p:txBody>
      </p:sp>
      <p:sp>
        <p:nvSpPr>
          <p:cNvPr id="13" name="Shape 10"/>
          <p:cNvSpPr/>
          <p:nvPr/>
        </p:nvSpPr>
        <p:spPr>
          <a:xfrm>
            <a:off x="1700784" y="1554480"/>
            <a:ext cx="146304" cy="914"/>
          </a:xfrm>
          <a:prstGeom prst="line">
            <a:avLst/>
          </a:prstGeom>
          <a:noFill/>
          <a:ln w="15875">
            <a:solidFill>
              <a:srgbClr val="5E6964"/>
            </a:solidFill>
            <a:prstDash val="solid"/>
            <a:tailEnd type="triangle"/>
          </a:ln>
        </p:spPr>
      </p:sp>
      <p:sp>
        <p:nvSpPr>
          <p:cNvPr id="14" name="Shape 11"/>
          <p:cNvSpPr/>
          <p:nvPr/>
        </p:nvSpPr>
        <p:spPr>
          <a:xfrm>
            <a:off x="1856232" y="1325880"/>
            <a:ext cx="1234440" cy="457200"/>
          </a:xfrm>
          <a:prstGeom prst="roundRect">
            <a:avLst>
              <a:gd name="adj" fmla="val 16000"/>
            </a:avLst>
          </a:prstGeom>
          <a:solidFill>
            <a:srgbClr val="E8F5EF"/>
          </a:solidFill>
          <a:ln w="12700">
            <a:solidFill>
              <a:srgbClr val="00A86A"/>
            </a:solidFill>
            <a:prstDash val="solid"/>
          </a:ln>
        </p:spPr>
      </p:sp>
      <p:sp>
        <p:nvSpPr>
          <p:cNvPr id="15" name="Text 12"/>
          <p:cNvSpPr txBox="1"/>
          <p:nvPr/>
        </p:nvSpPr>
        <p:spPr>
          <a:xfrm>
            <a:off x="1856232" y="1325880"/>
            <a:ext cx="1234440" cy="457200"/>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 xml:space="preserve">03  </a:t>
            </a:r>
            <a:pPr algn="ctr" indent="0" marL="0">
              <a:buNone/>
            </a:pPr>
            <a:r>
              <a:rPr lang="en-US" sz="950" dirty="0">
                <a:solidFill>
                  <a:srgbClr val="231F20"/>
                </a:solidFill>
                <a:latin typeface="Calibri" pitchFamily="34" charset="0"/>
                <a:ea typeface="Calibri" pitchFamily="34" charset="-122"/>
                <a:cs typeface="Calibri" pitchFamily="34" charset="-120"/>
              </a:rPr>
              <a:t>Acquire and clean</a:t>
            </a:r>
            <a:endParaRPr lang="en-US" sz="950" dirty="0"/>
          </a:p>
        </p:txBody>
      </p:sp>
      <p:sp>
        <p:nvSpPr>
          <p:cNvPr id="16" name="Shape 13"/>
          <p:cNvSpPr/>
          <p:nvPr/>
        </p:nvSpPr>
        <p:spPr>
          <a:xfrm>
            <a:off x="3099816" y="1554480"/>
            <a:ext cx="146304" cy="914"/>
          </a:xfrm>
          <a:prstGeom prst="line">
            <a:avLst/>
          </a:prstGeom>
          <a:noFill/>
          <a:ln w="15875">
            <a:solidFill>
              <a:srgbClr val="5E6964"/>
            </a:solidFill>
            <a:prstDash val="solid"/>
            <a:tailEnd type="triangle"/>
          </a:ln>
        </p:spPr>
      </p:sp>
      <p:sp>
        <p:nvSpPr>
          <p:cNvPr id="17" name="Shape 14"/>
          <p:cNvSpPr/>
          <p:nvPr/>
        </p:nvSpPr>
        <p:spPr>
          <a:xfrm>
            <a:off x="3255264" y="1325880"/>
            <a:ext cx="1234440" cy="457200"/>
          </a:xfrm>
          <a:prstGeom prst="roundRect">
            <a:avLst>
              <a:gd name="adj" fmla="val 16000"/>
            </a:avLst>
          </a:prstGeom>
          <a:solidFill>
            <a:srgbClr val="E8F5EF"/>
          </a:solidFill>
          <a:ln w="12700">
            <a:solidFill>
              <a:srgbClr val="00A86A"/>
            </a:solidFill>
            <a:prstDash val="solid"/>
          </a:ln>
        </p:spPr>
      </p:sp>
      <p:sp>
        <p:nvSpPr>
          <p:cNvPr id="18" name="Text 15"/>
          <p:cNvSpPr txBox="1"/>
          <p:nvPr/>
        </p:nvSpPr>
        <p:spPr>
          <a:xfrm>
            <a:off x="3255264" y="1325880"/>
            <a:ext cx="1234440" cy="457200"/>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 xml:space="preserve">04  </a:t>
            </a:r>
            <a:pPr algn="ctr" indent="0" marL="0">
              <a:buNone/>
            </a:pPr>
            <a:r>
              <a:rPr lang="en-US" sz="950" dirty="0">
                <a:solidFill>
                  <a:srgbClr val="231F20"/>
                </a:solidFill>
                <a:latin typeface="Calibri" pitchFamily="34" charset="0"/>
                <a:ea typeface="Calibri" pitchFamily="34" charset="-122"/>
                <a:cs typeface="Calibri" pitchFamily="34" charset="-120"/>
              </a:rPr>
              <a:t>Explore</a:t>
            </a:r>
            <a:endParaRPr lang="en-US" sz="950" dirty="0"/>
          </a:p>
        </p:txBody>
      </p:sp>
      <p:sp>
        <p:nvSpPr>
          <p:cNvPr id="19" name="Shape 16"/>
          <p:cNvSpPr/>
          <p:nvPr/>
        </p:nvSpPr>
        <p:spPr>
          <a:xfrm>
            <a:off x="4498848" y="1554480"/>
            <a:ext cx="146304" cy="914"/>
          </a:xfrm>
          <a:prstGeom prst="line">
            <a:avLst/>
          </a:prstGeom>
          <a:noFill/>
          <a:ln w="15875">
            <a:solidFill>
              <a:srgbClr val="5E6964"/>
            </a:solidFill>
            <a:prstDash val="solid"/>
            <a:tailEnd type="triangle"/>
          </a:ln>
        </p:spPr>
      </p:sp>
      <p:sp>
        <p:nvSpPr>
          <p:cNvPr id="20" name="Shape 17"/>
          <p:cNvSpPr/>
          <p:nvPr/>
        </p:nvSpPr>
        <p:spPr>
          <a:xfrm>
            <a:off x="4654296" y="1325880"/>
            <a:ext cx="1234440" cy="457200"/>
          </a:xfrm>
          <a:prstGeom prst="roundRect">
            <a:avLst>
              <a:gd name="adj" fmla="val 16000"/>
            </a:avLst>
          </a:prstGeom>
          <a:solidFill>
            <a:srgbClr val="D49A00"/>
          </a:solidFill>
          <a:ln w="12700">
            <a:solidFill>
              <a:srgbClr val="D49A00"/>
            </a:solidFill>
            <a:prstDash val="solid"/>
          </a:ln>
        </p:spPr>
      </p:sp>
      <p:sp>
        <p:nvSpPr>
          <p:cNvPr id="21" name="Text 18"/>
          <p:cNvSpPr txBox="1"/>
          <p:nvPr/>
        </p:nvSpPr>
        <p:spPr>
          <a:xfrm>
            <a:off x="4654296" y="1325880"/>
            <a:ext cx="1234440"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 xml:space="preserve">05–10  </a:t>
            </a:r>
            <a:pPr algn="ctr" indent="0" marL="0">
              <a:buNone/>
            </a:pPr>
            <a:r>
              <a:rPr lang="en-US" sz="950" dirty="0">
                <a:solidFill>
                  <a:srgbClr val="FFFFFF"/>
                </a:solidFill>
                <a:latin typeface="Calibri" pitchFamily="34" charset="0"/>
                <a:ea typeface="Calibri" pitchFamily="34" charset="-122"/>
                <a:cs typeface="Calibri" pitchFamily="34" charset="-120"/>
              </a:rPr>
              <a:t>6 scenarios</a:t>
            </a:r>
            <a:endParaRPr lang="en-US" sz="950" dirty="0"/>
          </a:p>
        </p:txBody>
      </p:sp>
      <p:sp>
        <p:nvSpPr>
          <p:cNvPr id="22" name="Shape 19"/>
          <p:cNvSpPr/>
          <p:nvPr/>
        </p:nvSpPr>
        <p:spPr>
          <a:xfrm>
            <a:off x="5897880" y="1554480"/>
            <a:ext cx="146304" cy="914"/>
          </a:xfrm>
          <a:prstGeom prst="line">
            <a:avLst/>
          </a:prstGeom>
          <a:noFill/>
          <a:ln w="15875">
            <a:solidFill>
              <a:srgbClr val="5E6964"/>
            </a:solidFill>
            <a:prstDash val="solid"/>
            <a:tailEnd type="triangle"/>
          </a:ln>
        </p:spPr>
      </p:sp>
      <p:sp>
        <p:nvSpPr>
          <p:cNvPr id="23" name="Shape 20"/>
          <p:cNvSpPr/>
          <p:nvPr/>
        </p:nvSpPr>
        <p:spPr>
          <a:xfrm>
            <a:off x="6053328" y="1325880"/>
            <a:ext cx="1234440" cy="457200"/>
          </a:xfrm>
          <a:prstGeom prst="roundRect">
            <a:avLst>
              <a:gd name="adj" fmla="val 16000"/>
            </a:avLst>
          </a:prstGeom>
          <a:solidFill>
            <a:srgbClr val="E8F5EF"/>
          </a:solidFill>
          <a:ln w="12700">
            <a:solidFill>
              <a:srgbClr val="00A86A"/>
            </a:solidFill>
            <a:prstDash val="solid"/>
          </a:ln>
        </p:spPr>
      </p:sp>
      <p:sp>
        <p:nvSpPr>
          <p:cNvPr id="24" name="Text 21"/>
          <p:cNvSpPr txBox="1"/>
          <p:nvPr/>
        </p:nvSpPr>
        <p:spPr>
          <a:xfrm>
            <a:off x="6053328" y="1325880"/>
            <a:ext cx="1234440" cy="457200"/>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 xml:space="preserve">11  </a:t>
            </a:r>
            <a:pPr algn="ctr" indent="0" marL="0">
              <a:buNone/>
            </a:pPr>
            <a:r>
              <a:rPr lang="en-US" sz="950" dirty="0">
                <a:solidFill>
                  <a:srgbClr val="231F20"/>
                </a:solidFill>
                <a:latin typeface="Calibri" pitchFamily="34" charset="0"/>
                <a:ea typeface="Calibri" pitchFamily="34" charset="-122"/>
                <a:cs typeface="Calibri" pitchFamily="34" charset="-120"/>
              </a:rPr>
              <a:t>Key messages</a:t>
            </a:r>
            <a:endParaRPr lang="en-US" sz="950" dirty="0"/>
          </a:p>
        </p:txBody>
      </p:sp>
      <p:sp>
        <p:nvSpPr>
          <p:cNvPr id="25" name="Shape 22"/>
          <p:cNvSpPr/>
          <p:nvPr/>
        </p:nvSpPr>
        <p:spPr>
          <a:xfrm>
            <a:off x="7296912" y="1554480"/>
            <a:ext cx="146304" cy="914"/>
          </a:xfrm>
          <a:prstGeom prst="line">
            <a:avLst/>
          </a:prstGeom>
          <a:noFill/>
          <a:ln w="15875">
            <a:solidFill>
              <a:srgbClr val="5E6964"/>
            </a:solidFill>
            <a:prstDash val="solid"/>
            <a:tailEnd type="triangle"/>
          </a:ln>
        </p:spPr>
      </p:sp>
      <p:sp>
        <p:nvSpPr>
          <p:cNvPr id="26" name="Shape 23"/>
          <p:cNvSpPr/>
          <p:nvPr/>
        </p:nvSpPr>
        <p:spPr>
          <a:xfrm>
            <a:off x="7452360" y="1325880"/>
            <a:ext cx="1234440" cy="457200"/>
          </a:xfrm>
          <a:prstGeom prst="roundRect">
            <a:avLst>
              <a:gd name="adj" fmla="val 16000"/>
            </a:avLst>
          </a:prstGeom>
          <a:solidFill>
            <a:srgbClr val="E8F5EF"/>
          </a:solidFill>
          <a:ln w="12700">
            <a:solidFill>
              <a:srgbClr val="00A86A"/>
            </a:solidFill>
            <a:prstDash val="solid"/>
          </a:ln>
        </p:spPr>
      </p:sp>
      <p:sp>
        <p:nvSpPr>
          <p:cNvPr id="27" name="Text 24"/>
          <p:cNvSpPr txBox="1"/>
          <p:nvPr/>
        </p:nvSpPr>
        <p:spPr>
          <a:xfrm>
            <a:off x="7452360" y="1325880"/>
            <a:ext cx="1234440" cy="457200"/>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 xml:space="preserve">12–13  </a:t>
            </a:r>
            <a:pPr algn="ctr" indent="0" marL="0">
              <a:buNone/>
            </a:pPr>
            <a:r>
              <a:rPr lang="en-US" sz="950" dirty="0">
                <a:solidFill>
                  <a:srgbClr val="231F20"/>
                </a:solidFill>
                <a:latin typeface="Calibri" pitchFamily="34" charset="0"/>
                <a:ea typeface="Calibri" pitchFamily="34" charset="-122"/>
                <a:cs typeface="Calibri" pitchFamily="34" charset="-120"/>
              </a:rPr>
              <a:t>Export and publish</a:t>
            </a:r>
            <a:endParaRPr lang="en-US" sz="950" dirty="0"/>
          </a:p>
        </p:txBody>
      </p:sp>
      <p:sp>
        <p:nvSpPr>
          <p:cNvPr id="28" name="Shape 25"/>
          <p:cNvSpPr/>
          <p:nvPr/>
        </p:nvSpPr>
        <p:spPr>
          <a:xfrm>
            <a:off x="457200" y="1965960"/>
            <a:ext cx="2606040" cy="1188720"/>
          </a:xfrm>
          <a:prstGeom prst="roundRect">
            <a:avLst>
              <a:gd name="adj" fmla="val 6154"/>
            </a:avLst>
          </a:prstGeom>
          <a:solidFill>
            <a:srgbClr val="F4F7F5"/>
          </a:solidFill>
          <a:ln w="9525">
            <a:solidFill>
              <a:srgbClr val="D5DED9"/>
            </a:solidFill>
            <a:prstDash val="solid"/>
          </a:ln>
        </p:spPr>
      </p:sp>
      <p:sp>
        <p:nvSpPr>
          <p:cNvPr id="29" name="Shape 26"/>
          <p:cNvSpPr/>
          <p:nvPr/>
        </p:nvSpPr>
        <p:spPr>
          <a:xfrm>
            <a:off x="585216" y="2093976"/>
            <a:ext cx="420624" cy="420624"/>
          </a:xfrm>
          <a:prstGeom prst="ellipse">
            <a:avLst/>
          </a:prstGeom>
          <a:solidFill>
            <a:srgbClr val="D49A00">
              <a:alpha val="22000"/>
            </a:srgbClr>
          </a:solidFill>
          <a:ln w="12700">
            <a:solidFill>
              <a:srgbClr val="D49A00">
                <a:alpha val="0"/>
              </a:srgbClr>
            </a:solidFill>
            <a:prstDash val="solid"/>
          </a:ln>
        </p:spPr>
      </p:sp>
      <p:pic>
        <p:nvPicPr>
          <p:cNvPr id="30" name="Image 0" descr="preencoded.png">    </p:cNvPr>
          <p:cNvPicPr>
            <a:picLocks noChangeAspect="1"/>
          </p:cNvPicPr>
          <p:nvPr/>
        </p:nvPicPr>
        <p:blipFill>
          <a:blip r:embed="rId1"/>
          <a:stretch>
            <a:fillRect/>
          </a:stretch>
        </p:blipFill>
        <p:spPr>
          <a:xfrm>
            <a:off x="686166" y="2194926"/>
            <a:ext cx="218724" cy="218724"/>
          </a:xfrm>
          <a:prstGeom prst="rect">
            <a:avLst/>
          </a:prstGeom>
        </p:spPr>
      </p:pic>
      <p:sp>
        <p:nvSpPr>
          <p:cNvPr id="31" name="Text 27"/>
          <p:cNvSpPr txBox="1"/>
          <p:nvPr/>
        </p:nvSpPr>
        <p:spPr>
          <a:xfrm>
            <a:off x="1097280" y="2075688"/>
            <a:ext cx="192024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S1 · Temporal dynamics</a:t>
            </a:r>
            <a:endParaRPr lang="en-US" sz="1150" dirty="0"/>
          </a:p>
        </p:txBody>
      </p:sp>
      <p:sp>
        <p:nvSpPr>
          <p:cNvPr id="32" name="Text 28"/>
          <p:cNvSpPr txBox="1"/>
          <p:nvPr/>
        </p:nvSpPr>
        <p:spPr>
          <a:xfrm>
            <a:off x="1097280" y="2295144"/>
            <a:ext cx="1920240" cy="329184"/>
          </a:xfrm>
          <a:prstGeom prst="rect">
            <a:avLst/>
          </a:prstGeom>
          <a:noFill/>
          <a:ln/>
        </p:spPr>
        <p:txBody>
          <a:bodyPr wrap="square" lIns="0" tIns="0" rIns="0" bIns="0" rtlCol="0" anchor="t"/>
          <a:lstStyle/>
          <a:p>
            <a:pPr indent="0" marL="0">
              <a:buNone/>
            </a:pPr>
            <a:r>
              <a:rPr lang="en-US" sz="950" i="1" dirty="0">
                <a:solidFill>
                  <a:srgbClr val="D49A00"/>
                </a:solidFill>
                <a:latin typeface="Calibri" pitchFamily="34" charset="0"/>
                <a:ea typeface="Calibri" pitchFamily="34" charset="-122"/>
                <a:cs typeface="Calibri" pitchFamily="34" charset="-120"/>
              </a:rPr>
              <a:t>Is activity growing, and how fast?</a:t>
            </a:r>
            <a:endParaRPr lang="en-US" sz="950" dirty="0"/>
          </a:p>
        </p:txBody>
      </p:sp>
      <p:sp>
        <p:nvSpPr>
          <p:cNvPr id="33" name="Text 29"/>
          <p:cNvSpPr txBox="1"/>
          <p:nvPr/>
        </p:nvSpPr>
        <p:spPr>
          <a:xfrm>
            <a:off x="585216" y="2660904"/>
            <a:ext cx="237744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Seasonally adjusted series · year-on-year · trend %/yr · anomalies · breaks</a:t>
            </a:r>
            <a:endParaRPr lang="en-US" sz="900" dirty="0"/>
          </a:p>
        </p:txBody>
      </p:sp>
      <p:sp>
        <p:nvSpPr>
          <p:cNvPr id="34" name="Shape 30"/>
          <p:cNvSpPr/>
          <p:nvPr/>
        </p:nvSpPr>
        <p:spPr>
          <a:xfrm>
            <a:off x="3246120" y="1965960"/>
            <a:ext cx="2606040" cy="1188720"/>
          </a:xfrm>
          <a:prstGeom prst="roundRect">
            <a:avLst>
              <a:gd name="adj" fmla="val 6154"/>
            </a:avLst>
          </a:prstGeom>
          <a:solidFill>
            <a:srgbClr val="F4F7F5"/>
          </a:solidFill>
          <a:ln w="9525">
            <a:solidFill>
              <a:srgbClr val="D5DED9"/>
            </a:solidFill>
            <a:prstDash val="solid"/>
          </a:ln>
        </p:spPr>
      </p:sp>
      <p:sp>
        <p:nvSpPr>
          <p:cNvPr id="35" name="Shape 31"/>
          <p:cNvSpPr/>
          <p:nvPr/>
        </p:nvSpPr>
        <p:spPr>
          <a:xfrm>
            <a:off x="3374136" y="2093976"/>
            <a:ext cx="420624" cy="420624"/>
          </a:xfrm>
          <a:prstGeom prst="ellipse">
            <a:avLst/>
          </a:prstGeom>
          <a:solidFill>
            <a:srgbClr val="D49A00">
              <a:alpha val="22000"/>
            </a:srgbClr>
          </a:solidFill>
          <a:ln w="12700">
            <a:solidFill>
              <a:srgbClr val="D49A00">
                <a:alpha val="0"/>
              </a:srgbClr>
            </a:solidFill>
            <a:prstDash val="solid"/>
          </a:ln>
        </p:spPr>
      </p:sp>
      <p:pic>
        <p:nvPicPr>
          <p:cNvPr id="36" name="Image 1" descr="preencoded.png">    </p:cNvPr>
          <p:cNvPicPr>
            <a:picLocks noChangeAspect="1"/>
          </p:cNvPicPr>
          <p:nvPr/>
        </p:nvPicPr>
        <p:blipFill>
          <a:blip r:embed="rId2"/>
          <a:stretch>
            <a:fillRect/>
          </a:stretch>
        </p:blipFill>
        <p:spPr>
          <a:xfrm>
            <a:off x="3475086" y="2194926"/>
            <a:ext cx="218724" cy="218724"/>
          </a:xfrm>
          <a:prstGeom prst="rect">
            <a:avLst/>
          </a:prstGeom>
        </p:spPr>
      </p:pic>
      <p:sp>
        <p:nvSpPr>
          <p:cNvPr id="37" name="Text 32"/>
          <p:cNvSpPr txBox="1"/>
          <p:nvPr/>
        </p:nvSpPr>
        <p:spPr>
          <a:xfrm>
            <a:off x="3886200" y="2075688"/>
            <a:ext cx="192024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S2 · Regional growth</a:t>
            </a:r>
            <a:endParaRPr lang="en-US" sz="1150" dirty="0"/>
          </a:p>
        </p:txBody>
      </p:sp>
      <p:sp>
        <p:nvSpPr>
          <p:cNvPr id="38" name="Text 33"/>
          <p:cNvSpPr txBox="1"/>
          <p:nvPr/>
        </p:nvSpPr>
        <p:spPr>
          <a:xfrm>
            <a:off x="3886200" y="2295144"/>
            <a:ext cx="1920240" cy="329184"/>
          </a:xfrm>
          <a:prstGeom prst="rect">
            <a:avLst/>
          </a:prstGeom>
          <a:noFill/>
          <a:ln/>
        </p:spPr>
        <p:txBody>
          <a:bodyPr wrap="square" lIns="0" tIns="0" rIns="0" bIns="0" rtlCol="0" anchor="t"/>
          <a:lstStyle/>
          <a:p>
            <a:pPr indent="0" marL="0">
              <a:buNone/>
            </a:pPr>
            <a:r>
              <a:rPr lang="en-US" sz="950" i="1" dirty="0">
                <a:solidFill>
                  <a:srgbClr val="D49A00"/>
                </a:solidFill>
                <a:latin typeface="Calibri" pitchFamily="34" charset="0"/>
                <a:ea typeface="Calibri" pitchFamily="34" charset="-122"/>
                <a:cs typeface="Calibri" pitchFamily="34" charset="-120"/>
              </a:rPr>
              <a:t>Which regions are growing, and are they converging?</a:t>
            </a:r>
            <a:endParaRPr lang="en-US" sz="950" dirty="0"/>
          </a:p>
        </p:txBody>
      </p:sp>
      <p:sp>
        <p:nvSpPr>
          <p:cNvPr id="39" name="Text 34"/>
          <p:cNvSpPr txBox="1"/>
          <p:nvPr/>
        </p:nvSpPr>
        <p:spPr>
          <a:xfrm>
            <a:off x="3374136" y="2660904"/>
            <a:ext cx="237744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Growth class · top 1 / top 10% shares · HHI · β and σ convergence</a:t>
            </a:r>
            <a:endParaRPr lang="en-US" sz="900" dirty="0"/>
          </a:p>
        </p:txBody>
      </p:sp>
      <p:sp>
        <p:nvSpPr>
          <p:cNvPr id="40" name="Shape 35"/>
          <p:cNvSpPr/>
          <p:nvPr/>
        </p:nvSpPr>
        <p:spPr>
          <a:xfrm>
            <a:off x="6035040" y="1965960"/>
            <a:ext cx="2606040" cy="1188720"/>
          </a:xfrm>
          <a:prstGeom prst="roundRect">
            <a:avLst>
              <a:gd name="adj" fmla="val 6154"/>
            </a:avLst>
          </a:prstGeom>
          <a:solidFill>
            <a:srgbClr val="F4F7F5"/>
          </a:solidFill>
          <a:ln w="9525">
            <a:solidFill>
              <a:srgbClr val="D5DED9"/>
            </a:solidFill>
            <a:prstDash val="solid"/>
          </a:ln>
        </p:spPr>
      </p:sp>
      <p:sp>
        <p:nvSpPr>
          <p:cNvPr id="41" name="Shape 36"/>
          <p:cNvSpPr/>
          <p:nvPr/>
        </p:nvSpPr>
        <p:spPr>
          <a:xfrm>
            <a:off x="6163056" y="2093976"/>
            <a:ext cx="420624" cy="420624"/>
          </a:xfrm>
          <a:prstGeom prst="ellipse">
            <a:avLst/>
          </a:prstGeom>
          <a:solidFill>
            <a:srgbClr val="D49A00">
              <a:alpha val="22000"/>
            </a:srgbClr>
          </a:solidFill>
          <a:ln w="12700">
            <a:solidFill>
              <a:srgbClr val="D49A00">
                <a:alpha val="0"/>
              </a:srgbClr>
            </a:solidFill>
            <a:prstDash val="solid"/>
          </a:ln>
        </p:spPr>
      </p:sp>
      <p:pic>
        <p:nvPicPr>
          <p:cNvPr id="42" name="Image 2" descr="preencoded.png">    </p:cNvPr>
          <p:cNvPicPr>
            <a:picLocks noChangeAspect="1"/>
          </p:cNvPicPr>
          <p:nvPr/>
        </p:nvPicPr>
        <p:blipFill>
          <a:blip r:embed="rId3"/>
          <a:stretch>
            <a:fillRect/>
          </a:stretch>
        </p:blipFill>
        <p:spPr>
          <a:xfrm>
            <a:off x="6264006" y="2194926"/>
            <a:ext cx="218724" cy="218724"/>
          </a:xfrm>
          <a:prstGeom prst="rect">
            <a:avLst/>
          </a:prstGeom>
        </p:spPr>
      </p:pic>
      <p:sp>
        <p:nvSpPr>
          <p:cNvPr id="43" name="Text 37"/>
          <p:cNvSpPr txBox="1"/>
          <p:nvPr/>
        </p:nvSpPr>
        <p:spPr>
          <a:xfrm>
            <a:off x="6675120" y="2075688"/>
            <a:ext cx="192024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S3 · Lights and GDP</a:t>
            </a:r>
            <a:endParaRPr lang="en-US" sz="1150" dirty="0"/>
          </a:p>
        </p:txBody>
      </p:sp>
      <p:sp>
        <p:nvSpPr>
          <p:cNvPr id="44" name="Text 38"/>
          <p:cNvSpPr txBox="1"/>
          <p:nvPr/>
        </p:nvSpPr>
        <p:spPr>
          <a:xfrm>
            <a:off x="6675120" y="2295144"/>
            <a:ext cx="1920240" cy="329184"/>
          </a:xfrm>
          <a:prstGeom prst="rect">
            <a:avLst/>
          </a:prstGeom>
          <a:noFill/>
          <a:ln/>
        </p:spPr>
        <p:txBody>
          <a:bodyPr wrap="square" lIns="0" tIns="0" rIns="0" bIns="0" rtlCol="0" anchor="t"/>
          <a:lstStyle/>
          <a:p>
            <a:pPr indent="0" marL="0">
              <a:buNone/>
            </a:pPr>
            <a:r>
              <a:rPr lang="en-US" sz="950" i="1" dirty="0">
                <a:solidFill>
                  <a:srgbClr val="D49A00"/>
                </a:solidFill>
                <a:latin typeface="Calibri" pitchFamily="34" charset="0"/>
                <a:ea typeface="Calibri" pitchFamily="34" charset="-122"/>
                <a:cs typeface="Calibri" pitchFamily="34" charset="-120"/>
              </a:rPr>
              <a:t>Do lights track GDP, and can they fill the gaps?</a:t>
            </a:r>
            <a:endParaRPr lang="en-US" sz="950" dirty="0"/>
          </a:p>
        </p:txBody>
      </p:sp>
      <p:sp>
        <p:nvSpPr>
          <p:cNvPr id="45" name="Text 39"/>
          <p:cNvSpPr txBox="1"/>
          <p:nvPr/>
        </p:nvSpPr>
        <p:spPr>
          <a:xfrm>
            <a:off x="6163056" y="2660904"/>
            <a:ext cx="237744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β elasticity · forecast · MAE vs naive · regional GDP</a:t>
            </a:r>
            <a:endParaRPr lang="en-US" sz="900" dirty="0"/>
          </a:p>
        </p:txBody>
      </p:sp>
      <p:sp>
        <p:nvSpPr>
          <p:cNvPr id="46" name="Shape 40"/>
          <p:cNvSpPr/>
          <p:nvPr/>
        </p:nvSpPr>
        <p:spPr>
          <a:xfrm>
            <a:off x="457200" y="3264408"/>
            <a:ext cx="2606040" cy="1188720"/>
          </a:xfrm>
          <a:prstGeom prst="roundRect">
            <a:avLst>
              <a:gd name="adj" fmla="val 6154"/>
            </a:avLst>
          </a:prstGeom>
          <a:solidFill>
            <a:srgbClr val="F4F7F5"/>
          </a:solidFill>
          <a:ln w="9525">
            <a:solidFill>
              <a:srgbClr val="D5DED9"/>
            </a:solidFill>
            <a:prstDash val="solid"/>
          </a:ln>
        </p:spPr>
      </p:sp>
      <p:sp>
        <p:nvSpPr>
          <p:cNvPr id="47" name="Shape 41"/>
          <p:cNvSpPr/>
          <p:nvPr/>
        </p:nvSpPr>
        <p:spPr>
          <a:xfrm>
            <a:off x="585216" y="3392424"/>
            <a:ext cx="420624" cy="420624"/>
          </a:xfrm>
          <a:prstGeom prst="ellipse">
            <a:avLst/>
          </a:prstGeom>
          <a:solidFill>
            <a:srgbClr val="D49A00">
              <a:alpha val="22000"/>
            </a:srgbClr>
          </a:solidFill>
          <a:ln w="12700">
            <a:solidFill>
              <a:srgbClr val="D49A00">
                <a:alpha val="0"/>
              </a:srgbClr>
            </a:solidFill>
            <a:prstDash val="solid"/>
          </a:ln>
        </p:spPr>
      </p:sp>
      <p:pic>
        <p:nvPicPr>
          <p:cNvPr id="48" name="Image 3" descr="preencoded.png">    </p:cNvPr>
          <p:cNvPicPr>
            <a:picLocks noChangeAspect="1"/>
          </p:cNvPicPr>
          <p:nvPr/>
        </p:nvPicPr>
        <p:blipFill>
          <a:blip r:embed="rId4"/>
          <a:stretch>
            <a:fillRect/>
          </a:stretch>
        </p:blipFill>
        <p:spPr>
          <a:xfrm>
            <a:off x="686166" y="3493374"/>
            <a:ext cx="218724" cy="218724"/>
          </a:xfrm>
          <a:prstGeom prst="rect">
            <a:avLst/>
          </a:prstGeom>
        </p:spPr>
      </p:pic>
      <p:sp>
        <p:nvSpPr>
          <p:cNvPr id="49" name="Text 42"/>
          <p:cNvSpPr txBox="1"/>
          <p:nvPr/>
        </p:nvSpPr>
        <p:spPr>
          <a:xfrm>
            <a:off x="1097280" y="3374136"/>
            <a:ext cx="192024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S4 · Shocks</a:t>
            </a:r>
            <a:endParaRPr lang="en-US" sz="1150" dirty="0"/>
          </a:p>
        </p:txBody>
      </p:sp>
      <p:sp>
        <p:nvSpPr>
          <p:cNvPr id="50" name="Text 43"/>
          <p:cNvSpPr txBox="1"/>
          <p:nvPr/>
        </p:nvSpPr>
        <p:spPr>
          <a:xfrm>
            <a:off x="1097280" y="3593592"/>
            <a:ext cx="1920240" cy="329184"/>
          </a:xfrm>
          <a:prstGeom prst="rect">
            <a:avLst/>
          </a:prstGeom>
          <a:noFill/>
          <a:ln/>
        </p:spPr>
        <p:txBody>
          <a:bodyPr wrap="square" lIns="0" tIns="0" rIns="0" bIns="0" rtlCol="0" anchor="t"/>
          <a:lstStyle/>
          <a:p>
            <a:pPr indent="0" marL="0">
              <a:buNone/>
            </a:pPr>
            <a:r>
              <a:rPr lang="en-US" sz="950" i="1" dirty="0">
                <a:solidFill>
                  <a:srgbClr val="D49A00"/>
                </a:solidFill>
                <a:latin typeface="Calibri" pitchFamily="34" charset="0"/>
                <a:ea typeface="Calibri" pitchFamily="34" charset="-122"/>
                <a:cs typeface="Calibri" pitchFamily="34" charset="-120"/>
              </a:rPr>
              <a:t>How deep is the shock, how fast the recovery?</a:t>
            </a:r>
            <a:endParaRPr lang="en-US" sz="950" dirty="0"/>
          </a:p>
        </p:txBody>
      </p:sp>
      <p:sp>
        <p:nvSpPr>
          <p:cNvPr id="51" name="Text 44"/>
          <p:cNvSpPr txBox="1"/>
          <p:nvPr/>
        </p:nvSpPr>
        <p:spPr>
          <a:xfrm>
            <a:off x="585216" y="3959352"/>
            <a:ext cx="237744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Trough % · deviation from trend · recovery month · placebo · daily index</a:t>
            </a:r>
            <a:endParaRPr lang="en-US" sz="900" dirty="0"/>
          </a:p>
        </p:txBody>
      </p:sp>
      <p:sp>
        <p:nvSpPr>
          <p:cNvPr id="52" name="Shape 45"/>
          <p:cNvSpPr/>
          <p:nvPr/>
        </p:nvSpPr>
        <p:spPr>
          <a:xfrm>
            <a:off x="3246120" y="3264408"/>
            <a:ext cx="2606040" cy="1188720"/>
          </a:xfrm>
          <a:prstGeom prst="roundRect">
            <a:avLst>
              <a:gd name="adj" fmla="val 6154"/>
            </a:avLst>
          </a:prstGeom>
          <a:solidFill>
            <a:srgbClr val="F4F7F5"/>
          </a:solidFill>
          <a:ln w="9525">
            <a:solidFill>
              <a:srgbClr val="D5DED9"/>
            </a:solidFill>
            <a:prstDash val="solid"/>
          </a:ln>
        </p:spPr>
      </p:sp>
      <p:sp>
        <p:nvSpPr>
          <p:cNvPr id="53" name="Shape 46"/>
          <p:cNvSpPr/>
          <p:nvPr/>
        </p:nvSpPr>
        <p:spPr>
          <a:xfrm>
            <a:off x="3374136" y="3392424"/>
            <a:ext cx="420624" cy="420624"/>
          </a:xfrm>
          <a:prstGeom prst="ellipse">
            <a:avLst/>
          </a:prstGeom>
          <a:solidFill>
            <a:srgbClr val="D49A00">
              <a:alpha val="22000"/>
            </a:srgbClr>
          </a:solidFill>
          <a:ln w="12700">
            <a:solidFill>
              <a:srgbClr val="D49A00">
                <a:alpha val="0"/>
              </a:srgbClr>
            </a:solidFill>
            <a:prstDash val="solid"/>
          </a:ln>
        </p:spPr>
      </p:sp>
      <p:pic>
        <p:nvPicPr>
          <p:cNvPr id="54" name="Image 4" descr="preencoded.png">    </p:cNvPr>
          <p:cNvPicPr>
            <a:picLocks noChangeAspect="1"/>
          </p:cNvPicPr>
          <p:nvPr/>
        </p:nvPicPr>
        <p:blipFill>
          <a:blip r:embed="rId5"/>
          <a:stretch>
            <a:fillRect/>
          </a:stretch>
        </p:blipFill>
        <p:spPr>
          <a:xfrm>
            <a:off x="3475086" y="3493374"/>
            <a:ext cx="218724" cy="218724"/>
          </a:xfrm>
          <a:prstGeom prst="rect">
            <a:avLst/>
          </a:prstGeom>
        </p:spPr>
      </p:pic>
      <p:sp>
        <p:nvSpPr>
          <p:cNvPr id="55" name="Text 47"/>
          <p:cNvSpPr txBox="1"/>
          <p:nvPr/>
        </p:nvSpPr>
        <p:spPr>
          <a:xfrm>
            <a:off x="3886200" y="3374136"/>
            <a:ext cx="192024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S5 · Inequality and access</a:t>
            </a:r>
            <a:endParaRPr lang="en-US" sz="1150" dirty="0"/>
          </a:p>
        </p:txBody>
      </p:sp>
      <p:sp>
        <p:nvSpPr>
          <p:cNvPr id="56" name="Text 48"/>
          <p:cNvSpPr txBox="1"/>
          <p:nvPr/>
        </p:nvSpPr>
        <p:spPr>
          <a:xfrm>
            <a:off x="3886200" y="3593592"/>
            <a:ext cx="1920240" cy="329184"/>
          </a:xfrm>
          <a:prstGeom prst="rect">
            <a:avLst/>
          </a:prstGeom>
          <a:noFill/>
          <a:ln/>
        </p:spPr>
        <p:txBody>
          <a:bodyPr wrap="square" lIns="0" tIns="0" rIns="0" bIns="0" rtlCol="0" anchor="t"/>
          <a:lstStyle/>
          <a:p>
            <a:pPr indent="0" marL="0">
              <a:buNone/>
            </a:pPr>
            <a:r>
              <a:rPr lang="en-US" sz="950" i="1" dirty="0">
                <a:solidFill>
                  <a:srgbClr val="D49A00"/>
                </a:solidFill>
                <a:latin typeface="Calibri" pitchFamily="34" charset="0"/>
                <a:ea typeface="Calibri" pitchFamily="34" charset="-122"/>
                <a:cs typeface="Calibri" pitchFamily="34" charset="-120"/>
              </a:rPr>
              <a:t>How unequal is light, and who lives in the dark?</a:t>
            </a:r>
            <a:endParaRPr lang="en-US" sz="950" dirty="0"/>
          </a:p>
        </p:txBody>
      </p:sp>
      <p:sp>
        <p:nvSpPr>
          <p:cNvPr id="57" name="Text 49"/>
          <p:cNvSpPr txBox="1"/>
          <p:nvPr/>
        </p:nvSpPr>
        <p:spPr>
          <a:xfrm>
            <a:off x="3374136" y="3959352"/>
            <a:ext cx="237744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Gini · Lorenz · Theil T · urban/rural ratio · population in the dark</a:t>
            </a:r>
            <a:endParaRPr lang="en-US" sz="900" dirty="0"/>
          </a:p>
        </p:txBody>
      </p:sp>
      <p:sp>
        <p:nvSpPr>
          <p:cNvPr id="58" name="Shape 50"/>
          <p:cNvSpPr/>
          <p:nvPr/>
        </p:nvSpPr>
        <p:spPr>
          <a:xfrm>
            <a:off x="6035040" y="3264408"/>
            <a:ext cx="2606040" cy="1188720"/>
          </a:xfrm>
          <a:prstGeom prst="roundRect">
            <a:avLst>
              <a:gd name="adj" fmla="val 6154"/>
            </a:avLst>
          </a:prstGeom>
          <a:solidFill>
            <a:srgbClr val="F4F7F5"/>
          </a:solidFill>
          <a:ln w="9525">
            <a:solidFill>
              <a:srgbClr val="D5DED9"/>
            </a:solidFill>
            <a:prstDash val="solid"/>
          </a:ln>
        </p:spPr>
      </p:sp>
      <p:sp>
        <p:nvSpPr>
          <p:cNvPr id="59" name="Shape 51"/>
          <p:cNvSpPr/>
          <p:nvPr/>
        </p:nvSpPr>
        <p:spPr>
          <a:xfrm>
            <a:off x="6163056" y="3392424"/>
            <a:ext cx="420624" cy="420624"/>
          </a:xfrm>
          <a:prstGeom prst="ellipse">
            <a:avLst/>
          </a:prstGeom>
          <a:solidFill>
            <a:srgbClr val="D49A00">
              <a:alpha val="22000"/>
            </a:srgbClr>
          </a:solidFill>
          <a:ln w="12700">
            <a:solidFill>
              <a:srgbClr val="D49A00">
                <a:alpha val="0"/>
              </a:srgbClr>
            </a:solidFill>
            <a:prstDash val="solid"/>
          </a:ln>
        </p:spPr>
      </p:sp>
      <p:pic>
        <p:nvPicPr>
          <p:cNvPr id="60" name="Image 5" descr="preencoded.png">    </p:cNvPr>
          <p:cNvPicPr>
            <a:picLocks noChangeAspect="1"/>
          </p:cNvPicPr>
          <p:nvPr/>
        </p:nvPicPr>
        <p:blipFill>
          <a:blip r:embed="rId6"/>
          <a:stretch>
            <a:fillRect/>
          </a:stretch>
        </p:blipFill>
        <p:spPr>
          <a:xfrm>
            <a:off x="6264006" y="3493374"/>
            <a:ext cx="218724" cy="218724"/>
          </a:xfrm>
          <a:prstGeom prst="rect">
            <a:avLst/>
          </a:prstGeom>
        </p:spPr>
      </p:pic>
      <p:sp>
        <p:nvSpPr>
          <p:cNvPr id="61" name="Text 52"/>
          <p:cNvSpPr txBox="1"/>
          <p:nvPr/>
        </p:nvSpPr>
        <p:spPr>
          <a:xfrm>
            <a:off x="6675120" y="3374136"/>
            <a:ext cx="192024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S6 · Industrial zones</a:t>
            </a:r>
            <a:endParaRPr lang="en-US" sz="1150" dirty="0"/>
          </a:p>
        </p:txBody>
      </p:sp>
      <p:sp>
        <p:nvSpPr>
          <p:cNvPr id="62" name="Text 53"/>
          <p:cNvSpPr txBox="1"/>
          <p:nvPr/>
        </p:nvSpPr>
        <p:spPr>
          <a:xfrm>
            <a:off x="6675120" y="3593592"/>
            <a:ext cx="1920240" cy="329184"/>
          </a:xfrm>
          <a:prstGeom prst="rect">
            <a:avLst/>
          </a:prstGeom>
          <a:noFill/>
          <a:ln/>
        </p:spPr>
        <p:txBody>
          <a:bodyPr wrap="square" lIns="0" tIns="0" rIns="0" bIns="0" rtlCol="0" anchor="t"/>
          <a:lstStyle/>
          <a:p>
            <a:pPr indent="0" marL="0">
              <a:buNone/>
            </a:pPr>
            <a:r>
              <a:rPr lang="en-US" sz="950" i="1" dirty="0">
                <a:solidFill>
                  <a:srgbClr val="D49A00"/>
                </a:solidFill>
                <a:latin typeface="Calibri" pitchFamily="34" charset="0"/>
                <a:ea typeface="Calibri" pitchFamily="34" charset="-122"/>
                <a:cs typeface="Calibri" pitchFamily="34" charset="-120"/>
              </a:rPr>
              <a:t>Where does the country produce?</a:t>
            </a:r>
            <a:endParaRPr lang="en-US" sz="950" dirty="0"/>
          </a:p>
        </p:txBody>
      </p:sp>
      <p:sp>
        <p:nvSpPr>
          <p:cNvPr id="63" name="Text 54"/>
          <p:cNvSpPr txBox="1"/>
          <p:nvPr/>
        </p:nvSpPr>
        <p:spPr>
          <a:xfrm>
            <a:off x="6163056" y="3959352"/>
            <a:ext cx="237744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Industrial score · zone share and trend · precision / recall vs OSM</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DATA (1/3)</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Light data: four products, four roles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4023360" cy="1463040"/>
          </a:xfrm>
          <a:prstGeom prst="roundRect">
            <a:avLst>
              <a:gd name="adj" fmla="val 5000"/>
            </a:avLst>
          </a:prstGeom>
          <a:solidFill>
            <a:srgbClr val="E8F5EF"/>
          </a:solidFill>
          <a:ln w="15875">
            <a:solidFill>
              <a:srgbClr val="00A86A"/>
            </a:solidFill>
            <a:prstDash val="solid"/>
          </a:ln>
        </p:spPr>
      </p:sp>
      <p:sp>
        <p:nvSpPr>
          <p:cNvPr id="12" name="Shape 9"/>
          <p:cNvSpPr/>
          <p:nvPr/>
        </p:nvSpPr>
        <p:spPr>
          <a:xfrm>
            <a:off x="585216" y="1453896"/>
            <a:ext cx="457200" cy="457200"/>
          </a:xfrm>
          <a:prstGeom prst="ellipse">
            <a:avLst/>
          </a:prstGeom>
          <a:solidFill>
            <a:srgbClr val="00A86A">
              <a:alpha val="22000"/>
            </a:srgbClr>
          </a:solidFill>
          <a:ln w="12700">
            <a:solidFill>
              <a:srgbClr val="00A86A">
                <a:alpha val="0"/>
              </a:srgbClr>
            </a:solidFill>
            <a:prstDash val="solid"/>
          </a:ln>
        </p:spPr>
      </p:sp>
      <p:pic>
        <p:nvPicPr>
          <p:cNvPr id="13" name="Image 0" descr="preencoded.png">    </p:cNvPr>
          <p:cNvPicPr>
            <a:picLocks noChangeAspect="1"/>
          </p:cNvPicPr>
          <p:nvPr/>
        </p:nvPicPr>
        <p:blipFill>
          <a:blip r:embed="rId1"/>
          <a:stretch>
            <a:fillRect/>
          </a:stretch>
        </p:blipFill>
        <p:spPr>
          <a:xfrm>
            <a:off x="694944" y="1563624"/>
            <a:ext cx="237744" cy="237744"/>
          </a:xfrm>
          <a:prstGeom prst="rect">
            <a:avLst/>
          </a:prstGeom>
        </p:spPr>
      </p:pic>
      <p:sp>
        <p:nvSpPr>
          <p:cNvPr id="14" name="Text 10"/>
          <p:cNvSpPr txBox="1"/>
          <p:nvPr/>
        </p:nvSpPr>
        <p:spPr>
          <a:xfrm>
            <a:off x="1143000" y="14173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VIIRS VNL V2 · monthly</a:t>
            </a:r>
            <a:endParaRPr lang="en-US" sz="1200" dirty="0"/>
          </a:p>
        </p:txBody>
      </p:sp>
      <p:sp>
        <p:nvSpPr>
          <p:cNvPr id="15" name="Text 11"/>
          <p:cNvSpPr txBox="1"/>
          <p:nvPr/>
        </p:nvSpPr>
        <p:spPr>
          <a:xfrm>
            <a:off x="1143000" y="16733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NOAA/VIIRS/DNB/MONTHLY_V1/VCMSLCFG</a:t>
            </a:r>
            <a:endParaRPr lang="en-US" sz="850" dirty="0"/>
          </a:p>
        </p:txBody>
      </p:sp>
      <p:sp>
        <p:nvSpPr>
          <p:cNvPr id="16" name="Text 12"/>
          <p:cNvSpPr txBox="1"/>
          <p:nvPr/>
        </p:nvSpPr>
        <p:spPr>
          <a:xfrm>
            <a:off x="585216" y="1984248"/>
            <a:ext cx="3749040" cy="201168"/>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2014 → · ~464 m · avg_rad (nW·cm⁻²·sr⁻¹) + cf_cvg</a:t>
            </a:r>
            <a:endParaRPr lang="en-US" sz="950" dirty="0"/>
          </a:p>
        </p:txBody>
      </p:sp>
      <p:sp>
        <p:nvSpPr>
          <p:cNvPr id="17" name="Text 13"/>
          <p:cNvSpPr txBox="1"/>
          <p:nvPr/>
        </p:nvSpPr>
        <p:spPr>
          <a:xfrm>
            <a:off x="585216" y="2194560"/>
            <a:ext cx="374904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Monthly radiance corrected for stray light; cf_cvg = clear nights</a:t>
            </a:r>
            <a:endParaRPr lang="en-US" sz="950" dirty="0"/>
          </a:p>
        </p:txBody>
      </p:sp>
      <p:sp>
        <p:nvSpPr>
          <p:cNvPr id="18" name="Text 14"/>
          <p:cNvSpPr txBox="1"/>
          <p:nvPr/>
        </p:nvSpPr>
        <p:spPr>
          <a:xfrm>
            <a:off x="585216" y="2468880"/>
            <a:ext cx="3749040" cy="256032"/>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 xml:space="preserve">Role:  </a:t>
            </a:r>
            <a:pPr indent="0" marL="0">
              <a:buNone/>
            </a:pPr>
            <a:r>
              <a:rPr lang="en-US" sz="950" dirty="0">
                <a:solidFill>
                  <a:srgbClr val="231F20"/>
                </a:solidFill>
                <a:latin typeface="Calibri" pitchFamily="34" charset="0"/>
                <a:ea typeface="Calibri" pitchFamily="34" charset="-122"/>
                <a:cs typeface="Calibri" pitchFamily="34" charset="-120"/>
              </a:rPr>
              <a:t>S1 seasonality, S3 forecast, S4 shocks</a:t>
            </a:r>
            <a:endParaRPr lang="en-US" sz="950" dirty="0"/>
          </a:p>
        </p:txBody>
      </p:sp>
      <p:sp>
        <p:nvSpPr>
          <p:cNvPr id="19" name="Shape 15"/>
          <p:cNvSpPr/>
          <p:nvPr/>
        </p:nvSpPr>
        <p:spPr>
          <a:xfrm>
            <a:off x="4663440" y="1325880"/>
            <a:ext cx="4023360" cy="1463040"/>
          </a:xfrm>
          <a:prstGeom prst="roundRect">
            <a:avLst>
              <a:gd name="adj" fmla="val 5000"/>
            </a:avLst>
          </a:prstGeom>
          <a:solidFill>
            <a:srgbClr val="F4F7F5"/>
          </a:solidFill>
          <a:ln w="9525">
            <a:solidFill>
              <a:srgbClr val="D5DED9"/>
            </a:solidFill>
            <a:prstDash val="solid"/>
          </a:ln>
        </p:spPr>
      </p:sp>
      <p:sp>
        <p:nvSpPr>
          <p:cNvPr id="20" name="Shape 16"/>
          <p:cNvSpPr/>
          <p:nvPr/>
        </p:nvSpPr>
        <p:spPr>
          <a:xfrm>
            <a:off x="4791456" y="1453896"/>
            <a:ext cx="457200" cy="457200"/>
          </a:xfrm>
          <a:prstGeom prst="ellipse">
            <a:avLst/>
          </a:prstGeom>
          <a:solidFill>
            <a:srgbClr val="00A86A">
              <a:alpha val="22000"/>
            </a:srgbClr>
          </a:solidFill>
          <a:ln w="12700">
            <a:solidFill>
              <a:srgbClr val="00A86A">
                <a:alpha val="0"/>
              </a:srgbClr>
            </a:solidFill>
            <a:prstDash val="solid"/>
          </a:ln>
        </p:spPr>
      </p:sp>
      <p:pic>
        <p:nvPicPr>
          <p:cNvPr id="21" name="Image 1" descr="preencoded.png">    </p:cNvPr>
          <p:cNvPicPr>
            <a:picLocks noChangeAspect="1"/>
          </p:cNvPicPr>
          <p:nvPr/>
        </p:nvPicPr>
        <p:blipFill>
          <a:blip r:embed="rId2"/>
          <a:stretch>
            <a:fillRect/>
          </a:stretch>
        </p:blipFill>
        <p:spPr>
          <a:xfrm>
            <a:off x="4901184" y="1563624"/>
            <a:ext cx="237744" cy="237744"/>
          </a:xfrm>
          <a:prstGeom prst="rect">
            <a:avLst/>
          </a:prstGeom>
        </p:spPr>
      </p:pic>
      <p:sp>
        <p:nvSpPr>
          <p:cNvPr id="22" name="Text 17"/>
          <p:cNvSpPr txBox="1"/>
          <p:nvPr/>
        </p:nvSpPr>
        <p:spPr>
          <a:xfrm>
            <a:off x="5349240" y="14173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VIIRS VNL V2.1 / V2.2 · annual</a:t>
            </a:r>
            <a:endParaRPr lang="en-US" sz="1200" dirty="0"/>
          </a:p>
        </p:txBody>
      </p:sp>
      <p:sp>
        <p:nvSpPr>
          <p:cNvPr id="23" name="Text 18"/>
          <p:cNvSpPr txBox="1"/>
          <p:nvPr/>
        </p:nvSpPr>
        <p:spPr>
          <a:xfrm>
            <a:off x="5349240" y="16733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NOAA/VIIRS/DNB/ANNUAL_V21 · _V22</a:t>
            </a:r>
            <a:endParaRPr lang="en-US" sz="850" dirty="0"/>
          </a:p>
        </p:txBody>
      </p:sp>
      <p:sp>
        <p:nvSpPr>
          <p:cNvPr id="24" name="Text 19"/>
          <p:cNvSpPr txBox="1"/>
          <p:nvPr/>
        </p:nvSpPr>
        <p:spPr>
          <a:xfrm>
            <a:off x="4791456" y="1984248"/>
            <a:ext cx="3749040" cy="201168"/>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2013–2021 / 2022 → · ~464 m · average_masked</a:t>
            </a:r>
            <a:endParaRPr lang="en-US" sz="950" dirty="0"/>
          </a:p>
        </p:txBody>
      </p:sp>
      <p:sp>
        <p:nvSpPr>
          <p:cNvPr id="25" name="Text 20"/>
          <p:cNvSpPr txBox="1"/>
          <p:nvPr/>
        </p:nvSpPr>
        <p:spPr>
          <a:xfrm>
            <a:off x="4791456" y="2194560"/>
            <a:ext cx="374904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Annual radiance, background and ephemeral lights masked by EOG</a:t>
            </a:r>
            <a:endParaRPr lang="en-US" sz="950" dirty="0"/>
          </a:p>
        </p:txBody>
      </p:sp>
      <p:sp>
        <p:nvSpPr>
          <p:cNvPr id="26" name="Text 21"/>
          <p:cNvSpPr txBox="1"/>
          <p:nvPr/>
        </p:nvSpPr>
        <p:spPr>
          <a:xfrm>
            <a:off x="4791456" y="2468880"/>
            <a:ext cx="3749040" cy="256032"/>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 xml:space="preserve">Role:  </a:t>
            </a:r>
            <a:pPr indent="0" marL="0">
              <a:buNone/>
            </a:pPr>
            <a:r>
              <a:rPr lang="en-US" sz="950" dirty="0">
                <a:solidFill>
                  <a:srgbClr val="231F20"/>
                </a:solidFill>
                <a:latin typeface="Calibri" pitchFamily="34" charset="0"/>
                <a:ea typeface="Calibri" pitchFamily="34" charset="-122"/>
                <a:cs typeface="Calibri" pitchFamily="34" charset="-120"/>
              </a:rPr>
              <a:t>Annual levels for S1–S3, S5, S6; background mask</a:t>
            </a:r>
            <a:endParaRPr lang="en-US" sz="950" dirty="0"/>
          </a:p>
        </p:txBody>
      </p:sp>
      <p:sp>
        <p:nvSpPr>
          <p:cNvPr id="27" name="Shape 22"/>
          <p:cNvSpPr/>
          <p:nvPr/>
        </p:nvSpPr>
        <p:spPr>
          <a:xfrm>
            <a:off x="457200" y="2926080"/>
            <a:ext cx="4023360" cy="1463040"/>
          </a:xfrm>
          <a:prstGeom prst="roundRect">
            <a:avLst>
              <a:gd name="adj" fmla="val 5000"/>
            </a:avLst>
          </a:prstGeom>
          <a:solidFill>
            <a:srgbClr val="F4F7F5"/>
          </a:solidFill>
          <a:ln w="9525">
            <a:solidFill>
              <a:srgbClr val="D5DED9"/>
            </a:solidFill>
            <a:prstDash val="solid"/>
          </a:ln>
        </p:spPr>
      </p:sp>
      <p:sp>
        <p:nvSpPr>
          <p:cNvPr id="28" name="Shape 23"/>
          <p:cNvSpPr/>
          <p:nvPr/>
        </p:nvSpPr>
        <p:spPr>
          <a:xfrm>
            <a:off x="585216" y="3054096"/>
            <a:ext cx="457200" cy="457200"/>
          </a:xfrm>
          <a:prstGeom prst="ellipse">
            <a:avLst/>
          </a:prstGeom>
          <a:solidFill>
            <a:srgbClr val="00A86A">
              <a:alpha val="22000"/>
            </a:srgbClr>
          </a:solidFill>
          <a:ln w="12700">
            <a:solidFill>
              <a:srgbClr val="00A86A">
                <a:alpha val="0"/>
              </a:srgbClr>
            </a:solidFill>
            <a:prstDash val="solid"/>
          </a:ln>
        </p:spPr>
      </p:sp>
      <p:pic>
        <p:nvPicPr>
          <p:cNvPr id="29" name="Image 2" descr="preencoded.png">    </p:cNvPr>
          <p:cNvPicPr>
            <a:picLocks noChangeAspect="1"/>
          </p:cNvPicPr>
          <p:nvPr/>
        </p:nvPicPr>
        <p:blipFill>
          <a:blip r:embed="rId3"/>
          <a:stretch>
            <a:fillRect/>
          </a:stretch>
        </p:blipFill>
        <p:spPr>
          <a:xfrm>
            <a:off x="694944" y="3163824"/>
            <a:ext cx="237744" cy="237744"/>
          </a:xfrm>
          <a:prstGeom prst="rect">
            <a:avLst/>
          </a:prstGeom>
        </p:spPr>
      </p:pic>
      <p:sp>
        <p:nvSpPr>
          <p:cNvPr id="30" name="Text 24"/>
          <p:cNvSpPr txBox="1"/>
          <p:nvPr/>
        </p:nvSpPr>
        <p:spPr>
          <a:xfrm>
            <a:off x="1143000" y="30175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Black Marble VNP46A2 · daily</a:t>
            </a:r>
            <a:endParaRPr lang="en-US" sz="1200" dirty="0"/>
          </a:p>
        </p:txBody>
      </p:sp>
      <p:sp>
        <p:nvSpPr>
          <p:cNvPr id="31" name="Text 25"/>
          <p:cNvSpPr txBox="1"/>
          <p:nvPr/>
        </p:nvSpPr>
        <p:spPr>
          <a:xfrm>
            <a:off x="1143000" y="32735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NASA/VIIRS/002/VNP46A2</a:t>
            </a:r>
            <a:endParaRPr lang="en-US" sz="850" dirty="0"/>
          </a:p>
        </p:txBody>
      </p:sp>
      <p:sp>
        <p:nvSpPr>
          <p:cNvPr id="32" name="Text 26"/>
          <p:cNvSpPr txBox="1"/>
          <p:nvPr/>
        </p:nvSpPr>
        <p:spPr>
          <a:xfrm>
            <a:off x="585216" y="3584448"/>
            <a:ext cx="3749040" cy="201168"/>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2012 → · ~500 m · BRDF / Moon correction</a:t>
            </a:r>
            <a:endParaRPr lang="en-US" sz="950" dirty="0"/>
          </a:p>
        </p:txBody>
      </p:sp>
      <p:sp>
        <p:nvSpPr>
          <p:cNvPr id="33" name="Text 27"/>
          <p:cNvSpPr txBox="1"/>
          <p:nvPr/>
        </p:nvSpPr>
        <p:spPr>
          <a:xfrm>
            <a:off x="585216" y="3794760"/>
            <a:ext cx="374904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Radiance for every night; quality flag 0–1, clear sky, snow-free</a:t>
            </a:r>
            <a:endParaRPr lang="en-US" sz="950" dirty="0"/>
          </a:p>
        </p:txBody>
      </p:sp>
      <p:sp>
        <p:nvSpPr>
          <p:cNvPr id="34" name="Text 28"/>
          <p:cNvSpPr txBox="1"/>
          <p:nvPr/>
        </p:nvSpPr>
        <p:spPr>
          <a:xfrm>
            <a:off x="585216" y="4069080"/>
            <a:ext cx="3749040" cy="256032"/>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 xml:space="preserve">Role:  </a:t>
            </a:r>
            <a:pPr indent="0" marL="0">
              <a:buNone/>
            </a:pPr>
            <a:r>
              <a:rPr lang="en-US" sz="950" dirty="0">
                <a:solidFill>
                  <a:srgbClr val="231F20"/>
                </a:solidFill>
                <a:latin typeface="Calibri" pitchFamily="34" charset="0"/>
                <a:ea typeface="Calibri" pitchFamily="34" charset="-122"/>
                <a:cs typeface="Calibri" pitchFamily="34" charset="-120"/>
              </a:rPr>
              <a:t>S4 daily index around events</a:t>
            </a:r>
            <a:endParaRPr lang="en-US" sz="950" dirty="0"/>
          </a:p>
        </p:txBody>
      </p:sp>
      <p:sp>
        <p:nvSpPr>
          <p:cNvPr id="35" name="Shape 29"/>
          <p:cNvSpPr/>
          <p:nvPr/>
        </p:nvSpPr>
        <p:spPr>
          <a:xfrm>
            <a:off x="4663440" y="2926080"/>
            <a:ext cx="4023360" cy="1463040"/>
          </a:xfrm>
          <a:prstGeom prst="roundRect">
            <a:avLst>
              <a:gd name="adj" fmla="val 5000"/>
            </a:avLst>
          </a:prstGeom>
          <a:solidFill>
            <a:srgbClr val="F4F7F5"/>
          </a:solidFill>
          <a:ln w="9525">
            <a:solidFill>
              <a:srgbClr val="D5DED9"/>
            </a:solidFill>
            <a:prstDash val="solid"/>
          </a:ln>
        </p:spPr>
      </p:sp>
      <p:sp>
        <p:nvSpPr>
          <p:cNvPr id="36" name="Shape 30"/>
          <p:cNvSpPr/>
          <p:nvPr/>
        </p:nvSpPr>
        <p:spPr>
          <a:xfrm>
            <a:off x="4791456" y="3054096"/>
            <a:ext cx="457200" cy="457200"/>
          </a:xfrm>
          <a:prstGeom prst="ellipse">
            <a:avLst/>
          </a:prstGeom>
          <a:solidFill>
            <a:srgbClr val="00A86A">
              <a:alpha val="22000"/>
            </a:srgbClr>
          </a:solidFill>
          <a:ln w="12700">
            <a:solidFill>
              <a:srgbClr val="00A86A">
                <a:alpha val="0"/>
              </a:srgbClr>
            </a:solidFill>
            <a:prstDash val="solid"/>
          </a:ln>
        </p:spPr>
      </p:sp>
      <p:pic>
        <p:nvPicPr>
          <p:cNvPr id="37" name="Image 3" descr="preencoded.png">    </p:cNvPr>
          <p:cNvPicPr>
            <a:picLocks noChangeAspect="1"/>
          </p:cNvPicPr>
          <p:nvPr/>
        </p:nvPicPr>
        <p:blipFill>
          <a:blip r:embed="rId4"/>
          <a:stretch>
            <a:fillRect/>
          </a:stretch>
        </p:blipFill>
        <p:spPr>
          <a:xfrm>
            <a:off x="4901184" y="3163824"/>
            <a:ext cx="237744" cy="237744"/>
          </a:xfrm>
          <a:prstGeom prst="rect">
            <a:avLst/>
          </a:prstGeom>
        </p:spPr>
      </p:pic>
      <p:sp>
        <p:nvSpPr>
          <p:cNvPr id="38" name="Text 31"/>
          <p:cNvSpPr txBox="1"/>
          <p:nvPr/>
        </p:nvSpPr>
        <p:spPr>
          <a:xfrm>
            <a:off x="5349240" y="30175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DMSP-OLS · harmonised</a:t>
            </a:r>
            <a:endParaRPr lang="en-US" sz="1200" dirty="0"/>
          </a:p>
        </p:txBody>
      </p:sp>
      <p:sp>
        <p:nvSpPr>
          <p:cNvPr id="39" name="Text 32"/>
          <p:cNvSpPr txBox="1"/>
          <p:nvPr/>
        </p:nvSpPr>
        <p:spPr>
          <a:xfrm>
            <a:off x="5349240" y="32735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NOAA/DMSP-OLS · sat-io Harmonized_NTL</a:t>
            </a:r>
            <a:endParaRPr lang="en-US" sz="850" dirty="0"/>
          </a:p>
        </p:txBody>
      </p:sp>
      <p:sp>
        <p:nvSpPr>
          <p:cNvPr id="40" name="Text 33"/>
          <p:cNvSpPr txBox="1"/>
          <p:nvPr/>
        </p:nvSpPr>
        <p:spPr>
          <a:xfrm>
            <a:off x="4791456" y="3584448"/>
            <a:ext cx="3749040" cy="201168"/>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1992–2013 (+ DMSP-like VIIRS) · ~1 km · DN 0–63</a:t>
            </a:r>
            <a:endParaRPr lang="en-US" sz="950" dirty="0"/>
          </a:p>
        </p:txBody>
      </p:sp>
      <p:sp>
        <p:nvSpPr>
          <p:cNvPr id="41" name="Text 34"/>
          <p:cNvSpPr txBox="1"/>
          <p:nvPr/>
        </p:nvSpPr>
        <p:spPr>
          <a:xfrm>
            <a:off x="4791456" y="3794760"/>
            <a:ext cx="374904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Digital numbers, saturated at 63 in city centres; DN &gt; 7 kept</a:t>
            </a:r>
            <a:endParaRPr lang="en-US" sz="950" dirty="0"/>
          </a:p>
        </p:txBody>
      </p:sp>
      <p:sp>
        <p:nvSpPr>
          <p:cNvPr id="42" name="Text 35"/>
          <p:cNvSpPr txBox="1"/>
          <p:nvPr/>
        </p:nvSpPr>
        <p:spPr>
          <a:xfrm>
            <a:off x="4791456" y="4069080"/>
            <a:ext cx="3749040" cy="256032"/>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 xml:space="preserve">Role:  </a:t>
            </a:r>
            <a:pPr indent="0" marL="0">
              <a:buNone/>
            </a:pPr>
            <a:r>
              <a:rPr lang="en-US" sz="950" dirty="0">
                <a:solidFill>
                  <a:srgbClr val="231F20"/>
                </a:solidFill>
                <a:latin typeface="Calibri" pitchFamily="34" charset="0"/>
                <a:ea typeface="Calibri" pitchFamily="34" charset="-122"/>
                <a:cs typeface="Calibri" pitchFamily="34" charset="-120"/>
              </a:rPr>
              <a:t>S1 long series, S3 long-run elasticity</a:t>
            </a:r>
            <a:endParaRPr lang="en-US" sz="950" dirty="0"/>
          </a:p>
        </p:txBody>
      </p:sp>
      <p:sp>
        <p:nvSpPr>
          <p:cNvPr id="43" name="Text 36"/>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Elvidge et al. (2017, 2021); Román et al. (2018); Li et al. (2020) · IDs checked against the Earth Engine catalogue on every run</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DATA (2/3)</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Who lives there, and what has been built?</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8229600" cy="566928"/>
          </a:xfrm>
          <a:prstGeom prst="roundRect">
            <a:avLst>
              <a:gd name="adj" fmla="val 9677"/>
            </a:avLst>
          </a:prstGeom>
          <a:solidFill>
            <a:srgbClr val="F4F7F5"/>
          </a:solidFill>
          <a:ln w="9525">
            <a:solidFill>
              <a:srgbClr val="D5DED9"/>
            </a:solidFill>
            <a:prstDash val="solid"/>
          </a:ln>
        </p:spPr>
      </p:sp>
      <p:sp>
        <p:nvSpPr>
          <p:cNvPr id="12" name="Shape 9"/>
          <p:cNvSpPr/>
          <p:nvPr/>
        </p:nvSpPr>
        <p:spPr>
          <a:xfrm>
            <a:off x="566928" y="1417320"/>
            <a:ext cx="384048" cy="384048"/>
          </a:xfrm>
          <a:prstGeom prst="ellipse">
            <a:avLst/>
          </a:prstGeom>
          <a:solidFill>
            <a:srgbClr val="0E7C86">
              <a:alpha val="22000"/>
            </a:srgbClr>
          </a:solidFill>
          <a:ln w="12700">
            <a:solidFill>
              <a:srgbClr val="0E7C86">
                <a:alpha val="0"/>
              </a:srgbClr>
            </a:solidFill>
            <a:prstDash val="solid"/>
          </a:ln>
        </p:spPr>
      </p:sp>
      <p:pic>
        <p:nvPicPr>
          <p:cNvPr id="13" name="Image 0" descr="preencoded.png">    </p:cNvPr>
          <p:cNvPicPr>
            <a:picLocks noChangeAspect="1"/>
          </p:cNvPicPr>
          <p:nvPr/>
        </p:nvPicPr>
        <p:blipFill>
          <a:blip r:embed="rId1"/>
          <a:stretch>
            <a:fillRect/>
          </a:stretch>
        </p:blipFill>
        <p:spPr>
          <a:xfrm>
            <a:off x="659100" y="1509492"/>
            <a:ext cx="199705" cy="199705"/>
          </a:xfrm>
          <a:prstGeom prst="rect">
            <a:avLst/>
          </a:prstGeom>
        </p:spPr>
      </p:pic>
      <p:sp>
        <p:nvSpPr>
          <p:cNvPr id="14" name="Text 10"/>
          <p:cNvSpPr txBox="1"/>
          <p:nvPr/>
        </p:nvSpPr>
        <p:spPr>
          <a:xfrm>
            <a:off x="1051560" y="1380744"/>
            <a:ext cx="27432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GHSL GHS-POP R2023A</a:t>
            </a:r>
            <a:endParaRPr lang="en-US" sz="1150" dirty="0"/>
          </a:p>
        </p:txBody>
      </p:sp>
      <p:sp>
        <p:nvSpPr>
          <p:cNvPr id="15" name="Text 11"/>
          <p:cNvSpPr txBox="1"/>
          <p:nvPr/>
        </p:nvSpPr>
        <p:spPr>
          <a:xfrm>
            <a:off x="1051560" y="1627632"/>
            <a:ext cx="2743200" cy="201168"/>
          </a:xfrm>
          <a:prstGeom prst="rect">
            <a:avLst/>
          </a:prstGeom>
          <a:noFill/>
          <a:ln/>
        </p:spPr>
        <p:txBody>
          <a:bodyPr wrap="square" lIns="0" tIns="0" rIns="0" bIns="0" rtlCol="0" anchor="t"/>
          <a:lstStyle/>
          <a:p>
            <a:pPr indent="0" marL="0">
              <a:buNone/>
            </a:pPr>
            <a:r>
              <a:rPr lang="en-US" sz="800" dirty="0">
                <a:solidFill>
                  <a:srgbClr val="00704A"/>
                </a:solidFill>
                <a:latin typeface="Courier New" pitchFamily="34" charset="0"/>
                <a:ea typeface="Courier New" pitchFamily="34" charset="-122"/>
                <a:cs typeface="Courier New" pitchFamily="34" charset="-120"/>
              </a:rPr>
              <a:t>JRC/GHSL/P2023A/GHS_POP</a:t>
            </a:r>
            <a:endParaRPr lang="en-US" sz="800" dirty="0"/>
          </a:p>
        </p:txBody>
      </p:sp>
      <p:sp>
        <p:nvSpPr>
          <p:cNvPr id="16" name="Text 12"/>
          <p:cNvSpPr txBox="1"/>
          <p:nvPr/>
        </p:nvSpPr>
        <p:spPr>
          <a:xfrm>
            <a:off x="3840480" y="1380744"/>
            <a:ext cx="4754880" cy="219456"/>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100 m · 1975–2030, 5-year epochs · population_count</a:t>
            </a:r>
            <a:endParaRPr lang="en-US" sz="950" dirty="0"/>
          </a:p>
        </p:txBody>
      </p:sp>
      <p:sp>
        <p:nvSpPr>
          <p:cNvPr id="17" name="Text 13"/>
          <p:cNvSpPr txBox="1"/>
          <p:nvPr/>
        </p:nvSpPr>
        <p:spPr>
          <a:xfrm>
            <a:off x="3840480" y="1600200"/>
            <a:ext cx="475488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Light per capita (S2, S5), inhabited pixels ≥ 5 people, population in the dark, flare test</a:t>
            </a:r>
            <a:endParaRPr lang="en-US" sz="950" dirty="0"/>
          </a:p>
        </p:txBody>
      </p:sp>
      <p:sp>
        <p:nvSpPr>
          <p:cNvPr id="18" name="Shape 14"/>
          <p:cNvSpPr/>
          <p:nvPr/>
        </p:nvSpPr>
        <p:spPr>
          <a:xfrm>
            <a:off x="457200" y="1965960"/>
            <a:ext cx="8229600" cy="566928"/>
          </a:xfrm>
          <a:prstGeom prst="roundRect">
            <a:avLst>
              <a:gd name="adj" fmla="val 9677"/>
            </a:avLst>
          </a:prstGeom>
          <a:solidFill>
            <a:srgbClr val="F4F7F5"/>
          </a:solidFill>
          <a:ln w="9525">
            <a:solidFill>
              <a:srgbClr val="D5DED9"/>
            </a:solidFill>
            <a:prstDash val="solid"/>
          </a:ln>
        </p:spPr>
      </p:sp>
      <p:sp>
        <p:nvSpPr>
          <p:cNvPr id="19" name="Shape 15"/>
          <p:cNvSpPr/>
          <p:nvPr/>
        </p:nvSpPr>
        <p:spPr>
          <a:xfrm>
            <a:off x="566928" y="2057400"/>
            <a:ext cx="384048" cy="384048"/>
          </a:xfrm>
          <a:prstGeom prst="ellipse">
            <a:avLst/>
          </a:prstGeom>
          <a:solidFill>
            <a:srgbClr val="0E7C86">
              <a:alpha val="22000"/>
            </a:srgbClr>
          </a:solidFill>
          <a:ln w="12700">
            <a:solidFill>
              <a:srgbClr val="0E7C86">
                <a:alpha val="0"/>
              </a:srgbClr>
            </a:solidFill>
            <a:prstDash val="solid"/>
          </a:ln>
        </p:spPr>
      </p:sp>
      <p:pic>
        <p:nvPicPr>
          <p:cNvPr id="20" name="Image 1" descr="preencoded.png">    </p:cNvPr>
          <p:cNvPicPr>
            <a:picLocks noChangeAspect="1"/>
          </p:cNvPicPr>
          <p:nvPr/>
        </p:nvPicPr>
        <p:blipFill>
          <a:blip r:embed="rId2"/>
          <a:stretch>
            <a:fillRect/>
          </a:stretch>
        </p:blipFill>
        <p:spPr>
          <a:xfrm>
            <a:off x="659100" y="2149572"/>
            <a:ext cx="199705" cy="199705"/>
          </a:xfrm>
          <a:prstGeom prst="rect">
            <a:avLst/>
          </a:prstGeom>
        </p:spPr>
      </p:pic>
      <p:sp>
        <p:nvSpPr>
          <p:cNvPr id="21" name="Text 16"/>
          <p:cNvSpPr txBox="1"/>
          <p:nvPr/>
        </p:nvSpPr>
        <p:spPr>
          <a:xfrm>
            <a:off x="1051560" y="2020824"/>
            <a:ext cx="27432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WorldPop</a:t>
            </a:r>
            <a:endParaRPr lang="en-US" sz="1150" dirty="0"/>
          </a:p>
        </p:txBody>
      </p:sp>
      <p:sp>
        <p:nvSpPr>
          <p:cNvPr id="22" name="Text 17"/>
          <p:cNvSpPr txBox="1"/>
          <p:nvPr/>
        </p:nvSpPr>
        <p:spPr>
          <a:xfrm>
            <a:off x="1051560" y="2267712"/>
            <a:ext cx="2743200" cy="201168"/>
          </a:xfrm>
          <a:prstGeom prst="rect">
            <a:avLst/>
          </a:prstGeom>
          <a:noFill/>
          <a:ln/>
        </p:spPr>
        <p:txBody>
          <a:bodyPr wrap="square" lIns="0" tIns="0" rIns="0" bIns="0" rtlCol="0" anchor="t"/>
          <a:lstStyle/>
          <a:p>
            <a:pPr indent="0" marL="0">
              <a:buNone/>
            </a:pPr>
            <a:r>
              <a:rPr lang="en-US" sz="800" dirty="0">
                <a:solidFill>
                  <a:srgbClr val="00704A"/>
                </a:solidFill>
                <a:latin typeface="Courier New" pitchFamily="34" charset="0"/>
                <a:ea typeface="Courier New" pitchFamily="34" charset="-122"/>
                <a:cs typeface="Courier New" pitchFamily="34" charset="-120"/>
              </a:rPr>
              <a:t>WorldPop/GP/100m/pop</a:t>
            </a:r>
            <a:endParaRPr lang="en-US" sz="800" dirty="0"/>
          </a:p>
        </p:txBody>
      </p:sp>
      <p:sp>
        <p:nvSpPr>
          <p:cNvPr id="23" name="Text 18"/>
          <p:cNvSpPr txBox="1"/>
          <p:nvPr/>
        </p:nvSpPr>
        <p:spPr>
          <a:xfrm>
            <a:off x="3840480" y="2020824"/>
            <a:ext cx="4754880" cy="219456"/>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~100 m · 2000–2020 · population</a:t>
            </a:r>
            <a:endParaRPr lang="en-US" sz="950" dirty="0"/>
          </a:p>
        </p:txBody>
      </p:sp>
      <p:sp>
        <p:nvSpPr>
          <p:cNvPr id="24" name="Text 19"/>
          <p:cNvSpPr txBox="1"/>
          <p:nvPr/>
        </p:nvSpPr>
        <p:spPr>
          <a:xfrm>
            <a:off x="3840480" y="2240280"/>
            <a:ext cx="475488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Alternative population source (pop_source = "worldpop")</a:t>
            </a:r>
            <a:endParaRPr lang="en-US" sz="950" dirty="0"/>
          </a:p>
        </p:txBody>
      </p:sp>
      <p:sp>
        <p:nvSpPr>
          <p:cNvPr id="25" name="Shape 20"/>
          <p:cNvSpPr/>
          <p:nvPr/>
        </p:nvSpPr>
        <p:spPr>
          <a:xfrm>
            <a:off x="457200" y="2606040"/>
            <a:ext cx="8229600" cy="566928"/>
          </a:xfrm>
          <a:prstGeom prst="roundRect">
            <a:avLst>
              <a:gd name="adj" fmla="val 9677"/>
            </a:avLst>
          </a:prstGeom>
          <a:solidFill>
            <a:srgbClr val="F4F7F5"/>
          </a:solidFill>
          <a:ln w="9525">
            <a:solidFill>
              <a:srgbClr val="D5DED9"/>
            </a:solidFill>
            <a:prstDash val="solid"/>
          </a:ln>
        </p:spPr>
      </p:sp>
      <p:sp>
        <p:nvSpPr>
          <p:cNvPr id="26" name="Shape 21"/>
          <p:cNvSpPr/>
          <p:nvPr/>
        </p:nvSpPr>
        <p:spPr>
          <a:xfrm>
            <a:off x="566928" y="2697480"/>
            <a:ext cx="384048" cy="384048"/>
          </a:xfrm>
          <a:prstGeom prst="ellipse">
            <a:avLst/>
          </a:prstGeom>
          <a:solidFill>
            <a:srgbClr val="0E7C86">
              <a:alpha val="22000"/>
            </a:srgbClr>
          </a:solidFill>
          <a:ln w="12700">
            <a:solidFill>
              <a:srgbClr val="0E7C86">
                <a:alpha val="0"/>
              </a:srgbClr>
            </a:solidFill>
            <a:prstDash val="solid"/>
          </a:ln>
        </p:spPr>
      </p:sp>
      <p:pic>
        <p:nvPicPr>
          <p:cNvPr id="27" name="Image 2" descr="preencoded.png">    </p:cNvPr>
          <p:cNvPicPr>
            <a:picLocks noChangeAspect="1"/>
          </p:cNvPicPr>
          <p:nvPr/>
        </p:nvPicPr>
        <p:blipFill>
          <a:blip r:embed="rId3"/>
          <a:stretch>
            <a:fillRect/>
          </a:stretch>
        </p:blipFill>
        <p:spPr>
          <a:xfrm>
            <a:off x="659100" y="2789652"/>
            <a:ext cx="199705" cy="199705"/>
          </a:xfrm>
          <a:prstGeom prst="rect">
            <a:avLst/>
          </a:prstGeom>
        </p:spPr>
      </p:pic>
      <p:sp>
        <p:nvSpPr>
          <p:cNvPr id="28" name="Text 22"/>
          <p:cNvSpPr txBox="1"/>
          <p:nvPr/>
        </p:nvSpPr>
        <p:spPr>
          <a:xfrm>
            <a:off x="1051560" y="2660904"/>
            <a:ext cx="27432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GHSL GHS-SMOD R2023A</a:t>
            </a:r>
            <a:endParaRPr lang="en-US" sz="1150" dirty="0"/>
          </a:p>
        </p:txBody>
      </p:sp>
      <p:sp>
        <p:nvSpPr>
          <p:cNvPr id="29" name="Text 23"/>
          <p:cNvSpPr txBox="1"/>
          <p:nvPr/>
        </p:nvSpPr>
        <p:spPr>
          <a:xfrm>
            <a:off x="1051560" y="2907792"/>
            <a:ext cx="2743200" cy="201168"/>
          </a:xfrm>
          <a:prstGeom prst="rect">
            <a:avLst/>
          </a:prstGeom>
          <a:noFill/>
          <a:ln/>
        </p:spPr>
        <p:txBody>
          <a:bodyPr wrap="square" lIns="0" tIns="0" rIns="0" bIns="0" rtlCol="0" anchor="t"/>
          <a:lstStyle/>
          <a:p>
            <a:pPr indent="0" marL="0">
              <a:buNone/>
            </a:pPr>
            <a:r>
              <a:rPr lang="en-US" sz="800" dirty="0">
                <a:solidFill>
                  <a:srgbClr val="00704A"/>
                </a:solidFill>
                <a:latin typeface="Courier New" pitchFamily="34" charset="0"/>
                <a:ea typeface="Courier New" pitchFamily="34" charset="-122"/>
                <a:cs typeface="Courier New" pitchFamily="34" charset="-120"/>
              </a:rPr>
              <a:t>JRC/GHSL/P2023A/GHS_SMOD_V2-0</a:t>
            </a:r>
            <a:endParaRPr lang="en-US" sz="800" dirty="0"/>
          </a:p>
        </p:txBody>
      </p:sp>
      <p:sp>
        <p:nvSpPr>
          <p:cNvPr id="30" name="Text 24"/>
          <p:cNvSpPr txBox="1"/>
          <p:nvPr/>
        </p:nvSpPr>
        <p:spPr>
          <a:xfrm>
            <a:off x="3840480" y="2660904"/>
            <a:ext cx="4754880" cy="219456"/>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1 km · 5-year epochs · smod_code (degree of urbanisation)</a:t>
            </a:r>
            <a:endParaRPr lang="en-US" sz="950" dirty="0"/>
          </a:p>
        </p:txBody>
      </p:sp>
      <p:sp>
        <p:nvSpPr>
          <p:cNvPr id="31" name="Text 25"/>
          <p:cNvSpPr txBox="1"/>
          <p:nvPr/>
        </p:nvSpPr>
        <p:spPr>
          <a:xfrm>
            <a:off x="3840480" y="2880360"/>
            <a:ext cx="475488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Urban if code ≥ 21 → urban / rural split of light and of population in the dark (S5)</a:t>
            </a:r>
            <a:endParaRPr lang="en-US" sz="950" dirty="0"/>
          </a:p>
        </p:txBody>
      </p:sp>
      <p:sp>
        <p:nvSpPr>
          <p:cNvPr id="32" name="Shape 26"/>
          <p:cNvSpPr/>
          <p:nvPr/>
        </p:nvSpPr>
        <p:spPr>
          <a:xfrm>
            <a:off x="457200" y="3246120"/>
            <a:ext cx="8229600" cy="566928"/>
          </a:xfrm>
          <a:prstGeom prst="roundRect">
            <a:avLst>
              <a:gd name="adj" fmla="val 9677"/>
            </a:avLst>
          </a:prstGeom>
          <a:solidFill>
            <a:srgbClr val="F4F7F5"/>
          </a:solidFill>
          <a:ln w="9525">
            <a:solidFill>
              <a:srgbClr val="D5DED9"/>
            </a:solidFill>
            <a:prstDash val="solid"/>
          </a:ln>
        </p:spPr>
      </p:sp>
      <p:sp>
        <p:nvSpPr>
          <p:cNvPr id="33" name="Shape 27"/>
          <p:cNvSpPr/>
          <p:nvPr/>
        </p:nvSpPr>
        <p:spPr>
          <a:xfrm>
            <a:off x="566928" y="3337560"/>
            <a:ext cx="384048" cy="384048"/>
          </a:xfrm>
          <a:prstGeom prst="ellipse">
            <a:avLst/>
          </a:prstGeom>
          <a:solidFill>
            <a:srgbClr val="0E7C86">
              <a:alpha val="22000"/>
            </a:srgbClr>
          </a:solidFill>
          <a:ln w="12700">
            <a:solidFill>
              <a:srgbClr val="0E7C86">
                <a:alpha val="0"/>
              </a:srgbClr>
            </a:solidFill>
            <a:prstDash val="solid"/>
          </a:ln>
        </p:spPr>
      </p:sp>
      <p:pic>
        <p:nvPicPr>
          <p:cNvPr id="34" name="Image 3" descr="preencoded.png">    </p:cNvPr>
          <p:cNvPicPr>
            <a:picLocks noChangeAspect="1"/>
          </p:cNvPicPr>
          <p:nvPr/>
        </p:nvPicPr>
        <p:blipFill>
          <a:blip r:embed="rId4"/>
          <a:stretch>
            <a:fillRect/>
          </a:stretch>
        </p:blipFill>
        <p:spPr>
          <a:xfrm>
            <a:off x="659100" y="3429732"/>
            <a:ext cx="199705" cy="199705"/>
          </a:xfrm>
          <a:prstGeom prst="rect">
            <a:avLst/>
          </a:prstGeom>
        </p:spPr>
      </p:pic>
      <p:sp>
        <p:nvSpPr>
          <p:cNvPr id="35" name="Text 28"/>
          <p:cNvSpPr txBox="1"/>
          <p:nvPr/>
        </p:nvSpPr>
        <p:spPr>
          <a:xfrm>
            <a:off x="1051560" y="3300984"/>
            <a:ext cx="27432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GHSL GHS-BUILT-S R2023A</a:t>
            </a:r>
            <a:endParaRPr lang="en-US" sz="1150" dirty="0"/>
          </a:p>
        </p:txBody>
      </p:sp>
      <p:sp>
        <p:nvSpPr>
          <p:cNvPr id="36" name="Text 29"/>
          <p:cNvSpPr txBox="1"/>
          <p:nvPr/>
        </p:nvSpPr>
        <p:spPr>
          <a:xfrm>
            <a:off x="1051560" y="3547872"/>
            <a:ext cx="2743200" cy="201168"/>
          </a:xfrm>
          <a:prstGeom prst="rect">
            <a:avLst/>
          </a:prstGeom>
          <a:noFill/>
          <a:ln/>
        </p:spPr>
        <p:txBody>
          <a:bodyPr wrap="square" lIns="0" tIns="0" rIns="0" bIns="0" rtlCol="0" anchor="t"/>
          <a:lstStyle/>
          <a:p>
            <a:pPr indent="0" marL="0">
              <a:buNone/>
            </a:pPr>
            <a:r>
              <a:rPr lang="en-US" sz="800" dirty="0">
                <a:solidFill>
                  <a:srgbClr val="00704A"/>
                </a:solidFill>
                <a:latin typeface="Courier New" pitchFamily="34" charset="0"/>
                <a:ea typeface="Courier New" pitchFamily="34" charset="-122"/>
                <a:cs typeface="Courier New" pitchFamily="34" charset="-120"/>
              </a:rPr>
              <a:t>JRC/GHSL/P2023A/GHS_BUILT_S</a:t>
            </a:r>
            <a:endParaRPr lang="en-US" sz="800" dirty="0"/>
          </a:p>
        </p:txBody>
      </p:sp>
      <p:sp>
        <p:nvSpPr>
          <p:cNvPr id="37" name="Text 30"/>
          <p:cNvSpPr txBox="1"/>
          <p:nvPr/>
        </p:nvSpPr>
        <p:spPr>
          <a:xfrm>
            <a:off x="3840480" y="3300984"/>
            <a:ext cx="4754880" cy="219456"/>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100 m (from 10 m) · built_surface, built_surface_nres</a:t>
            </a:r>
            <a:endParaRPr lang="en-US" sz="950" dirty="0"/>
          </a:p>
        </p:txBody>
      </p:sp>
      <p:sp>
        <p:nvSpPr>
          <p:cNvPr id="38" name="Text 31"/>
          <p:cNvSpPr txBox="1"/>
          <p:nvPr/>
        </p:nvSpPr>
        <p:spPr>
          <a:xfrm>
            <a:off x="3840480" y="3520440"/>
            <a:ext cx="475488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Non-residential share of the industrial score (S6); "not built-up" flare test</a:t>
            </a:r>
            <a:endParaRPr lang="en-US" sz="950" dirty="0"/>
          </a:p>
        </p:txBody>
      </p:sp>
      <p:sp>
        <p:nvSpPr>
          <p:cNvPr id="39" name="Shape 32"/>
          <p:cNvSpPr/>
          <p:nvPr/>
        </p:nvSpPr>
        <p:spPr>
          <a:xfrm>
            <a:off x="457200" y="3886200"/>
            <a:ext cx="8229600" cy="566928"/>
          </a:xfrm>
          <a:prstGeom prst="roundRect">
            <a:avLst>
              <a:gd name="adj" fmla="val 9677"/>
            </a:avLst>
          </a:prstGeom>
          <a:solidFill>
            <a:srgbClr val="FFFFFF"/>
          </a:solidFill>
          <a:ln w="9525">
            <a:solidFill>
              <a:srgbClr val="D5DED9"/>
            </a:solidFill>
            <a:prstDash val="dash"/>
          </a:ln>
        </p:spPr>
      </p:sp>
      <p:sp>
        <p:nvSpPr>
          <p:cNvPr id="40" name="Shape 33"/>
          <p:cNvSpPr/>
          <p:nvPr/>
        </p:nvSpPr>
        <p:spPr>
          <a:xfrm>
            <a:off x="566928" y="3977640"/>
            <a:ext cx="384048" cy="384048"/>
          </a:xfrm>
          <a:prstGeom prst="ellipse">
            <a:avLst/>
          </a:prstGeom>
          <a:solidFill>
            <a:srgbClr val="A9B5B0">
              <a:alpha val="22000"/>
            </a:srgbClr>
          </a:solidFill>
          <a:ln w="12700">
            <a:solidFill>
              <a:srgbClr val="A9B5B0">
                <a:alpha val="0"/>
              </a:srgbClr>
            </a:solidFill>
            <a:prstDash val="solid"/>
          </a:ln>
        </p:spPr>
      </p:sp>
      <p:pic>
        <p:nvPicPr>
          <p:cNvPr id="41" name="Image 4" descr="preencoded.png">    </p:cNvPr>
          <p:cNvPicPr>
            <a:picLocks noChangeAspect="1"/>
          </p:cNvPicPr>
          <p:nvPr/>
        </p:nvPicPr>
        <p:blipFill>
          <a:blip r:embed="rId5"/>
          <a:stretch>
            <a:fillRect/>
          </a:stretch>
        </p:blipFill>
        <p:spPr>
          <a:xfrm>
            <a:off x="659100" y="4069812"/>
            <a:ext cx="199705" cy="199705"/>
          </a:xfrm>
          <a:prstGeom prst="rect">
            <a:avLst/>
          </a:prstGeom>
        </p:spPr>
      </p:pic>
      <p:sp>
        <p:nvSpPr>
          <p:cNvPr id="42" name="Text 34"/>
          <p:cNvSpPr txBox="1"/>
          <p:nvPr/>
        </p:nvSpPr>
        <p:spPr>
          <a:xfrm>
            <a:off x="1051560" y="3941064"/>
            <a:ext cx="27432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ESA WorldCover v200</a:t>
            </a:r>
            <a:endParaRPr lang="en-US" sz="1150" dirty="0"/>
          </a:p>
        </p:txBody>
      </p:sp>
      <p:sp>
        <p:nvSpPr>
          <p:cNvPr id="43" name="Text 35"/>
          <p:cNvSpPr txBox="1"/>
          <p:nvPr/>
        </p:nvSpPr>
        <p:spPr>
          <a:xfrm>
            <a:off x="1051560" y="4187952"/>
            <a:ext cx="2743200" cy="201168"/>
          </a:xfrm>
          <a:prstGeom prst="rect">
            <a:avLst/>
          </a:prstGeom>
          <a:noFill/>
          <a:ln/>
        </p:spPr>
        <p:txBody>
          <a:bodyPr wrap="square" lIns="0" tIns="0" rIns="0" bIns="0" rtlCol="0" anchor="t"/>
          <a:lstStyle/>
          <a:p>
            <a:pPr indent="0" marL="0">
              <a:buNone/>
            </a:pPr>
            <a:r>
              <a:rPr lang="en-US" sz="800" dirty="0">
                <a:solidFill>
                  <a:srgbClr val="00704A"/>
                </a:solidFill>
                <a:latin typeface="Courier New" pitchFamily="34" charset="0"/>
                <a:ea typeface="Courier New" pitchFamily="34" charset="-122"/>
                <a:cs typeface="Courier New" pitchFamily="34" charset="-120"/>
              </a:rPr>
              <a:t>ESA/WorldCover/v200</a:t>
            </a:r>
            <a:endParaRPr lang="en-US" sz="800" dirty="0"/>
          </a:p>
        </p:txBody>
      </p:sp>
      <p:sp>
        <p:nvSpPr>
          <p:cNvPr id="44" name="Text 36"/>
          <p:cNvSpPr txBox="1"/>
          <p:nvPr/>
        </p:nvSpPr>
        <p:spPr>
          <a:xfrm>
            <a:off x="3840480" y="3941064"/>
            <a:ext cx="4754880" cy="219456"/>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10 m · 2021 · 11 land-cover classes</a:t>
            </a:r>
            <a:endParaRPr lang="en-US" sz="950" dirty="0"/>
          </a:p>
        </p:txBody>
      </p:sp>
      <p:sp>
        <p:nvSpPr>
          <p:cNvPr id="45" name="Text 37"/>
          <p:cNvSpPr txBox="1"/>
          <p:nvPr/>
        </p:nvSpPr>
        <p:spPr>
          <a:xfrm>
            <a:off x="3840480" y="4160520"/>
            <a:ext cx="475488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Optional: tree, crop, built-up, bare soil, water shares per unit — not used by default</a:t>
            </a:r>
            <a:endParaRPr lang="en-US" sz="950" dirty="0"/>
          </a:p>
        </p:txBody>
      </p:sp>
      <p:sp>
        <p:nvSpPr>
          <p:cNvPr id="46" name="Text 38"/>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Schiavina et al. (2023); Pesaresi et al. (2023), JRC GHSL R2023A; WorldPop (2018); Zanaga et al. (2022)</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DATA (3/3)</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Boundaries, official statistics and validation data</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4023360" cy="1463040"/>
          </a:xfrm>
          <a:prstGeom prst="roundRect">
            <a:avLst>
              <a:gd name="adj" fmla="val 5000"/>
            </a:avLst>
          </a:prstGeom>
          <a:solidFill>
            <a:srgbClr val="F4F7F5"/>
          </a:solidFill>
          <a:ln w="9525">
            <a:solidFill>
              <a:srgbClr val="D5DED9"/>
            </a:solidFill>
            <a:prstDash val="solid"/>
          </a:ln>
        </p:spPr>
      </p:sp>
      <p:sp>
        <p:nvSpPr>
          <p:cNvPr id="12" name="Shape 9"/>
          <p:cNvSpPr/>
          <p:nvPr/>
        </p:nvSpPr>
        <p:spPr>
          <a:xfrm>
            <a:off x="585216" y="1453896"/>
            <a:ext cx="457200" cy="457200"/>
          </a:xfrm>
          <a:prstGeom prst="ellipse">
            <a:avLst/>
          </a:prstGeom>
          <a:solidFill>
            <a:srgbClr val="C4621D">
              <a:alpha val="22000"/>
            </a:srgbClr>
          </a:solidFill>
          <a:ln w="12700">
            <a:solidFill>
              <a:srgbClr val="C4621D">
                <a:alpha val="0"/>
              </a:srgbClr>
            </a:solidFill>
            <a:prstDash val="solid"/>
          </a:ln>
        </p:spPr>
      </p:sp>
      <p:pic>
        <p:nvPicPr>
          <p:cNvPr id="13" name="Image 0" descr="preencoded.png">    </p:cNvPr>
          <p:cNvPicPr>
            <a:picLocks noChangeAspect="1"/>
          </p:cNvPicPr>
          <p:nvPr/>
        </p:nvPicPr>
        <p:blipFill>
          <a:blip r:embed="rId1"/>
          <a:stretch>
            <a:fillRect/>
          </a:stretch>
        </p:blipFill>
        <p:spPr>
          <a:xfrm>
            <a:off x="694944" y="1563624"/>
            <a:ext cx="237744" cy="237744"/>
          </a:xfrm>
          <a:prstGeom prst="rect">
            <a:avLst/>
          </a:prstGeom>
        </p:spPr>
      </p:pic>
      <p:sp>
        <p:nvSpPr>
          <p:cNvPr id="14" name="Text 10"/>
          <p:cNvSpPr txBox="1"/>
          <p:nvPr/>
        </p:nvSpPr>
        <p:spPr>
          <a:xfrm>
            <a:off x="1143000" y="14173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Sentinel-5P TROPOMI NO₂</a:t>
            </a:r>
            <a:endParaRPr lang="en-US" sz="1200" dirty="0"/>
          </a:p>
        </p:txBody>
      </p:sp>
      <p:sp>
        <p:nvSpPr>
          <p:cNvPr id="15" name="Text 11"/>
          <p:cNvSpPr txBox="1"/>
          <p:nvPr/>
        </p:nvSpPr>
        <p:spPr>
          <a:xfrm>
            <a:off x="1143000" y="16733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COPERNICUS/S5P/OFFL/L3_NO2</a:t>
            </a:r>
            <a:endParaRPr lang="en-US" sz="850" dirty="0"/>
          </a:p>
        </p:txBody>
      </p:sp>
      <p:sp>
        <p:nvSpPr>
          <p:cNvPr id="16" name="Text 12"/>
          <p:cNvSpPr txBox="1"/>
          <p:nvPr/>
        </p:nvSpPr>
        <p:spPr>
          <a:xfrm>
            <a:off x="585216" y="2011680"/>
            <a:ext cx="3749040" cy="228600"/>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2018-07 → · ~1.1 km grid · tropospheric column (mol/m²)</a:t>
            </a:r>
            <a:endParaRPr lang="en-US" sz="950" dirty="0"/>
          </a:p>
        </p:txBody>
      </p:sp>
      <p:sp>
        <p:nvSpPr>
          <p:cNvPr id="17" name="Text 13"/>
          <p:cNvSpPr txBox="1"/>
          <p:nvPr/>
        </p:nvSpPr>
        <p:spPr>
          <a:xfrm>
            <a:off x="585216" y="2258568"/>
            <a:ext cx="3749040" cy="457200"/>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 xml:space="preserve">Role:  </a:t>
            </a:r>
            <a:pPr indent="0" marL="0">
              <a:buNone/>
            </a:pPr>
            <a:r>
              <a:rPr lang="en-US" sz="950" dirty="0">
                <a:solidFill>
                  <a:srgbClr val="231F20"/>
                </a:solidFill>
                <a:latin typeface="Calibri" pitchFamily="34" charset="0"/>
                <a:ea typeface="Calibri" pitchFamily="34" charset="-122"/>
                <a:cs typeface="Calibri" pitchFamily="34" charset="-120"/>
              </a:rPr>
              <a:t>Annual mean per unit; Spearman ρ with light (S2); 20% of the industrial score (S6)</a:t>
            </a:r>
            <a:endParaRPr lang="en-US" sz="950" dirty="0"/>
          </a:p>
        </p:txBody>
      </p:sp>
      <p:sp>
        <p:nvSpPr>
          <p:cNvPr id="18" name="Shape 14"/>
          <p:cNvSpPr/>
          <p:nvPr/>
        </p:nvSpPr>
        <p:spPr>
          <a:xfrm>
            <a:off x="4663440" y="1325880"/>
            <a:ext cx="4023360" cy="1463040"/>
          </a:xfrm>
          <a:prstGeom prst="roundRect">
            <a:avLst>
              <a:gd name="adj" fmla="val 5000"/>
            </a:avLst>
          </a:prstGeom>
          <a:solidFill>
            <a:srgbClr val="F4F7F5"/>
          </a:solidFill>
          <a:ln w="9525">
            <a:solidFill>
              <a:srgbClr val="D5DED9"/>
            </a:solidFill>
            <a:prstDash val="solid"/>
          </a:ln>
        </p:spPr>
      </p:sp>
      <p:sp>
        <p:nvSpPr>
          <p:cNvPr id="19" name="Shape 15"/>
          <p:cNvSpPr/>
          <p:nvPr/>
        </p:nvSpPr>
        <p:spPr>
          <a:xfrm>
            <a:off x="4791456" y="1453896"/>
            <a:ext cx="457200" cy="457200"/>
          </a:xfrm>
          <a:prstGeom prst="ellipse">
            <a:avLst/>
          </a:prstGeom>
          <a:solidFill>
            <a:srgbClr val="C4621D">
              <a:alpha val="22000"/>
            </a:srgbClr>
          </a:solidFill>
          <a:ln w="12700">
            <a:solidFill>
              <a:srgbClr val="C4621D">
                <a:alpha val="0"/>
              </a:srgbClr>
            </a:solidFill>
            <a:prstDash val="solid"/>
          </a:ln>
        </p:spPr>
      </p:sp>
      <p:pic>
        <p:nvPicPr>
          <p:cNvPr id="20" name="Image 1" descr="preencoded.png">    </p:cNvPr>
          <p:cNvPicPr>
            <a:picLocks noChangeAspect="1"/>
          </p:cNvPicPr>
          <p:nvPr/>
        </p:nvPicPr>
        <p:blipFill>
          <a:blip r:embed="rId2"/>
          <a:stretch>
            <a:fillRect/>
          </a:stretch>
        </p:blipFill>
        <p:spPr>
          <a:xfrm>
            <a:off x="4901184" y="1563624"/>
            <a:ext cx="237744" cy="237744"/>
          </a:xfrm>
          <a:prstGeom prst="rect">
            <a:avLst/>
          </a:prstGeom>
        </p:spPr>
      </p:pic>
      <p:sp>
        <p:nvSpPr>
          <p:cNvPr id="21" name="Text 16"/>
          <p:cNvSpPr txBox="1"/>
          <p:nvPr/>
        </p:nvSpPr>
        <p:spPr>
          <a:xfrm>
            <a:off x="5349240" y="14173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geoBoundaries CGAZ · FAO GAUL</a:t>
            </a:r>
            <a:endParaRPr lang="en-US" sz="1200" dirty="0"/>
          </a:p>
        </p:txBody>
      </p:sp>
      <p:sp>
        <p:nvSpPr>
          <p:cNvPr id="22" name="Text 17"/>
          <p:cNvSpPr txBox="1"/>
          <p:nvPr/>
        </p:nvSpPr>
        <p:spPr>
          <a:xfrm>
            <a:off x="5349240" y="16733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WM/geoLab/geoBoundaries/600 · FAO/GAUL/2025</a:t>
            </a:r>
            <a:endParaRPr lang="en-US" sz="850" dirty="0"/>
          </a:p>
        </p:txBody>
      </p:sp>
      <p:sp>
        <p:nvSpPr>
          <p:cNvPr id="23" name="Text 18"/>
          <p:cNvSpPr txBox="1"/>
          <p:nvPr/>
        </p:nvSpPr>
        <p:spPr>
          <a:xfrm>
            <a:off x="4791456" y="2011680"/>
            <a:ext cx="3749040" cy="228600"/>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ADM0 countries · ADM1 regions · ADM2 districts</a:t>
            </a:r>
            <a:endParaRPr lang="en-US" sz="950" dirty="0"/>
          </a:p>
        </p:txBody>
      </p:sp>
      <p:sp>
        <p:nvSpPr>
          <p:cNvPr id="24" name="Text 19"/>
          <p:cNvSpPr txBox="1"/>
          <p:nvPr/>
        </p:nvSpPr>
        <p:spPr>
          <a:xfrm>
            <a:off x="4791456" y="2258568"/>
            <a:ext cx="3749040" cy="457200"/>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 xml:space="preserve">Role:  </a:t>
            </a:r>
            <a:pPr indent="0" marL="0">
              <a:buNone/>
            </a:pPr>
            <a:r>
              <a:rPr lang="en-US" sz="950" dirty="0">
                <a:solidFill>
                  <a:srgbClr val="231F20"/>
                </a:solidFill>
                <a:latin typeface="Calibri" pitchFamily="34" charset="0"/>
                <a:ea typeface="Calibri" pitchFamily="34" charset="-122"/>
                <a:cs typeface="Calibri" pitchFamily="34" charset="-120"/>
              </a:rPr>
              <a:t>Units over which every pixel is summed; GAUL 2025 then 2015 if geoBoundaries fails</a:t>
            </a:r>
            <a:endParaRPr lang="en-US" sz="950" dirty="0"/>
          </a:p>
        </p:txBody>
      </p:sp>
      <p:sp>
        <p:nvSpPr>
          <p:cNvPr id="25" name="Shape 20"/>
          <p:cNvSpPr/>
          <p:nvPr/>
        </p:nvSpPr>
        <p:spPr>
          <a:xfrm>
            <a:off x="457200" y="2926080"/>
            <a:ext cx="4023360" cy="1463040"/>
          </a:xfrm>
          <a:prstGeom prst="roundRect">
            <a:avLst>
              <a:gd name="adj" fmla="val 5000"/>
            </a:avLst>
          </a:prstGeom>
          <a:solidFill>
            <a:srgbClr val="F4F7F5"/>
          </a:solidFill>
          <a:ln w="9525">
            <a:solidFill>
              <a:srgbClr val="D5DED9"/>
            </a:solidFill>
            <a:prstDash val="solid"/>
          </a:ln>
        </p:spPr>
      </p:sp>
      <p:sp>
        <p:nvSpPr>
          <p:cNvPr id="26" name="Shape 21"/>
          <p:cNvSpPr/>
          <p:nvPr/>
        </p:nvSpPr>
        <p:spPr>
          <a:xfrm>
            <a:off x="585216" y="3054096"/>
            <a:ext cx="457200" cy="457200"/>
          </a:xfrm>
          <a:prstGeom prst="ellipse">
            <a:avLst/>
          </a:prstGeom>
          <a:solidFill>
            <a:srgbClr val="C4621D">
              <a:alpha val="22000"/>
            </a:srgbClr>
          </a:solidFill>
          <a:ln w="12700">
            <a:solidFill>
              <a:srgbClr val="C4621D">
                <a:alpha val="0"/>
              </a:srgbClr>
            </a:solidFill>
            <a:prstDash val="solid"/>
          </a:ln>
        </p:spPr>
      </p:sp>
      <p:pic>
        <p:nvPicPr>
          <p:cNvPr id="27" name="Image 2" descr="preencoded.png">    </p:cNvPr>
          <p:cNvPicPr>
            <a:picLocks noChangeAspect="1"/>
          </p:cNvPicPr>
          <p:nvPr/>
        </p:nvPicPr>
        <p:blipFill>
          <a:blip r:embed="rId3"/>
          <a:stretch>
            <a:fillRect/>
          </a:stretch>
        </p:blipFill>
        <p:spPr>
          <a:xfrm>
            <a:off x="694944" y="3163824"/>
            <a:ext cx="237744" cy="237744"/>
          </a:xfrm>
          <a:prstGeom prst="rect">
            <a:avLst/>
          </a:prstGeom>
        </p:spPr>
      </p:pic>
      <p:sp>
        <p:nvSpPr>
          <p:cNvPr id="28" name="Text 22"/>
          <p:cNvSpPr txBox="1"/>
          <p:nvPr/>
        </p:nvSpPr>
        <p:spPr>
          <a:xfrm>
            <a:off x="1143000" y="30175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World Bank WDI (API)</a:t>
            </a:r>
            <a:endParaRPr lang="en-US" sz="1200" dirty="0"/>
          </a:p>
        </p:txBody>
      </p:sp>
      <p:sp>
        <p:nvSpPr>
          <p:cNvPr id="29" name="Text 23"/>
          <p:cNvSpPr txBox="1"/>
          <p:nvPr/>
        </p:nvSpPr>
        <p:spPr>
          <a:xfrm>
            <a:off x="1143000" y="32735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NY.GDP.MKTP.KD · EG.ELC.ACCS.ZS · SP.POP.TOTL …</a:t>
            </a:r>
            <a:endParaRPr lang="en-US" sz="850" dirty="0"/>
          </a:p>
        </p:txBody>
      </p:sp>
      <p:sp>
        <p:nvSpPr>
          <p:cNvPr id="30" name="Text 24"/>
          <p:cNvSpPr txBox="1"/>
          <p:nvPr/>
        </p:nvSpPr>
        <p:spPr>
          <a:xfrm>
            <a:off x="585216" y="3611880"/>
            <a:ext cx="3749040" cy="228600"/>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8 indicators · annual · national</a:t>
            </a:r>
            <a:endParaRPr lang="en-US" sz="950" dirty="0"/>
          </a:p>
        </p:txBody>
      </p:sp>
      <p:sp>
        <p:nvSpPr>
          <p:cNvPr id="31" name="Text 25"/>
          <p:cNvSpPr txBox="1"/>
          <p:nvPr/>
        </p:nvSpPr>
        <p:spPr>
          <a:xfrm>
            <a:off x="585216" y="3858768"/>
            <a:ext cx="3749040" cy="457200"/>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 xml:space="preserve">Role:  </a:t>
            </a:r>
            <a:pPr indent="0" marL="0">
              <a:buNone/>
            </a:pPr>
            <a:r>
              <a:rPr lang="en-US" sz="950" dirty="0">
                <a:solidFill>
                  <a:srgbClr val="231F20"/>
                </a:solidFill>
                <a:latin typeface="Calibri" pitchFamily="34" charset="0"/>
                <a:ea typeface="Calibri" pitchFamily="34" charset="-122"/>
                <a:cs typeface="Calibri" pitchFamily="34" charset="-120"/>
              </a:rPr>
              <a:t>Real GDP (S3), electricity access total / urban / rural (S5), population check (±30%)</a:t>
            </a:r>
            <a:endParaRPr lang="en-US" sz="950" dirty="0"/>
          </a:p>
        </p:txBody>
      </p:sp>
      <p:sp>
        <p:nvSpPr>
          <p:cNvPr id="32" name="Shape 26"/>
          <p:cNvSpPr/>
          <p:nvPr/>
        </p:nvSpPr>
        <p:spPr>
          <a:xfrm>
            <a:off x="4663440" y="2926080"/>
            <a:ext cx="4023360" cy="1463040"/>
          </a:xfrm>
          <a:prstGeom prst="roundRect">
            <a:avLst>
              <a:gd name="adj" fmla="val 5000"/>
            </a:avLst>
          </a:prstGeom>
          <a:solidFill>
            <a:srgbClr val="F4F7F5"/>
          </a:solidFill>
          <a:ln w="9525">
            <a:solidFill>
              <a:srgbClr val="D5DED9"/>
            </a:solidFill>
            <a:prstDash val="solid"/>
          </a:ln>
        </p:spPr>
      </p:sp>
      <p:sp>
        <p:nvSpPr>
          <p:cNvPr id="33" name="Shape 27"/>
          <p:cNvSpPr/>
          <p:nvPr/>
        </p:nvSpPr>
        <p:spPr>
          <a:xfrm>
            <a:off x="4791456" y="3054096"/>
            <a:ext cx="457200" cy="457200"/>
          </a:xfrm>
          <a:prstGeom prst="ellipse">
            <a:avLst/>
          </a:prstGeom>
          <a:solidFill>
            <a:srgbClr val="C4621D">
              <a:alpha val="22000"/>
            </a:srgbClr>
          </a:solidFill>
          <a:ln w="12700">
            <a:solidFill>
              <a:srgbClr val="C4621D">
                <a:alpha val="0"/>
              </a:srgbClr>
            </a:solidFill>
            <a:prstDash val="solid"/>
          </a:ln>
        </p:spPr>
      </p:sp>
      <p:pic>
        <p:nvPicPr>
          <p:cNvPr id="34" name="Image 3" descr="preencoded.png">    </p:cNvPr>
          <p:cNvPicPr>
            <a:picLocks noChangeAspect="1"/>
          </p:cNvPicPr>
          <p:nvPr/>
        </p:nvPicPr>
        <p:blipFill>
          <a:blip r:embed="rId4"/>
          <a:stretch>
            <a:fillRect/>
          </a:stretch>
        </p:blipFill>
        <p:spPr>
          <a:xfrm>
            <a:off x="4901184" y="3163824"/>
            <a:ext cx="237744" cy="237744"/>
          </a:xfrm>
          <a:prstGeom prst="rect">
            <a:avLst/>
          </a:prstGeom>
        </p:spPr>
      </p:pic>
      <p:sp>
        <p:nvSpPr>
          <p:cNvPr id="35" name="Text 28"/>
          <p:cNvSpPr txBox="1"/>
          <p:nvPr/>
        </p:nvSpPr>
        <p:spPr>
          <a:xfrm>
            <a:off x="5349240" y="30175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OpenStreetMap (Overpass)</a:t>
            </a:r>
            <a:endParaRPr lang="en-US" sz="1200" dirty="0"/>
          </a:p>
        </p:txBody>
      </p:sp>
      <p:sp>
        <p:nvSpPr>
          <p:cNvPr id="36" name="Text 29"/>
          <p:cNvSpPr txBox="1"/>
          <p:nvPr/>
        </p:nvSpPr>
        <p:spPr>
          <a:xfrm>
            <a:off x="5349240" y="32735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landuse = industrial</a:t>
            </a:r>
            <a:endParaRPr lang="en-US" sz="850" dirty="0"/>
          </a:p>
        </p:txBody>
      </p:sp>
      <p:sp>
        <p:nvSpPr>
          <p:cNvPr id="37" name="Text 30"/>
          <p:cNvSpPr txBox="1"/>
          <p:nvPr/>
        </p:nvSpPr>
        <p:spPr>
          <a:xfrm>
            <a:off x="4791456" y="3611880"/>
            <a:ext cx="3749040" cy="228600"/>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Contributed polygons · completeness varies by country</a:t>
            </a:r>
            <a:endParaRPr lang="en-US" sz="950" dirty="0"/>
          </a:p>
        </p:txBody>
      </p:sp>
      <p:sp>
        <p:nvSpPr>
          <p:cNvPr id="38" name="Text 31"/>
          <p:cNvSpPr txBox="1"/>
          <p:nvPr/>
        </p:nvSpPr>
        <p:spPr>
          <a:xfrm>
            <a:off x="4791456" y="3858768"/>
            <a:ext cx="3749040" cy="457200"/>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 xml:space="preserve">Role:  </a:t>
            </a:r>
            <a:pPr indent="0" marL="0">
              <a:buNone/>
            </a:pPr>
            <a:r>
              <a:rPr lang="en-US" sz="950" dirty="0">
                <a:solidFill>
                  <a:srgbClr val="231F20"/>
                </a:solidFill>
                <a:latin typeface="Calibri" pitchFamily="34" charset="0"/>
                <a:ea typeface="Calibri" pitchFamily="34" charset="-122"/>
                <a:cs typeface="Calibri" pitchFamily="34" charset="-120"/>
              </a:rPr>
              <a:t>Validation only: precision and recall of candidate zones (S6)</a:t>
            </a:r>
            <a:endParaRPr lang="en-US" sz="950" dirty="0"/>
          </a:p>
        </p:txBody>
      </p:sp>
      <p:sp>
        <p:nvSpPr>
          <p:cNvPr id="39" name="Text 32"/>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Copernicus Sentinel-5P (ESA); Runfola et al. (2020); FAO GAUL 2025; World Bank WDI; © OpenStreetMap contributors (ODbL)</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DATA MAP</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Which data feeds which scenario?</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3017520" y="1325880"/>
            <a:ext cx="804672" cy="237744"/>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Cleaning</a:t>
            </a:r>
            <a:endParaRPr lang="en-US" sz="1000" dirty="0"/>
          </a:p>
        </p:txBody>
      </p:sp>
      <p:sp>
        <p:nvSpPr>
          <p:cNvPr id="12" name="Text 9"/>
          <p:cNvSpPr txBox="1"/>
          <p:nvPr/>
        </p:nvSpPr>
        <p:spPr>
          <a:xfrm>
            <a:off x="3822192" y="1325880"/>
            <a:ext cx="804672" cy="237744"/>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S1</a:t>
            </a:r>
            <a:endParaRPr lang="en-US" sz="1000" dirty="0"/>
          </a:p>
        </p:txBody>
      </p:sp>
      <p:sp>
        <p:nvSpPr>
          <p:cNvPr id="13" name="Text 10"/>
          <p:cNvSpPr txBox="1"/>
          <p:nvPr/>
        </p:nvSpPr>
        <p:spPr>
          <a:xfrm>
            <a:off x="4626864" y="1325880"/>
            <a:ext cx="804672" cy="237744"/>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S2</a:t>
            </a:r>
            <a:endParaRPr lang="en-US" sz="1000" dirty="0"/>
          </a:p>
        </p:txBody>
      </p:sp>
      <p:sp>
        <p:nvSpPr>
          <p:cNvPr id="14" name="Text 11"/>
          <p:cNvSpPr txBox="1"/>
          <p:nvPr/>
        </p:nvSpPr>
        <p:spPr>
          <a:xfrm>
            <a:off x="5431536" y="1325880"/>
            <a:ext cx="804672" cy="237744"/>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S3</a:t>
            </a:r>
            <a:endParaRPr lang="en-US" sz="1000" dirty="0"/>
          </a:p>
        </p:txBody>
      </p:sp>
      <p:sp>
        <p:nvSpPr>
          <p:cNvPr id="15" name="Text 12"/>
          <p:cNvSpPr txBox="1"/>
          <p:nvPr/>
        </p:nvSpPr>
        <p:spPr>
          <a:xfrm>
            <a:off x="6236208" y="1325880"/>
            <a:ext cx="804672" cy="237744"/>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S4</a:t>
            </a:r>
            <a:endParaRPr lang="en-US" sz="1000" dirty="0"/>
          </a:p>
        </p:txBody>
      </p:sp>
      <p:sp>
        <p:nvSpPr>
          <p:cNvPr id="16" name="Text 13"/>
          <p:cNvSpPr txBox="1"/>
          <p:nvPr/>
        </p:nvSpPr>
        <p:spPr>
          <a:xfrm>
            <a:off x="7040880" y="1325880"/>
            <a:ext cx="804672" cy="237744"/>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S5</a:t>
            </a:r>
            <a:endParaRPr lang="en-US" sz="1000" dirty="0"/>
          </a:p>
        </p:txBody>
      </p:sp>
      <p:sp>
        <p:nvSpPr>
          <p:cNvPr id="17" name="Text 14"/>
          <p:cNvSpPr txBox="1"/>
          <p:nvPr/>
        </p:nvSpPr>
        <p:spPr>
          <a:xfrm>
            <a:off x="7845552" y="1325880"/>
            <a:ext cx="804672" cy="237744"/>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S6</a:t>
            </a:r>
            <a:endParaRPr lang="en-US" sz="1000" dirty="0"/>
          </a:p>
        </p:txBody>
      </p:sp>
      <p:sp>
        <p:nvSpPr>
          <p:cNvPr id="18" name="Shape 15"/>
          <p:cNvSpPr/>
          <p:nvPr/>
        </p:nvSpPr>
        <p:spPr>
          <a:xfrm>
            <a:off x="457200" y="1600200"/>
            <a:ext cx="8193024" cy="265176"/>
          </a:xfrm>
          <a:prstGeom prst="rect">
            <a:avLst/>
          </a:prstGeom>
          <a:solidFill>
            <a:srgbClr val="F4F7F5"/>
          </a:solidFill>
          <a:ln w="12700">
            <a:solidFill>
              <a:srgbClr val="F4F7F5"/>
            </a:solidFill>
            <a:prstDash val="solid"/>
          </a:ln>
        </p:spPr>
      </p:sp>
      <p:sp>
        <p:nvSpPr>
          <p:cNvPr id="19" name="Text 16"/>
          <p:cNvSpPr txBox="1"/>
          <p:nvPr/>
        </p:nvSpPr>
        <p:spPr>
          <a:xfrm>
            <a:off x="548640" y="1600200"/>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VIIRS VNL monthly</a:t>
            </a:r>
            <a:endParaRPr lang="en-US" sz="1000" dirty="0"/>
          </a:p>
        </p:txBody>
      </p:sp>
      <p:sp>
        <p:nvSpPr>
          <p:cNvPr id="20" name="Shape 17"/>
          <p:cNvSpPr/>
          <p:nvPr/>
        </p:nvSpPr>
        <p:spPr>
          <a:xfrm>
            <a:off x="3351276" y="1664208"/>
            <a:ext cx="137160" cy="137160"/>
          </a:xfrm>
          <a:prstGeom prst="ellipse">
            <a:avLst/>
          </a:prstGeom>
          <a:solidFill>
            <a:srgbClr val="D49A00"/>
          </a:solidFill>
          <a:ln w="15875">
            <a:solidFill>
              <a:srgbClr val="D49A00"/>
            </a:solidFill>
            <a:prstDash val="solid"/>
          </a:ln>
        </p:spPr>
      </p:sp>
      <p:sp>
        <p:nvSpPr>
          <p:cNvPr id="21" name="Shape 18"/>
          <p:cNvSpPr/>
          <p:nvPr/>
        </p:nvSpPr>
        <p:spPr>
          <a:xfrm>
            <a:off x="4155948" y="1664208"/>
            <a:ext cx="137160" cy="137160"/>
          </a:xfrm>
          <a:prstGeom prst="ellipse">
            <a:avLst/>
          </a:prstGeom>
          <a:solidFill>
            <a:srgbClr val="D49A00"/>
          </a:solidFill>
          <a:ln w="15875">
            <a:solidFill>
              <a:srgbClr val="D49A00"/>
            </a:solidFill>
            <a:prstDash val="solid"/>
          </a:ln>
        </p:spPr>
      </p:sp>
      <p:sp>
        <p:nvSpPr>
          <p:cNvPr id="22" name="Shape 19"/>
          <p:cNvSpPr/>
          <p:nvPr/>
        </p:nvSpPr>
        <p:spPr>
          <a:xfrm>
            <a:off x="5765292" y="1664208"/>
            <a:ext cx="137160" cy="137160"/>
          </a:xfrm>
          <a:prstGeom prst="ellipse">
            <a:avLst/>
          </a:prstGeom>
          <a:solidFill>
            <a:srgbClr val="D49A00"/>
          </a:solidFill>
          <a:ln w="15875">
            <a:solidFill>
              <a:srgbClr val="D49A00"/>
            </a:solidFill>
            <a:prstDash val="solid"/>
          </a:ln>
        </p:spPr>
      </p:sp>
      <p:sp>
        <p:nvSpPr>
          <p:cNvPr id="23" name="Shape 20"/>
          <p:cNvSpPr/>
          <p:nvPr/>
        </p:nvSpPr>
        <p:spPr>
          <a:xfrm>
            <a:off x="6569964" y="1664208"/>
            <a:ext cx="137160" cy="137160"/>
          </a:xfrm>
          <a:prstGeom prst="ellipse">
            <a:avLst/>
          </a:prstGeom>
          <a:solidFill>
            <a:srgbClr val="D49A00"/>
          </a:solidFill>
          <a:ln w="15875">
            <a:solidFill>
              <a:srgbClr val="D49A00"/>
            </a:solidFill>
            <a:prstDash val="solid"/>
          </a:ln>
        </p:spPr>
      </p:sp>
      <p:sp>
        <p:nvSpPr>
          <p:cNvPr id="24" name="Text 21"/>
          <p:cNvSpPr txBox="1"/>
          <p:nvPr/>
        </p:nvSpPr>
        <p:spPr>
          <a:xfrm>
            <a:off x="548640" y="1865376"/>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VIIRS VNL annual</a:t>
            </a:r>
            <a:endParaRPr lang="en-US" sz="1000" dirty="0"/>
          </a:p>
        </p:txBody>
      </p:sp>
      <p:sp>
        <p:nvSpPr>
          <p:cNvPr id="25" name="Shape 22"/>
          <p:cNvSpPr/>
          <p:nvPr/>
        </p:nvSpPr>
        <p:spPr>
          <a:xfrm>
            <a:off x="3351276" y="1929384"/>
            <a:ext cx="137160" cy="137160"/>
          </a:xfrm>
          <a:prstGeom prst="ellipse">
            <a:avLst/>
          </a:prstGeom>
          <a:solidFill>
            <a:srgbClr val="D49A00"/>
          </a:solidFill>
          <a:ln w="15875">
            <a:solidFill>
              <a:srgbClr val="D49A00"/>
            </a:solidFill>
            <a:prstDash val="solid"/>
          </a:ln>
        </p:spPr>
      </p:sp>
      <p:sp>
        <p:nvSpPr>
          <p:cNvPr id="26" name="Shape 23"/>
          <p:cNvSpPr/>
          <p:nvPr/>
        </p:nvSpPr>
        <p:spPr>
          <a:xfrm>
            <a:off x="4155948" y="1929384"/>
            <a:ext cx="137160" cy="137160"/>
          </a:xfrm>
          <a:prstGeom prst="ellipse">
            <a:avLst/>
          </a:prstGeom>
          <a:solidFill>
            <a:srgbClr val="D49A00"/>
          </a:solidFill>
          <a:ln w="15875">
            <a:solidFill>
              <a:srgbClr val="D49A00"/>
            </a:solidFill>
            <a:prstDash val="solid"/>
          </a:ln>
        </p:spPr>
      </p:sp>
      <p:sp>
        <p:nvSpPr>
          <p:cNvPr id="27" name="Shape 24"/>
          <p:cNvSpPr/>
          <p:nvPr/>
        </p:nvSpPr>
        <p:spPr>
          <a:xfrm>
            <a:off x="4960620" y="1929384"/>
            <a:ext cx="137160" cy="137160"/>
          </a:xfrm>
          <a:prstGeom prst="ellipse">
            <a:avLst/>
          </a:prstGeom>
          <a:solidFill>
            <a:srgbClr val="D49A00"/>
          </a:solidFill>
          <a:ln w="15875">
            <a:solidFill>
              <a:srgbClr val="D49A00"/>
            </a:solidFill>
            <a:prstDash val="solid"/>
          </a:ln>
        </p:spPr>
      </p:sp>
      <p:sp>
        <p:nvSpPr>
          <p:cNvPr id="28" name="Shape 25"/>
          <p:cNvSpPr/>
          <p:nvPr/>
        </p:nvSpPr>
        <p:spPr>
          <a:xfrm>
            <a:off x="5765292" y="1929384"/>
            <a:ext cx="137160" cy="137160"/>
          </a:xfrm>
          <a:prstGeom prst="ellipse">
            <a:avLst/>
          </a:prstGeom>
          <a:solidFill>
            <a:srgbClr val="D49A00"/>
          </a:solidFill>
          <a:ln w="15875">
            <a:solidFill>
              <a:srgbClr val="D49A00"/>
            </a:solidFill>
            <a:prstDash val="solid"/>
          </a:ln>
        </p:spPr>
      </p:sp>
      <p:sp>
        <p:nvSpPr>
          <p:cNvPr id="29" name="Shape 26"/>
          <p:cNvSpPr/>
          <p:nvPr/>
        </p:nvSpPr>
        <p:spPr>
          <a:xfrm>
            <a:off x="7374636" y="1929384"/>
            <a:ext cx="137160" cy="137160"/>
          </a:xfrm>
          <a:prstGeom prst="ellipse">
            <a:avLst/>
          </a:prstGeom>
          <a:solidFill>
            <a:srgbClr val="D49A00"/>
          </a:solidFill>
          <a:ln w="15875">
            <a:solidFill>
              <a:srgbClr val="D49A00"/>
            </a:solidFill>
            <a:prstDash val="solid"/>
          </a:ln>
        </p:spPr>
      </p:sp>
      <p:sp>
        <p:nvSpPr>
          <p:cNvPr id="30" name="Shape 27"/>
          <p:cNvSpPr/>
          <p:nvPr/>
        </p:nvSpPr>
        <p:spPr>
          <a:xfrm>
            <a:off x="8179308" y="1929384"/>
            <a:ext cx="137160" cy="137160"/>
          </a:xfrm>
          <a:prstGeom prst="ellipse">
            <a:avLst/>
          </a:prstGeom>
          <a:solidFill>
            <a:srgbClr val="D49A00"/>
          </a:solidFill>
          <a:ln w="15875">
            <a:solidFill>
              <a:srgbClr val="D49A00"/>
            </a:solidFill>
            <a:prstDash val="solid"/>
          </a:ln>
        </p:spPr>
      </p:sp>
      <p:sp>
        <p:nvSpPr>
          <p:cNvPr id="31" name="Shape 28"/>
          <p:cNvSpPr/>
          <p:nvPr/>
        </p:nvSpPr>
        <p:spPr>
          <a:xfrm>
            <a:off x="457200" y="2130552"/>
            <a:ext cx="8193024" cy="265176"/>
          </a:xfrm>
          <a:prstGeom prst="rect">
            <a:avLst/>
          </a:prstGeom>
          <a:solidFill>
            <a:srgbClr val="F4F7F5"/>
          </a:solidFill>
          <a:ln w="12700">
            <a:solidFill>
              <a:srgbClr val="F4F7F5"/>
            </a:solidFill>
            <a:prstDash val="solid"/>
          </a:ln>
        </p:spPr>
      </p:sp>
      <p:sp>
        <p:nvSpPr>
          <p:cNvPr id="32" name="Text 29"/>
          <p:cNvSpPr txBox="1"/>
          <p:nvPr/>
        </p:nvSpPr>
        <p:spPr>
          <a:xfrm>
            <a:off x="548640" y="2130552"/>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Black Marble VNP46A2</a:t>
            </a:r>
            <a:endParaRPr lang="en-US" sz="1000" dirty="0"/>
          </a:p>
        </p:txBody>
      </p:sp>
      <p:sp>
        <p:nvSpPr>
          <p:cNvPr id="33" name="Shape 30"/>
          <p:cNvSpPr/>
          <p:nvPr/>
        </p:nvSpPr>
        <p:spPr>
          <a:xfrm>
            <a:off x="6569964" y="2194560"/>
            <a:ext cx="137160" cy="137160"/>
          </a:xfrm>
          <a:prstGeom prst="ellipse">
            <a:avLst/>
          </a:prstGeom>
          <a:solidFill>
            <a:srgbClr val="D49A00"/>
          </a:solidFill>
          <a:ln w="15875">
            <a:solidFill>
              <a:srgbClr val="D49A00"/>
            </a:solidFill>
            <a:prstDash val="solid"/>
          </a:ln>
        </p:spPr>
      </p:sp>
      <p:sp>
        <p:nvSpPr>
          <p:cNvPr id="34" name="Text 31"/>
          <p:cNvSpPr txBox="1"/>
          <p:nvPr/>
        </p:nvSpPr>
        <p:spPr>
          <a:xfrm>
            <a:off x="548640" y="2395728"/>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Harmonised DMSP</a:t>
            </a:r>
            <a:endParaRPr lang="en-US" sz="1000" dirty="0"/>
          </a:p>
        </p:txBody>
      </p:sp>
      <p:sp>
        <p:nvSpPr>
          <p:cNvPr id="35" name="Shape 32"/>
          <p:cNvSpPr/>
          <p:nvPr/>
        </p:nvSpPr>
        <p:spPr>
          <a:xfrm>
            <a:off x="3351276" y="2459736"/>
            <a:ext cx="137160" cy="137160"/>
          </a:xfrm>
          <a:prstGeom prst="ellipse">
            <a:avLst/>
          </a:prstGeom>
          <a:solidFill>
            <a:srgbClr val="FFFFFF"/>
          </a:solidFill>
          <a:ln w="15875">
            <a:solidFill>
              <a:srgbClr val="D49A00"/>
            </a:solidFill>
            <a:prstDash val="solid"/>
          </a:ln>
        </p:spPr>
      </p:sp>
      <p:sp>
        <p:nvSpPr>
          <p:cNvPr id="36" name="Shape 33"/>
          <p:cNvSpPr/>
          <p:nvPr/>
        </p:nvSpPr>
        <p:spPr>
          <a:xfrm>
            <a:off x="4155948" y="2459736"/>
            <a:ext cx="137160" cy="137160"/>
          </a:xfrm>
          <a:prstGeom prst="ellipse">
            <a:avLst/>
          </a:prstGeom>
          <a:solidFill>
            <a:srgbClr val="D49A00"/>
          </a:solidFill>
          <a:ln w="15875">
            <a:solidFill>
              <a:srgbClr val="D49A00"/>
            </a:solidFill>
            <a:prstDash val="solid"/>
          </a:ln>
        </p:spPr>
      </p:sp>
      <p:sp>
        <p:nvSpPr>
          <p:cNvPr id="37" name="Shape 34"/>
          <p:cNvSpPr/>
          <p:nvPr/>
        </p:nvSpPr>
        <p:spPr>
          <a:xfrm>
            <a:off x="5765292" y="2459736"/>
            <a:ext cx="137160" cy="137160"/>
          </a:xfrm>
          <a:prstGeom prst="ellipse">
            <a:avLst/>
          </a:prstGeom>
          <a:solidFill>
            <a:srgbClr val="D49A00"/>
          </a:solidFill>
          <a:ln w="15875">
            <a:solidFill>
              <a:srgbClr val="D49A00"/>
            </a:solidFill>
            <a:prstDash val="solid"/>
          </a:ln>
        </p:spPr>
      </p:sp>
      <p:sp>
        <p:nvSpPr>
          <p:cNvPr id="38" name="Shape 35"/>
          <p:cNvSpPr/>
          <p:nvPr/>
        </p:nvSpPr>
        <p:spPr>
          <a:xfrm>
            <a:off x="457200" y="2660904"/>
            <a:ext cx="8193024" cy="265176"/>
          </a:xfrm>
          <a:prstGeom prst="rect">
            <a:avLst/>
          </a:prstGeom>
          <a:solidFill>
            <a:srgbClr val="F4F7F5"/>
          </a:solidFill>
          <a:ln w="12700">
            <a:solidFill>
              <a:srgbClr val="F4F7F5"/>
            </a:solidFill>
            <a:prstDash val="solid"/>
          </a:ln>
        </p:spPr>
      </p:sp>
      <p:sp>
        <p:nvSpPr>
          <p:cNvPr id="39" name="Text 36"/>
          <p:cNvSpPr txBox="1"/>
          <p:nvPr/>
        </p:nvSpPr>
        <p:spPr>
          <a:xfrm>
            <a:off x="548640" y="2660904"/>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GHS-POP / WorldPop</a:t>
            </a:r>
            <a:endParaRPr lang="en-US" sz="1000" dirty="0"/>
          </a:p>
        </p:txBody>
      </p:sp>
      <p:sp>
        <p:nvSpPr>
          <p:cNvPr id="40" name="Shape 37"/>
          <p:cNvSpPr/>
          <p:nvPr/>
        </p:nvSpPr>
        <p:spPr>
          <a:xfrm>
            <a:off x="3351276" y="2724912"/>
            <a:ext cx="137160" cy="137160"/>
          </a:xfrm>
          <a:prstGeom prst="ellipse">
            <a:avLst/>
          </a:prstGeom>
          <a:solidFill>
            <a:srgbClr val="D49A00"/>
          </a:solidFill>
          <a:ln w="15875">
            <a:solidFill>
              <a:srgbClr val="D49A00"/>
            </a:solidFill>
            <a:prstDash val="solid"/>
          </a:ln>
        </p:spPr>
      </p:sp>
      <p:sp>
        <p:nvSpPr>
          <p:cNvPr id="41" name="Shape 38"/>
          <p:cNvSpPr/>
          <p:nvPr/>
        </p:nvSpPr>
        <p:spPr>
          <a:xfrm>
            <a:off x="4960620" y="2724912"/>
            <a:ext cx="137160" cy="137160"/>
          </a:xfrm>
          <a:prstGeom prst="ellipse">
            <a:avLst/>
          </a:prstGeom>
          <a:solidFill>
            <a:srgbClr val="D49A00"/>
          </a:solidFill>
          <a:ln w="15875">
            <a:solidFill>
              <a:srgbClr val="D49A00"/>
            </a:solidFill>
            <a:prstDash val="solid"/>
          </a:ln>
        </p:spPr>
      </p:sp>
      <p:sp>
        <p:nvSpPr>
          <p:cNvPr id="42" name="Shape 39"/>
          <p:cNvSpPr/>
          <p:nvPr/>
        </p:nvSpPr>
        <p:spPr>
          <a:xfrm>
            <a:off x="7374636" y="2724912"/>
            <a:ext cx="137160" cy="137160"/>
          </a:xfrm>
          <a:prstGeom prst="ellipse">
            <a:avLst/>
          </a:prstGeom>
          <a:solidFill>
            <a:srgbClr val="D49A00"/>
          </a:solidFill>
          <a:ln w="15875">
            <a:solidFill>
              <a:srgbClr val="D49A00"/>
            </a:solidFill>
            <a:prstDash val="solid"/>
          </a:ln>
        </p:spPr>
      </p:sp>
      <p:sp>
        <p:nvSpPr>
          <p:cNvPr id="43" name="Shape 40"/>
          <p:cNvSpPr/>
          <p:nvPr/>
        </p:nvSpPr>
        <p:spPr>
          <a:xfrm>
            <a:off x="8179308" y="2724912"/>
            <a:ext cx="137160" cy="137160"/>
          </a:xfrm>
          <a:prstGeom prst="ellipse">
            <a:avLst/>
          </a:prstGeom>
          <a:solidFill>
            <a:srgbClr val="D49A00"/>
          </a:solidFill>
          <a:ln w="15875">
            <a:solidFill>
              <a:srgbClr val="D49A00"/>
            </a:solidFill>
            <a:prstDash val="solid"/>
          </a:ln>
        </p:spPr>
      </p:sp>
      <p:sp>
        <p:nvSpPr>
          <p:cNvPr id="44" name="Text 41"/>
          <p:cNvSpPr txBox="1"/>
          <p:nvPr/>
        </p:nvSpPr>
        <p:spPr>
          <a:xfrm>
            <a:off x="548640" y="2926080"/>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GHS-SMOD</a:t>
            </a:r>
            <a:endParaRPr lang="en-US" sz="1000" dirty="0"/>
          </a:p>
        </p:txBody>
      </p:sp>
      <p:sp>
        <p:nvSpPr>
          <p:cNvPr id="45" name="Shape 42"/>
          <p:cNvSpPr/>
          <p:nvPr/>
        </p:nvSpPr>
        <p:spPr>
          <a:xfrm>
            <a:off x="7374636" y="2990088"/>
            <a:ext cx="137160" cy="137160"/>
          </a:xfrm>
          <a:prstGeom prst="ellipse">
            <a:avLst/>
          </a:prstGeom>
          <a:solidFill>
            <a:srgbClr val="D49A00"/>
          </a:solidFill>
          <a:ln w="15875">
            <a:solidFill>
              <a:srgbClr val="D49A00"/>
            </a:solidFill>
            <a:prstDash val="solid"/>
          </a:ln>
        </p:spPr>
      </p:sp>
      <p:sp>
        <p:nvSpPr>
          <p:cNvPr id="46" name="Shape 43"/>
          <p:cNvSpPr/>
          <p:nvPr/>
        </p:nvSpPr>
        <p:spPr>
          <a:xfrm>
            <a:off x="457200" y="3191256"/>
            <a:ext cx="8193024" cy="265176"/>
          </a:xfrm>
          <a:prstGeom prst="rect">
            <a:avLst/>
          </a:prstGeom>
          <a:solidFill>
            <a:srgbClr val="F4F7F5"/>
          </a:solidFill>
          <a:ln w="12700">
            <a:solidFill>
              <a:srgbClr val="F4F7F5"/>
            </a:solidFill>
            <a:prstDash val="solid"/>
          </a:ln>
        </p:spPr>
      </p:sp>
      <p:sp>
        <p:nvSpPr>
          <p:cNvPr id="47" name="Text 44"/>
          <p:cNvSpPr txBox="1"/>
          <p:nvPr/>
        </p:nvSpPr>
        <p:spPr>
          <a:xfrm>
            <a:off x="548640" y="3191256"/>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GHS-BUILT-S</a:t>
            </a:r>
            <a:endParaRPr lang="en-US" sz="1000" dirty="0"/>
          </a:p>
        </p:txBody>
      </p:sp>
      <p:sp>
        <p:nvSpPr>
          <p:cNvPr id="48" name="Shape 45"/>
          <p:cNvSpPr/>
          <p:nvPr/>
        </p:nvSpPr>
        <p:spPr>
          <a:xfrm>
            <a:off x="3351276" y="3255264"/>
            <a:ext cx="137160" cy="137160"/>
          </a:xfrm>
          <a:prstGeom prst="ellipse">
            <a:avLst/>
          </a:prstGeom>
          <a:solidFill>
            <a:srgbClr val="D49A00"/>
          </a:solidFill>
          <a:ln w="15875">
            <a:solidFill>
              <a:srgbClr val="D49A00"/>
            </a:solidFill>
            <a:prstDash val="solid"/>
          </a:ln>
        </p:spPr>
      </p:sp>
      <p:sp>
        <p:nvSpPr>
          <p:cNvPr id="49" name="Shape 46"/>
          <p:cNvSpPr/>
          <p:nvPr/>
        </p:nvSpPr>
        <p:spPr>
          <a:xfrm>
            <a:off x="8179308" y="3255264"/>
            <a:ext cx="137160" cy="137160"/>
          </a:xfrm>
          <a:prstGeom prst="ellipse">
            <a:avLst/>
          </a:prstGeom>
          <a:solidFill>
            <a:srgbClr val="D49A00"/>
          </a:solidFill>
          <a:ln w="15875">
            <a:solidFill>
              <a:srgbClr val="D49A00"/>
            </a:solidFill>
            <a:prstDash val="solid"/>
          </a:ln>
        </p:spPr>
      </p:sp>
      <p:sp>
        <p:nvSpPr>
          <p:cNvPr id="50" name="Text 47"/>
          <p:cNvSpPr txBox="1"/>
          <p:nvPr/>
        </p:nvSpPr>
        <p:spPr>
          <a:xfrm>
            <a:off x="548640" y="3456432"/>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Sentinel-5P NO₂</a:t>
            </a:r>
            <a:endParaRPr lang="en-US" sz="1000" dirty="0"/>
          </a:p>
        </p:txBody>
      </p:sp>
      <p:sp>
        <p:nvSpPr>
          <p:cNvPr id="51" name="Shape 48"/>
          <p:cNvSpPr/>
          <p:nvPr/>
        </p:nvSpPr>
        <p:spPr>
          <a:xfrm>
            <a:off x="4960620" y="3520440"/>
            <a:ext cx="137160" cy="137160"/>
          </a:xfrm>
          <a:prstGeom prst="ellipse">
            <a:avLst/>
          </a:prstGeom>
          <a:solidFill>
            <a:srgbClr val="FFFFFF"/>
          </a:solidFill>
          <a:ln w="15875">
            <a:solidFill>
              <a:srgbClr val="D49A00"/>
            </a:solidFill>
            <a:prstDash val="solid"/>
          </a:ln>
        </p:spPr>
      </p:sp>
      <p:sp>
        <p:nvSpPr>
          <p:cNvPr id="52" name="Shape 49"/>
          <p:cNvSpPr/>
          <p:nvPr/>
        </p:nvSpPr>
        <p:spPr>
          <a:xfrm>
            <a:off x="8179308" y="3520440"/>
            <a:ext cx="137160" cy="137160"/>
          </a:xfrm>
          <a:prstGeom prst="ellipse">
            <a:avLst/>
          </a:prstGeom>
          <a:solidFill>
            <a:srgbClr val="D49A00"/>
          </a:solidFill>
          <a:ln w="15875">
            <a:solidFill>
              <a:srgbClr val="D49A00"/>
            </a:solidFill>
            <a:prstDash val="solid"/>
          </a:ln>
        </p:spPr>
      </p:sp>
      <p:sp>
        <p:nvSpPr>
          <p:cNvPr id="53" name="Shape 50"/>
          <p:cNvSpPr/>
          <p:nvPr/>
        </p:nvSpPr>
        <p:spPr>
          <a:xfrm>
            <a:off x="457200" y="3721608"/>
            <a:ext cx="8193024" cy="265176"/>
          </a:xfrm>
          <a:prstGeom prst="rect">
            <a:avLst/>
          </a:prstGeom>
          <a:solidFill>
            <a:srgbClr val="F4F7F5"/>
          </a:solidFill>
          <a:ln w="12700">
            <a:solidFill>
              <a:srgbClr val="F4F7F5"/>
            </a:solidFill>
            <a:prstDash val="solid"/>
          </a:ln>
        </p:spPr>
      </p:sp>
      <p:sp>
        <p:nvSpPr>
          <p:cNvPr id="54" name="Text 51"/>
          <p:cNvSpPr txBox="1"/>
          <p:nvPr/>
        </p:nvSpPr>
        <p:spPr>
          <a:xfrm>
            <a:off x="548640" y="3721608"/>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geoBoundaries / GAUL</a:t>
            </a:r>
            <a:endParaRPr lang="en-US" sz="1000" dirty="0"/>
          </a:p>
        </p:txBody>
      </p:sp>
      <p:sp>
        <p:nvSpPr>
          <p:cNvPr id="55" name="Shape 52"/>
          <p:cNvSpPr/>
          <p:nvPr/>
        </p:nvSpPr>
        <p:spPr>
          <a:xfrm>
            <a:off x="3351276" y="3785616"/>
            <a:ext cx="137160" cy="137160"/>
          </a:xfrm>
          <a:prstGeom prst="ellipse">
            <a:avLst/>
          </a:prstGeom>
          <a:solidFill>
            <a:srgbClr val="D49A00"/>
          </a:solidFill>
          <a:ln w="15875">
            <a:solidFill>
              <a:srgbClr val="D49A00"/>
            </a:solidFill>
            <a:prstDash val="solid"/>
          </a:ln>
        </p:spPr>
      </p:sp>
      <p:sp>
        <p:nvSpPr>
          <p:cNvPr id="56" name="Shape 53"/>
          <p:cNvSpPr/>
          <p:nvPr/>
        </p:nvSpPr>
        <p:spPr>
          <a:xfrm>
            <a:off x="4155948" y="3785616"/>
            <a:ext cx="137160" cy="137160"/>
          </a:xfrm>
          <a:prstGeom prst="ellipse">
            <a:avLst/>
          </a:prstGeom>
          <a:solidFill>
            <a:srgbClr val="D49A00"/>
          </a:solidFill>
          <a:ln w="15875">
            <a:solidFill>
              <a:srgbClr val="D49A00"/>
            </a:solidFill>
            <a:prstDash val="solid"/>
          </a:ln>
        </p:spPr>
      </p:sp>
      <p:sp>
        <p:nvSpPr>
          <p:cNvPr id="57" name="Shape 54"/>
          <p:cNvSpPr/>
          <p:nvPr/>
        </p:nvSpPr>
        <p:spPr>
          <a:xfrm>
            <a:off x="4960620" y="3785616"/>
            <a:ext cx="137160" cy="137160"/>
          </a:xfrm>
          <a:prstGeom prst="ellipse">
            <a:avLst/>
          </a:prstGeom>
          <a:solidFill>
            <a:srgbClr val="D49A00"/>
          </a:solidFill>
          <a:ln w="15875">
            <a:solidFill>
              <a:srgbClr val="D49A00"/>
            </a:solidFill>
            <a:prstDash val="solid"/>
          </a:ln>
        </p:spPr>
      </p:sp>
      <p:sp>
        <p:nvSpPr>
          <p:cNvPr id="58" name="Shape 55"/>
          <p:cNvSpPr/>
          <p:nvPr/>
        </p:nvSpPr>
        <p:spPr>
          <a:xfrm>
            <a:off x="5765292" y="3785616"/>
            <a:ext cx="137160" cy="137160"/>
          </a:xfrm>
          <a:prstGeom prst="ellipse">
            <a:avLst/>
          </a:prstGeom>
          <a:solidFill>
            <a:srgbClr val="D49A00"/>
          </a:solidFill>
          <a:ln w="15875">
            <a:solidFill>
              <a:srgbClr val="D49A00"/>
            </a:solidFill>
            <a:prstDash val="solid"/>
          </a:ln>
        </p:spPr>
      </p:sp>
      <p:sp>
        <p:nvSpPr>
          <p:cNvPr id="59" name="Shape 56"/>
          <p:cNvSpPr/>
          <p:nvPr/>
        </p:nvSpPr>
        <p:spPr>
          <a:xfrm>
            <a:off x="6569964" y="3785616"/>
            <a:ext cx="137160" cy="137160"/>
          </a:xfrm>
          <a:prstGeom prst="ellipse">
            <a:avLst/>
          </a:prstGeom>
          <a:solidFill>
            <a:srgbClr val="D49A00"/>
          </a:solidFill>
          <a:ln w="15875">
            <a:solidFill>
              <a:srgbClr val="D49A00"/>
            </a:solidFill>
            <a:prstDash val="solid"/>
          </a:ln>
        </p:spPr>
      </p:sp>
      <p:sp>
        <p:nvSpPr>
          <p:cNvPr id="60" name="Shape 57"/>
          <p:cNvSpPr/>
          <p:nvPr/>
        </p:nvSpPr>
        <p:spPr>
          <a:xfrm>
            <a:off x="7374636" y="3785616"/>
            <a:ext cx="137160" cy="137160"/>
          </a:xfrm>
          <a:prstGeom prst="ellipse">
            <a:avLst/>
          </a:prstGeom>
          <a:solidFill>
            <a:srgbClr val="D49A00"/>
          </a:solidFill>
          <a:ln w="15875">
            <a:solidFill>
              <a:srgbClr val="D49A00"/>
            </a:solidFill>
            <a:prstDash val="solid"/>
          </a:ln>
        </p:spPr>
      </p:sp>
      <p:sp>
        <p:nvSpPr>
          <p:cNvPr id="61" name="Shape 58"/>
          <p:cNvSpPr/>
          <p:nvPr/>
        </p:nvSpPr>
        <p:spPr>
          <a:xfrm>
            <a:off x="8179308" y="3785616"/>
            <a:ext cx="137160" cy="137160"/>
          </a:xfrm>
          <a:prstGeom prst="ellipse">
            <a:avLst/>
          </a:prstGeom>
          <a:solidFill>
            <a:srgbClr val="D49A00"/>
          </a:solidFill>
          <a:ln w="15875">
            <a:solidFill>
              <a:srgbClr val="D49A00"/>
            </a:solidFill>
            <a:prstDash val="solid"/>
          </a:ln>
        </p:spPr>
      </p:sp>
      <p:sp>
        <p:nvSpPr>
          <p:cNvPr id="62" name="Text 59"/>
          <p:cNvSpPr txBox="1"/>
          <p:nvPr/>
        </p:nvSpPr>
        <p:spPr>
          <a:xfrm>
            <a:off x="548640" y="3986784"/>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World Bank WDI</a:t>
            </a:r>
            <a:endParaRPr lang="en-US" sz="1000" dirty="0"/>
          </a:p>
        </p:txBody>
      </p:sp>
      <p:sp>
        <p:nvSpPr>
          <p:cNvPr id="63" name="Shape 60"/>
          <p:cNvSpPr/>
          <p:nvPr/>
        </p:nvSpPr>
        <p:spPr>
          <a:xfrm>
            <a:off x="3351276" y="4050792"/>
            <a:ext cx="137160" cy="137160"/>
          </a:xfrm>
          <a:prstGeom prst="ellipse">
            <a:avLst/>
          </a:prstGeom>
          <a:solidFill>
            <a:srgbClr val="FFFFFF"/>
          </a:solidFill>
          <a:ln w="15875">
            <a:solidFill>
              <a:srgbClr val="D49A00"/>
            </a:solidFill>
            <a:prstDash val="solid"/>
          </a:ln>
        </p:spPr>
      </p:sp>
      <p:sp>
        <p:nvSpPr>
          <p:cNvPr id="64" name="Shape 61"/>
          <p:cNvSpPr/>
          <p:nvPr/>
        </p:nvSpPr>
        <p:spPr>
          <a:xfrm>
            <a:off x="5765292" y="4050792"/>
            <a:ext cx="137160" cy="137160"/>
          </a:xfrm>
          <a:prstGeom prst="ellipse">
            <a:avLst/>
          </a:prstGeom>
          <a:solidFill>
            <a:srgbClr val="D49A00"/>
          </a:solidFill>
          <a:ln w="15875">
            <a:solidFill>
              <a:srgbClr val="D49A00"/>
            </a:solidFill>
            <a:prstDash val="solid"/>
          </a:ln>
        </p:spPr>
      </p:sp>
      <p:sp>
        <p:nvSpPr>
          <p:cNvPr id="65" name="Shape 62"/>
          <p:cNvSpPr/>
          <p:nvPr/>
        </p:nvSpPr>
        <p:spPr>
          <a:xfrm>
            <a:off x="7374636" y="4050792"/>
            <a:ext cx="137160" cy="137160"/>
          </a:xfrm>
          <a:prstGeom prst="ellipse">
            <a:avLst/>
          </a:prstGeom>
          <a:solidFill>
            <a:srgbClr val="FFFFFF"/>
          </a:solidFill>
          <a:ln w="15875">
            <a:solidFill>
              <a:srgbClr val="D49A00"/>
            </a:solidFill>
            <a:prstDash val="solid"/>
          </a:ln>
        </p:spPr>
      </p:sp>
      <p:sp>
        <p:nvSpPr>
          <p:cNvPr id="66" name="Shape 63"/>
          <p:cNvSpPr/>
          <p:nvPr/>
        </p:nvSpPr>
        <p:spPr>
          <a:xfrm>
            <a:off x="457200" y="4251960"/>
            <a:ext cx="8193024" cy="265176"/>
          </a:xfrm>
          <a:prstGeom prst="rect">
            <a:avLst/>
          </a:prstGeom>
          <a:solidFill>
            <a:srgbClr val="F4F7F5"/>
          </a:solidFill>
          <a:ln w="12700">
            <a:solidFill>
              <a:srgbClr val="F4F7F5"/>
            </a:solidFill>
            <a:prstDash val="solid"/>
          </a:ln>
        </p:spPr>
      </p:sp>
      <p:sp>
        <p:nvSpPr>
          <p:cNvPr id="67" name="Text 64"/>
          <p:cNvSpPr txBox="1"/>
          <p:nvPr/>
        </p:nvSpPr>
        <p:spPr>
          <a:xfrm>
            <a:off x="548640" y="4251960"/>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OpenStreetMap</a:t>
            </a:r>
            <a:endParaRPr lang="en-US" sz="1000" dirty="0"/>
          </a:p>
        </p:txBody>
      </p:sp>
      <p:sp>
        <p:nvSpPr>
          <p:cNvPr id="68" name="Shape 65"/>
          <p:cNvSpPr/>
          <p:nvPr/>
        </p:nvSpPr>
        <p:spPr>
          <a:xfrm>
            <a:off x="8179308" y="4315968"/>
            <a:ext cx="137160" cy="137160"/>
          </a:xfrm>
          <a:prstGeom prst="ellipse">
            <a:avLst/>
          </a:prstGeom>
          <a:solidFill>
            <a:srgbClr val="FFFFFF"/>
          </a:solidFill>
          <a:ln w="15875">
            <a:solidFill>
              <a:srgbClr val="D49A00"/>
            </a:solidFill>
            <a:prstDash val="solid"/>
          </a:ln>
        </p:spPr>
      </p:sp>
      <p:sp>
        <p:nvSpPr>
          <p:cNvPr id="69" name="Shape 66"/>
          <p:cNvSpPr/>
          <p:nvPr/>
        </p:nvSpPr>
        <p:spPr>
          <a:xfrm>
            <a:off x="3108960" y="4617720"/>
            <a:ext cx="137160" cy="137160"/>
          </a:xfrm>
          <a:prstGeom prst="ellipse">
            <a:avLst/>
          </a:prstGeom>
          <a:solidFill>
            <a:srgbClr val="D49A00"/>
          </a:solidFill>
          <a:ln w="15875">
            <a:solidFill>
              <a:srgbClr val="D49A00"/>
            </a:solidFill>
            <a:prstDash val="solid"/>
          </a:ln>
        </p:spPr>
      </p:sp>
      <p:sp>
        <p:nvSpPr>
          <p:cNvPr id="70" name="Text 67"/>
          <p:cNvSpPr txBox="1"/>
          <p:nvPr/>
        </p:nvSpPr>
        <p:spPr>
          <a:xfrm>
            <a:off x="3310128" y="4572000"/>
            <a:ext cx="1828800" cy="22860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metric input</a:t>
            </a:r>
            <a:endParaRPr lang="en-US" sz="950" dirty="0"/>
          </a:p>
        </p:txBody>
      </p:sp>
      <p:sp>
        <p:nvSpPr>
          <p:cNvPr id="71" name="Shape 68"/>
          <p:cNvSpPr/>
          <p:nvPr/>
        </p:nvSpPr>
        <p:spPr>
          <a:xfrm>
            <a:off x="5120640" y="4617720"/>
            <a:ext cx="137160" cy="137160"/>
          </a:xfrm>
          <a:prstGeom prst="ellipse">
            <a:avLst/>
          </a:prstGeom>
          <a:solidFill>
            <a:srgbClr val="FFFFFF"/>
          </a:solidFill>
          <a:ln w="15875">
            <a:solidFill>
              <a:srgbClr val="D49A00"/>
            </a:solidFill>
            <a:prstDash val="solid"/>
          </a:ln>
        </p:spPr>
      </p:sp>
      <p:sp>
        <p:nvSpPr>
          <p:cNvPr id="72" name="Text 69"/>
          <p:cNvSpPr txBox="1"/>
          <p:nvPr/>
        </p:nvSpPr>
        <p:spPr>
          <a:xfrm>
            <a:off x="5321808" y="4572000"/>
            <a:ext cx="2560320" cy="22860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check, context or validation</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BASE TABLES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From billions of pixels to two tables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2377440" cy="841248"/>
          </a:xfrm>
          <a:prstGeom prst="roundRect">
            <a:avLst>
              <a:gd name="adj" fmla="val 8696"/>
            </a:avLst>
          </a:prstGeom>
          <a:solidFill>
            <a:srgbClr val="F4F7F5"/>
          </a:solidFill>
          <a:ln w="9525">
            <a:solidFill>
              <a:srgbClr val="D5DED9"/>
            </a:solidFill>
            <a:prstDash val="solid"/>
          </a:ln>
        </p:spPr>
      </p:sp>
      <p:sp>
        <p:nvSpPr>
          <p:cNvPr id="12" name="Shape 9"/>
          <p:cNvSpPr/>
          <p:nvPr/>
        </p:nvSpPr>
        <p:spPr>
          <a:xfrm>
            <a:off x="585216" y="1554480"/>
            <a:ext cx="457200" cy="457200"/>
          </a:xfrm>
          <a:prstGeom prst="ellipse">
            <a:avLst/>
          </a:prstGeom>
          <a:solidFill>
            <a:srgbClr val="D49A00">
              <a:alpha val="22000"/>
            </a:srgbClr>
          </a:solidFill>
          <a:ln w="12700">
            <a:solidFill>
              <a:srgbClr val="D49A00">
                <a:alpha val="0"/>
              </a:srgbClr>
            </a:solidFill>
            <a:prstDash val="solid"/>
          </a:ln>
        </p:spPr>
      </p:sp>
      <p:pic>
        <p:nvPicPr>
          <p:cNvPr id="13" name="Image 0" descr="preencoded.png">    </p:cNvPr>
          <p:cNvPicPr>
            <a:picLocks noChangeAspect="1"/>
          </p:cNvPicPr>
          <p:nvPr/>
        </p:nvPicPr>
        <p:blipFill>
          <a:blip r:embed="rId1"/>
          <a:stretch>
            <a:fillRect/>
          </a:stretch>
        </p:blipFill>
        <p:spPr>
          <a:xfrm>
            <a:off x="694944" y="1664208"/>
            <a:ext cx="237744" cy="237744"/>
          </a:xfrm>
          <a:prstGeom prst="rect">
            <a:avLst/>
          </a:prstGeom>
        </p:spPr>
      </p:pic>
      <p:sp>
        <p:nvSpPr>
          <p:cNvPr id="14" name="Text 10"/>
          <p:cNvSpPr txBox="1"/>
          <p:nvPr/>
        </p:nvSpPr>
        <p:spPr>
          <a:xfrm>
            <a:off x="1143000" y="1517904"/>
            <a:ext cx="164592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Cleaned pixels</a:t>
            </a:r>
            <a:endParaRPr lang="en-US" sz="1200" dirty="0"/>
          </a:p>
        </p:txBody>
      </p:sp>
      <p:sp>
        <p:nvSpPr>
          <p:cNvPr id="15" name="Text 11"/>
          <p:cNvSpPr txBox="1"/>
          <p:nvPr/>
        </p:nvSpPr>
        <p:spPr>
          <a:xfrm>
            <a:off x="1143000" y="1801368"/>
            <a:ext cx="1645920" cy="2743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~464 m</a:t>
            </a:r>
            <a:endParaRPr lang="en-US" sz="950" dirty="0"/>
          </a:p>
        </p:txBody>
      </p:sp>
      <p:sp>
        <p:nvSpPr>
          <p:cNvPr id="16" name="Shape 12"/>
          <p:cNvSpPr/>
          <p:nvPr/>
        </p:nvSpPr>
        <p:spPr>
          <a:xfrm>
            <a:off x="1645920" y="2231136"/>
            <a:ext cx="914" cy="146304"/>
          </a:xfrm>
          <a:prstGeom prst="line">
            <a:avLst/>
          </a:prstGeom>
          <a:noFill/>
          <a:ln w="15875">
            <a:solidFill>
              <a:srgbClr val="5E6964"/>
            </a:solidFill>
            <a:prstDash val="solid"/>
            <a:tailEnd type="triangle"/>
          </a:ln>
        </p:spPr>
      </p:sp>
      <p:sp>
        <p:nvSpPr>
          <p:cNvPr id="17" name="Shape 13"/>
          <p:cNvSpPr/>
          <p:nvPr/>
        </p:nvSpPr>
        <p:spPr>
          <a:xfrm>
            <a:off x="457200" y="2395728"/>
            <a:ext cx="2377440" cy="841248"/>
          </a:xfrm>
          <a:prstGeom prst="roundRect">
            <a:avLst>
              <a:gd name="adj" fmla="val 8696"/>
            </a:avLst>
          </a:prstGeom>
          <a:solidFill>
            <a:srgbClr val="F4F7F5"/>
          </a:solidFill>
          <a:ln w="9525">
            <a:solidFill>
              <a:srgbClr val="D5DED9"/>
            </a:solidFill>
            <a:prstDash val="solid"/>
          </a:ln>
        </p:spPr>
      </p:sp>
      <p:sp>
        <p:nvSpPr>
          <p:cNvPr id="18" name="Shape 14"/>
          <p:cNvSpPr/>
          <p:nvPr/>
        </p:nvSpPr>
        <p:spPr>
          <a:xfrm>
            <a:off x="585216" y="2578608"/>
            <a:ext cx="457200" cy="457200"/>
          </a:xfrm>
          <a:prstGeom prst="ellipse">
            <a:avLst/>
          </a:prstGeom>
          <a:solidFill>
            <a:srgbClr val="D49A00">
              <a:alpha val="22000"/>
            </a:srgbClr>
          </a:solidFill>
          <a:ln w="12700">
            <a:solidFill>
              <a:srgbClr val="D49A00">
                <a:alpha val="0"/>
              </a:srgbClr>
            </a:solidFill>
            <a:prstDash val="solid"/>
          </a:ln>
        </p:spPr>
      </p:sp>
      <p:pic>
        <p:nvPicPr>
          <p:cNvPr id="19" name="Image 1" descr="preencoded.png">    </p:cNvPr>
          <p:cNvPicPr>
            <a:picLocks noChangeAspect="1"/>
          </p:cNvPicPr>
          <p:nvPr/>
        </p:nvPicPr>
        <p:blipFill>
          <a:blip r:embed="rId2"/>
          <a:stretch>
            <a:fillRect/>
          </a:stretch>
        </p:blipFill>
        <p:spPr>
          <a:xfrm>
            <a:off x="694944" y="2688336"/>
            <a:ext cx="237744" cy="237744"/>
          </a:xfrm>
          <a:prstGeom prst="rect">
            <a:avLst/>
          </a:prstGeom>
        </p:spPr>
      </p:pic>
      <p:sp>
        <p:nvSpPr>
          <p:cNvPr id="20" name="Text 15"/>
          <p:cNvSpPr txBox="1"/>
          <p:nvPr/>
        </p:nvSpPr>
        <p:spPr>
          <a:xfrm>
            <a:off x="1143000" y="2542032"/>
            <a:ext cx="164592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Sum per unit</a:t>
            </a:r>
            <a:endParaRPr lang="en-US" sz="1200" dirty="0"/>
          </a:p>
        </p:txBody>
      </p:sp>
      <p:sp>
        <p:nvSpPr>
          <p:cNvPr id="21" name="Text 16"/>
          <p:cNvSpPr txBox="1"/>
          <p:nvPr/>
        </p:nvSpPr>
        <p:spPr>
          <a:xfrm>
            <a:off x="1143000" y="2825496"/>
            <a:ext cx="1645920" cy="2743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ADM0 · ADM1 · ADM2</a:t>
            </a:r>
            <a:endParaRPr lang="en-US" sz="950" dirty="0"/>
          </a:p>
        </p:txBody>
      </p:sp>
      <p:sp>
        <p:nvSpPr>
          <p:cNvPr id="22" name="Shape 17"/>
          <p:cNvSpPr/>
          <p:nvPr/>
        </p:nvSpPr>
        <p:spPr>
          <a:xfrm>
            <a:off x="1645920" y="3255264"/>
            <a:ext cx="914" cy="146304"/>
          </a:xfrm>
          <a:prstGeom prst="line">
            <a:avLst/>
          </a:prstGeom>
          <a:noFill/>
          <a:ln w="15875">
            <a:solidFill>
              <a:srgbClr val="5E6964"/>
            </a:solidFill>
            <a:prstDash val="solid"/>
            <a:tailEnd type="triangle"/>
          </a:ln>
        </p:spPr>
      </p:sp>
      <p:sp>
        <p:nvSpPr>
          <p:cNvPr id="23" name="Shape 18"/>
          <p:cNvSpPr/>
          <p:nvPr/>
        </p:nvSpPr>
        <p:spPr>
          <a:xfrm>
            <a:off x="457200" y="3419856"/>
            <a:ext cx="2377440" cy="841248"/>
          </a:xfrm>
          <a:prstGeom prst="roundRect">
            <a:avLst>
              <a:gd name="adj" fmla="val 8696"/>
            </a:avLst>
          </a:prstGeom>
          <a:solidFill>
            <a:srgbClr val="E8F5EF"/>
          </a:solidFill>
          <a:ln w="15875">
            <a:solidFill>
              <a:srgbClr val="D49A00"/>
            </a:solidFill>
            <a:prstDash val="solid"/>
          </a:ln>
        </p:spPr>
      </p:sp>
      <p:sp>
        <p:nvSpPr>
          <p:cNvPr id="24" name="Shape 19"/>
          <p:cNvSpPr/>
          <p:nvPr/>
        </p:nvSpPr>
        <p:spPr>
          <a:xfrm>
            <a:off x="585216" y="3602736"/>
            <a:ext cx="457200" cy="457200"/>
          </a:xfrm>
          <a:prstGeom prst="ellipse">
            <a:avLst/>
          </a:prstGeom>
          <a:solidFill>
            <a:srgbClr val="D49A00">
              <a:alpha val="22000"/>
            </a:srgbClr>
          </a:solidFill>
          <a:ln w="12700">
            <a:solidFill>
              <a:srgbClr val="D49A00">
                <a:alpha val="0"/>
              </a:srgbClr>
            </a:solidFill>
            <a:prstDash val="solid"/>
          </a:ln>
        </p:spPr>
      </p:sp>
      <p:pic>
        <p:nvPicPr>
          <p:cNvPr id="25" name="Image 2" descr="preencoded.png">    </p:cNvPr>
          <p:cNvPicPr>
            <a:picLocks noChangeAspect="1"/>
          </p:cNvPicPr>
          <p:nvPr/>
        </p:nvPicPr>
        <p:blipFill>
          <a:blip r:embed="rId3"/>
          <a:stretch>
            <a:fillRect/>
          </a:stretch>
        </p:blipFill>
        <p:spPr>
          <a:xfrm>
            <a:off x="694944" y="3712464"/>
            <a:ext cx="237744" cy="237744"/>
          </a:xfrm>
          <a:prstGeom prst="rect">
            <a:avLst/>
          </a:prstGeom>
        </p:spPr>
      </p:pic>
      <p:sp>
        <p:nvSpPr>
          <p:cNvPr id="26" name="Text 20"/>
          <p:cNvSpPr txBox="1"/>
          <p:nvPr/>
        </p:nvSpPr>
        <p:spPr>
          <a:xfrm>
            <a:off x="1143000" y="3566160"/>
            <a:ext cx="164592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Cached tables</a:t>
            </a:r>
            <a:endParaRPr lang="en-US" sz="1200" dirty="0"/>
          </a:p>
        </p:txBody>
      </p:sp>
      <p:sp>
        <p:nvSpPr>
          <p:cNvPr id="27" name="Text 21"/>
          <p:cNvSpPr txBox="1"/>
          <p:nvPr/>
        </p:nvSpPr>
        <p:spPr>
          <a:xfrm>
            <a:off x="1143000" y="3849624"/>
            <a:ext cx="1645920" cy="2743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 parameter signature</a:t>
            </a:r>
            <a:endParaRPr lang="en-US" sz="950" dirty="0"/>
          </a:p>
        </p:txBody>
      </p:sp>
      <p:sp>
        <p:nvSpPr>
          <p:cNvPr id="28" name="Shape 22"/>
          <p:cNvSpPr/>
          <p:nvPr/>
        </p:nvSpPr>
        <p:spPr>
          <a:xfrm>
            <a:off x="3108960" y="1371600"/>
            <a:ext cx="2697480" cy="3063240"/>
          </a:xfrm>
          <a:prstGeom prst="roundRect">
            <a:avLst>
              <a:gd name="adj" fmla="val 2712"/>
            </a:avLst>
          </a:prstGeom>
          <a:solidFill>
            <a:srgbClr val="F4F7F5"/>
          </a:solidFill>
          <a:ln w="9525">
            <a:solidFill>
              <a:srgbClr val="D5DED9"/>
            </a:solidFill>
            <a:prstDash val="solid"/>
          </a:ln>
        </p:spPr>
      </p:sp>
      <p:sp>
        <p:nvSpPr>
          <p:cNvPr id="29" name="Text 23"/>
          <p:cNvSpPr txBox="1"/>
          <p:nvPr/>
        </p:nvSpPr>
        <p:spPr>
          <a:xfrm>
            <a:off x="3246120" y="1444752"/>
            <a:ext cx="2423160" cy="274320"/>
          </a:xfrm>
          <a:prstGeom prst="rect">
            <a:avLst/>
          </a:prstGeom>
          <a:noFill/>
          <a:ln/>
        </p:spPr>
        <p:txBody>
          <a:bodyPr wrap="square" lIns="0" tIns="0" rIns="0" bIns="0" rtlCol="0" anchor="t"/>
          <a:lstStyle/>
          <a:p>
            <a:pPr indent="0" marL="0">
              <a:buNone/>
            </a:pPr>
            <a:r>
              <a:rPr lang="en-US" sz="1150" b="1" dirty="0">
                <a:solidFill>
                  <a:srgbClr val="00553A"/>
                </a:solidFill>
                <a:latin typeface="Calibri" pitchFamily="34" charset="0"/>
                <a:ea typeface="Calibri" pitchFamily="34" charset="-122"/>
                <a:cs typeface="Calibri" pitchFamily="34" charset="-120"/>
              </a:rPr>
              <a:t>Monthly table · unit × month</a:t>
            </a:r>
            <a:endParaRPr lang="en-US" sz="1150" dirty="0"/>
          </a:p>
        </p:txBody>
      </p:sp>
      <p:sp>
        <p:nvSpPr>
          <p:cNvPr id="30" name="Text 24"/>
          <p:cNvSpPr txBox="1"/>
          <p:nvPr/>
        </p:nvSpPr>
        <p:spPr>
          <a:xfrm>
            <a:off x="3246120" y="1783080"/>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sol</a:t>
            </a:r>
            <a:endParaRPr lang="en-US" sz="900" dirty="0"/>
          </a:p>
        </p:txBody>
      </p:sp>
      <p:sp>
        <p:nvSpPr>
          <p:cNvPr id="31" name="Text 25"/>
          <p:cNvSpPr txBox="1"/>
          <p:nvPr/>
        </p:nvSpPr>
        <p:spPr>
          <a:xfrm>
            <a:off x="3246120" y="1965960"/>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sum of lights (observed + imputed)</a:t>
            </a:r>
            <a:endParaRPr lang="en-US" sz="900" dirty="0"/>
          </a:p>
        </p:txBody>
      </p:sp>
      <p:sp>
        <p:nvSpPr>
          <p:cNvPr id="32" name="Text 26"/>
          <p:cNvSpPr txBox="1"/>
          <p:nvPr/>
        </p:nvSpPr>
        <p:spPr>
          <a:xfrm>
            <a:off x="3246120" y="2212848"/>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valid_frac</a:t>
            </a:r>
            <a:endParaRPr lang="en-US" sz="900" dirty="0"/>
          </a:p>
        </p:txBody>
      </p:sp>
      <p:sp>
        <p:nvSpPr>
          <p:cNvPr id="33" name="Text 27"/>
          <p:cNvSpPr txBox="1"/>
          <p:nvPr/>
        </p:nvSpPr>
        <p:spPr>
          <a:xfrm>
            <a:off x="3246120" y="2395728"/>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share of the unit's pixels observed</a:t>
            </a:r>
            <a:endParaRPr lang="en-US" sz="900" dirty="0"/>
          </a:p>
        </p:txBody>
      </p:sp>
      <p:sp>
        <p:nvSpPr>
          <p:cNvPr id="34" name="Text 28"/>
          <p:cNvSpPr txBox="1"/>
          <p:nvPr/>
        </p:nvSpPr>
        <p:spPr>
          <a:xfrm>
            <a:off x="3246120" y="2642616"/>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sol_adj</a:t>
            </a:r>
            <a:endParaRPr lang="en-US" sz="900" dirty="0"/>
          </a:p>
        </p:txBody>
      </p:sp>
      <p:sp>
        <p:nvSpPr>
          <p:cNvPr id="35" name="Text 29"/>
          <p:cNvSpPr txBox="1"/>
          <p:nvPr/>
        </p:nvSpPr>
        <p:spPr>
          <a:xfrm>
            <a:off x="3246120" y="2825496"/>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sol if valid_frac ≥ 0.8, otherwise missing</a:t>
            </a:r>
            <a:endParaRPr lang="en-US" sz="900" dirty="0"/>
          </a:p>
        </p:txBody>
      </p:sp>
      <p:sp>
        <p:nvSpPr>
          <p:cNvPr id="36" name="Text 30"/>
          <p:cNvSpPr txBox="1"/>
          <p:nvPr/>
        </p:nvSpPr>
        <p:spPr>
          <a:xfrm>
            <a:off x="3246120" y="3072384"/>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imputed_share</a:t>
            </a:r>
            <a:endParaRPr lang="en-US" sz="900" dirty="0"/>
          </a:p>
        </p:txBody>
      </p:sp>
      <p:sp>
        <p:nvSpPr>
          <p:cNvPr id="37" name="Text 31"/>
          <p:cNvSpPr txBox="1"/>
          <p:nvPr/>
        </p:nvSpPr>
        <p:spPr>
          <a:xfrm>
            <a:off x="3246120" y="3255264"/>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share of light imputed (clouds)</a:t>
            </a:r>
            <a:endParaRPr lang="en-US" sz="900" dirty="0"/>
          </a:p>
        </p:txBody>
      </p:sp>
      <p:sp>
        <p:nvSpPr>
          <p:cNvPr id="38" name="Shape 32"/>
          <p:cNvSpPr/>
          <p:nvPr/>
        </p:nvSpPr>
        <p:spPr>
          <a:xfrm>
            <a:off x="5943600" y="1371600"/>
            <a:ext cx="2697480" cy="3063240"/>
          </a:xfrm>
          <a:prstGeom prst="roundRect">
            <a:avLst>
              <a:gd name="adj" fmla="val 2712"/>
            </a:avLst>
          </a:prstGeom>
          <a:solidFill>
            <a:srgbClr val="F4F7F5"/>
          </a:solidFill>
          <a:ln w="9525">
            <a:solidFill>
              <a:srgbClr val="D5DED9"/>
            </a:solidFill>
            <a:prstDash val="solid"/>
          </a:ln>
        </p:spPr>
      </p:sp>
      <p:sp>
        <p:nvSpPr>
          <p:cNvPr id="39" name="Text 33"/>
          <p:cNvSpPr txBox="1"/>
          <p:nvPr/>
        </p:nvSpPr>
        <p:spPr>
          <a:xfrm>
            <a:off x="6080760" y="1444752"/>
            <a:ext cx="2423160" cy="274320"/>
          </a:xfrm>
          <a:prstGeom prst="rect">
            <a:avLst/>
          </a:prstGeom>
          <a:noFill/>
          <a:ln/>
        </p:spPr>
        <p:txBody>
          <a:bodyPr wrap="square" lIns="0" tIns="0" rIns="0" bIns="0" rtlCol="0" anchor="t"/>
          <a:lstStyle/>
          <a:p>
            <a:pPr indent="0" marL="0">
              <a:buNone/>
            </a:pPr>
            <a:r>
              <a:rPr lang="en-US" sz="1150" b="1" dirty="0">
                <a:solidFill>
                  <a:srgbClr val="00553A"/>
                </a:solidFill>
                <a:latin typeface="Calibri" pitchFamily="34" charset="0"/>
                <a:ea typeface="Calibri" pitchFamily="34" charset="-122"/>
                <a:cs typeface="Calibri" pitchFamily="34" charset="-120"/>
              </a:rPr>
              <a:t>Annual table · unit × year</a:t>
            </a:r>
            <a:endParaRPr lang="en-US" sz="1150" dirty="0"/>
          </a:p>
        </p:txBody>
      </p:sp>
      <p:sp>
        <p:nvSpPr>
          <p:cNvPr id="40" name="Text 34"/>
          <p:cNvSpPr txBox="1"/>
          <p:nvPr/>
        </p:nvSpPr>
        <p:spPr>
          <a:xfrm>
            <a:off x="6080760" y="1783080"/>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sol · sol_raw</a:t>
            </a:r>
            <a:endParaRPr lang="en-US" sz="900" dirty="0"/>
          </a:p>
        </p:txBody>
      </p:sp>
      <p:sp>
        <p:nvSpPr>
          <p:cNvPr id="41" name="Text 35"/>
          <p:cNvSpPr txBox="1"/>
          <p:nvPr/>
        </p:nvSpPr>
        <p:spPr>
          <a:xfrm>
            <a:off x="6080760" y="1965960"/>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cleaned light · before flare mask</a:t>
            </a:r>
            <a:endParaRPr lang="en-US" sz="900" dirty="0"/>
          </a:p>
        </p:txBody>
      </p:sp>
      <p:sp>
        <p:nvSpPr>
          <p:cNvPr id="42" name="Text 36"/>
          <p:cNvSpPr txBox="1"/>
          <p:nvPr/>
        </p:nvSpPr>
        <p:spPr>
          <a:xfrm>
            <a:off x="6080760" y="2212848"/>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lit_km2 · area_km2</a:t>
            </a:r>
            <a:endParaRPr lang="en-US" sz="900" dirty="0"/>
          </a:p>
        </p:txBody>
      </p:sp>
      <p:sp>
        <p:nvSpPr>
          <p:cNvPr id="43" name="Text 37"/>
          <p:cNvSpPr txBox="1"/>
          <p:nvPr/>
        </p:nvSpPr>
        <p:spPr>
          <a:xfrm>
            <a:off x="6080760" y="2395728"/>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area ≥ 0.5 nW · total area</a:t>
            </a:r>
            <a:endParaRPr lang="en-US" sz="900" dirty="0"/>
          </a:p>
        </p:txBody>
      </p:sp>
      <p:sp>
        <p:nvSpPr>
          <p:cNvPr id="44" name="Text 38"/>
          <p:cNvSpPr txBox="1"/>
          <p:nvPr/>
        </p:nvSpPr>
        <p:spPr>
          <a:xfrm>
            <a:off x="6080760" y="2642616"/>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pop · pop_inhabited</a:t>
            </a:r>
            <a:endParaRPr lang="en-US" sz="900" dirty="0"/>
          </a:p>
        </p:txBody>
      </p:sp>
      <p:sp>
        <p:nvSpPr>
          <p:cNvPr id="45" name="Text 39"/>
          <p:cNvSpPr txBox="1"/>
          <p:nvPr/>
        </p:nvSpPr>
        <p:spPr>
          <a:xfrm>
            <a:off x="6080760" y="2825496"/>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population · in pixels ≥ 5 people</a:t>
            </a:r>
            <a:endParaRPr lang="en-US" sz="900" dirty="0"/>
          </a:p>
        </p:txBody>
      </p:sp>
      <p:sp>
        <p:nvSpPr>
          <p:cNvPr id="46" name="Text 40"/>
          <p:cNvSpPr txBox="1"/>
          <p:nvPr/>
        </p:nvSpPr>
        <p:spPr>
          <a:xfrm>
            <a:off x="6080760" y="3072384"/>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pop_dark_&lt;t&gt;</a:t>
            </a:r>
            <a:endParaRPr lang="en-US" sz="900" dirty="0"/>
          </a:p>
        </p:txBody>
      </p:sp>
      <p:sp>
        <p:nvSpPr>
          <p:cNvPr id="47" name="Text 41"/>
          <p:cNvSpPr txBox="1"/>
          <p:nvPr/>
        </p:nvSpPr>
        <p:spPr>
          <a:xfrm>
            <a:off x="6080760" y="3255264"/>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inhabited, radiance &lt; threshold t</a:t>
            </a:r>
            <a:endParaRPr lang="en-US" sz="900" dirty="0"/>
          </a:p>
        </p:txBody>
      </p:sp>
      <p:sp>
        <p:nvSpPr>
          <p:cNvPr id="48" name="Text 42"/>
          <p:cNvSpPr txBox="1"/>
          <p:nvPr/>
        </p:nvSpPr>
        <p:spPr>
          <a:xfrm>
            <a:off x="6080760" y="3502152"/>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pop_urban · sol_urban</a:t>
            </a:r>
            <a:endParaRPr lang="en-US" sz="900" dirty="0"/>
          </a:p>
        </p:txBody>
      </p:sp>
      <p:sp>
        <p:nvSpPr>
          <p:cNvPr id="49" name="Text 43"/>
          <p:cNvSpPr txBox="1"/>
          <p:nvPr/>
        </p:nvSpPr>
        <p:spPr>
          <a:xfrm>
            <a:off x="6080760" y="3685032"/>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population and light where SMOD ≥ 21</a:t>
            </a:r>
            <a:endParaRPr lang="en-US" sz="900" dirty="0"/>
          </a:p>
        </p:txBody>
      </p:sp>
      <p:sp>
        <p:nvSpPr>
          <p:cNvPr id="50" name="Text 44"/>
          <p:cNvSpPr txBox="1"/>
          <p:nvPr/>
        </p:nvSpPr>
        <p:spPr>
          <a:xfrm>
            <a:off x="6080760" y="3931920"/>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flare_sol</a:t>
            </a:r>
            <a:endParaRPr lang="en-US" sz="900" dirty="0"/>
          </a:p>
        </p:txBody>
      </p:sp>
      <p:sp>
        <p:nvSpPr>
          <p:cNvPr id="51" name="Text 45"/>
          <p:cNvSpPr txBox="1"/>
          <p:nvPr/>
        </p:nvSpPr>
        <p:spPr>
          <a:xfrm>
            <a:off x="6080760" y="4114800"/>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light removed as gas flaring</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CLEANING</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Remove everything that is not human activity</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2606040" cy="1298448"/>
          </a:xfrm>
          <a:prstGeom prst="roundRect">
            <a:avLst>
              <a:gd name="adj" fmla="val 5634"/>
            </a:avLst>
          </a:prstGeom>
          <a:solidFill>
            <a:srgbClr val="E8F5EF"/>
          </a:solidFill>
          <a:ln w="15875">
            <a:solidFill>
              <a:srgbClr val="D49A00"/>
            </a:solidFill>
            <a:prstDash val="solid"/>
          </a:ln>
        </p:spPr>
      </p:sp>
      <p:sp>
        <p:nvSpPr>
          <p:cNvPr id="12" name="Shape 9"/>
          <p:cNvSpPr/>
          <p:nvPr/>
        </p:nvSpPr>
        <p:spPr>
          <a:xfrm>
            <a:off x="603504" y="1517904"/>
            <a:ext cx="457200" cy="457200"/>
          </a:xfrm>
          <a:prstGeom prst="ellipse">
            <a:avLst/>
          </a:prstGeom>
          <a:solidFill>
            <a:srgbClr val="D49A00">
              <a:alpha val="22000"/>
            </a:srgbClr>
          </a:solidFill>
          <a:ln w="12700">
            <a:solidFill>
              <a:srgbClr val="D49A00">
                <a:alpha val="0"/>
              </a:srgbClr>
            </a:solidFill>
            <a:prstDash val="solid"/>
          </a:ln>
        </p:spPr>
      </p:sp>
      <p:pic>
        <p:nvPicPr>
          <p:cNvPr id="13" name="Image 0" descr="preencoded.png">    </p:cNvPr>
          <p:cNvPicPr>
            <a:picLocks noChangeAspect="1"/>
          </p:cNvPicPr>
          <p:nvPr/>
        </p:nvPicPr>
        <p:blipFill>
          <a:blip r:embed="rId1"/>
          <a:stretch>
            <a:fillRect/>
          </a:stretch>
        </p:blipFill>
        <p:spPr>
          <a:xfrm>
            <a:off x="713232" y="1627632"/>
            <a:ext cx="237744" cy="237744"/>
          </a:xfrm>
          <a:prstGeom prst="rect">
            <a:avLst/>
          </a:prstGeom>
        </p:spPr>
      </p:pic>
      <p:sp>
        <p:nvSpPr>
          <p:cNvPr id="14" name="Text 10"/>
          <p:cNvSpPr txBox="1"/>
          <p:nvPr/>
        </p:nvSpPr>
        <p:spPr>
          <a:xfrm>
            <a:off x="1170432" y="15179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1 · Clouds</a:t>
            </a:r>
            <a:endParaRPr lang="en-US" sz="1300" dirty="0"/>
          </a:p>
        </p:txBody>
      </p:sp>
      <p:sp>
        <p:nvSpPr>
          <p:cNvPr id="15" name="Text 11"/>
          <p:cNvSpPr txBox="1"/>
          <p:nvPr/>
        </p:nvSpPr>
        <p:spPr>
          <a:xfrm>
            <a:off x="603504" y="2048256"/>
            <a:ext cx="23317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cf_cvg ≥ 2 · cloudy pixel = its annual value · unit-month kept if ≥ 80% observed</a:t>
            </a:r>
            <a:endParaRPr lang="en-US" sz="1050" dirty="0"/>
          </a:p>
        </p:txBody>
      </p:sp>
      <p:sp>
        <p:nvSpPr>
          <p:cNvPr id="16" name="Shape 12"/>
          <p:cNvSpPr/>
          <p:nvPr/>
        </p:nvSpPr>
        <p:spPr>
          <a:xfrm>
            <a:off x="3246120" y="1371600"/>
            <a:ext cx="2606040" cy="1298448"/>
          </a:xfrm>
          <a:prstGeom prst="roundRect">
            <a:avLst>
              <a:gd name="adj" fmla="val 5634"/>
            </a:avLst>
          </a:prstGeom>
          <a:solidFill>
            <a:srgbClr val="F4F7F5"/>
          </a:solidFill>
          <a:ln w="9525">
            <a:solidFill>
              <a:srgbClr val="D5DED9"/>
            </a:solidFill>
            <a:prstDash val="solid"/>
          </a:ln>
        </p:spPr>
      </p:sp>
      <p:sp>
        <p:nvSpPr>
          <p:cNvPr id="17" name="Shape 13"/>
          <p:cNvSpPr/>
          <p:nvPr/>
        </p:nvSpPr>
        <p:spPr>
          <a:xfrm>
            <a:off x="3392424" y="1517904"/>
            <a:ext cx="457200" cy="457200"/>
          </a:xfrm>
          <a:prstGeom prst="ellipse">
            <a:avLst/>
          </a:prstGeom>
          <a:solidFill>
            <a:srgbClr val="D49A00">
              <a:alpha val="22000"/>
            </a:srgbClr>
          </a:solidFill>
          <a:ln w="12700">
            <a:solidFill>
              <a:srgbClr val="D49A00">
                <a:alpha val="0"/>
              </a:srgbClr>
            </a:solidFill>
            <a:prstDash val="solid"/>
          </a:ln>
        </p:spPr>
      </p:sp>
      <p:pic>
        <p:nvPicPr>
          <p:cNvPr id="18" name="Image 1" descr="preencoded.png">    </p:cNvPr>
          <p:cNvPicPr>
            <a:picLocks noChangeAspect="1"/>
          </p:cNvPicPr>
          <p:nvPr/>
        </p:nvPicPr>
        <p:blipFill>
          <a:blip r:embed="rId2"/>
          <a:stretch>
            <a:fillRect/>
          </a:stretch>
        </p:blipFill>
        <p:spPr>
          <a:xfrm>
            <a:off x="3502152" y="1627632"/>
            <a:ext cx="237744" cy="237744"/>
          </a:xfrm>
          <a:prstGeom prst="rect">
            <a:avLst/>
          </a:prstGeom>
        </p:spPr>
      </p:pic>
      <p:sp>
        <p:nvSpPr>
          <p:cNvPr id="19" name="Text 14"/>
          <p:cNvSpPr txBox="1"/>
          <p:nvPr/>
        </p:nvSpPr>
        <p:spPr>
          <a:xfrm>
            <a:off x="3959352" y="15179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2 · Negatives</a:t>
            </a:r>
            <a:endParaRPr lang="en-US" sz="1300" dirty="0"/>
          </a:p>
        </p:txBody>
      </p:sp>
      <p:sp>
        <p:nvSpPr>
          <p:cNvPr id="20" name="Text 15"/>
          <p:cNvSpPr txBox="1"/>
          <p:nvPr/>
        </p:nvSpPr>
        <p:spPr>
          <a:xfrm>
            <a:off x="3392424" y="2048256"/>
            <a:ext cx="23317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Set to 0: calibration noise over dark areas</a:t>
            </a:r>
            <a:endParaRPr lang="en-US" sz="1050" dirty="0"/>
          </a:p>
        </p:txBody>
      </p:sp>
      <p:sp>
        <p:nvSpPr>
          <p:cNvPr id="21" name="Shape 16"/>
          <p:cNvSpPr/>
          <p:nvPr/>
        </p:nvSpPr>
        <p:spPr>
          <a:xfrm>
            <a:off x="6035040" y="1371600"/>
            <a:ext cx="2606040" cy="1298448"/>
          </a:xfrm>
          <a:prstGeom prst="roundRect">
            <a:avLst>
              <a:gd name="adj" fmla="val 5634"/>
            </a:avLst>
          </a:prstGeom>
          <a:solidFill>
            <a:srgbClr val="F4F7F5"/>
          </a:solidFill>
          <a:ln w="9525">
            <a:solidFill>
              <a:srgbClr val="D5DED9"/>
            </a:solidFill>
            <a:prstDash val="solid"/>
          </a:ln>
        </p:spPr>
      </p:sp>
      <p:sp>
        <p:nvSpPr>
          <p:cNvPr id="22" name="Shape 17"/>
          <p:cNvSpPr/>
          <p:nvPr/>
        </p:nvSpPr>
        <p:spPr>
          <a:xfrm>
            <a:off x="6181344" y="1517904"/>
            <a:ext cx="457200" cy="457200"/>
          </a:xfrm>
          <a:prstGeom prst="ellipse">
            <a:avLst/>
          </a:prstGeom>
          <a:solidFill>
            <a:srgbClr val="D49A00">
              <a:alpha val="22000"/>
            </a:srgbClr>
          </a:solidFill>
          <a:ln w="12700">
            <a:solidFill>
              <a:srgbClr val="D49A00">
                <a:alpha val="0"/>
              </a:srgbClr>
            </a:solidFill>
            <a:prstDash val="solid"/>
          </a:ln>
        </p:spPr>
      </p:sp>
      <p:pic>
        <p:nvPicPr>
          <p:cNvPr id="23" name="Image 2" descr="preencoded.png">    </p:cNvPr>
          <p:cNvPicPr>
            <a:picLocks noChangeAspect="1"/>
          </p:cNvPicPr>
          <p:nvPr/>
        </p:nvPicPr>
        <p:blipFill>
          <a:blip r:embed="rId3"/>
          <a:stretch>
            <a:fillRect/>
          </a:stretch>
        </p:blipFill>
        <p:spPr>
          <a:xfrm>
            <a:off x="6291072" y="1627632"/>
            <a:ext cx="237744" cy="237744"/>
          </a:xfrm>
          <a:prstGeom prst="rect">
            <a:avLst/>
          </a:prstGeom>
        </p:spPr>
      </p:pic>
      <p:sp>
        <p:nvSpPr>
          <p:cNvPr id="24" name="Text 18"/>
          <p:cNvSpPr txBox="1"/>
          <p:nvPr/>
        </p:nvSpPr>
        <p:spPr>
          <a:xfrm>
            <a:off x="6748272" y="15179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3 · Outliers</a:t>
            </a:r>
            <a:endParaRPr lang="en-US" sz="1300" dirty="0"/>
          </a:p>
        </p:txBody>
      </p:sp>
      <p:sp>
        <p:nvSpPr>
          <p:cNvPr id="25" name="Text 19"/>
          <p:cNvSpPr txBox="1"/>
          <p:nvPr/>
        </p:nvSpPr>
        <p:spPr>
          <a:xfrm>
            <a:off x="6181344" y="2048256"/>
            <a:ext cx="23317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Cap at 1,000 nW · &gt; 5 × annual median → median (fires, lightning, glint)</a:t>
            </a:r>
            <a:endParaRPr lang="en-US" sz="1050" dirty="0"/>
          </a:p>
        </p:txBody>
      </p:sp>
      <p:sp>
        <p:nvSpPr>
          <p:cNvPr id="26" name="Shape 20"/>
          <p:cNvSpPr/>
          <p:nvPr/>
        </p:nvSpPr>
        <p:spPr>
          <a:xfrm>
            <a:off x="457200" y="2834640"/>
            <a:ext cx="2606040" cy="1298448"/>
          </a:xfrm>
          <a:prstGeom prst="roundRect">
            <a:avLst>
              <a:gd name="adj" fmla="val 5634"/>
            </a:avLst>
          </a:prstGeom>
          <a:solidFill>
            <a:srgbClr val="F4F7F5"/>
          </a:solidFill>
          <a:ln w="9525">
            <a:solidFill>
              <a:srgbClr val="D5DED9"/>
            </a:solidFill>
            <a:prstDash val="solid"/>
          </a:ln>
        </p:spPr>
      </p:sp>
      <p:sp>
        <p:nvSpPr>
          <p:cNvPr id="27" name="Shape 21"/>
          <p:cNvSpPr/>
          <p:nvPr/>
        </p:nvSpPr>
        <p:spPr>
          <a:xfrm>
            <a:off x="603504" y="2980944"/>
            <a:ext cx="457200" cy="457200"/>
          </a:xfrm>
          <a:prstGeom prst="ellipse">
            <a:avLst/>
          </a:prstGeom>
          <a:solidFill>
            <a:srgbClr val="D49A00">
              <a:alpha val="22000"/>
            </a:srgbClr>
          </a:solidFill>
          <a:ln w="12700">
            <a:solidFill>
              <a:srgbClr val="D49A00">
                <a:alpha val="0"/>
              </a:srgbClr>
            </a:solidFill>
            <a:prstDash val="solid"/>
          </a:ln>
        </p:spPr>
      </p:sp>
      <p:pic>
        <p:nvPicPr>
          <p:cNvPr id="28" name="Image 3" descr="preencoded.png">    </p:cNvPr>
          <p:cNvPicPr>
            <a:picLocks noChangeAspect="1"/>
          </p:cNvPicPr>
          <p:nvPr/>
        </p:nvPicPr>
        <p:blipFill>
          <a:blip r:embed="rId4"/>
          <a:stretch>
            <a:fillRect/>
          </a:stretch>
        </p:blipFill>
        <p:spPr>
          <a:xfrm>
            <a:off x="713232" y="3090672"/>
            <a:ext cx="237744" cy="237744"/>
          </a:xfrm>
          <a:prstGeom prst="rect">
            <a:avLst/>
          </a:prstGeom>
        </p:spPr>
      </p:pic>
      <p:sp>
        <p:nvSpPr>
          <p:cNvPr id="29" name="Text 22"/>
          <p:cNvSpPr txBox="1"/>
          <p:nvPr/>
        </p:nvSpPr>
        <p:spPr>
          <a:xfrm>
            <a:off x="1170432" y="298094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4 · Background</a:t>
            </a:r>
            <a:endParaRPr lang="en-US" sz="1300" dirty="0"/>
          </a:p>
        </p:txBody>
      </p:sp>
      <p:sp>
        <p:nvSpPr>
          <p:cNvPr id="30" name="Text 23"/>
          <p:cNvSpPr txBox="1"/>
          <p:nvPr/>
        </p:nvSpPr>
        <p:spPr>
          <a:xfrm>
            <a:off x="603504" y="3511296"/>
            <a:ext cx="23317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Unlit in the annual product → 0; newly lit pixels kept if the year is not yet published</a:t>
            </a:r>
            <a:endParaRPr lang="en-US" sz="1050" dirty="0"/>
          </a:p>
        </p:txBody>
      </p:sp>
      <p:sp>
        <p:nvSpPr>
          <p:cNvPr id="31" name="Shape 24"/>
          <p:cNvSpPr/>
          <p:nvPr/>
        </p:nvSpPr>
        <p:spPr>
          <a:xfrm>
            <a:off x="3246120" y="2834640"/>
            <a:ext cx="2606040" cy="1298448"/>
          </a:xfrm>
          <a:prstGeom prst="roundRect">
            <a:avLst>
              <a:gd name="adj" fmla="val 5634"/>
            </a:avLst>
          </a:prstGeom>
          <a:solidFill>
            <a:srgbClr val="F4F7F5"/>
          </a:solidFill>
          <a:ln w="9525">
            <a:solidFill>
              <a:srgbClr val="D5DED9"/>
            </a:solidFill>
            <a:prstDash val="solid"/>
          </a:ln>
        </p:spPr>
      </p:sp>
      <p:sp>
        <p:nvSpPr>
          <p:cNvPr id="32" name="Shape 25"/>
          <p:cNvSpPr/>
          <p:nvPr/>
        </p:nvSpPr>
        <p:spPr>
          <a:xfrm>
            <a:off x="3392424" y="2980944"/>
            <a:ext cx="457200" cy="457200"/>
          </a:xfrm>
          <a:prstGeom prst="ellipse">
            <a:avLst/>
          </a:prstGeom>
          <a:solidFill>
            <a:srgbClr val="D49A00">
              <a:alpha val="22000"/>
            </a:srgbClr>
          </a:solidFill>
          <a:ln w="12700">
            <a:solidFill>
              <a:srgbClr val="D49A00">
                <a:alpha val="0"/>
              </a:srgbClr>
            </a:solidFill>
            <a:prstDash val="solid"/>
          </a:ln>
        </p:spPr>
      </p:sp>
      <p:pic>
        <p:nvPicPr>
          <p:cNvPr id="33" name="Image 4" descr="preencoded.png">    </p:cNvPr>
          <p:cNvPicPr>
            <a:picLocks noChangeAspect="1"/>
          </p:cNvPicPr>
          <p:nvPr/>
        </p:nvPicPr>
        <p:blipFill>
          <a:blip r:embed="rId5"/>
          <a:stretch>
            <a:fillRect/>
          </a:stretch>
        </p:blipFill>
        <p:spPr>
          <a:xfrm>
            <a:off x="3502152" y="3090672"/>
            <a:ext cx="237744" cy="237744"/>
          </a:xfrm>
          <a:prstGeom prst="rect">
            <a:avLst/>
          </a:prstGeom>
        </p:spPr>
      </p:pic>
      <p:sp>
        <p:nvSpPr>
          <p:cNvPr id="34" name="Text 26"/>
          <p:cNvSpPr txBox="1"/>
          <p:nvPr/>
        </p:nvSpPr>
        <p:spPr>
          <a:xfrm>
            <a:off x="3959352" y="298094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5 · Gas flares</a:t>
            </a:r>
            <a:endParaRPr lang="en-US" sz="1300" dirty="0"/>
          </a:p>
        </p:txBody>
      </p:sp>
      <p:sp>
        <p:nvSpPr>
          <p:cNvPr id="35" name="Text 27"/>
          <p:cNvSpPr txBox="1"/>
          <p:nvPr/>
        </p:nvSpPr>
        <p:spPr>
          <a:xfrm>
            <a:off x="3392424" y="3511296"/>
            <a:ext cx="23317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 50 nW, &lt; 5 inhabitants, not built-up → removed with a 2 km halo</a:t>
            </a:r>
            <a:endParaRPr lang="en-US" sz="1050" dirty="0"/>
          </a:p>
        </p:txBody>
      </p:sp>
      <p:sp>
        <p:nvSpPr>
          <p:cNvPr id="36" name="Shape 28"/>
          <p:cNvSpPr/>
          <p:nvPr/>
        </p:nvSpPr>
        <p:spPr>
          <a:xfrm>
            <a:off x="6035040" y="2834640"/>
            <a:ext cx="2606040" cy="1298448"/>
          </a:xfrm>
          <a:prstGeom prst="roundRect">
            <a:avLst>
              <a:gd name="adj" fmla="val 5634"/>
            </a:avLst>
          </a:prstGeom>
          <a:solidFill>
            <a:srgbClr val="F4F7F5"/>
          </a:solidFill>
          <a:ln w="9525">
            <a:solidFill>
              <a:srgbClr val="D5DED9"/>
            </a:solidFill>
            <a:prstDash val="solid"/>
          </a:ln>
        </p:spPr>
      </p:sp>
      <p:sp>
        <p:nvSpPr>
          <p:cNvPr id="37" name="Shape 29"/>
          <p:cNvSpPr/>
          <p:nvPr/>
        </p:nvSpPr>
        <p:spPr>
          <a:xfrm>
            <a:off x="6181344" y="2980944"/>
            <a:ext cx="457200" cy="457200"/>
          </a:xfrm>
          <a:prstGeom prst="ellipse">
            <a:avLst/>
          </a:prstGeom>
          <a:solidFill>
            <a:srgbClr val="D49A00">
              <a:alpha val="22000"/>
            </a:srgbClr>
          </a:solidFill>
          <a:ln w="12700">
            <a:solidFill>
              <a:srgbClr val="D49A00">
                <a:alpha val="0"/>
              </a:srgbClr>
            </a:solidFill>
            <a:prstDash val="solid"/>
          </a:ln>
        </p:spPr>
      </p:sp>
      <p:pic>
        <p:nvPicPr>
          <p:cNvPr id="38" name="Image 5" descr="preencoded.png">    </p:cNvPr>
          <p:cNvPicPr>
            <a:picLocks noChangeAspect="1"/>
          </p:cNvPicPr>
          <p:nvPr/>
        </p:nvPicPr>
        <p:blipFill>
          <a:blip r:embed="rId6"/>
          <a:stretch>
            <a:fillRect/>
          </a:stretch>
        </p:blipFill>
        <p:spPr>
          <a:xfrm>
            <a:off x="6291072" y="3090672"/>
            <a:ext cx="237744" cy="237744"/>
          </a:xfrm>
          <a:prstGeom prst="rect">
            <a:avLst/>
          </a:prstGeom>
        </p:spPr>
      </p:pic>
      <p:sp>
        <p:nvSpPr>
          <p:cNvPr id="39" name="Text 30"/>
          <p:cNvSpPr txBox="1"/>
          <p:nvPr/>
        </p:nvSpPr>
        <p:spPr>
          <a:xfrm>
            <a:off x="6748272" y="298094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6 · DMSP</a:t>
            </a:r>
            <a:endParaRPr lang="en-US" sz="1300" dirty="0"/>
          </a:p>
        </p:txBody>
      </p:sp>
      <p:sp>
        <p:nvSpPr>
          <p:cNvPr id="40" name="Text 31"/>
          <p:cNvSpPr txBox="1"/>
          <p:nvPr/>
        </p:nvSpPr>
        <p:spPr>
          <a:xfrm>
            <a:off x="6181344" y="3511296"/>
            <a:ext cx="23317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Saturation (DN 63) measured; harmonised series thresholded at DN &gt; 7</a:t>
            </a:r>
            <a:endParaRPr lang="en-US" sz="1050" dirty="0"/>
          </a:p>
        </p:txBody>
      </p:sp>
      <p:sp>
        <p:nvSpPr>
          <p:cNvPr id="41" name="Text 32"/>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Li et al. (2020) for the DMSP threshold · all thresholds are NTLConfig parameters</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BASE METRICS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Base metrics and checks, used everywhere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53312"/>
            <a:ext cx="17830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METRIC</a:t>
            </a:r>
            <a:endParaRPr lang="en-US" sz="900" dirty="0"/>
          </a:p>
        </p:txBody>
      </p:sp>
      <p:sp>
        <p:nvSpPr>
          <p:cNvPr id="12" name="Text 9"/>
          <p:cNvSpPr txBox="1"/>
          <p:nvPr/>
        </p:nvSpPr>
        <p:spPr>
          <a:xfrm>
            <a:off x="2423160" y="1353312"/>
            <a:ext cx="2971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DEFINITION / FORMULA</a:t>
            </a:r>
            <a:endParaRPr lang="en-US" sz="900" dirty="0"/>
          </a:p>
        </p:txBody>
      </p:sp>
      <p:sp>
        <p:nvSpPr>
          <p:cNvPr id="13" name="Text 10"/>
          <p:cNvSpPr txBox="1"/>
          <p:nvPr/>
        </p:nvSpPr>
        <p:spPr>
          <a:xfrm>
            <a:off x="5486400" y="1353312"/>
            <a:ext cx="32004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HOW TO READ IT</a:t>
            </a:r>
            <a:endParaRPr lang="en-US" sz="900" dirty="0"/>
          </a:p>
        </p:txBody>
      </p:sp>
      <p:sp>
        <p:nvSpPr>
          <p:cNvPr id="14" name="Shape 11"/>
          <p:cNvSpPr/>
          <p:nvPr/>
        </p:nvSpPr>
        <p:spPr>
          <a:xfrm>
            <a:off x="457200" y="1609344"/>
            <a:ext cx="8229600" cy="384048"/>
          </a:xfrm>
          <a:prstGeom prst="roundRect">
            <a:avLst>
              <a:gd name="adj" fmla="val 11905"/>
            </a:avLst>
          </a:prstGeom>
          <a:solidFill>
            <a:srgbClr val="F4F7F5"/>
          </a:solidFill>
          <a:ln w="6350">
            <a:solidFill>
              <a:srgbClr val="D5DED9"/>
            </a:solidFill>
            <a:prstDash val="solid"/>
          </a:ln>
        </p:spPr>
      </p:sp>
      <p:sp>
        <p:nvSpPr>
          <p:cNvPr id="15" name="Text 12"/>
          <p:cNvSpPr txBox="1"/>
          <p:nvPr/>
        </p:nvSpPr>
        <p:spPr>
          <a:xfrm>
            <a:off x="548640" y="1609344"/>
            <a:ext cx="1737360" cy="38404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Sum of lights (SoL)</a:t>
            </a:r>
            <a:endParaRPr lang="en-US" sz="1050" dirty="0"/>
          </a:p>
        </p:txBody>
      </p:sp>
      <p:sp>
        <p:nvSpPr>
          <p:cNvPr id="16" name="Text 13"/>
          <p:cNvSpPr txBox="1"/>
          <p:nvPr/>
        </p:nvSpPr>
        <p:spPr>
          <a:xfrm>
            <a:off x="2331720" y="1609344"/>
            <a:ext cx="2971800" cy="38404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Σ radiance of the unit's cleaned pixels</a:t>
            </a:r>
            <a:endParaRPr lang="en-US" sz="1000" dirty="0"/>
          </a:p>
        </p:txBody>
      </p:sp>
      <p:sp>
        <p:nvSpPr>
          <p:cNvPr id="17" name="Text 14"/>
          <p:cNvSpPr txBox="1"/>
          <p:nvPr/>
        </p:nvSpPr>
        <p:spPr>
          <a:xfrm>
            <a:off x="5394960" y="1609344"/>
            <a:ext cx="3200400" cy="38404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Activity index; compare over time, with care across latitudes</a:t>
            </a:r>
            <a:endParaRPr lang="en-US" sz="950" dirty="0"/>
          </a:p>
        </p:txBody>
      </p:sp>
      <p:sp>
        <p:nvSpPr>
          <p:cNvPr id="18" name="Shape 15"/>
          <p:cNvSpPr/>
          <p:nvPr/>
        </p:nvSpPr>
        <p:spPr>
          <a:xfrm>
            <a:off x="457200" y="2048256"/>
            <a:ext cx="8229600" cy="384048"/>
          </a:xfrm>
          <a:prstGeom prst="roundRect">
            <a:avLst>
              <a:gd name="adj" fmla="val 11905"/>
            </a:avLst>
          </a:prstGeom>
          <a:solidFill>
            <a:srgbClr val="FFFFFF"/>
          </a:solidFill>
          <a:ln w="6350">
            <a:solidFill>
              <a:srgbClr val="D5DED9"/>
            </a:solidFill>
            <a:prstDash val="solid"/>
          </a:ln>
        </p:spPr>
      </p:sp>
      <p:sp>
        <p:nvSpPr>
          <p:cNvPr id="19" name="Text 16"/>
          <p:cNvSpPr txBox="1"/>
          <p:nvPr/>
        </p:nvSpPr>
        <p:spPr>
          <a:xfrm>
            <a:off x="548640" y="2048256"/>
            <a:ext cx="1737360" cy="38404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Light per capita</a:t>
            </a:r>
            <a:endParaRPr lang="en-US" sz="1050" dirty="0"/>
          </a:p>
        </p:txBody>
      </p:sp>
      <p:sp>
        <p:nvSpPr>
          <p:cNvPr id="20" name="Text 17"/>
          <p:cNvSpPr txBox="1"/>
          <p:nvPr/>
        </p:nvSpPr>
        <p:spPr>
          <a:xfrm>
            <a:off x="2331720" y="2048256"/>
            <a:ext cx="2971800" cy="38404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SoL / population</a:t>
            </a:r>
            <a:endParaRPr lang="en-US" sz="1000" dirty="0"/>
          </a:p>
        </p:txBody>
      </p:sp>
      <p:sp>
        <p:nvSpPr>
          <p:cNvPr id="21" name="Text 18"/>
          <p:cNvSpPr txBox="1"/>
          <p:nvPr/>
        </p:nvSpPr>
        <p:spPr>
          <a:xfrm>
            <a:off x="5394960" y="2048256"/>
            <a:ext cx="3200400" cy="38404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Active area vs merely populated</a:t>
            </a:r>
            <a:endParaRPr lang="en-US" sz="950" dirty="0"/>
          </a:p>
        </p:txBody>
      </p:sp>
      <p:sp>
        <p:nvSpPr>
          <p:cNvPr id="22" name="Shape 19"/>
          <p:cNvSpPr/>
          <p:nvPr/>
        </p:nvSpPr>
        <p:spPr>
          <a:xfrm>
            <a:off x="457200" y="2487168"/>
            <a:ext cx="8229600" cy="384048"/>
          </a:xfrm>
          <a:prstGeom prst="roundRect">
            <a:avLst>
              <a:gd name="adj" fmla="val 11905"/>
            </a:avLst>
          </a:prstGeom>
          <a:solidFill>
            <a:srgbClr val="F4F7F5"/>
          </a:solidFill>
          <a:ln w="6350">
            <a:solidFill>
              <a:srgbClr val="D5DED9"/>
            </a:solidFill>
            <a:prstDash val="solid"/>
          </a:ln>
        </p:spPr>
      </p:sp>
      <p:sp>
        <p:nvSpPr>
          <p:cNvPr id="23" name="Text 20"/>
          <p:cNvSpPr txBox="1"/>
          <p:nvPr/>
        </p:nvSpPr>
        <p:spPr>
          <a:xfrm>
            <a:off x="548640" y="2487168"/>
            <a:ext cx="1737360" cy="38404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Lit area share</a:t>
            </a:r>
            <a:endParaRPr lang="en-US" sz="1050" dirty="0"/>
          </a:p>
        </p:txBody>
      </p:sp>
      <p:sp>
        <p:nvSpPr>
          <p:cNvPr id="24" name="Text 21"/>
          <p:cNvSpPr txBox="1"/>
          <p:nvPr/>
        </p:nvSpPr>
        <p:spPr>
          <a:xfrm>
            <a:off x="2331720" y="2487168"/>
            <a:ext cx="2971800" cy="38404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area with radiance ≥ 0.5 nW / unit area</a:t>
            </a:r>
            <a:endParaRPr lang="en-US" sz="1000" dirty="0"/>
          </a:p>
        </p:txBody>
      </p:sp>
      <p:sp>
        <p:nvSpPr>
          <p:cNvPr id="25" name="Text 22"/>
          <p:cNvSpPr txBox="1"/>
          <p:nvPr/>
        </p:nvSpPr>
        <p:spPr>
          <a:xfrm>
            <a:off x="5394960" y="2487168"/>
            <a:ext cx="3200400" cy="38404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Spatial extent of electrification and settlement</a:t>
            </a:r>
            <a:endParaRPr lang="en-US" sz="950" dirty="0"/>
          </a:p>
        </p:txBody>
      </p:sp>
      <p:sp>
        <p:nvSpPr>
          <p:cNvPr id="26" name="Shape 23"/>
          <p:cNvSpPr/>
          <p:nvPr/>
        </p:nvSpPr>
        <p:spPr>
          <a:xfrm>
            <a:off x="457200" y="2926080"/>
            <a:ext cx="8229600" cy="384048"/>
          </a:xfrm>
          <a:prstGeom prst="roundRect">
            <a:avLst>
              <a:gd name="adj" fmla="val 11905"/>
            </a:avLst>
          </a:prstGeom>
          <a:solidFill>
            <a:srgbClr val="FFFFFF"/>
          </a:solidFill>
          <a:ln w="6350">
            <a:solidFill>
              <a:srgbClr val="D5DED9"/>
            </a:solidFill>
            <a:prstDash val="solid"/>
          </a:ln>
        </p:spPr>
      </p:sp>
      <p:sp>
        <p:nvSpPr>
          <p:cNvPr id="27" name="Text 24"/>
          <p:cNvSpPr txBox="1"/>
          <p:nvPr/>
        </p:nvSpPr>
        <p:spPr>
          <a:xfrm>
            <a:off x="548640" y="2926080"/>
            <a:ext cx="1737360" cy="38404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Gas-flare share</a:t>
            </a:r>
            <a:endParaRPr lang="en-US" sz="1050" dirty="0"/>
          </a:p>
        </p:txBody>
      </p:sp>
      <p:sp>
        <p:nvSpPr>
          <p:cNvPr id="28" name="Text 25"/>
          <p:cNvSpPr txBox="1"/>
          <p:nvPr/>
        </p:nvSpPr>
        <p:spPr>
          <a:xfrm>
            <a:off x="2331720" y="2926080"/>
            <a:ext cx="2971800" cy="38404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flare_sol / sol_raw</a:t>
            </a:r>
            <a:endParaRPr lang="en-US" sz="1000" dirty="0"/>
          </a:p>
        </p:txBody>
      </p:sp>
      <p:sp>
        <p:nvSpPr>
          <p:cNvPr id="29" name="Text 26"/>
          <p:cNvSpPr txBox="1"/>
          <p:nvPr/>
        </p:nvSpPr>
        <p:spPr>
          <a:xfrm>
            <a:off x="5394960" y="2926080"/>
            <a:ext cx="3200400" cy="38404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High → oil-related light dominates; results less reliable</a:t>
            </a:r>
            <a:endParaRPr lang="en-US" sz="950" dirty="0"/>
          </a:p>
        </p:txBody>
      </p:sp>
      <p:sp>
        <p:nvSpPr>
          <p:cNvPr id="30" name="Shape 27"/>
          <p:cNvSpPr/>
          <p:nvPr/>
        </p:nvSpPr>
        <p:spPr>
          <a:xfrm>
            <a:off x="457200" y="3364992"/>
            <a:ext cx="8229600" cy="384048"/>
          </a:xfrm>
          <a:prstGeom prst="roundRect">
            <a:avLst>
              <a:gd name="adj" fmla="val 11905"/>
            </a:avLst>
          </a:prstGeom>
          <a:solidFill>
            <a:srgbClr val="F4F7F5"/>
          </a:solidFill>
          <a:ln w="6350">
            <a:solidFill>
              <a:srgbClr val="D5DED9"/>
            </a:solidFill>
            <a:prstDash val="solid"/>
          </a:ln>
        </p:spPr>
      </p:sp>
      <p:sp>
        <p:nvSpPr>
          <p:cNvPr id="31" name="Text 28"/>
          <p:cNvSpPr txBox="1"/>
          <p:nvPr/>
        </p:nvSpPr>
        <p:spPr>
          <a:xfrm>
            <a:off x="548640" y="3364992"/>
            <a:ext cx="1737360" cy="38404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Imputed share</a:t>
            </a:r>
            <a:endParaRPr lang="en-US" sz="1050" dirty="0"/>
          </a:p>
        </p:txBody>
      </p:sp>
      <p:sp>
        <p:nvSpPr>
          <p:cNvPr id="32" name="Text 29"/>
          <p:cNvSpPr txBox="1"/>
          <p:nvPr/>
        </p:nvSpPr>
        <p:spPr>
          <a:xfrm>
            <a:off x="2331720" y="3364992"/>
            <a:ext cx="2971800" cy="38404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imputed light (cloudy pixels) / SoL</a:t>
            </a:r>
            <a:endParaRPr lang="en-US" sz="1000" dirty="0"/>
          </a:p>
        </p:txBody>
      </p:sp>
      <p:sp>
        <p:nvSpPr>
          <p:cNvPr id="33" name="Text 30"/>
          <p:cNvSpPr txBox="1"/>
          <p:nvPr/>
        </p:nvSpPr>
        <p:spPr>
          <a:xfrm>
            <a:off x="5394960" y="3364992"/>
            <a:ext cx="3200400" cy="38404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High → the month relies on annual values</a:t>
            </a:r>
            <a:endParaRPr lang="en-US" sz="950" dirty="0"/>
          </a:p>
        </p:txBody>
      </p:sp>
      <p:pic>
        <p:nvPicPr>
          <p:cNvPr id="34" name="Image 0" descr="preencoded.png">    </p:cNvPr>
          <p:cNvPicPr>
            <a:picLocks noChangeAspect="1"/>
          </p:cNvPicPr>
          <p:nvPr/>
        </p:nvPicPr>
        <p:blipFill>
          <a:blip r:embed="rId1"/>
          <a:stretch>
            <a:fillRect/>
          </a:stretch>
        </p:blipFill>
        <p:spPr>
          <a:xfrm>
            <a:off x="457200" y="4206240"/>
            <a:ext cx="201168" cy="201168"/>
          </a:xfrm>
          <a:prstGeom prst="rect">
            <a:avLst/>
          </a:prstGeom>
        </p:spPr>
      </p:pic>
      <p:sp>
        <p:nvSpPr>
          <p:cNvPr id="35" name="Text 31"/>
          <p:cNvSpPr txBox="1"/>
          <p:nvPr/>
        </p:nvSpPr>
        <p:spPr>
          <a:xfrm>
            <a:off x="731520" y="4160520"/>
            <a:ext cx="2468880" cy="31089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GHSL / World Bank population within [0.7; 1.3]</a:t>
            </a:r>
            <a:endParaRPr lang="en-US" sz="950" dirty="0"/>
          </a:p>
        </p:txBody>
      </p:sp>
      <p:pic>
        <p:nvPicPr>
          <p:cNvPr id="36" name="Image 1" descr="preencoded.png">    </p:cNvPr>
          <p:cNvPicPr>
            <a:picLocks noChangeAspect="1"/>
          </p:cNvPicPr>
          <p:nvPr/>
        </p:nvPicPr>
        <p:blipFill>
          <a:blip r:embed="rId2"/>
          <a:stretch>
            <a:fillRect/>
          </a:stretch>
        </p:blipFill>
        <p:spPr>
          <a:xfrm>
            <a:off x="3246120" y="4206240"/>
            <a:ext cx="201168" cy="201168"/>
          </a:xfrm>
          <a:prstGeom prst="rect">
            <a:avLst/>
          </a:prstGeom>
        </p:spPr>
      </p:pic>
      <p:sp>
        <p:nvSpPr>
          <p:cNvPr id="37" name="Text 32"/>
          <p:cNvSpPr txBox="1"/>
          <p:nvPr/>
        </p:nvSpPr>
        <p:spPr>
          <a:xfrm>
            <a:off x="3520440" y="4160520"/>
            <a:ext cx="2468880" cy="31089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VNL V2.1 → V2.2 jump vs neighbouring years</a:t>
            </a:r>
            <a:endParaRPr lang="en-US" sz="950" dirty="0"/>
          </a:p>
        </p:txBody>
      </p:sp>
      <p:pic>
        <p:nvPicPr>
          <p:cNvPr id="38" name="Image 2" descr="preencoded.png">    </p:cNvPr>
          <p:cNvPicPr>
            <a:picLocks noChangeAspect="1"/>
          </p:cNvPicPr>
          <p:nvPr/>
        </p:nvPicPr>
        <p:blipFill>
          <a:blip r:embed="rId3"/>
          <a:stretch>
            <a:fillRect/>
          </a:stretch>
        </p:blipFill>
        <p:spPr>
          <a:xfrm>
            <a:off x="6035040" y="4206240"/>
            <a:ext cx="201168" cy="201168"/>
          </a:xfrm>
          <a:prstGeom prst="rect">
            <a:avLst/>
          </a:prstGeom>
        </p:spPr>
      </p:pic>
      <p:sp>
        <p:nvSpPr>
          <p:cNvPr id="39" name="Text 33"/>
          <p:cNvSpPr txBox="1"/>
          <p:nvPr/>
        </p:nvSpPr>
        <p:spPr>
          <a:xfrm>
            <a:off x="6309360" y="4160520"/>
            <a:ext cx="2468880" cy="31089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DMSP → VIIRS jump (2013 → 2014)</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SCENARIO 1</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Dynamics: is activity growing?</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3429000" cy="960120"/>
          </a:xfrm>
          <a:prstGeom prst="roundRect">
            <a:avLst>
              <a:gd name="adj" fmla="val 7619"/>
            </a:avLst>
          </a:prstGeom>
          <a:solidFill>
            <a:srgbClr val="E8F5EF"/>
          </a:solidFill>
          <a:ln w="15875">
            <a:solidFill>
              <a:srgbClr val="D49A00"/>
            </a:solidFill>
            <a:prstDash val="solid"/>
          </a:ln>
        </p:spPr>
      </p:sp>
      <p:sp>
        <p:nvSpPr>
          <p:cNvPr id="12" name="Text 9"/>
          <p:cNvSpPr txBox="1"/>
          <p:nvPr/>
        </p:nvSpPr>
        <p:spPr>
          <a:xfrm>
            <a:off x="621792" y="1399032"/>
            <a:ext cx="310896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QUESTION</a:t>
            </a:r>
            <a:endParaRPr lang="en-US" sz="900" dirty="0"/>
          </a:p>
        </p:txBody>
      </p:sp>
      <p:sp>
        <p:nvSpPr>
          <p:cNvPr id="13" name="Text 10"/>
          <p:cNvSpPr txBox="1"/>
          <p:nvPr/>
        </p:nvSpPr>
        <p:spPr>
          <a:xfrm>
            <a:off x="621792" y="1627632"/>
            <a:ext cx="3154680" cy="621792"/>
          </a:xfrm>
          <a:prstGeom prst="rect">
            <a:avLst/>
          </a:prstGeom>
          <a:noFill/>
          <a:ln/>
        </p:spPr>
        <p:txBody>
          <a:bodyPr wrap="square" lIns="0" tIns="0" rIns="0" bIns="0" rtlCol="0" anchor="ctr"/>
          <a:lstStyle/>
          <a:p>
            <a:pPr indent="0" marL="0">
              <a:buNone/>
            </a:pPr>
            <a:r>
              <a:rPr lang="en-US" sz="1250" b="1" i="1" dirty="0">
                <a:solidFill>
                  <a:srgbClr val="231F20"/>
                </a:solidFill>
                <a:latin typeface="Calibri" pitchFamily="34" charset="0"/>
                <a:ea typeface="Calibri" pitchFamily="34" charset="-122"/>
                <a:cs typeface="Calibri" pitchFamily="34" charset="-120"/>
              </a:rPr>
              <a:t>Is light rising, falling or flat — and is a recent move real or seasonal?</a:t>
            </a:r>
            <a:endParaRPr lang="en-US" sz="1250" dirty="0"/>
          </a:p>
        </p:txBody>
      </p:sp>
      <p:sp>
        <p:nvSpPr>
          <p:cNvPr id="14" name="Text 11"/>
          <p:cNvSpPr txBox="1"/>
          <p:nvPr/>
        </p:nvSpPr>
        <p:spPr>
          <a:xfrm>
            <a:off x="457200" y="2395728"/>
            <a:ext cx="338328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DATA USED</a:t>
            </a:r>
            <a:endParaRPr lang="en-US" sz="900" dirty="0"/>
          </a:p>
        </p:txBody>
      </p:sp>
      <p:sp>
        <p:nvSpPr>
          <p:cNvPr id="15" name="Shape 12"/>
          <p:cNvSpPr/>
          <p:nvPr/>
        </p:nvSpPr>
        <p:spPr>
          <a:xfrm>
            <a:off x="457200" y="2670048"/>
            <a:ext cx="347472" cy="347472"/>
          </a:xfrm>
          <a:prstGeom prst="ellipse">
            <a:avLst/>
          </a:prstGeom>
          <a:solidFill>
            <a:srgbClr val="D49A00">
              <a:alpha val="22000"/>
            </a:srgbClr>
          </a:solidFill>
          <a:ln w="12700">
            <a:solidFill>
              <a:srgbClr val="D49A00">
                <a:alpha val="0"/>
              </a:srgbClr>
            </a:solidFill>
            <a:prstDash val="solid"/>
          </a:ln>
        </p:spPr>
      </p:sp>
      <p:pic>
        <p:nvPicPr>
          <p:cNvPr id="16" name="Image 0" descr="preencoded.png">    </p:cNvPr>
          <p:cNvPicPr>
            <a:picLocks noChangeAspect="1"/>
          </p:cNvPicPr>
          <p:nvPr/>
        </p:nvPicPr>
        <p:blipFill>
          <a:blip r:embed="rId1"/>
          <a:stretch>
            <a:fillRect/>
          </a:stretch>
        </p:blipFill>
        <p:spPr>
          <a:xfrm>
            <a:off x="540593" y="2753441"/>
            <a:ext cx="180685" cy="180685"/>
          </a:xfrm>
          <a:prstGeom prst="rect">
            <a:avLst/>
          </a:prstGeom>
        </p:spPr>
      </p:pic>
      <p:sp>
        <p:nvSpPr>
          <p:cNvPr id="17" name="Text 13"/>
          <p:cNvSpPr txBox="1"/>
          <p:nvPr/>
        </p:nvSpPr>
        <p:spPr>
          <a:xfrm>
            <a:off x="896112" y="26517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VIIRS VNL monthly</a:t>
            </a:r>
            <a:endParaRPr lang="en-US" sz="1050" dirty="0"/>
          </a:p>
        </p:txBody>
      </p:sp>
      <p:sp>
        <p:nvSpPr>
          <p:cNvPr id="18" name="Text 14"/>
          <p:cNvSpPr txBox="1"/>
          <p:nvPr/>
        </p:nvSpPr>
        <p:spPr>
          <a:xfrm>
            <a:off x="896112" y="28437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sol_adj per unit and per month, 2014 →</a:t>
            </a:r>
            <a:endParaRPr lang="en-US" sz="900" dirty="0"/>
          </a:p>
        </p:txBody>
      </p:sp>
      <p:sp>
        <p:nvSpPr>
          <p:cNvPr id="19" name="Shape 15"/>
          <p:cNvSpPr/>
          <p:nvPr/>
        </p:nvSpPr>
        <p:spPr>
          <a:xfrm>
            <a:off x="457200" y="3127248"/>
            <a:ext cx="347472" cy="347472"/>
          </a:xfrm>
          <a:prstGeom prst="ellipse">
            <a:avLst/>
          </a:prstGeom>
          <a:solidFill>
            <a:srgbClr val="D49A00">
              <a:alpha val="22000"/>
            </a:srgbClr>
          </a:solidFill>
          <a:ln w="12700">
            <a:solidFill>
              <a:srgbClr val="D49A00">
                <a:alpha val="0"/>
              </a:srgbClr>
            </a:solidFill>
            <a:prstDash val="solid"/>
          </a:ln>
        </p:spPr>
      </p:sp>
      <p:pic>
        <p:nvPicPr>
          <p:cNvPr id="20" name="Image 1" descr="preencoded.png">    </p:cNvPr>
          <p:cNvPicPr>
            <a:picLocks noChangeAspect="1"/>
          </p:cNvPicPr>
          <p:nvPr/>
        </p:nvPicPr>
        <p:blipFill>
          <a:blip r:embed="rId2"/>
          <a:stretch>
            <a:fillRect/>
          </a:stretch>
        </p:blipFill>
        <p:spPr>
          <a:xfrm>
            <a:off x="540593" y="3210641"/>
            <a:ext cx="180685" cy="180685"/>
          </a:xfrm>
          <a:prstGeom prst="rect">
            <a:avLst/>
          </a:prstGeom>
        </p:spPr>
      </p:pic>
      <p:sp>
        <p:nvSpPr>
          <p:cNvPr id="21" name="Text 16"/>
          <p:cNvSpPr txBox="1"/>
          <p:nvPr/>
        </p:nvSpPr>
        <p:spPr>
          <a:xfrm>
            <a:off x="896112" y="31089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VIIRS VNL annual</a:t>
            </a:r>
            <a:endParaRPr lang="en-US" sz="1050" dirty="0"/>
          </a:p>
        </p:txBody>
      </p:sp>
      <p:sp>
        <p:nvSpPr>
          <p:cNvPr id="22" name="Text 17"/>
          <p:cNvSpPr txBox="1"/>
          <p:nvPr/>
        </p:nvSpPr>
        <p:spPr>
          <a:xfrm>
            <a:off x="896112" y="33009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sol per unit and per year</a:t>
            </a:r>
            <a:endParaRPr lang="en-US" sz="900" dirty="0"/>
          </a:p>
        </p:txBody>
      </p:sp>
      <p:sp>
        <p:nvSpPr>
          <p:cNvPr id="23" name="Shape 18"/>
          <p:cNvSpPr/>
          <p:nvPr/>
        </p:nvSpPr>
        <p:spPr>
          <a:xfrm>
            <a:off x="457200" y="3584448"/>
            <a:ext cx="347472" cy="347472"/>
          </a:xfrm>
          <a:prstGeom prst="ellipse">
            <a:avLst/>
          </a:prstGeom>
          <a:solidFill>
            <a:srgbClr val="D49A00">
              <a:alpha val="22000"/>
            </a:srgbClr>
          </a:solidFill>
          <a:ln w="12700">
            <a:solidFill>
              <a:srgbClr val="D49A00">
                <a:alpha val="0"/>
              </a:srgbClr>
            </a:solidFill>
            <a:prstDash val="solid"/>
          </a:ln>
        </p:spPr>
      </p:sp>
      <p:pic>
        <p:nvPicPr>
          <p:cNvPr id="24" name="Image 2" descr="preencoded.png">    </p:cNvPr>
          <p:cNvPicPr>
            <a:picLocks noChangeAspect="1"/>
          </p:cNvPicPr>
          <p:nvPr/>
        </p:nvPicPr>
        <p:blipFill>
          <a:blip r:embed="rId3"/>
          <a:stretch>
            <a:fillRect/>
          </a:stretch>
        </p:blipFill>
        <p:spPr>
          <a:xfrm>
            <a:off x="540593" y="3667841"/>
            <a:ext cx="180685" cy="180685"/>
          </a:xfrm>
          <a:prstGeom prst="rect">
            <a:avLst/>
          </a:prstGeom>
        </p:spPr>
      </p:pic>
      <p:sp>
        <p:nvSpPr>
          <p:cNvPr id="25" name="Text 19"/>
          <p:cNvSpPr txBox="1"/>
          <p:nvPr/>
        </p:nvSpPr>
        <p:spPr>
          <a:xfrm>
            <a:off x="896112" y="35661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Harmonised DMSP–VIIRS</a:t>
            </a:r>
            <a:endParaRPr lang="en-US" sz="1050" dirty="0"/>
          </a:p>
        </p:txBody>
      </p:sp>
      <p:sp>
        <p:nvSpPr>
          <p:cNvPr id="26" name="Text 20"/>
          <p:cNvSpPr txBox="1"/>
          <p:nvPr/>
        </p:nvSpPr>
        <p:spPr>
          <a:xfrm>
            <a:off x="896112" y="37581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1992 →, to be read as a trend</a:t>
            </a:r>
            <a:endParaRPr lang="en-US" sz="900" dirty="0"/>
          </a:p>
        </p:txBody>
      </p:sp>
      <p:sp>
        <p:nvSpPr>
          <p:cNvPr id="27" name="Text 21"/>
          <p:cNvSpPr txBox="1"/>
          <p:nvPr/>
        </p:nvSpPr>
        <p:spPr>
          <a:xfrm>
            <a:off x="4206240" y="1325880"/>
            <a:ext cx="448056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METHOD, STEP BY STEP</a:t>
            </a:r>
            <a:endParaRPr lang="en-US" sz="900" dirty="0"/>
          </a:p>
        </p:txBody>
      </p:sp>
      <p:sp>
        <p:nvSpPr>
          <p:cNvPr id="28" name="Shape 22"/>
          <p:cNvSpPr/>
          <p:nvPr/>
        </p:nvSpPr>
        <p:spPr>
          <a:xfrm>
            <a:off x="4206240" y="1645920"/>
            <a:ext cx="329184" cy="329184"/>
          </a:xfrm>
          <a:prstGeom prst="ellipse">
            <a:avLst/>
          </a:prstGeom>
          <a:solidFill>
            <a:srgbClr val="D49A00"/>
          </a:solidFill>
          <a:ln w="12700">
            <a:solidFill>
              <a:srgbClr val="D49A00"/>
            </a:solidFill>
            <a:prstDash val="solid"/>
          </a:ln>
        </p:spPr>
      </p:sp>
      <p:sp>
        <p:nvSpPr>
          <p:cNvPr id="29" name="Text 23"/>
          <p:cNvSpPr txBox="1"/>
          <p:nvPr/>
        </p:nvSpPr>
        <p:spPr>
          <a:xfrm>
            <a:off x="4206240" y="16459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0" name="Shape 24"/>
          <p:cNvSpPr/>
          <p:nvPr/>
        </p:nvSpPr>
        <p:spPr>
          <a:xfrm>
            <a:off x="4370832" y="1993392"/>
            <a:ext cx="0" cy="237744"/>
          </a:xfrm>
          <a:prstGeom prst="line">
            <a:avLst/>
          </a:prstGeom>
          <a:noFill/>
          <a:ln w="15875">
            <a:solidFill>
              <a:srgbClr val="D5DED9"/>
            </a:solidFill>
            <a:prstDash val="solid"/>
          </a:ln>
        </p:spPr>
      </p:sp>
      <p:sp>
        <p:nvSpPr>
          <p:cNvPr id="31" name="Text 25"/>
          <p:cNvSpPr txBox="1"/>
          <p:nvPr/>
        </p:nvSpPr>
        <p:spPr>
          <a:xfrm>
            <a:off x="4663440" y="1627632"/>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Regularise</a:t>
            </a:r>
            <a:endParaRPr lang="en-US" sz="1150" dirty="0"/>
          </a:p>
        </p:txBody>
      </p:sp>
      <p:sp>
        <p:nvSpPr>
          <p:cNvPr id="32" name="Text 26"/>
          <p:cNvSpPr txBox="1"/>
          <p:nvPr/>
        </p:nvSpPr>
        <p:spPr>
          <a:xfrm>
            <a:off x="4663440" y="1847088"/>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Complete monthly calendar; gaps ≤ 3 months filled log-linearly</a:t>
            </a:r>
            <a:endParaRPr lang="en-US" sz="950" dirty="0"/>
          </a:p>
        </p:txBody>
      </p:sp>
      <p:sp>
        <p:nvSpPr>
          <p:cNvPr id="33" name="Shape 27"/>
          <p:cNvSpPr/>
          <p:nvPr/>
        </p:nvSpPr>
        <p:spPr>
          <a:xfrm>
            <a:off x="4206240" y="2249424"/>
            <a:ext cx="329184" cy="329184"/>
          </a:xfrm>
          <a:prstGeom prst="ellipse">
            <a:avLst/>
          </a:prstGeom>
          <a:solidFill>
            <a:srgbClr val="D49A00"/>
          </a:solidFill>
          <a:ln w="12700">
            <a:solidFill>
              <a:srgbClr val="D49A00"/>
            </a:solidFill>
            <a:prstDash val="solid"/>
          </a:ln>
        </p:spPr>
      </p:sp>
      <p:sp>
        <p:nvSpPr>
          <p:cNvPr id="34" name="Text 28"/>
          <p:cNvSpPr txBox="1"/>
          <p:nvPr/>
        </p:nvSpPr>
        <p:spPr>
          <a:xfrm>
            <a:off x="4206240" y="22494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Shape 29"/>
          <p:cNvSpPr/>
          <p:nvPr/>
        </p:nvSpPr>
        <p:spPr>
          <a:xfrm>
            <a:off x="4370832" y="2596896"/>
            <a:ext cx="0" cy="237744"/>
          </a:xfrm>
          <a:prstGeom prst="line">
            <a:avLst/>
          </a:prstGeom>
          <a:noFill/>
          <a:ln w="15875">
            <a:solidFill>
              <a:srgbClr val="D5DED9"/>
            </a:solidFill>
            <a:prstDash val="solid"/>
          </a:ln>
        </p:spPr>
      </p:sp>
      <p:sp>
        <p:nvSpPr>
          <p:cNvPr id="36" name="Text 30"/>
          <p:cNvSpPr txBox="1"/>
          <p:nvPr/>
        </p:nvSpPr>
        <p:spPr>
          <a:xfrm>
            <a:off x="4663440" y="2231136"/>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Decompose (robust STL)</a:t>
            </a:r>
            <a:endParaRPr lang="en-US" sz="1150" dirty="0"/>
          </a:p>
        </p:txBody>
      </p:sp>
      <p:sp>
        <p:nvSpPr>
          <p:cNvPr id="37" name="Text 31"/>
          <p:cNvSpPr txBox="1"/>
          <p:nvPr/>
        </p:nvSpPr>
        <p:spPr>
          <a:xfrm>
            <a:off x="4663440" y="2450592"/>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log(SoL) = trend + season (period 12) + remainder</a:t>
            </a:r>
            <a:endParaRPr lang="en-US" sz="950" dirty="0"/>
          </a:p>
        </p:txBody>
      </p:sp>
      <p:sp>
        <p:nvSpPr>
          <p:cNvPr id="38" name="Shape 32"/>
          <p:cNvSpPr/>
          <p:nvPr/>
        </p:nvSpPr>
        <p:spPr>
          <a:xfrm>
            <a:off x="4206240" y="2852928"/>
            <a:ext cx="329184" cy="329184"/>
          </a:xfrm>
          <a:prstGeom prst="ellipse">
            <a:avLst/>
          </a:prstGeom>
          <a:solidFill>
            <a:srgbClr val="D49A00"/>
          </a:solidFill>
          <a:ln w="12700">
            <a:solidFill>
              <a:srgbClr val="D49A00"/>
            </a:solidFill>
            <a:prstDash val="solid"/>
          </a:ln>
        </p:spPr>
      </p:sp>
      <p:sp>
        <p:nvSpPr>
          <p:cNvPr id="39" name="Text 33"/>
          <p:cNvSpPr txBox="1"/>
          <p:nvPr/>
        </p:nvSpPr>
        <p:spPr>
          <a:xfrm>
            <a:off x="4206240" y="28529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0" name="Shape 34"/>
          <p:cNvSpPr/>
          <p:nvPr/>
        </p:nvSpPr>
        <p:spPr>
          <a:xfrm>
            <a:off x="4370832" y="3200400"/>
            <a:ext cx="0" cy="237744"/>
          </a:xfrm>
          <a:prstGeom prst="line">
            <a:avLst/>
          </a:prstGeom>
          <a:noFill/>
          <a:ln w="15875">
            <a:solidFill>
              <a:srgbClr val="D5DED9"/>
            </a:solidFill>
            <a:prstDash val="solid"/>
          </a:ln>
        </p:spPr>
      </p:sp>
      <p:sp>
        <p:nvSpPr>
          <p:cNvPr id="41" name="Text 35"/>
          <p:cNvSpPr txBox="1"/>
          <p:nvPr/>
        </p:nvSpPr>
        <p:spPr>
          <a:xfrm>
            <a:off x="4663440" y="2834640"/>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Seasonally adjust</a:t>
            </a:r>
            <a:endParaRPr lang="en-US" sz="1150" dirty="0"/>
          </a:p>
        </p:txBody>
      </p:sp>
      <p:sp>
        <p:nvSpPr>
          <p:cNvPr id="42" name="Text 36"/>
          <p:cNvSpPr txBox="1"/>
          <p:nvPr/>
        </p:nvSpPr>
        <p:spPr>
          <a:xfrm>
            <a:off x="4663440" y="3054096"/>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SA = exp(trend + remainder): the curve to read</a:t>
            </a:r>
            <a:endParaRPr lang="en-US" sz="950" dirty="0"/>
          </a:p>
        </p:txBody>
      </p:sp>
      <p:sp>
        <p:nvSpPr>
          <p:cNvPr id="43" name="Shape 37"/>
          <p:cNvSpPr/>
          <p:nvPr/>
        </p:nvSpPr>
        <p:spPr>
          <a:xfrm>
            <a:off x="4206240" y="3456432"/>
            <a:ext cx="329184" cy="329184"/>
          </a:xfrm>
          <a:prstGeom prst="ellipse">
            <a:avLst/>
          </a:prstGeom>
          <a:solidFill>
            <a:srgbClr val="D49A00"/>
          </a:solidFill>
          <a:ln w="12700">
            <a:solidFill>
              <a:srgbClr val="D49A00"/>
            </a:solidFill>
            <a:prstDash val="solid"/>
          </a:ln>
        </p:spPr>
      </p:sp>
      <p:sp>
        <p:nvSpPr>
          <p:cNvPr id="44" name="Text 38"/>
          <p:cNvSpPr txBox="1"/>
          <p:nvPr/>
        </p:nvSpPr>
        <p:spPr>
          <a:xfrm>
            <a:off x="4206240" y="34564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5" name="Shape 39"/>
          <p:cNvSpPr/>
          <p:nvPr/>
        </p:nvSpPr>
        <p:spPr>
          <a:xfrm>
            <a:off x="4370832" y="3803904"/>
            <a:ext cx="0" cy="237744"/>
          </a:xfrm>
          <a:prstGeom prst="line">
            <a:avLst/>
          </a:prstGeom>
          <a:noFill/>
          <a:ln w="15875">
            <a:solidFill>
              <a:srgbClr val="D5DED9"/>
            </a:solidFill>
            <a:prstDash val="solid"/>
          </a:ln>
        </p:spPr>
      </p:sp>
      <p:sp>
        <p:nvSpPr>
          <p:cNvPr id="46" name="Text 40"/>
          <p:cNvSpPr txBox="1"/>
          <p:nvPr/>
        </p:nvSpPr>
        <p:spPr>
          <a:xfrm>
            <a:off x="4663440" y="3438144"/>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Compare year on year</a:t>
            </a:r>
            <a:endParaRPr lang="en-US" sz="1150" dirty="0"/>
          </a:p>
        </p:txBody>
      </p:sp>
      <p:sp>
        <p:nvSpPr>
          <p:cNvPr id="47" name="Text 41"/>
          <p:cNvSpPr txBox="1"/>
          <p:nvPr/>
        </p:nvSpPr>
        <p:spPr>
          <a:xfrm>
            <a:off x="4663440" y="3657600"/>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Each month vs the same month a year earlier</a:t>
            </a:r>
            <a:endParaRPr lang="en-US" sz="950" dirty="0"/>
          </a:p>
        </p:txBody>
      </p:sp>
      <p:sp>
        <p:nvSpPr>
          <p:cNvPr id="48" name="Shape 42"/>
          <p:cNvSpPr/>
          <p:nvPr/>
        </p:nvSpPr>
        <p:spPr>
          <a:xfrm>
            <a:off x="4206240" y="4059936"/>
            <a:ext cx="329184" cy="329184"/>
          </a:xfrm>
          <a:prstGeom prst="ellipse">
            <a:avLst/>
          </a:prstGeom>
          <a:solidFill>
            <a:srgbClr val="D49A00"/>
          </a:solidFill>
          <a:ln w="12700">
            <a:solidFill>
              <a:srgbClr val="D49A00"/>
            </a:solidFill>
            <a:prstDash val="solid"/>
          </a:ln>
        </p:spPr>
      </p:sp>
      <p:sp>
        <p:nvSpPr>
          <p:cNvPr id="49" name="Text 43"/>
          <p:cNvSpPr txBox="1"/>
          <p:nvPr/>
        </p:nvSpPr>
        <p:spPr>
          <a:xfrm>
            <a:off x="4206240" y="405993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0" name="Text 44"/>
          <p:cNvSpPr txBox="1"/>
          <p:nvPr/>
        </p:nvSpPr>
        <p:spPr>
          <a:xfrm>
            <a:off x="4663440" y="4041648"/>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Estimate the annual trend</a:t>
            </a:r>
            <a:endParaRPr lang="en-US" sz="1150" dirty="0"/>
          </a:p>
        </p:txBody>
      </p:sp>
      <p:sp>
        <p:nvSpPr>
          <p:cNvPr id="51" name="Text 45"/>
          <p:cNvSpPr txBox="1"/>
          <p:nvPr/>
        </p:nvSpPr>
        <p:spPr>
          <a:xfrm>
            <a:off x="4663440" y="4261104"/>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Theil–Sen + Mann–Kendall on annual composites; regional series (ADM1)</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SCENARIO 1</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Dynamics: the metrics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53312"/>
            <a:ext cx="17830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METRIC</a:t>
            </a:r>
            <a:endParaRPr lang="en-US" sz="900" dirty="0"/>
          </a:p>
        </p:txBody>
      </p:sp>
      <p:sp>
        <p:nvSpPr>
          <p:cNvPr id="12" name="Text 9"/>
          <p:cNvSpPr txBox="1"/>
          <p:nvPr/>
        </p:nvSpPr>
        <p:spPr>
          <a:xfrm>
            <a:off x="2423160" y="1353312"/>
            <a:ext cx="2971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DEFINITION / FORMULA</a:t>
            </a:r>
            <a:endParaRPr lang="en-US" sz="900" dirty="0"/>
          </a:p>
        </p:txBody>
      </p:sp>
      <p:sp>
        <p:nvSpPr>
          <p:cNvPr id="13" name="Text 10"/>
          <p:cNvSpPr txBox="1"/>
          <p:nvPr/>
        </p:nvSpPr>
        <p:spPr>
          <a:xfrm>
            <a:off x="5486400" y="1353312"/>
            <a:ext cx="32004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HOW TO READ IT</a:t>
            </a:r>
            <a:endParaRPr lang="en-US" sz="900" dirty="0"/>
          </a:p>
        </p:txBody>
      </p:sp>
      <p:sp>
        <p:nvSpPr>
          <p:cNvPr id="14" name="Shape 11"/>
          <p:cNvSpPr/>
          <p:nvPr/>
        </p:nvSpPr>
        <p:spPr>
          <a:xfrm>
            <a:off x="457200" y="1609344"/>
            <a:ext cx="8229600" cy="429768"/>
          </a:xfrm>
          <a:prstGeom prst="roundRect">
            <a:avLst>
              <a:gd name="adj" fmla="val 10638"/>
            </a:avLst>
          </a:prstGeom>
          <a:solidFill>
            <a:srgbClr val="F4F7F5"/>
          </a:solidFill>
          <a:ln w="6350">
            <a:solidFill>
              <a:srgbClr val="D5DED9"/>
            </a:solidFill>
            <a:prstDash val="solid"/>
          </a:ln>
        </p:spPr>
      </p:sp>
      <p:sp>
        <p:nvSpPr>
          <p:cNvPr id="15" name="Text 12"/>
          <p:cNvSpPr txBox="1"/>
          <p:nvPr/>
        </p:nvSpPr>
        <p:spPr>
          <a:xfrm>
            <a:off x="548640" y="1609344"/>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Seasonally adjusted SoL</a:t>
            </a:r>
            <a:endParaRPr lang="en-US" sz="1050" dirty="0"/>
          </a:p>
        </p:txBody>
      </p:sp>
      <p:sp>
        <p:nvSpPr>
          <p:cNvPr id="16" name="Text 13"/>
          <p:cNvSpPr txBox="1"/>
          <p:nvPr/>
        </p:nvSpPr>
        <p:spPr>
          <a:xfrm>
            <a:off x="2331720" y="1609344"/>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exp(trend + remainder)</a:t>
            </a:r>
            <a:endParaRPr lang="en-US" sz="1000" dirty="0"/>
          </a:p>
        </p:txBody>
      </p:sp>
      <p:sp>
        <p:nvSpPr>
          <p:cNvPr id="17" name="Text 14"/>
          <p:cNvSpPr txBox="1"/>
          <p:nvPr/>
        </p:nvSpPr>
        <p:spPr>
          <a:xfrm>
            <a:off x="5394960" y="1609344"/>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The level net of the usual seasonal profile</a:t>
            </a:r>
            <a:endParaRPr lang="en-US" sz="950" dirty="0"/>
          </a:p>
        </p:txBody>
      </p:sp>
      <p:sp>
        <p:nvSpPr>
          <p:cNvPr id="18" name="Shape 15"/>
          <p:cNvSpPr/>
          <p:nvPr/>
        </p:nvSpPr>
        <p:spPr>
          <a:xfrm>
            <a:off x="457200" y="2093976"/>
            <a:ext cx="8229600" cy="429768"/>
          </a:xfrm>
          <a:prstGeom prst="roundRect">
            <a:avLst>
              <a:gd name="adj" fmla="val 10638"/>
            </a:avLst>
          </a:prstGeom>
          <a:solidFill>
            <a:srgbClr val="FFFFFF"/>
          </a:solidFill>
          <a:ln w="6350">
            <a:solidFill>
              <a:srgbClr val="D5DED9"/>
            </a:solidFill>
            <a:prstDash val="solid"/>
          </a:ln>
        </p:spPr>
      </p:sp>
      <p:sp>
        <p:nvSpPr>
          <p:cNvPr id="19" name="Text 16"/>
          <p:cNvSpPr txBox="1"/>
          <p:nvPr/>
        </p:nvSpPr>
        <p:spPr>
          <a:xfrm>
            <a:off x="548640" y="2093976"/>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Year-on-year change</a:t>
            </a:r>
            <a:endParaRPr lang="en-US" sz="1050" dirty="0"/>
          </a:p>
        </p:txBody>
      </p:sp>
      <p:sp>
        <p:nvSpPr>
          <p:cNvPr id="20" name="Text 17"/>
          <p:cNvSpPr txBox="1"/>
          <p:nvPr/>
        </p:nvSpPr>
        <p:spPr>
          <a:xfrm>
            <a:off x="2331720" y="2093976"/>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SoLₘ / SoLₘ₋₁₂ − 1</a:t>
            </a:r>
            <a:endParaRPr lang="en-US" sz="1000" dirty="0"/>
          </a:p>
        </p:txBody>
      </p:sp>
      <p:sp>
        <p:nvSpPr>
          <p:cNvPr id="21" name="Text 18"/>
          <p:cNvSpPr txBox="1"/>
          <p:nvPr/>
        </p:nvSpPr>
        <p:spPr>
          <a:xfrm>
            <a:off x="5394960" y="2093976"/>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The season cancels out; noisy from one month to the next</a:t>
            </a:r>
            <a:endParaRPr lang="en-US" sz="950" dirty="0"/>
          </a:p>
        </p:txBody>
      </p:sp>
      <p:sp>
        <p:nvSpPr>
          <p:cNvPr id="22" name="Shape 19"/>
          <p:cNvSpPr/>
          <p:nvPr/>
        </p:nvSpPr>
        <p:spPr>
          <a:xfrm>
            <a:off x="457200" y="2578608"/>
            <a:ext cx="8229600" cy="429768"/>
          </a:xfrm>
          <a:prstGeom prst="roundRect">
            <a:avLst>
              <a:gd name="adj" fmla="val 10638"/>
            </a:avLst>
          </a:prstGeom>
          <a:solidFill>
            <a:srgbClr val="F4F7F5"/>
          </a:solidFill>
          <a:ln w="6350">
            <a:solidFill>
              <a:srgbClr val="D5DED9"/>
            </a:solidFill>
            <a:prstDash val="solid"/>
          </a:ln>
        </p:spPr>
      </p:sp>
      <p:sp>
        <p:nvSpPr>
          <p:cNvPr id="23" name="Text 20"/>
          <p:cNvSpPr txBox="1"/>
          <p:nvPr/>
        </p:nvSpPr>
        <p:spPr>
          <a:xfrm>
            <a:off x="548640" y="2578608"/>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Annual growth (%/yr)</a:t>
            </a:r>
            <a:endParaRPr lang="en-US" sz="1050" dirty="0"/>
          </a:p>
        </p:txBody>
      </p:sp>
      <p:sp>
        <p:nvSpPr>
          <p:cNvPr id="24" name="Text 21"/>
          <p:cNvSpPr txBox="1"/>
          <p:nvPr/>
        </p:nvSpPr>
        <p:spPr>
          <a:xfrm>
            <a:off x="2331720" y="2578608"/>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exp(Theil–Sen slope of log SoL) − 1, 95% CI</a:t>
            </a:r>
            <a:endParaRPr lang="en-US" sz="1000" dirty="0"/>
          </a:p>
        </p:txBody>
      </p:sp>
      <p:sp>
        <p:nvSpPr>
          <p:cNvPr id="25" name="Text 22"/>
          <p:cNvSpPr txBox="1"/>
          <p:nvPr/>
        </p:nvSpPr>
        <p:spPr>
          <a:xfrm>
            <a:off x="5394960" y="2578608"/>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Robust trend; read the interval, not just the point</a:t>
            </a:r>
            <a:endParaRPr lang="en-US" sz="950" dirty="0"/>
          </a:p>
        </p:txBody>
      </p:sp>
      <p:sp>
        <p:nvSpPr>
          <p:cNvPr id="26" name="Shape 23"/>
          <p:cNvSpPr/>
          <p:nvPr/>
        </p:nvSpPr>
        <p:spPr>
          <a:xfrm>
            <a:off x="457200" y="3063240"/>
            <a:ext cx="8229600" cy="429768"/>
          </a:xfrm>
          <a:prstGeom prst="roundRect">
            <a:avLst>
              <a:gd name="adj" fmla="val 10638"/>
            </a:avLst>
          </a:prstGeom>
          <a:solidFill>
            <a:srgbClr val="FFFFFF"/>
          </a:solidFill>
          <a:ln w="6350">
            <a:solidFill>
              <a:srgbClr val="D5DED9"/>
            </a:solidFill>
            <a:prstDash val="solid"/>
          </a:ln>
        </p:spPr>
      </p:sp>
      <p:sp>
        <p:nvSpPr>
          <p:cNvPr id="27" name="Text 24"/>
          <p:cNvSpPr txBox="1"/>
          <p:nvPr/>
        </p:nvSpPr>
        <p:spPr>
          <a:xfrm>
            <a:off x="548640" y="3063240"/>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Mann–Kendall p-value</a:t>
            </a:r>
            <a:endParaRPr lang="en-US" sz="1050" dirty="0"/>
          </a:p>
        </p:txBody>
      </p:sp>
      <p:sp>
        <p:nvSpPr>
          <p:cNvPr id="28" name="Text 25"/>
          <p:cNvSpPr txBox="1"/>
          <p:nvPr/>
        </p:nvSpPr>
        <p:spPr>
          <a:xfrm>
            <a:off x="2331720" y="3063240"/>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Test for a monotonic trend</a:t>
            </a:r>
            <a:endParaRPr lang="en-US" sz="1000" dirty="0"/>
          </a:p>
        </p:txBody>
      </p:sp>
      <p:sp>
        <p:nvSpPr>
          <p:cNvPr id="29" name="Text 26"/>
          <p:cNvSpPr txBox="1"/>
          <p:nvPr/>
        </p:nvSpPr>
        <p:spPr>
          <a:xfrm>
            <a:off x="5394960" y="3063240"/>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Confidence: high p &lt; 0.01 · medium p &lt; 0.10 · low otherwise or n &lt; 6</a:t>
            </a:r>
            <a:endParaRPr lang="en-US" sz="950" dirty="0"/>
          </a:p>
        </p:txBody>
      </p:sp>
      <p:sp>
        <p:nvSpPr>
          <p:cNvPr id="30" name="Shape 27"/>
          <p:cNvSpPr/>
          <p:nvPr/>
        </p:nvSpPr>
        <p:spPr>
          <a:xfrm>
            <a:off x="457200" y="3547872"/>
            <a:ext cx="8229600" cy="429768"/>
          </a:xfrm>
          <a:prstGeom prst="roundRect">
            <a:avLst>
              <a:gd name="adj" fmla="val 10638"/>
            </a:avLst>
          </a:prstGeom>
          <a:solidFill>
            <a:srgbClr val="F4F7F5"/>
          </a:solidFill>
          <a:ln w="6350">
            <a:solidFill>
              <a:srgbClr val="D5DED9"/>
            </a:solidFill>
            <a:prstDash val="solid"/>
          </a:ln>
        </p:spPr>
      </p:sp>
      <p:sp>
        <p:nvSpPr>
          <p:cNvPr id="31" name="Text 28"/>
          <p:cNvSpPr txBox="1"/>
          <p:nvPr/>
        </p:nvSpPr>
        <p:spPr>
          <a:xfrm>
            <a:off x="548640" y="3547872"/>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Anomaly</a:t>
            </a:r>
            <a:endParaRPr lang="en-US" sz="1050" dirty="0"/>
          </a:p>
        </p:txBody>
      </p:sp>
      <p:sp>
        <p:nvSpPr>
          <p:cNvPr id="32" name="Text 29"/>
          <p:cNvSpPr txBox="1"/>
          <p:nvPr/>
        </p:nvSpPr>
        <p:spPr>
          <a:xfrm>
            <a:off x="2331720" y="3547872"/>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|r − med(r)| / (1.4826·MAD) ≥ 3.5 and |deviation| ≥ 5%</a:t>
            </a:r>
            <a:endParaRPr lang="en-US" sz="1000" dirty="0"/>
          </a:p>
        </p:txBody>
      </p:sp>
      <p:sp>
        <p:nvSpPr>
          <p:cNvPr id="33" name="Text 30"/>
          <p:cNvSpPr txBox="1"/>
          <p:nvPr/>
        </p:nvSpPr>
        <p:spPr>
          <a:xfrm>
            <a:off x="5394960" y="3547872"/>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An abnormal month, to be explained</a:t>
            </a:r>
            <a:endParaRPr lang="en-US" sz="950" dirty="0"/>
          </a:p>
        </p:txBody>
      </p:sp>
      <p:sp>
        <p:nvSpPr>
          <p:cNvPr id="34" name="Shape 31"/>
          <p:cNvSpPr/>
          <p:nvPr/>
        </p:nvSpPr>
        <p:spPr>
          <a:xfrm>
            <a:off x="457200" y="4032504"/>
            <a:ext cx="8229600" cy="429768"/>
          </a:xfrm>
          <a:prstGeom prst="roundRect">
            <a:avLst>
              <a:gd name="adj" fmla="val 10638"/>
            </a:avLst>
          </a:prstGeom>
          <a:solidFill>
            <a:srgbClr val="FFFFFF"/>
          </a:solidFill>
          <a:ln w="6350">
            <a:solidFill>
              <a:srgbClr val="D5DED9"/>
            </a:solidFill>
            <a:prstDash val="solid"/>
          </a:ln>
        </p:spPr>
      </p:sp>
      <p:sp>
        <p:nvSpPr>
          <p:cNvPr id="35" name="Text 32"/>
          <p:cNvSpPr txBox="1"/>
          <p:nvPr/>
        </p:nvSpPr>
        <p:spPr>
          <a:xfrm>
            <a:off x="548640" y="4032504"/>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Structural break</a:t>
            </a:r>
            <a:endParaRPr lang="en-US" sz="1050" dirty="0"/>
          </a:p>
        </p:txBody>
      </p:sp>
      <p:sp>
        <p:nvSpPr>
          <p:cNvPr id="36" name="Text 33"/>
          <p:cNvSpPr txBox="1"/>
          <p:nvPr/>
        </p:nvSpPr>
        <p:spPr>
          <a:xfrm>
            <a:off x="2331720" y="4032504"/>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Binary segmentation, linear segments ≥ 12 months, BIC-type penalty</a:t>
            </a:r>
            <a:endParaRPr lang="en-US" sz="1000" dirty="0"/>
          </a:p>
        </p:txBody>
      </p:sp>
      <p:sp>
        <p:nvSpPr>
          <p:cNvPr id="37" name="Text 34"/>
          <p:cNvSpPr txBox="1"/>
          <p:nvPr/>
        </p:nvSpPr>
        <p:spPr>
          <a:xfrm>
            <a:off x="5394960" y="4032504"/>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Lasting change in level or slope</a:t>
            </a:r>
            <a:endParaRPr lang="en-US" sz="950" dirty="0"/>
          </a:p>
        </p:txBody>
      </p:sp>
      <p:sp>
        <p:nvSpPr>
          <p:cNvPr id="38" name="Text 35"/>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Cleveland et al. (1990) STL; Sen (1968); Mann (1945), Kendall (1975)</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SCENARIO 2</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Regions: who is growing, and are they converging?</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457200" y="1325880"/>
            <a:ext cx="475488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DATA USED</a:t>
            </a:r>
            <a:endParaRPr lang="en-US" sz="900" dirty="0"/>
          </a:p>
        </p:txBody>
      </p:sp>
      <p:sp>
        <p:nvSpPr>
          <p:cNvPr id="12" name="Shape 9"/>
          <p:cNvSpPr/>
          <p:nvPr/>
        </p:nvSpPr>
        <p:spPr>
          <a:xfrm>
            <a:off x="457200" y="1600200"/>
            <a:ext cx="329184" cy="329184"/>
          </a:xfrm>
          <a:prstGeom prst="ellipse">
            <a:avLst/>
          </a:prstGeom>
          <a:solidFill>
            <a:srgbClr val="D49A00">
              <a:alpha val="22000"/>
            </a:srgbClr>
          </a:solidFill>
          <a:ln w="12700">
            <a:solidFill>
              <a:srgbClr val="D49A00">
                <a:alpha val="0"/>
              </a:srgbClr>
            </a:solidFill>
            <a:prstDash val="solid"/>
          </a:ln>
        </p:spPr>
      </p:sp>
      <p:pic>
        <p:nvPicPr>
          <p:cNvPr id="13" name="Image 0" descr="preencoded.png">    </p:cNvPr>
          <p:cNvPicPr>
            <a:picLocks noChangeAspect="1"/>
          </p:cNvPicPr>
          <p:nvPr/>
        </p:nvPicPr>
        <p:blipFill>
          <a:blip r:embed="rId1"/>
          <a:stretch>
            <a:fillRect/>
          </a:stretch>
        </p:blipFill>
        <p:spPr>
          <a:xfrm>
            <a:off x="536204" y="1679204"/>
            <a:ext cx="171176" cy="171176"/>
          </a:xfrm>
          <a:prstGeom prst="rect">
            <a:avLst/>
          </a:prstGeom>
        </p:spPr>
      </p:pic>
      <p:sp>
        <p:nvSpPr>
          <p:cNvPr id="14" name="Text 10"/>
          <p:cNvSpPr txBox="1"/>
          <p:nvPr/>
        </p:nvSpPr>
        <p:spPr>
          <a:xfrm>
            <a:off x="841248" y="1572768"/>
            <a:ext cx="1216152" cy="411480"/>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Annual VNL SoL by ADM1 / ADM2</a:t>
            </a:r>
            <a:endParaRPr lang="en-US" sz="900" dirty="0"/>
          </a:p>
        </p:txBody>
      </p:sp>
      <p:sp>
        <p:nvSpPr>
          <p:cNvPr id="15" name="Shape 11"/>
          <p:cNvSpPr/>
          <p:nvPr/>
        </p:nvSpPr>
        <p:spPr>
          <a:xfrm>
            <a:off x="2103120" y="1600200"/>
            <a:ext cx="329184" cy="329184"/>
          </a:xfrm>
          <a:prstGeom prst="ellipse">
            <a:avLst/>
          </a:prstGeom>
          <a:solidFill>
            <a:srgbClr val="D49A00">
              <a:alpha val="22000"/>
            </a:srgbClr>
          </a:solidFill>
          <a:ln w="12700">
            <a:solidFill>
              <a:srgbClr val="D49A00">
                <a:alpha val="0"/>
              </a:srgbClr>
            </a:solidFill>
            <a:prstDash val="solid"/>
          </a:ln>
        </p:spPr>
      </p:sp>
      <p:pic>
        <p:nvPicPr>
          <p:cNvPr id="16" name="Image 1" descr="preencoded.png">    </p:cNvPr>
          <p:cNvPicPr>
            <a:picLocks noChangeAspect="1"/>
          </p:cNvPicPr>
          <p:nvPr/>
        </p:nvPicPr>
        <p:blipFill>
          <a:blip r:embed="rId2"/>
          <a:stretch>
            <a:fillRect/>
          </a:stretch>
        </p:blipFill>
        <p:spPr>
          <a:xfrm>
            <a:off x="2182124" y="1679204"/>
            <a:ext cx="171176" cy="171176"/>
          </a:xfrm>
          <a:prstGeom prst="rect">
            <a:avLst/>
          </a:prstGeom>
        </p:spPr>
      </p:pic>
      <p:sp>
        <p:nvSpPr>
          <p:cNvPr id="17" name="Text 12"/>
          <p:cNvSpPr txBox="1"/>
          <p:nvPr/>
        </p:nvSpPr>
        <p:spPr>
          <a:xfrm>
            <a:off x="2487168" y="1572768"/>
            <a:ext cx="1216152" cy="411480"/>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GHS-POP → light per capita</a:t>
            </a:r>
            <a:endParaRPr lang="en-US" sz="900" dirty="0"/>
          </a:p>
        </p:txBody>
      </p:sp>
      <p:sp>
        <p:nvSpPr>
          <p:cNvPr id="18" name="Shape 13"/>
          <p:cNvSpPr/>
          <p:nvPr/>
        </p:nvSpPr>
        <p:spPr>
          <a:xfrm>
            <a:off x="3749040" y="1600200"/>
            <a:ext cx="329184" cy="329184"/>
          </a:xfrm>
          <a:prstGeom prst="ellipse">
            <a:avLst/>
          </a:prstGeom>
          <a:solidFill>
            <a:srgbClr val="D49A00">
              <a:alpha val="22000"/>
            </a:srgbClr>
          </a:solidFill>
          <a:ln w="12700">
            <a:solidFill>
              <a:srgbClr val="D49A00">
                <a:alpha val="0"/>
              </a:srgbClr>
            </a:solidFill>
            <a:prstDash val="solid"/>
          </a:ln>
        </p:spPr>
      </p:sp>
      <p:pic>
        <p:nvPicPr>
          <p:cNvPr id="19" name="Image 2" descr="preencoded.png">    </p:cNvPr>
          <p:cNvPicPr>
            <a:picLocks noChangeAspect="1"/>
          </p:cNvPicPr>
          <p:nvPr/>
        </p:nvPicPr>
        <p:blipFill>
          <a:blip r:embed="rId3"/>
          <a:stretch>
            <a:fillRect/>
          </a:stretch>
        </p:blipFill>
        <p:spPr>
          <a:xfrm>
            <a:off x="3828044" y="1679204"/>
            <a:ext cx="171176" cy="171176"/>
          </a:xfrm>
          <a:prstGeom prst="rect">
            <a:avLst/>
          </a:prstGeom>
        </p:spPr>
      </p:pic>
      <p:sp>
        <p:nvSpPr>
          <p:cNvPr id="20" name="Text 14"/>
          <p:cNvSpPr txBox="1"/>
          <p:nvPr/>
        </p:nvSpPr>
        <p:spPr>
          <a:xfrm>
            <a:off x="4133088" y="1572768"/>
            <a:ext cx="1216152" cy="411480"/>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Sentinel-5P NO₂, latest year</a:t>
            </a:r>
            <a:endParaRPr lang="en-US" sz="900" dirty="0"/>
          </a:p>
        </p:txBody>
      </p:sp>
      <p:sp>
        <p:nvSpPr>
          <p:cNvPr id="21" name="Text 15"/>
          <p:cNvSpPr txBox="1"/>
          <p:nvPr/>
        </p:nvSpPr>
        <p:spPr>
          <a:xfrm>
            <a:off x="457200" y="2148840"/>
            <a:ext cx="475488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METHOD, STEP BY STEP</a:t>
            </a:r>
            <a:endParaRPr lang="en-US" sz="900" dirty="0"/>
          </a:p>
        </p:txBody>
      </p:sp>
      <p:sp>
        <p:nvSpPr>
          <p:cNvPr id="22" name="Shape 16"/>
          <p:cNvSpPr/>
          <p:nvPr/>
        </p:nvSpPr>
        <p:spPr>
          <a:xfrm>
            <a:off x="457200" y="2450592"/>
            <a:ext cx="310896" cy="310896"/>
          </a:xfrm>
          <a:prstGeom prst="ellipse">
            <a:avLst/>
          </a:prstGeom>
          <a:solidFill>
            <a:srgbClr val="D49A00"/>
          </a:solidFill>
          <a:ln w="12700">
            <a:solidFill>
              <a:srgbClr val="D49A00"/>
            </a:solidFill>
            <a:prstDash val="solid"/>
          </a:ln>
        </p:spPr>
      </p:sp>
      <p:sp>
        <p:nvSpPr>
          <p:cNvPr id="23" name="Text 17"/>
          <p:cNvSpPr txBox="1"/>
          <p:nvPr/>
        </p:nvSpPr>
        <p:spPr>
          <a:xfrm>
            <a:off x="457200" y="24505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4" name="Text 18"/>
          <p:cNvSpPr txBox="1"/>
          <p:nvPr/>
        </p:nvSpPr>
        <p:spPr>
          <a:xfrm>
            <a:off x="896112" y="2423160"/>
            <a:ext cx="429768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Robust growth per unit</a:t>
            </a:r>
            <a:endParaRPr lang="en-US" sz="1100" dirty="0"/>
          </a:p>
        </p:txBody>
      </p:sp>
      <p:sp>
        <p:nvSpPr>
          <p:cNvPr id="25" name="Text 19"/>
          <p:cNvSpPr txBox="1"/>
          <p:nvPr/>
        </p:nvSpPr>
        <p:spPr>
          <a:xfrm>
            <a:off x="896112" y="2642616"/>
            <a:ext cx="42976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Theil–Sen slope of log SoL, Mann–Kendall p</a:t>
            </a:r>
            <a:endParaRPr lang="en-US" sz="950" dirty="0"/>
          </a:p>
        </p:txBody>
      </p:sp>
      <p:sp>
        <p:nvSpPr>
          <p:cNvPr id="26" name="Shape 20"/>
          <p:cNvSpPr/>
          <p:nvPr/>
        </p:nvSpPr>
        <p:spPr>
          <a:xfrm>
            <a:off x="457200" y="2962656"/>
            <a:ext cx="310896" cy="310896"/>
          </a:xfrm>
          <a:prstGeom prst="ellipse">
            <a:avLst/>
          </a:prstGeom>
          <a:solidFill>
            <a:srgbClr val="D49A00"/>
          </a:solidFill>
          <a:ln w="12700">
            <a:solidFill>
              <a:srgbClr val="D49A00"/>
            </a:solidFill>
            <a:prstDash val="solid"/>
          </a:ln>
        </p:spPr>
      </p:sp>
      <p:sp>
        <p:nvSpPr>
          <p:cNvPr id="27" name="Text 21"/>
          <p:cNvSpPr txBox="1"/>
          <p:nvPr/>
        </p:nvSpPr>
        <p:spPr>
          <a:xfrm>
            <a:off x="457200" y="29626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2"/>
          <p:cNvSpPr txBox="1"/>
          <p:nvPr/>
        </p:nvSpPr>
        <p:spPr>
          <a:xfrm>
            <a:off x="896112" y="2935224"/>
            <a:ext cx="429768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Correct for multiple testing</a:t>
            </a:r>
            <a:endParaRPr lang="en-US" sz="1100" dirty="0"/>
          </a:p>
        </p:txBody>
      </p:sp>
      <p:sp>
        <p:nvSpPr>
          <p:cNvPr id="29" name="Text 23"/>
          <p:cNvSpPr txBox="1"/>
          <p:nvPr/>
        </p:nvSpPr>
        <p:spPr>
          <a:xfrm>
            <a:off x="896112" y="3154680"/>
            <a:ext cx="42976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Benjamini–Hochberg adjusted p (false discovery rate)</a:t>
            </a:r>
            <a:endParaRPr lang="en-US" sz="950" dirty="0"/>
          </a:p>
        </p:txBody>
      </p:sp>
      <p:sp>
        <p:nvSpPr>
          <p:cNvPr id="30" name="Shape 24"/>
          <p:cNvSpPr/>
          <p:nvPr/>
        </p:nvSpPr>
        <p:spPr>
          <a:xfrm>
            <a:off x="457200" y="3474720"/>
            <a:ext cx="310896" cy="310896"/>
          </a:xfrm>
          <a:prstGeom prst="ellipse">
            <a:avLst/>
          </a:prstGeom>
          <a:solidFill>
            <a:srgbClr val="D49A00"/>
          </a:solidFill>
          <a:ln w="12700">
            <a:solidFill>
              <a:srgbClr val="D49A00"/>
            </a:solidFill>
            <a:prstDash val="solid"/>
          </a:ln>
        </p:spPr>
      </p:sp>
      <p:sp>
        <p:nvSpPr>
          <p:cNvPr id="31" name="Text 25"/>
          <p:cNvSpPr txBox="1"/>
          <p:nvPr/>
        </p:nvSpPr>
        <p:spPr>
          <a:xfrm>
            <a:off x="457200" y="347472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2" name="Text 26"/>
          <p:cNvSpPr txBox="1"/>
          <p:nvPr/>
        </p:nvSpPr>
        <p:spPr>
          <a:xfrm>
            <a:off x="896112" y="3447288"/>
            <a:ext cx="429768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Classify</a:t>
            </a:r>
            <a:endParaRPr lang="en-US" sz="1100" dirty="0"/>
          </a:p>
        </p:txBody>
      </p:sp>
      <p:sp>
        <p:nvSpPr>
          <p:cNvPr id="33" name="Text 27"/>
          <p:cNvSpPr txBox="1"/>
          <p:nvPr/>
        </p:nvSpPr>
        <p:spPr>
          <a:xfrm>
            <a:off x="896112" y="3666744"/>
            <a:ext cx="42976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Growth / Decline if |slope| ≥ 1%/yr and adjusted p &lt; 0.10, otherwise Stagnation</a:t>
            </a:r>
            <a:endParaRPr lang="en-US" sz="950" dirty="0"/>
          </a:p>
        </p:txBody>
      </p:sp>
      <p:sp>
        <p:nvSpPr>
          <p:cNvPr id="34" name="Shape 28"/>
          <p:cNvSpPr/>
          <p:nvPr/>
        </p:nvSpPr>
        <p:spPr>
          <a:xfrm>
            <a:off x="457200" y="3986784"/>
            <a:ext cx="310896" cy="310896"/>
          </a:xfrm>
          <a:prstGeom prst="ellipse">
            <a:avLst/>
          </a:prstGeom>
          <a:solidFill>
            <a:srgbClr val="D49A00"/>
          </a:solidFill>
          <a:ln w="12700">
            <a:solidFill>
              <a:srgbClr val="D49A00"/>
            </a:solidFill>
            <a:prstDash val="solid"/>
          </a:ln>
        </p:spPr>
      </p:sp>
      <p:sp>
        <p:nvSpPr>
          <p:cNvPr id="35" name="Text 29"/>
          <p:cNvSpPr txBox="1"/>
          <p:nvPr/>
        </p:nvSpPr>
        <p:spPr>
          <a:xfrm>
            <a:off x="457200" y="398678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6" name="Text 30"/>
          <p:cNvSpPr txBox="1"/>
          <p:nvPr/>
        </p:nvSpPr>
        <p:spPr>
          <a:xfrm>
            <a:off x="896112" y="3959352"/>
            <a:ext cx="429768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Concentration and convergence</a:t>
            </a:r>
            <a:endParaRPr lang="en-US" sz="1100" dirty="0"/>
          </a:p>
        </p:txBody>
      </p:sp>
      <p:sp>
        <p:nvSpPr>
          <p:cNvPr id="37" name="Text 31"/>
          <p:cNvSpPr txBox="1"/>
          <p:nvPr/>
        </p:nvSpPr>
        <p:spPr>
          <a:xfrm>
            <a:off x="896112" y="4178808"/>
            <a:ext cx="42976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Top shares, HHI, β (3-year initial mean), σ; NO₂ correlation</a:t>
            </a:r>
            <a:endParaRPr lang="en-US" sz="950" dirty="0"/>
          </a:p>
        </p:txBody>
      </p:sp>
      <p:graphicFrame>
        <p:nvGraphicFramePr>
          <p:cNvPr id="38" name="Chart 0" descr=""/>
          <p:cNvGraphicFramePr/>
          <p:nvPr/>
        </p:nvGraphicFramePr>
        <p:xfrm>
          <a:off x="5532120" y="1280160"/>
          <a:ext cx="3200400" cy="2514600"/>
        </p:xfrm>
        <a:graphic xmlns:a="http://schemas.openxmlformats.org/drawingml/2006/main">
          <a:graphicData uri="http://schemas.openxmlformats.org/drawingml/2006/chart">
            <c:chart xmlns:c="http://schemas.openxmlformats.org/drawingml/2006/chart" r:id="rId4"/>
          </a:graphicData>
        </a:graphic>
      </p:graphicFrame>
      <p:sp>
        <p:nvSpPr>
          <p:cNvPr id="39" name="Text 32"/>
          <p:cNvSpPr txBox="1"/>
          <p:nvPr/>
        </p:nvSpPr>
        <p:spPr>
          <a:xfrm>
            <a:off x="5577840" y="3840480"/>
            <a:ext cx="3108960" cy="59436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Simulation: 60 units, 12 years, 25% noise, no real convergence — share of draws falsely significant at 95%</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SCENARIO 2</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Regional growth: the metrics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53312"/>
            <a:ext cx="17830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METRIC</a:t>
            </a:r>
            <a:endParaRPr lang="en-US" sz="900" dirty="0"/>
          </a:p>
        </p:txBody>
      </p:sp>
      <p:sp>
        <p:nvSpPr>
          <p:cNvPr id="12" name="Text 9"/>
          <p:cNvSpPr txBox="1"/>
          <p:nvPr/>
        </p:nvSpPr>
        <p:spPr>
          <a:xfrm>
            <a:off x="2423160" y="1353312"/>
            <a:ext cx="2971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DEFINITION / FORMULA</a:t>
            </a:r>
            <a:endParaRPr lang="en-US" sz="900" dirty="0"/>
          </a:p>
        </p:txBody>
      </p:sp>
      <p:sp>
        <p:nvSpPr>
          <p:cNvPr id="13" name="Text 10"/>
          <p:cNvSpPr txBox="1"/>
          <p:nvPr/>
        </p:nvSpPr>
        <p:spPr>
          <a:xfrm>
            <a:off x="5486400" y="1353312"/>
            <a:ext cx="32004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HOW TO READ IT</a:t>
            </a:r>
            <a:endParaRPr lang="en-US" sz="900" dirty="0"/>
          </a:p>
        </p:txBody>
      </p:sp>
      <p:sp>
        <p:nvSpPr>
          <p:cNvPr id="14" name="Shape 11"/>
          <p:cNvSpPr/>
          <p:nvPr/>
        </p:nvSpPr>
        <p:spPr>
          <a:xfrm>
            <a:off x="457200" y="1609344"/>
            <a:ext cx="8229600" cy="365760"/>
          </a:xfrm>
          <a:prstGeom prst="roundRect">
            <a:avLst>
              <a:gd name="adj" fmla="val 12500"/>
            </a:avLst>
          </a:prstGeom>
          <a:solidFill>
            <a:srgbClr val="F4F7F5"/>
          </a:solidFill>
          <a:ln w="6350">
            <a:solidFill>
              <a:srgbClr val="D5DED9"/>
            </a:solidFill>
            <a:prstDash val="solid"/>
          </a:ln>
        </p:spPr>
      </p:sp>
      <p:sp>
        <p:nvSpPr>
          <p:cNvPr id="15" name="Text 12"/>
          <p:cNvSpPr txBox="1"/>
          <p:nvPr/>
        </p:nvSpPr>
        <p:spPr>
          <a:xfrm>
            <a:off x="548640" y="1609344"/>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Growth class</a:t>
            </a:r>
            <a:endParaRPr lang="en-US" sz="1050" dirty="0"/>
          </a:p>
        </p:txBody>
      </p:sp>
      <p:sp>
        <p:nvSpPr>
          <p:cNvPr id="16" name="Text 13"/>
          <p:cNvSpPr txBox="1"/>
          <p:nvPr/>
        </p:nvSpPr>
        <p:spPr>
          <a:xfrm>
            <a:off x="2331720" y="1609344"/>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|g| ≥ 1%/yr and BH-adjusted p &lt; 0.10</a:t>
            </a:r>
            <a:endParaRPr lang="en-US" sz="1000" dirty="0"/>
          </a:p>
        </p:txBody>
      </p:sp>
      <p:sp>
        <p:nvSpPr>
          <p:cNvPr id="17" name="Text 14"/>
          <p:cNvSpPr txBox="1"/>
          <p:nvPr/>
        </p:nvSpPr>
        <p:spPr>
          <a:xfrm>
            <a:off x="5394960" y="1609344"/>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Growth / Decline / Stagnation (= not established)</a:t>
            </a:r>
            <a:endParaRPr lang="en-US" sz="950" dirty="0"/>
          </a:p>
        </p:txBody>
      </p:sp>
      <p:sp>
        <p:nvSpPr>
          <p:cNvPr id="18" name="Shape 15"/>
          <p:cNvSpPr/>
          <p:nvPr/>
        </p:nvSpPr>
        <p:spPr>
          <a:xfrm>
            <a:off x="457200" y="2029968"/>
            <a:ext cx="8229600" cy="365760"/>
          </a:xfrm>
          <a:prstGeom prst="roundRect">
            <a:avLst>
              <a:gd name="adj" fmla="val 12500"/>
            </a:avLst>
          </a:prstGeom>
          <a:solidFill>
            <a:srgbClr val="FFFFFF"/>
          </a:solidFill>
          <a:ln w="6350">
            <a:solidFill>
              <a:srgbClr val="D5DED9"/>
            </a:solidFill>
            <a:prstDash val="solid"/>
          </a:ln>
        </p:spPr>
      </p:sp>
      <p:sp>
        <p:nvSpPr>
          <p:cNvPr id="19" name="Text 16"/>
          <p:cNvSpPr txBox="1"/>
          <p:nvPr/>
        </p:nvSpPr>
        <p:spPr>
          <a:xfrm>
            <a:off x="548640" y="2029968"/>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Top 1 and top 10% shares</a:t>
            </a:r>
            <a:endParaRPr lang="en-US" sz="1050" dirty="0"/>
          </a:p>
        </p:txBody>
      </p:sp>
      <p:sp>
        <p:nvSpPr>
          <p:cNvPr id="20" name="Text 17"/>
          <p:cNvSpPr txBox="1"/>
          <p:nvPr/>
        </p:nvSpPr>
        <p:spPr>
          <a:xfrm>
            <a:off x="2331720" y="2029968"/>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SoL of the brightest unit(s) / total SoL</a:t>
            </a:r>
            <a:endParaRPr lang="en-US" sz="1000" dirty="0"/>
          </a:p>
        </p:txBody>
      </p:sp>
      <p:sp>
        <p:nvSpPr>
          <p:cNvPr id="21" name="Text 18"/>
          <p:cNvSpPr txBox="1"/>
          <p:nvPr/>
        </p:nvSpPr>
        <p:spPr>
          <a:xfrm>
            <a:off x="5394960" y="2029968"/>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Weight of the capital or main hub</a:t>
            </a:r>
            <a:endParaRPr lang="en-US" sz="950" dirty="0"/>
          </a:p>
        </p:txBody>
      </p:sp>
      <p:sp>
        <p:nvSpPr>
          <p:cNvPr id="22" name="Shape 19"/>
          <p:cNvSpPr/>
          <p:nvPr/>
        </p:nvSpPr>
        <p:spPr>
          <a:xfrm>
            <a:off x="457200" y="2450592"/>
            <a:ext cx="8229600" cy="365760"/>
          </a:xfrm>
          <a:prstGeom prst="roundRect">
            <a:avLst>
              <a:gd name="adj" fmla="val 12500"/>
            </a:avLst>
          </a:prstGeom>
          <a:solidFill>
            <a:srgbClr val="F4F7F5"/>
          </a:solidFill>
          <a:ln w="6350">
            <a:solidFill>
              <a:srgbClr val="D5DED9"/>
            </a:solidFill>
            <a:prstDash val="solid"/>
          </a:ln>
        </p:spPr>
      </p:sp>
      <p:sp>
        <p:nvSpPr>
          <p:cNvPr id="23" name="Text 20"/>
          <p:cNvSpPr txBox="1"/>
          <p:nvPr/>
        </p:nvSpPr>
        <p:spPr>
          <a:xfrm>
            <a:off x="548640" y="2450592"/>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Herfindahl index (HHI)</a:t>
            </a:r>
            <a:endParaRPr lang="en-US" sz="1050" dirty="0"/>
          </a:p>
        </p:txBody>
      </p:sp>
      <p:sp>
        <p:nvSpPr>
          <p:cNvPr id="24" name="Text 21"/>
          <p:cNvSpPr txBox="1"/>
          <p:nvPr/>
        </p:nvSpPr>
        <p:spPr>
          <a:xfrm>
            <a:off x="2331720" y="2450592"/>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Σ sᵢ²  (sᵢ = SoLᵢ / Σ SoL)</a:t>
            </a:r>
            <a:endParaRPr lang="en-US" sz="1000" dirty="0"/>
          </a:p>
        </p:txBody>
      </p:sp>
      <p:sp>
        <p:nvSpPr>
          <p:cNvPr id="25" name="Text 22"/>
          <p:cNvSpPr txBox="1"/>
          <p:nvPr/>
        </p:nvSpPr>
        <p:spPr>
          <a:xfrm>
            <a:off x="5394960" y="2450592"/>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0 → dispersed · 1 → all light in one unit</a:t>
            </a:r>
            <a:endParaRPr lang="en-US" sz="950" dirty="0"/>
          </a:p>
        </p:txBody>
      </p:sp>
      <p:sp>
        <p:nvSpPr>
          <p:cNvPr id="26" name="Shape 23"/>
          <p:cNvSpPr/>
          <p:nvPr/>
        </p:nvSpPr>
        <p:spPr>
          <a:xfrm>
            <a:off x="457200" y="2871216"/>
            <a:ext cx="8229600" cy="365760"/>
          </a:xfrm>
          <a:prstGeom prst="roundRect">
            <a:avLst>
              <a:gd name="adj" fmla="val 12500"/>
            </a:avLst>
          </a:prstGeom>
          <a:solidFill>
            <a:srgbClr val="FFFFFF"/>
          </a:solidFill>
          <a:ln w="6350">
            <a:solidFill>
              <a:srgbClr val="D5DED9"/>
            </a:solidFill>
            <a:prstDash val="solid"/>
          </a:ln>
        </p:spPr>
      </p:sp>
      <p:sp>
        <p:nvSpPr>
          <p:cNvPr id="27" name="Text 24"/>
          <p:cNvSpPr txBox="1"/>
          <p:nvPr/>
        </p:nvSpPr>
        <p:spPr>
          <a:xfrm>
            <a:off x="548640" y="2871216"/>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β-convergence</a:t>
            </a:r>
            <a:endParaRPr lang="en-US" sz="1050" dirty="0"/>
          </a:p>
        </p:txBody>
      </p:sp>
      <p:sp>
        <p:nvSpPr>
          <p:cNvPr id="28" name="Text 25"/>
          <p:cNvSpPr txBox="1"/>
          <p:nvPr/>
        </p:nvSpPr>
        <p:spPr>
          <a:xfrm>
            <a:off x="2331720" y="2871216"/>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gᵢ = a + β·log(initial light per capitaᵢ) + ε, HC1 errors</a:t>
            </a:r>
            <a:endParaRPr lang="en-US" sz="1000" dirty="0"/>
          </a:p>
        </p:txBody>
      </p:sp>
      <p:sp>
        <p:nvSpPr>
          <p:cNvPr id="29" name="Text 26"/>
          <p:cNvSpPr txBox="1"/>
          <p:nvPr/>
        </p:nvSpPr>
        <p:spPr>
          <a:xfrm>
            <a:off x="5394960" y="2871216"/>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β &lt; 0 with CI &lt; 0 → lagging units are catching up</a:t>
            </a:r>
            <a:endParaRPr lang="en-US" sz="950" dirty="0"/>
          </a:p>
        </p:txBody>
      </p:sp>
      <p:sp>
        <p:nvSpPr>
          <p:cNvPr id="30" name="Shape 27"/>
          <p:cNvSpPr/>
          <p:nvPr/>
        </p:nvSpPr>
        <p:spPr>
          <a:xfrm>
            <a:off x="457200" y="3291840"/>
            <a:ext cx="8229600" cy="365760"/>
          </a:xfrm>
          <a:prstGeom prst="roundRect">
            <a:avLst>
              <a:gd name="adj" fmla="val 12500"/>
            </a:avLst>
          </a:prstGeom>
          <a:solidFill>
            <a:srgbClr val="F4F7F5"/>
          </a:solidFill>
          <a:ln w="6350">
            <a:solidFill>
              <a:srgbClr val="D5DED9"/>
            </a:solidFill>
            <a:prstDash val="solid"/>
          </a:ln>
        </p:spPr>
      </p:sp>
      <p:sp>
        <p:nvSpPr>
          <p:cNvPr id="31" name="Text 28"/>
          <p:cNvSpPr txBox="1"/>
          <p:nvPr/>
        </p:nvSpPr>
        <p:spPr>
          <a:xfrm>
            <a:off x="548640" y="3291840"/>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Half-life</a:t>
            </a:r>
            <a:endParaRPr lang="en-US" sz="1050" dirty="0"/>
          </a:p>
        </p:txBody>
      </p:sp>
      <p:sp>
        <p:nvSpPr>
          <p:cNvPr id="32" name="Text 29"/>
          <p:cNvSpPr txBox="1"/>
          <p:nvPr/>
        </p:nvSpPr>
        <p:spPr>
          <a:xfrm>
            <a:off x="2331720" y="3291840"/>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ln 2 / −ln(1 + β)</a:t>
            </a:r>
            <a:endParaRPr lang="en-US" sz="1000" dirty="0"/>
          </a:p>
        </p:txBody>
      </p:sp>
      <p:sp>
        <p:nvSpPr>
          <p:cNvPr id="33" name="Text 30"/>
          <p:cNvSpPr txBox="1"/>
          <p:nvPr/>
        </p:nvSpPr>
        <p:spPr>
          <a:xfrm>
            <a:off x="5394960" y="3291840"/>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Years to close half of the gap</a:t>
            </a:r>
            <a:endParaRPr lang="en-US" sz="950" dirty="0"/>
          </a:p>
        </p:txBody>
      </p:sp>
      <p:sp>
        <p:nvSpPr>
          <p:cNvPr id="34" name="Shape 31"/>
          <p:cNvSpPr/>
          <p:nvPr/>
        </p:nvSpPr>
        <p:spPr>
          <a:xfrm>
            <a:off x="457200" y="3712464"/>
            <a:ext cx="8229600" cy="365760"/>
          </a:xfrm>
          <a:prstGeom prst="roundRect">
            <a:avLst>
              <a:gd name="adj" fmla="val 12500"/>
            </a:avLst>
          </a:prstGeom>
          <a:solidFill>
            <a:srgbClr val="FFFFFF"/>
          </a:solidFill>
          <a:ln w="6350">
            <a:solidFill>
              <a:srgbClr val="D5DED9"/>
            </a:solidFill>
            <a:prstDash val="solid"/>
          </a:ln>
        </p:spPr>
      </p:sp>
      <p:sp>
        <p:nvSpPr>
          <p:cNvPr id="35" name="Text 32"/>
          <p:cNvSpPr txBox="1"/>
          <p:nvPr/>
        </p:nvSpPr>
        <p:spPr>
          <a:xfrm>
            <a:off x="548640" y="3712464"/>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σ-convergence</a:t>
            </a:r>
            <a:endParaRPr lang="en-US" sz="1050" dirty="0"/>
          </a:p>
        </p:txBody>
      </p:sp>
      <p:sp>
        <p:nvSpPr>
          <p:cNvPr id="36" name="Text 33"/>
          <p:cNvSpPr txBox="1"/>
          <p:nvPr/>
        </p:nvSpPr>
        <p:spPr>
          <a:xfrm>
            <a:off x="2331720" y="3712464"/>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standard deviation of log(light per capita) across units, per year</a:t>
            </a:r>
            <a:endParaRPr lang="en-US" sz="1000" dirty="0"/>
          </a:p>
        </p:txBody>
      </p:sp>
      <p:sp>
        <p:nvSpPr>
          <p:cNvPr id="37" name="Text 34"/>
          <p:cNvSpPr txBox="1"/>
          <p:nvPr/>
        </p:nvSpPr>
        <p:spPr>
          <a:xfrm>
            <a:off x="5394960" y="3712464"/>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Falling σ → regions are becoming more alike</a:t>
            </a:r>
            <a:endParaRPr lang="en-US" sz="950" dirty="0"/>
          </a:p>
        </p:txBody>
      </p:sp>
      <p:sp>
        <p:nvSpPr>
          <p:cNvPr id="38" name="Shape 35"/>
          <p:cNvSpPr/>
          <p:nvPr/>
        </p:nvSpPr>
        <p:spPr>
          <a:xfrm>
            <a:off x="457200" y="4133088"/>
            <a:ext cx="8229600" cy="365760"/>
          </a:xfrm>
          <a:prstGeom prst="roundRect">
            <a:avLst>
              <a:gd name="adj" fmla="val 12500"/>
            </a:avLst>
          </a:prstGeom>
          <a:solidFill>
            <a:srgbClr val="F4F7F5"/>
          </a:solidFill>
          <a:ln w="6350">
            <a:solidFill>
              <a:srgbClr val="D5DED9"/>
            </a:solidFill>
            <a:prstDash val="solid"/>
          </a:ln>
        </p:spPr>
      </p:sp>
      <p:sp>
        <p:nvSpPr>
          <p:cNvPr id="39" name="Text 36"/>
          <p:cNvSpPr txBox="1"/>
          <p:nvPr/>
        </p:nvSpPr>
        <p:spPr>
          <a:xfrm>
            <a:off x="548640" y="4133088"/>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NO₂ correlation</a:t>
            </a:r>
            <a:endParaRPr lang="en-US" sz="1050" dirty="0"/>
          </a:p>
        </p:txBody>
      </p:sp>
      <p:sp>
        <p:nvSpPr>
          <p:cNvPr id="40" name="Text 37"/>
          <p:cNvSpPr txBox="1"/>
          <p:nvPr/>
        </p:nvSpPr>
        <p:spPr>
          <a:xfrm>
            <a:off x="2331720" y="4133088"/>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Spearman ρ (mean NO₂, SoL) across units</a:t>
            </a:r>
            <a:endParaRPr lang="en-US" sz="1000" dirty="0"/>
          </a:p>
        </p:txBody>
      </p:sp>
      <p:sp>
        <p:nvSpPr>
          <p:cNvPr id="41" name="Text 38"/>
          <p:cNvSpPr txBox="1"/>
          <p:nvPr/>
        </p:nvSpPr>
        <p:spPr>
          <a:xfrm>
            <a:off x="5394960" y="4133088"/>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High ρ → light reflects combustion activity</a:t>
            </a:r>
            <a:endParaRPr lang="en-US" sz="950" dirty="0"/>
          </a:p>
        </p:txBody>
      </p:sp>
      <p:sp>
        <p:nvSpPr>
          <p:cNvPr id="42" name="Text 39"/>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Benjamini &amp; Hochberg (1995); Barro &amp; Sala-i-Martin (1992); Herfindahl (1950)</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SCENARIO 3</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Lights and GDP: measuring the elasticity</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3429000" cy="960120"/>
          </a:xfrm>
          <a:prstGeom prst="roundRect">
            <a:avLst>
              <a:gd name="adj" fmla="val 7619"/>
            </a:avLst>
          </a:prstGeom>
          <a:solidFill>
            <a:srgbClr val="E8F5EF"/>
          </a:solidFill>
          <a:ln w="15875">
            <a:solidFill>
              <a:srgbClr val="D49A00"/>
            </a:solidFill>
            <a:prstDash val="solid"/>
          </a:ln>
        </p:spPr>
      </p:sp>
      <p:sp>
        <p:nvSpPr>
          <p:cNvPr id="12" name="Text 9"/>
          <p:cNvSpPr txBox="1"/>
          <p:nvPr/>
        </p:nvSpPr>
        <p:spPr>
          <a:xfrm>
            <a:off x="621792" y="1399032"/>
            <a:ext cx="310896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QUESTION</a:t>
            </a:r>
            <a:endParaRPr lang="en-US" sz="900" dirty="0"/>
          </a:p>
        </p:txBody>
      </p:sp>
      <p:sp>
        <p:nvSpPr>
          <p:cNvPr id="13" name="Text 10"/>
          <p:cNvSpPr txBox="1"/>
          <p:nvPr/>
        </p:nvSpPr>
        <p:spPr>
          <a:xfrm>
            <a:off x="621792" y="1627632"/>
            <a:ext cx="3154680" cy="621792"/>
          </a:xfrm>
          <a:prstGeom prst="rect">
            <a:avLst/>
          </a:prstGeom>
          <a:noFill/>
          <a:ln/>
        </p:spPr>
        <p:txBody>
          <a:bodyPr wrap="square" lIns="0" tIns="0" rIns="0" bIns="0" rtlCol="0" anchor="ctr"/>
          <a:lstStyle/>
          <a:p>
            <a:pPr indent="0" marL="0">
              <a:buNone/>
            </a:pPr>
            <a:r>
              <a:rPr lang="en-US" sz="1250" b="1" i="1" dirty="0">
                <a:solidFill>
                  <a:srgbClr val="231F20"/>
                </a:solidFill>
                <a:latin typeface="Calibri" pitchFamily="34" charset="0"/>
                <a:ea typeface="Calibri" pitchFamily="34" charset="-122"/>
                <a:cs typeface="Calibri" pitchFamily="34" charset="-120"/>
              </a:rPr>
              <a:t>Does light follow official GDP, and by how much does it move when GDP moves by 1%?</a:t>
            </a:r>
            <a:endParaRPr lang="en-US" sz="1250" dirty="0"/>
          </a:p>
        </p:txBody>
      </p:sp>
      <p:sp>
        <p:nvSpPr>
          <p:cNvPr id="14" name="Text 11"/>
          <p:cNvSpPr txBox="1"/>
          <p:nvPr/>
        </p:nvSpPr>
        <p:spPr>
          <a:xfrm>
            <a:off x="457200" y="2395728"/>
            <a:ext cx="338328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DATA USED</a:t>
            </a:r>
            <a:endParaRPr lang="en-US" sz="900" dirty="0"/>
          </a:p>
        </p:txBody>
      </p:sp>
      <p:sp>
        <p:nvSpPr>
          <p:cNvPr id="15" name="Shape 12"/>
          <p:cNvSpPr/>
          <p:nvPr/>
        </p:nvSpPr>
        <p:spPr>
          <a:xfrm>
            <a:off x="457200" y="2670048"/>
            <a:ext cx="347472" cy="347472"/>
          </a:xfrm>
          <a:prstGeom prst="ellipse">
            <a:avLst/>
          </a:prstGeom>
          <a:solidFill>
            <a:srgbClr val="D49A00">
              <a:alpha val="22000"/>
            </a:srgbClr>
          </a:solidFill>
          <a:ln w="12700">
            <a:solidFill>
              <a:srgbClr val="D49A00">
                <a:alpha val="0"/>
              </a:srgbClr>
            </a:solidFill>
            <a:prstDash val="solid"/>
          </a:ln>
        </p:spPr>
      </p:sp>
      <p:pic>
        <p:nvPicPr>
          <p:cNvPr id="16" name="Image 0" descr="preencoded.png">    </p:cNvPr>
          <p:cNvPicPr>
            <a:picLocks noChangeAspect="1"/>
          </p:cNvPicPr>
          <p:nvPr/>
        </p:nvPicPr>
        <p:blipFill>
          <a:blip r:embed="rId1"/>
          <a:stretch>
            <a:fillRect/>
          </a:stretch>
        </p:blipFill>
        <p:spPr>
          <a:xfrm>
            <a:off x="540593" y="2753441"/>
            <a:ext cx="180685" cy="180685"/>
          </a:xfrm>
          <a:prstGeom prst="rect">
            <a:avLst/>
          </a:prstGeom>
        </p:spPr>
      </p:pic>
      <p:sp>
        <p:nvSpPr>
          <p:cNvPr id="17" name="Text 13"/>
          <p:cNvSpPr txBox="1"/>
          <p:nvPr/>
        </p:nvSpPr>
        <p:spPr>
          <a:xfrm>
            <a:off x="896112" y="26517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VIIRS VNL annual, national</a:t>
            </a:r>
            <a:endParaRPr lang="en-US" sz="1050" dirty="0"/>
          </a:p>
        </p:txBody>
      </p:sp>
      <p:sp>
        <p:nvSpPr>
          <p:cNvPr id="18" name="Text 14"/>
          <p:cNvSpPr txBox="1"/>
          <p:nvPr/>
        </p:nvSpPr>
        <p:spPr>
          <a:xfrm>
            <a:off x="896112" y="28437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SoL per year (+ V2.1 / V2.2 dummy)</a:t>
            </a:r>
            <a:endParaRPr lang="en-US" sz="900" dirty="0"/>
          </a:p>
        </p:txBody>
      </p:sp>
      <p:sp>
        <p:nvSpPr>
          <p:cNvPr id="19" name="Shape 15"/>
          <p:cNvSpPr/>
          <p:nvPr/>
        </p:nvSpPr>
        <p:spPr>
          <a:xfrm>
            <a:off x="457200" y="3127248"/>
            <a:ext cx="347472" cy="347472"/>
          </a:xfrm>
          <a:prstGeom prst="ellipse">
            <a:avLst/>
          </a:prstGeom>
          <a:solidFill>
            <a:srgbClr val="D49A00">
              <a:alpha val="22000"/>
            </a:srgbClr>
          </a:solidFill>
          <a:ln w="12700">
            <a:solidFill>
              <a:srgbClr val="D49A00">
                <a:alpha val="0"/>
              </a:srgbClr>
            </a:solidFill>
            <a:prstDash val="solid"/>
          </a:ln>
        </p:spPr>
      </p:sp>
      <p:pic>
        <p:nvPicPr>
          <p:cNvPr id="20" name="Image 1" descr="preencoded.png">    </p:cNvPr>
          <p:cNvPicPr>
            <a:picLocks noChangeAspect="1"/>
          </p:cNvPicPr>
          <p:nvPr/>
        </p:nvPicPr>
        <p:blipFill>
          <a:blip r:embed="rId2"/>
          <a:stretch>
            <a:fillRect/>
          </a:stretch>
        </p:blipFill>
        <p:spPr>
          <a:xfrm>
            <a:off x="540593" y="3210641"/>
            <a:ext cx="180685" cy="180685"/>
          </a:xfrm>
          <a:prstGeom prst="rect">
            <a:avLst/>
          </a:prstGeom>
        </p:spPr>
      </p:pic>
      <p:sp>
        <p:nvSpPr>
          <p:cNvPr id="21" name="Text 16"/>
          <p:cNvSpPr txBox="1"/>
          <p:nvPr/>
        </p:nvSpPr>
        <p:spPr>
          <a:xfrm>
            <a:off x="896112" y="31089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Harmonised long series</a:t>
            </a:r>
            <a:endParaRPr lang="en-US" sz="1050" dirty="0"/>
          </a:p>
        </p:txBody>
      </p:sp>
      <p:sp>
        <p:nvSpPr>
          <p:cNvPr id="22" name="Text 17"/>
          <p:cNvSpPr txBox="1"/>
          <p:nvPr/>
        </p:nvSpPr>
        <p:spPr>
          <a:xfrm>
            <a:off x="896112" y="33009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1992 →, sensor dummy</a:t>
            </a:r>
            <a:endParaRPr lang="en-US" sz="900" dirty="0"/>
          </a:p>
        </p:txBody>
      </p:sp>
      <p:sp>
        <p:nvSpPr>
          <p:cNvPr id="23" name="Shape 18"/>
          <p:cNvSpPr/>
          <p:nvPr/>
        </p:nvSpPr>
        <p:spPr>
          <a:xfrm>
            <a:off x="457200" y="3584448"/>
            <a:ext cx="347472" cy="347472"/>
          </a:xfrm>
          <a:prstGeom prst="ellipse">
            <a:avLst/>
          </a:prstGeom>
          <a:solidFill>
            <a:srgbClr val="D49A00">
              <a:alpha val="22000"/>
            </a:srgbClr>
          </a:solidFill>
          <a:ln w="12700">
            <a:solidFill>
              <a:srgbClr val="D49A00">
                <a:alpha val="0"/>
              </a:srgbClr>
            </a:solidFill>
            <a:prstDash val="solid"/>
          </a:ln>
        </p:spPr>
      </p:sp>
      <p:pic>
        <p:nvPicPr>
          <p:cNvPr id="24" name="Image 2" descr="preencoded.png">    </p:cNvPr>
          <p:cNvPicPr>
            <a:picLocks noChangeAspect="1"/>
          </p:cNvPicPr>
          <p:nvPr/>
        </p:nvPicPr>
        <p:blipFill>
          <a:blip r:embed="rId3"/>
          <a:stretch>
            <a:fillRect/>
          </a:stretch>
        </p:blipFill>
        <p:spPr>
          <a:xfrm>
            <a:off x="540593" y="3667841"/>
            <a:ext cx="180685" cy="180685"/>
          </a:xfrm>
          <a:prstGeom prst="rect">
            <a:avLst/>
          </a:prstGeom>
        </p:spPr>
      </p:pic>
      <p:sp>
        <p:nvSpPr>
          <p:cNvPr id="25" name="Text 19"/>
          <p:cNvSpPr txBox="1"/>
          <p:nvPr/>
        </p:nvSpPr>
        <p:spPr>
          <a:xfrm>
            <a:off x="896112" y="35661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World Bank NY.GDP.MKTP.KD</a:t>
            </a:r>
            <a:endParaRPr lang="en-US" sz="1050" dirty="0"/>
          </a:p>
        </p:txBody>
      </p:sp>
      <p:sp>
        <p:nvSpPr>
          <p:cNvPr id="26" name="Text 20"/>
          <p:cNvSpPr txBox="1"/>
          <p:nvPr/>
        </p:nvSpPr>
        <p:spPr>
          <a:xfrm>
            <a:off x="896112" y="37581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Real GDP, constant 2015 USD</a:t>
            </a:r>
            <a:endParaRPr lang="en-US" sz="900" dirty="0"/>
          </a:p>
        </p:txBody>
      </p:sp>
      <p:sp>
        <p:nvSpPr>
          <p:cNvPr id="27" name="Text 21"/>
          <p:cNvSpPr txBox="1"/>
          <p:nvPr/>
        </p:nvSpPr>
        <p:spPr>
          <a:xfrm>
            <a:off x="4206240" y="1325880"/>
            <a:ext cx="448056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METHOD, STEP BY STEP</a:t>
            </a:r>
            <a:endParaRPr lang="en-US" sz="900" dirty="0"/>
          </a:p>
        </p:txBody>
      </p:sp>
      <p:sp>
        <p:nvSpPr>
          <p:cNvPr id="28" name="Shape 22"/>
          <p:cNvSpPr/>
          <p:nvPr/>
        </p:nvSpPr>
        <p:spPr>
          <a:xfrm>
            <a:off x="4206240" y="1645920"/>
            <a:ext cx="329184" cy="329184"/>
          </a:xfrm>
          <a:prstGeom prst="ellipse">
            <a:avLst/>
          </a:prstGeom>
          <a:solidFill>
            <a:srgbClr val="D49A00"/>
          </a:solidFill>
          <a:ln w="12700">
            <a:solidFill>
              <a:srgbClr val="D49A00"/>
            </a:solidFill>
            <a:prstDash val="solid"/>
          </a:ln>
        </p:spPr>
      </p:sp>
      <p:sp>
        <p:nvSpPr>
          <p:cNvPr id="29" name="Text 23"/>
          <p:cNvSpPr txBox="1"/>
          <p:nvPr/>
        </p:nvSpPr>
        <p:spPr>
          <a:xfrm>
            <a:off x="4206240" y="16459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0" name="Shape 24"/>
          <p:cNvSpPr/>
          <p:nvPr/>
        </p:nvSpPr>
        <p:spPr>
          <a:xfrm>
            <a:off x="4370832" y="1993392"/>
            <a:ext cx="0" cy="237744"/>
          </a:xfrm>
          <a:prstGeom prst="line">
            <a:avLst/>
          </a:prstGeom>
          <a:noFill/>
          <a:ln w="15875">
            <a:solidFill>
              <a:srgbClr val="D5DED9"/>
            </a:solidFill>
            <a:prstDash val="solid"/>
          </a:ln>
        </p:spPr>
      </p:sp>
      <p:sp>
        <p:nvSpPr>
          <p:cNvPr id="31" name="Text 25"/>
          <p:cNvSpPr txBox="1"/>
          <p:nvPr/>
        </p:nvSpPr>
        <p:spPr>
          <a:xfrm>
            <a:off x="4663440" y="1627632"/>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Levels</a:t>
            </a:r>
            <a:endParaRPr lang="en-US" sz="1150" dirty="0"/>
          </a:p>
        </p:txBody>
      </p:sp>
      <p:sp>
        <p:nvSpPr>
          <p:cNvPr id="32" name="Text 26"/>
          <p:cNvSpPr txBox="1"/>
          <p:nvPr/>
        </p:nvSpPr>
        <p:spPr>
          <a:xfrm>
            <a:off x="4663440" y="1847088"/>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log(SoLₜ) = α + β·log(GDPₜ) [+ δ·V22ₜ] + εₜ</a:t>
            </a:r>
            <a:endParaRPr lang="en-US" sz="950" dirty="0"/>
          </a:p>
        </p:txBody>
      </p:sp>
      <p:sp>
        <p:nvSpPr>
          <p:cNvPr id="33" name="Shape 27"/>
          <p:cNvSpPr/>
          <p:nvPr/>
        </p:nvSpPr>
        <p:spPr>
          <a:xfrm>
            <a:off x="4206240" y="2249424"/>
            <a:ext cx="329184" cy="329184"/>
          </a:xfrm>
          <a:prstGeom prst="ellipse">
            <a:avLst/>
          </a:prstGeom>
          <a:solidFill>
            <a:srgbClr val="D49A00"/>
          </a:solidFill>
          <a:ln w="12700">
            <a:solidFill>
              <a:srgbClr val="D49A00"/>
            </a:solidFill>
            <a:prstDash val="solid"/>
          </a:ln>
        </p:spPr>
      </p:sp>
      <p:sp>
        <p:nvSpPr>
          <p:cNvPr id="34" name="Text 28"/>
          <p:cNvSpPr txBox="1"/>
          <p:nvPr/>
        </p:nvSpPr>
        <p:spPr>
          <a:xfrm>
            <a:off x="4206240" y="22494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Shape 29"/>
          <p:cNvSpPr/>
          <p:nvPr/>
        </p:nvSpPr>
        <p:spPr>
          <a:xfrm>
            <a:off x="4370832" y="2596896"/>
            <a:ext cx="0" cy="237744"/>
          </a:xfrm>
          <a:prstGeom prst="line">
            <a:avLst/>
          </a:prstGeom>
          <a:noFill/>
          <a:ln w="15875">
            <a:solidFill>
              <a:srgbClr val="D5DED9"/>
            </a:solidFill>
            <a:prstDash val="solid"/>
          </a:ln>
        </p:spPr>
      </p:sp>
      <p:sp>
        <p:nvSpPr>
          <p:cNvPr id="36" name="Text 30"/>
          <p:cNvSpPr txBox="1"/>
          <p:nvPr/>
        </p:nvSpPr>
        <p:spPr>
          <a:xfrm>
            <a:off x="4663440" y="2231136"/>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Growth rates</a:t>
            </a:r>
            <a:endParaRPr lang="en-US" sz="1150" dirty="0"/>
          </a:p>
        </p:txBody>
      </p:sp>
      <p:sp>
        <p:nvSpPr>
          <p:cNvPr id="37" name="Text 31"/>
          <p:cNvSpPr txBox="1"/>
          <p:nvPr/>
        </p:nvSpPr>
        <p:spPr>
          <a:xfrm>
            <a:off x="4663440" y="2450592"/>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Δlog(SoL) = α + β·Δlog(GDP): immune to common trends</a:t>
            </a:r>
            <a:endParaRPr lang="en-US" sz="950" dirty="0"/>
          </a:p>
        </p:txBody>
      </p:sp>
      <p:sp>
        <p:nvSpPr>
          <p:cNvPr id="38" name="Shape 32"/>
          <p:cNvSpPr/>
          <p:nvPr/>
        </p:nvSpPr>
        <p:spPr>
          <a:xfrm>
            <a:off x="4206240" y="2852928"/>
            <a:ext cx="329184" cy="329184"/>
          </a:xfrm>
          <a:prstGeom prst="ellipse">
            <a:avLst/>
          </a:prstGeom>
          <a:solidFill>
            <a:srgbClr val="D49A00"/>
          </a:solidFill>
          <a:ln w="12700">
            <a:solidFill>
              <a:srgbClr val="D49A00"/>
            </a:solidFill>
            <a:prstDash val="solid"/>
          </a:ln>
        </p:spPr>
      </p:sp>
      <p:sp>
        <p:nvSpPr>
          <p:cNvPr id="39" name="Text 33"/>
          <p:cNvSpPr txBox="1"/>
          <p:nvPr/>
        </p:nvSpPr>
        <p:spPr>
          <a:xfrm>
            <a:off x="4206240" y="28529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0" name="Shape 34"/>
          <p:cNvSpPr/>
          <p:nvPr/>
        </p:nvSpPr>
        <p:spPr>
          <a:xfrm>
            <a:off x="4370832" y="3200400"/>
            <a:ext cx="0" cy="237744"/>
          </a:xfrm>
          <a:prstGeom prst="line">
            <a:avLst/>
          </a:prstGeom>
          <a:noFill/>
          <a:ln w="15875">
            <a:solidFill>
              <a:srgbClr val="D5DED9"/>
            </a:solidFill>
            <a:prstDash val="solid"/>
          </a:ln>
        </p:spPr>
      </p:sp>
      <p:sp>
        <p:nvSpPr>
          <p:cNvPr id="41" name="Text 35"/>
          <p:cNvSpPr txBox="1"/>
          <p:nvPr/>
        </p:nvSpPr>
        <p:spPr>
          <a:xfrm>
            <a:off x="4663440" y="2834640"/>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Long series</a:t>
            </a:r>
            <a:endParaRPr lang="en-US" sz="1150" dirty="0"/>
          </a:p>
        </p:txBody>
      </p:sp>
      <p:sp>
        <p:nvSpPr>
          <p:cNvPr id="42" name="Text 36"/>
          <p:cNvSpPr txBox="1"/>
          <p:nvPr/>
        </p:nvSpPr>
        <p:spPr>
          <a:xfrm>
            <a:off x="4663440" y="3054096"/>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Levels from 1992 → with a DMSP / VIIRS dummy</a:t>
            </a:r>
            <a:endParaRPr lang="en-US" sz="950" dirty="0"/>
          </a:p>
        </p:txBody>
      </p:sp>
      <p:sp>
        <p:nvSpPr>
          <p:cNvPr id="43" name="Shape 37"/>
          <p:cNvSpPr/>
          <p:nvPr/>
        </p:nvSpPr>
        <p:spPr>
          <a:xfrm>
            <a:off x="4206240" y="3456432"/>
            <a:ext cx="329184" cy="329184"/>
          </a:xfrm>
          <a:prstGeom prst="ellipse">
            <a:avLst/>
          </a:prstGeom>
          <a:solidFill>
            <a:srgbClr val="D49A00"/>
          </a:solidFill>
          <a:ln w="12700">
            <a:solidFill>
              <a:srgbClr val="D49A00"/>
            </a:solidFill>
            <a:prstDash val="solid"/>
          </a:ln>
        </p:spPr>
      </p:sp>
      <p:sp>
        <p:nvSpPr>
          <p:cNvPr id="44" name="Text 38"/>
          <p:cNvSpPr txBox="1"/>
          <p:nvPr/>
        </p:nvSpPr>
        <p:spPr>
          <a:xfrm>
            <a:off x="4206240" y="34564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5" name="Shape 39"/>
          <p:cNvSpPr/>
          <p:nvPr/>
        </p:nvSpPr>
        <p:spPr>
          <a:xfrm>
            <a:off x="4370832" y="3803904"/>
            <a:ext cx="0" cy="237744"/>
          </a:xfrm>
          <a:prstGeom prst="line">
            <a:avLst/>
          </a:prstGeom>
          <a:noFill/>
          <a:ln w="15875">
            <a:solidFill>
              <a:srgbClr val="D5DED9"/>
            </a:solidFill>
            <a:prstDash val="solid"/>
          </a:ln>
        </p:spPr>
      </p:sp>
      <p:sp>
        <p:nvSpPr>
          <p:cNvPr id="46" name="Text 40"/>
          <p:cNvSpPr txBox="1"/>
          <p:nvPr/>
        </p:nvSpPr>
        <p:spPr>
          <a:xfrm>
            <a:off x="4663440" y="3438144"/>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Uncertainty</a:t>
            </a:r>
            <a:endParaRPr lang="en-US" sz="1150" dirty="0"/>
          </a:p>
        </p:txBody>
      </p:sp>
      <p:sp>
        <p:nvSpPr>
          <p:cNvPr id="47" name="Text 41"/>
          <p:cNvSpPr txBox="1"/>
          <p:nvPr/>
        </p:nvSpPr>
        <p:spPr>
          <a:xfrm>
            <a:off x="4663440" y="3657600"/>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95% Newey–West CI (HAC) + paired bootstrap CI (999 draws)</a:t>
            </a:r>
            <a:endParaRPr lang="en-US" sz="950" dirty="0"/>
          </a:p>
        </p:txBody>
      </p:sp>
      <p:sp>
        <p:nvSpPr>
          <p:cNvPr id="48" name="Shape 42"/>
          <p:cNvSpPr/>
          <p:nvPr/>
        </p:nvSpPr>
        <p:spPr>
          <a:xfrm>
            <a:off x="4206240" y="4059936"/>
            <a:ext cx="329184" cy="329184"/>
          </a:xfrm>
          <a:prstGeom prst="ellipse">
            <a:avLst/>
          </a:prstGeom>
          <a:solidFill>
            <a:srgbClr val="D49A00"/>
          </a:solidFill>
          <a:ln w="12700">
            <a:solidFill>
              <a:srgbClr val="D49A00"/>
            </a:solidFill>
            <a:prstDash val="solid"/>
          </a:ln>
        </p:spPr>
      </p:sp>
      <p:sp>
        <p:nvSpPr>
          <p:cNvPr id="49" name="Text 43"/>
          <p:cNvSpPr txBox="1"/>
          <p:nvPr/>
        </p:nvSpPr>
        <p:spPr>
          <a:xfrm>
            <a:off x="4206240" y="405993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0" name="Text 44"/>
          <p:cNvSpPr txBox="1"/>
          <p:nvPr/>
        </p:nvSpPr>
        <p:spPr>
          <a:xfrm>
            <a:off x="4663440" y="4041648"/>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Diagnostics</a:t>
            </a:r>
            <a:endParaRPr lang="en-US" sz="1150" dirty="0"/>
          </a:p>
        </p:txBody>
      </p:sp>
      <p:sp>
        <p:nvSpPr>
          <p:cNvPr id="51" name="Text 45"/>
          <p:cNvSpPr txBox="1"/>
          <p:nvPr/>
        </p:nvSpPr>
        <p:spPr>
          <a:xfrm>
            <a:off x="4663440" y="4261104"/>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Durbin–Watson · Breusch–Pagan · Jarque–Bera · Ramsey RESET (n ≥ 12)</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SCENARIO 3</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Lights and GDP: forecasting and regional estimates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53312"/>
            <a:ext cx="17830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METRIC</a:t>
            </a:r>
            <a:endParaRPr lang="en-US" sz="900" dirty="0"/>
          </a:p>
        </p:txBody>
      </p:sp>
      <p:sp>
        <p:nvSpPr>
          <p:cNvPr id="12" name="Text 9"/>
          <p:cNvSpPr txBox="1"/>
          <p:nvPr/>
        </p:nvSpPr>
        <p:spPr>
          <a:xfrm>
            <a:off x="2423160" y="1353312"/>
            <a:ext cx="2971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DEFINITION / FORMULA</a:t>
            </a:r>
            <a:endParaRPr lang="en-US" sz="900" dirty="0"/>
          </a:p>
        </p:txBody>
      </p:sp>
      <p:sp>
        <p:nvSpPr>
          <p:cNvPr id="13" name="Text 10"/>
          <p:cNvSpPr txBox="1"/>
          <p:nvPr/>
        </p:nvSpPr>
        <p:spPr>
          <a:xfrm>
            <a:off x="5486400" y="1353312"/>
            <a:ext cx="32004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HOW TO READ IT</a:t>
            </a:r>
            <a:endParaRPr lang="en-US" sz="900" dirty="0"/>
          </a:p>
        </p:txBody>
      </p:sp>
      <p:sp>
        <p:nvSpPr>
          <p:cNvPr id="14" name="Shape 11"/>
          <p:cNvSpPr/>
          <p:nvPr/>
        </p:nvSpPr>
        <p:spPr>
          <a:xfrm>
            <a:off x="457200" y="1609344"/>
            <a:ext cx="8229600" cy="429768"/>
          </a:xfrm>
          <a:prstGeom prst="roundRect">
            <a:avLst>
              <a:gd name="adj" fmla="val 10638"/>
            </a:avLst>
          </a:prstGeom>
          <a:solidFill>
            <a:srgbClr val="F4F7F5"/>
          </a:solidFill>
          <a:ln w="6350">
            <a:solidFill>
              <a:srgbClr val="D5DED9"/>
            </a:solidFill>
            <a:prstDash val="solid"/>
          </a:ln>
        </p:spPr>
      </p:sp>
      <p:sp>
        <p:nvSpPr>
          <p:cNvPr id="15" name="Text 12"/>
          <p:cNvSpPr txBox="1"/>
          <p:nvPr/>
        </p:nvSpPr>
        <p:spPr>
          <a:xfrm>
            <a:off x="548640" y="1609344"/>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β elasticity</a:t>
            </a:r>
            <a:endParaRPr lang="en-US" sz="1050" dirty="0"/>
          </a:p>
        </p:txBody>
      </p:sp>
      <p:sp>
        <p:nvSpPr>
          <p:cNvPr id="16" name="Text 13"/>
          <p:cNvSpPr txBox="1"/>
          <p:nvPr/>
        </p:nvSpPr>
        <p:spPr>
          <a:xfrm>
            <a:off x="2331720" y="1609344"/>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slope of log SoL on log GDP (or growth rates)</a:t>
            </a:r>
            <a:endParaRPr lang="en-US" sz="1000" dirty="0"/>
          </a:p>
        </p:txBody>
      </p:sp>
      <p:sp>
        <p:nvSpPr>
          <p:cNvPr id="17" name="Text 14"/>
          <p:cNvSpPr txBox="1"/>
          <p:nvPr/>
        </p:nvSpPr>
        <p:spPr>
          <a:xfrm>
            <a:off x="5394960" y="1609344"/>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+1% GDP ↔ +β% light; Henderson's 0.3 ≈ 1/β</a:t>
            </a:r>
            <a:endParaRPr lang="en-US" sz="950" dirty="0"/>
          </a:p>
        </p:txBody>
      </p:sp>
      <p:sp>
        <p:nvSpPr>
          <p:cNvPr id="18" name="Shape 15"/>
          <p:cNvSpPr/>
          <p:nvPr/>
        </p:nvSpPr>
        <p:spPr>
          <a:xfrm>
            <a:off x="457200" y="2093976"/>
            <a:ext cx="8229600" cy="429768"/>
          </a:xfrm>
          <a:prstGeom prst="roundRect">
            <a:avLst>
              <a:gd name="adj" fmla="val 10638"/>
            </a:avLst>
          </a:prstGeom>
          <a:solidFill>
            <a:srgbClr val="FFFFFF"/>
          </a:solidFill>
          <a:ln w="6350">
            <a:solidFill>
              <a:srgbClr val="D5DED9"/>
            </a:solidFill>
            <a:prstDash val="solid"/>
          </a:ln>
        </p:spPr>
      </p:sp>
      <p:sp>
        <p:nvSpPr>
          <p:cNvPr id="19" name="Text 16"/>
          <p:cNvSpPr txBox="1"/>
          <p:nvPr/>
        </p:nvSpPr>
        <p:spPr>
          <a:xfrm>
            <a:off x="548640" y="2093976"/>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Confidence in β</a:t>
            </a:r>
            <a:endParaRPr lang="en-US" sz="1050" dirty="0"/>
          </a:p>
        </p:txBody>
      </p:sp>
      <p:sp>
        <p:nvSpPr>
          <p:cNvPr id="20" name="Text 17"/>
          <p:cNvSpPr txBox="1"/>
          <p:nvPr/>
        </p:nvSpPr>
        <p:spPr>
          <a:xfrm>
            <a:off x="2331720" y="2093976"/>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high: n ≥ 15, p &lt; 0.01, CI width &lt; 1, R² ≥ 0.6</a:t>
            </a:r>
            <a:endParaRPr lang="en-US" sz="1000" dirty="0"/>
          </a:p>
        </p:txBody>
      </p:sp>
      <p:sp>
        <p:nvSpPr>
          <p:cNvPr id="21" name="Text 18"/>
          <p:cNvSpPr txBox="1"/>
          <p:nvPr/>
        </p:nvSpPr>
        <p:spPr>
          <a:xfrm>
            <a:off x="5394960" y="2093976"/>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medium if p &lt; 0.10 · low if n &lt; 8 or not significant</a:t>
            </a:r>
            <a:endParaRPr lang="en-US" sz="950" dirty="0"/>
          </a:p>
        </p:txBody>
      </p:sp>
      <p:sp>
        <p:nvSpPr>
          <p:cNvPr id="22" name="Shape 19"/>
          <p:cNvSpPr/>
          <p:nvPr/>
        </p:nvSpPr>
        <p:spPr>
          <a:xfrm>
            <a:off x="457200" y="2578608"/>
            <a:ext cx="8229600" cy="429768"/>
          </a:xfrm>
          <a:prstGeom prst="roundRect">
            <a:avLst>
              <a:gd name="adj" fmla="val 10638"/>
            </a:avLst>
          </a:prstGeom>
          <a:solidFill>
            <a:srgbClr val="F4F7F5"/>
          </a:solidFill>
          <a:ln w="6350">
            <a:solidFill>
              <a:srgbClr val="D5DED9"/>
            </a:solidFill>
            <a:prstDash val="solid"/>
          </a:ln>
        </p:spPr>
      </p:sp>
      <p:sp>
        <p:nvSpPr>
          <p:cNvPr id="23" name="Text 20"/>
          <p:cNvSpPr txBox="1"/>
          <p:nvPr/>
        </p:nvSpPr>
        <p:spPr>
          <a:xfrm>
            <a:off x="548640" y="2578608"/>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Nowcast</a:t>
            </a:r>
            <a:endParaRPr lang="en-US" sz="1050" dirty="0"/>
          </a:p>
        </p:txBody>
      </p:sp>
      <p:sp>
        <p:nvSpPr>
          <p:cNvPr id="24" name="Text 21"/>
          <p:cNvSpPr txBox="1"/>
          <p:nvPr/>
        </p:nvSpPr>
        <p:spPr>
          <a:xfrm>
            <a:off x="2331720" y="2578608"/>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Δlog GDP = a + γ·Δlog SoL, chained from the last official year</a:t>
            </a:r>
            <a:endParaRPr lang="en-US" sz="1000" dirty="0"/>
          </a:p>
        </p:txBody>
      </p:sp>
      <p:sp>
        <p:nvSpPr>
          <p:cNvPr id="25" name="Text 22"/>
          <p:cNvSpPr txBox="1"/>
          <p:nvPr/>
        </p:nvSpPr>
        <p:spPr>
          <a:xfrm>
            <a:off x="5394960" y="2578608"/>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Estimates for unpublished years, 80 / 95% bands</a:t>
            </a:r>
            <a:endParaRPr lang="en-US" sz="950" dirty="0"/>
          </a:p>
        </p:txBody>
      </p:sp>
      <p:sp>
        <p:nvSpPr>
          <p:cNvPr id="26" name="Shape 23"/>
          <p:cNvSpPr/>
          <p:nvPr/>
        </p:nvSpPr>
        <p:spPr>
          <a:xfrm>
            <a:off x="457200" y="3063240"/>
            <a:ext cx="8229600" cy="429768"/>
          </a:xfrm>
          <a:prstGeom prst="roundRect">
            <a:avLst>
              <a:gd name="adj" fmla="val 10638"/>
            </a:avLst>
          </a:prstGeom>
          <a:solidFill>
            <a:srgbClr val="FFFFFF"/>
          </a:solidFill>
          <a:ln w="6350">
            <a:solidFill>
              <a:srgbClr val="D5DED9"/>
            </a:solidFill>
            <a:prstDash val="solid"/>
          </a:ln>
        </p:spPr>
      </p:sp>
      <p:sp>
        <p:nvSpPr>
          <p:cNvPr id="27" name="Text 24"/>
          <p:cNvSpPr txBox="1"/>
          <p:nvPr/>
        </p:nvSpPr>
        <p:spPr>
          <a:xfrm>
            <a:off x="548640" y="3063240"/>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Pseudo real-time MAE</a:t>
            </a:r>
            <a:endParaRPr lang="en-US" sz="1050" dirty="0"/>
          </a:p>
        </p:txBody>
      </p:sp>
      <p:sp>
        <p:nvSpPr>
          <p:cNvPr id="28" name="Text 25"/>
          <p:cNvSpPr txBox="1"/>
          <p:nvPr/>
        </p:nvSpPr>
        <p:spPr>
          <a:xfrm>
            <a:off x="2331720" y="3063240"/>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mean |actual − predicted| growth, in points; expanding window ≥ 5 years</a:t>
            </a:r>
            <a:endParaRPr lang="en-US" sz="1000" dirty="0"/>
          </a:p>
        </p:txBody>
      </p:sp>
      <p:sp>
        <p:nvSpPr>
          <p:cNvPr id="29" name="Text 26"/>
          <p:cNvSpPr txBox="1"/>
          <p:nvPr/>
        </p:nvSpPr>
        <p:spPr>
          <a:xfrm>
            <a:off x="5394960" y="3063240"/>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Typical error of a forecaster using lights</a:t>
            </a:r>
            <a:endParaRPr lang="en-US" sz="950" dirty="0"/>
          </a:p>
        </p:txBody>
      </p:sp>
      <p:sp>
        <p:nvSpPr>
          <p:cNvPr id="30" name="Shape 27"/>
          <p:cNvSpPr/>
          <p:nvPr/>
        </p:nvSpPr>
        <p:spPr>
          <a:xfrm>
            <a:off x="457200" y="3547872"/>
            <a:ext cx="8229600" cy="429768"/>
          </a:xfrm>
          <a:prstGeom prst="roundRect">
            <a:avLst>
              <a:gd name="adj" fmla="val 10638"/>
            </a:avLst>
          </a:prstGeom>
          <a:solidFill>
            <a:srgbClr val="F4F7F5"/>
          </a:solidFill>
          <a:ln w="6350">
            <a:solidFill>
              <a:srgbClr val="D5DED9"/>
            </a:solidFill>
            <a:prstDash val="solid"/>
          </a:ln>
        </p:spPr>
      </p:sp>
      <p:sp>
        <p:nvSpPr>
          <p:cNvPr id="31" name="Text 28"/>
          <p:cNvSpPr txBox="1"/>
          <p:nvPr/>
        </p:nvSpPr>
        <p:spPr>
          <a:xfrm>
            <a:off x="548640" y="3547872"/>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Relative MAE</a:t>
            </a:r>
            <a:endParaRPr lang="en-US" sz="1050" dirty="0"/>
          </a:p>
        </p:txBody>
      </p:sp>
      <p:sp>
        <p:nvSpPr>
          <p:cNvPr id="32" name="Text 29"/>
          <p:cNvSpPr txBox="1"/>
          <p:nvPr/>
        </p:nvSpPr>
        <p:spPr>
          <a:xfrm>
            <a:off x="2331720" y="3547872"/>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MAE lights / min(MAE last year, MAE past mean)</a:t>
            </a:r>
            <a:endParaRPr lang="en-US" sz="1000" dirty="0"/>
          </a:p>
        </p:txBody>
      </p:sp>
      <p:sp>
        <p:nvSpPr>
          <p:cNvPr id="33" name="Text 30"/>
          <p:cNvSpPr txBox="1"/>
          <p:nvPr/>
        </p:nvSpPr>
        <p:spPr>
          <a:xfrm>
            <a:off x="5394960" y="3547872"/>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&lt; 1 → lights add more than naive rules</a:t>
            </a:r>
            <a:endParaRPr lang="en-US" sz="950" dirty="0"/>
          </a:p>
        </p:txBody>
      </p:sp>
      <p:sp>
        <p:nvSpPr>
          <p:cNvPr id="34" name="Shape 31"/>
          <p:cNvSpPr/>
          <p:nvPr/>
        </p:nvSpPr>
        <p:spPr>
          <a:xfrm>
            <a:off x="457200" y="4032504"/>
            <a:ext cx="8229600" cy="429768"/>
          </a:xfrm>
          <a:prstGeom prst="roundRect">
            <a:avLst>
              <a:gd name="adj" fmla="val 10638"/>
            </a:avLst>
          </a:prstGeom>
          <a:solidFill>
            <a:srgbClr val="FFFFFF"/>
          </a:solidFill>
          <a:ln w="6350">
            <a:solidFill>
              <a:srgbClr val="D5DED9"/>
            </a:solidFill>
            <a:prstDash val="solid"/>
          </a:ln>
        </p:spPr>
      </p:sp>
      <p:sp>
        <p:nvSpPr>
          <p:cNvPr id="35" name="Text 32"/>
          <p:cNvSpPr txBox="1"/>
          <p:nvPr/>
        </p:nvSpPr>
        <p:spPr>
          <a:xfrm>
            <a:off x="548640" y="4032504"/>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Regional GDP (experimental)</a:t>
            </a:r>
            <a:endParaRPr lang="en-US" sz="1050" dirty="0"/>
          </a:p>
        </p:txBody>
      </p:sp>
      <p:sp>
        <p:nvSpPr>
          <p:cNvPr id="36" name="Text 33"/>
          <p:cNvSpPr txBox="1"/>
          <p:nvPr/>
        </p:nvSpPr>
        <p:spPr>
          <a:xfrm>
            <a:off x="2331720" y="4032504"/>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GDPᵢ = GDP · SoLᵢ^γ / Σ SoLⱼ^γ, γ = 1; 0.5</a:t>
            </a:r>
            <a:endParaRPr lang="en-US" sz="1000" dirty="0"/>
          </a:p>
        </p:txBody>
      </p:sp>
      <p:sp>
        <p:nvSpPr>
          <p:cNvPr id="37" name="Text 34"/>
          <p:cNvSpPr txBox="1"/>
          <p:nvPr/>
        </p:nvSpPr>
        <p:spPr>
          <a:xfrm>
            <a:off x="5394960" y="4032504"/>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Sum = national GDP; γ=1 vs 0.5 gap = uncertainty</a:t>
            </a:r>
            <a:endParaRPr lang="en-US" sz="950" dirty="0"/>
          </a:p>
        </p:txBody>
      </p:sp>
      <p:sp>
        <p:nvSpPr>
          <p:cNvPr id="38" name="Text 35"/>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Henderson, Storeygard &amp; Weil (2012); Newey &amp; West (1987) · regional GDP is labelled experimental everywhere</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SCENARIO 4</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Shocks: how deep, how long, and is it real?</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1828800" y="1417320"/>
            <a:ext cx="1143000" cy="2103120"/>
          </a:xfrm>
          <a:prstGeom prst="rect">
            <a:avLst/>
          </a:prstGeom>
          <a:solidFill>
            <a:srgbClr val="D49A00">
              <a:alpha val="15000"/>
            </a:srgbClr>
          </a:solidFill>
          <a:ln w="12700">
            <a:solidFill>
              <a:srgbClr val="D49A00">
                <a:alpha val="0"/>
              </a:srgbClr>
            </a:solidFill>
            <a:prstDash val="solid"/>
          </a:ln>
        </p:spPr>
      </p:sp>
      <p:sp>
        <p:nvSpPr>
          <p:cNvPr id="12" name="Shape 9"/>
          <p:cNvSpPr/>
          <p:nvPr/>
        </p:nvSpPr>
        <p:spPr>
          <a:xfrm flipV="1">
            <a:off x="548640" y="2011680"/>
            <a:ext cx="548640" cy="91440"/>
          </a:xfrm>
          <a:prstGeom prst="line">
            <a:avLst/>
          </a:prstGeom>
          <a:noFill/>
          <a:ln w="31750">
            <a:solidFill>
              <a:srgbClr val="00553A"/>
            </a:solidFill>
            <a:prstDash val="solid"/>
          </a:ln>
        </p:spPr>
      </p:sp>
      <p:sp>
        <p:nvSpPr>
          <p:cNvPr id="13" name="Shape 10"/>
          <p:cNvSpPr/>
          <p:nvPr/>
        </p:nvSpPr>
        <p:spPr>
          <a:xfrm flipV="1">
            <a:off x="1097280" y="1965960"/>
            <a:ext cx="548640" cy="45720"/>
          </a:xfrm>
          <a:prstGeom prst="line">
            <a:avLst/>
          </a:prstGeom>
          <a:noFill/>
          <a:ln w="31750">
            <a:solidFill>
              <a:srgbClr val="00553A"/>
            </a:solidFill>
            <a:prstDash val="solid"/>
          </a:ln>
        </p:spPr>
      </p:sp>
      <p:sp>
        <p:nvSpPr>
          <p:cNvPr id="14" name="Shape 11"/>
          <p:cNvSpPr/>
          <p:nvPr/>
        </p:nvSpPr>
        <p:spPr>
          <a:xfrm>
            <a:off x="1645920" y="1965960"/>
            <a:ext cx="457200" cy="960120"/>
          </a:xfrm>
          <a:prstGeom prst="line">
            <a:avLst/>
          </a:prstGeom>
          <a:noFill/>
          <a:ln w="31750">
            <a:solidFill>
              <a:srgbClr val="00553A"/>
            </a:solidFill>
            <a:prstDash val="solid"/>
          </a:ln>
        </p:spPr>
      </p:sp>
      <p:sp>
        <p:nvSpPr>
          <p:cNvPr id="15" name="Shape 12"/>
          <p:cNvSpPr/>
          <p:nvPr/>
        </p:nvSpPr>
        <p:spPr>
          <a:xfrm>
            <a:off x="2103120" y="2926080"/>
            <a:ext cx="457200" cy="228600"/>
          </a:xfrm>
          <a:prstGeom prst="line">
            <a:avLst/>
          </a:prstGeom>
          <a:noFill/>
          <a:ln w="31750">
            <a:solidFill>
              <a:srgbClr val="00553A"/>
            </a:solidFill>
            <a:prstDash val="solid"/>
          </a:ln>
        </p:spPr>
      </p:sp>
      <p:sp>
        <p:nvSpPr>
          <p:cNvPr id="16" name="Shape 13"/>
          <p:cNvSpPr/>
          <p:nvPr/>
        </p:nvSpPr>
        <p:spPr>
          <a:xfrm flipV="1">
            <a:off x="2560320" y="2651760"/>
            <a:ext cx="548640" cy="502920"/>
          </a:xfrm>
          <a:prstGeom prst="line">
            <a:avLst/>
          </a:prstGeom>
          <a:noFill/>
          <a:ln w="31750">
            <a:solidFill>
              <a:srgbClr val="00553A"/>
            </a:solidFill>
            <a:prstDash val="solid"/>
          </a:ln>
        </p:spPr>
      </p:sp>
      <p:sp>
        <p:nvSpPr>
          <p:cNvPr id="17" name="Shape 14"/>
          <p:cNvSpPr/>
          <p:nvPr/>
        </p:nvSpPr>
        <p:spPr>
          <a:xfrm flipV="1">
            <a:off x="3108960" y="2148840"/>
            <a:ext cx="548640" cy="502920"/>
          </a:xfrm>
          <a:prstGeom prst="line">
            <a:avLst/>
          </a:prstGeom>
          <a:noFill/>
          <a:ln w="31750">
            <a:solidFill>
              <a:srgbClr val="00553A"/>
            </a:solidFill>
            <a:prstDash val="solid"/>
          </a:ln>
        </p:spPr>
      </p:sp>
      <p:sp>
        <p:nvSpPr>
          <p:cNvPr id="18" name="Shape 15"/>
          <p:cNvSpPr/>
          <p:nvPr/>
        </p:nvSpPr>
        <p:spPr>
          <a:xfrm flipV="1">
            <a:off x="3657600" y="1965960"/>
            <a:ext cx="548640" cy="182880"/>
          </a:xfrm>
          <a:prstGeom prst="line">
            <a:avLst/>
          </a:prstGeom>
          <a:noFill/>
          <a:ln w="31750">
            <a:solidFill>
              <a:srgbClr val="00553A"/>
            </a:solidFill>
            <a:prstDash val="solid"/>
          </a:ln>
        </p:spPr>
      </p:sp>
      <p:sp>
        <p:nvSpPr>
          <p:cNvPr id="19" name="Shape 16"/>
          <p:cNvSpPr/>
          <p:nvPr/>
        </p:nvSpPr>
        <p:spPr>
          <a:xfrm>
            <a:off x="548640" y="2011680"/>
            <a:ext cx="3749040" cy="0"/>
          </a:xfrm>
          <a:prstGeom prst="line">
            <a:avLst/>
          </a:prstGeom>
          <a:noFill/>
          <a:ln w="12700">
            <a:solidFill>
              <a:srgbClr val="5E6964"/>
            </a:solidFill>
            <a:prstDash val="dash"/>
          </a:ln>
        </p:spPr>
      </p:sp>
      <p:sp>
        <p:nvSpPr>
          <p:cNvPr id="20" name="Shape 17"/>
          <p:cNvSpPr/>
          <p:nvPr/>
        </p:nvSpPr>
        <p:spPr>
          <a:xfrm>
            <a:off x="1828800" y="1965960"/>
            <a:ext cx="1143000" cy="109728"/>
          </a:xfrm>
          <a:prstGeom prst="line">
            <a:avLst/>
          </a:prstGeom>
          <a:noFill/>
          <a:ln w="12700">
            <a:solidFill>
              <a:srgbClr val="0E7C86"/>
            </a:solidFill>
            <a:prstDash val="sysDot"/>
          </a:ln>
        </p:spPr>
      </p:sp>
      <p:sp>
        <p:nvSpPr>
          <p:cNvPr id="21" name="Text 18"/>
          <p:cNvSpPr txBox="1"/>
          <p:nvPr/>
        </p:nvSpPr>
        <p:spPr>
          <a:xfrm>
            <a:off x="548640" y="1691640"/>
            <a:ext cx="182880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baseline (12 months before)</a:t>
            </a:r>
            <a:endParaRPr lang="en-US" sz="950" dirty="0"/>
          </a:p>
        </p:txBody>
      </p:sp>
      <p:sp>
        <p:nvSpPr>
          <p:cNvPr id="22" name="Text 19"/>
          <p:cNvSpPr txBox="1"/>
          <p:nvPr/>
        </p:nvSpPr>
        <p:spPr>
          <a:xfrm>
            <a:off x="2331720" y="3200400"/>
            <a:ext cx="731520" cy="256032"/>
          </a:xfrm>
          <a:prstGeom prst="rect">
            <a:avLst/>
          </a:prstGeom>
          <a:noFill/>
          <a:ln/>
        </p:spPr>
        <p:txBody>
          <a:bodyPr wrap="square" lIns="0" tIns="0" rIns="0" bIns="0" rtlCol="0" anchor="t"/>
          <a:lstStyle/>
          <a:p>
            <a:pPr indent="0" marL="0">
              <a:buNone/>
            </a:pPr>
            <a:r>
              <a:rPr lang="en-US" sz="1000" b="1" dirty="0">
                <a:solidFill>
                  <a:srgbClr val="B83B2E"/>
                </a:solidFill>
                <a:latin typeface="Calibri" pitchFamily="34" charset="0"/>
                <a:ea typeface="Calibri" pitchFamily="34" charset="-122"/>
                <a:cs typeface="Calibri" pitchFamily="34" charset="-120"/>
              </a:rPr>
              <a:t>trough</a:t>
            </a:r>
            <a:endParaRPr lang="en-US" sz="1000" dirty="0"/>
          </a:p>
        </p:txBody>
      </p:sp>
      <p:sp>
        <p:nvSpPr>
          <p:cNvPr id="23" name="Text 20"/>
          <p:cNvSpPr txBox="1"/>
          <p:nvPr/>
        </p:nvSpPr>
        <p:spPr>
          <a:xfrm>
            <a:off x="3429000" y="2194560"/>
            <a:ext cx="1005840" cy="256032"/>
          </a:xfrm>
          <a:prstGeom prst="rect">
            <a:avLst/>
          </a:prstGeom>
          <a:noFill/>
          <a:ln/>
        </p:spPr>
        <p:txBody>
          <a:bodyPr wrap="square" lIns="0" tIns="0" rIns="0" bIns="0" rtlCol="0" anchor="t"/>
          <a:lstStyle/>
          <a:p>
            <a:pPr indent="0" marL="0">
              <a:buNone/>
            </a:pPr>
            <a:r>
              <a:rPr lang="en-US" sz="1000" b="1" dirty="0">
                <a:solidFill>
                  <a:srgbClr val="00A86A"/>
                </a:solidFill>
                <a:latin typeface="Calibri" pitchFamily="34" charset="0"/>
                <a:ea typeface="Calibri" pitchFamily="34" charset="-122"/>
                <a:cs typeface="Calibri" pitchFamily="34" charset="-120"/>
              </a:rPr>
              <a:t>recovery</a:t>
            </a:r>
            <a:endParaRPr lang="en-US" sz="1000" dirty="0"/>
          </a:p>
        </p:txBody>
      </p:sp>
      <p:sp>
        <p:nvSpPr>
          <p:cNvPr id="24" name="Text 21"/>
          <p:cNvSpPr txBox="1"/>
          <p:nvPr/>
        </p:nvSpPr>
        <p:spPr>
          <a:xfrm>
            <a:off x="1828800" y="1463040"/>
            <a:ext cx="1143000" cy="256032"/>
          </a:xfrm>
          <a:prstGeom prst="rect">
            <a:avLst/>
          </a:prstGeom>
          <a:noFill/>
          <a:ln/>
        </p:spPr>
        <p:txBody>
          <a:bodyPr wrap="square" lIns="0" tIns="0" rIns="0" bIns="0" rtlCol="0" anchor="t"/>
          <a:lstStyle/>
          <a:p>
            <a:pPr algn="ctr" indent="0" marL="0">
              <a:buNone/>
            </a:pPr>
            <a:r>
              <a:rPr lang="en-US" sz="1000" b="1" dirty="0">
                <a:solidFill>
                  <a:srgbClr val="D49A00"/>
                </a:solidFill>
                <a:latin typeface="Calibri" pitchFamily="34" charset="0"/>
                <a:ea typeface="Calibri" pitchFamily="34" charset="-122"/>
                <a:cs typeface="Calibri" pitchFamily="34" charset="-120"/>
              </a:rPr>
              <a:t>event</a:t>
            </a:r>
            <a:endParaRPr lang="en-US" sz="1000" dirty="0"/>
          </a:p>
        </p:txBody>
      </p:sp>
      <p:sp>
        <p:nvSpPr>
          <p:cNvPr id="25" name="Text 22"/>
          <p:cNvSpPr txBox="1"/>
          <p:nvPr/>
        </p:nvSpPr>
        <p:spPr>
          <a:xfrm>
            <a:off x="548640" y="3657600"/>
            <a:ext cx="3840480" cy="27432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Schematic: seasonally adjusted series around an event</a:t>
            </a:r>
            <a:endParaRPr lang="en-US" sz="950" dirty="0"/>
          </a:p>
        </p:txBody>
      </p:sp>
      <p:sp>
        <p:nvSpPr>
          <p:cNvPr id="26" name="Text 23"/>
          <p:cNvSpPr txBox="1"/>
          <p:nvPr/>
        </p:nvSpPr>
        <p:spPr>
          <a:xfrm>
            <a:off x="548640" y="3977640"/>
            <a:ext cx="384048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DATA USED</a:t>
            </a:r>
            <a:endParaRPr lang="en-US" sz="900" dirty="0"/>
          </a:p>
        </p:txBody>
      </p:sp>
      <p:sp>
        <p:nvSpPr>
          <p:cNvPr id="27" name="Text 24"/>
          <p:cNvSpPr txBox="1"/>
          <p:nvPr/>
        </p:nvSpPr>
        <p:spPr>
          <a:xfrm>
            <a:off x="548640" y="4206240"/>
            <a:ext cx="3931920"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Seasonally adjusted monthly VNL (S1) · daily Black Marble VNP46A2 · catalogue: COVID-19, CUSTOM_EVENTS, ACLED / EM-DAT</a:t>
            </a:r>
            <a:endParaRPr lang="en-US" sz="950" dirty="0"/>
          </a:p>
        </p:txBody>
      </p:sp>
      <p:sp>
        <p:nvSpPr>
          <p:cNvPr id="28" name="Text 25"/>
          <p:cNvSpPr txBox="1"/>
          <p:nvPr/>
        </p:nvSpPr>
        <p:spPr>
          <a:xfrm>
            <a:off x="4663440" y="1325880"/>
            <a:ext cx="10972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METRIC</a:t>
            </a:r>
            <a:endParaRPr lang="en-US" sz="900" dirty="0"/>
          </a:p>
        </p:txBody>
      </p:sp>
      <p:sp>
        <p:nvSpPr>
          <p:cNvPr id="29" name="Text 26"/>
          <p:cNvSpPr txBox="1"/>
          <p:nvPr/>
        </p:nvSpPr>
        <p:spPr>
          <a:xfrm>
            <a:off x="5852160" y="1325880"/>
            <a:ext cx="16002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FORMULA</a:t>
            </a:r>
            <a:endParaRPr lang="en-US" sz="900" dirty="0"/>
          </a:p>
        </p:txBody>
      </p:sp>
      <p:sp>
        <p:nvSpPr>
          <p:cNvPr id="30" name="Text 27"/>
          <p:cNvSpPr txBox="1"/>
          <p:nvPr/>
        </p:nvSpPr>
        <p:spPr>
          <a:xfrm>
            <a:off x="7543800" y="1325880"/>
            <a:ext cx="11430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READING</a:t>
            </a:r>
            <a:endParaRPr lang="en-US" sz="900" dirty="0"/>
          </a:p>
        </p:txBody>
      </p:sp>
      <p:sp>
        <p:nvSpPr>
          <p:cNvPr id="31" name="Shape 28"/>
          <p:cNvSpPr/>
          <p:nvPr/>
        </p:nvSpPr>
        <p:spPr>
          <a:xfrm>
            <a:off x="4572000" y="1581912"/>
            <a:ext cx="4114800" cy="603504"/>
          </a:xfrm>
          <a:prstGeom prst="roundRect">
            <a:avLst>
              <a:gd name="adj" fmla="val 7576"/>
            </a:avLst>
          </a:prstGeom>
          <a:solidFill>
            <a:srgbClr val="F4F7F5"/>
          </a:solidFill>
          <a:ln w="6350">
            <a:solidFill>
              <a:srgbClr val="D5DED9"/>
            </a:solidFill>
            <a:prstDash val="solid"/>
          </a:ln>
        </p:spPr>
      </p:sp>
      <p:sp>
        <p:nvSpPr>
          <p:cNvPr id="32" name="Text 29"/>
          <p:cNvSpPr txBox="1"/>
          <p:nvPr/>
        </p:nvSpPr>
        <p:spPr>
          <a:xfrm>
            <a:off x="4663440" y="1581912"/>
            <a:ext cx="1051560" cy="603504"/>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Trough %</a:t>
            </a:r>
            <a:endParaRPr lang="en-US" sz="950" dirty="0"/>
          </a:p>
        </p:txBody>
      </p:sp>
      <p:sp>
        <p:nvSpPr>
          <p:cNvPr id="33" name="Text 30"/>
          <p:cNvSpPr txBox="1"/>
          <p:nvPr/>
        </p:nvSpPr>
        <p:spPr>
          <a:xfrm>
            <a:off x="5760720" y="1581912"/>
            <a:ext cx="1600200" cy="603504"/>
          </a:xfrm>
          <a:prstGeom prst="rect">
            <a:avLst/>
          </a:prstGeom>
          <a:noFill/>
          <a:ln/>
        </p:spPr>
        <p:txBody>
          <a:bodyPr wrap="square" lIns="0" tIns="0" rIns="0" bIns="0" rtlCol="0" anchor="ctr"/>
          <a:lstStyle/>
          <a:p>
            <a:pPr indent="0" marL="0">
              <a:buNone/>
            </a:pPr>
            <a:r>
              <a:rPr lang="en-US" sz="900" dirty="0">
                <a:solidFill>
                  <a:srgbClr val="0E7C86"/>
                </a:solidFill>
                <a:latin typeface="Calibri" pitchFamily="34" charset="0"/>
                <a:ea typeface="Calibri" pitchFamily="34" charset="-122"/>
                <a:cs typeface="Calibri" pitchFamily="34" charset="-120"/>
              </a:rPr>
              <a:t>100·(exp(min SA − baseline) − 1)</a:t>
            </a:r>
            <a:endParaRPr lang="en-US" sz="900" dirty="0"/>
          </a:p>
        </p:txBody>
      </p:sp>
      <p:sp>
        <p:nvSpPr>
          <p:cNvPr id="34" name="Text 31"/>
          <p:cNvSpPr txBox="1"/>
          <p:nvPr/>
        </p:nvSpPr>
        <p:spPr>
          <a:xfrm>
            <a:off x="7452360" y="1581912"/>
            <a:ext cx="1143000" cy="603504"/>
          </a:xfrm>
          <a:prstGeom prst="rect">
            <a:avLst/>
          </a:prstGeom>
          <a:noFill/>
          <a:ln/>
        </p:spPr>
        <p:txBody>
          <a:bodyPr wrap="square" lIns="0" tIns="0" rIns="0" bIns="0" rtlCol="0" anchor="ctr"/>
          <a:lstStyle/>
          <a:p>
            <a:pPr indent="0" marL="0">
              <a:buNone/>
            </a:pPr>
            <a:r>
              <a:rPr lang="en-US" sz="850" dirty="0">
                <a:solidFill>
                  <a:srgbClr val="5E6964"/>
                </a:solidFill>
                <a:latin typeface="Calibri" pitchFamily="34" charset="0"/>
                <a:ea typeface="Calibri" pitchFamily="34" charset="-122"/>
                <a:cs typeface="Calibri" pitchFamily="34" charset="-120"/>
              </a:rPr>
              <a:t>Depth of the fall</a:t>
            </a:r>
            <a:endParaRPr lang="en-US" sz="850" dirty="0"/>
          </a:p>
        </p:txBody>
      </p:sp>
      <p:sp>
        <p:nvSpPr>
          <p:cNvPr id="35" name="Shape 32"/>
          <p:cNvSpPr/>
          <p:nvPr/>
        </p:nvSpPr>
        <p:spPr>
          <a:xfrm>
            <a:off x="4572000" y="2240280"/>
            <a:ext cx="4114800" cy="603504"/>
          </a:xfrm>
          <a:prstGeom prst="roundRect">
            <a:avLst>
              <a:gd name="adj" fmla="val 7576"/>
            </a:avLst>
          </a:prstGeom>
          <a:solidFill>
            <a:srgbClr val="FFFFFF"/>
          </a:solidFill>
          <a:ln w="6350">
            <a:solidFill>
              <a:srgbClr val="D5DED9"/>
            </a:solidFill>
            <a:prstDash val="solid"/>
          </a:ln>
        </p:spPr>
      </p:sp>
      <p:sp>
        <p:nvSpPr>
          <p:cNvPr id="36" name="Text 33"/>
          <p:cNvSpPr txBox="1"/>
          <p:nvPr/>
        </p:nvSpPr>
        <p:spPr>
          <a:xfrm>
            <a:off x="4663440" y="2240280"/>
            <a:ext cx="1051560" cy="603504"/>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Deviation from trend %</a:t>
            </a:r>
            <a:endParaRPr lang="en-US" sz="950" dirty="0"/>
          </a:p>
        </p:txBody>
      </p:sp>
      <p:sp>
        <p:nvSpPr>
          <p:cNvPr id="37" name="Text 34"/>
          <p:cNvSpPr txBox="1"/>
          <p:nvPr/>
        </p:nvSpPr>
        <p:spPr>
          <a:xfrm>
            <a:off x="5760720" y="2240280"/>
            <a:ext cx="1600200" cy="603504"/>
          </a:xfrm>
          <a:prstGeom prst="rect">
            <a:avLst/>
          </a:prstGeom>
          <a:noFill/>
          <a:ln/>
        </p:spPr>
        <p:txBody>
          <a:bodyPr wrap="square" lIns="0" tIns="0" rIns="0" bIns="0" rtlCol="0" anchor="ctr"/>
          <a:lstStyle/>
          <a:p>
            <a:pPr indent="0" marL="0">
              <a:buNone/>
            </a:pPr>
            <a:r>
              <a:rPr lang="en-US" sz="900" dirty="0">
                <a:solidFill>
                  <a:srgbClr val="0E7C86"/>
                </a:solidFill>
                <a:latin typeface="Calibri" pitchFamily="34" charset="0"/>
                <a:ea typeface="Calibri" pitchFamily="34" charset="-122"/>
                <a:cs typeface="Calibri" pitchFamily="34" charset="-120"/>
              </a:rPr>
              <a:t>mean deviation from the trend of the previous 24 months</a:t>
            </a:r>
            <a:endParaRPr lang="en-US" sz="900" dirty="0"/>
          </a:p>
        </p:txBody>
      </p:sp>
      <p:sp>
        <p:nvSpPr>
          <p:cNvPr id="38" name="Text 35"/>
          <p:cNvSpPr txBox="1"/>
          <p:nvPr/>
        </p:nvSpPr>
        <p:spPr>
          <a:xfrm>
            <a:off x="7452360" y="2240280"/>
            <a:ext cx="1143000" cy="603504"/>
          </a:xfrm>
          <a:prstGeom prst="rect">
            <a:avLst/>
          </a:prstGeom>
          <a:noFill/>
          <a:ln/>
        </p:spPr>
        <p:txBody>
          <a:bodyPr wrap="square" lIns="0" tIns="0" rIns="0" bIns="0" rtlCol="0" anchor="ctr"/>
          <a:lstStyle/>
          <a:p>
            <a:pPr indent="0" marL="0">
              <a:buNone/>
            </a:pPr>
            <a:r>
              <a:rPr lang="en-US" sz="850" dirty="0">
                <a:solidFill>
                  <a:srgbClr val="5E6964"/>
                </a:solidFill>
                <a:latin typeface="Calibri" pitchFamily="34" charset="0"/>
                <a:ea typeface="Calibri" pitchFamily="34" charset="-122"/>
                <a:cs typeface="Calibri" pitchFamily="34" charset="-120"/>
              </a:rPr>
              <a:t>Loss vs the expected path</a:t>
            </a:r>
            <a:endParaRPr lang="en-US" sz="850" dirty="0"/>
          </a:p>
        </p:txBody>
      </p:sp>
      <p:sp>
        <p:nvSpPr>
          <p:cNvPr id="39" name="Shape 36"/>
          <p:cNvSpPr/>
          <p:nvPr/>
        </p:nvSpPr>
        <p:spPr>
          <a:xfrm>
            <a:off x="4572000" y="2898648"/>
            <a:ext cx="4114800" cy="603504"/>
          </a:xfrm>
          <a:prstGeom prst="roundRect">
            <a:avLst>
              <a:gd name="adj" fmla="val 7576"/>
            </a:avLst>
          </a:prstGeom>
          <a:solidFill>
            <a:srgbClr val="F4F7F5"/>
          </a:solidFill>
          <a:ln w="6350">
            <a:solidFill>
              <a:srgbClr val="D5DED9"/>
            </a:solidFill>
            <a:prstDash val="solid"/>
          </a:ln>
        </p:spPr>
      </p:sp>
      <p:sp>
        <p:nvSpPr>
          <p:cNvPr id="40" name="Text 37"/>
          <p:cNvSpPr txBox="1"/>
          <p:nvPr/>
        </p:nvSpPr>
        <p:spPr>
          <a:xfrm>
            <a:off x="4663440" y="2898648"/>
            <a:ext cx="1051560" cy="603504"/>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Recovery month</a:t>
            </a:r>
            <a:endParaRPr lang="en-US" sz="950" dirty="0"/>
          </a:p>
        </p:txBody>
      </p:sp>
      <p:sp>
        <p:nvSpPr>
          <p:cNvPr id="41" name="Text 38"/>
          <p:cNvSpPr txBox="1"/>
          <p:nvPr/>
        </p:nvSpPr>
        <p:spPr>
          <a:xfrm>
            <a:off x="5760720" y="2898648"/>
            <a:ext cx="1600200" cy="603504"/>
          </a:xfrm>
          <a:prstGeom prst="rect">
            <a:avLst/>
          </a:prstGeom>
          <a:noFill/>
          <a:ln/>
        </p:spPr>
        <p:txBody>
          <a:bodyPr wrap="square" lIns="0" tIns="0" rIns="0" bIns="0" rtlCol="0" anchor="ctr"/>
          <a:lstStyle/>
          <a:p>
            <a:pPr indent="0" marL="0">
              <a:buNone/>
            </a:pPr>
            <a:r>
              <a:rPr lang="en-US" sz="900" dirty="0">
                <a:solidFill>
                  <a:srgbClr val="0E7C86"/>
                </a:solidFill>
                <a:latin typeface="Calibri" pitchFamily="34" charset="0"/>
                <a:ea typeface="Calibri" pitchFamily="34" charset="-122"/>
                <a:cs typeface="Calibri" pitchFamily="34" charset="-120"/>
              </a:rPr>
              <a:t>first month SA ≥ baseline (≤ 36)</a:t>
            </a:r>
            <a:endParaRPr lang="en-US" sz="900" dirty="0"/>
          </a:p>
        </p:txBody>
      </p:sp>
      <p:sp>
        <p:nvSpPr>
          <p:cNvPr id="42" name="Text 39"/>
          <p:cNvSpPr txBox="1"/>
          <p:nvPr/>
        </p:nvSpPr>
        <p:spPr>
          <a:xfrm>
            <a:off x="7452360" y="2898648"/>
            <a:ext cx="1143000" cy="603504"/>
          </a:xfrm>
          <a:prstGeom prst="rect">
            <a:avLst/>
          </a:prstGeom>
          <a:noFill/>
          <a:ln/>
        </p:spPr>
        <p:txBody>
          <a:bodyPr wrap="square" lIns="0" tIns="0" rIns="0" bIns="0" rtlCol="0" anchor="ctr"/>
          <a:lstStyle/>
          <a:p>
            <a:pPr indent="0" marL="0">
              <a:buNone/>
            </a:pPr>
            <a:r>
              <a:rPr lang="en-US" sz="850" dirty="0">
                <a:solidFill>
                  <a:srgbClr val="5E6964"/>
                </a:solidFill>
                <a:latin typeface="Calibri" pitchFamily="34" charset="0"/>
                <a:ea typeface="Calibri" pitchFamily="34" charset="-122"/>
                <a:cs typeface="Calibri" pitchFamily="34" charset="-120"/>
              </a:rPr>
              <a:t>Speed of recovery; none = not recovered</a:t>
            </a:r>
            <a:endParaRPr lang="en-US" sz="850" dirty="0"/>
          </a:p>
        </p:txBody>
      </p:sp>
      <p:sp>
        <p:nvSpPr>
          <p:cNvPr id="43" name="Shape 40"/>
          <p:cNvSpPr/>
          <p:nvPr/>
        </p:nvSpPr>
        <p:spPr>
          <a:xfrm>
            <a:off x="4572000" y="3557016"/>
            <a:ext cx="4114800" cy="603504"/>
          </a:xfrm>
          <a:prstGeom prst="roundRect">
            <a:avLst>
              <a:gd name="adj" fmla="val 7576"/>
            </a:avLst>
          </a:prstGeom>
          <a:solidFill>
            <a:srgbClr val="FFFFFF"/>
          </a:solidFill>
          <a:ln w="6350">
            <a:solidFill>
              <a:srgbClr val="D5DED9"/>
            </a:solidFill>
            <a:prstDash val="solid"/>
          </a:ln>
        </p:spPr>
      </p:sp>
      <p:sp>
        <p:nvSpPr>
          <p:cNvPr id="44" name="Text 41"/>
          <p:cNvSpPr txBox="1"/>
          <p:nvPr/>
        </p:nvSpPr>
        <p:spPr>
          <a:xfrm>
            <a:off x="4663440" y="3557016"/>
            <a:ext cx="1051560" cy="603504"/>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Placebo test</a:t>
            </a:r>
            <a:endParaRPr lang="en-US" sz="950" dirty="0"/>
          </a:p>
        </p:txBody>
      </p:sp>
      <p:sp>
        <p:nvSpPr>
          <p:cNvPr id="45" name="Text 42"/>
          <p:cNvSpPr txBox="1"/>
          <p:nvPr/>
        </p:nvSpPr>
        <p:spPr>
          <a:xfrm>
            <a:off x="5760720" y="3557016"/>
            <a:ext cx="1600200" cy="603504"/>
          </a:xfrm>
          <a:prstGeom prst="rect">
            <a:avLst/>
          </a:prstGeom>
          <a:noFill/>
          <a:ln/>
        </p:spPr>
        <p:txBody>
          <a:bodyPr wrap="square" lIns="0" tIns="0" rIns="0" bIns="0" rtlCol="0" anchor="ctr"/>
          <a:lstStyle/>
          <a:p>
            <a:pPr indent="0" marL="0">
              <a:buNone/>
            </a:pPr>
            <a:r>
              <a:rPr lang="en-US" sz="900" dirty="0">
                <a:solidFill>
                  <a:srgbClr val="0E7C86"/>
                </a:solidFill>
                <a:latin typeface="Calibri" pitchFamily="34" charset="0"/>
                <a:ea typeface="Calibri" pitchFamily="34" charset="-122"/>
                <a:cs typeface="Calibri" pitchFamily="34" charset="-120"/>
              </a:rPr>
              <a:t>trough &lt; 5th percentile of earlier windows</a:t>
            </a:r>
            <a:endParaRPr lang="en-US" sz="900" dirty="0"/>
          </a:p>
        </p:txBody>
      </p:sp>
      <p:sp>
        <p:nvSpPr>
          <p:cNvPr id="46" name="Text 43"/>
          <p:cNvSpPr txBox="1"/>
          <p:nvPr/>
        </p:nvSpPr>
        <p:spPr>
          <a:xfrm>
            <a:off x="7452360" y="3557016"/>
            <a:ext cx="1143000" cy="603504"/>
          </a:xfrm>
          <a:prstGeom prst="rect">
            <a:avLst/>
          </a:prstGeom>
          <a:noFill/>
          <a:ln/>
        </p:spPr>
        <p:txBody>
          <a:bodyPr wrap="square" lIns="0" tIns="0" rIns="0" bIns="0" rtlCol="0" anchor="ctr"/>
          <a:lstStyle/>
          <a:p>
            <a:pPr indent="0" marL="0">
              <a:buNone/>
            </a:pPr>
            <a:r>
              <a:rPr lang="en-US" sz="850" dirty="0">
                <a:solidFill>
                  <a:srgbClr val="5E6964"/>
                </a:solidFill>
                <a:latin typeface="Calibri" pitchFamily="34" charset="0"/>
                <a:ea typeface="Calibri" pitchFamily="34" charset="-122"/>
                <a:cs typeface="Calibri" pitchFamily="34" charset="-120"/>
              </a:rPr>
              <a:t>Stands out from ordinary noise</a:t>
            </a:r>
            <a:endParaRPr lang="en-US" sz="8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SCENARIO 4</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Shocks: daily zoom and regional impact</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408176"/>
            <a:ext cx="457200" cy="457200"/>
          </a:xfrm>
          <a:prstGeom prst="ellipse">
            <a:avLst/>
          </a:prstGeom>
          <a:solidFill>
            <a:srgbClr val="D49A00">
              <a:alpha val="22000"/>
            </a:srgbClr>
          </a:solidFill>
          <a:ln w="12700">
            <a:solidFill>
              <a:srgbClr val="D49A00">
                <a:alpha val="0"/>
              </a:srgbClr>
            </a:solidFill>
            <a:prstDash val="solid"/>
          </a:ln>
        </p:spPr>
      </p:sp>
      <p:pic>
        <p:nvPicPr>
          <p:cNvPr id="12" name="Image 0" descr="preencoded.png">    </p:cNvPr>
          <p:cNvPicPr>
            <a:picLocks noChangeAspect="1"/>
          </p:cNvPicPr>
          <p:nvPr/>
        </p:nvPicPr>
        <p:blipFill>
          <a:blip r:embed="rId1"/>
          <a:stretch>
            <a:fillRect/>
          </a:stretch>
        </p:blipFill>
        <p:spPr>
          <a:xfrm>
            <a:off x="566928" y="1517904"/>
            <a:ext cx="237744" cy="237744"/>
          </a:xfrm>
          <a:prstGeom prst="rect">
            <a:avLst/>
          </a:prstGeom>
        </p:spPr>
      </p:pic>
      <p:sp>
        <p:nvSpPr>
          <p:cNvPr id="13" name="Text 9"/>
          <p:cNvSpPr txBox="1"/>
          <p:nvPr/>
        </p:nvSpPr>
        <p:spPr>
          <a:xfrm>
            <a:off x="1024128" y="1371600"/>
            <a:ext cx="320040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Keep the good nights</a:t>
            </a:r>
            <a:endParaRPr lang="en-US" sz="1200" dirty="0"/>
          </a:p>
        </p:txBody>
      </p:sp>
      <p:sp>
        <p:nvSpPr>
          <p:cNvPr id="14" name="Text 10"/>
          <p:cNvSpPr txBox="1"/>
          <p:nvPr/>
        </p:nvSpPr>
        <p:spPr>
          <a:xfrm>
            <a:off x="1024128" y="1645920"/>
            <a:ext cx="3200400" cy="43891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Quality flag ∈ {0, 1} · cloud bits 6–7 ≤ 1 · snow-free · pixel lit in the annual product</a:t>
            </a:r>
            <a:endParaRPr lang="en-US" sz="950" dirty="0"/>
          </a:p>
        </p:txBody>
      </p:sp>
      <p:sp>
        <p:nvSpPr>
          <p:cNvPr id="15" name="Shape 11"/>
          <p:cNvSpPr/>
          <p:nvPr/>
        </p:nvSpPr>
        <p:spPr>
          <a:xfrm>
            <a:off x="457200" y="2176272"/>
            <a:ext cx="457200" cy="457200"/>
          </a:xfrm>
          <a:prstGeom prst="ellipse">
            <a:avLst/>
          </a:prstGeom>
          <a:solidFill>
            <a:srgbClr val="D49A00">
              <a:alpha val="22000"/>
            </a:srgbClr>
          </a:solidFill>
          <a:ln w="12700">
            <a:solidFill>
              <a:srgbClr val="D49A00">
                <a:alpha val="0"/>
              </a:srgbClr>
            </a:solidFill>
            <a:prstDash val="solid"/>
          </a:ln>
        </p:spPr>
      </p:sp>
      <p:pic>
        <p:nvPicPr>
          <p:cNvPr id="16" name="Image 1" descr="preencoded.png">    </p:cNvPr>
          <p:cNvPicPr>
            <a:picLocks noChangeAspect="1"/>
          </p:cNvPicPr>
          <p:nvPr/>
        </p:nvPicPr>
        <p:blipFill>
          <a:blip r:embed="rId2"/>
          <a:stretch>
            <a:fillRect/>
          </a:stretch>
        </p:blipFill>
        <p:spPr>
          <a:xfrm>
            <a:off x="566928" y="2286000"/>
            <a:ext cx="237744" cy="237744"/>
          </a:xfrm>
          <a:prstGeom prst="rect">
            <a:avLst/>
          </a:prstGeom>
        </p:spPr>
      </p:pic>
      <p:sp>
        <p:nvSpPr>
          <p:cNvPr id="17" name="Text 12"/>
          <p:cNvSpPr txBox="1"/>
          <p:nvPr/>
        </p:nvSpPr>
        <p:spPr>
          <a:xfrm>
            <a:off x="1024128" y="2139696"/>
            <a:ext cx="320040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Daily sum</a:t>
            </a:r>
            <a:endParaRPr lang="en-US" sz="1200" dirty="0"/>
          </a:p>
        </p:txBody>
      </p:sp>
      <p:sp>
        <p:nvSpPr>
          <p:cNvPr id="18" name="Text 13"/>
          <p:cNvSpPr txBox="1"/>
          <p:nvPr/>
        </p:nvSpPr>
        <p:spPr>
          <a:xfrm>
            <a:off x="1024128" y="2414016"/>
            <a:ext cx="3200400" cy="43891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Day kept if ≥ 50% of pixels observed; SoL scaled to the observed share</a:t>
            </a:r>
            <a:endParaRPr lang="en-US" sz="950" dirty="0"/>
          </a:p>
        </p:txBody>
      </p:sp>
      <p:sp>
        <p:nvSpPr>
          <p:cNvPr id="19" name="Shape 14"/>
          <p:cNvSpPr/>
          <p:nvPr/>
        </p:nvSpPr>
        <p:spPr>
          <a:xfrm>
            <a:off x="457200" y="2944368"/>
            <a:ext cx="457200" cy="457200"/>
          </a:xfrm>
          <a:prstGeom prst="ellipse">
            <a:avLst/>
          </a:prstGeom>
          <a:solidFill>
            <a:srgbClr val="D49A00">
              <a:alpha val="22000"/>
            </a:srgbClr>
          </a:solidFill>
          <a:ln w="12700">
            <a:solidFill>
              <a:srgbClr val="D49A00">
                <a:alpha val="0"/>
              </a:srgbClr>
            </a:solidFill>
            <a:prstDash val="solid"/>
          </a:ln>
        </p:spPr>
      </p:sp>
      <p:pic>
        <p:nvPicPr>
          <p:cNvPr id="20" name="Image 2" descr="preencoded.png">    </p:cNvPr>
          <p:cNvPicPr>
            <a:picLocks noChangeAspect="1"/>
          </p:cNvPicPr>
          <p:nvPr/>
        </p:nvPicPr>
        <p:blipFill>
          <a:blip r:embed="rId3"/>
          <a:stretch>
            <a:fillRect/>
          </a:stretch>
        </p:blipFill>
        <p:spPr>
          <a:xfrm>
            <a:off x="566928" y="3054096"/>
            <a:ext cx="237744" cy="237744"/>
          </a:xfrm>
          <a:prstGeom prst="rect">
            <a:avLst/>
          </a:prstGeom>
        </p:spPr>
      </p:pic>
      <p:sp>
        <p:nvSpPr>
          <p:cNvPr id="21" name="Text 15"/>
          <p:cNvSpPr txBox="1"/>
          <p:nvPr/>
        </p:nvSpPr>
        <p:spPr>
          <a:xfrm>
            <a:off x="1024128" y="2907792"/>
            <a:ext cx="320040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Smooth</a:t>
            </a:r>
            <a:endParaRPr lang="en-US" sz="1200" dirty="0"/>
          </a:p>
        </p:txBody>
      </p:sp>
      <p:sp>
        <p:nvSpPr>
          <p:cNvPr id="22" name="Text 16"/>
          <p:cNvSpPr txBox="1"/>
          <p:nvPr/>
        </p:nvSpPr>
        <p:spPr>
          <a:xfrm>
            <a:off x="1024128" y="3182112"/>
            <a:ext cx="3200400" cy="43891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7-day rolling median: absorbs lunar residuals and cloudy days</a:t>
            </a:r>
            <a:endParaRPr lang="en-US" sz="950" dirty="0"/>
          </a:p>
        </p:txBody>
      </p:sp>
      <p:sp>
        <p:nvSpPr>
          <p:cNvPr id="23" name="Shape 17"/>
          <p:cNvSpPr/>
          <p:nvPr/>
        </p:nvSpPr>
        <p:spPr>
          <a:xfrm>
            <a:off x="457200" y="3712464"/>
            <a:ext cx="457200" cy="457200"/>
          </a:xfrm>
          <a:prstGeom prst="ellipse">
            <a:avLst/>
          </a:prstGeom>
          <a:solidFill>
            <a:srgbClr val="D49A00">
              <a:alpha val="22000"/>
            </a:srgbClr>
          </a:solidFill>
          <a:ln w="12700">
            <a:solidFill>
              <a:srgbClr val="D49A00">
                <a:alpha val="0"/>
              </a:srgbClr>
            </a:solidFill>
            <a:prstDash val="solid"/>
          </a:ln>
        </p:spPr>
      </p:sp>
      <p:pic>
        <p:nvPicPr>
          <p:cNvPr id="24" name="Image 3" descr="preencoded.png">    </p:cNvPr>
          <p:cNvPicPr>
            <a:picLocks noChangeAspect="1"/>
          </p:cNvPicPr>
          <p:nvPr/>
        </p:nvPicPr>
        <p:blipFill>
          <a:blip r:embed="rId4"/>
          <a:stretch>
            <a:fillRect/>
          </a:stretch>
        </p:blipFill>
        <p:spPr>
          <a:xfrm>
            <a:off x="566928" y="3822192"/>
            <a:ext cx="237744" cy="237744"/>
          </a:xfrm>
          <a:prstGeom prst="rect">
            <a:avLst/>
          </a:prstGeom>
        </p:spPr>
      </p:pic>
      <p:sp>
        <p:nvSpPr>
          <p:cNvPr id="25" name="Text 18"/>
          <p:cNvSpPr txBox="1"/>
          <p:nvPr/>
        </p:nvSpPr>
        <p:spPr>
          <a:xfrm>
            <a:off x="1024128" y="3675888"/>
            <a:ext cx="320040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Index</a:t>
            </a:r>
            <a:endParaRPr lang="en-US" sz="1200" dirty="0"/>
          </a:p>
        </p:txBody>
      </p:sp>
      <p:sp>
        <p:nvSpPr>
          <p:cNvPr id="26" name="Text 19"/>
          <p:cNvSpPr txBox="1"/>
          <p:nvPr/>
        </p:nvSpPr>
        <p:spPr>
          <a:xfrm>
            <a:off x="1024128" y="3950208"/>
            <a:ext cx="3200400" cy="43891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100 × SoL / same days 364 days earlier (same weekday)</a:t>
            </a:r>
            <a:endParaRPr lang="en-US" sz="950" dirty="0"/>
          </a:p>
        </p:txBody>
      </p:sp>
      <p:sp>
        <p:nvSpPr>
          <p:cNvPr id="27" name="Shape 20"/>
          <p:cNvSpPr/>
          <p:nvPr/>
        </p:nvSpPr>
        <p:spPr>
          <a:xfrm>
            <a:off x="4526280" y="1371600"/>
            <a:ext cx="4160520" cy="1600200"/>
          </a:xfrm>
          <a:prstGeom prst="roundRect">
            <a:avLst>
              <a:gd name="adj" fmla="val 4571"/>
            </a:avLst>
          </a:prstGeom>
          <a:solidFill>
            <a:srgbClr val="E8F5EF"/>
          </a:solidFill>
          <a:ln w="15875">
            <a:solidFill>
              <a:srgbClr val="D49A00"/>
            </a:solidFill>
            <a:prstDash val="solid"/>
          </a:ln>
        </p:spPr>
      </p:sp>
      <p:sp>
        <p:nvSpPr>
          <p:cNvPr id="28" name="Text 21"/>
          <p:cNvSpPr txBox="1"/>
          <p:nvPr/>
        </p:nvSpPr>
        <p:spPr>
          <a:xfrm>
            <a:off x="4681728" y="1444752"/>
            <a:ext cx="3840480" cy="256032"/>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Reading the daily index</a:t>
            </a:r>
            <a:endParaRPr lang="en-US" sz="1200" dirty="0"/>
          </a:p>
        </p:txBody>
      </p:sp>
      <p:sp>
        <p:nvSpPr>
          <p:cNvPr id="29" name="Text 22"/>
          <p:cNvSpPr txBox="1"/>
          <p:nvPr/>
        </p:nvSpPr>
        <p:spPr>
          <a:xfrm>
            <a:off x="4681728" y="1755648"/>
            <a:ext cx="731520" cy="329184"/>
          </a:xfrm>
          <a:prstGeom prst="rect">
            <a:avLst/>
          </a:prstGeom>
          <a:noFill/>
          <a:ln/>
        </p:spPr>
        <p:txBody>
          <a:bodyPr wrap="square" lIns="0" tIns="0" rIns="0" bIns="0" rtlCol="0" anchor="ctr"/>
          <a:lstStyle/>
          <a:p>
            <a:pPr indent="0" marL="0">
              <a:buNone/>
            </a:pPr>
            <a:r>
              <a:rPr lang="en-US" sz="1500" b="1" dirty="0">
                <a:solidFill>
                  <a:srgbClr val="5E6964"/>
                </a:solidFill>
                <a:latin typeface="Calibri" pitchFamily="34" charset="0"/>
                <a:ea typeface="Calibri" pitchFamily="34" charset="-122"/>
                <a:cs typeface="Calibri" pitchFamily="34" charset="-120"/>
              </a:rPr>
              <a:t>100</a:t>
            </a:r>
            <a:endParaRPr lang="en-US" sz="1500" dirty="0"/>
          </a:p>
        </p:txBody>
      </p:sp>
      <p:sp>
        <p:nvSpPr>
          <p:cNvPr id="30" name="Text 23"/>
          <p:cNvSpPr txBox="1"/>
          <p:nvPr/>
        </p:nvSpPr>
        <p:spPr>
          <a:xfrm>
            <a:off x="5440680" y="1755648"/>
            <a:ext cx="3154680" cy="329184"/>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same activity as a year earlier</a:t>
            </a:r>
            <a:endParaRPr lang="en-US" sz="1000" dirty="0"/>
          </a:p>
        </p:txBody>
      </p:sp>
      <p:sp>
        <p:nvSpPr>
          <p:cNvPr id="31" name="Text 24"/>
          <p:cNvSpPr txBox="1"/>
          <p:nvPr/>
        </p:nvSpPr>
        <p:spPr>
          <a:xfrm>
            <a:off x="4681728" y="2139696"/>
            <a:ext cx="731520" cy="329184"/>
          </a:xfrm>
          <a:prstGeom prst="rect">
            <a:avLst/>
          </a:prstGeom>
          <a:noFill/>
          <a:ln/>
        </p:spPr>
        <p:txBody>
          <a:bodyPr wrap="square" lIns="0" tIns="0" rIns="0" bIns="0" rtlCol="0" anchor="ctr"/>
          <a:lstStyle/>
          <a:p>
            <a:pPr indent="0" marL="0">
              <a:buNone/>
            </a:pPr>
            <a:r>
              <a:rPr lang="en-US" sz="1500" b="1" dirty="0">
                <a:solidFill>
                  <a:srgbClr val="B83B2E"/>
                </a:solidFill>
                <a:latin typeface="Calibri" pitchFamily="34" charset="0"/>
                <a:ea typeface="Calibri" pitchFamily="34" charset="-122"/>
                <a:cs typeface="Calibri" pitchFamily="34" charset="-120"/>
              </a:rPr>
              <a:t>&lt; 100</a:t>
            </a:r>
            <a:endParaRPr lang="en-US" sz="1500" dirty="0"/>
          </a:p>
        </p:txBody>
      </p:sp>
      <p:sp>
        <p:nvSpPr>
          <p:cNvPr id="32" name="Text 25"/>
          <p:cNvSpPr txBox="1"/>
          <p:nvPr/>
        </p:nvSpPr>
        <p:spPr>
          <a:xfrm>
            <a:off x="5440680" y="2139696"/>
            <a:ext cx="3154680" cy="329184"/>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activity below last year (outage, lockdown, conflict)</a:t>
            </a:r>
            <a:endParaRPr lang="en-US" sz="1000" dirty="0"/>
          </a:p>
        </p:txBody>
      </p:sp>
      <p:sp>
        <p:nvSpPr>
          <p:cNvPr id="33" name="Text 26"/>
          <p:cNvSpPr txBox="1"/>
          <p:nvPr/>
        </p:nvSpPr>
        <p:spPr>
          <a:xfrm>
            <a:off x="4681728" y="2523744"/>
            <a:ext cx="731520" cy="329184"/>
          </a:xfrm>
          <a:prstGeom prst="rect">
            <a:avLst/>
          </a:prstGeom>
          <a:noFill/>
          <a:ln/>
        </p:spPr>
        <p:txBody>
          <a:bodyPr wrap="square" lIns="0" tIns="0" rIns="0" bIns="0" rtlCol="0" anchor="ctr"/>
          <a:lstStyle/>
          <a:p>
            <a:pPr indent="0" marL="0">
              <a:buNone/>
            </a:pPr>
            <a:r>
              <a:rPr lang="en-US" sz="1500" b="1" dirty="0">
                <a:solidFill>
                  <a:srgbClr val="00A86A"/>
                </a:solidFill>
                <a:latin typeface="Calibri" pitchFamily="34" charset="0"/>
                <a:ea typeface="Calibri" pitchFamily="34" charset="-122"/>
                <a:cs typeface="Calibri" pitchFamily="34" charset="-120"/>
              </a:rPr>
              <a:t>&gt; 100</a:t>
            </a:r>
            <a:endParaRPr lang="en-US" sz="1500" dirty="0"/>
          </a:p>
        </p:txBody>
      </p:sp>
      <p:sp>
        <p:nvSpPr>
          <p:cNvPr id="34" name="Text 27"/>
          <p:cNvSpPr txBox="1"/>
          <p:nvPr/>
        </p:nvSpPr>
        <p:spPr>
          <a:xfrm>
            <a:off x="5440680" y="2523744"/>
            <a:ext cx="3154680" cy="329184"/>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activity above last year (recovery, electrification)</a:t>
            </a:r>
            <a:endParaRPr lang="en-US" sz="1000" dirty="0"/>
          </a:p>
        </p:txBody>
      </p:sp>
      <p:sp>
        <p:nvSpPr>
          <p:cNvPr id="35" name="Shape 28"/>
          <p:cNvSpPr/>
          <p:nvPr/>
        </p:nvSpPr>
        <p:spPr>
          <a:xfrm>
            <a:off x="4526280" y="3108960"/>
            <a:ext cx="4160520" cy="1325880"/>
          </a:xfrm>
          <a:prstGeom prst="roundRect">
            <a:avLst>
              <a:gd name="adj" fmla="val 5517"/>
            </a:avLst>
          </a:prstGeom>
          <a:solidFill>
            <a:srgbClr val="F4F7F5"/>
          </a:solidFill>
          <a:ln w="9525">
            <a:solidFill>
              <a:srgbClr val="D5DED9"/>
            </a:solidFill>
            <a:prstDash val="solid"/>
          </a:ln>
        </p:spPr>
      </p:sp>
      <p:sp>
        <p:nvSpPr>
          <p:cNvPr id="36" name="Text 29"/>
          <p:cNvSpPr txBox="1"/>
          <p:nvPr/>
        </p:nvSpPr>
        <p:spPr>
          <a:xfrm>
            <a:off x="4681728" y="3182112"/>
            <a:ext cx="384048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Regional impact and unexplained breaks</a:t>
            </a:r>
            <a:endParaRPr lang="en-US" sz="1200" dirty="0"/>
          </a:p>
        </p:txBody>
      </p:sp>
      <p:sp>
        <p:nvSpPr>
          <p:cNvPr id="37" name="Text 30"/>
          <p:cNvSpPr txBox="1"/>
          <p:nvPr/>
        </p:nvSpPr>
        <p:spPr>
          <a:xfrm>
            <a:off x="4681728" y="3474720"/>
            <a:ext cx="3886200" cy="914400"/>
          </a:xfrm>
          <a:prstGeom prst="rect">
            <a:avLst/>
          </a:prstGeom>
          <a:noFill/>
          <a:ln/>
        </p:spPr>
        <p:txBody>
          <a:bodyPr wrap="square" lIns="0" tIns="0" rIns="0" bIns="0" rtlCol="0" anchor="t"/>
          <a:lstStyle/>
          <a:p>
            <a:pPr marL="171450" indent="-171450">
              <a:spcAft>
                <a:spcPts val="400"/>
              </a:spcAft>
              <a:buSzPct val="100000"/>
              <a:buChar char="•"/>
            </a:pPr>
            <a:r>
              <a:rPr lang="en-US" sz="1000" dirty="0">
                <a:solidFill>
                  <a:srgbClr val="5E6964"/>
                </a:solidFill>
                <a:latin typeface="Calibri" pitchFamily="34" charset="0"/>
                <a:ea typeface="Calibri" pitchFamily="34" charset="-122"/>
                <a:cs typeface="Calibri" pitchFamily="34" charset="-120"/>
              </a:rPr>
              <a:t>Heat map: trough % by ADM1 × event (−30% → +30%).</a:t>
            </a:r>
            <a:endParaRPr lang="en-US" sz="1000" dirty="0"/>
          </a:p>
          <a:p>
            <a:pPr marL="171450" indent="-171450">
              <a:spcAft>
                <a:spcPts val="400"/>
              </a:spcAft>
              <a:buSzPct val="100000"/>
              <a:buChar char="•"/>
            </a:pPr>
            <a:r>
              <a:rPr lang="en-US" sz="1000" dirty="0">
                <a:solidFill>
                  <a:srgbClr val="5E6964"/>
                </a:solidFill>
                <a:latin typeface="Calibri" pitchFamily="34" charset="0"/>
                <a:ea typeface="Calibri" pitchFamily="34" charset="-122"/>
                <a:cs typeface="Calibri" pitchFamily="34" charset="-120"/>
              </a:rPr>
              <a:t>Breaks with no catalogued event within ±6 months → document before interpreting.</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SCENARIO 5</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Inequality: is light unevenly distributed?</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3429000" cy="960120"/>
          </a:xfrm>
          <a:prstGeom prst="roundRect">
            <a:avLst>
              <a:gd name="adj" fmla="val 7619"/>
            </a:avLst>
          </a:prstGeom>
          <a:solidFill>
            <a:srgbClr val="E8F5EF"/>
          </a:solidFill>
          <a:ln w="15875">
            <a:solidFill>
              <a:srgbClr val="D49A00"/>
            </a:solidFill>
            <a:prstDash val="solid"/>
          </a:ln>
        </p:spPr>
      </p:sp>
      <p:sp>
        <p:nvSpPr>
          <p:cNvPr id="12" name="Text 9"/>
          <p:cNvSpPr txBox="1"/>
          <p:nvPr/>
        </p:nvSpPr>
        <p:spPr>
          <a:xfrm>
            <a:off x="621792" y="1399032"/>
            <a:ext cx="310896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QUESTION</a:t>
            </a:r>
            <a:endParaRPr lang="en-US" sz="900" dirty="0"/>
          </a:p>
        </p:txBody>
      </p:sp>
      <p:sp>
        <p:nvSpPr>
          <p:cNvPr id="13" name="Text 10"/>
          <p:cNvSpPr txBox="1"/>
          <p:nvPr/>
        </p:nvSpPr>
        <p:spPr>
          <a:xfrm>
            <a:off x="621792" y="1627632"/>
            <a:ext cx="3154680" cy="621792"/>
          </a:xfrm>
          <a:prstGeom prst="rect">
            <a:avLst/>
          </a:prstGeom>
          <a:noFill/>
          <a:ln/>
        </p:spPr>
        <p:txBody>
          <a:bodyPr wrap="square" lIns="0" tIns="0" rIns="0" bIns="0" rtlCol="0" anchor="ctr"/>
          <a:lstStyle/>
          <a:p>
            <a:pPr indent="0" marL="0">
              <a:buNone/>
            </a:pPr>
            <a:r>
              <a:rPr lang="en-US" sz="1250" b="1" i="1" dirty="0">
                <a:solidFill>
                  <a:srgbClr val="231F20"/>
                </a:solidFill>
                <a:latin typeface="Calibri" pitchFamily="34" charset="0"/>
                <a:ea typeface="Calibri" pitchFamily="34" charset="-122"/>
                <a:cs typeface="Calibri" pitchFamily="34" charset="-120"/>
              </a:rPr>
              <a:t>Is light per capita concentrated in a few places, and at what level should we act?</a:t>
            </a:r>
            <a:endParaRPr lang="en-US" sz="1250" dirty="0"/>
          </a:p>
        </p:txBody>
      </p:sp>
      <p:sp>
        <p:nvSpPr>
          <p:cNvPr id="14" name="Text 11"/>
          <p:cNvSpPr txBox="1"/>
          <p:nvPr/>
        </p:nvSpPr>
        <p:spPr>
          <a:xfrm>
            <a:off x="457200" y="2395728"/>
            <a:ext cx="338328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DATA USED</a:t>
            </a:r>
            <a:endParaRPr lang="en-US" sz="900" dirty="0"/>
          </a:p>
        </p:txBody>
      </p:sp>
      <p:sp>
        <p:nvSpPr>
          <p:cNvPr id="15" name="Shape 12"/>
          <p:cNvSpPr/>
          <p:nvPr/>
        </p:nvSpPr>
        <p:spPr>
          <a:xfrm>
            <a:off x="457200" y="2670048"/>
            <a:ext cx="347472" cy="347472"/>
          </a:xfrm>
          <a:prstGeom prst="ellipse">
            <a:avLst/>
          </a:prstGeom>
          <a:solidFill>
            <a:srgbClr val="D49A00">
              <a:alpha val="22000"/>
            </a:srgbClr>
          </a:solidFill>
          <a:ln w="12700">
            <a:solidFill>
              <a:srgbClr val="D49A00">
                <a:alpha val="0"/>
              </a:srgbClr>
            </a:solidFill>
            <a:prstDash val="solid"/>
          </a:ln>
        </p:spPr>
      </p:sp>
      <p:pic>
        <p:nvPicPr>
          <p:cNvPr id="16" name="Image 0" descr="preencoded.png">    </p:cNvPr>
          <p:cNvPicPr>
            <a:picLocks noChangeAspect="1"/>
          </p:cNvPicPr>
          <p:nvPr/>
        </p:nvPicPr>
        <p:blipFill>
          <a:blip r:embed="rId1"/>
          <a:stretch>
            <a:fillRect/>
          </a:stretch>
        </p:blipFill>
        <p:spPr>
          <a:xfrm>
            <a:off x="540593" y="2753441"/>
            <a:ext cx="180685" cy="180685"/>
          </a:xfrm>
          <a:prstGeom prst="rect">
            <a:avLst/>
          </a:prstGeom>
        </p:spPr>
      </p:pic>
      <p:sp>
        <p:nvSpPr>
          <p:cNvPr id="17" name="Text 13"/>
          <p:cNvSpPr txBox="1"/>
          <p:nvPr/>
        </p:nvSpPr>
        <p:spPr>
          <a:xfrm>
            <a:off x="896112" y="26517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VIIRS VNL annual</a:t>
            </a:r>
            <a:endParaRPr lang="en-US" sz="1050" dirty="0"/>
          </a:p>
        </p:txBody>
      </p:sp>
      <p:sp>
        <p:nvSpPr>
          <p:cNvPr id="18" name="Text 14"/>
          <p:cNvSpPr txBox="1"/>
          <p:nvPr/>
        </p:nvSpPr>
        <p:spPr>
          <a:xfrm>
            <a:off x="896112" y="28437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SoL by district (finest level)</a:t>
            </a:r>
            <a:endParaRPr lang="en-US" sz="900" dirty="0"/>
          </a:p>
        </p:txBody>
      </p:sp>
      <p:sp>
        <p:nvSpPr>
          <p:cNvPr id="19" name="Shape 15"/>
          <p:cNvSpPr/>
          <p:nvPr/>
        </p:nvSpPr>
        <p:spPr>
          <a:xfrm>
            <a:off x="457200" y="3127248"/>
            <a:ext cx="347472" cy="347472"/>
          </a:xfrm>
          <a:prstGeom prst="ellipse">
            <a:avLst/>
          </a:prstGeom>
          <a:solidFill>
            <a:srgbClr val="D49A00">
              <a:alpha val="22000"/>
            </a:srgbClr>
          </a:solidFill>
          <a:ln w="12700">
            <a:solidFill>
              <a:srgbClr val="D49A00">
                <a:alpha val="0"/>
              </a:srgbClr>
            </a:solidFill>
            <a:prstDash val="solid"/>
          </a:ln>
        </p:spPr>
      </p:sp>
      <p:pic>
        <p:nvPicPr>
          <p:cNvPr id="20" name="Image 1" descr="preencoded.png">    </p:cNvPr>
          <p:cNvPicPr>
            <a:picLocks noChangeAspect="1"/>
          </p:cNvPicPr>
          <p:nvPr/>
        </p:nvPicPr>
        <p:blipFill>
          <a:blip r:embed="rId2"/>
          <a:stretch>
            <a:fillRect/>
          </a:stretch>
        </p:blipFill>
        <p:spPr>
          <a:xfrm>
            <a:off x="540593" y="3210641"/>
            <a:ext cx="180685" cy="180685"/>
          </a:xfrm>
          <a:prstGeom prst="rect">
            <a:avLst/>
          </a:prstGeom>
        </p:spPr>
      </p:pic>
      <p:sp>
        <p:nvSpPr>
          <p:cNvPr id="21" name="Text 16"/>
          <p:cNvSpPr txBox="1"/>
          <p:nvPr/>
        </p:nvSpPr>
        <p:spPr>
          <a:xfrm>
            <a:off x="896112" y="31089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GHS-POP</a:t>
            </a:r>
            <a:endParaRPr lang="en-US" sz="1050" dirty="0"/>
          </a:p>
        </p:txBody>
      </p:sp>
      <p:sp>
        <p:nvSpPr>
          <p:cNvPr id="22" name="Text 17"/>
          <p:cNvSpPr txBox="1"/>
          <p:nvPr/>
        </p:nvSpPr>
        <p:spPr>
          <a:xfrm>
            <a:off x="896112" y="33009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population weights, light per capita</a:t>
            </a:r>
            <a:endParaRPr lang="en-US" sz="900" dirty="0"/>
          </a:p>
        </p:txBody>
      </p:sp>
      <p:sp>
        <p:nvSpPr>
          <p:cNvPr id="23" name="Shape 18"/>
          <p:cNvSpPr/>
          <p:nvPr/>
        </p:nvSpPr>
        <p:spPr>
          <a:xfrm>
            <a:off x="457200" y="3584448"/>
            <a:ext cx="347472" cy="347472"/>
          </a:xfrm>
          <a:prstGeom prst="ellipse">
            <a:avLst/>
          </a:prstGeom>
          <a:solidFill>
            <a:srgbClr val="D49A00">
              <a:alpha val="22000"/>
            </a:srgbClr>
          </a:solidFill>
          <a:ln w="12700">
            <a:solidFill>
              <a:srgbClr val="D49A00">
                <a:alpha val="0"/>
              </a:srgbClr>
            </a:solidFill>
            <a:prstDash val="solid"/>
          </a:ln>
        </p:spPr>
      </p:sp>
      <p:pic>
        <p:nvPicPr>
          <p:cNvPr id="24" name="Image 2" descr="preencoded.png">    </p:cNvPr>
          <p:cNvPicPr>
            <a:picLocks noChangeAspect="1"/>
          </p:cNvPicPr>
          <p:nvPr/>
        </p:nvPicPr>
        <p:blipFill>
          <a:blip r:embed="rId3"/>
          <a:stretch>
            <a:fillRect/>
          </a:stretch>
        </p:blipFill>
        <p:spPr>
          <a:xfrm>
            <a:off x="540593" y="3667841"/>
            <a:ext cx="180685" cy="180685"/>
          </a:xfrm>
          <a:prstGeom prst="rect">
            <a:avLst/>
          </a:prstGeom>
        </p:spPr>
      </p:pic>
      <p:sp>
        <p:nvSpPr>
          <p:cNvPr id="25" name="Text 19"/>
          <p:cNvSpPr txBox="1"/>
          <p:nvPr/>
        </p:nvSpPr>
        <p:spPr>
          <a:xfrm>
            <a:off x="896112" y="35661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GHS-SMOD</a:t>
            </a:r>
            <a:endParaRPr lang="en-US" sz="1050" dirty="0"/>
          </a:p>
        </p:txBody>
      </p:sp>
      <p:sp>
        <p:nvSpPr>
          <p:cNvPr id="26" name="Text 20"/>
          <p:cNvSpPr txBox="1"/>
          <p:nvPr/>
        </p:nvSpPr>
        <p:spPr>
          <a:xfrm>
            <a:off x="896112" y="37581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urban if code ≥ 21</a:t>
            </a:r>
            <a:endParaRPr lang="en-US" sz="900" dirty="0"/>
          </a:p>
        </p:txBody>
      </p:sp>
      <p:sp>
        <p:nvSpPr>
          <p:cNvPr id="27" name="Text 21"/>
          <p:cNvSpPr txBox="1"/>
          <p:nvPr/>
        </p:nvSpPr>
        <p:spPr>
          <a:xfrm>
            <a:off x="4206240" y="1325880"/>
            <a:ext cx="448056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METHOD, STEP BY STEP</a:t>
            </a:r>
            <a:endParaRPr lang="en-US" sz="900" dirty="0"/>
          </a:p>
        </p:txBody>
      </p:sp>
      <p:sp>
        <p:nvSpPr>
          <p:cNvPr id="28" name="Shape 22"/>
          <p:cNvSpPr/>
          <p:nvPr/>
        </p:nvSpPr>
        <p:spPr>
          <a:xfrm>
            <a:off x="4206240" y="1645920"/>
            <a:ext cx="329184" cy="329184"/>
          </a:xfrm>
          <a:prstGeom prst="ellipse">
            <a:avLst/>
          </a:prstGeom>
          <a:solidFill>
            <a:srgbClr val="D49A00"/>
          </a:solidFill>
          <a:ln w="12700">
            <a:solidFill>
              <a:srgbClr val="D49A00"/>
            </a:solidFill>
            <a:prstDash val="solid"/>
          </a:ln>
        </p:spPr>
      </p:sp>
      <p:sp>
        <p:nvSpPr>
          <p:cNvPr id="29" name="Text 23"/>
          <p:cNvSpPr txBox="1"/>
          <p:nvPr/>
        </p:nvSpPr>
        <p:spPr>
          <a:xfrm>
            <a:off x="4206240" y="16459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0" name="Shape 24"/>
          <p:cNvSpPr/>
          <p:nvPr/>
        </p:nvSpPr>
        <p:spPr>
          <a:xfrm>
            <a:off x="4370832" y="1993392"/>
            <a:ext cx="0" cy="237744"/>
          </a:xfrm>
          <a:prstGeom prst="line">
            <a:avLst/>
          </a:prstGeom>
          <a:noFill/>
          <a:ln w="15875">
            <a:solidFill>
              <a:srgbClr val="D5DED9"/>
            </a:solidFill>
            <a:prstDash val="solid"/>
          </a:ln>
        </p:spPr>
      </p:sp>
      <p:sp>
        <p:nvSpPr>
          <p:cNvPr id="31" name="Text 25"/>
          <p:cNvSpPr txBox="1"/>
          <p:nvPr/>
        </p:nvSpPr>
        <p:spPr>
          <a:xfrm>
            <a:off x="4663440" y="1627632"/>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Light per capita by district</a:t>
            </a:r>
            <a:endParaRPr lang="en-US" sz="1150" dirty="0"/>
          </a:p>
        </p:txBody>
      </p:sp>
      <p:sp>
        <p:nvSpPr>
          <p:cNvPr id="32" name="Text 26"/>
          <p:cNvSpPr txBox="1"/>
          <p:nvPr/>
        </p:nvSpPr>
        <p:spPr>
          <a:xfrm>
            <a:off x="4663440" y="1847088"/>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xᵢ = SoLᵢ / popᵢ, weights wᵢ = popᵢ</a:t>
            </a:r>
            <a:endParaRPr lang="en-US" sz="950" dirty="0"/>
          </a:p>
        </p:txBody>
      </p:sp>
      <p:sp>
        <p:nvSpPr>
          <p:cNvPr id="33" name="Shape 27"/>
          <p:cNvSpPr/>
          <p:nvPr/>
        </p:nvSpPr>
        <p:spPr>
          <a:xfrm>
            <a:off x="4206240" y="2249424"/>
            <a:ext cx="329184" cy="329184"/>
          </a:xfrm>
          <a:prstGeom prst="ellipse">
            <a:avLst/>
          </a:prstGeom>
          <a:solidFill>
            <a:srgbClr val="D49A00"/>
          </a:solidFill>
          <a:ln w="12700">
            <a:solidFill>
              <a:srgbClr val="D49A00"/>
            </a:solidFill>
            <a:prstDash val="solid"/>
          </a:ln>
        </p:spPr>
      </p:sp>
      <p:sp>
        <p:nvSpPr>
          <p:cNvPr id="34" name="Text 28"/>
          <p:cNvSpPr txBox="1"/>
          <p:nvPr/>
        </p:nvSpPr>
        <p:spPr>
          <a:xfrm>
            <a:off x="4206240" y="22494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Shape 29"/>
          <p:cNvSpPr/>
          <p:nvPr/>
        </p:nvSpPr>
        <p:spPr>
          <a:xfrm>
            <a:off x="4370832" y="2596896"/>
            <a:ext cx="0" cy="237744"/>
          </a:xfrm>
          <a:prstGeom prst="line">
            <a:avLst/>
          </a:prstGeom>
          <a:noFill/>
          <a:ln w="15875">
            <a:solidFill>
              <a:srgbClr val="D5DED9"/>
            </a:solidFill>
            <a:prstDash val="solid"/>
          </a:ln>
        </p:spPr>
      </p:sp>
      <p:sp>
        <p:nvSpPr>
          <p:cNvPr id="36" name="Text 30"/>
          <p:cNvSpPr txBox="1"/>
          <p:nvPr/>
        </p:nvSpPr>
        <p:spPr>
          <a:xfrm>
            <a:off x="4663440" y="2231136"/>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Gini and Lorenz curve</a:t>
            </a:r>
            <a:endParaRPr lang="en-US" sz="1150" dirty="0"/>
          </a:p>
        </p:txBody>
      </p:sp>
      <p:sp>
        <p:nvSpPr>
          <p:cNvPr id="37" name="Text 31"/>
          <p:cNvSpPr txBox="1"/>
          <p:nvPr/>
        </p:nvSpPr>
        <p:spPr>
          <a:xfrm>
            <a:off x="4663440" y="2450592"/>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Cumulative population share vs cumulative light share</a:t>
            </a:r>
            <a:endParaRPr lang="en-US" sz="950" dirty="0"/>
          </a:p>
        </p:txBody>
      </p:sp>
      <p:sp>
        <p:nvSpPr>
          <p:cNvPr id="38" name="Shape 32"/>
          <p:cNvSpPr/>
          <p:nvPr/>
        </p:nvSpPr>
        <p:spPr>
          <a:xfrm>
            <a:off x="4206240" y="2852928"/>
            <a:ext cx="329184" cy="329184"/>
          </a:xfrm>
          <a:prstGeom prst="ellipse">
            <a:avLst/>
          </a:prstGeom>
          <a:solidFill>
            <a:srgbClr val="D49A00"/>
          </a:solidFill>
          <a:ln w="12700">
            <a:solidFill>
              <a:srgbClr val="D49A00"/>
            </a:solidFill>
            <a:prstDash val="solid"/>
          </a:ln>
        </p:spPr>
      </p:sp>
      <p:sp>
        <p:nvSpPr>
          <p:cNvPr id="39" name="Text 33"/>
          <p:cNvSpPr txBox="1"/>
          <p:nvPr/>
        </p:nvSpPr>
        <p:spPr>
          <a:xfrm>
            <a:off x="4206240" y="28529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0" name="Shape 34"/>
          <p:cNvSpPr/>
          <p:nvPr/>
        </p:nvSpPr>
        <p:spPr>
          <a:xfrm>
            <a:off x="4370832" y="3200400"/>
            <a:ext cx="0" cy="237744"/>
          </a:xfrm>
          <a:prstGeom prst="line">
            <a:avLst/>
          </a:prstGeom>
          <a:noFill/>
          <a:ln w="15875">
            <a:solidFill>
              <a:srgbClr val="D5DED9"/>
            </a:solidFill>
            <a:prstDash val="solid"/>
          </a:ln>
        </p:spPr>
      </p:sp>
      <p:sp>
        <p:nvSpPr>
          <p:cNvPr id="41" name="Text 35"/>
          <p:cNvSpPr txBox="1"/>
          <p:nvPr/>
        </p:nvSpPr>
        <p:spPr>
          <a:xfrm>
            <a:off x="4663440" y="2834640"/>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Theil T and its decomposition</a:t>
            </a:r>
            <a:endParaRPr lang="en-US" sz="1150" dirty="0"/>
          </a:p>
        </p:txBody>
      </p:sp>
      <p:sp>
        <p:nvSpPr>
          <p:cNvPr id="42" name="Text 36"/>
          <p:cNvSpPr txBox="1"/>
          <p:nvPr/>
        </p:nvSpPr>
        <p:spPr>
          <a:xfrm>
            <a:off x="4663440" y="3054096"/>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 = between regions (ADM1) + within regions</a:t>
            </a:r>
            <a:endParaRPr lang="en-US" sz="950" dirty="0"/>
          </a:p>
        </p:txBody>
      </p:sp>
      <p:sp>
        <p:nvSpPr>
          <p:cNvPr id="43" name="Shape 37"/>
          <p:cNvSpPr/>
          <p:nvPr/>
        </p:nvSpPr>
        <p:spPr>
          <a:xfrm>
            <a:off x="4206240" y="3456432"/>
            <a:ext cx="329184" cy="329184"/>
          </a:xfrm>
          <a:prstGeom prst="ellipse">
            <a:avLst/>
          </a:prstGeom>
          <a:solidFill>
            <a:srgbClr val="D49A00"/>
          </a:solidFill>
          <a:ln w="12700">
            <a:solidFill>
              <a:srgbClr val="D49A00"/>
            </a:solidFill>
            <a:prstDash val="solid"/>
          </a:ln>
        </p:spPr>
      </p:sp>
      <p:sp>
        <p:nvSpPr>
          <p:cNvPr id="44" name="Text 38"/>
          <p:cNvSpPr txBox="1"/>
          <p:nvPr/>
        </p:nvSpPr>
        <p:spPr>
          <a:xfrm>
            <a:off x="4206240" y="34564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5" name="Shape 39"/>
          <p:cNvSpPr/>
          <p:nvPr/>
        </p:nvSpPr>
        <p:spPr>
          <a:xfrm>
            <a:off x="4370832" y="3803904"/>
            <a:ext cx="0" cy="237744"/>
          </a:xfrm>
          <a:prstGeom prst="line">
            <a:avLst/>
          </a:prstGeom>
          <a:noFill/>
          <a:ln w="15875">
            <a:solidFill>
              <a:srgbClr val="D5DED9"/>
            </a:solidFill>
            <a:prstDash val="solid"/>
          </a:ln>
        </p:spPr>
      </p:sp>
      <p:sp>
        <p:nvSpPr>
          <p:cNvPr id="46" name="Text 40"/>
          <p:cNvSpPr txBox="1"/>
          <p:nvPr/>
        </p:nvSpPr>
        <p:spPr>
          <a:xfrm>
            <a:off x="4663440" y="3438144"/>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Change and its uncertainty</a:t>
            </a:r>
            <a:endParaRPr lang="en-US" sz="1150" dirty="0"/>
          </a:p>
        </p:txBody>
      </p:sp>
      <p:sp>
        <p:nvSpPr>
          <p:cNvPr id="47" name="Text 41"/>
          <p:cNvSpPr txBox="1"/>
          <p:nvPr/>
        </p:nvSpPr>
        <p:spPr>
          <a:xfrm>
            <a:off x="4663440" y="3657600"/>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ΔGini first → last year, 300 paired bootstrap draws, 95% CI</a:t>
            </a:r>
            <a:endParaRPr lang="en-US" sz="950" dirty="0"/>
          </a:p>
        </p:txBody>
      </p:sp>
      <p:sp>
        <p:nvSpPr>
          <p:cNvPr id="48" name="Shape 42"/>
          <p:cNvSpPr/>
          <p:nvPr/>
        </p:nvSpPr>
        <p:spPr>
          <a:xfrm>
            <a:off x="4206240" y="4059936"/>
            <a:ext cx="329184" cy="329184"/>
          </a:xfrm>
          <a:prstGeom prst="ellipse">
            <a:avLst/>
          </a:prstGeom>
          <a:solidFill>
            <a:srgbClr val="D49A00"/>
          </a:solidFill>
          <a:ln w="12700">
            <a:solidFill>
              <a:srgbClr val="D49A00"/>
            </a:solidFill>
            <a:prstDash val="solid"/>
          </a:ln>
        </p:spPr>
      </p:sp>
      <p:sp>
        <p:nvSpPr>
          <p:cNvPr id="49" name="Text 43"/>
          <p:cNvSpPr txBox="1"/>
          <p:nvPr/>
        </p:nvSpPr>
        <p:spPr>
          <a:xfrm>
            <a:off x="4206240" y="405993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0" name="Text 44"/>
          <p:cNvSpPr txBox="1"/>
          <p:nvPr/>
        </p:nvSpPr>
        <p:spPr>
          <a:xfrm>
            <a:off x="4663440" y="4041648"/>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Urban / rural gap</a:t>
            </a:r>
            <a:endParaRPr lang="en-US" sz="1150" dirty="0"/>
          </a:p>
        </p:txBody>
      </p:sp>
      <p:sp>
        <p:nvSpPr>
          <p:cNvPr id="51" name="Text 45"/>
          <p:cNvSpPr txBox="1"/>
          <p:nvPr/>
        </p:nvSpPr>
        <p:spPr>
          <a:xfrm>
            <a:off x="4663440" y="4261104"/>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Urban / rural light per capita</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SCENARIO 5</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Population in the dark and electricity access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53312"/>
            <a:ext cx="17830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METRIC</a:t>
            </a:r>
            <a:endParaRPr lang="en-US" sz="900" dirty="0"/>
          </a:p>
        </p:txBody>
      </p:sp>
      <p:sp>
        <p:nvSpPr>
          <p:cNvPr id="12" name="Text 9"/>
          <p:cNvSpPr txBox="1"/>
          <p:nvPr/>
        </p:nvSpPr>
        <p:spPr>
          <a:xfrm>
            <a:off x="2423160" y="1353312"/>
            <a:ext cx="2971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DEFINITION / FORMULA</a:t>
            </a:r>
            <a:endParaRPr lang="en-US" sz="900" dirty="0"/>
          </a:p>
        </p:txBody>
      </p:sp>
      <p:sp>
        <p:nvSpPr>
          <p:cNvPr id="13" name="Text 10"/>
          <p:cNvSpPr txBox="1"/>
          <p:nvPr/>
        </p:nvSpPr>
        <p:spPr>
          <a:xfrm>
            <a:off x="5486400" y="1353312"/>
            <a:ext cx="32004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HOW TO READ IT</a:t>
            </a:r>
            <a:endParaRPr lang="en-US" sz="900" dirty="0"/>
          </a:p>
        </p:txBody>
      </p:sp>
      <p:sp>
        <p:nvSpPr>
          <p:cNvPr id="14" name="Shape 11"/>
          <p:cNvSpPr/>
          <p:nvPr/>
        </p:nvSpPr>
        <p:spPr>
          <a:xfrm>
            <a:off x="457200" y="1609344"/>
            <a:ext cx="8229600" cy="429768"/>
          </a:xfrm>
          <a:prstGeom prst="roundRect">
            <a:avLst>
              <a:gd name="adj" fmla="val 10638"/>
            </a:avLst>
          </a:prstGeom>
          <a:solidFill>
            <a:srgbClr val="F4F7F5"/>
          </a:solidFill>
          <a:ln w="6350">
            <a:solidFill>
              <a:srgbClr val="D5DED9"/>
            </a:solidFill>
            <a:prstDash val="solid"/>
          </a:ln>
        </p:spPr>
      </p:sp>
      <p:sp>
        <p:nvSpPr>
          <p:cNvPr id="15" name="Text 12"/>
          <p:cNvSpPr txBox="1"/>
          <p:nvPr/>
        </p:nvSpPr>
        <p:spPr>
          <a:xfrm>
            <a:off x="548640" y="1609344"/>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Gini</a:t>
            </a:r>
            <a:endParaRPr lang="en-US" sz="1050" dirty="0"/>
          </a:p>
        </p:txBody>
      </p:sp>
      <p:sp>
        <p:nvSpPr>
          <p:cNvPr id="16" name="Text 13"/>
          <p:cNvSpPr txBox="1"/>
          <p:nvPr/>
        </p:nvSpPr>
        <p:spPr>
          <a:xfrm>
            <a:off x="2331720" y="1609344"/>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weighted; 0 = equality, 1 = all light in one unit</a:t>
            </a:r>
            <a:endParaRPr lang="en-US" sz="1000" dirty="0"/>
          </a:p>
        </p:txBody>
      </p:sp>
      <p:sp>
        <p:nvSpPr>
          <p:cNvPr id="17" name="Text 14"/>
          <p:cNvSpPr txBox="1"/>
          <p:nvPr/>
        </p:nvSpPr>
        <p:spPr>
          <a:xfrm>
            <a:off x="5394960" y="1609344"/>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Overall concentration of light per capita</a:t>
            </a:r>
            <a:endParaRPr lang="en-US" sz="950" dirty="0"/>
          </a:p>
        </p:txBody>
      </p:sp>
      <p:sp>
        <p:nvSpPr>
          <p:cNvPr id="18" name="Shape 15"/>
          <p:cNvSpPr/>
          <p:nvPr/>
        </p:nvSpPr>
        <p:spPr>
          <a:xfrm>
            <a:off x="457200" y="2093976"/>
            <a:ext cx="8229600" cy="429768"/>
          </a:xfrm>
          <a:prstGeom prst="roundRect">
            <a:avLst>
              <a:gd name="adj" fmla="val 10638"/>
            </a:avLst>
          </a:prstGeom>
          <a:solidFill>
            <a:srgbClr val="FFFFFF"/>
          </a:solidFill>
          <a:ln w="6350">
            <a:solidFill>
              <a:srgbClr val="D5DED9"/>
            </a:solidFill>
            <a:prstDash val="solid"/>
          </a:ln>
        </p:spPr>
      </p:sp>
      <p:sp>
        <p:nvSpPr>
          <p:cNvPr id="19" name="Text 16"/>
          <p:cNvSpPr txBox="1"/>
          <p:nvPr/>
        </p:nvSpPr>
        <p:spPr>
          <a:xfrm>
            <a:off x="548640" y="2093976"/>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Theil T</a:t>
            </a:r>
            <a:endParaRPr lang="en-US" sz="1050" dirty="0"/>
          </a:p>
        </p:txBody>
      </p:sp>
      <p:sp>
        <p:nvSpPr>
          <p:cNvPr id="20" name="Text 17"/>
          <p:cNvSpPr txBox="1"/>
          <p:nvPr/>
        </p:nvSpPr>
        <p:spPr>
          <a:xfrm>
            <a:off x="2331720" y="2093976"/>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Σ wᵢ (xᵢ/μ) ln(xᵢ/μ), wᵢ population shares</a:t>
            </a:r>
            <a:endParaRPr lang="en-US" sz="1000" dirty="0"/>
          </a:p>
        </p:txBody>
      </p:sp>
      <p:sp>
        <p:nvSpPr>
          <p:cNvPr id="21" name="Text 18"/>
          <p:cNvSpPr txBox="1"/>
          <p:nvPr/>
        </p:nvSpPr>
        <p:spPr>
          <a:xfrm>
            <a:off x="5394960" y="2093976"/>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Decomposes into between- and within-region parts</a:t>
            </a:r>
            <a:endParaRPr lang="en-US" sz="950" dirty="0"/>
          </a:p>
        </p:txBody>
      </p:sp>
      <p:sp>
        <p:nvSpPr>
          <p:cNvPr id="22" name="Shape 19"/>
          <p:cNvSpPr/>
          <p:nvPr/>
        </p:nvSpPr>
        <p:spPr>
          <a:xfrm>
            <a:off x="457200" y="2578608"/>
            <a:ext cx="8229600" cy="429768"/>
          </a:xfrm>
          <a:prstGeom prst="roundRect">
            <a:avLst>
              <a:gd name="adj" fmla="val 10638"/>
            </a:avLst>
          </a:prstGeom>
          <a:solidFill>
            <a:srgbClr val="F4F7F5"/>
          </a:solidFill>
          <a:ln w="6350">
            <a:solidFill>
              <a:srgbClr val="D5DED9"/>
            </a:solidFill>
            <a:prstDash val="solid"/>
          </a:ln>
        </p:spPr>
      </p:sp>
      <p:sp>
        <p:nvSpPr>
          <p:cNvPr id="23" name="Text 20"/>
          <p:cNvSpPr txBox="1"/>
          <p:nvPr/>
        </p:nvSpPr>
        <p:spPr>
          <a:xfrm>
            <a:off x="548640" y="2578608"/>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Urban / rural ratio</a:t>
            </a:r>
            <a:endParaRPr lang="en-US" sz="1050" dirty="0"/>
          </a:p>
        </p:txBody>
      </p:sp>
      <p:sp>
        <p:nvSpPr>
          <p:cNvPr id="24" name="Text 21"/>
          <p:cNvSpPr txBox="1"/>
          <p:nvPr/>
        </p:nvSpPr>
        <p:spPr>
          <a:xfrm>
            <a:off x="2331720" y="2578608"/>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light per capita where SMOD ≥ 21 ÷ elsewhere</a:t>
            </a:r>
            <a:endParaRPr lang="en-US" sz="1000" dirty="0"/>
          </a:p>
        </p:txBody>
      </p:sp>
      <p:sp>
        <p:nvSpPr>
          <p:cNvPr id="25" name="Text 22"/>
          <p:cNvSpPr txBox="1"/>
          <p:nvPr/>
        </p:nvSpPr>
        <p:spPr>
          <a:xfrm>
            <a:off x="5394960" y="2578608"/>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How much more light an urban resident gets</a:t>
            </a:r>
            <a:endParaRPr lang="en-US" sz="950" dirty="0"/>
          </a:p>
        </p:txBody>
      </p:sp>
      <p:sp>
        <p:nvSpPr>
          <p:cNvPr id="26" name="Shape 23"/>
          <p:cNvSpPr/>
          <p:nvPr/>
        </p:nvSpPr>
        <p:spPr>
          <a:xfrm>
            <a:off x="457200" y="3063240"/>
            <a:ext cx="8229600" cy="429768"/>
          </a:xfrm>
          <a:prstGeom prst="roundRect">
            <a:avLst>
              <a:gd name="adj" fmla="val 10638"/>
            </a:avLst>
          </a:prstGeom>
          <a:solidFill>
            <a:srgbClr val="FFFFFF"/>
          </a:solidFill>
          <a:ln w="6350">
            <a:solidFill>
              <a:srgbClr val="D5DED9"/>
            </a:solidFill>
            <a:prstDash val="solid"/>
          </a:ln>
        </p:spPr>
      </p:sp>
      <p:sp>
        <p:nvSpPr>
          <p:cNvPr id="27" name="Text 24"/>
          <p:cNvSpPr txBox="1"/>
          <p:nvPr/>
        </p:nvSpPr>
        <p:spPr>
          <a:xfrm>
            <a:off x="548640" y="3063240"/>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Population in the dark</a:t>
            </a:r>
            <a:endParaRPr lang="en-US" sz="1050" dirty="0"/>
          </a:p>
        </p:txBody>
      </p:sp>
      <p:sp>
        <p:nvSpPr>
          <p:cNvPr id="28" name="Text 25"/>
          <p:cNvSpPr txBox="1"/>
          <p:nvPr/>
        </p:nvSpPr>
        <p:spPr>
          <a:xfrm>
            <a:off x="2331720" y="3063240"/>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Σ pop of pixels ≥ 5 people with radiance &lt; t</a:t>
            </a:r>
            <a:endParaRPr lang="en-US" sz="1000" dirty="0"/>
          </a:p>
        </p:txBody>
      </p:sp>
      <p:sp>
        <p:nvSpPr>
          <p:cNvPr id="29" name="Text 26"/>
          <p:cNvSpPr txBox="1"/>
          <p:nvPr/>
        </p:nvSpPr>
        <p:spPr>
          <a:xfrm>
            <a:off x="5394960" y="3063240"/>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Published for t = 0.25 · 0.5 · 1 nW: a range</a:t>
            </a:r>
            <a:endParaRPr lang="en-US" sz="950" dirty="0"/>
          </a:p>
        </p:txBody>
      </p:sp>
      <p:sp>
        <p:nvSpPr>
          <p:cNvPr id="30" name="Shape 27"/>
          <p:cNvSpPr/>
          <p:nvPr/>
        </p:nvSpPr>
        <p:spPr>
          <a:xfrm>
            <a:off x="457200" y="3547872"/>
            <a:ext cx="8229600" cy="429768"/>
          </a:xfrm>
          <a:prstGeom prst="roundRect">
            <a:avLst>
              <a:gd name="adj" fmla="val 10638"/>
            </a:avLst>
          </a:prstGeom>
          <a:solidFill>
            <a:srgbClr val="F4F7F5"/>
          </a:solidFill>
          <a:ln w="6350">
            <a:solidFill>
              <a:srgbClr val="D5DED9"/>
            </a:solidFill>
            <a:prstDash val="solid"/>
          </a:ln>
        </p:spPr>
      </p:sp>
      <p:sp>
        <p:nvSpPr>
          <p:cNvPr id="31" name="Text 28"/>
          <p:cNvSpPr txBox="1"/>
          <p:nvPr/>
        </p:nvSpPr>
        <p:spPr>
          <a:xfrm>
            <a:off x="548640" y="3547872"/>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Share in the dark</a:t>
            </a:r>
            <a:endParaRPr lang="en-US" sz="1050" dirty="0"/>
          </a:p>
        </p:txBody>
      </p:sp>
      <p:sp>
        <p:nvSpPr>
          <p:cNvPr id="32" name="Text 29"/>
          <p:cNvSpPr txBox="1"/>
          <p:nvPr/>
        </p:nvSpPr>
        <p:spPr>
          <a:xfrm>
            <a:off x="2331720" y="3547872"/>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pop in the dark / inhabited population</a:t>
            </a:r>
            <a:endParaRPr lang="en-US" sz="1000" dirty="0"/>
          </a:p>
        </p:txBody>
      </p:sp>
      <p:sp>
        <p:nvSpPr>
          <p:cNvPr id="33" name="Text 30"/>
          <p:cNvSpPr txBox="1"/>
          <p:nvPr/>
        </p:nvSpPr>
        <p:spPr>
          <a:xfrm>
            <a:off x="5394960" y="3547872"/>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Proxy for the share without electricity</a:t>
            </a:r>
            <a:endParaRPr lang="en-US" sz="950" dirty="0"/>
          </a:p>
        </p:txBody>
      </p:sp>
      <p:sp>
        <p:nvSpPr>
          <p:cNvPr id="34" name="Shape 31"/>
          <p:cNvSpPr/>
          <p:nvPr/>
        </p:nvSpPr>
        <p:spPr>
          <a:xfrm>
            <a:off x="457200" y="4032504"/>
            <a:ext cx="8229600" cy="429768"/>
          </a:xfrm>
          <a:prstGeom prst="roundRect">
            <a:avLst>
              <a:gd name="adj" fmla="val 10638"/>
            </a:avLst>
          </a:prstGeom>
          <a:solidFill>
            <a:srgbClr val="FFFFFF"/>
          </a:solidFill>
          <a:ln w="6350">
            <a:solidFill>
              <a:srgbClr val="D5DED9"/>
            </a:solidFill>
            <a:prstDash val="solid"/>
          </a:ln>
        </p:spPr>
      </p:sp>
      <p:sp>
        <p:nvSpPr>
          <p:cNvPr id="35" name="Text 32"/>
          <p:cNvSpPr txBox="1"/>
          <p:nvPr/>
        </p:nvSpPr>
        <p:spPr>
          <a:xfrm>
            <a:off x="548640" y="4032504"/>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Gap to surveys (pts)</a:t>
            </a:r>
            <a:endParaRPr lang="en-US" sz="1050" dirty="0"/>
          </a:p>
        </p:txBody>
      </p:sp>
      <p:sp>
        <p:nvSpPr>
          <p:cNvPr id="36" name="Text 33"/>
          <p:cNvSpPr txBox="1"/>
          <p:nvPr/>
        </p:nvSpPr>
        <p:spPr>
          <a:xfrm>
            <a:off x="2331720" y="4032504"/>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(1 − share in the dark) − WDI access rate EG.ELC.ACCS.ZS</a:t>
            </a:r>
            <a:endParaRPr lang="en-US" sz="1000" dirty="0"/>
          </a:p>
        </p:txBody>
      </p:sp>
      <p:sp>
        <p:nvSpPr>
          <p:cNvPr id="37" name="Text 34"/>
          <p:cNvSpPr txBox="1"/>
          <p:nvPr/>
        </p:nvSpPr>
        <p:spPr>
          <a:xfrm>
            <a:off x="5394960" y="4032504"/>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Large gap → low-consumption access or a data problem</a:t>
            </a:r>
            <a:endParaRPr lang="en-US" sz="950" dirty="0"/>
          </a:p>
        </p:txBody>
      </p:sp>
      <p:sp>
        <p:nvSpPr>
          <p:cNvPr id="38" name="Text 35"/>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Theil (1967); Schiavina et al. (2023) GHSL; World Bank WDI · gas-flare halos excluded from the count</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SCENARIO 6</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Industrial zones: four signals, one score per pixel</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25880"/>
            <a:ext cx="20116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SIGNAL</a:t>
            </a:r>
            <a:endParaRPr lang="en-US" sz="900" dirty="0"/>
          </a:p>
        </p:txBody>
      </p:sp>
      <p:sp>
        <p:nvSpPr>
          <p:cNvPr id="12" name="Text 9"/>
          <p:cNvSpPr txBox="1"/>
          <p:nvPr/>
        </p:nvSpPr>
        <p:spPr>
          <a:xfrm>
            <a:off x="2560320" y="1325880"/>
            <a:ext cx="1828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DATA</a:t>
            </a:r>
            <a:endParaRPr lang="en-US" sz="900" dirty="0"/>
          </a:p>
        </p:txBody>
      </p:sp>
      <p:sp>
        <p:nvSpPr>
          <p:cNvPr id="13" name="Text 10"/>
          <p:cNvSpPr txBox="1"/>
          <p:nvPr/>
        </p:nvSpPr>
        <p:spPr>
          <a:xfrm>
            <a:off x="4389120" y="1325880"/>
            <a:ext cx="25146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NORMALISATION (0–1)</a:t>
            </a:r>
            <a:endParaRPr lang="en-US" sz="900" dirty="0"/>
          </a:p>
        </p:txBody>
      </p:sp>
      <p:sp>
        <p:nvSpPr>
          <p:cNvPr id="14" name="Text 11"/>
          <p:cNvSpPr txBox="1"/>
          <p:nvPr/>
        </p:nvSpPr>
        <p:spPr>
          <a:xfrm>
            <a:off x="6903720" y="1325880"/>
            <a:ext cx="685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WEIGHT</a:t>
            </a:r>
            <a:endParaRPr lang="en-US" sz="900" dirty="0"/>
          </a:p>
        </p:txBody>
      </p:sp>
      <p:sp>
        <p:nvSpPr>
          <p:cNvPr id="15" name="Shape 12"/>
          <p:cNvSpPr/>
          <p:nvPr/>
        </p:nvSpPr>
        <p:spPr>
          <a:xfrm>
            <a:off x="457200" y="1600200"/>
            <a:ext cx="7132320" cy="411480"/>
          </a:xfrm>
          <a:prstGeom prst="roundRect">
            <a:avLst>
              <a:gd name="adj" fmla="val 11111"/>
            </a:avLst>
          </a:prstGeom>
          <a:solidFill>
            <a:srgbClr val="F4F7F5"/>
          </a:solidFill>
          <a:ln w="6350">
            <a:solidFill>
              <a:srgbClr val="D5DED9"/>
            </a:solidFill>
            <a:prstDash val="solid"/>
          </a:ln>
        </p:spPr>
      </p:sp>
      <p:sp>
        <p:nvSpPr>
          <p:cNvPr id="16" name="Text 13"/>
          <p:cNvSpPr txBox="1"/>
          <p:nvPr/>
        </p:nvSpPr>
        <p:spPr>
          <a:xfrm>
            <a:off x="548640" y="1600200"/>
            <a:ext cx="1920240" cy="411480"/>
          </a:xfrm>
          <a:prstGeom prst="rect">
            <a:avLst/>
          </a:prstGeom>
          <a:noFill/>
          <a:ln/>
        </p:spPr>
        <p:txBody>
          <a:bodyPr wrap="square" lIns="0" tIns="0" rIns="0" bIns="0" rtlCol="0" anchor="ctr"/>
          <a:lstStyle/>
          <a:p>
            <a:pPr algn="l" indent="0" marL="0">
              <a:buNone/>
            </a:pPr>
            <a:r>
              <a:rPr lang="en-US" sz="1000" b="1" dirty="0">
                <a:solidFill>
                  <a:srgbClr val="231F20"/>
                </a:solidFill>
                <a:latin typeface="Calibri" pitchFamily="34" charset="0"/>
                <a:ea typeface="Calibri" pitchFamily="34" charset="-122"/>
                <a:cs typeface="Calibri" pitchFamily="34" charset="-120"/>
              </a:rPr>
              <a:t>Non-residential built-up</a:t>
            </a:r>
            <a:endParaRPr lang="en-US" sz="1000" dirty="0"/>
          </a:p>
        </p:txBody>
      </p:sp>
      <p:sp>
        <p:nvSpPr>
          <p:cNvPr id="17" name="Text 14"/>
          <p:cNvSpPr txBox="1"/>
          <p:nvPr/>
        </p:nvSpPr>
        <p:spPr>
          <a:xfrm>
            <a:off x="2560320" y="1600200"/>
            <a:ext cx="1737360" cy="411480"/>
          </a:xfrm>
          <a:prstGeom prst="rect">
            <a:avLst/>
          </a:prstGeom>
          <a:noFill/>
          <a:ln/>
        </p:spPr>
        <p:txBody>
          <a:bodyPr wrap="square" lIns="0" tIns="0" rIns="0" bIns="0" rtlCol="0" anchor="ctr"/>
          <a:lstStyle/>
          <a:p>
            <a:pPr algn="l" indent="0" marL="0">
              <a:buNone/>
            </a:pPr>
            <a:r>
              <a:rPr lang="en-US" sz="1000" dirty="0">
                <a:solidFill>
                  <a:srgbClr val="231F20"/>
                </a:solidFill>
                <a:latin typeface="Calibri" pitchFamily="34" charset="0"/>
                <a:ea typeface="Calibri" pitchFamily="34" charset="-122"/>
                <a:cs typeface="Calibri" pitchFamily="34" charset="-120"/>
              </a:rPr>
              <a:t>GHSL BUILT-S</a:t>
            </a:r>
            <a:endParaRPr lang="en-US" sz="1000" dirty="0"/>
          </a:p>
        </p:txBody>
      </p:sp>
      <p:sp>
        <p:nvSpPr>
          <p:cNvPr id="18" name="Text 15"/>
          <p:cNvSpPr txBox="1"/>
          <p:nvPr/>
        </p:nvSpPr>
        <p:spPr>
          <a:xfrm>
            <a:off x="4389120" y="1600200"/>
            <a:ext cx="2423160" cy="411480"/>
          </a:xfrm>
          <a:prstGeom prst="rect">
            <a:avLst/>
          </a:prstGeom>
          <a:noFill/>
          <a:ln/>
        </p:spPr>
        <p:txBody>
          <a:bodyPr wrap="square" lIns="0" tIns="0" rIns="0" bIns="0" rtlCol="0" anchor="ctr"/>
          <a:lstStyle/>
          <a:p>
            <a:pPr algn="l" indent="0" marL="0">
              <a:buNone/>
            </a:pPr>
            <a:r>
              <a:rPr lang="en-US" sz="1000" dirty="0">
                <a:solidFill>
                  <a:srgbClr val="0E7C86"/>
                </a:solidFill>
                <a:latin typeface="Calibri" pitchFamily="34" charset="0"/>
                <a:ea typeface="Calibri" pitchFamily="34" charset="-122"/>
                <a:cs typeface="Calibri" pitchFamily="34" charset="-120"/>
              </a:rPr>
              <a:t>nres share / 0.6</a:t>
            </a:r>
            <a:endParaRPr lang="en-US" sz="1000" dirty="0"/>
          </a:p>
        </p:txBody>
      </p:sp>
      <p:sp>
        <p:nvSpPr>
          <p:cNvPr id="19" name="Text 16"/>
          <p:cNvSpPr txBox="1"/>
          <p:nvPr/>
        </p:nvSpPr>
        <p:spPr>
          <a:xfrm>
            <a:off x="6903720" y="1600200"/>
            <a:ext cx="594360" cy="411480"/>
          </a:xfrm>
          <a:prstGeom prst="rect">
            <a:avLst/>
          </a:prstGeom>
          <a:noFill/>
          <a:ln/>
        </p:spPr>
        <p:txBody>
          <a:bodyPr wrap="square" lIns="0" tIns="0" rIns="0" bIns="0" rtlCol="0" anchor="ctr"/>
          <a:lstStyle/>
          <a:p>
            <a:pPr algn="ctr" indent="0" marL="0">
              <a:buNone/>
            </a:pPr>
            <a:r>
              <a:rPr lang="en-US" sz="1300" b="1" dirty="0">
                <a:solidFill>
                  <a:srgbClr val="00664A"/>
                </a:solidFill>
                <a:latin typeface="Calibri" pitchFamily="34" charset="0"/>
                <a:ea typeface="Calibri" pitchFamily="34" charset="-122"/>
                <a:cs typeface="Calibri" pitchFamily="34" charset="-120"/>
              </a:rPr>
              <a:t>35 %</a:t>
            </a:r>
            <a:endParaRPr lang="en-US" sz="1300" dirty="0"/>
          </a:p>
        </p:txBody>
      </p:sp>
      <p:sp>
        <p:nvSpPr>
          <p:cNvPr id="20" name="Shape 17"/>
          <p:cNvSpPr/>
          <p:nvPr/>
        </p:nvSpPr>
        <p:spPr>
          <a:xfrm>
            <a:off x="7726680" y="1691640"/>
            <a:ext cx="960120" cy="228600"/>
          </a:xfrm>
          <a:prstGeom prst="rect">
            <a:avLst/>
          </a:prstGeom>
          <a:solidFill>
            <a:srgbClr val="00664A"/>
          </a:solidFill>
          <a:ln w="12700">
            <a:solidFill>
              <a:srgbClr val="00664A"/>
            </a:solidFill>
            <a:prstDash val="solid"/>
          </a:ln>
        </p:spPr>
      </p:sp>
      <p:sp>
        <p:nvSpPr>
          <p:cNvPr id="21" name="Shape 18"/>
          <p:cNvSpPr/>
          <p:nvPr/>
        </p:nvSpPr>
        <p:spPr>
          <a:xfrm>
            <a:off x="457200" y="2075688"/>
            <a:ext cx="7132320" cy="411480"/>
          </a:xfrm>
          <a:prstGeom prst="roundRect">
            <a:avLst>
              <a:gd name="adj" fmla="val 11111"/>
            </a:avLst>
          </a:prstGeom>
          <a:solidFill>
            <a:srgbClr val="FFFFFF"/>
          </a:solidFill>
          <a:ln w="6350">
            <a:solidFill>
              <a:srgbClr val="D5DED9"/>
            </a:solidFill>
            <a:prstDash val="solid"/>
          </a:ln>
        </p:spPr>
      </p:sp>
      <p:sp>
        <p:nvSpPr>
          <p:cNvPr id="22" name="Text 19"/>
          <p:cNvSpPr txBox="1"/>
          <p:nvPr/>
        </p:nvSpPr>
        <p:spPr>
          <a:xfrm>
            <a:off x="548640" y="2075688"/>
            <a:ext cx="1920240" cy="411480"/>
          </a:xfrm>
          <a:prstGeom prst="rect">
            <a:avLst/>
          </a:prstGeom>
          <a:noFill/>
          <a:ln/>
        </p:spPr>
        <p:txBody>
          <a:bodyPr wrap="square" lIns="0" tIns="0" rIns="0" bIns="0" rtlCol="0" anchor="ctr"/>
          <a:lstStyle/>
          <a:p>
            <a:pPr algn="l" indent="0" marL="0">
              <a:buNone/>
            </a:pPr>
            <a:r>
              <a:rPr lang="en-US" sz="1000" b="1" dirty="0">
                <a:solidFill>
                  <a:srgbClr val="231F20"/>
                </a:solidFill>
                <a:latin typeface="Calibri" pitchFamily="34" charset="0"/>
                <a:ea typeface="Calibri" pitchFamily="34" charset="-122"/>
                <a:cs typeface="Calibri" pitchFamily="34" charset="-120"/>
              </a:rPr>
              <a:t>Light intensity</a:t>
            </a:r>
            <a:endParaRPr lang="en-US" sz="1000" dirty="0"/>
          </a:p>
        </p:txBody>
      </p:sp>
      <p:sp>
        <p:nvSpPr>
          <p:cNvPr id="23" name="Text 20"/>
          <p:cNvSpPr txBox="1"/>
          <p:nvPr/>
        </p:nvSpPr>
        <p:spPr>
          <a:xfrm>
            <a:off x="2560320" y="2075688"/>
            <a:ext cx="1737360" cy="411480"/>
          </a:xfrm>
          <a:prstGeom prst="rect">
            <a:avLst/>
          </a:prstGeom>
          <a:noFill/>
          <a:ln/>
        </p:spPr>
        <p:txBody>
          <a:bodyPr wrap="square" lIns="0" tIns="0" rIns="0" bIns="0" rtlCol="0" anchor="ctr"/>
          <a:lstStyle/>
          <a:p>
            <a:pPr algn="l" indent="0" marL="0">
              <a:buNone/>
            </a:pPr>
            <a:r>
              <a:rPr lang="en-US" sz="1000" dirty="0">
                <a:solidFill>
                  <a:srgbClr val="231F20"/>
                </a:solidFill>
                <a:latin typeface="Calibri" pitchFamily="34" charset="0"/>
                <a:ea typeface="Calibri" pitchFamily="34" charset="-122"/>
                <a:cs typeface="Calibri" pitchFamily="34" charset="-120"/>
              </a:rPr>
              <a:t>VNL, median of last 3 yrs</a:t>
            </a:r>
            <a:endParaRPr lang="en-US" sz="1000" dirty="0"/>
          </a:p>
        </p:txBody>
      </p:sp>
      <p:sp>
        <p:nvSpPr>
          <p:cNvPr id="24" name="Text 21"/>
          <p:cNvSpPr txBox="1"/>
          <p:nvPr/>
        </p:nvSpPr>
        <p:spPr>
          <a:xfrm>
            <a:off x="4389120" y="2075688"/>
            <a:ext cx="2423160" cy="411480"/>
          </a:xfrm>
          <a:prstGeom prst="rect">
            <a:avLst/>
          </a:prstGeom>
          <a:noFill/>
          <a:ln/>
        </p:spPr>
        <p:txBody>
          <a:bodyPr wrap="square" lIns="0" tIns="0" rIns="0" bIns="0" rtlCol="0" anchor="ctr"/>
          <a:lstStyle/>
          <a:p>
            <a:pPr algn="l" indent="0" marL="0">
              <a:buNone/>
            </a:pPr>
            <a:r>
              <a:rPr lang="en-US" sz="1000" dirty="0">
                <a:solidFill>
                  <a:srgbClr val="0E7C86"/>
                </a:solidFill>
                <a:latin typeface="Calibri" pitchFamily="34" charset="0"/>
                <a:ea typeface="Calibri" pitchFamily="34" charset="-122"/>
                <a:cs typeface="Calibri" pitchFamily="34" charset="-120"/>
              </a:rPr>
              <a:t>log₁₀(radiance) / 2</a:t>
            </a:r>
            <a:endParaRPr lang="en-US" sz="1000" dirty="0"/>
          </a:p>
        </p:txBody>
      </p:sp>
      <p:sp>
        <p:nvSpPr>
          <p:cNvPr id="25" name="Text 22"/>
          <p:cNvSpPr txBox="1"/>
          <p:nvPr/>
        </p:nvSpPr>
        <p:spPr>
          <a:xfrm>
            <a:off x="6903720" y="2075688"/>
            <a:ext cx="594360" cy="411480"/>
          </a:xfrm>
          <a:prstGeom prst="rect">
            <a:avLst/>
          </a:prstGeom>
          <a:noFill/>
          <a:ln/>
        </p:spPr>
        <p:txBody>
          <a:bodyPr wrap="square" lIns="0" tIns="0" rIns="0" bIns="0" rtlCol="0" anchor="ctr"/>
          <a:lstStyle/>
          <a:p>
            <a:pPr algn="ctr" indent="0" marL="0">
              <a:buNone/>
            </a:pPr>
            <a:r>
              <a:rPr lang="en-US" sz="1300" b="1" dirty="0">
                <a:solidFill>
                  <a:srgbClr val="10A06A"/>
                </a:solidFill>
                <a:latin typeface="Calibri" pitchFamily="34" charset="0"/>
                <a:ea typeface="Calibri" pitchFamily="34" charset="-122"/>
                <a:cs typeface="Calibri" pitchFamily="34" charset="-120"/>
              </a:rPr>
              <a:t>30 %</a:t>
            </a:r>
            <a:endParaRPr lang="en-US" sz="1300" dirty="0"/>
          </a:p>
        </p:txBody>
      </p:sp>
      <p:sp>
        <p:nvSpPr>
          <p:cNvPr id="26" name="Shape 23"/>
          <p:cNvSpPr/>
          <p:nvPr/>
        </p:nvSpPr>
        <p:spPr>
          <a:xfrm>
            <a:off x="7726680" y="2167128"/>
            <a:ext cx="822960" cy="228600"/>
          </a:xfrm>
          <a:prstGeom prst="rect">
            <a:avLst/>
          </a:prstGeom>
          <a:solidFill>
            <a:srgbClr val="10A06A"/>
          </a:solidFill>
          <a:ln w="12700">
            <a:solidFill>
              <a:srgbClr val="10A06A"/>
            </a:solidFill>
            <a:prstDash val="solid"/>
          </a:ln>
        </p:spPr>
      </p:sp>
      <p:sp>
        <p:nvSpPr>
          <p:cNvPr id="27" name="Shape 24"/>
          <p:cNvSpPr/>
          <p:nvPr/>
        </p:nvSpPr>
        <p:spPr>
          <a:xfrm>
            <a:off x="457200" y="2551176"/>
            <a:ext cx="7132320" cy="411480"/>
          </a:xfrm>
          <a:prstGeom prst="roundRect">
            <a:avLst>
              <a:gd name="adj" fmla="val 11111"/>
            </a:avLst>
          </a:prstGeom>
          <a:solidFill>
            <a:srgbClr val="F4F7F5"/>
          </a:solidFill>
          <a:ln w="6350">
            <a:solidFill>
              <a:srgbClr val="D5DED9"/>
            </a:solidFill>
            <a:prstDash val="solid"/>
          </a:ln>
        </p:spPr>
      </p:sp>
      <p:sp>
        <p:nvSpPr>
          <p:cNvPr id="28" name="Text 25"/>
          <p:cNvSpPr txBox="1"/>
          <p:nvPr/>
        </p:nvSpPr>
        <p:spPr>
          <a:xfrm>
            <a:off x="548640" y="2551176"/>
            <a:ext cx="1920240" cy="411480"/>
          </a:xfrm>
          <a:prstGeom prst="rect">
            <a:avLst/>
          </a:prstGeom>
          <a:noFill/>
          <a:ln/>
        </p:spPr>
        <p:txBody>
          <a:bodyPr wrap="square" lIns="0" tIns="0" rIns="0" bIns="0" rtlCol="0" anchor="ctr"/>
          <a:lstStyle/>
          <a:p>
            <a:pPr algn="l" indent="0" marL="0">
              <a:buNone/>
            </a:pPr>
            <a:r>
              <a:rPr lang="en-US" sz="1000" b="1" dirty="0">
                <a:solidFill>
                  <a:srgbClr val="231F20"/>
                </a:solidFill>
                <a:latin typeface="Calibri" pitchFamily="34" charset="0"/>
                <a:ea typeface="Calibri" pitchFamily="34" charset="-122"/>
                <a:cs typeface="Calibri" pitchFamily="34" charset="-120"/>
              </a:rPr>
              <a:t>NO₂ emissions</a:t>
            </a:r>
            <a:endParaRPr lang="en-US" sz="1000" dirty="0"/>
          </a:p>
        </p:txBody>
      </p:sp>
      <p:sp>
        <p:nvSpPr>
          <p:cNvPr id="29" name="Text 26"/>
          <p:cNvSpPr txBox="1"/>
          <p:nvPr/>
        </p:nvSpPr>
        <p:spPr>
          <a:xfrm>
            <a:off x="2560320" y="2551176"/>
            <a:ext cx="1737360" cy="411480"/>
          </a:xfrm>
          <a:prstGeom prst="rect">
            <a:avLst/>
          </a:prstGeom>
          <a:noFill/>
          <a:ln/>
        </p:spPr>
        <p:txBody>
          <a:bodyPr wrap="square" lIns="0" tIns="0" rIns="0" bIns="0" rtlCol="0" anchor="ctr"/>
          <a:lstStyle/>
          <a:p>
            <a:pPr algn="l" indent="0" marL="0">
              <a:buNone/>
            </a:pPr>
            <a:r>
              <a:rPr lang="en-US" sz="1000" dirty="0">
                <a:solidFill>
                  <a:srgbClr val="231F20"/>
                </a:solidFill>
                <a:latin typeface="Calibri" pitchFamily="34" charset="0"/>
                <a:ea typeface="Calibri" pitchFamily="34" charset="-122"/>
                <a:cs typeface="Calibri" pitchFamily="34" charset="-120"/>
              </a:rPr>
              <a:t>Sentinel-5P, annual mean</a:t>
            </a:r>
            <a:endParaRPr lang="en-US" sz="1000" dirty="0"/>
          </a:p>
        </p:txBody>
      </p:sp>
      <p:sp>
        <p:nvSpPr>
          <p:cNvPr id="30" name="Text 27"/>
          <p:cNvSpPr txBox="1"/>
          <p:nvPr/>
        </p:nvSpPr>
        <p:spPr>
          <a:xfrm>
            <a:off x="4389120" y="2551176"/>
            <a:ext cx="2423160" cy="411480"/>
          </a:xfrm>
          <a:prstGeom prst="rect">
            <a:avLst/>
          </a:prstGeom>
          <a:noFill/>
          <a:ln/>
        </p:spPr>
        <p:txBody>
          <a:bodyPr wrap="square" lIns="0" tIns="0" rIns="0" bIns="0" rtlCol="0" anchor="ctr"/>
          <a:lstStyle/>
          <a:p>
            <a:pPr algn="l" indent="0" marL="0">
              <a:buNone/>
            </a:pPr>
            <a:r>
              <a:rPr lang="en-US" sz="1000" dirty="0">
                <a:solidFill>
                  <a:srgbClr val="0E7C86"/>
                </a:solidFill>
                <a:latin typeface="Calibri" pitchFamily="34" charset="0"/>
                <a:ea typeface="Calibri" pitchFamily="34" charset="-122"/>
                <a:cs typeface="Calibri" pitchFamily="34" charset="-120"/>
              </a:rPr>
              <a:t>(NO₂ − med) / (p98 − med)</a:t>
            </a:r>
            <a:endParaRPr lang="en-US" sz="1000" dirty="0"/>
          </a:p>
        </p:txBody>
      </p:sp>
      <p:sp>
        <p:nvSpPr>
          <p:cNvPr id="31" name="Text 28"/>
          <p:cNvSpPr txBox="1"/>
          <p:nvPr/>
        </p:nvSpPr>
        <p:spPr>
          <a:xfrm>
            <a:off x="6903720" y="2551176"/>
            <a:ext cx="594360" cy="411480"/>
          </a:xfrm>
          <a:prstGeom prst="rect">
            <a:avLst/>
          </a:prstGeom>
          <a:noFill/>
          <a:ln/>
        </p:spPr>
        <p:txBody>
          <a:bodyPr wrap="square" lIns="0" tIns="0" rIns="0" bIns="0" rtlCol="0" anchor="ctr"/>
          <a:lstStyle/>
          <a:p>
            <a:pPr algn="ctr" indent="0" marL="0">
              <a:buNone/>
            </a:pPr>
            <a:r>
              <a:rPr lang="en-US" sz="1300" b="1" dirty="0">
                <a:solidFill>
                  <a:srgbClr val="57BD92"/>
                </a:solidFill>
                <a:latin typeface="Calibri" pitchFamily="34" charset="0"/>
                <a:ea typeface="Calibri" pitchFamily="34" charset="-122"/>
                <a:cs typeface="Calibri" pitchFamily="34" charset="-120"/>
              </a:rPr>
              <a:t>20 %</a:t>
            </a:r>
            <a:endParaRPr lang="en-US" sz="1300" dirty="0"/>
          </a:p>
        </p:txBody>
      </p:sp>
      <p:sp>
        <p:nvSpPr>
          <p:cNvPr id="32" name="Shape 29"/>
          <p:cNvSpPr/>
          <p:nvPr/>
        </p:nvSpPr>
        <p:spPr>
          <a:xfrm>
            <a:off x="7726680" y="2642616"/>
            <a:ext cx="548640" cy="228600"/>
          </a:xfrm>
          <a:prstGeom prst="rect">
            <a:avLst/>
          </a:prstGeom>
          <a:solidFill>
            <a:srgbClr val="57BD92"/>
          </a:solidFill>
          <a:ln w="12700">
            <a:solidFill>
              <a:srgbClr val="57BD92"/>
            </a:solidFill>
            <a:prstDash val="solid"/>
          </a:ln>
        </p:spPr>
      </p:sp>
      <p:sp>
        <p:nvSpPr>
          <p:cNvPr id="33" name="Shape 30"/>
          <p:cNvSpPr/>
          <p:nvPr/>
        </p:nvSpPr>
        <p:spPr>
          <a:xfrm>
            <a:off x="457200" y="3026664"/>
            <a:ext cx="7132320" cy="411480"/>
          </a:xfrm>
          <a:prstGeom prst="roundRect">
            <a:avLst>
              <a:gd name="adj" fmla="val 11111"/>
            </a:avLst>
          </a:prstGeom>
          <a:solidFill>
            <a:srgbClr val="FFFFFF"/>
          </a:solidFill>
          <a:ln w="6350">
            <a:solidFill>
              <a:srgbClr val="D5DED9"/>
            </a:solidFill>
            <a:prstDash val="solid"/>
          </a:ln>
        </p:spPr>
      </p:sp>
      <p:sp>
        <p:nvSpPr>
          <p:cNvPr id="34" name="Text 31"/>
          <p:cNvSpPr txBox="1"/>
          <p:nvPr/>
        </p:nvSpPr>
        <p:spPr>
          <a:xfrm>
            <a:off x="548640" y="3026664"/>
            <a:ext cx="1920240" cy="411480"/>
          </a:xfrm>
          <a:prstGeom prst="rect">
            <a:avLst/>
          </a:prstGeom>
          <a:noFill/>
          <a:ln/>
        </p:spPr>
        <p:txBody>
          <a:bodyPr wrap="square" lIns="0" tIns="0" rIns="0" bIns="0" rtlCol="0" anchor="ctr"/>
          <a:lstStyle/>
          <a:p>
            <a:pPr algn="l" indent="0" marL="0">
              <a:buNone/>
            </a:pPr>
            <a:r>
              <a:rPr lang="en-US" sz="1000" b="1" dirty="0">
                <a:solidFill>
                  <a:srgbClr val="231F20"/>
                </a:solidFill>
                <a:latin typeface="Calibri" pitchFamily="34" charset="0"/>
                <a:ea typeface="Calibri" pitchFamily="34" charset="-122"/>
                <a:cs typeface="Calibri" pitchFamily="34" charset="-120"/>
              </a:rPr>
              <a:t>Few residents</a:t>
            </a:r>
            <a:endParaRPr lang="en-US" sz="1000" dirty="0"/>
          </a:p>
        </p:txBody>
      </p:sp>
      <p:sp>
        <p:nvSpPr>
          <p:cNvPr id="35" name="Text 32"/>
          <p:cNvSpPr txBox="1"/>
          <p:nvPr/>
        </p:nvSpPr>
        <p:spPr>
          <a:xfrm>
            <a:off x="2560320" y="3026664"/>
            <a:ext cx="1737360" cy="411480"/>
          </a:xfrm>
          <a:prstGeom prst="rect">
            <a:avLst/>
          </a:prstGeom>
          <a:noFill/>
          <a:ln/>
        </p:spPr>
        <p:txBody>
          <a:bodyPr wrap="square" lIns="0" tIns="0" rIns="0" bIns="0" rtlCol="0" anchor="ctr"/>
          <a:lstStyle/>
          <a:p>
            <a:pPr algn="l" indent="0" marL="0">
              <a:buNone/>
            </a:pPr>
            <a:r>
              <a:rPr lang="en-US" sz="1000" dirty="0">
                <a:solidFill>
                  <a:srgbClr val="231F20"/>
                </a:solidFill>
                <a:latin typeface="Calibri" pitchFamily="34" charset="0"/>
                <a:ea typeface="Calibri" pitchFamily="34" charset="-122"/>
                <a:cs typeface="Calibri" pitchFamily="34" charset="-120"/>
              </a:rPr>
              <a:t>GHSL GHS-POP</a:t>
            </a:r>
            <a:endParaRPr lang="en-US" sz="1000" dirty="0"/>
          </a:p>
        </p:txBody>
      </p:sp>
      <p:sp>
        <p:nvSpPr>
          <p:cNvPr id="36" name="Text 33"/>
          <p:cNvSpPr txBox="1"/>
          <p:nvPr/>
        </p:nvSpPr>
        <p:spPr>
          <a:xfrm>
            <a:off x="4389120" y="3026664"/>
            <a:ext cx="2423160" cy="411480"/>
          </a:xfrm>
          <a:prstGeom prst="rect">
            <a:avLst/>
          </a:prstGeom>
          <a:noFill/>
          <a:ln/>
        </p:spPr>
        <p:txBody>
          <a:bodyPr wrap="square" lIns="0" tIns="0" rIns="0" bIns="0" rtlCol="0" anchor="ctr"/>
          <a:lstStyle/>
          <a:p>
            <a:pPr algn="l" indent="0" marL="0">
              <a:buNone/>
            </a:pPr>
            <a:r>
              <a:rPr lang="en-US" sz="1000" dirty="0">
                <a:solidFill>
                  <a:srgbClr val="0E7C86"/>
                </a:solidFill>
                <a:latin typeface="Calibri" pitchFamily="34" charset="0"/>
                <a:ea typeface="Calibri" pitchFamily="34" charset="-122"/>
                <a:cs typeface="Calibri" pitchFamily="34" charset="-120"/>
              </a:rPr>
              <a:t>1 − log₁₀(1 + pop/km²) / log₁₀(5000)</a:t>
            </a:r>
            <a:endParaRPr lang="en-US" sz="1000" dirty="0"/>
          </a:p>
        </p:txBody>
      </p:sp>
      <p:sp>
        <p:nvSpPr>
          <p:cNvPr id="37" name="Text 34"/>
          <p:cNvSpPr txBox="1"/>
          <p:nvPr/>
        </p:nvSpPr>
        <p:spPr>
          <a:xfrm>
            <a:off x="6903720" y="3026664"/>
            <a:ext cx="594360" cy="411480"/>
          </a:xfrm>
          <a:prstGeom prst="rect">
            <a:avLst/>
          </a:prstGeom>
          <a:noFill/>
          <a:ln/>
        </p:spPr>
        <p:txBody>
          <a:bodyPr wrap="square" lIns="0" tIns="0" rIns="0" bIns="0" rtlCol="0" anchor="ctr"/>
          <a:lstStyle/>
          <a:p>
            <a:pPr algn="ctr" indent="0" marL="0">
              <a:buNone/>
            </a:pPr>
            <a:r>
              <a:rPr lang="en-US" sz="1300" b="1" dirty="0">
                <a:solidFill>
                  <a:srgbClr val="9ED9C0"/>
                </a:solidFill>
                <a:latin typeface="Calibri" pitchFamily="34" charset="0"/>
                <a:ea typeface="Calibri" pitchFamily="34" charset="-122"/>
                <a:cs typeface="Calibri" pitchFamily="34" charset="-120"/>
              </a:rPr>
              <a:t>15 %</a:t>
            </a:r>
            <a:endParaRPr lang="en-US" sz="1300" dirty="0"/>
          </a:p>
        </p:txBody>
      </p:sp>
      <p:sp>
        <p:nvSpPr>
          <p:cNvPr id="38" name="Shape 35"/>
          <p:cNvSpPr/>
          <p:nvPr/>
        </p:nvSpPr>
        <p:spPr>
          <a:xfrm>
            <a:off x="7726680" y="3118104"/>
            <a:ext cx="411480" cy="228600"/>
          </a:xfrm>
          <a:prstGeom prst="rect">
            <a:avLst/>
          </a:prstGeom>
          <a:solidFill>
            <a:srgbClr val="9ED9C0"/>
          </a:solidFill>
          <a:ln w="12700">
            <a:solidFill>
              <a:srgbClr val="9ED9C0"/>
            </a:solidFill>
            <a:prstDash val="solid"/>
          </a:ln>
        </p:spPr>
      </p:sp>
      <p:sp>
        <p:nvSpPr>
          <p:cNvPr id="39" name="Shape 36"/>
          <p:cNvSpPr/>
          <p:nvPr/>
        </p:nvSpPr>
        <p:spPr>
          <a:xfrm>
            <a:off x="457200" y="3611880"/>
            <a:ext cx="8229600" cy="822960"/>
          </a:xfrm>
          <a:prstGeom prst="roundRect">
            <a:avLst>
              <a:gd name="adj" fmla="val 8889"/>
            </a:avLst>
          </a:prstGeom>
          <a:solidFill>
            <a:srgbClr val="E8F5EF"/>
          </a:solidFill>
          <a:ln w="15875">
            <a:solidFill>
              <a:srgbClr val="D49A00"/>
            </a:solidFill>
            <a:prstDash val="solid"/>
          </a:ln>
        </p:spPr>
      </p:sp>
      <p:sp>
        <p:nvSpPr>
          <p:cNvPr id="40" name="Text 37"/>
          <p:cNvSpPr txBox="1"/>
          <p:nvPr/>
        </p:nvSpPr>
        <p:spPr>
          <a:xfrm>
            <a:off x="640080" y="3657600"/>
            <a:ext cx="2194560" cy="274320"/>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Industrial score</a:t>
            </a:r>
            <a:endParaRPr lang="en-US" sz="1200" dirty="0"/>
          </a:p>
        </p:txBody>
      </p:sp>
      <p:sp>
        <p:nvSpPr>
          <p:cNvPr id="41" name="Text 38"/>
          <p:cNvSpPr txBox="1"/>
          <p:nvPr/>
        </p:nvSpPr>
        <p:spPr>
          <a:xfrm>
            <a:off x="640080" y="3931920"/>
            <a:ext cx="7863840" cy="41148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S = 0.35·built_nres + 0.30·light + 0.20·NO₂ + 0.15·few_residents   (each signal bounded to 0–1)</a:t>
            </a:r>
            <a:endParaRPr lang="en-US" sz="1300" dirty="0"/>
          </a:p>
        </p:txBody>
      </p:sp>
      <p:sp>
        <p:nvSpPr>
          <p:cNvPr id="42" name="Text 39"/>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Weights and thresholds: expert choices in IND.PARAMS, to be tested · Sources: Pesaresi et al. (2023); Copernicus Sentinel-5P</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SCENARIO 6</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Industrial zones: from pixels to validated candidates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53312"/>
            <a:ext cx="17830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METRIC</a:t>
            </a:r>
            <a:endParaRPr lang="en-US" sz="900" dirty="0"/>
          </a:p>
        </p:txBody>
      </p:sp>
      <p:sp>
        <p:nvSpPr>
          <p:cNvPr id="12" name="Text 9"/>
          <p:cNvSpPr txBox="1"/>
          <p:nvPr/>
        </p:nvSpPr>
        <p:spPr>
          <a:xfrm>
            <a:off x="2423160" y="1353312"/>
            <a:ext cx="2971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DEFINITION / FORMULA</a:t>
            </a:r>
            <a:endParaRPr lang="en-US" sz="900" dirty="0"/>
          </a:p>
        </p:txBody>
      </p:sp>
      <p:sp>
        <p:nvSpPr>
          <p:cNvPr id="13" name="Text 10"/>
          <p:cNvSpPr txBox="1"/>
          <p:nvPr/>
        </p:nvSpPr>
        <p:spPr>
          <a:xfrm>
            <a:off x="5486400" y="1353312"/>
            <a:ext cx="32004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HOW TO READ IT</a:t>
            </a:r>
            <a:endParaRPr lang="en-US" sz="900" dirty="0"/>
          </a:p>
        </p:txBody>
      </p:sp>
      <p:sp>
        <p:nvSpPr>
          <p:cNvPr id="14" name="Shape 11"/>
          <p:cNvSpPr/>
          <p:nvPr/>
        </p:nvSpPr>
        <p:spPr>
          <a:xfrm>
            <a:off x="457200" y="1609344"/>
            <a:ext cx="8229600" cy="365760"/>
          </a:xfrm>
          <a:prstGeom prst="roundRect">
            <a:avLst>
              <a:gd name="adj" fmla="val 12500"/>
            </a:avLst>
          </a:prstGeom>
          <a:solidFill>
            <a:srgbClr val="F4F7F5"/>
          </a:solidFill>
          <a:ln w="6350">
            <a:solidFill>
              <a:srgbClr val="D5DED9"/>
            </a:solidFill>
            <a:prstDash val="solid"/>
          </a:ln>
        </p:spPr>
      </p:sp>
      <p:sp>
        <p:nvSpPr>
          <p:cNvPr id="15" name="Text 12"/>
          <p:cNvSpPr txBox="1"/>
          <p:nvPr/>
        </p:nvSpPr>
        <p:spPr>
          <a:xfrm>
            <a:off x="548640" y="1609344"/>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Candidate pixel</a:t>
            </a:r>
            <a:endParaRPr lang="en-US" sz="1050" dirty="0"/>
          </a:p>
        </p:txBody>
      </p:sp>
      <p:sp>
        <p:nvSpPr>
          <p:cNvPr id="16" name="Text 13"/>
          <p:cNvSpPr txBox="1"/>
          <p:nvPr/>
        </p:nvSpPr>
        <p:spPr>
          <a:xfrm>
            <a:off x="2331720" y="1609344"/>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radiance ≥ 5 nW, built-up ≥ 1%, S ≥ 0.55 — or gas flare</a:t>
            </a:r>
            <a:endParaRPr lang="en-US" sz="1000" dirty="0"/>
          </a:p>
        </p:txBody>
      </p:sp>
      <p:sp>
        <p:nvSpPr>
          <p:cNvPr id="17" name="Text 14"/>
          <p:cNvSpPr txBox="1"/>
          <p:nvPr/>
        </p:nvSpPr>
        <p:spPr>
          <a:xfrm>
            <a:off x="5394960" y="1609344"/>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Neighbours (≥ 2 pixels) → zone; 250 zones max</a:t>
            </a:r>
            <a:endParaRPr lang="en-US" sz="950" dirty="0"/>
          </a:p>
        </p:txBody>
      </p:sp>
      <p:sp>
        <p:nvSpPr>
          <p:cNvPr id="18" name="Shape 15"/>
          <p:cNvSpPr/>
          <p:nvPr/>
        </p:nvSpPr>
        <p:spPr>
          <a:xfrm>
            <a:off x="457200" y="2029968"/>
            <a:ext cx="8229600" cy="365760"/>
          </a:xfrm>
          <a:prstGeom prst="roundRect">
            <a:avLst>
              <a:gd name="adj" fmla="val 12500"/>
            </a:avLst>
          </a:prstGeom>
          <a:solidFill>
            <a:srgbClr val="FFFFFF"/>
          </a:solidFill>
          <a:ln w="6350">
            <a:solidFill>
              <a:srgbClr val="D5DED9"/>
            </a:solidFill>
            <a:prstDash val="solid"/>
          </a:ln>
        </p:spPr>
      </p:sp>
      <p:sp>
        <p:nvSpPr>
          <p:cNvPr id="19" name="Text 16"/>
          <p:cNvSpPr txBox="1"/>
          <p:nvPr/>
        </p:nvSpPr>
        <p:spPr>
          <a:xfrm>
            <a:off x="548640" y="2029968"/>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Share of national light</a:t>
            </a:r>
            <a:endParaRPr lang="en-US" sz="1050" dirty="0"/>
          </a:p>
        </p:txBody>
      </p:sp>
      <p:sp>
        <p:nvSpPr>
          <p:cNvPr id="20" name="Text 17"/>
          <p:cNvSpPr txBox="1"/>
          <p:nvPr/>
        </p:nvSpPr>
        <p:spPr>
          <a:xfrm>
            <a:off x="2331720" y="2029968"/>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Zone SoL / national SoL (latest year)</a:t>
            </a:r>
            <a:endParaRPr lang="en-US" sz="1000" dirty="0"/>
          </a:p>
        </p:txBody>
      </p:sp>
      <p:sp>
        <p:nvSpPr>
          <p:cNvPr id="21" name="Text 18"/>
          <p:cNvSpPr txBox="1"/>
          <p:nvPr/>
        </p:nvSpPr>
        <p:spPr>
          <a:xfrm>
            <a:off x="5394960" y="2029968"/>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Economic weight of the zone</a:t>
            </a:r>
            <a:endParaRPr lang="en-US" sz="950" dirty="0"/>
          </a:p>
        </p:txBody>
      </p:sp>
      <p:sp>
        <p:nvSpPr>
          <p:cNvPr id="22" name="Shape 19"/>
          <p:cNvSpPr/>
          <p:nvPr/>
        </p:nvSpPr>
        <p:spPr>
          <a:xfrm>
            <a:off x="457200" y="2450592"/>
            <a:ext cx="8229600" cy="365760"/>
          </a:xfrm>
          <a:prstGeom prst="roundRect">
            <a:avLst>
              <a:gd name="adj" fmla="val 12500"/>
            </a:avLst>
          </a:prstGeom>
          <a:solidFill>
            <a:srgbClr val="F4F7F5"/>
          </a:solidFill>
          <a:ln w="6350">
            <a:solidFill>
              <a:srgbClr val="D5DED9"/>
            </a:solidFill>
            <a:prstDash val="solid"/>
          </a:ln>
        </p:spPr>
      </p:sp>
      <p:sp>
        <p:nvSpPr>
          <p:cNvPr id="23" name="Text 20"/>
          <p:cNvSpPr txBox="1"/>
          <p:nvPr/>
        </p:nvSpPr>
        <p:spPr>
          <a:xfrm>
            <a:off x="548640" y="2450592"/>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Zone dynamics</a:t>
            </a:r>
            <a:endParaRPr lang="en-US" sz="1050" dirty="0"/>
          </a:p>
        </p:txBody>
      </p:sp>
      <p:sp>
        <p:nvSpPr>
          <p:cNvPr id="24" name="Text 21"/>
          <p:cNvSpPr txBox="1"/>
          <p:nvPr/>
        </p:nvSpPr>
        <p:spPr>
          <a:xfrm>
            <a:off x="2331720" y="2450592"/>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Theil–Sen growth: &gt; +5%/yr expansion, &lt; −3% decline</a:t>
            </a:r>
            <a:endParaRPr lang="en-US" sz="1000" dirty="0"/>
          </a:p>
        </p:txBody>
      </p:sp>
      <p:sp>
        <p:nvSpPr>
          <p:cNvPr id="25" name="Text 22"/>
          <p:cNvSpPr txBox="1"/>
          <p:nvPr/>
        </p:nvSpPr>
        <p:spPr>
          <a:xfrm>
            <a:off x="5394960" y="2450592"/>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Signal of opening, expansion or slowdown</a:t>
            </a:r>
            <a:endParaRPr lang="en-US" sz="950" dirty="0"/>
          </a:p>
        </p:txBody>
      </p:sp>
      <p:sp>
        <p:nvSpPr>
          <p:cNvPr id="26" name="Shape 23"/>
          <p:cNvSpPr/>
          <p:nvPr/>
        </p:nvSpPr>
        <p:spPr>
          <a:xfrm>
            <a:off x="457200" y="2871216"/>
            <a:ext cx="8229600" cy="365760"/>
          </a:xfrm>
          <a:prstGeom prst="roundRect">
            <a:avLst>
              <a:gd name="adj" fmla="val 12500"/>
            </a:avLst>
          </a:prstGeom>
          <a:solidFill>
            <a:srgbClr val="FFFFFF"/>
          </a:solidFill>
          <a:ln w="6350">
            <a:solidFill>
              <a:srgbClr val="D5DED9"/>
            </a:solidFill>
            <a:prstDash val="solid"/>
          </a:ln>
        </p:spPr>
      </p:sp>
      <p:sp>
        <p:nvSpPr>
          <p:cNvPr id="27" name="Text 24"/>
          <p:cNvSpPr txBox="1"/>
          <p:nvPr/>
        </p:nvSpPr>
        <p:spPr>
          <a:xfrm>
            <a:off x="548640" y="2871216"/>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Class</a:t>
            </a:r>
            <a:endParaRPr lang="en-US" sz="1050" dirty="0"/>
          </a:p>
        </p:txBody>
      </p:sp>
      <p:sp>
        <p:nvSpPr>
          <p:cNvPr id="28" name="Text 25"/>
          <p:cNvSpPr txBox="1"/>
          <p:nvPr/>
        </p:nvSpPr>
        <p:spPr>
          <a:xfrm>
            <a:off x="2331720" y="2871216"/>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energy: flare share &gt; 0.3 and nres &lt; 0.3 · major: top 10% SoL or ≥ 8 km²</a:t>
            </a:r>
            <a:endParaRPr lang="en-US" sz="1000" dirty="0"/>
          </a:p>
        </p:txBody>
      </p:sp>
      <p:sp>
        <p:nvSpPr>
          <p:cNvPr id="29" name="Text 26"/>
          <p:cNvSpPr txBox="1"/>
          <p:nvPr/>
        </p:nvSpPr>
        <p:spPr>
          <a:xfrm>
            <a:off x="5394960" y="2871216"/>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Energy site · major hub · industrial / logistics zone</a:t>
            </a:r>
            <a:endParaRPr lang="en-US" sz="950" dirty="0"/>
          </a:p>
        </p:txBody>
      </p:sp>
      <p:sp>
        <p:nvSpPr>
          <p:cNvPr id="30" name="Shape 27"/>
          <p:cNvSpPr/>
          <p:nvPr/>
        </p:nvSpPr>
        <p:spPr>
          <a:xfrm>
            <a:off x="457200" y="3291840"/>
            <a:ext cx="8229600" cy="365760"/>
          </a:xfrm>
          <a:prstGeom prst="roundRect">
            <a:avLst>
              <a:gd name="adj" fmla="val 12500"/>
            </a:avLst>
          </a:prstGeom>
          <a:solidFill>
            <a:srgbClr val="F4F7F5"/>
          </a:solidFill>
          <a:ln w="6350">
            <a:solidFill>
              <a:srgbClr val="D5DED9"/>
            </a:solidFill>
            <a:prstDash val="solid"/>
          </a:ln>
        </p:spPr>
      </p:sp>
      <p:sp>
        <p:nvSpPr>
          <p:cNvPr id="31" name="Text 28"/>
          <p:cNvSpPr txBox="1"/>
          <p:nvPr/>
        </p:nvSpPr>
        <p:spPr>
          <a:xfrm>
            <a:off x="548640" y="3291840"/>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Precision</a:t>
            </a:r>
            <a:endParaRPr lang="en-US" sz="1050" dirty="0"/>
          </a:p>
        </p:txBody>
      </p:sp>
      <p:sp>
        <p:nvSpPr>
          <p:cNvPr id="32" name="Text 29"/>
          <p:cNvSpPr txBox="1"/>
          <p:nvPr/>
        </p:nvSpPr>
        <p:spPr>
          <a:xfrm>
            <a:off x="2331720" y="3291840"/>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zones overlapping an OSM industrial area / zones</a:t>
            </a:r>
            <a:endParaRPr lang="en-US" sz="1000" dirty="0"/>
          </a:p>
        </p:txBody>
      </p:sp>
      <p:sp>
        <p:nvSpPr>
          <p:cNvPr id="33" name="Text 30"/>
          <p:cNvSpPr txBox="1"/>
          <p:nvPr/>
        </p:nvSpPr>
        <p:spPr>
          <a:xfrm>
            <a:off x="5394960" y="3291840"/>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 0.5 → medium confidence, otherwise low</a:t>
            </a:r>
            <a:endParaRPr lang="en-US" sz="950" dirty="0"/>
          </a:p>
        </p:txBody>
      </p:sp>
      <p:sp>
        <p:nvSpPr>
          <p:cNvPr id="34" name="Shape 31"/>
          <p:cNvSpPr/>
          <p:nvPr/>
        </p:nvSpPr>
        <p:spPr>
          <a:xfrm>
            <a:off x="457200" y="3712464"/>
            <a:ext cx="8229600" cy="365760"/>
          </a:xfrm>
          <a:prstGeom prst="roundRect">
            <a:avLst>
              <a:gd name="adj" fmla="val 12500"/>
            </a:avLst>
          </a:prstGeom>
          <a:solidFill>
            <a:srgbClr val="FFFFFF"/>
          </a:solidFill>
          <a:ln w="6350">
            <a:solidFill>
              <a:srgbClr val="D5DED9"/>
            </a:solidFill>
            <a:prstDash val="solid"/>
          </a:ln>
        </p:spPr>
      </p:sp>
      <p:sp>
        <p:nvSpPr>
          <p:cNvPr id="35" name="Text 32"/>
          <p:cNvSpPr txBox="1"/>
          <p:nvPr/>
        </p:nvSpPr>
        <p:spPr>
          <a:xfrm>
            <a:off x="548640" y="3712464"/>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Recall</a:t>
            </a:r>
            <a:endParaRPr lang="en-US" sz="1050" dirty="0"/>
          </a:p>
        </p:txBody>
      </p:sp>
      <p:sp>
        <p:nvSpPr>
          <p:cNvPr id="36" name="Text 33"/>
          <p:cNvSpPr txBox="1"/>
          <p:nvPr/>
        </p:nvSpPr>
        <p:spPr>
          <a:xfrm>
            <a:off x="2331720" y="3712464"/>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OSM industrial areas found / OSM areas</a:t>
            </a:r>
            <a:endParaRPr lang="en-US" sz="1000" dirty="0"/>
          </a:p>
        </p:txBody>
      </p:sp>
      <p:sp>
        <p:nvSpPr>
          <p:cNvPr id="37" name="Text 34"/>
          <p:cNvSpPr txBox="1"/>
          <p:nvPr/>
        </p:nvSpPr>
        <p:spPr>
          <a:xfrm>
            <a:off x="5394960" y="3712464"/>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Coverage; depends on OSM completeness</a:t>
            </a:r>
            <a:endParaRPr lang="en-US" sz="950" dirty="0"/>
          </a:p>
        </p:txBody>
      </p:sp>
      <p:sp>
        <p:nvSpPr>
          <p:cNvPr id="38" name="Shape 35"/>
          <p:cNvSpPr/>
          <p:nvPr/>
        </p:nvSpPr>
        <p:spPr>
          <a:xfrm>
            <a:off x="457200" y="4133088"/>
            <a:ext cx="8229600" cy="365760"/>
          </a:xfrm>
          <a:prstGeom prst="roundRect">
            <a:avLst>
              <a:gd name="adj" fmla="val 12500"/>
            </a:avLst>
          </a:prstGeom>
          <a:solidFill>
            <a:srgbClr val="F4F7F5"/>
          </a:solidFill>
          <a:ln w="6350">
            <a:solidFill>
              <a:srgbClr val="D5DED9"/>
            </a:solidFill>
            <a:prstDash val="solid"/>
          </a:ln>
        </p:spPr>
      </p:sp>
      <p:sp>
        <p:nvSpPr>
          <p:cNvPr id="39" name="Text 36"/>
          <p:cNvSpPr txBox="1"/>
          <p:nvPr/>
        </p:nvSpPr>
        <p:spPr>
          <a:xfrm>
            <a:off x="548640" y="4133088"/>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Weighted precision</a:t>
            </a:r>
            <a:endParaRPr lang="en-US" sz="1050" dirty="0"/>
          </a:p>
        </p:txBody>
      </p:sp>
      <p:sp>
        <p:nvSpPr>
          <p:cNvPr id="40" name="Text 37"/>
          <p:cNvSpPr txBox="1"/>
          <p:nvPr/>
        </p:nvSpPr>
        <p:spPr>
          <a:xfrm>
            <a:off x="2331720" y="4133088"/>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SoL of confirmed zones / SoL of all zones</a:t>
            </a:r>
            <a:endParaRPr lang="en-US" sz="1000" dirty="0"/>
          </a:p>
        </p:txBody>
      </p:sp>
      <p:sp>
        <p:nvSpPr>
          <p:cNvPr id="41" name="Text 38"/>
          <p:cNvSpPr txBox="1"/>
          <p:nvPr/>
        </p:nvSpPr>
        <p:spPr>
          <a:xfrm>
            <a:off x="5394960" y="4133088"/>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Is most of the industrial light confirmed?</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SYNTHESIS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From metrics to key messages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444752"/>
            <a:ext cx="411480" cy="411480"/>
          </a:xfrm>
          <a:prstGeom prst="ellipse">
            <a:avLst/>
          </a:prstGeom>
          <a:solidFill>
            <a:srgbClr val="00A86A"/>
          </a:solidFill>
          <a:ln w="12700">
            <a:solidFill>
              <a:srgbClr val="00A86A"/>
            </a:solidFill>
            <a:prstDash val="solid"/>
          </a:ln>
        </p:spPr>
      </p:sp>
      <p:sp>
        <p:nvSpPr>
          <p:cNvPr id="12" name="Text 9"/>
          <p:cNvSpPr txBox="1"/>
          <p:nvPr/>
        </p:nvSpPr>
        <p:spPr>
          <a:xfrm>
            <a:off x="1005840" y="1371600"/>
            <a:ext cx="1280160" cy="548640"/>
          </a:xfrm>
          <a:prstGeom prst="rect">
            <a:avLst/>
          </a:prstGeom>
          <a:noFill/>
          <a:ln/>
        </p:spPr>
        <p:txBody>
          <a:bodyPr wrap="square" lIns="0" tIns="0" rIns="0" bIns="0" rtlCol="0" anchor="ctr"/>
          <a:lstStyle/>
          <a:p>
            <a:pPr indent="0" marL="0">
              <a:buNone/>
            </a:pPr>
            <a:r>
              <a:rPr lang="en-US" sz="1500" b="1" dirty="0">
                <a:solidFill>
                  <a:srgbClr val="00A86A"/>
                </a:solidFill>
                <a:latin typeface="Calibri" pitchFamily="34" charset="0"/>
                <a:ea typeface="Calibri" pitchFamily="34" charset="-122"/>
                <a:cs typeface="Calibri" pitchFamily="34" charset="-120"/>
              </a:rPr>
              <a:t>High</a:t>
            </a:r>
            <a:endParaRPr lang="en-US" sz="1500" dirty="0"/>
          </a:p>
        </p:txBody>
      </p:sp>
      <p:sp>
        <p:nvSpPr>
          <p:cNvPr id="13" name="Text 10"/>
          <p:cNvSpPr txBox="1"/>
          <p:nvPr/>
        </p:nvSpPr>
        <p:spPr>
          <a:xfrm>
            <a:off x="2194560" y="1371600"/>
            <a:ext cx="2011680" cy="548640"/>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Established result: quotable with its interval</a:t>
            </a:r>
            <a:endParaRPr lang="en-US" sz="1000" dirty="0"/>
          </a:p>
        </p:txBody>
      </p:sp>
      <p:sp>
        <p:nvSpPr>
          <p:cNvPr id="14" name="Shape 11"/>
          <p:cNvSpPr/>
          <p:nvPr/>
        </p:nvSpPr>
        <p:spPr>
          <a:xfrm>
            <a:off x="457200" y="2130552"/>
            <a:ext cx="411480" cy="411480"/>
          </a:xfrm>
          <a:prstGeom prst="ellipse">
            <a:avLst/>
          </a:prstGeom>
          <a:solidFill>
            <a:srgbClr val="D49A00"/>
          </a:solidFill>
          <a:ln w="12700">
            <a:solidFill>
              <a:srgbClr val="D49A00"/>
            </a:solidFill>
            <a:prstDash val="solid"/>
          </a:ln>
        </p:spPr>
      </p:sp>
      <p:sp>
        <p:nvSpPr>
          <p:cNvPr id="15" name="Text 12"/>
          <p:cNvSpPr txBox="1"/>
          <p:nvPr/>
        </p:nvSpPr>
        <p:spPr>
          <a:xfrm>
            <a:off x="1005840" y="2057400"/>
            <a:ext cx="1280160" cy="548640"/>
          </a:xfrm>
          <a:prstGeom prst="rect">
            <a:avLst/>
          </a:prstGeom>
          <a:noFill/>
          <a:ln/>
        </p:spPr>
        <p:txBody>
          <a:bodyPr wrap="square" lIns="0" tIns="0" rIns="0" bIns="0" rtlCol="0" anchor="ctr"/>
          <a:lstStyle/>
          <a:p>
            <a:pPr indent="0" marL="0">
              <a:buNone/>
            </a:pPr>
            <a:r>
              <a:rPr lang="en-US" sz="1500" b="1" dirty="0">
                <a:solidFill>
                  <a:srgbClr val="D49A00"/>
                </a:solidFill>
                <a:latin typeface="Calibri" pitchFamily="34" charset="0"/>
                <a:ea typeface="Calibri" pitchFamily="34" charset="-122"/>
                <a:cs typeface="Calibri" pitchFamily="34" charset="-120"/>
              </a:rPr>
              <a:t>Medium</a:t>
            </a:r>
            <a:endParaRPr lang="en-US" sz="1500" dirty="0"/>
          </a:p>
        </p:txBody>
      </p:sp>
      <p:sp>
        <p:nvSpPr>
          <p:cNvPr id="16" name="Text 13"/>
          <p:cNvSpPr txBox="1"/>
          <p:nvPr/>
        </p:nvSpPr>
        <p:spPr>
          <a:xfrm>
            <a:off x="2194560" y="2057400"/>
            <a:ext cx="2011680" cy="548640"/>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Plausible result: quote with caution and context</a:t>
            </a:r>
            <a:endParaRPr lang="en-US" sz="1000" dirty="0"/>
          </a:p>
        </p:txBody>
      </p:sp>
      <p:sp>
        <p:nvSpPr>
          <p:cNvPr id="17" name="Shape 14"/>
          <p:cNvSpPr/>
          <p:nvPr/>
        </p:nvSpPr>
        <p:spPr>
          <a:xfrm>
            <a:off x="457200" y="2816352"/>
            <a:ext cx="411480" cy="411480"/>
          </a:xfrm>
          <a:prstGeom prst="ellipse">
            <a:avLst/>
          </a:prstGeom>
          <a:solidFill>
            <a:srgbClr val="B83B2E"/>
          </a:solidFill>
          <a:ln w="12700">
            <a:solidFill>
              <a:srgbClr val="B83B2E"/>
            </a:solidFill>
            <a:prstDash val="solid"/>
          </a:ln>
        </p:spPr>
      </p:sp>
      <p:sp>
        <p:nvSpPr>
          <p:cNvPr id="18" name="Text 15"/>
          <p:cNvSpPr txBox="1"/>
          <p:nvPr/>
        </p:nvSpPr>
        <p:spPr>
          <a:xfrm>
            <a:off x="1005840" y="2743200"/>
            <a:ext cx="1280160" cy="548640"/>
          </a:xfrm>
          <a:prstGeom prst="rect">
            <a:avLst/>
          </a:prstGeom>
          <a:noFill/>
          <a:ln/>
        </p:spPr>
        <p:txBody>
          <a:bodyPr wrap="square" lIns="0" tIns="0" rIns="0" bIns="0" rtlCol="0" anchor="ctr"/>
          <a:lstStyle/>
          <a:p>
            <a:pPr indent="0" marL="0">
              <a:buNone/>
            </a:pPr>
            <a:r>
              <a:rPr lang="en-US" sz="1500" b="1" dirty="0">
                <a:solidFill>
                  <a:srgbClr val="B83B2E"/>
                </a:solidFill>
                <a:latin typeface="Calibri" pitchFamily="34" charset="0"/>
                <a:ea typeface="Calibri" pitchFamily="34" charset="-122"/>
                <a:cs typeface="Calibri" pitchFamily="34" charset="-120"/>
              </a:rPr>
              <a:t>Low</a:t>
            </a:r>
            <a:endParaRPr lang="en-US" sz="1500" dirty="0"/>
          </a:p>
        </p:txBody>
      </p:sp>
      <p:sp>
        <p:nvSpPr>
          <p:cNvPr id="19" name="Text 16"/>
          <p:cNvSpPr txBox="1"/>
          <p:nvPr/>
        </p:nvSpPr>
        <p:spPr>
          <a:xfrm>
            <a:off x="2194560" y="2743200"/>
            <a:ext cx="2011680" cy="548640"/>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A lead, not a conclusion: verify before use</a:t>
            </a:r>
            <a:endParaRPr lang="en-US" sz="1000" dirty="0"/>
          </a:p>
        </p:txBody>
      </p:sp>
      <p:sp>
        <p:nvSpPr>
          <p:cNvPr id="20" name="Shape 17"/>
          <p:cNvSpPr/>
          <p:nvPr/>
        </p:nvSpPr>
        <p:spPr>
          <a:xfrm>
            <a:off x="4480560" y="1325880"/>
            <a:ext cx="4206240" cy="3108960"/>
          </a:xfrm>
          <a:prstGeom prst="roundRect">
            <a:avLst>
              <a:gd name="adj" fmla="val 2353"/>
            </a:avLst>
          </a:prstGeom>
          <a:solidFill>
            <a:srgbClr val="F4F7F5"/>
          </a:solidFill>
          <a:ln w="9525">
            <a:solidFill>
              <a:srgbClr val="D5DED9"/>
            </a:solidFill>
            <a:prstDash val="solid"/>
          </a:ln>
        </p:spPr>
      </p:sp>
      <p:sp>
        <p:nvSpPr>
          <p:cNvPr id="21" name="Text 18"/>
          <p:cNvSpPr txBox="1"/>
          <p:nvPr/>
        </p:nvSpPr>
        <p:spPr>
          <a:xfrm>
            <a:off x="4645152" y="1417320"/>
            <a:ext cx="38404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WHERE CONFIDENCE COMES FROM</a:t>
            </a:r>
            <a:endParaRPr lang="en-US" sz="900" dirty="0"/>
          </a:p>
        </p:txBody>
      </p:sp>
      <p:sp>
        <p:nvSpPr>
          <p:cNvPr id="22" name="Text 19"/>
          <p:cNvSpPr txBox="1"/>
          <p:nvPr/>
        </p:nvSpPr>
        <p:spPr>
          <a:xfrm>
            <a:off x="4645152" y="1737360"/>
            <a:ext cx="384048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Trend (S1, S2)</a:t>
            </a:r>
            <a:endParaRPr lang="en-US" sz="1100" dirty="0"/>
          </a:p>
        </p:txBody>
      </p:sp>
      <p:sp>
        <p:nvSpPr>
          <p:cNvPr id="23" name="Text 20"/>
          <p:cNvSpPr txBox="1"/>
          <p:nvPr/>
        </p:nvSpPr>
        <p:spPr>
          <a:xfrm>
            <a:off x="4645152" y="1965960"/>
            <a:ext cx="38404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high p &lt; 0.01 · medium p &lt; 0.10 · low if n &lt; 6</a:t>
            </a:r>
            <a:endParaRPr lang="en-US" sz="950" dirty="0"/>
          </a:p>
        </p:txBody>
      </p:sp>
      <p:sp>
        <p:nvSpPr>
          <p:cNvPr id="24" name="Text 21"/>
          <p:cNvSpPr txBox="1"/>
          <p:nvPr/>
        </p:nvSpPr>
        <p:spPr>
          <a:xfrm>
            <a:off x="4645152" y="2267712"/>
            <a:ext cx="384048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Elasticity (S3)</a:t>
            </a:r>
            <a:endParaRPr lang="en-US" sz="1100" dirty="0"/>
          </a:p>
        </p:txBody>
      </p:sp>
      <p:sp>
        <p:nvSpPr>
          <p:cNvPr id="25" name="Text 22"/>
          <p:cNvSpPr txBox="1"/>
          <p:nvPr/>
        </p:nvSpPr>
        <p:spPr>
          <a:xfrm>
            <a:off x="4645152" y="2496312"/>
            <a:ext cx="38404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n, p, CI width, R² (see S3)</a:t>
            </a:r>
            <a:endParaRPr lang="en-US" sz="950" dirty="0"/>
          </a:p>
        </p:txBody>
      </p:sp>
      <p:sp>
        <p:nvSpPr>
          <p:cNvPr id="26" name="Text 23"/>
          <p:cNvSpPr txBox="1"/>
          <p:nvPr/>
        </p:nvSpPr>
        <p:spPr>
          <a:xfrm>
            <a:off x="4645152" y="2798064"/>
            <a:ext cx="384048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Shock (S4)</a:t>
            </a:r>
            <a:endParaRPr lang="en-US" sz="1100" dirty="0"/>
          </a:p>
        </p:txBody>
      </p:sp>
      <p:sp>
        <p:nvSpPr>
          <p:cNvPr id="27" name="Text 24"/>
          <p:cNvSpPr txBox="1"/>
          <p:nvPr/>
        </p:nvSpPr>
        <p:spPr>
          <a:xfrm>
            <a:off x="4645152" y="3026664"/>
            <a:ext cx="38404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placebo test passed or not</a:t>
            </a:r>
            <a:endParaRPr lang="en-US" sz="950" dirty="0"/>
          </a:p>
        </p:txBody>
      </p:sp>
      <p:sp>
        <p:nvSpPr>
          <p:cNvPr id="28" name="Text 25"/>
          <p:cNvSpPr txBox="1"/>
          <p:nvPr/>
        </p:nvSpPr>
        <p:spPr>
          <a:xfrm>
            <a:off x="4645152" y="3328416"/>
            <a:ext cx="384048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Inequality (S5)</a:t>
            </a:r>
            <a:endParaRPr lang="en-US" sz="1100" dirty="0"/>
          </a:p>
        </p:txBody>
      </p:sp>
      <p:sp>
        <p:nvSpPr>
          <p:cNvPr id="29" name="Text 26"/>
          <p:cNvSpPr txBox="1"/>
          <p:nvPr/>
        </p:nvSpPr>
        <p:spPr>
          <a:xfrm>
            <a:off x="4645152" y="3557016"/>
            <a:ext cx="38404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the ΔGini bootstrap CI excludes 0</a:t>
            </a:r>
            <a:endParaRPr lang="en-US" sz="950" dirty="0"/>
          </a:p>
        </p:txBody>
      </p:sp>
      <p:sp>
        <p:nvSpPr>
          <p:cNvPr id="30" name="Text 27"/>
          <p:cNvSpPr txBox="1"/>
          <p:nvPr/>
        </p:nvSpPr>
        <p:spPr>
          <a:xfrm>
            <a:off x="4645152" y="3858768"/>
            <a:ext cx="384048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Industry (S6)</a:t>
            </a:r>
            <a:endParaRPr lang="en-US" sz="1100" dirty="0"/>
          </a:p>
        </p:txBody>
      </p:sp>
      <p:sp>
        <p:nvSpPr>
          <p:cNvPr id="31" name="Text 28"/>
          <p:cNvSpPr txBox="1"/>
          <p:nvPr/>
        </p:nvSpPr>
        <p:spPr>
          <a:xfrm>
            <a:off x="4645152" y="4087368"/>
            <a:ext cx="38404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OSM precision ≥ 0.5 → medium, otherwise low</a:t>
            </a:r>
            <a:endParaRPr lang="en-US" sz="950" dirty="0"/>
          </a:p>
        </p:txBody>
      </p:sp>
      <p:sp>
        <p:nvSpPr>
          <p:cNvPr id="32" name="Text 29"/>
          <p:cNvSpPr txBox="1"/>
          <p:nvPr/>
        </p:nvSpPr>
        <p:spPr>
          <a:xfrm>
            <a:off x="457200" y="3611880"/>
            <a:ext cx="3749040" cy="548640"/>
          </a:xfrm>
          <a:prstGeom prst="rect">
            <a:avLst/>
          </a:prstGeom>
          <a:noFill/>
          <a:ln/>
        </p:spPr>
        <p:txBody>
          <a:bodyPr wrap="square" lIns="0" tIns="0" rIns="0" bIns="0" rtlCol="0" anchor="t"/>
          <a:lstStyle/>
          <a:p>
            <a:pPr indent="0" marL="0">
              <a:buNone/>
            </a:pPr>
            <a:r>
              <a:rPr lang="en-US" sz="1000" i="1" dirty="0">
                <a:solidFill>
                  <a:srgbClr val="5E6964"/>
                </a:solidFill>
                <a:latin typeface="Calibri" pitchFamily="34" charset="0"/>
                <a:ea typeface="Calibri" pitchFamily="34" charset="-122"/>
                <a:cs typeface="Calibri" pitchFamily="34" charset="-120"/>
              </a:rPr>
              <a:t>Messages are generated in EN and FR and fill the notebook's executive summary (section 00)</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t"/>
          <a:lstStyle/>
          <a:p>
            <a:pPr indent="0" marL="0">
              <a:buNone/>
            </a:pPr>
            <a:r>
              <a:rPr lang="en-US" sz="8000" b="1" dirty="0">
                <a:solidFill>
                  <a:srgbClr val="F5C242"/>
                </a:solidFill>
                <a:latin typeface="Calibri" pitchFamily="34" charset="0"/>
                <a:ea typeface="Calibri" pitchFamily="34" charset="-122"/>
                <a:cs typeface="Calibri" pitchFamily="34" charset="-120"/>
              </a:rPr>
              <a:t>05</a:t>
            </a:r>
            <a:endParaRPr lang="en-US" sz="8000" dirty="0"/>
          </a:p>
        </p:txBody>
      </p:sp>
      <p:sp>
        <p:nvSpPr>
          <p:cNvPr id="4" name="Text 2"/>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Publish and check</a:t>
            </a:r>
            <a:endParaRPr lang="en-US" sz="4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How do results reach users, and how far can they be trusted?</a:t>
            </a:r>
            <a:endParaRPr lang="en-US" sz="1800" dirty="0"/>
          </a:p>
        </p:txBody>
      </p:sp>
      <p:sp>
        <p:nvSpPr>
          <p:cNvPr id="6" name="Shape 4"/>
          <p:cNvSpPr/>
          <p:nvPr/>
        </p:nvSpPr>
        <p:spPr>
          <a:xfrm>
            <a:off x="6309360" y="1234440"/>
            <a:ext cx="2286000" cy="2286000"/>
          </a:xfrm>
          <a:prstGeom prst="ellipse">
            <a:avLst/>
          </a:prstGeom>
          <a:solidFill>
            <a:srgbClr val="FFFFFF">
              <a:alpha val="8000"/>
            </a:srgbClr>
          </a:solidFill>
          <a:ln w="12700">
            <a:solidFill>
              <a:srgbClr val="FFFFFF">
                <a:alpha val="30000"/>
              </a:srgbClr>
            </a:solidFill>
            <a:prstDash val="solid"/>
          </a:ln>
        </p:spPr>
      </p:sp>
      <p:sp>
        <p:nvSpPr>
          <p:cNvPr id="7" name="Shape 5"/>
          <p:cNvSpPr/>
          <p:nvPr/>
        </p:nvSpPr>
        <p:spPr>
          <a:xfrm>
            <a:off x="6675120" y="1600200"/>
            <a:ext cx="1554480" cy="1554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086600" y="2011680"/>
            <a:ext cx="731520" cy="731520"/>
          </a:xfrm>
          <a:prstGeom prst="rect">
            <a:avLst/>
          </a:prstGeom>
        </p:spPr>
      </p:pic>
      <p:sp>
        <p:nvSpPr>
          <p:cNvPr id="9" name="Shape 6"/>
          <p:cNvSpPr/>
          <p:nvPr/>
        </p:nvSpPr>
        <p:spPr>
          <a:xfrm>
            <a:off x="566928" y="425196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786384" y="4251960"/>
            <a:ext cx="118872" cy="118872"/>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005840" y="4251960"/>
            <a:ext cx="118872" cy="118872"/>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225296" y="4251960"/>
            <a:ext cx="118872" cy="118872"/>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1444752" y="4251960"/>
            <a:ext cx="118872" cy="118872"/>
          </a:xfrm>
          <a:prstGeom prst="ellipse">
            <a:avLst/>
          </a:prstGeom>
          <a:solidFill>
            <a:srgbClr val="F5C242"/>
          </a:solidFill>
          <a:ln w="12700">
            <a:solidFill>
              <a:srgbClr val="FFFFFF">
                <a:alpha val="0"/>
              </a:srgbClr>
            </a:solidFill>
            <a:prstDash val="solid"/>
          </a:ln>
        </p:spPr>
      </p:sp>
      <p:sp>
        <p:nvSpPr>
          <p:cNvPr id="14" name="Shape 11"/>
          <p:cNvSpPr/>
          <p:nvPr/>
        </p:nvSpPr>
        <p:spPr>
          <a:xfrm>
            <a:off x="1664208" y="4251960"/>
            <a:ext cx="118872" cy="118872"/>
          </a:xfrm>
          <a:prstGeom prst="ellipse">
            <a:avLst/>
          </a:prstGeom>
          <a:solidFill>
            <a:srgbClr val="FFFFFF">
              <a:alpha val="40000"/>
            </a:srgbClr>
          </a:solidFill>
          <a:ln w="12700">
            <a:solidFill>
              <a:srgbClr val="FFFFFF">
                <a:alpha val="0"/>
              </a:srgbClr>
            </a:solidFill>
            <a:prstDash val="solid"/>
          </a:ln>
        </p:spPr>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05 · PUBLISH · OUTPUTS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A static, bilingual dashboard, in one call</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C4621D"/>
          </a:solidFill>
          <a:ln w="12700">
            <a:solidFill>
              <a:srgbClr val="C4621D"/>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1463040" cy="1371600"/>
          </a:xfrm>
          <a:prstGeom prst="roundRect">
            <a:avLst>
              <a:gd name="adj" fmla="val 5333"/>
            </a:avLst>
          </a:prstGeom>
          <a:solidFill>
            <a:srgbClr val="F4F7F5"/>
          </a:solidFill>
          <a:ln w="9525">
            <a:solidFill>
              <a:srgbClr val="D5DED9"/>
            </a:solidFill>
            <a:prstDash val="solid"/>
          </a:ln>
        </p:spPr>
      </p:sp>
      <p:sp>
        <p:nvSpPr>
          <p:cNvPr id="12" name="Shape 9"/>
          <p:cNvSpPr/>
          <p:nvPr/>
        </p:nvSpPr>
        <p:spPr>
          <a:xfrm>
            <a:off x="932688" y="1481328"/>
            <a:ext cx="502920" cy="502920"/>
          </a:xfrm>
          <a:prstGeom prst="ellipse">
            <a:avLst/>
          </a:prstGeom>
          <a:solidFill>
            <a:srgbClr val="C4621D">
              <a:alpha val="22000"/>
            </a:srgbClr>
          </a:solidFill>
          <a:ln w="12700">
            <a:solidFill>
              <a:srgbClr val="C4621D">
                <a:alpha val="0"/>
              </a:srgbClr>
            </a:solidFill>
            <a:prstDash val="solid"/>
          </a:ln>
        </p:spPr>
      </p:sp>
      <p:pic>
        <p:nvPicPr>
          <p:cNvPr id="13" name="Image 0" descr="preencoded.png">    </p:cNvPr>
          <p:cNvPicPr>
            <a:picLocks noChangeAspect="1"/>
          </p:cNvPicPr>
          <p:nvPr/>
        </p:nvPicPr>
        <p:blipFill>
          <a:blip r:embed="rId1"/>
          <a:stretch>
            <a:fillRect/>
          </a:stretch>
        </p:blipFill>
        <p:spPr>
          <a:xfrm>
            <a:off x="1053389" y="1602029"/>
            <a:ext cx="261518" cy="261518"/>
          </a:xfrm>
          <a:prstGeom prst="rect">
            <a:avLst/>
          </a:prstGeom>
        </p:spPr>
      </p:pic>
      <p:sp>
        <p:nvSpPr>
          <p:cNvPr id="14" name="Text 10"/>
          <p:cNvSpPr txBox="1"/>
          <p:nvPr/>
        </p:nvSpPr>
        <p:spPr>
          <a:xfrm>
            <a:off x="502920" y="2029968"/>
            <a:ext cx="1371600" cy="27432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Earth Engine</a:t>
            </a:r>
            <a:endParaRPr lang="en-US" sz="1150" dirty="0"/>
          </a:p>
        </p:txBody>
      </p:sp>
      <p:sp>
        <p:nvSpPr>
          <p:cNvPr id="15" name="Text 11"/>
          <p:cNvSpPr txBox="1"/>
          <p:nvPr/>
        </p:nvSpPr>
        <p:spPr>
          <a:xfrm>
            <a:off x="502920" y="2304288"/>
            <a:ext cx="1371600" cy="384048"/>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zonal statistics</a:t>
            </a:r>
            <a:endParaRPr lang="en-US" sz="950" dirty="0"/>
          </a:p>
        </p:txBody>
      </p:sp>
      <p:sp>
        <p:nvSpPr>
          <p:cNvPr id="16" name="Shape 12"/>
          <p:cNvSpPr/>
          <p:nvPr/>
        </p:nvSpPr>
        <p:spPr>
          <a:xfrm>
            <a:off x="1938528" y="2057400"/>
            <a:ext cx="173736" cy="914"/>
          </a:xfrm>
          <a:prstGeom prst="line">
            <a:avLst/>
          </a:prstGeom>
          <a:noFill/>
          <a:ln w="15875">
            <a:solidFill>
              <a:srgbClr val="5E6964"/>
            </a:solidFill>
            <a:prstDash val="solid"/>
            <a:tailEnd type="triangle"/>
          </a:ln>
        </p:spPr>
      </p:sp>
      <p:sp>
        <p:nvSpPr>
          <p:cNvPr id="17" name="Shape 13"/>
          <p:cNvSpPr/>
          <p:nvPr/>
        </p:nvSpPr>
        <p:spPr>
          <a:xfrm>
            <a:off x="2130552" y="1371600"/>
            <a:ext cx="1463040" cy="1371600"/>
          </a:xfrm>
          <a:prstGeom prst="roundRect">
            <a:avLst>
              <a:gd name="adj" fmla="val 5333"/>
            </a:avLst>
          </a:prstGeom>
          <a:solidFill>
            <a:srgbClr val="F4F7F5"/>
          </a:solidFill>
          <a:ln w="9525">
            <a:solidFill>
              <a:srgbClr val="D5DED9"/>
            </a:solidFill>
            <a:prstDash val="solid"/>
          </a:ln>
        </p:spPr>
      </p:sp>
      <p:sp>
        <p:nvSpPr>
          <p:cNvPr id="18" name="Shape 14"/>
          <p:cNvSpPr/>
          <p:nvPr/>
        </p:nvSpPr>
        <p:spPr>
          <a:xfrm>
            <a:off x="2606040" y="1481328"/>
            <a:ext cx="502920" cy="502920"/>
          </a:xfrm>
          <a:prstGeom prst="ellipse">
            <a:avLst/>
          </a:prstGeom>
          <a:solidFill>
            <a:srgbClr val="C4621D">
              <a:alpha val="22000"/>
            </a:srgbClr>
          </a:solidFill>
          <a:ln w="12700">
            <a:solidFill>
              <a:srgbClr val="C4621D">
                <a:alpha val="0"/>
              </a:srgbClr>
            </a:solidFill>
            <a:prstDash val="solid"/>
          </a:ln>
        </p:spPr>
      </p:sp>
      <p:pic>
        <p:nvPicPr>
          <p:cNvPr id="19" name="Image 1" descr="preencoded.png">    </p:cNvPr>
          <p:cNvPicPr>
            <a:picLocks noChangeAspect="1"/>
          </p:cNvPicPr>
          <p:nvPr/>
        </p:nvPicPr>
        <p:blipFill>
          <a:blip r:embed="rId2"/>
          <a:stretch>
            <a:fillRect/>
          </a:stretch>
        </p:blipFill>
        <p:spPr>
          <a:xfrm>
            <a:off x="2726741" y="1602029"/>
            <a:ext cx="261518" cy="261518"/>
          </a:xfrm>
          <a:prstGeom prst="rect">
            <a:avLst/>
          </a:prstGeom>
        </p:spPr>
      </p:pic>
      <p:sp>
        <p:nvSpPr>
          <p:cNvPr id="20" name="Text 15"/>
          <p:cNvSpPr txBox="1"/>
          <p:nvPr/>
        </p:nvSpPr>
        <p:spPr>
          <a:xfrm>
            <a:off x="2176272" y="2029968"/>
            <a:ext cx="1371600" cy="27432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Local cache</a:t>
            </a:r>
            <a:endParaRPr lang="en-US" sz="1150" dirty="0"/>
          </a:p>
        </p:txBody>
      </p:sp>
      <p:sp>
        <p:nvSpPr>
          <p:cNvPr id="21" name="Text 16"/>
          <p:cNvSpPr txBox="1"/>
          <p:nvPr/>
        </p:nvSpPr>
        <p:spPr>
          <a:xfrm>
            <a:off x="2176272" y="2304288"/>
            <a:ext cx="1371600" cy="384048"/>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no new query</a:t>
            </a:r>
            <a:endParaRPr lang="en-US" sz="950" dirty="0"/>
          </a:p>
        </p:txBody>
      </p:sp>
      <p:sp>
        <p:nvSpPr>
          <p:cNvPr id="22" name="Shape 17"/>
          <p:cNvSpPr/>
          <p:nvPr/>
        </p:nvSpPr>
        <p:spPr>
          <a:xfrm>
            <a:off x="3611880" y="2057400"/>
            <a:ext cx="173736" cy="914"/>
          </a:xfrm>
          <a:prstGeom prst="line">
            <a:avLst/>
          </a:prstGeom>
          <a:noFill/>
          <a:ln w="15875">
            <a:solidFill>
              <a:srgbClr val="5E6964"/>
            </a:solidFill>
            <a:prstDash val="solid"/>
            <a:tailEnd type="triangle"/>
          </a:ln>
        </p:spPr>
      </p:sp>
      <p:sp>
        <p:nvSpPr>
          <p:cNvPr id="23" name="Shape 18"/>
          <p:cNvSpPr/>
          <p:nvPr/>
        </p:nvSpPr>
        <p:spPr>
          <a:xfrm>
            <a:off x="3803904" y="1371600"/>
            <a:ext cx="1463040" cy="1371600"/>
          </a:xfrm>
          <a:prstGeom prst="roundRect">
            <a:avLst>
              <a:gd name="adj" fmla="val 5333"/>
            </a:avLst>
          </a:prstGeom>
          <a:solidFill>
            <a:srgbClr val="F4F7F5"/>
          </a:solidFill>
          <a:ln w="9525">
            <a:solidFill>
              <a:srgbClr val="D5DED9"/>
            </a:solidFill>
            <a:prstDash val="solid"/>
          </a:ln>
        </p:spPr>
      </p:sp>
      <p:sp>
        <p:nvSpPr>
          <p:cNvPr id="24" name="Shape 19"/>
          <p:cNvSpPr/>
          <p:nvPr/>
        </p:nvSpPr>
        <p:spPr>
          <a:xfrm>
            <a:off x="4279392" y="1481328"/>
            <a:ext cx="502920" cy="502920"/>
          </a:xfrm>
          <a:prstGeom prst="ellipse">
            <a:avLst/>
          </a:prstGeom>
          <a:solidFill>
            <a:srgbClr val="C4621D">
              <a:alpha val="22000"/>
            </a:srgbClr>
          </a:solidFill>
          <a:ln w="12700">
            <a:solidFill>
              <a:srgbClr val="C4621D">
                <a:alpha val="0"/>
              </a:srgbClr>
            </a:solidFill>
            <a:prstDash val="solid"/>
          </a:ln>
        </p:spPr>
      </p:sp>
      <p:pic>
        <p:nvPicPr>
          <p:cNvPr id="25" name="Image 2" descr="preencoded.png">    </p:cNvPr>
          <p:cNvPicPr>
            <a:picLocks noChangeAspect="1"/>
          </p:cNvPicPr>
          <p:nvPr/>
        </p:nvPicPr>
        <p:blipFill>
          <a:blip r:embed="rId3"/>
          <a:stretch>
            <a:fillRect/>
          </a:stretch>
        </p:blipFill>
        <p:spPr>
          <a:xfrm>
            <a:off x="4400093" y="1602029"/>
            <a:ext cx="261518" cy="261518"/>
          </a:xfrm>
          <a:prstGeom prst="rect">
            <a:avLst/>
          </a:prstGeom>
        </p:spPr>
      </p:pic>
      <p:sp>
        <p:nvSpPr>
          <p:cNvPr id="26" name="Text 20"/>
          <p:cNvSpPr txBox="1"/>
          <p:nvPr/>
        </p:nvSpPr>
        <p:spPr>
          <a:xfrm>
            <a:off x="3849624" y="2029968"/>
            <a:ext cx="1371600" cy="27432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Analyses</a:t>
            </a:r>
            <a:endParaRPr lang="en-US" sz="1150" dirty="0"/>
          </a:p>
        </p:txBody>
      </p:sp>
      <p:sp>
        <p:nvSpPr>
          <p:cNvPr id="27" name="Text 21"/>
          <p:cNvSpPr txBox="1"/>
          <p:nvPr/>
        </p:nvSpPr>
        <p:spPr>
          <a:xfrm>
            <a:off x="3849624" y="2304288"/>
            <a:ext cx="1371600" cy="384048"/>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pandas · statsmodels</a:t>
            </a:r>
            <a:endParaRPr lang="en-US" sz="950" dirty="0"/>
          </a:p>
        </p:txBody>
      </p:sp>
      <p:sp>
        <p:nvSpPr>
          <p:cNvPr id="28" name="Shape 22"/>
          <p:cNvSpPr/>
          <p:nvPr/>
        </p:nvSpPr>
        <p:spPr>
          <a:xfrm>
            <a:off x="5285232" y="2057400"/>
            <a:ext cx="173736" cy="914"/>
          </a:xfrm>
          <a:prstGeom prst="line">
            <a:avLst/>
          </a:prstGeom>
          <a:noFill/>
          <a:ln w="15875">
            <a:solidFill>
              <a:srgbClr val="5E6964"/>
            </a:solidFill>
            <a:prstDash val="solid"/>
            <a:tailEnd type="triangle"/>
          </a:ln>
        </p:spPr>
      </p:sp>
      <p:sp>
        <p:nvSpPr>
          <p:cNvPr id="29" name="Shape 23"/>
          <p:cNvSpPr/>
          <p:nvPr/>
        </p:nvSpPr>
        <p:spPr>
          <a:xfrm>
            <a:off x="5477256" y="1371600"/>
            <a:ext cx="1463040" cy="1371600"/>
          </a:xfrm>
          <a:prstGeom prst="roundRect">
            <a:avLst>
              <a:gd name="adj" fmla="val 5333"/>
            </a:avLst>
          </a:prstGeom>
          <a:solidFill>
            <a:srgbClr val="F4F7F5"/>
          </a:solidFill>
          <a:ln w="9525">
            <a:solidFill>
              <a:srgbClr val="D5DED9"/>
            </a:solidFill>
            <a:prstDash val="solid"/>
          </a:ln>
        </p:spPr>
      </p:sp>
      <p:sp>
        <p:nvSpPr>
          <p:cNvPr id="30" name="Shape 24"/>
          <p:cNvSpPr/>
          <p:nvPr/>
        </p:nvSpPr>
        <p:spPr>
          <a:xfrm>
            <a:off x="5952744" y="1481328"/>
            <a:ext cx="502920" cy="502920"/>
          </a:xfrm>
          <a:prstGeom prst="ellipse">
            <a:avLst/>
          </a:prstGeom>
          <a:solidFill>
            <a:srgbClr val="C4621D">
              <a:alpha val="22000"/>
            </a:srgbClr>
          </a:solidFill>
          <a:ln w="12700">
            <a:solidFill>
              <a:srgbClr val="C4621D">
                <a:alpha val="0"/>
              </a:srgbClr>
            </a:solidFill>
            <a:prstDash val="solid"/>
          </a:ln>
        </p:spPr>
      </p:sp>
      <p:pic>
        <p:nvPicPr>
          <p:cNvPr id="31" name="Image 3" descr="preencoded.png">    </p:cNvPr>
          <p:cNvPicPr>
            <a:picLocks noChangeAspect="1"/>
          </p:cNvPicPr>
          <p:nvPr/>
        </p:nvPicPr>
        <p:blipFill>
          <a:blip r:embed="rId4"/>
          <a:stretch>
            <a:fillRect/>
          </a:stretch>
        </p:blipFill>
        <p:spPr>
          <a:xfrm>
            <a:off x="6073445" y="1602029"/>
            <a:ext cx="261518" cy="261518"/>
          </a:xfrm>
          <a:prstGeom prst="rect">
            <a:avLst/>
          </a:prstGeom>
        </p:spPr>
      </p:pic>
      <p:sp>
        <p:nvSpPr>
          <p:cNvPr id="32" name="Text 25"/>
          <p:cNvSpPr txBox="1"/>
          <p:nvPr/>
        </p:nvSpPr>
        <p:spPr>
          <a:xfrm>
            <a:off x="5522976" y="2029968"/>
            <a:ext cx="1371600" cy="27432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Static files</a:t>
            </a:r>
            <a:endParaRPr lang="en-US" sz="1150" dirty="0"/>
          </a:p>
        </p:txBody>
      </p:sp>
      <p:sp>
        <p:nvSpPr>
          <p:cNvPr id="33" name="Text 26"/>
          <p:cNvSpPr txBox="1"/>
          <p:nvPr/>
        </p:nvSpPr>
        <p:spPr>
          <a:xfrm>
            <a:off x="5522976" y="2304288"/>
            <a:ext cx="1371600" cy="384048"/>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GeoJSON · CSV · JSON · PNG</a:t>
            </a:r>
            <a:endParaRPr lang="en-US" sz="950" dirty="0"/>
          </a:p>
        </p:txBody>
      </p:sp>
      <p:sp>
        <p:nvSpPr>
          <p:cNvPr id="34" name="Shape 27"/>
          <p:cNvSpPr/>
          <p:nvPr/>
        </p:nvSpPr>
        <p:spPr>
          <a:xfrm>
            <a:off x="6958584" y="2057400"/>
            <a:ext cx="173736" cy="914"/>
          </a:xfrm>
          <a:prstGeom prst="line">
            <a:avLst/>
          </a:prstGeom>
          <a:noFill/>
          <a:ln w="15875">
            <a:solidFill>
              <a:srgbClr val="5E6964"/>
            </a:solidFill>
            <a:prstDash val="solid"/>
            <a:tailEnd type="triangle"/>
          </a:ln>
        </p:spPr>
      </p:sp>
      <p:sp>
        <p:nvSpPr>
          <p:cNvPr id="35" name="Shape 28"/>
          <p:cNvSpPr/>
          <p:nvPr/>
        </p:nvSpPr>
        <p:spPr>
          <a:xfrm>
            <a:off x="7150608" y="1371600"/>
            <a:ext cx="1463040" cy="1371600"/>
          </a:xfrm>
          <a:prstGeom prst="roundRect">
            <a:avLst>
              <a:gd name="adj" fmla="val 5333"/>
            </a:avLst>
          </a:prstGeom>
          <a:solidFill>
            <a:srgbClr val="E8F5EF"/>
          </a:solidFill>
          <a:ln w="15875">
            <a:solidFill>
              <a:srgbClr val="C4621D"/>
            </a:solidFill>
            <a:prstDash val="solid"/>
          </a:ln>
        </p:spPr>
      </p:sp>
      <p:sp>
        <p:nvSpPr>
          <p:cNvPr id="36" name="Shape 29"/>
          <p:cNvSpPr/>
          <p:nvPr/>
        </p:nvSpPr>
        <p:spPr>
          <a:xfrm>
            <a:off x="7626096" y="1481328"/>
            <a:ext cx="502920" cy="502920"/>
          </a:xfrm>
          <a:prstGeom prst="ellipse">
            <a:avLst/>
          </a:prstGeom>
          <a:solidFill>
            <a:srgbClr val="C4621D">
              <a:alpha val="22000"/>
            </a:srgbClr>
          </a:solidFill>
          <a:ln w="12700">
            <a:solidFill>
              <a:srgbClr val="C4621D">
                <a:alpha val="0"/>
              </a:srgbClr>
            </a:solidFill>
            <a:prstDash val="solid"/>
          </a:ln>
        </p:spPr>
      </p:sp>
      <p:pic>
        <p:nvPicPr>
          <p:cNvPr id="37" name="Image 4" descr="preencoded.png">    </p:cNvPr>
          <p:cNvPicPr>
            <a:picLocks noChangeAspect="1"/>
          </p:cNvPicPr>
          <p:nvPr/>
        </p:nvPicPr>
        <p:blipFill>
          <a:blip r:embed="rId5"/>
          <a:stretch>
            <a:fillRect/>
          </a:stretch>
        </p:blipFill>
        <p:spPr>
          <a:xfrm>
            <a:off x="7746797" y="1602029"/>
            <a:ext cx="261518" cy="261518"/>
          </a:xfrm>
          <a:prstGeom prst="rect">
            <a:avLst/>
          </a:prstGeom>
        </p:spPr>
      </p:pic>
      <p:sp>
        <p:nvSpPr>
          <p:cNvPr id="38" name="Text 30"/>
          <p:cNvSpPr txBox="1"/>
          <p:nvPr/>
        </p:nvSpPr>
        <p:spPr>
          <a:xfrm>
            <a:off x="7196328" y="2029968"/>
            <a:ext cx="1371600" cy="27432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GitHub Pages</a:t>
            </a:r>
            <a:endParaRPr lang="en-US" sz="1150" dirty="0"/>
          </a:p>
        </p:txBody>
      </p:sp>
      <p:sp>
        <p:nvSpPr>
          <p:cNvPr id="39" name="Text 31"/>
          <p:cNvSpPr txBox="1"/>
          <p:nvPr/>
        </p:nvSpPr>
        <p:spPr>
          <a:xfrm>
            <a:off x="7196328" y="2304288"/>
            <a:ext cx="1371600" cy="384048"/>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public dashboard</a:t>
            </a:r>
            <a:endParaRPr lang="en-US" sz="950" dirty="0"/>
          </a:p>
        </p:txBody>
      </p:sp>
      <p:sp>
        <p:nvSpPr>
          <p:cNvPr id="40" name="Shape 32"/>
          <p:cNvSpPr/>
          <p:nvPr/>
        </p:nvSpPr>
        <p:spPr>
          <a:xfrm>
            <a:off x="457200" y="3063240"/>
            <a:ext cx="457200" cy="457200"/>
          </a:xfrm>
          <a:prstGeom prst="ellipse">
            <a:avLst/>
          </a:prstGeom>
          <a:solidFill>
            <a:srgbClr val="C4621D">
              <a:alpha val="22000"/>
            </a:srgbClr>
          </a:solidFill>
          <a:ln w="12700">
            <a:solidFill>
              <a:srgbClr val="C4621D">
                <a:alpha val="0"/>
              </a:srgbClr>
            </a:solidFill>
            <a:prstDash val="solid"/>
          </a:ln>
        </p:spPr>
      </p:sp>
      <p:pic>
        <p:nvPicPr>
          <p:cNvPr id="41" name="Image 5" descr="preencoded.png">    </p:cNvPr>
          <p:cNvPicPr>
            <a:picLocks noChangeAspect="1"/>
          </p:cNvPicPr>
          <p:nvPr/>
        </p:nvPicPr>
        <p:blipFill>
          <a:blip r:embed="rId6"/>
          <a:stretch>
            <a:fillRect/>
          </a:stretch>
        </p:blipFill>
        <p:spPr>
          <a:xfrm>
            <a:off x="566928" y="3172968"/>
            <a:ext cx="237744" cy="237744"/>
          </a:xfrm>
          <a:prstGeom prst="rect">
            <a:avLst/>
          </a:prstGeom>
        </p:spPr>
      </p:pic>
      <p:sp>
        <p:nvSpPr>
          <p:cNvPr id="42" name="Text 33"/>
          <p:cNvSpPr txBox="1"/>
          <p:nvPr/>
        </p:nvSpPr>
        <p:spPr>
          <a:xfrm>
            <a:off x="1024128" y="3035808"/>
            <a:ext cx="210312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Bilingual EN / FR</a:t>
            </a:r>
            <a:endParaRPr lang="en-US" sz="1200" dirty="0"/>
          </a:p>
        </p:txBody>
      </p:sp>
      <p:sp>
        <p:nvSpPr>
          <p:cNvPr id="43" name="Text 34"/>
          <p:cNvSpPr txBox="1"/>
          <p:nvPr/>
        </p:nvSpPr>
        <p:spPr>
          <a:xfrm>
            <a:off x="1024128" y="3328416"/>
            <a:ext cx="2103120" cy="5486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Same numbers, text generated in each language</a:t>
            </a:r>
            <a:endParaRPr lang="en-US" sz="1050" dirty="0"/>
          </a:p>
        </p:txBody>
      </p:sp>
      <p:sp>
        <p:nvSpPr>
          <p:cNvPr id="44" name="Shape 35"/>
          <p:cNvSpPr/>
          <p:nvPr/>
        </p:nvSpPr>
        <p:spPr>
          <a:xfrm>
            <a:off x="3246120" y="3063240"/>
            <a:ext cx="457200" cy="457200"/>
          </a:xfrm>
          <a:prstGeom prst="ellipse">
            <a:avLst/>
          </a:prstGeom>
          <a:solidFill>
            <a:srgbClr val="C4621D">
              <a:alpha val="22000"/>
            </a:srgbClr>
          </a:solidFill>
          <a:ln w="12700">
            <a:solidFill>
              <a:srgbClr val="C4621D">
                <a:alpha val="0"/>
              </a:srgbClr>
            </a:solidFill>
            <a:prstDash val="solid"/>
          </a:ln>
        </p:spPr>
      </p:sp>
      <p:pic>
        <p:nvPicPr>
          <p:cNvPr id="45" name="Image 6" descr="preencoded.png">    </p:cNvPr>
          <p:cNvPicPr>
            <a:picLocks noChangeAspect="1"/>
          </p:cNvPicPr>
          <p:nvPr/>
        </p:nvPicPr>
        <p:blipFill>
          <a:blip r:embed="rId7"/>
          <a:stretch>
            <a:fillRect/>
          </a:stretch>
        </p:blipFill>
        <p:spPr>
          <a:xfrm>
            <a:off x="3355848" y="3172968"/>
            <a:ext cx="237744" cy="237744"/>
          </a:xfrm>
          <a:prstGeom prst="rect">
            <a:avLst/>
          </a:prstGeom>
        </p:spPr>
      </p:pic>
      <p:sp>
        <p:nvSpPr>
          <p:cNvPr id="46" name="Text 36"/>
          <p:cNvSpPr txBox="1"/>
          <p:nvPr/>
        </p:nvSpPr>
        <p:spPr>
          <a:xfrm>
            <a:off x="3813048" y="3035808"/>
            <a:ext cx="210312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Reproducibility manifest</a:t>
            </a:r>
            <a:endParaRPr lang="en-US" sz="1200" dirty="0"/>
          </a:p>
        </p:txBody>
      </p:sp>
      <p:sp>
        <p:nvSpPr>
          <p:cNvPr id="47" name="Text 37"/>
          <p:cNvSpPr txBox="1"/>
          <p:nvPr/>
        </p:nvSpPr>
        <p:spPr>
          <a:xfrm>
            <a:off x="3813048" y="3328416"/>
            <a:ext cx="2103120" cy="5486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Parameters, versions, data availability</a:t>
            </a:r>
            <a:endParaRPr lang="en-US" sz="1050" dirty="0"/>
          </a:p>
        </p:txBody>
      </p:sp>
      <p:sp>
        <p:nvSpPr>
          <p:cNvPr id="48" name="Shape 38"/>
          <p:cNvSpPr/>
          <p:nvPr/>
        </p:nvSpPr>
        <p:spPr>
          <a:xfrm>
            <a:off x="6035040" y="3063240"/>
            <a:ext cx="457200" cy="457200"/>
          </a:xfrm>
          <a:prstGeom prst="ellipse">
            <a:avLst/>
          </a:prstGeom>
          <a:solidFill>
            <a:srgbClr val="C4621D">
              <a:alpha val="22000"/>
            </a:srgbClr>
          </a:solidFill>
          <a:ln w="12700">
            <a:solidFill>
              <a:srgbClr val="C4621D">
                <a:alpha val="0"/>
              </a:srgbClr>
            </a:solidFill>
            <a:prstDash val="solid"/>
          </a:ln>
        </p:spPr>
      </p:sp>
      <p:pic>
        <p:nvPicPr>
          <p:cNvPr id="49" name="Image 7" descr="preencoded.png">    </p:cNvPr>
          <p:cNvPicPr>
            <a:picLocks noChangeAspect="1"/>
          </p:cNvPicPr>
          <p:nvPr/>
        </p:nvPicPr>
        <p:blipFill>
          <a:blip r:embed="rId8"/>
          <a:stretch>
            <a:fillRect/>
          </a:stretch>
        </p:blipFill>
        <p:spPr>
          <a:xfrm>
            <a:off x="6144768" y="3172968"/>
            <a:ext cx="237744" cy="237744"/>
          </a:xfrm>
          <a:prstGeom prst="rect">
            <a:avLst/>
          </a:prstGeom>
        </p:spPr>
      </p:pic>
      <p:sp>
        <p:nvSpPr>
          <p:cNvPr id="50" name="Text 39"/>
          <p:cNvSpPr txBox="1"/>
          <p:nvPr/>
        </p:nvSpPr>
        <p:spPr>
          <a:xfrm>
            <a:off x="6601968" y="3035808"/>
            <a:ext cx="210312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Secure publishing</a:t>
            </a:r>
            <a:endParaRPr lang="en-US" sz="1200" dirty="0"/>
          </a:p>
        </p:txBody>
      </p:sp>
      <p:sp>
        <p:nvSpPr>
          <p:cNvPr id="51" name="Text 40"/>
          <p:cNvSpPr txBox="1"/>
          <p:nvPr/>
        </p:nvSpPr>
        <p:spPr>
          <a:xfrm>
            <a:off x="6601968" y="3328416"/>
            <a:ext cx="2103120" cy="5486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Limited-scope token, 7–30 days, written nowhere</a:t>
            </a:r>
            <a:endParaRPr lang="en-US" sz="1050" dirty="0"/>
          </a:p>
        </p:txBody>
      </p:sp>
      <p:sp>
        <p:nvSpPr>
          <p:cNvPr id="52" name="Shape 41"/>
          <p:cNvSpPr/>
          <p:nvPr/>
        </p:nvSpPr>
        <p:spPr>
          <a:xfrm>
            <a:off x="457200" y="4069080"/>
            <a:ext cx="3931920" cy="256032"/>
          </a:xfrm>
          <a:prstGeom prst="roundRect">
            <a:avLst>
              <a:gd name="adj" fmla="val 50000"/>
            </a:avLst>
          </a:prstGeom>
          <a:solidFill>
            <a:srgbClr val="C4621D">
              <a:alpha val="15000"/>
            </a:srgbClr>
          </a:solidFill>
          <a:ln w="9525">
            <a:solidFill>
              <a:srgbClr val="C4621D"/>
            </a:solidFill>
            <a:prstDash val="solid"/>
          </a:ln>
        </p:spPr>
      </p:sp>
      <p:sp>
        <p:nvSpPr>
          <p:cNvPr id="53" name="Text 42"/>
          <p:cNvSpPr txBox="1"/>
          <p:nvPr/>
        </p:nvSpPr>
        <p:spPr>
          <a:xfrm>
            <a:off x="457200" y="4069080"/>
            <a:ext cx="3931920" cy="256032"/>
          </a:xfrm>
          <a:prstGeom prst="rect">
            <a:avLst/>
          </a:prstGeom>
          <a:noFill/>
          <a:ln/>
        </p:spPr>
        <p:txBody>
          <a:bodyPr wrap="square" lIns="0" tIns="0" rIns="0" bIns="0" rtlCol="0" anchor="ctr"/>
          <a:lstStyle/>
          <a:p>
            <a:pPr algn="ctr" indent="0" marL="0">
              <a:buNone/>
            </a:pPr>
            <a:r>
              <a:rPr lang="en-US" sz="1000" b="1" dirty="0">
                <a:solidFill>
                  <a:srgbClr val="C4621D"/>
                </a:solidFill>
                <a:latin typeface="Calibri" pitchFamily="34" charset="0"/>
                <a:ea typeface="Calibri" pitchFamily="34" charset="-122"/>
                <a:cs typeface="Calibri" pitchFamily="34" charset="-120"/>
              </a:rPr>
              <a:t>Key messages with confidence: high · medium · low</a:t>
            </a:r>
            <a:endParaRPr lang="en-US" sz="1000" dirty="0"/>
          </a:p>
        </p:txBody>
      </p:sp>
      <p:sp>
        <p:nvSpPr>
          <p:cNvPr id="54" name="Shape 43"/>
          <p:cNvSpPr/>
          <p:nvPr/>
        </p:nvSpPr>
        <p:spPr>
          <a:xfrm>
            <a:off x="4572000" y="4069080"/>
            <a:ext cx="4114800" cy="256032"/>
          </a:xfrm>
          <a:prstGeom prst="roundRect">
            <a:avLst>
              <a:gd name="adj" fmla="val 50000"/>
            </a:avLst>
          </a:prstGeom>
          <a:solidFill>
            <a:srgbClr val="5E6964">
              <a:alpha val="15000"/>
            </a:srgbClr>
          </a:solidFill>
          <a:ln w="9525">
            <a:solidFill>
              <a:srgbClr val="5E6964"/>
            </a:solidFill>
            <a:prstDash val="solid"/>
          </a:ln>
        </p:spPr>
      </p:sp>
      <p:sp>
        <p:nvSpPr>
          <p:cNvPr id="55" name="Text 44"/>
          <p:cNvSpPr txBox="1"/>
          <p:nvPr/>
        </p:nvSpPr>
        <p:spPr>
          <a:xfrm>
            <a:off x="4572000" y="4069080"/>
            <a:ext cx="4114800" cy="256032"/>
          </a:xfrm>
          <a:prstGeom prst="rect">
            <a:avLst/>
          </a:prstGeom>
          <a:noFill/>
          <a:ln/>
        </p:spPr>
        <p:txBody>
          <a:bodyPr wrap="square" lIns="0" tIns="0" rIns="0" bIns="0" rtlCol="0" anchor="ctr"/>
          <a:lstStyle/>
          <a:p>
            <a:pPr algn="ctr" indent="0" marL="0">
              <a:buNone/>
            </a:pPr>
            <a:r>
              <a:rPr lang="en-US" sz="1000" b="1" dirty="0">
                <a:solidFill>
                  <a:srgbClr val="5E6964"/>
                </a:solidFill>
                <a:latin typeface="Calibri" pitchFamily="34" charset="0"/>
                <a:ea typeface="Calibri" pitchFamily="34" charset="-122"/>
                <a:cs typeface="Calibri" pitchFamily="34" charset="-120"/>
              </a:rPr>
              <a:t>Synthetic test country "XTS": public publishing refused</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05 · PUBLISH · QUALITY</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Verified before release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C4621D"/>
          </a:solidFill>
          <a:ln w="12700">
            <a:solidFill>
              <a:srgbClr val="C4621D"/>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2606040" cy="1463040"/>
          </a:xfrm>
          <a:prstGeom prst="roundRect">
            <a:avLst>
              <a:gd name="adj" fmla="val 5000"/>
            </a:avLst>
          </a:prstGeom>
          <a:solidFill>
            <a:srgbClr val="E8F5EF"/>
          </a:solidFill>
          <a:ln w="15875">
            <a:solidFill>
              <a:srgbClr val="00A86A"/>
            </a:solidFill>
            <a:prstDash val="solid"/>
          </a:ln>
        </p:spPr>
      </p:sp>
      <p:sp>
        <p:nvSpPr>
          <p:cNvPr id="12" name="Text 9"/>
          <p:cNvSpPr txBox="1"/>
          <p:nvPr/>
        </p:nvSpPr>
        <p:spPr>
          <a:xfrm>
            <a:off x="640080" y="1463040"/>
            <a:ext cx="2286000" cy="685800"/>
          </a:xfrm>
          <a:prstGeom prst="rect">
            <a:avLst/>
          </a:prstGeom>
          <a:noFill/>
          <a:ln/>
        </p:spPr>
        <p:txBody>
          <a:bodyPr wrap="square" lIns="0" tIns="0" rIns="0" bIns="0" rtlCol="0" anchor="t"/>
          <a:lstStyle/>
          <a:p>
            <a:pPr indent="0" marL="0">
              <a:buNone/>
            </a:pPr>
            <a:r>
              <a:rPr lang="en-US" sz="3000" b="1" dirty="0">
                <a:solidFill>
                  <a:srgbClr val="00A86A"/>
                </a:solidFill>
                <a:latin typeface="Calibri" pitchFamily="34" charset="0"/>
                <a:ea typeface="Calibri" pitchFamily="34" charset="-122"/>
                <a:cs typeface="Calibri" pitchFamily="34" charset="-120"/>
              </a:rPr>
              <a:t>0</a:t>
            </a:r>
            <a:endParaRPr lang="en-US" sz="3000" dirty="0"/>
          </a:p>
        </p:txBody>
      </p:sp>
      <p:sp>
        <p:nvSpPr>
          <p:cNvPr id="13" name="Text 10"/>
          <p:cNvSpPr txBox="1"/>
          <p:nvPr/>
        </p:nvSpPr>
        <p:spPr>
          <a:xfrm>
            <a:off x="640080" y="2176272"/>
            <a:ext cx="2286000" cy="59436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runtime errors, notebooks 1 and 2, EN and FR</a:t>
            </a:r>
            <a:endParaRPr lang="en-US" sz="1050" dirty="0"/>
          </a:p>
        </p:txBody>
      </p:sp>
      <p:sp>
        <p:nvSpPr>
          <p:cNvPr id="14" name="Shape 11"/>
          <p:cNvSpPr/>
          <p:nvPr/>
        </p:nvSpPr>
        <p:spPr>
          <a:xfrm>
            <a:off x="3246120" y="1371600"/>
            <a:ext cx="2606040" cy="1463040"/>
          </a:xfrm>
          <a:prstGeom prst="roundRect">
            <a:avLst>
              <a:gd name="adj" fmla="val 5000"/>
            </a:avLst>
          </a:prstGeom>
          <a:solidFill>
            <a:srgbClr val="F4F7F5"/>
          </a:solidFill>
          <a:ln w="9525">
            <a:solidFill>
              <a:srgbClr val="D5DED9"/>
            </a:solidFill>
            <a:prstDash val="solid"/>
          </a:ln>
        </p:spPr>
      </p:sp>
      <p:sp>
        <p:nvSpPr>
          <p:cNvPr id="15" name="Text 12"/>
          <p:cNvSpPr txBox="1"/>
          <p:nvPr/>
        </p:nvSpPr>
        <p:spPr>
          <a:xfrm>
            <a:off x="3429000" y="1463040"/>
            <a:ext cx="2286000" cy="685800"/>
          </a:xfrm>
          <a:prstGeom prst="rect">
            <a:avLst/>
          </a:prstGeom>
          <a:noFill/>
          <a:ln/>
        </p:spPr>
        <p:txBody>
          <a:bodyPr wrap="square" lIns="0" tIns="0" rIns="0" bIns="0" rtlCol="0" anchor="t"/>
          <a:lstStyle/>
          <a:p>
            <a:pPr indent="0" marL="0">
              <a:buNone/>
            </a:pPr>
            <a:r>
              <a:rPr lang="en-US" sz="3000" b="1" dirty="0">
                <a:solidFill>
                  <a:srgbClr val="C4621D"/>
                </a:solidFill>
                <a:latin typeface="Calibri" pitchFamily="34" charset="0"/>
                <a:ea typeface="Calibri" pitchFamily="34" charset="-122"/>
                <a:cs typeface="Calibri" pitchFamily="34" charset="-120"/>
              </a:rPr>
              <a:t>13.7%→0.7%</a:t>
            </a:r>
            <a:endParaRPr lang="en-US" sz="3000" dirty="0"/>
          </a:p>
        </p:txBody>
      </p:sp>
      <p:sp>
        <p:nvSpPr>
          <p:cNvPr id="16" name="Text 13"/>
          <p:cNvSpPr txBox="1"/>
          <p:nvPr/>
        </p:nvSpPr>
        <p:spPr>
          <a:xfrm>
            <a:off x="3429000" y="2176272"/>
            <a:ext cx="2286000" cy="59436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spurious β-convergence under pure noise (simulation)</a:t>
            </a:r>
            <a:endParaRPr lang="en-US" sz="1050" dirty="0"/>
          </a:p>
        </p:txBody>
      </p:sp>
      <p:sp>
        <p:nvSpPr>
          <p:cNvPr id="17" name="Shape 14"/>
          <p:cNvSpPr/>
          <p:nvPr/>
        </p:nvSpPr>
        <p:spPr>
          <a:xfrm>
            <a:off x="6035040" y="1371600"/>
            <a:ext cx="2606040" cy="1463040"/>
          </a:xfrm>
          <a:prstGeom prst="roundRect">
            <a:avLst>
              <a:gd name="adj" fmla="val 5000"/>
            </a:avLst>
          </a:prstGeom>
          <a:solidFill>
            <a:srgbClr val="F4F7F5"/>
          </a:solidFill>
          <a:ln w="9525">
            <a:solidFill>
              <a:srgbClr val="D5DED9"/>
            </a:solidFill>
            <a:prstDash val="solid"/>
          </a:ln>
        </p:spPr>
      </p:sp>
      <p:sp>
        <p:nvSpPr>
          <p:cNvPr id="18" name="Text 15"/>
          <p:cNvSpPr txBox="1"/>
          <p:nvPr/>
        </p:nvSpPr>
        <p:spPr>
          <a:xfrm>
            <a:off x="6217920" y="1463040"/>
            <a:ext cx="2286000" cy="685800"/>
          </a:xfrm>
          <a:prstGeom prst="rect">
            <a:avLst/>
          </a:prstGeom>
          <a:noFill/>
          <a:ln/>
        </p:spPr>
        <p:txBody>
          <a:bodyPr wrap="square" lIns="0" tIns="0" rIns="0" bIns="0" rtlCol="0" anchor="t"/>
          <a:lstStyle/>
          <a:p>
            <a:pPr indent="0" marL="0">
              <a:buNone/>
            </a:pPr>
            <a:r>
              <a:rPr lang="en-US" sz="3000" b="1" dirty="0">
                <a:solidFill>
                  <a:srgbClr val="0E7C86"/>
                </a:solidFill>
                <a:latin typeface="Calibri" pitchFamily="34" charset="0"/>
                <a:ea typeface="Calibri" pitchFamily="34" charset="-122"/>
                <a:cs typeface="Calibri" pitchFamily="34" charset="-120"/>
              </a:rPr>
              <a:t>29 → 0</a:t>
            </a:r>
            <a:endParaRPr lang="en-US" sz="3000" dirty="0"/>
          </a:p>
        </p:txBody>
      </p:sp>
      <p:sp>
        <p:nvSpPr>
          <p:cNvPr id="19" name="Text 16"/>
          <p:cNvSpPr txBox="1"/>
          <p:nvPr/>
        </p:nvSpPr>
        <p:spPr>
          <a:xfrm>
            <a:off x="6217920" y="2176272"/>
            <a:ext cx="2286000" cy="59436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spurious growth classes across 300 null districts</a:t>
            </a:r>
            <a:endParaRPr lang="en-US" sz="1050" dirty="0"/>
          </a:p>
        </p:txBody>
      </p:sp>
      <p:pic>
        <p:nvPicPr>
          <p:cNvPr id="20" name="Image 0" descr="preencoded.png">    </p:cNvPr>
          <p:cNvPicPr>
            <a:picLocks noChangeAspect="1"/>
          </p:cNvPicPr>
          <p:nvPr/>
        </p:nvPicPr>
        <p:blipFill>
          <a:blip r:embed="rId1"/>
          <a:stretch>
            <a:fillRect/>
          </a:stretch>
        </p:blipFill>
        <p:spPr>
          <a:xfrm>
            <a:off x="457200" y="3118104"/>
            <a:ext cx="219456" cy="219456"/>
          </a:xfrm>
          <a:prstGeom prst="rect">
            <a:avLst/>
          </a:prstGeom>
        </p:spPr>
      </p:pic>
      <p:sp>
        <p:nvSpPr>
          <p:cNvPr id="21" name="Text 17"/>
          <p:cNvSpPr txBox="1"/>
          <p:nvPr/>
        </p:nvSpPr>
        <p:spPr>
          <a:xfrm>
            <a:off x="777240" y="3063240"/>
            <a:ext cx="3794760" cy="32918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Attributes and fill values read from every file</a:t>
            </a:r>
            <a:endParaRPr lang="en-US" sz="1100" dirty="0"/>
          </a:p>
        </p:txBody>
      </p:sp>
      <p:pic>
        <p:nvPicPr>
          <p:cNvPr id="22" name="Image 1" descr="preencoded.png">    </p:cNvPr>
          <p:cNvPicPr>
            <a:picLocks noChangeAspect="1"/>
          </p:cNvPicPr>
          <p:nvPr/>
        </p:nvPicPr>
        <p:blipFill>
          <a:blip r:embed="rId2"/>
          <a:stretch>
            <a:fillRect/>
          </a:stretch>
        </p:blipFill>
        <p:spPr>
          <a:xfrm>
            <a:off x="4663440" y="3118104"/>
            <a:ext cx="219456" cy="219456"/>
          </a:xfrm>
          <a:prstGeom prst="rect">
            <a:avLst/>
          </a:prstGeom>
        </p:spPr>
      </p:pic>
      <p:sp>
        <p:nvSpPr>
          <p:cNvPr id="23" name="Text 18"/>
          <p:cNvSpPr txBox="1"/>
          <p:nvPr/>
        </p:nvSpPr>
        <p:spPr>
          <a:xfrm>
            <a:off x="4983480" y="3063240"/>
            <a:ext cx="3794760" cy="32918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Quality legend and water codes read, not assumed</a:t>
            </a:r>
            <a:endParaRPr lang="en-US" sz="1100" dirty="0"/>
          </a:p>
        </p:txBody>
      </p:sp>
      <p:pic>
        <p:nvPicPr>
          <p:cNvPr id="24" name="Image 2" descr="preencoded.png">    </p:cNvPr>
          <p:cNvPicPr>
            <a:picLocks noChangeAspect="1"/>
          </p:cNvPicPr>
          <p:nvPr/>
        </p:nvPicPr>
        <p:blipFill>
          <a:blip r:embed="rId3"/>
          <a:stretch>
            <a:fillRect/>
          </a:stretch>
        </p:blipFill>
        <p:spPr>
          <a:xfrm>
            <a:off x="457200" y="3575304"/>
            <a:ext cx="219456" cy="219456"/>
          </a:xfrm>
          <a:prstGeom prst="rect">
            <a:avLst/>
          </a:prstGeom>
        </p:spPr>
      </p:pic>
      <p:sp>
        <p:nvSpPr>
          <p:cNvPr id="25" name="Text 19"/>
          <p:cNvSpPr txBox="1"/>
          <p:nvPr/>
        </p:nvSpPr>
        <p:spPr>
          <a:xfrm>
            <a:off x="777240" y="3520440"/>
            <a:ext cx="3794760" cy="32918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Parameters and code version invalidate a stale cache</a:t>
            </a:r>
            <a:endParaRPr lang="en-US" sz="1100" dirty="0"/>
          </a:p>
        </p:txBody>
      </p:sp>
      <p:pic>
        <p:nvPicPr>
          <p:cNvPr id="26" name="Image 3" descr="preencoded.png">    </p:cNvPr>
          <p:cNvPicPr>
            <a:picLocks noChangeAspect="1"/>
          </p:cNvPicPr>
          <p:nvPr/>
        </p:nvPicPr>
        <p:blipFill>
          <a:blip r:embed="rId4"/>
          <a:stretch>
            <a:fillRect/>
          </a:stretch>
        </p:blipFill>
        <p:spPr>
          <a:xfrm>
            <a:off x="4663440" y="3575304"/>
            <a:ext cx="219456" cy="219456"/>
          </a:xfrm>
          <a:prstGeom prst="rect">
            <a:avLst/>
          </a:prstGeom>
        </p:spPr>
      </p:pic>
      <p:sp>
        <p:nvSpPr>
          <p:cNvPr id="27" name="Text 20"/>
          <p:cNvSpPr txBox="1"/>
          <p:nvPr/>
        </p:nvSpPr>
        <p:spPr>
          <a:xfrm>
            <a:off x="4983480" y="3520440"/>
            <a:ext cx="3794760" cy="32918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GHSL population checked against the World Bank (±30%)</a:t>
            </a:r>
            <a:endParaRPr lang="en-US" sz="1100" dirty="0"/>
          </a:p>
        </p:txBody>
      </p:sp>
      <p:pic>
        <p:nvPicPr>
          <p:cNvPr id="28" name="Image 4" descr="preencoded.png">    </p:cNvPr>
          <p:cNvPicPr>
            <a:picLocks noChangeAspect="1"/>
          </p:cNvPicPr>
          <p:nvPr/>
        </p:nvPicPr>
        <p:blipFill>
          <a:blip r:embed="rId5"/>
          <a:stretch>
            <a:fillRect/>
          </a:stretch>
        </p:blipFill>
        <p:spPr>
          <a:xfrm>
            <a:off x="457200" y="4032504"/>
            <a:ext cx="219456" cy="219456"/>
          </a:xfrm>
          <a:prstGeom prst="rect">
            <a:avLst/>
          </a:prstGeom>
        </p:spPr>
      </p:pic>
      <p:sp>
        <p:nvSpPr>
          <p:cNvPr id="29" name="Text 21"/>
          <p:cNvSpPr txBox="1"/>
          <p:nvPr/>
        </p:nvSpPr>
        <p:spPr>
          <a:xfrm>
            <a:off x="777240" y="3977640"/>
            <a:ext cx="3794760" cy="32918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Every export travels with its metadata and log</a:t>
            </a:r>
            <a:endParaRPr lang="en-US" sz="1100" dirty="0"/>
          </a:p>
        </p:txBody>
      </p:sp>
      <p:pic>
        <p:nvPicPr>
          <p:cNvPr id="30" name="Image 5" descr="preencoded.png">    </p:cNvPr>
          <p:cNvPicPr>
            <a:picLocks noChangeAspect="1"/>
          </p:cNvPicPr>
          <p:nvPr/>
        </p:nvPicPr>
        <p:blipFill>
          <a:blip r:embed="rId6"/>
          <a:stretch>
            <a:fillRect/>
          </a:stretch>
        </p:blipFill>
        <p:spPr>
          <a:xfrm>
            <a:off x="4663440" y="4032504"/>
            <a:ext cx="219456" cy="219456"/>
          </a:xfrm>
          <a:prstGeom prst="rect">
            <a:avLst/>
          </a:prstGeom>
        </p:spPr>
      </p:pic>
      <p:sp>
        <p:nvSpPr>
          <p:cNvPr id="31" name="Text 22"/>
          <p:cNvSpPr txBox="1"/>
          <p:nvPr/>
        </p:nvSpPr>
        <p:spPr>
          <a:xfrm>
            <a:off x="4983480" y="3977640"/>
            <a:ext cx="3794760" cy="32918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Simulated values always flagged as such</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05 · PUBLISH · LIMITS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Six artefacts to know before drawing conclusions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C4621D"/>
          </a:solidFill>
          <a:ln w="12700">
            <a:solidFill>
              <a:srgbClr val="C4621D"/>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2606040" cy="1207008"/>
          </a:xfrm>
          <a:prstGeom prst="roundRect">
            <a:avLst>
              <a:gd name="adj" fmla="val 6061"/>
            </a:avLst>
          </a:prstGeom>
          <a:solidFill>
            <a:srgbClr val="F4F7F5"/>
          </a:solidFill>
          <a:ln w="9525">
            <a:solidFill>
              <a:srgbClr val="D5DED9"/>
            </a:solidFill>
            <a:prstDash val="solid"/>
          </a:ln>
        </p:spPr>
      </p:sp>
      <p:sp>
        <p:nvSpPr>
          <p:cNvPr id="12" name="Shape 9"/>
          <p:cNvSpPr/>
          <p:nvPr/>
        </p:nvSpPr>
        <p:spPr>
          <a:xfrm>
            <a:off x="603504" y="1517904"/>
            <a:ext cx="457200" cy="457200"/>
          </a:xfrm>
          <a:prstGeom prst="ellipse">
            <a:avLst/>
          </a:prstGeom>
          <a:solidFill>
            <a:srgbClr val="B83B2E">
              <a:alpha val="22000"/>
            </a:srgbClr>
          </a:solidFill>
          <a:ln w="12700">
            <a:solidFill>
              <a:srgbClr val="B83B2E">
                <a:alpha val="0"/>
              </a:srgbClr>
            </a:solidFill>
            <a:prstDash val="solid"/>
          </a:ln>
        </p:spPr>
      </p:sp>
      <p:pic>
        <p:nvPicPr>
          <p:cNvPr id="13" name="Image 0" descr="preencoded.png">    </p:cNvPr>
          <p:cNvPicPr>
            <a:picLocks noChangeAspect="1"/>
          </p:cNvPicPr>
          <p:nvPr/>
        </p:nvPicPr>
        <p:blipFill>
          <a:blip r:embed="rId1"/>
          <a:stretch>
            <a:fillRect/>
          </a:stretch>
        </p:blipFill>
        <p:spPr>
          <a:xfrm>
            <a:off x="713232" y="1627632"/>
            <a:ext cx="237744" cy="237744"/>
          </a:xfrm>
          <a:prstGeom prst="rect">
            <a:avLst/>
          </a:prstGeom>
        </p:spPr>
      </p:pic>
      <p:sp>
        <p:nvSpPr>
          <p:cNvPr id="14" name="Text 10"/>
          <p:cNvSpPr txBox="1"/>
          <p:nvPr/>
        </p:nvSpPr>
        <p:spPr>
          <a:xfrm>
            <a:off x="1170432" y="15179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Blooming</a:t>
            </a:r>
            <a:endParaRPr lang="en-US" sz="1300" dirty="0"/>
          </a:p>
        </p:txBody>
      </p:sp>
      <p:sp>
        <p:nvSpPr>
          <p:cNvPr id="15" name="Text 11"/>
          <p:cNvSpPr txBox="1"/>
          <p:nvPr/>
        </p:nvSpPr>
        <p:spPr>
          <a:xfrm>
            <a:off x="603504" y="2048256"/>
            <a:ext cx="2331720" cy="47548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Light spills beyond the built-up area</a:t>
            </a:r>
            <a:endParaRPr lang="en-US" sz="1050" dirty="0"/>
          </a:p>
        </p:txBody>
      </p:sp>
      <p:sp>
        <p:nvSpPr>
          <p:cNvPr id="16" name="Shape 12"/>
          <p:cNvSpPr/>
          <p:nvPr/>
        </p:nvSpPr>
        <p:spPr>
          <a:xfrm>
            <a:off x="3246120" y="1371600"/>
            <a:ext cx="2606040" cy="1207008"/>
          </a:xfrm>
          <a:prstGeom prst="roundRect">
            <a:avLst>
              <a:gd name="adj" fmla="val 6061"/>
            </a:avLst>
          </a:prstGeom>
          <a:solidFill>
            <a:srgbClr val="F4F7F5"/>
          </a:solidFill>
          <a:ln w="9525">
            <a:solidFill>
              <a:srgbClr val="D5DED9"/>
            </a:solidFill>
            <a:prstDash val="solid"/>
          </a:ln>
        </p:spPr>
      </p:sp>
      <p:sp>
        <p:nvSpPr>
          <p:cNvPr id="17" name="Shape 13"/>
          <p:cNvSpPr/>
          <p:nvPr/>
        </p:nvSpPr>
        <p:spPr>
          <a:xfrm>
            <a:off x="3392424" y="1517904"/>
            <a:ext cx="457200" cy="457200"/>
          </a:xfrm>
          <a:prstGeom prst="ellipse">
            <a:avLst/>
          </a:prstGeom>
          <a:solidFill>
            <a:srgbClr val="B83B2E">
              <a:alpha val="22000"/>
            </a:srgbClr>
          </a:solidFill>
          <a:ln w="12700">
            <a:solidFill>
              <a:srgbClr val="B83B2E">
                <a:alpha val="0"/>
              </a:srgbClr>
            </a:solidFill>
            <a:prstDash val="solid"/>
          </a:ln>
        </p:spPr>
      </p:sp>
      <p:pic>
        <p:nvPicPr>
          <p:cNvPr id="18" name="Image 1" descr="preencoded.png">    </p:cNvPr>
          <p:cNvPicPr>
            <a:picLocks noChangeAspect="1"/>
          </p:cNvPicPr>
          <p:nvPr/>
        </p:nvPicPr>
        <p:blipFill>
          <a:blip r:embed="rId2"/>
          <a:stretch>
            <a:fillRect/>
          </a:stretch>
        </p:blipFill>
        <p:spPr>
          <a:xfrm>
            <a:off x="3502152" y="1627632"/>
            <a:ext cx="237744" cy="237744"/>
          </a:xfrm>
          <a:prstGeom prst="rect">
            <a:avLst/>
          </a:prstGeom>
        </p:spPr>
      </p:pic>
      <p:sp>
        <p:nvSpPr>
          <p:cNvPr id="19" name="Text 14"/>
          <p:cNvSpPr txBox="1"/>
          <p:nvPr/>
        </p:nvSpPr>
        <p:spPr>
          <a:xfrm>
            <a:off x="3959352" y="15179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Saturation</a:t>
            </a:r>
            <a:endParaRPr lang="en-US" sz="1300" dirty="0"/>
          </a:p>
        </p:txBody>
      </p:sp>
      <p:sp>
        <p:nvSpPr>
          <p:cNvPr id="20" name="Text 15"/>
          <p:cNvSpPr txBox="1"/>
          <p:nvPr/>
        </p:nvSpPr>
        <p:spPr>
          <a:xfrm>
            <a:off x="3392424" y="2048256"/>
            <a:ext cx="2331720" cy="47548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The brightest centres hit a ceiling; DMSP saturates at 63</a:t>
            </a:r>
            <a:endParaRPr lang="en-US" sz="1050" dirty="0"/>
          </a:p>
        </p:txBody>
      </p:sp>
      <p:sp>
        <p:nvSpPr>
          <p:cNvPr id="21" name="Shape 16"/>
          <p:cNvSpPr/>
          <p:nvPr/>
        </p:nvSpPr>
        <p:spPr>
          <a:xfrm>
            <a:off x="6035040" y="1371600"/>
            <a:ext cx="2606040" cy="1207008"/>
          </a:xfrm>
          <a:prstGeom prst="roundRect">
            <a:avLst>
              <a:gd name="adj" fmla="val 6061"/>
            </a:avLst>
          </a:prstGeom>
          <a:solidFill>
            <a:srgbClr val="F4F7F5"/>
          </a:solidFill>
          <a:ln w="9525">
            <a:solidFill>
              <a:srgbClr val="D5DED9"/>
            </a:solidFill>
            <a:prstDash val="solid"/>
          </a:ln>
        </p:spPr>
      </p:sp>
      <p:sp>
        <p:nvSpPr>
          <p:cNvPr id="22" name="Shape 17"/>
          <p:cNvSpPr/>
          <p:nvPr/>
        </p:nvSpPr>
        <p:spPr>
          <a:xfrm>
            <a:off x="6181344" y="1517904"/>
            <a:ext cx="457200" cy="457200"/>
          </a:xfrm>
          <a:prstGeom prst="ellipse">
            <a:avLst/>
          </a:prstGeom>
          <a:solidFill>
            <a:srgbClr val="B83B2E">
              <a:alpha val="22000"/>
            </a:srgbClr>
          </a:solidFill>
          <a:ln w="12700">
            <a:solidFill>
              <a:srgbClr val="B83B2E">
                <a:alpha val="0"/>
              </a:srgbClr>
            </a:solidFill>
            <a:prstDash val="solid"/>
          </a:ln>
        </p:spPr>
      </p:sp>
      <p:pic>
        <p:nvPicPr>
          <p:cNvPr id="23" name="Image 2" descr="preencoded.png">    </p:cNvPr>
          <p:cNvPicPr>
            <a:picLocks noChangeAspect="1"/>
          </p:cNvPicPr>
          <p:nvPr/>
        </p:nvPicPr>
        <p:blipFill>
          <a:blip r:embed="rId3"/>
          <a:stretch>
            <a:fillRect/>
          </a:stretch>
        </p:blipFill>
        <p:spPr>
          <a:xfrm>
            <a:off x="6291072" y="1627632"/>
            <a:ext cx="237744" cy="237744"/>
          </a:xfrm>
          <a:prstGeom prst="rect">
            <a:avLst/>
          </a:prstGeom>
        </p:spPr>
      </p:pic>
      <p:sp>
        <p:nvSpPr>
          <p:cNvPr id="24" name="Text 18"/>
          <p:cNvSpPr txBox="1"/>
          <p:nvPr/>
        </p:nvSpPr>
        <p:spPr>
          <a:xfrm>
            <a:off x="6748272" y="15179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Gas flares</a:t>
            </a:r>
            <a:endParaRPr lang="en-US" sz="1300" dirty="0"/>
          </a:p>
        </p:txBody>
      </p:sp>
      <p:sp>
        <p:nvSpPr>
          <p:cNvPr id="25" name="Text 19"/>
          <p:cNvSpPr txBox="1"/>
          <p:nvPr/>
        </p:nvSpPr>
        <p:spPr>
          <a:xfrm>
            <a:off x="6181344" y="2048256"/>
            <a:ext cx="2331720" cy="47548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Bright with no local economic activity</a:t>
            </a:r>
            <a:endParaRPr lang="en-US" sz="1050" dirty="0"/>
          </a:p>
        </p:txBody>
      </p:sp>
      <p:sp>
        <p:nvSpPr>
          <p:cNvPr id="26" name="Shape 20"/>
          <p:cNvSpPr/>
          <p:nvPr/>
        </p:nvSpPr>
        <p:spPr>
          <a:xfrm>
            <a:off x="457200" y="2743200"/>
            <a:ext cx="2606040" cy="1207008"/>
          </a:xfrm>
          <a:prstGeom prst="roundRect">
            <a:avLst>
              <a:gd name="adj" fmla="val 6061"/>
            </a:avLst>
          </a:prstGeom>
          <a:solidFill>
            <a:srgbClr val="F4F7F5"/>
          </a:solidFill>
          <a:ln w="9525">
            <a:solidFill>
              <a:srgbClr val="D5DED9"/>
            </a:solidFill>
            <a:prstDash val="solid"/>
          </a:ln>
        </p:spPr>
      </p:sp>
      <p:sp>
        <p:nvSpPr>
          <p:cNvPr id="27" name="Shape 21"/>
          <p:cNvSpPr/>
          <p:nvPr/>
        </p:nvSpPr>
        <p:spPr>
          <a:xfrm>
            <a:off x="603504" y="2889504"/>
            <a:ext cx="457200" cy="457200"/>
          </a:xfrm>
          <a:prstGeom prst="ellipse">
            <a:avLst/>
          </a:prstGeom>
          <a:solidFill>
            <a:srgbClr val="B83B2E">
              <a:alpha val="22000"/>
            </a:srgbClr>
          </a:solidFill>
          <a:ln w="12700">
            <a:solidFill>
              <a:srgbClr val="B83B2E">
                <a:alpha val="0"/>
              </a:srgbClr>
            </a:solidFill>
            <a:prstDash val="solid"/>
          </a:ln>
        </p:spPr>
      </p:sp>
      <p:pic>
        <p:nvPicPr>
          <p:cNvPr id="28" name="Image 3" descr="preencoded.png">    </p:cNvPr>
          <p:cNvPicPr>
            <a:picLocks noChangeAspect="1"/>
          </p:cNvPicPr>
          <p:nvPr/>
        </p:nvPicPr>
        <p:blipFill>
          <a:blip r:embed="rId4"/>
          <a:stretch>
            <a:fillRect/>
          </a:stretch>
        </p:blipFill>
        <p:spPr>
          <a:xfrm>
            <a:off x="713232" y="2999232"/>
            <a:ext cx="237744" cy="237744"/>
          </a:xfrm>
          <a:prstGeom prst="rect">
            <a:avLst/>
          </a:prstGeom>
        </p:spPr>
      </p:pic>
      <p:sp>
        <p:nvSpPr>
          <p:cNvPr id="29" name="Text 22"/>
          <p:cNvSpPr txBox="1"/>
          <p:nvPr/>
        </p:nvSpPr>
        <p:spPr>
          <a:xfrm>
            <a:off x="1170432" y="28895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Seasonality</a:t>
            </a:r>
            <a:endParaRPr lang="en-US" sz="1300" dirty="0"/>
          </a:p>
        </p:txBody>
      </p:sp>
      <p:sp>
        <p:nvSpPr>
          <p:cNvPr id="30" name="Text 23"/>
          <p:cNvSpPr txBox="1"/>
          <p:nvPr/>
        </p:nvSpPr>
        <p:spPr>
          <a:xfrm>
            <a:off x="603504" y="3419856"/>
            <a:ext cx="2331720" cy="47548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Clouds and fires create non-economic cycles</a:t>
            </a:r>
            <a:endParaRPr lang="en-US" sz="1050" dirty="0"/>
          </a:p>
        </p:txBody>
      </p:sp>
      <p:sp>
        <p:nvSpPr>
          <p:cNvPr id="31" name="Shape 24"/>
          <p:cNvSpPr/>
          <p:nvPr/>
        </p:nvSpPr>
        <p:spPr>
          <a:xfrm>
            <a:off x="3246120" y="2743200"/>
            <a:ext cx="2606040" cy="1207008"/>
          </a:xfrm>
          <a:prstGeom prst="roundRect">
            <a:avLst>
              <a:gd name="adj" fmla="val 6061"/>
            </a:avLst>
          </a:prstGeom>
          <a:solidFill>
            <a:srgbClr val="F4F7F5"/>
          </a:solidFill>
          <a:ln w="9525">
            <a:solidFill>
              <a:srgbClr val="D5DED9"/>
            </a:solidFill>
            <a:prstDash val="solid"/>
          </a:ln>
        </p:spPr>
      </p:sp>
      <p:sp>
        <p:nvSpPr>
          <p:cNvPr id="32" name="Shape 25"/>
          <p:cNvSpPr/>
          <p:nvPr/>
        </p:nvSpPr>
        <p:spPr>
          <a:xfrm>
            <a:off x="3392424" y="2889504"/>
            <a:ext cx="457200" cy="457200"/>
          </a:xfrm>
          <a:prstGeom prst="ellipse">
            <a:avLst/>
          </a:prstGeom>
          <a:solidFill>
            <a:srgbClr val="B83B2E">
              <a:alpha val="22000"/>
            </a:srgbClr>
          </a:solidFill>
          <a:ln w="12700">
            <a:solidFill>
              <a:srgbClr val="B83B2E">
                <a:alpha val="0"/>
              </a:srgbClr>
            </a:solidFill>
            <a:prstDash val="solid"/>
          </a:ln>
        </p:spPr>
      </p:sp>
      <p:pic>
        <p:nvPicPr>
          <p:cNvPr id="33" name="Image 4" descr="preencoded.png">    </p:cNvPr>
          <p:cNvPicPr>
            <a:picLocks noChangeAspect="1"/>
          </p:cNvPicPr>
          <p:nvPr/>
        </p:nvPicPr>
        <p:blipFill>
          <a:blip r:embed="rId5"/>
          <a:stretch>
            <a:fillRect/>
          </a:stretch>
        </p:blipFill>
        <p:spPr>
          <a:xfrm>
            <a:off x="3502152" y="2999232"/>
            <a:ext cx="237744" cy="237744"/>
          </a:xfrm>
          <a:prstGeom prst="rect">
            <a:avLst/>
          </a:prstGeom>
        </p:spPr>
      </p:pic>
      <p:sp>
        <p:nvSpPr>
          <p:cNvPr id="34" name="Text 26"/>
          <p:cNvSpPr txBox="1"/>
          <p:nvPr/>
        </p:nvSpPr>
        <p:spPr>
          <a:xfrm>
            <a:off x="3959352" y="28895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Sensor breaks</a:t>
            </a:r>
            <a:endParaRPr lang="en-US" sz="1300" dirty="0"/>
          </a:p>
        </p:txBody>
      </p:sp>
      <p:sp>
        <p:nvSpPr>
          <p:cNvPr id="35" name="Text 27"/>
          <p:cNvSpPr txBox="1"/>
          <p:nvPr/>
        </p:nvSpPr>
        <p:spPr>
          <a:xfrm>
            <a:off x="3392424" y="3419856"/>
            <a:ext cx="2331720" cy="47548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DMSP → VIIRS, VNL V2.1 → V2.2, collections</a:t>
            </a:r>
            <a:endParaRPr lang="en-US" sz="1050" dirty="0"/>
          </a:p>
        </p:txBody>
      </p:sp>
      <p:sp>
        <p:nvSpPr>
          <p:cNvPr id="36" name="Shape 28"/>
          <p:cNvSpPr/>
          <p:nvPr/>
        </p:nvSpPr>
        <p:spPr>
          <a:xfrm>
            <a:off x="6035040" y="2743200"/>
            <a:ext cx="2606040" cy="1207008"/>
          </a:xfrm>
          <a:prstGeom prst="roundRect">
            <a:avLst>
              <a:gd name="adj" fmla="val 6061"/>
            </a:avLst>
          </a:prstGeom>
          <a:solidFill>
            <a:srgbClr val="F4F7F5"/>
          </a:solidFill>
          <a:ln w="9525">
            <a:solidFill>
              <a:srgbClr val="D5DED9"/>
            </a:solidFill>
            <a:prstDash val="solid"/>
          </a:ln>
        </p:spPr>
      </p:sp>
      <p:sp>
        <p:nvSpPr>
          <p:cNvPr id="37" name="Shape 29"/>
          <p:cNvSpPr/>
          <p:nvPr/>
        </p:nvSpPr>
        <p:spPr>
          <a:xfrm>
            <a:off x="6181344" y="2889504"/>
            <a:ext cx="457200" cy="457200"/>
          </a:xfrm>
          <a:prstGeom prst="ellipse">
            <a:avLst/>
          </a:prstGeom>
          <a:solidFill>
            <a:srgbClr val="B83B2E">
              <a:alpha val="22000"/>
            </a:srgbClr>
          </a:solidFill>
          <a:ln w="12700">
            <a:solidFill>
              <a:srgbClr val="B83B2E">
                <a:alpha val="0"/>
              </a:srgbClr>
            </a:solidFill>
            <a:prstDash val="solid"/>
          </a:ln>
        </p:spPr>
      </p:sp>
      <p:pic>
        <p:nvPicPr>
          <p:cNvPr id="38" name="Image 5" descr="preencoded.png">    </p:cNvPr>
          <p:cNvPicPr>
            <a:picLocks noChangeAspect="1"/>
          </p:cNvPicPr>
          <p:nvPr/>
        </p:nvPicPr>
        <p:blipFill>
          <a:blip r:embed="rId6"/>
          <a:stretch>
            <a:fillRect/>
          </a:stretch>
        </p:blipFill>
        <p:spPr>
          <a:xfrm>
            <a:off x="6291072" y="2999232"/>
            <a:ext cx="237744" cy="237744"/>
          </a:xfrm>
          <a:prstGeom prst="rect">
            <a:avLst/>
          </a:prstGeom>
        </p:spPr>
      </p:pic>
      <p:sp>
        <p:nvSpPr>
          <p:cNvPr id="39" name="Text 30"/>
          <p:cNvSpPr txBox="1"/>
          <p:nvPr/>
        </p:nvSpPr>
        <p:spPr>
          <a:xfrm>
            <a:off x="6748272" y="28895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Rural noise</a:t>
            </a:r>
            <a:endParaRPr lang="en-US" sz="1300" dirty="0"/>
          </a:p>
        </p:txBody>
      </p:sp>
      <p:sp>
        <p:nvSpPr>
          <p:cNvPr id="40" name="Text 31"/>
          <p:cNvSpPr txBox="1"/>
          <p:nvPr/>
        </p:nvSpPr>
        <p:spPr>
          <a:xfrm>
            <a:off x="6181344" y="3419856"/>
            <a:ext cx="2331720" cy="47548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Weakest signal where the rural poor live</a:t>
            </a:r>
            <a:endParaRPr lang="en-US" sz="1050" dirty="0"/>
          </a:p>
        </p:txBody>
      </p:sp>
      <p:sp>
        <p:nvSpPr>
          <p:cNvPr id="41" name="Text 32"/>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Gibson et al. (2021); Elvidge et al. (2021); Li et al. (2020)</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t"/>
          <a:lstStyle/>
          <a:p>
            <a:pPr indent="0" marL="0">
              <a:buNone/>
            </a:pPr>
            <a:r>
              <a:rPr lang="en-US" sz="8000" b="1" dirty="0">
                <a:solidFill>
                  <a:srgbClr val="F5C242"/>
                </a:solidFill>
                <a:latin typeface="Calibri" pitchFamily="34" charset="0"/>
                <a:ea typeface="Calibri" pitchFamily="34" charset="-122"/>
                <a:cs typeface="Calibri" pitchFamily="34" charset="-120"/>
              </a:rPr>
              <a:t>06</a:t>
            </a:r>
            <a:endParaRPr lang="en-US" sz="8000" dirty="0"/>
          </a:p>
        </p:txBody>
      </p:sp>
      <p:sp>
        <p:nvSpPr>
          <p:cNvPr id="4" name="Text 2"/>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Key takeaways</a:t>
            </a:r>
            <a:endParaRPr lang="en-US" sz="4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What should a statistician remember?</a:t>
            </a:r>
            <a:endParaRPr lang="en-US" sz="1800" dirty="0"/>
          </a:p>
        </p:txBody>
      </p:sp>
      <p:sp>
        <p:nvSpPr>
          <p:cNvPr id="6" name="Shape 4"/>
          <p:cNvSpPr/>
          <p:nvPr/>
        </p:nvSpPr>
        <p:spPr>
          <a:xfrm>
            <a:off x="6309360" y="1234440"/>
            <a:ext cx="2286000" cy="2286000"/>
          </a:xfrm>
          <a:prstGeom prst="ellipse">
            <a:avLst/>
          </a:prstGeom>
          <a:solidFill>
            <a:srgbClr val="FFFFFF">
              <a:alpha val="8000"/>
            </a:srgbClr>
          </a:solidFill>
          <a:ln w="12700">
            <a:solidFill>
              <a:srgbClr val="FFFFFF">
                <a:alpha val="30000"/>
              </a:srgbClr>
            </a:solidFill>
            <a:prstDash val="solid"/>
          </a:ln>
        </p:spPr>
      </p:sp>
      <p:sp>
        <p:nvSpPr>
          <p:cNvPr id="7" name="Shape 5"/>
          <p:cNvSpPr/>
          <p:nvPr/>
        </p:nvSpPr>
        <p:spPr>
          <a:xfrm>
            <a:off x="6675120" y="1600200"/>
            <a:ext cx="1554480" cy="1554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086600" y="2011680"/>
            <a:ext cx="731520" cy="731520"/>
          </a:xfrm>
          <a:prstGeom prst="rect">
            <a:avLst/>
          </a:prstGeom>
        </p:spPr>
      </p:pic>
      <p:sp>
        <p:nvSpPr>
          <p:cNvPr id="9" name="Shape 6"/>
          <p:cNvSpPr/>
          <p:nvPr/>
        </p:nvSpPr>
        <p:spPr>
          <a:xfrm>
            <a:off x="566928" y="425196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786384" y="4251960"/>
            <a:ext cx="118872" cy="118872"/>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005840" y="4251960"/>
            <a:ext cx="118872" cy="118872"/>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225296" y="4251960"/>
            <a:ext cx="118872" cy="118872"/>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1444752" y="4251960"/>
            <a:ext cx="118872" cy="118872"/>
          </a:xfrm>
          <a:prstGeom prst="ellipse">
            <a:avLst/>
          </a:prstGeom>
          <a:solidFill>
            <a:srgbClr val="FFFFFF">
              <a:alpha val="40000"/>
            </a:srgbClr>
          </a:solidFill>
          <a:ln w="12700">
            <a:solidFill>
              <a:srgbClr val="FFFFFF">
                <a:alpha val="0"/>
              </a:srgbClr>
            </a:solidFill>
            <a:prstDash val="solid"/>
          </a:ln>
        </p:spPr>
      </p:sp>
      <p:sp>
        <p:nvSpPr>
          <p:cNvPr id="14" name="Shape 11"/>
          <p:cNvSpPr/>
          <p:nvPr/>
        </p:nvSpPr>
        <p:spPr>
          <a:xfrm>
            <a:off x="1664208" y="4251960"/>
            <a:ext cx="118872" cy="118872"/>
          </a:xfrm>
          <a:prstGeom prst="ellipse">
            <a:avLst/>
          </a:prstGeom>
          <a:solidFill>
            <a:srgbClr val="F5C242"/>
          </a:solidFill>
          <a:ln w="12700">
            <a:solidFill>
              <a:srgbClr val="FFFFFF">
                <a:alpha val="0"/>
              </a:srgbClr>
            </a:solidFill>
            <a:prstDash val="solid"/>
          </a:ln>
        </p:spPr>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06 · KEY TAKEAWAYS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Twelve checks before publishing a number</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B83B2E"/>
          </a:solidFill>
          <a:ln w="12700">
            <a:solidFill>
              <a:srgbClr val="B83B2E"/>
            </a:solidFill>
            <a:prstDash val="solid"/>
          </a:ln>
        </p:spPr>
      </p:sp>
      <p:sp>
        <p:nvSpPr>
          <p:cNvPr id="11" name="Shape 8"/>
          <p:cNvSpPr/>
          <p:nvPr/>
        </p:nvSpPr>
        <p:spPr>
          <a:xfrm>
            <a:off x="457200" y="1353312"/>
            <a:ext cx="2606040" cy="658368"/>
          </a:xfrm>
          <a:prstGeom prst="roundRect">
            <a:avLst>
              <a:gd name="adj" fmla="val 11111"/>
            </a:avLst>
          </a:prstGeom>
          <a:solidFill>
            <a:srgbClr val="F4F7F5"/>
          </a:solidFill>
          <a:ln w="9525">
            <a:solidFill>
              <a:srgbClr val="D5DED9"/>
            </a:solidFill>
            <a:prstDash val="solid"/>
          </a:ln>
        </p:spPr>
      </p:sp>
      <p:sp>
        <p:nvSpPr>
          <p:cNvPr id="12" name="Shape 9"/>
          <p:cNvSpPr/>
          <p:nvPr/>
        </p:nvSpPr>
        <p:spPr>
          <a:xfrm>
            <a:off x="576072" y="1508760"/>
            <a:ext cx="347472" cy="347472"/>
          </a:xfrm>
          <a:prstGeom prst="ellipse">
            <a:avLst/>
          </a:prstGeom>
          <a:solidFill>
            <a:srgbClr val="00A86A"/>
          </a:solidFill>
          <a:ln w="12700">
            <a:solidFill>
              <a:srgbClr val="00A86A"/>
            </a:solidFill>
            <a:prstDash val="solid"/>
          </a:ln>
        </p:spPr>
      </p:sp>
      <p:sp>
        <p:nvSpPr>
          <p:cNvPr id="13" name="Text 10"/>
          <p:cNvSpPr txBox="1"/>
          <p:nvPr/>
        </p:nvSpPr>
        <p:spPr>
          <a:xfrm>
            <a:off x="576072" y="150876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4" name="Text 11"/>
          <p:cNvSpPr txBox="1"/>
          <p:nvPr/>
        </p:nvSpPr>
        <p:spPr>
          <a:xfrm>
            <a:off x="1024128" y="1408176"/>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File names intact; year read from the name</a:t>
            </a:r>
            <a:endParaRPr lang="en-US" sz="1100" dirty="0"/>
          </a:p>
        </p:txBody>
      </p:sp>
      <p:sp>
        <p:nvSpPr>
          <p:cNvPr id="15" name="Shape 12"/>
          <p:cNvSpPr/>
          <p:nvPr/>
        </p:nvSpPr>
        <p:spPr>
          <a:xfrm>
            <a:off x="3246120" y="1353312"/>
            <a:ext cx="2606040" cy="658368"/>
          </a:xfrm>
          <a:prstGeom prst="roundRect">
            <a:avLst>
              <a:gd name="adj" fmla="val 11111"/>
            </a:avLst>
          </a:prstGeom>
          <a:solidFill>
            <a:srgbClr val="F4F7F5"/>
          </a:solidFill>
          <a:ln w="9525">
            <a:solidFill>
              <a:srgbClr val="D5DED9"/>
            </a:solidFill>
            <a:prstDash val="solid"/>
          </a:ln>
        </p:spPr>
      </p:sp>
      <p:sp>
        <p:nvSpPr>
          <p:cNvPr id="16" name="Shape 13"/>
          <p:cNvSpPr/>
          <p:nvPr/>
        </p:nvSpPr>
        <p:spPr>
          <a:xfrm>
            <a:off x="3364992" y="1508760"/>
            <a:ext cx="347472" cy="347472"/>
          </a:xfrm>
          <a:prstGeom prst="ellipse">
            <a:avLst/>
          </a:prstGeom>
          <a:solidFill>
            <a:srgbClr val="00A86A"/>
          </a:solidFill>
          <a:ln w="12700">
            <a:solidFill>
              <a:srgbClr val="00A86A"/>
            </a:solidFill>
            <a:prstDash val="solid"/>
          </a:ln>
        </p:spPr>
      </p:sp>
      <p:sp>
        <p:nvSpPr>
          <p:cNvPr id="17" name="Text 14"/>
          <p:cNvSpPr txBox="1"/>
          <p:nvPr/>
        </p:nvSpPr>
        <p:spPr>
          <a:xfrm>
            <a:off x="3364992" y="150876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8" name="Text 15"/>
          <p:cNvSpPr txBox="1"/>
          <p:nvPr/>
        </p:nvSpPr>
        <p:spPr>
          <a:xfrm>
            <a:off x="3813048" y="1408176"/>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Dataset group searched for, not assumed</a:t>
            </a:r>
            <a:endParaRPr lang="en-US" sz="1100" dirty="0"/>
          </a:p>
        </p:txBody>
      </p:sp>
      <p:sp>
        <p:nvSpPr>
          <p:cNvPr id="19" name="Shape 16"/>
          <p:cNvSpPr/>
          <p:nvPr/>
        </p:nvSpPr>
        <p:spPr>
          <a:xfrm>
            <a:off x="6035040" y="1353312"/>
            <a:ext cx="2606040" cy="658368"/>
          </a:xfrm>
          <a:prstGeom prst="roundRect">
            <a:avLst>
              <a:gd name="adj" fmla="val 11111"/>
            </a:avLst>
          </a:prstGeom>
          <a:solidFill>
            <a:srgbClr val="F4F7F5"/>
          </a:solidFill>
          <a:ln w="9525">
            <a:solidFill>
              <a:srgbClr val="D5DED9"/>
            </a:solidFill>
            <a:prstDash val="solid"/>
          </a:ln>
        </p:spPr>
      </p:sp>
      <p:sp>
        <p:nvSpPr>
          <p:cNvPr id="20" name="Shape 17"/>
          <p:cNvSpPr/>
          <p:nvPr/>
        </p:nvSpPr>
        <p:spPr>
          <a:xfrm>
            <a:off x="6153912" y="1508760"/>
            <a:ext cx="347472" cy="347472"/>
          </a:xfrm>
          <a:prstGeom prst="ellipse">
            <a:avLst/>
          </a:prstGeom>
          <a:solidFill>
            <a:srgbClr val="00704A"/>
          </a:solidFill>
          <a:ln w="12700">
            <a:solidFill>
              <a:srgbClr val="00704A"/>
            </a:solidFill>
            <a:prstDash val="solid"/>
          </a:ln>
        </p:spPr>
      </p:sp>
      <p:sp>
        <p:nvSpPr>
          <p:cNvPr id="21" name="Text 18"/>
          <p:cNvSpPr txBox="1"/>
          <p:nvPr/>
        </p:nvSpPr>
        <p:spPr>
          <a:xfrm>
            <a:off x="6153912" y="150876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2" name="Text 19"/>
          <p:cNvSpPr txBox="1"/>
          <p:nvPr/>
        </p:nvSpPr>
        <p:spPr>
          <a:xfrm>
            <a:off x="6601968" y="1408176"/>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Scale, offset and fill read from the file</a:t>
            </a:r>
            <a:endParaRPr lang="en-US" sz="1100" dirty="0"/>
          </a:p>
        </p:txBody>
      </p:sp>
      <p:sp>
        <p:nvSpPr>
          <p:cNvPr id="23" name="Shape 20"/>
          <p:cNvSpPr/>
          <p:nvPr/>
        </p:nvSpPr>
        <p:spPr>
          <a:xfrm>
            <a:off x="457200" y="2139696"/>
            <a:ext cx="2606040" cy="658368"/>
          </a:xfrm>
          <a:prstGeom prst="roundRect">
            <a:avLst>
              <a:gd name="adj" fmla="val 11111"/>
            </a:avLst>
          </a:prstGeom>
          <a:solidFill>
            <a:srgbClr val="E8F5EF"/>
          </a:solidFill>
          <a:ln w="15875">
            <a:solidFill>
              <a:srgbClr val="B83B2E"/>
            </a:solidFill>
            <a:prstDash val="solid"/>
          </a:ln>
        </p:spPr>
      </p:sp>
      <p:sp>
        <p:nvSpPr>
          <p:cNvPr id="24" name="Shape 21"/>
          <p:cNvSpPr/>
          <p:nvPr/>
        </p:nvSpPr>
        <p:spPr>
          <a:xfrm>
            <a:off x="576072" y="2295144"/>
            <a:ext cx="347472" cy="347472"/>
          </a:xfrm>
          <a:prstGeom prst="ellipse">
            <a:avLst/>
          </a:prstGeom>
          <a:solidFill>
            <a:srgbClr val="00704A"/>
          </a:solidFill>
          <a:ln w="12700">
            <a:solidFill>
              <a:srgbClr val="00704A"/>
            </a:solidFill>
            <a:prstDash val="solid"/>
          </a:ln>
        </p:spPr>
      </p:sp>
      <p:sp>
        <p:nvSpPr>
          <p:cNvPr id="25" name="Text 22"/>
          <p:cNvSpPr txBox="1"/>
          <p:nvPr/>
        </p:nvSpPr>
        <p:spPr>
          <a:xfrm>
            <a:off x="576072" y="22951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3"/>
          <p:cNvSpPr txBox="1"/>
          <p:nvPr/>
        </p:nvSpPr>
        <p:spPr>
          <a:xfrm>
            <a:off x="1024128" y="2194560"/>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Fill set to NaN first</a:t>
            </a:r>
            <a:endParaRPr lang="en-US" sz="1100" dirty="0"/>
          </a:p>
        </p:txBody>
      </p:sp>
      <p:sp>
        <p:nvSpPr>
          <p:cNvPr id="27" name="Shape 24"/>
          <p:cNvSpPr/>
          <p:nvPr/>
        </p:nvSpPr>
        <p:spPr>
          <a:xfrm>
            <a:off x="3246120" y="2139696"/>
            <a:ext cx="2606040" cy="658368"/>
          </a:xfrm>
          <a:prstGeom prst="roundRect">
            <a:avLst>
              <a:gd name="adj" fmla="val 11111"/>
            </a:avLst>
          </a:prstGeom>
          <a:solidFill>
            <a:srgbClr val="F4F7F5"/>
          </a:solidFill>
          <a:ln w="9525">
            <a:solidFill>
              <a:srgbClr val="D5DED9"/>
            </a:solidFill>
            <a:prstDash val="solid"/>
          </a:ln>
        </p:spPr>
      </p:sp>
      <p:sp>
        <p:nvSpPr>
          <p:cNvPr id="28" name="Shape 25"/>
          <p:cNvSpPr/>
          <p:nvPr/>
        </p:nvSpPr>
        <p:spPr>
          <a:xfrm>
            <a:off x="3364992" y="2295144"/>
            <a:ext cx="347472" cy="347472"/>
          </a:xfrm>
          <a:prstGeom prst="ellipse">
            <a:avLst/>
          </a:prstGeom>
          <a:solidFill>
            <a:srgbClr val="0E7C86"/>
          </a:solidFill>
          <a:ln w="12700">
            <a:solidFill>
              <a:srgbClr val="0E7C86"/>
            </a:solidFill>
            <a:prstDash val="solid"/>
          </a:ln>
        </p:spPr>
      </p:sp>
      <p:sp>
        <p:nvSpPr>
          <p:cNvPr id="29" name="Text 26"/>
          <p:cNvSpPr txBox="1"/>
          <p:nvPr/>
        </p:nvSpPr>
        <p:spPr>
          <a:xfrm>
            <a:off x="3364992" y="22951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0" name="Text 27"/>
          <p:cNvSpPr txBox="1"/>
          <p:nvPr/>
        </p:nvSpPr>
        <p:spPr>
          <a:xfrm>
            <a:off x="3813048" y="2194560"/>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North up: row 0 is the northernmost</a:t>
            </a:r>
            <a:endParaRPr lang="en-US" sz="1100" dirty="0"/>
          </a:p>
        </p:txBody>
      </p:sp>
      <p:sp>
        <p:nvSpPr>
          <p:cNvPr id="31" name="Shape 28"/>
          <p:cNvSpPr/>
          <p:nvPr/>
        </p:nvSpPr>
        <p:spPr>
          <a:xfrm>
            <a:off x="6035040" y="2139696"/>
            <a:ext cx="2606040" cy="658368"/>
          </a:xfrm>
          <a:prstGeom prst="roundRect">
            <a:avLst>
              <a:gd name="adj" fmla="val 11111"/>
            </a:avLst>
          </a:prstGeom>
          <a:solidFill>
            <a:srgbClr val="F4F7F5"/>
          </a:solidFill>
          <a:ln w="9525">
            <a:solidFill>
              <a:srgbClr val="D5DED9"/>
            </a:solidFill>
            <a:prstDash val="solid"/>
          </a:ln>
        </p:spPr>
      </p:sp>
      <p:sp>
        <p:nvSpPr>
          <p:cNvPr id="32" name="Shape 29"/>
          <p:cNvSpPr/>
          <p:nvPr/>
        </p:nvSpPr>
        <p:spPr>
          <a:xfrm>
            <a:off x="6153912" y="2295144"/>
            <a:ext cx="347472" cy="347472"/>
          </a:xfrm>
          <a:prstGeom prst="ellipse">
            <a:avLst/>
          </a:prstGeom>
          <a:solidFill>
            <a:srgbClr val="0E7C86"/>
          </a:solidFill>
          <a:ln w="12700">
            <a:solidFill>
              <a:srgbClr val="0E7C86"/>
            </a:solidFill>
            <a:prstDash val="solid"/>
          </a:ln>
        </p:spPr>
      </p:sp>
      <p:sp>
        <p:nvSpPr>
          <p:cNvPr id="33" name="Text 30"/>
          <p:cNvSpPr txBox="1"/>
          <p:nvPr/>
        </p:nvSpPr>
        <p:spPr>
          <a:xfrm>
            <a:off x="6153912" y="22951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4" name="Text 31"/>
          <p:cNvSpPr txBox="1"/>
          <p:nvPr/>
        </p:nvSpPr>
        <p:spPr>
          <a:xfrm>
            <a:off x="6601968" y="2194560"/>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Quality threshold documented</a:t>
            </a:r>
            <a:endParaRPr lang="en-US" sz="1100" dirty="0"/>
          </a:p>
        </p:txBody>
      </p:sp>
      <p:sp>
        <p:nvSpPr>
          <p:cNvPr id="35" name="Shape 32"/>
          <p:cNvSpPr/>
          <p:nvPr/>
        </p:nvSpPr>
        <p:spPr>
          <a:xfrm>
            <a:off x="457200" y="2926080"/>
            <a:ext cx="2606040" cy="658368"/>
          </a:xfrm>
          <a:prstGeom prst="roundRect">
            <a:avLst>
              <a:gd name="adj" fmla="val 11111"/>
            </a:avLst>
          </a:prstGeom>
          <a:solidFill>
            <a:srgbClr val="F4F7F5"/>
          </a:solidFill>
          <a:ln w="9525">
            <a:solidFill>
              <a:srgbClr val="D5DED9"/>
            </a:solidFill>
            <a:prstDash val="solid"/>
          </a:ln>
        </p:spPr>
      </p:sp>
      <p:sp>
        <p:nvSpPr>
          <p:cNvPr id="36" name="Shape 33"/>
          <p:cNvSpPr/>
          <p:nvPr/>
        </p:nvSpPr>
        <p:spPr>
          <a:xfrm>
            <a:off x="576072" y="3081528"/>
            <a:ext cx="347472" cy="347472"/>
          </a:xfrm>
          <a:prstGeom prst="ellipse">
            <a:avLst/>
          </a:prstGeom>
          <a:solidFill>
            <a:srgbClr val="D49A00"/>
          </a:solidFill>
          <a:ln w="12700">
            <a:solidFill>
              <a:srgbClr val="D49A00"/>
            </a:solidFill>
            <a:prstDash val="solid"/>
          </a:ln>
        </p:spPr>
      </p:sp>
      <p:sp>
        <p:nvSpPr>
          <p:cNvPr id="37" name="Text 34"/>
          <p:cNvSpPr txBox="1"/>
          <p:nvPr/>
        </p:nvSpPr>
        <p:spPr>
          <a:xfrm>
            <a:off x="576072" y="308152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8" name="Text 35"/>
          <p:cNvSpPr txBox="1"/>
          <p:nvPr/>
        </p:nvSpPr>
        <p:spPr>
          <a:xfrm>
            <a:off x="1024128" y="2980944"/>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Oceans and seas masked</a:t>
            </a:r>
            <a:endParaRPr lang="en-US" sz="1100" dirty="0"/>
          </a:p>
        </p:txBody>
      </p:sp>
      <p:sp>
        <p:nvSpPr>
          <p:cNvPr id="39" name="Shape 36"/>
          <p:cNvSpPr/>
          <p:nvPr/>
        </p:nvSpPr>
        <p:spPr>
          <a:xfrm>
            <a:off x="3246120" y="2926080"/>
            <a:ext cx="2606040" cy="658368"/>
          </a:xfrm>
          <a:prstGeom prst="roundRect">
            <a:avLst>
              <a:gd name="adj" fmla="val 11111"/>
            </a:avLst>
          </a:prstGeom>
          <a:solidFill>
            <a:srgbClr val="F4F7F5"/>
          </a:solidFill>
          <a:ln w="9525">
            <a:solidFill>
              <a:srgbClr val="D5DED9"/>
            </a:solidFill>
            <a:prstDash val="solid"/>
          </a:ln>
        </p:spPr>
      </p:sp>
      <p:sp>
        <p:nvSpPr>
          <p:cNvPr id="40" name="Shape 37"/>
          <p:cNvSpPr/>
          <p:nvPr/>
        </p:nvSpPr>
        <p:spPr>
          <a:xfrm>
            <a:off x="3364992" y="3081528"/>
            <a:ext cx="347472" cy="347472"/>
          </a:xfrm>
          <a:prstGeom prst="ellipse">
            <a:avLst/>
          </a:prstGeom>
          <a:solidFill>
            <a:srgbClr val="D49A00"/>
          </a:solidFill>
          <a:ln w="12700">
            <a:solidFill>
              <a:srgbClr val="D49A00"/>
            </a:solidFill>
            <a:prstDash val="solid"/>
          </a:ln>
        </p:spPr>
      </p:sp>
      <p:sp>
        <p:nvSpPr>
          <p:cNvPr id="41" name="Text 38"/>
          <p:cNvSpPr txBox="1"/>
          <p:nvPr/>
        </p:nvSpPr>
        <p:spPr>
          <a:xfrm>
            <a:off x="3364992" y="308152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2" name="Text 39"/>
          <p:cNvSpPr txBox="1"/>
          <p:nvPr/>
        </p:nvSpPr>
        <p:spPr>
          <a:xfrm>
            <a:off x="3813048" y="2980944"/>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Number of nights examined</a:t>
            </a:r>
            <a:endParaRPr lang="en-US" sz="1100" dirty="0"/>
          </a:p>
        </p:txBody>
      </p:sp>
      <p:sp>
        <p:nvSpPr>
          <p:cNvPr id="43" name="Shape 40"/>
          <p:cNvSpPr/>
          <p:nvPr/>
        </p:nvSpPr>
        <p:spPr>
          <a:xfrm>
            <a:off x="6035040" y="2926080"/>
            <a:ext cx="2606040" cy="658368"/>
          </a:xfrm>
          <a:prstGeom prst="roundRect">
            <a:avLst>
              <a:gd name="adj" fmla="val 11111"/>
            </a:avLst>
          </a:prstGeom>
          <a:solidFill>
            <a:srgbClr val="F4F7F5"/>
          </a:solidFill>
          <a:ln w="9525">
            <a:solidFill>
              <a:srgbClr val="D5DED9"/>
            </a:solidFill>
            <a:prstDash val="solid"/>
          </a:ln>
        </p:spPr>
      </p:sp>
      <p:sp>
        <p:nvSpPr>
          <p:cNvPr id="44" name="Shape 41"/>
          <p:cNvSpPr/>
          <p:nvPr/>
        </p:nvSpPr>
        <p:spPr>
          <a:xfrm>
            <a:off x="6153912" y="3081528"/>
            <a:ext cx="347472" cy="347472"/>
          </a:xfrm>
          <a:prstGeom prst="ellipse">
            <a:avLst/>
          </a:prstGeom>
          <a:solidFill>
            <a:srgbClr val="C4621D"/>
          </a:solidFill>
          <a:ln w="12700">
            <a:solidFill>
              <a:srgbClr val="C4621D"/>
            </a:solidFill>
            <a:prstDash val="solid"/>
          </a:ln>
        </p:spPr>
      </p:sp>
      <p:sp>
        <p:nvSpPr>
          <p:cNvPr id="45" name="Text 42"/>
          <p:cNvSpPr txBox="1"/>
          <p:nvPr/>
        </p:nvSpPr>
        <p:spPr>
          <a:xfrm>
            <a:off x="6153912" y="308152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6" name="Text 43"/>
          <p:cNvSpPr txBox="1"/>
          <p:nvPr/>
        </p:nvSpPr>
        <p:spPr>
          <a:xfrm>
            <a:off x="6601968" y="2980944"/>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Brightest pixel is plausible</a:t>
            </a:r>
            <a:endParaRPr lang="en-US" sz="1100" dirty="0"/>
          </a:p>
        </p:txBody>
      </p:sp>
      <p:sp>
        <p:nvSpPr>
          <p:cNvPr id="47" name="Shape 44"/>
          <p:cNvSpPr/>
          <p:nvPr/>
        </p:nvSpPr>
        <p:spPr>
          <a:xfrm>
            <a:off x="457200" y="3712464"/>
            <a:ext cx="2606040" cy="658368"/>
          </a:xfrm>
          <a:prstGeom prst="roundRect">
            <a:avLst>
              <a:gd name="adj" fmla="val 11111"/>
            </a:avLst>
          </a:prstGeom>
          <a:solidFill>
            <a:srgbClr val="F4F7F5"/>
          </a:solidFill>
          <a:ln w="9525">
            <a:solidFill>
              <a:srgbClr val="D5DED9"/>
            </a:solidFill>
            <a:prstDash val="solid"/>
          </a:ln>
        </p:spPr>
      </p:sp>
      <p:sp>
        <p:nvSpPr>
          <p:cNvPr id="48" name="Shape 45"/>
          <p:cNvSpPr/>
          <p:nvPr/>
        </p:nvSpPr>
        <p:spPr>
          <a:xfrm>
            <a:off x="576072" y="3867912"/>
            <a:ext cx="347472" cy="347472"/>
          </a:xfrm>
          <a:prstGeom prst="ellipse">
            <a:avLst/>
          </a:prstGeom>
          <a:solidFill>
            <a:srgbClr val="C4621D"/>
          </a:solidFill>
          <a:ln w="12700">
            <a:solidFill>
              <a:srgbClr val="C4621D"/>
            </a:solidFill>
            <a:prstDash val="solid"/>
          </a:ln>
        </p:spPr>
      </p:sp>
      <p:sp>
        <p:nvSpPr>
          <p:cNvPr id="49" name="Text 46"/>
          <p:cNvSpPr txBox="1"/>
          <p:nvPr/>
        </p:nvSpPr>
        <p:spPr>
          <a:xfrm>
            <a:off x="576072" y="38679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0" name="Text 47"/>
          <p:cNvSpPr txBox="1"/>
          <p:nvPr/>
        </p:nvSpPr>
        <p:spPr>
          <a:xfrm>
            <a:off x="1024128" y="3767328"/>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Same layer and version across the whole series</a:t>
            </a:r>
            <a:endParaRPr lang="en-US" sz="1100" dirty="0"/>
          </a:p>
        </p:txBody>
      </p:sp>
      <p:sp>
        <p:nvSpPr>
          <p:cNvPr id="51" name="Shape 48"/>
          <p:cNvSpPr/>
          <p:nvPr/>
        </p:nvSpPr>
        <p:spPr>
          <a:xfrm>
            <a:off x="3246120" y="3712464"/>
            <a:ext cx="2606040" cy="658368"/>
          </a:xfrm>
          <a:prstGeom prst="roundRect">
            <a:avLst>
              <a:gd name="adj" fmla="val 11111"/>
            </a:avLst>
          </a:prstGeom>
          <a:solidFill>
            <a:srgbClr val="F4F7F5"/>
          </a:solidFill>
          <a:ln w="9525">
            <a:solidFill>
              <a:srgbClr val="D5DED9"/>
            </a:solidFill>
            <a:prstDash val="solid"/>
          </a:ln>
        </p:spPr>
      </p:sp>
      <p:sp>
        <p:nvSpPr>
          <p:cNvPr id="52" name="Shape 49"/>
          <p:cNvSpPr/>
          <p:nvPr/>
        </p:nvSpPr>
        <p:spPr>
          <a:xfrm>
            <a:off x="3364992" y="3867912"/>
            <a:ext cx="347472" cy="347472"/>
          </a:xfrm>
          <a:prstGeom prst="ellipse">
            <a:avLst/>
          </a:prstGeom>
          <a:solidFill>
            <a:srgbClr val="B83B2E"/>
          </a:solidFill>
          <a:ln w="12700">
            <a:solidFill>
              <a:srgbClr val="B83B2E"/>
            </a:solidFill>
            <a:prstDash val="solid"/>
          </a:ln>
        </p:spPr>
      </p:sp>
      <p:sp>
        <p:nvSpPr>
          <p:cNvPr id="53" name="Text 50"/>
          <p:cNvSpPr txBox="1"/>
          <p:nvPr/>
        </p:nvSpPr>
        <p:spPr>
          <a:xfrm>
            <a:off x="3364992" y="38679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54" name="Text 51"/>
          <p:cNvSpPr txBox="1"/>
          <p:nvPr/>
        </p:nvSpPr>
        <p:spPr>
          <a:xfrm>
            <a:off x="3813048" y="3767328"/>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The right product for the question</a:t>
            </a:r>
            <a:endParaRPr lang="en-US" sz="1100" dirty="0"/>
          </a:p>
        </p:txBody>
      </p:sp>
      <p:sp>
        <p:nvSpPr>
          <p:cNvPr id="55" name="Shape 52"/>
          <p:cNvSpPr/>
          <p:nvPr/>
        </p:nvSpPr>
        <p:spPr>
          <a:xfrm>
            <a:off x="6035040" y="3712464"/>
            <a:ext cx="2606040" cy="658368"/>
          </a:xfrm>
          <a:prstGeom prst="roundRect">
            <a:avLst>
              <a:gd name="adj" fmla="val 11111"/>
            </a:avLst>
          </a:prstGeom>
          <a:solidFill>
            <a:srgbClr val="F4F7F5"/>
          </a:solidFill>
          <a:ln w="9525">
            <a:solidFill>
              <a:srgbClr val="D5DED9"/>
            </a:solidFill>
            <a:prstDash val="solid"/>
          </a:ln>
        </p:spPr>
      </p:sp>
      <p:sp>
        <p:nvSpPr>
          <p:cNvPr id="56" name="Shape 53"/>
          <p:cNvSpPr/>
          <p:nvPr/>
        </p:nvSpPr>
        <p:spPr>
          <a:xfrm>
            <a:off x="6153912" y="3867912"/>
            <a:ext cx="347472" cy="347472"/>
          </a:xfrm>
          <a:prstGeom prst="ellipse">
            <a:avLst/>
          </a:prstGeom>
          <a:solidFill>
            <a:srgbClr val="B83B2E"/>
          </a:solidFill>
          <a:ln w="12700">
            <a:solidFill>
              <a:srgbClr val="B83B2E"/>
            </a:solidFill>
            <a:prstDash val="solid"/>
          </a:ln>
        </p:spPr>
      </p:sp>
      <p:sp>
        <p:nvSpPr>
          <p:cNvPr id="57" name="Text 54"/>
          <p:cNvSpPr txBox="1"/>
          <p:nvPr/>
        </p:nvSpPr>
        <p:spPr>
          <a:xfrm>
            <a:off x="6153912" y="38679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58" name="Text 55"/>
          <p:cNvSpPr txBox="1"/>
          <p:nvPr/>
        </p:nvSpPr>
        <p:spPr>
          <a:xfrm>
            <a:off x="6601968" y="3767328"/>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Limits written down</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06 · KEY TAKEAWAYS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Trend on A4, season on A3, event on A2</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B83B2E"/>
          </a:solidFill>
          <a:ln w="12700">
            <a:solidFill>
              <a:srgbClr val="B83B2E"/>
            </a:solidFill>
            <a:prstDash val="solid"/>
          </a:ln>
        </p:spPr>
      </p:sp>
      <p:sp>
        <p:nvSpPr>
          <p:cNvPr id="11" name="Shape 8"/>
          <p:cNvSpPr/>
          <p:nvPr/>
        </p:nvSpPr>
        <p:spPr>
          <a:xfrm>
            <a:off x="457200" y="1371600"/>
            <a:ext cx="2606040" cy="3063240"/>
          </a:xfrm>
          <a:prstGeom prst="roundRect">
            <a:avLst>
              <a:gd name="adj" fmla="val 2807"/>
            </a:avLst>
          </a:prstGeom>
          <a:solidFill>
            <a:srgbClr val="E8F5EF"/>
          </a:solidFill>
          <a:ln w="15875">
            <a:solidFill>
              <a:srgbClr val="00A86A"/>
            </a:solidFill>
            <a:prstDash val="solid"/>
          </a:ln>
        </p:spPr>
      </p:sp>
      <p:sp>
        <p:nvSpPr>
          <p:cNvPr id="12" name="Shape 9"/>
          <p:cNvSpPr/>
          <p:nvPr/>
        </p:nvSpPr>
        <p:spPr>
          <a:xfrm>
            <a:off x="1325880" y="1600200"/>
            <a:ext cx="868680" cy="868680"/>
          </a:xfrm>
          <a:prstGeom prst="ellipse">
            <a:avLst/>
          </a:prstGeom>
          <a:solidFill>
            <a:srgbClr val="00A86A">
              <a:alpha val="22000"/>
            </a:srgbClr>
          </a:solidFill>
          <a:ln w="12700">
            <a:solidFill>
              <a:srgbClr val="00A86A">
                <a:alpha val="0"/>
              </a:srgbClr>
            </a:solidFill>
            <a:prstDash val="solid"/>
          </a:ln>
        </p:spPr>
      </p:sp>
      <p:pic>
        <p:nvPicPr>
          <p:cNvPr id="13" name="Image 0" descr="preencoded.png">    </p:cNvPr>
          <p:cNvPicPr>
            <a:picLocks noChangeAspect="1"/>
          </p:cNvPicPr>
          <p:nvPr/>
        </p:nvPicPr>
        <p:blipFill>
          <a:blip r:embed="rId1"/>
          <a:stretch>
            <a:fillRect/>
          </a:stretch>
        </p:blipFill>
        <p:spPr>
          <a:xfrm>
            <a:off x="1534363" y="1808683"/>
            <a:ext cx="451714" cy="451714"/>
          </a:xfrm>
          <a:prstGeom prst="rect">
            <a:avLst/>
          </a:prstGeom>
        </p:spPr>
      </p:pic>
      <p:sp>
        <p:nvSpPr>
          <p:cNvPr id="14" name="Text 10"/>
          <p:cNvSpPr txBox="1"/>
          <p:nvPr/>
        </p:nvSpPr>
        <p:spPr>
          <a:xfrm>
            <a:off x="640080" y="2651760"/>
            <a:ext cx="2240280" cy="365760"/>
          </a:xfrm>
          <a:prstGeom prst="rect">
            <a:avLst/>
          </a:prstGeom>
          <a:noFill/>
          <a:ln/>
        </p:spPr>
        <p:txBody>
          <a:bodyPr wrap="square" lIns="0" tIns="0" rIns="0" bIns="0" rtlCol="0" anchor="t"/>
          <a:lstStyle/>
          <a:p>
            <a:pPr algn="ctr" indent="0" marL="0">
              <a:buNone/>
            </a:pPr>
            <a:r>
              <a:rPr lang="en-US" sz="1500" b="1" dirty="0">
                <a:solidFill>
                  <a:srgbClr val="231F20"/>
                </a:solidFill>
                <a:latin typeface="Calibri" pitchFamily="34" charset="0"/>
                <a:ea typeface="Calibri" pitchFamily="34" charset="-122"/>
                <a:cs typeface="Calibri" pitchFamily="34" charset="-120"/>
              </a:rPr>
              <a:t>Choose the product</a:t>
            </a:r>
            <a:endParaRPr lang="en-US" sz="1500" dirty="0"/>
          </a:p>
        </p:txBody>
      </p:sp>
      <p:sp>
        <p:nvSpPr>
          <p:cNvPr id="15" name="Text 11"/>
          <p:cNvSpPr txBox="1"/>
          <p:nvPr/>
        </p:nvSpPr>
        <p:spPr>
          <a:xfrm>
            <a:off x="658368" y="3108960"/>
            <a:ext cx="2203704" cy="11887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Trend → annual A4 · season → monthly A3 · dated event → daily A2. Never the other way round.</a:t>
            </a:r>
            <a:endParaRPr lang="en-US" sz="1150" dirty="0"/>
          </a:p>
        </p:txBody>
      </p:sp>
      <p:sp>
        <p:nvSpPr>
          <p:cNvPr id="16" name="Shape 12"/>
          <p:cNvSpPr/>
          <p:nvPr/>
        </p:nvSpPr>
        <p:spPr>
          <a:xfrm>
            <a:off x="3246120" y="1371600"/>
            <a:ext cx="2606040" cy="3063240"/>
          </a:xfrm>
          <a:prstGeom prst="roundRect">
            <a:avLst>
              <a:gd name="adj" fmla="val 2807"/>
            </a:avLst>
          </a:prstGeom>
          <a:solidFill>
            <a:srgbClr val="F4F7F5"/>
          </a:solidFill>
          <a:ln w="9525">
            <a:solidFill>
              <a:srgbClr val="D5DED9"/>
            </a:solidFill>
            <a:prstDash val="solid"/>
          </a:ln>
        </p:spPr>
      </p:sp>
      <p:sp>
        <p:nvSpPr>
          <p:cNvPr id="17" name="Shape 13"/>
          <p:cNvSpPr/>
          <p:nvPr/>
        </p:nvSpPr>
        <p:spPr>
          <a:xfrm>
            <a:off x="4114800" y="1600200"/>
            <a:ext cx="868680" cy="868680"/>
          </a:xfrm>
          <a:prstGeom prst="ellipse">
            <a:avLst/>
          </a:prstGeom>
          <a:solidFill>
            <a:srgbClr val="00704A">
              <a:alpha val="22000"/>
            </a:srgbClr>
          </a:solidFill>
          <a:ln w="12700">
            <a:solidFill>
              <a:srgbClr val="00704A">
                <a:alpha val="0"/>
              </a:srgbClr>
            </a:solidFill>
            <a:prstDash val="solid"/>
          </a:ln>
        </p:spPr>
      </p:sp>
      <p:pic>
        <p:nvPicPr>
          <p:cNvPr id="18" name="Image 1" descr="preencoded.png">    </p:cNvPr>
          <p:cNvPicPr>
            <a:picLocks noChangeAspect="1"/>
          </p:cNvPicPr>
          <p:nvPr/>
        </p:nvPicPr>
        <p:blipFill>
          <a:blip r:embed="rId2"/>
          <a:stretch>
            <a:fillRect/>
          </a:stretch>
        </p:blipFill>
        <p:spPr>
          <a:xfrm>
            <a:off x="4323283" y="1808683"/>
            <a:ext cx="451714" cy="451714"/>
          </a:xfrm>
          <a:prstGeom prst="rect">
            <a:avLst/>
          </a:prstGeom>
        </p:spPr>
      </p:pic>
      <p:sp>
        <p:nvSpPr>
          <p:cNvPr id="19" name="Text 14"/>
          <p:cNvSpPr txBox="1"/>
          <p:nvPr/>
        </p:nvSpPr>
        <p:spPr>
          <a:xfrm>
            <a:off x="3429000" y="2651760"/>
            <a:ext cx="2240280" cy="365760"/>
          </a:xfrm>
          <a:prstGeom prst="rect">
            <a:avLst/>
          </a:prstGeom>
          <a:noFill/>
          <a:ln/>
        </p:spPr>
        <p:txBody>
          <a:bodyPr wrap="square" lIns="0" tIns="0" rIns="0" bIns="0" rtlCol="0" anchor="t"/>
          <a:lstStyle/>
          <a:p>
            <a:pPr algn="ctr" indent="0" marL="0">
              <a:buNone/>
            </a:pPr>
            <a:r>
              <a:rPr lang="en-US" sz="1500" b="1" dirty="0">
                <a:solidFill>
                  <a:srgbClr val="231F20"/>
                </a:solidFill>
                <a:latin typeface="Calibri" pitchFamily="34" charset="0"/>
                <a:ea typeface="Calibri" pitchFamily="34" charset="-122"/>
                <a:cs typeface="Calibri" pitchFamily="34" charset="-120"/>
              </a:rPr>
              <a:t>Respect the order</a:t>
            </a:r>
            <a:endParaRPr lang="en-US" sz="1500" dirty="0"/>
          </a:p>
        </p:txBody>
      </p:sp>
      <p:sp>
        <p:nvSpPr>
          <p:cNvPr id="20" name="Text 15"/>
          <p:cNvSpPr txBox="1"/>
          <p:nvPr/>
        </p:nvSpPr>
        <p:spPr>
          <a:xfrm>
            <a:off x="3447288" y="3108960"/>
            <a:ext cx="2203704" cy="11887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Fill → NaN, quality, water, mosaic, clipping. Every skipped step silently changes the number.</a:t>
            </a:r>
            <a:endParaRPr lang="en-US" sz="1150" dirty="0"/>
          </a:p>
        </p:txBody>
      </p:sp>
      <p:sp>
        <p:nvSpPr>
          <p:cNvPr id="21" name="Shape 16"/>
          <p:cNvSpPr/>
          <p:nvPr/>
        </p:nvSpPr>
        <p:spPr>
          <a:xfrm>
            <a:off x="6035040" y="1371600"/>
            <a:ext cx="2606040" cy="3063240"/>
          </a:xfrm>
          <a:prstGeom prst="roundRect">
            <a:avLst>
              <a:gd name="adj" fmla="val 2807"/>
            </a:avLst>
          </a:prstGeom>
          <a:solidFill>
            <a:srgbClr val="F4F7F5"/>
          </a:solidFill>
          <a:ln w="9525">
            <a:solidFill>
              <a:srgbClr val="D5DED9"/>
            </a:solidFill>
            <a:prstDash val="solid"/>
          </a:ln>
        </p:spPr>
      </p:sp>
      <p:sp>
        <p:nvSpPr>
          <p:cNvPr id="22" name="Shape 17"/>
          <p:cNvSpPr/>
          <p:nvPr/>
        </p:nvSpPr>
        <p:spPr>
          <a:xfrm>
            <a:off x="6903720" y="1600200"/>
            <a:ext cx="868680" cy="868680"/>
          </a:xfrm>
          <a:prstGeom prst="ellipse">
            <a:avLst/>
          </a:prstGeom>
          <a:solidFill>
            <a:srgbClr val="0E7C86">
              <a:alpha val="22000"/>
            </a:srgbClr>
          </a:solidFill>
          <a:ln w="12700">
            <a:solidFill>
              <a:srgbClr val="0E7C86">
                <a:alpha val="0"/>
              </a:srgbClr>
            </a:solidFill>
            <a:prstDash val="solid"/>
          </a:ln>
        </p:spPr>
      </p:sp>
      <p:pic>
        <p:nvPicPr>
          <p:cNvPr id="23" name="Image 2" descr="preencoded.png">    </p:cNvPr>
          <p:cNvPicPr>
            <a:picLocks noChangeAspect="1"/>
          </p:cNvPicPr>
          <p:nvPr/>
        </p:nvPicPr>
        <p:blipFill>
          <a:blip r:embed="rId3"/>
          <a:stretch>
            <a:fillRect/>
          </a:stretch>
        </p:blipFill>
        <p:spPr>
          <a:xfrm>
            <a:off x="7112203" y="1808683"/>
            <a:ext cx="451714" cy="451714"/>
          </a:xfrm>
          <a:prstGeom prst="rect">
            <a:avLst/>
          </a:prstGeom>
        </p:spPr>
      </p:pic>
      <p:sp>
        <p:nvSpPr>
          <p:cNvPr id="24" name="Text 18"/>
          <p:cNvSpPr txBox="1"/>
          <p:nvPr/>
        </p:nvSpPr>
        <p:spPr>
          <a:xfrm>
            <a:off x="6217920" y="2651760"/>
            <a:ext cx="2240280" cy="365760"/>
          </a:xfrm>
          <a:prstGeom prst="rect">
            <a:avLst/>
          </a:prstGeom>
          <a:noFill/>
          <a:ln/>
        </p:spPr>
        <p:txBody>
          <a:bodyPr wrap="square" lIns="0" tIns="0" rIns="0" bIns="0" rtlCol="0" anchor="t"/>
          <a:lstStyle/>
          <a:p>
            <a:pPr algn="ctr" indent="0" marL="0">
              <a:buNone/>
            </a:pPr>
            <a:r>
              <a:rPr lang="en-US" sz="1500" b="1" dirty="0">
                <a:solidFill>
                  <a:srgbClr val="231F20"/>
                </a:solidFill>
                <a:latin typeface="Calibri" pitchFamily="34" charset="0"/>
                <a:ea typeface="Calibri" pitchFamily="34" charset="-122"/>
                <a:cs typeface="Calibri" pitchFamily="34" charset="-120"/>
              </a:rPr>
              <a:t>Complement, don't replace</a:t>
            </a:r>
            <a:endParaRPr lang="en-US" sz="1500" dirty="0"/>
          </a:p>
        </p:txBody>
      </p:sp>
      <p:sp>
        <p:nvSpPr>
          <p:cNvPr id="25" name="Text 19"/>
          <p:cNvSpPr txBox="1"/>
          <p:nvPr/>
        </p:nvSpPr>
        <p:spPr>
          <a:xfrm>
            <a:off x="6236208" y="3108960"/>
            <a:ext cx="2203704" cy="11887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Direction, timing and geography of activity — always alongside official statistics and documented limits.</a:t>
            </a:r>
            <a:endParaRPr lang="en-US" sz="11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06 · SOURCES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Sources and references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B83B2E"/>
          </a:solidFill>
          <a:ln w="12700">
            <a:solidFill>
              <a:srgbClr val="B83B2E"/>
            </a:solidFill>
            <a:prstDash val="solid"/>
          </a:ln>
        </p:spPr>
      </p:sp>
      <p:sp>
        <p:nvSpPr>
          <p:cNvPr id="11" name="Shape 8"/>
          <p:cNvSpPr/>
          <p:nvPr/>
        </p:nvSpPr>
        <p:spPr>
          <a:xfrm>
            <a:off x="457200" y="1371600"/>
            <a:ext cx="4023360" cy="3108960"/>
          </a:xfrm>
          <a:prstGeom prst="roundRect">
            <a:avLst>
              <a:gd name="adj" fmla="val 2353"/>
            </a:avLst>
          </a:prstGeom>
          <a:solidFill>
            <a:srgbClr val="F4F7F5"/>
          </a:solidFill>
          <a:ln w="9525">
            <a:solidFill>
              <a:srgbClr val="D5DED9"/>
            </a:solidFill>
            <a:prstDash val="solid"/>
          </a:ln>
        </p:spPr>
      </p:sp>
      <p:sp>
        <p:nvSpPr>
          <p:cNvPr id="12" name="Text 9"/>
          <p:cNvSpPr txBox="1"/>
          <p:nvPr/>
        </p:nvSpPr>
        <p:spPr>
          <a:xfrm>
            <a:off x="621792" y="1481328"/>
            <a:ext cx="3703320" cy="2926080"/>
          </a:xfrm>
          <a:prstGeom prst="rect">
            <a:avLst/>
          </a:prstGeom>
          <a:noFill/>
          <a:ln/>
        </p:spPr>
        <p:txBody>
          <a:bodyPr wrap="square" lIns="0" tIns="0" rIns="0" bIns="0" rtlCol="0" anchor="t"/>
          <a:lstStyle/>
          <a:p>
            <a:pPr marL="171450" indent="-17145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Román, M. O. et al. (2018). NASA's Black Marble nighttime lights product suite. Remote Sensing of Environment 210, 113–143.</a:t>
            </a:r>
            <a:endParaRPr lang="en-US" sz="950" dirty="0"/>
          </a:p>
          <a:p>
            <a:pPr marL="171450" indent="-17145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NASA (2025). Black Marble User Guide, Collection 2.0. LAADS DAAC / Earthdata.</a:t>
            </a:r>
            <a:endParaRPr lang="en-US" sz="950" dirty="0"/>
          </a:p>
          <a:p>
            <a:pPr marL="171450" indent="-17145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Elvidge, C. D. et al. (2017). VIIRS night-time lights. Int. J. Remote Sensing 38(21).</a:t>
            </a:r>
            <a:endParaRPr lang="en-US" sz="950" dirty="0"/>
          </a:p>
          <a:p>
            <a:pPr marL="171450" indent="-17145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Elvidge, C. D. et al. (2021). Annual time series of global VIIRS nighttime lights. Remote Sensing 13(5).</a:t>
            </a:r>
            <a:endParaRPr lang="en-US" sz="950" dirty="0"/>
          </a:p>
          <a:p>
            <a:pPr marL="171450" indent="-17145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Li, X. et al. (2020). A harmonized global nighttime light dataset 1992–2018. Scientific Data 7.</a:t>
            </a:r>
            <a:endParaRPr lang="en-US" sz="950" dirty="0"/>
          </a:p>
          <a:p>
            <a:pPr marL="171450" indent="-17145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Henderson, J. V., Storeygard, A., Weil, D. N. (2012). Measuring economic growth from outer space. AER 102(2).</a:t>
            </a:r>
            <a:endParaRPr lang="en-US" sz="950" dirty="0"/>
          </a:p>
        </p:txBody>
      </p:sp>
      <p:sp>
        <p:nvSpPr>
          <p:cNvPr id="13" name="Shape 10"/>
          <p:cNvSpPr/>
          <p:nvPr/>
        </p:nvSpPr>
        <p:spPr>
          <a:xfrm>
            <a:off x="4663440" y="1371600"/>
            <a:ext cx="4023360" cy="3108960"/>
          </a:xfrm>
          <a:prstGeom prst="roundRect">
            <a:avLst>
              <a:gd name="adj" fmla="val 2353"/>
            </a:avLst>
          </a:prstGeom>
          <a:solidFill>
            <a:srgbClr val="F4F7F5"/>
          </a:solidFill>
          <a:ln w="9525">
            <a:solidFill>
              <a:srgbClr val="D5DED9"/>
            </a:solidFill>
            <a:prstDash val="solid"/>
          </a:ln>
        </p:spPr>
      </p:sp>
      <p:sp>
        <p:nvSpPr>
          <p:cNvPr id="14" name="Text 11"/>
          <p:cNvSpPr txBox="1"/>
          <p:nvPr/>
        </p:nvSpPr>
        <p:spPr>
          <a:xfrm>
            <a:off x="4828032" y="1481328"/>
            <a:ext cx="3703320" cy="2926080"/>
          </a:xfrm>
          <a:prstGeom prst="rect">
            <a:avLst/>
          </a:prstGeom>
          <a:noFill/>
          <a:ln/>
        </p:spPr>
        <p:txBody>
          <a:bodyPr wrap="square" lIns="0" tIns="0" rIns="0" bIns="0" rtlCol="0" anchor="t"/>
          <a:lstStyle/>
          <a:p>
            <a:pPr marL="171450" indent="-17145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Chen, X., Nordhaus, W. D. (2011). Using luminosity data as a proxy for economic statistics. PNAS 108(21).</a:t>
            </a:r>
            <a:endParaRPr lang="en-US" sz="950" dirty="0"/>
          </a:p>
          <a:p>
            <a:pPr marL="171450" indent="-17145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Gibson, J. et al. (2021). Which night lights data should we use in economics, and where? JDE 149.</a:t>
            </a:r>
            <a:endParaRPr lang="en-US" sz="950" dirty="0"/>
          </a:p>
          <a:p>
            <a:pPr marL="171450" indent="-17145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Cleveland, R. B. et al. (1990). STL: a seasonal-trend decomposition procedure based on Loess. JOS 6(1).</a:t>
            </a:r>
            <a:endParaRPr lang="en-US" sz="950" dirty="0"/>
          </a:p>
          <a:p>
            <a:pPr marL="171450" indent="-17145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Schiavina, M. et al. (2023). GHS-POP R2023A; Pesaresi, M. et al. (2023). GHS-BUILT-S R2023A. JRC.</a:t>
            </a:r>
            <a:endParaRPr lang="en-US" sz="950" dirty="0"/>
          </a:p>
          <a:p>
            <a:pPr marL="171450" indent="-17145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Runfola, D. et al. (2020). geoBoundaries. PLoS ONE 15(4) · Natural Earth (public domain).</a:t>
            </a:r>
            <a:endParaRPr lang="en-US" sz="950" dirty="0"/>
          </a:p>
          <a:p>
            <a:pPr marL="171450" indent="-17145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World Bank, World Development Indicators · ESA WorldCover 2021 · Copernicus Sentinel-5P · OpenStreetMap contributors.</a:t>
            </a:r>
            <a:endParaRPr lang="en-US" sz="950" dirty="0"/>
          </a:p>
        </p:txBody>
      </p:sp>
      <p:sp>
        <p:nvSpPr>
          <p:cNvPr id="15" name="Text 12"/>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Content: CC BY 4.0 · Code: MIT · Any reuse must cite "Source: AfDB-DI4A"</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548640" y="1005840"/>
            <a:ext cx="8046720" cy="27432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AfDB  ×  DATA INNOVATION FOR AFRICA (DI4A)</a:t>
            </a:r>
            <a:endParaRPr lang="en-US" sz="1100" dirty="0"/>
          </a:p>
        </p:txBody>
      </p:sp>
      <p:sp>
        <p:nvSpPr>
          <p:cNvPr id="3" name="Text 1"/>
          <p:cNvSpPr txBox="1"/>
          <p:nvPr/>
        </p:nvSpPr>
        <p:spPr>
          <a:xfrm>
            <a:off x="548640" y="1417320"/>
            <a:ext cx="8046720" cy="137160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One ISO3 code in,</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a dashboard out</a:t>
            </a:r>
            <a:endParaRPr lang="en-US" sz="4000" dirty="0"/>
          </a:p>
        </p:txBody>
      </p:sp>
      <p:sp>
        <p:nvSpPr>
          <p:cNvPr id="4" name="Text 2"/>
          <p:cNvSpPr txBox="1"/>
          <p:nvPr/>
        </p:nvSpPr>
        <p:spPr>
          <a:xfrm>
            <a:off x="548640" y="2880360"/>
            <a:ext cx="6400800" cy="41148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Collect · Explore and understand · Analyse and publish</a:t>
            </a:r>
            <a:endParaRPr lang="en-US" sz="1800" dirty="0"/>
          </a:p>
        </p:txBody>
      </p:sp>
      <p:sp>
        <p:nvSpPr>
          <p:cNvPr id="5" name="Text 3"/>
          <p:cNvSpPr txBox="1"/>
          <p:nvPr/>
        </p:nvSpPr>
        <p:spPr>
          <a:xfrm>
            <a:off x="548640" y="4206240"/>
            <a:ext cx="8046720" cy="274320"/>
          </a:xfrm>
          <a:prstGeom prst="rect">
            <a:avLst/>
          </a:prstGeom>
          <a:noFill/>
          <a:ln/>
        </p:spPr>
        <p:txBody>
          <a:bodyPr wrap="square" lIns="0" tIns="0" rIns="0" bIns="0" rtlCol="0" anchor="t"/>
          <a:lstStyle/>
          <a:p>
            <a:pPr indent="0" marL="0">
              <a:buNone/>
            </a:pPr>
            <a:r>
              <a:rPr lang="en-US" sz="1000" dirty="0">
                <a:solidFill>
                  <a:srgbClr val="F5C242"/>
                </a:solidFill>
                <a:latin typeface="Calibri" pitchFamily="34" charset="0"/>
                <a:ea typeface="Calibri" pitchFamily="34" charset="-122"/>
                <a:cs typeface="Calibri" pitchFamily="34" charset="-120"/>
              </a:rPr>
              <a:t>© 2026 AfDB – DI4A · CC BY 4.0 (content) · MIT (code) · Any reuse must cite "Source: AfDB-DI4A"</a:t>
            </a:r>
            <a:endParaRPr lang="en-US" sz="1000" dirty="0"/>
          </a:p>
        </p:txBody>
      </p:sp>
      <p:sp>
        <p:nvSpPr>
          <p:cNvPr id="206" name="Logo Pill"/>
          <p:cNvSpPr/>
          <p:nvPr/>
        </p:nvSpPr>
        <p:spPr>
          <a:xfrm>
            <a:off x="548640" y="3520440"/>
            <a:ext cx="2788920" cy="566928"/>
          </a:xfrm>
          <a:prstGeom prst="roundRect">
            <a:avLst>
              <a:gd name="adj" fmla="val 50000"/>
            </a:avLst>
          </a:prstGeom>
          <a:solidFill>
            <a:srgbClr val="FFFFFF"/>
          </a:solidFill>
          <a:ln>
            <a:noFill/>
          </a:ln>
        </p:spPr>
        <p:txBody>
          <a:bodyPr rtlCol="0" anchor="ctr"/>
          <a:lstStyle/>
          <a:p>
            <a:endParaRPr lang="en-US"/>
          </a:p>
        </p:txBody>
      </p:sp>
      <p:pic>
        <p:nvPicPr>
          <p:cNvPr id="207" name="AfDB Logo" descr="African Development Bank Group logo"/>
          <p:cNvPicPr>
            <a:picLocks noChangeAspect="1"/>
          </p:cNvPicPr>
          <p:nvPr/>
        </p:nvPicPr>
        <p:blipFill>
          <a:blip r:embed="rId4"/>
          <a:stretch>
            <a:fillRect/>
          </a:stretch>
        </p:blipFill>
        <p:spPr>
          <a:xfrm>
            <a:off x="749808" y="3639312"/>
            <a:ext cx="1367816" cy="329184"/>
          </a:xfrm>
          <a:prstGeom prst="rect">
            <a:avLst/>
          </a:prstGeom>
        </p:spPr>
      </p:pic>
      <p:sp>
        <p:nvSpPr>
          <p:cNvPr id="208" name="Logo Divider"/>
          <p:cNvSpPr/>
          <p:nvPr/>
        </p:nvSpPr>
        <p:spPr>
          <a:xfrm>
            <a:off x="2300504" y="3630168"/>
            <a:ext cx="9525" cy="347472"/>
          </a:xfrm>
          <a:prstGeom prst="rect">
            <a:avLst/>
          </a:prstGeom>
          <a:solidFill>
            <a:srgbClr val="D5DED9"/>
          </a:solidFill>
          <a:ln>
            <a:noFill/>
          </a:ln>
        </p:spPr>
        <p:txBody>
          <a:bodyPr rtlCol="0" anchor="ctr"/>
          <a:lstStyle/>
          <a:p>
            <a:endParaRPr lang="en-US"/>
          </a:p>
        </p:txBody>
      </p:sp>
      <p:pic>
        <p:nvPicPr>
          <p:cNvPr id="209" name="DI4A Logo" descr="Data Innovation for Africa logo"/>
          <p:cNvPicPr>
            <a:picLocks noChangeAspect="1"/>
          </p:cNvPicPr>
          <p:nvPr/>
        </p:nvPicPr>
        <p:blipFill>
          <a:blip r:embed="rId5"/>
          <a:stretch>
            <a:fillRect/>
          </a:stretch>
        </p:blipFill>
        <p:spPr>
          <a:xfrm>
            <a:off x="2587752" y="3566160"/>
            <a:ext cx="475488" cy="475488"/>
          </a:xfrm>
          <a:prstGeom prst="rect">
            <a:avLst/>
          </a:prstGeom>
        </p:spPr>
      </p:pic>
      <p:sp>
        <p:nvSpPr>
          <p:cNvPr id="211" name="Medallion Ring"/>
          <p:cNvSpPr/>
          <p:nvPr/>
        </p:nvSpPr>
        <p:spPr>
          <a:xfrm>
            <a:off x="6839711" y="2157984"/>
            <a:ext cx="2084832" cy="2084832"/>
          </a:xfrm>
          <a:prstGeom prst="ellipse">
            <a:avLst/>
          </a:prstGeom>
          <a:noFill/>
          <a:ln w="9525">
            <a:solidFill>
              <a:srgbClr val="FFFFFF">
                <a:alpha val="28000"/>
              </a:srgbClr>
            </a:solidFill>
          </a:ln>
        </p:spPr>
        <p:txBody>
          <a:bodyPr rtlCol="0" anchor="ctr"/>
          <a:lstStyle/>
          <a:p>
            <a:endParaRPr lang="en-US"/>
          </a:p>
        </p:txBody>
      </p:sp>
      <p:sp>
        <p:nvSpPr>
          <p:cNvPr id="212" name="Medallion Ring"/>
          <p:cNvSpPr/>
          <p:nvPr/>
        </p:nvSpPr>
        <p:spPr>
          <a:xfrm>
            <a:off x="6967727" y="2286000"/>
            <a:ext cx="1828800" cy="1828800"/>
          </a:xfrm>
          <a:prstGeom prst="ellipse">
            <a:avLst/>
          </a:prstGeom>
          <a:noFill/>
          <a:ln w="19050">
            <a:solidFill>
              <a:srgbClr val="FFFFFF">
                <a:alpha val="50000"/>
              </a:srgbClr>
            </a:solidFill>
          </a:ln>
        </p:spPr>
        <p:txBody>
          <a:bodyPr rtlCol="0" anchor="ctr"/>
          <a:lstStyle/>
          <a:p>
            <a:endParaRPr lang="en-US"/>
          </a:p>
        </p:txBody>
      </p:sp>
      <p:pic>
        <p:nvPicPr>
          <p:cNvPr id="213" name="Robot Medallion" descr="DI4A robot mascot"/>
          <p:cNvPicPr>
            <a:picLocks noChangeAspect="1"/>
          </p:cNvPicPr>
          <p:nvPr/>
        </p:nvPicPr>
        <p:blipFill>
          <a:blip r:embed="rId3"/>
          <a:stretch>
            <a:fillRect/>
          </a:stretch>
        </p:blipFill>
        <p:spPr>
          <a:xfrm>
            <a:off x="7059167" y="2377440"/>
            <a:ext cx="1645920" cy="1645920"/>
          </a:xfrm>
          <a:prstGeom prst="rect">
            <a:avLst/>
          </a:prstGeom>
        </p:spPr>
      </p:pic>
    </p:spTree>
  </p:cSld>
  <p:clrMapOvr>
    <a:masterClrMapping/>
  </p:clrMapOvr>
</p:sld>
</file>

<file path=ppt/theme/theme1.xml><?xml version="1.0" encoding="utf-8"?>
<a:theme xmlns:a="http://schemas.openxmlformats.org/drawingml/2006/main" name="AfDB DI4A Night-time lights">
  <a:themeElements>
    <a:clrScheme name="AfDB DI4A Night-time lights">
      <a:dk1>
        <a:srgbClr val="231F20"/>
      </a:dk1>
      <a:lt1>
        <a:srgbClr val="FFFFFF"/>
      </a:lt1>
      <a:dk2>
        <a:srgbClr val="00553A"/>
      </a:dk2>
      <a:lt2>
        <a:srgbClr val="F4F7F5"/>
      </a:lt2>
      <a:accent1>
        <a:srgbClr val="00A86A"/>
      </a:accent1>
      <a:accent2>
        <a:srgbClr val="00704A"/>
      </a:accent2>
      <a:accent3>
        <a:srgbClr val="0E7C86"/>
      </a:accent3>
      <a:accent4>
        <a:srgbClr val="D49A00"/>
      </a:accent4>
      <a:accent5>
        <a:srgbClr val="C4621D"/>
      </a:accent5>
      <a:accent6>
        <a:srgbClr val="B83B2E"/>
      </a:accent6>
      <a:hlink>
        <a:srgbClr val="00704A"/>
      </a:hlink>
      <a:folHlink>
        <a:srgbClr val="0E7C86"/>
      </a:folHlink>
    </a:clrScheme>
    <a:fontScheme name="AfDB DI4A Night-time light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AfDB-DI4A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Night lights: from satellite to statistics</dc:title>
  <dc:subject>PptxGenJS Presentation</dc:subject>
  <dc:creator>AfDB-DI4A</dc:creator>
  <cp:lastModifiedBy>AfDB-DI4A</cp:lastModifiedBy>
  <cp:revision>1</cp:revision>
  <dcterms:created xsi:type="dcterms:W3CDTF">2026-10-26T03:13:03Z</dcterms:created>
  <dcterms:modified xsi:type="dcterms:W3CDTF">2026-10-26T03:13:03Z</dcterms:modified>
</cp:coreProperties>
</file>