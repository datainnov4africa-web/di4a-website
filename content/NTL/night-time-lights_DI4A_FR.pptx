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2.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35"/>
  </p:notesMasterIdLst>
  <p:sldIdLst>
    <p:sldId id="256" r:id="rId3"/>
    <p:sldId id="2147482887" r:id="rId4"/>
    <p:sldId id="260" r:id="rId5"/>
    <p:sldId id="261" r:id="rId6"/>
    <p:sldId id="262" r:id="rId7"/>
    <p:sldId id="263" r:id="rId8"/>
    <p:sldId id="2147482889" r:id="rId9"/>
    <p:sldId id="29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3" r:id="rId27"/>
    <p:sldId id="284" r:id="rId28"/>
    <p:sldId id="285" r:id="rId29"/>
    <p:sldId id="286" r:id="rId30"/>
    <p:sldId id="287" r:id="rId31"/>
    <p:sldId id="289" r:id="rId32"/>
    <p:sldId id="290" r:id="rId33"/>
    <p:sldId id="291" r:id="rId3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231F20"/>
                </a:solidFill>
                <a:latin typeface="Calibri"/>
              </a:defRPr>
            </a:pPr>
            <a:r>
              <a:rPr lang="fr-FR" sz="1100" b="0" i="0" u="none" strike="noStrike">
                <a:solidFill>
                  <a:srgbClr val="231F20"/>
                </a:solidFill>
                <a:latin typeface="Calibri"/>
              </a:rPr>
              <a:t>Réponse du capteur à la luminosité (schéma)</a:t>
            </a:r>
          </a:p>
        </c:rich>
      </c:tx>
      <c:overlay val="0"/>
    </c:title>
    <c:autoTitleDeleted val="0"/>
    <c:plotArea>
      <c:layout/>
      <c:lineChart>
        <c:grouping val="standard"/>
        <c:varyColors val="0"/>
        <c:ser>
          <c:idx val="0"/>
          <c:order val="0"/>
          <c:tx>
            <c:strRef>
              <c:f>Sheet1!$B$1</c:f>
              <c:strCache>
                <c:ptCount val="1"/>
                <c:pt idx="0">
                  <c:v>DMSP-OLS (6 bits)</c:v>
                </c:pt>
              </c:strCache>
            </c:strRef>
          </c:tx>
          <c:spPr>
            <a:ln w="31750" cap="flat">
              <a:solidFill>
                <a:srgbClr val="A9B5B0"/>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Sheet1!$B$2:$B$15</c:f>
              <c:numCache>
                <c:formatCode>General</c:formatCode>
                <c:ptCount val="14"/>
                <c:pt idx="0">
                  <c:v>18</c:v>
                </c:pt>
                <c:pt idx="1">
                  <c:v>36</c:v>
                </c:pt>
                <c:pt idx="2">
                  <c:v>55</c:v>
                </c:pt>
                <c:pt idx="3">
                  <c:v>73</c:v>
                </c:pt>
                <c:pt idx="4">
                  <c:v>91</c:v>
                </c:pt>
                <c:pt idx="5">
                  <c:v>100</c:v>
                </c:pt>
                <c:pt idx="6">
                  <c:v>100</c:v>
                </c:pt>
                <c:pt idx="7">
                  <c:v>100</c:v>
                </c:pt>
                <c:pt idx="8">
                  <c:v>100</c:v>
                </c:pt>
                <c:pt idx="9">
                  <c:v>100</c:v>
                </c:pt>
                <c:pt idx="10">
                  <c:v>100</c:v>
                </c:pt>
                <c:pt idx="11">
                  <c:v>100</c:v>
                </c:pt>
                <c:pt idx="12">
                  <c:v>100</c:v>
                </c:pt>
                <c:pt idx="13">
                  <c:v>100</c:v>
                </c:pt>
              </c:numCache>
            </c:numRef>
          </c:val>
          <c:smooth val="0"/>
          <c:extLst>
            <c:ext xmlns:c16="http://schemas.microsoft.com/office/drawing/2014/chart" uri="{C3380CC4-5D6E-409C-BE32-E72D297353CC}">
              <c16:uniqueId val="{00000000-2590-4B10-BCE6-CFCFD28D085F}"/>
            </c:ext>
          </c:extLst>
        </c:ser>
        <c:ser>
          <c:idx val="1"/>
          <c:order val="1"/>
          <c:tx>
            <c:strRef>
              <c:f>Sheet1!$C$1</c:f>
              <c:strCache>
                <c:ptCount val="1"/>
                <c:pt idx="0">
                  <c:v>VIIRS DNB (14 bits)</c:v>
                </c:pt>
              </c:strCache>
            </c:strRef>
          </c:tx>
          <c:spPr>
            <a:ln w="31750" cap="flat">
              <a:solidFill>
                <a:srgbClr val="00A86A"/>
              </a:solidFill>
              <a:prstDash val="solid"/>
              <a:round/>
            </a:ln>
            <a:effectLst/>
          </c:spPr>
          <c:marker>
            <c:symbol val="none"/>
          </c:marker>
          <c:cat>
            <c:strRef>
              <c:f>Sheet1!$A$2:$A$15</c:f>
              <c:strCache>
                <c:ptCount val="14"/>
                <c:pt idx="0">
                  <c:v>1</c:v>
                </c:pt>
                <c:pt idx="1">
                  <c:v>2</c:v>
                </c:pt>
                <c:pt idx="2">
                  <c:v>3</c:v>
                </c:pt>
                <c:pt idx="3">
                  <c:v>4</c:v>
                </c:pt>
                <c:pt idx="4">
                  <c:v>5</c:v>
                </c:pt>
                <c:pt idx="5">
                  <c:v>6</c:v>
                </c:pt>
                <c:pt idx="6">
                  <c:v>7</c:v>
                </c:pt>
                <c:pt idx="7">
                  <c:v>8</c:v>
                </c:pt>
                <c:pt idx="8">
                  <c:v>9</c:v>
                </c:pt>
                <c:pt idx="9">
                  <c:v>10</c:v>
                </c:pt>
                <c:pt idx="10">
                  <c:v>11</c:v>
                </c:pt>
                <c:pt idx="11">
                  <c:v>12</c:v>
                </c:pt>
                <c:pt idx="12">
                  <c:v>13</c:v>
                </c:pt>
                <c:pt idx="13">
                  <c:v>14</c:v>
                </c:pt>
              </c:strCache>
            </c:strRef>
          </c:cat>
          <c:val>
            <c:numRef>
              <c:f>Sheet1!$C$2:$C$15</c:f>
              <c:numCache>
                <c:formatCode>General</c:formatCode>
                <c:ptCount val="14"/>
                <c:pt idx="0">
                  <c:v>7</c:v>
                </c:pt>
                <c:pt idx="1">
                  <c:v>14</c:v>
                </c:pt>
                <c:pt idx="2">
                  <c:v>21</c:v>
                </c:pt>
                <c:pt idx="3">
                  <c:v>29</c:v>
                </c:pt>
                <c:pt idx="4">
                  <c:v>36</c:v>
                </c:pt>
                <c:pt idx="5">
                  <c:v>43</c:v>
                </c:pt>
                <c:pt idx="6">
                  <c:v>50</c:v>
                </c:pt>
                <c:pt idx="7">
                  <c:v>57</c:v>
                </c:pt>
                <c:pt idx="8">
                  <c:v>64</c:v>
                </c:pt>
                <c:pt idx="9">
                  <c:v>71</c:v>
                </c:pt>
                <c:pt idx="10">
                  <c:v>79</c:v>
                </c:pt>
                <c:pt idx="11">
                  <c:v>86</c:v>
                </c:pt>
                <c:pt idx="12">
                  <c:v>93</c:v>
                </c:pt>
                <c:pt idx="13">
                  <c:v>100</c:v>
                </c:pt>
              </c:numCache>
            </c:numRef>
          </c:val>
          <c:smooth val="0"/>
          <c:extLst>
            <c:ext xmlns:c16="http://schemas.microsoft.com/office/drawing/2014/chart" uri="{C3380CC4-5D6E-409C-BE32-E72D297353CC}">
              <c16:uniqueId val="{00000001-2590-4B10-BCE6-CFCFD28D085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900" b="0" i="0" u="none" strike="noStrike">
                    <a:solidFill>
                      <a:srgbClr val="5E6964"/>
                    </a:solidFill>
                    <a:latin typeface="Arial"/>
                  </a:defRPr>
                </a:pPr>
                <a:r>
                  <a:rPr lang="en-US" sz="900" b="0" i="0" u="none" strike="noStrike">
                    <a:solidFill>
                      <a:srgbClr val="5E6964"/>
                    </a:solidFill>
                    <a:latin typeface="Arial"/>
                  </a:rPr>
                  <a:t>Luminosité de surface (relative)</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1E7E4"/>
              </a:solidFill>
              <a:prstDash val="solid"/>
              <a:round/>
            </a:ln>
          </c:spPr>
        </c:majorGridlines>
        <c:title>
          <c:tx>
            <c:rich>
              <a:bodyPr/>
              <a:lstStyle/>
              <a:p>
                <a:pPr>
                  <a:defRPr sz="900" b="0" i="0" u="none" strike="noStrike">
                    <a:solidFill>
                      <a:srgbClr val="5E6964"/>
                    </a:solidFill>
                    <a:latin typeface="Arial"/>
                  </a:defRPr>
                </a:pPr>
                <a:r>
                  <a:rPr lang="en-US" sz="900" b="0" i="0" u="none" strike="noStrike">
                    <a:solidFill>
                      <a:srgbClr val="5E6964"/>
                    </a:solidFill>
                    <a:latin typeface="Arial"/>
                  </a:rPr>
                  <a:t>Valeur enregistrée (% du max.)</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E6964"/>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050" b="0" i="0" u="none" strike="noStrike">
                <a:solidFill>
                  <a:srgbClr val="231F20"/>
                </a:solidFill>
                <a:latin typeface="Calibri"/>
              </a:defRPr>
            </a:pPr>
            <a:r>
              <a:rPr lang="fr-FR" sz="1050" b="0" i="0" u="none" strike="noStrike">
                <a:solidFill>
                  <a:srgbClr val="231F20"/>
                </a:solidFill>
                <a:latin typeface="Calibri"/>
              </a:rPr>
              <a:t>Afrique subsaharienne rurale sans électricité (millions)</a:t>
            </a:r>
          </a:p>
        </c:rich>
      </c:tx>
      <c:overlay val="0"/>
    </c:title>
    <c:autoTitleDeleted val="0"/>
    <c:plotArea>
      <c:layout/>
      <c:barChart>
        <c:barDir val="col"/>
        <c:grouping val="clustered"/>
        <c:varyColors val="0"/>
        <c:ser>
          <c:idx val="0"/>
          <c:order val="0"/>
          <c:tx>
            <c:strRef>
              <c:f>Sheet1!$B$1</c:f>
              <c:strCache>
                <c:ptCount val="1"/>
                <c:pt idx="0">
                  <c:v>Population rurale sans électricité (millions)</c:v>
                </c:pt>
              </c:strCache>
            </c:strRef>
          </c:tx>
          <c:spPr>
            <a:solidFill>
              <a:srgbClr val="A9B5B0"/>
            </a:solidFill>
            <a:effectLst/>
          </c:spPr>
          <c:invertIfNegative val="0"/>
          <c:dPt>
            <c:idx val="0"/>
            <c:invertIfNegative val="0"/>
            <c:bubble3D val="0"/>
            <c:extLst>
              <c:ext xmlns:c16="http://schemas.microsoft.com/office/drawing/2014/chart" uri="{C3380CC4-5D6E-409C-BE32-E72D297353CC}">
                <c16:uniqueId val="{00000001-1FDB-4695-AA59-FFAA200C8F31}"/>
              </c:ext>
            </c:extLst>
          </c:dPt>
          <c:dPt>
            <c:idx val="1"/>
            <c:invertIfNegative val="0"/>
            <c:bubble3D val="0"/>
            <c:spPr>
              <a:solidFill>
                <a:srgbClr val="B83B2E"/>
              </a:solidFill>
              <a:effectLst/>
            </c:spPr>
            <c:extLst>
              <c:ext xmlns:c16="http://schemas.microsoft.com/office/drawing/2014/chart" uri="{C3380CC4-5D6E-409C-BE32-E72D297353CC}">
                <c16:uniqueId val="{00000003-1FDB-4695-AA59-FFAA200C8F31}"/>
              </c:ext>
            </c:extLst>
          </c:dPt>
          <c:dLbls>
            <c:numFmt formatCode="#,##0" sourceLinked="0"/>
            <c:spPr>
              <a:noFill/>
              <a:ln>
                <a:noFill/>
              </a:ln>
              <a:effectLst/>
            </c:spPr>
            <c:txPr>
              <a:bodyPr/>
              <a:lstStyle/>
              <a:p>
                <a:pPr>
                  <a:defRPr sz="1100" b="1" i="0" u="none" strike="noStrike">
                    <a:solidFill>
                      <a:srgbClr val="231F2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2010</c:v>
                </c:pt>
                <c:pt idx="1">
                  <c:v>2024</c:v>
                </c:pt>
              </c:strCache>
            </c:strRef>
          </c:cat>
          <c:val>
            <c:numRef>
              <c:f>Sheet1!$B$2:$B$3</c:f>
              <c:numCache>
                <c:formatCode>General</c:formatCode>
                <c:ptCount val="2"/>
                <c:pt idx="0">
                  <c:v>376</c:v>
                </c:pt>
                <c:pt idx="1">
                  <c:v>447</c:v>
                </c:pt>
              </c:numCache>
            </c:numRef>
          </c:val>
          <c:extLst>
            <c:ext xmlns:c16="http://schemas.microsoft.com/office/drawing/2014/chart" uri="{C3380CC4-5D6E-409C-BE32-E72D297353CC}">
              <c16:uniqueId val="{00000004-1FDB-4695-AA59-FFAA200C8F31}"/>
            </c:ext>
          </c:extLst>
        </c:ser>
        <c:dLbls>
          <c:showLegendKey val="0"/>
          <c:showVal val="1"/>
          <c:showCatName val="0"/>
          <c:showSerName val="0"/>
          <c:showPercent val="0"/>
          <c:showBubbleSize val="0"/>
        </c:dLbls>
        <c:gapWidth val="8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964"/>
                </a:solidFill>
                <a:latin typeface="Arial"/>
              </a:defRPr>
            </a:pPr>
            <a:endParaRPr lang="en-US"/>
          </a:p>
        </c:txPr>
        <c:crossAx val="2094734552"/>
        <c:crosses val="autoZero"/>
        <c:auto val="1"/>
        <c:lblAlgn val="ctr"/>
        <c:lblOffset val="100"/>
        <c:noMultiLvlLbl val="1"/>
      </c:catAx>
      <c:valAx>
        <c:axId val="2094734552"/>
        <c:scaling>
          <c:orientation val="minMax"/>
          <c:max val="52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13886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secondes] Bienvenue. Cadrer la séance : il ne s’agit pas d’une galerie de belles images de l’Afrique la nuit, mais d’une séance sur un instrument de mesure qu’un INS peut utiliser, tester et diffuser. L’exposé est volontairement court — 30 minutes — car le reste du temps se passe dans les données. Question d’ouverture à la salle : « Si vous ne pouviez prendre qu’une seule photo de votre pays pour juger de sa situation, que photographieriez-vous ? » La réponse de ce domaine : photographiez-le la nuit. Note : les diapositives signalées RÉFÉRENCE dans ces notes servent aux laboratoires ; les parcourir rapidement en direct.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 ~5 min] Transition. On part de l’idée physique, on définit précisément l’objet, puis on montre la chaîne d’hypothèses dont dépend toute étude.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C’est le pivot conceptuel de l’exposé. Presque tout ce que l’on fait après le coucher du soleil nécessite de la lumière, et une partie s’échappe vers le haut. Ce seul fait fournit une mesure dotée de quatre propriétés qu’aucun recensement, enquête ou registre ne réunit à la fois : cohérente à l’échelle mondiale, continue dans l’espace, politiquement neutre et librement accessible. Le mot « trahit » est délibéré : nous observons de la lumière perdue, pas l’activité elle-même — semer dès maintenant le doute méthodique. Pour un INS, la comparaison clé porte sur la fréquence et la finesse : un recensement environ tous les dix ans, des enquêtes tous les quelques ans, des lumières chaque nuit pour chaque demi-kilomètre.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Lire une fois la définition de travail, puis s’attarder sur la colonne de droite. L’erreur la plus fréquente consiste à traiter le composite comme une photo et à raisonner visuellement plutôt que radiométriquement. La deuxième consiste à passer de la radiance à la population ou au revenu sans justifier le lien. Les unités comptent : nanowatts par centimètre carré par stéradian — vous les retrouverez dans les fichiers HDF au labo Collecter.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Parcourir la chaîne dans un sens, puis dans l’autre. Le sens inverse est l’exercice de diagnostic : face à un pixel sombre dans votre pays, énumérez tous les maillons qui pourraient l’expliquer. Le panneau du bas donne des exemples africains : les délestages rompent le maillon 1 ; les lanternes solaires de faible puissance peuvent ne pas émettre assez de lumière vers le haut pour franchir le seuil de détection ; les nuages de la saison des pluies et la poussière ou la fumée des feux de brousse en saison sèche atténuent le maillon 4. Les participants doivent pouvoir formuler au moins cinq explications distinctes de l’obscurité. C’est exactement le raisonnement attendu au laboratoire de validation.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Données : API OpenAlex, /works, regroupement par mot-clé (group_by=keywords.id), 25 octobre 2026.
Filtre 1 (titre ou résumé) : "nighttime light(s)" | "night-time light(s)" | "night lights" | "nightlights" | "night-light".
Filtre 2 (titre ou résumé) : satellite | VIIRS | DMSP | "Black Marble" | "remote sensing" | "Day/Night Band" | imagery | luminosity.
Résultat : 4 450 publications. Le second filtre écarte l'essentiel des études médicales (rythme circadien). Contrôle sur un échantillon aléatoire de 60 titres : 2 hors sujet évidents (série TV, ethnologie), quelques cas douteux ; précision estimée autour de 90 %.
Nettoyage : retrait du terme de recherche « nighttime lights » (3 060 occurrences) et de ses variantes, retrait de « dimethylsulfoniopropionate » (homonyme de DMSP) ; fusion des variantes VIIRS, DMSP-OLS, Landsat, points of interest, COVID-19. 90 termes affichés (les 105 plus fréquents moins ceux qui ne tiennent pas dans le cadre). Taille croissante avec la fréquence mais non proportionnelle (échelle atténuée) ; l'ordre des tailles respecte l'ordre des fréquences.
Lecture : la littérature porte d'abord sur les capteurs (DMSP-OLS, VIIRS) et l'urbanisation ; l'économie (PIB, disparités régionales, pauvreté, électricité) vient ensuite. Forte concentration sur la Chine ; l'Afrique reste peu présente : seul « Africa » figure dans le nuage ; « sub-Saharan Africa » (38), « Nigeria » (25), « South Africa » (22) sont sous le seuil d'affichage.
Chiffres clés : 4 450 = meta.count de la requête. × 5 = 552 (2025) / 110 (2016), années complètes ; 2026 (801 au 25 octobre) est partielle et non comparée. 46 % = 2 047 / 4 450 publications ayant au moins une affiliation en Chine (authorships.countries) ; 768 publications (17 %) n'ont aucun pays d'affiliation, la part réelle est donc plus élevée (56 % parmi celles dont le pays est connu).
Thèmes : classement manuel des mots-clés par règles ; part = somme des fréquences des 90 mots affichés.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 ~4 min] Le choix du capteur détermine les questions auxquelles on peut répondre. Garder un rythme soutenu.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L’ironie historique mérite d’être dite : le DMSP a été conçu pour voir les nuages au clair de lune à des fins de prévision météorologique militaire. Les lumières des villes étaient du bruit ; il a fallu deux décennies pour qu’on en fasse le signal. Message clé sur la continuité : VIIRS vole désormais sur trois satellites (Suomi NPP, NOAA-20, NOAA-21) ; un INS qui investit aujourd’hui dans les méthodes NTL investit dans un flux de données durable. Les produits Black Marble existent pour Suomi NPP (VNP46) et NOAA-20 (VJ146).</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Point pédagogique : le DMSP offre un long historique mais des valeurs grossières, saturées et non étalonnées ; VIIRS offre la précision, mais seulement depuis 2012. Toute série longue pour votre pays nécessite les deux, donc une étape explicite d’harmonisation — c’est l’artefact de « discontinuité des capteurs » que nous verrons plus loin. Mentionner que la nouvelle génération (SDGSAT-1, Luojia, commerciaux) ajoute la couleur, dimension absente des deux capteurs historiques.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L’analogie la plus claire : imaginez un thermomètre qui n’affiche que « 40 °C ou plus ». On peut encore étudier les lieux froids, mais toute question sur la chaleur devient une question sur votre modèle plutôt que sur vos données. C’est la situation du DMSP pour les centres de Lagos, du Caire ou de Johannesburg. VIIRS a été conçu autour de cette limite : sa bande jour/nuit couvre environ sept ordres de grandeur grâce à trois étages de gain. Le graphique est schématique — pas des données ajustées. Pour l’Afrique, l’autre extrémité de la plage compte autant : la plupart des localités rurales sont proches du seuil de détection ; la sensibilité nous importe donc davantage que la saturation.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 ~7 min] La section la plus proche des laboratoires. Les diapositives 15 et 17 sont celles auxquelles les participants reviendront pendant les laboratoires.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Insister sur l’étape 1 pour notre continent. Le filtrage des nuages explique pourquoi le bassin du Congo et la côte ouest-africaine ont bien moins d’observations exploitables que le Sahara ou le Kalahari — un biais géographique systématique dans toute comparaison entre pays. Question : moins d’observations biaise-t-il le résultat, ou élargit-il seulement l’intervalle d’incertitude ? Au laboratoire Collecter, vous verrez chaque étape sous forme de couche dans le fichier : indicateur de masque nuageux, irradiance lunaire, indicateur de neige et Mandatory_Quality_Flag, où 0 signifie haute qualité. L’image est un produit statistique, pas un instantané — deux produits pour le même mois peuvent légitimement différer.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en direct — diapositive de RÉFÉRENCE pour le labo Collecter] Quatre produits. A1 est la radiance brute au sommet de l’atmosphère : ne pas l’utiliser pour des statistiques sans effectuer soi-même les corrections. A2 est le produit quotidien corrigé — la base de tout le reste. A3 et A4 sont les composites mensuels et annuels construits à partir des données quotidiennes. Tous partagent une grille de 15 secondes d’arc (environ 500 m à l’équateur), des tuiles de 10°×10°, le format HDF-EOS5 et une série débutant en janvier 2012. Pièges pratiques : la couche de radiance est stockée en entiers non signés avec un facteur d’échelle de 0,1 et une valeur de remplissage de 65535 — oubliez l’un ou l’autre et vos chiffres sont faux d’un facteur dix ou contaminés. Les jumeaux NOAA-20 portent le préfixe VJ146. Les composites VNL de l’Earth Observation Group (Colorado School of Mines) et Google Earth Engine sont les deux principales alternatives.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Cette diapositive évite la classe d’erreurs la plus embarrassante : annoncer un boom économique dans une région pétrolière alors que c’est le torchage qui a changé, ou un essor d’activité au milieu du lac Victoria qui n’est qu’une flottille de pêche. Une seule de ces six sources est généralement le signal recherché par un INS. Toujours regarder la carte avant de faire confiance au chiffre — c’est précisément l’objet du laboratoire Explorer.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Faire l’exemple jouet en direct — c’est le moyen le plus rapide de rendre les trois indicateurs concrets. Un district de 4×4 pixels, radiance en nW·cm⁻²·sr⁻¹. La somme des lumières additionne tout : 30,1. La surface éclairée compte les pixels au-dessus du seuil : avec 0,5, on obtient 8 pixels. La radiance moyenne des pixels éclairés vaut 28,6 / 8 = 3,6. Relevez maintenant le seuil à 1,0 : la surface éclairée passe de 8 à 6 pixels — une variation de 25 % produite par un choix, pas par la réalité. C’est pourquoi le seuil doit être déclaré et testé. La somme des lumières est sensible au bruit de fond, puisque chaque pixel faible y contribue. La radiance moyenne distingue un district qui s’illumine d’un district qui s’étend. Une quatrième famille — concentration ou Gini de la lumière — sert d’indicateur d’inégalité spatiale.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Prendre le temps — c’est la diapositive que les participants réutiliseront. La question est typique de ce qu’un ministère peut demander à un INS. L’étape 3 compte en milieu rural africain : si l’on fait la moyenne sur tout un district, quelques villages nouvellement éclairés disparaissent dans le fond sombre ; il faut donc utiliser les emprises des localités. L’étape 4 — le groupe témoin de villages comparables hors programme — transforme une description en preuve, pour un coût quasi nul. L’étape 6 est la plus négligée dans les travaux publiés : essayez de mettre en défaut votre résultat avant que quelqu’un d’autre ne le fasse.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 · ~6 min] Pour chaque application, se demander : que faudrait-il vrai sur les comportements d’éclairage pour que l’inférence tienne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Une carte des usages, organisée selon les ODD sur lesquels un INS rend déjà compte. Le mot clé est « appuyer » : les lumières nocturnes complètent les statistiques officielles — désagrégation, estimation en temps réel, vérification — sans jamais remplacer l’enquête ou le recensement. Inviter chacun à choisir la ligne la plus pertinente pour son institut : c’est la question à emporter dans le laboratoire d’analyse.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La version honnête : les lumières nocturnes sont un piètre substitut à de bons comptes nationaux, mais un excellent complément à des comptes fragiles ou agrégés. Henderson, Storeygard et Weil (2012) ont montré que les lumières contiennent une vraie information sur la croissance. Bruederle et Hodler (2018) ont relié les lumières à des indicateurs de développement des ménages issus des enquêtes EDS, à l’échelle locale en Afrique. Martinez (2022) a utilisé les lumières comme référence indépendante pour la croissance du PIB déclarée — rappel que les NTL sont aussi un outil de crédibilité pour la statistique officielle. L’élasticité des lumières à la production n’est ni égale à un ni stable : agriculture et mines produisent beaucoup de valeur pour peu de lumière, ce qui concerne la plupart des économies africaines. Les lumières sont les plus utiles là où les statistiques sont les plus grossières : infranational, haute fréquence, informel.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Le rapport Tracking SDG 7 publié le 24 juin 2026 chiffre le déficit mondial d’accès à 655 millions de personnes en 2024, dont plus de 560 millions en Afrique subsaharienne. Le déficit rural de la région est passé de 376 millions en 2010 à 447 millions en 2024 — la croissance démographique a dépassé les raccordements. Mission 300, portée par le Groupe de la Banque mondiale et la Banque africaine de développement, vise à raccorder 300 millions d’Africains d’ici 2030 ; des programmes de cette ampleur exigent un suivi indépendant et spatialement fin. Le point surprenant : la fiabilité. Les statistiques officielles comptent un ménage comme raccordé qu’il ait du courant quatre heures ou vingt-quatre heures par jour. Les observations VIIRS nocturnes permettent de faire la différence. Le jeu de données HREA (Université du Michigan et Banque mondiale) estime déjà la probabilité d’électrification de chaque localité à partir des données VIIRS quotidiennes.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L’Afrique s’urbanise rapidement et les registres cadastraux suivent rarement. Le diagnostic étalement/densification est l’idée la plus transposable : il exige deux indicateurs, pas un seul — c’est précisément pourquoi la somme des lumières ne suffit pas pour l’analyse urbaine. Les deux villes illustratives ont la même lumière totale mais des implications totalement différentes pour les transports, les services et les émissions. Toujours associer les lumières à des grilles de population et de bâti : un pixel lumineux n’est pas une personne, une autoroute éclairée et vide le prouve.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30] L’application la plus chargée sur le plan éthique. Le Soudan est le cas africain : après le début des combats à Khartoum le 15 avril 2023, l’Earth Observation Group a constaté qu’en mai 2023 les lumières de la capitale étaient tombées au niveau du bruit, et l’UNOSAT a publié en juin 2023 une évaluation des coupures d’électricité fondée sur l’imagerie nocturne. La Syrie (Li et Li, 2014) et Porto Rico après l’ouragan Maria (produits quotidiens Black Marble) sont les études de référence. Les lumières nocturnes sont utilisées dans les rapports humanitaires et de droits humains : les erreurs ont des conséquences. Exiger la triangulation avec des informations de terrain et une déclaration honnête de l’incertitude. Pour un INS, l’intérêt est de disposer rapidement d’éléments de situation quand la collecte sur le terrain est impossible.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 ~4 min] La passerelle vers les laboratoires. Les diapositives 29 à 32 sont des références pour les laboratoires.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chaîne complète en une image. Chaque étape a une source de données ou un outil, et un résultat concret qui alimente l’étape suivante. Les bibliothèques Python citées sont des exemples d’options libres courantes, pas des obligations. Insister sur la reproductibilité : chaque étape se termine par un fichier déposé sur GitHub, afin qu’un autre pays — ou votre propre institut l’an prochain — puisse la relancer.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RÉFÉRENCE] Le réflexe de se tourner vers les données quotidiennes est presque toujours une erreur en début de projet. Les composites annuels répondent à la plupart des questions statistiques pour une fraction de l’effort de traitement, et leurs défaillances sont visibles plutôt que silencieuses. Ne passer au mensuel ou au quotidien que si vous pouvez préciser la résolution temporelle dont votre question a besoin — par exemple dater le début d’un conflit ou mesurer la fiabilité de l’approvisionnement.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RÉFÉRENCE pour le labo Valider] Un guide de décision proposé, à adapter au cadre d’assurance qualité de votre institut. Trois questions. D’abord, fixer la barre AVANT de regarder le résultat : quelle corrélation et quelle stabilité exigeriez-vous ? Ensuite, les artefacts ont-ils été identifiés et traités ? Enfin — le piège propre à cet exercice — votre référence est-elle indépendante ? Les modèles de population WorldPop utilisent les lumières nocturnes parmi leurs covariables : corréler les NTL avec WorldPop revient en partie à corréler les NTL avec elles-mêmes. Privilégier le recensement ou les enquêtes comme référence. Le résultat est l’une de trois décisions, et la déclaration de limites de droite fait partie du livrable quelle que soit la décision.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 RÉFÉRENCE] Garder cette liste ouverte pendant les laboratoires. Le point 7 en est le cœur pratique : les travaux les plus crédibles identifient les effets à partir des évolutions d’une même unité dans le temps plutôt que des niveaux en coupe transversale, car les problèmes d’étalonnage s’annulent en grande partie. La règle d’or servira de test pour tout résultat présenté.</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Terminer sur la dernière phrase. Extraire le signal est désormais une routine largement automatisée ; la discipline consiste à savoir ce que ce signal est en droit de signifier. Passer ensuite la main au laboratoire Collecter.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RÉFÉRENCE — à distribuer plutôt qu’à lire. Les deux termes les plus source de confusion : composite (souvent pris pour une photo) et nombre numérique (souvent pris pour une grandeur physique).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cette diapositive à l’écran pendant les questions. Pour une première expérience de cinq minutes, orienter vers l’application web Radiance Light Trends ou les tutoriels Open Nighttime Lights de la Banque mondiale avant toute chaîne de traitement lourde.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3593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uage de mots">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42900" y="240030"/>
            <a:ext cx="8455914" cy="514350"/>
          </a:xfrm>
          <a:prstGeom prst="rect">
            <a:avLst/>
          </a:prstGeom>
          <a:noFill/>
          <a:ln/>
        </p:spPr>
        <p:txBody>
          <a:bodyPr wrap="square" rtlCol="0"/>
          <a:lstStyle>
            <a:lvl1pPr marL="0" indent="0" algn="l">
              <a:buNone/>
              <a:defRPr lang="en-US" sz="2700" b="1" dirty="0">
                <a:solidFill>
                  <a:schemeClr val="bg1"/>
                </a:solidFill>
              </a:defRPr>
            </a:lvl1pPr>
          </a:lstStyle>
          <a:p>
            <a:pPr marL="0" indent="0" algn="l">
              <a:buNone/>
            </a:pPr>
            <a:endParaRPr lang="en-US" sz="2700" dirty="0"/>
          </a:p>
        </p:txBody>
      </p:sp>
      <p:sp>
        <p:nvSpPr>
          <p:cNvPr id="3" name="Text 0"/>
          <p:cNvSpPr>
            <a:spLocks noGrp="1"/>
          </p:cNvSpPr>
          <p:nvPr>
            <p:ph type="body" idx="101" hasCustomPrompt="1"/>
          </p:nvPr>
        </p:nvSpPr>
        <p:spPr>
          <a:xfrm>
            <a:off x="342900" y="754380"/>
            <a:ext cx="8455914" cy="274320"/>
          </a:xfrm>
          <a:prstGeom prst="rect">
            <a:avLst/>
          </a:prstGeom>
          <a:noFill/>
          <a:ln/>
        </p:spPr>
        <p:txBody>
          <a:bodyPr wrap="square" rtlCol="0"/>
          <a:lstStyle>
            <a:lvl1pPr marL="0" indent="0">
              <a:buNone/>
              <a:defRPr lang="en-US" sz="1125" dirty="0">
                <a:solidFill>
                  <a:schemeClr val="bg2"/>
                </a:solidFill>
              </a:defRPr>
            </a:lvl1pPr>
          </a:lstStyle>
          <a:p>
            <a:pPr marL="0" indent="0">
              <a:buNone/>
            </a:pPr>
            <a:endParaRPr lang="en-US" sz="1125" dirty="0"/>
          </a:p>
        </p:txBody>
      </p:sp>
      <p:sp>
        <p:nvSpPr>
          <p:cNvPr id="4" name="Text 0"/>
          <p:cNvSpPr>
            <a:spLocks noGrp="1"/>
          </p:cNvSpPr>
          <p:nvPr>
            <p:ph type="body" idx="102" hasCustomPrompt="1"/>
          </p:nvPr>
        </p:nvSpPr>
        <p:spPr>
          <a:xfrm>
            <a:off x="342900" y="4677156"/>
            <a:ext cx="8455914" cy="274320"/>
          </a:xfrm>
          <a:prstGeom prst="rect">
            <a:avLst/>
          </a:prstGeom>
          <a:noFill/>
          <a:ln/>
        </p:spPr>
        <p:txBody>
          <a:bodyPr wrap="square" rtlCol="0"/>
          <a:lstStyle>
            <a:lvl1pPr marL="0" indent="0">
              <a:buNone/>
              <a:defRPr lang="en-US" sz="750" dirty="0">
                <a:solidFill>
                  <a:schemeClr val="bg2"/>
                </a:solidFill>
              </a:defRPr>
            </a:lvl1pPr>
          </a:lstStyle>
          <a:p>
            <a:pPr marL="0" indent="0">
              <a:buNone/>
            </a:pPr>
            <a:endParaRPr lang="en-US" sz="750" dirty="0"/>
          </a:p>
        </p:txBody>
      </p:sp>
    </p:spTree>
    <p:extLst>
      <p:ext uri="{BB962C8B-B14F-4D97-AF65-F5344CB8AC3E}">
        <p14:creationId xmlns:p14="http://schemas.microsoft.com/office/powerpoint/2010/main" val="8865638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875732"/>
      </p:ext>
    </p:extLst>
  </p:cSld>
  <p:clrMap bg1="lt1" tx1="dk1" bg2="lt2" tx2="dk2" accent1="accent1" accent2="accent2" accent3="accent3" accent4="accent4" accent5="accent5" accent6="accent6" hlink="hlink" folHlink="folHlink"/>
  <p:sldLayoutIdLst>
    <p:sldLayoutId id="2147483651" r:id="rId1"/>
    <p:sldLayoutId id="2147483652" r:id="rId2"/>
  </p:sldLayoutIdLst>
  <p:hf sldNum="0"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atainnov4africa-web.github.io/DI4A-Website/" TargetMode="Externa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6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2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8.png"/><Relationship Id="rId4" Type="http://schemas.openxmlformats.org/officeDocument/2006/relationships/image" Target="../media/image77.png"/></Relationships>
</file>

<file path=ppt/slides/_rels/slide2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85.png"/></Relationships>
</file>

<file path=ppt/slides/_rels/slide3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20.png"/><Relationship Id="rId4" Type="http://schemas.openxmlformats.org/officeDocument/2006/relationships/image" Target="../media/image8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40080"/>
            <a:ext cx="68580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BAD · DI4A  ·  L’AFRIQUE LA NUIT</a:t>
            </a:r>
            <a:endParaRPr lang="en-US" sz="1050" dirty="0"/>
          </a:p>
        </p:txBody>
      </p:sp>
      <p:sp>
        <p:nvSpPr>
          <p:cNvPr id="4" name="Text 2"/>
          <p:cNvSpPr txBox="1"/>
          <p:nvPr/>
        </p:nvSpPr>
        <p:spPr>
          <a:xfrm>
            <a:off x="548640" y="1051560"/>
            <a:ext cx="6035040" cy="77724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Lumières nocturnes</a:t>
            </a:r>
            <a:endParaRPr lang="en-US" sz="4600" dirty="0"/>
          </a:p>
        </p:txBody>
      </p:sp>
      <p:sp>
        <p:nvSpPr>
          <p:cNvPr id="5" name="Text 3"/>
          <p:cNvSpPr txBox="1"/>
          <p:nvPr/>
        </p:nvSpPr>
        <p:spPr>
          <a:xfrm>
            <a:off x="548640" y="1874520"/>
            <a:ext cx="5669280" cy="68580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Ce que nous dit l’obscurité — lire le développement de l’Afrique depuis l’espace</a:t>
            </a:r>
            <a:endParaRPr lang="en-US" sz="1800" dirty="0"/>
          </a:p>
        </p:txBody>
      </p:sp>
      <p:sp>
        <p:nvSpPr>
          <p:cNvPr id="6" name="Text 4"/>
          <p:cNvSpPr txBox="1"/>
          <p:nvPr/>
        </p:nvSpPr>
        <p:spPr>
          <a:xfrm>
            <a:off x="548640" y="2697480"/>
            <a:ext cx="5394960" cy="5486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Concepts, instruments, artefacts et démarche de quatre laboratoires pratiques : de la radiance brute à un indicateur infranational validé.</a:t>
            </a:r>
            <a:endParaRPr lang="en-US" sz="1250" dirty="0"/>
          </a:p>
        </p:txBody>
      </p:sp>
      <p:sp>
        <p:nvSpPr>
          <p:cNvPr id="7" name="Shape 5"/>
          <p:cNvSpPr/>
          <p:nvPr/>
        </p:nvSpPr>
        <p:spPr>
          <a:xfrm>
            <a:off x="548640" y="3520440"/>
            <a:ext cx="5120640" cy="0"/>
          </a:xfrm>
          <a:prstGeom prst="line">
            <a:avLst/>
          </a:prstGeom>
          <a:noFill/>
          <a:ln w="9525">
            <a:solidFill>
              <a:srgbClr val="FFFFFF">
                <a:alpha val="40000"/>
              </a:srgbClr>
            </a:solidFill>
            <a:prstDash val="solid"/>
          </a:ln>
        </p:spPr>
      </p:sp>
      <p:sp>
        <p:nvSpPr>
          <p:cNvPr id="10" name="Shape 8"/>
          <p:cNvSpPr/>
          <p:nvPr/>
        </p:nvSpPr>
        <p:spPr>
          <a:xfrm>
            <a:off x="6126480" y="960120"/>
            <a:ext cx="2377440" cy="2377440"/>
          </a:xfrm>
          <a:prstGeom prst="ellipse">
            <a:avLst/>
          </a:prstGeom>
          <a:solidFill>
            <a:srgbClr val="FFFFFF">
              <a:alpha val="10000"/>
            </a:srgbClr>
          </a:solidFill>
          <a:ln w="9525">
            <a:solidFill>
              <a:srgbClr val="FFFFFF">
                <a:alpha val="30000"/>
              </a:srgbClr>
            </a:solidFill>
            <a:prstDash val="solid"/>
          </a:ln>
        </p:spPr>
      </p:sp>
      <p:sp>
        <p:nvSpPr>
          <p:cNvPr id="11" name="Shape 9"/>
          <p:cNvSpPr/>
          <p:nvPr/>
        </p:nvSpPr>
        <p:spPr>
          <a:xfrm>
            <a:off x="6423660" y="1257300"/>
            <a:ext cx="1783080" cy="1783080"/>
          </a:xfrm>
          <a:prstGeom prst="ellipse">
            <a:avLst/>
          </a:prstGeom>
          <a:solidFill>
            <a:srgbClr val="FFFFFF">
              <a:alpha val="13000"/>
            </a:srgbClr>
          </a:solidFill>
          <a:ln w="9525">
            <a:solidFill>
              <a:srgbClr val="FFFFFF">
                <a:alpha val="30000"/>
              </a:srgbClr>
            </a:solidFill>
            <a:prstDash val="solid"/>
          </a:ln>
        </p:spPr>
      </p:sp>
      <p:sp>
        <p:nvSpPr>
          <p:cNvPr id="12" name="Shape 10"/>
          <p:cNvSpPr/>
          <p:nvPr/>
        </p:nvSpPr>
        <p:spPr>
          <a:xfrm>
            <a:off x="6720840" y="1554480"/>
            <a:ext cx="1188720" cy="1188720"/>
          </a:xfrm>
          <a:prstGeom prst="ellipse">
            <a:avLst/>
          </a:prstGeom>
          <a:solidFill>
            <a:srgbClr val="FFFFFF">
              <a:alpha val="16000"/>
            </a:srgbClr>
          </a:solidFill>
          <a:ln w="9525">
            <a:solidFill>
              <a:srgbClr val="FFFFFF">
                <a:alpha val="30000"/>
              </a:srgbClr>
            </a:solidFill>
            <a:prstDash val="solid"/>
          </a:ln>
        </p:spPr>
      </p:sp>
      <p:sp>
        <p:nvSpPr>
          <p:cNvPr id="13" name="Shape 11"/>
          <p:cNvSpPr/>
          <p:nvPr/>
        </p:nvSpPr>
        <p:spPr>
          <a:xfrm>
            <a:off x="6903720" y="1737360"/>
            <a:ext cx="822960" cy="822960"/>
          </a:xfrm>
          <a:prstGeom prst="ellipse">
            <a:avLst/>
          </a:prstGeom>
          <a:solidFill>
            <a:srgbClr val="FFFFFF"/>
          </a:solidFill>
          <a:ln w="12700">
            <a:solidFill>
              <a:srgbClr val="FFFFFF"/>
            </a:solidFill>
            <a:prstDash val="solid"/>
          </a:ln>
        </p:spPr>
      </p:sp>
      <p:pic>
        <p:nvPicPr>
          <p:cNvPr id="14" name="Image 0" descr="preencoded.png"/>
          <p:cNvPicPr>
            <a:picLocks noChangeAspect="1"/>
          </p:cNvPicPr>
          <p:nvPr/>
        </p:nvPicPr>
        <p:blipFill>
          <a:blip r:embed="rId4"/>
          <a:stretch>
            <a:fillRect/>
          </a:stretch>
        </p:blipFill>
        <p:spPr>
          <a:xfrm>
            <a:off x="7095744" y="1929384"/>
            <a:ext cx="438912" cy="438912"/>
          </a:xfrm>
          <a:prstGeom prst="rect">
            <a:avLst/>
          </a:prstGeom>
        </p:spPr>
      </p:pic>
      <p:pic>
        <p:nvPicPr>
          <p:cNvPr id="15" name="Image 1" descr="preencoded.png"/>
          <p:cNvPicPr>
            <a:picLocks noChangeAspect="1"/>
          </p:cNvPicPr>
          <p:nvPr/>
        </p:nvPicPr>
        <p:blipFill>
          <a:blip r:embed="rId5"/>
          <a:stretch>
            <a:fillRect/>
          </a:stretch>
        </p:blipFill>
        <p:spPr>
          <a:xfrm>
            <a:off x="8001000" y="2834640"/>
            <a:ext cx="384048" cy="384048"/>
          </a:xfrm>
          <a:prstGeom prst="rect">
            <a:avLst/>
          </a:prstGeom>
        </p:spPr>
      </p:pic>
      <p:sp>
        <p:nvSpPr>
          <p:cNvPr id="65" name="Logo Pill"/>
          <p:cNvSpPr/>
          <p:nvPr/>
        </p:nvSpPr>
        <p:spPr>
          <a:xfrm>
            <a:off x="548640" y="3703320"/>
            <a:ext cx="2788920" cy="566928"/>
          </a:xfrm>
          <a:prstGeom prst="roundRect">
            <a:avLst>
              <a:gd name="adj" fmla="val 50000"/>
            </a:avLst>
          </a:prstGeom>
          <a:solidFill>
            <a:srgbClr val="FFFFFF"/>
          </a:solidFill>
          <a:ln>
            <a:noFill/>
          </a:ln>
        </p:spPr>
        <p:txBody>
          <a:bodyPr rtlCol="0" anchor="ctr"/>
          <a:lstStyle/>
          <a:p>
            <a:endParaRPr lang="en-US"/>
          </a:p>
        </p:txBody>
      </p:sp>
      <p:pic>
        <p:nvPicPr>
          <p:cNvPr id="66" name="AfDB Logo" descr="African Development Bank Group logo"/>
          <p:cNvPicPr>
            <a:picLocks noChangeAspect="1"/>
          </p:cNvPicPr>
          <p:nvPr/>
        </p:nvPicPr>
        <p:blipFill>
          <a:blip r:embed="rId6"/>
          <a:stretch>
            <a:fillRect/>
          </a:stretch>
        </p:blipFill>
        <p:spPr>
          <a:xfrm>
            <a:off x="749808" y="3822192"/>
            <a:ext cx="1367816" cy="329184"/>
          </a:xfrm>
          <a:prstGeom prst="rect">
            <a:avLst/>
          </a:prstGeom>
        </p:spPr>
      </p:pic>
      <p:sp>
        <p:nvSpPr>
          <p:cNvPr id="67" name="Logo Divider"/>
          <p:cNvSpPr/>
          <p:nvPr/>
        </p:nvSpPr>
        <p:spPr>
          <a:xfrm>
            <a:off x="2300504" y="3813048"/>
            <a:ext cx="9525" cy="347472"/>
          </a:xfrm>
          <a:prstGeom prst="rect">
            <a:avLst/>
          </a:prstGeom>
          <a:solidFill>
            <a:srgbClr val="D5DED9"/>
          </a:solidFill>
          <a:ln>
            <a:noFill/>
          </a:ln>
        </p:spPr>
        <p:txBody>
          <a:bodyPr rtlCol="0" anchor="ctr"/>
          <a:lstStyle/>
          <a:p>
            <a:endParaRPr lang="en-US"/>
          </a:p>
        </p:txBody>
      </p:sp>
      <p:pic>
        <p:nvPicPr>
          <p:cNvPr id="68" name="DI4A Logo" descr="Data Innovation for Africa logo"/>
          <p:cNvPicPr>
            <a:picLocks noChangeAspect="1"/>
          </p:cNvPicPr>
          <p:nvPr/>
        </p:nvPicPr>
        <p:blipFill>
          <a:blip r:embed="rId7"/>
          <a:stretch>
            <a:fillRect/>
          </a:stretch>
        </p:blipFill>
        <p:spPr>
          <a:xfrm>
            <a:off x="2587752" y="3749040"/>
            <a:ext cx="475488" cy="475488"/>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5"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456"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32" name="Rounded Rectangle 31"/>
          <p:cNvSpPr/>
          <p:nvPr/>
        </p:nvSpPr>
        <p:spPr>
          <a:xfrm>
            <a:off x="599378" y="1428006"/>
            <a:ext cx="2496157" cy="3147866"/>
          </a:xfrm>
          <a:prstGeom prst="roundRect">
            <a:avLst>
              <a:gd name="adj" fmla="val 5000"/>
            </a:avLst>
          </a:prstGeom>
          <a:solidFill>
            <a:srgbClr val="E8F5EF"/>
          </a:solidFill>
          <a:ln w="19050">
            <a:solidFill>
              <a:srgbClr val="00A86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350"/>
          </a:p>
        </p:txBody>
      </p:sp>
      <p:sp>
        <p:nvSpPr>
          <p:cNvPr id="33" name="TextBox 32"/>
          <p:cNvSpPr txBox="1"/>
          <p:nvPr/>
        </p:nvSpPr>
        <p:spPr>
          <a:xfrm>
            <a:off x="599378" y="1569540"/>
            <a:ext cx="2496157" cy="113744"/>
          </a:xfrm>
          <a:prstGeom prst="rect">
            <a:avLst/>
          </a:prstGeom>
          <a:noFill/>
        </p:spPr>
        <p:txBody>
          <a:bodyPr wrap="square" lIns="0" tIns="0" rIns="0" bIns="0" anchor="t">
            <a:spAutoFit/>
          </a:bodyPr>
          <a:lstStyle/>
          <a:p>
            <a:pPr algn="ctr"/>
            <a:r>
              <a:rPr sz="750" b="1" spc="150">
                <a:solidFill>
                  <a:srgbClr val="00704A"/>
                </a:solidFill>
                <a:latin typeface="Calibri"/>
              </a:rPr>
              <a:t>SCANNEZ POUR VISITER LE SITE</a:t>
            </a:r>
          </a:p>
        </p:txBody>
      </p:sp>
      <p:sp>
        <p:nvSpPr>
          <p:cNvPr id="34" name="Rounded Rectangle 33"/>
          <p:cNvSpPr/>
          <p:nvPr/>
        </p:nvSpPr>
        <p:spPr>
          <a:xfrm>
            <a:off x="946781" y="1826876"/>
            <a:ext cx="1801350" cy="1801350"/>
          </a:xfrm>
          <a:prstGeom prst="roundRect">
            <a:avLst>
              <a:gd name="adj" fmla="val 6000"/>
            </a:avLst>
          </a:prstGeom>
          <a:solidFill>
            <a:srgbClr val="FFFFFF"/>
          </a:solidFill>
          <a:ln w="9525">
            <a:solidFill>
              <a:srgbClr val="D5DED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350"/>
          </a:p>
        </p:txBody>
      </p:sp>
      <p:pic>
        <p:nvPicPr>
          <p:cNvPr id="35" name="Picture 34" descr="QR code to the DI4A website">
            <a:hlinkClick r:id="rId2"/>
          </p:cNvPr>
          <p:cNvPicPr>
            <a:picLocks noChangeAspect="1"/>
          </p:cNvPicPr>
          <p:nvPr/>
        </p:nvPicPr>
        <p:blipFill>
          <a:blip r:embed="rId3"/>
          <a:stretch>
            <a:fillRect/>
          </a:stretch>
        </p:blipFill>
        <p:spPr>
          <a:xfrm>
            <a:off x="1043282" y="1923377"/>
            <a:ext cx="1608348" cy="1608348"/>
          </a:xfrm>
          <a:prstGeom prst="rect">
            <a:avLst/>
          </a:prstGeom>
        </p:spPr>
      </p:pic>
      <p:sp>
        <p:nvSpPr>
          <p:cNvPr id="36" name="TextBox 35"/>
          <p:cNvSpPr txBox="1"/>
          <p:nvPr/>
        </p:nvSpPr>
        <p:spPr>
          <a:xfrm>
            <a:off x="663711" y="3731161"/>
            <a:ext cx="2367489" cy="162405"/>
          </a:xfrm>
          <a:prstGeom prst="rect">
            <a:avLst/>
          </a:prstGeom>
          <a:noFill/>
        </p:spPr>
        <p:txBody>
          <a:bodyPr wrap="square" lIns="0" tIns="0" rIns="0" bIns="0" anchor="t">
            <a:spAutoFit/>
          </a:bodyPr>
          <a:lstStyle/>
          <a:p>
            <a:pPr algn="ctr"/>
            <a:r>
              <a:rPr sz="1050" b="1">
                <a:solidFill>
                  <a:srgbClr val="231F20"/>
                </a:solidFill>
                <a:latin typeface="Calibri"/>
              </a:rPr>
              <a:t>Site web de DI4A</a:t>
            </a:r>
          </a:p>
        </p:txBody>
      </p:sp>
      <p:sp>
        <p:nvSpPr>
          <p:cNvPr id="37" name="TextBox 36"/>
          <p:cNvSpPr txBox="1"/>
          <p:nvPr/>
        </p:nvSpPr>
        <p:spPr>
          <a:xfrm>
            <a:off x="663711" y="3937030"/>
            <a:ext cx="2367489" cy="108270"/>
          </a:xfrm>
          <a:prstGeom prst="rect">
            <a:avLst/>
          </a:prstGeom>
          <a:noFill/>
        </p:spPr>
        <p:txBody>
          <a:bodyPr wrap="square" lIns="0" tIns="0" rIns="0" bIns="0" anchor="t">
            <a:spAutoFit/>
          </a:bodyPr>
          <a:lstStyle/>
          <a:p>
            <a:pPr algn="ctr"/>
            <a:r>
              <a:rPr sz="700" b="1">
                <a:solidFill>
                  <a:srgbClr val="00704A"/>
                </a:solidFill>
                <a:latin typeface="Calibri"/>
                <a:hlinkClick r:id="rId2"/>
              </a:rPr>
              <a:t>datainnov4africa-web.github.io/DI4A-Website</a:t>
            </a:r>
          </a:p>
        </p:txBody>
      </p:sp>
      <p:sp>
        <p:nvSpPr>
          <p:cNvPr id="38" name="TextBox 37"/>
          <p:cNvSpPr txBox="1"/>
          <p:nvPr/>
        </p:nvSpPr>
        <p:spPr>
          <a:xfrm>
            <a:off x="760212" y="4155766"/>
            <a:ext cx="2174487" cy="227487"/>
          </a:xfrm>
          <a:prstGeom prst="rect">
            <a:avLst/>
          </a:prstGeom>
          <a:noFill/>
        </p:spPr>
        <p:txBody>
          <a:bodyPr wrap="square" lIns="0" tIns="0" rIns="0" bIns="0" anchor="t">
            <a:spAutoFit/>
          </a:bodyPr>
          <a:lstStyle/>
          <a:p>
            <a:pPr algn="ctr"/>
            <a:r>
              <a:rPr sz="750">
                <a:solidFill>
                  <a:srgbClr val="5E6964"/>
                </a:solidFill>
                <a:latin typeface="Calibri"/>
              </a:rPr>
              <a:t>Le programme DI4A, ses laboratoires d’innovation des données, ses cas d’usage et ses ressources — en un seul endroit.</a:t>
            </a:r>
          </a:p>
        </p:txBody>
      </p:sp>
      <p:pic>
        <p:nvPicPr>
          <p:cNvPr id="150" name="Hero Illustration" descr="DI4A robot presenting a data map of Africa"/>
          <p:cNvPicPr>
            <a:picLocks noChangeAspect="1"/>
          </p:cNvPicPr>
          <p:nvPr/>
        </p:nvPicPr>
        <p:blipFill>
          <a:blip r:embed="rId4"/>
          <a:stretch>
            <a:fillRect/>
          </a:stretch>
        </p:blipFill>
        <p:spPr>
          <a:xfrm>
            <a:off x="3333571" y="1280160"/>
            <a:ext cx="5211050" cy="2907766"/>
          </a:xfrm>
          <a:prstGeom prst="rect">
            <a:avLst/>
          </a:prstGeom>
        </p:spPr>
      </p:pic>
      <p:sp>
        <p:nvSpPr>
          <p:cNvPr id="151" name="Logo Pill"/>
          <p:cNvSpPr/>
          <p:nvPr/>
        </p:nvSpPr>
        <p:spPr>
          <a:xfrm>
            <a:off x="4523749" y="4207355"/>
            <a:ext cx="2830694" cy="501804"/>
          </a:xfrm>
          <a:prstGeom prst="roundRect">
            <a:avLst>
              <a:gd name="adj" fmla="val 50000"/>
            </a:avLst>
          </a:prstGeom>
          <a:solidFill>
            <a:srgbClr val="FFFFFF"/>
          </a:solidFill>
          <a:ln w="9525">
            <a:solidFill>
              <a:srgbClr val="D5DED9"/>
            </a:solidFill>
          </a:ln>
          <a:effectLst>
            <a:outerShdw blurRad="152400" dist="38100" dir="5400000" algn="t" rotWithShape="0">
              <a:srgbClr val="0A2E1E">
                <a:alpha val="14000"/>
              </a:srgbClr>
            </a:outerShdw>
          </a:effectLst>
        </p:spPr>
        <p:txBody>
          <a:bodyPr rtlCol="0" anchor="ctr"/>
          <a:lstStyle/>
          <a:p>
            <a:endParaRPr lang="en-US" sz="1350"/>
          </a:p>
        </p:txBody>
      </p:sp>
      <p:pic>
        <p:nvPicPr>
          <p:cNvPr id="152" name="AfDB Logo" descr="African Development Bank Group logo"/>
          <p:cNvPicPr>
            <a:picLocks noChangeAspect="1"/>
          </p:cNvPicPr>
          <p:nvPr/>
        </p:nvPicPr>
        <p:blipFill>
          <a:blip r:embed="rId5"/>
          <a:stretch>
            <a:fillRect/>
          </a:stretch>
        </p:blipFill>
        <p:spPr>
          <a:xfrm>
            <a:off x="4748918" y="4310289"/>
            <a:ext cx="1229666" cy="295936"/>
          </a:xfrm>
          <a:prstGeom prst="rect">
            <a:avLst/>
          </a:prstGeom>
        </p:spPr>
      </p:pic>
      <p:sp>
        <p:nvSpPr>
          <p:cNvPr id="153" name="Logo Divider"/>
          <p:cNvSpPr/>
          <p:nvPr/>
        </p:nvSpPr>
        <p:spPr>
          <a:xfrm>
            <a:off x="6139419" y="4310289"/>
            <a:ext cx="8935" cy="295936"/>
          </a:xfrm>
          <a:prstGeom prst="rect">
            <a:avLst/>
          </a:prstGeom>
          <a:solidFill>
            <a:srgbClr val="D5DED9"/>
          </a:solidFill>
          <a:ln>
            <a:noFill/>
          </a:ln>
        </p:spPr>
        <p:txBody>
          <a:bodyPr rtlCol="0" anchor="ctr"/>
          <a:lstStyle/>
          <a:p>
            <a:endParaRPr lang="en-US" sz="1350"/>
          </a:p>
        </p:txBody>
      </p:sp>
      <p:pic>
        <p:nvPicPr>
          <p:cNvPr id="154" name="DI4A Logo" descr="Data Innovation for Africa logo"/>
          <p:cNvPicPr>
            <a:picLocks noChangeAspect="1"/>
          </p:cNvPicPr>
          <p:nvPr/>
        </p:nvPicPr>
        <p:blipFill>
          <a:blip r:embed="rId6"/>
          <a:stretch>
            <a:fillRect/>
          </a:stretch>
        </p:blipFill>
        <p:spPr>
          <a:xfrm>
            <a:off x="6685370" y="4252388"/>
            <a:ext cx="411737" cy="411737"/>
          </a:xfrm>
          <a:prstGeom prst="rect">
            <a:avLst/>
          </a:prstGeom>
        </p:spPr>
      </p:pic>
      <p:sp>
        <p:nvSpPr>
          <p:cNvPr id="457" name="Shape 2"/>
          <p:cNvSpPr/>
          <p:nvPr/>
        </p:nvSpPr>
        <p:spPr>
          <a:xfrm>
            <a:off x="0" y="0"/>
            <a:ext cx="9144000" cy="54864"/>
          </a:xfrm>
          <a:prstGeom prst="rect">
            <a:avLst/>
          </a:prstGeom>
          <a:solidFill>
            <a:srgbClr val="00A86A"/>
          </a:solidFill>
          <a:ln w="12700">
            <a:solidFill>
              <a:srgbClr val="00A86A"/>
            </a:solidFill>
            <a:prstDash val="solid"/>
          </a:ln>
        </p:spPr>
      </p:sp>
      <p:sp>
        <p:nvSpPr>
          <p:cNvPr id="458" name="Shape 3"/>
          <p:cNvSpPr/>
          <p:nvPr/>
        </p:nvSpPr>
        <p:spPr>
          <a:xfrm>
            <a:off x="0" y="0"/>
            <a:ext cx="1234440" cy="54864"/>
          </a:xfrm>
          <a:prstGeom prst="rect">
            <a:avLst/>
          </a:prstGeom>
          <a:solidFill>
            <a:srgbClr val="F5C242"/>
          </a:solidFill>
          <a:ln w="12700">
            <a:solidFill>
              <a:srgbClr val="F5C242"/>
            </a:solidFill>
            <a:prstDash val="solid"/>
          </a:ln>
        </p:spPr>
      </p:sp>
      <p:sp>
        <p:nvSpPr>
          <p:cNvPr id="459"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DI4A EN LIGNE · RESTONS CONNECTÉS</a:t>
            </a:r>
            <a:endParaRPr lang="en-US" sz="1050" dirty="0"/>
          </a:p>
        </p:txBody>
      </p:sp>
      <p:sp>
        <p:nvSpPr>
          <p:cNvPr id="460"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Découvrez DI4A en ligne</a:t>
            </a:r>
            <a:endParaRPr lang="en-US" sz="2800" dirty="0"/>
          </a:p>
        </p:txBody>
      </p:sp>
      <p:sp>
        <p:nvSpPr>
          <p:cNvPr id="461"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462"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463"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464"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465"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466"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467"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468"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02</a:t>
            </a:r>
            <a:endParaRPr lang="en-US" sz="8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1</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01</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Fondements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Pourquoi une photo de l’obscurité nous apprendrait-elle quelque chose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L’idée centrale  ·  Définitions  ·  La chaîne d’inférence</a:t>
            </a:r>
            <a:endParaRPr lang="en-US" sz="1200" dirty="0"/>
          </a:p>
        </p:txBody>
      </p:sp>
      <p:sp>
        <p:nvSpPr>
          <p:cNvPr id="8" name="Shape 6"/>
          <p:cNvSpPr/>
          <p:nvPr/>
        </p:nvSpPr>
        <p:spPr>
          <a:xfrm>
            <a:off x="548640" y="4343400"/>
            <a:ext cx="118872" cy="118872"/>
          </a:xfrm>
          <a:prstGeom prst="ellipse">
            <a:avLst/>
          </a:prstGeom>
          <a:solidFill>
            <a:srgbClr val="F5C242"/>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L’IDÉE CENTRALE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lumière trahit l’activité humaine</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04</a:t>
            </a:r>
            <a:endParaRPr lang="en-US" sz="850" dirty="0"/>
          </a:p>
        </p:txBody>
      </p:sp>
      <p:sp>
        <p:nvSpPr>
          <p:cNvPr id="17" name="Text 14"/>
          <p:cNvSpPr txBox="1"/>
          <p:nvPr/>
        </p:nvSpPr>
        <p:spPr>
          <a:xfrm>
            <a:off x="457200" y="1325880"/>
            <a:ext cx="4754880" cy="713232"/>
          </a:xfrm>
          <a:prstGeom prst="rect">
            <a:avLst/>
          </a:prstGeom>
          <a:noFill/>
          <a:ln/>
        </p:spPr>
        <p:txBody>
          <a:bodyPr wrap="square" lIns="0" tIns="0" rIns="0" bIns="0" rtlCol="0" anchor="t"/>
          <a:lstStyle/>
          <a:p>
            <a:pPr marL="0" indent="0">
              <a:buNone/>
            </a:pPr>
            <a:r>
              <a:rPr lang="en-US" sz="1450" i="1" dirty="0">
                <a:solidFill>
                  <a:srgbClr val="00704A"/>
                </a:solidFill>
                <a:latin typeface="Calibri" pitchFamily="34" charset="0"/>
                <a:ea typeface="Calibri" pitchFamily="34" charset="-122"/>
                <a:cs typeface="Calibri" pitchFamily="34" charset="-120"/>
              </a:rPr>
              <a:t>Presque tout ce que l’on fait après le coucher du soleil exige de la lumière — et une partie s’échappe vers le haut, dans le champ de vision d’un satellite.</a:t>
            </a:r>
            <a:endParaRPr lang="en-US" sz="1450" dirty="0"/>
          </a:p>
        </p:txBody>
      </p:sp>
      <p:sp>
        <p:nvSpPr>
          <p:cNvPr id="18" name="Text 15"/>
          <p:cNvSpPr txBox="1"/>
          <p:nvPr/>
        </p:nvSpPr>
        <p:spPr>
          <a:xfrm>
            <a:off x="457200" y="2084832"/>
            <a:ext cx="4754880" cy="594360"/>
          </a:xfrm>
          <a:prstGeom prst="rect">
            <a:avLst/>
          </a:prstGeom>
          <a:noFill/>
          <a:ln/>
        </p:spPr>
        <p:txBody>
          <a:bodyPr wrap="square" lIns="0" tIns="0" rIns="0" bIns="0" rtlCol="0" anchor="t"/>
          <a:lstStyle/>
          <a:p>
            <a:pPr marL="0" indent="0">
              <a:buNone/>
            </a:pPr>
            <a:r>
              <a:rPr lang="en-US" sz="1050" dirty="0">
                <a:solidFill>
                  <a:srgbClr val="231F20"/>
                </a:solidFill>
                <a:latin typeface="Calibri" pitchFamily="34" charset="0"/>
                <a:ea typeface="Calibri" pitchFamily="34" charset="-122"/>
                <a:cs typeface="Calibri" pitchFamily="34" charset="-120"/>
              </a:rPr>
              <a:t>Ce fait physique transforme la face nocturne de la planète en une observation de la présence humaine qu’aucun recensement, enquête ou registre n’égale sur ces quatre propriétés à la fois :</a:t>
            </a:r>
            <a:endParaRPr lang="en-US" sz="1050" dirty="0"/>
          </a:p>
        </p:txBody>
      </p:sp>
      <p:sp>
        <p:nvSpPr>
          <p:cNvPr id="19" name="Shape 16"/>
          <p:cNvSpPr/>
          <p:nvPr/>
        </p:nvSpPr>
        <p:spPr>
          <a:xfrm>
            <a:off x="457200" y="2743200"/>
            <a:ext cx="2286000" cy="548640"/>
          </a:xfrm>
          <a:prstGeom prst="roundRect">
            <a:avLst>
              <a:gd name="adj" fmla="val 13333"/>
            </a:avLst>
          </a:prstGeom>
          <a:solidFill>
            <a:srgbClr val="F4F7F5"/>
          </a:solidFill>
          <a:ln w="9525">
            <a:solidFill>
              <a:srgbClr val="D5DED9"/>
            </a:solidFill>
            <a:prstDash val="solid"/>
          </a:ln>
        </p:spPr>
      </p:sp>
      <p:sp>
        <p:nvSpPr>
          <p:cNvPr id="20" name="Shape 17"/>
          <p:cNvSpPr/>
          <p:nvPr/>
        </p:nvSpPr>
        <p:spPr>
          <a:xfrm>
            <a:off x="548640" y="2834640"/>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43738" y="2929738"/>
            <a:ext cx="175565" cy="175565"/>
          </a:xfrm>
          <a:prstGeom prst="rect">
            <a:avLst/>
          </a:prstGeom>
        </p:spPr>
      </p:pic>
      <p:sp>
        <p:nvSpPr>
          <p:cNvPr id="22" name="Text 18"/>
          <p:cNvSpPr txBox="1"/>
          <p:nvPr/>
        </p:nvSpPr>
        <p:spPr>
          <a:xfrm>
            <a:off x="1005840" y="2807208"/>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Cohérente partout</a:t>
            </a:r>
            <a:endParaRPr lang="en-US" sz="1100" dirty="0"/>
          </a:p>
        </p:txBody>
      </p:sp>
      <p:sp>
        <p:nvSpPr>
          <p:cNvPr id="23" name="Text 19"/>
          <p:cNvSpPr txBox="1"/>
          <p:nvPr/>
        </p:nvSpPr>
        <p:spPr>
          <a:xfrm>
            <a:off x="1005840" y="3035808"/>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Même méthode dans tous les pays</a:t>
            </a:r>
            <a:endParaRPr lang="en-US" sz="900" dirty="0"/>
          </a:p>
        </p:txBody>
      </p:sp>
      <p:sp>
        <p:nvSpPr>
          <p:cNvPr id="24" name="Shape 20"/>
          <p:cNvSpPr/>
          <p:nvPr/>
        </p:nvSpPr>
        <p:spPr>
          <a:xfrm>
            <a:off x="2880360" y="2743200"/>
            <a:ext cx="2286000" cy="548640"/>
          </a:xfrm>
          <a:prstGeom prst="roundRect">
            <a:avLst>
              <a:gd name="adj" fmla="val 13333"/>
            </a:avLst>
          </a:prstGeom>
          <a:solidFill>
            <a:srgbClr val="F4F7F5"/>
          </a:solidFill>
          <a:ln w="9525">
            <a:solidFill>
              <a:srgbClr val="D5DED9"/>
            </a:solidFill>
            <a:prstDash val="solid"/>
          </a:ln>
        </p:spPr>
      </p:sp>
      <p:sp>
        <p:nvSpPr>
          <p:cNvPr id="25" name="Shape 21"/>
          <p:cNvSpPr/>
          <p:nvPr/>
        </p:nvSpPr>
        <p:spPr>
          <a:xfrm>
            <a:off x="2971800" y="2834640"/>
            <a:ext cx="365760" cy="365760"/>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066898" y="2929738"/>
            <a:ext cx="175565" cy="175565"/>
          </a:xfrm>
          <a:prstGeom prst="rect">
            <a:avLst/>
          </a:prstGeom>
        </p:spPr>
      </p:pic>
      <p:sp>
        <p:nvSpPr>
          <p:cNvPr id="27" name="Text 22"/>
          <p:cNvSpPr txBox="1"/>
          <p:nvPr/>
        </p:nvSpPr>
        <p:spPr>
          <a:xfrm>
            <a:off x="3429000" y="2807208"/>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Continue dans l’espace</a:t>
            </a:r>
            <a:endParaRPr lang="en-US" sz="1100" dirty="0"/>
          </a:p>
        </p:txBody>
      </p:sp>
      <p:sp>
        <p:nvSpPr>
          <p:cNvPr id="28" name="Text 23"/>
          <p:cNvSpPr txBox="1"/>
          <p:nvPr/>
        </p:nvSpPr>
        <p:spPr>
          <a:xfrm>
            <a:off x="3429000" y="3035808"/>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Chaque maille d’environ 500 m</a:t>
            </a:r>
            <a:endParaRPr lang="en-US" sz="900" dirty="0"/>
          </a:p>
        </p:txBody>
      </p:sp>
      <p:sp>
        <p:nvSpPr>
          <p:cNvPr id="29" name="Shape 24"/>
          <p:cNvSpPr/>
          <p:nvPr/>
        </p:nvSpPr>
        <p:spPr>
          <a:xfrm>
            <a:off x="457200" y="3401568"/>
            <a:ext cx="2286000" cy="548640"/>
          </a:xfrm>
          <a:prstGeom prst="roundRect">
            <a:avLst>
              <a:gd name="adj" fmla="val 13333"/>
            </a:avLst>
          </a:prstGeom>
          <a:solidFill>
            <a:srgbClr val="F4F7F5"/>
          </a:solidFill>
          <a:ln w="9525">
            <a:solidFill>
              <a:srgbClr val="D5DED9"/>
            </a:solidFill>
            <a:prstDash val="solid"/>
          </a:ln>
        </p:spPr>
      </p:sp>
      <p:sp>
        <p:nvSpPr>
          <p:cNvPr id="30" name="Shape 25"/>
          <p:cNvSpPr/>
          <p:nvPr/>
        </p:nvSpPr>
        <p:spPr>
          <a:xfrm>
            <a:off x="548640" y="3493008"/>
            <a:ext cx="365760" cy="365760"/>
          </a:xfrm>
          <a:prstGeom prst="ellipse">
            <a:avLst/>
          </a:prstGeom>
          <a:solidFill>
            <a:srgbClr val="00A86A">
              <a:alpha val="22000"/>
            </a:srgbClr>
          </a:solidFill>
          <a:ln w="12700">
            <a:solidFill>
              <a:srgbClr val="00A86A">
                <a:alpha val="0"/>
              </a:srgbClr>
            </a:solidFill>
            <a:prstDash val="solid"/>
          </a:ln>
        </p:spPr>
      </p:sp>
      <p:pic>
        <p:nvPicPr>
          <p:cNvPr id="31" name="Image 2" descr="preencoded.png"/>
          <p:cNvPicPr>
            <a:picLocks noChangeAspect="1"/>
          </p:cNvPicPr>
          <p:nvPr/>
        </p:nvPicPr>
        <p:blipFill>
          <a:blip r:embed="rId5"/>
          <a:stretch>
            <a:fillRect/>
          </a:stretch>
        </p:blipFill>
        <p:spPr>
          <a:xfrm>
            <a:off x="643738" y="3588106"/>
            <a:ext cx="175565" cy="175565"/>
          </a:xfrm>
          <a:prstGeom prst="rect">
            <a:avLst/>
          </a:prstGeom>
        </p:spPr>
      </p:pic>
      <p:sp>
        <p:nvSpPr>
          <p:cNvPr id="32" name="Text 26"/>
          <p:cNvSpPr txBox="1"/>
          <p:nvPr/>
        </p:nvSpPr>
        <p:spPr>
          <a:xfrm>
            <a:off x="1005840" y="3465576"/>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Politiquement neutre</a:t>
            </a:r>
            <a:endParaRPr lang="en-US" sz="1100" dirty="0"/>
          </a:p>
        </p:txBody>
      </p:sp>
      <p:sp>
        <p:nvSpPr>
          <p:cNvPr id="33" name="Text 27"/>
          <p:cNvSpPr txBox="1"/>
          <p:nvPr/>
        </p:nvSpPr>
        <p:spPr>
          <a:xfrm>
            <a:off x="1005840" y="3694176"/>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Indépendante des déclarations</a:t>
            </a:r>
            <a:endParaRPr lang="en-US" sz="900" dirty="0"/>
          </a:p>
        </p:txBody>
      </p:sp>
      <p:sp>
        <p:nvSpPr>
          <p:cNvPr id="34" name="Shape 28"/>
          <p:cNvSpPr/>
          <p:nvPr/>
        </p:nvSpPr>
        <p:spPr>
          <a:xfrm>
            <a:off x="2880360" y="3401568"/>
            <a:ext cx="2286000" cy="548640"/>
          </a:xfrm>
          <a:prstGeom prst="roundRect">
            <a:avLst>
              <a:gd name="adj" fmla="val 13333"/>
            </a:avLst>
          </a:prstGeom>
          <a:solidFill>
            <a:srgbClr val="F4F7F5"/>
          </a:solidFill>
          <a:ln w="9525">
            <a:solidFill>
              <a:srgbClr val="D5DED9"/>
            </a:solidFill>
            <a:prstDash val="solid"/>
          </a:ln>
        </p:spPr>
      </p:sp>
      <p:sp>
        <p:nvSpPr>
          <p:cNvPr id="35" name="Shape 29"/>
          <p:cNvSpPr/>
          <p:nvPr/>
        </p:nvSpPr>
        <p:spPr>
          <a:xfrm>
            <a:off x="2971800" y="3493008"/>
            <a:ext cx="365760" cy="365760"/>
          </a:xfrm>
          <a:prstGeom prst="ellipse">
            <a:avLst/>
          </a:prstGeom>
          <a:solidFill>
            <a:srgbClr val="00A86A">
              <a:alpha val="22000"/>
            </a:srgbClr>
          </a:solidFill>
          <a:ln w="12700">
            <a:solidFill>
              <a:srgbClr val="00A86A">
                <a:alpha val="0"/>
              </a:srgbClr>
            </a:solidFill>
            <a:prstDash val="solid"/>
          </a:ln>
        </p:spPr>
      </p:sp>
      <p:pic>
        <p:nvPicPr>
          <p:cNvPr id="36" name="Image 3" descr="preencoded.png"/>
          <p:cNvPicPr>
            <a:picLocks noChangeAspect="1"/>
          </p:cNvPicPr>
          <p:nvPr/>
        </p:nvPicPr>
        <p:blipFill>
          <a:blip r:embed="rId6"/>
          <a:stretch>
            <a:fillRect/>
          </a:stretch>
        </p:blipFill>
        <p:spPr>
          <a:xfrm>
            <a:off x="3066898" y="3588106"/>
            <a:ext cx="175565" cy="175565"/>
          </a:xfrm>
          <a:prstGeom prst="rect">
            <a:avLst/>
          </a:prstGeom>
        </p:spPr>
      </p:pic>
      <p:sp>
        <p:nvSpPr>
          <p:cNvPr id="37" name="Text 30"/>
          <p:cNvSpPr txBox="1"/>
          <p:nvPr/>
        </p:nvSpPr>
        <p:spPr>
          <a:xfrm>
            <a:off x="3429000" y="3465576"/>
            <a:ext cx="1691640" cy="219456"/>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Librement accessible</a:t>
            </a:r>
            <a:endParaRPr lang="en-US" sz="1100" dirty="0"/>
          </a:p>
        </p:txBody>
      </p:sp>
      <p:sp>
        <p:nvSpPr>
          <p:cNvPr id="38" name="Text 31"/>
          <p:cNvSpPr txBox="1"/>
          <p:nvPr/>
        </p:nvSpPr>
        <p:spPr>
          <a:xfrm>
            <a:off x="3429000" y="3694176"/>
            <a:ext cx="16916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Produits ouverts NASA / EOG</a:t>
            </a:r>
            <a:endParaRPr lang="en-US" sz="900" dirty="0"/>
          </a:p>
        </p:txBody>
      </p:sp>
      <p:sp>
        <p:nvSpPr>
          <p:cNvPr id="39" name="Shape 32"/>
          <p:cNvSpPr/>
          <p:nvPr/>
        </p:nvSpPr>
        <p:spPr>
          <a:xfrm>
            <a:off x="5486400" y="1325880"/>
            <a:ext cx="3200400" cy="713232"/>
          </a:xfrm>
          <a:prstGeom prst="roundRect">
            <a:avLst>
              <a:gd name="adj" fmla="val 10256"/>
            </a:avLst>
          </a:prstGeom>
          <a:solidFill>
            <a:srgbClr val="F4F7F5"/>
          </a:solidFill>
          <a:ln w="9525">
            <a:solidFill>
              <a:srgbClr val="D5DED9"/>
            </a:solidFill>
            <a:prstDash val="solid"/>
          </a:ln>
        </p:spPr>
      </p:sp>
      <p:sp>
        <p:nvSpPr>
          <p:cNvPr id="40" name="Text 33"/>
          <p:cNvSpPr txBox="1"/>
          <p:nvPr/>
        </p:nvSpPr>
        <p:spPr>
          <a:xfrm>
            <a:off x="5596128" y="1399032"/>
            <a:ext cx="1371600" cy="566928"/>
          </a:xfrm>
          <a:prstGeom prst="rect">
            <a:avLst/>
          </a:prstGeom>
          <a:noFill/>
          <a:ln/>
        </p:spPr>
        <p:txBody>
          <a:bodyPr wrap="square" lIns="0" tIns="0" rIns="0" bIns="0" rtlCol="0" anchor="ctr"/>
          <a:lstStyle/>
          <a:p>
            <a:pPr marL="0" indent="0">
              <a:buNone/>
            </a:pPr>
            <a:r>
              <a:rPr lang="en-US" sz="3000" b="1" dirty="0">
                <a:solidFill>
                  <a:srgbClr val="00A86A"/>
                </a:solidFill>
                <a:latin typeface="Calibri" pitchFamily="34" charset="0"/>
                <a:ea typeface="Calibri" pitchFamily="34" charset="-122"/>
                <a:cs typeface="Calibri" pitchFamily="34" charset="-120"/>
              </a:rPr>
              <a:t>1992</a:t>
            </a:r>
            <a:endParaRPr lang="en-US" sz="3000" dirty="0"/>
          </a:p>
        </p:txBody>
      </p:sp>
      <p:sp>
        <p:nvSpPr>
          <p:cNvPr id="41" name="Text 34"/>
          <p:cNvSpPr txBox="1"/>
          <p:nvPr/>
        </p:nvSpPr>
        <p:spPr>
          <a:xfrm>
            <a:off x="6967728" y="138074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Début de l’archive numérique continue DMSP — trois décennies d’historique</a:t>
            </a:r>
            <a:endParaRPr lang="en-US" sz="900" dirty="0"/>
          </a:p>
        </p:txBody>
      </p:sp>
      <p:sp>
        <p:nvSpPr>
          <p:cNvPr id="42" name="Shape 35"/>
          <p:cNvSpPr/>
          <p:nvPr/>
        </p:nvSpPr>
        <p:spPr>
          <a:xfrm>
            <a:off x="5486400" y="2148840"/>
            <a:ext cx="3200400" cy="713232"/>
          </a:xfrm>
          <a:prstGeom prst="roundRect">
            <a:avLst>
              <a:gd name="adj" fmla="val 10256"/>
            </a:avLst>
          </a:prstGeom>
          <a:solidFill>
            <a:srgbClr val="F4F7F5"/>
          </a:solidFill>
          <a:ln w="9525">
            <a:solidFill>
              <a:srgbClr val="D5DED9"/>
            </a:solidFill>
            <a:prstDash val="solid"/>
          </a:ln>
        </p:spPr>
      </p:sp>
      <p:sp>
        <p:nvSpPr>
          <p:cNvPr id="43" name="Text 36"/>
          <p:cNvSpPr txBox="1"/>
          <p:nvPr/>
        </p:nvSpPr>
        <p:spPr>
          <a:xfrm>
            <a:off x="5596128" y="2221992"/>
            <a:ext cx="1371600" cy="566928"/>
          </a:xfrm>
          <a:prstGeom prst="rect">
            <a:avLst/>
          </a:prstGeom>
          <a:noFill/>
          <a:ln/>
        </p:spPr>
        <p:txBody>
          <a:bodyPr wrap="square" lIns="0" tIns="0" rIns="0" bIns="0" rtlCol="0" anchor="ctr"/>
          <a:lstStyle/>
          <a:p>
            <a:pPr marL="0" indent="0">
              <a:buNone/>
            </a:pPr>
            <a:r>
              <a:rPr lang="en-US" sz="3000" b="1" dirty="0">
                <a:solidFill>
                  <a:srgbClr val="00704A"/>
                </a:solidFill>
                <a:latin typeface="Calibri" pitchFamily="34" charset="0"/>
                <a:ea typeface="Calibri" pitchFamily="34" charset="-122"/>
                <a:cs typeface="Calibri" pitchFamily="34" charset="-120"/>
              </a:rPr>
              <a:t>500 m</a:t>
            </a:r>
            <a:endParaRPr lang="en-US" sz="3000" dirty="0"/>
          </a:p>
        </p:txBody>
      </p:sp>
      <p:sp>
        <p:nvSpPr>
          <p:cNvPr id="44" name="Text 37"/>
          <p:cNvSpPr txBox="1"/>
          <p:nvPr/>
        </p:nvSpPr>
        <p:spPr>
          <a:xfrm>
            <a:off x="6967728" y="220370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Pixel de la </a:t>
            </a:r>
            <a:r>
              <a:rPr lang="en-US" sz="900" dirty="0" err="1">
                <a:solidFill>
                  <a:srgbClr val="5E6964"/>
                </a:solidFill>
                <a:latin typeface="Calibri" pitchFamily="34" charset="0"/>
                <a:ea typeface="Calibri" pitchFamily="34" charset="-122"/>
                <a:cs typeface="Calibri" pitchFamily="34" charset="-120"/>
              </a:rPr>
              <a:t>bande</a:t>
            </a:r>
            <a:r>
              <a:rPr lang="en-US" sz="900" dirty="0">
                <a:solidFill>
                  <a:srgbClr val="5E6964"/>
                </a:solidFill>
                <a:latin typeface="Calibri" pitchFamily="34" charset="0"/>
                <a:ea typeface="Calibri" pitchFamily="34" charset="-122"/>
                <a:cs typeface="Calibri" pitchFamily="34" charset="-120"/>
              </a:rPr>
              <a:t> jour/nuit VIIRS, quasi constant sur </a:t>
            </a:r>
            <a:r>
              <a:rPr lang="en-US" sz="900" dirty="0" err="1">
                <a:solidFill>
                  <a:srgbClr val="5E6964"/>
                </a:solidFill>
                <a:latin typeface="Calibri" pitchFamily="34" charset="0"/>
                <a:ea typeface="Calibri" pitchFamily="34" charset="-122"/>
                <a:cs typeface="Calibri" pitchFamily="34" charset="-120"/>
              </a:rPr>
              <a:t>toute</a:t>
            </a:r>
            <a:r>
              <a:rPr lang="en-US" sz="900" dirty="0">
                <a:solidFill>
                  <a:srgbClr val="5E6964"/>
                </a:solidFill>
                <a:latin typeface="Calibri" pitchFamily="34" charset="0"/>
                <a:ea typeface="Calibri" pitchFamily="34" charset="-122"/>
                <a:cs typeface="Calibri" pitchFamily="34" charset="-120"/>
              </a:rPr>
              <a:t> la </a:t>
            </a:r>
            <a:r>
              <a:rPr lang="en-US" sz="900" dirty="0" err="1">
                <a:solidFill>
                  <a:srgbClr val="5E6964"/>
                </a:solidFill>
                <a:latin typeface="Calibri" pitchFamily="34" charset="0"/>
                <a:ea typeface="Calibri" pitchFamily="34" charset="-122"/>
                <a:cs typeface="Calibri" pitchFamily="34" charset="-120"/>
              </a:rPr>
              <a:t>fauchée</a:t>
            </a:r>
            <a:r>
              <a:rPr lang="en-US" sz="900" dirty="0">
                <a:solidFill>
                  <a:srgbClr val="5E6964"/>
                </a:solidFill>
                <a:latin typeface="Calibri" pitchFamily="34" charset="0"/>
                <a:ea typeface="Calibri" pitchFamily="34" charset="-122"/>
                <a:cs typeface="Calibri" pitchFamily="34" charset="-120"/>
              </a:rPr>
              <a:t>, </a:t>
            </a:r>
            <a:r>
              <a:rPr lang="en-US" sz="900" dirty="0" err="1">
                <a:solidFill>
                  <a:srgbClr val="5E6964"/>
                </a:solidFill>
                <a:latin typeface="Calibri" pitchFamily="34" charset="0"/>
                <a:ea typeface="Calibri" pitchFamily="34" charset="-122"/>
                <a:cs typeface="Calibri" pitchFamily="34" charset="-120"/>
              </a:rPr>
              <a:t>produit</a:t>
            </a:r>
            <a:r>
              <a:rPr lang="en-US" sz="900" dirty="0">
                <a:solidFill>
                  <a:srgbClr val="5E6964"/>
                </a:solidFill>
                <a:latin typeface="Calibri" pitchFamily="34" charset="0"/>
                <a:ea typeface="Calibri" pitchFamily="34" charset="-122"/>
                <a:cs typeface="Calibri" pitchFamily="34" charset="-120"/>
              </a:rPr>
              <a:t> de données</a:t>
            </a:r>
            <a:endParaRPr lang="en-US" sz="900" dirty="0"/>
          </a:p>
        </p:txBody>
      </p:sp>
      <p:sp>
        <p:nvSpPr>
          <p:cNvPr id="45" name="Shape 38"/>
          <p:cNvSpPr/>
          <p:nvPr/>
        </p:nvSpPr>
        <p:spPr>
          <a:xfrm>
            <a:off x="5486400" y="2971800"/>
            <a:ext cx="3200400" cy="713232"/>
          </a:xfrm>
          <a:prstGeom prst="roundRect">
            <a:avLst>
              <a:gd name="adj" fmla="val 10256"/>
            </a:avLst>
          </a:prstGeom>
          <a:solidFill>
            <a:srgbClr val="F4F7F5"/>
          </a:solidFill>
          <a:ln w="9525">
            <a:solidFill>
              <a:srgbClr val="D5DED9"/>
            </a:solidFill>
            <a:prstDash val="solid"/>
          </a:ln>
        </p:spPr>
      </p:sp>
      <p:sp>
        <p:nvSpPr>
          <p:cNvPr id="46" name="Text 39"/>
          <p:cNvSpPr txBox="1"/>
          <p:nvPr/>
        </p:nvSpPr>
        <p:spPr>
          <a:xfrm>
            <a:off x="5596128" y="3044952"/>
            <a:ext cx="1371600" cy="566928"/>
          </a:xfrm>
          <a:prstGeom prst="rect">
            <a:avLst/>
          </a:prstGeom>
          <a:noFill/>
          <a:ln/>
        </p:spPr>
        <p:txBody>
          <a:bodyPr wrap="square" lIns="0" tIns="0" rIns="0" bIns="0" rtlCol="0" anchor="ctr"/>
          <a:lstStyle/>
          <a:p>
            <a:pPr marL="0" indent="0">
              <a:buNone/>
            </a:pPr>
            <a:r>
              <a:rPr lang="en-US" sz="1900" b="1" dirty="0">
                <a:solidFill>
                  <a:srgbClr val="0E7C86"/>
                </a:solidFill>
                <a:latin typeface="Calibri" pitchFamily="34" charset="0"/>
                <a:ea typeface="Calibri" pitchFamily="34" charset="-122"/>
                <a:cs typeface="Calibri" pitchFamily="34" charset="-120"/>
              </a:rPr>
              <a:t>Chaque nuit</a:t>
            </a:r>
            <a:endParaRPr lang="en-US" sz="1900" dirty="0"/>
          </a:p>
        </p:txBody>
      </p:sp>
      <p:sp>
        <p:nvSpPr>
          <p:cNvPr id="47" name="Text 40"/>
          <p:cNvSpPr txBox="1"/>
          <p:nvPr/>
        </p:nvSpPr>
        <p:spPr>
          <a:xfrm>
            <a:off x="6967728" y="3026664"/>
            <a:ext cx="1664208" cy="603504"/>
          </a:xfrm>
          <a:prstGeom prst="rect">
            <a:avLst/>
          </a:prstGeom>
          <a:noFill/>
          <a:ln/>
        </p:spPr>
        <p:txBody>
          <a:bodyPr wrap="square" lIns="0" tIns="0" rIns="0" bIns="0" rtlCol="0" anchor="ctr"/>
          <a:lstStyle/>
          <a:p>
            <a:pPr marL="0" indent="0">
              <a:buNone/>
            </a:pPr>
            <a:r>
              <a:rPr lang="en-US" sz="900" dirty="0">
                <a:solidFill>
                  <a:srgbClr val="5E6964"/>
                </a:solidFill>
                <a:latin typeface="Calibri" pitchFamily="34" charset="0"/>
                <a:ea typeface="Calibri" pitchFamily="34" charset="-122"/>
                <a:cs typeface="Calibri" pitchFamily="34" charset="-120"/>
              </a:rPr>
              <a:t>Passage VIIRS mondial vers 01h30 heure locale, depuis 2012</a:t>
            </a:r>
            <a:endParaRPr lang="en-US" sz="900" dirty="0"/>
          </a:p>
        </p:txBody>
      </p:sp>
      <p:sp>
        <p:nvSpPr>
          <p:cNvPr id="48" name="Shape 41"/>
          <p:cNvSpPr/>
          <p:nvPr/>
        </p:nvSpPr>
        <p:spPr>
          <a:xfrm>
            <a:off x="5486400" y="3822192"/>
            <a:ext cx="3200400" cy="713232"/>
          </a:xfrm>
          <a:prstGeom prst="roundRect">
            <a:avLst>
              <a:gd name="adj" fmla="val 10256"/>
            </a:avLst>
          </a:prstGeom>
          <a:solidFill>
            <a:srgbClr val="E8F5EF"/>
          </a:solidFill>
          <a:ln w="15875">
            <a:solidFill>
              <a:srgbClr val="00A86A"/>
            </a:solidFill>
            <a:prstDash val="solid"/>
          </a:ln>
        </p:spPr>
      </p:sp>
      <p:sp>
        <p:nvSpPr>
          <p:cNvPr id="49" name="Text 42"/>
          <p:cNvSpPr txBox="1"/>
          <p:nvPr/>
        </p:nvSpPr>
        <p:spPr>
          <a:xfrm>
            <a:off x="5596128" y="3849624"/>
            <a:ext cx="3017520" cy="658368"/>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Pour un INS : </a:t>
            </a:r>
            <a:r>
              <a:rPr lang="en-US" sz="1000" dirty="0">
                <a:solidFill>
                  <a:srgbClr val="231F20"/>
                </a:solidFill>
                <a:latin typeface="Calibri" pitchFamily="34" charset="0"/>
                <a:ea typeface="Calibri" pitchFamily="34" charset="-122"/>
                <a:cs typeface="Calibri" pitchFamily="34" charset="-120"/>
              </a:rPr>
              <a:t>un recensement environ tous les dix ans, des enquêtes tous les quelques ans — les lumières arrivent chaque nuit, pour chaque district.</a:t>
            </a:r>
            <a:endParaRPr lang="en-US" sz="10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DÉFINITIONS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que sont les NTL — et ne sont pas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05</a:t>
            </a:r>
            <a:endParaRPr lang="en-US" sz="850" dirty="0"/>
          </a:p>
        </p:txBody>
      </p:sp>
      <p:sp>
        <p:nvSpPr>
          <p:cNvPr id="17" name="Shape 14"/>
          <p:cNvSpPr/>
          <p:nvPr/>
        </p:nvSpPr>
        <p:spPr>
          <a:xfrm>
            <a:off x="457200" y="1325880"/>
            <a:ext cx="8229600" cy="868680"/>
          </a:xfrm>
          <a:prstGeom prst="roundRect">
            <a:avLst>
              <a:gd name="adj" fmla="val 8421"/>
            </a:avLst>
          </a:prstGeom>
          <a:solidFill>
            <a:srgbClr val="E8F5EF"/>
          </a:solidFill>
          <a:ln w="15875">
            <a:solidFill>
              <a:srgbClr val="00A86A"/>
            </a:solidFill>
            <a:prstDash val="solid"/>
          </a:ln>
        </p:spPr>
      </p:sp>
      <p:sp>
        <p:nvSpPr>
          <p:cNvPr id="18" name="Shape 15"/>
          <p:cNvSpPr/>
          <p:nvPr/>
        </p:nvSpPr>
        <p:spPr>
          <a:xfrm>
            <a:off x="594360" y="1536192"/>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713232" y="1655064"/>
            <a:ext cx="219456" cy="219456"/>
          </a:xfrm>
          <a:prstGeom prst="rect">
            <a:avLst/>
          </a:prstGeom>
        </p:spPr>
      </p:pic>
      <p:sp>
        <p:nvSpPr>
          <p:cNvPr id="20" name="Text 16"/>
          <p:cNvSpPr txBox="1"/>
          <p:nvPr/>
        </p:nvSpPr>
        <p:spPr>
          <a:xfrm>
            <a:off x="1188720" y="1417320"/>
            <a:ext cx="3657600" cy="182880"/>
          </a:xfrm>
          <a:prstGeom prst="rect">
            <a:avLst/>
          </a:prstGeom>
          <a:noFill/>
          <a:ln/>
        </p:spPr>
        <p:txBody>
          <a:bodyPr wrap="square" lIns="0" tIns="0" rIns="0" bIns="0" rtlCol="0" anchor="t"/>
          <a:lstStyle/>
          <a:p>
            <a:pPr marL="0" indent="0">
              <a:buNone/>
            </a:pPr>
            <a:r>
              <a:rPr lang="en-US" sz="950" b="1" kern="0" spc="300" dirty="0">
                <a:solidFill>
                  <a:srgbClr val="00704A"/>
                </a:solidFill>
                <a:latin typeface="Calibri" pitchFamily="34" charset="0"/>
                <a:ea typeface="Calibri" pitchFamily="34" charset="-122"/>
                <a:cs typeface="Calibri" pitchFamily="34" charset="-120"/>
              </a:rPr>
              <a:t>DÉFINITION DE TRAVAIL</a:t>
            </a:r>
            <a:endParaRPr lang="en-US" sz="950" dirty="0"/>
          </a:p>
        </p:txBody>
      </p:sp>
      <p:sp>
        <p:nvSpPr>
          <p:cNvPr id="21" name="Text 17"/>
          <p:cNvSpPr txBox="1"/>
          <p:nvPr/>
        </p:nvSpPr>
        <p:spPr>
          <a:xfrm>
            <a:off x="1188720" y="1645920"/>
            <a:ext cx="7360920" cy="512064"/>
          </a:xfrm>
          <a:prstGeom prst="rect">
            <a:avLst/>
          </a:prstGeom>
          <a:noFill/>
          <a:ln/>
        </p:spPr>
        <p:txBody>
          <a:bodyPr wrap="square" lIns="0" tIns="0" rIns="0" bIns="0" rtlCol="0" anchor="t"/>
          <a:lstStyle/>
          <a:p>
            <a:pPr marL="0" indent="0">
              <a:buNone/>
            </a:pPr>
            <a:r>
              <a:rPr lang="en-US" sz="1150" dirty="0">
                <a:solidFill>
                  <a:srgbClr val="231F20"/>
                </a:solidFill>
                <a:latin typeface="Calibri" pitchFamily="34" charset="0"/>
                <a:ea typeface="Calibri" pitchFamily="34" charset="-122"/>
                <a:cs typeface="Calibri" pitchFamily="34" charset="-120"/>
              </a:rPr>
              <a:t>Les lumières nocturnes (NTL) sont des mesures de la radiance visible et proche infrarouge émise vers le haut par la surface terrestre, enregistrées par un capteur satellitaire pendant la nuit locale, en l’absence de lumière solaire directe.</a:t>
            </a:r>
            <a:endParaRPr lang="en-US" sz="1150" dirty="0"/>
          </a:p>
        </p:txBody>
      </p:sp>
      <p:sp>
        <p:nvSpPr>
          <p:cNvPr id="22" name="Text 18"/>
          <p:cNvSpPr txBox="1"/>
          <p:nvPr/>
        </p:nvSpPr>
        <p:spPr>
          <a:xfrm>
            <a:off x="457200" y="2331720"/>
            <a:ext cx="4023360" cy="274320"/>
          </a:xfrm>
          <a:prstGeom prst="rect">
            <a:avLst/>
          </a:prstGeom>
          <a:noFill/>
          <a:ln/>
        </p:spPr>
        <p:txBody>
          <a:bodyPr wrap="square" lIns="0" tIns="0" rIns="0" bIns="0" rtlCol="0" anchor="t"/>
          <a:lstStyle/>
          <a:p>
            <a:pPr marL="0" indent="0">
              <a:buNone/>
            </a:pPr>
            <a:r>
              <a:rPr lang="en-US" sz="1400" b="1" dirty="0">
                <a:solidFill>
                  <a:srgbClr val="00A86A"/>
                </a:solidFill>
                <a:latin typeface="Calibri" pitchFamily="34" charset="0"/>
                <a:ea typeface="Calibri" pitchFamily="34" charset="-122"/>
                <a:cs typeface="Calibri" pitchFamily="34" charset="-120"/>
              </a:rPr>
              <a:t>Ce que c’est</a:t>
            </a:r>
            <a:endParaRPr lang="en-US" sz="1400" dirty="0"/>
          </a:p>
        </p:txBody>
      </p:sp>
      <p:sp>
        <p:nvSpPr>
          <p:cNvPr id="23" name="Shape 19"/>
          <p:cNvSpPr/>
          <p:nvPr/>
        </p:nvSpPr>
        <p:spPr>
          <a:xfrm>
            <a:off x="457200" y="2670048"/>
            <a:ext cx="4023360" cy="548640"/>
          </a:xfrm>
          <a:prstGeom prst="roundRect">
            <a:avLst>
              <a:gd name="adj" fmla="val 13333"/>
            </a:avLst>
          </a:prstGeom>
          <a:solidFill>
            <a:srgbClr val="F4F7F5"/>
          </a:solidFill>
          <a:ln w="9525">
            <a:solidFill>
              <a:srgbClr val="D5DED9"/>
            </a:solidFill>
            <a:prstDash val="solid"/>
          </a:ln>
        </p:spPr>
      </p:sp>
      <p:sp>
        <p:nvSpPr>
          <p:cNvPr id="24" name="Shape 20"/>
          <p:cNvSpPr/>
          <p:nvPr/>
        </p:nvSpPr>
        <p:spPr>
          <a:xfrm>
            <a:off x="548640" y="2779776"/>
            <a:ext cx="329184" cy="329184"/>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4228" y="2865364"/>
            <a:ext cx="158008" cy="158008"/>
          </a:xfrm>
          <a:prstGeom prst="rect">
            <a:avLst/>
          </a:prstGeom>
        </p:spPr>
      </p:pic>
      <p:sp>
        <p:nvSpPr>
          <p:cNvPr id="26" name="Text 21"/>
          <p:cNvSpPr txBox="1"/>
          <p:nvPr/>
        </p:nvSpPr>
        <p:spPr>
          <a:xfrm>
            <a:off x="987552" y="272491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mesure physique</a:t>
            </a:r>
            <a:endParaRPr lang="en-US" sz="1050" dirty="0"/>
          </a:p>
        </p:txBody>
      </p:sp>
      <p:sp>
        <p:nvSpPr>
          <p:cNvPr id="27" name="Text 22"/>
          <p:cNvSpPr txBox="1"/>
          <p:nvPr/>
        </p:nvSpPr>
        <p:spPr>
          <a:xfrm>
            <a:off x="987552" y="293522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Radiance en nW·cm⁻²·sr⁻¹ pour les capteurs étalonnés (VIIRS).</a:t>
            </a:r>
            <a:endParaRPr lang="en-US" sz="900" dirty="0"/>
          </a:p>
        </p:txBody>
      </p:sp>
      <p:sp>
        <p:nvSpPr>
          <p:cNvPr id="28" name="Shape 23"/>
          <p:cNvSpPr/>
          <p:nvPr/>
        </p:nvSpPr>
        <p:spPr>
          <a:xfrm>
            <a:off x="457200" y="3310128"/>
            <a:ext cx="4023360" cy="548640"/>
          </a:xfrm>
          <a:prstGeom prst="roundRect">
            <a:avLst>
              <a:gd name="adj" fmla="val 13333"/>
            </a:avLst>
          </a:prstGeom>
          <a:solidFill>
            <a:srgbClr val="F4F7F5"/>
          </a:solidFill>
          <a:ln w="9525">
            <a:solidFill>
              <a:srgbClr val="D5DED9"/>
            </a:solidFill>
            <a:prstDash val="solid"/>
          </a:ln>
        </p:spPr>
      </p:sp>
      <p:sp>
        <p:nvSpPr>
          <p:cNvPr id="29" name="Shape 24"/>
          <p:cNvSpPr/>
          <p:nvPr/>
        </p:nvSpPr>
        <p:spPr>
          <a:xfrm>
            <a:off x="548640" y="3419856"/>
            <a:ext cx="329184" cy="329184"/>
          </a:xfrm>
          <a:prstGeom prst="ellipse">
            <a:avLst/>
          </a:prstGeom>
          <a:solidFill>
            <a:srgbClr val="00A86A">
              <a:alpha val="22000"/>
            </a:srgbClr>
          </a:solidFill>
          <a:ln w="12700">
            <a:solidFill>
              <a:srgbClr val="00A86A">
                <a:alpha val="0"/>
              </a:srgbClr>
            </a:solidFill>
            <a:prstDash val="solid"/>
          </a:ln>
        </p:spPr>
      </p:sp>
      <p:pic>
        <p:nvPicPr>
          <p:cNvPr id="30" name="Image 2" descr="preencoded.png"/>
          <p:cNvPicPr>
            <a:picLocks noChangeAspect="1"/>
          </p:cNvPicPr>
          <p:nvPr/>
        </p:nvPicPr>
        <p:blipFill>
          <a:blip r:embed="rId4"/>
          <a:stretch>
            <a:fillRect/>
          </a:stretch>
        </p:blipFill>
        <p:spPr>
          <a:xfrm>
            <a:off x="634228" y="3505444"/>
            <a:ext cx="158008" cy="158008"/>
          </a:xfrm>
          <a:prstGeom prst="rect">
            <a:avLst/>
          </a:prstGeom>
        </p:spPr>
      </p:pic>
      <p:sp>
        <p:nvSpPr>
          <p:cNvPr id="31" name="Text 25"/>
          <p:cNvSpPr txBox="1"/>
          <p:nvPr/>
        </p:nvSpPr>
        <p:spPr>
          <a:xfrm>
            <a:off x="987552" y="336499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grille cohérente</a:t>
            </a:r>
            <a:endParaRPr lang="en-US" sz="1050" dirty="0"/>
          </a:p>
        </p:txBody>
      </p:sp>
      <p:sp>
        <p:nvSpPr>
          <p:cNvPr id="32" name="Text 26"/>
          <p:cNvSpPr txBox="1"/>
          <p:nvPr/>
        </p:nvSpPr>
        <p:spPr>
          <a:xfrm>
            <a:off x="987552" y="357530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Même méthode dans tous les pays — au Rwanda comme au Nigeria.</a:t>
            </a:r>
            <a:endParaRPr lang="en-US" sz="900" dirty="0"/>
          </a:p>
        </p:txBody>
      </p:sp>
      <p:sp>
        <p:nvSpPr>
          <p:cNvPr id="33" name="Shape 27"/>
          <p:cNvSpPr/>
          <p:nvPr/>
        </p:nvSpPr>
        <p:spPr>
          <a:xfrm>
            <a:off x="457200" y="3950208"/>
            <a:ext cx="4023360" cy="548640"/>
          </a:xfrm>
          <a:prstGeom prst="roundRect">
            <a:avLst>
              <a:gd name="adj" fmla="val 13333"/>
            </a:avLst>
          </a:prstGeom>
          <a:solidFill>
            <a:srgbClr val="F4F7F5"/>
          </a:solidFill>
          <a:ln w="9525">
            <a:solidFill>
              <a:srgbClr val="D5DED9"/>
            </a:solidFill>
            <a:prstDash val="solid"/>
          </a:ln>
        </p:spPr>
      </p:sp>
      <p:sp>
        <p:nvSpPr>
          <p:cNvPr id="34" name="Shape 28"/>
          <p:cNvSpPr/>
          <p:nvPr/>
        </p:nvSpPr>
        <p:spPr>
          <a:xfrm>
            <a:off x="548640" y="4059936"/>
            <a:ext cx="329184" cy="329184"/>
          </a:xfrm>
          <a:prstGeom prst="ellipse">
            <a:avLst/>
          </a:prstGeom>
          <a:solidFill>
            <a:srgbClr val="00A86A">
              <a:alpha val="22000"/>
            </a:srgbClr>
          </a:solidFill>
          <a:ln w="12700">
            <a:solidFill>
              <a:srgbClr val="00A86A">
                <a:alpha val="0"/>
              </a:srgbClr>
            </a:solidFill>
            <a:prstDash val="solid"/>
          </a:ln>
        </p:spPr>
      </p:sp>
      <p:pic>
        <p:nvPicPr>
          <p:cNvPr id="35" name="Image 3" descr="preencoded.png"/>
          <p:cNvPicPr>
            <a:picLocks noChangeAspect="1"/>
          </p:cNvPicPr>
          <p:nvPr/>
        </p:nvPicPr>
        <p:blipFill>
          <a:blip r:embed="rId4"/>
          <a:stretch>
            <a:fillRect/>
          </a:stretch>
        </p:blipFill>
        <p:spPr>
          <a:xfrm>
            <a:off x="634228" y="4145524"/>
            <a:ext cx="158008" cy="158008"/>
          </a:xfrm>
          <a:prstGeom prst="rect">
            <a:avLst/>
          </a:prstGeom>
        </p:spPr>
      </p:pic>
      <p:sp>
        <p:nvSpPr>
          <p:cNvPr id="36" name="Text 29"/>
          <p:cNvSpPr txBox="1"/>
          <p:nvPr/>
        </p:nvSpPr>
        <p:spPr>
          <a:xfrm>
            <a:off x="987552" y="400507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 enregistrement quasi temps réel</a:t>
            </a:r>
            <a:endParaRPr lang="en-US" sz="1050" dirty="0"/>
          </a:p>
        </p:txBody>
      </p:sp>
      <p:sp>
        <p:nvSpPr>
          <p:cNvPr id="37" name="Text 30"/>
          <p:cNvSpPr txBox="1"/>
          <p:nvPr/>
        </p:nvSpPr>
        <p:spPr>
          <a:xfrm>
            <a:off x="987552" y="421538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Quotidien depuis 2012 ; composites mensuels et annuels gratuits.</a:t>
            </a:r>
            <a:endParaRPr lang="en-US" sz="900" dirty="0"/>
          </a:p>
        </p:txBody>
      </p:sp>
      <p:sp>
        <p:nvSpPr>
          <p:cNvPr id="38" name="Text 31"/>
          <p:cNvSpPr txBox="1"/>
          <p:nvPr/>
        </p:nvSpPr>
        <p:spPr>
          <a:xfrm>
            <a:off x="4663440" y="2331720"/>
            <a:ext cx="4023360" cy="274320"/>
          </a:xfrm>
          <a:prstGeom prst="rect">
            <a:avLst/>
          </a:prstGeom>
          <a:noFill/>
          <a:ln/>
        </p:spPr>
        <p:txBody>
          <a:bodyPr wrap="square" lIns="0" tIns="0" rIns="0" bIns="0" rtlCol="0" anchor="t"/>
          <a:lstStyle/>
          <a:p>
            <a:pPr marL="0" indent="0">
              <a:buNone/>
            </a:pPr>
            <a:r>
              <a:rPr lang="en-US" sz="1400" b="1" dirty="0">
                <a:solidFill>
                  <a:srgbClr val="B83B2E"/>
                </a:solidFill>
                <a:latin typeface="Calibri" pitchFamily="34" charset="0"/>
                <a:ea typeface="Calibri" pitchFamily="34" charset="-122"/>
                <a:cs typeface="Calibri" pitchFamily="34" charset="-120"/>
              </a:rPr>
              <a:t>Ce que ce n’est pas</a:t>
            </a:r>
            <a:endParaRPr lang="en-US" sz="1400" dirty="0"/>
          </a:p>
        </p:txBody>
      </p:sp>
      <p:sp>
        <p:nvSpPr>
          <p:cNvPr id="39" name="Shape 32"/>
          <p:cNvSpPr/>
          <p:nvPr/>
        </p:nvSpPr>
        <p:spPr>
          <a:xfrm>
            <a:off x="4663440" y="2670048"/>
            <a:ext cx="4023360" cy="548640"/>
          </a:xfrm>
          <a:prstGeom prst="roundRect">
            <a:avLst>
              <a:gd name="adj" fmla="val 13333"/>
            </a:avLst>
          </a:prstGeom>
          <a:solidFill>
            <a:srgbClr val="F4F7F5"/>
          </a:solidFill>
          <a:ln w="9525">
            <a:solidFill>
              <a:srgbClr val="D5DED9"/>
            </a:solidFill>
            <a:prstDash val="solid"/>
          </a:ln>
        </p:spPr>
      </p:sp>
      <p:sp>
        <p:nvSpPr>
          <p:cNvPr id="40" name="Shape 33"/>
          <p:cNvSpPr/>
          <p:nvPr/>
        </p:nvSpPr>
        <p:spPr>
          <a:xfrm>
            <a:off x="4754880" y="2779776"/>
            <a:ext cx="329184" cy="329184"/>
          </a:xfrm>
          <a:prstGeom prst="ellipse">
            <a:avLst/>
          </a:prstGeom>
          <a:solidFill>
            <a:srgbClr val="B83B2E">
              <a:alpha val="22000"/>
            </a:srgbClr>
          </a:solidFill>
          <a:ln w="12700">
            <a:solidFill>
              <a:srgbClr val="B83B2E">
                <a:alpha val="0"/>
              </a:srgbClr>
            </a:solidFill>
            <a:prstDash val="solid"/>
          </a:ln>
        </p:spPr>
      </p:sp>
      <p:pic>
        <p:nvPicPr>
          <p:cNvPr id="41" name="Image 4" descr="preencoded.png"/>
          <p:cNvPicPr>
            <a:picLocks noChangeAspect="1"/>
          </p:cNvPicPr>
          <p:nvPr/>
        </p:nvPicPr>
        <p:blipFill>
          <a:blip r:embed="rId5"/>
          <a:stretch>
            <a:fillRect/>
          </a:stretch>
        </p:blipFill>
        <p:spPr>
          <a:xfrm>
            <a:off x="4840468" y="2865364"/>
            <a:ext cx="158008" cy="158008"/>
          </a:xfrm>
          <a:prstGeom prst="rect">
            <a:avLst/>
          </a:prstGeom>
        </p:spPr>
      </p:pic>
      <p:sp>
        <p:nvSpPr>
          <p:cNvPr id="42" name="Text 34"/>
          <p:cNvSpPr txBox="1"/>
          <p:nvPr/>
        </p:nvSpPr>
        <p:spPr>
          <a:xfrm>
            <a:off x="5193792" y="272491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photographie</a:t>
            </a:r>
            <a:endParaRPr lang="en-US" sz="1050" dirty="0"/>
          </a:p>
        </p:txBody>
      </p:sp>
      <p:sp>
        <p:nvSpPr>
          <p:cNvPr id="43" name="Text 35"/>
          <p:cNvSpPr txBox="1"/>
          <p:nvPr/>
        </p:nvSpPr>
        <p:spPr>
          <a:xfrm>
            <a:off x="5193792" y="293522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 « Terre la nuit » est un composite statistique de nombreuses nuits sans nuages.</a:t>
            </a:r>
            <a:endParaRPr lang="en-US" sz="900" dirty="0"/>
          </a:p>
        </p:txBody>
      </p:sp>
      <p:sp>
        <p:nvSpPr>
          <p:cNvPr id="44" name="Shape 36"/>
          <p:cNvSpPr/>
          <p:nvPr/>
        </p:nvSpPr>
        <p:spPr>
          <a:xfrm>
            <a:off x="4663440" y="3310128"/>
            <a:ext cx="4023360" cy="548640"/>
          </a:xfrm>
          <a:prstGeom prst="roundRect">
            <a:avLst>
              <a:gd name="adj" fmla="val 13333"/>
            </a:avLst>
          </a:prstGeom>
          <a:solidFill>
            <a:srgbClr val="F4F7F5"/>
          </a:solidFill>
          <a:ln w="9525">
            <a:solidFill>
              <a:srgbClr val="D5DED9"/>
            </a:solidFill>
            <a:prstDash val="solid"/>
          </a:ln>
        </p:spPr>
      </p:sp>
      <p:sp>
        <p:nvSpPr>
          <p:cNvPr id="45" name="Shape 37"/>
          <p:cNvSpPr/>
          <p:nvPr/>
        </p:nvSpPr>
        <p:spPr>
          <a:xfrm>
            <a:off x="4754880" y="3419856"/>
            <a:ext cx="329184" cy="329184"/>
          </a:xfrm>
          <a:prstGeom prst="ellipse">
            <a:avLst/>
          </a:prstGeom>
          <a:solidFill>
            <a:srgbClr val="B83B2E">
              <a:alpha val="22000"/>
            </a:srgbClr>
          </a:solidFill>
          <a:ln w="12700">
            <a:solidFill>
              <a:srgbClr val="B83B2E">
                <a:alpha val="0"/>
              </a:srgbClr>
            </a:solidFill>
            <a:prstDash val="solid"/>
          </a:ln>
        </p:spPr>
      </p:sp>
      <p:pic>
        <p:nvPicPr>
          <p:cNvPr id="46" name="Image 5" descr="preencoded.png"/>
          <p:cNvPicPr>
            <a:picLocks noChangeAspect="1"/>
          </p:cNvPicPr>
          <p:nvPr/>
        </p:nvPicPr>
        <p:blipFill>
          <a:blip r:embed="rId5"/>
          <a:stretch>
            <a:fillRect/>
          </a:stretch>
        </p:blipFill>
        <p:spPr>
          <a:xfrm>
            <a:off x="4840468" y="3505444"/>
            <a:ext cx="158008" cy="158008"/>
          </a:xfrm>
          <a:prstGeom prst="rect">
            <a:avLst/>
          </a:prstGeom>
        </p:spPr>
      </p:pic>
      <p:sp>
        <p:nvSpPr>
          <p:cNvPr id="47" name="Text 38"/>
          <p:cNvSpPr txBox="1"/>
          <p:nvPr/>
        </p:nvSpPr>
        <p:spPr>
          <a:xfrm>
            <a:off x="5193792" y="336499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Une mesure directe de population ou de revenu</a:t>
            </a:r>
            <a:endParaRPr lang="en-US" sz="1050" dirty="0"/>
          </a:p>
        </p:txBody>
      </p:sp>
      <p:sp>
        <p:nvSpPr>
          <p:cNvPr id="48" name="Text 39"/>
          <p:cNvSpPr txBox="1"/>
          <p:nvPr/>
        </p:nvSpPr>
        <p:spPr>
          <a:xfrm>
            <a:off x="5193792" y="357530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Ce sont des inférences — chacune doit être justifiée.</a:t>
            </a:r>
            <a:endParaRPr lang="en-US" sz="900" dirty="0"/>
          </a:p>
        </p:txBody>
      </p:sp>
      <p:sp>
        <p:nvSpPr>
          <p:cNvPr id="49" name="Shape 40"/>
          <p:cNvSpPr/>
          <p:nvPr/>
        </p:nvSpPr>
        <p:spPr>
          <a:xfrm>
            <a:off x="4663440" y="3950208"/>
            <a:ext cx="4023360" cy="548640"/>
          </a:xfrm>
          <a:prstGeom prst="roundRect">
            <a:avLst>
              <a:gd name="adj" fmla="val 13333"/>
            </a:avLst>
          </a:prstGeom>
          <a:solidFill>
            <a:srgbClr val="F4F7F5"/>
          </a:solidFill>
          <a:ln w="9525">
            <a:solidFill>
              <a:srgbClr val="D5DED9"/>
            </a:solidFill>
            <a:prstDash val="solid"/>
          </a:ln>
        </p:spPr>
      </p:sp>
      <p:sp>
        <p:nvSpPr>
          <p:cNvPr id="50" name="Shape 41"/>
          <p:cNvSpPr/>
          <p:nvPr/>
        </p:nvSpPr>
        <p:spPr>
          <a:xfrm>
            <a:off x="4754880" y="4059936"/>
            <a:ext cx="329184" cy="329184"/>
          </a:xfrm>
          <a:prstGeom prst="ellipse">
            <a:avLst/>
          </a:prstGeom>
          <a:solidFill>
            <a:srgbClr val="B83B2E">
              <a:alpha val="22000"/>
            </a:srgbClr>
          </a:solidFill>
          <a:ln w="12700">
            <a:solidFill>
              <a:srgbClr val="B83B2E">
                <a:alpha val="0"/>
              </a:srgbClr>
            </a:solidFill>
            <a:prstDash val="solid"/>
          </a:ln>
        </p:spPr>
      </p:sp>
      <p:pic>
        <p:nvPicPr>
          <p:cNvPr id="51" name="Image 6" descr="preencoded.png"/>
          <p:cNvPicPr>
            <a:picLocks noChangeAspect="1"/>
          </p:cNvPicPr>
          <p:nvPr/>
        </p:nvPicPr>
        <p:blipFill>
          <a:blip r:embed="rId5"/>
          <a:stretch>
            <a:fillRect/>
          </a:stretch>
        </p:blipFill>
        <p:spPr>
          <a:xfrm>
            <a:off x="4840468" y="4145524"/>
            <a:ext cx="158008" cy="158008"/>
          </a:xfrm>
          <a:prstGeom prst="rect">
            <a:avLst/>
          </a:prstGeom>
        </p:spPr>
      </p:pic>
      <p:sp>
        <p:nvSpPr>
          <p:cNvPr id="52" name="Text 42"/>
          <p:cNvSpPr txBox="1"/>
          <p:nvPr/>
        </p:nvSpPr>
        <p:spPr>
          <a:xfrm>
            <a:off x="5193792" y="4005072"/>
            <a:ext cx="342900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Un relevé complet de l’éclairage</a:t>
            </a:r>
            <a:endParaRPr lang="en-US" sz="1050" dirty="0"/>
          </a:p>
        </p:txBody>
      </p:sp>
      <p:sp>
        <p:nvSpPr>
          <p:cNvPr id="53" name="Text 43"/>
          <p:cNvSpPr txBox="1"/>
          <p:nvPr/>
        </p:nvSpPr>
        <p:spPr>
          <a:xfrm>
            <a:off x="5193792" y="4215384"/>
            <a:ext cx="3456432" cy="25603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La lumière intérieure, occultée ou latérale n’atteint pas le capteur.</a:t>
            </a:r>
            <a:endParaRPr lang="en-US" sz="9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LA CHAÎNE D’INFÉRENCE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 l’électricité au pixel : cinq maillons</a:t>
            </a:r>
            <a:endParaRPr lang="en-US" sz="2800" dirty="0"/>
          </a:p>
        </p:txBody>
      </p:sp>
      <p:sp>
        <p:nvSpPr>
          <p:cNvPr id="8"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06</a:t>
            </a:r>
            <a:endParaRPr lang="en-US" sz="850" dirty="0"/>
          </a:p>
        </p:txBody>
      </p:sp>
      <p:sp>
        <p:nvSpPr>
          <p:cNvPr id="17" name="Shape 14"/>
          <p:cNvSpPr/>
          <p:nvPr/>
        </p:nvSpPr>
        <p:spPr>
          <a:xfrm>
            <a:off x="457200" y="1325880"/>
            <a:ext cx="1481328" cy="1828800"/>
          </a:xfrm>
          <a:prstGeom prst="roundRect">
            <a:avLst>
              <a:gd name="adj" fmla="val 4938"/>
            </a:avLst>
          </a:prstGeom>
          <a:solidFill>
            <a:srgbClr val="FFFFFF"/>
          </a:solidFill>
          <a:ln w="9525">
            <a:solidFill>
              <a:srgbClr val="00A86A"/>
            </a:solidFill>
            <a:prstDash val="solid"/>
          </a:ln>
        </p:spPr>
      </p:sp>
      <p:sp>
        <p:nvSpPr>
          <p:cNvPr id="18" name="Shape 15"/>
          <p:cNvSpPr/>
          <p:nvPr/>
        </p:nvSpPr>
        <p:spPr>
          <a:xfrm>
            <a:off x="566928" y="1435608"/>
            <a:ext cx="292608" cy="292608"/>
          </a:xfrm>
          <a:prstGeom prst="ellipse">
            <a:avLst/>
          </a:prstGeom>
          <a:solidFill>
            <a:srgbClr val="00704A"/>
          </a:solidFill>
          <a:ln w="12700">
            <a:solidFill>
              <a:srgbClr val="00704A"/>
            </a:solidFill>
            <a:prstDash val="solid"/>
          </a:ln>
        </p:spPr>
      </p:sp>
      <p:sp>
        <p:nvSpPr>
          <p:cNvPr id="19" name="Text 16"/>
          <p:cNvSpPr txBox="1"/>
          <p:nvPr/>
        </p:nvSpPr>
        <p:spPr>
          <a:xfrm>
            <a:off x="566928"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Shape 17"/>
          <p:cNvSpPr/>
          <p:nvPr/>
        </p:nvSpPr>
        <p:spPr>
          <a:xfrm>
            <a:off x="1481328" y="1417320"/>
            <a:ext cx="347472" cy="347472"/>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1571671" y="1507663"/>
            <a:ext cx="166787" cy="166787"/>
          </a:xfrm>
          <a:prstGeom prst="rect">
            <a:avLst/>
          </a:prstGeom>
        </p:spPr>
      </p:pic>
      <p:sp>
        <p:nvSpPr>
          <p:cNvPr id="22" name="Text 18"/>
          <p:cNvSpPr txBox="1"/>
          <p:nvPr/>
        </p:nvSpPr>
        <p:spPr>
          <a:xfrm>
            <a:off x="566928"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Énergie et infrastructure</a:t>
            </a:r>
            <a:endParaRPr lang="en-US" sz="1150" dirty="0"/>
          </a:p>
        </p:txBody>
      </p:sp>
      <p:sp>
        <p:nvSpPr>
          <p:cNvPr id="23" name="Text 19"/>
          <p:cNvSpPr txBox="1"/>
          <p:nvPr/>
        </p:nvSpPr>
        <p:spPr>
          <a:xfrm>
            <a:off x="566928"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 réseau, un groupe électrogène ou du carburant existe et fonctionne.</a:t>
            </a:r>
            <a:endParaRPr lang="en-US" sz="900" dirty="0"/>
          </a:p>
        </p:txBody>
      </p:sp>
      <p:sp>
        <p:nvSpPr>
          <p:cNvPr id="24" name="Shape 20"/>
          <p:cNvSpPr/>
          <p:nvPr/>
        </p:nvSpPr>
        <p:spPr>
          <a:xfrm>
            <a:off x="1956816" y="224028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828800"/>
          </a:xfrm>
          <a:prstGeom prst="roundRect">
            <a:avLst>
              <a:gd name="adj" fmla="val 4938"/>
            </a:avLst>
          </a:prstGeom>
          <a:solidFill>
            <a:srgbClr val="FFFFFF"/>
          </a:solidFill>
          <a:ln w="9525">
            <a:solidFill>
              <a:srgbClr val="00704A"/>
            </a:solidFill>
            <a:prstDash val="solid"/>
          </a:ln>
        </p:spPr>
      </p:sp>
      <p:sp>
        <p:nvSpPr>
          <p:cNvPr id="26" name="Shape 22"/>
          <p:cNvSpPr/>
          <p:nvPr/>
        </p:nvSpPr>
        <p:spPr>
          <a:xfrm>
            <a:off x="2249424" y="1435608"/>
            <a:ext cx="292608" cy="292608"/>
          </a:xfrm>
          <a:prstGeom prst="ellipse">
            <a:avLst/>
          </a:prstGeom>
          <a:solidFill>
            <a:srgbClr val="00704A"/>
          </a:solidFill>
          <a:ln w="12700">
            <a:solidFill>
              <a:srgbClr val="00704A"/>
            </a:solidFill>
            <a:prstDash val="solid"/>
          </a:ln>
        </p:spPr>
      </p:sp>
      <p:sp>
        <p:nvSpPr>
          <p:cNvPr id="27" name="Text 23"/>
          <p:cNvSpPr txBox="1"/>
          <p:nvPr/>
        </p:nvSpPr>
        <p:spPr>
          <a:xfrm>
            <a:off x="2249424"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Shape 24"/>
          <p:cNvSpPr/>
          <p:nvPr/>
        </p:nvSpPr>
        <p:spPr>
          <a:xfrm>
            <a:off x="3163824" y="1417320"/>
            <a:ext cx="347472" cy="347472"/>
          </a:xfrm>
          <a:prstGeom prst="ellipse">
            <a:avLst/>
          </a:prstGeom>
          <a:solidFill>
            <a:srgbClr val="00A86A">
              <a:alpha val="22000"/>
            </a:srgbClr>
          </a:solidFill>
          <a:ln w="12700">
            <a:solidFill>
              <a:srgbClr val="00A86A">
                <a:alpha val="0"/>
              </a:srgbClr>
            </a:solidFill>
            <a:prstDash val="solid"/>
          </a:ln>
        </p:spPr>
      </p:sp>
      <p:pic>
        <p:nvPicPr>
          <p:cNvPr id="29" name="Image 1" descr="preencoded.png"/>
          <p:cNvPicPr>
            <a:picLocks noChangeAspect="1"/>
          </p:cNvPicPr>
          <p:nvPr/>
        </p:nvPicPr>
        <p:blipFill>
          <a:blip r:embed="rId4"/>
          <a:stretch>
            <a:fillRect/>
          </a:stretch>
        </p:blipFill>
        <p:spPr>
          <a:xfrm>
            <a:off x="3254167" y="1507663"/>
            <a:ext cx="166787" cy="166787"/>
          </a:xfrm>
          <a:prstGeom prst="rect">
            <a:avLst/>
          </a:prstGeom>
        </p:spPr>
      </p:pic>
      <p:sp>
        <p:nvSpPr>
          <p:cNvPr id="30" name="Text 25"/>
          <p:cNvSpPr txBox="1"/>
          <p:nvPr/>
        </p:nvSpPr>
        <p:spPr>
          <a:xfrm>
            <a:off x="2249424"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Activité après la nuit tombée</a:t>
            </a:r>
            <a:endParaRPr lang="en-US" sz="1150" dirty="0"/>
          </a:p>
        </p:txBody>
      </p:sp>
      <p:sp>
        <p:nvSpPr>
          <p:cNvPr id="31" name="Text 26"/>
          <p:cNvSpPr txBox="1"/>
          <p:nvPr/>
        </p:nvSpPr>
        <p:spPr>
          <a:xfrm>
            <a:off x="2249424"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L’énergie sert à éclairer : rues, maisons, marchés, industrie.</a:t>
            </a:r>
            <a:endParaRPr lang="en-US" sz="900" dirty="0"/>
          </a:p>
        </p:txBody>
      </p:sp>
      <p:sp>
        <p:nvSpPr>
          <p:cNvPr id="32" name="Shape 27"/>
          <p:cNvSpPr/>
          <p:nvPr/>
        </p:nvSpPr>
        <p:spPr>
          <a:xfrm>
            <a:off x="3639312" y="224028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828800"/>
          </a:xfrm>
          <a:prstGeom prst="roundRect">
            <a:avLst>
              <a:gd name="adj" fmla="val 4938"/>
            </a:avLst>
          </a:prstGeom>
          <a:solidFill>
            <a:srgbClr val="FFFFFF"/>
          </a:solidFill>
          <a:ln w="9525">
            <a:solidFill>
              <a:srgbClr val="0E7C86"/>
            </a:solidFill>
            <a:prstDash val="solid"/>
          </a:ln>
        </p:spPr>
      </p:sp>
      <p:sp>
        <p:nvSpPr>
          <p:cNvPr id="34" name="Shape 29"/>
          <p:cNvSpPr/>
          <p:nvPr/>
        </p:nvSpPr>
        <p:spPr>
          <a:xfrm>
            <a:off x="3931920" y="1435608"/>
            <a:ext cx="292608" cy="292608"/>
          </a:xfrm>
          <a:prstGeom prst="ellipse">
            <a:avLst/>
          </a:prstGeom>
          <a:solidFill>
            <a:srgbClr val="00704A"/>
          </a:solidFill>
          <a:ln w="12700">
            <a:solidFill>
              <a:srgbClr val="00704A"/>
            </a:solidFill>
            <a:prstDash val="solid"/>
          </a:ln>
        </p:spPr>
      </p:sp>
      <p:sp>
        <p:nvSpPr>
          <p:cNvPr id="35" name="Text 30"/>
          <p:cNvSpPr txBox="1"/>
          <p:nvPr/>
        </p:nvSpPr>
        <p:spPr>
          <a:xfrm>
            <a:off x="3931920"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6" name="Shape 31"/>
          <p:cNvSpPr/>
          <p:nvPr/>
        </p:nvSpPr>
        <p:spPr>
          <a:xfrm>
            <a:off x="4846320" y="1417320"/>
            <a:ext cx="347472" cy="347472"/>
          </a:xfrm>
          <a:prstGeom prst="ellipse">
            <a:avLst/>
          </a:prstGeom>
          <a:solidFill>
            <a:srgbClr val="00A86A">
              <a:alpha val="22000"/>
            </a:srgbClr>
          </a:solidFill>
          <a:ln w="12700">
            <a:solidFill>
              <a:srgbClr val="00A86A">
                <a:alpha val="0"/>
              </a:srgbClr>
            </a:solidFill>
            <a:prstDash val="solid"/>
          </a:ln>
        </p:spPr>
      </p:sp>
      <p:pic>
        <p:nvPicPr>
          <p:cNvPr id="37" name="Image 2" descr="preencoded.png"/>
          <p:cNvPicPr>
            <a:picLocks noChangeAspect="1"/>
          </p:cNvPicPr>
          <p:nvPr/>
        </p:nvPicPr>
        <p:blipFill>
          <a:blip r:embed="rId5"/>
          <a:stretch>
            <a:fillRect/>
          </a:stretch>
        </p:blipFill>
        <p:spPr>
          <a:xfrm>
            <a:off x="4936663" y="1507663"/>
            <a:ext cx="166787" cy="166787"/>
          </a:xfrm>
          <a:prstGeom prst="rect">
            <a:avLst/>
          </a:prstGeom>
        </p:spPr>
      </p:pic>
      <p:sp>
        <p:nvSpPr>
          <p:cNvPr id="38" name="Text 32"/>
          <p:cNvSpPr txBox="1"/>
          <p:nvPr/>
        </p:nvSpPr>
        <p:spPr>
          <a:xfrm>
            <a:off x="3931920"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Émission vers le haut</a:t>
            </a:r>
            <a:endParaRPr lang="en-US" sz="1150" dirty="0"/>
          </a:p>
        </p:txBody>
      </p:sp>
      <p:sp>
        <p:nvSpPr>
          <p:cNvPr id="39" name="Text 33"/>
          <p:cNvSpPr txBox="1"/>
          <p:nvPr/>
        </p:nvSpPr>
        <p:spPr>
          <a:xfrm>
            <a:off x="3931920"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partie de la lumière s’échappe vers le ciel au lieu d’être occultée.</a:t>
            </a:r>
            <a:endParaRPr lang="en-US" sz="900" dirty="0"/>
          </a:p>
        </p:txBody>
      </p:sp>
      <p:sp>
        <p:nvSpPr>
          <p:cNvPr id="40" name="Shape 34"/>
          <p:cNvSpPr/>
          <p:nvPr/>
        </p:nvSpPr>
        <p:spPr>
          <a:xfrm>
            <a:off x="5321808" y="224028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828800"/>
          </a:xfrm>
          <a:prstGeom prst="roundRect">
            <a:avLst>
              <a:gd name="adj" fmla="val 4938"/>
            </a:avLst>
          </a:prstGeom>
          <a:solidFill>
            <a:srgbClr val="FFFFFF"/>
          </a:solidFill>
          <a:ln w="9525">
            <a:solidFill>
              <a:srgbClr val="0E7C86"/>
            </a:solidFill>
            <a:prstDash val="solid"/>
          </a:ln>
        </p:spPr>
      </p:sp>
      <p:sp>
        <p:nvSpPr>
          <p:cNvPr id="42" name="Shape 36"/>
          <p:cNvSpPr/>
          <p:nvPr/>
        </p:nvSpPr>
        <p:spPr>
          <a:xfrm>
            <a:off x="5614416" y="1435608"/>
            <a:ext cx="292608" cy="292608"/>
          </a:xfrm>
          <a:prstGeom prst="ellipse">
            <a:avLst/>
          </a:prstGeom>
          <a:solidFill>
            <a:srgbClr val="00704A"/>
          </a:solidFill>
          <a:ln w="12700">
            <a:solidFill>
              <a:srgbClr val="00704A"/>
            </a:solidFill>
            <a:prstDash val="solid"/>
          </a:ln>
        </p:spPr>
      </p:sp>
      <p:sp>
        <p:nvSpPr>
          <p:cNvPr id="43" name="Text 37"/>
          <p:cNvSpPr txBox="1"/>
          <p:nvPr/>
        </p:nvSpPr>
        <p:spPr>
          <a:xfrm>
            <a:off x="5614416"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8"/>
          <p:cNvSpPr/>
          <p:nvPr/>
        </p:nvSpPr>
        <p:spPr>
          <a:xfrm>
            <a:off x="6528816" y="1417320"/>
            <a:ext cx="347472" cy="347472"/>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6619159" y="1507663"/>
            <a:ext cx="166787" cy="166787"/>
          </a:xfrm>
          <a:prstGeom prst="rect">
            <a:avLst/>
          </a:prstGeom>
        </p:spPr>
      </p:pic>
      <p:sp>
        <p:nvSpPr>
          <p:cNvPr id="46" name="Text 39"/>
          <p:cNvSpPr txBox="1"/>
          <p:nvPr/>
        </p:nvSpPr>
        <p:spPr>
          <a:xfrm>
            <a:off x="5614416"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Transfert atmosphérique</a:t>
            </a:r>
            <a:endParaRPr lang="en-US" sz="1150" dirty="0"/>
          </a:p>
        </p:txBody>
      </p:sp>
      <p:sp>
        <p:nvSpPr>
          <p:cNvPr id="47" name="Text 40"/>
          <p:cNvSpPr txBox="1"/>
          <p:nvPr/>
        </p:nvSpPr>
        <p:spPr>
          <a:xfrm>
            <a:off x="5614416"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photons traversent l’atmosphère, atténués par aérosols, vapeur et nuages.</a:t>
            </a:r>
            <a:endParaRPr lang="en-US" sz="900" dirty="0"/>
          </a:p>
        </p:txBody>
      </p:sp>
      <p:sp>
        <p:nvSpPr>
          <p:cNvPr id="48" name="Shape 41"/>
          <p:cNvSpPr/>
          <p:nvPr/>
        </p:nvSpPr>
        <p:spPr>
          <a:xfrm>
            <a:off x="7004304" y="224028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828800"/>
          </a:xfrm>
          <a:prstGeom prst="roundRect">
            <a:avLst>
              <a:gd name="adj" fmla="val 4938"/>
            </a:avLst>
          </a:prstGeom>
          <a:solidFill>
            <a:srgbClr val="FFFFFF"/>
          </a:solidFill>
          <a:ln w="9525">
            <a:solidFill>
              <a:srgbClr val="00704A"/>
            </a:solidFill>
            <a:prstDash val="solid"/>
          </a:ln>
        </p:spPr>
      </p:sp>
      <p:sp>
        <p:nvSpPr>
          <p:cNvPr id="50" name="Shape 43"/>
          <p:cNvSpPr/>
          <p:nvPr/>
        </p:nvSpPr>
        <p:spPr>
          <a:xfrm>
            <a:off x="7296912" y="1435608"/>
            <a:ext cx="292608" cy="292608"/>
          </a:xfrm>
          <a:prstGeom prst="ellipse">
            <a:avLst/>
          </a:prstGeom>
          <a:solidFill>
            <a:srgbClr val="00704A"/>
          </a:solidFill>
          <a:ln w="12700">
            <a:solidFill>
              <a:srgbClr val="00704A"/>
            </a:solidFill>
            <a:prstDash val="solid"/>
          </a:ln>
        </p:spPr>
      </p:sp>
      <p:sp>
        <p:nvSpPr>
          <p:cNvPr id="51" name="Text 44"/>
          <p:cNvSpPr txBox="1"/>
          <p:nvPr/>
        </p:nvSpPr>
        <p:spPr>
          <a:xfrm>
            <a:off x="7296912" y="14356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2" name="Shape 45"/>
          <p:cNvSpPr/>
          <p:nvPr/>
        </p:nvSpPr>
        <p:spPr>
          <a:xfrm>
            <a:off x="8211312" y="1417320"/>
            <a:ext cx="347472" cy="347472"/>
          </a:xfrm>
          <a:prstGeom prst="ellipse">
            <a:avLst/>
          </a:prstGeom>
          <a:solidFill>
            <a:srgbClr val="00A86A">
              <a:alpha val="22000"/>
            </a:srgbClr>
          </a:solidFill>
          <a:ln w="12700">
            <a:solidFill>
              <a:srgbClr val="00A86A">
                <a:alpha val="0"/>
              </a:srgbClr>
            </a:solidFill>
            <a:prstDash val="solid"/>
          </a:ln>
        </p:spPr>
      </p:sp>
      <p:pic>
        <p:nvPicPr>
          <p:cNvPr id="53" name="Image 4" descr="preencoded.png"/>
          <p:cNvPicPr>
            <a:picLocks noChangeAspect="1"/>
          </p:cNvPicPr>
          <p:nvPr/>
        </p:nvPicPr>
        <p:blipFill>
          <a:blip r:embed="rId7"/>
          <a:stretch>
            <a:fillRect/>
          </a:stretch>
        </p:blipFill>
        <p:spPr>
          <a:xfrm>
            <a:off x="8301655" y="1507663"/>
            <a:ext cx="166787" cy="166787"/>
          </a:xfrm>
          <a:prstGeom prst="rect">
            <a:avLst/>
          </a:prstGeom>
        </p:spPr>
      </p:pic>
      <p:sp>
        <p:nvSpPr>
          <p:cNvPr id="54" name="Text 46"/>
          <p:cNvSpPr txBox="1"/>
          <p:nvPr/>
        </p:nvSpPr>
        <p:spPr>
          <a:xfrm>
            <a:off x="7296912" y="1828800"/>
            <a:ext cx="1261872" cy="411480"/>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Réponse du capteur</a:t>
            </a:r>
            <a:endParaRPr lang="en-US" sz="1150" dirty="0"/>
          </a:p>
        </p:txBody>
      </p:sp>
      <p:sp>
        <p:nvSpPr>
          <p:cNvPr id="55" name="Text 47"/>
          <p:cNvSpPr txBox="1"/>
          <p:nvPr/>
        </p:nvSpPr>
        <p:spPr>
          <a:xfrm>
            <a:off x="7296912" y="2258568"/>
            <a:ext cx="1280160" cy="84124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détecteur les intègre sur sa bande en une valeur de radiance.</a:t>
            </a:r>
            <a:endParaRPr lang="en-US" sz="900" dirty="0"/>
          </a:p>
        </p:txBody>
      </p:sp>
      <p:sp>
        <p:nvSpPr>
          <p:cNvPr id="56" name="Shape 48"/>
          <p:cNvSpPr/>
          <p:nvPr/>
        </p:nvSpPr>
        <p:spPr>
          <a:xfrm>
            <a:off x="457200" y="3291840"/>
            <a:ext cx="8229600" cy="1234440"/>
          </a:xfrm>
          <a:prstGeom prst="roundRect">
            <a:avLst>
              <a:gd name="adj" fmla="val 5926"/>
            </a:avLst>
          </a:prstGeom>
          <a:solidFill>
            <a:srgbClr val="D49A00">
              <a:alpha val="13000"/>
            </a:srgbClr>
          </a:solidFill>
          <a:ln w="12700">
            <a:solidFill>
              <a:srgbClr val="D49A00"/>
            </a:solidFill>
            <a:prstDash val="solid"/>
          </a:ln>
        </p:spPr>
      </p:sp>
      <p:sp>
        <p:nvSpPr>
          <p:cNvPr id="57" name="Shape 49"/>
          <p:cNvSpPr/>
          <p:nvPr/>
        </p:nvSpPr>
        <p:spPr>
          <a:xfrm>
            <a:off x="594360" y="3401568"/>
            <a:ext cx="384048" cy="384048"/>
          </a:xfrm>
          <a:prstGeom prst="ellipse">
            <a:avLst/>
          </a:prstGeom>
          <a:solidFill>
            <a:srgbClr val="D49A00">
              <a:alpha val="22000"/>
            </a:srgbClr>
          </a:solidFill>
          <a:ln w="12700">
            <a:solidFill>
              <a:srgbClr val="D49A00">
                <a:alpha val="0"/>
              </a:srgbClr>
            </a:solidFill>
            <a:prstDash val="solid"/>
          </a:ln>
        </p:spPr>
      </p:sp>
      <p:pic>
        <p:nvPicPr>
          <p:cNvPr id="58" name="Image 5" descr="preencoded.png"/>
          <p:cNvPicPr>
            <a:picLocks noChangeAspect="1"/>
          </p:cNvPicPr>
          <p:nvPr/>
        </p:nvPicPr>
        <p:blipFill>
          <a:blip r:embed="rId8"/>
          <a:stretch>
            <a:fillRect/>
          </a:stretch>
        </p:blipFill>
        <p:spPr>
          <a:xfrm>
            <a:off x="694212" y="3501420"/>
            <a:ext cx="184343" cy="184343"/>
          </a:xfrm>
          <a:prstGeom prst="rect">
            <a:avLst/>
          </a:prstGeom>
        </p:spPr>
      </p:pic>
      <p:sp>
        <p:nvSpPr>
          <p:cNvPr id="59" name="Text 50"/>
          <p:cNvSpPr txBox="1"/>
          <p:nvPr/>
        </p:nvSpPr>
        <p:spPr>
          <a:xfrm>
            <a:off x="1097280" y="3401568"/>
            <a:ext cx="7406640" cy="256032"/>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Où la chaîne se rompt en contexte africain — un pixel sombre peut signifier…</a:t>
            </a:r>
            <a:endParaRPr lang="en-US" sz="1250" dirty="0"/>
          </a:p>
        </p:txBody>
      </p:sp>
      <p:sp>
        <p:nvSpPr>
          <p:cNvPr id="60" name="Shape 51"/>
          <p:cNvSpPr/>
          <p:nvPr/>
        </p:nvSpPr>
        <p:spPr>
          <a:xfrm>
            <a:off x="109728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1" name="Text 52"/>
          <p:cNvSpPr txBox="1"/>
          <p:nvPr/>
        </p:nvSpPr>
        <p:spPr>
          <a:xfrm>
            <a:off x="1097280" y="373989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1</a:t>
            </a:r>
            <a:endParaRPr lang="en-US" sz="800" dirty="0"/>
          </a:p>
        </p:txBody>
      </p:sp>
      <p:sp>
        <p:nvSpPr>
          <p:cNvPr id="62" name="Text 53"/>
          <p:cNvSpPr txBox="1"/>
          <p:nvPr/>
        </p:nvSpPr>
        <p:spPr>
          <a:xfrm>
            <a:off x="1993392" y="372160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Délestage ou pénurie de carburant — les gens sont là, pas le courant</a:t>
            </a:r>
            <a:endParaRPr lang="en-US" sz="950" dirty="0"/>
          </a:p>
        </p:txBody>
      </p:sp>
      <p:sp>
        <p:nvSpPr>
          <p:cNvPr id="63" name="Shape 54"/>
          <p:cNvSpPr/>
          <p:nvPr/>
        </p:nvSpPr>
        <p:spPr>
          <a:xfrm>
            <a:off x="4846320" y="3739896"/>
            <a:ext cx="822960" cy="219456"/>
          </a:xfrm>
          <a:prstGeom prst="roundRect">
            <a:avLst>
              <a:gd name="adj" fmla="val 50000"/>
            </a:avLst>
          </a:prstGeom>
          <a:solidFill>
            <a:srgbClr val="D49A00">
              <a:alpha val="15000"/>
            </a:srgbClr>
          </a:solidFill>
          <a:ln w="9525">
            <a:solidFill>
              <a:srgbClr val="D49A00"/>
            </a:solidFill>
            <a:prstDash val="solid"/>
          </a:ln>
        </p:spPr>
      </p:sp>
      <p:sp>
        <p:nvSpPr>
          <p:cNvPr id="64" name="Text 55"/>
          <p:cNvSpPr txBox="1"/>
          <p:nvPr/>
        </p:nvSpPr>
        <p:spPr>
          <a:xfrm>
            <a:off x="4846320" y="373989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2–3</a:t>
            </a:r>
            <a:endParaRPr lang="en-US" sz="800" dirty="0"/>
          </a:p>
        </p:txBody>
      </p:sp>
      <p:sp>
        <p:nvSpPr>
          <p:cNvPr id="65" name="Text 56"/>
          <p:cNvSpPr txBox="1"/>
          <p:nvPr/>
        </p:nvSpPr>
        <p:spPr>
          <a:xfrm>
            <a:off x="5742432" y="372160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Lanternes et petits kits solaires trop faibles pour être détectés</a:t>
            </a:r>
            <a:endParaRPr lang="en-US" sz="950" dirty="0"/>
          </a:p>
        </p:txBody>
      </p:sp>
      <p:sp>
        <p:nvSpPr>
          <p:cNvPr id="66" name="Shape 57"/>
          <p:cNvSpPr/>
          <p:nvPr/>
        </p:nvSpPr>
        <p:spPr>
          <a:xfrm>
            <a:off x="109728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67" name="Text 58"/>
          <p:cNvSpPr txBox="1"/>
          <p:nvPr/>
        </p:nvSpPr>
        <p:spPr>
          <a:xfrm>
            <a:off x="1097280" y="410565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4</a:t>
            </a:r>
            <a:endParaRPr lang="en-US" sz="800" dirty="0"/>
          </a:p>
        </p:txBody>
      </p:sp>
      <p:sp>
        <p:nvSpPr>
          <p:cNvPr id="68" name="Text 59"/>
          <p:cNvSpPr txBox="1"/>
          <p:nvPr/>
        </p:nvSpPr>
        <p:spPr>
          <a:xfrm>
            <a:off x="1993392" y="408736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Nuages de saison des pluies, harmattan, fumées de feux de brousse</a:t>
            </a:r>
            <a:endParaRPr lang="en-US" sz="950" dirty="0"/>
          </a:p>
        </p:txBody>
      </p:sp>
      <p:sp>
        <p:nvSpPr>
          <p:cNvPr id="69" name="Shape 60"/>
          <p:cNvSpPr/>
          <p:nvPr/>
        </p:nvSpPr>
        <p:spPr>
          <a:xfrm>
            <a:off x="4846320" y="4105656"/>
            <a:ext cx="822960" cy="219456"/>
          </a:xfrm>
          <a:prstGeom prst="roundRect">
            <a:avLst>
              <a:gd name="adj" fmla="val 50000"/>
            </a:avLst>
          </a:prstGeom>
          <a:solidFill>
            <a:srgbClr val="D49A00">
              <a:alpha val="15000"/>
            </a:srgbClr>
          </a:solidFill>
          <a:ln w="9525">
            <a:solidFill>
              <a:srgbClr val="D49A00"/>
            </a:solidFill>
            <a:prstDash val="solid"/>
          </a:ln>
        </p:spPr>
      </p:sp>
      <p:sp>
        <p:nvSpPr>
          <p:cNvPr id="70" name="Text 61"/>
          <p:cNvSpPr txBox="1"/>
          <p:nvPr/>
        </p:nvSpPr>
        <p:spPr>
          <a:xfrm>
            <a:off x="4846320" y="4105656"/>
            <a:ext cx="822960" cy="219456"/>
          </a:xfrm>
          <a:prstGeom prst="rect">
            <a:avLst/>
          </a:prstGeom>
          <a:noFill/>
          <a:ln/>
        </p:spPr>
        <p:txBody>
          <a:bodyPr wrap="square" lIns="0" tIns="0" rIns="0" bIns="0" rtlCol="0" anchor="ctr"/>
          <a:lstStyle/>
          <a:p>
            <a:pPr marL="0" indent="0" algn="ctr">
              <a:buNone/>
            </a:pPr>
            <a:r>
              <a:rPr lang="en-US" sz="800" b="1" dirty="0">
                <a:solidFill>
                  <a:srgbClr val="D49A00"/>
                </a:solidFill>
                <a:latin typeface="Calibri" pitchFamily="34" charset="0"/>
                <a:ea typeface="Calibri" pitchFamily="34" charset="-122"/>
                <a:cs typeface="Calibri" pitchFamily="34" charset="-120"/>
              </a:rPr>
              <a:t>Maillon 5</a:t>
            </a:r>
            <a:endParaRPr lang="en-US" sz="800" dirty="0"/>
          </a:p>
        </p:txBody>
      </p:sp>
      <p:sp>
        <p:nvSpPr>
          <p:cNvPr id="71" name="Text 62"/>
          <p:cNvSpPr txBox="1"/>
          <p:nvPr/>
        </p:nvSpPr>
        <p:spPr>
          <a:xfrm>
            <a:off x="5742432" y="4087368"/>
            <a:ext cx="2788920" cy="292608"/>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Éclairage rural sous le seuil de détection du capteur</a:t>
            </a:r>
            <a:endParaRPr lang="en-US" sz="9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42900" y="240030"/>
            <a:ext cx="8455914" cy="514350"/>
          </a:xfrm>
          <a:prstGeom prst="rect">
            <a:avLst/>
          </a:prstGeom>
          <a:noFill/>
          <a:ln/>
        </p:spPr>
        <p:txBody>
          <a:bodyPr wrap="square" lIns="0" tIns="0" rIns="0" bIns="0" rtlCol="0" anchor="ctr"/>
          <a:lstStyle/>
          <a:p>
            <a:r>
              <a:rPr lang="en-US" dirty="0"/>
              <a:t>Ce que la recherche associe aux lumières nocturnes</a:t>
            </a:r>
          </a:p>
        </p:txBody>
      </p:sp>
      <p:sp>
        <p:nvSpPr>
          <p:cNvPr id="3" name="Text 0"/>
          <p:cNvSpPr>
            <a:spLocks noGrp="1"/>
          </p:cNvSpPr>
          <p:nvPr>
            <p:ph type="body" idx="101" hasCustomPrompt="1"/>
          </p:nvPr>
        </p:nvSpPr>
        <p:spPr>
          <a:xfrm>
            <a:off x="342900" y="754380"/>
            <a:ext cx="8455914" cy="274320"/>
          </a:xfrm>
          <a:prstGeom prst="rect">
            <a:avLst/>
          </a:prstGeom>
          <a:noFill/>
          <a:ln/>
        </p:spPr>
        <p:txBody>
          <a:bodyPr wrap="square" lIns="0" tIns="0" rIns="0" bIns="0" rtlCol="0" anchor="t"/>
          <a:lstStyle/>
          <a:p>
            <a:r>
              <a:rPr lang="en-US" dirty="0"/>
              <a:t>Mots-clés de 4 450 publications OpenAlex sur les lumières nocturnes vues par satellite · plus le mot est grand, plus il est fréquent</a:t>
            </a:r>
          </a:p>
        </p:txBody>
      </p:sp>
      <p:pic>
        <p:nvPicPr>
          <p:cNvPr id="4" name="Nuage de mots" descr="Nuage des mots-clés OpenAlex des publications sur les lumières nocturnes : urbanization, DMSP-OLS, VIIRS, satellite remote sensing, urban expansion, China, population density, light pollution, regional disparities, gross domestic product…"/>
          <p:cNvPicPr>
            <a:picLocks noChangeAspect="1"/>
          </p:cNvPicPr>
          <p:nvPr/>
        </p:nvPicPr>
        <p:blipFill>
          <a:blip r:embed="rId3"/>
          <a:stretch>
            <a:fillRect/>
          </a:stretch>
        </p:blipFill>
        <p:spPr>
          <a:xfrm>
            <a:off x="342900" y="1200150"/>
            <a:ext cx="5897880" cy="3401568"/>
          </a:xfrm>
          <a:prstGeom prst="rect">
            <a:avLst/>
          </a:prstGeom>
        </p:spPr>
      </p:pic>
      <p:sp>
        <p:nvSpPr>
          <p:cNvPr id="5" name="Panneau"/>
          <p:cNvSpPr/>
          <p:nvPr/>
        </p:nvSpPr>
        <p:spPr>
          <a:xfrm>
            <a:off x="6515100" y="1200150"/>
            <a:ext cx="2283714" cy="3401568"/>
          </a:xfrm>
          <a:prstGeom prst="roundRect">
            <a:avLst>
              <a:gd name="adj" fmla="val 3604"/>
            </a:avLst>
          </a:prstGeom>
          <a:solidFill>
            <a:schemeClr val="tx2"/>
          </a:solidFill>
          <a:ln/>
        </p:spPr>
      </p:sp>
      <p:sp>
        <p:nvSpPr>
          <p:cNvPr id="6" name="Chiffre 1"/>
          <p:cNvSpPr txBox="1"/>
          <p:nvPr/>
        </p:nvSpPr>
        <p:spPr>
          <a:xfrm>
            <a:off x="6686550" y="1337310"/>
            <a:ext cx="857250" cy="425196"/>
          </a:xfrm>
          <a:prstGeom prst="rect">
            <a:avLst/>
          </a:prstGeom>
          <a:noFill/>
          <a:ln/>
        </p:spPr>
        <p:txBody>
          <a:bodyPr wrap="square" lIns="0" tIns="0" rIns="0" bIns="0" rtlCol="0" anchor="ctr"/>
          <a:lstStyle/>
          <a:p>
            <a:pPr defTabSz="685800"/>
            <a:r>
              <a:rPr lang="en-US" sz="2100" b="1" dirty="0">
                <a:solidFill>
                  <a:srgbClr val="F5B841"/>
                </a:solidFill>
                <a:latin typeface="Cambria" pitchFamily="34" charset="0"/>
                <a:ea typeface="Cambria" pitchFamily="34" charset="-122"/>
                <a:cs typeface="Cambria" pitchFamily="34" charset="-120"/>
              </a:rPr>
              <a:t>4 450</a:t>
            </a:r>
            <a:endParaRPr lang="en-US" sz="2100" dirty="0">
              <a:solidFill>
                <a:srgbClr val="0B1A33"/>
              </a:solidFill>
              <a:latin typeface="Calibri"/>
            </a:endParaRPr>
          </a:p>
        </p:txBody>
      </p:sp>
      <p:sp>
        <p:nvSpPr>
          <p:cNvPr id="7" name="Libellé 1"/>
          <p:cNvSpPr txBox="1"/>
          <p:nvPr/>
        </p:nvSpPr>
        <p:spPr>
          <a:xfrm>
            <a:off x="7578090" y="1337310"/>
            <a:ext cx="1083564" cy="425196"/>
          </a:xfrm>
          <a:prstGeom prst="rect">
            <a:avLst/>
          </a:prstGeom>
          <a:noFill/>
          <a:ln/>
        </p:spPr>
        <p:txBody>
          <a:bodyPr wrap="square" lIns="0" tIns="0" rIns="0" bIns="0" rtlCol="0" anchor="ctr"/>
          <a:lstStyle/>
          <a:p>
            <a:pPr defTabSz="685800"/>
            <a:r>
              <a:rPr lang="en-US" sz="825" dirty="0">
                <a:solidFill>
                  <a:srgbClr val="FFFFFF"/>
                </a:solidFill>
                <a:latin typeface="Calibri"/>
              </a:rPr>
              <a:t>publications trouvées (au 25 oct. 2026)</a:t>
            </a:r>
            <a:endParaRPr lang="en-US" sz="825" dirty="0">
              <a:solidFill>
                <a:srgbClr val="0B1A33"/>
              </a:solidFill>
              <a:latin typeface="Calibri"/>
            </a:endParaRPr>
          </a:p>
        </p:txBody>
      </p:sp>
      <p:sp>
        <p:nvSpPr>
          <p:cNvPr id="8" name="Chiffre 2"/>
          <p:cNvSpPr txBox="1"/>
          <p:nvPr/>
        </p:nvSpPr>
        <p:spPr>
          <a:xfrm>
            <a:off x="6686550" y="1927098"/>
            <a:ext cx="857250" cy="425196"/>
          </a:xfrm>
          <a:prstGeom prst="rect">
            <a:avLst/>
          </a:prstGeom>
          <a:noFill/>
          <a:ln/>
        </p:spPr>
        <p:txBody>
          <a:bodyPr wrap="square" lIns="0" tIns="0" rIns="0" bIns="0" rtlCol="0" anchor="ctr"/>
          <a:lstStyle/>
          <a:p>
            <a:pPr defTabSz="685800"/>
            <a:r>
              <a:rPr lang="en-US" sz="2100" b="1" dirty="0">
                <a:solidFill>
                  <a:srgbClr val="F5B841"/>
                </a:solidFill>
                <a:latin typeface="Cambria" pitchFamily="34" charset="0"/>
                <a:ea typeface="Cambria" pitchFamily="34" charset="-122"/>
                <a:cs typeface="Cambria" pitchFamily="34" charset="-120"/>
              </a:rPr>
              <a:t>× 5</a:t>
            </a:r>
            <a:endParaRPr lang="en-US" sz="2100" dirty="0">
              <a:solidFill>
                <a:srgbClr val="0B1A33"/>
              </a:solidFill>
              <a:latin typeface="Calibri"/>
            </a:endParaRPr>
          </a:p>
        </p:txBody>
      </p:sp>
      <p:sp>
        <p:nvSpPr>
          <p:cNvPr id="9" name="Libellé 2"/>
          <p:cNvSpPr txBox="1"/>
          <p:nvPr/>
        </p:nvSpPr>
        <p:spPr>
          <a:xfrm>
            <a:off x="7578090" y="1927098"/>
            <a:ext cx="1083564" cy="425196"/>
          </a:xfrm>
          <a:prstGeom prst="rect">
            <a:avLst/>
          </a:prstGeom>
          <a:noFill/>
          <a:ln/>
        </p:spPr>
        <p:txBody>
          <a:bodyPr wrap="square" lIns="0" tIns="0" rIns="0" bIns="0" rtlCol="0" anchor="ctr"/>
          <a:lstStyle/>
          <a:p>
            <a:pPr defTabSz="685800"/>
            <a:r>
              <a:rPr lang="en-US" sz="825" dirty="0">
                <a:solidFill>
                  <a:srgbClr val="FFFFFF"/>
                </a:solidFill>
                <a:latin typeface="Calibri"/>
              </a:rPr>
              <a:t>552 publications en 2025, contre 110 en 2016</a:t>
            </a:r>
            <a:endParaRPr lang="en-US" sz="825" dirty="0">
              <a:solidFill>
                <a:srgbClr val="0B1A33"/>
              </a:solidFill>
              <a:latin typeface="Calibri"/>
            </a:endParaRPr>
          </a:p>
        </p:txBody>
      </p:sp>
      <p:sp>
        <p:nvSpPr>
          <p:cNvPr id="10" name="Chiffre 3"/>
          <p:cNvSpPr txBox="1"/>
          <p:nvPr/>
        </p:nvSpPr>
        <p:spPr>
          <a:xfrm>
            <a:off x="6686550" y="2516886"/>
            <a:ext cx="857250" cy="425196"/>
          </a:xfrm>
          <a:prstGeom prst="rect">
            <a:avLst/>
          </a:prstGeom>
          <a:noFill/>
          <a:ln/>
        </p:spPr>
        <p:txBody>
          <a:bodyPr wrap="square" lIns="0" tIns="0" rIns="0" bIns="0" rtlCol="0" anchor="ctr"/>
          <a:lstStyle/>
          <a:p>
            <a:pPr defTabSz="685800"/>
            <a:r>
              <a:rPr lang="en-US" sz="2100" b="1" dirty="0">
                <a:solidFill>
                  <a:srgbClr val="F5B841"/>
                </a:solidFill>
                <a:latin typeface="Cambria" pitchFamily="34" charset="0"/>
                <a:ea typeface="Cambria" pitchFamily="34" charset="-122"/>
                <a:cs typeface="Cambria" pitchFamily="34" charset="-120"/>
              </a:rPr>
              <a:t>46 %</a:t>
            </a:r>
            <a:endParaRPr lang="en-US" sz="2100" dirty="0">
              <a:solidFill>
                <a:srgbClr val="0B1A33"/>
              </a:solidFill>
              <a:latin typeface="Calibri"/>
            </a:endParaRPr>
          </a:p>
        </p:txBody>
      </p:sp>
      <p:sp>
        <p:nvSpPr>
          <p:cNvPr id="11" name="Libellé 3"/>
          <p:cNvSpPr txBox="1"/>
          <p:nvPr/>
        </p:nvSpPr>
        <p:spPr>
          <a:xfrm>
            <a:off x="7578090" y="2516886"/>
            <a:ext cx="1083564" cy="425196"/>
          </a:xfrm>
          <a:prstGeom prst="rect">
            <a:avLst/>
          </a:prstGeom>
          <a:noFill/>
          <a:ln/>
        </p:spPr>
        <p:txBody>
          <a:bodyPr wrap="square" lIns="0" tIns="0" rIns="0" bIns="0" rtlCol="0" anchor="ctr"/>
          <a:lstStyle/>
          <a:p>
            <a:pPr defTabSz="685800"/>
            <a:r>
              <a:rPr lang="en-US" sz="825" dirty="0">
                <a:solidFill>
                  <a:srgbClr val="FFFFFF"/>
                </a:solidFill>
                <a:latin typeface="Calibri"/>
              </a:rPr>
              <a:t>avec un auteur affilié en Chine (17 % sans pays connu)</a:t>
            </a:r>
            <a:endParaRPr lang="en-US" sz="825" dirty="0">
              <a:solidFill>
                <a:srgbClr val="0B1A33"/>
              </a:solidFill>
              <a:latin typeface="Calibri"/>
            </a:endParaRPr>
          </a:p>
        </p:txBody>
      </p:sp>
      <p:sp>
        <p:nvSpPr>
          <p:cNvPr id="12" name="Légende titre"/>
          <p:cNvSpPr txBox="1"/>
          <p:nvPr/>
        </p:nvSpPr>
        <p:spPr>
          <a:xfrm>
            <a:off x="6686550" y="3154680"/>
            <a:ext cx="1940814" cy="205740"/>
          </a:xfrm>
          <a:prstGeom prst="rect">
            <a:avLst/>
          </a:prstGeom>
          <a:noFill/>
          <a:ln/>
        </p:spPr>
        <p:txBody>
          <a:bodyPr wrap="square" lIns="0" tIns="0" rIns="0" bIns="0" rtlCol="0" anchor="ctr"/>
          <a:lstStyle/>
          <a:p>
            <a:pPr defTabSz="685800"/>
            <a:r>
              <a:rPr lang="en-US" sz="900" b="1" dirty="0">
                <a:solidFill>
                  <a:srgbClr val="FFFFFF"/>
                </a:solidFill>
                <a:latin typeface="Calibri"/>
              </a:rPr>
              <a:t>Thèmes (poids dans le nuage)</a:t>
            </a:r>
            <a:endParaRPr lang="en-US" sz="900" dirty="0">
              <a:solidFill>
                <a:srgbClr val="0B1A33"/>
              </a:solidFill>
              <a:latin typeface="Calibri"/>
            </a:endParaRPr>
          </a:p>
        </p:txBody>
      </p:sp>
      <p:sp>
        <p:nvSpPr>
          <p:cNvPr id="13" name="Pastille 1"/>
          <p:cNvSpPr/>
          <p:nvPr/>
        </p:nvSpPr>
        <p:spPr>
          <a:xfrm>
            <a:off x="6700266" y="3456432"/>
            <a:ext cx="89154" cy="89154"/>
          </a:xfrm>
          <a:prstGeom prst="ellipse">
            <a:avLst/>
          </a:prstGeom>
          <a:solidFill>
            <a:schemeClr val="accent2"/>
          </a:solidFill>
          <a:ln/>
        </p:spPr>
      </p:sp>
      <p:sp>
        <p:nvSpPr>
          <p:cNvPr id="14" name="Thème 1"/>
          <p:cNvSpPr txBox="1"/>
          <p:nvPr/>
        </p:nvSpPr>
        <p:spPr>
          <a:xfrm>
            <a:off x="6858000" y="3408426"/>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Capteurs et données</a:t>
            </a:r>
            <a:endParaRPr lang="en-US" sz="825" dirty="0">
              <a:solidFill>
                <a:srgbClr val="0B1A33"/>
              </a:solidFill>
              <a:latin typeface="Calibri"/>
            </a:endParaRPr>
          </a:p>
        </p:txBody>
      </p:sp>
      <p:sp>
        <p:nvSpPr>
          <p:cNvPr id="15" name="Part 1"/>
          <p:cNvSpPr txBox="1"/>
          <p:nvPr/>
        </p:nvSpPr>
        <p:spPr>
          <a:xfrm>
            <a:off x="8147304" y="3408426"/>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30,7 %</a:t>
            </a:r>
            <a:endParaRPr lang="en-US" sz="825" dirty="0">
              <a:solidFill>
                <a:srgbClr val="0B1A33"/>
              </a:solidFill>
              <a:latin typeface="Calibri"/>
            </a:endParaRPr>
          </a:p>
        </p:txBody>
      </p:sp>
      <p:sp>
        <p:nvSpPr>
          <p:cNvPr id="16" name="Pastille 2"/>
          <p:cNvSpPr/>
          <p:nvPr/>
        </p:nvSpPr>
        <p:spPr>
          <a:xfrm>
            <a:off x="6700266" y="3641598"/>
            <a:ext cx="89154" cy="89154"/>
          </a:xfrm>
          <a:prstGeom prst="ellipse">
            <a:avLst/>
          </a:prstGeom>
          <a:solidFill>
            <a:schemeClr val="accent1"/>
          </a:solidFill>
          <a:ln/>
        </p:spPr>
      </p:sp>
      <p:sp>
        <p:nvSpPr>
          <p:cNvPr id="17" name="Thème 2"/>
          <p:cNvSpPr txBox="1"/>
          <p:nvPr/>
        </p:nvSpPr>
        <p:spPr>
          <a:xfrm>
            <a:off x="6858000" y="3593592"/>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Urbanisation et territoire</a:t>
            </a:r>
            <a:endParaRPr lang="en-US" sz="825" dirty="0">
              <a:solidFill>
                <a:srgbClr val="0B1A33"/>
              </a:solidFill>
              <a:latin typeface="Calibri"/>
            </a:endParaRPr>
          </a:p>
        </p:txBody>
      </p:sp>
      <p:sp>
        <p:nvSpPr>
          <p:cNvPr id="18" name="Part 2"/>
          <p:cNvSpPr txBox="1"/>
          <p:nvPr/>
        </p:nvSpPr>
        <p:spPr>
          <a:xfrm>
            <a:off x="8147304" y="3593592"/>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26,8 %</a:t>
            </a:r>
            <a:endParaRPr lang="en-US" sz="825" dirty="0">
              <a:solidFill>
                <a:srgbClr val="0B1A33"/>
              </a:solidFill>
              <a:latin typeface="Calibri"/>
            </a:endParaRPr>
          </a:p>
        </p:txBody>
      </p:sp>
      <p:sp>
        <p:nvSpPr>
          <p:cNvPr id="19" name="Pastille 3"/>
          <p:cNvSpPr/>
          <p:nvPr/>
        </p:nvSpPr>
        <p:spPr>
          <a:xfrm>
            <a:off x="6700266" y="3826764"/>
            <a:ext cx="89154" cy="89154"/>
          </a:xfrm>
          <a:prstGeom prst="ellipse">
            <a:avLst/>
          </a:prstGeom>
          <a:solidFill>
            <a:schemeClr val="accent3"/>
          </a:solidFill>
          <a:ln/>
        </p:spPr>
      </p:sp>
      <p:sp>
        <p:nvSpPr>
          <p:cNvPr id="20" name="Thème 3"/>
          <p:cNvSpPr txBox="1"/>
          <p:nvPr/>
        </p:nvSpPr>
        <p:spPr>
          <a:xfrm>
            <a:off x="6858000" y="3778758"/>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Économie et développement</a:t>
            </a:r>
            <a:endParaRPr lang="en-US" sz="825" dirty="0">
              <a:solidFill>
                <a:srgbClr val="0B1A33"/>
              </a:solidFill>
              <a:latin typeface="Calibri"/>
            </a:endParaRPr>
          </a:p>
        </p:txBody>
      </p:sp>
      <p:sp>
        <p:nvSpPr>
          <p:cNvPr id="21" name="Part 3"/>
          <p:cNvSpPr txBox="1"/>
          <p:nvPr/>
        </p:nvSpPr>
        <p:spPr>
          <a:xfrm>
            <a:off x="8147304" y="3778758"/>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13,9 %</a:t>
            </a:r>
            <a:endParaRPr lang="en-US" sz="825" dirty="0">
              <a:solidFill>
                <a:srgbClr val="0B1A33"/>
              </a:solidFill>
              <a:latin typeface="Calibri"/>
            </a:endParaRPr>
          </a:p>
        </p:txBody>
      </p:sp>
      <p:sp>
        <p:nvSpPr>
          <p:cNvPr id="22" name="Pastille 4"/>
          <p:cNvSpPr/>
          <p:nvPr/>
        </p:nvSpPr>
        <p:spPr>
          <a:xfrm>
            <a:off x="6700266" y="4011930"/>
            <a:ext cx="89154" cy="89154"/>
          </a:xfrm>
          <a:prstGeom prst="ellipse">
            <a:avLst/>
          </a:prstGeom>
          <a:solidFill>
            <a:schemeClr val="accent4"/>
          </a:solidFill>
          <a:ln/>
        </p:spPr>
      </p:sp>
      <p:sp>
        <p:nvSpPr>
          <p:cNvPr id="23" name="Thème 4"/>
          <p:cNvSpPr txBox="1"/>
          <p:nvPr/>
        </p:nvSpPr>
        <p:spPr>
          <a:xfrm>
            <a:off x="6858000" y="3963924"/>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Environnement et chocs</a:t>
            </a:r>
            <a:endParaRPr lang="en-US" sz="825" dirty="0">
              <a:solidFill>
                <a:srgbClr val="0B1A33"/>
              </a:solidFill>
              <a:latin typeface="Calibri"/>
            </a:endParaRPr>
          </a:p>
        </p:txBody>
      </p:sp>
      <p:sp>
        <p:nvSpPr>
          <p:cNvPr id="24" name="Part 4"/>
          <p:cNvSpPr txBox="1"/>
          <p:nvPr/>
        </p:nvSpPr>
        <p:spPr>
          <a:xfrm>
            <a:off x="8147304" y="3963924"/>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11,9 %</a:t>
            </a:r>
            <a:endParaRPr lang="en-US" sz="825" dirty="0">
              <a:solidFill>
                <a:srgbClr val="0B1A33"/>
              </a:solidFill>
              <a:latin typeface="Calibri"/>
            </a:endParaRPr>
          </a:p>
        </p:txBody>
      </p:sp>
      <p:sp>
        <p:nvSpPr>
          <p:cNvPr id="25" name="Pastille 5"/>
          <p:cNvSpPr/>
          <p:nvPr/>
        </p:nvSpPr>
        <p:spPr>
          <a:xfrm>
            <a:off x="6700266" y="4197096"/>
            <a:ext cx="89154" cy="89154"/>
          </a:xfrm>
          <a:prstGeom prst="ellipse">
            <a:avLst/>
          </a:prstGeom>
          <a:solidFill>
            <a:schemeClr val="accent5"/>
          </a:solidFill>
          <a:ln/>
        </p:spPr>
      </p:sp>
      <p:sp>
        <p:nvSpPr>
          <p:cNvPr id="26" name="Thème 5"/>
          <p:cNvSpPr txBox="1"/>
          <p:nvPr/>
        </p:nvSpPr>
        <p:spPr>
          <a:xfrm>
            <a:off x="6858000" y="4149090"/>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Méthodes d'analyse</a:t>
            </a:r>
            <a:endParaRPr lang="en-US" sz="825" dirty="0">
              <a:solidFill>
                <a:srgbClr val="0B1A33"/>
              </a:solidFill>
              <a:latin typeface="Calibri"/>
            </a:endParaRPr>
          </a:p>
        </p:txBody>
      </p:sp>
      <p:sp>
        <p:nvSpPr>
          <p:cNvPr id="27" name="Part 5"/>
          <p:cNvSpPr txBox="1"/>
          <p:nvPr/>
        </p:nvSpPr>
        <p:spPr>
          <a:xfrm>
            <a:off x="8147304" y="4149090"/>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8,7 %</a:t>
            </a:r>
            <a:endParaRPr lang="en-US" sz="825" dirty="0">
              <a:solidFill>
                <a:srgbClr val="0B1A33"/>
              </a:solidFill>
              <a:latin typeface="Calibri"/>
            </a:endParaRPr>
          </a:p>
        </p:txBody>
      </p:sp>
      <p:sp>
        <p:nvSpPr>
          <p:cNvPr id="28" name="Pastille 6"/>
          <p:cNvSpPr/>
          <p:nvPr/>
        </p:nvSpPr>
        <p:spPr>
          <a:xfrm>
            <a:off x="6700266" y="4382262"/>
            <a:ext cx="89154" cy="89154"/>
          </a:xfrm>
          <a:prstGeom prst="ellipse">
            <a:avLst/>
          </a:prstGeom>
          <a:solidFill>
            <a:schemeClr val="accent6"/>
          </a:solidFill>
          <a:ln/>
        </p:spPr>
      </p:sp>
      <p:sp>
        <p:nvSpPr>
          <p:cNvPr id="29" name="Thème 6"/>
          <p:cNvSpPr txBox="1"/>
          <p:nvPr/>
        </p:nvSpPr>
        <p:spPr>
          <a:xfrm>
            <a:off x="6858000" y="4334256"/>
            <a:ext cx="1371600" cy="185166"/>
          </a:xfrm>
          <a:prstGeom prst="rect">
            <a:avLst/>
          </a:prstGeom>
          <a:noFill/>
          <a:ln/>
        </p:spPr>
        <p:txBody>
          <a:bodyPr wrap="square" lIns="0" tIns="0" rIns="0" bIns="0" rtlCol="0" anchor="ctr"/>
          <a:lstStyle/>
          <a:p>
            <a:pPr defTabSz="685800"/>
            <a:r>
              <a:rPr lang="en-US" sz="825" dirty="0">
                <a:solidFill>
                  <a:srgbClr val="FFFFFF"/>
                </a:solidFill>
                <a:latin typeface="Calibri"/>
              </a:rPr>
              <a:t>Lieux étudiés</a:t>
            </a:r>
            <a:endParaRPr lang="en-US" sz="825" dirty="0">
              <a:solidFill>
                <a:srgbClr val="0B1A33"/>
              </a:solidFill>
              <a:latin typeface="Calibri"/>
            </a:endParaRPr>
          </a:p>
        </p:txBody>
      </p:sp>
      <p:sp>
        <p:nvSpPr>
          <p:cNvPr id="30" name="Part 6"/>
          <p:cNvSpPr txBox="1"/>
          <p:nvPr/>
        </p:nvSpPr>
        <p:spPr>
          <a:xfrm>
            <a:off x="8147304" y="4334256"/>
            <a:ext cx="480060" cy="185166"/>
          </a:xfrm>
          <a:prstGeom prst="rect">
            <a:avLst/>
          </a:prstGeom>
          <a:noFill/>
          <a:ln/>
        </p:spPr>
        <p:txBody>
          <a:bodyPr wrap="square" lIns="0" tIns="0" rIns="0" bIns="0" rtlCol="0" anchor="ctr"/>
          <a:lstStyle/>
          <a:p>
            <a:pPr algn="r" defTabSz="685800"/>
            <a:r>
              <a:rPr lang="en-US" sz="825" dirty="0">
                <a:solidFill>
                  <a:srgbClr val="C9D3E3"/>
                </a:solidFill>
                <a:latin typeface="Calibri"/>
              </a:rPr>
              <a:t>8,0 %</a:t>
            </a:r>
            <a:endParaRPr lang="en-US" sz="825" dirty="0">
              <a:solidFill>
                <a:srgbClr val="0B1A33"/>
              </a:solidFill>
              <a:latin typeface="Calibri"/>
            </a:endParaRPr>
          </a:p>
        </p:txBody>
      </p:sp>
      <p:sp>
        <p:nvSpPr>
          <p:cNvPr id="31" name="Text 0"/>
          <p:cNvSpPr>
            <a:spLocks noGrp="1"/>
          </p:cNvSpPr>
          <p:nvPr>
            <p:ph type="body" idx="102" hasCustomPrompt="1"/>
          </p:nvPr>
        </p:nvSpPr>
        <p:spPr>
          <a:xfrm>
            <a:off x="342900" y="4677156"/>
            <a:ext cx="8455914" cy="274320"/>
          </a:xfrm>
          <a:prstGeom prst="rect">
            <a:avLst/>
          </a:prstGeom>
          <a:noFill/>
          <a:ln/>
        </p:spPr>
        <p:txBody>
          <a:bodyPr wrap="square" lIns="0" tIns="0" rIns="0" bIns="0" rtlCol="0" anchor="ctr"/>
          <a:lstStyle/>
          <a:p>
            <a:r>
              <a:rPr lang="en-US" dirty="0"/>
              <a:t>Source : OpenAlex (api.openalex.org), extraction du 25/10/2026. Titre ou résumé contenant « nighttime / night-time light(s) » ou « night lights » et un terme satellitaire (VIIRS, DMSP, Black Marble, remote sensing…). Mots-clés en anglais tels qu'indexés ; terme de recherche retiré, variantes fusionnées.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27"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1328"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pic>
        <p:nvPicPr>
          <p:cNvPr id="1026" name="Picture 2" descr="NASA's Black Marble nighttime lights product suite - ScienceDirect">
            <a:extLst>
              <a:ext uri="{FF2B5EF4-FFF2-40B4-BE49-F238E27FC236}">
                <a16:creationId xmlns:a16="http://schemas.microsoft.com/office/drawing/2014/main" id="{092641ED-A393-2439-6FAB-A4CEB04C10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9793" y="1280160"/>
            <a:ext cx="6544413" cy="3429000"/>
          </a:xfrm>
          <a:prstGeom prst="rect">
            <a:avLst/>
          </a:prstGeom>
          <a:noFill/>
          <a:extLst>
            <a:ext uri="{909E8E84-426E-40DD-AFC4-6F175D3DCCD1}">
              <a14:hiddenFill xmlns:a14="http://schemas.microsoft.com/office/drawing/2010/main">
                <a:solidFill>
                  <a:srgbClr val="FFFFFF"/>
                </a:solidFill>
              </a14:hiddenFill>
            </a:ext>
          </a:extLst>
        </p:spPr>
      </p:pic>
      <p:sp>
        <p:nvSpPr>
          <p:cNvPr id="1329" name="Shape 2"/>
          <p:cNvSpPr/>
          <p:nvPr/>
        </p:nvSpPr>
        <p:spPr>
          <a:xfrm>
            <a:off x="0" y="0"/>
            <a:ext cx="9144000" cy="54864"/>
          </a:xfrm>
          <a:prstGeom prst="rect">
            <a:avLst/>
          </a:prstGeom>
          <a:solidFill>
            <a:srgbClr val="00A86A"/>
          </a:solidFill>
          <a:ln w="12700">
            <a:solidFill>
              <a:srgbClr val="00A86A"/>
            </a:solidFill>
            <a:prstDash val="solid"/>
          </a:ln>
        </p:spPr>
      </p:sp>
      <p:sp>
        <p:nvSpPr>
          <p:cNvPr id="1330" name="Shape 3"/>
          <p:cNvSpPr/>
          <p:nvPr/>
        </p:nvSpPr>
        <p:spPr>
          <a:xfrm>
            <a:off x="0" y="0"/>
            <a:ext cx="1234440" cy="54864"/>
          </a:xfrm>
          <a:prstGeom prst="rect">
            <a:avLst/>
          </a:prstGeom>
          <a:solidFill>
            <a:srgbClr val="F5C242"/>
          </a:solidFill>
          <a:ln w="12700">
            <a:solidFill>
              <a:srgbClr val="F5C242"/>
            </a:solidFill>
            <a:prstDash val="solid"/>
          </a:ln>
        </p:spPr>
      </p:sp>
      <p:sp>
        <p:nvSpPr>
          <p:cNvPr id="1331"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01 · FONDEMENTS · LA GRILLE MONDIALE</a:t>
            </a:r>
            <a:endParaRPr lang="en-US" sz="1050" dirty="0"/>
          </a:p>
        </p:txBody>
      </p:sp>
      <p:sp>
        <p:nvSpPr>
          <p:cNvPr id="1332"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Une grille mondiale de tuiles de 10° × 10°</a:t>
            </a:r>
            <a:endParaRPr lang="en-US" sz="2800" dirty="0"/>
          </a:p>
        </p:txBody>
      </p:sp>
      <p:sp>
        <p:nvSpPr>
          <p:cNvPr id="1333" name="Shape 6"/>
          <p:cNvSpPr/>
          <p:nvPr/>
        </p:nvSpPr>
        <p:spPr>
          <a:xfrm>
            <a:off x="7635240" y="301752"/>
            <a:ext cx="109728" cy="109728"/>
          </a:xfrm>
          <a:prstGeom prst="ellipse">
            <a:avLst/>
          </a:prstGeom>
          <a:solidFill>
            <a:srgbClr val="00A86A"/>
          </a:solidFill>
          <a:ln w="12700">
            <a:solidFill>
              <a:srgbClr val="00A86A"/>
            </a:solidFill>
            <a:prstDash val="solid"/>
          </a:ln>
        </p:spPr>
      </p:sp>
      <p:sp>
        <p:nvSpPr>
          <p:cNvPr id="1334"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335"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336"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337"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38"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339"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340"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08</a:t>
            </a:r>
            <a:endParaRPr lang="en-US" sz="850" dirty="0"/>
          </a:p>
        </p:txBody>
      </p:sp>
    </p:spTree>
    <p:extLst>
      <p:ext uri="{BB962C8B-B14F-4D97-AF65-F5344CB8AC3E}">
        <p14:creationId xmlns:p14="http://schemas.microsoft.com/office/powerpoint/2010/main" val="2411648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2</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02</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Les instruments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Qu’est-ce qui mesure exactement, et avec quelle résolution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Historique  ·  DMSP ou VIIRS  ·  Saturation et dynamique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5C242"/>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LES INSTRUMENTS · HISTORIQUE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Cinquante ans à observer l’obscurité</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10</a:t>
            </a:r>
            <a:endParaRPr lang="en-US" sz="850" dirty="0"/>
          </a:p>
        </p:txBody>
      </p:sp>
      <p:sp>
        <p:nvSpPr>
          <p:cNvPr id="17" name="Shape 14"/>
          <p:cNvSpPr/>
          <p:nvPr/>
        </p:nvSpPr>
        <p:spPr>
          <a:xfrm>
            <a:off x="457200" y="2788920"/>
            <a:ext cx="8229600" cy="0"/>
          </a:xfrm>
          <a:prstGeom prst="line">
            <a:avLst/>
          </a:prstGeom>
          <a:noFill/>
          <a:ln w="25400">
            <a:solidFill>
              <a:srgbClr val="D5DED9"/>
            </a:solidFill>
            <a:prstDash val="solid"/>
          </a:ln>
        </p:spPr>
      </p:sp>
      <p:sp>
        <p:nvSpPr>
          <p:cNvPr id="18" name="Shape 15"/>
          <p:cNvSpPr/>
          <p:nvPr/>
        </p:nvSpPr>
        <p:spPr>
          <a:xfrm>
            <a:off x="1014984" y="2706624"/>
            <a:ext cx="164592" cy="164592"/>
          </a:xfrm>
          <a:prstGeom prst="ellipse">
            <a:avLst/>
          </a:prstGeom>
          <a:solidFill>
            <a:srgbClr val="5E6964"/>
          </a:solidFill>
          <a:ln w="19050">
            <a:solidFill>
              <a:srgbClr val="FFFFFF"/>
            </a:solidFill>
            <a:prstDash val="solid"/>
          </a:ln>
        </p:spPr>
      </p:sp>
      <p:sp>
        <p:nvSpPr>
          <p:cNvPr id="19" name="Shape 16"/>
          <p:cNvSpPr/>
          <p:nvPr/>
        </p:nvSpPr>
        <p:spPr>
          <a:xfrm>
            <a:off x="1097280" y="2423160"/>
            <a:ext cx="0" cy="283464"/>
          </a:xfrm>
          <a:prstGeom prst="line">
            <a:avLst/>
          </a:prstGeom>
          <a:noFill/>
          <a:ln w="9525">
            <a:solidFill>
              <a:srgbClr val="D5DED9"/>
            </a:solidFill>
            <a:prstDash val="solid"/>
          </a:ln>
        </p:spPr>
      </p:sp>
      <p:sp>
        <p:nvSpPr>
          <p:cNvPr id="20" name="Text 17"/>
          <p:cNvSpPr txBox="1"/>
          <p:nvPr/>
        </p:nvSpPr>
        <p:spPr>
          <a:xfrm>
            <a:off x="502920" y="2130552"/>
            <a:ext cx="1188720" cy="274320"/>
          </a:xfrm>
          <a:prstGeom prst="rect">
            <a:avLst/>
          </a:prstGeom>
          <a:noFill/>
          <a:ln/>
        </p:spPr>
        <p:txBody>
          <a:bodyPr wrap="square" lIns="0" tIns="0" rIns="0" bIns="0" rtlCol="0" anchor="ctr"/>
          <a:lstStyle/>
          <a:p>
            <a:pPr marL="0" indent="0" algn="ctr">
              <a:buNone/>
            </a:pPr>
            <a:r>
              <a:rPr lang="en-US" sz="1200" b="1" dirty="0">
                <a:solidFill>
                  <a:srgbClr val="5E6964"/>
                </a:solidFill>
                <a:latin typeface="Calibri" pitchFamily="34" charset="0"/>
                <a:ea typeface="Calibri" pitchFamily="34" charset="-122"/>
                <a:cs typeface="Calibri" pitchFamily="34" charset="-120"/>
              </a:rPr>
              <a:t>Années 1970</a:t>
            </a:r>
            <a:endParaRPr lang="en-US" sz="1200" dirty="0"/>
          </a:p>
        </p:txBody>
      </p:sp>
      <p:sp>
        <p:nvSpPr>
          <p:cNvPr id="21" name="Text 18"/>
          <p:cNvSpPr txBox="1"/>
          <p:nvPr/>
        </p:nvSpPr>
        <p:spPr>
          <a:xfrm>
            <a:off x="45720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Imagerie nocturne DMSP-OLS (film). Lumières urbaines repérées lors de la détection des nuages.</a:t>
            </a:r>
            <a:endParaRPr lang="en-US" sz="850" dirty="0"/>
          </a:p>
        </p:txBody>
      </p:sp>
      <p:sp>
        <p:nvSpPr>
          <p:cNvPr id="22" name="Shape 19"/>
          <p:cNvSpPr/>
          <p:nvPr/>
        </p:nvSpPr>
        <p:spPr>
          <a:xfrm>
            <a:off x="2020824" y="2706624"/>
            <a:ext cx="164592" cy="164592"/>
          </a:xfrm>
          <a:prstGeom prst="ellipse">
            <a:avLst/>
          </a:prstGeom>
          <a:solidFill>
            <a:srgbClr val="00704A"/>
          </a:solidFill>
          <a:ln w="19050">
            <a:solidFill>
              <a:srgbClr val="FFFFFF"/>
            </a:solidFill>
            <a:prstDash val="solid"/>
          </a:ln>
        </p:spPr>
      </p:sp>
      <p:sp>
        <p:nvSpPr>
          <p:cNvPr id="23" name="Shape 20"/>
          <p:cNvSpPr/>
          <p:nvPr/>
        </p:nvSpPr>
        <p:spPr>
          <a:xfrm>
            <a:off x="2103120" y="2871216"/>
            <a:ext cx="0" cy="283464"/>
          </a:xfrm>
          <a:prstGeom prst="line">
            <a:avLst/>
          </a:prstGeom>
          <a:noFill/>
          <a:ln w="9525">
            <a:solidFill>
              <a:srgbClr val="D5DED9"/>
            </a:solidFill>
            <a:prstDash val="solid"/>
          </a:ln>
        </p:spPr>
      </p:sp>
      <p:sp>
        <p:nvSpPr>
          <p:cNvPr id="24" name="Text 21"/>
          <p:cNvSpPr txBox="1"/>
          <p:nvPr/>
        </p:nvSpPr>
        <p:spPr>
          <a:xfrm>
            <a:off x="1508760" y="3172968"/>
            <a:ext cx="1188720" cy="274320"/>
          </a:xfrm>
          <a:prstGeom prst="rect">
            <a:avLst/>
          </a:prstGeom>
          <a:noFill/>
          <a:ln/>
        </p:spPr>
        <p:txBody>
          <a:bodyPr wrap="square" lIns="0" tIns="0" rIns="0" bIns="0" rtlCol="0" anchor="ctr"/>
          <a:lstStyle/>
          <a:p>
            <a:pPr marL="0" indent="0" algn="ctr">
              <a:buNone/>
            </a:pPr>
            <a:r>
              <a:rPr lang="en-US" sz="1500" b="1" dirty="0">
                <a:solidFill>
                  <a:srgbClr val="00704A"/>
                </a:solidFill>
                <a:latin typeface="Calibri" pitchFamily="34" charset="0"/>
                <a:ea typeface="Calibri" pitchFamily="34" charset="-122"/>
                <a:cs typeface="Calibri" pitchFamily="34" charset="-120"/>
              </a:rPr>
              <a:t>1992</a:t>
            </a:r>
            <a:endParaRPr lang="en-US" sz="1500" dirty="0"/>
          </a:p>
        </p:txBody>
      </p:sp>
      <p:sp>
        <p:nvSpPr>
          <p:cNvPr id="25" name="Text 22"/>
          <p:cNvSpPr txBox="1"/>
          <p:nvPr/>
        </p:nvSpPr>
        <p:spPr>
          <a:xfrm>
            <a:off x="146304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Début de l’archive numérique DMSP → série annuelle « lumières stables » jusqu’en 2013.</a:t>
            </a:r>
            <a:endParaRPr lang="en-US" sz="850" dirty="0"/>
          </a:p>
        </p:txBody>
      </p:sp>
      <p:sp>
        <p:nvSpPr>
          <p:cNvPr id="26" name="Shape 23"/>
          <p:cNvSpPr/>
          <p:nvPr/>
        </p:nvSpPr>
        <p:spPr>
          <a:xfrm>
            <a:off x="3026664" y="2706624"/>
            <a:ext cx="164592" cy="164592"/>
          </a:xfrm>
          <a:prstGeom prst="ellipse">
            <a:avLst/>
          </a:prstGeom>
          <a:solidFill>
            <a:srgbClr val="00A86A"/>
          </a:solidFill>
          <a:ln w="19050">
            <a:solidFill>
              <a:srgbClr val="FFFFFF"/>
            </a:solidFill>
            <a:prstDash val="solid"/>
          </a:ln>
        </p:spPr>
      </p:sp>
      <p:sp>
        <p:nvSpPr>
          <p:cNvPr id="27" name="Shape 24"/>
          <p:cNvSpPr/>
          <p:nvPr/>
        </p:nvSpPr>
        <p:spPr>
          <a:xfrm>
            <a:off x="3108960" y="2423160"/>
            <a:ext cx="0" cy="283464"/>
          </a:xfrm>
          <a:prstGeom prst="line">
            <a:avLst/>
          </a:prstGeom>
          <a:noFill/>
          <a:ln w="9525">
            <a:solidFill>
              <a:srgbClr val="D5DED9"/>
            </a:solidFill>
            <a:prstDash val="solid"/>
          </a:ln>
        </p:spPr>
      </p:sp>
      <p:sp>
        <p:nvSpPr>
          <p:cNvPr id="28" name="Text 25"/>
          <p:cNvSpPr txBox="1"/>
          <p:nvPr/>
        </p:nvSpPr>
        <p:spPr>
          <a:xfrm>
            <a:off x="2514600" y="2130552"/>
            <a:ext cx="1188720" cy="274320"/>
          </a:xfrm>
          <a:prstGeom prst="rect">
            <a:avLst/>
          </a:prstGeom>
          <a:noFill/>
          <a:ln/>
        </p:spPr>
        <p:txBody>
          <a:bodyPr wrap="square" lIns="0" tIns="0" rIns="0" bIns="0" rtlCol="0" anchor="ctr"/>
          <a:lstStyle/>
          <a:p>
            <a:pPr marL="0" indent="0" algn="ctr">
              <a:buNone/>
            </a:pPr>
            <a:r>
              <a:rPr lang="en-US" sz="1500" b="1" dirty="0">
                <a:solidFill>
                  <a:srgbClr val="00A86A"/>
                </a:solidFill>
                <a:latin typeface="Calibri" pitchFamily="34" charset="0"/>
                <a:ea typeface="Calibri" pitchFamily="34" charset="-122"/>
                <a:cs typeface="Calibri" pitchFamily="34" charset="-120"/>
              </a:rPr>
              <a:t>2011</a:t>
            </a:r>
            <a:endParaRPr lang="en-US" sz="1500" dirty="0"/>
          </a:p>
        </p:txBody>
      </p:sp>
      <p:sp>
        <p:nvSpPr>
          <p:cNvPr id="29" name="Text 26"/>
          <p:cNvSpPr txBox="1"/>
          <p:nvPr/>
        </p:nvSpPr>
        <p:spPr>
          <a:xfrm>
            <a:off x="246888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Lancement de Suomi NPP avec VIIRS : premier capteur étalonné pour la radiance nocturne.</a:t>
            </a:r>
            <a:endParaRPr lang="en-US" sz="850" dirty="0"/>
          </a:p>
        </p:txBody>
      </p:sp>
      <p:sp>
        <p:nvSpPr>
          <p:cNvPr id="30" name="Shape 27"/>
          <p:cNvSpPr/>
          <p:nvPr/>
        </p:nvSpPr>
        <p:spPr>
          <a:xfrm>
            <a:off x="4032504" y="2706624"/>
            <a:ext cx="164592" cy="164592"/>
          </a:xfrm>
          <a:prstGeom prst="ellipse">
            <a:avLst/>
          </a:prstGeom>
          <a:solidFill>
            <a:srgbClr val="00A86A"/>
          </a:solidFill>
          <a:ln w="19050">
            <a:solidFill>
              <a:srgbClr val="FFFFFF"/>
            </a:solidFill>
            <a:prstDash val="solid"/>
          </a:ln>
        </p:spPr>
      </p:sp>
      <p:sp>
        <p:nvSpPr>
          <p:cNvPr id="31" name="Shape 28"/>
          <p:cNvSpPr/>
          <p:nvPr/>
        </p:nvSpPr>
        <p:spPr>
          <a:xfrm>
            <a:off x="4114800" y="2871216"/>
            <a:ext cx="0" cy="283464"/>
          </a:xfrm>
          <a:prstGeom prst="line">
            <a:avLst/>
          </a:prstGeom>
          <a:noFill/>
          <a:ln w="9525">
            <a:solidFill>
              <a:srgbClr val="D5DED9"/>
            </a:solidFill>
            <a:prstDash val="solid"/>
          </a:ln>
        </p:spPr>
      </p:sp>
      <p:sp>
        <p:nvSpPr>
          <p:cNvPr id="32" name="Text 29"/>
          <p:cNvSpPr txBox="1"/>
          <p:nvPr/>
        </p:nvSpPr>
        <p:spPr>
          <a:xfrm>
            <a:off x="3520440" y="3172968"/>
            <a:ext cx="1188720" cy="274320"/>
          </a:xfrm>
          <a:prstGeom prst="rect">
            <a:avLst/>
          </a:prstGeom>
          <a:noFill/>
          <a:ln/>
        </p:spPr>
        <p:txBody>
          <a:bodyPr wrap="square" lIns="0" tIns="0" rIns="0" bIns="0" rtlCol="0" anchor="ctr"/>
          <a:lstStyle/>
          <a:p>
            <a:pPr marL="0" indent="0" algn="ctr">
              <a:buNone/>
            </a:pPr>
            <a:r>
              <a:rPr lang="en-US" sz="1500" b="1" dirty="0">
                <a:solidFill>
                  <a:srgbClr val="00A86A"/>
                </a:solidFill>
                <a:latin typeface="Calibri" pitchFamily="34" charset="0"/>
                <a:ea typeface="Calibri" pitchFamily="34" charset="-122"/>
                <a:cs typeface="Calibri" pitchFamily="34" charset="-120"/>
              </a:rPr>
              <a:t>2012</a:t>
            </a:r>
            <a:endParaRPr lang="en-US" sz="1500" dirty="0"/>
          </a:p>
        </p:txBody>
      </p:sp>
      <p:sp>
        <p:nvSpPr>
          <p:cNvPr id="33" name="Text 30"/>
          <p:cNvSpPr txBox="1"/>
          <p:nvPr/>
        </p:nvSpPr>
        <p:spPr>
          <a:xfrm>
            <a:off x="347472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Composites mensuels VIIRS sans nuages ; début de la série NASA Black Marble.</a:t>
            </a:r>
            <a:endParaRPr lang="en-US" sz="850" dirty="0"/>
          </a:p>
        </p:txBody>
      </p:sp>
      <p:sp>
        <p:nvSpPr>
          <p:cNvPr id="34" name="Shape 31"/>
          <p:cNvSpPr/>
          <p:nvPr/>
        </p:nvSpPr>
        <p:spPr>
          <a:xfrm>
            <a:off x="5038344" y="2706624"/>
            <a:ext cx="164592" cy="164592"/>
          </a:xfrm>
          <a:prstGeom prst="ellipse">
            <a:avLst/>
          </a:prstGeom>
          <a:solidFill>
            <a:srgbClr val="0E7C86"/>
          </a:solidFill>
          <a:ln w="19050">
            <a:solidFill>
              <a:srgbClr val="FFFFFF"/>
            </a:solidFill>
            <a:prstDash val="solid"/>
          </a:ln>
        </p:spPr>
      </p:sp>
      <p:sp>
        <p:nvSpPr>
          <p:cNvPr id="35" name="Shape 32"/>
          <p:cNvSpPr/>
          <p:nvPr/>
        </p:nvSpPr>
        <p:spPr>
          <a:xfrm>
            <a:off x="5120640" y="2423160"/>
            <a:ext cx="0" cy="283464"/>
          </a:xfrm>
          <a:prstGeom prst="line">
            <a:avLst/>
          </a:prstGeom>
          <a:noFill/>
          <a:ln w="9525">
            <a:solidFill>
              <a:srgbClr val="D5DED9"/>
            </a:solidFill>
            <a:prstDash val="solid"/>
          </a:ln>
        </p:spPr>
      </p:sp>
      <p:sp>
        <p:nvSpPr>
          <p:cNvPr id="36" name="Text 33"/>
          <p:cNvSpPr txBox="1"/>
          <p:nvPr/>
        </p:nvSpPr>
        <p:spPr>
          <a:xfrm>
            <a:off x="4526280" y="2130552"/>
            <a:ext cx="118872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2017</a:t>
            </a:r>
            <a:endParaRPr lang="en-US" sz="1500" dirty="0"/>
          </a:p>
        </p:txBody>
      </p:sp>
      <p:sp>
        <p:nvSpPr>
          <p:cNvPr id="37" name="Text 34"/>
          <p:cNvSpPr txBox="1"/>
          <p:nvPr/>
        </p:nvSpPr>
        <p:spPr>
          <a:xfrm>
            <a:off x="448056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Lancement de NOAA-20 avec un 2ᵉ VIIRS ; produits Black Marble jumeaux dès 2018.</a:t>
            </a:r>
            <a:endParaRPr lang="en-US" sz="850" dirty="0"/>
          </a:p>
        </p:txBody>
      </p:sp>
      <p:sp>
        <p:nvSpPr>
          <p:cNvPr id="38" name="Shape 35"/>
          <p:cNvSpPr/>
          <p:nvPr/>
        </p:nvSpPr>
        <p:spPr>
          <a:xfrm>
            <a:off x="6044184" y="2706624"/>
            <a:ext cx="164592" cy="164592"/>
          </a:xfrm>
          <a:prstGeom prst="ellipse">
            <a:avLst/>
          </a:prstGeom>
          <a:solidFill>
            <a:srgbClr val="D49A00"/>
          </a:solidFill>
          <a:ln w="19050">
            <a:solidFill>
              <a:srgbClr val="FFFFFF"/>
            </a:solidFill>
            <a:prstDash val="solid"/>
          </a:ln>
        </p:spPr>
      </p:sp>
      <p:sp>
        <p:nvSpPr>
          <p:cNvPr id="39" name="Shape 36"/>
          <p:cNvSpPr/>
          <p:nvPr/>
        </p:nvSpPr>
        <p:spPr>
          <a:xfrm>
            <a:off x="6126480" y="2871216"/>
            <a:ext cx="0" cy="283464"/>
          </a:xfrm>
          <a:prstGeom prst="line">
            <a:avLst/>
          </a:prstGeom>
          <a:noFill/>
          <a:ln w="9525">
            <a:solidFill>
              <a:srgbClr val="D5DED9"/>
            </a:solidFill>
            <a:prstDash val="solid"/>
          </a:ln>
        </p:spPr>
      </p:sp>
      <p:sp>
        <p:nvSpPr>
          <p:cNvPr id="40" name="Text 37"/>
          <p:cNvSpPr txBox="1"/>
          <p:nvPr/>
        </p:nvSpPr>
        <p:spPr>
          <a:xfrm>
            <a:off x="5532120" y="3172968"/>
            <a:ext cx="118872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2018</a:t>
            </a:r>
            <a:endParaRPr lang="en-US" sz="1500" dirty="0"/>
          </a:p>
        </p:txBody>
      </p:sp>
      <p:sp>
        <p:nvSpPr>
          <p:cNvPr id="41" name="Text 38"/>
          <p:cNvSpPr txBox="1"/>
          <p:nvPr/>
        </p:nvSpPr>
        <p:spPr>
          <a:xfrm>
            <a:off x="548640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Luojia-1-01 démontre l’imagerie nocturne à ≈ 130 m depuis un petit satellite.</a:t>
            </a:r>
            <a:endParaRPr lang="en-US" sz="850" dirty="0"/>
          </a:p>
        </p:txBody>
      </p:sp>
      <p:sp>
        <p:nvSpPr>
          <p:cNvPr id="42" name="Shape 39"/>
          <p:cNvSpPr/>
          <p:nvPr/>
        </p:nvSpPr>
        <p:spPr>
          <a:xfrm>
            <a:off x="7050024" y="2706624"/>
            <a:ext cx="164592" cy="164592"/>
          </a:xfrm>
          <a:prstGeom prst="ellipse">
            <a:avLst/>
          </a:prstGeom>
          <a:solidFill>
            <a:srgbClr val="D49A00"/>
          </a:solidFill>
          <a:ln w="19050">
            <a:solidFill>
              <a:srgbClr val="FFFFFF"/>
            </a:solidFill>
            <a:prstDash val="solid"/>
          </a:ln>
        </p:spPr>
      </p:sp>
      <p:sp>
        <p:nvSpPr>
          <p:cNvPr id="43" name="Shape 40"/>
          <p:cNvSpPr/>
          <p:nvPr/>
        </p:nvSpPr>
        <p:spPr>
          <a:xfrm>
            <a:off x="7132320" y="2423160"/>
            <a:ext cx="0" cy="283464"/>
          </a:xfrm>
          <a:prstGeom prst="line">
            <a:avLst/>
          </a:prstGeom>
          <a:noFill/>
          <a:ln w="9525">
            <a:solidFill>
              <a:srgbClr val="D5DED9"/>
            </a:solidFill>
            <a:prstDash val="solid"/>
          </a:ln>
        </p:spPr>
      </p:sp>
      <p:sp>
        <p:nvSpPr>
          <p:cNvPr id="44" name="Text 41"/>
          <p:cNvSpPr txBox="1"/>
          <p:nvPr/>
        </p:nvSpPr>
        <p:spPr>
          <a:xfrm>
            <a:off x="6537960" y="2130552"/>
            <a:ext cx="1188720" cy="274320"/>
          </a:xfrm>
          <a:prstGeom prst="rect">
            <a:avLst/>
          </a:prstGeom>
          <a:noFill/>
          <a:ln/>
        </p:spPr>
        <p:txBody>
          <a:bodyPr wrap="square" lIns="0" tIns="0" rIns="0" bIns="0" rtlCol="0" anchor="ctr"/>
          <a:lstStyle/>
          <a:p>
            <a:pPr marL="0" indent="0" algn="ctr">
              <a:buNone/>
            </a:pPr>
            <a:r>
              <a:rPr lang="en-US" sz="1500" b="1" dirty="0">
                <a:solidFill>
                  <a:srgbClr val="D49A00"/>
                </a:solidFill>
                <a:latin typeface="Calibri" pitchFamily="34" charset="0"/>
                <a:ea typeface="Calibri" pitchFamily="34" charset="-122"/>
                <a:cs typeface="Calibri" pitchFamily="34" charset="-120"/>
              </a:rPr>
              <a:t>2021</a:t>
            </a:r>
            <a:endParaRPr lang="en-US" sz="1500" dirty="0"/>
          </a:p>
        </p:txBody>
      </p:sp>
      <p:sp>
        <p:nvSpPr>
          <p:cNvPr id="45" name="Text 42"/>
          <p:cNvSpPr txBox="1"/>
          <p:nvPr/>
        </p:nvSpPr>
        <p:spPr>
          <a:xfrm>
            <a:off x="6492240" y="1280160"/>
            <a:ext cx="1280160" cy="822960"/>
          </a:xfrm>
          <a:prstGeom prst="rect">
            <a:avLst/>
          </a:prstGeom>
          <a:noFill/>
          <a:ln/>
        </p:spPr>
        <p:txBody>
          <a:bodyPr wrap="square" lIns="0" tIns="0" rIns="0" bIns="0" rtlCol="0" anchor="b"/>
          <a:lstStyle/>
          <a:p>
            <a:pPr marL="0" indent="0" algn="ctr">
              <a:buNone/>
            </a:pPr>
            <a:r>
              <a:rPr lang="en-US" sz="850" dirty="0">
                <a:solidFill>
                  <a:srgbClr val="231F20"/>
                </a:solidFill>
                <a:latin typeface="Calibri" pitchFamily="34" charset="0"/>
                <a:ea typeface="Calibri" pitchFamily="34" charset="-122"/>
                <a:cs typeface="Calibri" pitchFamily="34" charset="-120"/>
              </a:rPr>
              <a:t>SDGSAT-1, imageur Glimmer : imagerie nocturne couleur à 10–40 m.</a:t>
            </a:r>
            <a:endParaRPr lang="en-US" sz="850" dirty="0"/>
          </a:p>
        </p:txBody>
      </p:sp>
      <p:sp>
        <p:nvSpPr>
          <p:cNvPr id="46" name="Shape 43"/>
          <p:cNvSpPr/>
          <p:nvPr/>
        </p:nvSpPr>
        <p:spPr>
          <a:xfrm>
            <a:off x="8055864" y="2706624"/>
            <a:ext cx="164592" cy="164592"/>
          </a:xfrm>
          <a:prstGeom prst="ellipse">
            <a:avLst/>
          </a:prstGeom>
          <a:solidFill>
            <a:srgbClr val="0E7C86"/>
          </a:solidFill>
          <a:ln w="19050">
            <a:solidFill>
              <a:srgbClr val="FFFFFF"/>
            </a:solidFill>
            <a:prstDash val="solid"/>
          </a:ln>
        </p:spPr>
      </p:sp>
      <p:sp>
        <p:nvSpPr>
          <p:cNvPr id="47" name="Shape 44"/>
          <p:cNvSpPr/>
          <p:nvPr/>
        </p:nvSpPr>
        <p:spPr>
          <a:xfrm>
            <a:off x="8138160" y="2871216"/>
            <a:ext cx="0" cy="283464"/>
          </a:xfrm>
          <a:prstGeom prst="line">
            <a:avLst/>
          </a:prstGeom>
          <a:noFill/>
          <a:ln w="9525">
            <a:solidFill>
              <a:srgbClr val="D5DED9"/>
            </a:solidFill>
            <a:prstDash val="solid"/>
          </a:ln>
        </p:spPr>
      </p:sp>
      <p:sp>
        <p:nvSpPr>
          <p:cNvPr id="48" name="Text 45"/>
          <p:cNvSpPr txBox="1"/>
          <p:nvPr/>
        </p:nvSpPr>
        <p:spPr>
          <a:xfrm>
            <a:off x="7543800" y="3172968"/>
            <a:ext cx="1188720" cy="274320"/>
          </a:xfrm>
          <a:prstGeom prst="rect">
            <a:avLst/>
          </a:prstGeom>
          <a:noFill/>
          <a:ln/>
        </p:spPr>
        <p:txBody>
          <a:bodyPr wrap="square" lIns="0" tIns="0" rIns="0" bIns="0" rtlCol="0" anchor="ctr"/>
          <a:lstStyle/>
          <a:p>
            <a:pPr marL="0" indent="0" algn="ctr">
              <a:buNone/>
            </a:pPr>
            <a:r>
              <a:rPr lang="en-US" sz="1500" b="1" dirty="0">
                <a:solidFill>
                  <a:srgbClr val="0E7C86"/>
                </a:solidFill>
                <a:latin typeface="Calibri" pitchFamily="34" charset="0"/>
                <a:ea typeface="Calibri" pitchFamily="34" charset="-122"/>
                <a:cs typeface="Calibri" pitchFamily="34" charset="-120"/>
              </a:rPr>
              <a:t>2022</a:t>
            </a:r>
            <a:endParaRPr lang="en-US" sz="1500" dirty="0"/>
          </a:p>
        </p:txBody>
      </p:sp>
      <p:sp>
        <p:nvSpPr>
          <p:cNvPr id="49" name="Text 46"/>
          <p:cNvSpPr txBox="1"/>
          <p:nvPr/>
        </p:nvSpPr>
        <p:spPr>
          <a:xfrm>
            <a:off x="7498080" y="3474720"/>
            <a:ext cx="1280160" cy="822960"/>
          </a:xfrm>
          <a:prstGeom prst="rect">
            <a:avLst/>
          </a:prstGeom>
          <a:noFill/>
          <a:ln/>
        </p:spPr>
        <p:txBody>
          <a:bodyPr wrap="square" lIns="0" tIns="0" rIns="0" bIns="0" rtlCol="0" anchor="t"/>
          <a:lstStyle/>
          <a:p>
            <a:pPr marL="0" indent="0" algn="ctr">
              <a:buNone/>
            </a:pPr>
            <a:r>
              <a:rPr lang="en-US" sz="850" dirty="0">
                <a:solidFill>
                  <a:srgbClr val="231F20"/>
                </a:solidFill>
                <a:latin typeface="Calibri" pitchFamily="34" charset="0"/>
                <a:ea typeface="Calibri" pitchFamily="34" charset="-122"/>
                <a:cs typeface="Calibri" pitchFamily="34" charset="-120"/>
              </a:rPr>
              <a:t>Lancement de NOAA-21 : un 3ᵉ VIIRS prolonge la série vers les années 2030.</a:t>
            </a:r>
            <a:endParaRPr lang="en-US" sz="850" dirty="0"/>
          </a:p>
        </p:txBody>
      </p:sp>
      <p:sp>
        <p:nvSpPr>
          <p:cNvPr id="50" name="Shape 47"/>
          <p:cNvSpPr/>
          <p:nvPr/>
        </p:nvSpPr>
        <p:spPr>
          <a:xfrm>
            <a:off x="457200" y="4160520"/>
            <a:ext cx="8229600" cy="411480"/>
          </a:xfrm>
          <a:prstGeom prst="roundRect">
            <a:avLst>
              <a:gd name="adj" fmla="val 17778"/>
            </a:avLst>
          </a:prstGeom>
          <a:solidFill>
            <a:srgbClr val="E8F5EF"/>
          </a:solidFill>
          <a:ln w="15875">
            <a:solidFill>
              <a:srgbClr val="00A86A"/>
            </a:solidFill>
            <a:prstDash val="solid"/>
          </a:ln>
        </p:spPr>
      </p:sp>
      <p:sp>
        <p:nvSpPr>
          <p:cNvPr id="51" name="Text 48"/>
          <p:cNvSpPr txBox="1"/>
          <p:nvPr/>
        </p:nvSpPr>
        <p:spPr>
          <a:xfrm>
            <a:off x="594360" y="4178808"/>
            <a:ext cx="7955280" cy="37490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L’ironie : </a:t>
            </a:r>
            <a:r>
              <a:rPr lang="en-US" sz="1050" dirty="0">
                <a:solidFill>
                  <a:srgbClr val="231F20"/>
                </a:solidFill>
                <a:latin typeface="Calibri" pitchFamily="34" charset="0"/>
                <a:ea typeface="Calibri" pitchFamily="34" charset="-122"/>
                <a:cs typeface="Calibri" pitchFamily="34" charset="-120"/>
              </a:rPr>
              <a:t>le premier instrument devait voir les nuages au clair de lune. Les lumières urbaines étaient du bruit — il a fallu vingt ans pour en faire le signal.</a:t>
            </a:r>
            <a:endParaRPr lang="en-US" sz="10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LES INSTRUMENTS · COMPARAISON DES CAPTEURS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Deux capteurs, deux sciences différentes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11</a:t>
            </a:r>
            <a:endParaRPr lang="en-US" sz="850" dirty="0"/>
          </a:p>
        </p:txBody>
      </p:sp>
      <p:sp>
        <p:nvSpPr>
          <p:cNvPr id="17" name="Shape 14"/>
          <p:cNvSpPr/>
          <p:nvPr/>
        </p:nvSpPr>
        <p:spPr>
          <a:xfrm>
            <a:off x="2148840" y="1325880"/>
            <a:ext cx="3154680" cy="457200"/>
          </a:xfrm>
          <a:prstGeom prst="roundRect">
            <a:avLst>
              <a:gd name="adj" fmla="val 16000"/>
            </a:avLst>
          </a:prstGeom>
          <a:solidFill>
            <a:srgbClr val="5E6964"/>
          </a:solidFill>
          <a:ln w="9525">
            <a:solidFill>
              <a:srgbClr val="5E6964"/>
            </a:solidFill>
            <a:prstDash val="solid"/>
          </a:ln>
        </p:spPr>
      </p:sp>
      <p:sp>
        <p:nvSpPr>
          <p:cNvPr id="18" name="Shape 15"/>
          <p:cNvSpPr/>
          <p:nvPr/>
        </p:nvSpPr>
        <p:spPr>
          <a:xfrm>
            <a:off x="5440680" y="1325880"/>
            <a:ext cx="3246120" cy="457200"/>
          </a:xfrm>
          <a:prstGeom prst="roundRect">
            <a:avLst>
              <a:gd name="adj" fmla="val 16000"/>
            </a:avLst>
          </a:prstGeom>
          <a:solidFill>
            <a:srgbClr val="00704A"/>
          </a:solidFill>
          <a:ln w="9525">
            <a:solidFill>
              <a:srgbClr val="00704A"/>
            </a:solidFill>
            <a:prstDash val="solid"/>
          </a:ln>
        </p:spPr>
      </p:sp>
      <p:sp>
        <p:nvSpPr>
          <p:cNvPr id="19" name="Text 16"/>
          <p:cNvSpPr txBox="1"/>
          <p:nvPr/>
        </p:nvSpPr>
        <p:spPr>
          <a:xfrm>
            <a:off x="2148840" y="1325880"/>
            <a:ext cx="31546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DMSP-OLS  ·  historique</a:t>
            </a:r>
            <a:endParaRPr lang="en-US" sz="1300" dirty="0"/>
          </a:p>
        </p:txBody>
      </p:sp>
      <p:sp>
        <p:nvSpPr>
          <p:cNvPr id="20" name="Text 17"/>
          <p:cNvSpPr txBox="1"/>
          <p:nvPr/>
        </p:nvSpPr>
        <p:spPr>
          <a:xfrm>
            <a:off x="5440680" y="1325880"/>
            <a:ext cx="324612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Bande jour/nuit VIIRS  ·  moderne</a:t>
            </a:r>
            <a:endParaRPr lang="en-US" sz="1300" dirty="0"/>
          </a:p>
        </p:txBody>
      </p:sp>
      <p:sp>
        <p:nvSpPr>
          <p:cNvPr id="21" name="Text 18"/>
          <p:cNvSpPr txBox="1"/>
          <p:nvPr/>
        </p:nvSpPr>
        <p:spPr>
          <a:xfrm>
            <a:off x="457200" y="18470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Période</a:t>
            </a:r>
            <a:endParaRPr lang="en-US" sz="1100" dirty="0"/>
          </a:p>
        </p:txBody>
      </p:sp>
      <p:sp>
        <p:nvSpPr>
          <p:cNvPr id="22" name="Shape 19"/>
          <p:cNvSpPr/>
          <p:nvPr/>
        </p:nvSpPr>
        <p:spPr>
          <a:xfrm>
            <a:off x="2148840" y="1847088"/>
            <a:ext cx="3154680" cy="310896"/>
          </a:xfrm>
          <a:prstGeom prst="roundRect">
            <a:avLst>
              <a:gd name="adj" fmla="val 14706"/>
            </a:avLst>
          </a:prstGeom>
          <a:solidFill>
            <a:srgbClr val="F4F7F5"/>
          </a:solidFill>
          <a:ln w="9525">
            <a:solidFill>
              <a:srgbClr val="D5DED9"/>
            </a:solidFill>
            <a:prstDash val="solid"/>
          </a:ln>
        </p:spPr>
      </p:sp>
      <p:sp>
        <p:nvSpPr>
          <p:cNvPr id="23" name="Shape 20"/>
          <p:cNvSpPr/>
          <p:nvPr/>
        </p:nvSpPr>
        <p:spPr>
          <a:xfrm>
            <a:off x="5440680" y="1847088"/>
            <a:ext cx="3246120" cy="310896"/>
          </a:xfrm>
          <a:prstGeom prst="roundRect">
            <a:avLst>
              <a:gd name="adj" fmla="val 14706"/>
            </a:avLst>
          </a:prstGeom>
          <a:solidFill>
            <a:srgbClr val="E8F5EF"/>
          </a:solidFill>
          <a:ln w="15875">
            <a:solidFill>
              <a:srgbClr val="00A86A"/>
            </a:solidFill>
            <a:prstDash val="solid"/>
          </a:ln>
        </p:spPr>
      </p:sp>
      <p:sp>
        <p:nvSpPr>
          <p:cNvPr id="24" name="Text 21"/>
          <p:cNvSpPr txBox="1"/>
          <p:nvPr/>
        </p:nvSpPr>
        <p:spPr>
          <a:xfrm>
            <a:off x="2240280" y="184708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1992 – 2013 (archive)</a:t>
            </a:r>
            <a:endParaRPr lang="en-US" sz="900" dirty="0"/>
          </a:p>
        </p:txBody>
      </p:sp>
      <p:sp>
        <p:nvSpPr>
          <p:cNvPr id="25" name="Text 22"/>
          <p:cNvSpPr txBox="1"/>
          <p:nvPr/>
        </p:nvSpPr>
        <p:spPr>
          <a:xfrm>
            <a:off x="5532120" y="184708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2012 – aujourd’hui (référence)</a:t>
            </a:r>
            <a:endParaRPr lang="en-US" sz="900" dirty="0"/>
          </a:p>
        </p:txBody>
      </p:sp>
      <p:sp>
        <p:nvSpPr>
          <p:cNvPr id="26" name="Text 23"/>
          <p:cNvSpPr txBox="1"/>
          <p:nvPr/>
        </p:nvSpPr>
        <p:spPr>
          <a:xfrm>
            <a:off x="457200" y="221284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Radiométrie</a:t>
            </a:r>
            <a:endParaRPr lang="en-US" sz="1100" dirty="0"/>
          </a:p>
        </p:txBody>
      </p:sp>
      <p:sp>
        <p:nvSpPr>
          <p:cNvPr id="27" name="Shape 24"/>
          <p:cNvSpPr/>
          <p:nvPr/>
        </p:nvSpPr>
        <p:spPr>
          <a:xfrm>
            <a:off x="2148840" y="2212848"/>
            <a:ext cx="3154680" cy="310896"/>
          </a:xfrm>
          <a:prstGeom prst="roundRect">
            <a:avLst>
              <a:gd name="adj" fmla="val 14706"/>
            </a:avLst>
          </a:prstGeom>
          <a:solidFill>
            <a:srgbClr val="F4F7F5"/>
          </a:solidFill>
          <a:ln w="9525">
            <a:solidFill>
              <a:srgbClr val="D5DED9"/>
            </a:solidFill>
            <a:prstDash val="solid"/>
          </a:ln>
        </p:spPr>
      </p:sp>
      <p:sp>
        <p:nvSpPr>
          <p:cNvPr id="28" name="Shape 25"/>
          <p:cNvSpPr/>
          <p:nvPr/>
        </p:nvSpPr>
        <p:spPr>
          <a:xfrm>
            <a:off x="5440680" y="2212848"/>
            <a:ext cx="3246120" cy="310896"/>
          </a:xfrm>
          <a:prstGeom prst="roundRect">
            <a:avLst>
              <a:gd name="adj" fmla="val 14706"/>
            </a:avLst>
          </a:prstGeom>
          <a:solidFill>
            <a:srgbClr val="E8F5EF"/>
          </a:solidFill>
          <a:ln w="15875">
            <a:solidFill>
              <a:srgbClr val="00A86A"/>
            </a:solidFill>
            <a:prstDash val="solid"/>
          </a:ln>
        </p:spPr>
      </p:sp>
      <p:sp>
        <p:nvSpPr>
          <p:cNvPr id="29" name="Text 26"/>
          <p:cNvSpPr txBox="1"/>
          <p:nvPr/>
        </p:nvSpPr>
        <p:spPr>
          <a:xfrm>
            <a:off x="2240280" y="221284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Nombres numériques 6 bits (0–63), sans étalonnage à bord</a:t>
            </a:r>
            <a:endParaRPr lang="en-US" sz="900" dirty="0"/>
          </a:p>
        </p:txBody>
      </p:sp>
      <p:sp>
        <p:nvSpPr>
          <p:cNvPr id="30" name="Text 27"/>
          <p:cNvSpPr txBox="1"/>
          <p:nvPr/>
        </p:nvSpPr>
        <p:spPr>
          <a:xfrm>
            <a:off x="5532120" y="221284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14 bits, radiance étalonnée en nW·cm⁻²·sr⁻¹</a:t>
            </a:r>
            <a:endParaRPr lang="en-US" sz="900" dirty="0"/>
          </a:p>
        </p:txBody>
      </p:sp>
      <p:sp>
        <p:nvSpPr>
          <p:cNvPr id="31" name="Text 28"/>
          <p:cNvSpPr txBox="1"/>
          <p:nvPr/>
        </p:nvSpPr>
        <p:spPr>
          <a:xfrm>
            <a:off x="457200" y="257860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Résolution</a:t>
            </a:r>
            <a:endParaRPr lang="en-US" sz="1100" dirty="0"/>
          </a:p>
        </p:txBody>
      </p:sp>
      <p:sp>
        <p:nvSpPr>
          <p:cNvPr id="32" name="Shape 29"/>
          <p:cNvSpPr/>
          <p:nvPr/>
        </p:nvSpPr>
        <p:spPr>
          <a:xfrm>
            <a:off x="2148840" y="2578608"/>
            <a:ext cx="3154680" cy="310896"/>
          </a:xfrm>
          <a:prstGeom prst="roundRect">
            <a:avLst>
              <a:gd name="adj" fmla="val 14706"/>
            </a:avLst>
          </a:prstGeom>
          <a:solidFill>
            <a:srgbClr val="F4F7F5"/>
          </a:solidFill>
          <a:ln w="9525">
            <a:solidFill>
              <a:srgbClr val="D5DED9"/>
            </a:solidFill>
            <a:prstDash val="solid"/>
          </a:ln>
        </p:spPr>
      </p:sp>
      <p:sp>
        <p:nvSpPr>
          <p:cNvPr id="33" name="Shape 30"/>
          <p:cNvSpPr/>
          <p:nvPr/>
        </p:nvSpPr>
        <p:spPr>
          <a:xfrm>
            <a:off x="5440680" y="2578608"/>
            <a:ext cx="3246120" cy="310896"/>
          </a:xfrm>
          <a:prstGeom prst="roundRect">
            <a:avLst>
              <a:gd name="adj" fmla="val 14706"/>
            </a:avLst>
          </a:prstGeom>
          <a:solidFill>
            <a:srgbClr val="E8F5EF"/>
          </a:solidFill>
          <a:ln w="15875">
            <a:solidFill>
              <a:srgbClr val="00A86A"/>
            </a:solidFill>
            <a:prstDash val="solid"/>
          </a:ln>
        </p:spPr>
      </p:sp>
      <p:sp>
        <p:nvSpPr>
          <p:cNvPr id="34" name="Text 31"/>
          <p:cNvSpPr txBox="1"/>
          <p:nvPr/>
        </p:nvSpPr>
        <p:spPr>
          <a:xfrm>
            <a:off x="2240280" y="257860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 2,7 km, grille à 30 secondes d’arc (≈ 1 km)</a:t>
            </a:r>
            <a:endParaRPr lang="en-US" sz="900" dirty="0"/>
          </a:p>
        </p:txBody>
      </p:sp>
      <p:sp>
        <p:nvSpPr>
          <p:cNvPr id="35" name="Text 32"/>
          <p:cNvSpPr txBox="1"/>
          <p:nvPr/>
        </p:nvSpPr>
        <p:spPr>
          <a:xfrm>
            <a:off x="5532120" y="257860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500 m, quasi constante sur la fauchée</a:t>
            </a:r>
            <a:endParaRPr lang="en-US" sz="900" dirty="0"/>
          </a:p>
        </p:txBody>
      </p:sp>
      <p:sp>
        <p:nvSpPr>
          <p:cNvPr id="36" name="Text 33"/>
          <p:cNvSpPr txBox="1"/>
          <p:nvPr/>
        </p:nvSpPr>
        <p:spPr>
          <a:xfrm>
            <a:off x="457200" y="294436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Saturation</a:t>
            </a:r>
            <a:endParaRPr lang="en-US" sz="1100" dirty="0"/>
          </a:p>
        </p:txBody>
      </p:sp>
      <p:sp>
        <p:nvSpPr>
          <p:cNvPr id="37" name="Shape 34"/>
          <p:cNvSpPr/>
          <p:nvPr/>
        </p:nvSpPr>
        <p:spPr>
          <a:xfrm>
            <a:off x="2148840" y="2944368"/>
            <a:ext cx="3154680" cy="310896"/>
          </a:xfrm>
          <a:prstGeom prst="roundRect">
            <a:avLst>
              <a:gd name="adj" fmla="val 14706"/>
            </a:avLst>
          </a:prstGeom>
          <a:solidFill>
            <a:srgbClr val="F4F7F5"/>
          </a:solidFill>
          <a:ln w="9525">
            <a:solidFill>
              <a:srgbClr val="D5DED9"/>
            </a:solidFill>
            <a:prstDash val="solid"/>
          </a:ln>
        </p:spPr>
      </p:sp>
      <p:sp>
        <p:nvSpPr>
          <p:cNvPr id="38" name="Shape 35"/>
          <p:cNvSpPr/>
          <p:nvPr/>
        </p:nvSpPr>
        <p:spPr>
          <a:xfrm>
            <a:off x="5440680" y="2944368"/>
            <a:ext cx="3246120" cy="310896"/>
          </a:xfrm>
          <a:prstGeom prst="roundRect">
            <a:avLst>
              <a:gd name="adj" fmla="val 14706"/>
            </a:avLst>
          </a:prstGeom>
          <a:solidFill>
            <a:srgbClr val="E8F5EF"/>
          </a:solidFill>
          <a:ln w="15875">
            <a:solidFill>
              <a:srgbClr val="00A86A"/>
            </a:solidFill>
            <a:prstDash val="solid"/>
          </a:ln>
        </p:spPr>
      </p:sp>
      <p:sp>
        <p:nvSpPr>
          <p:cNvPr id="39" name="Text 36"/>
          <p:cNvSpPr txBox="1"/>
          <p:nvPr/>
        </p:nvSpPr>
        <p:spPr>
          <a:xfrm>
            <a:off x="2240280" y="294436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Les centres-villes plafonnent à 63</a:t>
            </a:r>
            <a:endParaRPr lang="en-US" sz="900" dirty="0"/>
          </a:p>
        </p:txBody>
      </p:sp>
      <p:sp>
        <p:nvSpPr>
          <p:cNvPr id="40" name="Text 37"/>
          <p:cNvSpPr txBox="1"/>
          <p:nvPr/>
        </p:nvSpPr>
        <p:spPr>
          <a:xfrm>
            <a:off x="5532120" y="294436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Grande dynamique, trois étages de gain</a:t>
            </a:r>
            <a:endParaRPr lang="en-US" sz="900" dirty="0"/>
          </a:p>
        </p:txBody>
      </p:sp>
      <p:sp>
        <p:nvSpPr>
          <p:cNvPr id="41" name="Text 38"/>
          <p:cNvSpPr txBox="1"/>
          <p:nvPr/>
        </p:nvSpPr>
        <p:spPr>
          <a:xfrm>
            <a:off x="457200" y="331012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Sensibilité</a:t>
            </a:r>
            <a:endParaRPr lang="en-US" sz="1100" dirty="0"/>
          </a:p>
        </p:txBody>
      </p:sp>
      <p:sp>
        <p:nvSpPr>
          <p:cNvPr id="42" name="Shape 39"/>
          <p:cNvSpPr/>
          <p:nvPr/>
        </p:nvSpPr>
        <p:spPr>
          <a:xfrm>
            <a:off x="2148840" y="3310128"/>
            <a:ext cx="3154680" cy="310896"/>
          </a:xfrm>
          <a:prstGeom prst="roundRect">
            <a:avLst>
              <a:gd name="adj" fmla="val 14706"/>
            </a:avLst>
          </a:prstGeom>
          <a:solidFill>
            <a:srgbClr val="F4F7F5"/>
          </a:solidFill>
          <a:ln w="9525">
            <a:solidFill>
              <a:srgbClr val="D5DED9"/>
            </a:solidFill>
            <a:prstDash val="solid"/>
          </a:ln>
        </p:spPr>
      </p:sp>
      <p:sp>
        <p:nvSpPr>
          <p:cNvPr id="43" name="Shape 40"/>
          <p:cNvSpPr/>
          <p:nvPr/>
        </p:nvSpPr>
        <p:spPr>
          <a:xfrm>
            <a:off x="5440680" y="3310128"/>
            <a:ext cx="3246120" cy="310896"/>
          </a:xfrm>
          <a:prstGeom prst="roundRect">
            <a:avLst>
              <a:gd name="adj" fmla="val 14706"/>
            </a:avLst>
          </a:prstGeom>
          <a:solidFill>
            <a:srgbClr val="E8F5EF"/>
          </a:solidFill>
          <a:ln w="15875">
            <a:solidFill>
              <a:srgbClr val="00A86A"/>
            </a:solidFill>
            <a:prstDash val="solid"/>
          </a:ln>
        </p:spPr>
      </p:sp>
      <p:sp>
        <p:nvSpPr>
          <p:cNvPr id="44" name="Text 41"/>
          <p:cNvSpPr txBox="1"/>
          <p:nvPr/>
        </p:nvSpPr>
        <p:spPr>
          <a:xfrm>
            <a:off x="2240280" y="331012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Manque l’éclairage rural faible</a:t>
            </a:r>
            <a:endParaRPr lang="en-US" sz="900" dirty="0"/>
          </a:p>
        </p:txBody>
      </p:sp>
      <p:sp>
        <p:nvSpPr>
          <p:cNvPr id="45" name="Text 42"/>
          <p:cNvSpPr txBox="1"/>
          <p:nvPr/>
        </p:nvSpPr>
        <p:spPr>
          <a:xfrm>
            <a:off x="5532120" y="331012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Détecte une lumière bien plus faible</a:t>
            </a:r>
            <a:endParaRPr lang="en-US" sz="900" dirty="0"/>
          </a:p>
        </p:txBody>
      </p:sp>
      <p:sp>
        <p:nvSpPr>
          <p:cNvPr id="46" name="Text 43"/>
          <p:cNvSpPr txBox="1"/>
          <p:nvPr/>
        </p:nvSpPr>
        <p:spPr>
          <a:xfrm>
            <a:off x="457200" y="3675888"/>
            <a:ext cx="1600200" cy="310896"/>
          </a:xfrm>
          <a:prstGeom prst="rect">
            <a:avLst/>
          </a:prstGeom>
          <a:noFill/>
          <a:ln/>
        </p:spPr>
        <p:txBody>
          <a:bodyPr wrap="square" lIns="0" tIns="0" rIns="0" bIns="0" rtlCol="0" anchor="ctr"/>
          <a:lstStyle/>
          <a:p>
            <a:pPr marL="0" indent="0">
              <a:buNone/>
            </a:pPr>
            <a:r>
              <a:rPr lang="en-US" sz="1100" b="1" dirty="0">
                <a:solidFill>
                  <a:srgbClr val="00704A"/>
                </a:solidFill>
                <a:latin typeface="Calibri" pitchFamily="34" charset="0"/>
                <a:ea typeface="Calibri" pitchFamily="34" charset="-122"/>
                <a:cs typeface="Calibri" pitchFamily="34" charset="-120"/>
              </a:rPr>
              <a:t>Produits</a:t>
            </a:r>
            <a:endParaRPr lang="en-US" sz="1100" dirty="0"/>
          </a:p>
        </p:txBody>
      </p:sp>
      <p:sp>
        <p:nvSpPr>
          <p:cNvPr id="47" name="Shape 44"/>
          <p:cNvSpPr/>
          <p:nvPr/>
        </p:nvSpPr>
        <p:spPr>
          <a:xfrm>
            <a:off x="2148840" y="3675888"/>
            <a:ext cx="3154680" cy="310896"/>
          </a:xfrm>
          <a:prstGeom prst="roundRect">
            <a:avLst>
              <a:gd name="adj" fmla="val 14706"/>
            </a:avLst>
          </a:prstGeom>
          <a:solidFill>
            <a:srgbClr val="F4F7F5"/>
          </a:solidFill>
          <a:ln w="9525">
            <a:solidFill>
              <a:srgbClr val="D5DED9"/>
            </a:solidFill>
            <a:prstDash val="solid"/>
          </a:ln>
        </p:spPr>
      </p:sp>
      <p:sp>
        <p:nvSpPr>
          <p:cNvPr id="48" name="Shape 45"/>
          <p:cNvSpPr/>
          <p:nvPr/>
        </p:nvSpPr>
        <p:spPr>
          <a:xfrm>
            <a:off x="5440680" y="3675888"/>
            <a:ext cx="3246120" cy="310896"/>
          </a:xfrm>
          <a:prstGeom prst="roundRect">
            <a:avLst>
              <a:gd name="adj" fmla="val 14706"/>
            </a:avLst>
          </a:prstGeom>
          <a:solidFill>
            <a:srgbClr val="E8F5EF"/>
          </a:solidFill>
          <a:ln w="15875">
            <a:solidFill>
              <a:srgbClr val="00A86A"/>
            </a:solidFill>
            <a:prstDash val="solid"/>
          </a:ln>
        </p:spPr>
      </p:sp>
      <p:sp>
        <p:nvSpPr>
          <p:cNvPr id="49" name="Text 46"/>
          <p:cNvSpPr txBox="1"/>
          <p:nvPr/>
        </p:nvSpPr>
        <p:spPr>
          <a:xfrm>
            <a:off x="2240280" y="3675888"/>
            <a:ext cx="301752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Composites annuels uniquement</a:t>
            </a:r>
            <a:endParaRPr lang="en-US" sz="900" dirty="0"/>
          </a:p>
        </p:txBody>
      </p:sp>
      <p:sp>
        <p:nvSpPr>
          <p:cNvPr id="50" name="Text 47"/>
          <p:cNvSpPr txBox="1"/>
          <p:nvPr/>
        </p:nvSpPr>
        <p:spPr>
          <a:xfrm>
            <a:off x="5532120" y="3675888"/>
            <a:ext cx="3108960" cy="310896"/>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Quotidiens, mensuels, annuels — licence ouverte</a:t>
            </a:r>
            <a:endParaRPr lang="en-US" sz="900" dirty="0"/>
          </a:p>
        </p:txBody>
      </p:sp>
      <p:sp>
        <p:nvSpPr>
          <p:cNvPr id="51" name="Shape 48"/>
          <p:cNvSpPr/>
          <p:nvPr/>
        </p:nvSpPr>
        <p:spPr>
          <a:xfrm>
            <a:off x="457200" y="4114800"/>
            <a:ext cx="8229600" cy="457200"/>
          </a:xfrm>
          <a:prstGeom prst="roundRect">
            <a:avLst>
              <a:gd name="adj" fmla="val 16000"/>
            </a:avLst>
          </a:prstGeom>
          <a:solidFill>
            <a:srgbClr val="F4F7F5"/>
          </a:solidFill>
          <a:ln w="9525">
            <a:solidFill>
              <a:srgbClr val="D5DED9"/>
            </a:solidFill>
            <a:prstDash val="solid"/>
          </a:ln>
        </p:spPr>
      </p:sp>
      <p:sp>
        <p:nvSpPr>
          <p:cNvPr id="52" name="Shape 49"/>
          <p:cNvSpPr/>
          <p:nvPr/>
        </p:nvSpPr>
        <p:spPr>
          <a:xfrm>
            <a:off x="548640" y="4169664"/>
            <a:ext cx="347472" cy="347472"/>
          </a:xfrm>
          <a:prstGeom prst="ellipse">
            <a:avLst/>
          </a:prstGeom>
          <a:solidFill>
            <a:srgbClr val="D49A00">
              <a:alpha val="22000"/>
            </a:srgbClr>
          </a:solidFill>
          <a:ln w="12700">
            <a:solidFill>
              <a:srgbClr val="D49A00">
                <a:alpha val="0"/>
              </a:srgbClr>
            </a:solidFill>
            <a:prstDash val="solid"/>
          </a:ln>
        </p:spPr>
      </p:sp>
      <p:pic>
        <p:nvPicPr>
          <p:cNvPr id="53" name="Image 0" descr="preencoded.png"/>
          <p:cNvPicPr>
            <a:picLocks noChangeAspect="1"/>
          </p:cNvPicPr>
          <p:nvPr/>
        </p:nvPicPr>
        <p:blipFill>
          <a:blip r:embed="rId3"/>
          <a:stretch>
            <a:fillRect/>
          </a:stretch>
        </p:blipFill>
        <p:spPr>
          <a:xfrm>
            <a:off x="638983" y="4260007"/>
            <a:ext cx="166787" cy="166787"/>
          </a:xfrm>
          <a:prstGeom prst="rect">
            <a:avLst/>
          </a:prstGeom>
        </p:spPr>
      </p:pic>
      <p:sp>
        <p:nvSpPr>
          <p:cNvPr id="54" name="Text 50"/>
          <p:cNvSpPr txBox="1"/>
          <p:nvPr/>
        </p:nvSpPr>
        <p:spPr>
          <a:xfrm>
            <a:off x="1005840" y="4133088"/>
            <a:ext cx="7589520" cy="420624"/>
          </a:xfrm>
          <a:prstGeom prst="rect">
            <a:avLst/>
          </a:prstGeom>
          <a:noFill/>
          <a:ln/>
        </p:spPr>
        <p:txBody>
          <a:bodyPr wrap="square" lIns="0" tIns="0" rIns="0" bIns="0" rtlCol="0" anchor="ctr"/>
          <a:lstStyle/>
          <a:p>
            <a:pPr marL="0" indent="0">
              <a:buNone/>
            </a:pPr>
            <a:r>
              <a:rPr lang="en-US" sz="950" b="1" dirty="0">
                <a:solidFill>
                  <a:srgbClr val="D49A00"/>
                </a:solidFill>
                <a:latin typeface="Calibri" pitchFamily="34" charset="0"/>
                <a:ea typeface="Calibri" pitchFamily="34" charset="-122"/>
                <a:cs typeface="Calibri" pitchFamily="34" charset="-120"/>
              </a:rPr>
              <a:t>Nouvelle génération : </a:t>
            </a:r>
            <a:r>
              <a:rPr lang="en-US" sz="950" dirty="0">
                <a:solidFill>
                  <a:srgbClr val="231F20"/>
                </a:solidFill>
                <a:latin typeface="Calibri" pitchFamily="34" charset="0"/>
                <a:ea typeface="Calibri" pitchFamily="34" charset="-122"/>
                <a:cs typeface="Calibri" pitchFamily="34" charset="-120"/>
              </a:rPr>
              <a:t>Luojia-1-01 (≈ 130 m), SDGSAT-1 Glimmer (10 m panchromatique, 40 m couleur) et les constellations commerciales distinguent les rues et les types de lampes par leur couleur.</a:t>
            </a:r>
            <a:endParaRPr lang="en-US" sz="9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02 · LES INSTRUMENTS · DYNAMIQUE DE MESURE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plus lumineux, le moins informatif</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00704A"/>
          </a:solidFill>
          <a:ln w="12700">
            <a:solidFill>
              <a:srgbClr val="00704A"/>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12</a:t>
            </a:r>
            <a:endParaRPr lang="en-US" sz="850" dirty="0"/>
          </a:p>
        </p:txBody>
      </p:sp>
      <p:sp>
        <p:nvSpPr>
          <p:cNvPr id="17" name="Shape 14"/>
          <p:cNvSpPr/>
          <p:nvPr/>
        </p:nvSpPr>
        <p:spPr>
          <a:xfrm>
            <a:off x="457200" y="1371600"/>
            <a:ext cx="384048" cy="384048"/>
          </a:xfrm>
          <a:prstGeom prst="ellipse">
            <a:avLst/>
          </a:prstGeom>
          <a:solidFill>
            <a:srgbClr val="00704A">
              <a:alpha val="22000"/>
            </a:srgbClr>
          </a:solidFill>
          <a:ln w="12700">
            <a:solidFill>
              <a:srgbClr val="00704A">
                <a:alpha val="0"/>
              </a:srgbClr>
            </a:solidFill>
            <a:prstDash val="solid"/>
          </a:ln>
        </p:spPr>
      </p:sp>
      <p:pic>
        <p:nvPicPr>
          <p:cNvPr id="18" name="Image 0" descr="preencoded.png"/>
          <p:cNvPicPr>
            <a:picLocks noChangeAspect="1"/>
          </p:cNvPicPr>
          <p:nvPr/>
        </p:nvPicPr>
        <p:blipFill>
          <a:blip r:embed="rId3"/>
          <a:stretch>
            <a:fillRect/>
          </a:stretch>
        </p:blipFill>
        <p:spPr>
          <a:xfrm>
            <a:off x="557052" y="1471452"/>
            <a:ext cx="184343" cy="184343"/>
          </a:xfrm>
          <a:prstGeom prst="rect">
            <a:avLst/>
          </a:prstGeom>
        </p:spPr>
      </p:pic>
      <p:sp>
        <p:nvSpPr>
          <p:cNvPr id="19" name="Text 15"/>
          <p:cNvSpPr txBox="1"/>
          <p:nvPr/>
        </p:nvSpPr>
        <p:spPr>
          <a:xfrm>
            <a:off x="960120" y="1316736"/>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Au-delà d’une certaine luminosité, le DMSP renvoie 63 : banlieue et centre-ville deviennent identiques.</a:t>
            </a:r>
            <a:endParaRPr lang="en-US" sz="1000" dirty="0"/>
          </a:p>
        </p:txBody>
      </p:sp>
      <p:sp>
        <p:nvSpPr>
          <p:cNvPr id="20" name="Shape 16"/>
          <p:cNvSpPr/>
          <p:nvPr/>
        </p:nvSpPr>
        <p:spPr>
          <a:xfrm>
            <a:off x="457200" y="2029968"/>
            <a:ext cx="384048" cy="384048"/>
          </a:xfrm>
          <a:prstGeom prst="ellipse">
            <a:avLst/>
          </a:prstGeom>
          <a:solidFill>
            <a:srgbClr val="00704A">
              <a:alpha val="22000"/>
            </a:srgbClr>
          </a:solidFill>
          <a:ln w="12700">
            <a:solidFill>
              <a:srgbClr val="00704A">
                <a:alpha val="0"/>
              </a:srgbClr>
            </a:solidFill>
            <a:prstDash val="solid"/>
          </a:ln>
        </p:spPr>
      </p:sp>
      <p:pic>
        <p:nvPicPr>
          <p:cNvPr id="21" name="Image 1" descr="preencoded.png"/>
          <p:cNvPicPr>
            <a:picLocks noChangeAspect="1"/>
          </p:cNvPicPr>
          <p:nvPr/>
        </p:nvPicPr>
        <p:blipFill>
          <a:blip r:embed="rId4"/>
          <a:stretch>
            <a:fillRect/>
          </a:stretch>
        </p:blipFill>
        <p:spPr>
          <a:xfrm>
            <a:off x="557052" y="2129820"/>
            <a:ext cx="184343" cy="184343"/>
          </a:xfrm>
          <a:prstGeom prst="rect">
            <a:avLst/>
          </a:prstGeom>
        </p:spPr>
      </p:pic>
      <p:sp>
        <p:nvSpPr>
          <p:cNvPr id="22" name="Text 17"/>
          <p:cNvSpPr txBox="1"/>
          <p:nvPr/>
        </p:nvSpPr>
        <p:spPr>
          <a:xfrm>
            <a:off x="960120" y="1975104"/>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VIIRS couvre environ sept ordres de grandeur, avec trois étages de gain commutables.</a:t>
            </a:r>
            <a:endParaRPr lang="en-US" sz="1000" dirty="0"/>
          </a:p>
        </p:txBody>
      </p:sp>
      <p:sp>
        <p:nvSpPr>
          <p:cNvPr id="23" name="Shape 18"/>
          <p:cNvSpPr/>
          <p:nvPr/>
        </p:nvSpPr>
        <p:spPr>
          <a:xfrm>
            <a:off x="457200" y="2688336"/>
            <a:ext cx="384048" cy="384048"/>
          </a:xfrm>
          <a:prstGeom prst="ellipse">
            <a:avLst/>
          </a:prstGeom>
          <a:solidFill>
            <a:srgbClr val="00704A">
              <a:alpha val="22000"/>
            </a:srgbClr>
          </a:solidFill>
          <a:ln w="12700">
            <a:solidFill>
              <a:srgbClr val="00704A">
                <a:alpha val="0"/>
              </a:srgbClr>
            </a:solidFill>
            <a:prstDash val="solid"/>
          </a:ln>
        </p:spPr>
      </p:sp>
      <p:pic>
        <p:nvPicPr>
          <p:cNvPr id="24" name="Image 2" descr="preencoded.png"/>
          <p:cNvPicPr>
            <a:picLocks noChangeAspect="1"/>
          </p:cNvPicPr>
          <p:nvPr/>
        </p:nvPicPr>
        <p:blipFill>
          <a:blip r:embed="rId5"/>
          <a:stretch>
            <a:fillRect/>
          </a:stretch>
        </p:blipFill>
        <p:spPr>
          <a:xfrm>
            <a:off x="557052" y="2788188"/>
            <a:ext cx="184343" cy="184343"/>
          </a:xfrm>
          <a:prstGeom prst="rect">
            <a:avLst/>
          </a:prstGeom>
        </p:spPr>
      </p:pic>
      <p:sp>
        <p:nvSpPr>
          <p:cNvPr id="25" name="Text 19"/>
          <p:cNvSpPr txBox="1"/>
          <p:nvPr/>
        </p:nvSpPr>
        <p:spPr>
          <a:xfrm>
            <a:off x="960120" y="2633472"/>
            <a:ext cx="3291840" cy="548640"/>
          </a:xfrm>
          <a:prstGeom prst="rect">
            <a:avLst/>
          </a:prstGeom>
          <a:noFill/>
          <a:ln/>
        </p:spPr>
        <p:txBody>
          <a:bodyPr wrap="square" lIns="0" tIns="0" rIns="0" bIns="0" rtlCol="0" anchor="ctr"/>
          <a:lstStyle/>
          <a:p>
            <a:pPr marL="0" indent="0">
              <a:buNone/>
            </a:pPr>
            <a:r>
              <a:rPr lang="en-US" sz="1000" dirty="0">
                <a:solidFill>
                  <a:srgbClr val="231F20"/>
                </a:solidFill>
                <a:latin typeface="Calibri" pitchFamily="34" charset="0"/>
                <a:ea typeface="Calibri" pitchFamily="34" charset="-122"/>
                <a:cs typeface="Calibri" pitchFamily="34" charset="-120"/>
              </a:rPr>
              <a:t>Son faible bruit de fond rend visible un seul bateau de pêche éclairé sur un lac ou un océan sombre.</a:t>
            </a:r>
            <a:endParaRPr lang="en-US" sz="1000" dirty="0"/>
          </a:p>
        </p:txBody>
      </p:sp>
      <p:sp>
        <p:nvSpPr>
          <p:cNvPr id="26" name="Shape 20"/>
          <p:cNvSpPr/>
          <p:nvPr/>
        </p:nvSpPr>
        <p:spPr>
          <a:xfrm>
            <a:off x="457200" y="3429000"/>
            <a:ext cx="3749040" cy="1097280"/>
          </a:xfrm>
          <a:prstGeom prst="roundRect">
            <a:avLst>
              <a:gd name="adj" fmla="val 6667"/>
            </a:avLst>
          </a:prstGeom>
          <a:solidFill>
            <a:srgbClr val="D49A00">
              <a:alpha val="13000"/>
            </a:srgbClr>
          </a:solidFill>
          <a:ln w="12700">
            <a:solidFill>
              <a:srgbClr val="D49A00"/>
            </a:solidFill>
            <a:prstDash val="solid"/>
          </a:ln>
        </p:spPr>
      </p:sp>
      <p:sp>
        <p:nvSpPr>
          <p:cNvPr id="27" name="Shape 21"/>
          <p:cNvSpPr/>
          <p:nvPr/>
        </p:nvSpPr>
        <p:spPr>
          <a:xfrm>
            <a:off x="566928" y="3538728"/>
            <a:ext cx="384048" cy="384048"/>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icPr>
            <a:picLocks noChangeAspect="1"/>
          </p:cNvPicPr>
          <p:nvPr/>
        </p:nvPicPr>
        <p:blipFill>
          <a:blip r:embed="rId6"/>
          <a:stretch>
            <a:fillRect/>
          </a:stretch>
        </p:blipFill>
        <p:spPr>
          <a:xfrm>
            <a:off x="666780" y="3638580"/>
            <a:ext cx="184343" cy="184343"/>
          </a:xfrm>
          <a:prstGeom prst="rect">
            <a:avLst/>
          </a:prstGeom>
        </p:spPr>
      </p:pic>
      <p:sp>
        <p:nvSpPr>
          <p:cNvPr id="29" name="Text 22"/>
          <p:cNvSpPr txBox="1"/>
          <p:nvPr/>
        </p:nvSpPr>
        <p:spPr>
          <a:xfrm>
            <a:off x="1051560" y="3538728"/>
            <a:ext cx="301752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À lire avant toute régression</a:t>
            </a:r>
            <a:endParaRPr lang="en-US" sz="1200" dirty="0"/>
          </a:p>
        </p:txBody>
      </p:sp>
      <p:sp>
        <p:nvSpPr>
          <p:cNvPr id="30" name="Text 23"/>
          <p:cNvSpPr txBox="1"/>
          <p:nvPr/>
        </p:nvSpPr>
        <p:spPr>
          <a:xfrm>
            <a:off x="1051560" y="3785616"/>
            <a:ext cx="3090672" cy="7132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La saturation est un plafond, pas un bruit qu’on moyenne. L’information n’a jamais été enregistrée — la corriger revient à modéliser ce que le capteur n’a pas vu.</a:t>
            </a:r>
            <a:endParaRPr lang="en-US" sz="950" dirty="0"/>
          </a:p>
        </p:txBody>
      </p:sp>
      <p:graphicFrame>
        <p:nvGraphicFramePr>
          <p:cNvPr id="31" name="Chart 0"/>
          <p:cNvGraphicFramePr/>
          <p:nvPr/>
        </p:nvGraphicFramePr>
        <p:xfrm>
          <a:off x="4480560" y="1325880"/>
          <a:ext cx="4206240" cy="3063240"/>
        </p:xfrm>
        <a:graphic>
          <a:graphicData uri="http://schemas.openxmlformats.org/drawingml/2006/chart">
            <c:chart xmlns:c="http://schemas.openxmlformats.org/drawingml/2006/chart" xmlns:r="http://schemas.openxmlformats.org/officeDocument/2006/relationships" r:id="rId7"/>
          </a:graphicData>
        </a:graphic>
      </p:graphicFrame>
      <p:sp>
        <p:nvSpPr>
          <p:cNvPr id="32" name="Text 24"/>
          <p:cNvSpPr txBox="1"/>
          <p:nvPr/>
        </p:nvSpPr>
        <p:spPr>
          <a:xfrm>
            <a:off x="4480560" y="4434840"/>
            <a:ext cx="420624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Illustration schématique — données non ajustées. Plage VIIRS d’après Elvidge et al. (2017).</a:t>
            </a:r>
            <a:endParaRPr lang="en-US" sz="9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3</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03</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Des photons aux données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Comment une nuit d’observations devient-elle un chiffre publiable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Traitement  ·  Produits  ·  Ce qui brille  ·  Indicateurs  ·  Exemple</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5C242"/>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MÉTHODE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Comment on fabrique une image nocturne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14</a:t>
            </a:r>
            <a:endParaRPr lang="en-US" sz="850" dirty="0"/>
          </a:p>
        </p:txBody>
      </p:sp>
      <p:sp>
        <p:nvSpPr>
          <p:cNvPr id="17" name="Shape 14"/>
          <p:cNvSpPr/>
          <p:nvPr/>
        </p:nvSpPr>
        <p:spPr>
          <a:xfrm>
            <a:off x="457200" y="1325880"/>
            <a:ext cx="1481328" cy="1920240"/>
          </a:xfrm>
          <a:prstGeom prst="roundRect">
            <a:avLst>
              <a:gd name="adj" fmla="val 4938"/>
            </a:avLst>
          </a:prstGeom>
          <a:solidFill>
            <a:srgbClr val="F4F7F5"/>
          </a:solidFill>
          <a:ln w="9525">
            <a:solidFill>
              <a:srgbClr val="D5DED9"/>
            </a:solidFill>
            <a:prstDash val="solid"/>
          </a:ln>
        </p:spPr>
      </p:sp>
      <p:sp>
        <p:nvSpPr>
          <p:cNvPr id="18" name="Shape 15"/>
          <p:cNvSpPr/>
          <p:nvPr/>
        </p:nvSpPr>
        <p:spPr>
          <a:xfrm>
            <a:off x="923544" y="1444752"/>
            <a:ext cx="548640" cy="548640"/>
          </a:xfrm>
          <a:prstGeom prst="ellipse">
            <a:avLst/>
          </a:prstGeom>
          <a:solidFill>
            <a:srgbClr val="0E7C86">
              <a:alpha val="22000"/>
            </a:srgbClr>
          </a:solidFill>
          <a:ln w="12700">
            <a:solidFill>
              <a:srgbClr val="0E7C86">
                <a:alpha val="0"/>
              </a:srgbClr>
            </a:solidFill>
            <a:prstDash val="solid"/>
          </a:ln>
        </p:spPr>
      </p:sp>
      <p:pic>
        <p:nvPicPr>
          <p:cNvPr id="19" name="Image 0" descr="preencoded.png"/>
          <p:cNvPicPr>
            <a:picLocks noChangeAspect="1"/>
          </p:cNvPicPr>
          <p:nvPr/>
        </p:nvPicPr>
        <p:blipFill>
          <a:blip r:embed="rId3"/>
          <a:stretch>
            <a:fillRect/>
          </a:stretch>
        </p:blipFill>
        <p:spPr>
          <a:xfrm>
            <a:off x="1066190" y="1587398"/>
            <a:ext cx="263347" cy="263347"/>
          </a:xfrm>
          <a:prstGeom prst="rect">
            <a:avLst/>
          </a:prstGeom>
        </p:spPr>
      </p:pic>
      <p:sp>
        <p:nvSpPr>
          <p:cNvPr id="20" name="Shape 16"/>
          <p:cNvSpPr/>
          <p:nvPr/>
        </p:nvSpPr>
        <p:spPr>
          <a:xfrm>
            <a:off x="548640" y="1417320"/>
            <a:ext cx="256032" cy="256032"/>
          </a:xfrm>
          <a:prstGeom prst="ellipse">
            <a:avLst/>
          </a:prstGeom>
          <a:solidFill>
            <a:srgbClr val="0E7C86"/>
          </a:solidFill>
          <a:ln w="12700">
            <a:solidFill>
              <a:srgbClr val="0E7C86"/>
            </a:solidFill>
            <a:prstDash val="solid"/>
          </a:ln>
        </p:spPr>
      </p:sp>
      <p:sp>
        <p:nvSpPr>
          <p:cNvPr id="21" name="Text 17"/>
          <p:cNvSpPr txBox="1"/>
          <p:nvPr/>
        </p:nvSpPr>
        <p:spPr>
          <a:xfrm>
            <a:off x="548640"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2" name="Text 18"/>
          <p:cNvSpPr txBox="1"/>
          <p:nvPr/>
        </p:nvSpPr>
        <p:spPr>
          <a:xfrm>
            <a:off x="530352"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Filtrer les nuages</a:t>
            </a:r>
            <a:endParaRPr lang="en-US" sz="1100" dirty="0"/>
          </a:p>
        </p:txBody>
      </p:sp>
      <p:sp>
        <p:nvSpPr>
          <p:cNvPr id="23" name="Text 19"/>
          <p:cNvSpPr txBox="1"/>
          <p:nvPr/>
        </p:nvSpPr>
        <p:spPr>
          <a:xfrm>
            <a:off x="548640"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Seules les nuits sans nuages entrent dans un composite. Sous les tropiques humides, la plupart peuvent être écartées.</a:t>
            </a:r>
            <a:endParaRPr lang="en-US" sz="900" dirty="0"/>
          </a:p>
        </p:txBody>
      </p:sp>
      <p:sp>
        <p:nvSpPr>
          <p:cNvPr id="24" name="Shape 20"/>
          <p:cNvSpPr/>
          <p:nvPr/>
        </p:nvSpPr>
        <p:spPr>
          <a:xfrm>
            <a:off x="1956816" y="2286000"/>
            <a:ext cx="164592" cy="91"/>
          </a:xfrm>
          <a:prstGeom prst="line">
            <a:avLst/>
          </a:prstGeom>
          <a:noFill/>
          <a:ln w="15875">
            <a:solidFill>
              <a:srgbClr val="5E6964"/>
            </a:solidFill>
            <a:prstDash val="solid"/>
            <a:tailEnd type="triangle"/>
          </a:ln>
        </p:spPr>
      </p:sp>
      <p:sp>
        <p:nvSpPr>
          <p:cNvPr id="25" name="Shape 21"/>
          <p:cNvSpPr/>
          <p:nvPr/>
        </p:nvSpPr>
        <p:spPr>
          <a:xfrm>
            <a:off x="2139696" y="1325880"/>
            <a:ext cx="1481328" cy="1920240"/>
          </a:xfrm>
          <a:prstGeom prst="roundRect">
            <a:avLst>
              <a:gd name="adj" fmla="val 4938"/>
            </a:avLst>
          </a:prstGeom>
          <a:solidFill>
            <a:srgbClr val="F4F7F5"/>
          </a:solidFill>
          <a:ln w="9525">
            <a:solidFill>
              <a:srgbClr val="D5DED9"/>
            </a:solidFill>
            <a:prstDash val="solid"/>
          </a:ln>
        </p:spPr>
      </p:sp>
      <p:sp>
        <p:nvSpPr>
          <p:cNvPr id="26" name="Shape 22"/>
          <p:cNvSpPr/>
          <p:nvPr/>
        </p:nvSpPr>
        <p:spPr>
          <a:xfrm>
            <a:off x="2606040" y="1444752"/>
            <a:ext cx="548640" cy="548640"/>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icPr>
            <a:picLocks noChangeAspect="1"/>
          </p:cNvPicPr>
          <p:nvPr/>
        </p:nvPicPr>
        <p:blipFill>
          <a:blip r:embed="rId4"/>
          <a:stretch>
            <a:fillRect/>
          </a:stretch>
        </p:blipFill>
        <p:spPr>
          <a:xfrm>
            <a:off x="2748686" y="1587398"/>
            <a:ext cx="263347" cy="263347"/>
          </a:xfrm>
          <a:prstGeom prst="rect">
            <a:avLst/>
          </a:prstGeom>
        </p:spPr>
      </p:pic>
      <p:sp>
        <p:nvSpPr>
          <p:cNvPr id="28" name="Shape 23"/>
          <p:cNvSpPr/>
          <p:nvPr/>
        </p:nvSpPr>
        <p:spPr>
          <a:xfrm>
            <a:off x="2231136" y="1417320"/>
            <a:ext cx="256032" cy="256032"/>
          </a:xfrm>
          <a:prstGeom prst="ellipse">
            <a:avLst/>
          </a:prstGeom>
          <a:solidFill>
            <a:srgbClr val="0E7C86"/>
          </a:solidFill>
          <a:ln w="12700">
            <a:solidFill>
              <a:srgbClr val="0E7C86"/>
            </a:solidFill>
            <a:prstDash val="solid"/>
          </a:ln>
        </p:spPr>
      </p:sp>
      <p:sp>
        <p:nvSpPr>
          <p:cNvPr id="29" name="Text 24"/>
          <p:cNvSpPr txBox="1"/>
          <p:nvPr/>
        </p:nvSpPr>
        <p:spPr>
          <a:xfrm>
            <a:off x="2231136"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5"/>
          <p:cNvSpPr txBox="1"/>
          <p:nvPr/>
        </p:nvSpPr>
        <p:spPr>
          <a:xfrm>
            <a:off x="2212848"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Retirer le soleil</a:t>
            </a:r>
            <a:endParaRPr lang="en-US" sz="1100" dirty="0"/>
          </a:p>
        </p:txBody>
      </p:sp>
      <p:sp>
        <p:nvSpPr>
          <p:cNvPr id="31" name="Text 26"/>
          <p:cNvSpPr txBox="1"/>
          <p:nvPr/>
        </p:nvSpPr>
        <p:spPr>
          <a:xfrm>
            <a:off x="2231136"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Crépuscule, reflets et lumière parasite de l’instrument sont corrigés ou exclus.</a:t>
            </a:r>
            <a:endParaRPr lang="en-US" sz="900" dirty="0"/>
          </a:p>
        </p:txBody>
      </p:sp>
      <p:sp>
        <p:nvSpPr>
          <p:cNvPr id="32" name="Shape 27"/>
          <p:cNvSpPr/>
          <p:nvPr/>
        </p:nvSpPr>
        <p:spPr>
          <a:xfrm>
            <a:off x="3639312" y="2286000"/>
            <a:ext cx="164592" cy="91"/>
          </a:xfrm>
          <a:prstGeom prst="line">
            <a:avLst/>
          </a:prstGeom>
          <a:noFill/>
          <a:ln w="15875">
            <a:solidFill>
              <a:srgbClr val="5E6964"/>
            </a:solidFill>
            <a:prstDash val="solid"/>
            <a:tailEnd type="triangle"/>
          </a:ln>
        </p:spPr>
      </p:sp>
      <p:sp>
        <p:nvSpPr>
          <p:cNvPr id="33" name="Shape 28"/>
          <p:cNvSpPr/>
          <p:nvPr/>
        </p:nvSpPr>
        <p:spPr>
          <a:xfrm>
            <a:off x="3822192" y="1325880"/>
            <a:ext cx="1481328" cy="1920240"/>
          </a:xfrm>
          <a:prstGeom prst="roundRect">
            <a:avLst>
              <a:gd name="adj" fmla="val 4938"/>
            </a:avLst>
          </a:prstGeom>
          <a:solidFill>
            <a:srgbClr val="F4F7F5"/>
          </a:solidFill>
          <a:ln w="9525">
            <a:solidFill>
              <a:srgbClr val="D5DED9"/>
            </a:solidFill>
            <a:prstDash val="solid"/>
          </a:ln>
        </p:spPr>
      </p:sp>
      <p:sp>
        <p:nvSpPr>
          <p:cNvPr id="34" name="Shape 29"/>
          <p:cNvSpPr/>
          <p:nvPr/>
        </p:nvSpPr>
        <p:spPr>
          <a:xfrm>
            <a:off x="4288536" y="1444752"/>
            <a:ext cx="548640" cy="548640"/>
          </a:xfrm>
          <a:prstGeom prst="ellipse">
            <a:avLst/>
          </a:prstGeom>
          <a:solidFill>
            <a:srgbClr val="0E7C86">
              <a:alpha val="22000"/>
            </a:srgbClr>
          </a:solidFill>
          <a:ln w="12700">
            <a:solidFill>
              <a:srgbClr val="0E7C86">
                <a:alpha val="0"/>
              </a:srgbClr>
            </a:solidFill>
            <a:prstDash val="solid"/>
          </a:ln>
        </p:spPr>
      </p:sp>
      <p:pic>
        <p:nvPicPr>
          <p:cNvPr id="35" name="Image 2" descr="preencoded.png"/>
          <p:cNvPicPr>
            <a:picLocks noChangeAspect="1"/>
          </p:cNvPicPr>
          <p:nvPr/>
        </p:nvPicPr>
        <p:blipFill>
          <a:blip r:embed="rId5"/>
          <a:stretch>
            <a:fillRect/>
          </a:stretch>
        </p:blipFill>
        <p:spPr>
          <a:xfrm>
            <a:off x="4431182" y="1587398"/>
            <a:ext cx="263347" cy="263347"/>
          </a:xfrm>
          <a:prstGeom prst="rect">
            <a:avLst/>
          </a:prstGeom>
        </p:spPr>
      </p:pic>
      <p:sp>
        <p:nvSpPr>
          <p:cNvPr id="36" name="Shape 30"/>
          <p:cNvSpPr/>
          <p:nvPr/>
        </p:nvSpPr>
        <p:spPr>
          <a:xfrm>
            <a:off x="3913632" y="1417320"/>
            <a:ext cx="256032" cy="256032"/>
          </a:xfrm>
          <a:prstGeom prst="ellipse">
            <a:avLst/>
          </a:prstGeom>
          <a:solidFill>
            <a:srgbClr val="0E7C86"/>
          </a:solidFill>
          <a:ln w="12700">
            <a:solidFill>
              <a:srgbClr val="0E7C86"/>
            </a:solidFill>
            <a:prstDash val="solid"/>
          </a:ln>
        </p:spPr>
      </p:sp>
      <p:sp>
        <p:nvSpPr>
          <p:cNvPr id="37" name="Text 31"/>
          <p:cNvSpPr txBox="1"/>
          <p:nvPr/>
        </p:nvSpPr>
        <p:spPr>
          <a:xfrm>
            <a:off x="3913632"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8" name="Text 32"/>
          <p:cNvSpPr txBox="1"/>
          <p:nvPr/>
        </p:nvSpPr>
        <p:spPr>
          <a:xfrm>
            <a:off x="3895344"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Corriger la Lune</a:t>
            </a:r>
            <a:endParaRPr lang="en-US" sz="1100" dirty="0"/>
          </a:p>
        </p:txBody>
      </p:sp>
      <p:sp>
        <p:nvSpPr>
          <p:cNvPr id="39" name="Text 33"/>
          <p:cNvSpPr txBox="1"/>
          <p:nvPr/>
        </p:nvSpPr>
        <p:spPr>
          <a:xfrm>
            <a:off x="3913632"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 clair de lune réfléchi par le sol imite la lumière émise ; il est modélisé et retiré.</a:t>
            </a:r>
            <a:endParaRPr lang="en-US" sz="900" dirty="0"/>
          </a:p>
        </p:txBody>
      </p:sp>
      <p:sp>
        <p:nvSpPr>
          <p:cNvPr id="40" name="Shape 34"/>
          <p:cNvSpPr/>
          <p:nvPr/>
        </p:nvSpPr>
        <p:spPr>
          <a:xfrm>
            <a:off x="5321808" y="2286000"/>
            <a:ext cx="164592" cy="91"/>
          </a:xfrm>
          <a:prstGeom prst="line">
            <a:avLst/>
          </a:prstGeom>
          <a:noFill/>
          <a:ln w="15875">
            <a:solidFill>
              <a:srgbClr val="5E6964"/>
            </a:solidFill>
            <a:prstDash val="solid"/>
            <a:tailEnd type="triangle"/>
          </a:ln>
        </p:spPr>
      </p:sp>
      <p:sp>
        <p:nvSpPr>
          <p:cNvPr id="41" name="Shape 35"/>
          <p:cNvSpPr/>
          <p:nvPr/>
        </p:nvSpPr>
        <p:spPr>
          <a:xfrm>
            <a:off x="5504688" y="1325880"/>
            <a:ext cx="1481328" cy="1920240"/>
          </a:xfrm>
          <a:prstGeom prst="roundRect">
            <a:avLst>
              <a:gd name="adj" fmla="val 4938"/>
            </a:avLst>
          </a:prstGeom>
          <a:solidFill>
            <a:srgbClr val="F4F7F5"/>
          </a:solidFill>
          <a:ln w="9525">
            <a:solidFill>
              <a:srgbClr val="D5DED9"/>
            </a:solidFill>
            <a:prstDash val="solid"/>
          </a:ln>
        </p:spPr>
      </p:sp>
      <p:sp>
        <p:nvSpPr>
          <p:cNvPr id="42" name="Shape 36"/>
          <p:cNvSpPr/>
          <p:nvPr/>
        </p:nvSpPr>
        <p:spPr>
          <a:xfrm>
            <a:off x="5971032" y="1444752"/>
            <a:ext cx="548640" cy="548640"/>
          </a:xfrm>
          <a:prstGeom prst="ellipse">
            <a:avLst/>
          </a:prstGeom>
          <a:solidFill>
            <a:srgbClr val="0E7C86">
              <a:alpha val="22000"/>
            </a:srgbClr>
          </a:solidFill>
          <a:ln w="12700">
            <a:solidFill>
              <a:srgbClr val="0E7C86">
                <a:alpha val="0"/>
              </a:srgbClr>
            </a:solidFill>
            <a:prstDash val="solid"/>
          </a:ln>
        </p:spPr>
      </p:sp>
      <p:pic>
        <p:nvPicPr>
          <p:cNvPr id="43" name="Image 3" descr="preencoded.png"/>
          <p:cNvPicPr>
            <a:picLocks noChangeAspect="1"/>
          </p:cNvPicPr>
          <p:nvPr/>
        </p:nvPicPr>
        <p:blipFill>
          <a:blip r:embed="rId6"/>
          <a:stretch>
            <a:fillRect/>
          </a:stretch>
        </p:blipFill>
        <p:spPr>
          <a:xfrm>
            <a:off x="6113678" y="1587398"/>
            <a:ext cx="263347" cy="263347"/>
          </a:xfrm>
          <a:prstGeom prst="rect">
            <a:avLst/>
          </a:prstGeom>
        </p:spPr>
      </p:pic>
      <p:sp>
        <p:nvSpPr>
          <p:cNvPr id="44" name="Shape 37"/>
          <p:cNvSpPr/>
          <p:nvPr/>
        </p:nvSpPr>
        <p:spPr>
          <a:xfrm>
            <a:off x="5596128" y="1417320"/>
            <a:ext cx="256032" cy="256032"/>
          </a:xfrm>
          <a:prstGeom prst="ellipse">
            <a:avLst/>
          </a:prstGeom>
          <a:solidFill>
            <a:srgbClr val="0E7C86"/>
          </a:solidFill>
          <a:ln w="12700">
            <a:solidFill>
              <a:srgbClr val="0E7C86"/>
            </a:solidFill>
            <a:prstDash val="solid"/>
          </a:ln>
        </p:spPr>
      </p:sp>
      <p:sp>
        <p:nvSpPr>
          <p:cNvPr id="45" name="Text 38"/>
          <p:cNvSpPr txBox="1"/>
          <p:nvPr/>
        </p:nvSpPr>
        <p:spPr>
          <a:xfrm>
            <a:off x="5596128"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46" name="Text 39"/>
          <p:cNvSpPr txBox="1"/>
          <p:nvPr/>
        </p:nvSpPr>
        <p:spPr>
          <a:xfrm>
            <a:off x="5577840"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Écarter l’éphémère</a:t>
            </a:r>
            <a:endParaRPr lang="en-US" sz="1100" dirty="0"/>
          </a:p>
        </p:txBody>
      </p:sp>
      <p:sp>
        <p:nvSpPr>
          <p:cNvPr id="47" name="Text 40"/>
          <p:cNvSpPr txBox="1"/>
          <p:nvPr/>
        </p:nvSpPr>
        <p:spPr>
          <a:xfrm>
            <a:off x="5596128"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Feux, éclairs, aurores et bateaux sont repérés par leur instabilité.</a:t>
            </a:r>
            <a:endParaRPr lang="en-US" sz="900" dirty="0"/>
          </a:p>
        </p:txBody>
      </p:sp>
      <p:sp>
        <p:nvSpPr>
          <p:cNvPr id="48" name="Shape 41"/>
          <p:cNvSpPr/>
          <p:nvPr/>
        </p:nvSpPr>
        <p:spPr>
          <a:xfrm>
            <a:off x="7004304" y="2286000"/>
            <a:ext cx="164592" cy="91"/>
          </a:xfrm>
          <a:prstGeom prst="line">
            <a:avLst/>
          </a:prstGeom>
          <a:noFill/>
          <a:ln w="15875">
            <a:solidFill>
              <a:srgbClr val="5E6964"/>
            </a:solidFill>
            <a:prstDash val="solid"/>
            <a:tailEnd type="triangle"/>
          </a:ln>
        </p:spPr>
      </p:sp>
      <p:sp>
        <p:nvSpPr>
          <p:cNvPr id="49" name="Shape 42"/>
          <p:cNvSpPr/>
          <p:nvPr/>
        </p:nvSpPr>
        <p:spPr>
          <a:xfrm>
            <a:off x="7187184" y="1325880"/>
            <a:ext cx="1481328" cy="1920240"/>
          </a:xfrm>
          <a:prstGeom prst="roundRect">
            <a:avLst>
              <a:gd name="adj" fmla="val 4938"/>
            </a:avLst>
          </a:prstGeom>
          <a:solidFill>
            <a:srgbClr val="F4F7F5"/>
          </a:solidFill>
          <a:ln w="9525">
            <a:solidFill>
              <a:srgbClr val="D5DED9"/>
            </a:solidFill>
            <a:prstDash val="solid"/>
          </a:ln>
        </p:spPr>
      </p:sp>
      <p:sp>
        <p:nvSpPr>
          <p:cNvPr id="50" name="Shape 43"/>
          <p:cNvSpPr/>
          <p:nvPr/>
        </p:nvSpPr>
        <p:spPr>
          <a:xfrm>
            <a:off x="7653528" y="1444752"/>
            <a:ext cx="548640" cy="548640"/>
          </a:xfrm>
          <a:prstGeom prst="ellipse">
            <a:avLst/>
          </a:prstGeom>
          <a:solidFill>
            <a:srgbClr val="0E7C86">
              <a:alpha val="22000"/>
            </a:srgbClr>
          </a:solidFill>
          <a:ln w="12700">
            <a:solidFill>
              <a:srgbClr val="0E7C86">
                <a:alpha val="0"/>
              </a:srgbClr>
            </a:solidFill>
            <a:prstDash val="solid"/>
          </a:ln>
        </p:spPr>
      </p:sp>
      <p:pic>
        <p:nvPicPr>
          <p:cNvPr id="51" name="Image 4" descr="preencoded.png"/>
          <p:cNvPicPr>
            <a:picLocks noChangeAspect="1"/>
          </p:cNvPicPr>
          <p:nvPr/>
        </p:nvPicPr>
        <p:blipFill>
          <a:blip r:embed="rId7"/>
          <a:stretch>
            <a:fillRect/>
          </a:stretch>
        </p:blipFill>
        <p:spPr>
          <a:xfrm>
            <a:off x="7796174" y="1587398"/>
            <a:ext cx="263347" cy="263347"/>
          </a:xfrm>
          <a:prstGeom prst="rect">
            <a:avLst/>
          </a:prstGeom>
        </p:spPr>
      </p:pic>
      <p:sp>
        <p:nvSpPr>
          <p:cNvPr id="52" name="Shape 44"/>
          <p:cNvSpPr/>
          <p:nvPr/>
        </p:nvSpPr>
        <p:spPr>
          <a:xfrm>
            <a:off x="7278624" y="1417320"/>
            <a:ext cx="256032" cy="256032"/>
          </a:xfrm>
          <a:prstGeom prst="ellipse">
            <a:avLst/>
          </a:prstGeom>
          <a:solidFill>
            <a:srgbClr val="0E7C86"/>
          </a:solidFill>
          <a:ln w="12700">
            <a:solidFill>
              <a:srgbClr val="0E7C86"/>
            </a:solidFill>
            <a:prstDash val="solid"/>
          </a:ln>
        </p:spPr>
      </p:sp>
      <p:sp>
        <p:nvSpPr>
          <p:cNvPr id="53" name="Text 45"/>
          <p:cNvSpPr txBox="1"/>
          <p:nvPr/>
        </p:nvSpPr>
        <p:spPr>
          <a:xfrm>
            <a:off x="7278624" y="1417320"/>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54" name="Text 46"/>
          <p:cNvSpPr txBox="1"/>
          <p:nvPr/>
        </p:nvSpPr>
        <p:spPr>
          <a:xfrm>
            <a:off x="7260336" y="2066544"/>
            <a:ext cx="1335024" cy="256032"/>
          </a:xfrm>
          <a:prstGeom prst="rect">
            <a:avLst/>
          </a:prstGeom>
          <a:noFill/>
          <a:ln/>
        </p:spPr>
        <p:txBody>
          <a:bodyPr wrap="square" lIns="0" tIns="0" rIns="0" bIns="0" rtlCol="0" anchor="t"/>
          <a:lstStyle/>
          <a:p>
            <a:pPr marL="0" indent="0" algn="ctr">
              <a:buNone/>
            </a:pPr>
            <a:r>
              <a:rPr lang="en-US" sz="1100" b="1" dirty="0">
                <a:solidFill>
                  <a:srgbClr val="231F20"/>
                </a:solidFill>
                <a:latin typeface="Calibri" pitchFamily="34" charset="0"/>
                <a:ea typeface="Calibri" pitchFamily="34" charset="-122"/>
                <a:cs typeface="Calibri" pitchFamily="34" charset="-120"/>
              </a:rPr>
              <a:t>Composer, mosaïquer</a:t>
            </a:r>
            <a:endParaRPr lang="en-US" sz="1100" dirty="0"/>
          </a:p>
        </p:txBody>
      </p:sp>
      <p:sp>
        <p:nvSpPr>
          <p:cNvPr id="55" name="Text 47"/>
          <p:cNvSpPr txBox="1"/>
          <p:nvPr/>
        </p:nvSpPr>
        <p:spPr>
          <a:xfrm>
            <a:off x="7278624" y="2359152"/>
            <a:ext cx="1298448" cy="859536"/>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nuits retenues sont moyennées en une grille mensuelle ou annuelle, en tuiles.</a:t>
            </a:r>
            <a:endParaRPr lang="en-US" sz="900" dirty="0"/>
          </a:p>
        </p:txBody>
      </p:sp>
      <p:sp>
        <p:nvSpPr>
          <p:cNvPr id="56" name="Shape 48"/>
          <p:cNvSpPr/>
          <p:nvPr/>
        </p:nvSpPr>
        <p:spPr>
          <a:xfrm>
            <a:off x="457200" y="3401568"/>
            <a:ext cx="4937760" cy="1143000"/>
          </a:xfrm>
          <a:prstGeom prst="roundRect">
            <a:avLst>
              <a:gd name="adj" fmla="val 6400"/>
            </a:avLst>
          </a:prstGeom>
          <a:solidFill>
            <a:srgbClr val="E8F5EF"/>
          </a:solidFill>
          <a:ln w="15875">
            <a:solidFill>
              <a:srgbClr val="0E7C86"/>
            </a:solidFill>
            <a:prstDash val="solid"/>
          </a:ln>
        </p:spPr>
      </p:sp>
      <p:sp>
        <p:nvSpPr>
          <p:cNvPr id="57" name="Shape 49"/>
          <p:cNvSpPr/>
          <p:nvPr/>
        </p:nvSpPr>
        <p:spPr>
          <a:xfrm>
            <a:off x="566928" y="3511296"/>
            <a:ext cx="384048" cy="384048"/>
          </a:xfrm>
          <a:prstGeom prst="ellipse">
            <a:avLst/>
          </a:prstGeom>
          <a:solidFill>
            <a:srgbClr val="0E7C86">
              <a:alpha val="22000"/>
            </a:srgbClr>
          </a:solidFill>
          <a:ln w="12700">
            <a:solidFill>
              <a:srgbClr val="0E7C86">
                <a:alpha val="0"/>
              </a:srgbClr>
            </a:solidFill>
            <a:prstDash val="solid"/>
          </a:ln>
        </p:spPr>
      </p:sp>
      <p:pic>
        <p:nvPicPr>
          <p:cNvPr id="58" name="Image 5" descr="preencoded.png"/>
          <p:cNvPicPr>
            <a:picLocks noChangeAspect="1"/>
          </p:cNvPicPr>
          <p:nvPr/>
        </p:nvPicPr>
        <p:blipFill>
          <a:blip r:embed="rId8"/>
          <a:stretch>
            <a:fillRect/>
          </a:stretch>
        </p:blipFill>
        <p:spPr>
          <a:xfrm>
            <a:off x="666780" y="3611148"/>
            <a:ext cx="184343" cy="184343"/>
          </a:xfrm>
          <a:prstGeom prst="rect">
            <a:avLst/>
          </a:prstGeom>
        </p:spPr>
      </p:pic>
      <p:sp>
        <p:nvSpPr>
          <p:cNvPr id="59" name="Text 50"/>
          <p:cNvSpPr txBox="1"/>
          <p:nvPr/>
        </p:nvSpPr>
        <p:spPr>
          <a:xfrm>
            <a:off x="1051560" y="3511296"/>
            <a:ext cx="4251960"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Vous verrez ces étapes comme des couches au labo Collecter</a:t>
            </a:r>
            <a:endParaRPr lang="en-US" sz="1200" dirty="0"/>
          </a:p>
        </p:txBody>
      </p:sp>
      <p:sp>
        <p:nvSpPr>
          <p:cNvPr id="60" name="Text 51"/>
          <p:cNvSpPr txBox="1"/>
          <p:nvPr/>
        </p:nvSpPr>
        <p:spPr>
          <a:xfrm>
            <a:off x="1051560" y="3767328"/>
            <a:ext cx="4251960" cy="7315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VNP46A2 contient la radiance corrigée et ses preuves : masque nuageux, irradiance lunaire, indicateur de neige et Mandatory_Quality_Flag (0 = haute qualité ; 1–5 = médiocre, dont aurores et reflets).</a:t>
            </a:r>
            <a:endParaRPr lang="en-US" sz="950" dirty="0"/>
          </a:p>
        </p:txBody>
      </p:sp>
      <p:sp>
        <p:nvSpPr>
          <p:cNvPr id="61" name="Shape 52"/>
          <p:cNvSpPr/>
          <p:nvPr/>
        </p:nvSpPr>
        <p:spPr>
          <a:xfrm>
            <a:off x="5577840" y="3401568"/>
            <a:ext cx="3108960" cy="1143000"/>
          </a:xfrm>
          <a:prstGeom prst="roundRect">
            <a:avLst>
              <a:gd name="adj" fmla="val 6400"/>
            </a:avLst>
          </a:prstGeom>
          <a:solidFill>
            <a:srgbClr val="D49A00">
              <a:alpha val="13000"/>
            </a:srgbClr>
          </a:solidFill>
          <a:ln w="12700">
            <a:solidFill>
              <a:srgbClr val="D49A00"/>
            </a:solidFill>
            <a:prstDash val="solid"/>
          </a:ln>
        </p:spPr>
      </p:sp>
      <p:sp>
        <p:nvSpPr>
          <p:cNvPr id="62" name="Shape 53"/>
          <p:cNvSpPr/>
          <p:nvPr/>
        </p:nvSpPr>
        <p:spPr>
          <a:xfrm>
            <a:off x="5687568" y="3511296"/>
            <a:ext cx="365760" cy="365760"/>
          </a:xfrm>
          <a:prstGeom prst="ellipse">
            <a:avLst/>
          </a:prstGeom>
          <a:solidFill>
            <a:srgbClr val="D49A00">
              <a:alpha val="22000"/>
            </a:srgbClr>
          </a:solidFill>
          <a:ln w="12700">
            <a:solidFill>
              <a:srgbClr val="D49A00">
                <a:alpha val="0"/>
              </a:srgbClr>
            </a:solidFill>
            <a:prstDash val="solid"/>
          </a:ln>
        </p:spPr>
      </p:sp>
      <p:pic>
        <p:nvPicPr>
          <p:cNvPr id="63" name="Image 6" descr="preencoded.png"/>
          <p:cNvPicPr>
            <a:picLocks noChangeAspect="1"/>
          </p:cNvPicPr>
          <p:nvPr/>
        </p:nvPicPr>
        <p:blipFill>
          <a:blip r:embed="rId9"/>
          <a:stretch>
            <a:fillRect/>
          </a:stretch>
        </p:blipFill>
        <p:spPr>
          <a:xfrm>
            <a:off x="5782666" y="3606394"/>
            <a:ext cx="175565" cy="175565"/>
          </a:xfrm>
          <a:prstGeom prst="rect">
            <a:avLst/>
          </a:prstGeom>
        </p:spPr>
      </p:pic>
      <p:sp>
        <p:nvSpPr>
          <p:cNvPr id="64" name="Text 54"/>
          <p:cNvSpPr txBox="1"/>
          <p:nvPr/>
        </p:nvSpPr>
        <p:spPr>
          <a:xfrm>
            <a:off x="6144768" y="3511296"/>
            <a:ext cx="2487168" cy="237744"/>
          </a:xfrm>
          <a:prstGeom prst="rect">
            <a:avLst/>
          </a:prstGeom>
          <a:noFill/>
          <a:ln/>
        </p:spPr>
        <p:txBody>
          <a:bodyPr wrap="square" lIns="0" tIns="0" rIns="0" bIns="0" rtlCol="0" anchor="t"/>
          <a:lstStyle/>
          <a:p>
            <a:pPr marL="0" indent="0">
              <a:buNone/>
            </a:pPr>
            <a:r>
              <a:rPr lang="en-US" sz="1200" b="1" dirty="0">
                <a:solidFill>
                  <a:srgbClr val="231F20"/>
                </a:solidFill>
                <a:latin typeface="Calibri" pitchFamily="34" charset="0"/>
                <a:ea typeface="Calibri" pitchFamily="34" charset="-122"/>
                <a:cs typeface="Calibri" pitchFamily="34" charset="-120"/>
              </a:rPr>
              <a:t>Un produit, pas un instantané</a:t>
            </a:r>
            <a:endParaRPr lang="en-US" sz="1200" dirty="0"/>
          </a:p>
        </p:txBody>
      </p:sp>
      <p:sp>
        <p:nvSpPr>
          <p:cNvPr id="65" name="Text 55"/>
          <p:cNvSpPr txBox="1"/>
          <p:nvPr/>
        </p:nvSpPr>
        <p:spPr>
          <a:xfrm>
            <a:off x="6144768" y="3767328"/>
            <a:ext cx="2468880" cy="731520"/>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Deux produits pour le même mois peuvent légitimement différer. Notez toujours le produit et sa version.</a:t>
            </a:r>
            <a:endParaRPr lang="en-US" sz="950" dirty="0"/>
          </a:p>
        </p:txBody>
      </p:sp>
      <p:sp>
        <p:nvSpPr>
          <p:cNvPr id="66" name="Text 56"/>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Román et al. (2018) ; NASA LAADS DAAC, page produit VNP46A2 v2.</a:t>
            </a:r>
            <a:endParaRPr lang="en-US" sz="9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PRODUITS · LABO COLLECTER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La famille de produits NASA Black Marble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15</a:t>
            </a:r>
            <a:endParaRPr lang="en-US" sz="850" dirty="0"/>
          </a:p>
        </p:txBody>
      </p:sp>
      <p:sp>
        <p:nvSpPr>
          <p:cNvPr id="17" name="Text 14"/>
          <p:cNvSpPr txBox="1"/>
          <p:nvPr/>
        </p:nvSpPr>
        <p:spPr>
          <a:xfrm>
            <a:off x="457200" y="2103120"/>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Contenu</a:t>
            </a:r>
            <a:endParaRPr lang="en-US" sz="1050" dirty="0"/>
          </a:p>
        </p:txBody>
      </p:sp>
      <p:sp>
        <p:nvSpPr>
          <p:cNvPr id="18" name="Text 15"/>
          <p:cNvSpPr txBox="1"/>
          <p:nvPr/>
        </p:nvSpPr>
        <p:spPr>
          <a:xfrm>
            <a:off x="457200" y="2633472"/>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Corrections</a:t>
            </a:r>
            <a:endParaRPr lang="en-US" sz="1050" dirty="0"/>
          </a:p>
        </p:txBody>
      </p:sp>
      <p:sp>
        <p:nvSpPr>
          <p:cNvPr id="19" name="Text 16"/>
          <p:cNvSpPr txBox="1"/>
          <p:nvPr/>
        </p:nvSpPr>
        <p:spPr>
          <a:xfrm>
            <a:off x="457200" y="3163824"/>
            <a:ext cx="1097280" cy="45720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Usage type</a:t>
            </a:r>
            <a:endParaRPr lang="en-US" sz="1050" dirty="0"/>
          </a:p>
        </p:txBody>
      </p:sp>
      <p:sp>
        <p:nvSpPr>
          <p:cNvPr id="20" name="Shape 17"/>
          <p:cNvSpPr/>
          <p:nvPr/>
        </p:nvSpPr>
        <p:spPr>
          <a:xfrm>
            <a:off x="1600200" y="1325880"/>
            <a:ext cx="1645920" cy="685800"/>
          </a:xfrm>
          <a:prstGeom prst="roundRect">
            <a:avLst>
              <a:gd name="adj" fmla="val 10667"/>
            </a:avLst>
          </a:prstGeom>
          <a:solidFill>
            <a:srgbClr val="5E6964"/>
          </a:solidFill>
          <a:ln w="9525">
            <a:solidFill>
              <a:srgbClr val="5E6964"/>
            </a:solidFill>
            <a:prstDash val="solid"/>
          </a:ln>
        </p:spPr>
      </p:sp>
      <p:sp>
        <p:nvSpPr>
          <p:cNvPr id="21" name="Text 18"/>
          <p:cNvSpPr txBox="1"/>
          <p:nvPr/>
        </p:nvSpPr>
        <p:spPr>
          <a:xfrm>
            <a:off x="160020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VNP46A1</a:t>
            </a:r>
            <a:endParaRPr lang="en-US" sz="1600" dirty="0"/>
          </a:p>
        </p:txBody>
      </p:sp>
      <p:sp>
        <p:nvSpPr>
          <p:cNvPr id="22" name="Text 19"/>
          <p:cNvSpPr txBox="1"/>
          <p:nvPr/>
        </p:nvSpPr>
        <p:spPr>
          <a:xfrm>
            <a:off x="160020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QUOTIDIEN</a:t>
            </a:r>
            <a:endParaRPr lang="en-US" sz="900" dirty="0"/>
          </a:p>
        </p:txBody>
      </p:sp>
      <p:sp>
        <p:nvSpPr>
          <p:cNvPr id="23" name="Shape 20"/>
          <p:cNvSpPr/>
          <p:nvPr/>
        </p:nvSpPr>
        <p:spPr>
          <a:xfrm>
            <a:off x="1600200" y="2103120"/>
            <a:ext cx="1645920" cy="457200"/>
          </a:xfrm>
          <a:prstGeom prst="roundRect">
            <a:avLst>
              <a:gd name="adj" fmla="val 10000"/>
            </a:avLst>
          </a:prstGeom>
          <a:solidFill>
            <a:srgbClr val="F4F7F5"/>
          </a:solidFill>
          <a:ln w="9525">
            <a:solidFill>
              <a:srgbClr val="D5DED9"/>
            </a:solidFill>
            <a:prstDash val="solid"/>
          </a:ln>
        </p:spPr>
      </p:sp>
      <p:sp>
        <p:nvSpPr>
          <p:cNvPr id="24" name="Text 21"/>
          <p:cNvSpPr txBox="1"/>
          <p:nvPr/>
        </p:nvSpPr>
        <p:spPr>
          <a:xfrm>
            <a:off x="165506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Radiance au capteur (sommet de l’atmosphère)</a:t>
            </a:r>
            <a:endParaRPr lang="en-US" sz="850" dirty="0"/>
          </a:p>
        </p:txBody>
      </p:sp>
      <p:sp>
        <p:nvSpPr>
          <p:cNvPr id="25" name="Shape 22"/>
          <p:cNvSpPr/>
          <p:nvPr/>
        </p:nvSpPr>
        <p:spPr>
          <a:xfrm>
            <a:off x="1600200" y="2633472"/>
            <a:ext cx="1645920" cy="457200"/>
          </a:xfrm>
          <a:prstGeom prst="roundRect">
            <a:avLst>
              <a:gd name="adj" fmla="val 10000"/>
            </a:avLst>
          </a:prstGeom>
          <a:solidFill>
            <a:srgbClr val="F4F7F5"/>
          </a:solidFill>
          <a:ln w="9525">
            <a:solidFill>
              <a:srgbClr val="D5DED9"/>
            </a:solidFill>
            <a:prstDash val="solid"/>
          </a:ln>
        </p:spPr>
      </p:sp>
      <p:sp>
        <p:nvSpPr>
          <p:cNvPr id="26" name="Text 23"/>
          <p:cNvSpPr txBox="1"/>
          <p:nvPr/>
        </p:nvSpPr>
        <p:spPr>
          <a:xfrm>
            <a:off x="165506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Non corrigé — entrées et géométrie</a:t>
            </a:r>
            <a:endParaRPr lang="en-US" sz="850" dirty="0"/>
          </a:p>
        </p:txBody>
      </p:sp>
      <p:sp>
        <p:nvSpPr>
          <p:cNvPr id="27" name="Shape 24"/>
          <p:cNvSpPr/>
          <p:nvPr/>
        </p:nvSpPr>
        <p:spPr>
          <a:xfrm>
            <a:off x="1600200" y="3163824"/>
            <a:ext cx="1645920" cy="457200"/>
          </a:xfrm>
          <a:prstGeom prst="roundRect">
            <a:avLst>
              <a:gd name="adj" fmla="val 10000"/>
            </a:avLst>
          </a:prstGeom>
          <a:solidFill>
            <a:srgbClr val="F4F7F5"/>
          </a:solidFill>
          <a:ln w="9525">
            <a:solidFill>
              <a:srgbClr val="D5DED9"/>
            </a:solidFill>
            <a:prstDash val="solid"/>
          </a:ln>
        </p:spPr>
      </p:sp>
      <p:sp>
        <p:nvSpPr>
          <p:cNvPr id="28" name="Text 25"/>
          <p:cNvSpPr txBox="1"/>
          <p:nvPr/>
        </p:nvSpPr>
        <p:spPr>
          <a:xfrm>
            <a:off x="165506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Utilisateurs avancés</a:t>
            </a:r>
            <a:endParaRPr lang="en-US" sz="850" dirty="0"/>
          </a:p>
        </p:txBody>
      </p:sp>
      <p:sp>
        <p:nvSpPr>
          <p:cNvPr id="29" name="Shape 26"/>
          <p:cNvSpPr/>
          <p:nvPr/>
        </p:nvSpPr>
        <p:spPr>
          <a:xfrm>
            <a:off x="3383280" y="1325880"/>
            <a:ext cx="1645920" cy="685800"/>
          </a:xfrm>
          <a:prstGeom prst="roundRect">
            <a:avLst>
              <a:gd name="adj" fmla="val 10667"/>
            </a:avLst>
          </a:prstGeom>
          <a:solidFill>
            <a:srgbClr val="00A86A"/>
          </a:solidFill>
          <a:ln w="9525">
            <a:solidFill>
              <a:srgbClr val="00A86A"/>
            </a:solidFill>
            <a:prstDash val="solid"/>
          </a:ln>
        </p:spPr>
      </p:sp>
      <p:sp>
        <p:nvSpPr>
          <p:cNvPr id="30" name="Text 27"/>
          <p:cNvSpPr txBox="1"/>
          <p:nvPr/>
        </p:nvSpPr>
        <p:spPr>
          <a:xfrm>
            <a:off x="338328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VNP46A2</a:t>
            </a:r>
            <a:endParaRPr lang="en-US" sz="1600" dirty="0"/>
          </a:p>
        </p:txBody>
      </p:sp>
      <p:sp>
        <p:nvSpPr>
          <p:cNvPr id="31" name="Text 28"/>
          <p:cNvSpPr txBox="1"/>
          <p:nvPr/>
        </p:nvSpPr>
        <p:spPr>
          <a:xfrm>
            <a:off x="338328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QUOTIDIEN</a:t>
            </a:r>
            <a:endParaRPr lang="en-US" sz="900" dirty="0"/>
          </a:p>
        </p:txBody>
      </p:sp>
      <p:sp>
        <p:nvSpPr>
          <p:cNvPr id="32" name="Shape 29"/>
          <p:cNvSpPr/>
          <p:nvPr/>
        </p:nvSpPr>
        <p:spPr>
          <a:xfrm>
            <a:off x="3383280" y="2103120"/>
            <a:ext cx="1645920" cy="457200"/>
          </a:xfrm>
          <a:prstGeom prst="roundRect">
            <a:avLst>
              <a:gd name="adj" fmla="val 10000"/>
            </a:avLst>
          </a:prstGeom>
          <a:solidFill>
            <a:srgbClr val="E8F5EF"/>
          </a:solidFill>
          <a:ln w="15875">
            <a:solidFill>
              <a:srgbClr val="00A86A"/>
            </a:solidFill>
            <a:prstDash val="solid"/>
          </a:ln>
        </p:spPr>
      </p:sp>
      <p:sp>
        <p:nvSpPr>
          <p:cNvPr id="33" name="Text 30"/>
          <p:cNvSpPr txBox="1"/>
          <p:nvPr/>
        </p:nvSpPr>
        <p:spPr>
          <a:xfrm>
            <a:off x="343814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NTL corrigée de la Lune, lacunes comblées</a:t>
            </a:r>
            <a:endParaRPr lang="en-US" sz="850" dirty="0"/>
          </a:p>
        </p:txBody>
      </p:sp>
      <p:sp>
        <p:nvSpPr>
          <p:cNvPr id="34" name="Shape 31"/>
          <p:cNvSpPr/>
          <p:nvPr/>
        </p:nvSpPr>
        <p:spPr>
          <a:xfrm>
            <a:off x="3383280" y="2633472"/>
            <a:ext cx="1645920" cy="457200"/>
          </a:xfrm>
          <a:prstGeom prst="roundRect">
            <a:avLst>
              <a:gd name="adj" fmla="val 10000"/>
            </a:avLst>
          </a:prstGeom>
          <a:solidFill>
            <a:srgbClr val="E8F5EF"/>
          </a:solidFill>
          <a:ln w="15875">
            <a:solidFill>
              <a:srgbClr val="00A86A"/>
            </a:solidFill>
            <a:prstDash val="solid"/>
          </a:ln>
        </p:spPr>
      </p:sp>
      <p:sp>
        <p:nvSpPr>
          <p:cNvPr id="35" name="Text 32"/>
          <p:cNvSpPr txBox="1"/>
          <p:nvPr/>
        </p:nvSpPr>
        <p:spPr>
          <a:xfrm>
            <a:off x="343814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Nuages, Lune, atmosphère, relief, lumière parasite</a:t>
            </a:r>
            <a:endParaRPr lang="en-US" sz="850" dirty="0"/>
          </a:p>
        </p:txBody>
      </p:sp>
      <p:sp>
        <p:nvSpPr>
          <p:cNvPr id="36" name="Shape 33"/>
          <p:cNvSpPr/>
          <p:nvPr/>
        </p:nvSpPr>
        <p:spPr>
          <a:xfrm>
            <a:off x="3383280" y="3163824"/>
            <a:ext cx="1645920" cy="457200"/>
          </a:xfrm>
          <a:prstGeom prst="roundRect">
            <a:avLst>
              <a:gd name="adj" fmla="val 10000"/>
            </a:avLst>
          </a:prstGeom>
          <a:solidFill>
            <a:srgbClr val="E8F5EF"/>
          </a:solidFill>
          <a:ln w="15875">
            <a:solidFill>
              <a:srgbClr val="00A86A"/>
            </a:solidFill>
            <a:prstDash val="solid"/>
          </a:ln>
        </p:spPr>
      </p:sp>
      <p:sp>
        <p:nvSpPr>
          <p:cNvPr id="37" name="Text 34"/>
          <p:cNvSpPr txBox="1"/>
          <p:nvPr/>
        </p:nvSpPr>
        <p:spPr>
          <a:xfrm>
            <a:off x="343814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Coupures, fiabilité, événements</a:t>
            </a:r>
            <a:endParaRPr lang="en-US" sz="850" dirty="0"/>
          </a:p>
        </p:txBody>
      </p:sp>
      <p:sp>
        <p:nvSpPr>
          <p:cNvPr id="38" name="Shape 35"/>
          <p:cNvSpPr/>
          <p:nvPr/>
        </p:nvSpPr>
        <p:spPr>
          <a:xfrm>
            <a:off x="5166360" y="1325880"/>
            <a:ext cx="1645920" cy="685800"/>
          </a:xfrm>
          <a:prstGeom prst="roundRect">
            <a:avLst>
              <a:gd name="adj" fmla="val 10667"/>
            </a:avLst>
          </a:prstGeom>
          <a:solidFill>
            <a:srgbClr val="00704A"/>
          </a:solidFill>
          <a:ln w="9525">
            <a:solidFill>
              <a:srgbClr val="00704A"/>
            </a:solidFill>
            <a:prstDash val="solid"/>
          </a:ln>
        </p:spPr>
      </p:sp>
      <p:sp>
        <p:nvSpPr>
          <p:cNvPr id="39" name="Text 36"/>
          <p:cNvSpPr txBox="1"/>
          <p:nvPr/>
        </p:nvSpPr>
        <p:spPr>
          <a:xfrm>
            <a:off x="516636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VNP46A3</a:t>
            </a:r>
            <a:endParaRPr lang="en-US" sz="1600" dirty="0"/>
          </a:p>
        </p:txBody>
      </p:sp>
      <p:sp>
        <p:nvSpPr>
          <p:cNvPr id="40" name="Text 37"/>
          <p:cNvSpPr txBox="1"/>
          <p:nvPr/>
        </p:nvSpPr>
        <p:spPr>
          <a:xfrm>
            <a:off x="516636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MENSUEL</a:t>
            </a:r>
            <a:endParaRPr lang="en-US" sz="900" dirty="0"/>
          </a:p>
        </p:txBody>
      </p:sp>
      <p:sp>
        <p:nvSpPr>
          <p:cNvPr id="41" name="Shape 38"/>
          <p:cNvSpPr/>
          <p:nvPr/>
        </p:nvSpPr>
        <p:spPr>
          <a:xfrm>
            <a:off x="5166360" y="2103120"/>
            <a:ext cx="1645920" cy="457200"/>
          </a:xfrm>
          <a:prstGeom prst="roundRect">
            <a:avLst>
              <a:gd name="adj" fmla="val 10000"/>
            </a:avLst>
          </a:prstGeom>
          <a:solidFill>
            <a:srgbClr val="F4F7F5"/>
          </a:solidFill>
          <a:ln w="9525">
            <a:solidFill>
              <a:srgbClr val="D5DED9"/>
            </a:solidFill>
            <a:prstDash val="solid"/>
          </a:ln>
        </p:spPr>
      </p:sp>
      <p:sp>
        <p:nvSpPr>
          <p:cNvPr id="42" name="Text 39"/>
          <p:cNvSpPr txBox="1"/>
          <p:nvPr/>
        </p:nvSpPr>
        <p:spPr>
          <a:xfrm>
            <a:off x="522122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Composite des NTL quotidiennes corrigées</a:t>
            </a:r>
            <a:endParaRPr lang="en-US" sz="850" dirty="0"/>
          </a:p>
        </p:txBody>
      </p:sp>
      <p:sp>
        <p:nvSpPr>
          <p:cNvPr id="43" name="Shape 40"/>
          <p:cNvSpPr/>
          <p:nvPr/>
        </p:nvSpPr>
        <p:spPr>
          <a:xfrm>
            <a:off x="5166360" y="2633472"/>
            <a:ext cx="1645920" cy="457200"/>
          </a:xfrm>
          <a:prstGeom prst="roundRect">
            <a:avLst>
              <a:gd name="adj" fmla="val 10000"/>
            </a:avLst>
          </a:prstGeom>
          <a:solidFill>
            <a:srgbClr val="F4F7F5"/>
          </a:solidFill>
          <a:ln w="9525">
            <a:solidFill>
              <a:srgbClr val="D5DED9"/>
            </a:solidFill>
            <a:prstDash val="solid"/>
          </a:ln>
        </p:spPr>
      </p:sp>
      <p:sp>
        <p:nvSpPr>
          <p:cNvPr id="44" name="Text 41"/>
          <p:cNvSpPr txBox="1"/>
          <p:nvPr/>
        </p:nvSpPr>
        <p:spPr>
          <a:xfrm>
            <a:off x="522122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Comme A2 + nombre d’observations et qualité</a:t>
            </a:r>
            <a:endParaRPr lang="en-US" sz="850" dirty="0"/>
          </a:p>
        </p:txBody>
      </p:sp>
      <p:sp>
        <p:nvSpPr>
          <p:cNvPr id="45" name="Shape 42"/>
          <p:cNvSpPr/>
          <p:nvPr/>
        </p:nvSpPr>
        <p:spPr>
          <a:xfrm>
            <a:off x="5166360" y="3163824"/>
            <a:ext cx="1645920" cy="457200"/>
          </a:xfrm>
          <a:prstGeom prst="roundRect">
            <a:avLst>
              <a:gd name="adj" fmla="val 10000"/>
            </a:avLst>
          </a:prstGeom>
          <a:solidFill>
            <a:srgbClr val="F4F7F5"/>
          </a:solidFill>
          <a:ln w="9525">
            <a:solidFill>
              <a:srgbClr val="D5DED9"/>
            </a:solidFill>
            <a:prstDash val="solid"/>
          </a:ln>
        </p:spPr>
      </p:sp>
      <p:sp>
        <p:nvSpPr>
          <p:cNvPr id="46" name="Text 43"/>
          <p:cNvSpPr txBox="1"/>
          <p:nvPr/>
        </p:nvSpPr>
        <p:spPr>
          <a:xfrm>
            <a:off x="522122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Évaluation de programmes, saisonnalité</a:t>
            </a:r>
            <a:endParaRPr lang="en-US" sz="850" dirty="0"/>
          </a:p>
        </p:txBody>
      </p:sp>
      <p:sp>
        <p:nvSpPr>
          <p:cNvPr id="47" name="Shape 44"/>
          <p:cNvSpPr/>
          <p:nvPr/>
        </p:nvSpPr>
        <p:spPr>
          <a:xfrm>
            <a:off x="6949440" y="1325880"/>
            <a:ext cx="1645920" cy="685800"/>
          </a:xfrm>
          <a:prstGeom prst="roundRect">
            <a:avLst>
              <a:gd name="adj" fmla="val 10667"/>
            </a:avLst>
          </a:prstGeom>
          <a:solidFill>
            <a:srgbClr val="00553A"/>
          </a:solidFill>
          <a:ln w="9525">
            <a:solidFill>
              <a:srgbClr val="00553A"/>
            </a:solidFill>
            <a:prstDash val="solid"/>
          </a:ln>
        </p:spPr>
      </p:sp>
      <p:sp>
        <p:nvSpPr>
          <p:cNvPr id="48" name="Text 45"/>
          <p:cNvSpPr txBox="1"/>
          <p:nvPr/>
        </p:nvSpPr>
        <p:spPr>
          <a:xfrm>
            <a:off x="6949440" y="1371600"/>
            <a:ext cx="1645920" cy="32004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VNP46A4</a:t>
            </a:r>
            <a:endParaRPr lang="en-US" sz="1600" dirty="0"/>
          </a:p>
        </p:txBody>
      </p:sp>
      <p:sp>
        <p:nvSpPr>
          <p:cNvPr id="49" name="Text 46"/>
          <p:cNvSpPr txBox="1"/>
          <p:nvPr/>
        </p:nvSpPr>
        <p:spPr>
          <a:xfrm>
            <a:off x="6949440" y="1691640"/>
            <a:ext cx="1645920" cy="228600"/>
          </a:xfrm>
          <a:prstGeom prst="rect">
            <a:avLst/>
          </a:prstGeom>
          <a:noFill/>
          <a:ln/>
        </p:spPr>
        <p:txBody>
          <a:bodyPr wrap="square" lIns="0" tIns="0" rIns="0" bIns="0" rtlCol="0" anchor="t"/>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ANNUEL</a:t>
            </a:r>
            <a:endParaRPr lang="en-US" sz="900" dirty="0"/>
          </a:p>
        </p:txBody>
      </p:sp>
      <p:sp>
        <p:nvSpPr>
          <p:cNvPr id="50" name="Shape 47"/>
          <p:cNvSpPr/>
          <p:nvPr/>
        </p:nvSpPr>
        <p:spPr>
          <a:xfrm>
            <a:off x="6949440" y="2103120"/>
            <a:ext cx="1645920" cy="457200"/>
          </a:xfrm>
          <a:prstGeom prst="roundRect">
            <a:avLst>
              <a:gd name="adj" fmla="val 10000"/>
            </a:avLst>
          </a:prstGeom>
          <a:solidFill>
            <a:srgbClr val="F4F7F5"/>
          </a:solidFill>
          <a:ln w="9525">
            <a:solidFill>
              <a:srgbClr val="D5DED9"/>
            </a:solidFill>
            <a:prstDash val="solid"/>
          </a:ln>
        </p:spPr>
      </p:sp>
      <p:sp>
        <p:nvSpPr>
          <p:cNvPr id="51" name="Text 48"/>
          <p:cNvSpPr txBox="1"/>
          <p:nvPr/>
        </p:nvSpPr>
        <p:spPr>
          <a:xfrm>
            <a:off x="7004304" y="2103120"/>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Composite des NTL quotidiennes corrigées</a:t>
            </a:r>
            <a:endParaRPr lang="en-US" sz="850" dirty="0"/>
          </a:p>
        </p:txBody>
      </p:sp>
      <p:sp>
        <p:nvSpPr>
          <p:cNvPr id="52" name="Shape 49"/>
          <p:cNvSpPr/>
          <p:nvPr/>
        </p:nvSpPr>
        <p:spPr>
          <a:xfrm>
            <a:off x="6949440" y="2633472"/>
            <a:ext cx="1645920" cy="457200"/>
          </a:xfrm>
          <a:prstGeom prst="roundRect">
            <a:avLst>
              <a:gd name="adj" fmla="val 10000"/>
            </a:avLst>
          </a:prstGeom>
          <a:solidFill>
            <a:srgbClr val="F4F7F5"/>
          </a:solidFill>
          <a:ln w="9525">
            <a:solidFill>
              <a:srgbClr val="D5DED9"/>
            </a:solidFill>
            <a:prstDash val="solid"/>
          </a:ln>
        </p:spPr>
      </p:sp>
      <p:sp>
        <p:nvSpPr>
          <p:cNvPr id="53" name="Text 50"/>
          <p:cNvSpPr txBox="1"/>
          <p:nvPr/>
        </p:nvSpPr>
        <p:spPr>
          <a:xfrm>
            <a:off x="7004304" y="2633472"/>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Comme A2 + nombre d’observations et qualité</a:t>
            </a:r>
            <a:endParaRPr lang="en-US" sz="850" dirty="0"/>
          </a:p>
        </p:txBody>
      </p:sp>
      <p:sp>
        <p:nvSpPr>
          <p:cNvPr id="54" name="Shape 51"/>
          <p:cNvSpPr/>
          <p:nvPr/>
        </p:nvSpPr>
        <p:spPr>
          <a:xfrm>
            <a:off x="6949440" y="3163824"/>
            <a:ext cx="1645920" cy="457200"/>
          </a:xfrm>
          <a:prstGeom prst="roundRect">
            <a:avLst>
              <a:gd name="adj" fmla="val 10000"/>
            </a:avLst>
          </a:prstGeom>
          <a:solidFill>
            <a:srgbClr val="F4F7F5"/>
          </a:solidFill>
          <a:ln w="9525">
            <a:solidFill>
              <a:srgbClr val="D5DED9"/>
            </a:solidFill>
            <a:prstDash val="solid"/>
          </a:ln>
        </p:spPr>
      </p:sp>
      <p:sp>
        <p:nvSpPr>
          <p:cNvPr id="55" name="Text 52"/>
          <p:cNvSpPr txBox="1"/>
          <p:nvPr/>
        </p:nvSpPr>
        <p:spPr>
          <a:xfrm>
            <a:off x="7004304" y="3163824"/>
            <a:ext cx="1536192" cy="457200"/>
          </a:xfrm>
          <a:prstGeom prst="rect">
            <a:avLst/>
          </a:prstGeom>
          <a:noFill/>
          <a:ln/>
        </p:spPr>
        <p:txBody>
          <a:bodyPr wrap="square" lIns="0" tIns="0" rIns="0" bIns="0" rtlCol="0" anchor="ctr"/>
          <a:lstStyle/>
          <a:p>
            <a:pPr marL="0" indent="0" algn="ctr">
              <a:buNone/>
            </a:pPr>
            <a:r>
              <a:rPr lang="en-US" sz="850" dirty="0">
                <a:solidFill>
                  <a:srgbClr val="231F20"/>
                </a:solidFill>
                <a:latin typeface="Calibri" pitchFamily="34" charset="0"/>
                <a:ea typeface="Calibri" pitchFamily="34" charset="-122"/>
                <a:cs typeface="Calibri" pitchFamily="34" charset="-120"/>
              </a:rPr>
              <a:t>Tendances longues, panels infranationaux</a:t>
            </a:r>
            <a:endParaRPr lang="en-US" sz="850" dirty="0"/>
          </a:p>
        </p:txBody>
      </p:sp>
      <p:sp>
        <p:nvSpPr>
          <p:cNvPr id="56" name="Shape 53"/>
          <p:cNvSpPr/>
          <p:nvPr/>
        </p:nvSpPr>
        <p:spPr>
          <a:xfrm>
            <a:off x="457200" y="3749040"/>
            <a:ext cx="8229600" cy="804672"/>
          </a:xfrm>
          <a:prstGeom prst="roundRect">
            <a:avLst>
              <a:gd name="adj" fmla="val 9091"/>
            </a:avLst>
          </a:prstGeom>
          <a:solidFill>
            <a:srgbClr val="F4F7F5"/>
          </a:solidFill>
          <a:ln w="9525">
            <a:solidFill>
              <a:srgbClr val="D5DED9"/>
            </a:solidFill>
            <a:prstDash val="solid"/>
          </a:ln>
        </p:spPr>
      </p:sp>
      <p:sp>
        <p:nvSpPr>
          <p:cNvPr id="57" name="Shape 54"/>
          <p:cNvSpPr/>
          <p:nvPr/>
        </p:nvSpPr>
        <p:spPr>
          <a:xfrm>
            <a:off x="566928" y="3931920"/>
            <a:ext cx="402336" cy="402336"/>
          </a:xfrm>
          <a:prstGeom prst="ellipse">
            <a:avLst/>
          </a:prstGeom>
          <a:solidFill>
            <a:srgbClr val="0E7C86">
              <a:alpha val="22000"/>
            </a:srgbClr>
          </a:solidFill>
          <a:ln w="12700">
            <a:solidFill>
              <a:srgbClr val="0E7C86">
                <a:alpha val="0"/>
              </a:srgbClr>
            </a:solidFill>
            <a:prstDash val="solid"/>
          </a:ln>
        </p:spPr>
      </p:sp>
      <p:pic>
        <p:nvPicPr>
          <p:cNvPr id="58" name="Image 0" descr="preencoded.png"/>
          <p:cNvPicPr>
            <a:picLocks noChangeAspect="1"/>
          </p:cNvPicPr>
          <p:nvPr/>
        </p:nvPicPr>
        <p:blipFill>
          <a:blip r:embed="rId3"/>
          <a:stretch>
            <a:fillRect/>
          </a:stretch>
        </p:blipFill>
        <p:spPr>
          <a:xfrm>
            <a:off x="671535" y="4036527"/>
            <a:ext cx="193121" cy="193121"/>
          </a:xfrm>
          <a:prstGeom prst="rect">
            <a:avLst/>
          </a:prstGeom>
        </p:spPr>
      </p:pic>
      <p:sp>
        <p:nvSpPr>
          <p:cNvPr id="59" name="Text 55"/>
          <p:cNvSpPr txBox="1"/>
          <p:nvPr/>
        </p:nvSpPr>
        <p:spPr>
          <a:xfrm>
            <a:off x="1097280" y="3776472"/>
            <a:ext cx="7498080" cy="749808"/>
          </a:xfrm>
          <a:prstGeom prst="rect">
            <a:avLst/>
          </a:prstGeom>
          <a:noFill/>
          <a:ln/>
        </p:spPr>
        <p:txBody>
          <a:bodyPr wrap="square" lIns="0" tIns="0" rIns="0" bIns="0" rtlCol="0" anchor="ctr"/>
          <a:lstStyle/>
          <a:p>
            <a:pPr marL="0" indent="0">
              <a:buNone/>
            </a:pPr>
            <a:r>
              <a:rPr lang="en-US" sz="950" b="1" dirty="0">
                <a:solidFill>
                  <a:srgbClr val="0E7C86"/>
                </a:solidFill>
                <a:latin typeface="Calibri" pitchFamily="34" charset="0"/>
                <a:ea typeface="Calibri" pitchFamily="34" charset="-122"/>
                <a:cs typeface="Calibri" pitchFamily="34" charset="-120"/>
              </a:rPr>
              <a:t>Commun à tous : </a:t>
            </a:r>
            <a:r>
              <a:rPr lang="en-US" sz="950" dirty="0">
                <a:solidFill>
                  <a:srgbClr val="231F20"/>
                </a:solidFill>
                <a:latin typeface="Calibri" pitchFamily="34" charset="0"/>
                <a:ea typeface="Calibri" pitchFamily="34" charset="-122"/>
                <a:cs typeface="Calibri" pitchFamily="34" charset="-120"/>
              </a:rPr>
              <a:t>grille de 15 secondes d’arc (≈ 500 m à l’équateur) · tuiles 10°×10° · HDF-EOS5 · depuis janvier 2012 · jumeaux NOAA-20 nommés VJ146*.</a:t>
            </a:r>
            <a:endParaRPr lang="en-US" sz="950" dirty="0"/>
          </a:p>
          <a:p>
            <a:pPr marL="0" indent="0">
              <a:buNone/>
            </a:pPr>
            <a:r>
              <a:rPr lang="en-US" sz="950" b="1" dirty="0">
                <a:solidFill>
                  <a:srgbClr val="B83B2E"/>
                </a:solidFill>
                <a:latin typeface="Calibri" pitchFamily="34" charset="0"/>
                <a:ea typeface="Calibri" pitchFamily="34" charset="-122"/>
                <a:cs typeface="Calibri" pitchFamily="34" charset="-120"/>
              </a:rPr>
              <a:t>Piège : </a:t>
            </a:r>
            <a:r>
              <a:rPr lang="en-US" sz="950" dirty="0">
                <a:solidFill>
                  <a:srgbClr val="231F20"/>
                </a:solidFill>
                <a:latin typeface="Calibri" pitchFamily="34" charset="0"/>
                <a:ea typeface="Calibri" pitchFamily="34" charset="-122"/>
                <a:cs typeface="Calibri" pitchFamily="34" charset="-120"/>
              </a:rPr>
              <a:t>radiance stockée en entiers — multiplier par le facteur 0,1 et masquer la valeur 65535. </a:t>
            </a:r>
            <a:r>
              <a:rPr lang="en-US" sz="950" b="1" dirty="0">
                <a:solidFill>
                  <a:srgbClr val="0E7C86"/>
                </a:solidFill>
                <a:latin typeface="Calibri" pitchFamily="34" charset="0"/>
                <a:ea typeface="Calibri" pitchFamily="34" charset="-122"/>
                <a:cs typeface="Calibri" pitchFamily="34" charset="-120"/>
              </a:rPr>
              <a:t>Alternatives : </a:t>
            </a:r>
            <a:r>
              <a:rPr lang="en-US" sz="950" dirty="0">
                <a:solidFill>
                  <a:srgbClr val="231F20"/>
                </a:solidFill>
                <a:latin typeface="Calibri" pitchFamily="34" charset="0"/>
                <a:ea typeface="Calibri" pitchFamily="34" charset="-122"/>
                <a:cs typeface="Calibri" pitchFamily="34" charset="-120"/>
              </a:rPr>
              <a:t>composites EOG VNL ; catalogue Google Earth Engine.</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INTERPRÉTATION</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Ce qui brille vraiment sur l’Afrique la nuit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16</a:t>
            </a:r>
            <a:endParaRPr lang="en-US" sz="850" dirty="0"/>
          </a:p>
        </p:txBody>
      </p:sp>
      <p:sp>
        <p:nvSpPr>
          <p:cNvPr id="17" name="Shape 14"/>
          <p:cNvSpPr/>
          <p:nvPr/>
        </p:nvSpPr>
        <p:spPr>
          <a:xfrm>
            <a:off x="457200" y="1325880"/>
            <a:ext cx="2651760" cy="1280160"/>
          </a:xfrm>
          <a:prstGeom prst="roundRect">
            <a:avLst>
              <a:gd name="adj" fmla="val 5714"/>
            </a:avLst>
          </a:prstGeom>
          <a:solidFill>
            <a:srgbClr val="E8F5EF"/>
          </a:solidFill>
          <a:ln w="15875">
            <a:solidFill>
              <a:srgbClr val="00A86A"/>
            </a:solidFill>
            <a:prstDash val="solid"/>
          </a:ln>
        </p:spPr>
      </p:sp>
      <p:sp>
        <p:nvSpPr>
          <p:cNvPr id="18" name="Shape 15"/>
          <p:cNvSpPr/>
          <p:nvPr/>
        </p:nvSpPr>
        <p:spPr>
          <a:xfrm>
            <a:off x="566928" y="1435608"/>
            <a:ext cx="438912" cy="438912"/>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1045" y="1549725"/>
            <a:ext cx="210678" cy="210678"/>
          </a:xfrm>
          <a:prstGeom prst="rect">
            <a:avLst/>
          </a:prstGeom>
        </p:spPr>
      </p:pic>
      <p:sp>
        <p:nvSpPr>
          <p:cNvPr id="20" name="Text 16"/>
          <p:cNvSpPr txBox="1"/>
          <p:nvPr/>
        </p:nvSpPr>
        <p:spPr>
          <a:xfrm>
            <a:off x="109728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Villes et localités</a:t>
            </a:r>
            <a:endParaRPr lang="en-US" sz="1100" dirty="0"/>
          </a:p>
        </p:txBody>
      </p:sp>
      <p:sp>
        <p:nvSpPr>
          <p:cNvPr id="21" name="Shape 17"/>
          <p:cNvSpPr/>
          <p:nvPr/>
        </p:nvSpPr>
        <p:spPr>
          <a:xfrm>
            <a:off x="234086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2" name="Text 18"/>
          <p:cNvSpPr txBox="1"/>
          <p:nvPr/>
        </p:nvSpPr>
        <p:spPr>
          <a:xfrm>
            <a:off x="2340864" y="1563624"/>
            <a:ext cx="67665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23" name="Text 19"/>
          <p:cNvSpPr txBox="1"/>
          <p:nvPr/>
        </p:nvSpPr>
        <p:spPr>
          <a:xfrm>
            <a:off x="58521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Rues, bâtiments, marchés, véhicules. La composante dominante et la plus étudiée du signal.</a:t>
            </a:r>
            <a:endParaRPr lang="en-US" sz="900" dirty="0"/>
          </a:p>
        </p:txBody>
      </p:sp>
      <p:sp>
        <p:nvSpPr>
          <p:cNvPr id="24" name="Shape 20"/>
          <p:cNvSpPr/>
          <p:nvPr/>
        </p:nvSpPr>
        <p:spPr>
          <a:xfrm>
            <a:off x="3246120" y="1325880"/>
            <a:ext cx="2651760" cy="1280160"/>
          </a:xfrm>
          <a:prstGeom prst="roundRect">
            <a:avLst>
              <a:gd name="adj" fmla="val 5714"/>
            </a:avLst>
          </a:prstGeom>
          <a:solidFill>
            <a:srgbClr val="E8F5EF"/>
          </a:solidFill>
          <a:ln w="15875">
            <a:solidFill>
              <a:srgbClr val="00A86A"/>
            </a:solidFill>
            <a:prstDash val="solid"/>
          </a:ln>
        </p:spPr>
      </p:sp>
      <p:sp>
        <p:nvSpPr>
          <p:cNvPr id="25" name="Shape 21"/>
          <p:cNvSpPr/>
          <p:nvPr/>
        </p:nvSpPr>
        <p:spPr>
          <a:xfrm>
            <a:off x="3355848" y="1435608"/>
            <a:ext cx="438912" cy="438912"/>
          </a:xfrm>
          <a:prstGeom prst="ellipse">
            <a:avLst/>
          </a:prstGeom>
          <a:solidFill>
            <a:srgbClr val="00A86A">
              <a:alpha val="22000"/>
            </a:srgbClr>
          </a:solidFill>
          <a:ln w="12700">
            <a:solidFill>
              <a:srgbClr val="00A86A">
                <a:alpha val="0"/>
              </a:srgbClr>
            </a:solidFill>
            <a:prstDash val="solid"/>
          </a:ln>
        </p:spPr>
      </p:sp>
      <p:pic>
        <p:nvPicPr>
          <p:cNvPr id="26" name="Image 1" descr="preencoded.png"/>
          <p:cNvPicPr>
            <a:picLocks noChangeAspect="1"/>
          </p:cNvPicPr>
          <p:nvPr/>
        </p:nvPicPr>
        <p:blipFill>
          <a:blip r:embed="rId4"/>
          <a:stretch>
            <a:fillRect/>
          </a:stretch>
        </p:blipFill>
        <p:spPr>
          <a:xfrm>
            <a:off x="3469965" y="1549725"/>
            <a:ext cx="210678" cy="210678"/>
          </a:xfrm>
          <a:prstGeom prst="rect">
            <a:avLst/>
          </a:prstGeom>
        </p:spPr>
      </p:pic>
      <p:sp>
        <p:nvSpPr>
          <p:cNvPr id="27" name="Text 22"/>
          <p:cNvSpPr txBox="1"/>
          <p:nvPr/>
        </p:nvSpPr>
        <p:spPr>
          <a:xfrm>
            <a:off x="388620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Corridors, ports et mines</a:t>
            </a:r>
            <a:endParaRPr lang="en-US" sz="1100" dirty="0"/>
          </a:p>
        </p:txBody>
      </p:sp>
      <p:sp>
        <p:nvSpPr>
          <p:cNvPr id="28" name="Shape 23"/>
          <p:cNvSpPr/>
          <p:nvPr/>
        </p:nvSpPr>
        <p:spPr>
          <a:xfrm>
            <a:off x="5129784" y="1563624"/>
            <a:ext cx="676656" cy="219456"/>
          </a:xfrm>
          <a:prstGeom prst="roundRect">
            <a:avLst>
              <a:gd name="adj" fmla="val 50000"/>
            </a:avLst>
          </a:prstGeom>
          <a:solidFill>
            <a:srgbClr val="00A86A">
              <a:alpha val="15000"/>
            </a:srgbClr>
          </a:solidFill>
          <a:ln w="9525">
            <a:solidFill>
              <a:srgbClr val="00A86A"/>
            </a:solidFill>
            <a:prstDash val="solid"/>
          </a:ln>
        </p:spPr>
      </p:sp>
      <p:sp>
        <p:nvSpPr>
          <p:cNvPr id="29" name="Text 24"/>
          <p:cNvSpPr txBox="1"/>
          <p:nvPr/>
        </p:nvSpPr>
        <p:spPr>
          <a:xfrm>
            <a:off x="5129784" y="1563624"/>
            <a:ext cx="676656" cy="219456"/>
          </a:xfrm>
          <a:prstGeom prst="rect">
            <a:avLst/>
          </a:prstGeom>
          <a:noFill/>
          <a:ln/>
        </p:spPr>
        <p:txBody>
          <a:bodyPr wrap="square" lIns="0" tIns="0" rIns="0" bIns="0" rtlCol="0" anchor="ctr"/>
          <a:lstStyle/>
          <a:p>
            <a:pPr marL="0" indent="0" algn="ctr">
              <a:buNone/>
            </a:pPr>
            <a:r>
              <a:rPr lang="en-US" sz="750" b="1" dirty="0">
                <a:solidFill>
                  <a:srgbClr val="00A86A"/>
                </a:solidFill>
                <a:latin typeface="Calibri" pitchFamily="34" charset="0"/>
                <a:ea typeface="Calibri" pitchFamily="34" charset="-122"/>
                <a:cs typeface="Calibri" pitchFamily="34" charset="-120"/>
              </a:rPr>
              <a:t>SIGNAL</a:t>
            </a:r>
            <a:endParaRPr lang="en-US" sz="750" dirty="0"/>
          </a:p>
        </p:txBody>
      </p:sp>
      <p:sp>
        <p:nvSpPr>
          <p:cNvPr id="30" name="Text 25"/>
          <p:cNvSpPr txBox="1"/>
          <p:nvPr/>
        </p:nvSpPr>
        <p:spPr>
          <a:xfrm>
            <a:off x="337413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Routes, ports, aéroports, sites miniers et industriels : le réseau entre les points lumineux.</a:t>
            </a:r>
            <a:endParaRPr lang="en-US" sz="900" dirty="0"/>
          </a:p>
        </p:txBody>
      </p:sp>
      <p:sp>
        <p:nvSpPr>
          <p:cNvPr id="31" name="Shape 26"/>
          <p:cNvSpPr/>
          <p:nvPr/>
        </p:nvSpPr>
        <p:spPr>
          <a:xfrm>
            <a:off x="6035040" y="1325880"/>
            <a:ext cx="2651760" cy="1280160"/>
          </a:xfrm>
          <a:prstGeom prst="roundRect">
            <a:avLst>
              <a:gd name="adj" fmla="val 5714"/>
            </a:avLst>
          </a:prstGeom>
          <a:solidFill>
            <a:srgbClr val="F4F7F5"/>
          </a:solidFill>
          <a:ln w="9525">
            <a:solidFill>
              <a:srgbClr val="D5DED9"/>
            </a:solidFill>
            <a:prstDash val="solid"/>
          </a:ln>
        </p:spPr>
      </p:sp>
      <p:sp>
        <p:nvSpPr>
          <p:cNvPr id="32" name="Shape 27"/>
          <p:cNvSpPr/>
          <p:nvPr/>
        </p:nvSpPr>
        <p:spPr>
          <a:xfrm>
            <a:off x="6144768" y="1435608"/>
            <a:ext cx="438912" cy="438912"/>
          </a:xfrm>
          <a:prstGeom prst="ellipse">
            <a:avLst/>
          </a:prstGeom>
          <a:solidFill>
            <a:srgbClr val="B83B2E">
              <a:alpha val="22000"/>
            </a:srgbClr>
          </a:solidFill>
          <a:ln w="12700">
            <a:solidFill>
              <a:srgbClr val="B83B2E">
                <a:alpha val="0"/>
              </a:srgbClr>
            </a:solidFill>
            <a:prstDash val="solid"/>
          </a:ln>
        </p:spPr>
      </p:sp>
      <p:pic>
        <p:nvPicPr>
          <p:cNvPr id="33" name="Image 2" descr="preencoded.png"/>
          <p:cNvPicPr>
            <a:picLocks noChangeAspect="1"/>
          </p:cNvPicPr>
          <p:nvPr/>
        </p:nvPicPr>
        <p:blipFill>
          <a:blip r:embed="rId5"/>
          <a:stretch>
            <a:fillRect/>
          </a:stretch>
        </p:blipFill>
        <p:spPr>
          <a:xfrm>
            <a:off x="6258885" y="1549725"/>
            <a:ext cx="210678" cy="210678"/>
          </a:xfrm>
          <a:prstGeom prst="rect">
            <a:avLst/>
          </a:prstGeom>
        </p:spPr>
      </p:pic>
      <p:sp>
        <p:nvSpPr>
          <p:cNvPr id="34" name="Text 28"/>
          <p:cNvSpPr txBox="1"/>
          <p:nvPr/>
        </p:nvSpPr>
        <p:spPr>
          <a:xfrm>
            <a:off x="6675120" y="143560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Torchères</a:t>
            </a:r>
            <a:endParaRPr lang="en-US" sz="1100" dirty="0"/>
          </a:p>
        </p:txBody>
      </p:sp>
      <p:sp>
        <p:nvSpPr>
          <p:cNvPr id="35" name="Shape 29"/>
          <p:cNvSpPr/>
          <p:nvPr/>
        </p:nvSpPr>
        <p:spPr>
          <a:xfrm>
            <a:off x="7918704" y="1563624"/>
            <a:ext cx="676656" cy="219456"/>
          </a:xfrm>
          <a:prstGeom prst="roundRect">
            <a:avLst>
              <a:gd name="adj" fmla="val 50000"/>
            </a:avLst>
          </a:prstGeom>
          <a:solidFill>
            <a:srgbClr val="B83B2E">
              <a:alpha val="15000"/>
            </a:srgbClr>
          </a:solidFill>
          <a:ln w="9525">
            <a:solidFill>
              <a:srgbClr val="B83B2E"/>
            </a:solidFill>
            <a:prstDash val="solid"/>
          </a:ln>
        </p:spPr>
      </p:sp>
      <p:sp>
        <p:nvSpPr>
          <p:cNvPr id="36" name="Text 30"/>
          <p:cNvSpPr txBox="1"/>
          <p:nvPr/>
        </p:nvSpPr>
        <p:spPr>
          <a:xfrm>
            <a:off x="7918704" y="156362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MASQUER</a:t>
            </a:r>
            <a:endParaRPr lang="en-US" sz="750" dirty="0"/>
          </a:p>
        </p:txBody>
      </p:sp>
      <p:sp>
        <p:nvSpPr>
          <p:cNvPr id="37" name="Text 31"/>
          <p:cNvSpPr txBox="1"/>
          <p:nvPr/>
        </p:nvSpPr>
        <p:spPr>
          <a:xfrm>
            <a:off x="6163056" y="196596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Points isolés très brillants dans les zones pétrolières et gazières — delta du Niger, Algérie, Libye. À masquer.</a:t>
            </a:r>
            <a:endParaRPr lang="en-US" sz="900" dirty="0"/>
          </a:p>
        </p:txBody>
      </p:sp>
      <p:sp>
        <p:nvSpPr>
          <p:cNvPr id="38" name="Shape 32"/>
          <p:cNvSpPr/>
          <p:nvPr/>
        </p:nvSpPr>
        <p:spPr>
          <a:xfrm>
            <a:off x="457200" y="2743200"/>
            <a:ext cx="2651760" cy="1280160"/>
          </a:xfrm>
          <a:prstGeom prst="roundRect">
            <a:avLst>
              <a:gd name="adj" fmla="val 5714"/>
            </a:avLst>
          </a:prstGeom>
          <a:solidFill>
            <a:srgbClr val="F4F7F5"/>
          </a:solidFill>
          <a:ln w="9525">
            <a:solidFill>
              <a:srgbClr val="D5DED9"/>
            </a:solidFill>
            <a:prstDash val="solid"/>
          </a:ln>
        </p:spPr>
      </p:sp>
      <p:sp>
        <p:nvSpPr>
          <p:cNvPr id="39" name="Shape 33"/>
          <p:cNvSpPr/>
          <p:nvPr/>
        </p:nvSpPr>
        <p:spPr>
          <a:xfrm>
            <a:off x="566928" y="2852928"/>
            <a:ext cx="438912" cy="438912"/>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1045" y="2967045"/>
            <a:ext cx="210678" cy="210678"/>
          </a:xfrm>
          <a:prstGeom prst="rect">
            <a:avLst/>
          </a:prstGeom>
        </p:spPr>
      </p:pic>
      <p:sp>
        <p:nvSpPr>
          <p:cNvPr id="41" name="Text 34"/>
          <p:cNvSpPr txBox="1"/>
          <p:nvPr/>
        </p:nvSpPr>
        <p:spPr>
          <a:xfrm>
            <a:off x="109728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Pêche au lamparo</a:t>
            </a:r>
            <a:endParaRPr lang="en-US" sz="1100" dirty="0"/>
          </a:p>
        </p:txBody>
      </p:sp>
      <p:sp>
        <p:nvSpPr>
          <p:cNvPr id="42" name="Shape 35"/>
          <p:cNvSpPr/>
          <p:nvPr/>
        </p:nvSpPr>
        <p:spPr>
          <a:xfrm>
            <a:off x="2340864" y="2980944"/>
            <a:ext cx="676656" cy="219456"/>
          </a:xfrm>
          <a:prstGeom prst="roundRect">
            <a:avLst>
              <a:gd name="adj" fmla="val 50000"/>
            </a:avLst>
          </a:prstGeom>
          <a:solidFill>
            <a:srgbClr val="D49A00">
              <a:alpha val="15000"/>
            </a:srgbClr>
          </a:solidFill>
          <a:ln w="9525">
            <a:solidFill>
              <a:srgbClr val="D49A00"/>
            </a:solidFill>
            <a:prstDash val="solid"/>
          </a:ln>
        </p:spPr>
      </p:sp>
      <p:sp>
        <p:nvSpPr>
          <p:cNvPr id="43" name="Text 36"/>
          <p:cNvSpPr txBox="1"/>
          <p:nvPr/>
        </p:nvSpPr>
        <p:spPr>
          <a:xfrm>
            <a:off x="2340864" y="2980944"/>
            <a:ext cx="676656" cy="219456"/>
          </a:xfrm>
          <a:prstGeom prst="rect">
            <a:avLst/>
          </a:prstGeom>
          <a:noFill/>
          <a:ln/>
        </p:spPr>
        <p:txBody>
          <a:bodyPr wrap="square" lIns="0" tIns="0" rIns="0" bIns="0" rtlCol="0" anchor="ctr"/>
          <a:lstStyle/>
          <a:p>
            <a:pPr marL="0" indent="0" algn="ctr">
              <a:buNone/>
            </a:pPr>
            <a:r>
              <a:rPr lang="en-US" sz="750" b="1" dirty="0">
                <a:solidFill>
                  <a:srgbClr val="D49A00"/>
                </a:solidFill>
                <a:latin typeface="Calibri" pitchFamily="34" charset="0"/>
                <a:ea typeface="Calibri" pitchFamily="34" charset="-122"/>
                <a:cs typeface="Calibri" pitchFamily="34" charset="-120"/>
              </a:rPr>
              <a:t>CONTEXTE</a:t>
            </a:r>
            <a:endParaRPr lang="en-US" sz="750" dirty="0"/>
          </a:p>
        </p:txBody>
      </p:sp>
      <p:sp>
        <p:nvSpPr>
          <p:cNvPr id="44" name="Text 37"/>
          <p:cNvSpPr txBox="1"/>
          <p:nvPr/>
        </p:nvSpPr>
        <p:spPr>
          <a:xfrm>
            <a:off x="58521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Pêche à la lumière sur les lacs Victoria et Tanganyika ; flottilles en mer.</a:t>
            </a:r>
            <a:endParaRPr lang="en-US" sz="900" dirty="0"/>
          </a:p>
        </p:txBody>
      </p:sp>
      <p:sp>
        <p:nvSpPr>
          <p:cNvPr id="45" name="Shape 38"/>
          <p:cNvSpPr/>
          <p:nvPr/>
        </p:nvSpPr>
        <p:spPr>
          <a:xfrm>
            <a:off x="3246120" y="2743200"/>
            <a:ext cx="2651760" cy="1280160"/>
          </a:xfrm>
          <a:prstGeom prst="roundRect">
            <a:avLst>
              <a:gd name="adj" fmla="val 5714"/>
            </a:avLst>
          </a:prstGeom>
          <a:solidFill>
            <a:srgbClr val="F4F7F5"/>
          </a:solidFill>
          <a:ln w="9525">
            <a:solidFill>
              <a:srgbClr val="D5DED9"/>
            </a:solidFill>
            <a:prstDash val="solid"/>
          </a:ln>
        </p:spPr>
      </p:sp>
      <p:sp>
        <p:nvSpPr>
          <p:cNvPr id="46" name="Shape 39"/>
          <p:cNvSpPr/>
          <p:nvPr/>
        </p:nvSpPr>
        <p:spPr>
          <a:xfrm>
            <a:off x="3355848" y="2852928"/>
            <a:ext cx="438912" cy="438912"/>
          </a:xfrm>
          <a:prstGeom prst="ellipse">
            <a:avLst/>
          </a:prstGeom>
          <a:solidFill>
            <a:srgbClr val="B83B2E">
              <a:alpha val="22000"/>
            </a:srgbClr>
          </a:solidFill>
          <a:ln w="12700">
            <a:solidFill>
              <a:srgbClr val="B83B2E">
                <a:alpha val="0"/>
              </a:srgbClr>
            </a:solidFill>
            <a:prstDash val="solid"/>
          </a:ln>
        </p:spPr>
      </p:sp>
      <p:pic>
        <p:nvPicPr>
          <p:cNvPr id="47" name="Image 4" descr="preencoded.png"/>
          <p:cNvPicPr>
            <a:picLocks noChangeAspect="1"/>
          </p:cNvPicPr>
          <p:nvPr/>
        </p:nvPicPr>
        <p:blipFill>
          <a:blip r:embed="rId7"/>
          <a:stretch>
            <a:fillRect/>
          </a:stretch>
        </p:blipFill>
        <p:spPr>
          <a:xfrm>
            <a:off x="3469965" y="2967045"/>
            <a:ext cx="210678" cy="210678"/>
          </a:xfrm>
          <a:prstGeom prst="rect">
            <a:avLst/>
          </a:prstGeom>
        </p:spPr>
      </p:pic>
      <p:sp>
        <p:nvSpPr>
          <p:cNvPr id="48" name="Text 40"/>
          <p:cNvSpPr txBox="1"/>
          <p:nvPr/>
        </p:nvSpPr>
        <p:spPr>
          <a:xfrm>
            <a:off x="388620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Feux</a:t>
            </a:r>
            <a:endParaRPr lang="en-US" sz="1100" dirty="0"/>
          </a:p>
        </p:txBody>
      </p:sp>
      <p:sp>
        <p:nvSpPr>
          <p:cNvPr id="49" name="Shape 41"/>
          <p:cNvSpPr/>
          <p:nvPr/>
        </p:nvSpPr>
        <p:spPr>
          <a:xfrm>
            <a:off x="512978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0" name="Text 42"/>
          <p:cNvSpPr txBox="1"/>
          <p:nvPr/>
        </p:nvSpPr>
        <p:spPr>
          <a:xfrm>
            <a:off x="5129784" y="298094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MASQUER</a:t>
            </a:r>
            <a:endParaRPr lang="en-US" sz="750" dirty="0"/>
          </a:p>
        </p:txBody>
      </p:sp>
      <p:sp>
        <p:nvSpPr>
          <p:cNvPr id="51" name="Text 43"/>
          <p:cNvSpPr txBox="1"/>
          <p:nvPr/>
        </p:nvSpPr>
        <p:spPr>
          <a:xfrm>
            <a:off x="337413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Feux de brousse et brûlis agricoles : intenses, brefs et très saisonniers.</a:t>
            </a:r>
            <a:endParaRPr lang="en-US" sz="900" dirty="0"/>
          </a:p>
        </p:txBody>
      </p:sp>
      <p:sp>
        <p:nvSpPr>
          <p:cNvPr id="52" name="Shape 44"/>
          <p:cNvSpPr/>
          <p:nvPr/>
        </p:nvSpPr>
        <p:spPr>
          <a:xfrm>
            <a:off x="6035040" y="2743200"/>
            <a:ext cx="2651760" cy="1280160"/>
          </a:xfrm>
          <a:prstGeom prst="roundRect">
            <a:avLst>
              <a:gd name="adj" fmla="val 5714"/>
            </a:avLst>
          </a:prstGeom>
          <a:solidFill>
            <a:srgbClr val="F4F7F5"/>
          </a:solidFill>
          <a:ln w="9525">
            <a:solidFill>
              <a:srgbClr val="D5DED9"/>
            </a:solidFill>
            <a:prstDash val="solid"/>
          </a:ln>
        </p:spPr>
      </p:sp>
      <p:sp>
        <p:nvSpPr>
          <p:cNvPr id="53" name="Shape 45"/>
          <p:cNvSpPr/>
          <p:nvPr/>
        </p:nvSpPr>
        <p:spPr>
          <a:xfrm>
            <a:off x="6144768" y="2852928"/>
            <a:ext cx="438912" cy="438912"/>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58885" y="2967045"/>
            <a:ext cx="210678" cy="210678"/>
          </a:xfrm>
          <a:prstGeom prst="rect">
            <a:avLst/>
          </a:prstGeom>
        </p:spPr>
      </p:pic>
      <p:sp>
        <p:nvSpPr>
          <p:cNvPr id="55" name="Text 46"/>
          <p:cNvSpPr txBox="1"/>
          <p:nvPr/>
        </p:nvSpPr>
        <p:spPr>
          <a:xfrm>
            <a:off x="6675120" y="2852928"/>
            <a:ext cx="1188720" cy="475488"/>
          </a:xfrm>
          <a:prstGeom prst="rect">
            <a:avLst/>
          </a:prstGeom>
          <a:noFill/>
          <a:ln/>
        </p:spPr>
        <p:txBody>
          <a:bodyPr wrap="square" lIns="0" tIns="0" rIns="0" bIns="0" rtlCol="0" anchor="ctr"/>
          <a:lstStyle/>
          <a:p>
            <a:pPr marL="0" indent="0">
              <a:buNone/>
            </a:pPr>
            <a:r>
              <a:rPr lang="en-US" sz="1100" b="1" dirty="0">
                <a:solidFill>
                  <a:srgbClr val="231F20"/>
                </a:solidFill>
                <a:latin typeface="Calibri" pitchFamily="34" charset="0"/>
                <a:ea typeface="Calibri" pitchFamily="34" charset="-122"/>
                <a:cs typeface="Calibri" pitchFamily="34" charset="-120"/>
              </a:rPr>
              <a:t>Lumière naturelle ou réfléchie</a:t>
            </a:r>
            <a:endParaRPr lang="en-US" sz="1100" dirty="0"/>
          </a:p>
        </p:txBody>
      </p:sp>
      <p:sp>
        <p:nvSpPr>
          <p:cNvPr id="56" name="Shape 47"/>
          <p:cNvSpPr/>
          <p:nvPr/>
        </p:nvSpPr>
        <p:spPr>
          <a:xfrm>
            <a:off x="7918704" y="2980944"/>
            <a:ext cx="676656" cy="219456"/>
          </a:xfrm>
          <a:prstGeom prst="roundRect">
            <a:avLst>
              <a:gd name="adj" fmla="val 50000"/>
            </a:avLst>
          </a:prstGeom>
          <a:solidFill>
            <a:srgbClr val="B83B2E">
              <a:alpha val="15000"/>
            </a:srgbClr>
          </a:solidFill>
          <a:ln w="9525">
            <a:solidFill>
              <a:srgbClr val="B83B2E"/>
            </a:solidFill>
            <a:prstDash val="solid"/>
          </a:ln>
        </p:spPr>
      </p:sp>
      <p:sp>
        <p:nvSpPr>
          <p:cNvPr id="57" name="Text 48"/>
          <p:cNvSpPr txBox="1"/>
          <p:nvPr/>
        </p:nvSpPr>
        <p:spPr>
          <a:xfrm>
            <a:off x="7918704" y="2980944"/>
            <a:ext cx="676656" cy="219456"/>
          </a:xfrm>
          <a:prstGeom prst="rect">
            <a:avLst/>
          </a:prstGeom>
          <a:noFill/>
          <a:ln/>
        </p:spPr>
        <p:txBody>
          <a:bodyPr wrap="square" lIns="0" tIns="0" rIns="0" bIns="0" rtlCol="0" anchor="ctr"/>
          <a:lstStyle/>
          <a:p>
            <a:pPr marL="0" indent="0" algn="ctr">
              <a:buNone/>
            </a:pPr>
            <a:r>
              <a:rPr lang="en-US" sz="750" b="1" dirty="0">
                <a:solidFill>
                  <a:srgbClr val="B83B2E"/>
                </a:solidFill>
                <a:latin typeface="Calibri" pitchFamily="34" charset="0"/>
                <a:ea typeface="Calibri" pitchFamily="34" charset="-122"/>
                <a:cs typeface="Calibri" pitchFamily="34" charset="-120"/>
              </a:rPr>
              <a:t>RETIRER</a:t>
            </a:r>
            <a:endParaRPr lang="en-US" sz="750" dirty="0"/>
          </a:p>
        </p:txBody>
      </p:sp>
      <p:sp>
        <p:nvSpPr>
          <p:cNvPr id="58" name="Text 49"/>
          <p:cNvSpPr txBox="1"/>
          <p:nvPr/>
        </p:nvSpPr>
        <p:spPr>
          <a:xfrm>
            <a:off x="6163056" y="3383280"/>
            <a:ext cx="2395728" cy="603504"/>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Clair de lune sur le sable clair ou les salines, luminescence nocturne. Aucun signal humain.</a:t>
            </a:r>
            <a:endParaRPr lang="en-US" sz="900" dirty="0"/>
          </a:p>
        </p:txBody>
      </p:sp>
      <p:sp>
        <p:nvSpPr>
          <p:cNvPr id="59" name="Text 50"/>
          <p:cNvSpPr txBox="1"/>
          <p:nvPr/>
        </p:nvSpPr>
        <p:spPr>
          <a:xfrm>
            <a:off x="457200" y="422452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Les torchères sont répertoriées séparément par le produit VIIRS Nightfire (Earth Observation Group).</a:t>
            </a:r>
            <a:endParaRPr lang="en-US" sz="9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INDICATEURS · LABO ANALYSER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Transformer une image en chiffre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17</a:t>
            </a:r>
            <a:endParaRPr lang="en-US" sz="850" dirty="0"/>
          </a:p>
        </p:txBody>
      </p:sp>
      <p:sp>
        <p:nvSpPr>
          <p:cNvPr id="17" name="Text 14"/>
          <p:cNvSpPr txBox="1"/>
          <p:nvPr/>
        </p:nvSpPr>
        <p:spPr>
          <a:xfrm>
            <a:off x="457200" y="1298448"/>
            <a:ext cx="2560320" cy="228600"/>
          </a:xfrm>
          <a:prstGeom prst="rect">
            <a:avLst/>
          </a:prstGeom>
          <a:noFill/>
          <a:ln/>
        </p:spPr>
        <p:txBody>
          <a:bodyPr wrap="square" lIns="0" tIns="0" rIns="0" bIns="0" rtlCol="0" anchor="t"/>
          <a:lstStyle/>
          <a:p>
            <a:pPr marL="0" indent="0">
              <a:buNone/>
            </a:pPr>
            <a:r>
              <a:rPr lang="en-US" sz="1100" b="1" dirty="0">
                <a:solidFill>
                  <a:srgbClr val="00704A"/>
                </a:solidFill>
                <a:latin typeface="Calibri" pitchFamily="34" charset="0"/>
                <a:ea typeface="Calibri" pitchFamily="34" charset="-122"/>
                <a:cs typeface="Calibri" pitchFamily="34" charset="-120"/>
              </a:rPr>
              <a:t>District fictif · radiance par pixel</a:t>
            </a:r>
            <a:endParaRPr lang="en-US" sz="1100" dirty="0"/>
          </a:p>
        </p:txBody>
      </p:sp>
      <p:sp>
        <p:nvSpPr>
          <p:cNvPr id="18" name="Shape 15"/>
          <p:cNvSpPr/>
          <p:nvPr/>
        </p:nvSpPr>
        <p:spPr>
          <a:xfrm>
            <a:off x="548640" y="1600200"/>
            <a:ext cx="566928" cy="566928"/>
          </a:xfrm>
          <a:prstGeom prst="rect">
            <a:avLst/>
          </a:prstGeom>
          <a:solidFill>
            <a:srgbClr val="F4F7F5"/>
          </a:solidFill>
          <a:ln w="19050">
            <a:solidFill>
              <a:srgbClr val="FFFFFF"/>
            </a:solidFill>
            <a:prstDash val="solid"/>
          </a:ln>
        </p:spPr>
      </p:sp>
      <p:sp>
        <p:nvSpPr>
          <p:cNvPr id="19" name="Text 16"/>
          <p:cNvSpPr txBox="1"/>
          <p:nvPr/>
        </p:nvSpPr>
        <p:spPr>
          <a:xfrm>
            <a:off x="548640"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0,1</a:t>
            </a:r>
            <a:endParaRPr lang="en-US" sz="1100" dirty="0"/>
          </a:p>
        </p:txBody>
      </p:sp>
      <p:sp>
        <p:nvSpPr>
          <p:cNvPr id="20" name="Shape 17"/>
          <p:cNvSpPr/>
          <p:nvPr/>
        </p:nvSpPr>
        <p:spPr>
          <a:xfrm>
            <a:off x="1115568" y="1600200"/>
            <a:ext cx="566928" cy="566928"/>
          </a:xfrm>
          <a:prstGeom prst="rect">
            <a:avLst/>
          </a:prstGeom>
          <a:solidFill>
            <a:srgbClr val="F4F7F5"/>
          </a:solidFill>
          <a:ln w="19050">
            <a:solidFill>
              <a:srgbClr val="FFFFFF"/>
            </a:solidFill>
            <a:prstDash val="solid"/>
          </a:ln>
        </p:spPr>
      </p:sp>
      <p:sp>
        <p:nvSpPr>
          <p:cNvPr id="21" name="Text 18"/>
          <p:cNvSpPr txBox="1"/>
          <p:nvPr/>
        </p:nvSpPr>
        <p:spPr>
          <a:xfrm>
            <a:off x="1115568"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22" name="Shape 19"/>
          <p:cNvSpPr/>
          <p:nvPr/>
        </p:nvSpPr>
        <p:spPr>
          <a:xfrm>
            <a:off x="1682496" y="1600200"/>
            <a:ext cx="566928" cy="566928"/>
          </a:xfrm>
          <a:prstGeom prst="rect">
            <a:avLst/>
          </a:prstGeom>
          <a:solidFill>
            <a:srgbClr val="F4F7F5"/>
          </a:solidFill>
          <a:ln w="19050">
            <a:solidFill>
              <a:srgbClr val="FFFFFF"/>
            </a:solidFill>
            <a:prstDash val="solid"/>
          </a:ln>
        </p:spPr>
      </p:sp>
      <p:sp>
        <p:nvSpPr>
          <p:cNvPr id="23" name="Text 20"/>
          <p:cNvSpPr txBox="1"/>
          <p:nvPr/>
        </p:nvSpPr>
        <p:spPr>
          <a:xfrm>
            <a:off x="1682496"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24" name="Shape 21"/>
          <p:cNvSpPr/>
          <p:nvPr/>
        </p:nvSpPr>
        <p:spPr>
          <a:xfrm>
            <a:off x="2249424" y="1600200"/>
            <a:ext cx="566928" cy="566928"/>
          </a:xfrm>
          <a:prstGeom prst="rect">
            <a:avLst/>
          </a:prstGeom>
          <a:solidFill>
            <a:srgbClr val="F4F7F5"/>
          </a:solidFill>
          <a:ln w="19050">
            <a:solidFill>
              <a:srgbClr val="FFFFFF"/>
            </a:solidFill>
            <a:prstDash val="solid"/>
          </a:ln>
        </p:spPr>
      </p:sp>
      <p:sp>
        <p:nvSpPr>
          <p:cNvPr id="25" name="Text 22"/>
          <p:cNvSpPr txBox="1"/>
          <p:nvPr/>
        </p:nvSpPr>
        <p:spPr>
          <a:xfrm>
            <a:off x="2249424" y="1600200"/>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26" name="Shape 23"/>
          <p:cNvSpPr/>
          <p:nvPr/>
        </p:nvSpPr>
        <p:spPr>
          <a:xfrm>
            <a:off x="548640" y="2167128"/>
            <a:ext cx="566928" cy="566928"/>
          </a:xfrm>
          <a:prstGeom prst="rect">
            <a:avLst/>
          </a:prstGeom>
          <a:solidFill>
            <a:srgbClr val="F4F7F5"/>
          </a:solidFill>
          <a:ln w="19050">
            <a:solidFill>
              <a:srgbClr val="FFFFFF"/>
            </a:solidFill>
            <a:prstDash val="solid"/>
          </a:ln>
        </p:spPr>
      </p:sp>
      <p:sp>
        <p:nvSpPr>
          <p:cNvPr id="27" name="Text 24"/>
          <p:cNvSpPr txBox="1"/>
          <p:nvPr/>
        </p:nvSpPr>
        <p:spPr>
          <a:xfrm>
            <a:off x="548640" y="2167128"/>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0,4</a:t>
            </a:r>
            <a:endParaRPr lang="en-US" sz="1100" dirty="0"/>
          </a:p>
        </p:txBody>
      </p:sp>
      <p:sp>
        <p:nvSpPr>
          <p:cNvPr id="28" name="Shape 25"/>
          <p:cNvSpPr/>
          <p:nvPr/>
        </p:nvSpPr>
        <p:spPr>
          <a:xfrm>
            <a:off x="1115568" y="2167128"/>
            <a:ext cx="566928" cy="566928"/>
          </a:xfrm>
          <a:prstGeom prst="rect">
            <a:avLst/>
          </a:prstGeom>
          <a:solidFill>
            <a:srgbClr val="10A06A"/>
          </a:solidFill>
          <a:ln w="19050">
            <a:solidFill>
              <a:srgbClr val="FFFFFF"/>
            </a:solidFill>
            <a:prstDash val="solid"/>
          </a:ln>
        </p:spPr>
      </p:sp>
      <p:sp>
        <p:nvSpPr>
          <p:cNvPr id="29" name="Text 26"/>
          <p:cNvSpPr txBox="1"/>
          <p:nvPr/>
        </p:nvSpPr>
        <p:spPr>
          <a:xfrm>
            <a:off x="1115568"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2,5</a:t>
            </a:r>
            <a:endParaRPr lang="en-US" sz="1100" dirty="0"/>
          </a:p>
        </p:txBody>
      </p:sp>
      <p:sp>
        <p:nvSpPr>
          <p:cNvPr id="30" name="Shape 27"/>
          <p:cNvSpPr/>
          <p:nvPr/>
        </p:nvSpPr>
        <p:spPr>
          <a:xfrm>
            <a:off x="1682496" y="2167128"/>
            <a:ext cx="566928" cy="566928"/>
          </a:xfrm>
          <a:prstGeom prst="rect">
            <a:avLst/>
          </a:prstGeom>
          <a:solidFill>
            <a:srgbClr val="00664A"/>
          </a:solidFill>
          <a:ln w="19050">
            <a:solidFill>
              <a:srgbClr val="FFFFFF"/>
            </a:solidFill>
            <a:prstDash val="solid"/>
          </a:ln>
        </p:spPr>
      </p:sp>
      <p:sp>
        <p:nvSpPr>
          <p:cNvPr id="31" name="Text 28"/>
          <p:cNvSpPr txBox="1"/>
          <p:nvPr/>
        </p:nvSpPr>
        <p:spPr>
          <a:xfrm>
            <a:off x="1682496" y="216712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6,0</a:t>
            </a:r>
            <a:endParaRPr lang="en-US" sz="1100" dirty="0"/>
          </a:p>
        </p:txBody>
      </p:sp>
      <p:sp>
        <p:nvSpPr>
          <p:cNvPr id="32" name="Shape 29"/>
          <p:cNvSpPr/>
          <p:nvPr/>
        </p:nvSpPr>
        <p:spPr>
          <a:xfrm>
            <a:off x="2249424" y="2167128"/>
            <a:ext cx="566928" cy="566928"/>
          </a:xfrm>
          <a:prstGeom prst="rect">
            <a:avLst/>
          </a:prstGeom>
          <a:solidFill>
            <a:srgbClr val="7BCBA9"/>
          </a:solidFill>
          <a:ln w="19050">
            <a:solidFill>
              <a:srgbClr val="FFFFFF"/>
            </a:solidFill>
            <a:prstDash val="solid"/>
          </a:ln>
        </p:spPr>
      </p:sp>
      <p:sp>
        <p:nvSpPr>
          <p:cNvPr id="33" name="Text 30"/>
          <p:cNvSpPr txBox="1"/>
          <p:nvPr/>
        </p:nvSpPr>
        <p:spPr>
          <a:xfrm>
            <a:off x="2249424" y="2167128"/>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0,6</a:t>
            </a:r>
            <a:endParaRPr lang="en-US" sz="1100" dirty="0"/>
          </a:p>
        </p:txBody>
      </p:sp>
      <p:sp>
        <p:nvSpPr>
          <p:cNvPr id="34" name="Shape 31"/>
          <p:cNvSpPr/>
          <p:nvPr/>
        </p:nvSpPr>
        <p:spPr>
          <a:xfrm>
            <a:off x="548640" y="2734056"/>
            <a:ext cx="566928" cy="566928"/>
          </a:xfrm>
          <a:prstGeom prst="rect">
            <a:avLst/>
          </a:prstGeom>
          <a:solidFill>
            <a:srgbClr val="F4F7F5"/>
          </a:solidFill>
          <a:ln w="19050">
            <a:solidFill>
              <a:srgbClr val="FFFFFF"/>
            </a:solidFill>
            <a:prstDash val="solid"/>
          </a:ln>
        </p:spPr>
      </p:sp>
      <p:sp>
        <p:nvSpPr>
          <p:cNvPr id="35" name="Text 32"/>
          <p:cNvSpPr txBox="1"/>
          <p:nvPr/>
        </p:nvSpPr>
        <p:spPr>
          <a:xfrm>
            <a:off x="548640" y="2734056"/>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0,2</a:t>
            </a:r>
            <a:endParaRPr lang="en-US" sz="1100" dirty="0"/>
          </a:p>
        </p:txBody>
      </p:sp>
      <p:sp>
        <p:nvSpPr>
          <p:cNvPr id="36" name="Shape 33"/>
          <p:cNvSpPr/>
          <p:nvPr/>
        </p:nvSpPr>
        <p:spPr>
          <a:xfrm>
            <a:off x="1115568" y="2734056"/>
            <a:ext cx="566928" cy="566928"/>
          </a:xfrm>
          <a:prstGeom prst="rect">
            <a:avLst/>
          </a:prstGeom>
          <a:solidFill>
            <a:srgbClr val="10A06A"/>
          </a:solidFill>
          <a:ln w="19050">
            <a:solidFill>
              <a:srgbClr val="FFFFFF"/>
            </a:solidFill>
            <a:prstDash val="solid"/>
          </a:ln>
        </p:spPr>
      </p:sp>
      <p:sp>
        <p:nvSpPr>
          <p:cNvPr id="37" name="Text 34"/>
          <p:cNvSpPr txBox="1"/>
          <p:nvPr/>
        </p:nvSpPr>
        <p:spPr>
          <a:xfrm>
            <a:off x="1115568"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4,0</a:t>
            </a:r>
            <a:endParaRPr lang="en-US" sz="1100" dirty="0"/>
          </a:p>
        </p:txBody>
      </p:sp>
      <p:sp>
        <p:nvSpPr>
          <p:cNvPr id="38" name="Shape 35"/>
          <p:cNvSpPr/>
          <p:nvPr/>
        </p:nvSpPr>
        <p:spPr>
          <a:xfrm>
            <a:off x="1682496" y="2734056"/>
            <a:ext cx="566928" cy="566928"/>
          </a:xfrm>
          <a:prstGeom prst="rect">
            <a:avLst/>
          </a:prstGeom>
          <a:solidFill>
            <a:srgbClr val="00664A"/>
          </a:solidFill>
          <a:ln w="19050">
            <a:solidFill>
              <a:srgbClr val="FFFFFF"/>
            </a:solidFill>
            <a:prstDash val="solid"/>
          </a:ln>
        </p:spPr>
      </p:sp>
      <p:sp>
        <p:nvSpPr>
          <p:cNvPr id="39" name="Text 36"/>
          <p:cNvSpPr txBox="1"/>
          <p:nvPr/>
        </p:nvSpPr>
        <p:spPr>
          <a:xfrm>
            <a:off x="1682496" y="27340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12,0</a:t>
            </a:r>
            <a:endParaRPr lang="en-US" sz="1100" dirty="0"/>
          </a:p>
        </p:txBody>
      </p:sp>
      <p:sp>
        <p:nvSpPr>
          <p:cNvPr id="40" name="Shape 37"/>
          <p:cNvSpPr/>
          <p:nvPr/>
        </p:nvSpPr>
        <p:spPr>
          <a:xfrm>
            <a:off x="2249424" y="2734056"/>
            <a:ext cx="566928" cy="566928"/>
          </a:xfrm>
          <a:prstGeom prst="rect">
            <a:avLst/>
          </a:prstGeom>
          <a:solidFill>
            <a:srgbClr val="7BCBA9"/>
          </a:solidFill>
          <a:ln w="19050">
            <a:solidFill>
              <a:srgbClr val="FFFFFF"/>
            </a:solidFill>
            <a:prstDash val="solid"/>
          </a:ln>
        </p:spPr>
      </p:sp>
      <p:sp>
        <p:nvSpPr>
          <p:cNvPr id="41" name="Text 38"/>
          <p:cNvSpPr txBox="1"/>
          <p:nvPr/>
        </p:nvSpPr>
        <p:spPr>
          <a:xfrm>
            <a:off x="2249424" y="2734056"/>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1,5</a:t>
            </a:r>
            <a:endParaRPr lang="en-US" sz="1100" dirty="0"/>
          </a:p>
        </p:txBody>
      </p:sp>
      <p:sp>
        <p:nvSpPr>
          <p:cNvPr id="42" name="Shape 39"/>
          <p:cNvSpPr/>
          <p:nvPr/>
        </p:nvSpPr>
        <p:spPr>
          <a:xfrm>
            <a:off x="548640" y="3300984"/>
            <a:ext cx="566928" cy="566928"/>
          </a:xfrm>
          <a:prstGeom prst="rect">
            <a:avLst/>
          </a:prstGeom>
          <a:solidFill>
            <a:srgbClr val="F4F7F5"/>
          </a:solidFill>
          <a:ln w="19050">
            <a:solidFill>
              <a:srgbClr val="FFFFFF"/>
            </a:solidFill>
            <a:prstDash val="solid"/>
          </a:ln>
        </p:spPr>
      </p:sp>
      <p:sp>
        <p:nvSpPr>
          <p:cNvPr id="43" name="Text 40"/>
          <p:cNvSpPr txBox="1"/>
          <p:nvPr/>
        </p:nvSpPr>
        <p:spPr>
          <a:xfrm>
            <a:off x="548640"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0,0</a:t>
            </a:r>
            <a:endParaRPr lang="en-US" sz="1100" dirty="0"/>
          </a:p>
        </p:txBody>
      </p:sp>
      <p:sp>
        <p:nvSpPr>
          <p:cNvPr id="44" name="Shape 41"/>
          <p:cNvSpPr/>
          <p:nvPr/>
        </p:nvSpPr>
        <p:spPr>
          <a:xfrm>
            <a:off x="1115568" y="3300984"/>
            <a:ext cx="566928" cy="566928"/>
          </a:xfrm>
          <a:prstGeom prst="rect">
            <a:avLst/>
          </a:prstGeom>
          <a:solidFill>
            <a:srgbClr val="7BCBA9"/>
          </a:solidFill>
          <a:ln w="19050">
            <a:solidFill>
              <a:srgbClr val="FFFFFF"/>
            </a:solidFill>
            <a:prstDash val="solid"/>
          </a:ln>
        </p:spPr>
      </p:sp>
      <p:sp>
        <p:nvSpPr>
          <p:cNvPr id="45" name="Text 42"/>
          <p:cNvSpPr txBox="1"/>
          <p:nvPr/>
        </p:nvSpPr>
        <p:spPr>
          <a:xfrm>
            <a:off x="1115568"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0,8</a:t>
            </a:r>
            <a:endParaRPr lang="en-US" sz="1100" dirty="0"/>
          </a:p>
        </p:txBody>
      </p:sp>
      <p:sp>
        <p:nvSpPr>
          <p:cNvPr id="46" name="Shape 43"/>
          <p:cNvSpPr/>
          <p:nvPr/>
        </p:nvSpPr>
        <p:spPr>
          <a:xfrm>
            <a:off x="1682496" y="3300984"/>
            <a:ext cx="566928" cy="566928"/>
          </a:xfrm>
          <a:prstGeom prst="rect">
            <a:avLst/>
          </a:prstGeom>
          <a:solidFill>
            <a:srgbClr val="7BCBA9"/>
          </a:solidFill>
          <a:ln w="19050">
            <a:solidFill>
              <a:srgbClr val="FFFFFF"/>
            </a:solidFill>
            <a:prstDash val="solid"/>
          </a:ln>
        </p:spPr>
      </p:sp>
      <p:sp>
        <p:nvSpPr>
          <p:cNvPr id="47" name="Text 44"/>
          <p:cNvSpPr txBox="1"/>
          <p:nvPr/>
        </p:nvSpPr>
        <p:spPr>
          <a:xfrm>
            <a:off x="1682496" y="3300984"/>
            <a:ext cx="566928" cy="566928"/>
          </a:xfrm>
          <a:prstGeom prst="rect">
            <a:avLst/>
          </a:prstGeom>
          <a:noFill/>
          <a:ln/>
        </p:spPr>
        <p:txBody>
          <a:bodyPr wrap="square" lIns="0" tIns="0" rIns="0" bIns="0" rtlCol="0" anchor="ctr"/>
          <a:lstStyle/>
          <a:p>
            <a:pPr marL="0" indent="0" algn="ctr">
              <a:buNone/>
            </a:pPr>
            <a:r>
              <a:rPr lang="en-US" sz="1100" b="1" dirty="0">
                <a:solidFill>
                  <a:srgbClr val="231F20"/>
                </a:solidFill>
                <a:latin typeface="Calibri" pitchFamily="34" charset="0"/>
                <a:ea typeface="Calibri" pitchFamily="34" charset="-122"/>
                <a:cs typeface="Calibri" pitchFamily="34" charset="-120"/>
              </a:rPr>
              <a:t>1,2</a:t>
            </a:r>
            <a:endParaRPr lang="en-US" sz="1100" dirty="0"/>
          </a:p>
        </p:txBody>
      </p:sp>
      <p:sp>
        <p:nvSpPr>
          <p:cNvPr id="48" name="Shape 45"/>
          <p:cNvSpPr/>
          <p:nvPr/>
        </p:nvSpPr>
        <p:spPr>
          <a:xfrm>
            <a:off x="2249424" y="3300984"/>
            <a:ext cx="566928" cy="566928"/>
          </a:xfrm>
          <a:prstGeom prst="rect">
            <a:avLst/>
          </a:prstGeom>
          <a:solidFill>
            <a:srgbClr val="F4F7F5"/>
          </a:solidFill>
          <a:ln w="19050">
            <a:solidFill>
              <a:srgbClr val="FFFFFF"/>
            </a:solidFill>
            <a:prstDash val="solid"/>
          </a:ln>
        </p:spPr>
      </p:sp>
      <p:sp>
        <p:nvSpPr>
          <p:cNvPr id="49" name="Text 46"/>
          <p:cNvSpPr txBox="1"/>
          <p:nvPr/>
        </p:nvSpPr>
        <p:spPr>
          <a:xfrm>
            <a:off x="2249424" y="3300984"/>
            <a:ext cx="566928" cy="566928"/>
          </a:xfrm>
          <a:prstGeom prst="rect">
            <a:avLst/>
          </a:prstGeom>
          <a:noFill/>
          <a:ln/>
        </p:spPr>
        <p:txBody>
          <a:bodyPr wrap="square" lIns="0" tIns="0" rIns="0" bIns="0" rtlCol="0" anchor="ctr"/>
          <a:lstStyle/>
          <a:p>
            <a:pPr marL="0" indent="0" algn="ctr">
              <a:buNone/>
            </a:pPr>
            <a:r>
              <a:rPr lang="en-US" sz="1100" dirty="0">
                <a:solidFill>
                  <a:srgbClr val="231F20"/>
                </a:solidFill>
                <a:latin typeface="Calibri" pitchFamily="34" charset="0"/>
                <a:ea typeface="Calibri" pitchFamily="34" charset="-122"/>
                <a:cs typeface="Calibri" pitchFamily="34" charset="-120"/>
              </a:rPr>
              <a:t>0,3</a:t>
            </a:r>
            <a:endParaRPr lang="en-US" sz="1100" dirty="0"/>
          </a:p>
        </p:txBody>
      </p:sp>
      <p:sp>
        <p:nvSpPr>
          <p:cNvPr id="50" name="Text 47"/>
          <p:cNvSpPr txBox="1"/>
          <p:nvPr/>
        </p:nvSpPr>
        <p:spPr>
          <a:xfrm>
            <a:off x="457200" y="3931920"/>
            <a:ext cx="2606040" cy="201168"/>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En couleur = au-dessus du seuil de 0,5 nW·cm⁻²·sr⁻¹</a:t>
            </a:r>
            <a:endParaRPr lang="en-US" sz="850" dirty="0"/>
          </a:p>
        </p:txBody>
      </p:sp>
      <p:sp>
        <p:nvSpPr>
          <p:cNvPr id="51" name="Shape 48"/>
          <p:cNvSpPr/>
          <p:nvPr/>
        </p:nvSpPr>
        <p:spPr>
          <a:xfrm>
            <a:off x="3154680" y="1325880"/>
            <a:ext cx="5532120" cy="749808"/>
          </a:xfrm>
          <a:prstGeom prst="roundRect">
            <a:avLst>
              <a:gd name="adj" fmla="val 9756"/>
            </a:avLst>
          </a:prstGeom>
          <a:solidFill>
            <a:srgbClr val="F4F7F5"/>
          </a:solidFill>
          <a:ln w="9525">
            <a:solidFill>
              <a:srgbClr val="D5DED9"/>
            </a:solidFill>
            <a:prstDash val="solid"/>
          </a:ln>
        </p:spPr>
      </p:sp>
      <p:sp>
        <p:nvSpPr>
          <p:cNvPr id="52" name="Text 49"/>
          <p:cNvSpPr txBox="1"/>
          <p:nvPr/>
        </p:nvSpPr>
        <p:spPr>
          <a:xfrm>
            <a:off x="3246120" y="1399032"/>
            <a:ext cx="1051560" cy="603504"/>
          </a:xfrm>
          <a:prstGeom prst="rect">
            <a:avLst/>
          </a:prstGeom>
          <a:noFill/>
          <a:ln/>
        </p:spPr>
        <p:txBody>
          <a:bodyPr wrap="square" lIns="0" tIns="0" rIns="0" bIns="0" rtlCol="0" anchor="ctr"/>
          <a:lstStyle/>
          <a:p>
            <a:pPr marL="0" indent="0" algn="ctr">
              <a:buNone/>
            </a:pPr>
            <a:r>
              <a:rPr lang="en-US" sz="2800" b="1" dirty="0">
                <a:solidFill>
                  <a:srgbClr val="00A86A"/>
                </a:solidFill>
                <a:latin typeface="Calibri" pitchFamily="34" charset="0"/>
                <a:ea typeface="Calibri" pitchFamily="34" charset="-122"/>
                <a:cs typeface="Calibri" pitchFamily="34" charset="-120"/>
              </a:rPr>
              <a:t>30,1</a:t>
            </a:r>
            <a:endParaRPr lang="en-US" sz="2800" dirty="0"/>
          </a:p>
        </p:txBody>
      </p:sp>
      <p:sp>
        <p:nvSpPr>
          <p:cNvPr id="53" name="Text 50"/>
          <p:cNvSpPr txBox="1"/>
          <p:nvPr/>
        </p:nvSpPr>
        <p:spPr>
          <a:xfrm>
            <a:off x="4389120" y="139903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Somme des lumières (SOL)</a:t>
            </a:r>
            <a:endParaRPr lang="en-US" sz="1250" dirty="0"/>
          </a:p>
        </p:txBody>
      </p:sp>
      <p:sp>
        <p:nvSpPr>
          <p:cNvPr id="54" name="Text 51"/>
          <p:cNvSpPr txBox="1"/>
          <p:nvPr/>
        </p:nvSpPr>
        <p:spPr>
          <a:xfrm>
            <a:off x="4389120" y="163677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Radiance totale dans un contour. </a:t>
            </a:r>
            <a:r>
              <a:rPr lang="en-US" sz="950" dirty="0">
                <a:solidFill>
                  <a:srgbClr val="5E6964"/>
                </a:solidFill>
                <a:latin typeface="Calibri" pitchFamily="34" charset="0"/>
                <a:ea typeface="Calibri" pitchFamily="34" charset="-122"/>
                <a:cs typeface="Calibri" pitchFamily="34" charset="-120"/>
              </a:rPr>
              <a:t>Indicateur phare de la littérature économique ; le plus sensible au bruit de fond.</a:t>
            </a:r>
            <a:endParaRPr lang="en-US" sz="950" dirty="0"/>
          </a:p>
        </p:txBody>
      </p:sp>
      <p:sp>
        <p:nvSpPr>
          <p:cNvPr id="55" name="Shape 52"/>
          <p:cNvSpPr/>
          <p:nvPr/>
        </p:nvSpPr>
        <p:spPr>
          <a:xfrm>
            <a:off x="3154680" y="2194560"/>
            <a:ext cx="5532120" cy="749808"/>
          </a:xfrm>
          <a:prstGeom prst="roundRect">
            <a:avLst>
              <a:gd name="adj" fmla="val 9756"/>
            </a:avLst>
          </a:prstGeom>
          <a:solidFill>
            <a:srgbClr val="F4F7F5"/>
          </a:solidFill>
          <a:ln w="9525">
            <a:solidFill>
              <a:srgbClr val="D5DED9"/>
            </a:solidFill>
            <a:prstDash val="solid"/>
          </a:ln>
        </p:spPr>
      </p:sp>
      <p:sp>
        <p:nvSpPr>
          <p:cNvPr id="56" name="Text 53"/>
          <p:cNvSpPr txBox="1"/>
          <p:nvPr/>
        </p:nvSpPr>
        <p:spPr>
          <a:xfrm>
            <a:off x="3246120" y="2267712"/>
            <a:ext cx="1051560" cy="603504"/>
          </a:xfrm>
          <a:prstGeom prst="rect">
            <a:avLst/>
          </a:prstGeom>
          <a:noFill/>
          <a:ln/>
        </p:spPr>
        <p:txBody>
          <a:bodyPr wrap="square" lIns="0" tIns="0" rIns="0" bIns="0" rtlCol="0" anchor="ctr"/>
          <a:lstStyle/>
          <a:p>
            <a:pPr marL="0" indent="0" algn="ctr">
              <a:buNone/>
            </a:pPr>
            <a:r>
              <a:rPr lang="en-US" sz="2800" b="1" dirty="0">
                <a:solidFill>
                  <a:srgbClr val="00704A"/>
                </a:solidFill>
                <a:latin typeface="Calibri" pitchFamily="34" charset="0"/>
                <a:ea typeface="Calibri" pitchFamily="34" charset="-122"/>
                <a:cs typeface="Calibri" pitchFamily="34" charset="-120"/>
              </a:rPr>
              <a:t>8 px</a:t>
            </a:r>
            <a:endParaRPr lang="en-US" sz="2800" dirty="0"/>
          </a:p>
        </p:txBody>
      </p:sp>
      <p:sp>
        <p:nvSpPr>
          <p:cNvPr id="57" name="Text 54"/>
          <p:cNvSpPr txBox="1"/>
          <p:nvPr/>
        </p:nvSpPr>
        <p:spPr>
          <a:xfrm>
            <a:off x="4389120" y="226771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Surface éclairée</a:t>
            </a:r>
            <a:endParaRPr lang="en-US" sz="1250" dirty="0"/>
          </a:p>
        </p:txBody>
      </p:sp>
      <p:sp>
        <p:nvSpPr>
          <p:cNvPr id="58" name="Text 55"/>
          <p:cNvSpPr txBox="1"/>
          <p:nvPr/>
        </p:nvSpPr>
        <p:spPr>
          <a:xfrm>
            <a:off x="4389120" y="250545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Pixels au-dessus d’un seuil choisi. </a:t>
            </a:r>
            <a:r>
              <a:rPr lang="en-US" sz="950" dirty="0">
                <a:solidFill>
                  <a:srgbClr val="5E6964"/>
                </a:solidFill>
                <a:latin typeface="Calibri" pitchFamily="34" charset="0"/>
                <a:ea typeface="Calibri" pitchFamily="34" charset="-122"/>
                <a:cs typeface="Calibri" pitchFamily="34" charset="-120"/>
              </a:rPr>
              <a:t>Intuitive — mais le seuil est un choix de l’analyste.</a:t>
            </a:r>
            <a:endParaRPr lang="en-US" sz="950" dirty="0"/>
          </a:p>
        </p:txBody>
      </p:sp>
      <p:sp>
        <p:nvSpPr>
          <p:cNvPr id="59" name="Shape 56"/>
          <p:cNvSpPr/>
          <p:nvPr/>
        </p:nvSpPr>
        <p:spPr>
          <a:xfrm>
            <a:off x="3154680" y="3063240"/>
            <a:ext cx="5532120" cy="749808"/>
          </a:xfrm>
          <a:prstGeom prst="roundRect">
            <a:avLst>
              <a:gd name="adj" fmla="val 9756"/>
            </a:avLst>
          </a:prstGeom>
          <a:solidFill>
            <a:srgbClr val="F4F7F5"/>
          </a:solidFill>
          <a:ln w="9525">
            <a:solidFill>
              <a:srgbClr val="D5DED9"/>
            </a:solidFill>
            <a:prstDash val="solid"/>
          </a:ln>
        </p:spPr>
      </p:sp>
      <p:sp>
        <p:nvSpPr>
          <p:cNvPr id="60" name="Text 57"/>
          <p:cNvSpPr txBox="1"/>
          <p:nvPr/>
        </p:nvSpPr>
        <p:spPr>
          <a:xfrm>
            <a:off x="3246120" y="3136392"/>
            <a:ext cx="1051560" cy="603504"/>
          </a:xfrm>
          <a:prstGeom prst="rect">
            <a:avLst/>
          </a:prstGeom>
          <a:noFill/>
          <a:ln/>
        </p:spPr>
        <p:txBody>
          <a:bodyPr wrap="square" lIns="0" tIns="0" rIns="0" bIns="0" rtlCol="0" anchor="ctr"/>
          <a:lstStyle/>
          <a:p>
            <a:pPr marL="0" indent="0" algn="ctr">
              <a:buNone/>
            </a:pPr>
            <a:r>
              <a:rPr lang="en-US" sz="2800" b="1" dirty="0">
                <a:solidFill>
                  <a:srgbClr val="0E7C86"/>
                </a:solidFill>
                <a:latin typeface="Calibri" pitchFamily="34" charset="0"/>
                <a:ea typeface="Calibri" pitchFamily="34" charset="-122"/>
                <a:cs typeface="Calibri" pitchFamily="34" charset="-120"/>
              </a:rPr>
              <a:t>3,6</a:t>
            </a:r>
            <a:endParaRPr lang="en-US" sz="2800" dirty="0"/>
          </a:p>
        </p:txBody>
      </p:sp>
      <p:sp>
        <p:nvSpPr>
          <p:cNvPr id="61" name="Text 58"/>
          <p:cNvSpPr txBox="1"/>
          <p:nvPr/>
        </p:nvSpPr>
        <p:spPr>
          <a:xfrm>
            <a:off x="4389120" y="3136392"/>
            <a:ext cx="4206240" cy="228600"/>
          </a:xfrm>
          <a:prstGeom prst="rect">
            <a:avLst/>
          </a:prstGeom>
          <a:noFill/>
          <a:ln/>
        </p:spPr>
        <p:txBody>
          <a:bodyPr wrap="square" lIns="0" tIns="0" rIns="0" bIns="0" rtlCol="0" anchor="t"/>
          <a:lstStyle/>
          <a:p>
            <a:pPr marL="0" indent="0">
              <a:buNone/>
            </a:pPr>
            <a:r>
              <a:rPr lang="en-US" sz="1250" b="1" dirty="0">
                <a:solidFill>
                  <a:srgbClr val="231F20"/>
                </a:solidFill>
                <a:latin typeface="Calibri" pitchFamily="34" charset="0"/>
                <a:ea typeface="Calibri" pitchFamily="34" charset="-122"/>
                <a:cs typeface="Calibri" pitchFamily="34" charset="-120"/>
              </a:rPr>
              <a:t>Radiance moyenne (éclairée)</a:t>
            </a:r>
            <a:endParaRPr lang="en-US" sz="1250" dirty="0"/>
          </a:p>
        </p:txBody>
      </p:sp>
      <p:sp>
        <p:nvSpPr>
          <p:cNvPr id="62" name="Text 59"/>
          <p:cNvSpPr txBox="1"/>
          <p:nvPr/>
        </p:nvSpPr>
        <p:spPr>
          <a:xfrm>
            <a:off x="4389120" y="3374136"/>
            <a:ext cx="4206240" cy="411480"/>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Intensité indépendante de l’étendue. </a:t>
            </a:r>
            <a:r>
              <a:rPr lang="en-US" sz="950" dirty="0">
                <a:solidFill>
                  <a:srgbClr val="5E6964"/>
                </a:solidFill>
                <a:latin typeface="Calibri" pitchFamily="34" charset="0"/>
                <a:ea typeface="Calibri" pitchFamily="34" charset="-122"/>
                <a:cs typeface="Calibri" pitchFamily="34" charset="-120"/>
              </a:rPr>
              <a:t>Distingue un district qui s’illumine d’un district qui s’étend.</a:t>
            </a:r>
            <a:endParaRPr lang="en-US" sz="950" dirty="0"/>
          </a:p>
        </p:txBody>
      </p:sp>
      <p:sp>
        <p:nvSpPr>
          <p:cNvPr id="63" name="Shape 60"/>
          <p:cNvSpPr/>
          <p:nvPr/>
        </p:nvSpPr>
        <p:spPr>
          <a:xfrm>
            <a:off x="3154680" y="3977640"/>
            <a:ext cx="5532120" cy="594360"/>
          </a:xfrm>
          <a:prstGeom prst="roundRect">
            <a:avLst>
              <a:gd name="adj" fmla="val 12308"/>
            </a:avLst>
          </a:prstGeom>
          <a:solidFill>
            <a:srgbClr val="D49A00">
              <a:alpha val="13000"/>
            </a:srgbClr>
          </a:solidFill>
          <a:ln w="12700">
            <a:solidFill>
              <a:srgbClr val="D49A00"/>
            </a:solidFill>
            <a:prstDash val="solid"/>
          </a:ln>
        </p:spPr>
      </p:sp>
      <p:sp>
        <p:nvSpPr>
          <p:cNvPr id="64" name="Shape 61"/>
          <p:cNvSpPr/>
          <p:nvPr/>
        </p:nvSpPr>
        <p:spPr>
          <a:xfrm>
            <a:off x="3246120" y="4078224"/>
            <a:ext cx="365760" cy="365760"/>
          </a:xfrm>
          <a:prstGeom prst="ellipse">
            <a:avLst/>
          </a:prstGeom>
          <a:solidFill>
            <a:srgbClr val="D49A00">
              <a:alpha val="22000"/>
            </a:srgbClr>
          </a:solidFill>
          <a:ln w="12700">
            <a:solidFill>
              <a:srgbClr val="D49A00">
                <a:alpha val="0"/>
              </a:srgbClr>
            </a:solidFill>
            <a:prstDash val="solid"/>
          </a:ln>
        </p:spPr>
      </p:sp>
      <p:pic>
        <p:nvPicPr>
          <p:cNvPr id="65" name="Image 0" descr="preencoded.png"/>
          <p:cNvPicPr>
            <a:picLocks noChangeAspect="1"/>
          </p:cNvPicPr>
          <p:nvPr/>
        </p:nvPicPr>
        <p:blipFill>
          <a:blip r:embed="rId3"/>
          <a:stretch>
            <a:fillRect/>
          </a:stretch>
        </p:blipFill>
        <p:spPr>
          <a:xfrm>
            <a:off x="3341218" y="4173322"/>
            <a:ext cx="175565" cy="175565"/>
          </a:xfrm>
          <a:prstGeom prst="rect">
            <a:avLst/>
          </a:prstGeom>
        </p:spPr>
      </p:pic>
      <p:sp>
        <p:nvSpPr>
          <p:cNvPr id="66" name="Text 62"/>
          <p:cNvSpPr txBox="1"/>
          <p:nvPr/>
        </p:nvSpPr>
        <p:spPr>
          <a:xfrm>
            <a:off x="3703320" y="3995928"/>
            <a:ext cx="4919472" cy="557784"/>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Seuil relevé à 1,0 → la surface éclairée passe de 8 à 6 pixels (−25 %). </a:t>
            </a:r>
            <a:r>
              <a:rPr lang="en-US" sz="950" dirty="0">
                <a:solidFill>
                  <a:srgbClr val="231F20"/>
                </a:solidFill>
                <a:latin typeface="Calibri" pitchFamily="34" charset="0"/>
                <a:ea typeface="Calibri" pitchFamily="34" charset="-122"/>
                <a:cs typeface="Calibri" pitchFamily="34" charset="-120"/>
              </a:rPr>
              <a:t>Toujours déclarer produit, version, contour, seuil et masques — et tester le seuil.</a:t>
            </a:r>
            <a:endParaRPr lang="en-US" sz="950" dirty="0"/>
          </a:p>
        </p:txBody>
      </p:sp>
      <p:sp>
        <p:nvSpPr>
          <p:cNvPr id="67" name="Text 63"/>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Valeurs illustratives. La concentration de la lumière (Gini de la radiance) forme une 4ᵉ famille, utilisée pour l’inégalité spatiale.</a:t>
            </a:r>
            <a:endParaRPr lang="en-US" sz="90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03 · DES PHOTONS AUX DONNÉES · EXEMPLE COMMENTÉ</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Une question, de bout en bout</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0E7C86"/>
          </a:solidFill>
          <a:ln w="12700">
            <a:solidFill>
              <a:srgbClr val="0E7C86"/>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18</a:t>
            </a:r>
            <a:endParaRPr lang="en-US" sz="850" dirty="0"/>
          </a:p>
        </p:txBody>
      </p:sp>
      <p:sp>
        <p:nvSpPr>
          <p:cNvPr id="17" name="Shape 14"/>
          <p:cNvSpPr/>
          <p:nvPr/>
        </p:nvSpPr>
        <p:spPr>
          <a:xfrm>
            <a:off x="457200" y="1298448"/>
            <a:ext cx="8229600" cy="457200"/>
          </a:xfrm>
          <a:prstGeom prst="roundRect">
            <a:avLst>
              <a:gd name="adj" fmla="val 16000"/>
            </a:avLst>
          </a:prstGeom>
          <a:solidFill>
            <a:srgbClr val="E8F5EF"/>
          </a:solidFill>
          <a:ln w="15875">
            <a:solidFill>
              <a:srgbClr val="00A86A"/>
            </a:solidFill>
            <a:prstDash val="solid"/>
          </a:ln>
        </p:spPr>
      </p:sp>
      <p:sp>
        <p:nvSpPr>
          <p:cNvPr id="18" name="Shape 15"/>
          <p:cNvSpPr/>
          <p:nvPr/>
        </p:nvSpPr>
        <p:spPr>
          <a:xfrm>
            <a:off x="548640" y="1344168"/>
            <a:ext cx="365760" cy="36576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43738" y="1439266"/>
            <a:ext cx="175565" cy="175565"/>
          </a:xfrm>
          <a:prstGeom prst="rect">
            <a:avLst/>
          </a:prstGeom>
        </p:spPr>
      </p:pic>
      <p:sp>
        <p:nvSpPr>
          <p:cNvPr id="20" name="Text 16"/>
          <p:cNvSpPr txBox="1"/>
          <p:nvPr/>
        </p:nvSpPr>
        <p:spPr>
          <a:xfrm>
            <a:off x="1005840" y="1298448"/>
            <a:ext cx="7589520" cy="457200"/>
          </a:xfrm>
          <a:prstGeom prst="rect">
            <a:avLst/>
          </a:prstGeom>
          <a:noFill/>
          <a:ln/>
        </p:spPr>
        <p:txBody>
          <a:bodyPr wrap="square" lIns="0" tIns="0" rIns="0" bIns="0" rtlCol="0" anchor="ctr"/>
          <a:lstStyle/>
          <a:p>
            <a:pPr marL="0" indent="0">
              <a:buNone/>
            </a:pPr>
            <a:r>
              <a:rPr lang="en-US" sz="1300" b="1" i="1" dirty="0">
                <a:solidFill>
                  <a:srgbClr val="00704A"/>
                </a:solidFill>
                <a:latin typeface="Calibri" pitchFamily="34" charset="0"/>
                <a:ea typeface="Calibri" pitchFamily="34" charset="-122"/>
                <a:cs typeface="Calibri" pitchFamily="34" charset="-120"/>
              </a:rPr>
              <a:t>Le programme de mini-réseaux de 2023 a-t-il réellement apporté la lumière aux villages ciblés ?</a:t>
            </a:r>
            <a:endParaRPr lang="en-US" sz="1300" dirty="0"/>
          </a:p>
        </p:txBody>
      </p:sp>
      <p:sp>
        <p:nvSpPr>
          <p:cNvPr id="21" name="Shape 17"/>
          <p:cNvSpPr/>
          <p:nvPr/>
        </p:nvSpPr>
        <p:spPr>
          <a:xfrm>
            <a:off x="457200" y="1892808"/>
            <a:ext cx="2651760" cy="1207008"/>
          </a:xfrm>
          <a:prstGeom prst="roundRect">
            <a:avLst>
              <a:gd name="adj" fmla="val 6061"/>
            </a:avLst>
          </a:prstGeom>
          <a:solidFill>
            <a:srgbClr val="F4F7F5"/>
          </a:solidFill>
          <a:ln w="9525">
            <a:solidFill>
              <a:srgbClr val="D5DED9"/>
            </a:solidFill>
            <a:prstDash val="solid"/>
          </a:ln>
        </p:spPr>
      </p:sp>
      <p:sp>
        <p:nvSpPr>
          <p:cNvPr id="22" name="Shape 18"/>
          <p:cNvSpPr/>
          <p:nvPr/>
        </p:nvSpPr>
        <p:spPr>
          <a:xfrm>
            <a:off x="566928" y="2002536"/>
            <a:ext cx="329184" cy="329184"/>
          </a:xfrm>
          <a:prstGeom prst="ellipse">
            <a:avLst/>
          </a:prstGeom>
          <a:solidFill>
            <a:srgbClr val="0E7C86"/>
          </a:solidFill>
          <a:ln w="12700">
            <a:solidFill>
              <a:srgbClr val="0E7C86"/>
            </a:solidFill>
            <a:prstDash val="solid"/>
          </a:ln>
        </p:spPr>
      </p:sp>
      <p:sp>
        <p:nvSpPr>
          <p:cNvPr id="23" name="Text 19"/>
          <p:cNvSpPr txBox="1"/>
          <p:nvPr/>
        </p:nvSpPr>
        <p:spPr>
          <a:xfrm>
            <a:off x="56692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4" name="Text 20"/>
          <p:cNvSpPr txBox="1"/>
          <p:nvPr/>
        </p:nvSpPr>
        <p:spPr>
          <a:xfrm>
            <a:off x="98755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Traduire la question en lumière</a:t>
            </a:r>
            <a:endParaRPr lang="en-US" sz="1150" dirty="0"/>
          </a:p>
        </p:txBody>
      </p:sp>
      <p:sp>
        <p:nvSpPr>
          <p:cNvPr id="25" name="Text 21"/>
          <p:cNvSpPr txBox="1"/>
          <p:nvPr/>
        </p:nvSpPr>
        <p:spPr>
          <a:xfrm>
            <a:off x="58521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villages électrifiés devraient compter plus de nuits au-dessus de leur radiance de fond après la mise en service.</a:t>
            </a:r>
            <a:endParaRPr lang="en-US" sz="900" dirty="0"/>
          </a:p>
        </p:txBody>
      </p:sp>
      <p:sp>
        <p:nvSpPr>
          <p:cNvPr id="26" name="Shape 22"/>
          <p:cNvSpPr/>
          <p:nvPr/>
        </p:nvSpPr>
        <p:spPr>
          <a:xfrm>
            <a:off x="3246120" y="1892808"/>
            <a:ext cx="2651760" cy="1207008"/>
          </a:xfrm>
          <a:prstGeom prst="roundRect">
            <a:avLst>
              <a:gd name="adj" fmla="val 6061"/>
            </a:avLst>
          </a:prstGeom>
          <a:solidFill>
            <a:srgbClr val="F4F7F5"/>
          </a:solidFill>
          <a:ln w="9525">
            <a:solidFill>
              <a:srgbClr val="D5DED9"/>
            </a:solidFill>
            <a:prstDash val="solid"/>
          </a:ln>
        </p:spPr>
      </p:sp>
      <p:sp>
        <p:nvSpPr>
          <p:cNvPr id="27" name="Shape 23"/>
          <p:cNvSpPr/>
          <p:nvPr/>
        </p:nvSpPr>
        <p:spPr>
          <a:xfrm>
            <a:off x="3355848" y="2002536"/>
            <a:ext cx="329184" cy="329184"/>
          </a:xfrm>
          <a:prstGeom prst="ellipse">
            <a:avLst/>
          </a:prstGeom>
          <a:solidFill>
            <a:srgbClr val="0E7C86"/>
          </a:solidFill>
          <a:ln w="12700">
            <a:solidFill>
              <a:srgbClr val="0E7C86"/>
            </a:solidFill>
            <a:prstDash val="solid"/>
          </a:ln>
        </p:spPr>
      </p:sp>
      <p:sp>
        <p:nvSpPr>
          <p:cNvPr id="28" name="Text 24"/>
          <p:cNvSpPr txBox="1"/>
          <p:nvPr/>
        </p:nvSpPr>
        <p:spPr>
          <a:xfrm>
            <a:off x="335584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Text 25"/>
          <p:cNvSpPr txBox="1"/>
          <p:nvPr/>
        </p:nvSpPr>
        <p:spPr>
          <a:xfrm>
            <a:off x="377647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Choisir le produit</a:t>
            </a:r>
            <a:endParaRPr lang="en-US" sz="1150" dirty="0"/>
          </a:p>
        </p:txBody>
      </p:sp>
      <p:sp>
        <p:nvSpPr>
          <p:cNvPr id="30" name="Text 26"/>
          <p:cNvSpPr txBox="1"/>
          <p:nvPr/>
        </p:nvSpPr>
        <p:spPr>
          <a:xfrm>
            <a:off x="337413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mensuel pour dater le changement ; VNP46A2 quotidien pour la fiabilité. Noter la version.</a:t>
            </a:r>
            <a:endParaRPr lang="en-US" sz="900" dirty="0"/>
          </a:p>
        </p:txBody>
      </p:sp>
      <p:sp>
        <p:nvSpPr>
          <p:cNvPr id="31" name="Shape 27"/>
          <p:cNvSpPr/>
          <p:nvPr/>
        </p:nvSpPr>
        <p:spPr>
          <a:xfrm>
            <a:off x="6035040" y="1892808"/>
            <a:ext cx="2651760" cy="1207008"/>
          </a:xfrm>
          <a:prstGeom prst="roundRect">
            <a:avLst>
              <a:gd name="adj" fmla="val 6061"/>
            </a:avLst>
          </a:prstGeom>
          <a:solidFill>
            <a:srgbClr val="F4F7F5"/>
          </a:solidFill>
          <a:ln w="9525">
            <a:solidFill>
              <a:srgbClr val="D5DED9"/>
            </a:solidFill>
            <a:prstDash val="solid"/>
          </a:ln>
        </p:spPr>
      </p:sp>
      <p:sp>
        <p:nvSpPr>
          <p:cNvPr id="32" name="Shape 28"/>
          <p:cNvSpPr/>
          <p:nvPr/>
        </p:nvSpPr>
        <p:spPr>
          <a:xfrm>
            <a:off x="6144768" y="2002536"/>
            <a:ext cx="329184" cy="329184"/>
          </a:xfrm>
          <a:prstGeom prst="ellipse">
            <a:avLst/>
          </a:prstGeom>
          <a:solidFill>
            <a:srgbClr val="0E7C86"/>
          </a:solidFill>
          <a:ln w="12700">
            <a:solidFill>
              <a:srgbClr val="0E7C86"/>
            </a:solidFill>
            <a:prstDash val="solid"/>
          </a:ln>
        </p:spPr>
      </p:sp>
      <p:sp>
        <p:nvSpPr>
          <p:cNvPr id="33" name="Text 29"/>
          <p:cNvSpPr txBox="1"/>
          <p:nvPr/>
        </p:nvSpPr>
        <p:spPr>
          <a:xfrm>
            <a:off x="6144768" y="20025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Text 30"/>
          <p:cNvSpPr txBox="1"/>
          <p:nvPr/>
        </p:nvSpPr>
        <p:spPr>
          <a:xfrm>
            <a:off x="6565392" y="2002536"/>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Définir les unités</a:t>
            </a:r>
            <a:endParaRPr lang="en-US" sz="1150" dirty="0"/>
          </a:p>
        </p:txBody>
      </p:sp>
      <p:sp>
        <p:nvSpPr>
          <p:cNvPr id="35" name="Text 31"/>
          <p:cNvSpPr txBox="1"/>
          <p:nvPr/>
        </p:nvSpPr>
        <p:spPr>
          <a:xfrm>
            <a:off x="6163056" y="2386584"/>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Emprises des localités plus une petite zone tampon — pas des districts entiers, où quelques villages éclairés disparaissent.</a:t>
            </a:r>
            <a:endParaRPr lang="en-US" sz="900" dirty="0"/>
          </a:p>
        </p:txBody>
      </p:sp>
      <p:sp>
        <p:nvSpPr>
          <p:cNvPr id="36" name="Shape 32"/>
          <p:cNvSpPr/>
          <p:nvPr/>
        </p:nvSpPr>
        <p:spPr>
          <a:xfrm>
            <a:off x="457200" y="3236976"/>
            <a:ext cx="2651760" cy="1207008"/>
          </a:xfrm>
          <a:prstGeom prst="roundRect">
            <a:avLst>
              <a:gd name="adj" fmla="val 6061"/>
            </a:avLst>
          </a:prstGeom>
          <a:solidFill>
            <a:srgbClr val="F4F7F5"/>
          </a:solidFill>
          <a:ln w="9525">
            <a:solidFill>
              <a:srgbClr val="D5DED9"/>
            </a:solidFill>
            <a:prstDash val="solid"/>
          </a:ln>
        </p:spPr>
      </p:sp>
      <p:sp>
        <p:nvSpPr>
          <p:cNvPr id="37" name="Shape 33"/>
          <p:cNvSpPr/>
          <p:nvPr/>
        </p:nvSpPr>
        <p:spPr>
          <a:xfrm>
            <a:off x="566928" y="3346704"/>
            <a:ext cx="329184" cy="329184"/>
          </a:xfrm>
          <a:prstGeom prst="ellipse">
            <a:avLst/>
          </a:prstGeom>
          <a:solidFill>
            <a:srgbClr val="0E7C86"/>
          </a:solidFill>
          <a:ln w="12700">
            <a:solidFill>
              <a:srgbClr val="0E7C86"/>
            </a:solidFill>
            <a:prstDash val="solid"/>
          </a:ln>
        </p:spPr>
      </p:sp>
      <p:sp>
        <p:nvSpPr>
          <p:cNvPr id="38" name="Text 34"/>
          <p:cNvSpPr txBox="1"/>
          <p:nvPr/>
        </p:nvSpPr>
        <p:spPr>
          <a:xfrm>
            <a:off x="56692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9" name="Text 35"/>
          <p:cNvSpPr txBox="1"/>
          <p:nvPr/>
        </p:nvSpPr>
        <p:spPr>
          <a:xfrm>
            <a:off x="98755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Indicateur et témoin</a:t>
            </a:r>
            <a:endParaRPr lang="en-US" sz="1150" dirty="0"/>
          </a:p>
        </p:txBody>
      </p:sp>
      <p:sp>
        <p:nvSpPr>
          <p:cNvPr id="40" name="Text 36"/>
          <p:cNvSpPr txBox="1"/>
          <p:nvPr/>
        </p:nvSpPr>
        <p:spPr>
          <a:xfrm>
            <a:off x="58521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Radiance moyenne et part de nuits éclairées ; témoins = villages similaires hors programme.</a:t>
            </a:r>
            <a:endParaRPr lang="en-US" sz="900" dirty="0"/>
          </a:p>
        </p:txBody>
      </p:sp>
      <p:sp>
        <p:nvSpPr>
          <p:cNvPr id="41" name="Shape 37"/>
          <p:cNvSpPr/>
          <p:nvPr/>
        </p:nvSpPr>
        <p:spPr>
          <a:xfrm>
            <a:off x="3246120" y="3236976"/>
            <a:ext cx="2651760" cy="1207008"/>
          </a:xfrm>
          <a:prstGeom prst="roundRect">
            <a:avLst>
              <a:gd name="adj" fmla="val 6061"/>
            </a:avLst>
          </a:prstGeom>
          <a:solidFill>
            <a:srgbClr val="F4F7F5"/>
          </a:solidFill>
          <a:ln w="9525">
            <a:solidFill>
              <a:srgbClr val="D5DED9"/>
            </a:solidFill>
            <a:prstDash val="solid"/>
          </a:ln>
        </p:spPr>
      </p:sp>
      <p:sp>
        <p:nvSpPr>
          <p:cNvPr id="42" name="Shape 38"/>
          <p:cNvSpPr/>
          <p:nvPr/>
        </p:nvSpPr>
        <p:spPr>
          <a:xfrm>
            <a:off x="3355848" y="3346704"/>
            <a:ext cx="329184" cy="329184"/>
          </a:xfrm>
          <a:prstGeom prst="ellipse">
            <a:avLst/>
          </a:prstGeom>
          <a:solidFill>
            <a:srgbClr val="0E7C86"/>
          </a:solidFill>
          <a:ln w="12700">
            <a:solidFill>
              <a:srgbClr val="0E7C86"/>
            </a:solidFill>
            <a:prstDash val="solid"/>
          </a:ln>
        </p:spPr>
      </p:sp>
      <p:sp>
        <p:nvSpPr>
          <p:cNvPr id="43" name="Text 39"/>
          <p:cNvSpPr txBox="1"/>
          <p:nvPr/>
        </p:nvSpPr>
        <p:spPr>
          <a:xfrm>
            <a:off x="335584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4" name="Text 40"/>
          <p:cNvSpPr txBox="1"/>
          <p:nvPr/>
        </p:nvSpPr>
        <p:spPr>
          <a:xfrm>
            <a:off x="377647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Lire la différence</a:t>
            </a:r>
            <a:endParaRPr lang="en-US" sz="1150" dirty="0"/>
          </a:p>
        </p:txBody>
      </p:sp>
      <p:sp>
        <p:nvSpPr>
          <p:cNvPr id="45" name="Text 41"/>
          <p:cNvSpPr txBox="1"/>
          <p:nvPr/>
        </p:nvSpPr>
        <p:spPr>
          <a:xfrm>
            <a:off x="337413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Une rupture chez les villages du programme, absente chez les témoins, est une preuve ; une hausse commune est régionale.</a:t>
            </a:r>
            <a:endParaRPr lang="en-US" sz="900" dirty="0"/>
          </a:p>
        </p:txBody>
      </p:sp>
      <p:sp>
        <p:nvSpPr>
          <p:cNvPr id="46" name="Shape 42"/>
          <p:cNvSpPr/>
          <p:nvPr/>
        </p:nvSpPr>
        <p:spPr>
          <a:xfrm>
            <a:off x="6035040" y="3236976"/>
            <a:ext cx="2651760" cy="1207008"/>
          </a:xfrm>
          <a:prstGeom prst="roundRect">
            <a:avLst>
              <a:gd name="adj" fmla="val 6061"/>
            </a:avLst>
          </a:prstGeom>
          <a:solidFill>
            <a:srgbClr val="F4F7F5"/>
          </a:solidFill>
          <a:ln w="9525">
            <a:solidFill>
              <a:srgbClr val="D5DED9"/>
            </a:solidFill>
            <a:prstDash val="solid"/>
          </a:ln>
        </p:spPr>
      </p:sp>
      <p:sp>
        <p:nvSpPr>
          <p:cNvPr id="47" name="Shape 43"/>
          <p:cNvSpPr/>
          <p:nvPr/>
        </p:nvSpPr>
        <p:spPr>
          <a:xfrm>
            <a:off x="6144768" y="3346704"/>
            <a:ext cx="329184" cy="329184"/>
          </a:xfrm>
          <a:prstGeom prst="ellipse">
            <a:avLst/>
          </a:prstGeom>
          <a:solidFill>
            <a:srgbClr val="D49A00"/>
          </a:solidFill>
          <a:ln w="12700">
            <a:solidFill>
              <a:srgbClr val="D49A00"/>
            </a:solidFill>
            <a:prstDash val="solid"/>
          </a:ln>
        </p:spPr>
      </p:sp>
      <p:sp>
        <p:nvSpPr>
          <p:cNvPr id="48" name="Text 44"/>
          <p:cNvSpPr txBox="1"/>
          <p:nvPr/>
        </p:nvSpPr>
        <p:spPr>
          <a:xfrm>
            <a:off x="6144768" y="334670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5"/>
          <p:cNvSpPr txBox="1"/>
          <p:nvPr/>
        </p:nvSpPr>
        <p:spPr>
          <a:xfrm>
            <a:off x="6565392" y="3346704"/>
            <a:ext cx="2029968" cy="329184"/>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Tenter de la réfuter</a:t>
            </a:r>
            <a:endParaRPr lang="en-US" sz="1150" dirty="0"/>
          </a:p>
        </p:txBody>
      </p:sp>
      <p:sp>
        <p:nvSpPr>
          <p:cNvPr id="50" name="Text 46"/>
          <p:cNvSpPr txBox="1"/>
          <p:nvPr/>
        </p:nvSpPr>
        <p:spPr>
          <a:xfrm>
            <a:off x="6163056" y="3730752"/>
            <a:ext cx="2414016" cy="6858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Vérifier feux, torchères, Lune et saison ; comparer aux raccordements du distributeur ou au suivi du programme.</a:t>
            </a:r>
            <a:endParaRPr lang="en-US" sz="9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4</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04</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Applications</a:t>
            </a:r>
            <a:endParaRPr lang="en-US" sz="3600" dirty="0"/>
          </a:p>
        </p:txBody>
      </p:sp>
      <p:sp>
        <p:nvSpPr>
          <p:cNvPr id="6" name="Text 4"/>
          <p:cNvSpPr txBox="1"/>
          <p:nvPr/>
        </p:nvSpPr>
        <p:spPr>
          <a:xfrm>
            <a:off x="548640" y="2971800"/>
            <a:ext cx="5120640" cy="594360"/>
          </a:xfrm>
          <a:prstGeom prst="rect">
            <a:avLst/>
          </a:prstGeom>
          <a:noFill/>
          <a:ln/>
        </p:spPr>
        <p:txBody>
          <a:bodyPr wrap="square" lIns="0" tIns="0" rIns="0" bIns="0" rtlCol="0" anchor="t"/>
          <a:lstStyle/>
          <a:p>
            <a:pPr marL="0" indent="0">
              <a:buNone/>
            </a:pPr>
            <a:r>
              <a:rPr lang="en-US" sz="1800" i="1" dirty="0">
                <a:solidFill>
                  <a:srgbClr val="E6F6EE"/>
                </a:solidFill>
                <a:latin typeface="Calibri" pitchFamily="34" charset="0"/>
                <a:ea typeface="Calibri" pitchFamily="34" charset="-122"/>
                <a:cs typeface="Calibri" pitchFamily="34" charset="-120"/>
              </a:rPr>
              <a:t>À quelles questions statistiques ces données répondent-elles vraiment ?</a:t>
            </a:r>
            <a:endParaRPr lang="en-US" sz="18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ODD  ·  Économie  ·  Accès à l’énergie  ·  Urbanisation  ·  Crises</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5C242"/>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FFFFF">
              <a:alpha val="40000"/>
            </a:srgbClr>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VUE D’ENSEMBLE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Où les lumières appuient le suivi des ODD</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20</a:t>
            </a:r>
            <a:endParaRPr lang="en-US" sz="850" dirty="0"/>
          </a:p>
        </p:txBody>
      </p:sp>
      <p:sp>
        <p:nvSpPr>
          <p:cNvPr id="17" name="Shape 14"/>
          <p:cNvSpPr/>
          <p:nvPr/>
        </p:nvSpPr>
        <p:spPr>
          <a:xfrm>
            <a:off x="457200" y="1325880"/>
            <a:ext cx="2651760" cy="1143000"/>
          </a:xfrm>
          <a:prstGeom prst="roundRect">
            <a:avLst>
              <a:gd name="adj" fmla="val 6400"/>
            </a:avLst>
          </a:prstGeom>
          <a:solidFill>
            <a:srgbClr val="F4F7F5"/>
          </a:solidFill>
          <a:ln w="9525">
            <a:solidFill>
              <a:srgbClr val="D5DED9"/>
            </a:solidFill>
            <a:prstDash val="solid"/>
          </a:ln>
        </p:spPr>
      </p:sp>
      <p:sp>
        <p:nvSpPr>
          <p:cNvPr id="18" name="Shape 15"/>
          <p:cNvSpPr/>
          <p:nvPr/>
        </p:nvSpPr>
        <p:spPr>
          <a:xfrm>
            <a:off x="566928" y="1453896"/>
            <a:ext cx="457200" cy="457200"/>
          </a:xfrm>
          <a:prstGeom prst="ellipse">
            <a:avLst/>
          </a:prstGeom>
          <a:solidFill>
            <a:srgbClr val="00A86A">
              <a:alpha val="22000"/>
            </a:srgbClr>
          </a:solidFill>
          <a:ln w="12700">
            <a:solidFill>
              <a:srgbClr val="00A86A">
                <a:alpha val="0"/>
              </a:srgbClr>
            </a:solidFill>
            <a:prstDash val="solid"/>
          </a:ln>
        </p:spPr>
      </p:sp>
      <p:pic>
        <p:nvPicPr>
          <p:cNvPr id="19" name="Image 0" descr="preencoded.png"/>
          <p:cNvPicPr>
            <a:picLocks noChangeAspect="1"/>
          </p:cNvPicPr>
          <p:nvPr/>
        </p:nvPicPr>
        <p:blipFill>
          <a:blip r:embed="rId3"/>
          <a:stretch>
            <a:fillRect/>
          </a:stretch>
        </p:blipFill>
        <p:spPr>
          <a:xfrm>
            <a:off x="685800" y="1572768"/>
            <a:ext cx="219456" cy="219456"/>
          </a:xfrm>
          <a:prstGeom prst="rect">
            <a:avLst/>
          </a:prstGeom>
        </p:spPr>
      </p:pic>
      <p:sp>
        <p:nvSpPr>
          <p:cNvPr id="20" name="Shape 16"/>
          <p:cNvSpPr/>
          <p:nvPr/>
        </p:nvSpPr>
        <p:spPr>
          <a:xfrm>
            <a:off x="1143000" y="1453896"/>
            <a:ext cx="685800" cy="219456"/>
          </a:xfrm>
          <a:prstGeom prst="roundRect">
            <a:avLst>
              <a:gd name="adj" fmla="val 50000"/>
            </a:avLst>
          </a:prstGeom>
          <a:solidFill>
            <a:srgbClr val="00A86A">
              <a:alpha val="15000"/>
            </a:srgbClr>
          </a:solidFill>
          <a:ln w="9525">
            <a:solidFill>
              <a:srgbClr val="00A86A"/>
            </a:solidFill>
            <a:prstDash val="solid"/>
          </a:ln>
        </p:spPr>
      </p:sp>
      <p:sp>
        <p:nvSpPr>
          <p:cNvPr id="21" name="Text 17"/>
          <p:cNvSpPr txBox="1"/>
          <p:nvPr/>
        </p:nvSpPr>
        <p:spPr>
          <a:xfrm>
            <a:off x="1143000" y="1453896"/>
            <a:ext cx="685800" cy="219456"/>
          </a:xfrm>
          <a:prstGeom prst="rect">
            <a:avLst/>
          </a:prstGeom>
          <a:noFill/>
          <a:ln/>
        </p:spPr>
        <p:txBody>
          <a:bodyPr wrap="square" lIns="0" tIns="0" rIns="0" bIns="0" rtlCol="0" anchor="ctr"/>
          <a:lstStyle/>
          <a:p>
            <a:pPr marL="0" indent="0" algn="ctr">
              <a:buNone/>
            </a:pPr>
            <a:r>
              <a:rPr lang="en-US" sz="850" b="1" dirty="0">
                <a:solidFill>
                  <a:srgbClr val="00A86A"/>
                </a:solidFill>
                <a:latin typeface="Calibri" pitchFamily="34" charset="0"/>
                <a:ea typeface="Calibri" pitchFamily="34" charset="-122"/>
                <a:cs typeface="Calibri" pitchFamily="34" charset="-120"/>
              </a:rPr>
              <a:t>ODD 1</a:t>
            </a:r>
            <a:endParaRPr lang="en-US" sz="850" dirty="0"/>
          </a:p>
        </p:txBody>
      </p:sp>
      <p:sp>
        <p:nvSpPr>
          <p:cNvPr id="22" name="Text 18"/>
          <p:cNvSpPr txBox="1"/>
          <p:nvPr/>
        </p:nvSpPr>
        <p:spPr>
          <a:xfrm>
            <a:off x="114300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Cartographie de la pauvreté</a:t>
            </a:r>
            <a:endParaRPr lang="en-US" sz="1150" dirty="0"/>
          </a:p>
        </p:txBody>
      </p:sp>
      <p:sp>
        <p:nvSpPr>
          <p:cNvPr id="23" name="Text 19"/>
          <p:cNvSpPr txBox="1"/>
          <p:nvPr/>
        </p:nvSpPr>
        <p:spPr>
          <a:xfrm>
            <a:off x="58521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Estimations sur petits domaines combinant lumières et enquêtes</a:t>
            </a:r>
            <a:endParaRPr lang="en-US" sz="900" dirty="0"/>
          </a:p>
        </p:txBody>
      </p:sp>
      <p:sp>
        <p:nvSpPr>
          <p:cNvPr id="24" name="Shape 20"/>
          <p:cNvSpPr/>
          <p:nvPr/>
        </p:nvSpPr>
        <p:spPr>
          <a:xfrm>
            <a:off x="3246120" y="1325880"/>
            <a:ext cx="2651760" cy="1143000"/>
          </a:xfrm>
          <a:prstGeom prst="roundRect">
            <a:avLst>
              <a:gd name="adj" fmla="val 6400"/>
            </a:avLst>
          </a:prstGeom>
          <a:solidFill>
            <a:srgbClr val="F4F7F5"/>
          </a:solidFill>
          <a:ln w="9525">
            <a:solidFill>
              <a:srgbClr val="D5DED9"/>
            </a:solidFill>
            <a:prstDash val="solid"/>
          </a:ln>
        </p:spPr>
      </p:sp>
      <p:sp>
        <p:nvSpPr>
          <p:cNvPr id="25" name="Shape 21"/>
          <p:cNvSpPr/>
          <p:nvPr/>
        </p:nvSpPr>
        <p:spPr>
          <a:xfrm>
            <a:off x="3355848" y="1453896"/>
            <a:ext cx="457200" cy="457200"/>
          </a:xfrm>
          <a:prstGeom prst="ellipse">
            <a:avLst/>
          </a:prstGeom>
          <a:solidFill>
            <a:srgbClr val="00704A">
              <a:alpha val="22000"/>
            </a:srgbClr>
          </a:solidFill>
          <a:ln w="12700">
            <a:solidFill>
              <a:srgbClr val="00704A">
                <a:alpha val="0"/>
              </a:srgbClr>
            </a:solidFill>
            <a:prstDash val="solid"/>
          </a:ln>
        </p:spPr>
      </p:sp>
      <p:pic>
        <p:nvPicPr>
          <p:cNvPr id="26" name="Image 1" descr="preencoded.png"/>
          <p:cNvPicPr>
            <a:picLocks noChangeAspect="1"/>
          </p:cNvPicPr>
          <p:nvPr/>
        </p:nvPicPr>
        <p:blipFill>
          <a:blip r:embed="rId4"/>
          <a:stretch>
            <a:fillRect/>
          </a:stretch>
        </p:blipFill>
        <p:spPr>
          <a:xfrm>
            <a:off x="3474720" y="1572768"/>
            <a:ext cx="219456" cy="219456"/>
          </a:xfrm>
          <a:prstGeom prst="rect">
            <a:avLst/>
          </a:prstGeom>
        </p:spPr>
      </p:pic>
      <p:sp>
        <p:nvSpPr>
          <p:cNvPr id="27" name="Shape 22"/>
          <p:cNvSpPr/>
          <p:nvPr/>
        </p:nvSpPr>
        <p:spPr>
          <a:xfrm>
            <a:off x="3931920" y="1453896"/>
            <a:ext cx="685800" cy="219456"/>
          </a:xfrm>
          <a:prstGeom prst="roundRect">
            <a:avLst>
              <a:gd name="adj" fmla="val 50000"/>
            </a:avLst>
          </a:prstGeom>
          <a:solidFill>
            <a:srgbClr val="00704A">
              <a:alpha val="15000"/>
            </a:srgbClr>
          </a:solidFill>
          <a:ln w="9525">
            <a:solidFill>
              <a:srgbClr val="00704A"/>
            </a:solidFill>
            <a:prstDash val="solid"/>
          </a:ln>
        </p:spPr>
      </p:sp>
      <p:sp>
        <p:nvSpPr>
          <p:cNvPr id="28" name="Text 23"/>
          <p:cNvSpPr txBox="1"/>
          <p:nvPr/>
        </p:nvSpPr>
        <p:spPr>
          <a:xfrm>
            <a:off x="3931920" y="1453896"/>
            <a:ext cx="685800" cy="21945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ODD 7</a:t>
            </a:r>
            <a:endParaRPr lang="en-US" sz="850" dirty="0"/>
          </a:p>
        </p:txBody>
      </p:sp>
      <p:sp>
        <p:nvSpPr>
          <p:cNvPr id="29" name="Text 24"/>
          <p:cNvSpPr txBox="1"/>
          <p:nvPr/>
        </p:nvSpPr>
        <p:spPr>
          <a:xfrm>
            <a:off x="393192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Accès et fiabilité électriques</a:t>
            </a:r>
            <a:endParaRPr lang="en-US" sz="1150" dirty="0"/>
          </a:p>
        </p:txBody>
      </p:sp>
      <p:sp>
        <p:nvSpPr>
          <p:cNvPr id="30" name="Text 25"/>
          <p:cNvSpPr txBox="1"/>
          <p:nvPr/>
        </p:nvSpPr>
        <p:spPr>
          <a:xfrm>
            <a:off x="337413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Localiser les localités non desservies ; suivre la fréquence d’éclairage</a:t>
            </a:r>
            <a:endParaRPr lang="en-US" sz="900" dirty="0"/>
          </a:p>
        </p:txBody>
      </p:sp>
      <p:sp>
        <p:nvSpPr>
          <p:cNvPr id="31" name="Shape 26"/>
          <p:cNvSpPr/>
          <p:nvPr/>
        </p:nvSpPr>
        <p:spPr>
          <a:xfrm>
            <a:off x="6035040" y="1325880"/>
            <a:ext cx="2651760" cy="1143000"/>
          </a:xfrm>
          <a:prstGeom prst="roundRect">
            <a:avLst>
              <a:gd name="adj" fmla="val 6400"/>
            </a:avLst>
          </a:prstGeom>
          <a:solidFill>
            <a:srgbClr val="F4F7F5"/>
          </a:solidFill>
          <a:ln w="9525">
            <a:solidFill>
              <a:srgbClr val="D5DED9"/>
            </a:solidFill>
            <a:prstDash val="solid"/>
          </a:ln>
        </p:spPr>
      </p:sp>
      <p:sp>
        <p:nvSpPr>
          <p:cNvPr id="32" name="Shape 27"/>
          <p:cNvSpPr/>
          <p:nvPr/>
        </p:nvSpPr>
        <p:spPr>
          <a:xfrm>
            <a:off x="6144768" y="1453896"/>
            <a:ext cx="457200" cy="457200"/>
          </a:xfrm>
          <a:prstGeom prst="ellipse">
            <a:avLst/>
          </a:prstGeom>
          <a:solidFill>
            <a:srgbClr val="0E7C86">
              <a:alpha val="22000"/>
            </a:srgbClr>
          </a:solidFill>
          <a:ln w="12700">
            <a:solidFill>
              <a:srgbClr val="0E7C86">
                <a:alpha val="0"/>
              </a:srgbClr>
            </a:solidFill>
            <a:prstDash val="solid"/>
          </a:ln>
        </p:spPr>
      </p:sp>
      <p:pic>
        <p:nvPicPr>
          <p:cNvPr id="33" name="Image 2" descr="preencoded.png"/>
          <p:cNvPicPr>
            <a:picLocks noChangeAspect="1"/>
          </p:cNvPicPr>
          <p:nvPr/>
        </p:nvPicPr>
        <p:blipFill>
          <a:blip r:embed="rId5"/>
          <a:stretch>
            <a:fillRect/>
          </a:stretch>
        </p:blipFill>
        <p:spPr>
          <a:xfrm>
            <a:off x="6263640" y="1572768"/>
            <a:ext cx="219456" cy="219456"/>
          </a:xfrm>
          <a:prstGeom prst="rect">
            <a:avLst/>
          </a:prstGeom>
        </p:spPr>
      </p:pic>
      <p:sp>
        <p:nvSpPr>
          <p:cNvPr id="34" name="Shape 28"/>
          <p:cNvSpPr/>
          <p:nvPr/>
        </p:nvSpPr>
        <p:spPr>
          <a:xfrm>
            <a:off x="6720840" y="1453896"/>
            <a:ext cx="685800" cy="219456"/>
          </a:xfrm>
          <a:prstGeom prst="roundRect">
            <a:avLst>
              <a:gd name="adj" fmla="val 50000"/>
            </a:avLst>
          </a:prstGeom>
          <a:solidFill>
            <a:srgbClr val="0E7C86">
              <a:alpha val="15000"/>
            </a:srgbClr>
          </a:solidFill>
          <a:ln w="9525">
            <a:solidFill>
              <a:srgbClr val="0E7C86"/>
            </a:solidFill>
            <a:prstDash val="solid"/>
          </a:ln>
        </p:spPr>
      </p:sp>
      <p:sp>
        <p:nvSpPr>
          <p:cNvPr id="35" name="Text 29"/>
          <p:cNvSpPr txBox="1"/>
          <p:nvPr/>
        </p:nvSpPr>
        <p:spPr>
          <a:xfrm>
            <a:off x="6720840" y="1453896"/>
            <a:ext cx="685800" cy="21945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ODD 8</a:t>
            </a:r>
            <a:endParaRPr lang="en-US" sz="850" dirty="0"/>
          </a:p>
        </p:txBody>
      </p:sp>
      <p:sp>
        <p:nvSpPr>
          <p:cNvPr id="36" name="Text 30"/>
          <p:cNvSpPr txBox="1"/>
          <p:nvPr/>
        </p:nvSpPr>
        <p:spPr>
          <a:xfrm>
            <a:off x="6720840" y="170992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Activité économique</a:t>
            </a:r>
            <a:endParaRPr lang="en-US" sz="1150" dirty="0"/>
          </a:p>
        </p:txBody>
      </p:sp>
      <p:sp>
        <p:nvSpPr>
          <p:cNvPr id="37" name="Text 31"/>
          <p:cNvSpPr txBox="1"/>
          <p:nvPr/>
        </p:nvSpPr>
        <p:spPr>
          <a:xfrm>
            <a:off x="6163056" y="202082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Ventilation infranationale du PIB ; signaux d’activité à court terme</a:t>
            </a:r>
            <a:endParaRPr lang="en-US" sz="900" dirty="0"/>
          </a:p>
        </p:txBody>
      </p:sp>
      <p:sp>
        <p:nvSpPr>
          <p:cNvPr id="38" name="Shape 32"/>
          <p:cNvSpPr/>
          <p:nvPr/>
        </p:nvSpPr>
        <p:spPr>
          <a:xfrm>
            <a:off x="457200" y="2606040"/>
            <a:ext cx="2651760" cy="1143000"/>
          </a:xfrm>
          <a:prstGeom prst="roundRect">
            <a:avLst>
              <a:gd name="adj" fmla="val 6400"/>
            </a:avLst>
          </a:prstGeom>
          <a:solidFill>
            <a:srgbClr val="F4F7F5"/>
          </a:solidFill>
          <a:ln w="9525">
            <a:solidFill>
              <a:srgbClr val="D5DED9"/>
            </a:solidFill>
            <a:prstDash val="solid"/>
          </a:ln>
        </p:spPr>
      </p:sp>
      <p:sp>
        <p:nvSpPr>
          <p:cNvPr id="39" name="Shape 33"/>
          <p:cNvSpPr/>
          <p:nvPr/>
        </p:nvSpPr>
        <p:spPr>
          <a:xfrm>
            <a:off x="566928" y="2734056"/>
            <a:ext cx="457200" cy="457200"/>
          </a:xfrm>
          <a:prstGeom prst="ellipse">
            <a:avLst/>
          </a:prstGeom>
          <a:solidFill>
            <a:srgbClr val="D49A00">
              <a:alpha val="22000"/>
            </a:srgbClr>
          </a:solidFill>
          <a:ln w="12700">
            <a:solidFill>
              <a:srgbClr val="D49A00">
                <a:alpha val="0"/>
              </a:srgbClr>
            </a:solidFill>
            <a:prstDash val="solid"/>
          </a:ln>
        </p:spPr>
      </p:sp>
      <p:pic>
        <p:nvPicPr>
          <p:cNvPr id="40" name="Image 3" descr="preencoded.png"/>
          <p:cNvPicPr>
            <a:picLocks noChangeAspect="1"/>
          </p:cNvPicPr>
          <p:nvPr/>
        </p:nvPicPr>
        <p:blipFill>
          <a:blip r:embed="rId6"/>
          <a:stretch>
            <a:fillRect/>
          </a:stretch>
        </p:blipFill>
        <p:spPr>
          <a:xfrm>
            <a:off x="685800" y="2852928"/>
            <a:ext cx="219456" cy="219456"/>
          </a:xfrm>
          <a:prstGeom prst="rect">
            <a:avLst/>
          </a:prstGeom>
        </p:spPr>
      </p:pic>
      <p:sp>
        <p:nvSpPr>
          <p:cNvPr id="41" name="Shape 34"/>
          <p:cNvSpPr/>
          <p:nvPr/>
        </p:nvSpPr>
        <p:spPr>
          <a:xfrm>
            <a:off x="1143000" y="2734056"/>
            <a:ext cx="685800" cy="219456"/>
          </a:xfrm>
          <a:prstGeom prst="roundRect">
            <a:avLst>
              <a:gd name="adj" fmla="val 50000"/>
            </a:avLst>
          </a:prstGeom>
          <a:solidFill>
            <a:srgbClr val="D49A00">
              <a:alpha val="15000"/>
            </a:srgbClr>
          </a:solidFill>
          <a:ln w="9525">
            <a:solidFill>
              <a:srgbClr val="D49A00"/>
            </a:solidFill>
            <a:prstDash val="solid"/>
          </a:ln>
        </p:spPr>
      </p:sp>
      <p:sp>
        <p:nvSpPr>
          <p:cNvPr id="42" name="Text 35"/>
          <p:cNvSpPr txBox="1"/>
          <p:nvPr/>
        </p:nvSpPr>
        <p:spPr>
          <a:xfrm>
            <a:off x="1143000" y="2734056"/>
            <a:ext cx="685800" cy="21945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ODD 9</a:t>
            </a:r>
            <a:endParaRPr lang="en-US" sz="850" dirty="0"/>
          </a:p>
        </p:txBody>
      </p:sp>
      <p:sp>
        <p:nvSpPr>
          <p:cNvPr id="43" name="Text 36"/>
          <p:cNvSpPr txBox="1"/>
          <p:nvPr/>
        </p:nvSpPr>
        <p:spPr>
          <a:xfrm>
            <a:off x="114300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Infrastructures</a:t>
            </a:r>
            <a:endParaRPr lang="en-US" sz="1150" dirty="0"/>
          </a:p>
        </p:txBody>
      </p:sp>
      <p:sp>
        <p:nvSpPr>
          <p:cNvPr id="44" name="Text 37"/>
          <p:cNvSpPr txBox="1"/>
          <p:nvPr/>
        </p:nvSpPr>
        <p:spPr>
          <a:xfrm>
            <a:off x="58521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Corridors, ports, zones industrielles et zones économiques spéciales</a:t>
            </a:r>
            <a:endParaRPr lang="en-US" sz="900" dirty="0"/>
          </a:p>
        </p:txBody>
      </p:sp>
      <p:sp>
        <p:nvSpPr>
          <p:cNvPr id="45" name="Shape 38"/>
          <p:cNvSpPr/>
          <p:nvPr/>
        </p:nvSpPr>
        <p:spPr>
          <a:xfrm>
            <a:off x="3246120" y="2606040"/>
            <a:ext cx="2651760" cy="1143000"/>
          </a:xfrm>
          <a:prstGeom prst="roundRect">
            <a:avLst>
              <a:gd name="adj" fmla="val 6400"/>
            </a:avLst>
          </a:prstGeom>
          <a:solidFill>
            <a:srgbClr val="F4F7F5"/>
          </a:solidFill>
          <a:ln w="9525">
            <a:solidFill>
              <a:srgbClr val="D5DED9"/>
            </a:solidFill>
            <a:prstDash val="solid"/>
          </a:ln>
        </p:spPr>
      </p:sp>
      <p:sp>
        <p:nvSpPr>
          <p:cNvPr id="46" name="Shape 39"/>
          <p:cNvSpPr/>
          <p:nvPr/>
        </p:nvSpPr>
        <p:spPr>
          <a:xfrm>
            <a:off x="3355848" y="2734056"/>
            <a:ext cx="457200" cy="457200"/>
          </a:xfrm>
          <a:prstGeom prst="ellipse">
            <a:avLst/>
          </a:prstGeom>
          <a:solidFill>
            <a:srgbClr val="C4621D">
              <a:alpha val="22000"/>
            </a:srgbClr>
          </a:solidFill>
          <a:ln w="12700">
            <a:solidFill>
              <a:srgbClr val="C4621D">
                <a:alpha val="0"/>
              </a:srgbClr>
            </a:solidFill>
            <a:prstDash val="solid"/>
          </a:ln>
        </p:spPr>
      </p:sp>
      <p:pic>
        <p:nvPicPr>
          <p:cNvPr id="47" name="Image 4" descr="preencoded.png"/>
          <p:cNvPicPr>
            <a:picLocks noChangeAspect="1"/>
          </p:cNvPicPr>
          <p:nvPr/>
        </p:nvPicPr>
        <p:blipFill>
          <a:blip r:embed="rId7"/>
          <a:stretch>
            <a:fillRect/>
          </a:stretch>
        </p:blipFill>
        <p:spPr>
          <a:xfrm>
            <a:off x="3474720" y="2852928"/>
            <a:ext cx="219456" cy="219456"/>
          </a:xfrm>
          <a:prstGeom prst="rect">
            <a:avLst/>
          </a:prstGeom>
        </p:spPr>
      </p:pic>
      <p:sp>
        <p:nvSpPr>
          <p:cNvPr id="48" name="Shape 40"/>
          <p:cNvSpPr/>
          <p:nvPr/>
        </p:nvSpPr>
        <p:spPr>
          <a:xfrm>
            <a:off x="3931920" y="2734056"/>
            <a:ext cx="685800" cy="219456"/>
          </a:xfrm>
          <a:prstGeom prst="roundRect">
            <a:avLst>
              <a:gd name="adj" fmla="val 50000"/>
            </a:avLst>
          </a:prstGeom>
          <a:solidFill>
            <a:srgbClr val="C4621D">
              <a:alpha val="15000"/>
            </a:srgbClr>
          </a:solidFill>
          <a:ln w="9525">
            <a:solidFill>
              <a:srgbClr val="C4621D"/>
            </a:solidFill>
            <a:prstDash val="solid"/>
          </a:ln>
        </p:spPr>
      </p:sp>
      <p:sp>
        <p:nvSpPr>
          <p:cNvPr id="49" name="Text 41"/>
          <p:cNvSpPr txBox="1"/>
          <p:nvPr/>
        </p:nvSpPr>
        <p:spPr>
          <a:xfrm>
            <a:off x="3931920" y="2734056"/>
            <a:ext cx="685800" cy="21945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ODD 11</a:t>
            </a:r>
            <a:endParaRPr lang="en-US" sz="850" dirty="0"/>
          </a:p>
        </p:txBody>
      </p:sp>
      <p:sp>
        <p:nvSpPr>
          <p:cNvPr id="50" name="Text 42"/>
          <p:cNvSpPr txBox="1"/>
          <p:nvPr/>
        </p:nvSpPr>
        <p:spPr>
          <a:xfrm>
            <a:off x="393192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Urbanisation</a:t>
            </a:r>
            <a:endParaRPr lang="en-US" sz="1150" dirty="0"/>
          </a:p>
        </p:txBody>
      </p:sp>
      <p:sp>
        <p:nvSpPr>
          <p:cNvPr id="51" name="Text 43"/>
          <p:cNvSpPr txBox="1"/>
          <p:nvPr/>
        </p:nvSpPr>
        <p:spPr>
          <a:xfrm>
            <a:off x="337413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Emprise urbaine, étalement ou densification, villes nouvelles</a:t>
            </a:r>
            <a:endParaRPr lang="en-US" sz="900" dirty="0"/>
          </a:p>
        </p:txBody>
      </p:sp>
      <p:sp>
        <p:nvSpPr>
          <p:cNvPr id="52" name="Shape 44"/>
          <p:cNvSpPr/>
          <p:nvPr/>
        </p:nvSpPr>
        <p:spPr>
          <a:xfrm>
            <a:off x="6035040" y="2606040"/>
            <a:ext cx="2651760" cy="1143000"/>
          </a:xfrm>
          <a:prstGeom prst="roundRect">
            <a:avLst>
              <a:gd name="adj" fmla="val 6400"/>
            </a:avLst>
          </a:prstGeom>
          <a:solidFill>
            <a:srgbClr val="F4F7F5"/>
          </a:solidFill>
          <a:ln w="9525">
            <a:solidFill>
              <a:srgbClr val="D5DED9"/>
            </a:solidFill>
            <a:prstDash val="solid"/>
          </a:ln>
        </p:spPr>
      </p:sp>
      <p:sp>
        <p:nvSpPr>
          <p:cNvPr id="53" name="Shape 45"/>
          <p:cNvSpPr/>
          <p:nvPr/>
        </p:nvSpPr>
        <p:spPr>
          <a:xfrm>
            <a:off x="6144768" y="2734056"/>
            <a:ext cx="457200" cy="457200"/>
          </a:xfrm>
          <a:prstGeom prst="ellipse">
            <a:avLst/>
          </a:prstGeom>
          <a:solidFill>
            <a:srgbClr val="B83B2E">
              <a:alpha val="22000"/>
            </a:srgbClr>
          </a:solidFill>
          <a:ln w="12700">
            <a:solidFill>
              <a:srgbClr val="B83B2E">
                <a:alpha val="0"/>
              </a:srgbClr>
            </a:solidFill>
            <a:prstDash val="solid"/>
          </a:ln>
        </p:spPr>
      </p:sp>
      <p:pic>
        <p:nvPicPr>
          <p:cNvPr id="54" name="Image 5" descr="preencoded.png"/>
          <p:cNvPicPr>
            <a:picLocks noChangeAspect="1"/>
          </p:cNvPicPr>
          <p:nvPr/>
        </p:nvPicPr>
        <p:blipFill>
          <a:blip r:embed="rId8"/>
          <a:stretch>
            <a:fillRect/>
          </a:stretch>
        </p:blipFill>
        <p:spPr>
          <a:xfrm>
            <a:off x="6263640" y="2852928"/>
            <a:ext cx="219456" cy="219456"/>
          </a:xfrm>
          <a:prstGeom prst="rect">
            <a:avLst/>
          </a:prstGeom>
        </p:spPr>
      </p:pic>
      <p:sp>
        <p:nvSpPr>
          <p:cNvPr id="55" name="Shape 46"/>
          <p:cNvSpPr/>
          <p:nvPr/>
        </p:nvSpPr>
        <p:spPr>
          <a:xfrm>
            <a:off x="6720840" y="2734056"/>
            <a:ext cx="1371600" cy="219456"/>
          </a:xfrm>
          <a:prstGeom prst="roundRect">
            <a:avLst>
              <a:gd name="adj" fmla="val 50000"/>
            </a:avLst>
          </a:prstGeom>
          <a:solidFill>
            <a:srgbClr val="B83B2E">
              <a:alpha val="15000"/>
            </a:srgbClr>
          </a:solidFill>
          <a:ln w="9525">
            <a:solidFill>
              <a:srgbClr val="B83B2E"/>
            </a:solidFill>
            <a:prstDash val="solid"/>
          </a:ln>
        </p:spPr>
      </p:sp>
      <p:sp>
        <p:nvSpPr>
          <p:cNvPr id="56" name="Text 47"/>
          <p:cNvSpPr txBox="1"/>
          <p:nvPr/>
        </p:nvSpPr>
        <p:spPr>
          <a:xfrm>
            <a:off x="6720840" y="2734056"/>
            <a:ext cx="1371600" cy="21945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ODD 16 · humanitaire</a:t>
            </a:r>
            <a:endParaRPr lang="en-US" sz="850" dirty="0"/>
          </a:p>
        </p:txBody>
      </p:sp>
      <p:sp>
        <p:nvSpPr>
          <p:cNvPr id="57" name="Text 48"/>
          <p:cNvSpPr txBox="1"/>
          <p:nvPr/>
        </p:nvSpPr>
        <p:spPr>
          <a:xfrm>
            <a:off x="6720840" y="2990088"/>
            <a:ext cx="1901952" cy="256032"/>
          </a:xfrm>
          <a:prstGeom prst="rect">
            <a:avLst/>
          </a:prstGeom>
          <a:noFill/>
          <a:ln/>
        </p:spPr>
        <p:txBody>
          <a:bodyPr wrap="square" lIns="0" tIns="0" rIns="0" bIns="0" rtlCol="0" anchor="t"/>
          <a:lstStyle/>
          <a:p>
            <a:pPr marL="0" indent="0">
              <a:buNone/>
            </a:pPr>
            <a:r>
              <a:rPr lang="en-US" sz="1150" b="1" dirty="0">
                <a:solidFill>
                  <a:srgbClr val="231F20"/>
                </a:solidFill>
                <a:latin typeface="Calibri" pitchFamily="34" charset="0"/>
                <a:ea typeface="Calibri" pitchFamily="34" charset="-122"/>
                <a:cs typeface="Calibri" pitchFamily="34" charset="-120"/>
              </a:rPr>
              <a:t>Conflits et catastrophes</a:t>
            </a:r>
            <a:endParaRPr lang="en-US" sz="1150" dirty="0"/>
          </a:p>
        </p:txBody>
      </p:sp>
      <p:sp>
        <p:nvSpPr>
          <p:cNvPr id="58" name="Text 49"/>
          <p:cNvSpPr txBox="1"/>
          <p:nvPr/>
        </p:nvSpPr>
        <p:spPr>
          <a:xfrm>
            <a:off x="6163056" y="3300984"/>
            <a:ext cx="2395728" cy="41148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Coupures, signaux de déplacement, suivi du relèvement</a:t>
            </a:r>
            <a:endParaRPr lang="en-US" sz="900" dirty="0"/>
          </a:p>
        </p:txBody>
      </p:sp>
      <p:sp>
        <p:nvSpPr>
          <p:cNvPr id="59" name="Shape 50"/>
          <p:cNvSpPr/>
          <p:nvPr/>
        </p:nvSpPr>
        <p:spPr>
          <a:xfrm>
            <a:off x="457200" y="3931920"/>
            <a:ext cx="8229600" cy="566928"/>
          </a:xfrm>
          <a:prstGeom prst="roundRect">
            <a:avLst>
              <a:gd name="adj" fmla="val 12903"/>
            </a:avLst>
          </a:prstGeom>
          <a:solidFill>
            <a:srgbClr val="E8F5EF"/>
          </a:solidFill>
          <a:ln w="15875">
            <a:solidFill>
              <a:srgbClr val="00A86A"/>
            </a:solidFill>
            <a:prstDash val="solid"/>
          </a:ln>
        </p:spPr>
      </p:sp>
      <p:sp>
        <p:nvSpPr>
          <p:cNvPr id="60" name="Shape 51"/>
          <p:cNvSpPr/>
          <p:nvPr/>
        </p:nvSpPr>
        <p:spPr>
          <a:xfrm>
            <a:off x="566928" y="4023360"/>
            <a:ext cx="384048" cy="384048"/>
          </a:xfrm>
          <a:prstGeom prst="ellipse">
            <a:avLst/>
          </a:prstGeom>
          <a:solidFill>
            <a:srgbClr val="00A86A">
              <a:alpha val="22000"/>
            </a:srgbClr>
          </a:solidFill>
          <a:ln w="12700">
            <a:solidFill>
              <a:srgbClr val="00A86A">
                <a:alpha val="0"/>
              </a:srgbClr>
            </a:solidFill>
            <a:prstDash val="solid"/>
          </a:ln>
        </p:spPr>
      </p:sp>
      <p:pic>
        <p:nvPicPr>
          <p:cNvPr id="61" name="Image 6" descr="preencoded.png"/>
          <p:cNvPicPr>
            <a:picLocks noChangeAspect="1"/>
          </p:cNvPicPr>
          <p:nvPr/>
        </p:nvPicPr>
        <p:blipFill>
          <a:blip r:embed="rId9"/>
          <a:stretch>
            <a:fillRect/>
          </a:stretch>
        </p:blipFill>
        <p:spPr>
          <a:xfrm>
            <a:off x="666780" y="4123212"/>
            <a:ext cx="184343" cy="184343"/>
          </a:xfrm>
          <a:prstGeom prst="rect">
            <a:avLst/>
          </a:prstGeom>
        </p:spPr>
      </p:pic>
      <p:sp>
        <p:nvSpPr>
          <p:cNvPr id="62" name="Text 52"/>
          <p:cNvSpPr txBox="1"/>
          <p:nvPr/>
        </p:nvSpPr>
        <p:spPr>
          <a:xfrm>
            <a:off x="1051560" y="3959352"/>
            <a:ext cx="7543800" cy="512064"/>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Un complément, pas un substitut. </a:t>
            </a:r>
            <a:r>
              <a:rPr lang="en-US" sz="1050" dirty="0">
                <a:solidFill>
                  <a:srgbClr val="231F20"/>
                </a:solidFill>
                <a:latin typeface="Calibri" pitchFamily="34" charset="0"/>
                <a:ea typeface="Calibri" pitchFamily="34" charset="-122"/>
                <a:cs typeface="Calibri" pitchFamily="34" charset="-120"/>
              </a:rPr>
              <a:t>Les lumières apportent finesse spatiale, fréquence et vérification indépendante aux statistiques officielles — elles ne remplacent ni le recensement ni l’enquête.</a:t>
            </a:r>
            <a:endParaRPr lang="en-US" sz="105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01</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Mesurer l’économie depuis l’orbite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21</a:t>
            </a:r>
            <a:endParaRPr lang="en-US" sz="850" dirty="0"/>
          </a:p>
        </p:txBody>
      </p:sp>
      <p:sp>
        <p:nvSpPr>
          <p:cNvPr id="17" name="Text 14"/>
          <p:cNvSpPr txBox="1"/>
          <p:nvPr/>
        </p:nvSpPr>
        <p:spPr>
          <a:xfrm>
            <a:off x="457200" y="1298448"/>
            <a:ext cx="411480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Ce que montrent les travaux</a:t>
            </a:r>
            <a:endParaRPr lang="en-US" sz="1350" dirty="0"/>
          </a:p>
        </p:txBody>
      </p:sp>
      <p:sp>
        <p:nvSpPr>
          <p:cNvPr id="18" name="Shape 15"/>
          <p:cNvSpPr/>
          <p:nvPr/>
        </p:nvSpPr>
        <p:spPr>
          <a:xfrm>
            <a:off x="457200" y="1627632"/>
            <a:ext cx="4206240" cy="868680"/>
          </a:xfrm>
          <a:prstGeom prst="roundRect">
            <a:avLst>
              <a:gd name="adj" fmla="val 8421"/>
            </a:avLst>
          </a:prstGeom>
          <a:solidFill>
            <a:srgbClr val="F4F7F5"/>
          </a:solidFill>
          <a:ln w="9525">
            <a:solidFill>
              <a:srgbClr val="D5DED9"/>
            </a:solidFill>
            <a:prstDash val="solid"/>
          </a:ln>
        </p:spPr>
      </p:sp>
      <p:sp>
        <p:nvSpPr>
          <p:cNvPr id="19" name="Shape 16"/>
          <p:cNvSpPr/>
          <p:nvPr/>
        </p:nvSpPr>
        <p:spPr>
          <a:xfrm>
            <a:off x="566928" y="1828800"/>
            <a:ext cx="457200" cy="457200"/>
          </a:xfrm>
          <a:prstGeom prst="ellipse">
            <a:avLst/>
          </a:prstGeom>
          <a:solidFill>
            <a:srgbClr val="D49A00">
              <a:alpha val="22000"/>
            </a:srgbClr>
          </a:solidFill>
          <a:ln w="12700">
            <a:solidFill>
              <a:srgbClr val="D49A00">
                <a:alpha val="0"/>
              </a:srgbClr>
            </a:solidFill>
            <a:prstDash val="solid"/>
          </a:ln>
        </p:spPr>
      </p:sp>
      <p:pic>
        <p:nvPicPr>
          <p:cNvPr id="20" name="Image 0" descr="preencoded.png"/>
          <p:cNvPicPr>
            <a:picLocks noChangeAspect="1"/>
          </p:cNvPicPr>
          <p:nvPr/>
        </p:nvPicPr>
        <p:blipFill>
          <a:blip r:embed="rId3"/>
          <a:stretch>
            <a:fillRect/>
          </a:stretch>
        </p:blipFill>
        <p:spPr>
          <a:xfrm>
            <a:off x="685800" y="1947672"/>
            <a:ext cx="219456" cy="219456"/>
          </a:xfrm>
          <a:prstGeom prst="rect">
            <a:avLst/>
          </a:prstGeom>
        </p:spPr>
      </p:pic>
      <p:sp>
        <p:nvSpPr>
          <p:cNvPr id="21" name="Text 17"/>
          <p:cNvSpPr txBox="1"/>
          <p:nvPr/>
        </p:nvSpPr>
        <p:spPr>
          <a:xfrm>
            <a:off x="1143000" y="1700784"/>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Henderson, Storeygard et Weil (2012)</a:t>
            </a:r>
            <a:endParaRPr lang="en-US" sz="1100" dirty="0"/>
          </a:p>
        </p:txBody>
      </p:sp>
      <p:sp>
        <p:nvSpPr>
          <p:cNvPr id="22" name="Text 18"/>
          <p:cNvSpPr txBox="1"/>
          <p:nvPr/>
        </p:nvSpPr>
        <p:spPr>
          <a:xfrm>
            <a:off x="1143000" y="1938528"/>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contiennent une vraie information sur la croissance et peuvent améliorer le PIB là où les comptes sont fragiles.</a:t>
            </a:r>
            <a:endParaRPr lang="en-US" sz="900" dirty="0"/>
          </a:p>
        </p:txBody>
      </p:sp>
      <p:sp>
        <p:nvSpPr>
          <p:cNvPr id="23" name="Shape 19"/>
          <p:cNvSpPr/>
          <p:nvPr/>
        </p:nvSpPr>
        <p:spPr>
          <a:xfrm>
            <a:off x="457200" y="2606040"/>
            <a:ext cx="4206240" cy="868680"/>
          </a:xfrm>
          <a:prstGeom prst="roundRect">
            <a:avLst>
              <a:gd name="adj" fmla="val 8421"/>
            </a:avLst>
          </a:prstGeom>
          <a:solidFill>
            <a:srgbClr val="F4F7F5"/>
          </a:solidFill>
          <a:ln w="9525">
            <a:solidFill>
              <a:srgbClr val="D5DED9"/>
            </a:solidFill>
            <a:prstDash val="solid"/>
          </a:ln>
        </p:spPr>
      </p:sp>
      <p:sp>
        <p:nvSpPr>
          <p:cNvPr id="24" name="Shape 20"/>
          <p:cNvSpPr/>
          <p:nvPr/>
        </p:nvSpPr>
        <p:spPr>
          <a:xfrm>
            <a:off x="566928" y="2807208"/>
            <a:ext cx="457200" cy="457200"/>
          </a:xfrm>
          <a:prstGeom prst="ellipse">
            <a:avLst/>
          </a:prstGeom>
          <a:solidFill>
            <a:srgbClr val="D49A00">
              <a:alpha val="22000"/>
            </a:srgbClr>
          </a:solidFill>
          <a:ln w="12700">
            <a:solidFill>
              <a:srgbClr val="D49A00">
                <a:alpha val="0"/>
              </a:srgbClr>
            </a:solidFill>
            <a:prstDash val="solid"/>
          </a:ln>
        </p:spPr>
      </p:sp>
      <p:pic>
        <p:nvPicPr>
          <p:cNvPr id="25" name="Image 1" descr="preencoded.png"/>
          <p:cNvPicPr>
            <a:picLocks noChangeAspect="1"/>
          </p:cNvPicPr>
          <p:nvPr/>
        </p:nvPicPr>
        <p:blipFill>
          <a:blip r:embed="rId4"/>
          <a:stretch>
            <a:fillRect/>
          </a:stretch>
        </p:blipFill>
        <p:spPr>
          <a:xfrm>
            <a:off x="685800" y="2926080"/>
            <a:ext cx="219456" cy="219456"/>
          </a:xfrm>
          <a:prstGeom prst="rect">
            <a:avLst/>
          </a:prstGeom>
        </p:spPr>
      </p:pic>
      <p:sp>
        <p:nvSpPr>
          <p:cNvPr id="26" name="Text 21"/>
          <p:cNvSpPr txBox="1"/>
          <p:nvPr/>
        </p:nvSpPr>
        <p:spPr>
          <a:xfrm>
            <a:off x="1143000" y="2679192"/>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Bruederle et Hodler (2018)</a:t>
            </a:r>
            <a:endParaRPr lang="en-US" sz="1100" dirty="0"/>
          </a:p>
        </p:txBody>
      </p:sp>
      <p:sp>
        <p:nvSpPr>
          <p:cNvPr id="27" name="Text 22"/>
          <p:cNvSpPr txBox="1"/>
          <p:nvPr/>
        </p:nvSpPr>
        <p:spPr>
          <a:xfrm>
            <a:off x="1143000" y="2916936"/>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reflètent richesse, éducation et santé des ménages à l’échelle locale, d’après les grappes des EDS en Afrique.</a:t>
            </a:r>
            <a:endParaRPr lang="en-US" sz="900" dirty="0"/>
          </a:p>
        </p:txBody>
      </p:sp>
      <p:sp>
        <p:nvSpPr>
          <p:cNvPr id="28" name="Shape 23"/>
          <p:cNvSpPr/>
          <p:nvPr/>
        </p:nvSpPr>
        <p:spPr>
          <a:xfrm>
            <a:off x="457200" y="3584448"/>
            <a:ext cx="4206240" cy="868680"/>
          </a:xfrm>
          <a:prstGeom prst="roundRect">
            <a:avLst>
              <a:gd name="adj" fmla="val 8421"/>
            </a:avLst>
          </a:prstGeom>
          <a:solidFill>
            <a:srgbClr val="F4F7F5"/>
          </a:solidFill>
          <a:ln w="9525">
            <a:solidFill>
              <a:srgbClr val="D5DED9"/>
            </a:solidFill>
            <a:prstDash val="solid"/>
          </a:ln>
        </p:spPr>
      </p:sp>
      <p:sp>
        <p:nvSpPr>
          <p:cNvPr id="29" name="Shape 24"/>
          <p:cNvSpPr/>
          <p:nvPr/>
        </p:nvSpPr>
        <p:spPr>
          <a:xfrm>
            <a:off x="566928" y="3785616"/>
            <a:ext cx="457200" cy="457200"/>
          </a:xfrm>
          <a:prstGeom prst="ellipse">
            <a:avLst/>
          </a:prstGeom>
          <a:solidFill>
            <a:srgbClr val="D49A00">
              <a:alpha val="22000"/>
            </a:srgbClr>
          </a:solidFill>
          <a:ln w="12700">
            <a:solidFill>
              <a:srgbClr val="D49A00">
                <a:alpha val="0"/>
              </a:srgbClr>
            </a:solidFill>
            <a:prstDash val="solid"/>
          </a:ln>
        </p:spPr>
      </p:sp>
      <p:pic>
        <p:nvPicPr>
          <p:cNvPr id="30" name="Image 2" descr="preencoded.png"/>
          <p:cNvPicPr>
            <a:picLocks noChangeAspect="1"/>
          </p:cNvPicPr>
          <p:nvPr/>
        </p:nvPicPr>
        <p:blipFill>
          <a:blip r:embed="rId5"/>
          <a:stretch>
            <a:fillRect/>
          </a:stretch>
        </p:blipFill>
        <p:spPr>
          <a:xfrm>
            <a:off x="685800" y="3904488"/>
            <a:ext cx="219456" cy="219456"/>
          </a:xfrm>
          <a:prstGeom prst="rect">
            <a:avLst/>
          </a:prstGeom>
        </p:spPr>
      </p:pic>
      <p:sp>
        <p:nvSpPr>
          <p:cNvPr id="31" name="Text 25"/>
          <p:cNvSpPr txBox="1"/>
          <p:nvPr/>
        </p:nvSpPr>
        <p:spPr>
          <a:xfrm>
            <a:off x="1143000" y="3657600"/>
            <a:ext cx="3429000" cy="228600"/>
          </a:xfrm>
          <a:prstGeom prst="rect">
            <a:avLst/>
          </a:prstGeom>
          <a:noFill/>
          <a:ln/>
        </p:spPr>
        <p:txBody>
          <a:bodyPr wrap="square" lIns="0" tIns="0" rIns="0" bIns="0" rtlCol="0" anchor="t"/>
          <a:lstStyle/>
          <a:p>
            <a:pPr marL="0" indent="0">
              <a:buNone/>
            </a:pPr>
            <a:r>
              <a:rPr lang="en-US" sz="1100" b="1" dirty="0">
                <a:solidFill>
                  <a:srgbClr val="231F20"/>
                </a:solidFill>
                <a:latin typeface="Calibri" pitchFamily="34" charset="0"/>
                <a:ea typeface="Calibri" pitchFamily="34" charset="-122"/>
                <a:cs typeface="Calibri" pitchFamily="34" charset="-120"/>
              </a:rPr>
              <a:t>Martinez (2022)</a:t>
            </a:r>
            <a:endParaRPr lang="en-US" sz="1100" dirty="0"/>
          </a:p>
        </p:txBody>
      </p:sp>
      <p:sp>
        <p:nvSpPr>
          <p:cNvPr id="32" name="Text 26"/>
          <p:cNvSpPr txBox="1"/>
          <p:nvPr/>
        </p:nvSpPr>
        <p:spPr>
          <a:xfrm>
            <a:off x="1143000" y="3895344"/>
            <a:ext cx="3456432" cy="530352"/>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servent de référence indépendante pour tester la crédibilité de la croissance du PIB déclarée.</a:t>
            </a:r>
            <a:endParaRPr lang="en-US" sz="900" dirty="0"/>
          </a:p>
        </p:txBody>
      </p:sp>
      <p:sp>
        <p:nvSpPr>
          <p:cNvPr id="33" name="Text 27"/>
          <p:cNvSpPr txBox="1"/>
          <p:nvPr/>
        </p:nvSpPr>
        <p:spPr>
          <a:xfrm>
            <a:off x="4892040" y="1298448"/>
            <a:ext cx="3840480" cy="256032"/>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Pourquoi le lien lumière–production varie</a:t>
            </a:r>
            <a:endParaRPr lang="en-US" sz="1350" dirty="0"/>
          </a:p>
        </p:txBody>
      </p:sp>
      <p:sp>
        <p:nvSpPr>
          <p:cNvPr id="34" name="Shape 28"/>
          <p:cNvSpPr/>
          <p:nvPr/>
        </p:nvSpPr>
        <p:spPr>
          <a:xfrm>
            <a:off x="4892040" y="1627632"/>
            <a:ext cx="3794760" cy="1847088"/>
          </a:xfrm>
          <a:prstGeom prst="roundRect">
            <a:avLst>
              <a:gd name="adj" fmla="val 3960"/>
            </a:avLst>
          </a:prstGeom>
          <a:solidFill>
            <a:srgbClr val="F4F7F5"/>
          </a:solidFill>
          <a:ln w="9525">
            <a:solidFill>
              <a:srgbClr val="D5DED9"/>
            </a:solidFill>
            <a:prstDash val="solid"/>
          </a:ln>
        </p:spPr>
      </p:sp>
      <p:sp>
        <p:nvSpPr>
          <p:cNvPr id="35" name="Shape 29"/>
          <p:cNvSpPr/>
          <p:nvPr/>
        </p:nvSpPr>
        <p:spPr>
          <a:xfrm>
            <a:off x="5001768" y="1737360"/>
            <a:ext cx="329184" cy="329184"/>
          </a:xfrm>
          <a:prstGeom prst="ellipse">
            <a:avLst/>
          </a:prstGeom>
          <a:solidFill>
            <a:srgbClr val="C4621D">
              <a:alpha val="22000"/>
            </a:srgbClr>
          </a:solidFill>
          <a:ln w="12700">
            <a:solidFill>
              <a:srgbClr val="C4621D">
                <a:alpha val="0"/>
              </a:srgbClr>
            </a:solidFill>
            <a:prstDash val="solid"/>
          </a:ln>
        </p:spPr>
      </p:sp>
      <p:pic>
        <p:nvPicPr>
          <p:cNvPr id="36" name="Image 3" descr="preencoded.png"/>
          <p:cNvPicPr>
            <a:picLocks noChangeAspect="1"/>
          </p:cNvPicPr>
          <p:nvPr/>
        </p:nvPicPr>
        <p:blipFill>
          <a:blip r:embed="rId6"/>
          <a:stretch>
            <a:fillRect/>
          </a:stretch>
        </p:blipFill>
        <p:spPr>
          <a:xfrm>
            <a:off x="5087356" y="1822948"/>
            <a:ext cx="158008" cy="158008"/>
          </a:xfrm>
          <a:prstGeom prst="rect">
            <a:avLst/>
          </a:prstGeom>
        </p:spPr>
      </p:pic>
      <p:sp>
        <p:nvSpPr>
          <p:cNvPr id="37" name="Text 30"/>
          <p:cNvSpPr txBox="1"/>
          <p:nvPr/>
        </p:nvSpPr>
        <p:spPr>
          <a:xfrm>
            <a:off x="5440680" y="1700784"/>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Structure sectorielle : agriculture et mines créent de la valeur avec peu de lumière</a:t>
            </a:r>
            <a:endParaRPr lang="en-US" sz="950" dirty="0"/>
          </a:p>
        </p:txBody>
      </p:sp>
      <p:sp>
        <p:nvSpPr>
          <p:cNvPr id="38" name="Shape 31"/>
          <p:cNvSpPr/>
          <p:nvPr/>
        </p:nvSpPr>
        <p:spPr>
          <a:xfrm>
            <a:off x="5001768" y="2167128"/>
            <a:ext cx="329184" cy="329184"/>
          </a:xfrm>
          <a:prstGeom prst="ellipse">
            <a:avLst/>
          </a:prstGeom>
          <a:solidFill>
            <a:srgbClr val="C4621D">
              <a:alpha val="22000"/>
            </a:srgbClr>
          </a:solidFill>
          <a:ln w="12700">
            <a:solidFill>
              <a:srgbClr val="C4621D">
                <a:alpha val="0"/>
              </a:srgbClr>
            </a:solidFill>
            <a:prstDash val="solid"/>
          </a:ln>
        </p:spPr>
      </p:sp>
      <p:pic>
        <p:nvPicPr>
          <p:cNvPr id="39" name="Image 4" descr="preencoded.png"/>
          <p:cNvPicPr>
            <a:picLocks noChangeAspect="1"/>
          </p:cNvPicPr>
          <p:nvPr/>
        </p:nvPicPr>
        <p:blipFill>
          <a:blip r:embed="rId7"/>
          <a:stretch>
            <a:fillRect/>
          </a:stretch>
        </p:blipFill>
        <p:spPr>
          <a:xfrm>
            <a:off x="5087356" y="2252716"/>
            <a:ext cx="158008" cy="158008"/>
          </a:xfrm>
          <a:prstGeom prst="rect">
            <a:avLst/>
          </a:prstGeom>
        </p:spPr>
      </p:pic>
      <p:sp>
        <p:nvSpPr>
          <p:cNvPr id="40" name="Text 32"/>
          <p:cNvSpPr txBox="1"/>
          <p:nvPr/>
        </p:nvSpPr>
        <p:spPr>
          <a:xfrm>
            <a:off x="5440680" y="2130552"/>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Niveau de revenu : les centres lumineux saturent ou plafonnent</a:t>
            </a:r>
            <a:endParaRPr lang="en-US" sz="950" dirty="0"/>
          </a:p>
        </p:txBody>
      </p:sp>
      <p:sp>
        <p:nvSpPr>
          <p:cNvPr id="41" name="Shape 33"/>
          <p:cNvSpPr/>
          <p:nvPr/>
        </p:nvSpPr>
        <p:spPr>
          <a:xfrm>
            <a:off x="5001768" y="2596896"/>
            <a:ext cx="329184" cy="329184"/>
          </a:xfrm>
          <a:prstGeom prst="ellipse">
            <a:avLst/>
          </a:prstGeom>
          <a:solidFill>
            <a:srgbClr val="C4621D">
              <a:alpha val="22000"/>
            </a:srgbClr>
          </a:solidFill>
          <a:ln w="12700">
            <a:solidFill>
              <a:srgbClr val="C4621D">
                <a:alpha val="0"/>
              </a:srgbClr>
            </a:solidFill>
            <a:prstDash val="solid"/>
          </a:ln>
        </p:spPr>
      </p:sp>
      <p:pic>
        <p:nvPicPr>
          <p:cNvPr id="42" name="Image 5" descr="preencoded.png"/>
          <p:cNvPicPr>
            <a:picLocks noChangeAspect="1"/>
          </p:cNvPicPr>
          <p:nvPr/>
        </p:nvPicPr>
        <p:blipFill>
          <a:blip r:embed="rId8"/>
          <a:stretch>
            <a:fillRect/>
          </a:stretch>
        </p:blipFill>
        <p:spPr>
          <a:xfrm>
            <a:off x="5087356" y="2682484"/>
            <a:ext cx="158008" cy="158008"/>
          </a:xfrm>
          <a:prstGeom prst="rect">
            <a:avLst/>
          </a:prstGeom>
        </p:spPr>
      </p:pic>
      <p:sp>
        <p:nvSpPr>
          <p:cNvPr id="43" name="Text 34"/>
          <p:cNvSpPr txBox="1"/>
          <p:nvPr/>
        </p:nvSpPr>
        <p:spPr>
          <a:xfrm>
            <a:off x="5440680" y="2560320"/>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Technologie : le passage aux LED change la lumière par watt</a:t>
            </a:r>
            <a:endParaRPr lang="en-US" sz="950" dirty="0"/>
          </a:p>
        </p:txBody>
      </p:sp>
      <p:sp>
        <p:nvSpPr>
          <p:cNvPr id="44" name="Shape 35"/>
          <p:cNvSpPr/>
          <p:nvPr/>
        </p:nvSpPr>
        <p:spPr>
          <a:xfrm>
            <a:off x="5001768" y="3026664"/>
            <a:ext cx="329184" cy="329184"/>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icPr>
            <a:picLocks noChangeAspect="1"/>
          </p:cNvPicPr>
          <p:nvPr/>
        </p:nvPicPr>
        <p:blipFill>
          <a:blip r:embed="rId9"/>
          <a:stretch>
            <a:fillRect/>
          </a:stretch>
        </p:blipFill>
        <p:spPr>
          <a:xfrm>
            <a:off x="5087356" y="3112252"/>
            <a:ext cx="158008" cy="158008"/>
          </a:xfrm>
          <a:prstGeom prst="rect">
            <a:avLst/>
          </a:prstGeom>
        </p:spPr>
      </p:pic>
      <p:sp>
        <p:nvSpPr>
          <p:cNvPr id="46" name="Text 36"/>
          <p:cNvSpPr txBox="1"/>
          <p:nvPr/>
        </p:nvSpPr>
        <p:spPr>
          <a:xfrm>
            <a:off x="5440680" y="2990088"/>
            <a:ext cx="3182112" cy="402336"/>
          </a:xfrm>
          <a:prstGeom prst="rect">
            <a:avLst/>
          </a:prstGeom>
          <a:noFill/>
          <a:ln/>
        </p:spPr>
        <p:txBody>
          <a:bodyPr wrap="square" lIns="0" tIns="0" rIns="0" bIns="0" rtlCol="0" anchor="ctr"/>
          <a:lstStyle/>
          <a:p>
            <a:pPr marL="0" indent="0">
              <a:buNone/>
            </a:pPr>
            <a:r>
              <a:rPr lang="en-US" sz="950" dirty="0">
                <a:solidFill>
                  <a:srgbClr val="231F20"/>
                </a:solidFill>
                <a:latin typeface="Calibri" pitchFamily="34" charset="0"/>
                <a:ea typeface="Calibri" pitchFamily="34" charset="-122"/>
                <a:cs typeface="Calibri" pitchFamily="34" charset="-120"/>
              </a:rPr>
              <a:t>Approvisionnement : les délestages éteignent les lumières, pas la production</a:t>
            </a:r>
            <a:endParaRPr lang="en-US" sz="950" dirty="0"/>
          </a:p>
        </p:txBody>
      </p:sp>
      <p:sp>
        <p:nvSpPr>
          <p:cNvPr id="47" name="Shape 37"/>
          <p:cNvSpPr/>
          <p:nvPr/>
        </p:nvSpPr>
        <p:spPr>
          <a:xfrm>
            <a:off x="4892040" y="3584448"/>
            <a:ext cx="3794760" cy="868680"/>
          </a:xfrm>
          <a:prstGeom prst="roundRect">
            <a:avLst>
              <a:gd name="adj" fmla="val 8421"/>
            </a:avLst>
          </a:prstGeom>
          <a:solidFill>
            <a:srgbClr val="E8F5EF"/>
          </a:solidFill>
          <a:ln w="15875">
            <a:solidFill>
              <a:srgbClr val="D49A00"/>
            </a:solidFill>
            <a:prstDash val="solid"/>
          </a:ln>
        </p:spPr>
      </p:sp>
      <p:sp>
        <p:nvSpPr>
          <p:cNvPr id="48" name="Text 38"/>
          <p:cNvSpPr txBox="1"/>
          <p:nvPr/>
        </p:nvSpPr>
        <p:spPr>
          <a:xfrm>
            <a:off x="5029200" y="3657600"/>
            <a:ext cx="3566160" cy="182880"/>
          </a:xfrm>
          <a:prstGeom prst="rect">
            <a:avLst/>
          </a:prstGeom>
          <a:noFill/>
          <a:ln/>
        </p:spPr>
        <p:txBody>
          <a:bodyPr wrap="square" lIns="0" tIns="0" rIns="0" bIns="0" rtlCol="0" anchor="t"/>
          <a:lstStyle/>
          <a:p>
            <a:pPr marL="0" indent="0">
              <a:buNone/>
            </a:pPr>
            <a:r>
              <a:rPr lang="en-US" sz="900" b="1" kern="0" spc="200" dirty="0">
                <a:solidFill>
                  <a:srgbClr val="D49A00"/>
                </a:solidFill>
                <a:latin typeface="Calibri" pitchFamily="34" charset="0"/>
                <a:ea typeface="Calibri" pitchFamily="34" charset="-122"/>
                <a:cs typeface="Calibri" pitchFamily="34" charset="-120"/>
              </a:rPr>
              <a:t>LÀ OÙ LES LUMIÈRES SONT LES PLUS UTILES</a:t>
            </a:r>
            <a:endParaRPr lang="en-US" sz="900" dirty="0"/>
          </a:p>
        </p:txBody>
      </p:sp>
      <p:sp>
        <p:nvSpPr>
          <p:cNvPr id="49" name="Shape 39"/>
          <p:cNvSpPr/>
          <p:nvPr/>
        </p:nvSpPr>
        <p:spPr>
          <a:xfrm>
            <a:off x="5001768"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0" name="Text 40"/>
          <p:cNvSpPr txBox="1"/>
          <p:nvPr/>
        </p:nvSpPr>
        <p:spPr>
          <a:xfrm>
            <a:off x="5001768"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Infranational</a:t>
            </a:r>
            <a:endParaRPr lang="en-US" sz="850" dirty="0"/>
          </a:p>
        </p:txBody>
      </p:sp>
      <p:sp>
        <p:nvSpPr>
          <p:cNvPr id="51" name="Shape 41"/>
          <p:cNvSpPr/>
          <p:nvPr/>
        </p:nvSpPr>
        <p:spPr>
          <a:xfrm>
            <a:off x="6217920"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2" name="Text 42"/>
          <p:cNvSpPr txBox="1"/>
          <p:nvPr/>
        </p:nvSpPr>
        <p:spPr>
          <a:xfrm>
            <a:off x="6217920"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Haute fréquence</a:t>
            </a:r>
            <a:endParaRPr lang="en-US" sz="850" dirty="0"/>
          </a:p>
        </p:txBody>
      </p:sp>
      <p:sp>
        <p:nvSpPr>
          <p:cNvPr id="53" name="Shape 43"/>
          <p:cNvSpPr/>
          <p:nvPr/>
        </p:nvSpPr>
        <p:spPr>
          <a:xfrm>
            <a:off x="7434072" y="3977640"/>
            <a:ext cx="1143000" cy="274320"/>
          </a:xfrm>
          <a:prstGeom prst="roundRect">
            <a:avLst>
              <a:gd name="adj" fmla="val 50000"/>
            </a:avLst>
          </a:prstGeom>
          <a:solidFill>
            <a:srgbClr val="00704A">
              <a:alpha val="15000"/>
            </a:srgbClr>
          </a:solidFill>
          <a:ln w="9525">
            <a:solidFill>
              <a:srgbClr val="00704A"/>
            </a:solidFill>
            <a:prstDash val="solid"/>
          </a:ln>
        </p:spPr>
      </p:sp>
      <p:sp>
        <p:nvSpPr>
          <p:cNvPr id="54" name="Text 44"/>
          <p:cNvSpPr txBox="1"/>
          <p:nvPr/>
        </p:nvSpPr>
        <p:spPr>
          <a:xfrm>
            <a:off x="7434072" y="3977640"/>
            <a:ext cx="1143000" cy="274320"/>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Économie informelle</a:t>
            </a:r>
            <a:endParaRPr lang="en-US" sz="850" dirty="0"/>
          </a:p>
        </p:txBody>
      </p:sp>
      <p:sp>
        <p:nvSpPr>
          <p:cNvPr id="55" name="Text 45"/>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Henderson et al. (2012) AER 102(2) ; Bruederle et Hodler (2018) PLOS ONE 13(9) ; Martinez (2022) JPE 130(10).</a:t>
            </a:r>
            <a:endParaRPr lang="en-US" sz="90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02</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Accès à l’énergie et ODD 7 : le grand défi africain</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22</a:t>
            </a:r>
            <a:endParaRPr lang="en-US" sz="850" dirty="0"/>
          </a:p>
        </p:txBody>
      </p:sp>
      <p:sp>
        <p:nvSpPr>
          <p:cNvPr id="17" name="Shape 14"/>
          <p:cNvSpPr/>
          <p:nvPr/>
        </p:nvSpPr>
        <p:spPr>
          <a:xfrm>
            <a:off x="457200" y="1325880"/>
            <a:ext cx="1874520" cy="960120"/>
          </a:xfrm>
          <a:prstGeom prst="roundRect">
            <a:avLst>
              <a:gd name="adj" fmla="val 7619"/>
            </a:avLst>
          </a:prstGeom>
          <a:solidFill>
            <a:srgbClr val="E8F5EF"/>
          </a:solidFill>
          <a:ln w="15875">
            <a:solidFill>
              <a:srgbClr val="00A86A"/>
            </a:solidFill>
            <a:prstDash val="solid"/>
          </a:ln>
        </p:spPr>
      </p:sp>
      <p:sp>
        <p:nvSpPr>
          <p:cNvPr id="18" name="Text 15"/>
          <p:cNvSpPr txBox="1"/>
          <p:nvPr/>
        </p:nvSpPr>
        <p:spPr>
          <a:xfrm>
            <a:off x="502920" y="1344168"/>
            <a:ext cx="1783080" cy="502920"/>
          </a:xfrm>
          <a:prstGeom prst="rect">
            <a:avLst/>
          </a:prstGeom>
          <a:noFill/>
          <a:ln/>
        </p:spPr>
        <p:txBody>
          <a:bodyPr wrap="square" lIns="0" tIns="0" rIns="0" bIns="0" rtlCol="0" anchor="ctr"/>
          <a:lstStyle/>
          <a:p>
            <a:pPr marL="0" indent="0" algn="ctr">
              <a:buNone/>
            </a:pPr>
            <a:r>
              <a:rPr lang="en-US" sz="3200" b="1" dirty="0">
                <a:solidFill>
                  <a:srgbClr val="00704A"/>
                </a:solidFill>
                <a:latin typeface="Calibri" pitchFamily="34" charset="0"/>
                <a:ea typeface="Calibri" pitchFamily="34" charset="-122"/>
                <a:cs typeface="Calibri" pitchFamily="34" charset="-120"/>
              </a:rPr>
              <a:t>655 M</a:t>
            </a:r>
            <a:endParaRPr lang="en-US" sz="3200" dirty="0"/>
          </a:p>
        </p:txBody>
      </p:sp>
      <p:sp>
        <p:nvSpPr>
          <p:cNvPr id="19" name="Text 16"/>
          <p:cNvSpPr txBox="1"/>
          <p:nvPr/>
        </p:nvSpPr>
        <p:spPr>
          <a:xfrm>
            <a:off x="54864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personnes sans électricité dans le monde (2024)</a:t>
            </a:r>
            <a:endParaRPr lang="en-US" sz="900" dirty="0"/>
          </a:p>
        </p:txBody>
      </p:sp>
      <p:sp>
        <p:nvSpPr>
          <p:cNvPr id="20" name="Shape 17"/>
          <p:cNvSpPr/>
          <p:nvPr/>
        </p:nvSpPr>
        <p:spPr>
          <a:xfrm>
            <a:off x="2468880" y="1325880"/>
            <a:ext cx="1874520" cy="960120"/>
          </a:xfrm>
          <a:prstGeom prst="roundRect">
            <a:avLst>
              <a:gd name="adj" fmla="val 7619"/>
            </a:avLst>
          </a:prstGeom>
          <a:solidFill>
            <a:srgbClr val="E8F5EF"/>
          </a:solidFill>
          <a:ln w="15875">
            <a:solidFill>
              <a:srgbClr val="B83B2E"/>
            </a:solidFill>
            <a:prstDash val="solid"/>
          </a:ln>
        </p:spPr>
      </p:sp>
      <p:sp>
        <p:nvSpPr>
          <p:cNvPr id="21" name="Text 18"/>
          <p:cNvSpPr txBox="1"/>
          <p:nvPr/>
        </p:nvSpPr>
        <p:spPr>
          <a:xfrm>
            <a:off x="2514600" y="1344168"/>
            <a:ext cx="1783080" cy="502920"/>
          </a:xfrm>
          <a:prstGeom prst="rect">
            <a:avLst/>
          </a:prstGeom>
          <a:noFill/>
          <a:ln/>
        </p:spPr>
        <p:txBody>
          <a:bodyPr wrap="square" lIns="0" tIns="0" rIns="0" bIns="0" rtlCol="0" anchor="ctr"/>
          <a:lstStyle/>
          <a:p>
            <a:pPr marL="0" indent="0" algn="ctr">
              <a:buNone/>
            </a:pPr>
            <a:r>
              <a:rPr lang="en-US" sz="3200" b="1" dirty="0">
                <a:solidFill>
                  <a:srgbClr val="B83B2E"/>
                </a:solidFill>
                <a:latin typeface="Calibri" pitchFamily="34" charset="0"/>
                <a:ea typeface="Calibri" pitchFamily="34" charset="-122"/>
                <a:cs typeface="Calibri" pitchFamily="34" charset="-120"/>
              </a:rPr>
              <a:t>&gt; 560 M</a:t>
            </a:r>
            <a:endParaRPr lang="en-US" sz="3200" dirty="0"/>
          </a:p>
        </p:txBody>
      </p:sp>
      <p:sp>
        <p:nvSpPr>
          <p:cNvPr id="22" name="Text 19"/>
          <p:cNvSpPr txBox="1"/>
          <p:nvPr/>
        </p:nvSpPr>
        <p:spPr>
          <a:xfrm>
            <a:off x="2560320" y="1847088"/>
            <a:ext cx="1691640" cy="411480"/>
          </a:xfrm>
          <a:prstGeom prst="rect">
            <a:avLst/>
          </a:prstGeom>
          <a:noFill/>
          <a:ln/>
        </p:spPr>
        <p:txBody>
          <a:bodyPr wrap="square" lIns="0" tIns="0" rIns="0" bIns="0" rtlCol="0" anchor="t"/>
          <a:lstStyle/>
          <a:p>
            <a:pPr marL="0" indent="0" algn="ctr">
              <a:buNone/>
            </a:pPr>
            <a:r>
              <a:rPr lang="en-US" sz="900" dirty="0">
                <a:solidFill>
                  <a:srgbClr val="5E6964"/>
                </a:solidFill>
                <a:latin typeface="Calibri" pitchFamily="34" charset="0"/>
                <a:ea typeface="Calibri" pitchFamily="34" charset="-122"/>
                <a:cs typeface="Calibri" pitchFamily="34" charset="-120"/>
              </a:rPr>
              <a:t>d’entre elles en Afrique subsaharienne</a:t>
            </a:r>
            <a:endParaRPr lang="en-US" sz="900" dirty="0"/>
          </a:p>
        </p:txBody>
      </p:sp>
      <p:graphicFrame>
        <p:nvGraphicFramePr>
          <p:cNvPr id="23" name="Chart 0"/>
          <p:cNvGraphicFramePr/>
          <p:nvPr/>
        </p:nvGraphicFramePr>
        <p:xfrm>
          <a:off x="457200" y="2377440"/>
          <a:ext cx="3886200" cy="2011680"/>
        </p:xfrm>
        <a:graphic>
          <a:graphicData uri="http://schemas.openxmlformats.org/drawingml/2006/chart">
            <c:chart xmlns:c="http://schemas.openxmlformats.org/drawingml/2006/chart" xmlns:r="http://schemas.openxmlformats.org/officeDocument/2006/relationships" r:id="rId3"/>
          </a:graphicData>
        </a:graphic>
      </p:graphicFrame>
      <p:sp>
        <p:nvSpPr>
          <p:cNvPr id="24" name="Shape 20"/>
          <p:cNvSpPr/>
          <p:nvPr/>
        </p:nvSpPr>
        <p:spPr>
          <a:xfrm>
            <a:off x="4572000" y="1325880"/>
            <a:ext cx="4114800" cy="585216"/>
          </a:xfrm>
          <a:prstGeom prst="roundRect">
            <a:avLst>
              <a:gd name="adj" fmla="val 12500"/>
            </a:avLst>
          </a:prstGeom>
          <a:solidFill>
            <a:srgbClr val="F4F7F5"/>
          </a:solidFill>
          <a:ln w="9525">
            <a:solidFill>
              <a:srgbClr val="D5DED9"/>
            </a:solidFill>
            <a:prstDash val="solid"/>
          </a:ln>
        </p:spPr>
      </p:sp>
      <p:sp>
        <p:nvSpPr>
          <p:cNvPr id="25" name="Shape 21"/>
          <p:cNvSpPr/>
          <p:nvPr/>
        </p:nvSpPr>
        <p:spPr>
          <a:xfrm>
            <a:off x="4663440" y="1426464"/>
            <a:ext cx="384048" cy="384048"/>
          </a:xfrm>
          <a:prstGeom prst="ellipse">
            <a:avLst/>
          </a:prstGeom>
          <a:solidFill>
            <a:srgbClr val="D49A00">
              <a:alpha val="22000"/>
            </a:srgbClr>
          </a:solidFill>
          <a:ln w="12700">
            <a:solidFill>
              <a:srgbClr val="D49A00">
                <a:alpha val="0"/>
              </a:srgbClr>
            </a:solidFill>
            <a:prstDash val="solid"/>
          </a:ln>
        </p:spPr>
      </p:sp>
      <p:pic>
        <p:nvPicPr>
          <p:cNvPr id="26" name="Image 0" descr="preencoded.png"/>
          <p:cNvPicPr>
            <a:picLocks noChangeAspect="1"/>
          </p:cNvPicPr>
          <p:nvPr/>
        </p:nvPicPr>
        <p:blipFill>
          <a:blip r:embed="rId4"/>
          <a:stretch>
            <a:fillRect/>
          </a:stretch>
        </p:blipFill>
        <p:spPr>
          <a:xfrm>
            <a:off x="4763292" y="1526316"/>
            <a:ext cx="184343" cy="184343"/>
          </a:xfrm>
          <a:prstGeom prst="rect">
            <a:avLst/>
          </a:prstGeom>
        </p:spPr>
      </p:pic>
      <p:sp>
        <p:nvSpPr>
          <p:cNvPr id="27" name="Text 22"/>
          <p:cNvSpPr txBox="1"/>
          <p:nvPr/>
        </p:nvSpPr>
        <p:spPr>
          <a:xfrm>
            <a:off x="5138928" y="1362456"/>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Localiser les non-desservis</a:t>
            </a:r>
            <a:endParaRPr lang="en-US" sz="1050" dirty="0"/>
          </a:p>
        </p:txBody>
      </p:sp>
      <p:sp>
        <p:nvSpPr>
          <p:cNvPr id="28" name="Text 23"/>
          <p:cNvSpPr txBox="1"/>
          <p:nvPr/>
        </p:nvSpPr>
        <p:spPr>
          <a:xfrm>
            <a:off x="5138928" y="1563624"/>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Localités visibles de jour mais sombres la nuit : communautés probablement non électrifiées.</a:t>
            </a:r>
            <a:endParaRPr lang="en-US" sz="850" dirty="0"/>
          </a:p>
        </p:txBody>
      </p:sp>
      <p:sp>
        <p:nvSpPr>
          <p:cNvPr id="29" name="Shape 24"/>
          <p:cNvSpPr/>
          <p:nvPr/>
        </p:nvSpPr>
        <p:spPr>
          <a:xfrm>
            <a:off x="4572000" y="1993392"/>
            <a:ext cx="4114800" cy="585216"/>
          </a:xfrm>
          <a:prstGeom prst="roundRect">
            <a:avLst>
              <a:gd name="adj" fmla="val 12500"/>
            </a:avLst>
          </a:prstGeom>
          <a:solidFill>
            <a:srgbClr val="F4F7F5"/>
          </a:solidFill>
          <a:ln w="9525">
            <a:solidFill>
              <a:srgbClr val="D5DED9"/>
            </a:solidFill>
            <a:prstDash val="solid"/>
          </a:ln>
        </p:spPr>
      </p:sp>
      <p:sp>
        <p:nvSpPr>
          <p:cNvPr id="30" name="Shape 25"/>
          <p:cNvSpPr/>
          <p:nvPr/>
        </p:nvSpPr>
        <p:spPr>
          <a:xfrm>
            <a:off x="4663440" y="2093976"/>
            <a:ext cx="384048" cy="384048"/>
          </a:xfrm>
          <a:prstGeom prst="ellipse">
            <a:avLst/>
          </a:prstGeom>
          <a:solidFill>
            <a:srgbClr val="D49A00">
              <a:alpha val="22000"/>
            </a:srgbClr>
          </a:solidFill>
          <a:ln w="12700">
            <a:solidFill>
              <a:srgbClr val="D49A00">
                <a:alpha val="0"/>
              </a:srgbClr>
            </a:solidFill>
            <a:prstDash val="solid"/>
          </a:ln>
        </p:spPr>
      </p:sp>
      <p:pic>
        <p:nvPicPr>
          <p:cNvPr id="31" name="Image 1" descr="preencoded.png"/>
          <p:cNvPicPr>
            <a:picLocks noChangeAspect="1"/>
          </p:cNvPicPr>
          <p:nvPr/>
        </p:nvPicPr>
        <p:blipFill>
          <a:blip r:embed="rId5"/>
          <a:stretch>
            <a:fillRect/>
          </a:stretch>
        </p:blipFill>
        <p:spPr>
          <a:xfrm>
            <a:off x="4763292" y="2193828"/>
            <a:ext cx="184343" cy="184343"/>
          </a:xfrm>
          <a:prstGeom prst="rect">
            <a:avLst/>
          </a:prstGeom>
        </p:spPr>
      </p:pic>
      <p:sp>
        <p:nvSpPr>
          <p:cNvPr id="32" name="Text 26"/>
          <p:cNvSpPr txBox="1"/>
          <p:nvPr/>
        </p:nvSpPr>
        <p:spPr>
          <a:xfrm>
            <a:off x="5138928" y="2029968"/>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Vérifier les programmes</a:t>
            </a:r>
            <a:endParaRPr lang="en-US" sz="1050" dirty="0"/>
          </a:p>
        </p:txBody>
      </p:sp>
      <p:sp>
        <p:nvSpPr>
          <p:cNvPr id="33" name="Text 27"/>
          <p:cNvSpPr txBox="1"/>
          <p:nvPr/>
        </p:nvSpPr>
        <p:spPr>
          <a:xfrm>
            <a:off x="5138928" y="2231136"/>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Une extension de réseau qui ne produit aucune lumière n’a, en pratique, rien livré.</a:t>
            </a:r>
            <a:endParaRPr lang="en-US" sz="850" dirty="0"/>
          </a:p>
        </p:txBody>
      </p:sp>
      <p:sp>
        <p:nvSpPr>
          <p:cNvPr id="34" name="Shape 28"/>
          <p:cNvSpPr/>
          <p:nvPr/>
        </p:nvSpPr>
        <p:spPr>
          <a:xfrm>
            <a:off x="4572000" y="2660904"/>
            <a:ext cx="4114800" cy="585216"/>
          </a:xfrm>
          <a:prstGeom prst="roundRect">
            <a:avLst>
              <a:gd name="adj" fmla="val 12500"/>
            </a:avLst>
          </a:prstGeom>
          <a:solidFill>
            <a:srgbClr val="F4F7F5"/>
          </a:solidFill>
          <a:ln w="9525">
            <a:solidFill>
              <a:srgbClr val="D5DED9"/>
            </a:solidFill>
            <a:prstDash val="solid"/>
          </a:ln>
        </p:spPr>
      </p:sp>
      <p:sp>
        <p:nvSpPr>
          <p:cNvPr id="35" name="Shape 29"/>
          <p:cNvSpPr/>
          <p:nvPr/>
        </p:nvSpPr>
        <p:spPr>
          <a:xfrm>
            <a:off x="4663440" y="2761488"/>
            <a:ext cx="384048" cy="384048"/>
          </a:xfrm>
          <a:prstGeom prst="ellipse">
            <a:avLst/>
          </a:prstGeom>
          <a:solidFill>
            <a:srgbClr val="D49A00">
              <a:alpha val="22000"/>
            </a:srgbClr>
          </a:solidFill>
          <a:ln w="12700">
            <a:solidFill>
              <a:srgbClr val="D49A00">
                <a:alpha val="0"/>
              </a:srgbClr>
            </a:solidFill>
            <a:prstDash val="solid"/>
          </a:ln>
        </p:spPr>
      </p:sp>
      <p:pic>
        <p:nvPicPr>
          <p:cNvPr id="36" name="Image 2" descr="preencoded.png"/>
          <p:cNvPicPr>
            <a:picLocks noChangeAspect="1"/>
          </p:cNvPicPr>
          <p:nvPr/>
        </p:nvPicPr>
        <p:blipFill>
          <a:blip r:embed="rId6"/>
          <a:stretch>
            <a:fillRect/>
          </a:stretch>
        </p:blipFill>
        <p:spPr>
          <a:xfrm>
            <a:off x="4763292" y="2861340"/>
            <a:ext cx="184343" cy="184343"/>
          </a:xfrm>
          <a:prstGeom prst="rect">
            <a:avLst/>
          </a:prstGeom>
        </p:spPr>
      </p:pic>
      <p:sp>
        <p:nvSpPr>
          <p:cNvPr id="37" name="Text 30"/>
          <p:cNvSpPr txBox="1"/>
          <p:nvPr/>
        </p:nvSpPr>
        <p:spPr>
          <a:xfrm>
            <a:off x="5138928" y="2697480"/>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Mesurer la fiabilité</a:t>
            </a:r>
            <a:endParaRPr lang="en-US" sz="1050" dirty="0"/>
          </a:p>
        </p:txBody>
      </p:sp>
      <p:sp>
        <p:nvSpPr>
          <p:cNvPr id="38" name="Text 31"/>
          <p:cNvSpPr txBox="1"/>
          <p:nvPr/>
        </p:nvSpPr>
        <p:spPr>
          <a:xfrm>
            <a:off x="5138928" y="2898648"/>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Les données quotidiennes montrent la fréquence d’éclairage — les délestages qu’un « raccordé » masque.</a:t>
            </a:r>
            <a:endParaRPr lang="en-US" sz="850" dirty="0"/>
          </a:p>
        </p:txBody>
      </p:sp>
      <p:sp>
        <p:nvSpPr>
          <p:cNvPr id="39" name="Shape 32"/>
          <p:cNvSpPr/>
          <p:nvPr/>
        </p:nvSpPr>
        <p:spPr>
          <a:xfrm>
            <a:off x="4572000" y="3328416"/>
            <a:ext cx="4114800" cy="585216"/>
          </a:xfrm>
          <a:prstGeom prst="roundRect">
            <a:avLst>
              <a:gd name="adj" fmla="val 12500"/>
            </a:avLst>
          </a:prstGeom>
          <a:solidFill>
            <a:srgbClr val="F4F7F5"/>
          </a:solidFill>
          <a:ln w="9525">
            <a:solidFill>
              <a:srgbClr val="D5DED9"/>
            </a:solidFill>
            <a:prstDash val="solid"/>
          </a:ln>
        </p:spPr>
      </p:sp>
      <p:sp>
        <p:nvSpPr>
          <p:cNvPr id="40" name="Shape 33"/>
          <p:cNvSpPr/>
          <p:nvPr/>
        </p:nvSpPr>
        <p:spPr>
          <a:xfrm>
            <a:off x="4663440" y="3429000"/>
            <a:ext cx="384048" cy="384048"/>
          </a:xfrm>
          <a:prstGeom prst="ellipse">
            <a:avLst/>
          </a:prstGeom>
          <a:solidFill>
            <a:srgbClr val="D49A00">
              <a:alpha val="22000"/>
            </a:srgbClr>
          </a:solidFill>
          <a:ln w="12700">
            <a:solidFill>
              <a:srgbClr val="D49A00">
                <a:alpha val="0"/>
              </a:srgbClr>
            </a:solidFill>
            <a:prstDash val="solid"/>
          </a:ln>
        </p:spPr>
      </p:sp>
      <p:pic>
        <p:nvPicPr>
          <p:cNvPr id="41" name="Image 3" descr="preencoded.png"/>
          <p:cNvPicPr>
            <a:picLocks noChangeAspect="1"/>
          </p:cNvPicPr>
          <p:nvPr/>
        </p:nvPicPr>
        <p:blipFill>
          <a:blip r:embed="rId7"/>
          <a:stretch>
            <a:fillRect/>
          </a:stretch>
        </p:blipFill>
        <p:spPr>
          <a:xfrm>
            <a:off x="4763292" y="3528852"/>
            <a:ext cx="184343" cy="184343"/>
          </a:xfrm>
          <a:prstGeom prst="rect">
            <a:avLst/>
          </a:prstGeom>
        </p:spPr>
      </p:pic>
      <p:sp>
        <p:nvSpPr>
          <p:cNvPr id="42" name="Text 34"/>
          <p:cNvSpPr txBox="1"/>
          <p:nvPr/>
        </p:nvSpPr>
        <p:spPr>
          <a:xfrm>
            <a:off x="5138928" y="3364992"/>
            <a:ext cx="3474720" cy="201168"/>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Planifier le dernier kilomètre</a:t>
            </a:r>
            <a:endParaRPr lang="en-US" sz="1050" dirty="0"/>
          </a:p>
        </p:txBody>
      </p:sp>
      <p:sp>
        <p:nvSpPr>
          <p:cNvPr id="43" name="Text 35"/>
          <p:cNvSpPr txBox="1"/>
          <p:nvPr/>
        </p:nvSpPr>
        <p:spPr>
          <a:xfrm>
            <a:off x="5138928" y="3566160"/>
            <a:ext cx="3493008" cy="329184"/>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La distance aux corridors éclairés oriente le choix : réseau, mini-réseau ou solaire autonome.</a:t>
            </a:r>
            <a:endParaRPr lang="en-US" sz="850" dirty="0"/>
          </a:p>
        </p:txBody>
      </p:sp>
      <p:sp>
        <p:nvSpPr>
          <p:cNvPr id="44" name="Shape 36"/>
          <p:cNvSpPr/>
          <p:nvPr/>
        </p:nvSpPr>
        <p:spPr>
          <a:xfrm>
            <a:off x="4572000" y="4014216"/>
            <a:ext cx="4114800" cy="457200"/>
          </a:xfrm>
          <a:prstGeom prst="roundRect">
            <a:avLst>
              <a:gd name="adj" fmla="val 16000"/>
            </a:avLst>
          </a:prstGeom>
          <a:solidFill>
            <a:srgbClr val="E8F5EF"/>
          </a:solidFill>
          <a:ln w="15875">
            <a:solidFill>
              <a:srgbClr val="00A86A"/>
            </a:solidFill>
            <a:prstDash val="solid"/>
          </a:ln>
        </p:spPr>
      </p:sp>
      <p:sp>
        <p:nvSpPr>
          <p:cNvPr id="45" name="Text 37"/>
          <p:cNvSpPr txBox="1"/>
          <p:nvPr/>
        </p:nvSpPr>
        <p:spPr>
          <a:xfrm>
            <a:off x="4681728" y="4023360"/>
            <a:ext cx="3931920" cy="438912"/>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Mission 300 </a:t>
            </a:r>
            <a:r>
              <a:rPr lang="en-US" sz="900" dirty="0">
                <a:solidFill>
                  <a:srgbClr val="231F20"/>
                </a:solidFill>
                <a:latin typeface="Calibri" pitchFamily="34" charset="0"/>
                <a:ea typeface="Calibri" pitchFamily="34" charset="-122"/>
                <a:cs typeface="Calibri" pitchFamily="34" charset="-120"/>
              </a:rPr>
              <a:t>(Groupe Banque mondiale et BAD) : 300 M de personnes raccordées d’ici 2030 — un suivi à cette échelle exige des preuves spatiales.</a:t>
            </a:r>
            <a:endParaRPr lang="en-US" sz="900" dirty="0"/>
          </a:p>
        </p:txBody>
      </p:sp>
      <p:sp>
        <p:nvSpPr>
          <p:cNvPr id="46" name="Text 38"/>
          <p:cNvSpPr txBox="1"/>
          <p:nvPr/>
        </p:nvSpPr>
        <p:spPr>
          <a:xfrm>
            <a:off x="457200" y="4590288"/>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Tracking SDG 7 (AIE, IRENA, ONU-DAES, Banque mondiale, OMS), 24 juin 2026 ; HREA (Univ. du Michigan).</a:t>
            </a:r>
            <a:endParaRPr lang="en-US" sz="90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03</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L’urbanisation et la forme des villes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23</a:t>
            </a:r>
            <a:endParaRPr lang="en-US" sz="850" dirty="0"/>
          </a:p>
        </p:txBody>
      </p:sp>
      <p:sp>
        <p:nvSpPr>
          <p:cNvPr id="17" name="Shape 14"/>
          <p:cNvSpPr/>
          <p:nvPr/>
        </p:nvSpPr>
        <p:spPr>
          <a:xfrm>
            <a:off x="457200" y="1325880"/>
            <a:ext cx="2194560" cy="2743200"/>
          </a:xfrm>
          <a:prstGeom prst="roundRect">
            <a:avLst>
              <a:gd name="adj" fmla="val 3333"/>
            </a:avLst>
          </a:prstGeom>
          <a:solidFill>
            <a:srgbClr val="F4F7F5"/>
          </a:solidFill>
          <a:ln w="9525">
            <a:solidFill>
              <a:srgbClr val="D5DED9"/>
            </a:solidFill>
            <a:prstDash val="solid"/>
          </a:ln>
        </p:spPr>
      </p:sp>
      <p:sp>
        <p:nvSpPr>
          <p:cNvPr id="18" name="Text 15"/>
          <p:cNvSpPr txBox="1"/>
          <p:nvPr/>
        </p:nvSpPr>
        <p:spPr>
          <a:xfrm>
            <a:off x="457200" y="1389888"/>
            <a:ext cx="2194560" cy="274320"/>
          </a:xfrm>
          <a:prstGeom prst="rect">
            <a:avLst/>
          </a:prstGeom>
          <a:noFill/>
          <a:ln/>
        </p:spPr>
        <p:txBody>
          <a:bodyPr wrap="square" lIns="0" tIns="0" rIns="0" bIns="0" rtlCol="0" anchor="t"/>
          <a:lstStyle/>
          <a:p>
            <a:pPr marL="0" indent="0" algn="ctr">
              <a:buNone/>
            </a:pPr>
            <a:r>
              <a:rPr lang="en-US" sz="1400" b="1" dirty="0">
                <a:solidFill>
                  <a:srgbClr val="0E7C86"/>
                </a:solidFill>
                <a:latin typeface="Calibri" pitchFamily="34" charset="0"/>
                <a:ea typeface="Calibri" pitchFamily="34" charset="-122"/>
                <a:cs typeface="Calibri" pitchFamily="34" charset="-120"/>
              </a:rPr>
              <a:t>Étalement</a:t>
            </a:r>
            <a:endParaRPr lang="en-US" sz="1400" dirty="0"/>
          </a:p>
        </p:txBody>
      </p:sp>
      <p:sp>
        <p:nvSpPr>
          <p:cNvPr id="19" name="Text 16"/>
          <p:cNvSpPr txBox="1"/>
          <p:nvPr/>
        </p:nvSpPr>
        <p:spPr>
          <a:xfrm>
            <a:off x="54864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L’emprise s’étend vers l’extérieur à faible intensité</a:t>
            </a:r>
            <a:endParaRPr lang="en-US" sz="950" dirty="0"/>
          </a:p>
        </p:txBody>
      </p:sp>
      <p:sp>
        <p:nvSpPr>
          <p:cNvPr id="20" name="Shape 17"/>
          <p:cNvSpPr/>
          <p:nvPr/>
        </p:nvSpPr>
        <p:spPr>
          <a:xfrm>
            <a:off x="502920" y="2123237"/>
            <a:ext cx="2103120" cy="1514246"/>
          </a:xfrm>
          <a:prstGeom prst="ellipse">
            <a:avLst/>
          </a:prstGeom>
          <a:solidFill>
            <a:srgbClr val="0E7C86">
              <a:alpha val="8000"/>
            </a:srgbClr>
          </a:solidFill>
          <a:ln w="9525">
            <a:solidFill>
              <a:srgbClr val="0E7C86">
                <a:alpha val="70000"/>
              </a:srgbClr>
            </a:solidFill>
            <a:prstDash val="solid"/>
          </a:ln>
        </p:spPr>
      </p:sp>
      <p:sp>
        <p:nvSpPr>
          <p:cNvPr id="21" name="Shape 18"/>
          <p:cNvSpPr/>
          <p:nvPr/>
        </p:nvSpPr>
        <p:spPr>
          <a:xfrm>
            <a:off x="777240" y="2320747"/>
            <a:ext cx="1554480" cy="1119226"/>
          </a:xfrm>
          <a:prstGeom prst="ellipse">
            <a:avLst/>
          </a:prstGeom>
          <a:solidFill>
            <a:srgbClr val="0E7C86">
              <a:alpha val="15000"/>
            </a:srgbClr>
          </a:solidFill>
          <a:ln w="9525">
            <a:solidFill>
              <a:srgbClr val="0E7C86">
                <a:alpha val="70000"/>
              </a:srgbClr>
            </a:solidFill>
            <a:prstDash val="solid"/>
          </a:ln>
        </p:spPr>
      </p:sp>
      <p:sp>
        <p:nvSpPr>
          <p:cNvPr id="22" name="Shape 19"/>
          <p:cNvSpPr/>
          <p:nvPr/>
        </p:nvSpPr>
        <p:spPr>
          <a:xfrm>
            <a:off x="1143000" y="2584094"/>
            <a:ext cx="822960" cy="592531"/>
          </a:xfrm>
          <a:prstGeom prst="ellipse">
            <a:avLst/>
          </a:prstGeom>
          <a:solidFill>
            <a:srgbClr val="0E7C86">
              <a:alpha val="55000"/>
            </a:srgbClr>
          </a:solidFill>
          <a:ln w="9525">
            <a:solidFill>
              <a:srgbClr val="0E7C86">
                <a:alpha val="70000"/>
              </a:srgbClr>
            </a:solidFill>
            <a:prstDash val="solid"/>
          </a:ln>
        </p:spPr>
      </p:sp>
      <p:sp>
        <p:nvSpPr>
          <p:cNvPr id="23" name="Shape 20"/>
          <p:cNvSpPr/>
          <p:nvPr/>
        </p:nvSpPr>
        <p:spPr>
          <a:xfrm>
            <a:off x="566928" y="3675888"/>
            <a:ext cx="1975104" cy="274320"/>
          </a:xfrm>
          <a:prstGeom prst="roundRect">
            <a:avLst>
              <a:gd name="adj" fmla="val 50000"/>
            </a:avLst>
          </a:prstGeom>
          <a:solidFill>
            <a:srgbClr val="0E7C86">
              <a:alpha val="15000"/>
            </a:srgbClr>
          </a:solidFill>
          <a:ln w="9525">
            <a:solidFill>
              <a:srgbClr val="0E7C86"/>
            </a:solidFill>
            <a:prstDash val="solid"/>
          </a:ln>
        </p:spPr>
      </p:sp>
      <p:sp>
        <p:nvSpPr>
          <p:cNvPr id="24" name="Text 21"/>
          <p:cNvSpPr txBox="1"/>
          <p:nvPr/>
        </p:nvSpPr>
        <p:spPr>
          <a:xfrm>
            <a:off x="566928" y="3675888"/>
            <a:ext cx="1975104" cy="274320"/>
          </a:xfrm>
          <a:prstGeom prst="rect">
            <a:avLst/>
          </a:prstGeom>
          <a:noFill/>
          <a:ln/>
        </p:spPr>
        <p:txBody>
          <a:bodyPr wrap="square" lIns="0" tIns="0" rIns="0" bIns="0" rtlCol="0" anchor="ctr"/>
          <a:lstStyle/>
          <a:p>
            <a:pPr marL="0" indent="0" algn="ctr">
              <a:buNone/>
            </a:pPr>
            <a:r>
              <a:rPr lang="en-US" sz="900" b="1" dirty="0">
                <a:solidFill>
                  <a:srgbClr val="0E7C86"/>
                </a:solidFill>
                <a:latin typeface="Calibri" pitchFamily="34" charset="0"/>
                <a:ea typeface="Calibri" pitchFamily="34" charset="-122"/>
                <a:cs typeface="Calibri" pitchFamily="34" charset="-120"/>
              </a:rPr>
              <a:t>Surface +40 %  ·  Radiance +6 %</a:t>
            </a:r>
            <a:endParaRPr lang="en-US" sz="900" dirty="0"/>
          </a:p>
        </p:txBody>
      </p:sp>
      <p:sp>
        <p:nvSpPr>
          <p:cNvPr id="25" name="Shape 22"/>
          <p:cNvSpPr/>
          <p:nvPr/>
        </p:nvSpPr>
        <p:spPr>
          <a:xfrm>
            <a:off x="2788920" y="1325880"/>
            <a:ext cx="2194560" cy="2743200"/>
          </a:xfrm>
          <a:prstGeom prst="roundRect">
            <a:avLst>
              <a:gd name="adj" fmla="val 3333"/>
            </a:avLst>
          </a:prstGeom>
          <a:solidFill>
            <a:srgbClr val="F4F7F5"/>
          </a:solidFill>
          <a:ln w="9525">
            <a:solidFill>
              <a:srgbClr val="D5DED9"/>
            </a:solidFill>
            <a:prstDash val="solid"/>
          </a:ln>
        </p:spPr>
      </p:sp>
      <p:sp>
        <p:nvSpPr>
          <p:cNvPr id="26" name="Text 23"/>
          <p:cNvSpPr txBox="1"/>
          <p:nvPr/>
        </p:nvSpPr>
        <p:spPr>
          <a:xfrm>
            <a:off x="2788920" y="1389888"/>
            <a:ext cx="2194560" cy="274320"/>
          </a:xfrm>
          <a:prstGeom prst="rect">
            <a:avLst/>
          </a:prstGeom>
          <a:noFill/>
          <a:ln/>
        </p:spPr>
        <p:txBody>
          <a:bodyPr wrap="square" lIns="0" tIns="0" rIns="0" bIns="0" rtlCol="0" anchor="t"/>
          <a:lstStyle/>
          <a:p>
            <a:pPr marL="0" indent="0" algn="ctr">
              <a:buNone/>
            </a:pPr>
            <a:r>
              <a:rPr lang="en-US" sz="1400" b="1" dirty="0">
                <a:solidFill>
                  <a:srgbClr val="00704A"/>
                </a:solidFill>
                <a:latin typeface="Calibri" pitchFamily="34" charset="0"/>
                <a:ea typeface="Calibri" pitchFamily="34" charset="-122"/>
                <a:cs typeface="Calibri" pitchFamily="34" charset="-120"/>
              </a:rPr>
              <a:t>Densification</a:t>
            </a:r>
            <a:endParaRPr lang="en-US" sz="1400" dirty="0"/>
          </a:p>
        </p:txBody>
      </p:sp>
      <p:sp>
        <p:nvSpPr>
          <p:cNvPr id="27" name="Text 24"/>
          <p:cNvSpPr txBox="1"/>
          <p:nvPr/>
        </p:nvSpPr>
        <p:spPr>
          <a:xfrm>
            <a:off x="2880360" y="1664208"/>
            <a:ext cx="2011680" cy="365760"/>
          </a:xfrm>
          <a:prstGeom prst="rect">
            <a:avLst/>
          </a:prstGeom>
          <a:noFill/>
          <a:ln/>
        </p:spPr>
        <p:txBody>
          <a:bodyPr wrap="square" lIns="0" tIns="0" rIns="0" bIns="0" rtlCol="0" anchor="t"/>
          <a:lstStyle/>
          <a:p>
            <a:pPr marL="0" indent="0" algn="ctr">
              <a:buNone/>
            </a:pPr>
            <a:r>
              <a:rPr lang="en-US" sz="950" dirty="0">
                <a:solidFill>
                  <a:srgbClr val="5E6964"/>
                </a:solidFill>
                <a:latin typeface="Calibri" pitchFamily="34" charset="0"/>
                <a:ea typeface="Calibri" pitchFamily="34" charset="-122"/>
                <a:cs typeface="Calibri" pitchFamily="34" charset="-120"/>
              </a:rPr>
              <a:t>La même emprise s’intensifie</a:t>
            </a:r>
            <a:endParaRPr lang="en-US" sz="950" dirty="0"/>
          </a:p>
        </p:txBody>
      </p:sp>
      <p:sp>
        <p:nvSpPr>
          <p:cNvPr id="28" name="Shape 25"/>
          <p:cNvSpPr/>
          <p:nvPr/>
        </p:nvSpPr>
        <p:spPr>
          <a:xfrm>
            <a:off x="3223260" y="2403043"/>
            <a:ext cx="1325880" cy="954634"/>
          </a:xfrm>
          <a:prstGeom prst="ellipse">
            <a:avLst/>
          </a:prstGeom>
          <a:solidFill>
            <a:srgbClr val="00704A">
              <a:alpha val="20000"/>
            </a:srgbClr>
          </a:solidFill>
          <a:ln w="9525">
            <a:solidFill>
              <a:srgbClr val="00704A">
                <a:alpha val="70000"/>
              </a:srgbClr>
            </a:solidFill>
            <a:prstDash val="solid"/>
          </a:ln>
        </p:spPr>
      </p:sp>
      <p:sp>
        <p:nvSpPr>
          <p:cNvPr id="29" name="Shape 26"/>
          <p:cNvSpPr/>
          <p:nvPr/>
        </p:nvSpPr>
        <p:spPr>
          <a:xfrm>
            <a:off x="3429000" y="2551176"/>
            <a:ext cx="914400" cy="658368"/>
          </a:xfrm>
          <a:prstGeom prst="ellipse">
            <a:avLst/>
          </a:prstGeom>
          <a:solidFill>
            <a:srgbClr val="00704A">
              <a:alpha val="60000"/>
            </a:srgbClr>
          </a:solidFill>
          <a:ln w="9525">
            <a:solidFill>
              <a:srgbClr val="00704A">
                <a:alpha val="70000"/>
              </a:srgbClr>
            </a:solidFill>
            <a:prstDash val="solid"/>
          </a:ln>
        </p:spPr>
      </p:sp>
      <p:sp>
        <p:nvSpPr>
          <p:cNvPr id="30" name="Shape 27"/>
          <p:cNvSpPr/>
          <p:nvPr/>
        </p:nvSpPr>
        <p:spPr>
          <a:xfrm>
            <a:off x="3634740" y="2699309"/>
            <a:ext cx="502920" cy="362102"/>
          </a:xfrm>
          <a:prstGeom prst="ellipse">
            <a:avLst/>
          </a:prstGeom>
          <a:solidFill>
            <a:srgbClr val="00704A"/>
          </a:solidFill>
          <a:ln w="9525">
            <a:solidFill>
              <a:srgbClr val="00704A">
                <a:alpha val="70000"/>
              </a:srgbClr>
            </a:solidFill>
            <a:prstDash val="solid"/>
          </a:ln>
        </p:spPr>
      </p:sp>
      <p:sp>
        <p:nvSpPr>
          <p:cNvPr id="31" name="Shape 28"/>
          <p:cNvSpPr/>
          <p:nvPr/>
        </p:nvSpPr>
        <p:spPr>
          <a:xfrm>
            <a:off x="2898648" y="3675888"/>
            <a:ext cx="1975104" cy="274320"/>
          </a:xfrm>
          <a:prstGeom prst="roundRect">
            <a:avLst>
              <a:gd name="adj" fmla="val 50000"/>
            </a:avLst>
          </a:prstGeom>
          <a:solidFill>
            <a:srgbClr val="00704A">
              <a:alpha val="15000"/>
            </a:srgbClr>
          </a:solidFill>
          <a:ln w="9525">
            <a:solidFill>
              <a:srgbClr val="00704A"/>
            </a:solidFill>
            <a:prstDash val="solid"/>
          </a:ln>
        </p:spPr>
      </p:sp>
      <p:sp>
        <p:nvSpPr>
          <p:cNvPr id="32" name="Text 29"/>
          <p:cNvSpPr txBox="1"/>
          <p:nvPr/>
        </p:nvSpPr>
        <p:spPr>
          <a:xfrm>
            <a:off x="2898648" y="3675888"/>
            <a:ext cx="1975104" cy="274320"/>
          </a:xfrm>
          <a:prstGeom prst="rect">
            <a:avLst/>
          </a:prstGeom>
          <a:noFill/>
          <a:ln/>
        </p:spPr>
        <p:txBody>
          <a:bodyPr wrap="square" lIns="0" tIns="0" rIns="0" bIns="0" rtlCol="0" anchor="ctr"/>
          <a:lstStyle/>
          <a:p>
            <a:pPr marL="0" indent="0" algn="ctr">
              <a:buNone/>
            </a:pPr>
            <a:r>
              <a:rPr lang="en-US" sz="900" b="1" dirty="0">
                <a:solidFill>
                  <a:srgbClr val="00704A"/>
                </a:solidFill>
                <a:latin typeface="Calibri" pitchFamily="34" charset="0"/>
                <a:ea typeface="Calibri" pitchFamily="34" charset="-122"/>
                <a:cs typeface="Calibri" pitchFamily="34" charset="-120"/>
              </a:rPr>
              <a:t>Surface +6 %  ·  Radiance +40 %</a:t>
            </a:r>
            <a:endParaRPr lang="en-US" sz="900" dirty="0"/>
          </a:p>
        </p:txBody>
      </p:sp>
      <p:sp>
        <p:nvSpPr>
          <p:cNvPr id="33" name="Text 30"/>
          <p:cNvSpPr txBox="1"/>
          <p:nvPr/>
        </p:nvSpPr>
        <p:spPr>
          <a:xfrm>
            <a:off x="457200" y="4160520"/>
            <a:ext cx="4526280" cy="228600"/>
          </a:xfrm>
          <a:prstGeom prst="rect">
            <a:avLst/>
          </a:prstGeom>
          <a:noFill/>
          <a:ln/>
        </p:spPr>
        <p:txBody>
          <a:bodyPr wrap="square" lIns="0" tIns="0" rIns="0" bIns="0" rtlCol="0" anchor="t"/>
          <a:lstStyle/>
          <a:p>
            <a:pPr marL="0" indent="0" algn="ctr">
              <a:buNone/>
            </a:pPr>
            <a:r>
              <a:rPr lang="en-US" sz="1000" i="1" dirty="0">
                <a:solidFill>
                  <a:srgbClr val="5E6964"/>
                </a:solidFill>
                <a:latin typeface="Calibri" pitchFamily="34" charset="0"/>
                <a:ea typeface="Calibri" pitchFamily="34" charset="-122"/>
                <a:cs typeface="Calibri" pitchFamily="34" charset="-120"/>
              </a:rPr>
              <a:t>Même somme des lumières — deux villes très différentes (illustratif).</a:t>
            </a:r>
            <a:endParaRPr lang="en-US" sz="1000" dirty="0"/>
          </a:p>
        </p:txBody>
      </p:sp>
      <p:sp>
        <p:nvSpPr>
          <p:cNvPr id="34" name="Shape 31"/>
          <p:cNvSpPr/>
          <p:nvPr/>
        </p:nvSpPr>
        <p:spPr>
          <a:xfrm>
            <a:off x="5257800" y="1371600"/>
            <a:ext cx="420624" cy="420624"/>
          </a:xfrm>
          <a:prstGeom prst="ellipse">
            <a:avLst/>
          </a:prstGeom>
          <a:solidFill>
            <a:srgbClr val="D49A00">
              <a:alpha val="22000"/>
            </a:srgbClr>
          </a:solidFill>
          <a:ln w="12700">
            <a:solidFill>
              <a:srgbClr val="D49A00">
                <a:alpha val="0"/>
              </a:srgbClr>
            </a:solidFill>
            <a:prstDash val="solid"/>
          </a:ln>
        </p:spPr>
      </p:sp>
      <p:pic>
        <p:nvPicPr>
          <p:cNvPr id="35" name="Image 0" descr="preencoded.png"/>
          <p:cNvPicPr>
            <a:picLocks noChangeAspect="1"/>
          </p:cNvPicPr>
          <p:nvPr/>
        </p:nvPicPr>
        <p:blipFill>
          <a:blip r:embed="rId3"/>
          <a:stretch>
            <a:fillRect/>
          </a:stretch>
        </p:blipFill>
        <p:spPr>
          <a:xfrm>
            <a:off x="5367162" y="1480962"/>
            <a:ext cx="201900" cy="201900"/>
          </a:xfrm>
          <a:prstGeom prst="rect">
            <a:avLst/>
          </a:prstGeom>
        </p:spPr>
      </p:pic>
      <p:sp>
        <p:nvSpPr>
          <p:cNvPr id="36" name="Text 32"/>
          <p:cNvSpPr txBox="1"/>
          <p:nvPr/>
        </p:nvSpPr>
        <p:spPr>
          <a:xfrm>
            <a:off x="5806440" y="1325880"/>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Cartographier là où les registres manquent</a:t>
            </a:r>
            <a:endParaRPr lang="en-US" sz="1050" dirty="0"/>
          </a:p>
        </p:txBody>
      </p:sp>
      <p:sp>
        <p:nvSpPr>
          <p:cNvPr id="37" name="Text 33"/>
          <p:cNvSpPr txBox="1"/>
          <p:nvPr/>
        </p:nvSpPr>
        <p:spPr>
          <a:xfrm>
            <a:off x="5806440" y="1572768"/>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Les lumières révèlent l’emprise bâtie là où cadastre et cartes récentes font défaut.</a:t>
            </a:r>
            <a:endParaRPr lang="en-US" sz="900" dirty="0"/>
          </a:p>
        </p:txBody>
      </p:sp>
      <p:sp>
        <p:nvSpPr>
          <p:cNvPr id="38" name="Shape 34"/>
          <p:cNvSpPr/>
          <p:nvPr/>
        </p:nvSpPr>
        <p:spPr>
          <a:xfrm>
            <a:off x="5257800" y="2130552"/>
            <a:ext cx="420624" cy="420624"/>
          </a:xfrm>
          <a:prstGeom prst="ellipse">
            <a:avLst/>
          </a:prstGeom>
          <a:solidFill>
            <a:srgbClr val="D49A00">
              <a:alpha val="22000"/>
            </a:srgbClr>
          </a:solidFill>
          <a:ln w="12700">
            <a:solidFill>
              <a:srgbClr val="D49A00">
                <a:alpha val="0"/>
              </a:srgbClr>
            </a:solidFill>
            <a:prstDash val="solid"/>
          </a:ln>
        </p:spPr>
      </p:sp>
      <p:pic>
        <p:nvPicPr>
          <p:cNvPr id="39" name="Image 1" descr="preencoded.png"/>
          <p:cNvPicPr>
            <a:picLocks noChangeAspect="1"/>
          </p:cNvPicPr>
          <p:nvPr/>
        </p:nvPicPr>
        <p:blipFill>
          <a:blip r:embed="rId4"/>
          <a:stretch>
            <a:fillRect/>
          </a:stretch>
        </p:blipFill>
        <p:spPr>
          <a:xfrm>
            <a:off x="5367162" y="2239914"/>
            <a:ext cx="201900" cy="201900"/>
          </a:xfrm>
          <a:prstGeom prst="rect">
            <a:avLst/>
          </a:prstGeom>
        </p:spPr>
      </p:pic>
      <p:sp>
        <p:nvSpPr>
          <p:cNvPr id="40" name="Text 35"/>
          <p:cNvSpPr txBox="1"/>
          <p:nvPr/>
        </p:nvSpPr>
        <p:spPr>
          <a:xfrm>
            <a:off x="5806440" y="2084832"/>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Distinguer étalement et densification</a:t>
            </a:r>
            <a:endParaRPr lang="en-US" sz="1050" dirty="0"/>
          </a:p>
        </p:txBody>
      </p:sp>
      <p:sp>
        <p:nvSpPr>
          <p:cNvPr id="41" name="Text 36"/>
          <p:cNvSpPr txBox="1"/>
          <p:nvPr/>
        </p:nvSpPr>
        <p:spPr>
          <a:xfrm>
            <a:off x="5806440" y="2331720"/>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Comparer la croissance de la surface éclairée et celle de la radiance — enjeu pour transports et services.</a:t>
            </a:r>
            <a:endParaRPr lang="en-US" sz="900" dirty="0"/>
          </a:p>
        </p:txBody>
      </p:sp>
      <p:sp>
        <p:nvSpPr>
          <p:cNvPr id="42" name="Shape 37"/>
          <p:cNvSpPr/>
          <p:nvPr/>
        </p:nvSpPr>
        <p:spPr>
          <a:xfrm>
            <a:off x="5257800" y="2889504"/>
            <a:ext cx="420624" cy="420624"/>
          </a:xfrm>
          <a:prstGeom prst="ellipse">
            <a:avLst/>
          </a:prstGeom>
          <a:solidFill>
            <a:srgbClr val="D49A00">
              <a:alpha val="22000"/>
            </a:srgbClr>
          </a:solidFill>
          <a:ln w="12700">
            <a:solidFill>
              <a:srgbClr val="D49A00">
                <a:alpha val="0"/>
              </a:srgbClr>
            </a:solidFill>
            <a:prstDash val="solid"/>
          </a:ln>
        </p:spPr>
      </p:sp>
      <p:pic>
        <p:nvPicPr>
          <p:cNvPr id="43" name="Image 2" descr="preencoded.png"/>
          <p:cNvPicPr>
            <a:picLocks noChangeAspect="1"/>
          </p:cNvPicPr>
          <p:nvPr/>
        </p:nvPicPr>
        <p:blipFill>
          <a:blip r:embed="rId5"/>
          <a:stretch>
            <a:fillRect/>
          </a:stretch>
        </p:blipFill>
        <p:spPr>
          <a:xfrm>
            <a:off x="5367162" y="2998866"/>
            <a:ext cx="201900" cy="201900"/>
          </a:xfrm>
          <a:prstGeom prst="rect">
            <a:avLst/>
          </a:prstGeom>
        </p:spPr>
      </p:pic>
      <p:sp>
        <p:nvSpPr>
          <p:cNvPr id="44" name="Text 38"/>
          <p:cNvSpPr txBox="1"/>
          <p:nvPr/>
        </p:nvSpPr>
        <p:spPr>
          <a:xfrm>
            <a:off x="5806440" y="2843784"/>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Repérer tôt les villes nouvelles</a:t>
            </a:r>
            <a:endParaRPr lang="en-US" sz="1050" dirty="0"/>
          </a:p>
        </p:txBody>
      </p:sp>
      <p:sp>
        <p:nvSpPr>
          <p:cNvPr id="45" name="Text 39"/>
          <p:cNvSpPr txBox="1"/>
          <p:nvPr/>
        </p:nvSpPr>
        <p:spPr>
          <a:xfrm>
            <a:off x="5806440" y="3090672"/>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Villes minières, zones économiques et sites de déplacés apparaissent avant la géographie officielle.</a:t>
            </a:r>
            <a:endParaRPr lang="en-US" sz="900" dirty="0"/>
          </a:p>
        </p:txBody>
      </p:sp>
      <p:sp>
        <p:nvSpPr>
          <p:cNvPr id="46" name="Shape 40"/>
          <p:cNvSpPr/>
          <p:nvPr/>
        </p:nvSpPr>
        <p:spPr>
          <a:xfrm>
            <a:off x="5257800" y="3648456"/>
            <a:ext cx="420624" cy="420624"/>
          </a:xfrm>
          <a:prstGeom prst="ellipse">
            <a:avLst/>
          </a:prstGeom>
          <a:solidFill>
            <a:srgbClr val="D49A00">
              <a:alpha val="22000"/>
            </a:srgbClr>
          </a:solidFill>
          <a:ln w="12700">
            <a:solidFill>
              <a:srgbClr val="D49A00">
                <a:alpha val="0"/>
              </a:srgbClr>
            </a:solidFill>
            <a:prstDash val="solid"/>
          </a:ln>
        </p:spPr>
      </p:sp>
      <p:pic>
        <p:nvPicPr>
          <p:cNvPr id="47" name="Image 3" descr="preencoded.png"/>
          <p:cNvPicPr>
            <a:picLocks noChangeAspect="1"/>
          </p:cNvPicPr>
          <p:nvPr/>
        </p:nvPicPr>
        <p:blipFill>
          <a:blip r:embed="rId6"/>
          <a:stretch>
            <a:fillRect/>
          </a:stretch>
        </p:blipFill>
        <p:spPr>
          <a:xfrm>
            <a:off x="5367162" y="3757818"/>
            <a:ext cx="201900" cy="201900"/>
          </a:xfrm>
          <a:prstGeom prst="rect">
            <a:avLst/>
          </a:prstGeom>
        </p:spPr>
      </p:pic>
      <p:sp>
        <p:nvSpPr>
          <p:cNvPr id="48" name="Text 41"/>
          <p:cNvSpPr txBox="1"/>
          <p:nvPr/>
        </p:nvSpPr>
        <p:spPr>
          <a:xfrm>
            <a:off x="5806440" y="3602736"/>
            <a:ext cx="2880360" cy="237744"/>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Associer des grilles de population</a:t>
            </a:r>
            <a:endParaRPr lang="en-US" sz="1050" dirty="0"/>
          </a:p>
        </p:txBody>
      </p:sp>
      <p:sp>
        <p:nvSpPr>
          <p:cNvPr id="49" name="Text 42"/>
          <p:cNvSpPr txBox="1"/>
          <p:nvPr/>
        </p:nvSpPr>
        <p:spPr>
          <a:xfrm>
            <a:off x="5806440" y="3849624"/>
            <a:ext cx="2880360" cy="457200"/>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WorldPop ou GHSL — un pixel lumineux n’est pas une personne.</a:t>
            </a:r>
            <a:endParaRPr lang="en-US" sz="9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04 · APPLICATIONS · APPLICATION 04</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Conflits et catastrophes : la nuit tombe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49A00"/>
          </a:solidFill>
          <a:ln w="12700">
            <a:solidFill>
              <a:srgbClr val="D49A00"/>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24</a:t>
            </a:r>
            <a:endParaRPr lang="en-US" sz="850" dirty="0"/>
          </a:p>
        </p:txBody>
      </p:sp>
      <p:sp>
        <p:nvSpPr>
          <p:cNvPr id="17" name="Shape 14"/>
          <p:cNvSpPr/>
          <p:nvPr/>
        </p:nvSpPr>
        <p:spPr>
          <a:xfrm>
            <a:off x="457200" y="1325880"/>
            <a:ext cx="2651760" cy="1874520"/>
          </a:xfrm>
          <a:prstGeom prst="roundRect">
            <a:avLst>
              <a:gd name="adj" fmla="val 3902"/>
            </a:avLst>
          </a:prstGeom>
          <a:solidFill>
            <a:srgbClr val="E8F5EF"/>
          </a:solidFill>
          <a:ln w="15875">
            <a:solidFill>
              <a:srgbClr val="B83B2E"/>
            </a:solidFill>
            <a:prstDash val="solid"/>
          </a:ln>
        </p:spPr>
      </p:sp>
      <p:sp>
        <p:nvSpPr>
          <p:cNvPr id="18" name="Shape 15"/>
          <p:cNvSpPr/>
          <p:nvPr/>
        </p:nvSpPr>
        <p:spPr>
          <a:xfrm>
            <a:off x="585216" y="1444752"/>
            <a:ext cx="457200" cy="457200"/>
          </a:xfrm>
          <a:prstGeom prst="ellipse">
            <a:avLst/>
          </a:prstGeom>
          <a:solidFill>
            <a:srgbClr val="B83B2E">
              <a:alpha val="22000"/>
            </a:srgbClr>
          </a:solidFill>
          <a:ln w="12700">
            <a:solidFill>
              <a:srgbClr val="B83B2E">
                <a:alpha val="0"/>
              </a:srgbClr>
            </a:solidFill>
            <a:prstDash val="solid"/>
          </a:ln>
        </p:spPr>
      </p:sp>
      <p:pic>
        <p:nvPicPr>
          <p:cNvPr id="19" name="Image 0" descr="preencoded.png"/>
          <p:cNvPicPr>
            <a:picLocks noChangeAspect="1"/>
          </p:cNvPicPr>
          <p:nvPr/>
        </p:nvPicPr>
        <p:blipFill>
          <a:blip r:embed="rId3"/>
          <a:stretch>
            <a:fillRect/>
          </a:stretch>
        </p:blipFill>
        <p:spPr>
          <a:xfrm>
            <a:off x="704088" y="1563624"/>
            <a:ext cx="219456" cy="219456"/>
          </a:xfrm>
          <a:prstGeom prst="rect">
            <a:avLst/>
          </a:prstGeom>
        </p:spPr>
      </p:pic>
      <p:sp>
        <p:nvSpPr>
          <p:cNvPr id="20" name="Text 16"/>
          <p:cNvSpPr txBox="1"/>
          <p:nvPr/>
        </p:nvSpPr>
        <p:spPr>
          <a:xfrm>
            <a:off x="114300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Conflit · Soudan, 2023</a:t>
            </a:r>
            <a:endParaRPr lang="en-US" sz="1150" dirty="0"/>
          </a:p>
        </p:txBody>
      </p:sp>
      <p:sp>
        <p:nvSpPr>
          <p:cNvPr id="21" name="Text 17"/>
          <p:cNvSpPr txBox="1"/>
          <p:nvPr/>
        </p:nvSpPr>
        <p:spPr>
          <a:xfrm>
            <a:off x="59436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Après le début des combats à Khartoum en avril 2023, les lumières de la capitale sont tombées au niveau du bruit dès mai (EOG). L’UNOSAT a cartographié les coupures en juin 2023.</a:t>
            </a:r>
            <a:endParaRPr lang="en-US" sz="950" dirty="0"/>
          </a:p>
        </p:txBody>
      </p:sp>
      <p:sp>
        <p:nvSpPr>
          <p:cNvPr id="22" name="Shape 18"/>
          <p:cNvSpPr/>
          <p:nvPr/>
        </p:nvSpPr>
        <p:spPr>
          <a:xfrm>
            <a:off x="3246120" y="1325880"/>
            <a:ext cx="2651760" cy="1874520"/>
          </a:xfrm>
          <a:prstGeom prst="roundRect">
            <a:avLst>
              <a:gd name="adj" fmla="val 3902"/>
            </a:avLst>
          </a:prstGeom>
          <a:solidFill>
            <a:srgbClr val="F4F7F5"/>
          </a:solidFill>
          <a:ln w="9525">
            <a:solidFill>
              <a:srgbClr val="D5DED9"/>
            </a:solidFill>
            <a:prstDash val="solid"/>
          </a:ln>
        </p:spPr>
      </p:sp>
      <p:sp>
        <p:nvSpPr>
          <p:cNvPr id="23" name="Shape 19"/>
          <p:cNvSpPr/>
          <p:nvPr/>
        </p:nvSpPr>
        <p:spPr>
          <a:xfrm>
            <a:off x="3374136" y="1444752"/>
            <a:ext cx="457200" cy="457200"/>
          </a:xfrm>
          <a:prstGeom prst="ellipse">
            <a:avLst/>
          </a:prstGeom>
          <a:solidFill>
            <a:srgbClr val="C4621D">
              <a:alpha val="22000"/>
            </a:srgbClr>
          </a:solidFill>
          <a:ln w="12700">
            <a:solidFill>
              <a:srgbClr val="C4621D">
                <a:alpha val="0"/>
              </a:srgbClr>
            </a:solidFill>
            <a:prstDash val="solid"/>
          </a:ln>
        </p:spPr>
      </p:sp>
      <p:pic>
        <p:nvPicPr>
          <p:cNvPr id="24" name="Image 1" descr="preencoded.png"/>
          <p:cNvPicPr>
            <a:picLocks noChangeAspect="1"/>
          </p:cNvPicPr>
          <p:nvPr/>
        </p:nvPicPr>
        <p:blipFill>
          <a:blip r:embed="rId4"/>
          <a:stretch>
            <a:fillRect/>
          </a:stretch>
        </p:blipFill>
        <p:spPr>
          <a:xfrm>
            <a:off x="3493008" y="1563624"/>
            <a:ext cx="219456" cy="219456"/>
          </a:xfrm>
          <a:prstGeom prst="rect">
            <a:avLst/>
          </a:prstGeom>
        </p:spPr>
      </p:pic>
      <p:sp>
        <p:nvSpPr>
          <p:cNvPr id="25" name="Text 20"/>
          <p:cNvSpPr txBox="1"/>
          <p:nvPr/>
        </p:nvSpPr>
        <p:spPr>
          <a:xfrm>
            <a:off x="393192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Conflit · Syrie, 2011–2014</a:t>
            </a:r>
            <a:endParaRPr lang="en-US" sz="1150" dirty="0"/>
          </a:p>
        </p:txBody>
      </p:sp>
      <p:sp>
        <p:nvSpPr>
          <p:cNvPr id="26" name="Text 21"/>
          <p:cNvSpPr txBox="1"/>
          <p:nvPr/>
        </p:nvSpPr>
        <p:spPr>
          <a:xfrm>
            <a:off x="338328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Li et Li (2014) ont mesuré une perte de plus de 70 % de la lumière nocturne au niveau national, suivant les déplacements province par province.</a:t>
            </a:r>
            <a:endParaRPr lang="en-US" sz="950" dirty="0"/>
          </a:p>
        </p:txBody>
      </p:sp>
      <p:sp>
        <p:nvSpPr>
          <p:cNvPr id="27" name="Shape 22"/>
          <p:cNvSpPr/>
          <p:nvPr/>
        </p:nvSpPr>
        <p:spPr>
          <a:xfrm>
            <a:off x="6035040" y="1325880"/>
            <a:ext cx="2651760" cy="1874520"/>
          </a:xfrm>
          <a:prstGeom prst="roundRect">
            <a:avLst>
              <a:gd name="adj" fmla="val 3902"/>
            </a:avLst>
          </a:prstGeom>
          <a:solidFill>
            <a:srgbClr val="F4F7F5"/>
          </a:solidFill>
          <a:ln w="9525">
            <a:solidFill>
              <a:srgbClr val="D5DED9"/>
            </a:solidFill>
            <a:prstDash val="solid"/>
          </a:ln>
        </p:spPr>
      </p:sp>
      <p:sp>
        <p:nvSpPr>
          <p:cNvPr id="28" name="Shape 23"/>
          <p:cNvSpPr/>
          <p:nvPr/>
        </p:nvSpPr>
        <p:spPr>
          <a:xfrm>
            <a:off x="6163056" y="1444752"/>
            <a:ext cx="457200" cy="457200"/>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icPr>
            <a:picLocks noChangeAspect="1"/>
          </p:cNvPicPr>
          <p:nvPr/>
        </p:nvPicPr>
        <p:blipFill>
          <a:blip r:embed="rId5"/>
          <a:stretch>
            <a:fillRect/>
          </a:stretch>
        </p:blipFill>
        <p:spPr>
          <a:xfrm>
            <a:off x="6281928" y="1563624"/>
            <a:ext cx="219456" cy="219456"/>
          </a:xfrm>
          <a:prstGeom prst="rect">
            <a:avLst/>
          </a:prstGeom>
        </p:spPr>
      </p:pic>
      <p:sp>
        <p:nvSpPr>
          <p:cNvPr id="30" name="Text 24"/>
          <p:cNvSpPr txBox="1"/>
          <p:nvPr/>
        </p:nvSpPr>
        <p:spPr>
          <a:xfrm>
            <a:off x="6720840" y="1444752"/>
            <a:ext cx="1874520" cy="457200"/>
          </a:xfrm>
          <a:prstGeom prst="rect">
            <a:avLst/>
          </a:prstGeom>
          <a:noFill/>
          <a:ln/>
        </p:spPr>
        <p:txBody>
          <a:bodyPr wrap="square" lIns="0" tIns="0" rIns="0" bIns="0" rtlCol="0" anchor="ctr"/>
          <a:lstStyle/>
          <a:p>
            <a:pPr marL="0" indent="0">
              <a:buNone/>
            </a:pPr>
            <a:r>
              <a:rPr lang="en-US" sz="1150" b="1" dirty="0">
                <a:solidFill>
                  <a:srgbClr val="231F20"/>
                </a:solidFill>
                <a:latin typeface="Calibri" pitchFamily="34" charset="0"/>
                <a:ea typeface="Calibri" pitchFamily="34" charset="-122"/>
                <a:cs typeface="Calibri" pitchFamily="34" charset="-120"/>
              </a:rPr>
              <a:t>Catastrophe · Porto Rico, 2017</a:t>
            </a:r>
            <a:endParaRPr lang="en-US" sz="1150" dirty="0"/>
          </a:p>
        </p:txBody>
      </p:sp>
      <p:sp>
        <p:nvSpPr>
          <p:cNvPr id="31" name="Text 25"/>
          <p:cNvSpPr txBox="1"/>
          <p:nvPr/>
        </p:nvSpPr>
        <p:spPr>
          <a:xfrm>
            <a:off x="6172200" y="1993392"/>
            <a:ext cx="2377440" cy="1170432"/>
          </a:xfrm>
          <a:prstGeom prst="rect">
            <a:avLst/>
          </a:prstGeom>
          <a:noFill/>
          <a:ln/>
        </p:spPr>
        <p:txBody>
          <a:bodyPr wrap="square" lIns="0" tIns="0" rIns="0" bIns="0" rtlCol="0" anchor="t"/>
          <a:lstStyle/>
          <a:p>
            <a:pPr marL="0" indent="0">
              <a:buNone/>
            </a:pPr>
            <a:r>
              <a:rPr lang="en-US" sz="950" dirty="0">
                <a:solidFill>
                  <a:srgbClr val="231F20"/>
                </a:solidFill>
                <a:latin typeface="Calibri" pitchFamily="34" charset="0"/>
                <a:ea typeface="Calibri" pitchFamily="34" charset="-122"/>
                <a:cs typeface="Calibri" pitchFamily="34" charset="-120"/>
              </a:rPr>
              <a:t>Après l’ouragan Maria, les données quotidiennes Black Marble ont cartographié la coupure et suivi le rétablissement quartier par quartier.</a:t>
            </a:r>
            <a:endParaRPr lang="en-US" sz="950" dirty="0"/>
          </a:p>
        </p:txBody>
      </p:sp>
      <p:sp>
        <p:nvSpPr>
          <p:cNvPr id="32" name="Shape 26"/>
          <p:cNvSpPr/>
          <p:nvPr/>
        </p:nvSpPr>
        <p:spPr>
          <a:xfrm>
            <a:off x="457200" y="3337560"/>
            <a:ext cx="8229600" cy="1097280"/>
          </a:xfrm>
          <a:prstGeom prst="roundRect">
            <a:avLst>
              <a:gd name="adj" fmla="val 6667"/>
            </a:avLst>
          </a:prstGeom>
          <a:solidFill>
            <a:srgbClr val="B83B2E">
              <a:alpha val="13000"/>
            </a:srgbClr>
          </a:solidFill>
          <a:ln w="12700">
            <a:solidFill>
              <a:srgbClr val="B83B2E"/>
            </a:solidFill>
            <a:prstDash val="solid"/>
          </a:ln>
        </p:spPr>
      </p:sp>
      <p:sp>
        <p:nvSpPr>
          <p:cNvPr id="33" name="Shape 27"/>
          <p:cNvSpPr/>
          <p:nvPr/>
        </p:nvSpPr>
        <p:spPr>
          <a:xfrm>
            <a:off x="594360" y="3474720"/>
            <a:ext cx="420624" cy="420624"/>
          </a:xfrm>
          <a:prstGeom prst="ellipse">
            <a:avLst/>
          </a:prstGeom>
          <a:solidFill>
            <a:srgbClr val="B83B2E">
              <a:alpha val="22000"/>
            </a:srgbClr>
          </a:solidFill>
          <a:ln w="12700">
            <a:solidFill>
              <a:srgbClr val="B83B2E">
                <a:alpha val="0"/>
              </a:srgbClr>
            </a:solidFill>
            <a:prstDash val="solid"/>
          </a:ln>
        </p:spPr>
      </p:sp>
      <p:pic>
        <p:nvPicPr>
          <p:cNvPr id="34" name="Image 3" descr="preencoded.png"/>
          <p:cNvPicPr>
            <a:picLocks noChangeAspect="1"/>
          </p:cNvPicPr>
          <p:nvPr/>
        </p:nvPicPr>
        <p:blipFill>
          <a:blip r:embed="rId6"/>
          <a:stretch>
            <a:fillRect/>
          </a:stretch>
        </p:blipFill>
        <p:spPr>
          <a:xfrm>
            <a:off x="703722" y="3584082"/>
            <a:ext cx="201900" cy="201900"/>
          </a:xfrm>
          <a:prstGeom prst="rect">
            <a:avLst/>
          </a:prstGeom>
        </p:spPr>
      </p:pic>
      <p:sp>
        <p:nvSpPr>
          <p:cNvPr id="35" name="Text 28"/>
          <p:cNvSpPr txBox="1"/>
          <p:nvPr/>
        </p:nvSpPr>
        <p:spPr>
          <a:xfrm>
            <a:off x="1143000" y="3456432"/>
            <a:ext cx="7452360" cy="256032"/>
          </a:xfrm>
          <a:prstGeom prst="rect">
            <a:avLst/>
          </a:prstGeom>
          <a:noFill/>
          <a:ln/>
        </p:spPr>
        <p:txBody>
          <a:bodyPr wrap="square" lIns="0" tIns="0" rIns="0" bIns="0" rtlCol="0" anchor="t"/>
          <a:lstStyle/>
          <a:p>
            <a:pPr marL="0" indent="0">
              <a:buNone/>
            </a:pPr>
            <a:r>
              <a:rPr lang="en-US" sz="1250" b="1" dirty="0">
                <a:solidFill>
                  <a:srgbClr val="B83B2E"/>
                </a:solidFill>
                <a:latin typeface="Calibri" pitchFamily="34" charset="0"/>
                <a:ea typeface="Calibri" pitchFamily="34" charset="-122"/>
                <a:cs typeface="Calibri" pitchFamily="34" charset="-120"/>
              </a:rPr>
              <a:t>Règle d’interprétation : absence de lumière ne veut pas dire absence de population</a:t>
            </a:r>
            <a:endParaRPr lang="en-US" sz="1250" dirty="0"/>
          </a:p>
        </p:txBody>
      </p:sp>
      <p:sp>
        <p:nvSpPr>
          <p:cNvPr id="36" name="Text 29"/>
          <p:cNvSpPr txBox="1"/>
          <p:nvPr/>
        </p:nvSpPr>
        <p:spPr>
          <a:xfrm>
            <a:off x="1143000" y="3730752"/>
            <a:ext cx="7452360" cy="676656"/>
          </a:xfrm>
          <a:prstGeom prst="rect">
            <a:avLst/>
          </a:prstGeom>
          <a:noFill/>
          <a:ln/>
        </p:spPr>
        <p:txBody>
          <a:bodyPr wrap="square" lIns="0" tIns="0" rIns="0" bIns="0" rtlCol="0" anchor="t"/>
          <a:lstStyle/>
          <a:p>
            <a:pPr marL="0" indent="0">
              <a:buNone/>
            </a:pPr>
            <a:r>
              <a:rPr lang="en-US" sz="1000" dirty="0">
                <a:solidFill>
                  <a:srgbClr val="231F20"/>
                </a:solidFill>
                <a:latin typeface="Calibri" pitchFamily="34" charset="0"/>
                <a:ea typeface="Calibri" pitchFamily="34" charset="-122"/>
                <a:cs typeface="Calibri" pitchFamily="34" charset="-120"/>
              </a:rPr>
              <a:t>L’obscurité peut traduire un déplacement, une destruction, une pénurie de carburant, un couvre-feu, une panne de réseau — ou la décision d’éteindre l’éclairage public. Le satellite ne dit pas lequel. La corroboration sur le terrain est indispensable et l’incertitude doit être déclarée.</a:t>
            </a:r>
            <a:endParaRPr lang="en-US" sz="1000" dirty="0"/>
          </a:p>
        </p:txBody>
      </p:sp>
      <p:sp>
        <p:nvSpPr>
          <p:cNvPr id="37" name="Text 30"/>
          <p:cNvSpPr txBox="1"/>
          <p:nvPr/>
        </p:nvSpPr>
        <p:spPr>
          <a:xfrm>
            <a:off x="457200" y="4553712"/>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Sources : Payne Institute / EOG (sept. 2024) ; UNOSAT (juin 2023) ; Li et Li (2014) IJRS 35(18) ; Román et al. (2019) sur Porto Rico.</a:t>
            </a:r>
            <a:endParaRPr lang="en-US" sz="9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68580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SECTION 5</a:t>
            </a:r>
            <a:endParaRPr lang="en-US" sz="1050" dirty="0"/>
          </a:p>
        </p:txBody>
      </p:sp>
      <p:sp>
        <p:nvSpPr>
          <p:cNvPr id="4" name="Text 2"/>
          <p:cNvSpPr txBox="1"/>
          <p:nvPr/>
        </p:nvSpPr>
        <p:spPr>
          <a:xfrm>
            <a:off x="502920" y="914400"/>
            <a:ext cx="2743200" cy="1234440"/>
          </a:xfrm>
          <a:prstGeom prst="rect">
            <a:avLst/>
          </a:prstGeom>
          <a:noFill/>
          <a:ln/>
        </p:spPr>
        <p:txBody>
          <a:bodyPr wrap="square" lIns="0" tIns="0" rIns="0" bIns="0" rtlCol="0" anchor="ctr"/>
          <a:lstStyle/>
          <a:p>
            <a:pPr marL="0" indent="0">
              <a:buNone/>
            </a:pPr>
            <a:r>
              <a:rPr lang="en-US" sz="9600" b="1" dirty="0">
                <a:solidFill>
                  <a:srgbClr val="F5C242"/>
                </a:solidFill>
                <a:latin typeface="Calibri" pitchFamily="34" charset="0"/>
                <a:ea typeface="Calibri" pitchFamily="34" charset="-122"/>
                <a:cs typeface="Calibri" pitchFamily="34" charset="-120"/>
              </a:rPr>
              <a:t>05</a:t>
            </a:r>
            <a:endParaRPr lang="en-US" sz="9600" dirty="0"/>
          </a:p>
        </p:txBody>
      </p:sp>
      <p:sp>
        <p:nvSpPr>
          <p:cNvPr id="5" name="Text 3"/>
          <p:cNvSpPr txBox="1"/>
          <p:nvPr/>
        </p:nvSpPr>
        <p:spPr>
          <a:xfrm>
            <a:off x="548640" y="2240280"/>
            <a:ext cx="5486400" cy="68580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De l’exposé au labo</a:t>
            </a:r>
            <a:endParaRPr lang="en-US" sz="3600" dirty="0"/>
          </a:p>
        </p:txBody>
      </p:sp>
      <p:sp>
        <p:nvSpPr>
          <p:cNvPr id="7" name="Text 5"/>
          <p:cNvSpPr txBox="1"/>
          <p:nvPr/>
        </p:nvSpPr>
        <p:spPr>
          <a:xfrm>
            <a:off x="548640" y="3703320"/>
            <a:ext cx="5303520" cy="27432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Démarche  ·  Choix du produit  ·  Validation  ·  Liste de contrôle  ·  Débat</a:t>
            </a:r>
            <a:endParaRPr lang="en-US" sz="1200" dirty="0"/>
          </a:p>
        </p:txBody>
      </p:sp>
      <p:sp>
        <p:nvSpPr>
          <p:cNvPr id="8" name="Shape 6"/>
          <p:cNvSpPr/>
          <p:nvPr/>
        </p:nvSpPr>
        <p:spPr>
          <a:xfrm>
            <a:off x="548640" y="4343400"/>
            <a:ext cx="118872" cy="118872"/>
          </a:xfrm>
          <a:prstGeom prst="ellipse">
            <a:avLst/>
          </a:prstGeom>
          <a:solidFill>
            <a:srgbClr val="FFFFFF">
              <a:alpha val="40000"/>
            </a:srgbClr>
          </a:solidFill>
          <a:ln w="12700">
            <a:solidFill>
              <a:srgbClr val="FFFFFF">
                <a:alpha val="0"/>
              </a:srgbClr>
            </a:solidFill>
            <a:prstDash val="solid"/>
          </a:ln>
        </p:spPr>
      </p:sp>
      <p:sp>
        <p:nvSpPr>
          <p:cNvPr id="9" name="Shape 7"/>
          <p:cNvSpPr/>
          <p:nvPr/>
        </p:nvSpPr>
        <p:spPr>
          <a:xfrm>
            <a:off x="768096" y="4343400"/>
            <a:ext cx="118872" cy="118872"/>
          </a:xfrm>
          <a:prstGeom prst="ellipse">
            <a:avLst/>
          </a:prstGeom>
          <a:solidFill>
            <a:srgbClr val="FFFFFF">
              <a:alpha val="40000"/>
            </a:srgbClr>
          </a:solidFill>
          <a:ln w="12700">
            <a:solidFill>
              <a:srgbClr val="FFFFFF">
                <a:alpha val="0"/>
              </a:srgbClr>
            </a:solidFill>
            <a:prstDash val="solid"/>
          </a:ln>
        </p:spPr>
      </p:sp>
      <p:sp>
        <p:nvSpPr>
          <p:cNvPr id="10" name="Shape 8"/>
          <p:cNvSpPr/>
          <p:nvPr/>
        </p:nvSpPr>
        <p:spPr>
          <a:xfrm>
            <a:off x="987552" y="4343400"/>
            <a:ext cx="118872" cy="118872"/>
          </a:xfrm>
          <a:prstGeom prst="ellipse">
            <a:avLst/>
          </a:prstGeom>
          <a:solidFill>
            <a:srgbClr val="FFFFFF">
              <a:alpha val="40000"/>
            </a:srgbClr>
          </a:solidFill>
          <a:ln w="12700">
            <a:solidFill>
              <a:srgbClr val="FFFFFF">
                <a:alpha val="0"/>
              </a:srgbClr>
            </a:solidFill>
            <a:prstDash val="solid"/>
          </a:ln>
        </p:spPr>
      </p:sp>
      <p:sp>
        <p:nvSpPr>
          <p:cNvPr id="11" name="Shape 9"/>
          <p:cNvSpPr/>
          <p:nvPr/>
        </p:nvSpPr>
        <p:spPr>
          <a:xfrm>
            <a:off x="1207008" y="4343400"/>
            <a:ext cx="118872" cy="118872"/>
          </a:xfrm>
          <a:prstGeom prst="ellipse">
            <a:avLst/>
          </a:prstGeom>
          <a:solidFill>
            <a:srgbClr val="FFFFFF">
              <a:alpha val="40000"/>
            </a:srgbClr>
          </a:solidFill>
          <a:ln w="12700">
            <a:solidFill>
              <a:srgbClr val="FFFFFF">
                <a:alpha val="0"/>
              </a:srgbClr>
            </a:solidFill>
            <a:prstDash val="solid"/>
          </a:ln>
        </p:spPr>
      </p:sp>
      <p:sp>
        <p:nvSpPr>
          <p:cNvPr id="12" name="Shape 10"/>
          <p:cNvSpPr/>
          <p:nvPr/>
        </p:nvSpPr>
        <p:spPr>
          <a:xfrm>
            <a:off x="1426464" y="4343400"/>
            <a:ext cx="118872" cy="118872"/>
          </a:xfrm>
          <a:prstGeom prst="ellipse">
            <a:avLst/>
          </a:prstGeom>
          <a:solidFill>
            <a:srgbClr val="FFFFFF">
              <a:alpha val="40000"/>
            </a:srgbClr>
          </a:solidFill>
          <a:ln w="12700">
            <a:solidFill>
              <a:srgbClr val="FFFFFF">
                <a:alpha val="0"/>
              </a:srgbClr>
            </a:solidFill>
            <a:prstDash val="solid"/>
          </a:ln>
        </p:spPr>
      </p:sp>
      <p:sp>
        <p:nvSpPr>
          <p:cNvPr id="13" name="Shape 11"/>
          <p:cNvSpPr/>
          <p:nvPr/>
        </p:nvSpPr>
        <p:spPr>
          <a:xfrm>
            <a:off x="1645920" y="4343400"/>
            <a:ext cx="118872" cy="118872"/>
          </a:xfrm>
          <a:prstGeom prst="ellipse">
            <a:avLst/>
          </a:prstGeom>
          <a:solidFill>
            <a:srgbClr val="F5C242"/>
          </a:solidFill>
          <a:ln w="12700">
            <a:solidFill>
              <a:srgbClr val="FFFFFF">
                <a:alpha val="0"/>
              </a:srgbClr>
            </a:solidFill>
            <a:prstDash val="solid"/>
          </a:ln>
        </p:spPr>
      </p:sp>
      <p:sp>
        <p:nvSpPr>
          <p:cNvPr id="14" name="Shape 12"/>
          <p:cNvSpPr/>
          <p:nvPr/>
        </p:nvSpPr>
        <p:spPr>
          <a:xfrm>
            <a:off x="5760720" y="1188720"/>
            <a:ext cx="2651760" cy="2651760"/>
          </a:xfrm>
          <a:prstGeom prst="ellipse">
            <a:avLst/>
          </a:prstGeom>
          <a:solidFill>
            <a:srgbClr val="FFFFFF">
              <a:alpha val="10000"/>
            </a:srgbClr>
          </a:solidFill>
          <a:ln w="9525">
            <a:solidFill>
              <a:srgbClr val="FFFFFF">
                <a:alpha val="30000"/>
              </a:srgbClr>
            </a:solidFill>
            <a:prstDash val="solid"/>
          </a:ln>
        </p:spPr>
      </p:sp>
      <p:sp>
        <p:nvSpPr>
          <p:cNvPr id="15" name="Shape 13"/>
          <p:cNvSpPr/>
          <p:nvPr/>
        </p:nvSpPr>
        <p:spPr>
          <a:xfrm>
            <a:off x="6080760" y="1508760"/>
            <a:ext cx="2011680" cy="2011680"/>
          </a:xfrm>
          <a:prstGeom prst="ellipse">
            <a:avLst/>
          </a:prstGeom>
          <a:solidFill>
            <a:srgbClr val="FFFFFF">
              <a:alpha val="13000"/>
            </a:srgbClr>
          </a:solidFill>
          <a:ln w="9525">
            <a:solidFill>
              <a:srgbClr val="FFFFFF">
                <a:alpha val="30000"/>
              </a:srgbClr>
            </a:solidFill>
            <a:prstDash val="solid"/>
          </a:ln>
        </p:spPr>
      </p:sp>
      <p:sp>
        <p:nvSpPr>
          <p:cNvPr id="16" name="Shape 14"/>
          <p:cNvSpPr/>
          <p:nvPr/>
        </p:nvSpPr>
        <p:spPr>
          <a:xfrm>
            <a:off x="6400800" y="1828800"/>
            <a:ext cx="1371600" cy="1371600"/>
          </a:xfrm>
          <a:prstGeom prst="ellipse">
            <a:avLst/>
          </a:prstGeom>
          <a:solidFill>
            <a:srgbClr val="FFFFFF">
              <a:alpha val="16000"/>
            </a:srgbClr>
          </a:solidFill>
          <a:ln w="9525">
            <a:solidFill>
              <a:srgbClr val="FFFFFF">
                <a:alpha val="30000"/>
              </a:srgbClr>
            </a:solidFill>
            <a:prstDash val="solid"/>
          </a:ln>
        </p:spPr>
      </p:sp>
      <p:sp>
        <p:nvSpPr>
          <p:cNvPr id="17" name="Shape 15"/>
          <p:cNvSpPr/>
          <p:nvPr/>
        </p:nvSpPr>
        <p:spPr>
          <a:xfrm>
            <a:off x="6629400" y="2057400"/>
            <a:ext cx="914400" cy="914400"/>
          </a:xfrm>
          <a:prstGeom prst="ellipse">
            <a:avLst/>
          </a:prstGeom>
          <a:solidFill>
            <a:srgbClr val="FFFFFF"/>
          </a:solidFill>
          <a:ln w="12700">
            <a:solidFill>
              <a:srgbClr val="FFFFFF"/>
            </a:solidFill>
            <a:prstDash val="solid"/>
          </a:ln>
        </p:spPr>
      </p:sp>
      <p:pic>
        <p:nvPicPr>
          <p:cNvPr id="18" name="Image 0" descr="preencoded.png"/>
          <p:cNvPicPr>
            <a:picLocks noChangeAspect="1"/>
          </p:cNvPicPr>
          <p:nvPr/>
        </p:nvPicPr>
        <p:blipFill>
          <a:blip r:embed="rId4"/>
          <a:stretch>
            <a:fillRect/>
          </a:stretch>
        </p:blipFill>
        <p:spPr>
          <a:xfrm>
            <a:off x="6848856" y="2276856"/>
            <a:ext cx="475488" cy="475488"/>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LA DÉMARCHE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Cinq étapes, une chaîne reproductible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26</a:t>
            </a:r>
            <a:endParaRPr lang="en-US" sz="850" dirty="0"/>
          </a:p>
        </p:txBody>
      </p:sp>
      <p:sp>
        <p:nvSpPr>
          <p:cNvPr id="17" name="Shape 14"/>
          <p:cNvSpPr/>
          <p:nvPr/>
        </p:nvSpPr>
        <p:spPr>
          <a:xfrm>
            <a:off x="457200" y="1325880"/>
            <a:ext cx="1481328" cy="658368"/>
          </a:xfrm>
          <a:prstGeom prst="roundRect">
            <a:avLst>
              <a:gd name="adj" fmla="val 11111"/>
            </a:avLst>
          </a:prstGeom>
          <a:solidFill>
            <a:srgbClr val="00704A"/>
          </a:solidFill>
          <a:ln w="9525">
            <a:solidFill>
              <a:srgbClr val="00704A"/>
            </a:solidFill>
            <a:prstDash val="solid"/>
          </a:ln>
        </p:spPr>
      </p:sp>
      <p:pic>
        <p:nvPicPr>
          <p:cNvPr id="18" name="Image 0" descr="preencoded.png"/>
          <p:cNvPicPr>
            <a:picLocks noChangeAspect="1"/>
          </p:cNvPicPr>
          <p:nvPr/>
        </p:nvPicPr>
        <p:blipFill>
          <a:blip r:embed="rId3"/>
          <a:stretch>
            <a:fillRect/>
          </a:stretch>
        </p:blipFill>
        <p:spPr>
          <a:xfrm>
            <a:off x="566928" y="1463040"/>
            <a:ext cx="384048" cy="384048"/>
          </a:xfrm>
          <a:prstGeom prst="rect">
            <a:avLst/>
          </a:prstGeom>
        </p:spPr>
      </p:pic>
      <p:sp>
        <p:nvSpPr>
          <p:cNvPr id="19" name="Text 15"/>
          <p:cNvSpPr txBox="1"/>
          <p:nvPr/>
        </p:nvSpPr>
        <p:spPr>
          <a:xfrm>
            <a:off x="1005840"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Collecter</a:t>
            </a:r>
            <a:endParaRPr lang="en-US" sz="1300" dirty="0"/>
          </a:p>
        </p:txBody>
      </p:sp>
      <p:sp>
        <p:nvSpPr>
          <p:cNvPr id="20" name="Text 16"/>
          <p:cNvSpPr txBox="1"/>
          <p:nvPr/>
        </p:nvSpPr>
        <p:spPr>
          <a:xfrm>
            <a:off x="1005840" y="1673352"/>
            <a:ext cx="868680" cy="228600"/>
          </a:xfrm>
          <a:prstGeom prst="rect">
            <a:avLst/>
          </a:prstGeom>
          <a:noFill/>
          <a:ln/>
        </p:spPr>
        <p:txBody>
          <a:bodyPr wrap="square" lIns="0" tIns="0" rIns="0" bIns="0" rtlCol="0" anchor="t"/>
          <a:lstStyle/>
          <a:p>
            <a:pPr marL="0" indent="0">
              <a:buNone/>
            </a:pPr>
            <a:endParaRPr lang="en-US" sz="1000" dirty="0"/>
          </a:p>
        </p:txBody>
      </p:sp>
      <p:sp>
        <p:nvSpPr>
          <p:cNvPr id="21" name="Shape 17"/>
          <p:cNvSpPr/>
          <p:nvPr/>
        </p:nvSpPr>
        <p:spPr>
          <a:xfrm>
            <a:off x="457200" y="2103120"/>
            <a:ext cx="1481328" cy="1417320"/>
          </a:xfrm>
          <a:prstGeom prst="roundRect">
            <a:avLst>
              <a:gd name="adj" fmla="val 5161"/>
            </a:avLst>
          </a:prstGeom>
          <a:solidFill>
            <a:srgbClr val="F4F7F5"/>
          </a:solidFill>
          <a:ln w="9525">
            <a:solidFill>
              <a:srgbClr val="D5DED9"/>
            </a:solidFill>
            <a:prstDash val="solid"/>
          </a:ln>
        </p:spPr>
      </p:sp>
      <p:sp>
        <p:nvSpPr>
          <p:cNvPr id="22" name="Text 18"/>
          <p:cNvSpPr txBox="1"/>
          <p:nvPr/>
        </p:nvSpPr>
        <p:spPr>
          <a:xfrm>
            <a:off x="512064"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NASA Earthdata / LAADS DAAC</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EOG VNL · Google Earth Engine</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Bandes et indicateurs qualité</a:t>
            </a:r>
            <a:endParaRPr lang="en-US" sz="900" dirty="0"/>
          </a:p>
        </p:txBody>
      </p:sp>
      <p:sp>
        <p:nvSpPr>
          <p:cNvPr id="23" name="Shape 19"/>
          <p:cNvSpPr/>
          <p:nvPr/>
        </p:nvSpPr>
        <p:spPr>
          <a:xfrm>
            <a:off x="1197864" y="3547872"/>
            <a:ext cx="91" cy="201168"/>
          </a:xfrm>
          <a:prstGeom prst="line">
            <a:avLst/>
          </a:prstGeom>
          <a:noFill/>
          <a:ln w="15875">
            <a:solidFill>
              <a:srgbClr val="00704A"/>
            </a:solidFill>
            <a:prstDash val="solid"/>
            <a:tailEnd type="triangle"/>
          </a:ln>
        </p:spPr>
      </p:sp>
      <p:sp>
        <p:nvSpPr>
          <p:cNvPr id="24" name="Shape 20"/>
          <p:cNvSpPr/>
          <p:nvPr/>
        </p:nvSpPr>
        <p:spPr>
          <a:xfrm>
            <a:off x="457200" y="3776472"/>
            <a:ext cx="1481328" cy="310896"/>
          </a:xfrm>
          <a:prstGeom prst="roundRect">
            <a:avLst>
              <a:gd name="adj" fmla="val 50000"/>
            </a:avLst>
          </a:prstGeom>
          <a:solidFill>
            <a:srgbClr val="00704A">
              <a:alpha val="15000"/>
            </a:srgbClr>
          </a:solidFill>
          <a:ln w="9525">
            <a:solidFill>
              <a:srgbClr val="00704A"/>
            </a:solidFill>
            <a:prstDash val="solid"/>
          </a:ln>
        </p:spPr>
      </p:sp>
      <p:sp>
        <p:nvSpPr>
          <p:cNvPr id="25" name="Text 21"/>
          <p:cNvSpPr txBox="1"/>
          <p:nvPr/>
        </p:nvSpPr>
        <p:spPr>
          <a:xfrm>
            <a:off x="457200" y="3776472"/>
            <a:ext cx="1481328" cy="310896"/>
          </a:xfrm>
          <a:prstGeom prst="rect">
            <a:avLst/>
          </a:prstGeom>
          <a:noFill/>
          <a:ln/>
        </p:spPr>
        <p:txBody>
          <a:bodyPr wrap="square" lIns="0" tIns="0" rIns="0" bIns="0" rtlCol="0" anchor="ctr"/>
          <a:lstStyle/>
          <a:p>
            <a:pPr marL="0" indent="0" algn="ctr">
              <a:buNone/>
            </a:pPr>
            <a:r>
              <a:rPr lang="en-US" sz="850" b="1" dirty="0">
                <a:solidFill>
                  <a:srgbClr val="00704A"/>
                </a:solidFill>
                <a:latin typeface="Calibri" pitchFamily="34" charset="0"/>
                <a:ea typeface="Calibri" pitchFamily="34" charset="-122"/>
                <a:cs typeface="Calibri" pitchFamily="34" charset="-120"/>
              </a:rPr>
              <a:t>Extrait national</a:t>
            </a:r>
            <a:endParaRPr lang="en-US" sz="850" dirty="0"/>
          </a:p>
        </p:txBody>
      </p:sp>
      <p:sp>
        <p:nvSpPr>
          <p:cNvPr id="26" name="Shape 22"/>
          <p:cNvSpPr/>
          <p:nvPr/>
        </p:nvSpPr>
        <p:spPr>
          <a:xfrm>
            <a:off x="1956816" y="1655064"/>
            <a:ext cx="164592" cy="91"/>
          </a:xfrm>
          <a:prstGeom prst="line">
            <a:avLst/>
          </a:prstGeom>
          <a:noFill/>
          <a:ln w="15875">
            <a:solidFill>
              <a:srgbClr val="5E6964"/>
            </a:solidFill>
            <a:prstDash val="solid"/>
            <a:tailEnd type="triangle"/>
          </a:ln>
        </p:spPr>
      </p:sp>
      <p:sp>
        <p:nvSpPr>
          <p:cNvPr id="27" name="Shape 23"/>
          <p:cNvSpPr/>
          <p:nvPr/>
        </p:nvSpPr>
        <p:spPr>
          <a:xfrm>
            <a:off x="2139696" y="1325880"/>
            <a:ext cx="1481328" cy="658368"/>
          </a:xfrm>
          <a:prstGeom prst="roundRect">
            <a:avLst>
              <a:gd name="adj" fmla="val 11111"/>
            </a:avLst>
          </a:prstGeom>
          <a:solidFill>
            <a:srgbClr val="0E7C86"/>
          </a:solidFill>
          <a:ln w="9525">
            <a:solidFill>
              <a:srgbClr val="0E7C86"/>
            </a:solidFill>
            <a:prstDash val="solid"/>
          </a:ln>
        </p:spPr>
      </p:sp>
      <p:pic>
        <p:nvPicPr>
          <p:cNvPr id="28" name="Image 1" descr="preencoded.png"/>
          <p:cNvPicPr>
            <a:picLocks noChangeAspect="1"/>
          </p:cNvPicPr>
          <p:nvPr/>
        </p:nvPicPr>
        <p:blipFill>
          <a:blip r:embed="rId4"/>
          <a:stretch>
            <a:fillRect/>
          </a:stretch>
        </p:blipFill>
        <p:spPr>
          <a:xfrm>
            <a:off x="2249424" y="1463040"/>
            <a:ext cx="384048" cy="384048"/>
          </a:xfrm>
          <a:prstGeom prst="rect">
            <a:avLst/>
          </a:prstGeom>
        </p:spPr>
      </p:pic>
      <p:sp>
        <p:nvSpPr>
          <p:cNvPr id="29" name="Text 24"/>
          <p:cNvSpPr txBox="1"/>
          <p:nvPr/>
        </p:nvSpPr>
        <p:spPr>
          <a:xfrm>
            <a:off x="2688336"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Explorer</a:t>
            </a:r>
            <a:endParaRPr lang="en-US" sz="1300" dirty="0"/>
          </a:p>
        </p:txBody>
      </p:sp>
      <p:sp>
        <p:nvSpPr>
          <p:cNvPr id="30" name="Text 25"/>
          <p:cNvSpPr txBox="1"/>
          <p:nvPr/>
        </p:nvSpPr>
        <p:spPr>
          <a:xfrm>
            <a:off x="2688336" y="1673352"/>
            <a:ext cx="868680" cy="228600"/>
          </a:xfrm>
          <a:prstGeom prst="rect">
            <a:avLst/>
          </a:prstGeom>
          <a:noFill/>
          <a:ln/>
        </p:spPr>
        <p:txBody>
          <a:bodyPr wrap="square" lIns="0" tIns="0" rIns="0" bIns="0" rtlCol="0" anchor="t"/>
          <a:lstStyle/>
          <a:p>
            <a:pPr marL="0" indent="0">
              <a:buNone/>
            </a:pPr>
            <a:endParaRPr lang="en-US" sz="1000" dirty="0"/>
          </a:p>
        </p:txBody>
      </p:sp>
      <p:sp>
        <p:nvSpPr>
          <p:cNvPr id="31" name="Shape 26"/>
          <p:cNvSpPr/>
          <p:nvPr/>
        </p:nvSpPr>
        <p:spPr>
          <a:xfrm>
            <a:off x="2139696" y="2103120"/>
            <a:ext cx="1481328" cy="1417320"/>
          </a:xfrm>
          <a:prstGeom prst="roundRect">
            <a:avLst>
              <a:gd name="adj" fmla="val 5161"/>
            </a:avLst>
          </a:prstGeom>
          <a:solidFill>
            <a:srgbClr val="F4F7F5"/>
          </a:solidFill>
          <a:ln w="9525">
            <a:solidFill>
              <a:srgbClr val="D5DED9"/>
            </a:solidFill>
            <a:prstDash val="solid"/>
          </a:ln>
        </p:spPr>
      </p:sp>
      <p:sp>
        <p:nvSpPr>
          <p:cNvPr id="32" name="Text 27"/>
          <p:cNvSpPr txBox="1"/>
          <p:nvPr/>
        </p:nvSpPr>
        <p:spPr>
          <a:xfrm>
            <a:off x="2194560"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Histogrammes et cartes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Masques nuages et qualité</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Variations mensuelles</a:t>
            </a:r>
            <a:endParaRPr lang="en-US" sz="900" dirty="0"/>
          </a:p>
        </p:txBody>
      </p:sp>
      <p:sp>
        <p:nvSpPr>
          <p:cNvPr id="33" name="Shape 28"/>
          <p:cNvSpPr/>
          <p:nvPr/>
        </p:nvSpPr>
        <p:spPr>
          <a:xfrm>
            <a:off x="2880360" y="3547872"/>
            <a:ext cx="91" cy="201168"/>
          </a:xfrm>
          <a:prstGeom prst="line">
            <a:avLst/>
          </a:prstGeom>
          <a:noFill/>
          <a:ln w="15875">
            <a:solidFill>
              <a:srgbClr val="0E7C86"/>
            </a:solidFill>
            <a:prstDash val="solid"/>
            <a:tailEnd type="triangle"/>
          </a:ln>
        </p:spPr>
      </p:sp>
      <p:sp>
        <p:nvSpPr>
          <p:cNvPr id="34" name="Shape 29"/>
          <p:cNvSpPr/>
          <p:nvPr/>
        </p:nvSpPr>
        <p:spPr>
          <a:xfrm>
            <a:off x="2139696" y="3776472"/>
            <a:ext cx="1481328" cy="310896"/>
          </a:xfrm>
          <a:prstGeom prst="roundRect">
            <a:avLst>
              <a:gd name="adj" fmla="val 50000"/>
            </a:avLst>
          </a:prstGeom>
          <a:solidFill>
            <a:srgbClr val="0E7C86">
              <a:alpha val="15000"/>
            </a:srgbClr>
          </a:solidFill>
          <a:ln w="9525">
            <a:solidFill>
              <a:srgbClr val="0E7C86"/>
            </a:solidFill>
            <a:prstDash val="solid"/>
          </a:ln>
        </p:spPr>
      </p:sp>
      <p:sp>
        <p:nvSpPr>
          <p:cNvPr id="35" name="Text 30"/>
          <p:cNvSpPr txBox="1"/>
          <p:nvPr/>
        </p:nvSpPr>
        <p:spPr>
          <a:xfrm>
            <a:off x="2139696" y="3776472"/>
            <a:ext cx="1481328" cy="310896"/>
          </a:xfrm>
          <a:prstGeom prst="rect">
            <a:avLst/>
          </a:prstGeom>
          <a:noFill/>
          <a:ln/>
        </p:spPr>
        <p:txBody>
          <a:bodyPr wrap="square" lIns="0" tIns="0" rIns="0" bIns="0" rtlCol="0" anchor="ctr"/>
          <a:lstStyle/>
          <a:p>
            <a:pPr marL="0" indent="0" algn="ctr">
              <a:buNone/>
            </a:pPr>
            <a:r>
              <a:rPr lang="en-US" sz="850" b="1" dirty="0">
                <a:solidFill>
                  <a:srgbClr val="0E7C86"/>
                </a:solidFill>
                <a:latin typeface="Calibri" pitchFamily="34" charset="0"/>
                <a:ea typeface="Calibri" pitchFamily="34" charset="-122"/>
                <a:cs typeface="Calibri" pitchFamily="34" charset="-120"/>
              </a:rPr>
              <a:t>Journal des artefacts</a:t>
            </a:r>
            <a:endParaRPr lang="en-US" sz="850" dirty="0"/>
          </a:p>
        </p:txBody>
      </p:sp>
      <p:sp>
        <p:nvSpPr>
          <p:cNvPr id="36" name="Shape 31"/>
          <p:cNvSpPr/>
          <p:nvPr/>
        </p:nvSpPr>
        <p:spPr>
          <a:xfrm>
            <a:off x="3639312" y="1655064"/>
            <a:ext cx="164592" cy="91"/>
          </a:xfrm>
          <a:prstGeom prst="line">
            <a:avLst/>
          </a:prstGeom>
          <a:noFill/>
          <a:ln w="15875">
            <a:solidFill>
              <a:srgbClr val="5E6964"/>
            </a:solidFill>
            <a:prstDash val="solid"/>
            <a:tailEnd type="triangle"/>
          </a:ln>
        </p:spPr>
      </p:sp>
      <p:sp>
        <p:nvSpPr>
          <p:cNvPr id="37" name="Shape 32"/>
          <p:cNvSpPr/>
          <p:nvPr/>
        </p:nvSpPr>
        <p:spPr>
          <a:xfrm>
            <a:off x="3822192" y="1325880"/>
            <a:ext cx="1481328" cy="658368"/>
          </a:xfrm>
          <a:prstGeom prst="roundRect">
            <a:avLst>
              <a:gd name="adj" fmla="val 11111"/>
            </a:avLst>
          </a:prstGeom>
          <a:solidFill>
            <a:srgbClr val="D49A00"/>
          </a:solidFill>
          <a:ln w="9525">
            <a:solidFill>
              <a:srgbClr val="D49A00"/>
            </a:solidFill>
            <a:prstDash val="solid"/>
          </a:ln>
        </p:spPr>
      </p:sp>
      <p:pic>
        <p:nvPicPr>
          <p:cNvPr id="38" name="Image 2" descr="preencoded.png"/>
          <p:cNvPicPr>
            <a:picLocks noChangeAspect="1"/>
          </p:cNvPicPr>
          <p:nvPr/>
        </p:nvPicPr>
        <p:blipFill>
          <a:blip r:embed="rId5"/>
          <a:stretch>
            <a:fillRect/>
          </a:stretch>
        </p:blipFill>
        <p:spPr>
          <a:xfrm>
            <a:off x="3931920" y="1463040"/>
            <a:ext cx="384048" cy="384048"/>
          </a:xfrm>
          <a:prstGeom prst="rect">
            <a:avLst/>
          </a:prstGeom>
        </p:spPr>
      </p:pic>
      <p:sp>
        <p:nvSpPr>
          <p:cNvPr id="39" name="Text 33"/>
          <p:cNvSpPr txBox="1"/>
          <p:nvPr/>
        </p:nvSpPr>
        <p:spPr>
          <a:xfrm>
            <a:off x="4370832"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Analyser</a:t>
            </a:r>
            <a:endParaRPr lang="en-US" sz="1300" dirty="0"/>
          </a:p>
        </p:txBody>
      </p:sp>
      <p:sp>
        <p:nvSpPr>
          <p:cNvPr id="40" name="Text 34"/>
          <p:cNvSpPr txBox="1"/>
          <p:nvPr/>
        </p:nvSpPr>
        <p:spPr>
          <a:xfrm>
            <a:off x="4370832" y="1673352"/>
            <a:ext cx="868680" cy="228600"/>
          </a:xfrm>
          <a:prstGeom prst="rect">
            <a:avLst/>
          </a:prstGeom>
          <a:noFill/>
          <a:ln/>
        </p:spPr>
        <p:txBody>
          <a:bodyPr wrap="square" lIns="0" tIns="0" rIns="0" bIns="0" rtlCol="0" anchor="t"/>
          <a:lstStyle/>
          <a:p>
            <a:pPr marL="0" indent="0">
              <a:buNone/>
            </a:pPr>
            <a:endParaRPr lang="en-US" sz="1000" dirty="0"/>
          </a:p>
        </p:txBody>
      </p:sp>
      <p:sp>
        <p:nvSpPr>
          <p:cNvPr id="41" name="Shape 35"/>
          <p:cNvSpPr/>
          <p:nvPr/>
        </p:nvSpPr>
        <p:spPr>
          <a:xfrm>
            <a:off x="3822192" y="2103120"/>
            <a:ext cx="1481328" cy="1417320"/>
          </a:xfrm>
          <a:prstGeom prst="roundRect">
            <a:avLst>
              <a:gd name="adj" fmla="val 5161"/>
            </a:avLst>
          </a:prstGeom>
          <a:solidFill>
            <a:srgbClr val="F4F7F5"/>
          </a:solidFill>
          <a:ln w="9525">
            <a:solidFill>
              <a:srgbClr val="D5DED9"/>
            </a:solidFill>
            <a:prstDash val="solid"/>
          </a:ln>
        </p:spPr>
      </p:sp>
      <p:sp>
        <p:nvSpPr>
          <p:cNvPr id="42" name="Text 36"/>
          <p:cNvSpPr txBox="1"/>
          <p:nvPr/>
        </p:nvSpPr>
        <p:spPr>
          <a:xfrm>
            <a:off x="3877056"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Stat. zonales par niveau admin.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Séries annuelles et mensuelles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Détection des changements</a:t>
            </a:r>
            <a:endParaRPr lang="en-US" sz="900" dirty="0"/>
          </a:p>
        </p:txBody>
      </p:sp>
      <p:sp>
        <p:nvSpPr>
          <p:cNvPr id="43" name="Shape 37"/>
          <p:cNvSpPr/>
          <p:nvPr/>
        </p:nvSpPr>
        <p:spPr>
          <a:xfrm>
            <a:off x="4562856" y="3547872"/>
            <a:ext cx="91" cy="201168"/>
          </a:xfrm>
          <a:prstGeom prst="line">
            <a:avLst/>
          </a:prstGeom>
          <a:noFill/>
          <a:ln w="15875">
            <a:solidFill>
              <a:srgbClr val="D49A00"/>
            </a:solidFill>
            <a:prstDash val="solid"/>
            <a:tailEnd type="triangle"/>
          </a:ln>
        </p:spPr>
      </p:sp>
      <p:sp>
        <p:nvSpPr>
          <p:cNvPr id="44" name="Shape 38"/>
          <p:cNvSpPr/>
          <p:nvPr/>
        </p:nvSpPr>
        <p:spPr>
          <a:xfrm>
            <a:off x="3822192" y="3776472"/>
            <a:ext cx="1481328" cy="310896"/>
          </a:xfrm>
          <a:prstGeom prst="roundRect">
            <a:avLst>
              <a:gd name="adj" fmla="val 50000"/>
            </a:avLst>
          </a:prstGeom>
          <a:solidFill>
            <a:srgbClr val="D49A00">
              <a:alpha val="15000"/>
            </a:srgbClr>
          </a:solidFill>
          <a:ln w="9525">
            <a:solidFill>
              <a:srgbClr val="D49A00"/>
            </a:solidFill>
            <a:prstDash val="solid"/>
          </a:ln>
        </p:spPr>
      </p:sp>
      <p:sp>
        <p:nvSpPr>
          <p:cNvPr id="45" name="Text 39"/>
          <p:cNvSpPr txBox="1"/>
          <p:nvPr/>
        </p:nvSpPr>
        <p:spPr>
          <a:xfrm>
            <a:off x="3822192" y="3776472"/>
            <a:ext cx="1481328" cy="310896"/>
          </a:xfrm>
          <a:prstGeom prst="rect">
            <a:avLst/>
          </a:prstGeom>
          <a:noFill/>
          <a:ln/>
        </p:spPr>
        <p:txBody>
          <a:bodyPr wrap="square" lIns="0" tIns="0" rIns="0" bIns="0" rtlCol="0" anchor="ctr"/>
          <a:lstStyle/>
          <a:p>
            <a:pPr marL="0" indent="0" algn="ctr">
              <a:buNone/>
            </a:pPr>
            <a:r>
              <a:rPr lang="en-US" sz="850" b="1" dirty="0">
                <a:solidFill>
                  <a:srgbClr val="D49A00"/>
                </a:solidFill>
                <a:latin typeface="Calibri" pitchFamily="34" charset="0"/>
                <a:ea typeface="Calibri" pitchFamily="34" charset="-122"/>
                <a:cs typeface="Calibri" pitchFamily="34" charset="-120"/>
              </a:rPr>
              <a:t>Tableaux et cartes</a:t>
            </a:r>
            <a:endParaRPr lang="en-US" sz="850" dirty="0"/>
          </a:p>
        </p:txBody>
      </p:sp>
      <p:sp>
        <p:nvSpPr>
          <p:cNvPr id="46" name="Shape 40"/>
          <p:cNvSpPr/>
          <p:nvPr/>
        </p:nvSpPr>
        <p:spPr>
          <a:xfrm>
            <a:off x="5321808" y="1655064"/>
            <a:ext cx="164592" cy="91"/>
          </a:xfrm>
          <a:prstGeom prst="line">
            <a:avLst/>
          </a:prstGeom>
          <a:noFill/>
          <a:ln w="15875">
            <a:solidFill>
              <a:srgbClr val="5E6964"/>
            </a:solidFill>
            <a:prstDash val="solid"/>
            <a:tailEnd type="triangle"/>
          </a:ln>
        </p:spPr>
      </p:sp>
      <p:sp>
        <p:nvSpPr>
          <p:cNvPr id="47" name="Shape 41"/>
          <p:cNvSpPr/>
          <p:nvPr/>
        </p:nvSpPr>
        <p:spPr>
          <a:xfrm>
            <a:off x="5504688" y="1325880"/>
            <a:ext cx="1481328" cy="658368"/>
          </a:xfrm>
          <a:prstGeom prst="roundRect">
            <a:avLst>
              <a:gd name="adj" fmla="val 11111"/>
            </a:avLst>
          </a:prstGeom>
          <a:solidFill>
            <a:srgbClr val="C4621D"/>
          </a:solidFill>
          <a:ln w="9525">
            <a:solidFill>
              <a:srgbClr val="C4621D"/>
            </a:solidFill>
            <a:prstDash val="solid"/>
          </a:ln>
        </p:spPr>
      </p:sp>
      <p:pic>
        <p:nvPicPr>
          <p:cNvPr id="48" name="Image 3" descr="preencoded.png"/>
          <p:cNvPicPr>
            <a:picLocks noChangeAspect="1"/>
          </p:cNvPicPr>
          <p:nvPr/>
        </p:nvPicPr>
        <p:blipFill>
          <a:blip r:embed="rId6"/>
          <a:stretch>
            <a:fillRect/>
          </a:stretch>
        </p:blipFill>
        <p:spPr>
          <a:xfrm>
            <a:off x="5614416" y="1463040"/>
            <a:ext cx="384048" cy="384048"/>
          </a:xfrm>
          <a:prstGeom prst="rect">
            <a:avLst/>
          </a:prstGeom>
        </p:spPr>
      </p:pic>
      <p:sp>
        <p:nvSpPr>
          <p:cNvPr id="49" name="Text 42"/>
          <p:cNvSpPr txBox="1"/>
          <p:nvPr/>
        </p:nvSpPr>
        <p:spPr>
          <a:xfrm>
            <a:off x="6053328"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Valider</a:t>
            </a:r>
            <a:endParaRPr lang="en-US" sz="1300" dirty="0"/>
          </a:p>
        </p:txBody>
      </p:sp>
      <p:sp>
        <p:nvSpPr>
          <p:cNvPr id="50" name="Text 43"/>
          <p:cNvSpPr txBox="1"/>
          <p:nvPr/>
        </p:nvSpPr>
        <p:spPr>
          <a:xfrm>
            <a:off x="6053328" y="1673352"/>
            <a:ext cx="868680" cy="228600"/>
          </a:xfrm>
          <a:prstGeom prst="rect">
            <a:avLst/>
          </a:prstGeom>
          <a:noFill/>
          <a:ln/>
        </p:spPr>
        <p:txBody>
          <a:bodyPr wrap="square" lIns="0" tIns="0" rIns="0" bIns="0" rtlCol="0" anchor="t"/>
          <a:lstStyle/>
          <a:p>
            <a:pPr marL="0" indent="0">
              <a:buNone/>
            </a:pPr>
            <a:endParaRPr lang="en-US" sz="1000" dirty="0"/>
          </a:p>
        </p:txBody>
      </p:sp>
      <p:sp>
        <p:nvSpPr>
          <p:cNvPr id="51" name="Shape 44"/>
          <p:cNvSpPr/>
          <p:nvPr/>
        </p:nvSpPr>
        <p:spPr>
          <a:xfrm>
            <a:off x="5504688" y="2103120"/>
            <a:ext cx="1481328" cy="1417320"/>
          </a:xfrm>
          <a:prstGeom prst="roundRect">
            <a:avLst>
              <a:gd name="adj" fmla="val 5161"/>
            </a:avLst>
          </a:prstGeom>
          <a:solidFill>
            <a:srgbClr val="F4F7F5"/>
          </a:solidFill>
          <a:ln w="9525">
            <a:solidFill>
              <a:srgbClr val="D5DED9"/>
            </a:solidFill>
            <a:prstDash val="solid"/>
          </a:ln>
        </p:spPr>
      </p:sp>
      <p:sp>
        <p:nvSpPr>
          <p:cNvPr id="52" name="Text 45"/>
          <p:cNvSpPr txBox="1"/>
          <p:nvPr/>
        </p:nvSpPr>
        <p:spPr>
          <a:xfrm>
            <a:off x="5559552"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Données infranationales officielles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Population, électrification</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Décision d’aptitude</a:t>
            </a:r>
            <a:endParaRPr lang="en-US" sz="900" dirty="0"/>
          </a:p>
        </p:txBody>
      </p:sp>
      <p:sp>
        <p:nvSpPr>
          <p:cNvPr id="53" name="Shape 46"/>
          <p:cNvSpPr/>
          <p:nvPr/>
        </p:nvSpPr>
        <p:spPr>
          <a:xfrm>
            <a:off x="6245352" y="3547872"/>
            <a:ext cx="91" cy="201168"/>
          </a:xfrm>
          <a:prstGeom prst="line">
            <a:avLst/>
          </a:prstGeom>
          <a:noFill/>
          <a:ln w="15875">
            <a:solidFill>
              <a:srgbClr val="C4621D"/>
            </a:solidFill>
            <a:prstDash val="solid"/>
            <a:tailEnd type="triangle"/>
          </a:ln>
        </p:spPr>
      </p:sp>
      <p:sp>
        <p:nvSpPr>
          <p:cNvPr id="54" name="Shape 47"/>
          <p:cNvSpPr/>
          <p:nvPr/>
        </p:nvSpPr>
        <p:spPr>
          <a:xfrm>
            <a:off x="5504688" y="3776472"/>
            <a:ext cx="1481328" cy="310896"/>
          </a:xfrm>
          <a:prstGeom prst="roundRect">
            <a:avLst>
              <a:gd name="adj" fmla="val 50000"/>
            </a:avLst>
          </a:prstGeom>
          <a:solidFill>
            <a:srgbClr val="C4621D">
              <a:alpha val="15000"/>
            </a:srgbClr>
          </a:solidFill>
          <a:ln w="9525">
            <a:solidFill>
              <a:srgbClr val="C4621D"/>
            </a:solidFill>
            <a:prstDash val="solid"/>
          </a:ln>
        </p:spPr>
      </p:sp>
      <p:sp>
        <p:nvSpPr>
          <p:cNvPr id="55" name="Text 48"/>
          <p:cNvSpPr txBox="1"/>
          <p:nvPr/>
        </p:nvSpPr>
        <p:spPr>
          <a:xfrm>
            <a:off x="5504688" y="3776472"/>
            <a:ext cx="1481328" cy="310896"/>
          </a:xfrm>
          <a:prstGeom prst="rect">
            <a:avLst/>
          </a:prstGeom>
          <a:noFill/>
          <a:ln/>
        </p:spPr>
        <p:txBody>
          <a:bodyPr wrap="square" lIns="0" tIns="0" rIns="0" bIns="0" rtlCol="0" anchor="ctr"/>
          <a:lstStyle/>
          <a:p>
            <a:pPr marL="0" indent="0" algn="ctr">
              <a:buNone/>
            </a:pPr>
            <a:r>
              <a:rPr lang="en-US" sz="850" b="1" dirty="0">
                <a:solidFill>
                  <a:srgbClr val="C4621D"/>
                </a:solidFill>
                <a:latin typeface="Calibri" pitchFamily="34" charset="0"/>
                <a:ea typeface="Calibri" pitchFamily="34" charset="-122"/>
                <a:cs typeface="Calibri" pitchFamily="34" charset="-120"/>
              </a:rPr>
              <a:t>Preuves + décision</a:t>
            </a:r>
            <a:endParaRPr lang="en-US" sz="850" dirty="0"/>
          </a:p>
        </p:txBody>
      </p:sp>
      <p:sp>
        <p:nvSpPr>
          <p:cNvPr id="56" name="Shape 49"/>
          <p:cNvSpPr/>
          <p:nvPr/>
        </p:nvSpPr>
        <p:spPr>
          <a:xfrm>
            <a:off x="7004304" y="1655064"/>
            <a:ext cx="164592" cy="91"/>
          </a:xfrm>
          <a:prstGeom prst="line">
            <a:avLst/>
          </a:prstGeom>
          <a:noFill/>
          <a:ln w="15875">
            <a:solidFill>
              <a:srgbClr val="5E6964"/>
            </a:solidFill>
            <a:prstDash val="solid"/>
            <a:tailEnd type="triangle"/>
          </a:ln>
        </p:spPr>
      </p:sp>
      <p:sp>
        <p:nvSpPr>
          <p:cNvPr id="57" name="Shape 50"/>
          <p:cNvSpPr/>
          <p:nvPr/>
        </p:nvSpPr>
        <p:spPr>
          <a:xfrm>
            <a:off x="7187184" y="1325880"/>
            <a:ext cx="1481328" cy="658368"/>
          </a:xfrm>
          <a:prstGeom prst="roundRect">
            <a:avLst>
              <a:gd name="adj" fmla="val 11111"/>
            </a:avLst>
          </a:prstGeom>
          <a:solidFill>
            <a:srgbClr val="B83B2E"/>
          </a:solidFill>
          <a:ln w="9525">
            <a:solidFill>
              <a:srgbClr val="B83B2E"/>
            </a:solidFill>
            <a:prstDash val="solid"/>
          </a:ln>
        </p:spPr>
      </p:sp>
      <p:pic>
        <p:nvPicPr>
          <p:cNvPr id="58" name="Image 4" descr="preencoded.png"/>
          <p:cNvPicPr>
            <a:picLocks noChangeAspect="1"/>
          </p:cNvPicPr>
          <p:nvPr/>
        </p:nvPicPr>
        <p:blipFill>
          <a:blip r:embed="rId7"/>
          <a:stretch>
            <a:fillRect/>
          </a:stretch>
        </p:blipFill>
        <p:spPr>
          <a:xfrm>
            <a:off x="7296912" y="1463040"/>
            <a:ext cx="384048" cy="384048"/>
          </a:xfrm>
          <a:prstGeom prst="rect">
            <a:avLst/>
          </a:prstGeom>
        </p:spPr>
      </p:pic>
      <p:sp>
        <p:nvSpPr>
          <p:cNvPr id="59" name="Text 51"/>
          <p:cNvSpPr txBox="1"/>
          <p:nvPr/>
        </p:nvSpPr>
        <p:spPr>
          <a:xfrm>
            <a:off x="7735824" y="1371600"/>
            <a:ext cx="91440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Publier</a:t>
            </a:r>
            <a:endParaRPr lang="en-US" sz="1300" dirty="0"/>
          </a:p>
        </p:txBody>
      </p:sp>
      <p:sp>
        <p:nvSpPr>
          <p:cNvPr id="60" name="Text 52"/>
          <p:cNvSpPr txBox="1"/>
          <p:nvPr/>
        </p:nvSpPr>
        <p:spPr>
          <a:xfrm>
            <a:off x="7735824" y="1673352"/>
            <a:ext cx="868680" cy="228600"/>
          </a:xfrm>
          <a:prstGeom prst="rect">
            <a:avLst/>
          </a:prstGeom>
          <a:noFill/>
          <a:ln/>
        </p:spPr>
        <p:txBody>
          <a:bodyPr wrap="square" lIns="0" tIns="0" rIns="0" bIns="0" rtlCol="0" anchor="t"/>
          <a:lstStyle/>
          <a:p>
            <a:pPr marL="0" indent="0">
              <a:buNone/>
            </a:pPr>
            <a:endParaRPr lang="en-US" sz="1000" dirty="0"/>
          </a:p>
        </p:txBody>
      </p:sp>
      <p:sp>
        <p:nvSpPr>
          <p:cNvPr id="61" name="Shape 53"/>
          <p:cNvSpPr/>
          <p:nvPr/>
        </p:nvSpPr>
        <p:spPr>
          <a:xfrm>
            <a:off x="7187184" y="2103120"/>
            <a:ext cx="1481328" cy="1417320"/>
          </a:xfrm>
          <a:prstGeom prst="roundRect">
            <a:avLst>
              <a:gd name="adj" fmla="val 5161"/>
            </a:avLst>
          </a:prstGeom>
          <a:solidFill>
            <a:srgbClr val="F4F7F5"/>
          </a:solidFill>
          <a:ln w="9525">
            <a:solidFill>
              <a:srgbClr val="D5DED9"/>
            </a:solidFill>
            <a:prstDash val="solid"/>
          </a:ln>
        </p:spPr>
      </p:sp>
      <p:sp>
        <p:nvSpPr>
          <p:cNvPr id="62" name="Text 54"/>
          <p:cNvSpPr txBox="1"/>
          <p:nvPr/>
        </p:nvSpPr>
        <p:spPr>
          <a:xfrm>
            <a:off x="7242048" y="2176272"/>
            <a:ext cx="1371600" cy="1298448"/>
          </a:xfrm>
          <a:prstGeom prst="rect">
            <a:avLst/>
          </a:prstGeom>
          <a:noFill/>
          <a:ln/>
        </p:spPr>
        <p:txBody>
          <a:bodyPr wrap="square" lIns="0" tIns="0" rIns="0" bIns="0" rtlCol="0" anchor="t"/>
          <a:lstStyle/>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Notebooks et cartes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Déclaration de limites</a:t>
            </a:r>
            <a:endParaRPr lang="en-US" sz="900" dirty="0"/>
          </a:p>
          <a:p>
            <a:pPr marL="127000" indent="-127000">
              <a:spcAft>
                <a:spcPts val="500"/>
              </a:spcAft>
              <a:buSzPct val="100000"/>
              <a:buChar char="•"/>
            </a:pPr>
            <a:r>
              <a:rPr lang="en-US" sz="900" dirty="0">
                <a:solidFill>
                  <a:srgbClr val="231F20"/>
                </a:solidFill>
                <a:latin typeface="Calibri" pitchFamily="34" charset="0"/>
                <a:ea typeface="Calibri" pitchFamily="34" charset="-122"/>
                <a:cs typeface="Calibri" pitchFamily="34" charset="-120"/>
              </a:rPr>
              <a:t>README : méthode, sources, licence</a:t>
            </a:r>
            <a:endParaRPr lang="en-US" sz="900" dirty="0"/>
          </a:p>
        </p:txBody>
      </p:sp>
      <p:sp>
        <p:nvSpPr>
          <p:cNvPr id="63" name="Shape 55"/>
          <p:cNvSpPr/>
          <p:nvPr/>
        </p:nvSpPr>
        <p:spPr>
          <a:xfrm>
            <a:off x="7927848" y="3547872"/>
            <a:ext cx="91" cy="201168"/>
          </a:xfrm>
          <a:prstGeom prst="line">
            <a:avLst/>
          </a:prstGeom>
          <a:noFill/>
          <a:ln w="15875">
            <a:solidFill>
              <a:srgbClr val="B83B2E"/>
            </a:solidFill>
            <a:prstDash val="solid"/>
            <a:tailEnd type="triangle"/>
          </a:ln>
        </p:spPr>
      </p:sp>
      <p:sp>
        <p:nvSpPr>
          <p:cNvPr id="64" name="Shape 56"/>
          <p:cNvSpPr/>
          <p:nvPr/>
        </p:nvSpPr>
        <p:spPr>
          <a:xfrm>
            <a:off x="7187184" y="3776472"/>
            <a:ext cx="1481328" cy="310896"/>
          </a:xfrm>
          <a:prstGeom prst="roundRect">
            <a:avLst>
              <a:gd name="adj" fmla="val 50000"/>
            </a:avLst>
          </a:prstGeom>
          <a:solidFill>
            <a:srgbClr val="B83B2E">
              <a:alpha val="15000"/>
            </a:srgbClr>
          </a:solidFill>
          <a:ln w="9525">
            <a:solidFill>
              <a:srgbClr val="B83B2E"/>
            </a:solidFill>
            <a:prstDash val="solid"/>
          </a:ln>
        </p:spPr>
      </p:sp>
      <p:sp>
        <p:nvSpPr>
          <p:cNvPr id="65" name="Text 57"/>
          <p:cNvSpPr txBox="1"/>
          <p:nvPr/>
        </p:nvSpPr>
        <p:spPr>
          <a:xfrm>
            <a:off x="7187184" y="3776472"/>
            <a:ext cx="1481328" cy="310896"/>
          </a:xfrm>
          <a:prstGeom prst="rect">
            <a:avLst/>
          </a:prstGeom>
          <a:noFill/>
          <a:ln/>
        </p:spPr>
        <p:txBody>
          <a:bodyPr wrap="square" lIns="0" tIns="0" rIns="0" bIns="0" rtlCol="0" anchor="ctr"/>
          <a:lstStyle/>
          <a:p>
            <a:pPr marL="0" indent="0" algn="ctr">
              <a:buNone/>
            </a:pPr>
            <a:r>
              <a:rPr lang="en-US" sz="850" b="1" dirty="0">
                <a:solidFill>
                  <a:srgbClr val="B83B2E"/>
                </a:solidFill>
                <a:latin typeface="Calibri" pitchFamily="34" charset="0"/>
                <a:ea typeface="Calibri" pitchFamily="34" charset="-122"/>
                <a:cs typeface="Calibri" pitchFamily="34" charset="-120"/>
              </a:rPr>
              <a:t>Dépôt public</a:t>
            </a:r>
            <a:endParaRPr lang="en-US" sz="850" dirty="0"/>
          </a:p>
        </p:txBody>
      </p:sp>
      <p:sp>
        <p:nvSpPr>
          <p:cNvPr id="66" name="Text 58"/>
          <p:cNvSpPr txBox="1"/>
          <p:nvPr/>
        </p:nvSpPr>
        <p:spPr>
          <a:xfrm>
            <a:off x="457200" y="429768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Exemple d’outils libres : rasterio / xarray (lecture), geopandas (contours), rasterstats ou exactextract (statistiques zonales), matplotlib (cartes).</a:t>
            </a:r>
            <a:endParaRPr lang="en-US" sz="90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CHOISIR UN PRODUIT</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Quelle fréquence pour quelle question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27</a:t>
            </a:r>
            <a:endParaRPr lang="en-US" sz="850" dirty="0"/>
          </a:p>
        </p:txBody>
      </p:sp>
      <p:sp>
        <p:nvSpPr>
          <p:cNvPr id="17" name="Shape 14"/>
          <p:cNvSpPr/>
          <p:nvPr/>
        </p:nvSpPr>
        <p:spPr>
          <a:xfrm>
            <a:off x="457200" y="1325880"/>
            <a:ext cx="2651760" cy="2743200"/>
          </a:xfrm>
          <a:prstGeom prst="roundRect">
            <a:avLst>
              <a:gd name="adj" fmla="val 2759"/>
            </a:avLst>
          </a:prstGeom>
          <a:solidFill>
            <a:srgbClr val="E8F5EF"/>
          </a:solidFill>
          <a:ln w="15875">
            <a:solidFill>
              <a:srgbClr val="00553A"/>
            </a:solidFill>
            <a:prstDash val="solid"/>
          </a:ln>
        </p:spPr>
      </p:sp>
      <p:sp>
        <p:nvSpPr>
          <p:cNvPr id="18" name="Shape 15"/>
          <p:cNvSpPr/>
          <p:nvPr/>
        </p:nvSpPr>
        <p:spPr>
          <a:xfrm>
            <a:off x="566928" y="1417320"/>
            <a:ext cx="457200" cy="457200"/>
          </a:xfrm>
          <a:prstGeom prst="ellipse">
            <a:avLst/>
          </a:prstGeom>
          <a:solidFill>
            <a:srgbClr val="00553A">
              <a:alpha val="22000"/>
            </a:srgbClr>
          </a:solidFill>
          <a:ln w="12700">
            <a:solidFill>
              <a:srgbClr val="00553A">
                <a:alpha val="0"/>
              </a:srgbClr>
            </a:solidFill>
            <a:prstDash val="solid"/>
          </a:ln>
        </p:spPr>
      </p:sp>
      <p:pic>
        <p:nvPicPr>
          <p:cNvPr id="19" name="Image 0" descr="preencoded.png"/>
          <p:cNvPicPr>
            <a:picLocks noChangeAspect="1"/>
          </p:cNvPicPr>
          <p:nvPr/>
        </p:nvPicPr>
        <p:blipFill>
          <a:blip r:embed="rId3"/>
          <a:stretch>
            <a:fillRect/>
          </a:stretch>
        </p:blipFill>
        <p:spPr>
          <a:xfrm>
            <a:off x="685800" y="1536192"/>
            <a:ext cx="219456" cy="219456"/>
          </a:xfrm>
          <a:prstGeom prst="rect">
            <a:avLst/>
          </a:prstGeom>
        </p:spPr>
      </p:pic>
      <p:sp>
        <p:nvSpPr>
          <p:cNvPr id="20" name="Text 16"/>
          <p:cNvSpPr txBox="1"/>
          <p:nvPr/>
        </p:nvSpPr>
        <p:spPr>
          <a:xfrm>
            <a:off x="1115568" y="1417320"/>
            <a:ext cx="1828800" cy="256032"/>
          </a:xfrm>
          <a:prstGeom prst="rect">
            <a:avLst/>
          </a:prstGeom>
          <a:noFill/>
          <a:ln/>
        </p:spPr>
        <p:txBody>
          <a:bodyPr wrap="square" lIns="0" tIns="0" rIns="0" bIns="0" rtlCol="0" anchor="t"/>
          <a:lstStyle/>
          <a:p>
            <a:pPr marL="0" indent="0">
              <a:buNone/>
            </a:pPr>
            <a:r>
              <a:rPr lang="en-US" sz="1500" b="1" dirty="0">
                <a:solidFill>
                  <a:srgbClr val="00553A"/>
                </a:solidFill>
                <a:latin typeface="Calibri" pitchFamily="34" charset="0"/>
                <a:ea typeface="Calibri" pitchFamily="34" charset="-122"/>
                <a:cs typeface="Calibri" pitchFamily="34" charset="-120"/>
              </a:rPr>
              <a:t>Annuel</a:t>
            </a:r>
            <a:endParaRPr lang="en-US" sz="1500" dirty="0"/>
          </a:p>
        </p:txBody>
      </p:sp>
      <p:sp>
        <p:nvSpPr>
          <p:cNvPr id="21" name="Text 17"/>
          <p:cNvSpPr txBox="1"/>
          <p:nvPr/>
        </p:nvSpPr>
        <p:spPr>
          <a:xfrm>
            <a:off x="111556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VNP46A4 · EOG VNL annuel</a:t>
            </a:r>
            <a:endParaRPr lang="en-US" sz="900" dirty="0"/>
          </a:p>
        </p:txBody>
      </p:sp>
      <p:sp>
        <p:nvSpPr>
          <p:cNvPr id="22" name="Text 18"/>
          <p:cNvSpPr txBox="1"/>
          <p:nvPr/>
        </p:nvSpPr>
        <p:spPr>
          <a:xfrm>
            <a:off x="58521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ATOUT</a:t>
            </a:r>
            <a:endParaRPr lang="en-US" sz="800" dirty="0"/>
          </a:p>
        </p:txBody>
      </p:sp>
      <p:sp>
        <p:nvSpPr>
          <p:cNvPr id="23" name="Text 19"/>
          <p:cNvSpPr txBox="1"/>
          <p:nvPr/>
        </p:nvSpPr>
        <p:spPr>
          <a:xfrm>
            <a:off x="58521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Série la plus propre ; bruit et lumières éphémères largement filtrés.</a:t>
            </a:r>
            <a:endParaRPr lang="en-US" sz="900" dirty="0"/>
          </a:p>
        </p:txBody>
      </p:sp>
      <p:sp>
        <p:nvSpPr>
          <p:cNvPr id="24" name="Text 20"/>
          <p:cNvSpPr txBox="1"/>
          <p:nvPr/>
        </p:nvSpPr>
        <p:spPr>
          <a:xfrm>
            <a:off x="58521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25" name="Text 21"/>
          <p:cNvSpPr txBox="1"/>
          <p:nvPr/>
        </p:nvSpPr>
        <p:spPr>
          <a:xfrm>
            <a:off x="58521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Impossible de dater un changement à l’intérieur de l’année.</a:t>
            </a:r>
            <a:endParaRPr lang="en-US" sz="900" dirty="0"/>
          </a:p>
        </p:txBody>
      </p:sp>
      <p:sp>
        <p:nvSpPr>
          <p:cNvPr id="26" name="Text 22"/>
          <p:cNvSpPr txBox="1"/>
          <p:nvPr/>
        </p:nvSpPr>
        <p:spPr>
          <a:xfrm>
            <a:off x="58521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27" name="Text 23"/>
          <p:cNvSpPr txBox="1"/>
          <p:nvPr/>
        </p:nvSpPr>
        <p:spPr>
          <a:xfrm>
            <a:off x="58521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Panels infranationaux, tendances longues, expansion urbaine, cartes de pauvreté.</a:t>
            </a:r>
            <a:endParaRPr lang="en-US" sz="900" dirty="0"/>
          </a:p>
        </p:txBody>
      </p:sp>
      <p:sp>
        <p:nvSpPr>
          <p:cNvPr id="28" name="Shape 24"/>
          <p:cNvSpPr/>
          <p:nvPr/>
        </p:nvSpPr>
        <p:spPr>
          <a:xfrm>
            <a:off x="3246120" y="1325880"/>
            <a:ext cx="2651760" cy="2743200"/>
          </a:xfrm>
          <a:prstGeom prst="roundRect">
            <a:avLst>
              <a:gd name="adj" fmla="val 2759"/>
            </a:avLst>
          </a:prstGeom>
          <a:solidFill>
            <a:srgbClr val="F4F7F5"/>
          </a:solidFill>
          <a:ln w="9525">
            <a:solidFill>
              <a:srgbClr val="D5DED9"/>
            </a:solidFill>
            <a:prstDash val="solid"/>
          </a:ln>
        </p:spPr>
      </p:sp>
      <p:sp>
        <p:nvSpPr>
          <p:cNvPr id="29" name="Shape 25"/>
          <p:cNvSpPr/>
          <p:nvPr/>
        </p:nvSpPr>
        <p:spPr>
          <a:xfrm>
            <a:off x="3355848" y="1417320"/>
            <a:ext cx="457200" cy="457200"/>
          </a:xfrm>
          <a:prstGeom prst="ellipse">
            <a:avLst/>
          </a:prstGeom>
          <a:solidFill>
            <a:srgbClr val="00704A">
              <a:alpha val="22000"/>
            </a:srgbClr>
          </a:solidFill>
          <a:ln w="12700">
            <a:solidFill>
              <a:srgbClr val="00704A">
                <a:alpha val="0"/>
              </a:srgbClr>
            </a:solidFill>
            <a:prstDash val="solid"/>
          </a:ln>
        </p:spPr>
      </p:sp>
      <p:pic>
        <p:nvPicPr>
          <p:cNvPr id="30" name="Image 1" descr="preencoded.png"/>
          <p:cNvPicPr>
            <a:picLocks noChangeAspect="1"/>
          </p:cNvPicPr>
          <p:nvPr/>
        </p:nvPicPr>
        <p:blipFill>
          <a:blip r:embed="rId4"/>
          <a:stretch>
            <a:fillRect/>
          </a:stretch>
        </p:blipFill>
        <p:spPr>
          <a:xfrm>
            <a:off x="3474720" y="1536192"/>
            <a:ext cx="219456" cy="219456"/>
          </a:xfrm>
          <a:prstGeom prst="rect">
            <a:avLst/>
          </a:prstGeom>
        </p:spPr>
      </p:pic>
      <p:sp>
        <p:nvSpPr>
          <p:cNvPr id="31" name="Text 26"/>
          <p:cNvSpPr txBox="1"/>
          <p:nvPr/>
        </p:nvSpPr>
        <p:spPr>
          <a:xfrm>
            <a:off x="3904488" y="1417320"/>
            <a:ext cx="1828800" cy="256032"/>
          </a:xfrm>
          <a:prstGeom prst="rect">
            <a:avLst/>
          </a:prstGeom>
          <a:noFill/>
          <a:ln/>
        </p:spPr>
        <p:txBody>
          <a:bodyPr wrap="square" lIns="0" tIns="0" rIns="0" bIns="0" rtlCol="0" anchor="t"/>
          <a:lstStyle/>
          <a:p>
            <a:pPr marL="0" indent="0">
              <a:buNone/>
            </a:pPr>
            <a:r>
              <a:rPr lang="en-US" sz="1500" b="1" dirty="0">
                <a:solidFill>
                  <a:srgbClr val="00704A"/>
                </a:solidFill>
                <a:latin typeface="Calibri" pitchFamily="34" charset="0"/>
                <a:ea typeface="Calibri" pitchFamily="34" charset="-122"/>
                <a:cs typeface="Calibri" pitchFamily="34" charset="-120"/>
              </a:rPr>
              <a:t>Mensuel</a:t>
            </a:r>
            <a:endParaRPr lang="en-US" sz="1500" dirty="0"/>
          </a:p>
        </p:txBody>
      </p:sp>
      <p:sp>
        <p:nvSpPr>
          <p:cNvPr id="32" name="Text 27"/>
          <p:cNvSpPr txBox="1"/>
          <p:nvPr/>
        </p:nvSpPr>
        <p:spPr>
          <a:xfrm>
            <a:off x="390448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VNP46A3 · EOG VNL mensuel</a:t>
            </a:r>
            <a:endParaRPr lang="en-US" sz="900" dirty="0"/>
          </a:p>
        </p:txBody>
      </p:sp>
      <p:sp>
        <p:nvSpPr>
          <p:cNvPr id="33" name="Text 28"/>
          <p:cNvSpPr txBox="1"/>
          <p:nvPr/>
        </p:nvSpPr>
        <p:spPr>
          <a:xfrm>
            <a:off x="337413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ATOUT</a:t>
            </a:r>
            <a:endParaRPr lang="en-US" sz="800" dirty="0"/>
          </a:p>
        </p:txBody>
      </p:sp>
      <p:sp>
        <p:nvSpPr>
          <p:cNvPr id="34" name="Text 29"/>
          <p:cNvSpPr txBox="1"/>
          <p:nvPr/>
        </p:nvSpPr>
        <p:spPr>
          <a:xfrm>
            <a:off x="337413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Date un changement à la saison près.</a:t>
            </a:r>
            <a:endParaRPr lang="en-US" sz="900" dirty="0"/>
          </a:p>
        </p:txBody>
      </p:sp>
      <p:sp>
        <p:nvSpPr>
          <p:cNvPr id="35" name="Text 30"/>
          <p:cNvSpPr txBox="1"/>
          <p:nvPr/>
        </p:nvSpPr>
        <p:spPr>
          <a:xfrm>
            <a:off x="337413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36" name="Text 31"/>
          <p:cNvSpPr txBox="1"/>
          <p:nvPr/>
        </p:nvSpPr>
        <p:spPr>
          <a:xfrm>
            <a:off x="337413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Les mois de pluie peuvent reposer sur très peu de nuits valides.</a:t>
            </a:r>
            <a:endParaRPr lang="en-US" sz="900" dirty="0"/>
          </a:p>
        </p:txBody>
      </p:sp>
      <p:sp>
        <p:nvSpPr>
          <p:cNvPr id="37" name="Text 32"/>
          <p:cNvSpPr txBox="1"/>
          <p:nvPr/>
        </p:nvSpPr>
        <p:spPr>
          <a:xfrm>
            <a:off x="337413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38" name="Text 33"/>
          <p:cNvSpPr txBox="1"/>
          <p:nvPr/>
        </p:nvSpPr>
        <p:spPr>
          <a:xfrm>
            <a:off x="337413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Évaluation de programmes, activité saisonnière, chronologie des conflits et du relèvement.</a:t>
            </a:r>
            <a:endParaRPr lang="en-US" sz="900" dirty="0"/>
          </a:p>
        </p:txBody>
      </p:sp>
      <p:sp>
        <p:nvSpPr>
          <p:cNvPr id="39" name="Shape 34"/>
          <p:cNvSpPr/>
          <p:nvPr/>
        </p:nvSpPr>
        <p:spPr>
          <a:xfrm>
            <a:off x="6035040" y="1325880"/>
            <a:ext cx="2651760" cy="2743200"/>
          </a:xfrm>
          <a:prstGeom prst="roundRect">
            <a:avLst>
              <a:gd name="adj" fmla="val 2759"/>
            </a:avLst>
          </a:prstGeom>
          <a:solidFill>
            <a:srgbClr val="F4F7F5"/>
          </a:solidFill>
          <a:ln w="9525">
            <a:solidFill>
              <a:srgbClr val="D5DED9"/>
            </a:solidFill>
            <a:prstDash val="solid"/>
          </a:ln>
        </p:spPr>
      </p:sp>
      <p:sp>
        <p:nvSpPr>
          <p:cNvPr id="40" name="Shape 35"/>
          <p:cNvSpPr/>
          <p:nvPr/>
        </p:nvSpPr>
        <p:spPr>
          <a:xfrm>
            <a:off x="6144768" y="1417320"/>
            <a:ext cx="457200" cy="457200"/>
          </a:xfrm>
          <a:prstGeom prst="ellipse">
            <a:avLst/>
          </a:prstGeom>
          <a:solidFill>
            <a:srgbClr val="00A86A">
              <a:alpha val="22000"/>
            </a:srgbClr>
          </a:solidFill>
          <a:ln w="12700">
            <a:solidFill>
              <a:srgbClr val="00A86A">
                <a:alpha val="0"/>
              </a:srgbClr>
            </a:solidFill>
            <a:prstDash val="solid"/>
          </a:ln>
        </p:spPr>
      </p:sp>
      <p:pic>
        <p:nvPicPr>
          <p:cNvPr id="41" name="Image 2" descr="preencoded.png"/>
          <p:cNvPicPr>
            <a:picLocks noChangeAspect="1"/>
          </p:cNvPicPr>
          <p:nvPr/>
        </p:nvPicPr>
        <p:blipFill>
          <a:blip r:embed="rId5"/>
          <a:stretch>
            <a:fillRect/>
          </a:stretch>
        </p:blipFill>
        <p:spPr>
          <a:xfrm>
            <a:off x="6263640" y="1536192"/>
            <a:ext cx="219456" cy="219456"/>
          </a:xfrm>
          <a:prstGeom prst="rect">
            <a:avLst/>
          </a:prstGeom>
        </p:spPr>
      </p:pic>
      <p:sp>
        <p:nvSpPr>
          <p:cNvPr id="42" name="Text 36"/>
          <p:cNvSpPr txBox="1"/>
          <p:nvPr/>
        </p:nvSpPr>
        <p:spPr>
          <a:xfrm>
            <a:off x="6693408" y="1417320"/>
            <a:ext cx="1828800" cy="256032"/>
          </a:xfrm>
          <a:prstGeom prst="rect">
            <a:avLst/>
          </a:prstGeom>
          <a:noFill/>
          <a:ln/>
        </p:spPr>
        <p:txBody>
          <a:bodyPr wrap="square" lIns="0" tIns="0" rIns="0" bIns="0" rtlCol="0" anchor="t"/>
          <a:lstStyle/>
          <a:p>
            <a:pPr marL="0" indent="0">
              <a:buNone/>
            </a:pPr>
            <a:r>
              <a:rPr lang="en-US" sz="1500" b="1" dirty="0">
                <a:solidFill>
                  <a:srgbClr val="00A86A"/>
                </a:solidFill>
                <a:latin typeface="Calibri" pitchFamily="34" charset="0"/>
                <a:ea typeface="Calibri" pitchFamily="34" charset="-122"/>
                <a:cs typeface="Calibri" pitchFamily="34" charset="-120"/>
              </a:rPr>
              <a:t>Quotidien</a:t>
            </a:r>
            <a:endParaRPr lang="en-US" sz="1500" dirty="0"/>
          </a:p>
        </p:txBody>
      </p:sp>
      <p:sp>
        <p:nvSpPr>
          <p:cNvPr id="43" name="Text 37"/>
          <p:cNvSpPr txBox="1"/>
          <p:nvPr/>
        </p:nvSpPr>
        <p:spPr>
          <a:xfrm>
            <a:off x="6693408" y="1673352"/>
            <a:ext cx="1920240" cy="201168"/>
          </a:xfrm>
          <a:prstGeom prst="rect">
            <a:avLst/>
          </a:prstGeom>
          <a:noFill/>
          <a:ln/>
        </p:spPr>
        <p:txBody>
          <a:bodyPr wrap="square" lIns="0" tIns="0" rIns="0" bIns="0" rtlCol="0" anchor="t"/>
          <a:lstStyle/>
          <a:p>
            <a:pPr marL="0" indent="0">
              <a:buNone/>
            </a:pPr>
            <a:r>
              <a:rPr lang="en-US" sz="900" dirty="0">
                <a:solidFill>
                  <a:srgbClr val="5E6964"/>
                </a:solidFill>
                <a:latin typeface="Calibri" pitchFamily="34" charset="0"/>
                <a:ea typeface="Calibri" pitchFamily="34" charset="-122"/>
                <a:cs typeface="Calibri" pitchFamily="34" charset="-120"/>
              </a:rPr>
              <a:t>VNP46A2</a:t>
            </a:r>
            <a:endParaRPr lang="en-US" sz="900" dirty="0"/>
          </a:p>
        </p:txBody>
      </p:sp>
      <p:sp>
        <p:nvSpPr>
          <p:cNvPr id="44" name="Text 38"/>
          <p:cNvSpPr txBox="1"/>
          <p:nvPr/>
        </p:nvSpPr>
        <p:spPr>
          <a:xfrm>
            <a:off x="6163056" y="2011680"/>
            <a:ext cx="2423160" cy="164592"/>
          </a:xfrm>
          <a:prstGeom prst="rect">
            <a:avLst/>
          </a:prstGeom>
          <a:noFill/>
          <a:ln/>
        </p:spPr>
        <p:txBody>
          <a:bodyPr wrap="square" lIns="0" tIns="0" rIns="0" bIns="0" rtlCol="0" anchor="t"/>
          <a:lstStyle/>
          <a:p>
            <a:pPr marL="0" indent="0">
              <a:buNone/>
            </a:pPr>
            <a:r>
              <a:rPr lang="en-US" sz="800" b="1" kern="0" spc="200" dirty="0">
                <a:solidFill>
                  <a:srgbClr val="00A86A"/>
                </a:solidFill>
                <a:latin typeface="Calibri" pitchFamily="34" charset="0"/>
                <a:ea typeface="Calibri" pitchFamily="34" charset="-122"/>
                <a:cs typeface="Calibri" pitchFamily="34" charset="-120"/>
              </a:rPr>
              <a:t>ATOUT</a:t>
            </a:r>
            <a:endParaRPr lang="en-US" sz="800" dirty="0"/>
          </a:p>
        </p:txBody>
      </p:sp>
      <p:sp>
        <p:nvSpPr>
          <p:cNvPr id="45" name="Text 39"/>
          <p:cNvSpPr txBox="1"/>
          <p:nvPr/>
        </p:nvSpPr>
        <p:spPr>
          <a:xfrm>
            <a:off x="6163056" y="2194560"/>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Chaque nuit, corrigé de la Lune, de l’atmosphère et du relief.</a:t>
            </a:r>
            <a:endParaRPr lang="en-US" sz="900" dirty="0"/>
          </a:p>
        </p:txBody>
      </p:sp>
      <p:sp>
        <p:nvSpPr>
          <p:cNvPr id="46" name="Text 40"/>
          <p:cNvSpPr txBox="1"/>
          <p:nvPr/>
        </p:nvSpPr>
        <p:spPr>
          <a:xfrm>
            <a:off x="6163056" y="2688336"/>
            <a:ext cx="2423160" cy="164592"/>
          </a:xfrm>
          <a:prstGeom prst="rect">
            <a:avLst/>
          </a:prstGeom>
          <a:noFill/>
          <a:ln/>
        </p:spPr>
        <p:txBody>
          <a:bodyPr wrap="square" lIns="0" tIns="0" rIns="0" bIns="0" rtlCol="0" anchor="t"/>
          <a:lstStyle/>
          <a:p>
            <a:pPr marL="0" indent="0">
              <a:buNone/>
            </a:pPr>
            <a:r>
              <a:rPr lang="en-US" sz="800" b="1" kern="0" spc="200" dirty="0">
                <a:solidFill>
                  <a:srgbClr val="D49A00"/>
                </a:solidFill>
                <a:latin typeface="Calibri" pitchFamily="34" charset="0"/>
                <a:ea typeface="Calibri" pitchFamily="34" charset="-122"/>
                <a:cs typeface="Calibri" pitchFamily="34" charset="-120"/>
              </a:rPr>
              <a:t>POINT DE VIGILANCE</a:t>
            </a:r>
            <a:endParaRPr lang="en-US" sz="800" dirty="0"/>
          </a:p>
        </p:txBody>
      </p:sp>
      <p:sp>
        <p:nvSpPr>
          <p:cNvPr id="47" name="Text 41"/>
          <p:cNvSpPr txBox="1"/>
          <p:nvPr/>
        </p:nvSpPr>
        <p:spPr>
          <a:xfrm>
            <a:off x="6163056" y="2871216"/>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Gros volumes ; une nuit isolée est bruitée — agréger d’abord.</a:t>
            </a:r>
            <a:endParaRPr lang="en-US" sz="900" dirty="0"/>
          </a:p>
        </p:txBody>
      </p:sp>
      <p:sp>
        <p:nvSpPr>
          <p:cNvPr id="48" name="Text 42"/>
          <p:cNvSpPr txBox="1"/>
          <p:nvPr/>
        </p:nvSpPr>
        <p:spPr>
          <a:xfrm>
            <a:off x="6163056" y="3364992"/>
            <a:ext cx="2423160" cy="164592"/>
          </a:xfrm>
          <a:prstGeom prst="rect">
            <a:avLst/>
          </a:prstGeom>
          <a:noFill/>
          <a:ln/>
        </p:spPr>
        <p:txBody>
          <a:bodyPr wrap="square" lIns="0" tIns="0" rIns="0" bIns="0" rtlCol="0" anchor="t"/>
          <a:lstStyle/>
          <a:p>
            <a:pPr marL="0" indent="0">
              <a:buNone/>
            </a:pPr>
            <a:r>
              <a:rPr lang="en-US" sz="800" b="1" kern="0" spc="200" dirty="0">
                <a:solidFill>
                  <a:srgbClr val="00704A"/>
                </a:solidFill>
                <a:latin typeface="Calibri" pitchFamily="34" charset="0"/>
                <a:ea typeface="Calibri" pitchFamily="34" charset="-122"/>
                <a:cs typeface="Calibri" pitchFamily="34" charset="-120"/>
              </a:rPr>
              <a:t>USAGE TYPE POUR UN INS</a:t>
            </a:r>
            <a:endParaRPr lang="en-US" sz="800" dirty="0"/>
          </a:p>
        </p:txBody>
      </p:sp>
      <p:sp>
        <p:nvSpPr>
          <p:cNvPr id="49" name="Text 43"/>
          <p:cNvSpPr txBox="1"/>
          <p:nvPr/>
        </p:nvSpPr>
        <p:spPr>
          <a:xfrm>
            <a:off x="6163056" y="3547872"/>
            <a:ext cx="2395728" cy="475488"/>
          </a:xfrm>
          <a:prstGeom prst="rect">
            <a:avLst/>
          </a:prstGeom>
          <a:noFill/>
          <a:ln/>
        </p:spPr>
        <p:txBody>
          <a:bodyPr wrap="square" lIns="0" tIns="0" rIns="0" bIns="0" rtlCol="0" anchor="t"/>
          <a:lstStyle/>
          <a:p>
            <a:pPr marL="0" indent="0">
              <a:buNone/>
            </a:pPr>
            <a:r>
              <a:rPr lang="en-US" sz="900" dirty="0">
                <a:solidFill>
                  <a:srgbClr val="231F20"/>
                </a:solidFill>
                <a:latin typeface="Calibri" pitchFamily="34" charset="0"/>
                <a:ea typeface="Calibri" pitchFamily="34" charset="-122"/>
                <a:cs typeface="Calibri" pitchFamily="34" charset="-120"/>
              </a:rPr>
              <a:t>Coupures, réponse aux catastrophes, fiabilité de l’approvisionnement électrique.</a:t>
            </a:r>
            <a:endParaRPr lang="en-US" sz="900" dirty="0"/>
          </a:p>
        </p:txBody>
      </p:sp>
      <p:sp>
        <p:nvSpPr>
          <p:cNvPr id="50" name="Shape 44"/>
          <p:cNvSpPr/>
          <p:nvPr/>
        </p:nvSpPr>
        <p:spPr>
          <a:xfrm>
            <a:off x="457200" y="4178808"/>
            <a:ext cx="8229600" cy="411480"/>
          </a:xfrm>
          <a:prstGeom prst="roundRect">
            <a:avLst>
              <a:gd name="adj" fmla="val 17778"/>
            </a:avLst>
          </a:prstGeom>
          <a:solidFill>
            <a:srgbClr val="E8F5EF"/>
          </a:solidFill>
          <a:ln w="15875">
            <a:solidFill>
              <a:srgbClr val="00A86A"/>
            </a:solidFill>
            <a:prstDash val="solid"/>
          </a:ln>
        </p:spPr>
      </p:sp>
      <p:sp>
        <p:nvSpPr>
          <p:cNvPr id="51" name="Shape 45"/>
          <p:cNvSpPr/>
          <p:nvPr/>
        </p:nvSpPr>
        <p:spPr>
          <a:xfrm>
            <a:off x="530352" y="4206240"/>
            <a:ext cx="347472" cy="347472"/>
          </a:xfrm>
          <a:prstGeom prst="ellipse">
            <a:avLst/>
          </a:prstGeom>
          <a:solidFill>
            <a:srgbClr val="00A86A">
              <a:alpha val="22000"/>
            </a:srgbClr>
          </a:solidFill>
          <a:ln w="12700">
            <a:solidFill>
              <a:srgbClr val="00A86A">
                <a:alpha val="0"/>
              </a:srgbClr>
            </a:solidFill>
            <a:prstDash val="solid"/>
          </a:ln>
        </p:spPr>
      </p:sp>
      <p:pic>
        <p:nvPicPr>
          <p:cNvPr id="52" name="Image 3" descr="preencoded.png"/>
          <p:cNvPicPr>
            <a:picLocks noChangeAspect="1"/>
          </p:cNvPicPr>
          <p:nvPr/>
        </p:nvPicPr>
        <p:blipFill>
          <a:blip r:embed="rId6"/>
          <a:stretch>
            <a:fillRect/>
          </a:stretch>
        </p:blipFill>
        <p:spPr>
          <a:xfrm>
            <a:off x="620695" y="4296583"/>
            <a:ext cx="166787" cy="166787"/>
          </a:xfrm>
          <a:prstGeom prst="rect">
            <a:avLst/>
          </a:prstGeom>
        </p:spPr>
      </p:pic>
      <p:sp>
        <p:nvSpPr>
          <p:cNvPr id="53" name="Text 46"/>
          <p:cNvSpPr txBox="1"/>
          <p:nvPr/>
        </p:nvSpPr>
        <p:spPr>
          <a:xfrm>
            <a:off x="960120" y="4178808"/>
            <a:ext cx="7680960" cy="411480"/>
          </a:xfrm>
          <a:prstGeom prst="rect">
            <a:avLst/>
          </a:prstGeom>
          <a:noFill/>
          <a:ln/>
        </p:spPr>
        <p:txBody>
          <a:bodyPr wrap="square" lIns="0" tIns="0" rIns="0" bIns="0" rtlCol="0" anchor="ctr"/>
          <a:lstStyle/>
          <a:p>
            <a:pPr marL="0" indent="0">
              <a:buNone/>
            </a:pPr>
            <a:r>
              <a:rPr lang="en-US" sz="1050" b="1" dirty="0">
                <a:solidFill>
                  <a:srgbClr val="00704A"/>
                </a:solidFill>
                <a:latin typeface="Calibri" pitchFamily="34" charset="0"/>
                <a:ea typeface="Calibri" pitchFamily="34" charset="-122"/>
                <a:cs typeface="Calibri" pitchFamily="34" charset="-120"/>
              </a:rPr>
              <a:t>Règle empirique : </a:t>
            </a:r>
            <a:r>
              <a:rPr lang="en-US" sz="1050" dirty="0">
                <a:solidFill>
                  <a:srgbClr val="231F20"/>
                </a:solidFill>
                <a:latin typeface="Calibri" pitchFamily="34" charset="0"/>
                <a:ea typeface="Calibri" pitchFamily="34" charset="-122"/>
                <a:cs typeface="Calibri" pitchFamily="34" charset="-120"/>
              </a:rPr>
              <a:t>commencer par l’annuel. Plus la fréquence est fine, plus il faut se fier aux corrections et gérer de bruit.</a:t>
            </a:r>
            <a:endParaRPr lang="en-US" sz="10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VALIDATION · LABO VALIDER</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Diffuser, ou garder comme outil de diagnostic ?</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28</a:t>
            </a:r>
            <a:endParaRPr lang="en-US" sz="850" dirty="0"/>
          </a:p>
        </p:txBody>
      </p:sp>
      <p:sp>
        <p:nvSpPr>
          <p:cNvPr id="17" name="Shape 14"/>
          <p:cNvSpPr/>
          <p:nvPr/>
        </p:nvSpPr>
        <p:spPr>
          <a:xfrm>
            <a:off x="457200" y="1325880"/>
            <a:ext cx="3200400" cy="603504"/>
          </a:xfrm>
          <a:prstGeom prst="roundRect">
            <a:avLst>
              <a:gd name="adj" fmla="val 12121"/>
            </a:avLst>
          </a:prstGeom>
          <a:solidFill>
            <a:srgbClr val="FFFFFF"/>
          </a:solidFill>
          <a:ln w="9525">
            <a:solidFill>
              <a:srgbClr val="C4621D"/>
            </a:solidFill>
            <a:prstDash val="solid"/>
          </a:ln>
        </p:spPr>
      </p:sp>
      <p:sp>
        <p:nvSpPr>
          <p:cNvPr id="18" name="Shape 15"/>
          <p:cNvSpPr/>
          <p:nvPr/>
        </p:nvSpPr>
        <p:spPr>
          <a:xfrm>
            <a:off x="548640" y="1463040"/>
            <a:ext cx="329184" cy="329184"/>
          </a:xfrm>
          <a:prstGeom prst="ellipse">
            <a:avLst/>
          </a:prstGeom>
          <a:solidFill>
            <a:srgbClr val="C4621D"/>
          </a:solidFill>
          <a:ln w="12700">
            <a:solidFill>
              <a:srgbClr val="C4621D"/>
            </a:solidFill>
            <a:prstDash val="solid"/>
          </a:ln>
        </p:spPr>
      </p:sp>
      <p:sp>
        <p:nvSpPr>
          <p:cNvPr id="19" name="Text 16"/>
          <p:cNvSpPr txBox="1"/>
          <p:nvPr/>
        </p:nvSpPr>
        <p:spPr>
          <a:xfrm>
            <a:off x="548640" y="146304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Q1</a:t>
            </a:r>
            <a:endParaRPr lang="en-US" sz="1000" dirty="0"/>
          </a:p>
        </p:txBody>
      </p:sp>
      <p:sp>
        <p:nvSpPr>
          <p:cNvPr id="20" name="Text 17"/>
          <p:cNvSpPr txBox="1"/>
          <p:nvPr/>
        </p:nvSpPr>
        <p:spPr>
          <a:xfrm>
            <a:off x="960120" y="1362456"/>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La relation est-elle forte et stable entre unités et années ?</a:t>
            </a:r>
            <a:endParaRPr lang="en-US" sz="950" dirty="0"/>
          </a:p>
        </p:txBody>
      </p:sp>
      <p:sp>
        <p:nvSpPr>
          <p:cNvPr id="21" name="Text 18"/>
          <p:cNvSpPr txBox="1"/>
          <p:nvPr/>
        </p:nvSpPr>
        <p:spPr>
          <a:xfrm>
            <a:off x="960120" y="1709928"/>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Fixez la barre avant de regarder.</a:t>
            </a:r>
            <a:endParaRPr lang="en-US" sz="850" dirty="0"/>
          </a:p>
        </p:txBody>
      </p:sp>
      <p:sp>
        <p:nvSpPr>
          <p:cNvPr id="22" name="Shape 19"/>
          <p:cNvSpPr/>
          <p:nvPr/>
        </p:nvSpPr>
        <p:spPr>
          <a:xfrm>
            <a:off x="2057400" y="1929384"/>
            <a:ext cx="91" cy="109728"/>
          </a:xfrm>
          <a:prstGeom prst="line">
            <a:avLst/>
          </a:prstGeom>
          <a:noFill/>
          <a:ln w="15875">
            <a:solidFill>
              <a:srgbClr val="5E6964"/>
            </a:solidFill>
            <a:prstDash val="solid"/>
            <a:tailEnd type="triangle"/>
          </a:ln>
        </p:spPr>
      </p:sp>
      <p:sp>
        <p:nvSpPr>
          <p:cNvPr id="23" name="Shape 20"/>
          <p:cNvSpPr/>
          <p:nvPr/>
        </p:nvSpPr>
        <p:spPr>
          <a:xfrm>
            <a:off x="457200" y="2039112"/>
            <a:ext cx="3200400" cy="603504"/>
          </a:xfrm>
          <a:prstGeom prst="roundRect">
            <a:avLst>
              <a:gd name="adj" fmla="val 12121"/>
            </a:avLst>
          </a:prstGeom>
          <a:solidFill>
            <a:srgbClr val="FFFFFF"/>
          </a:solidFill>
          <a:ln w="9525">
            <a:solidFill>
              <a:srgbClr val="C4621D"/>
            </a:solidFill>
            <a:prstDash val="solid"/>
          </a:ln>
        </p:spPr>
      </p:sp>
      <p:sp>
        <p:nvSpPr>
          <p:cNvPr id="24" name="Shape 21"/>
          <p:cNvSpPr/>
          <p:nvPr/>
        </p:nvSpPr>
        <p:spPr>
          <a:xfrm>
            <a:off x="548640" y="2176272"/>
            <a:ext cx="329184" cy="329184"/>
          </a:xfrm>
          <a:prstGeom prst="ellipse">
            <a:avLst/>
          </a:prstGeom>
          <a:solidFill>
            <a:srgbClr val="C4621D"/>
          </a:solidFill>
          <a:ln w="12700">
            <a:solidFill>
              <a:srgbClr val="C4621D"/>
            </a:solidFill>
            <a:prstDash val="solid"/>
          </a:ln>
        </p:spPr>
      </p:sp>
      <p:sp>
        <p:nvSpPr>
          <p:cNvPr id="25" name="Text 22"/>
          <p:cNvSpPr txBox="1"/>
          <p:nvPr/>
        </p:nvSpPr>
        <p:spPr>
          <a:xfrm>
            <a:off x="548640" y="2176272"/>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Q2</a:t>
            </a:r>
            <a:endParaRPr lang="en-US" sz="1000" dirty="0"/>
          </a:p>
        </p:txBody>
      </p:sp>
      <p:sp>
        <p:nvSpPr>
          <p:cNvPr id="26" name="Text 23"/>
          <p:cNvSpPr txBox="1"/>
          <p:nvPr/>
        </p:nvSpPr>
        <p:spPr>
          <a:xfrm>
            <a:off x="960120" y="2075688"/>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Les artefacts sont-ils identifiés et traités ?</a:t>
            </a:r>
            <a:endParaRPr lang="en-US" sz="950" dirty="0"/>
          </a:p>
        </p:txBody>
      </p:sp>
      <p:sp>
        <p:nvSpPr>
          <p:cNvPr id="27" name="Text 24"/>
          <p:cNvSpPr txBox="1"/>
          <p:nvPr/>
        </p:nvSpPr>
        <p:spPr>
          <a:xfrm>
            <a:off x="960120" y="2423160"/>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Torchères, débordement, saisonnalité, bruit.</a:t>
            </a:r>
            <a:endParaRPr lang="en-US" sz="850" dirty="0"/>
          </a:p>
        </p:txBody>
      </p:sp>
      <p:sp>
        <p:nvSpPr>
          <p:cNvPr id="28" name="Shape 25"/>
          <p:cNvSpPr/>
          <p:nvPr/>
        </p:nvSpPr>
        <p:spPr>
          <a:xfrm>
            <a:off x="2057400" y="2642616"/>
            <a:ext cx="91" cy="109728"/>
          </a:xfrm>
          <a:prstGeom prst="line">
            <a:avLst/>
          </a:prstGeom>
          <a:noFill/>
          <a:ln w="15875">
            <a:solidFill>
              <a:srgbClr val="5E6964"/>
            </a:solidFill>
            <a:prstDash val="solid"/>
            <a:tailEnd type="triangle"/>
          </a:ln>
        </p:spPr>
      </p:sp>
      <p:sp>
        <p:nvSpPr>
          <p:cNvPr id="29" name="Shape 26"/>
          <p:cNvSpPr/>
          <p:nvPr/>
        </p:nvSpPr>
        <p:spPr>
          <a:xfrm>
            <a:off x="457200" y="2752344"/>
            <a:ext cx="3200400" cy="603504"/>
          </a:xfrm>
          <a:prstGeom prst="roundRect">
            <a:avLst>
              <a:gd name="adj" fmla="val 12121"/>
            </a:avLst>
          </a:prstGeom>
          <a:solidFill>
            <a:srgbClr val="FFFFFF"/>
          </a:solidFill>
          <a:ln w="9525">
            <a:solidFill>
              <a:srgbClr val="C4621D"/>
            </a:solidFill>
            <a:prstDash val="solid"/>
          </a:ln>
        </p:spPr>
      </p:sp>
      <p:sp>
        <p:nvSpPr>
          <p:cNvPr id="30" name="Shape 27"/>
          <p:cNvSpPr/>
          <p:nvPr/>
        </p:nvSpPr>
        <p:spPr>
          <a:xfrm>
            <a:off x="548640" y="2889504"/>
            <a:ext cx="329184" cy="329184"/>
          </a:xfrm>
          <a:prstGeom prst="ellipse">
            <a:avLst/>
          </a:prstGeom>
          <a:solidFill>
            <a:srgbClr val="C4621D"/>
          </a:solidFill>
          <a:ln w="12700">
            <a:solidFill>
              <a:srgbClr val="C4621D"/>
            </a:solidFill>
            <a:prstDash val="solid"/>
          </a:ln>
        </p:spPr>
      </p:sp>
      <p:sp>
        <p:nvSpPr>
          <p:cNvPr id="31" name="Text 28"/>
          <p:cNvSpPr txBox="1"/>
          <p:nvPr/>
        </p:nvSpPr>
        <p:spPr>
          <a:xfrm>
            <a:off x="548640" y="288950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Q3</a:t>
            </a:r>
            <a:endParaRPr lang="en-US" sz="1000" dirty="0"/>
          </a:p>
        </p:txBody>
      </p:sp>
      <p:sp>
        <p:nvSpPr>
          <p:cNvPr id="32" name="Text 29"/>
          <p:cNvSpPr txBox="1"/>
          <p:nvPr/>
        </p:nvSpPr>
        <p:spPr>
          <a:xfrm>
            <a:off x="960120" y="2788920"/>
            <a:ext cx="2651760" cy="347472"/>
          </a:xfrm>
          <a:prstGeom prst="rect">
            <a:avLst/>
          </a:prstGeom>
          <a:noFill/>
          <a:ln/>
        </p:spPr>
        <p:txBody>
          <a:bodyPr wrap="square" lIns="0" tIns="0" rIns="0" bIns="0" rtlCol="0" anchor="ctr"/>
          <a:lstStyle/>
          <a:p>
            <a:pPr marL="0" indent="0">
              <a:buNone/>
            </a:pPr>
            <a:r>
              <a:rPr lang="en-US" sz="950" b="1" dirty="0">
                <a:solidFill>
                  <a:srgbClr val="231F20"/>
                </a:solidFill>
                <a:latin typeface="Calibri" pitchFamily="34" charset="0"/>
                <a:ea typeface="Calibri" pitchFamily="34" charset="-122"/>
                <a:cs typeface="Calibri" pitchFamily="34" charset="-120"/>
              </a:rPr>
              <a:t>La référence est-elle indépendante ?</a:t>
            </a:r>
            <a:endParaRPr lang="en-US" sz="950" dirty="0"/>
          </a:p>
        </p:txBody>
      </p:sp>
      <p:sp>
        <p:nvSpPr>
          <p:cNvPr id="33" name="Text 30"/>
          <p:cNvSpPr txBox="1"/>
          <p:nvPr/>
        </p:nvSpPr>
        <p:spPr>
          <a:xfrm>
            <a:off x="960120" y="3136392"/>
            <a:ext cx="2651760" cy="182880"/>
          </a:xfrm>
          <a:prstGeom prst="rect">
            <a:avLst/>
          </a:prstGeom>
          <a:noFill/>
          <a:ln/>
        </p:spPr>
        <p:txBody>
          <a:bodyPr wrap="square" lIns="0" tIns="0" rIns="0" bIns="0" rtlCol="0" anchor="t"/>
          <a:lstStyle/>
          <a:p>
            <a:pPr marL="0" indent="0">
              <a:buNone/>
            </a:pPr>
            <a:r>
              <a:rPr lang="en-US" sz="850" i="1" dirty="0">
                <a:solidFill>
                  <a:srgbClr val="5E6964"/>
                </a:solidFill>
                <a:latin typeface="Calibri" pitchFamily="34" charset="0"/>
                <a:ea typeface="Calibri" pitchFamily="34" charset="-122"/>
                <a:cs typeface="Calibri" pitchFamily="34" charset="-120"/>
              </a:rPr>
              <a:t>WorldPop utilise les NTL en covariable — circularité.</a:t>
            </a:r>
            <a:endParaRPr lang="en-US" sz="850" dirty="0"/>
          </a:p>
        </p:txBody>
      </p:sp>
      <p:sp>
        <p:nvSpPr>
          <p:cNvPr id="34" name="Shape 31"/>
          <p:cNvSpPr/>
          <p:nvPr/>
        </p:nvSpPr>
        <p:spPr>
          <a:xfrm>
            <a:off x="457200" y="3566160"/>
            <a:ext cx="274320" cy="274320"/>
          </a:xfrm>
          <a:prstGeom prst="ellipse">
            <a:avLst/>
          </a:prstGeom>
          <a:solidFill>
            <a:srgbClr val="00A86A">
              <a:alpha val="22000"/>
            </a:srgbClr>
          </a:solidFill>
          <a:ln w="12700">
            <a:solidFill>
              <a:srgbClr val="00A86A">
                <a:alpha val="0"/>
              </a:srgbClr>
            </a:solidFill>
            <a:prstDash val="solid"/>
          </a:ln>
        </p:spPr>
      </p:sp>
      <p:pic>
        <p:nvPicPr>
          <p:cNvPr id="35" name="Image 0" descr="preencoded.png"/>
          <p:cNvPicPr>
            <a:picLocks noChangeAspect="1"/>
          </p:cNvPicPr>
          <p:nvPr/>
        </p:nvPicPr>
        <p:blipFill>
          <a:blip r:embed="rId3"/>
          <a:stretch>
            <a:fillRect/>
          </a:stretch>
        </p:blipFill>
        <p:spPr>
          <a:xfrm>
            <a:off x="528523" y="3637483"/>
            <a:ext cx="131674" cy="131674"/>
          </a:xfrm>
          <a:prstGeom prst="rect">
            <a:avLst/>
          </a:prstGeom>
        </p:spPr>
      </p:pic>
      <p:sp>
        <p:nvSpPr>
          <p:cNvPr id="36" name="Text 32"/>
          <p:cNvSpPr txBox="1"/>
          <p:nvPr/>
        </p:nvSpPr>
        <p:spPr>
          <a:xfrm>
            <a:off x="804672" y="3566160"/>
            <a:ext cx="3063240" cy="292608"/>
          </a:xfrm>
          <a:prstGeom prst="rect">
            <a:avLst/>
          </a:prstGeom>
          <a:noFill/>
          <a:ln/>
        </p:spPr>
        <p:txBody>
          <a:bodyPr wrap="square" lIns="0" tIns="0" rIns="0" bIns="0" rtlCol="0" anchor="ctr"/>
          <a:lstStyle/>
          <a:p>
            <a:pPr marL="0" indent="0">
              <a:buNone/>
            </a:pPr>
            <a:r>
              <a:rPr lang="en-US" sz="900" b="1" dirty="0">
                <a:solidFill>
                  <a:srgbClr val="00A86A"/>
                </a:solidFill>
                <a:latin typeface="Calibri" pitchFamily="34" charset="0"/>
                <a:ea typeface="Calibri" pitchFamily="34" charset="-122"/>
                <a:cs typeface="Calibri" pitchFamily="34" charset="-120"/>
              </a:rPr>
              <a:t>Oui aux trois → </a:t>
            </a:r>
            <a:r>
              <a:rPr lang="en-US" sz="900" dirty="0">
                <a:solidFill>
                  <a:srgbClr val="231F20"/>
                </a:solidFill>
                <a:latin typeface="Calibri" pitchFamily="34" charset="0"/>
                <a:ea typeface="Calibri" pitchFamily="34" charset="-122"/>
                <a:cs typeface="Calibri" pitchFamily="34" charset="-120"/>
              </a:rPr>
              <a:t>Statistique expérimentale — diffuser avec ses limites</a:t>
            </a:r>
            <a:endParaRPr lang="en-US" sz="900" dirty="0"/>
          </a:p>
        </p:txBody>
      </p:sp>
      <p:sp>
        <p:nvSpPr>
          <p:cNvPr id="37" name="Shape 33"/>
          <p:cNvSpPr/>
          <p:nvPr/>
        </p:nvSpPr>
        <p:spPr>
          <a:xfrm>
            <a:off x="457200" y="3904488"/>
            <a:ext cx="274320" cy="274320"/>
          </a:xfrm>
          <a:prstGeom prst="ellipse">
            <a:avLst/>
          </a:prstGeom>
          <a:solidFill>
            <a:srgbClr val="D49A00">
              <a:alpha val="22000"/>
            </a:srgbClr>
          </a:solidFill>
          <a:ln w="12700">
            <a:solidFill>
              <a:srgbClr val="D49A00">
                <a:alpha val="0"/>
              </a:srgbClr>
            </a:solidFill>
            <a:prstDash val="solid"/>
          </a:ln>
        </p:spPr>
      </p:sp>
      <p:pic>
        <p:nvPicPr>
          <p:cNvPr id="38" name="Image 1" descr="preencoded.png"/>
          <p:cNvPicPr>
            <a:picLocks noChangeAspect="1"/>
          </p:cNvPicPr>
          <p:nvPr/>
        </p:nvPicPr>
        <p:blipFill>
          <a:blip r:embed="rId4"/>
          <a:stretch>
            <a:fillRect/>
          </a:stretch>
        </p:blipFill>
        <p:spPr>
          <a:xfrm>
            <a:off x="528523" y="3975811"/>
            <a:ext cx="131674" cy="131674"/>
          </a:xfrm>
          <a:prstGeom prst="rect">
            <a:avLst/>
          </a:prstGeom>
        </p:spPr>
      </p:pic>
      <p:sp>
        <p:nvSpPr>
          <p:cNvPr id="39" name="Text 34"/>
          <p:cNvSpPr txBox="1"/>
          <p:nvPr/>
        </p:nvSpPr>
        <p:spPr>
          <a:xfrm>
            <a:off x="804672" y="3904488"/>
            <a:ext cx="3063240" cy="292608"/>
          </a:xfrm>
          <a:prstGeom prst="rect">
            <a:avLst/>
          </a:prstGeom>
          <a:noFill/>
          <a:ln/>
        </p:spPr>
        <p:txBody>
          <a:bodyPr wrap="square" lIns="0" tIns="0" rIns="0" bIns="0" rtlCol="0" anchor="ctr"/>
          <a:lstStyle/>
          <a:p>
            <a:pPr marL="0" indent="0">
              <a:buNone/>
            </a:pPr>
            <a:r>
              <a:rPr lang="en-US" sz="900" b="1" dirty="0">
                <a:solidFill>
                  <a:srgbClr val="D49A00"/>
                </a:solidFill>
                <a:latin typeface="Calibri" pitchFamily="34" charset="0"/>
                <a:ea typeface="Calibri" pitchFamily="34" charset="-122"/>
                <a:cs typeface="Calibri" pitchFamily="34" charset="-120"/>
              </a:rPr>
              <a:t>En partie → </a:t>
            </a:r>
            <a:r>
              <a:rPr lang="en-US" sz="900" dirty="0">
                <a:solidFill>
                  <a:srgbClr val="231F20"/>
                </a:solidFill>
                <a:latin typeface="Calibri" pitchFamily="34" charset="0"/>
                <a:ea typeface="Calibri" pitchFamily="34" charset="-122"/>
                <a:cs typeface="Calibri" pitchFamily="34" charset="-120"/>
              </a:rPr>
              <a:t>Outil de diagnostic — usage interne uniquement</a:t>
            </a:r>
            <a:endParaRPr lang="en-US" sz="900" dirty="0"/>
          </a:p>
        </p:txBody>
      </p:sp>
      <p:sp>
        <p:nvSpPr>
          <p:cNvPr id="40" name="Shape 35"/>
          <p:cNvSpPr/>
          <p:nvPr/>
        </p:nvSpPr>
        <p:spPr>
          <a:xfrm>
            <a:off x="457200" y="4242816"/>
            <a:ext cx="274320" cy="274320"/>
          </a:xfrm>
          <a:prstGeom prst="ellipse">
            <a:avLst/>
          </a:prstGeom>
          <a:solidFill>
            <a:srgbClr val="B83B2E">
              <a:alpha val="22000"/>
            </a:srgbClr>
          </a:solidFill>
          <a:ln w="12700">
            <a:solidFill>
              <a:srgbClr val="B83B2E">
                <a:alpha val="0"/>
              </a:srgbClr>
            </a:solidFill>
            <a:prstDash val="solid"/>
          </a:ln>
        </p:spPr>
      </p:sp>
      <p:pic>
        <p:nvPicPr>
          <p:cNvPr id="41" name="Image 2" descr="preencoded.png"/>
          <p:cNvPicPr>
            <a:picLocks noChangeAspect="1"/>
          </p:cNvPicPr>
          <p:nvPr/>
        </p:nvPicPr>
        <p:blipFill>
          <a:blip r:embed="rId5"/>
          <a:stretch>
            <a:fillRect/>
          </a:stretch>
        </p:blipFill>
        <p:spPr>
          <a:xfrm>
            <a:off x="528523" y="4314139"/>
            <a:ext cx="131674" cy="131674"/>
          </a:xfrm>
          <a:prstGeom prst="rect">
            <a:avLst/>
          </a:prstGeom>
        </p:spPr>
      </p:pic>
      <p:sp>
        <p:nvSpPr>
          <p:cNvPr id="42" name="Text 36"/>
          <p:cNvSpPr txBox="1"/>
          <p:nvPr/>
        </p:nvSpPr>
        <p:spPr>
          <a:xfrm>
            <a:off x="804672" y="4242816"/>
            <a:ext cx="3063240" cy="292608"/>
          </a:xfrm>
          <a:prstGeom prst="rect">
            <a:avLst/>
          </a:prstGeom>
          <a:noFill/>
          <a:ln/>
        </p:spPr>
        <p:txBody>
          <a:bodyPr wrap="square" lIns="0" tIns="0" rIns="0" bIns="0" rtlCol="0" anchor="ctr"/>
          <a:lstStyle/>
          <a:p>
            <a:pPr marL="0" indent="0">
              <a:buNone/>
            </a:pPr>
            <a:r>
              <a:rPr lang="en-US" sz="900" b="1" dirty="0">
                <a:solidFill>
                  <a:srgbClr val="B83B2E"/>
                </a:solidFill>
                <a:latin typeface="Calibri" pitchFamily="34" charset="0"/>
                <a:ea typeface="Calibri" pitchFamily="34" charset="-122"/>
                <a:cs typeface="Calibri" pitchFamily="34" charset="-120"/>
              </a:rPr>
              <a:t>Non → </a:t>
            </a:r>
            <a:r>
              <a:rPr lang="en-US" sz="900" dirty="0">
                <a:solidFill>
                  <a:srgbClr val="231F20"/>
                </a:solidFill>
                <a:latin typeface="Calibri" pitchFamily="34" charset="0"/>
                <a:ea typeface="Calibri" pitchFamily="34" charset="-122"/>
                <a:cs typeface="Calibri" pitchFamily="34" charset="-120"/>
              </a:rPr>
              <a:t>Inadapté — documenter pourquoi</a:t>
            </a:r>
            <a:endParaRPr lang="en-US" sz="900" dirty="0"/>
          </a:p>
        </p:txBody>
      </p:sp>
      <p:sp>
        <p:nvSpPr>
          <p:cNvPr id="43" name="Shape 37"/>
          <p:cNvSpPr/>
          <p:nvPr/>
        </p:nvSpPr>
        <p:spPr>
          <a:xfrm>
            <a:off x="3931920" y="1325880"/>
            <a:ext cx="4754880" cy="3200400"/>
          </a:xfrm>
          <a:prstGeom prst="roundRect">
            <a:avLst>
              <a:gd name="adj" fmla="val 2286"/>
            </a:avLst>
          </a:prstGeom>
          <a:solidFill>
            <a:srgbClr val="E8F5EF"/>
          </a:solidFill>
          <a:ln w="15875">
            <a:solidFill>
              <a:srgbClr val="00A86A"/>
            </a:solidFill>
            <a:prstDash val="solid"/>
          </a:ln>
        </p:spPr>
      </p:sp>
      <p:sp>
        <p:nvSpPr>
          <p:cNvPr id="44" name="Shape 38"/>
          <p:cNvSpPr/>
          <p:nvPr/>
        </p:nvSpPr>
        <p:spPr>
          <a:xfrm>
            <a:off x="4041648" y="1426464"/>
            <a:ext cx="420624" cy="420624"/>
          </a:xfrm>
          <a:prstGeom prst="ellipse">
            <a:avLst/>
          </a:prstGeom>
          <a:solidFill>
            <a:srgbClr val="00A86A">
              <a:alpha val="22000"/>
            </a:srgbClr>
          </a:solidFill>
          <a:ln w="12700">
            <a:solidFill>
              <a:srgbClr val="00A86A">
                <a:alpha val="0"/>
              </a:srgbClr>
            </a:solidFill>
            <a:prstDash val="solid"/>
          </a:ln>
        </p:spPr>
      </p:sp>
      <p:pic>
        <p:nvPicPr>
          <p:cNvPr id="45" name="Image 3" descr="preencoded.png"/>
          <p:cNvPicPr>
            <a:picLocks noChangeAspect="1"/>
          </p:cNvPicPr>
          <p:nvPr/>
        </p:nvPicPr>
        <p:blipFill>
          <a:blip r:embed="rId6"/>
          <a:stretch>
            <a:fillRect/>
          </a:stretch>
        </p:blipFill>
        <p:spPr>
          <a:xfrm>
            <a:off x="4151010" y="1535826"/>
            <a:ext cx="201900" cy="201900"/>
          </a:xfrm>
          <a:prstGeom prst="rect">
            <a:avLst/>
          </a:prstGeom>
        </p:spPr>
      </p:pic>
      <p:sp>
        <p:nvSpPr>
          <p:cNvPr id="46" name="Text 39"/>
          <p:cNvSpPr txBox="1"/>
          <p:nvPr/>
        </p:nvSpPr>
        <p:spPr>
          <a:xfrm>
            <a:off x="4572000" y="1426464"/>
            <a:ext cx="4023360" cy="274320"/>
          </a:xfrm>
          <a:prstGeom prst="rect">
            <a:avLst/>
          </a:prstGeom>
          <a:noFill/>
          <a:ln/>
        </p:spPr>
        <p:txBody>
          <a:bodyPr wrap="square" lIns="0" tIns="0" rIns="0" bIns="0" rtlCol="0" anchor="t"/>
          <a:lstStyle/>
          <a:p>
            <a:pPr marL="0" indent="0">
              <a:buNone/>
            </a:pPr>
            <a:r>
              <a:rPr lang="en-US" sz="1350" b="1" dirty="0">
                <a:solidFill>
                  <a:srgbClr val="00704A"/>
                </a:solidFill>
                <a:latin typeface="Calibri" pitchFamily="34" charset="0"/>
                <a:ea typeface="Calibri" pitchFamily="34" charset="-122"/>
                <a:cs typeface="Calibri" pitchFamily="34" charset="-120"/>
              </a:rPr>
              <a:t>Déclaration de limites — modèle</a:t>
            </a:r>
            <a:endParaRPr lang="en-US" sz="1350" dirty="0"/>
          </a:p>
        </p:txBody>
      </p:sp>
      <p:sp>
        <p:nvSpPr>
          <p:cNvPr id="47" name="Text 40"/>
          <p:cNvSpPr txBox="1"/>
          <p:nvPr/>
        </p:nvSpPr>
        <p:spPr>
          <a:xfrm>
            <a:off x="4572000" y="1700784"/>
            <a:ext cx="402336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Fait partie du livrable, déposée sur GitHub</a:t>
            </a:r>
            <a:endParaRPr lang="en-US" sz="900" dirty="0"/>
          </a:p>
        </p:txBody>
      </p:sp>
      <p:sp>
        <p:nvSpPr>
          <p:cNvPr id="48" name="Shape 41"/>
          <p:cNvSpPr/>
          <p:nvPr/>
        </p:nvSpPr>
        <p:spPr>
          <a:xfrm>
            <a:off x="4069080" y="2011680"/>
            <a:ext cx="4480560" cy="338328"/>
          </a:xfrm>
          <a:prstGeom prst="roundRect">
            <a:avLst>
              <a:gd name="adj" fmla="val 13514"/>
            </a:avLst>
          </a:prstGeom>
          <a:solidFill>
            <a:srgbClr val="FFFFFF"/>
          </a:solidFill>
          <a:ln w="6350">
            <a:solidFill>
              <a:srgbClr val="D5DED9"/>
            </a:solidFill>
            <a:prstDash val="solid"/>
          </a:ln>
        </p:spPr>
      </p:sp>
      <p:sp>
        <p:nvSpPr>
          <p:cNvPr id="49" name="Text 42"/>
          <p:cNvSpPr txBox="1"/>
          <p:nvPr/>
        </p:nvSpPr>
        <p:spPr>
          <a:xfrm>
            <a:off x="4160520" y="2011680"/>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Données</a:t>
            </a:r>
            <a:endParaRPr lang="en-US" sz="900" dirty="0"/>
          </a:p>
        </p:txBody>
      </p:sp>
      <p:sp>
        <p:nvSpPr>
          <p:cNvPr id="50" name="Text 43"/>
          <p:cNvSpPr txBox="1"/>
          <p:nvPr/>
        </p:nvSpPr>
        <p:spPr>
          <a:xfrm>
            <a:off x="5532120" y="2011680"/>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Produit, version de collection, période, fréquence</a:t>
            </a:r>
            <a:endParaRPr lang="en-US" sz="900" dirty="0"/>
          </a:p>
        </p:txBody>
      </p:sp>
      <p:sp>
        <p:nvSpPr>
          <p:cNvPr id="51" name="Shape 44"/>
          <p:cNvSpPr/>
          <p:nvPr/>
        </p:nvSpPr>
        <p:spPr>
          <a:xfrm>
            <a:off x="4069080" y="2414016"/>
            <a:ext cx="4480560" cy="338328"/>
          </a:xfrm>
          <a:prstGeom prst="roundRect">
            <a:avLst>
              <a:gd name="adj" fmla="val 13514"/>
            </a:avLst>
          </a:prstGeom>
          <a:solidFill>
            <a:srgbClr val="FFFFFF"/>
          </a:solidFill>
          <a:ln w="6350">
            <a:solidFill>
              <a:srgbClr val="D5DED9"/>
            </a:solidFill>
            <a:prstDash val="solid"/>
          </a:ln>
        </p:spPr>
      </p:sp>
      <p:sp>
        <p:nvSpPr>
          <p:cNvPr id="52" name="Text 45"/>
          <p:cNvSpPr txBox="1"/>
          <p:nvPr/>
        </p:nvSpPr>
        <p:spPr>
          <a:xfrm>
            <a:off x="4160520" y="2414016"/>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Choix</a:t>
            </a:r>
            <a:endParaRPr lang="en-US" sz="900" dirty="0"/>
          </a:p>
        </p:txBody>
      </p:sp>
      <p:sp>
        <p:nvSpPr>
          <p:cNvPr id="53" name="Text 46"/>
          <p:cNvSpPr txBox="1"/>
          <p:nvPr/>
        </p:nvSpPr>
        <p:spPr>
          <a:xfrm>
            <a:off x="5532120" y="2414016"/>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Contours, seuil de radiance, masques appliqués</a:t>
            </a:r>
            <a:endParaRPr lang="en-US" sz="900" dirty="0"/>
          </a:p>
        </p:txBody>
      </p:sp>
      <p:sp>
        <p:nvSpPr>
          <p:cNvPr id="54" name="Shape 47"/>
          <p:cNvSpPr/>
          <p:nvPr/>
        </p:nvSpPr>
        <p:spPr>
          <a:xfrm>
            <a:off x="4069080" y="2816352"/>
            <a:ext cx="4480560" cy="338328"/>
          </a:xfrm>
          <a:prstGeom prst="roundRect">
            <a:avLst>
              <a:gd name="adj" fmla="val 13514"/>
            </a:avLst>
          </a:prstGeom>
          <a:solidFill>
            <a:srgbClr val="FFFFFF"/>
          </a:solidFill>
          <a:ln w="6350">
            <a:solidFill>
              <a:srgbClr val="D5DED9"/>
            </a:solidFill>
            <a:prstDash val="solid"/>
          </a:ln>
        </p:spPr>
      </p:sp>
      <p:sp>
        <p:nvSpPr>
          <p:cNvPr id="55" name="Text 48"/>
          <p:cNvSpPr txBox="1"/>
          <p:nvPr/>
        </p:nvSpPr>
        <p:spPr>
          <a:xfrm>
            <a:off x="4160520" y="2816352"/>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Artefacts</a:t>
            </a:r>
            <a:endParaRPr lang="en-US" sz="900" dirty="0"/>
          </a:p>
        </p:txBody>
      </p:sp>
      <p:sp>
        <p:nvSpPr>
          <p:cNvPr id="56" name="Text 49"/>
          <p:cNvSpPr txBox="1"/>
          <p:nvPr/>
        </p:nvSpPr>
        <p:spPr>
          <a:xfrm>
            <a:off x="5532120" y="2816352"/>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Lesquels des six ont été trouvés, où, quel traitement</a:t>
            </a:r>
            <a:endParaRPr lang="en-US" sz="900" dirty="0"/>
          </a:p>
        </p:txBody>
      </p:sp>
      <p:sp>
        <p:nvSpPr>
          <p:cNvPr id="57" name="Shape 50"/>
          <p:cNvSpPr/>
          <p:nvPr/>
        </p:nvSpPr>
        <p:spPr>
          <a:xfrm>
            <a:off x="4069080" y="3218688"/>
            <a:ext cx="4480560" cy="338328"/>
          </a:xfrm>
          <a:prstGeom prst="roundRect">
            <a:avLst>
              <a:gd name="adj" fmla="val 13514"/>
            </a:avLst>
          </a:prstGeom>
          <a:solidFill>
            <a:srgbClr val="FFFFFF"/>
          </a:solidFill>
          <a:ln w="6350">
            <a:solidFill>
              <a:srgbClr val="D5DED9"/>
            </a:solidFill>
            <a:prstDash val="solid"/>
          </a:ln>
        </p:spPr>
      </p:sp>
      <p:sp>
        <p:nvSpPr>
          <p:cNvPr id="58" name="Text 51"/>
          <p:cNvSpPr txBox="1"/>
          <p:nvPr/>
        </p:nvSpPr>
        <p:spPr>
          <a:xfrm>
            <a:off x="4160520" y="3218688"/>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Validation</a:t>
            </a:r>
            <a:endParaRPr lang="en-US" sz="900" dirty="0"/>
          </a:p>
        </p:txBody>
      </p:sp>
      <p:sp>
        <p:nvSpPr>
          <p:cNvPr id="59" name="Text 52"/>
          <p:cNvSpPr txBox="1"/>
          <p:nvPr/>
        </p:nvSpPr>
        <p:spPr>
          <a:xfrm>
            <a:off x="5532120" y="3218688"/>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Référence, année, nombre d’unités, force de la relation</a:t>
            </a:r>
            <a:endParaRPr lang="en-US" sz="900" dirty="0"/>
          </a:p>
        </p:txBody>
      </p:sp>
      <p:sp>
        <p:nvSpPr>
          <p:cNvPr id="60" name="Shape 53"/>
          <p:cNvSpPr/>
          <p:nvPr/>
        </p:nvSpPr>
        <p:spPr>
          <a:xfrm>
            <a:off x="4069080" y="3621024"/>
            <a:ext cx="4480560" cy="338328"/>
          </a:xfrm>
          <a:prstGeom prst="roundRect">
            <a:avLst>
              <a:gd name="adj" fmla="val 13514"/>
            </a:avLst>
          </a:prstGeom>
          <a:solidFill>
            <a:srgbClr val="FFFFFF"/>
          </a:solidFill>
          <a:ln w="6350">
            <a:solidFill>
              <a:srgbClr val="D5DED9"/>
            </a:solidFill>
            <a:prstDash val="solid"/>
          </a:ln>
        </p:spPr>
      </p:sp>
      <p:sp>
        <p:nvSpPr>
          <p:cNvPr id="61" name="Text 54"/>
          <p:cNvSpPr txBox="1"/>
          <p:nvPr/>
        </p:nvSpPr>
        <p:spPr>
          <a:xfrm>
            <a:off x="4160520" y="3621024"/>
            <a:ext cx="1371600" cy="338328"/>
          </a:xfrm>
          <a:prstGeom prst="rect">
            <a:avLst/>
          </a:prstGeom>
          <a:noFill/>
          <a:ln/>
        </p:spPr>
        <p:txBody>
          <a:bodyPr wrap="square" lIns="0" tIns="0" rIns="0" bIns="0" rtlCol="0" anchor="ctr"/>
          <a:lstStyle/>
          <a:p>
            <a:pPr marL="0" indent="0">
              <a:buNone/>
            </a:pPr>
            <a:r>
              <a:rPr lang="en-US" sz="900" b="1" dirty="0">
                <a:solidFill>
                  <a:srgbClr val="00704A"/>
                </a:solidFill>
                <a:latin typeface="Calibri" pitchFamily="34" charset="0"/>
                <a:ea typeface="Calibri" pitchFamily="34" charset="-122"/>
                <a:cs typeface="Calibri" pitchFamily="34" charset="-120"/>
              </a:rPr>
              <a:t>Décision</a:t>
            </a:r>
            <a:endParaRPr lang="en-US" sz="900" dirty="0"/>
          </a:p>
        </p:txBody>
      </p:sp>
      <p:sp>
        <p:nvSpPr>
          <p:cNvPr id="62" name="Text 55"/>
          <p:cNvSpPr txBox="1"/>
          <p:nvPr/>
        </p:nvSpPr>
        <p:spPr>
          <a:xfrm>
            <a:off x="5532120" y="3621024"/>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Expérimentale, diagnostic ou inadaptée — et pourquoi</a:t>
            </a:r>
            <a:endParaRPr lang="en-US" sz="900" dirty="0"/>
          </a:p>
        </p:txBody>
      </p:sp>
      <p:sp>
        <p:nvSpPr>
          <p:cNvPr id="63" name="Shape 56"/>
          <p:cNvSpPr/>
          <p:nvPr/>
        </p:nvSpPr>
        <p:spPr>
          <a:xfrm>
            <a:off x="4069080" y="4023360"/>
            <a:ext cx="4480560" cy="338328"/>
          </a:xfrm>
          <a:prstGeom prst="roundRect">
            <a:avLst>
              <a:gd name="adj" fmla="val 13514"/>
            </a:avLst>
          </a:prstGeom>
          <a:solidFill>
            <a:srgbClr val="FFFFFF"/>
          </a:solidFill>
          <a:ln w="6350">
            <a:solidFill>
              <a:srgbClr val="D5DED9"/>
            </a:solidFill>
            <a:prstDash val="solid"/>
          </a:ln>
        </p:spPr>
      </p:sp>
      <p:sp>
        <p:nvSpPr>
          <p:cNvPr id="64" name="Text 57"/>
          <p:cNvSpPr txBox="1"/>
          <p:nvPr/>
        </p:nvSpPr>
        <p:spPr>
          <a:xfrm>
            <a:off x="4160520" y="4023360"/>
            <a:ext cx="1371600" cy="338328"/>
          </a:xfrm>
          <a:prstGeom prst="rect">
            <a:avLst/>
          </a:prstGeom>
          <a:noFill/>
          <a:ln/>
        </p:spPr>
        <p:txBody>
          <a:bodyPr wrap="square" lIns="0" tIns="0" rIns="0" bIns="0" rtlCol="0" anchor="ctr"/>
          <a:lstStyle/>
          <a:p>
            <a:pPr marL="0" indent="0">
              <a:buNone/>
            </a:pPr>
            <a:r>
              <a:rPr lang="en-US" sz="900" b="1" dirty="0">
                <a:solidFill>
                  <a:srgbClr val="B83B2E"/>
                </a:solidFill>
                <a:latin typeface="Calibri" pitchFamily="34" charset="0"/>
                <a:ea typeface="Calibri" pitchFamily="34" charset="-122"/>
                <a:cs typeface="Calibri" pitchFamily="34" charset="-120"/>
              </a:rPr>
              <a:t>À ne pas utiliser pour</a:t>
            </a:r>
            <a:endParaRPr lang="en-US" sz="900" dirty="0"/>
          </a:p>
        </p:txBody>
      </p:sp>
      <p:sp>
        <p:nvSpPr>
          <p:cNvPr id="65" name="Text 58"/>
          <p:cNvSpPr txBox="1"/>
          <p:nvPr/>
        </p:nvSpPr>
        <p:spPr>
          <a:xfrm>
            <a:off x="5532120" y="4023360"/>
            <a:ext cx="2971800" cy="338328"/>
          </a:xfrm>
          <a:prstGeom prst="rect">
            <a:avLst/>
          </a:prstGeom>
          <a:noFill/>
          <a:ln/>
        </p:spPr>
        <p:txBody>
          <a:bodyPr wrap="square" lIns="0" tIns="0" rIns="0" bIns="0" rtlCol="0" anchor="ctr"/>
          <a:lstStyle/>
          <a:p>
            <a:pPr marL="0" indent="0">
              <a:buNone/>
            </a:pPr>
            <a:r>
              <a:rPr lang="en-US" sz="900" dirty="0">
                <a:solidFill>
                  <a:srgbClr val="231F20"/>
                </a:solidFill>
                <a:latin typeface="Calibri" pitchFamily="34" charset="0"/>
                <a:ea typeface="Calibri" pitchFamily="34" charset="-122"/>
                <a:cs typeface="Calibri" pitchFamily="34" charset="-120"/>
              </a:rPr>
              <a:t>p. ex. revenu des ménages, effectifs des petites localités</a:t>
            </a:r>
            <a:endParaRPr lang="en-US" sz="900" dirty="0"/>
          </a:p>
        </p:txBody>
      </p:sp>
      <p:sp>
        <p:nvSpPr>
          <p:cNvPr id="66" name="Text 59"/>
          <p:cNvSpPr txBox="1"/>
          <p:nvPr/>
        </p:nvSpPr>
        <p:spPr>
          <a:xfrm>
            <a:off x="457200" y="4617720"/>
            <a:ext cx="7315200" cy="182880"/>
          </a:xfrm>
          <a:prstGeom prst="rect">
            <a:avLst/>
          </a:prstGeom>
          <a:noFill/>
          <a:ln/>
        </p:spPr>
        <p:txBody>
          <a:bodyPr wrap="square" lIns="0" tIns="0" rIns="0" bIns="0" rtlCol="0" anchor="t"/>
          <a:lstStyle/>
          <a:p>
            <a:pPr marL="0" indent="0">
              <a:buNone/>
            </a:pPr>
            <a:r>
              <a:rPr lang="en-US" sz="900" i="1" dirty="0">
                <a:solidFill>
                  <a:srgbClr val="5E6964"/>
                </a:solidFill>
                <a:latin typeface="Calibri" pitchFamily="34" charset="0"/>
                <a:ea typeface="Calibri" pitchFamily="34" charset="-122"/>
                <a:cs typeface="Calibri" pitchFamily="34" charset="-120"/>
              </a:rPr>
              <a:t>Guide indicatif — à adapter à votre cadre national d’assurance qualité. Circularité : voir Falchetta et al. (2019), Scientific Data.</a:t>
            </a:r>
            <a:endParaRPr lang="en-US" sz="90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05 · DE L’EXPOSÉ AU LABO · BONNES PRATIQUES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Liste de contrôle pour une analyse solide</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B83B2E"/>
          </a:solidFill>
          <a:ln w="12700">
            <a:solidFill>
              <a:srgbClr val="B83B2E"/>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29</a:t>
            </a:r>
            <a:endParaRPr lang="en-US" sz="850" dirty="0"/>
          </a:p>
        </p:txBody>
      </p:sp>
      <p:sp>
        <p:nvSpPr>
          <p:cNvPr id="17" name="Shape 14"/>
          <p:cNvSpPr/>
          <p:nvPr/>
        </p:nvSpPr>
        <p:spPr>
          <a:xfrm>
            <a:off x="457200" y="1325880"/>
            <a:ext cx="2606040" cy="566928"/>
          </a:xfrm>
          <a:prstGeom prst="roundRect">
            <a:avLst>
              <a:gd name="adj" fmla="val 12903"/>
            </a:avLst>
          </a:prstGeom>
          <a:solidFill>
            <a:srgbClr val="F4F7F5"/>
          </a:solidFill>
          <a:ln w="9525">
            <a:solidFill>
              <a:srgbClr val="D5DED9"/>
            </a:solidFill>
            <a:prstDash val="solid"/>
          </a:ln>
        </p:spPr>
      </p:sp>
      <p:sp>
        <p:nvSpPr>
          <p:cNvPr id="18" name="Shape 15"/>
          <p:cNvSpPr/>
          <p:nvPr/>
        </p:nvSpPr>
        <p:spPr>
          <a:xfrm>
            <a:off x="548640" y="1463040"/>
            <a:ext cx="292608" cy="292608"/>
          </a:xfrm>
          <a:prstGeom prst="ellipse">
            <a:avLst/>
          </a:prstGeom>
          <a:solidFill>
            <a:srgbClr val="B83B2E"/>
          </a:solidFill>
          <a:ln w="12700">
            <a:solidFill>
              <a:srgbClr val="B83B2E"/>
            </a:solidFill>
            <a:prstDash val="solid"/>
          </a:ln>
        </p:spPr>
      </p:sp>
      <p:sp>
        <p:nvSpPr>
          <p:cNvPr id="19" name="Text 16"/>
          <p:cNvSpPr txBox="1"/>
          <p:nvPr/>
        </p:nvSpPr>
        <p:spPr>
          <a:xfrm>
            <a:off x="5486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32688" y="1371600"/>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Nommer produit et version</a:t>
            </a:r>
            <a:endParaRPr lang="en-US" sz="1050" dirty="0"/>
          </a:p>
        </p:txBody>
      </p:sp>
      <p:sp>
        <p:nvSpPr>
          <p:cNvPr id="21" name="Text 18"/>
          <p:cNvSpPr txBox="1"/>
          <p:nvPr/>
        </p:nvSpPr>
        <p:spPr>
          <a:xfrm>
            <a:off x="932688" y="1581912"/>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VNP46A4 v2, VNL V2.x — ils ne sont pas interchangeables.</a:t>
            </a:r>
            <a:endParaRPr lang="en-US" sz="850" dirty="0"/>
          </a:p>
        </p:txBody>
      </p:sp>
      <p:sp>
        <p:nvSpPr>
          <p:cNvPr id="22" name="Shape 19"/>
          <p:cNvSpPr/>
          <p:nvPr/>
        </p:nvSpPr>
        <p:spPr>
          <a:xfrm>
            <a:off x="3200400" y="1325880"/>
            <a:ext cx="2606040" cy="566928"/>
          </a:xfrm>
          <a:prstGeom prst="roundRect">
            <a:avLst>
              <a:gd name="adj" fmla="val 12903"/>
            </a:avLst>
          </a:prstGeom>
          <a:solidFill>
            <a:srgbClr val="F4F7F5"/>
          </a:solidFill>
          <a:ln w="9525">
            <a:solidFill>
              <a:srgbClr val="D5DED9"/>
            </a:solidFill>
            <a:prstDash val="solid"/>
          </a:ln>
        </p:spPr>
      </p:sp>
      <p:sp>
        <p:nvSpPr>
          <p:cNvPr id="23" name="Shape 20"/>
          <p:cNvSpPr/>
          <p:nvPr/>
        </p:nvSpPr>
        <p:spPr>
          <a:xfrm>
            <a:off x="3291840" y="1463040"/>
            <a:ext cx="292608" cy="292608"/>
          </a:xfrm>
          <a:prstGeom prst="ellipse">
            <a:avLst/>
          </a:prstGeom>
          <a:solidFill>
            <a:srgbClr val="C4621D"/>
          </a:solidFill>
          <a:ln w="12700">
            <a:solidFill>
              <a:srgbClr val="C4621D"/>
            </a:solidFill>
            <a:prstDash val="solid"/>
          </a:ln>
        </p:spPr>
      </p:sp>
      <p:sp>
        <p:nvSpPr>
          <p:cNvPr id="24" name="Text 21"/>
          <p:cNvSpPr txBox="1"/>
          <p:nvPr/>
        </p:nvSpPr>
        <p:spPr>
          <a:xfrm>
            <a:off x="3291840" y="14630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5" name="Text 22"/>
          <p:cNvSpPr txBox="1"/>
          <p:nvPr/>
        </p:nvSpPr>
        <p:spPr>
          <a:xfrm>
            <a:off x="3675888" y="1371600"/>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Ne pas raccorder naïvement</a:t>
            </a:r>
            <a:endParaRPr lang="en-US" sz="1050" dirty="0"/>
          </a:p>
        </p:txBody>
      </p:sp>
      <p:sp>
        <p:nvSpPr>
          <p:cNvPr id="26" name="Text 23"/>
          <p:cNvSpPr txBox="1"/>
          <p:nvPr/>
        </p:nvSpPr>
        <p:spPr>
          <a:xfrm>
            <a:off x="3675888" y="1581912"/>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Toute série DMSP–VIIRS exige une harmonisation documentée.</a:t>
            </a:r>
            <a:endParaRPr lang="en-US" sz="850" dirty="0"/>
          </a:p>
        </p:txBody>
      </p:sp>
      <p:sp>
        <p:nvSpPr>
          <p:cNvPr id="27" name="Shape 24"/>
          <p:cNvSpPr/>
          <p:nvPr/>
        </p:nvSpPr>
        <p:spPr>
          <a:xfrm>
            <a:off x="457200" y="1984248"/>
            <a:ext cx="2606040" cy="566928"/>
          </a:xfrm>
          <a:prstGeom prst="roundRect">
            <a:avLst>
              <a:gd name="adj" fmla="val 12903"/>
            </a:avLst>
          </a:prstGeom>
          <a:solidFill>
            <a:srgbClr val="F4F7F5"/>
          </a:solidFill>
          <a:ln w="9525">
            <a:solidFill>
              <a:srgbClr val="D5DED9"/>
            </a:solidFill>
            <a:prstDash val="solid"/>
          </a:ln>
        </p:spPr>
      </p:sp>
      <p:sp>
        <p:nvSpPr>
          <p:cNvPr id="28" name="Shape 25"/>
          <p:cNvSpPr/>
          <p:nvPr/>
        </p:nvSpPr>
        <p:spPr>
          <a:xfrm>
            <a:off x="548640" y="2121408"/>
            <a:ext cx="292608" cy="292608"/>
          </a:xfrm>
          <a:prstGeom prst="ellipse">
            <a:avLst/>
          </a:prstGeom>
          <a:solidFill>
            <a:srgbClr val="B83B2E"/>
          </a:solidFill>
          <a:ln w="12700">
            <a:solidFill>
              <a:srgbClr val="B83B2E"/>
            </a:solidFill>
            <a:prstDash val="solid"/>
          </a:ln>
        </p:spPr>
      </p:sp>
      <p:sp>
        <p:nvSpPr>
          <p:cNvPr id="29" name="Text 26"/>
          <p:cNvSpPr txBox="1"/>
          <p:nvPr/>
        </p:nvSpPr>
        <p:spPr>
          <a:xfrm>
            <a:off x="5486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932688" y="2029968"/>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Déclarer et tester le seuil</a:t>
            </a:r>
            <a:endParaRPr lang="en-US" sz="1050" dirty="0"/>
          </a:p>
        </p:txBody>
      </p:sp>
      <p:sp>
        <p:nvSpPr>
          <p:cNvPr id="31" name="Text 28"/>
          <p:cNvSpPr txBox="1"/>
          <p:nvPr/>
        </p:nvSpPr>
        <p:spPr>
          <a:xfrm>
            <a:off x="932688" y="2240280"/>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Montrer que le résultat résiste à une plage raisonnable.</a:t>
            </a:r>
            <a:endParaRPr lang="en-US" sz="850" dirty="0"/>
          </a:p>
        </p:txBody>
      </p:sp>
      <p:sp>
        <p:nvSpPr>
          <p:cNvPr id="32" name="Shape 29"/>
          <p:cNvSpPr/>
          <p:nvPr/>
        </p:nvSpPr>
        <p:spPr>
          <a:xfrm>
            <a:off x="3200400" y="1984248"/>
            <a:ext cx="2606040" cy="566928"/>
          </a:xfrm>
          <a:prstGeom prst="roundRect">
            <a:avLst>
              <a:gd name="adj" fmla="val 12903"/>
            </a:avLst>
          </a:prstGeom>
          <a:solidFill>
            <a:srgbClr val="F4F7F5"/>
          </a:solidFill>
          <a:ln w="9525">
            <a:solidFill>
              <a:srgbClr val="D5DED9"/>
            </a:solidFill>
            <a:prstDash val="solid"/>
          </a:ln>
        </p:spPr>
      </p:sp>
      <p:sp>
        <p:nvSpPr>
          <p:cNvPr id="33" name="Shape 30"/>
          <p:cNvSpPr/>
          <p:nvPr/>
        </p:nvSpPr>
        <p:spPr>
          <a:xfrm>
            <a:off x="3291840" y="2121408"/>
            <a:ext cx="292608" cy="292608"/>
          </a:xfrm>
          <a:prstGeom prst="ellipse">
            <a:avLst/>
          </a:prstGeom>
          <a:solidFill>
            <a:srgbClr val="C4621D"/>
          </a:solidFill>
          <a:ln w="12700">
            <a:solidFill>
              <a:srgbClr val="C4621D"/>
            </a:solidFill>
            <a:prstDash val="solid"/>
          </a:ln>
        </p:spPr>
      </p:sp>
      <p:sp>
        <p:nvSpPr>
          <p:cNvPr id="34" name="Text 31"/>
          <p:cNvSpPr txBox="1"/>
          <p:nvPr/>
        </p:nvSpPr>
        <p:spPr>
          <a:xfrm>
            <a:off x="3291840" y="21214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5" name="Text 32"/>
          <p:cNvSpPr txBox="1"/>
          <p:nvPr/>
        </p:nvSpPr>
        <p:spPr>
          <a:xfrm>
            <a:off x="3675888" y="2029968"/>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Masquer ce qu’on n’étudie pas</a:t>
            </a:r>
            <a:endParaRPr lang="en-US" sz="1050" dirty="0"/>
          </a:p>
        </p:txBody>
      </p:sp>
      <p:sp>
        <p:nvSpPr>
          <p:cNvPr id="36" name="Text 33"/>
          <p:cNvSpPr txBox="1"/>
          <p:nvPr/>
        </p:nvSpPr>
        <p:spPr>
          <a:xfrm>
            <a:off x="3675888" y="2240280"/>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Bruit de fond, torchères, pêche au lamparo, feux.</a:t>
            </a:r>
            <a:endParaRPr lang="en-US" sz="850" dirty="0"/>
          </a:p>
        </p:txBody>
      </p:sp>
      <p:sp>
        <p:nvSpPr>
          <p:cNvPr id="37" name="Shape 34"/>
          <p:cNvSpPr/>
          <p:nvPr/>
        </p:nvSpPr>
        <p:spPr>
          <a:xfrm>
            <a:off x="457200" y="2642616"/>
            <a:ext cx="2606040" cy="566928"/>
          </a:xfrm>
          <a:prstGeom prst="roundRect">
            <a:avLst>
              <a:gd name="adj" fmla="val 12903"/>
            </a:avLst>
          </a:prstGeom>
          <a:solidFill>
            <a:srgbClr val="F4F7F5"/>
          </a:solidFill>
          <a:ln w="9525">
            <a:solidFill>
              <a:srgbClr val="D5DED9"/>
            </a:solidFill>
            <a:prstDash val="solid"/>
          </a:ln>
        </p:spPr>
      </p:sp>
      <p:sp>
        <p:nvSpPr>
          <p:cNvPr id="38" name="Shape 35"/>
          <p:cNvSpPr/>
          <p:nvPr/>
        </p:nvSpPr>
        <p:spPr>
          <a:xfrm>
            <a:off x="548640" y="2779776"/>
            <a:ext cx="292608" cy="292608"/>
          </a:xfrm>
          <a:prstGeom prst="ellipse">
            <a:avLst/>
          </a:prstGeom>
          <a:solidFill>
            <a:srgbClr val="B83B2E"/>
          </a:solidFill>
          <a:ln w="12700">
            <a:solidFill>
              <a:srgbClr val="B83B2E"/>
            </a:solidFill>
            <a:prstDash val="solid"/>
          </a:ln>
        </p:spPr>
      </p:sp>
      <p:sp>
        <p:nvSpPr>
          <p:cNvPr id="39" name="Text 36"/>
          <p:cNvSpPr txBox="1"/>
          <p:nvPr/>
        </p:nvSpPr>
        <p:spPr>
          <a:xfrm>
            <a:off x="5486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0" name="Text 37"/>
          <p:cNvSpPr txBox="1"/>
          <p:nvPr/>
        </p:nvSpPr>
        <p:spPr>
          <a:xfrm>
            <a:off x="932688" y="2688336"/>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Normaliser à dessein</a:t>
            </a:r>
            <a:endParaRPr lang="en-US" sz="1050" dirty="0"/>
          </a:p>
        </p:txBody>
      </p:sp>
      <p:sp>
        <p:nvSpPr>
          <p:cNvPr id="41" name="Text 38"/>
          <p:cNvSpPr txBox="1"/>
          <p:nvPr/>
        </p:nvSpPr>
        <p:spPr>
          <a:xfrm>
            <a:off x="932688" y="2898648"/>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Par habitant, par km², ou non — l’annoncer et le justifier.</a:t>
            </a:r>
            <a:endParaRPr lang="en-US" sz="850" dirty="0"/>
          </a:p>
        </p:txBody>
      </p:sp>
      <p:sp>
        <p:nvSpPr>
          <p:cNvPr id="42" name="Shape 39"/>
          <p:cNvSpPr/>
          <p:nvPr/>
        </p:nvSpPr>
        <p:spPr>
          <a:xfrm>
            <a:off x="3200400" y="2642616"/>
            <a:ext cx="2606040" cy="566928"/>
          </a:xfrm>
          <a:prstGeom prst="roundRect">
            <a:avLst>
              <a:gd name="adj" fmla="val 12903"/>
            </a:avLst>
          </a:prstGeom>
          <a:solidFill>
            <a:srgbClr val="F4F7F5"/>
          </a:solidFill>
          <a:ln w="9525">
            <a:solidFill>
              <a:srgbClr val="D5DED9"/>
            </a:solidFill>
            <a:prstDash val="solid"/>
          </a:ln>
        </p:spPr>
      </p:sp>
      <p:sp>
        <p:nvSpPr>
          <p:cNvPr id="43" name="Shape 40"/>
          <p:cNvSpPr/>
          <p:nvPr/>
        </p:nvSpPr>
        <p:spPr>
          <a:xfrm>
            <a:off x="3291840" y="2779776"/>
            <a:ext cx="292608" cy="292608"/>
          </a:xfrm>
          <a:prstGeom prst="ellipse">
            <a:avLst/>
          </a:prstGeom>
          <a:solidFill>
            <a:srgbClr val="C4621D"/>
          </a:solidFill>
          <a:ln w="12700">
            <a:solidFill>
              <a:srgbClr val="C4621D"/>
            </a:solidFill>
            <a:prstDash val="solid"/>
          </a:ln>
        </p:spPr>
      </p:sp>
      <p:sp>
        <p:nvSpPr>
          <p:cNvPr id="44" name="Text 41"/>
          <p:cNvSpPr txBox="1"/>
          <p:nvPr/>
        </p:nvSpPr>
        <p:spPr>
          <a:xfrm>
            <a:off x="3291840" y="277977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5" name="Text 42"/>
          <p:cNvSpPr txBox="1"/>
          <p:nvPr/>
        </p:nvSpPr>
        <p:spPr>
          <a:xfrm>
            <a:off x="3675888" y="2688336"/>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Valider sur le terrain</a:t>
            </a:r>
            <a:endParaRPr lang="en-US" sz="1050" dirty="0"/>
          </a:p>
        </p:txBody>
      </p:sp>
      <p:sp>
        <p:nvSpPr>
          <p:cNvPr id="46" name="Text 43"/>
          <p:cNvSpPr txBox="1"/>
          <p:nvPr/>
        </p:nvSpPr>
        <p:spPr>
          <a:xfrm>
            <a:off x="3675888" y="2898648"/>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Recensement, enquêtes, données du distributeur — sources indépendantes.</a:t>
            </a:r>
            <a:endParaRPr lang="en-US" sz="850" dirty="0"/>
          </a:p>
        </p:txBody>
      </p:sp>
      <p:sp>
        <p:nvSpPr>
          <p:cNvPr id="47" name="Shape 44"/>
          <p:cNvSpPr/>
          <p:nvPr/>
        </p:nvSpPr>
        <p:spPr>
          <a:xfrm>
            <a:off x="457200" y="3300984"/>
            <a:ext cx="2606040" cy="566928"/>
          </a:xfrm>
          <a:prstGeom prst="roundRect">
            <a:avLst>
              <a:gd name="adj" fmla="val 12903"/>
            </a:avLst>
          </a:prstGeom>
          <a:solidFill>
            <a:srgbClr val="F4F7F5"/>
          </a:solidFill>
          <a:ln w="9525">
            <a:solidFill>
              <a:srgbClr val="D5DED9"/>
            </a:solidFill>
            <a:prstDash val="solid"/>
          </a:ln>
        </p:spPr>
      </p:sp>
      <p:sp>
        <p:nvSpPr>
          <p:cNvPr id="48" name="Shape 45"/>
          <p:cNvSpPr/>
          <p:nvPr/>
        </p:nvSpPr>
        <p:spPr>
          <a:xfrm>
            <a:off x="548640" y="3438144"/>
            <a:ext cx="292608" cy="292608"/>
          </a:xfrm>
          <a:prstGeom prst="ellipse">
            <a:avLst/>
          </a:prstGeom>
          <a:solidFill>
            <a:srgbClr val="B83B2E"/>
          </a:solidFill>
          <a:ln w="12700">
            <a:solidFill>
              <a:srgbClr val="B83B2E"/>
            </a:solidFill>
            <a:prstDash val="solid"/>
          </a:ln>
        </p:spPr>
      </p:sp>
      <p:sp>
        <p:nvSpPr>
          <p:cNvPr id="49" name="Text 46"/>
          <p:cNvSpPr txBox="1"/>
          <p:nvPr/>
        </p:nvSpPr>
        <p:spPr>
          <a:xfrm>
            <a:off x="5486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32688" y="3346704"/>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Préférer les évolutions</a:t>
            </a:r>
            <a:endParaRPr lang="en-US" sz="1050" dirty="0"/>
          </a:p>
        </p:txBody>
      </p:sp>
      <p:sp>
        <p:nvSpPr>
          <p:cNvPr id="51" name="Text 48"/>
          <p:cNvSpPr txBox="1"/>
          <p:nvPr/>
        </p:nvSpPr>
        <p:spPr>
          <a:xfrm>
            <a:off x="932688" y="3557016"/>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Les différences annulent une grande part des erreurs d’étalonnage.</a:t>
            </a:r>
            <a:endParaRPr lang="en-US" sz="850" dirty="0"/>
          </a:p>
        </p:txBody>
      </p:sp>
      <p:sp>
        <p:nvSpPr>
          <p:cNvPr id="52" name="Shape 49"/>
          <p:cNvSpPr/>
          <p:nvPr/>
        </p:nvSpPr>
        <p:spPr>
          <a:xfrm>
            <a:off x="3200400" y="3300984"/>
            <a:ext cx="2606040" cy="566928"/>
          </a:xfrm>
          <a:prstGeom prst="roundRect">
            <a:avLst>
              <a:gd name="adj" fmla="val 12903"/>
            </a:avLst>
          </a:prstGeom>
          <a:solidFill>
            <a:srgbClr val="F4F7F5"/>
          </a:solidFill>
          <a:ln w="9525">
            <a:solidFill>
              <a:srgbClr val="D5DED9"/>
            </a:solidFill>
            <a:prstDash val="solid"/>
          </a:ln>
        </p:spPr>
      </p:sp>
      <p:sp>
        <p:nvSpPr>
          <p:cNvPr id="53" name="Shape 50"/>
          <p:cNvSpPr/>
          <p:nvPr/>
        </p:nvSpPr>
        <p:spPr>
          <a:xfrm>
            <a:off x="3291840" y="3438144"/>
            <a:ext cx="292608" cy="292608"/>
          </a:xfrm>
          <a:prstGeom prst="ellipse">
            <a:avLst/>
          </a:prstGeom>
          <a:solidFill>
            <a:srgbClr val="C4621D"/>
          </a:solidFill>
          <a:ln w="12700">
            <a:solidFill>
              <a:srgbClr val="C4621D"/>
            </a:solidFill>
            <a:prstDash val="solid"/>
          </a:ln>
        </p:spPr>
      </p:sp>
      <p:sp>
        <p:nvSpPr>
          <p:cNvPr id="54" name="Text 51"/>
          <p:cNvSpPr txBox="1"/>
          <p:nvPr/>
        </p:nvSpPr>
        <p:spPr>
          <a:xfrm>
            <a:off x="3291840" y="34381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5" name="Text 52"/>
          <p:cNvSpPr txBox="1"/>
          <p:nvPr/>
        </p:nvSpPr>
        <p:spPr>
          <a:xfrm>
            <a:off x="3675888" y="3346704"/>
            <a:ext cx="2057400" cy="219456"/>
          </a:xfrm>
          <a:prstGeom prst="rect">
            <a:avLst/>
          </a:prstGeom>
          <a:noFill/>
          <a:ln/>
        </p:spPr>
        <p:txBody>
          <a:bodyPr wrap="square" lIns="0" tIns="0" rIns="0" bIns="0" rtlCol="0" anchor="t"/>
          <a:lstStyle/>
          <a:p>
            <a:pPr marL="0" indent="0">
              <a:buNone/>
            </a:pPr>
            <a:r>
              <a:rPr lang="en-US" sz="1050" b="1" dirty="0">
                <a:solidFill>
                  <a:srgbClr val="231F20"/>
                </a:solidFill>
                <a:latin typeface="Calibri" pitchFamily="34" charset="0"/>
                <a:ea typeface="Calibri" pitchFamily="34" charset="-122"/>
                <a:cs typeface="Calibri" pitchFamily="34" charset="-120"/>
              </a:rPr>
              <a:t>Publier code et limites</a:t>
            </a:r>
            <a:endParaRPr lang="en-US" sz="1050" dirty="0"/>
          </a:p>
        </p:txBody>
      </p:sp>
      <p:sp>
        <p:nvSpPr>
          <p:cNvPr id="56" name="Text 53"/>
          <p:cNvSpPr txBox="1"/>
          <p:nvPr/>
        </p:nvSpPr>
        <p:spPr>
          <a:xfrm>
            <a:off x="3675888" y="3557016"/>
            <a:ext cx="2075688" cy="29260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README avec méthode, sources, licence et réserves.</a:t>
            </a:r>
            <a:endParaRPr lang="en-US" sz="850" dirty="0"/>
          </a:p>
        </p:txBody>
      </p:sp>
      <p:sp>
        <p:nvSpPr>
          <p:cNvPr id="57" name="Shape 54"/>
          <p:cNvSpPr/>
          <p:nvPr/>
        </p:nvSpPr>
        <p:spPr>
          <a:xfrm>
            <a:off x="5943600" y="1325880"/>
            <a:ext cx="2743200" cy="2542032"/>
          </a:xfrm>
          <a:prstGeom prst="roundRect">
            <a:avLst>
              <a:gd name="adj" fmla="val 2878"/>
            </a:avLst>
          </a:prstGeom>
          <a:solidFill>
            <a:srgbClr val="00553A"/>
          </a:solidFill>
          <a:ln w="12700">
            <a:solidFill>
              <a:srgbClr val="00553A"/>
            </a:solidFill>
            <a:prstDash val="solid"/>
          </a:ln>
        </p:spPr>
      </p:sp>
      <p:pic>
        <p:nvPicPr>
          <p:cNvPr id="58" name="Image 0" descr="preencoded.png"/>
          <p:cNvPicPr>
            <a:picLocks noChangeAspect="1"/>
          </p:cNvPicPr>
          <p:nvPr/>
        </p:nvPicPr>
        <p:blipFill>
          <a:blip r:embed="rId3"/>
          <a:stretch>
            <a:fillRect/>
          </a:stretch>
        </p:blipFill>
        <p:spPr>
          <a:xfrm>
            <a:off x="6080760" y="1463040"/>
            <a:ext cx="365760" cy="365760"/>
          </a:xfrm>
          <a:prstGeom prst="rect">
            <a:avLst/>
          </a:prstGeom>
        </p:spPr>
      </p:pic>
      <p:sp>
        <p:nvSpPr>
          <p:cNvPr id="59" name="Text 55"/>
          <p:cNvSpPr txBox="1"/>
          <p:nvPr/>
        </p:nvSpPr>
        <p:spPr>
          <a:xfrm>
            <a:off x="6537960" y="1536192"/>
            <a:ext cx="2011680" cy="228600"/>
          </a:xfrm>
          <a:prstGeom prst="rect">
            <a:avLst/>
          </a:prstGeom>
          <a:noFill/>
          <a:ln/>
        </p:spPr>
        <p:txBody>
          <a:bodyPr wrap="square" lIns="0" tIns="0" rIns="0" bIns="0" rtlCol="0" anchor="t"/>
          <a:lstStyle/>
          <a:p>
            <a:pPr marL="0" indent="0">
              <a:buNone/>
            </a:pPr>
            <a:r>
              <a:rPr lang="en-US" sz="1000" b="1" kern="0" spc="200" dirty="0">
                <a:solidFill>
                  <a:srgbClr val="F5C242"/>
                </a:solidFill>
                <a:latin typeface="Calibri" pitchFamily="34" charset="0"/>
                <a:ea typeface="Calibri" pitchFamily="34" charset="-122"/>
                <a:cs typeface="Calibri" pitchFamily="34" charset="-120"/>
              </a:rPr>
              <a:t>LA RÈGLE D’OR</a:t>
            </a:r>
            <a:endParaRPr lang="en-US" sz="1000" dirty="0"/>
          </a:p>
        </p:txBody>
      </p:sp>
      <p:sp>
        <p:nvSpPr>
          <p:cNvPr id="60" name="Text 56"/>
          <p:cNvSpPr txBox="1"/>
          <p:nvPr/>
        </p:nvSpPr>
        <p:spPr>
          <a:xfrm>
            <a:off x="6080760" y="1938528"/>
            <a:ext cx="2487168" cy="1051560"/>
          </a:xfrm>
          <a:prstGeom prst="rect">
            <a:avLst/>
          </a:prstGeom>
          <a:noFill/>
          <a:ln/>
        </p:spPr>
        <p:txBody>
          <a:bodyPr wrap="square" lIns="0" tIns="0" rIns="0" bIns="0" rtlCol="0" anchor="t"/>
          <a:lstStyle/>
          <a:p>
            <a:pPr marL="0" indent="0">
              <a:buNone/>
            </a:pPr>
            <a:r>
              <a:rPr lang="en-US" sz="1250" b="1" dirty="0">
                <a:solidFill>
                  <a:srgbClr val="FFFFFF"/>
                </a:solidFill>
                <a:latin typeface="Calibri" pitchFamily="34" charset="0"/>
                <a:ea typeface="Calibri" pitchFamily="34" charset="-122"/>
                <a:cs typeface="Calibri" pitchFamily="34" charset="-120"/>
              </a:rPr>
              <a:t>Énoncez en une phrase ce qui doit être vrai sur les comportements d’éclairage pour que votre conclusion tienne.</a:t>
            </a:r>
            <a:endParaRPr lang="en-US" sz="1250" dirty="0"/>
          </a:p>
        </p:txBody>
      </p:sp>
      <p:sp>
        <p:nvSpPr>
          <p:cNvPr id="61" name="Text 57"/>
          <p:cNvSpPr txBox="1"/>
          <p:nvPr/>
        </p:nvSpPr>
        <p:spPr>
          <a:xfrm>
            <a:off x="6080760" y="3017520"/>
            <a:ext cx="2468880" cy="731520"/>
          </a:xfrm>
          <a:prstGeom prst="rect">
            <a:avLst/>
          </a:prstGeom>
          <a:noFill/>
          <a:ln/>
        </p:spPr>
        <p:txBody>
          <a:bodyPr wrap="square" lIns="0" tIns="0" rIns="0" bIns="0" rtlCol="0" anchor="t"/>
          <a:lstStyle/>
          <a:p>
            <a:pPr marL="0" indent="0">
              <a:buNone/>
            </a:pPr>
            <a:r>
              <a:rPr lang="en-US" sz="1050" i="1" dirty="0">
                <a:solidFill>
                  <a:srgbClr val="E6F6EE"/>
                </a:solidFill>
                <a:latin typeface="Calibri" pitchFamily="34" charset="0"/>
                <a:ea typeface="Calibri" pitchFamily="34" charset="-122"/>
                <a:cs typeface="Calibri" pitchFamily="34" charset="-120"/>
              </a:rPr>
              <a:t>Si vous ne pouvez pas écrire cette phrase, vous n’avez pas encore de résultat.</a:t>
            </a:r>
            <a:endParaRPr lang="en-US" sz="1050" dirty="0"/>
          </a:p>
        </p:txBody>
      </p:sp>
      <p:sp>
        <p:nvSpPr>
          <p:cNvPr id="62" name="Shape 58"/>
          <p:cNvSpPr/>
          <p:nvPr/>
        </p:nvSpPr>
        <p:spPr>
          <a:xfrm>
            <a:off x="457200" y="4023360"/>
            <a:ext cx="8229600" cy="502920"/>
          </a:xfrm>
          <a:prstGeom prst="roundRect">
            <a:avLst>
              <a:gd name="adj" fmla="val 14545"/>
            </a:avLst>
          </a:prstGeom>
          <a:solidFill>
            <a:srgbClr val="E8F5EF"/>
          </a:solidFill>
          <a:ln w="15875">
            <a:solidFill>
              <a:srgbClr val="00A86A"/>
            </a:solidFill>
            <a:prstDash val="solid"/>
          </a:ln>
        </p:spPr>
      </p:sp>
      <p:sp>
        <p:nvSpPr>
          <p:cNvPr id="63" name="Shape 59"/>
          <p:cNvSpPr/>
          <p:nvPr/>
        </p:nvSpPr>
        <p:spPr>
          <a:xfrm>
            <a:off x="548640" y="4078224"/>
            <a:ext cx="384048" cy="384048"/>
          </a:xfrm>
          <a:prstGeom prst="ellipse">
            <a:avLst/>
          </a:prstGeom>
          <a:solidFill>
            <a:srgbClr val="00A86A">
              <a:alpha val="22000"/>
            </a:srgbClr>
          </a:solidFill>
          <a:ln w="12700">
            <a:solidFill>
              <a:srgbClr val="00A86A">
                <a:alpha val="0"/>
              </a:srgbClr>
            </a:solidFill>
            <a:prstDash val="solid"/>
          </a:ln>
        </p:spPr>
      </p:sp>
      <p:pic>
        <p:nvPicPr>
          <p:cNvPr id="64" name="Image 1" descr="preencoded.png"/>
          <p:cNvPicPr>
            <a:picLocks noChangeAspect="1"/>
          </p:cNvPicPr>
          <p:nvPr/>
        </p:nvPicPr>
        <p:blipFill>
          <a:blip r:embed="rId4"/>
          <a:stretch>
            <a:fillRect/>
          </a:stretch>
        </p:blipFill>
        <p:spPr>
          <a:xfrm>
            <a:off x="648492" y="4178076"/>
            <a:ext cx="184343" cy="184343"/>
          </a:xfrm>
          <a:prstGeom prst="rect">
            <a:avLst/>
          </a:prstGeom>
        </p:spPr>
      </p:pic>
      <p:sp>
        <p:nvSpPr>
          <p:cNvPr id="65" name="Text 60"/>
          <p:cNvSpPr txBox="1"/>
          <p:nvPr/>
        </p:nvSpPr>
        <p:spPr>
          <a:xfrm>
            <a:off x="1024128" y="4023360"/>
            <a:ext cx="7589520" cy="502920"/>
          </a:xfrm>
          <a:prstGeom prst="rect">
            <a:avLst/>
          </a:prstGeom>
          <a:noFill/>
          <a:ln/>
        </p:spPr>
        <p:txBody>
          <a:bodyPr wrap="square" lIns="0" tIns="0" rIns="0" bIns="0" rtlCol="0" anchor="ctr"/>
          <a:lstStyle/>
          <a:p>
            <a:pPr marL="0" indent="0">
              <a:buNone/>
            </a:pPr>
            <a:r>
              <a:rPr lang="en-US" sz="1000" b="1" dirty="0">
                <a:solidFill>
                  <a:srgbClr val="00704A"/>
                </a:solidFill>
                <a:latin typeface="Calibri" pitchFamily="34" charset="0"/>
                <a:ea typeface="Calibri" pitchFamily="34" charset="-122"/>
                <a:cs typeface="Calibri" pitchFamily="34" charset="-120"/>
              </a:rPr>
              <a:t>Partagez : </a:t>
            </a:r>
            <a:r>
              <a:rPr lang="en-US" sz="1000" dirty="0">
                <a:solidFill>
                  <a:srgbClr val="231F20"/>
                </a:solidFill>
                <a:latin typeface="Calibri" pitchFamily="34" charset="0"/>
                <a:ea typeface="Calibri" pitchFamily="34" charset="-122"/>
                <a:cs typeface="Calibri" pitchFamily="34" charset="-120"/>
              </a:rPr>
              <a:t>un dépôt documenté et réutilisable est la contribution de votre institut à des orientations méthodologiques partagées sur les nouvelles sources.</a:t>
            </a:r>
            <a:endParaRPr lang="en-US" sz="10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
        <p:nvSpPr>
          <p:cNvPr id="3" name="Text 1"/>
          <p:cNvSpPr txBox="1"/>
          <p:nvPr/>
        </p:nvSpPr>
        <p:spPr>
          <a:xfrm>
            <a:off x="548640" y="411480"/>
            <a:ext cx="3657600" cy="228600"/>
          </a:xfrm>
          <a:prstGeom prst="rect">
            <a:avLst/>
          </a:prstGeom>
          <a:noFill/>
          <a:ln/>
        </p:spPr>
        <p:txBody>
          <a:bodyPr wrap="square" lIns="0" tIns="0" rIns="0" bIns="0" rtlCol="0" anchor="t"/>
          <a:lstStyle/>
          <a:p>
            <a:pPr marL="0" indent="0">
              <a:buNone/>
            </a:pPr>
            <a:r>
              <a:rPr lang="en-US" sz="1050" b="1" kern="0" spc="300" dirty="0">
                <a:solidFill>
                  <a:srgbClr val="F5C242"/>
                </a:solidFill>
                <a:latin typeface="Calibri" pitchFamily="34" charset="0"/>
                <a:ea typeface="Calibri" pitchFamily="34" charset="-122"/>
                <a:cs typeface="Calibri" pitchFamily="34" charset="-120"/>
              </a:rPr>
              <a:t>EN CONCLUSION</a:t>
            </a:r>
            <a:endParaRPr lang="en-US" sz="1050" dirty="0"/>
          </a:p>
        </p:txBody>
      </p:sp>
      <p:sp>
        <p:nvSpPr>
          <p:cNvPr id="4" name="Text 2"/>
          <p:cNvSpPr txBox="1"/>
          <p:nvPr/>
        </p:nvSpPr>
        <p:spPr>
          <a:xfrm>
            <a:off x="548640" y="658368"/>
            <a:ext cx="7315200" cy="548640"/>
          </a:xfrm>
          <a:prstGeom prst="rect">
            <a:avLst/>
          </a:prstGeom>
          <a:noFill/>
          <a:ln/>
        </p:spPr>
        <p:txBody>
          <a:bodyPr wrap="square" lIns="0" tIns="0" rIns="0" bIns="0" rtlCol="0" anchor="t"/>
          <a:lstStyle/>
          <a:p>
            <a:pPr marL="0" indent="0">
              <a:buNone/>
            </a:pPr>
            <a:r>
              <a:rPr lang="en-US" sz="3200" b="1" dirty="0">
                <a:solidFill>
                  <a:srgbClr val="FFFFFF"/>
                </a:solidFill>
                <a:latin typeface="Calibri" pitchFamily="34" charset="0"/>
                <a:ea typeface="Calibri" pitchFamily="34" charset="-122"/>
                <a:cs typeface="Calibri" pitchFamily="34" charset="-120"/>
              </a:rPr>
              <a:t>Cinq idées à emporter au labo</a:t>
            </a:r>
            <a:endParaRPr lang="en-US" sz="3200" dirty="0"/>
          </a:p>
        </p:txBody>
      </p:sp>
      <p:sp>
        <p:nvSpPr>
          <p:cNvPr id="5" name="Shape 3"/>
          <p:cNvSpPr/>
          <p:nvPr/>
        </p:nvSpPr>
        <p:spPr>
          <a:xfrm>
            <a:off x="548640" y="1408176"/>
            <a:ext cx="384048" cy="384048"/>
          </a:xfrm>
          <a:prstGeom prst="ellipse">
            <a:avLst/>
          </a:prstGeom>
          <a:solidFill>
            <a:srgbClr val="F5C242"/>
          </a:solidFill>
          <a:ln w="12700">
            <a:solidFill>
              <a:srgbClr val="F5C242"/>
            </a:solidFill>
            <a:prstDash val="solid"/>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097280" y="135331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Les lumières nocturnes sont un indicateur indirect, jamais la grandeur d’intérêt — nommez l’hypothèse qui les relie à votre question.</a:t>
            </a:r>
            <a:endParaRPr lang="en-US" sz="1200" dirty="0"/>
          </a:p>
        </p:txBody>
      </p:sp>
      <p:sp>
        <p:nvSpPr>
          <p:cNvPr id="8" name="Shape 6"/>
          <p:cNvSpPr/>
          <p:nvPr/>
        </p:nvSpPr>
        <p:spPr>
          <a:xfrm>
            <a:off x="548640" y="1956816"/>
            <a:ext cx="384048" cy="384048"/>
          </a:xfrm>
          <a:prstGeom prst="ellipse">
            <a:avLst/>
          </a:prstGeom>
          <a:solidFill>
            <a:srgbClr val="F5C242"/>
          </a:solidFill>
          <a:ln w="12700">
            <a:solidFill>
              <a:srgbClr val="F5C242"/>
            </a:solidFill>
            <a:prstDash val="solid"/>
          </a:ln>
        </p:spPr>
      </p:sp>
      <p:sp>
        <p:nvSpPr>
          <p:cNvPr id="9" name="Text 7"/>
          <p:cNvSpPr txBox="1"/>
          <p:nvPr/>
        </p:nvSpPr>
        <p:spPr>
          <a:xfrm>
            <a:off x="548640" y="195681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097280" y="190195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L’instrument définit la science : le DMSP sature, VIIRS est étalonné, et aucun des deux ne voit le bleu.</a:t>
            </a:r>
            <a:endParaRPr lang="en-US" sz="1200" dirty="0"/>
          </a:p>
        </p:txBody>
      </p:sp>
      <p:sp>
        <p:nvSpPr>
          <p:cNvPr id="11" name="Shape 9"/>
          <p:cNvSpPr/>
          <p:nvPr/>
        </p:nvSpPr>
        <p:spPr>
          <a:xfrm>
            <a:off x="548640" y="2505456"/>
            <a:ext cx="384048" cy="384048"/>
          </a:xfrm>
          <a:prstGeom prst="ellipse">
            <a:avLst/>
          </a:prstGeom>
          <a:solidFill>
            <a:srgbClr val="F5C242"/>
          </a:solidFill>
          <a:ln w="12700">
            <a:solidFill>
              <a:srgbClr val="F5C242"/>
            </a:solidFill>
            <a:prstDash val="solid"/>
          </a:ln>
        </p:spPr>
      </p:sp>
      <p:sp>
        <p:nvSpPr>
          <p:cNvPr id="12" name="Text 10"/>
          <p:cNvSpPr txBox="1"/>
          <p:nvPr/>
        </p:nvSpPr>
        <p:spPr>
          <a:xfrm>
            <a:off x="548640" y="250545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097280" y="245059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Les données valent le plus là où la statistique officielle est la plus mince : infranational, haute fréquence, crises, informel.</a:t>
            </a:r>
            <a:endParaRPr lang="en-US" sz="1200" dirty="0"/>
          </a:p>
        </p:txBody>
      </p:sp>
      <p:sp>
        <p:nvSpPr>
          <p:cNvPr id="14" name="Shape 12"/>
          <p:cNvSpPr/>
          <p:nvPr/>
        </p:nvSpPr>
        <p:spPr>
          <a:xfrm>
            <a:off x="548640" y="3054096"/>
            <a:ext cx="384048" cy="384048"/>
          </a:xfrm>
          <a:prstGeom prst="ellipse">
            <a:avLst/>
          </a:prstGeom>
          <a:solidFill>
            <a:srgbClr val="F5C242"/>
          </a:solidFill>
          <a:ln w="12700">
            <a:solidFill>
              <a:srgbClr val="F5C242"/>
            </a:solidFill>
            <a:prstDash val="solid"/>
          </a:ln>
        </p:spPr>
      </p:sp>
      <p:sp>
        <p:nvSpPr>
          <p:cNvPr id="15" name="Text 13"/>
          <p:cNvSpPr txBox="1"/>
          <p:nvPr/>
        </p:nvSpPr>
        <p:spPr>
          <a:xfrm>
            <a:off x="548640" y="305409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1097280" y="299923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L’obscurité n’est pas le vide — éclairage hors réseau, nuages et délestages se ressemblent vus d’en haut.</a:t>
            </a:r>
            <a:endParaRPr lang="en-US" sz="1200" dirty="0"/>
          </a:p>
        </p:txBody>
      </p:sp>
      <p:sp>
        <p:nvSpPr>
          <p:cNvPr id="17" name="Shape 15"/>
          <p:cNvSpPr/>
          <p:nvPr/>
        </p:nvSpPr>
        <p:spPr>
          <a:xfrm>
            <a:off x="548640" y="3602736"/>
            <a:ext cx="384048" cy="384048"/>
          </a:xfrm>
          <a:prstGeom prst="ellipse">
            <a:avLst/>
          </a:prstGeom>
          <a:solidFill>
            <a:srgbClr val="F5C242"/>
          </a:solidFill>
          <a:ln w="12700">
            <a:solidFill>
              <a:srgbClr val="F5C242"/>
            </a:solidFill>
            <a:prstDash val="solid"/>
          </a:ln>
        </p:spPr>
      </p:sp>
      <p:sp>
        <p:nvSpPr>
          <p:cNvPr id="18" name="Text 16"/>
          <p:cNvSpPr txBox="1"/>
          <p:nvPr/>
        </p:nvSpPr>
        <p:spPr>
          <a:xfrm>
            <a:off x="548640" y="3602736"/>
            <a:ext cx="384048" cy="384048"/>
          </a:xfrm>
          <a:prstGeom prst="rect">
            <a:avLst/>
          </a:prstGeom>
          <a:noFill/>
          <a:ln/>
        </p:spPr>
        <p:txBody>
          <a:bodyPr wrap="square" lIns="0" tIns="0" rIns="0" bIns="0" rtlCol="0" anchor="ctr"/>
          <a:lstStyle/>
          <a:p>
            <a:pPr marL="0" indent="0" algn="ctr">
              <a:buNone/>
            </a:pPr>
            <a:r>
              <a:rPr lang="en-US" sz="1400" b="1" dirty="0">
                <a:solidFill>
                  <a:srgbClr val="00553A"/>
                </a:solidFill>
                <a:latin typeface="Calibri" pitchFamily="34" charset="0"/>
                <a:ea typeface="Calibri" pitchFamily="34" charset="-122"/>
                <a:cs typeface="Calibri" pitchFamily="34" charset="-120"/>
              </a:rPr>
              <a:t>5</a:t>
            </a:r>
            <a:endParaRPr lang="en-US" sz="1400" dirty="0"/>
          </a:p>
        </p:txBody>
      </p:sp>
      <p:sp>
        <p:nvSpPr>
          <p:cNvPr id="19" name="Text 17"/>
          <p:cNvSpPr txBox="1"/>
          <p:nvPr/>
        </p:nvSpPr>
        <p:spPr>
          <a:xfrm>
            <a:off x="1097280" y="3547872"/>
            <a:ext cx="5852160" cy="493776"/>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Validez avec des sources indépendantes, et publiez vos limites avec vos résultats.</a:t>
            </a:r>
            <a:endParaRPr lang="en-US" sz="1200" dirty="0"/>
          </a:p>
        </p:txBody>
      </p:sp>
      <p:sp>
        <p:nvSpPr>
          <p:cNvPr id="20" name="Text 18"/>
          <p:cNvSpPr txBox="1"/>
          <p:nvPr/>
        </p:nvSpPr>
        <p:spPr>
          <a:xfrm>
            <a:off x="548640" y="4224528"/>
            <a:ext cx="6949440" cy="457200"/>
          </a:xfrm>
          <a:prstGeom prst="rect">
            <a:avLst/>
          </a:prstGeom>
          <a:noFill/>
          <a:ln/>
        </p:spPr>
        <p:txBody>
          <a:bodyPr wrap="square" lIns="0" tIns="0" rIns="0" bIns="0" rtlCol="0" anchor="t"/>
          <a:lstStyle/>
          <a:p>
            <a:pPr marL="0" indent="0">
              <a:buNone/>
            </a:pPr>
            <a:r>
              <a:rPr lang="en-US" sz="1500" i="1" dirty="0">
                <a:solidFill>
                  <a:srgbClr val="F5C242"/>
                </a:solidFill>
                <a:latin typeface="Calibri" pitchFamily="34" charset="0"/>
                <a:ea typeface="Calibri" pitchFamily="34" charset="-122"/>
                <a:cs typeface="Calibri" pitchFamily="34" charset="-120"/>
              </a:rPr>
              <a:t>L’obscurité nous en dit beaucoup. Elle ne dit pas tout — et elle ne parle jamais d’elle-même.</a:t>
            </a:r>
            <a:endParaRPr lang="en-US" sz="1500" dirty="0"/>
          </a:p>
        </p:txBody>
      </p:sp>
      <p:sp>
        <p:nvSpPr>
          <p:cNvPr id="21" name="Shape 19"/>
          <p:cNvSpPr/>
          <p:nvPr/>
        </p:nvSpPr>
        <p:spPr>
          <a:xfrm>
            <a:off x="6995160" y="1325880"/>
            <a:ext cx="1737360" cy="1737360"/>
          </a:xfrm>
          <a:prstGeom prst="ellipse">
            <a:avLst/>
          </a:prstGeom>
          <a:solidFill>
            <a:srgbClr val="FFFFFF">
              <a:alpha val="10000"/>
            </a:srgbClr>
          </a:solidFill>
          <a:ln w="9525">
            <a:solidFill>
              <a:srgbClr val="FFFFFF">
                <a:alpha val="30000"/>
              </a:srgbClr>
            </a:solidFill>
            <a:prstDash val="solid"/>
          </a:ln>
        </p:spPr>
      </p:sp>
      <p:sp>
        <p:nvSpPr>
          <p:cNvPr id="22" name="Shape 20"/>
          <p:cNvSpPr/>
          <p:nvPr/>
        </p:nvSpPr>
        <p:spPr>
          <a:xfrm>
            <a:off x="7269480" y="1600200"/>
            <a:ext cx="1188720" cy="1188720"/>
          </a:xfrm>
          <a:prstGeom prst="ellipse">
            <a:avLst/>
          </a:prstGeom>
          <a:solidFill>
            <a:srgbClr val="FFFFFF">
              <a:alpha val="13000"/>
            </a:srgbClr>
          </a:solidFill>
          <a:ln w="9525">
            <a:solidFill>
              <a:srgbClr val="FFFFFF">
                <a:alpha val="30000"/>
              </a:srgbClr>
            </a:solidFill>
            <a:prstDash val="solid"/>
          </a:ln>
        </p:spPr>
      </p:sp>
      <p:sp>
        <p:nvSpPr>
          <p:cNvPr id="23" name="Shape 21"/>
          <p:cNvSpPr/>
          <p:nvPr/>
        </p:nvSpPr>
        <p:spPr>
          <a:xfrm>
            <a:off x="7498080" y="1828800"/>
            <a:ext cx="731520" cy="731520"/>
          </a:xfrm>
          <a:prstGeom prst="ellipse">
            <a:avLst/>
          </a:prstGeom>
          <a:solidFill>
            <a:srgbClr val="FFFFFF"/>
          </a:solidFill>
          <a:ln w="12700">
            <a:solidFill>
              <a:srgbClr val="FFFFFF"/>
            </a:solidFill>
            <a:prstDash val="solid"/>
          </a:ln>
        </p:spPr>
      </p:sp>
      <p:pic>
        <p:nvPicPr>
          <p:cNvPr id="24" name="Image 0" descr="preencoded.png"/>
          <p:cNvPicPr>
            <a:picLocks noChangeAspect="1"/>
          </p:cNvPicPr>
          <p:nvPr/>
        </p:nvPicPr>
        <p:blipFill>
          <a:blip r:embed="rId4"/>
          <a:stretch>
            <a:fillRect/>
          </a:stretch>
        </p:blipFill>
        <p:spPr>
          <a:xfrm>
            <a:off x="7662672" y="1993392"/>
            <a:ext cx="402336" cy="402336"/>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ANNEXE · GLOSSAIRE</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Le vocabulaire des laboratoires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31</a:t>
            </a:r>
            <a:endParaRPr lang="en-US" sz="850" dirty="0"/>
          </a:p>
        </p:txBody>
      </p:sp>
      <p:sp>
        <p:nvSpPr>
          <p:cNvPr id="17" name="Shape 14"/>
          <p:cNvSpPr/>
          <p:nvPr/>
        </p:nvSpPr>
        <p:spPr>
          <a:xfrm>
            <a:off x="457200" y="1325880"/>
            <a:ext cx="4023360" cy="548640"/>
          </a:xfrm>
          <a:prstGeom prst="roundRect">
            <a:avLst>
              <a:gd name="adj" fmla="val 13333"/>
            </a:avLst>
          </a:prstGeom>
          <a:solidFill>
            <a:srgbClr val="F4F7F5"/>
          </a:solidFill>
          <a:ln w="9525">
            <a:solidFill>
              <a:srgbClr val="D5DED9"/>
            </a:solidFill>
            <a:prstDash val="solid"/>
          </a:ln>
        </p:spPr>
      </p:sp>
      <p:sp>
        <p:nvSpPr>
          <p:cNvPr id="18" name="Shape 15"/>
          <p:cNvSpPr/>
          <p:nvPr/>
        </p:nvSpPr>
        <p:spPr>
          <a:xfrm>
            <a:off x="548640" y="1444752"/>
            <a:ext cx="310896" cy="310896"/>
          </a:xfrm>
          <a:prstGeom prst="ellipse">
            <a:avLst/>
          </a:prstGeom>
          <a:solidFill>
            <a:srgbClr val="00704A">
              <a:alpha val="22000"/>
            </a:srgbClr>
          </a:solidFill>
          <a:ln w="12700">
            <a:solidFill>
              <a:srgbClr val="00704A">
                <a:alpha val="0"/>
              </a:srgbClr>
            </a:solidFill>
            <a:prstDash val="solid"/>
          </a:ln>
        </p:spPr>
      </p:sp>
      <p:pic>
        <p:nvPicPr>
          <p:cNvPr id="19" name="Image 0" descr="preencoded.png"/>
          <p:cNvPicPr>
            <a:picLocks noChangeAspect="1"/>
          </p:cNvPicPr>
          <p:nvPr/>
        </p:nvPicPr>
        <p:blipFill>
          <a:blip r:embed="rId3"/>
          <a:stretch>
            <a:fillRect/>
          </a:stretch>
        </p:blipFill>
        <p:spPr>
          <a:xfrm>
            <a:off x="629473" y="1525585"/>
            <a:ext cx="149230" cy="149230"/>
          </a:xfrm>
          <a:prstGeom prst="rect">
            <a:avLst/>
          </a:prstGeom>
        </p:spPr>
      </p:pic>
      <p:sp>
        <p:nvSpPr>
          <p:cNvPr id="20" name="Text 16"/>
          <p:cNvSpPr txBox="1"/>
          <p:nvPr/>
        </p:nvSpPr>
        <p:spPr>
          <a:xfrm>
            <a:off x="960120" y="136245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Radiance</a:t>
            </a:r>
            <a:endParaRPr lang="en-US" sz="1050" dirty="0"/>
          </a:p>
        </p:txBody>
      </p:sp>
      <p:sp>
        <p:nvSpPr>
          <p:cNvPr id="21" name="Text 17"/>
          <p:cNvSpPr txBox="1"/>
          <p:nvPr/>
        </p:nvSpPr>
        <p:spPr>
          <a:xfrm>
            <a:off x="960120" y="156362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Énergie quittant une surface par unité d’aire et d’angle solide ; en nW·cm⁻²·sr⁻¹ pour les NTL.</a:t>
            </a:r>
            <a:endParaRPr lang="en-US" sz="850" dirty="0"/>
          </a:p>
        </p:txBody>
      </p:sp>
      <p:sp>
        <p:nvSpPr>
          <p:cNvPr id="22" name="Shape 18"/>
          <p:cNvSpPr/>
          <p:nvPr/>
        </p:nvSpPr>
        <p:spPr>
          <a:xfrm>
            <a:off x="4663440" y="1325880"/>
            <a:ext cx="4023360" cy="548640"/>
          </a:xfrm>
          <a:prstGeom prst="roundRect">
            <a:avLst>
              <a:gd name="adj" fmla="val 13333"/>
            </a:avLst>
          </a:prstGeom>
          <a:solidFill>
            <a:srgbClr val="F4F7F5"/>
          </a:solidFill>
          <a:ln w="9525">
            <a:solidFill>
              <a:srgbClr val="D5DED9"/>
            </a:solidFill>
            <a:prstDash val="solid"/>
          </a:ln>
        </p:spPr>
      </p:sp>
      <p:sp>
        <p:nvSpPr>
          <p:cNvPr id="23" name="Shape 19"/>
          <p:cNvSpPr/>
          <p:nvPr/>
        </p:nvSpPr>
        <p:spPr>
          <a:xfrm>
            <a:off x="4754880" y="1444752"/>
            <a:ext cx="310896" cy="310896"/>
          </a:xfrm>
          <a:prstGeom prst="ellipse">
            <a:avLst/>
          </a:prstGeom>
          <a:solidFill>
            <a:srgbClr val="00704A">
              <a:alpha val="22000"/>
            </a:srgbClr>
          </a:solidFill>
          <a:ln w="12700">
            <a:solidFill>
              <a:srgbClr val="00704A">
                <a:alpha val="0"/>
              </a:srgbClr>
            </a:solidFill>
            <a:prstDash val="solid"/>
          </a:ln>
        </p:spPr>
      </p:sp>
      <p:pic>
        <p:nvPicPr>
          <p:cNvPr id="24" name="Image 1" descr="preencoded.png"/>
          <p:cNvPicPr>
            <a:picLocks noChangeAspect="1"/>
          </p:cNvPicPr>
          <p:nvPr/>
        </p:nvPicPr>
        <p:blipFill>
          <a:blip r:embed="rId3"/>
          <a:stretch>
            <a:fillRect/>
          </a:stretch>
        </p:blipFill>
        <p:spPr>
          <a:xfrm>
            <a:off x="4835713" y="1525585"/>
            <a:ext cx="149230" cy="149230"/>
          </a:xfrm>
          <a:prstGeom prst="rect">
            <a:avLst/>
          </a:prstGeom>
        </p:spPr>
      </p:pic>
      <p:sp>
        <p:nvSpPr>
          <p:cNvPr id="25" name="Text 20"/>
          <p:cNvSpPr txBox="1"/>
          <p:nvPr/>
        </p:nvSpPr>
        <p:spPr>
          <a:xfrm>
            <a:off x="5166360" y="136245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Nombre numérique (DN)</a:t>
            </a:r>
            <a:endParaRPr lang="en-US" sz="1050" dirty="0"/>
          </a:p>
        </p:txBody>
      </p:sp>
      <p:sp>
        <p:nvSpPr>
          <p:cNvPr id="26" name="Text 21"/>
          <p:cNvSpPr txBox="1"/>
          <p:nvPr/>
        </p:nvSpPr>
        <p:spPr>
          <a:xfrm>
            <a:off x="5166360" y="156362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Comptage brut du capteur, sans unité physique ; le DMSP va de 0 à 63.</a:t>
            </a:r>
            <a:endParaRPr lang="en-US" sz="850" dirty="0"/>
          </a:p>
        </p:txBody>
      </p:sp>
      <p:sp>
        <p:nvSpPr>
          <p:cNvPr id="27" name="Shape 22"/>
          <p:cNvSpPr/>
          <p:nvPr/>
        </p:nvSpPr>
        <p:spPr>
          <a:xfrm>
            <a:off x="457200" y="1965960"/>
            <a:ext cx="4023360" cy="548640"/>
          </a:xfrm>
          <a:prstGeom prst="roundRect">
            <a:avLst>
              <a:gd name="adj" fmla="val 13333"/>
            </a:avLst>
          </a:prstGeom>
          <a:solidFill>
            <a:srgbClr val="F4F7F5"/>
          </a:solidFill>
          <a:ln w="9525">
            <a:solidFill>
              <a:srgbClr val="D5DED9"/>
            </a:solidFill>
            <a:prstDash val="solid"/>
          </a:ln>
        </p:spPr>
      </p:sp>
      <p:sp>
        <p:nvSpPr>
          <p:cNvPr id="28" name="Shape 23"/>
          <p:cNvSpPr/>
          <p:nvPr/>
        </p:nvSpPr>
        <p:spPr>
          <a:xfrm>
            <a:off x="548640" y="2084832"/>
            <a:ext cx="310896" cy="310896"/>
          </a:xfrm>
          <a:prstGeom prst="ellipse">
            <a:avLst/>
          </a:prstGeom>
          <a:solidFill>
            <a:srgbClr val="00704A">
              <a:alpha val="22000"/>
            </a:srgbClr>
          </a:solidFill>
          <a:ln w="12700">
            <a:solidFill>
              <a:srgbClr val="00704A">
                <a:alpha val="0"/>
              </a:srgbClr>
            </a:solidFill>
            <a:prstDash val="solid"/>
          </a:ln>
        </p:spPr>
      </p:sp>
      <p:pic>
        <p:nvPicPr>
          <p:cNvPr id="29" name="Image 2" descr="preencoded.png"/>
          <p:cNvPicPr>
            <a:picLocks noChangeAspect="1"/>
          </p:cNvPicPr>
          <p:nvPr/>
        </p:nvPicPr>
        <p:blipFill>
          <a:blip r:embed="rId3"/>
          <a:stretch>
            <a:fillRect/>
          </a:stretch>
        </p:blipFill>
        <p:spPr>
          <a:xfrm>
            <a:off x="629473" y="2165665"/>
            <a:ext cx="149230" cy="149230"/>
          </a:xfrm>
          <a:prstGeom prst="rect">
            <a:avLst/>
          </a:prstGeom>
        </p:spPr>
      </p:pic>
      <p:sp>
        <p:nvSpPr>
          <p:cNvPr id="30" name="Text 24"/>
          <p:cNvSpPr txBox="1"/>
          <p:nvPr/>
        </p:nvSpPr>
        <p:spPr>
          <a:xfrm>
            <a:off x="960120" y="200253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Composite</a:t>
            </a:r>
            <a:endParaRPr lang="en-US" sz="1050" dirty="0"/>
          </a:p>
        </p:txBody>
      </p:sp>
      <p:sp>
        <p:nvSpPr>
          <p:cNvPr id="31" name="Text 25"/>
          <p:cNvSpPr txBox="1"/>
          <p:nvPr/>
        </p:nvSpPr>
        <p:spPr>
          <a:xfrm>
            <a:off x="960120" y="220370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Grille assemblée à partir de nombreuses nuits sans nuages — pas la photo d’une nuit.</a:t>
            </a:r>
            <a:endParaRPr lang="en-US" sz="850" dirty="0"/>
          </a:p>
        </p:txBody>
      </p:sp>
      <p:sp>
        <p:nvSpPr>
          <p:cNvPr id="32" name="Shape 26"/>
          <p:cNvSpPr/>
          <p:nvPr/>
        </p:nvSpPr>
        <p:spPr>
          <a:xfrm>
            <a:off x="4663440" y="1965960"/>
            <a:ext cx="4023360" cy="548640"/>
          </a:xfrm>
          <a:prstGeom prst="roundRect">
            <a:avLst>
              <a:gd name="adj" fmla="val 13333"/>
            </a:avLst>
          </a:prstGeom>
          <a:solidFill>
            <a:srgbClr val="F4F7F5"/>
          </a:solidFill>
          <a:ln w="9525">
            <a:solidFill>
              <a:srgbClr val="D5DED9"/>
            </a:solidFill>
            <a:prstDash val="solid"/>
          </a:ln>
        </p:spPr>
      </p:sp>
      <p:sp>
        <p:nvSpPr>
          <p:cNvPr id="33" name="Shape 27"/>
          <p:cNvSpPr/>
          <p:nvPr/>
        </p:nvSpPr>
        <p:spPr>
          <a:xfrm>
            <a:off x="4754880" y="2084832"/>
            <a:ext cx="310896" cy="310896"/>
          </a:xfrm>
          <a:prstGeom prst="ellipse">
            <a:avLst/>
          </a:prstGeom>
          <a:solidFill>
            <a:srgbClr val="00704A">
              <a:alpha val="22000"/>
            </a:srgbClr>
          </a:solidFill>
          <a:ln w="12700">
            <a:solidFill>
              <a:srgbClr val="00704A">
                <a:alpha val="0"/>
              </a:srgbClr>
            </a:solidFill>
            <a:prstDash val="solid"/>
          </a:ln>
        </p:spPr>
      </p:sp>
      <p:pic>
        <p:nvPicPr>
          <p:cNvPr id="34" name="Image 3" descr="preencoded.png"/>
          <p:cNvPicPr>
            <a:picLocks noChangeAspect="1"/>
          </p:cNvPicPr>
          <p:nvPr/>
        </p:nvPicPr>
        <p:blipFill>
          <a:blip r:embed="rId3"/>
          <a:stretch>
            <a:fillRect/>
          </a:stretch>
        </p:blipFill>
        <p:spPr>
          <a:xfrm>
            <a:off x="4835713" y="2165665"/>
            <a:ext cx="149230" cy="149230"/>
          </a:xfrm>
          <a:prstGeom prst="rect">
            <a:avLst/>
          </a:prstGeom>
        </p:spPr>
      </p:pic>
      <p:sp>
        <p:nvSpPr>
          <p:cNvPr id="35" name="Text 28"/>
          <p:cNvSpPr txBox="1"/>
          <p:nvPr/>
        </p:nvSpPr>
        <p:spPr>
          <a:xfrm>
            <a:off x="5166360" y="200253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Lumières stables</a:t>
            </a:r>
            <a:endParaRPr lang="en-US" sz="1050" dirty="0"/>
          </a:p>
        </p:txBody>
      </p:sp>
      <p:sp>
        <p:nvSpPr>
          <p:cNvPr id="36" name="Text 29"/>
          <p:cNvSpPr txBox="1"/>
          <p:nvPr/>
        </p:nvSpPr>
        <p:spPr>
          <a:xfrm>
            <a:off x="5166360" y="220370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Produit dont feux, aurores et autres sources instables ont été retirés.</a:t>
            </a:r>
            <a:endParaRPr lang="en-US" sz="850" dirty="0"/>
          </a:p>
        </p:txBody>
      </p:sp>
      <p:sp>
        <p:nvSpPr>
          <p:cNvPr id="37" name="Shape 30"/>
          <p:cNvSpPr/>
          <p:nvPr/>
        </p:nvSpPr>
        <p:spPr>
          <a:xfrm>
            <a:off x="457200" y="2606040"/>
            <a:ext cx="4023360" cy="548640"/>
          </a:xfrm>
          <a:prstGeom prst="roundRect">
            <a:avLst>
              <a:gd name="adj" fmla="val 13333"/>
            </a:avLst>
          </a:prstGeom>
          <a:solidFill>
            <a:srgbClr val="F4F7F5"/>
          </a:solidFill>
          <a:ln w="9525">
            <a:solidFill>
              <a:srgbClr val="D5DED9"/>
            </a:solidFill>
            <a:prstDash val="solid"/>
          </a:ln>
        </p:spPr>
      </p:sp>
      <p:sp>
        <p:nvSpPr>
          <p:cNvPr id="38" name="Shape 31"/>
          <p:cNvSpPr/>
          <p:nvPr/>
        </p:nvSpPr>
        <p:spPr>
          <a:xfrm>
            <a:off x="548640" y="2724912"/>
            <a:ext cx="310896" cy="310896"/>
          </a:xfrm>
          <a:prstGeom prst="ellipse">
            <a:avLst/>
          </a:prstGeom>
          <a:solidFill>
            <a:srgbClr val="00704A">
              <a:alpha val="22000"/>
            </a:srgbClr>
          </a:solidFill>
          <a:ln w="12700">
            <a:solidFill>
              <a:srgbClr val="00704A">
                <a:alpha val="0"/>
              </a:srgbClr>
            </a:solidFill>
            <a:prstDash val="solid"/>
          </a:ln>
        </p:spPr>
      </p:sp>
      <p:pic>
        <p:nvPicPr>
          <p:cNvPr id="39" name="Image 4" descr="preencoded.png"/>
          <p:cNvPicPr>
            <a:picLocks noChangeAspect="1"/>
          </p:cNvPicPr>
          <p:nvPr/>
        </p:nvPicPr>
        <p:blipFill>
          <a:blip r:embed="rId3"/>
          <a:stretch>
            <a:fillRect/>
          </a:stretch>
        </p:blipFill>
        <p:spPr>
          <a:xfrm>
            <a:off x="629473" y="2805745"/>
            <a:ext cx="149230" cy="149230"/>
          </a:xfrm>
          <a:prstGeom prst="rect">
            <a:avLst/>
          </a:prstGeom>
        </p:spPr>
      </p:pic>
      <p:sp>
        <p:nvSpPr>
          <p:cNvPr id="40" name="Text 32"/>
          <p:cNvSpPr txBox="1"/>
          <p:nvPr/>
        </p:nvSpPr>
        <p:spPr>
          <a:xfrm>
            <a:off x="960120" y="264261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Somme des lumières (SOL)</a:t>
            </a:r>
            <a:endParaRPr lang="en-US" sz="1050" dirty="0"/>
          </a:p>
        </p:txBody>
      </p:sp>
      <p:sp>
        <p:nvSpPr>
          <p:cNvPr id="41" name="Text 33"/>
          <p:cNvSpPr txBox="1"/>
          <p:nvPr/>
        </p:nvSpPr>
        <p:spPr>
          <a:xfrm>
            <a:off x="960120" y="284378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Radiance totale de tous les pixels à l’intérieur d’un contour.</a:t>
            </a:r>
            <a:endParaRPr lang="en-US" sz="850" dirty="0"/>
          </a:p>
        </p:txBody>
      </p:sp>
      <p:sp>
        <p:nvSpPr>
          <p:cNvPr id="42" name="Shape 34"/>
          <p:cNvSpPr/>
          <p:nvPr/>
        </p:nvSpPr>
        <p:spPr>
          <a:xfrm>
            <a:off x="4663440" y="2606040"/>
            <a:ext cx="4023360" cy="548640"/>
          </a:xfrm>
          <a:prstGeom prst="roundRect">
            <a:avLst>
              <a:gd name="adj" fmla="val 13333"/>
            </a:avLst>
          </a:prstGeom>
          <a:solidFill>
            <a:srgbClr val="F4F7F5"/>
          </a:solidFill>
          <a:ln w="9525">
            <a:solidFill>
              <a:srgbClr val="D5DED9"/>
            </a:solidFill>
            <a:prstDash val="solid"/>
          </a:ln>
        </p:spPr>
      </p:sp>
      <p:sp>
        <p:nvSpPr>
          <p:cNvPr id="43" name="Shape 35"/>
          <p:cNvSpPr/>
          <p:nvPr/>
        </p:nvSpPr>
        <p:spPr>
          <a:xfrm>
            <a:off x="4754880" y="2724912"/>
            <a:ext cx="310896" cy="310896"/>
          </a:xfrm>
          <a:prstGeom prst="ellipse">
            <a:avLst/>
          </a:prstGeom>
          <a:solidFill>
            <a:srgbClr val="00704A">
              <a:alpha val="22000"/>
            </a:srgbClr>
          </a:solidFill>
          <a:ln w="12700">
            <a:solidFill>
              <a:srgbClr val="00704A">
                <a:alpha val="0"/>
              </a:srgbClr>
            </a:solidFill>
            <a:prstDash val="solid"/>
          </a:ln>
        </p:spPr>
      </p:sp>
      <p:pic>
        <p:nvPicPr>
          <p:cNvPr id="44" name="Image 5" descr="preencoded.png"/>
          <p:cNvPicPr>
            <a:picLocks noChangeAspect="1"/>
          </p:cNvPicPr>
          <p:nvPr/>
        </p:nvPicPr>
        <p:blipFill>
          <a:blip r:embed="rId3"/>
          <a:stretch>
            <a:fillRect/>
          </a:stretch>
        </p:blipFill>
        <p:spPr>
          <a:xfrm>
            <a:off x="4835713" y="2805745"/>
            <a:ext cx="149230" cy="149230"/>
          </a:xfrm>
          <a:prstGeom prst="rect">
            <a:avLst/>
          </a:prstGeom>
        </p:spPr>
      </p:pic>
      <p:sp>
        <p:nvSpPr>
          <p:cNvPr id="45" name="Text 36"/>
          <p:cNvSpPr txBox="1"/>
          <p:nvPr/>
        </p:nvSpPr>
        <p:spPr>
          <a:xfrm>
            <a:off x="5166360" y="264261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Débordement (blooming)</a:t>
            </a:r>
            <a:endParaRPr lang="en-US" sz="1050" dirty="0"/>
          </a:p>
        </p:txBody>
      </p:sp>
      <p:sp>
        <p:nvSpPr>
          <p:cNvPr id="46" name="Text 37"/>
          <p:cNvSpPr txBox="1"/>
          <p:nvPr/>
        </p:nvSpPr>
        <p:spPr>
          <a:xfrm>
            <a:off x="5166360" y="284378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Extension apparente de la lumière au-delà de sa source (diffusion, géolocalisation).</a:t>
            </a:r>
            <a:endParaRPr lang="en-US" sz="850" dirty="0"/>
          </a:p>
        </p:txBody>
      </p:sp>
      <p:sp>
        <p:nvSpPr>
          <p:cNvPr id="47" name="Shape 38"/>
          <p:cNvSpPr/>
          <p:nvPr/>
        </p:nvSpPr>
        <p:spPr>
          <a:xfrm>
            <a:off x="457200" y="3246120"/>
            <a:ext cx="4023360" cy="548640"/>
          </a:xfrm>
          <a:prstGeom prst="roundRect">
            <a:avLst>
              <a:gd name="adj" fmla="val 13333"/>
            </a:avLst>
          </a:prstGeom>
          <a:solidFill>
            <a:srgbClr val="F4F7F5"/>
          </a:solidFill>
          <a:ln w="9525">
            <a:solidFill>
              <a:srgbClr val="D5DED9"/>
            </a:solidFill>
            <a:prstDash val="solid"/>
          </a:ln>
        </p:spPr>
      </p:sp>
      <p:sp>
        <p:nvSpPr>
          <p:cNvPr id="48" name="Shape 39"/>
          <p:cNvSpPr/>
          <p:nvPr/>
        </p:nvSpPr>
        <p:spPr>
          <a:xfrm>
            <a:off x="548640" y="3364992"/>
            <a:ext cx="310896" cy="310896"/>
          </a:xfrm>
          <a:prstGeom prst="ellipse">
            <a:avLst/>
          </a:prstGeom>
          <a:solidFill>
            <a:srgbClr val="00704A">
              <a:alpha val="22000"/>
            </a:srgbClr>
          </a:solidFill>
          <a:ln w="12700">
            <a:solidFill>
              <a:srgbClr val="00704A">
                <a:alpha val="0"/>
              </a:srgbClr>
            </a:solidFill>
            <a:prstDash val="solid"/>
          </a:ln>
        </p:spPr>
      </p:sp>
      <p:pic>
        <p:nvPicPr>
          <p:cNvPr id="49" name="Image 6" descr="preencoded.png"/>
          <p:cNvPicPr>
            <a:picLocks noChangeAspect="1"/>
          </p:cNvPicPr>
          <p:nvPr/>
        </p:nvPicPr>
        <p:blipFill>
          <a:blip r:embed="rId3"/>
          <a:stretch>
            <a:fillRect/>
          </a:stretch>
        </p:blipFill>
        <p:spPr>
          <a:xfrm>
            <a:off x="629473" y="3445825"/>
            <a:ext cx="149230" cy="149230"/>
          </a:xfrm>
          <a:prstGeom prst="rect">
            <a:avLst/>
          </a:prstGeom>
        </p:spPr>
      </p:pic>
      <p:sp>
        <p:nvSpPr>
          <p:cNvPr id="50" name="Text 40"/>
          <p:cNvSpPr txBox="1"/>
          <p:nvPr/>
        </p:nvSpPr>
        <p:spPr>
          <a:xfrm>
            <a:off x="960120" y="328269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Correction BRDF</a:t>
            </a:r>
            <a:endParaRPr lang="en-US" sz="1050" dirty="0"/>
          </a:p>
        </p:txBody>
      </p:sp>
      <p:sp>
        <p:nvSpPr>
          <p:cNvPr id="51" name="Text 41"/>
          <p:cNvSpPr txBox="1"/>
          <p:nvPr/>
        </p:nvSpPr>
        <p:spPr>
          <a:xfrm>
            <a:off x="960120" y="348386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Ajustement selon la variation de la lumière (lunaire) réfléchie avec les angles de visée et d’éclairement.</a:t>
            </a:r>
            <a:endParaRPr lang="en-US" sz="850" dirty="0"/>
          </a:p>
        </p:txBody>
      </p:sp>
      <p:sp>
        <p:nvSpPr>
          <p:cNvPr id="52" name="Shape 42"/>
          <p:cNvSpPr/>
          <p:nvPr/>
        </p:nvSpPr>
        <p:spPr>
          <a:xfrm>
            <a:off x="4663440" y="3246120"/>
            <a:ext cx="4023360" cy="548640"/>
          </a:xfrm>
          <a:prstGeom prst="roundRect">
            <a:avLst>
              <a:gd name="adj" fmla="val 13333"/>
            </a:avLst>
          </a:prstGeom>
          <a:solidFill>
            <a:srgbClr val="F4F7F5"/>
          </a:solidFill>
          <a:ln w="9525">
            <a:solidFill>
              <a:srgbClr val="D5DED9"/>
            </a:solidFill>
            <a:prstDash val="solid"/>
          </a:ln>
        </p:spPr>
      </p:sp>
      <p:sp>
        <p:nvSpPr>
          <p:cNvPr id="53" name="Shape 43"/>
          <p:cNvSpPr/>
          <p:nvPr/>
        </p:nvSpPr>
        <p:spPr>
          <a:xfrm>
            <a:off x="4754880" y="3364992"/>
            <a:ext cx="310896" cy="310896"/>
          </a:xfrm>
          <a:prstGeom prst="ellipse">
            <a:avLst/>
          </a:prstGeom>
          <a:solidFill>
            <a:srgbClr val="00704A">
              <a:alpha val="22000"/>
            </a:srgbClr>
          </a:solidFill>
          <a:ln w="12700">
            <a:solidFill>
              <a:srgbClr val="00704A">
                <a:alpha val="0"/>
              </a:srgbClr>
            </a:solidFill>
            <a:prstDash val="solid"/>
          </a:ln>
        </p:spPr>
      </p:sp>
      <p:pic>
        <p:nvPicPr>
          <p:cNvPr id="54" name="Image 7" descr="preencoded.png"/>
          <p:cNvPicPr>
            <a:picLocks noChangeAspect="1"/>
          </p:cNvPicPr>
          <p:nvPr/>
        </p:nvPicPr>
        <p:blipFill>
          <a:blip r:embed="rId3"/>
          <a:stretch>
            <a:fillRect/>
          </a:stretch>
        </p:blipFill>
        <p:spPr>
          <a:xfrm>
            <a:off x="4835713" y="3445825"/>
            <a:ext cx="149230" cy="149230"/>
          </a:xfrm>
          <a:prstGeom prst="rect">
            <a:avLst/>
          </a:prstGeom>
        </p:spPr>
      </p:pic>
      <p:sp>
        <p:nvSpPr>
          <p:cNvPr id="55" name="Text 44"/>
          <p:cNvSpPr txBox="1"/>
          <p:nvPr/>
        </p:nvSpPr>
        <p:spPr>
          <a:xfrm>
            <a:off x="5166360" y="328269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Statistiques zonales</a:t>
            </a:r>
            <a:endParaRPr lang="en-US" sz="1050" dirty="0"/>
          </a:p>
        </p:txBody>
      </p:sp>
      <p:sp>
        <p:nvSpPr>
          <p:cNvPr id="56" name="Text 45"/>
          <p:cNvSpPr txBox="1"/>
          <p:nvPr/>
        </p:nvSpPr>
        <p:spPr>
          <a:xfrm>
            <a:off x="5166360" y="348386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Synthèse des valeurs d’un raster (somme, moyenne, effectif) dans chaque polygone.</a:t>
            </a:r>
            <a:endParaRPr lang="en-US" sz="850" dirty="0"/>
          </a:p>
        </p:txBody>
      </p:sp>
      <p:sp>
        <p:nvSpPr>
          <p:cNvPr id="57" name="Shape 46"/>
          <p:cNvSpPr/>
          <p:nvPr/>
        </p:nvSpPr>
        <p:spPr>
          <a:xfrm>
            <a:off x="457200" y="3886200"/>
            <a:ext cx="4023360" cy="548640"/>
          </a:xfrm>
          <a:prstGeom prst="roundRect">
            <a:avLst>
              <a:gd name="adj" fmla="val 13333"/>
            </a:avLst>
          </a:prstGeom>
          <a:solidFill>
            <a:srgbClr val="F4F7F5"/>
          </a:solidFill>
          <a:ln w="9525">
            <a:solidFill>
              <a:srgbClr val="D5DED9"/>
            </a:solidFill>
            <a:prstDash val="solid"/>
          </a:ln>
        </p:spPr>
      </p:sp>
      <p:sp>
        <p:nvSpPr>
          <p:cNvPr id="58" name="Shape 47"/>
          <p:cNvSpPr/>
          <p:nvPr/>
        </p:nvSpPr>
        <p:spPr>
          <a:xfrm>
            <a:off x="548640" y="4005072"/>
            <a:ext cx="310896" cy="310896"/>
          </a:xfrm>
          <a:prstGeom prst="ellipse">
            <a:avLst/>
          </a:prstGeom>
          <a:solidFill>
            <a:srgbClr val="00704A">
              <a:alpha val="22000"/>
            </a:srgbClr>
          </a:solidFill>
          <a:ln w="12700">
            <a:solidFill>
              <a:srgbClr val="00704A">
                <a:alpha val="0"/>
              </a:srgbClr>
            </a:solidFill>
            <a:prstDash val="solid"/>
          </a:ln>
        </p:spPr>
      </p:sp>
      <p:pic>
        <p:nvPicPr>
          <p:cNvPr id="59" name="Image 8" descr="preencoded.png"/>
          <p:cNvPicPr>
            <a:picLocks noChangeAspect="1"/>
          </p:cNvPicPr>
          <p:nvPr/>
        </p:nvPicPr>
        <p:blipFill>
          <a:blip r:embed="rId3"/>
          <a:stretch>
            <a:fillRect/>
          </a:stretch>
        </p:blipFill>
        <p:spPr>
          <a:xfrm>
            <a:off x="629473" y="4085905"/>
            <a:ext cx="149230" cy="149230"/>
          </a:xfrm>
          <a:prstGeom prst="rect">
            <a:avLst/>
          </a:prstGeom>
        </p:spPr>
      </p:pic>
      <p:sp>
        <p:nvSpPr>
          <p:cNvPr id="60" name="Text 48"/>
          <p:cNvSpPr txBox="1"/>
          <p:nvPr/>
        </p:nvSpPr>
        <p:spPr>
          <a:xfrm>
            <a:off x="960120" y="392277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Nadir</a:t>
            </a:r>
            <a:endParaRPr lang="en-US" sz="1050" dirty="0"/>
          </a:p>
        </p:txBody>
      </p:sp>
      <p:sp>
        <p:nvSpPr>
          <p:cNvPr id="61" name="Text 49"/>
          <p:cNvSpPr txBox="1"/>
          <p:nvPr/>
        </p:nvSpPr>
        <p:spPr>
          <a:xfrm>
            <a:off x="960120" y="412394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Point situé à la verticale du satellite, où l’empreinte du pixel est la plus petite.</a:t>
            </a:r>
            <a:endParaRPr lang="en-US" sz="850" dirty="0"/>
          </a:p>
        </p:txBody>
      </p:sp>
      <p:sp>
        <p:nvSpPr>
          <p:cNvPr id="62" name="Shape 50"/>
          <p:cNvSpPr/>
          <p:nvPr/>
        </p:nvSpPr>
        <p:spPr>
          <a:xfrm>
            <a:off x="4663440" y="3886200"/>
            <a:ext cx="4023360" cy="548640"/>
          </a:xfrm>
          <a:prstGeom prst="roundRect">
            <a:avLst>
              <a:gd name="adj" fmla="val 13333"/>
            </a:avLst>
          </a:prstGeom>
          <a:solidFill>
            <a:srgbClr val="F4F7F5"/>
          </a:solidFill>
          <a:ln w="9525">
            <a:solidFill>
              <a:srgbClr val="D5DED9"/>
            </a:solidFill>
            <a:prstDash val="solid"/>
          </a:ln>
        </p:spPr>
      </p:sp>
      <p:sp>
        <p:nvSpPr>
          <p:cNvPr id="63" name="Shape 51"/>
          <p:cNvSpPr/>
          <p:nvPr/>
        </p:nvSpPr>
        <p:spPr>
          <a:xfrm>
            <a:off x="4754880" y="4005072"/>
            <a:ext cx="310896" cy="310896"/>
          </a:xfrm>
          <a:prstGeom prst="ellipse">
            <a:avLst/>
          </a:prstGeom>
          <a:solidFill>
            <a:srgbClr val="00704A">
              <a:alpha val="22000"/>
            </a:srgbClr>
          </a:solidFill>
          <a:ln w="12700">
            <a:solidFill>
              <a:srgbClr val="00704A">
                <a:alpha val="0"/>
              </a:srgbClr>
            </a:solidFill>
            <a:prstDash val="solid"/>
          </a:ln>
        </p:spPr>
      </p:sp>
      <p:pic>
        <p:nvPicPr>
          <p:cNvPr id="64" name="Image 9" descr="preencoded.png"/>
          <p:cNvPicPr>
            <a:picLocks noChangeAspect="1"/>
          </p:cNvPicPr>
          <p:nvPr/>
        </p:nvPicPr>
        <p:blipFill>
          <a:blip r:embed="rId3"/>
          <a:stretch>
            <a:fillRect/>
          </a:stretch>
        </p:blipFill>
        <p:spPr>
          <a:xfrm>
            <a:off x="4835713" y="4085905"/>
            <a:ext cx="149230" cy="149230"/>
          </a:xfrm>
          <a:prstGeom prst="rect">
            <a:avLst/>
          </a:prstGeom>
        </p:spPr>
      </p:pic>
      <p:sp>
        <p:nvSpPr>
          <p:cNvPr id="65" name="Text 52"/>
          <p:cNvSpPr txBox="1"/>
          <p:nvPr/>
        </p:nvSpPr>
        <p:spPr>
          <a:xfrm>
            <a:off x="5166360" y="3922776"/>
            <a:ext cx="3429000" cy="201168"/>
          </a:xfrm>
          <a:prstGeom prst="rect">
            <a:avLst/>
          </a:prstGeom>
          <a:noFill/>
          <a:ln/>
        </p:spPr>
        <p:txBody>
          <a:bodyPr wrap="square" lIns="0" tIns="0" rIns="0" bIns="0" rtlCol="0" anchor="t"/>
          <a:lstStyle/>
          <a:p>
            <a:pPr marL="0" indent="0">
              <a:buNone/>
            </a:pPr>
            <a:r>
              <a:rPr lang="en-US" sz="1050" b="1" dirty="0">
                <a:solidFill>
                  <a:srgbClr val="00704A"/>
                </a:solidFill>
                <a:latin typeface="Calibri" pitchFamily="34" charset="0"/>
                <a:ea typeface="Calibri" pitchFamily="34" charset="-122"/>
                <a:cs typeface="Calibri" pitchFamily="34" charset="-120"/>
              </a:rPr>
              <a:t>Halo lumineux (skyglow)</a:t>
            </a:r>
            <a:endParaRPr lang="en-US" sz="1050" dirty="0"/>
          </a:p>
        </p:txBody>
      </p:sp>
      <p:sp>
        <p:nvSpPr>
          <p:cNvPr id="66" name="Text 53"/>
          <p:cNvSpPr txBox="1"/>
          <p:nvPr/>
        </p:nvSpPr>
        <p:spPr>
          <a:xfrm>
            <a:off x="5166360" y="4123944"/>
            <a:ext cx="3474720" cy="292608"/>
          </a:xfrm>
          <a:prstGeom prst="rect">
            <a:avLst/>
          </a:prstGeom>
          <a:noFill/>
          <a:ln/>
        </p:spPr>
        <p:txBody>
          <a:bodyPr wrap="square" lIns="0" tIns="0" rIns="0" bIns="0" rtlCol="0" anchor="t"/>
          <a:lstStyle/>
          <a:p>
            <a:pPr marL="0" indent="0">
              <a:buNone/>
            </a:pPr>
            <a:r>
              <a:rPr lang="en-US" sz="850" dirty="0">
                <a:solidFill>
                  <a:srgbClr val="231F20"/>
                </a:solidFill>
                <a:latin typeface="Calibri" pitchFamily="34" charset="0"/>
                <a:ea typeface="Calibri" pitchFamily="34" charset="-122"/>
                <a:cs typeface="Calibri" pitchFamily="34" charset="-120"/>
              </a:rPr>
              <a:t>Éclaircissement diffus du ciel nocturne par la lumière artificielle diffusée dans l’atmosphère.</a:t>
            </a:r>
            <a:endParaRPr lang="en-US" sz="8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7406640" y="3383280"/>
            <a:ext cx="2651760" cy="2651760"/>
          </a:xfrm>
          <a:prstGeom prst="ellipse">
            <a:avLst/>
          </a:prstGeom>
          <a:solidFill>
            <a:srgbClr val="00A86A">
              <a:alpha val="5000"/>
            </a:srgbClr>
          </a:solidFill>
          <a:ln w="12700">
            <a:solidFill>
              <a:srgbClr val="00A86A">
                <a:alpha val="0"/>
              </a:srgbClr>
            </a:solidFill>
            <a:prstDash val="solid"/>
          </a:ln>
        </p:spPr>
      </p:sp>
      <p:sp>
        <p:nvSpPr>
          <p:cNvPr id="3" name="Shape 1"/>
          <p:cNvSpPr/>
          <p:nvPr/>
        </p:nvSpPr>
        <p:spPr>
          <a:xfrm>
            <a:off x="8001000" y="3977640"/>
            <a:ext cx="1463040" cy="1463040"/>
          </a:xfrm>
          <a:prstGeom prst="ellipse">
            <a:avLst/>
          </a:prstGeom>
          <a:solidFill>
            <a:srgbClr val="00A86A">
              <a:alpha val="6000"/>
            </a:srgbClr>
          </a:solidFill>
          <a:ln w="12700">
            <a:solidFill>
              <a:srgbClr val="00A86A">
                <a:alpha val="0"/>
              </a:srgbClr>
            </a:solidFill>
            <a:prstDash val="solid"/>
          </a:ln>
        </p:spPr>
      </p:sp>
      <p:sp>
        <p:nvSpPr>
          <p:cNvPr id="4" name="Shape 2"/>
          <p:cNvSpPr/>
          <p:nvPr/>
        </p:nvSpPr>
        <p:spPr>
          <a:xfrm>
            <a:off x="0" y="0"/>
            <a:ext cx="9144000" cy="54864"/>
          </a:xfrm>
          <a:prstGeom prst="rect">
            <a:avLst/>
          </a:prstGeom>
          <a:solidFill>
            <a:srgbClr val="00A86A"/>
          </a:solidFill>
          <a:ln w="12700">
            <a:solidFill>
              <a:srgbClr val="00A86A"/>
            </a:solidFill>
            <a:prstDash val="solid"/>
          </a:ln>
        </p:spPr>
      </p:sp>
      <p:sp>
        <p:nvSpPr>
          <p:cNvPr id="5" name="Shape 3"/>
          <p:cNvSpPr/>
          <p:nvPr/>
        </p:nvSpPr>
        <p:spPr>
          <a:xfrm>
            <a:off x="0" y="0"/>
            <a:ext cx="1234440" cy="54864"/>
          </a:xfrm>
          <a:prstGeom prst="rect">
            <a:avLst/>
          </a:prstGeom>
          <a:solidFill>
            <a:srgbClr val="F5C242"/>
          </a:solidFill>
          <a:ln w="12700">
            <a:solidFill>
              <a:srgbClr val="F5C242"/>
            </a:solidFill>
            <a:prstDash val="solid"/>
          </a:ln>
        </p:spPr>
      </p:sp>
      <p:sp>
        <p:nvSpPr>
          <p:cNvPr id="6" name="Text 4"/>
          <p:cNvSpPr txBox="1"/>
          <p:nvPr/>
        </p:nvSpPr>
        <p:spPr>
          <a:xfrm>
            <a:off x="457200" y="274320"/>
            <a:ext cx="6583680" cy="182880"/>
          </a:xfrm>
          <a:prstGeom prst="rect">
            <a:avLst/>
          </a:prstGeom>
          <a:noFill/>
          <a:ln/>
        </p:spPr>
        <p:txBody>
          <a:bodyPr wrap="square" lIns="0" tIns="0" rIns="0" bIns="0" rtlCol="0" anchor="t"/>
          <a:lstStyle/>
          <a:p>
            <a:pPr marL="0" indent="0">
              <a:buNone/>
            </a:pPr>
            <a:r>
              <a:rPr lang="en-US" sz="1050" b="1" kern="0" spc="300" dirty="0">
                <a:solidFill>
                  <a:srgbClr val="00704A"/>
                </a:solidFill>
                <a:latin typeface="Calibri" pitchFamily="34" charset="0"/>
                <a:ea typeface="Calibri" pitchFamily="34" charset="-122"/>
                <a:cs typeface="Calibri" pitchFamily="34" charset="-120"/>
              </a:rPr>
              <a:t>ANNEXE · SOURCES</a:t>
            </a:r>
            <a:endParaRPr lang="en-US" sz="1050" dirty="0"/>
          </a:p>
        </p:txBody>
      </p:sp>
      <p:sp>
        <p:nvSpPr>
          <p:cNvPr id="7" name="Text 5"/>
          <p:cNvSpPr txBox="1"/>
          <p:nvPr/>
        </p:nvSpPr>
        <p:spPr>
          <a:xfrm>
            <a:off x="457200" y="502920"/>
            <a:ext cx="7315200" cy="548640"/>
          </a:xfrm>
          <a:prstGeom prst="rect">
            <a:avLst/>
          </a:prstGeom>
          <a:noFill/>
          <a:ln/>
        </p:spPr>
        <p:txBody>
          <a:bodyPr wrap="square" lIns="0" tIns="0" rIns="0" bIns="0" rtlCol="0" anchor="ctr"/>
          <a:lstStyle/>
          <a:p>
            <a:pPr marL="0" indent="0">
              <a:buNone/>
            </a:pPr>
            <a:r>
              <a:rPr lang="en-US" sz="2800" b="1" dirty="0">
                <a:solidFill>
                  <a:srgbClr val="231F20"/>
                </a:solidFill>
                <a:latin typeface="Calibri" pitchFamily="34" charset="0"/>
                <a:ea typeface="Calibri" pitchFamily="34" charset="-122"/>
                <a:cs typeface="Calibri" pitchFamily="34" charset="-120"/>
              </a:rPr>
              <a:t>Références et sources de données</a:t>
            </a:r>
            <a:endParaRPr lang="en-US" sz="2800" dirty="0"/>
          </a:p>
        </p:txBody>
      </p:sp>
      <p:sp>
        <p:nvSpPr>
          <p:cNvPr id="8" name="Shape 6"/>
          <p:cNvSpPr/>
          <p:nvPr/>
        </p:nvSpPr>
        <p:spPr>
          <a:xfrm>
            <a:off x="7635240" y="301752"/>
            <a:ext cx="109728" cy="109728"/>
          </a:xfrm>
          <a:prstGeom prst="ellipse">
            <a:avLst/>
          </a:prstGeom>
          <a:solidFill>
            <a:srgbClr val="D5DED9"/>
          </a:solidFill>
          <a:ln w="12700">
            <a:solidFill>
              <a:srgbClr val="D5DED9"/>
            </a:solidFill>
            <a:prstDash val="solid"/>
          </a:ln>
        </p:spPr>
      </p:sp>
      <p:sp>
        <p:nvSpPr>
          <p:cNvPr id="9" name="Shape 7"/>
          <p:cNvSpPr/>
          <p:nvPr/>
        </p:nvSpPr>
        <p:spPr>
          <a:xfrm>
            <a:off x="7818120" y="301752"/>
            <a:ext cx="109728" cy="109728"/>
          </a:xfrm>
          <a:prstGeom prst="ellipse">
            <a:avLst/>
          </a:prstGeom>
          <a:solidFill>
            <a:srgbClr val="D5DED9"/>
          </a:solidFill>
          <a:ln w="12700">
            <a:solidFill>
              <a:srgbClr val="D5DED9"/>
            </a:solidFill>
            <a:prstDash val="solid"/>
          </a:ln>
        </p:spPr>
      </p:sp>
      <p:sp>
        <p:nvSpPr>
          <p:cNvPr id="10" name="Shape 8"/>
          <p:cNvSpPr/>
          <p:nvPr/>
        </p:nvSpPr>
        <p:spPr>
          <a:xfrm>
            <a:off x="8001000" y="301752"/>
            <a:ext cx="109728" cy="109728"/>
          </a:xfrm>
          <a:prstGeom prst="ellipse">
            <a:avLst/>
          </a:prstGeom>
          <a:solidFill>
            <a:srgbClr val="D5DED9"/>
          </a:solidFill>
          <a:ln w="12700">
            <a:solidFill>
              <a:srgbClr val="D5DED9"/>
            </a:solidFill>
            <a:prstDash val="solid"/>
          </a:ln>
        </p:spPr>
      </p:sp>
      <p:sp>
        <p:nvSpPr>
          <p:cNvPr id="11" name="Shape 9"/>
          <p:cNvSpPr/>
          <p:nvPr/>
        </p:nvSpPr>
        <p:spPr>
          <a:xfrm>
            <a:off x="8183880" y="301752"/>
            <a:ext cx="109728" cy="109728"/>
          </a:xfrm>
          <a:prstGeom prst="ellipse">
            <a:avLst/>
          </a:prstGeom>
          <a:solidFill>
            <a:srgbClr val="D5DED9"/>
          </a:solidFill>
          <a:ln w="12700">
            <a:solidFill>
              <a:srgbClr val="D5DED9"/>
            </a:solidFill>
            <a:prstDash val="solid"/>
          </a:ln>
        </p:spPr>
      </p:sp>
      <p:sp>
        <p:nvSpPr>
          <p:cNvPr id="12" name="Shape 10"/>
          <p:cNvSpPr/>
          <p:nvPr/>
        </p:nvSpPr>
        <p:spPr>
          <a:xfrm>
            <a:off x="8366760" y="301752"/>
            <a:ext cx="109728" cy="109728"/>
          </a:xfrm>
          <a:prstGeom prst="ellipse">
            <a:avLst/>
          </a:prstGeom>
          <a:solidFill>
            <a:srgbClr val="D5DED9"/>
          </a:solidFill>
          <a:ln w="12700">
            <a:solidFill>
              <a:srgbClr val="D5DED9"/>
            </a:solidFill>
            <a:prstDash val="solid"/>
          </a:ln>
        </p:spPr>
      </p:sp>
      <p:sp>
        <p:nvSpPr>
          <p:cNvPr id="13" name="Shape 11"/>
          <p:cNvSpPr/>
          <p:nvPr/>
        </p:nvSpPr>
        <p:spPr>
          <a:xfrm>
            <a:off x="8549640" y="301752"/>
            <a:ext cx="109728" cy="109728"/>
          </a:xfrm>
          <a:prstGeom prst="ellipse">
            <a:avLst/>
          </a:prstGeom>
          <a:solidFill>
            <a:srgbClr val="D5DED9"/>
          </a:solidFill>
          <a:ln w="12700">
            <a:solidFill>
              <a:srgbClr val="D5DED9"/>
            </a:solidFill>
            <a:prstDash val="solid"/>
          </a:ln>
        </p:spPr>
      </p:sp>
      <p:sp>
        <p:nvSpPr>
          <p:cNvPr id="14" name="Text 12"/>
          <p:cNvSpPr txBox="1"/>
          <p:nvPr/>
        </p:nvSpPr>
        <p:spPr>
          <a:xfrm>
            <a:off x="457200" y="4846320"/>
            <a:ext cx="5486400" cy="182880"/>
          </a:xfrm>
          <a:prstGeom prst="rect">
            <a:avLst/>
          </a:prstGeom>
          <a:noFill/>
          <a:ln/>
        </p:spPr>
        <p:txBody>
          <a:bodyPr wrap="square" lIns="0" tIns="0" rIns="0" bIns="0" rtlCol="0" anchor="t"/>
          <a:lstStyle/>
          <a:p>
            <a:pPr marL="0" indent="0">
              <a:buNone/>
            </a:pPr>
            <a:r>
              <a:rPr lang="en-US" sz="850" dirty="0">
                <a:solidFill>
                  <a:srgbClr val="8A9590"/>
                </a:solidFill>
                <a:latin typeface="Calibri" pitchFamily="34" charset="0"/>
                <a:ea typeface="Calibri" pitchFamily="34" charset="-122"/>
                <a:cs typeface="Calibri" pitchFamily="34" charset="-120"/>
              </a:rPr>
              <a:t>Lumières nocturnes  ·  BAD – Innovation des données pour l’Afrique (DI4A)</a:t>
            </a:r>
            <a:endParaRPr lang="en-US" sz="850" dirty="0"/>
          </a:p>
        </p:txBody>
      </p:sp>
      <p:sp>
        <p:nvSpPr>
          <p:cNvPr id="15" name="Text 13"/>
          <p:cNvSpPr txBox="1"/>
          <p:nvPr/>
        </p:nvSpPr>
        <p:spPr>
          <a:xfrm>
            <a:off x="7772400" y="4846320"/>
            <a:ext cx="914400" cy="182880"/>
          </a:xfrm>
          <a:prstGeom prst="rect">
            <a:avLst/>
          </a:prstGeom>
          <a:noFill/>
          <a:ln/>
        </p:spPr>
        <p:txBody>
          <a:bodyPr wrap="square" lIns="0" tIns="0" rIns="0" bIns="0" rtlCol="0" anchor="t"/>
          <a:lstStyle/>
          <a:p>
            <a:pPr marL="0" indent="0" algn="r">
              <a:buNone/>
            </a:pPr>
            <a:r>
              <a:rPr lang="en-US" sz="850" dirty="0">
                <a:solidFill>
                  <a:srgbClr val="8A9590"/>
                </a:solidFill>
                <a:latin typeface="Calibri" pitchFamily="34" charset="0"/>
                <a:ea typeface="Calibri" pitchFamily="34" charset="-122"/>
                <a:cs typeface="Calibri" pitchFamily="34" charset="-120"/>
              </a:rPr>
              <a:t>32</a:t>
            </a:r>
            <a:endParaRPr lang="en-US" sz="850" dirty="0"/>
          </a:p>
        </p:txBody>
      </p:sp>
      <p:sp>
        <p:nvSpPr>
          <p:cNvPr id="17" name="Text 14"/>
          <p:cNvSpPr txBox="1"/>
          <p:nvPr/>
        </p:nvSpPr>
        <p:spPr>
          <a:xfrm>
            <a:off x="457200" y="1298448"/>
            <a:ext cx="5440680" cy="3291840"/>
          </a:xfrm>
          <a:prstGeom prst="rect">
            <a:avLst/>
          </a:prstGeom>
          <a:noFill/>
          <a:ln/>
        </p:spPr>
        <p:txBody>
          <a:bodyPr wrap="square" lIns="0" tIns="0" rIns="0" bIns="0" rtlCol="0" anchor="t"/>
          <a:lstStyle/>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Bruederle, A. et Hodler, R. (2018). Nighttime lights as a proxy for human development at the local level. PLOS ONE, 13(9).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Elvidge, C. D. et al. (2017). VIIRS night-time lights. International Journal of Remote Sensing, 38(21).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Falchetta, G. et al. (2019). A high-resolution gridded dataset to assess electrification in sub-Saharan Africa. Scientific Data, 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Henderson, J. V., Storeygard, A. et Weil, D. N. (2012). Measuring economic growth from outer space. American Economic Review, 102(2).</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(2017). Artificially lit surface of Earth at night increasing in radiance and extent. Science Advances, 3(11).</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Kyba, C. et al. (2023). Citizen scientists report global rapid reductions in the visibility of stars. Science, 379.</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Li, D. (2014). Can night-time light images play a role in evaluating the Syrian crisis? IJRS, 35(18).</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Martinez, L. R. (2022). How much should we trust the dictator’s GDP growth estimates? Journal of Political Economy, 130(10).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(2019). Satellite-based assessment of electricity restoration efforts in Puerto Rico after Hurricane Maria. PLOS ONE, 14(6).</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The rural limits of conflict monitoring using nighttime lights (2025). Humanities and Social Sciences Communications.</a:t>
            </a:r>
            <a:endParaRPr lang="en-US" sz="850" dirty="0"/>
          </a:p>
          <a:p>
            <a:pPr marL="127000" indent="-127000">
              <a:spcAft>
                <a:spcPts val="200"/>
              </a:spcAft>
              <a:buSzPct val="100000"/>
              <a:buChar char="•"/>
            </a:pPr>
            <a:r>
              <a:rPr lang="en-US" sz="850" dirty="0">
                <a:solidFill>
                  <a:srgbClr val="231F20"/>
                </a:solidFill>
                <a:latin typeface="Calibri" pitchFamily="34" charset="0"/>
                <a:ea typeface="Calibri" pitchFamily="34" charset="-122"/>
                <a:cs typeface="Calibri" pitchFamily="34" charset="-120"/>
              </a:rPr>
              <a:t>AIE, IRENA, ONU-DAES, Banque mondiale, OMS (2026). Tracking SDG 7 : The Energy Progress Report.</a:t>
            </a:r>
            <a:endParaRPr lang="en-US" sz="850" dirty="0"/>
          </a:p>
        </p:txBody>
      </p:sp>
      <p:sp>
        <p:nvSpPr>
          <p:cNvPr id="18" name="Shape 15"/>
          <p:cNvSpPr/>
          <p:nvPr/>
        </p:nvSpPr>
        <p:spPr>
          <a:xfrm>
            <a:off x="6080760" y="1325880"/>
            <a:ext cx="2606040" cy="3246120"/>
          </a:xfrm>
          <a:prstGeom prst="roundRect">
            <a:avLst>
              <a:gd name="adj" fmla="val 2807"/>
            </a:avLst>
          </a:prstGeom>
          <a:solidFill>
            <a:srgbClr val="E8F5EF"/>
          </a:solidFill>
          <a:ln w="15875">
            <a:solidFill>
              <a:srgbClr val="00A86A"/>
            </a:solidFill>
            <a:prstDash val="solid"/>
          </a:ln>
        </p:spPr>
      </p:sp>
      <p:sp>
        <p:nvSpPr>
          <p:cNvPr id="19" name="Text 16"/>
          <p:cNvSpPr txBox="1"/>
          <p:nvPr/>
        </p:nvSpPr>
        <p:spPr>
          <a:xfrm>
            <a:off x="6217920" y="1417320"/>
            <a:ext cx="2286000" cy="182880"/>
          </a:xfrm>
          <a:prstGeom prst="rect">
            <a:avLst/>
          </a:prstGeom>
          <a:noFill/>
          <a:ln/>
        </p:spPr>
        <p:txBody>
          <a:bodyPr wrap="square" lIns="0" tIns="0" rIns="0" bIns="0" rtlCol="0" anchor="t"/>
          <a:lstStyle/>
          <a:p>
            <a:pPr marL="0" indent="0">
              <a:buNone/>
            </a:pPr>
            <a:r>
              <a:rPr lang="en-US" sz="1000" b="1" kern="0" spc="200" dirty="0">
                <a:solidFill>
                  <a:srgbClr val="00704A"/>
                </a:solidFill>
                <a:latin typeface="Calibri" pitchFamily="34" charset="0"/>
                <a:ea typeface="Calibri" pitchFamily="34" charset="-122"/>
                <a:cs typeface="Calibri" pitchFamily="34" charset="-120"/>
              </a:rPr>
              <a:t>DONNÉES ET OUTILS</a:t>
            </a:r>
            <a:endParaRPr lang="en-US" sz="1000" dirty="0"/>
          </a:p>
        </p:txBody>
      </p:sp>
      <p:sp>
        <p:nvSpPr>
          <p:cNvPr id="20" name="Shape 17"/>
          <p:cNvSpPr/>
          <p:nvPr/>
        </p:nvSpPr>
        <p:spPr>
          <a:xfrm>
            <a:off x="6217920" y="1719072"/>
            <a:ext cx="365760" cy="365760"/>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icPr>
            <a:picLocks noChangeAspect="1"/>
          </p:cNvPicPr>
          <p:nvPr/>
        </p:nvPicPr>
        <p:blipFill>
          <a:blip r:embed="rId3"/>
          <a:stretch>
            <a:fillRect/>
          </a:stretch>
        </p:blipFill>
        <p:spPr>
          <a:xfrm>
            <a:off x="6313018" y="1814170"/>
            <a:ext cx="175565" cy="175565"/>
          </a:xfrm>
          <a:prstGeom prst="rect">
            <a:avLst/>
          </a:prstGeom>
        </p:spPr>
      </p:pic>
      <p:sp>
        <p:nvSpPr>
          <p:cNvPr id="22" name="Text 18"/>
          <p:cNvSpPr txBox="1"/>
          <p:nvPr/>
        </p:nvSpPr>
        <p:spPr>
          <a:xfrm>
            <a:off x="6675120" y="168249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NASA Black Marble</a:t>
            </a:r>
            <a:endParaRPr lang="en-US" sz="950" dirty="0"/>
          </a:p>
        </p:txBody>
      </p:sp>
      <p:sp>
        <p:nvSpPr>
          <p:cNvPr id="23" name="Text 19"/>
          <p:cNvSpPr txBox="1"/>
          <p:nvPr/>
        </p:nvSpPr>
        <p:spPr>
          <a:xfrm>
            <a:off x="6675120" y="192024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LAADS DAAC · Earthdata</a:t>
            </a:r>
            <a:endParaRPr lang="en-US" sz="850" dirty="0"/>
          </a:p>
        </p:txBody>
      </p:sp>
      <p:sp>
        <p:nvSpPr>
          <p:cNvPr id="24" name="Shape 20"/>
          <p:cNvSpPr/>
          <p:nvPr/>
        </p:nvSpPr>
        <p:spPr>
          <a:xfrm>
            <a:off x="6217920" y="2267712"/>
            <a:ext cx="365760" cy="365760"/>
          </a:xfrm>
          <a:prstGeom prst="ellipse">
            <a:avLst/>
          </a:prstGeom>
          <a:solidFill>
            <a:srgbClr val="00A86A">
              <a:alpha val="22000"/>
            </a:srgbClr>
          </a:solidFill>
          <a:ln w="12700">
            <a:solidFill>
              <a:srgbClr val="00A86A">
                <a:alpha val="0"/>
              </a:srgbClr>
            </a:solidFill>
            <a:prstDash val="solid"/>
          </a:ln>
        </p:spPr>
      </p:sp>
      <p:pic>
        <p:nvPicPr>
          <p:cNvPr id="25" name="Image 1" descr="preencoded.png"/>
          <p:cNvPicPr>
            <a:picLocks noChangeAspect="1"/>
          </p:cNvPicPr>
          <p:nvPr/>
        </p:nvPicPr>
        <p:blipFill>
          <a:blip r:embed="rId4"/>
          <a:stretch>
            <a:fillRect/>
          </a:stretch>
        </p:blipFill>
        <p:spPr>
          <a:xfrm>
            <a:off x="6313018" y="2362810"/>
            <a:ext cx="175565" cy="175565"/>
          </a:xfrm>
          <a:prstGeom prst="rect">
            <a:avLst/>
          </a:prstGeom>
        </p:spPr>
      </p:pic>
      <p:sp>
        <p:nvSpPr>
          <p:cNvPr id="26" name="Text 21"/>
          <p:cNvSpPr txBox="1"/>
          <p:nvPr/>
        </p:nvSpPr>
        <p:spPr>
          <a:xfrm>
            <a:off x="6675120" y="223113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Earth Observation Group</a:t>
            </a:r>
            <a:endParaRPr lang="en-US" sz="950" dirty="0"/>
          </a:p>
        </p:txBody>
      </p:sp>
      <p:sp>
        <p:nvSpPr>
          <p:cNvPr id="27" name="Text 22"/>
          <p:cNvSpPr txBox="1"/>
          <p:nvPr/>
        </p:nvSpPr>
        <p:spPr>
          <a:xfrm>
            <a:off x="6675120" y="246888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Composites VNL, Nightfire</a:t>
            </a:r>
            <a:endParaRPr lang="en-US" sz="850" dirty="0"/>
          </a:p>
        </p:txBody>
      </p:sp>
      <p:sp>
        <p:nvSpPr>
          <p:cNvPr id="28" name="Shape 23"/>
          <p:cNvSpPr/>
          <p:nvPr/>
        </p:nvSpPr>
        <p:spPr>
          <a:xfrm>
            <a:off x="6217920" y="2816352"/>
            <a:ext cx="365760" cy="36576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icPr>
            <a:picLocks noChangeAspect="1"/>
          </p:cNvPicPr>
          <p:nvPr/>
        </p:nvPicPr>
        <p:blipFill>
          <a:blip r:embed="rId5"/>
          <a:stretch>
            <a:fillRect/>
          </a:stretch>
        </p:blipFill>
        <p:spPr>
          <a:xfrm>
            <a:off x="6313018" y="2911450"/>
            <a:ext cx="175565" cy="175565"/>
          </a:xfrm>
          <a:prstGeom prst="rect">
            <a:avLst/>
          </a:prstGeom>
        </p:spPr>
      </p:pic>
      <p:sp>
        <p:nvSpPr>
          <p:cNvPr id="30" name="Text 24"/>
          <p:cNvSpPr txBox="1"/>
          <p:nvPr/>
        </p:nvSpPr>
        <p:spPr>
          <a:xfrm>
            <a:off x="6675120" y="277977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Google Earth Engine</a:t>
            </a:r>
            <a:endParaRPr lang="en-US" sz="950" dirty="0"/>
          </a:p>
        </p:txBody>
      </p:sp>
      <p:sp>
        <p:nvSpPr>
          <p:cNvPr id="31" name="Text 25"/>
          <p:cNvSpPr txBox="1"/>
          <p:nvPr/>
        </p:nvSpPr>
        <p:spPr>
          <a:xfrm>
            <a:off x="6675120" y="301752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Archive hébergée prête à l’analyse</a:t>
            </a:r>
            <a:endParaRPr lang="en-US" sz="850" dirty="0"/>
          </a:p>
        </p:txBody>
      </p:sp>
      <p:sp>
        <p:nvSpPr>
          <p:cNvPr id="32" name="Shape 26"/>
          <p:cNvSpPr/>
          <p:nvPr/>
        </p:nvSpPr>
        <p:spPr>
          <a:xfrm>
            <a:off x="6217920" y="3364992"/>
            <a:ext cx="365760" cy="365760"/>
          </a:xfrm>
          <a:prstGeom prst="ellipse">
            <a:avLst/>
          </a:prstGeom>
          <a:solidFill>
            <a:srgbClr val="00A86A">
              <a:alpha val="22000"/>
            </a:srgbClr>
          </a:solidFill>
          <a:ln w="12700">
            <a:solidFill>
              <a:srgbClr val="00A86A">
                <a:alpha val="0"/>
              </a:srgbClr>
            </a:solidFill>
            <a:prstDash val="solid"/>
          </a:ln>
        </p:spPr>
      </p:sp>
      <p:pic>
        <p:nvPicPr>
          <p:cNvPr id="33" name="Image 3" descr="preencoded.png"/>
          <p:cNvPicPr>
            <a:picLocks noChangeAspect="1"/>
          </p:cNvPicPr>
          <p:nvPr/>
        </p:nvPicPr>
        <p:blipFill>
          <a:blip r:embed="rId6"/>
          <a:stretch>
            <a:fillRect/>
          </a:stretch>
        </p:blipFill>
        <p:spPr>
          <a:xfrm>
            <a:off x="6313018" y="3460090"/>
            <a:ext cx="175565" cy="175565"/>
          </a:xfrm>
          <a:prstGeom prst="rect">
            <a:avLst/>
          </a:prstGeom>
        </p:spPr>
      </p:pic>
      <p:sp>
        <p:nvSpPr>
          <p:cNvPr id="34" name="Text 27"/>
          <p:cNvSpPr txBox="1"/>
          <p:nvPr/>
        </p:nvSpPr>
        <p:spPr>
          <a:xfrm>
            <a:off x="6675120" y="332841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HREA</a:t>
            </a:r>
            <a:endParaRPr lang="en-US" sz="950" dirty="0"/>
          </a:p>
        </p:txBody>
      </p:sp>
      <p:sp>
        <p:nvSpPr>
          <p:cNvPr id="35" name="Text 28"/>
          <p:cNvSpPr txBox="1"/>
          <p:nvPr/>
        </p:nvSpPr>
        <p:spPr>
          <a:xfrm>
            <a:off x="6675120" y="356616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Accès à l’électricité par localité</a:t>
            </a:r>
            <a:endParaRPr lang="en-US" sz="850" dirty="0"/>
          </a:p>
        </p:txBody>
      </p:sp>
      <p:sp>
        <p:nvSpPr>
          <p:cNvPr id="36" name="Shape 29"/>
          <p:cNvSpPr/>
          <p:nvPr/>
        </p:nvSpPr>
        <p:spPr>
          <a:xfrm>
            <a:off x="6217920" y="3913632"/>
            <a:ext cx="365760" cy="365760"/>
          </a:xfrm>
          <a:prstGeom prst="ellipse">
            <a:avLst/>
          </a:prstGeom>
          <a:solidFill>
            <a:srgbClr val="00A86A">
              <a:alpha val="22000"/>
            </a:srgbClr>
          </a:solidFill>
          <a:ln w="12700">
            <a:solidFill>
              <a:srgbClr val="00A86A">
                <a:alpha val="0"/>
              </a:srgbClr>
            </a:solidFill>
            <a:prstDash val="solid"/>
          </a:ln>
        </p:spPr>
      </p:sp>
      <p:pic>
        <p:nvPicPr>
          <p:cNvPr id="37" name="Image 4" descr="preencoded.png"/>
          <p:cNvPicPr>
            <a:picLocks noChangeAspect="1"/>
          </p:cNvPicPr>
          <p:nvPr/>
        </p:nvPicPr>
        <p:blipFill>
          <a:blip r:embed="rId7"/>
          <a:stretch>
            <a:fillRect/>
          </a:stretch>
        </p:blipFill>
        <p:spPr>
          <a:xfrm>
            <a:off x="6313018" y="4008730"/>
            <a:ext cx="175565" cy="175565"/>
          </a:xfrm>
          <a:prstGeom prst="rect">
            <a:avLst/>
          </a:prstGeom>
        </p:spPr>
      </p:pic>
      <p:sp>
        <p:nvSpPr>
          <p:cNvPr id="38" name="Text 30"/>
          <p:cNvSpPr txBox="1"/>
          <p:nvPr/>
        </p:nvSpPr>
        <p:spPr>
          <a:xfrm>
            <a:off x="6675120" y="3877056"/>
            <a:ext cx="1965960" cy="237744"/>
          </a:xfrm>
          <a:prstGeom prst="rect">
            <a:avLst/>
          </a:prstGeom>
          <a:noFill/>
          <a:ln/>
        </p:spPr>
        <p:txBody>
          <a:bodyPr wrap="square" lIns="0" tIns="0" rIns="0" bIns="0" rtlCol="0" anchor="t"/>
          <a:lstStyle/>
          <a:p>
            <a:pPr marL="0" indent="0">
              <a:buNone/>
            </a:pPr>
            <a:r>
              <a:rPr lang="en-US" sz="950" b="1" dirty="0">
                <a:solidFill>
                  <a:srgbClr val="231F20"/>
                </a:solidFill>
                <a:latin typeface="Calibri" pitchFamily="34" charset="0"/>
                <a:ea typeface="Calibri" pitchFamily="34" charset="-122"/>
                <a:cs typeface="Calibri" pitchFamily="34" charset="-120"/>
              </a:rPr>
              <a:t>Open Nighttime Lights</a:t>
            </a:r>
            <a:endParaRPr lang="en-US" sz="950" dirty="0"/>
          </a:p>
        </p:txBody>
      </p:sp>
      <p:sp>
        <p:nvSpPr>
          <p:cNvPr id="39" name="Text 31"/>
          <p:cNvSpPr txBox="1"/>
          <p:nvPr/>
        </p:nvSpPr>
        <p:spPr>
          <a:xfrm>
            <a:off x="6675120" y="4114800"/>
            <a:ext cx="1965960" cy="201168"/>
          </a:xfrm>
          <a:prstGeom prst="rect">
            <a:avLst/>
          </a:prstGeom>
          <a:noFill/>
          <a:ln/>
        </p:spPr>
        <p:txBody>
          <a:bodyPr wrap="square" lIns="0" tIns="0" rIns="0" bIns="0" rtlCol="0" anchor="t"/>
          <a:lstStyle/>
          <a:p>
            <a:pPr marL="0" indent="0">
              <a:buNone/>
            </a:pPr>
            <a:r>
              <a:rPr lang="en-US" sz="850" dirty="0">
                <a:solidFill>
                  <a:srgbClr val="5E6964"/>
                </a:solidFill>
                <a:latin typeface="Calibri" pitchFamily="34" charset="0"/>
                <a:ea typeface="Calibri" pitchFamily="34" charset="-122"/>
                <a:cs typeface="Calibri" pitchFamily="34" charset="-120"/>
              </a:rPr>
              <a:t>Tutoriels Banque mondiale</a:t>
            </a:r>
            <a:endParaRPr lang="en-US" sz="85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uit urbaine">
  <a:themeElements>
    <a:clrScheme name="Nuit urbaine">
      <a:dk1>
        <a:srgbClr val="0B1A33"/>
      </a:dk1>
      <a:lt1>
        <a:srgbClr val="FFFFFF"/>
      </a:lt1>
      <a:dk2>
        <a:srgbClr val="16294A"/>
      </a:dk2>
      <a:lt2>
        <a:srgbClr val="C9D3E3"/>
      </a:lt2>
      <a:accent1>
        <a:srgbClr val="F5B841"/>
      </a:accent1>
      <a:accent2>
        <a:srgbClr val="6FC8F2"/>
      </a:accent2>
      <a:accent3>
        <a:srgbClr val="FF8A5B"/>
      </a:accent3>
      <a:accent4>
        <a:srgbClr val="86D28E"/>
      </a:accent4>
      <a:accent5>
        <a:srgbClr val="C2A8F7"/>
      </a:accent5>
      <a:accent6>
        <a:srgbClr val="A9B6CC"/>
      </a:accent6>
      <a:hlink>
        <a:srgbClr val="6FC8F2"/>
      </a:hlink>
      <a:folHlink>
        <a:srgbClr val="C2A8F7"/>
      </a:folHlink>
    </a:clrScheme>
    <a:fontScheme name="Nuit urba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368</TotalTime>
  <Words>8093</Words>
  <Application>Microsoft Office PowerPoint</Application>
  <PresentationFormat>On-screen Show (16:9)</PresentationFormat>
  <Paragraphs>664</Paragraphs>
  <Slides>32</Slides>
  <Notes>30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32</vt:i4>
      </vt:variant>
    </vt:vector>
  </HeadingPairs>
  <TitlesOfParts>
    <vt:vector size="38" baseType="lpstr">
      <vt:lpstr>Aptos</vt:lpstr>
      <vt:lpstr>Arial</vt:lpstr>
      <vt:lpstr>Calibri</vt:lpstr>
      <vt:lpstr>Cambria</vt:lpstr>
      <vt:lpstr>Office Theme</vt:lpstr>
      <vt:lpstr>Nuit urbaine</vt:lpstr>
      <vt:lpstr>PowerPoint Presentation</vt:lpstr>
      <vt:lpstr>PowerPoint Presentation</vt:lpstr>
      <vt:lpstr>PowerPoint Presentation</vt:lpstr>
      <vt:lpstr>PowerPoint Presentation</vt:lpstr>
      <vt:lpstr>PowerPoint Presentation</vt:lpstr>
      <vt:lpstr>PowerPoint Presentation</vt:lpstr>
      <vt:lpstr>Ce que la recherche associe aux lumières nocturnes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African Development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Lumières nocturnes : ce que nous dit l’obscurité — BAD – Data Innovation for Africa (DI4A)</dc:title>
  <dc:subject>PptxGenJS Presentation</dc:subject>
  <dc:creator>Banque africaine de développement – Data Innovation for Africa (DI4A)</dc:creator>
  <cp:lastModifiedBy>HADJ TAIEB, MOHAMED ALI</cp:lastModifiedBy>
  <cp:revision>16</cp:revision>
  <dcterms:created xsi:type="dcterms:W3CDTF">2026-09-16T15:29:04Z</dcterms:created>
  <dcterms:modified xsi:type="dcterms:W3CDTF">2026-10-27T02:59:19Z</dcterms:modified>
</cp:coreProperties>
</file>