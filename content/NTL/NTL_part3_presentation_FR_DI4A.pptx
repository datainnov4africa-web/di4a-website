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51f882c7-e5fb-d070-1bff-016c4ccfbe1c}">
          <p14:sldIdLst>
            <p14:sldId id="256"/>
            <p14:sldId id="257"/>
            <p14:sldId id="258"/>
          </p14:sldIdLst>
        </p14:section>
        <p14:section name="A · Pourquoi les lumières" id="{008f9756-0020-9d23-8dbd-373382733221}">
          <p14:sldIdLst>
            <p14:sldId id="259"/>
            <p14:sldId id="260"/>
            <p14:sldId id="261"/>
          </p14:sldIdLst>
        </p14:section>
        <p14:section name="B · Capteurs et données" id="{98dc322a-fa3f-0a8d-d344-4824423d6e73}">
          <p14:sldIdLst>
            <p14:sldId id="262"/>
            <p14:sldId id="263"/>
            <p14:sldId id="264"/>
            <p14:sldId id="265"/>
          </p14:sldIdLst>
        </p14:section>
        <p14:section name="C · Architecture et pipeline" id="{965af359-e22f-02a2-67e1-7ea99ea770f8}">
          <p14:sldIdLst>
            <p14:sldId id="266"/>
            <p14:sldId id="267"/>
            <p14:sldId id="268"/>
          </p14:sldIdLst>
        </p14:section>
        <p14:section name="D · Prétraitement" id="{adafda4c-a475-68fd-049c-2a142f904a17}">
          <p14:sldIdLst>
            <p14:sldId id="269"/>
            <p14:sldId id="270"/>
            <p14:sldId id="271"/>
            <p14:sldId id="272"/>
            <p14:sldId id="273"/>
          </p14:sldIdLst>
        </p14:section>
        <p14:section name="E · Analyses" id="{60b0296e-1863-e579-bf29-a73f495a44aa}">
          <p14:sldIdLst>
            <p14:sldId id="274"/>
            <p14:sldId id="275"/>
            <p14:sldId id="276"/>
            <p14:sldId id="277"/>
            <p14:sldId id="278"/>
            <p14:sldId id="279"/>
            <p14:sldId id="280"/>
            <p14:sldId id="281"/>
            <p14:sldId id="282"/>
            <p14:sldId id="283"/>
            <p14:sldId id="284"/>
            <p14:sldId id="285"/>
            <p14:sldId id="286"/>
          </p14:sldIdLst>
        </p14:section>
        <p14:section name="F · Confiance et publication" id="{7ecc5e92-08c0-cb43-044b-74300f6a873f}">
          <p14:sldIdLst>
            <p14:sldId id="287"/>
            <p14:sldId id="288"/>
            <p14:sldId id="289"/>
            <p14:sldId id="290"/>
          </p14:sldIdLst>
        </p14:section>
        <p14:section name="G · Synthèse" id="{55856e9a-7087-d3f5-21ab-5f44d6399acc}">
          <p14:sldIdLst>
            <p14:sldId id="291"/>
            <p14:sldId id="292"/>
            <p14:sldId id="293"/>
            <p14:sldId id="294"/>
          </p14:sldIdLst>
        </p14:section>
        <p14:section name="Annexes" id="{bca12b38-072d-bbf3-c8cf-1d5022b8bc83}">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dans cette session pratique. Dans les parties 1 et 2, nous avons vu comment collecter et comprendre un fichier Black Marble. Maintenant, nous passons à l'usage : que peut-on mesurer de l'économie avec les lumières nocturnes, et comment le faire de manière rigoureuse et reproductible ? Tout ce que vous allez voir provient du notebook « partie 3 », qui part d'un simple code pays ISO3 et va jusqu'à un tableau de bord publié sur le web. L'image de droite est réelle : c'est le composite annuel Black Marble 2025 du Ghana. On distingue Accra, Kumasi et les axes routiers. Question à la salle : à votre avis, que mesure exactement cette image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objectifs. D'abord comprendre le signal : les lumières ne sont pas le PIB, mais elles en sont un témoin. Ensuite reproduire : le notebook est conçu pour qu'un seul paramètre, le code ISO3, change le pays analysé. Troisièmement interpréter : nous verrons chaque métrique avec une formule simple, une intuition graphique et la manière de lire le résultat. Enfin publier avec prudence : chaque message produit par le notebook porte un niveau de confiance. C'est le fil rouge de la séance. Demandez-vous en permanence : à quel point puis-je me fier à ce chiffre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Nous commençons par l'intuition et la littérature, puis les capteurs. Ensuite l'architecture du pipeline et le prétraitement, qui est souvent la partie la plus sous-estimée. Le cœur de la séance est la partie E : six familles d'analyses, chacune avec sa question économique, sa métrique et son piège. Nous terminons par la confiance et la publication, puis par une passerelle vers vos propres projets. Gardez des questions pour la fin : nous aurons quelques minutes d'échange.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L'intuition est simple : toute activité consomme de l'énergie, et une partie de cette énergie s'échappe la nuit sous forme de lumière. Plus une zone est active, plus elle brille. La carte de gauche est réelle : elle montre où la lumière a augmenté ou diminué au Ghana entre 2020 et 2025. Les trois atouts du signal sont l'homogénéité, la finesse spatiale et la rapidité. Mais attention : ce sont des atouts pour compléter la statistique officielle, pas pour la remplacer. Question : dans votre pays, quelle statistique manque le plus au niveau régional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références structurent le domaine. Chen et Nordhaus montrent que les lumières sont surtout utiles là où la statistique est fragile. Henderson, Storeygard et Weil, l'article fondateur en économie, trouvent une élasticité d'environ 0,3 : c'est un ordre de grandeur, pas une constante. Elvidge et Román décrivent les produits que nous utilisons. Li et al. fournissent la série longue harmonisée. Gibson et ses coauteurs rappellent les limites en zone rurale. Point important : le notebook estime l'élasticité de votre pays, avec son intervalle de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la plus importante pour éviter les erreurs d'interprétation. Le satellite passe vers une heure et demie du matin. Il voit donc l'éclairage urbain, l'industrie, les ports, les corridors. Il voit mal l'agriculture, le commerce de jour et l'économie informelle rurale. Et il voit des lumières sans activité locale : torchères de gaz, feux de brousse. Conséquence : la relation entre lumière et PIB dépend de la structure de l'économie. Question : quelle part de votre PIB est peu visible la nuit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satellite qui nous intéresse est en orbite polaire, à environ 830 kilomètres. Son capteur VIIRS possède une bande spéciale, la Day/Night Band, capable de mesurer des niveaux de lumière extrêmement faibles. Il passe chaque nuit vers une heure et demie, ce qui rend les mesures comparables d'un pays à l'autre. Les produits sont rééchantillonnés sur une grille d'environ 500 mètres. L'unité est une radiance : des nanowatts par centimètre carré et par stéradian. Retenez qu'il s'agit d'une intensité lumineuse, pas d'une énergie consommée.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générations de capteurs coexistent. DMSP-OLS, de 1992 à 2013, est un capteur militaire non calibré, à environ un kilomètre, qui code la lumière de 0 à 63 et sature au centre des villes. VIIRS, depuis 2012, est calibré, plus fin et ne sature pas. L'image réelle du delta du Mékong le montre : à gauche VIIRS distingue les villages, à droite DMSP donne une tache floue. Black Marble est la version quotidienne corrigée de VIIRS. Le notebook utilise VIIRS pour tout, DMSP seulement pour la série longue, et contrôle la jonction entre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images réelles de Chicago. À gauche, DMSP en 2013 : tout ce qui est en rouge est saturé, à la valeur maximale de 63. Le profil devient un plateau : on ne peut plus voir la croissance du centre. À droite, VIIRS en 2016 sur la même zone : les valeurs varient de 25 à 280 nanowatts, la structure urbaine réapparaît. Le débordement, ou blooming, existe encore avec VIIRS mais il est plus faible. Pour vos analyses : préférez VIIRS, et méfiez-vous des petites unités administratives voisines de grandes villes.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toutes les sources mobilisées, avec leur période de couverture. Le cœur est VIIRS, en mensuel et en annuel. Black Marble quotidien sert à zoomer sur les chocs. DMSP et la série harmonisée permettent de remonter jusqu'en 1992, à lire en tendance. GHSL ou WorldPop donnent la population, indispensable pour raisonner par habitant et pour la population dans le noir. Sentinel-5P apporte le dioxyde d'azote comme indicateur industriel complémentaire. Enfin la Banque mondiale fournit le PIB réel et le taux d'accès à l'électricité pour la validation. Toutes ces données sont lues dans Google Earth Engine, sauf les indicateurs de la Banque mondiale.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pipeline complet. On fixe un code ISO3 et une période. Earth Engine fait les calculs lourds côté serveur : on ne télécharge jamais les images, seulement des tableaux agrégés par unité administrative et par mois. Ces tableaux sont mis en cache. Viennent ensuite le prétraitement, les analyses des sections 4 à 10, l'export de fichiers statiques et la publication sur GitHub Pages. Quatre principes : reproductible, léger, mis en cache, traçable. Les bandeaux verts indiquent la section du notebook correspondant à chaque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code est organisé en quatre couches. L'acquisition parle à Earth Engine et à l'API de la Banque mondiale. Le prétraitement applique les règles de qualité et gère le cache. L'analyse contient les méthodes statistiques : séries temporelles, indicateurs, économétrie, chocs, et un module d'orchestration. La restitution produit les graphiques, les messages clés avec leur confiance, les fichiers exportés et la publication. Le notebook embarque tout ce code : il fonctionne seul, même ouvert directement dans Colab. Le tableau de bord est un site statique, sans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voici la seule cellule que vous modifiez. Le code ISO3 détermine tout : frontières, population, PIB, noms des régions. La période commence en 2014, première année complète de VIIRS mensuel ; si vous laissez END_YEAR vide, le notebook prend la dernière année complète disponible. Le bloc CUSTOM_EVENTS vous permet d'ajouter les chocs connus de votre pays, ce qui améliore beaucoup la section sur les chocs. Tous les autres seuils, comme le seuil de nuages ou de torchères, ont des valeurs par défaut documentées. Exercice : quel événement ajouteriez-vous pour votre pays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grandeurs reviennent partout. La radiance est la mesure d'un pixel. La somme des lumières, ou SoL, additionne les radiances de tous les pixels d'une unité administrative : c'est un indice d'activité, pas une quantité d'énergie. La lumière par habitant divise la SoL par la population, et permet de distinguer une région réellement active d'une région simplement peuplée. L'image réelle de la Suisse montre aussi des zones grises : ce sont des pixels non observés. Règle d'or : un pixel manquant n'est pas un pixel sombre.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prétraitement transforme des milliers d'images en tableaux propres. Six règles, chacune avec sa justification. Un : les nuages ; un pixel n'est retenu que s'il a au moins deux observations sans nuage dans le mois, et une unité-mois n'est gardée que si 80 % de ses pixels sont valides. Deux : les valeurs négatives, du bruit, mises à zéro. Trois : les valeurs aberrantes, plafonnées ou remplacées par la médiane. Quatre : le fond non éclairé. Cinq : les torchères de gaz, masquées avec un halo de deux kilomètres. Six : la saturation DMSP. Chaque seuil est un choix documenté et modifiable.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images réelles de la Suisse en janvier. À gauche, l'indicateur de qualité quotidien : on voit d'immenses zones de mauvaise qualité, dues aux nuages et à la neige. À droite, le nombre d'observations exploitables dans le mois : il varie fortement d'une zone à l'autre. Si l'on traitait ces pixels comme sombres, la lumière nationale chuterait artificiellement en hiver. D'où trois règles : filtrer par qualité, exiger une couverture minimale, et remettre à l'échelle seulement quand au moins 80 % des pixels sont valides. Question : quels mois sont les plus nuageux dans votre pays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torchères de gaz brillent autant qu'une ville, sans activité économique locale. Le notebook les détecte automatiquement : pixels très brillants, presque inhabités, non bâtis. Il les transforme en polygones, ajoute un halo de deux kilomètres pour le débordement, et les retire de toutes les années. La figure de gauche, simulée, montre les trois étapes : image brute, nuages masqués, torchère retirée. À droite, le traitement des pics aberrants : une valeur supérieure à cinq fois la médiane annuelle du pixel est remplacée par la médiane. Attention : le masque peut aussi retirer une mine ou un port isolé ; vérifiez la liste exportée.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d'interpréter quoi que ce soit, on lit le tableau de contrôle qualité de la section 3.4. Six indicateurs : le nombre de mois observés, la couverture sans nuage, la part d'unités-mois exclues, la part de lumière retirée comme torchère, la source de population et la saturation DMSP. Les valeurs affichées ici sont des exemples de format, pas des résultats. Le notebook vérifie aussi la continuité de la série longue à la jonction entre DMSP et VIIRS. Conseil pratique : copiez ce tableau dans toute note méthodologique que vous publiez.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4 du notebook est l'exploration : on regarde les données avant de calculer. Premier réflexe : l'échelle logarithmique. La figure simulée de gauche montre pourquoi : en radiance brute, presque tout est écrasé près de zéro ; en log, la distribution devient lisible. Le notebook propose une carte interactive par année, une carte avant/après, et un tableau par région. La carte réelle du Ghana montre la géographie typique : la capitale, la deuxième ville, des corridors. Exercice : repérez à l'œil un artefact possible sur la carte de votre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lumière varie au fil de l'année sans lien avec l'économie : fêtes de fin d'année, neige qui réfléchit, végétation, longueur des nuits. Pour isoler la tendance, le notebook applique une décomposition STL sur le logarithme de la somme des lumières. La série observée, en gris, se décompose en une tendance, une composante saisonnière et un résidu. La courbe verte, désaisonnalisée, est celle qu'on lit. On applique la STL au logarithme car l'amplitude saisonnière est proportionnelle au niveau. Ici, sur données simulées, on voit un creux en 2020 qui ressortira dans la section chocs.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deux séries réelles du Ghana. À gauche, la série mensuelle de 2020 à 2026 : malgré les fluctuations, la tendance est lisible. À droite, la série quotidienne sur trois mois : elle saute d'un jour à l'autre à cause des nuages, de la lune et de l'angle de vue. C'est pourquoi le notebook utilise chaque fréquence pour ce qu'elle sait faire : le mensuel pour les tendances, le quotidien uniquement pour dater un choc, avec un filtre de haute qualité et une médiane mobile sur sept jours, et l'annuel pour les niveaux.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mesurer la croissance d'une région, on n'utilise pas une régression ordinaire, trop sensible aux valeurs extrêmes. La figure simulée le montre : une seule année aberrante, par exemple un incendie, tire la droite des moindres carrés vers le haut. La pente de Theil–Sen, médiane de toutes les pentes entre paires d'années, reste fidèle à la tendance. Le test de Mann–Kendall dit si cette tendance est statistiquement établie. Le notebook combine les deux : une région n'est classée en croissance ou en déclin que si sa pente dépasse 1 % par an et que le test est significatif à 10 %.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graphique classe les régions selon leur croissance annuelle de lumière, avec les intervalles de confiance. Les couleurs reprennent les trois classes. Lisez bien les barres d'erreur : la région 7 a une pente positive, mais son intervalle touche zéro, donc on ne peut pas affirmer qu'elle croît. Le notebook produit aussi une carte choroplèthe des classes. Beaucoup de stagnation signifie souvent un manque d'information, pas une absence de changement. Question : quelle région de votre pays vous attendez-vous à voir en tête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questions complémentaires. La β-convergence : les régions initialement peu éclairées croissent-elles plus vite ? On régresse la croissance sur le niveau initial de lumière par habitant ; une pente négative signifie un rattrapage. La σ-convergence : la dispersion entre régions diminue-t-elle au fil du temps ? Et l'indice de Herfindahl mesure la concentration : la somme des carrés des parts. Le notebook ajoute la corrélation avec le dioxyde d'azote, un indicateur industriel. L'interprétation est économique : polarisation autour de la capitale ou diffusion de l'électrification.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centrale pour les comptables nationaux : les lumières suivent-elles le PIB officiel ? Le notebook estime l'élasticité β par trois spécifications : en niveaux, en taux de croissance, et sur la série longue. Le panneau de gauche, en niveaux, montre une relation très nette, mais attention : deux séries croissantes semblent toujours corrélées. Le panneau de droite, en croissance, est plus exigeant et plus honnête. Si β reste comparable dans les deux, la relation est crédible. Le PIB vient de l'API de la Banque mondiale, en dollars constants de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élasticité n'a de valeur que si le modèle est sain. Le notebook calcule des écarts-types robustes de type Newey–West, car les résidus annuels sont souvent autocorrélés, et trois diagnostics classiques : Durbin–Watson, Breusch–Pagan et Jarque–Bera. Surtout, il mesure la prévision hors échantillon : chaque année est prédite par un modèle qui ne l'a pas vue. La figure simulée compare la croissance officielle et celle estimée par les lumières ; on voit que le choc de 2020 est bien capté, mais pas parfaitement. Le losange doré est une estimation pour l'année non encore publiée, avec son intervalle.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usages opérationnels. Le nowcast : estimer la croissance du PIB de l'année que la Banque mondiale n'a pas encore publiée, à partir de la croissance des lumières, avec un intervalle de prévision. Le PIB régional expérimental : répartir le PIB national entre régions au prorata de la lumière. Le paramètre γ est une hypothèse : avec γ égal à 0,5, on donne plus de poids aux régions peu éclairées, ce qui corrige en partie la sous-représentation de l'agriculture. La figure simulée montre que ce choix change fortement la part de la première région. Ces chiffres sont expérimentaux par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8 détecte les chocs. Deux outils. L'anomalie est un mois isolé dont le résidu de la décomposition STL est extrême ; on utilise un z-score robuste, fondé sur la médiane et l'écart absolu médian, et on exige en plus un écart d'au moins 5 %. La rupture structurelle est un changement durable : on découpe la série en segments linéaires, avec une pénalité qui évite de couper trop souvent. Les ruptures sont confrontées au catalogue d'événements. Une rupture sans explication doit être documentée avant d'être interprétée : ce peut être un changement de capteur.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un événement identifié, on le mesure. On calcule le niveau moyen des douze mois qui précèdent, sur la série désaisonnalisée. Le creux est l'écart maximal à ce niveau. La récupération est le nombre de mois nécessaires pour y revenir. La figure simulée montre un creux d'environ 13 % et une récupération en quelques mois. Le notebook vérifie aussi que le creux dépasse la variabilité ordinaire : sinon, la confiance est faible. Pour dater précisément, on utilise Black Marble quotidien, avec un indice base 100 et une médiane mobile. Question : quel choc récent aimeriez-vous mesurer ainsi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9 mesure la répartition spatiale. La courbe de Lorenz classe les unités de la moins à la plus éclairée par habitant, et cumule la population en abscisse et la lumière en ordonnée. Plus la courbe s'éloigne de la diagonale, plus l'inégalité est forte. Le Gini est le rapport des aires A sur A plus B. L'indice de Theil a l'avantage de se décomposer : quelle part de l'inégalité vient des écarts entre régions, et quelle part de l'intérieur des régions ? Le notebook calcule aussi un intervalle bootstrap pour savoir si le Gini a significativement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indicateur très parlant pour les décideurs : combien de personnes vivent dans des zones habitées mais sans lumière détectable ? On croise la carte de population et la carte de lumière. Mais le résultat dépend fortement du seuil choisi : la figure simulée montre trois seuils, et l'écart entre eux est considérable. C'est pourquoi le notebook publie une plage, pas un chiffre unique. On compare ensuite au taux d'accès de la Banque mondiale, issu d'enquêtes ménages. Attention : un ménage raccordé qui consomme peu est invisible depuis l'espace.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cœur de la démarche de publication. Chaque résultat reçoit un niveau de confiance, calculé par des règles explicites. L'arbre de gauche est celui de l'élasticité : moins de huit années, c'est faible ; significatif à 1 %, intervalle étroit, R² élevé et au moins 15 années, c'est élevé ; mêmes conditions avec moins de 15 années, c'est moyen ; significatif à 10 %, moyen ; sinon faible. À droite, ce que chaque niveau implique pour la publication. Un message faible est une piste, pas une conclusion. Le notebook affiche toujours le motif à côté du niveau.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règles pour publier. Toujours un intervalle. Un statut explicite de statistique expérimentale pour le PIB régional et le nowcast. La traçabilité, grâce au manifeste qui enregistre paramètres et versions. Des seuils documentés publiquement. Et surtout, les lumières complètent la statistique officielle, elles ne la remplacent pas. Le notebook génère aussi des recommandations adaptées aux résultats : par exemple, si le lien entre lumières et PIB est faible, il recommande explicitement de ne pas diffuser d'estimation de PIB.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résultat final est un tableau de bord web de huit pages : synthèse avec indicateurs et messages clés, carte interactive avec curseur temporel et avant/après, tendances, régions, chocs, inégalités, méthodes et limites, et données téléchargeables. C'est un site statique : pas de serveur, pas de base de données. Les fichiers sont exportés à la section 11. Plusieurs pays peuvent cohabiter sur le même site. La maquette affichée utilise des valeurs fictives ; le vrai site affiche les résultats de votre pays avec leur niveau de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publication se fait en un seul appel de fonction. Elle vérifie le token, crée le dépôt public s'il n'existe pas, pousse le site sur la branche gh-pages, active GitHub Pages, attend la fin du build et affiche l'adresse. Relancer met le site à jour sans dupliquer le dépôt. La sécurité est essentielle : utilisez un token à portée limitée, avec une expiration courte, stocké comme secret. Le code ne l'affiche jamais et expurge les messages d'erreur. Et avant de partager votre notebook, effacez la sortie de la cellule de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limites, que le notebook exporte aussi dans la page méthodologique du tableau de bord. Les rappeler n'affaiblit pas vos résultats : cela les rend crédibles. Les plus importantes pour un statisticien sont la première, ce que mesurent réellement les lumières, et la sixième : l'élasticité est estimée sur peu de points, elle est instable et n'est pas causale. Pour l'accès à l'électricité, rappelez toujours qu'un ménage raccordé à faible consommation est invisible. Enfin, les limites administratives utilisées peuvent différer des limites officielles de votre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au titre de la séance : voici ce que les lumières ont permis de mesurer. Une tendance d'activité désaisonnalisée. La géographie de la croissance, région par région. La convergence ou la polarisation. Un signal du PIB, avec ses limites. L'impact des chocs, daté et quantifié. Et les inégalités spatiales, y compris un proxy de l'accès à l'électricité. Le message principal tient en une phrase : un même pipeline, un seul paramètre, et pour chaque résultat une valeur, un intervalle et un niveau de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idées de projets directement réalisables avec ce notebook. Un indicateur avancé trimestriel d'activité régionale. L'évaluation d'un choc connu de votre pays. Une carte des zones dans le noir à confronter aux registres de raccordement. Ou un PIB régional expérimental comparé à vos comptes régionaux. Pour chaque projet, posez-vous les questions de cadrage : la question économique, l'utilisateur, les données de validation, le niveau de confiance visé et les limites à annoncer. Le plus simple pour commencer : changez le code ISO3 et lancez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Quatre messages à retenir. Les lumières sont un témoin de l'activité, pas le PIB. On prétraite toujours avant d'interpréter. Chaque chiffre est publié avec un intervalle et un niveau de confiance. Et un simple code ISO3 suffit pour produire un tableau de bord public et traçable. Je vous propose maintenant quelques minutes de questions. Les annexes qui suivent contiennent le glossaire des sigles, les références et un aide-mémoire d'une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Glossaire des sigles utilisés dans la présentation et dans le notebook. Chaque sigle est développé à sa première apparition dans les diapositives ; ce tableau sert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Glossaire des sigles utilisés dans la présentation et dans le notebook. Chaque sigle est développé à sa première apparition dans les diapositives ; ce tableau sert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Références scientifiques citées et sources de toutes les images. Les figures pédagogiques sont construites sur des données simulées ; les images réelles proviennent de dépôts publics de la Banque mondiale sous licence ouverte.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Aide-mémoire d'une page : pour chaque métrique, sa formule et la règle de lecture. Vous pouvez l'imprimer et le garder à côté du notebook pendant vos travaux de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7498080" cy="274320"/>
          </a:xfrm>
          <a:prstGeom prst="rect">
            <a:avLst/>
          </a:prstGeom>
          <a:noFill/>
          <a:ln/>
        </p:spPr>
        <p:txBody>
          <a:bodyPr wrap="square" lIns="0" tIns="0" rIns="0" bIns="0" rtlCol="0" anchor="ctr"/>
          <a:lstStyle/>
          <a:p>
            <a:pPr indent="0" marL="0">
              <a:buNone/>
            </a:pPr>
            <a:r>
              <a:rPr lang="en-US" sz="1000" dirty="0">
                <a:solidFill>
                  <a:srgbClr val="6B7280"/>
                </a:solidFill>
              </a:rPr>
              <a:t>Lumières nocturnes en pratique · Banque africaine de développement – Data Innovation for Africa (DI4A)</a:t>
            </a:r>
            <a:endParaRPr lang="en-US" sz="1000" dirty="0"/>
          </a:p>
        </p:txBody>
      </p:sp>
      <p:sp>
        <p:nvSpPr>
          <p:cNvPr id="3" name="Text 1"/>
          <p:cNvSpPr txBox="1"/>
          <p:nvPr/>
        </p:nvSpPr>
        <p:spPr>
          <a:xfrm>
            <a:off x="8138160" y="6419088"/>
            <a:ext cx="3017520" cy="274320"/>
          </a:xfrm>
          <a:prstGeom prst="rect">
            <a:avLst/>
          </a:prstGeom>
          <a:noFill/>
          <a:ln/>
        </p:spPr>
        <p:txBody>
          <a:bodyPr wrap="square" lIns="0" tIns="0" rIns="0" bIns="0" rtlCol="0" anchor="ctr"/>
          <a:lstStyle/>
          <a:p>
            <a:pPr algn="r" indent="0" marL="0">
              <a:buNone/>
            </a:pPr>
            <a:r>
              <a:rPr lang="en-US" sz="1000" b="1" dirty="0">
                <a:solidFill>
                  <a:srgbClr val="1F4E8C"/>
                </a:solidFill>
              </a:rPr>
              <a:t>BAD · DI4A</a:t>
            </a:r>
            <a:endParaRPr lang="en-US" sz="1000" dirty="0"/>
          </a:p>
        </p:txBody>
      </p:sp>
      <p:sp>
        <p:nvSpPr>
          <p:cNvPr id="4" name="Text 2"/>
          <p:cNvSpPr/>
          <p:nvPr>
            <p:ph idx="102" type="body" hasCustomPrompt="1"/>
          </p:nvPr>
        </p:nvSpPr>
        <p:spPr>
          <a:xfrm>
            <a:off x="548640" y="292608"/>
            <a:ext cx="10058400" cy="292608"/>
          </a:xfrm>
          <a:prstGeom prst="rect">
            <a:avLst/>
          </a:prstGeom>
          <a:noFill/>
          <a:ln/>
        </p:spPr>
        <p:txBody>
          <a:bodyPr wrap="square" rtlCol="0"/>
          <a:lstStyle>
            <a:lvl1pPr algn="l" indent="0" marL="0">
              <a:buNone/>
              <a:defRPr lang="en-US" sz="1200" b="1" spc="200" kern="0" dirty="0">
                <a:solidFill>
                  <a:srgbClr val="B7791F"/>
                </a:solidFill>
              </a:defRPr>
            </a:lvl1pPr>
          </a:lstStyle>
          <a:p>
            <a:pPr algn="l" indent="0" marL="0">
              <a:buNone/>
            </a:pPr>
            <a:endParaRPr lang="en-US" sz="1200" dirty="0"/>
          </a:p>
        </p:txBody>
      </p:sp>
      <p:sp>
        <p:nvSpPr>
          <p:cNvPr id="5" name="Text 2"/>
          <p:cNvSpPr/>
          <p:nvPr>
            <p:ph idx="103" type="title" hasCustomPrompt="1"/>
          </p:nvPr>
        </p:nvSpPr>
        <p:spPr>
          <a:xfrm>
            <a:off x="548640" y="566928"/>
            <a:ext cx="11064240" cy="658368"/>
          </a:xfrm>
          <a:prstGeom prst="rect">
            <a:avLst/>
          </a:prstGeom>
          <a:noFill/>
          <a:ln/>
        </p:spPr>
        <p:txBody>
          <a:bodyPr wrap="square" rtlCol="0"/>
          <a:lstStyle>
            <a:lvl1pPr algn="l" indent="0" marL="0">
              <a:buNone/>
              <a:defRPr lang="en-US" sz="2800" b="1" dirty="0">
                <a:solidFill>
                  <a:srgbClr val="00553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ED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2.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2.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slideLayout" Target="../slideLayouts/slideLayout2.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2.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2.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 y="640080"/>
            <a:ext cx="3246120" cy="329184"/>
          </a:xfrm>
          <a:prstGeom prst="roundRect">
            <a:avLst>
              <a:gd name="adj" fmla="val 50000"/>
            </a:avLst>
          </a:prstGeom>
          <a:solidFill>
            <a:srgbClr val="FFFFFF"/>
          </a:solidFill>
          <a:ln w="15875">
            <a:solidFill>
              <a:srgbClr val="F5C242"/>
            </a:solidFill>
            <a:prstDash val="solid"/>
          </a:ln>
        </p:spPr>
      </p:sp>
      <p:sp>
        <p:nvSpPr>
          <p:cNvPr id="3" name="Text 1"/>
          <p:cNvSpPr txBox="1"/>
          <p:nvPr/>
        </p:nvSpPr>
        <p:spPr>
          <a:xfrm>
            <a:off x="685800" y="640080"/>
            <a:ext cx="3246120" cy="329184"/>
          </a:xfrm>
          <a:prstGeom prst="rect">
            <a:avLst/>
          </a:prstGeom>
          <a:noFill/>
          <a:ln/>
        </p:spPr>
        <p:txBody>
          <a:bodyPr wrap="square" lIns="0" tIns="0" rIns="0" bIns="0" rtlCol="0" anchor="ctr"/>
          <a:lstStyle/>
          <a:p>
            <a:pPr algn="ctr" indent="0" marL="0">
              <a:spcAft>
                <a:spcPts val="200"/>
              </a:spcAft>
              <a:buNone/>
            </a:pPr>
            <a:r>
              <a:rPr lang="en-US" sz="1050" b="1" spc="100" kern="0" dirty="0">
                <a:solidFill>
                  <a:srgbClr val="00553A"/>
                </a:solidFill>
              </a:rPr>
              <a:t>BANQUE AFRICAINE DE DÉVELOPPEMENT</a:t>
            </a:r>
            <a:endParaRPr lang="en-US" sz="1050" dirty="0"/>
          </a:p>
        </p:txBody>
      </p:sp>
      <p:sp>
        <p:nvSpPr>
          <p:cNvPr id="6" name="Shape 4"/>
          <p:cNvSpPr/>
          <p:nvPr/>
        </p:nvSpPr>
        <p:spPr>
          <a:xfrm>
            <a:off x="4069080" y="640080"/>
            <a:ext cx="5029200" cy="329184"/>
          </a:xfrm>
          <a:prstGeom prst="roundRect">
            <a:avLst>
              <a:gd name="adj" fmla="val 50000"/>
            </a:avLst>
          </a:prstGeom>
          <a:solidFill>
            <a:srgbClr val="00553A"/>
          </a:solidFill>
          <a:ln w="15875">
            <a:solidFill>
              <a:srgbClr val="CFEEDE"/>
            </a:solidFill>
            <a:prstDash val="solid"/>
          </a:ln>
        </p:spPr>
      </p:sp>
      <p:sp>
        <p:nvSpPr>
          <p:cNvPr id="7" name="Text 5"/>
          <p:cNvSpPr txBox="1"/>
          <p:nvPr/>
        </p:nvSpPr>
        <p:spPr>
          <a:xfrm>
            <a:off x="4069080" y="640080"/>
            <a:ext cx="5029200" cy="329184"/>
          </a:xfrm>
          <a:prstGeom prst="rect">
            <a:avLst/>
          </a:prstGeom>
          <a:noFill/>
          <a:ln/>
        </p:spPr>
        <p:txBody>
          <a:bodyPr wrap="square" lIns="0" tIns="0" rIns="0" bIns="0" rtlCol="0" anchor="ctr"/>
          <a:lstStyle/>
          <a:p>
            <a:pPr algn="ctr" indent="0" marL="0">
              <a:spcAft>
                <a:spcPts val="200"/>
              </a:spcAft>
              <a:buNone/>
            </a:pPr>
            <a:r>
              <a:rPr lang="en-US" sz="1050" b="1" spc="100" kern="0" dirty="0">
                <a:solidFill>
                  <a:srgbClr val="E6F6EE"/>
                </a:solidFill>
              </a:rPr>
              <a:t>DATA INNOVATION FOR AFRICA (DI4A)</a:t>
            </a:r>
            <a:endParaRPr lang="en-US" sz="1050" dirty="0"/>
          </a:p>
        </p:txBody>
      </p:sp>
      <p:sp>
        <p:nvSpPr>
          <p:cNvPr id="8" name="Text 6"/>
          <p:cNvSpPr txBox="1"/>
          <p:nvPr/>
        </p:nvSpPr>
        <p:spPr>
          <a:xfrm>
            <a:off x="685800" y="1325880"/>
            <a:ext cx="7040880" cy="1417320"/>
          </a:xfrm>
          <a:prstGeom prst="rect">
            <a:avLst/>
          </a:prstGeom>
          <a:noFill/>
          <a:ln/>
        </p:spPr>
        <p:txBody>
          <a:bodyPr wrap="square" lIns="635" tIns="635" rIns="635" bIns="635" rtlCol="0" anchor="ctr"/>
          <a:lstStyle/>
          <a:p>
            <a:pPr indent="0" marL="0">
              <a:spcAft>
                <a:spcPts val="200"/>
              </a:spcAft>
              <a:buNone/>
            </a:pPr>
            <a:r>
              <a:rPr lang="en-US" sz="4200" b="1" dirty="0">
                <a:solidFill>
                  <a:srgbClr val="FFFFFF"/>
                </a:solidFill>
              </a:rPr>
              <a:t>Lumières nocturnes en pratique</a:t>
            </a:r>
            <a:endParaRPr lang="en-US" sz="4200" dirty="0"/>
          </a:p>
        </p:txBody>
      </p:sp>
      <p:sp>
        <p:nvSpPr>
          <p:cNvPr id="9" name="Text 7"/>
          <p:cNvSpPr txBox="1"/>
          <p:nvPr/>
        </p:nvSpPr>
        <p:spPr>
          <a:xfrm>
            <a:off x="685800" y="2788920"/>
            <a:ext cx="7040880" cy="777240"/>
          </a:xfrm>
          <a:prstGeom prst="rect">
            <a:avLst/>
          </a:prstGeom>
          <a:noFill/>
          <a:ln/>
        </p:spPr>
        <p:txBody>
          <a:bodyPr wrap="square" lIns="635" tIns="635" rIns="635" bIns="635" rtlCol="0" anchor="t"/>
          <a:lstStyle/>
          <a:p>
            <a:pPr indent="0" marL="0">
              <a:spcAft>
                <a:spcPts val="200"/>
              </a:spcAft>
              <a:buNone/>
            </a:pPr>
            <a:r>
              <a:rPr lang="en-US" sz="2000" i="1" dirty="0">
                <a:solidFill>
                  <a:srgbClr val="E6F6EE"/>
                </a:solidFill>
              </a:rPr>
              <a:t>Ce qu'elles ont permis de mesurer — du satellite au tableau de bord publié</a:t>
            </a:r>
            <a:endParaRPr lang="en-US" sz="2000" dirty="0"/>
          </a:p>
        </p:txBody>
      </p:sp>
      <p:sp>
        <p:nvSpPr>
          <p:cNvPr id="10" name="Text 8"/>
          <p:cNvSpPr txBox="1"/>
          <p:nvPr/>
        </p:nvSpPr>
        <p:spPr>
          <a:xfrm>
            <a:off x="685800" y="3611880"/>
            <a:ext cx="7040880" cy="640080"/>
          </a:xfrm>
          <a:prstGeom prst="rect">
            <a:avLst/>
          </a:prstGeom>
          <a:noFill/>
          <a:ln/>
        </p:spPr>
        <p:txBody>
          <a:bodyPr wrap="square" lIns="635" tIns="635" rIns="635" bIns="635" rtlCol="0" anchor="t"/>
          <a:lstStyle/>
          <a:p>
            <a:pPr indent="0" marL="0">
              <a:spcAft>
                <a:spcPts val="200"/>
              </a:spcAft>
              <a:buNone/>
            </a:pPr>
            <a:r>
              <a:rPr lang="en-US" sz="1500" dirty="0">
                <a:solidFill>
                  <a:srgbClr val="CFEEDE"/>
                </a:solidFill>
              </a:rPr>
              <a:t>Notebook d'analyse « NTL hands-on, partie 3 » : un pipeline reproductible, paramétré par un code ISO3</a:t>
            </a:r>
            <a:endParaRPr lang="en-US" sz="1500" dirty="0"/>
          </a:p>
        </p:txBody>
      </p:sp>
      <p:sp>
        <p:nvSpPr>
          <p:cNvPr id="11" name="Shape 9"/>
          <p:cNvSpPr/>
          <p:nvPr/>
        </p:nvSpPr>
        <p:spPr>
          <a:xfrm>
            <a:off x="685800" y="4526280"/>
            <a:ext cx="6766560" cy="1417320"/>
          </a:xfrm>
          <a:prstGeom prst="roundRect">
            <a:avLst>
              <a:gd name="adj" fmla="val 7742"/>
            </a:avLst>
          </a:prstGeom>
          <a:solidFill>
            <a:srgbClr val="1F4E8C"/>
          </a:solidFill>
          <a:ln w="9525">
            <a:solidFill>
              <a:srgbClr val="3F7FC7"/>
            </a:solidFill>
            <a:prstDash val="solid"/>
          </a:ln>
        </p:spPr>
      </p:sp>
      <p:sp>
        <p:nvSpPr>
          <p:cNvPr id="12" name="Text 10"/>
          <p:cNvSpPr txBox="1"/>
          <p:nvPr/>
        </p:nvSpPr>
        <p:spPr>
          <a:xfrm>
            <a:off x="914400" y="4663440"/>
            <a:ext cx="6400800" cy="320040"/>
          </a:xfrm>
          <a:prstGeom prst="rect">
            <a:avLst/>
          </a:prstGeom>
          <a:noFill/>
          <a:ln/>
        </p:spPr>
        <p:txBody>
          <a:bodyPr wrap="square" lIns="635" tIns="635" rIns="635" bIns="635" rtlCol="0" anchor="t"/>
          <a:lstStyle/>
          <a:p>
            <a:pPr indent="0" marL="0">
              <a:spcAft>
                <a:spcPts val="200"/>
              </a:spcAft>
              <a:buNone/>
            </a:pPr>
            <a:r>
              <a:rPr lang="en-US" sz="1300" b="1" spc="200" kern="0" dirty="0">
                <a:solidFill>
                  <a:srgbClr val="FFFFFF"/>
                </a:solidFill>
              </a:rPr>
              <a:t>BAD – DATA INNOVATION FOR AFRICA (DI4A)</a:t>
            </a:r>
            <a:endParaRPr lang="en-US" sz="1300" dirty="0"/>
          </a:p>
        </p:txBody>
      </p:sp>
      <p:sp>
        <p:nvSpPr>
          <p:cNvPr id="13" name="Text 11"/>
          <p:cNvSpPr txBox="1"/>
          <p:nvPr/>
        </p:nvSpPr>
        <p:spPr>
          <a:xfrm>
            <a:off x="914400" y="5029200"/>
            <a:ext cx="6400800" cy="320040"/>
          </a:xfrm>
          <a:prstGeom prst="rect">
            <a:avLst/>
          </a:prstGeom>
          <a:noFill/>
          <a:ln/>
        </p:spPr>
        <p:txBody>
          <a:bodyPr wrap="square" lIns="635" tIns="635" rIns="635" bIns="635" rtlCol="0" anchor="t"/>
          <a:lstStyle/>
          <a:p>
            <a:pPr indent="0" marL="0">
              <a:spcAft>
                <a:spcPts val="200"/>
              </a:spcAft>
              <a:buNone/>
            </a:pPr>
            <a:r>
              <a:rPr lang="en-US" sz="1400" dirty="0">
                <a:solidFill>
                  <a:srgbClr val="DCE9F8"/>
                </a:solidFill>
              </a:rPr>
              <a:t>Série pratique · Données satellitaires et statistiques économiques</a:t>
            </a:r>
            <a:endParaRPr lang="en-US" sz="1400" dirty="0"/>
          </a:p>
        </p:txBody>
      </p:sp>
      <p:sp>
        <p:nvSpPr>
          <p:cNvPr id="14" name="Text 12"/>
          <p:cNvSpPr txBox="1"/>
          <p:nvPr/>
        </p:nvSpPr>
        <p:spPr>
          <a:xfrm>
            <a:off x="914400" y="5376672"/>
            <a:ext cx="6400800" cy="320040"/>
          </a:xfrm>
          <a:prstGeom prst="rect">
            <a:avLst/>
          </a:prstGeom>
          <a:noFill/>
          <a:ln/>
        </p:spPr>
        <p:txBody>
          <a:bodyPr wrap="square" lIns="635" tIns="635" rIns="635" bIns="635" rtlCol="0" anchor="t"/>
          <a:lstStyle/>
          <a:p>
            <a:pPr indent="0" marL="0">
              <a:spcAft>
                <a:spcPts val="200"/>
              </a:spcAft>
              <a:buNone/>
            </a:pPr>
            <a:r>
              <a:rPr lang="en-US" sz="1400" b="1" dirty="0">
                <a:solidFill>
                  <a:srgbClr val="F5C242"/>
                </a:solidFill>
              </a:rPr>
              <a:t>Partie 3 · Analyser et publier</a:t>
            </a:r>
            <a:endParaRPr lang="en-US" sz="1400" dirty="0"/>
          </a:p>
        </p:txBody>
      </p:sp>
      <p:pic>
        <p:nvPicPr>
          <p:cNvPr id="15" name="Image 0" descr="/tmp/claude-0/-home-claude/8a8742ef-7d0d-54fc-a0c9-7ecbfc9f8b73/scratchpad/deck/real/ghana_map.png">    </p:cNvPr>
          <p:cNvPicPr>
            <a:picLocks noChangeAspect="1"/>
          </p:cNvPicPr>
          <p:nvPr/>
        </p:nvPicPr>
        <p:blipFill>
          <a:blip r:embed="rId1"/>
          <a:stretch>
            <a:fillRect/>
          </a:stretch>
        </p:blipFill>
        <p:spPr>
          <a:xfrm>
            <a:off x="8001000" y="1069967"/>
            <a:ext cx="3657600" cy="4260866"/>
          </a:xfrm>
          <a:prstGeom prst="rect">
            <a:avLst/>
          </a:prstGeom>
        </p:spPr>
      </p:pic>
      <p:sp>
        <p:nvSpPr>
          <p:cNvPr id="16" name="Text 13"/>
          <p:cNvSpPr txBox="1"/>
          <p:nvPr/>
        </p:nvSpPr>
        <p:spPr>
          <a:xfrm>
            <a:off x="7863840" y="5897880"/>
            <a:ext cx="3931920" cy="274320"/>
          </a:xfrm>
          <a:prstGeom prst="rect">
            <a:avLst/>
          </a:prstGeom>
          <a:noFill/>
          <a:ln/>
        </p:spPr>
        <p:txBody>
          <a:bodyPr wrap="square" lIns="635" tIns="635" rIns="635" bIns="635" rtlCol="0" anchor="t"/>
          <a:lstStyle/>
          <a:p>
            <a:pPr algn="ctr" indent="0" marL="0">
              <a:spcAft>
                <a:spcPts val="200"/>
              </a:spcAft>
              <a:buNone/>
            </a:pPr>
            <a:r>
              <a:rPr lang="en-US" sz="1000" i="1" dirty="0">
                <a:solidFill>
                  <a:srgbClr val="CFEEDE"/>
                </a:solidFill>
              </a:rPr>
              <a:t>Black Marble VNP46A4 (2025), Ghana — image réelle</a:t>
            </a:r>
            <a:endParaRPr lang="en-US" sz="1000" dirty="0"/>
          </a:p>
        </p:txBody>
      </p:sp>
      <p:sp>
        <p:nvSpPr>
          <p:cNvPr id="17" name="Text 14"/>
          <p:cNvSpPr txBox="1"/>
          <p:nvPr/>
        </p:nvSpPr>
        <p:spPr>
          <a:xfrm>
            <a:off x="685800" y="6263640"/>
            <a:ext cx="7315200" cy="274320"/>
          </a:xfrm>
          <a:prstGeom prst="rect">
            <a:avLst/>
          </a:prstGeom>
          <a:noFill/>
          <a:ln/>
        </p:spPr>
        <p:txBody>
          <a:bodyPr wrap="square" lIns="635" tIns="635" rIns="635" bIns="635" rtlCol="0" anchor="t"/>
          <a:lstStyle/>
          <a:p>
            <a:pPr indent="0" marL="0">
              <a:spcAft>
                <a:spcPts val="200"/>
              </a:spcAft>
              <a:buNone/>
            </a:pPr>
            <a:r>
              <a:rPr lang="en-US" sz="1000" i="1" dirty="0">
                <a:solidFill>
                  <a:srgbClr val="CFEEDE"/>
                </a:solidFill>
              </a:rPr>
              <a:t>Source : NASA Black Marble via blackmarblepy (Banque mondiale, licence MIT)</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EDE"/>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OUVERTURE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À la fin de la séance, vous saurez…</a:t>
            </a:r>
            <a:endParaRPr lang="en-US" sz="2800" dirty="0"/>
          </a:p>
        </p:txBody>
      </p:sp>
      <p:sp>
        <p:nvSpPr>
          <p:cNvPr id="4" name="Shape 2"/>
          <p:cNvSpPr/>
          <p:nvPr/>
        </p:nvSpPr>
        <p:spPr>
          <a:xfrm>
            <a:off x="548640" y="1508760"/>
            <a:ext cx="5394960" cy="2011680"/>
          </a:xfrm>
          <a:prstGeom prst="roundRect">
            <a:avLst>
              <a:gd name="adj" fmla="val 5455"/>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691640"/>
            <a:ext cx="502920" cy="50292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852221" y="1812341"/>
            <a:ext cx="261518" cy="261518"/>
          </a:xfrm>
          <a:prstGeom prst="rect">
            <a:avLst/>
          </a:prstGeom>
        </p:spPr>
      </p:pic>
      <p:sp>
        <p:nvSpPr>
          <p:cNvPr id="7" name="Text 4"/>
          <p:cNvSpPr txBox="1"/>
          <p:nvPr/>
        </p:nvSpPr>
        <p:spPr>
          <a:xfrm>
            <a:off x="1371600" y="167335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Expliquer</a:t>
            </a:r>
            <a:endParaRPr lang="en-US" sz="1500" dirty="0"/>
          </a:p>
        </p:txBody>
      </p:sp>
      <p:sp>
        <p:nvSpPr>
          <p:cNvPr id="8" name="Text 5"/>
          <p:cNvSpPr txBox="1"/>
          <p:nvPr/>
        </p:nvSpPr>
        <p:spPr>
          <a:xfrm>
            <a:off x="731520" y="2313432"/>
            <a:ext cx="5029200" cy="1097280"/>
          </a:xfrm>
          <a:prstGeom prst="rect">
            <a:avLst/>
          </a:prstGeom>
          <a:noFill/>
          <a:ln/>
        </p:spPr>
        <p:txBody>
          <a:bodyPr wrap="square" lIns="635" tIns="635" rIns="635" bIns="635" rtlCol="0" anchor="t"/>
          <a:lstStyle/>
          <a:p>
            <a:pPr indent="0" marL="0">
              <a:spcAft>
                <a:spcPts val="200"/>
              </a:spcAft>
              <a:buNone/>
            </a:pPr>
            <a:r>
              <a:rPr lang="en-US" sz="1500" dirty="0">
                <a:solidFill>
                  <a:srgbClr val="231F20"/>
                </a:solidFill>
              </a:rPr>
              <a:t>ce que mesurent les lumières nocturnes, pourquoi elles renseignent sur l'activité économique, et où s'arrêtent leurs limites.</a:t>
            </a:r>
            <a:endParaRPr lang="en-US" sz="1500" dirty="0"/>
          </a:p>
        </p:txBody>
      </p:sp>
      <p:sp>
        <p:nvSpPr>
          <p:cNvPr id="9" name="Shape 6"/>
          <p:cNvSpPr/>
          <p:nvPr/>
        </p:nvSpPr>
        <p:spPr>
          <a:xfrm>
            <a:off x="6126480" y="1508760"/>
            <a:ext cx="5394960" cy="2011680"/>
          </a:xfrm>
          <a:prstGeom prst="roundRect">
            <a:avLst>
              <a:gd name="adj" fmla="val 5455"/>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6309360" y="1691640"/>
            <a:ext cx="502920" cy="502920"/>
          </a:xfrm>
          <a:prstGeom prst="ellipse">
            <a:avLst/>
          </a:prstGeom>
          <a:solidFill>
            <a:srgbClr val="00704A"/>
          </a:solidFill>
          <a:ln w="12700">
            <a:solidFill>
              <a:srgbClr val="00704A"/>
            </a:solidFill>
            <a:prstDash val="solid"/>
          </a:ln>
        </p:spPr>
      </p:sp>
      <p:pic>
        <p:nvPicPr>
          <p:cNvPr id="11" name="Image 1" descr="preencoded.png">    </p:cNvPr>
          <p:cNvPicPr>
            <a:picLocks noChangeAspect="1"/>
          </p:cNvPicPr>
          <p:nvPr/>
        </p:nvPicPr>
        <p:blipFill>
          <a:blip r:embed="rId2"/>
          <a:stretch>
            <a:fillRect/>
          </a:stretch>
        </p:blipFill>
        <p:spPr>
          <a:xfrm>
            <a:off x="6430061" y="1812341"/>
            <a:ext cx="261518" cy="261518"/>
          </a:xfrm>
          <a:prstGeom prst="rect">
            <a:avLst/>
          </a:prstGeom>
        </p:spPr>
      </p:pic>
      <p:sp>
        <p:nvSpPr>
          <p:cNvPr id="12" name="Text 8"/>
          <p:cNvSpPr txBox="1"/>
          <p:nvPr/>
        </p:nvSpPr>
        <p:spPr>
          <a:xfrm>
            <a:off x="6949440" y="167335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Reproduire</a:t>
            </a:r>
            <a:endParaRPr lang="en-US" sz="1500" dirty="0"/>
          </a:p>
        </p:txBody>
      </p:sp>
      <p:sp>
        <p:nvSpPr>
          <p:cNvPr id="13" name="Text 9"/>
          <p:cNvSpPr txBox="1"/>
          <p:nvPr/>
        </p:nvSpPr>
        <p:spPr>
          <a:xfrm>
            <a:off x="6309360" y="2313432"/>
            <a:ext cx="5029200" cy="1097280"/>
          </a:xfrm>
          <a:prstGeom prst="rect">
            <a:avLst/>
          </a:prstGeom>
          <a:noFill/>
          <a:ln/>
        </p:spPr>
        <p:txBody>
          <a:bodyPr wrap="square" lIns="635" tIns="635" rIns="635" bIns="635" rtlCol="0" anchor="t"/>
          <a:lstStyle/>
          <a:p>
            <a:pPr indent="0" marL="0">
              <a:spcAft>
                <a:spcPts val="200"/>
              </a:spcAft>
              <a:buNone/>
            </a:pPr>
            <a:r>
              <a:rPr lang="en-US" sz="1500" dirty="0">
                <a:solidFill>
                  <a:srgbClr val="231F20"/>
                </a:solidFill>
              </a:rPr>
              <a:t>le pipeline de bout en bout : un code ISO3 → des indicateurs nationaux et régionaux → un tableau de bord public.</a:t>
            </a:r>
            <a:endParaRPr lang="en-US" sz="1500" dirty="0"/>
          </a:p>
        </p:txBody>
      </p:sp>
      <p:sp>
        <p:nvSpPr>
          <p:cNvPr id="14" name="Shape 10"/>
          <p:cNvSpPr/>
          <p:nvPr/>
        </p:nvSpPr>
        <p:spPr>
          <a:xfrm>
            <a:off x="548640" y="3749040"/>
            <a:ext cx="5394960" cy="2011680"/>
          </a:xfrm>
          <a:prstGeom prst="roundRect">
            <a:avLst>
              <a:gd name="adj" fmla="val 5455"/>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731520" y="3931920"/>
            <a:ext cx="502920" cy="502920"/>
          </a:xfrm>
          <a:prstGeom prst="ellipse">
            <a:avLst/>
          </a:prstGeom>
          <a:solidFill>
            <a:srgbClr val="00704A"/>
          </a:solidFill>
          <a:ln w="12700">
            <a:solidFill>
              <a:srgbClr val="00704A"/>
            </a:solidFill>
            <a:prstDash val="solid"/>
          </a:ln>
        </p:spPr>
      </p:sp>
      <p:pic>
        <p:nvPicPr>
          <p:cNvPr id="16" name="Image 2" descr="preencoded.png">    </p:cNvPr>
          <p:cNvPicPr>
            <a:picLocks noChangeAspect="1"/>
          </p:cNvPicPr>
          <p:nvPr/>
        </p:nvPicPr>
        <p:blipFill>
          <a:blip r:embed="rId3"/>
          <a:stretch>
            <a:fillRect/>
          </a:stretch>
        </p:blipFill>
        <p:spPr>
          <a:xfrm>
            <a:off x="852221" y="4052621"/>
            <a:ext cx="261518" cy="261518"/>
          </a:xfrm>
          <a:prstGeom prst="rect">
            <a:avLst/>
          </a:prstGeom>
        </p:spPr>
      </p:pic>
      <p:sp>
        <p:nvSpPr>
          <p:cNvPr id="17" name="Text 12"/>
          <p:cNvSpPr txBox="1"/>
          <p:nvPr/>
        </p:nvSpPr>
        <p:spPr>
          <a:xfrm>
            <a:off x="1371600" y="391363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Interpréter</a:t>
            </a:r>
            <a:endParaRPr lang="en-US" sz="1500" dirty="0"/>
          </a:p>
        </p:txBody>
      </p:sp>
      <p:sp>
        <p:nvSpPr>
          <p:cNvPr id="18" name="Text 13"/>
          <p:cNvSpPr txBox="1"/>
          <p:nvPr/>
        </p:nvSpPr>
        <p:spPr>
          <a:xfrm>
            <a:off x="731520" y="4553712"/>
            <a:ext cx="5029200" cy="1097280"/>
          </a:xfrm>
          <a:prstGeom prst="rect">
            <a:avLst/>
          </a:prstGeom>
          <a:noFill/>
          <a:ln/>
        </p:spPr>
        <p:txBody>
          <a:bodyPr wrap="square" lIns="635" tIns="635" rIns="635" bIns="635" rtlCol="0" anchor="t"/>
          <a:lstStyle/>
          <a:p>
            <a:pPr indent="0" marL="0">
              <a:spcAft>
                <a:spcPts val="200"/>
              </a:spcAft>
              <a:buNone/>
            </a:pPr>
            <a:r>
              <a:rPr lang="en-US" sz="1500" dirty="0">
                <a:solidFill>
                  <a:srgbClr val="231F20"/>
                </a:solidFill>
              </a:rPr>
              <a:t>les métriques clés : STL, Theil–Sen, convergence, élasticité NTL–PIB, chocs, Gini, population « dans le noir ».</a:t>
            </a:r>
            <a:endParaRPr lang="en-US" sz="1500" dirty="0"/>
          </a:p>
        </p:txBody>
      </p:sp>
      <p:sp>
        <p:nvSpPr>
          <p:cNvPr id="19" name="Shape 14"/>
          <p:cNvSpPr/>
          <p:nvPr/>
        </p:nvSpPr>
        <p:spPr>
          <a:xfrm>
            <a:off x="6126480" y="3749040"/>
            <a:ext cx="5394960" cy="2011680"/>
          </a:xfrm>
          <a:prstGeom prst="roundRect">
            <a:avLst>
              <a:gd name="adj" fmla="val 5455"/>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6309360" y="3931920"/>
            <a:ext cx="502920" cy="502920"/>
          </a:xfrm>
          <a:prstGeom prst="ellipse">
            <a:avLst/>
          </a:prstGeom>
          <a:solidFill>
            <a:srgbClr val="1F4E8C"/>
          </a:solidFill>
          <a:ln w="12700">
            <a:solidFill>
              <a:srgbClr val="1F4E8C"/>
            </a:solidFill>
            <a:prstDash val="solid"/>
          </a:ln>
        </p:spPr>
      </p:sp>
      <p:pic>
        <p:nvPicPr>
          <p:cNvPr id="21" name="Image 3" descr="preencoded.png">    </p:cNvPr>
          <p:cNvPicPr>
            <a:picLocks noChangeAspect="1"/>
          </p:cNvPicPr>
          <p:nvPr/>
        </p:nvPicPr>
        <p:blipFill>
          <a:blip r:embed="rId4"/>
          <a:stretch>
            <a:fillRect/>
          </a:stretch>
        </p:blipFill>
        <p:spPr>
          <a:xfrm>
            <a:off x="6430061" y="4052621"/>
            <a:ext cx="261518" cy="261518"/>
          </a:xfrm>
          <a:prstGeom prst="rect">
            <a:avLst/>
          </a:prstGeom>
        </p:spPr>
      </p:pic>
      <p:sp>
        <p:nvSpPr>
          <p:cNvPr id="22" name="Text 16"/>
          <p:cNvSpPr txBox="1"/>
          <p:nvPr/>
        </p:nvSpPr>
        <p:spPr>
          <a:xfrm>
            <a:off x="6949440" y="391363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Publier avec prudence</a:t>
            </a:r>
            <a:endParaRPr lang="en-US" sz="1500" dirty="0"/>
          </a:p>
        </p:txBody>
      </p:sp>
      <p:sp>
        <p:nvSpPr>
          <p:cNvPr id="23" name="Text 17"/>
          <p:cNvSpPr txBox="1"/>
          <p:nvPr/>
        </p:nvSpPr>
        <p:spPr>
          <a:xfrm>
            <a:off x="6309360" y="4553712"/>
            <a:ext cx="5029200" cy="1097280"/>
          </a:xfrm>
          <a:prstGeom prst="rect">
            <a:avLst/>
          </a:prstGeom>
          <a:noFill/>
          <a:ln/>
        </p:spPr>
        <p:txBody>
          <a:bodyPr wrap="square" lIns="635" tIns="635" rIns="635" bIns="635" rtlCol="0" anchor="t"/>
          <a:lstStyle/>
          <a:p>
            <a:pPr indent="0" marL="0">
              <a:spcAft>
                <a:spcPts val="200"/>
              </a:spcAft>
              <a:buNone/>
            </a:pPr>
            <a:r>
              <a:rPr lang="en-US" sz="1500" dirty="0">
                <a:solidFill>
                  <a:srgbClr val="231F20"/>
                </a:solidFill>
              </a:rPr>
              <a:t>des résultats assortis d'un niveau de confiance, d'intervalles et d'une traçabilité complète.</a:t>
            </a:r>
            <a:endParaRPr lang="en-US" sz="1500" dirty="0"/>
          </a:p>
        </p:txBody>
      </p:sp>
      <p:sp>
        <p:nvSpPr>
          <p:cNvPr id="24" name="Text 18"/>
          <p:cNvSpPr txBox="1"/>
          <p:nvPr/>
        </p:nvSpPr>
        <p:spPr>
          <a:xfrm>
            <a:off x="548640" y="5943600"/>
            <a:ext cx="11064240" cy="365760"/>
          </a:xfrm>
          <a:prstGeom prst="rect">
            <a:avLst/>
          </a:prstGeom>
          <a:noFill/>
          <a:ln/>
        </p:spPr>
        <p:txBody>
          <a:bodyPr wrap="square" lIns="635" tIns="635" rIns="635" bIns="635" rtlCol="0" anchor="t"/>
          <a:lstStyle/>
          <a:p>
            <a:pPr indent="0" marL="0">
              <a:spcAft>
                <a:spcPts val="200"/>
              </a:spcAft>
              <a:buNone/>
            </a:pPr>
            <a:r>
              <a:rPr lang="en-US" sz="1500" b="1" i="1" dirty="0">
                <a:solidFill>
                  <a:srgbClr val="00553A"/>
                </a:solidFill>
              </a:rPr>
              <a:t>Fil rouge : </a:t>
            </a:r>
            <a:pPr indent="0" marL="0">
              <a:spcAft>
                <a:spcPts val="200"/>
              </a:spcAft>
              <a:buNone/>
            </a:pPr>
            <a:r>
              <a:rPr lang="en-US" sz="1500" i="1" dirty="0">
                <a:solidFill>
                  <a:srgbClr val="231F20"/>
                </a:solidFill>
              </a:rPr>
              <a:t>une mesure n'est utile que si l'on sait dire à quel point on peut s'y fier.</a:t>
            </a:r>
            <a:endParaRPr lang="en-US" sz="15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OUVERTURE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Programme de la séance (75 minutes)</a:t>
            </a:r>
            <a:endParaRPr lang="en-US" sz="2800" dirty="0"/>
          </a:p>
        </p:txBody>
      </p:sp>
      <p:sp>
        <p:nvSpPr>
          <p:cNvPr id="4" name="Shape 2"/>
          <p:cNvSpPr/>
          <p:nvPr/>
        </p:nvSpPr>
        <p:spPr>
          <a:xfrm>
            <a:off x="548640" y="1463040"/>
            <a:ext cx="6949440" cy="658368"/>
          </a:xfrm>
          <a:prstGeom prst="roundRect">
            <a:avLst>
              <a:gd name="adj" fmla="val 16667"/>
            </a:avLst>
          </a:prstGeom>
          <a:solidFill>
            <a:srgbClr val="F4F7F5"/>
          </a:solidFill>
          <a:ln w="9525">
            <a:solidFill>
              <a:srgbClr val="D5DED9"/>
            </a:solidFill>
            <a:prstDash val="solid"/>
          </a:ln>
        </p:spPr>
      </p:sp>
      <p:sp>
        <p:nvSpPr>
          <p:cNvPr id="5" name="Text 3"/>
          <p:cNvSpPr txBox="1"/>
          <p:nvPr/>
        </p:nvSpPr>
        <p:spPr>
          <a:xfrm>
            <a:off x="685800" y="1463040"/>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10 min</a:t>
            </a:r>
            <a:endParaRPr lang="en-US" sz="1500" dirty="0"/>
          </a:p>
        </p:txBody>
      </p:sp>
      <p:sp>
        <p:nvSpPr>
          <p:cNvPr id="6" name="Shape 4"/>
          <p:cNvSpPr/>
          <p:nvPr/>
        </p:nvSpPr>
        <p:spPr>
          <a:xfrm>
            <a:off x="1554480" y="1554480"/>
            <a:ext cx="475488" cy="475488"/>
          </a:xfrm>
          <a:prstGeom prst="ellipse">
            <a:avLst/>
          </a:prstGeom>
          <a:solidFill>
            <a:srgbClr val="00704A"/>
          </a:solidFill>
          <a:ln w="12700">
            <a:solidFill>
              <a:srgbClr val="00704A"/>
            </a:solidFill>
            <a:prstDash val="solid"/>
          </a:ln>
        </p:spPr>
      </p:sp>
      <p:pic>
        <p:nvPicPr>
          <p:cNvPr id="7" name="Image 0" descr="preencoded.png">    </p:cNvPr>
          <p:cNvPicPr>
            <a:picLocks noChangeAspect="1"/>
          </p:cNvPicPr>
          <p:nvPr/>
        </p:nvPicPr>
        <p:blipFill>
          <a:blip r:embed="rId1"/>
          <a:stretch>
            <a:fillRect/>
          </a:stretch>
        </p:blipFill>
        <p:spPr>
          <a:xfrm>
            <a:off x="1668597" y="1668597"/>
            <a:ext cx="247254" cy="247254"/>
          </a:xfrm>
          <a:prstGeom prst="rect">
            <a:avLst/>
          </a:prstGeom>
        </p:spPr>
      </p:pic>
      <p:sp>
        <p:nvSpPr>
          <p:cNvPr id="8" name="Text 5"/>
          <p:cNvSpPr txBox="1"/>
          <p:nvPr/>
        </p:nvSpPr>
        <p:spPr>
          <a:xfrm>
            <a:off x="2148840" y="1463040"/>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A</a:t>
            </a:r>
            <a:endParaRPr lang="en-US" sz="1500" dirty="0"/>
          </a:p>
        </p:txBody>
      </p:sp>
      <p:sp>
        <p:nvSpPr>
          <p:cNvPr id="9" name="Text 6"/>
          <p:cNvSpPr txBox="1"/>
          <p:nvPr/>
        </p:nvSpPr>
        <p:spPr>
          <a:xfrm>
            <a:off x="2788920" y="1463040"/>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Pourquoi les lumières mesurent l'économie</a:t>
            </a:r>
            <a:endParaRPr lang="en-US" sz="1500" dirty="0"/>
          </a:p>
        </p:txBody>
      </p:sp>
      <p:sp>
        <p:nvSpPr>
          <p:cNvPr id="10" name="Shape 7"/>
          <p:cNvSpPr/>
          <p:nvPr/>
        </p:nvSpPr>
        <p:spPr>
          <a:xfrm>
            <a:off x="548640" y="2249424"/>
            <a:ext cx="6949440" cy="658368"/>
          </a:xfrm>
          <a:prstGeom prst="roundRect">
            <a:avLst>
              <a:gd name="adj" fmla="val 16667"/>
            </a:avLst>
          </a:prstGeom>
          <a:solidFill>
            <a:srgbClr val="FFFFFF"/>
          </a:solidFill>
          <a:ln w="9525">
            <a:solidFill>
              <a:srgbClr val="D5DED9"/>
            </a:solidFill>
            <a:prstDash val="solid"/>
          </a:ln>
        </p:spPr>
      </p:sp>
      <p:sp>
        <p:nvSpPr>
          <p:cNvPr id="11" name="Text 8"/>
          <p:cNvSpPr txBox="1"/>
          <p:nvPr/>
        </p:nvSpPr>
        <p:spPr>
          <a:xfrm>
            <a:off x="685800" y="2249424"/>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10 min</a:t>
            </a:r>
            <a:endParaRPr lang="en-US" sz="1500" dirty="0"/>
          </a:p>
        </p:txBody>
      </p:sp>
      <p:sp>
        <p:nvSpPr>
          <p:cNvPr id="12" name="Shape 9"/>
          <p:cNvSpPr/>
          <p:nvPr/>
        </p:nvSpPr>
        <p:spPr>
          <a:xfrm>
            <a:off x="1554480" y="2340864"/>
            <a:ext cx="475488" cy="475488"/>
          </a:xfrm>
          <a:prstGeom prst="ellipse">
            <a:avLst/>
          </a:prstGeom>
          <a:solidFill>
            <a:srgbClr val="00704A"/>
          </a:solidFill>
          <a:ln w="12700">
            <a:solidFill>
              <a:srgbClr val="00704A"/>
            </a:solidFill>
            <a:prstDash val="solid"/>
          </a:ln>
        </p:spPr>
      </p:sp>
      <p:pic>
        <p:nvPicPr>
          <p:cNvPr id="13" name="Image 1" descr="preencoded.png">    </p:cNvPr>
          <p:cNvPicPr>
            <a:picLocks noChangeAspect="1"/>
          </p:cNvPicPr>
          <p:nvPr/>
        </p:nvPicPr>
        <p:blipFill>
          <a:blip r:embed="rId2"/>
          <a:stretch>
            <a:fillRect/>
          </a:stretch>
        </p:blipFill>
        <p:spPr>
          <a:xfrm>
            <a:off x="1668597" y="2454981"/>
            <a:ext cx="247254" cy="247254"/>
          </a:xfrm>
          <a:prstGeom prst="rect">
            <a:avLst/>
          </a:prstGeom>
        </p:spPr>
      </p:pic>
      <p:sp>
        <p:nvSpPr>
          <p:cNvPr id="14" name="Text 10"/>
          <p:cNvSpPr txBox="1"/>
          <p:nvPr/>
        </p:nvSpPr>
        <p:spPr>
          <a:xfrm>
            <a:off x="2148840" y="2249424"/>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B</a:t>
            </a:r>
            <a:endParaRPr lang="en-US" sz="1500" dirty="0"/>
          </a:p>
        </p:txBody>
      </p:sp>
      <p:sp>
        <p:nvSpPr>
          <p:cNvPr id="15" name="Text 11"/>
          <p:cNvSpPr txBox="1"/>
          <p:nvPr/>
        </p:nvSpPr>
        <p:spPr>
          <a:xfrm>
            <a:off x="2788920" y="2249424"/>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Capteurs et données</a:t>
            </a:r>
            <a:endParaRPr lang="en-US" sz="1500" dirty="0"/>
          </a:p>
        </p:txBody>
      </p:sp>
      <p:sp>
        <p:nvSpPr>
          <p:cNvPr id="16" name="Shape 12"/>
          <p:cNvSpPr/>
          <p:nvPr/>
        </p:nvSpPr>
        <p:spPr>
          <a:xfrm>
            <a:off x="548640" y="3035808"/>
            <a:ext cx="6949440" cy="658368"/>
          </a:xfrm>
          <a:prstGeom prst="roundRect">
            <a:avLst>
              <a:gd name="adj" fmla="val 16667"/>
            </a:avLst>
          </a:prstGeom>
          <a:solidFill>
            <a:srgbClr val="F4F7F5"/>
          </a:solidFill>
          <a:ln w="9525">
            <a:solidFill>
              <a:srgbClr val="D5DED9"/>
            </a:solidFill>
            <a:prstDash val="solid"/>
          </a:ln>
        </p:spPr>
      </p:sp>
      <p:sp>
        <p:nvSpPr>
          <p:cNvPr id="17" name="Text 13"/>
          <p:cNvSpPr txBox="1"/>
          <p:nvPr/>
        </p:nvSpPr>
        <p:spPr>
          <a:xfrm>
            <a:off x="685800" y="3035808"/>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15 min</a:t>
            </a:r>
            <a:endParaRPr lang="en-US" sz="1500" dirty="0"/>
          </a:p>
        </p:txBody>
      </p:sp>
      <p:sp>
        <p:nvSpPr>
          <p:cNvPr id="18" name="Shape 14"/>
          <p:cNvSpPr/>
          <p:nvPr/>
        </p:nvSpPr>
        <p:spPr>
          <a:xfrm>
            <a:off x="1554480" y="3127248"/>
            <a:ext cx="475488" cy="475488"/>
          </a:xfrm>
          <a:prstGeom prst="ellipse">
            <a:avLst/>
          </a:prstGeom>
          <a:solidFill>
            <a:srgbClr val="00704A"/>
          </a:solidFill>
          <a:ln w="12700">
            <a:solidFill>
              <a:srgbClr val="00704A"/>
            </a:solidFill>
            <a:prstDash val="solid"/>
          </a:ln>
        </p:spPr>
      </p:sp>
      <p:pic>
        <p:nvPicPr>
          <p:cNvPr id="19" name="Image 2" descr="preencoded.png">    </p:cNvPr>
          <p:cNvPicPr>
            <a:picLocks noChangeAspect="1"/>
          </p:cNvPicPr>
          <p:nvPr/>
        </p:nvPicPr>
        <p:blipFill>
          <a:blip r:embed="rId3"/>
          <a:stretch>
            <a:fillRect/>
          </a:stretch>
        </p:blipFill>
        <p:spPr>
          <a:xfrm>
            <a:off x="1668597" y="3241365"/>
            <a:ext cx="247254" cy="247254"/>
          </a:xfrm>
          <a:prstGeom prst="rect">
            <a:avLst/>
          </a:prstGeom>
        </p:spPr>
      </p:pic>
      <p:sp>
        <p:nvSpPr>
          <p:cNvPr id="20" name="Text 15"/>
          <p:cNvSpPr txBox="1"/>
          <p:nvPr/>
        </p:nvSpPr>
        <p:spPr>
          <a:xfrm>
            <a:off x="2148840" y="3035808"/>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C–D</a:t>
            </a:r>
            <a:endParaRPr lang="en-US" sz="1500" dirty="0"/>
          </a:p>
        </p:txBody>
      </p:sp>
      <p:sp>
        <p:nvSpPr>
          <p:cNvPr id="21" name="Text 16"/>
          <p:cNvSpPr txBox="1"/>
          <p:nvPr/>
        </p:nvSpPr>
        <p:spPr>
          <a:xfrm>
            <a:off x="2788920" y="3035808"/>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Architecture, pipeline et prétraitement</a:t>
            </a:r>
            <a:endParaRPr lang="en-US" sz="1500" dirty="0"/>
          </a:p>
        </p:txBody>
      </p:sp>
      <p:sp>
        <p:nvSpPr>
          <p:cNvPr id="22" name="Shape 17"/>
          <p:cNvSpPr/>
          <p:nvPr/>
        </p:nvSpPr>
        <p:spPr>
          <a:xfrm>
            <a:off x="548640" y="3822192"/>
            <a:ext cx="6949440" cy="658368"/>
          </a:xfrm>
          <a:prstGeom prst="roundRect">
            <a:avLst>
              <a:gd name="adj" fmla="val 16667"/>
            </a:avLst>
          </a:prstGeom>
          <a:solidFill>
            <a:srgbClr val="FFFFFF"/>
          </a:solidFill>
          <a:ln w="9525">
            <a:solidFill>
              <a:srgbClr val="D5DED9"/>
            </a:solidFill>
            <a:prstDash val="solid"/>
          </a:ln>
        </p:spPr>
      </p:sp>
      <p:sp>
        <p:nvSpPr>
          <p:cNvPr id="23" name="Text 18"/>
          <p:cNvSpPr txBox="1"/>
          <p:nvPr/>
        </p:nvSpPr>
        <p:spPr>
          <a:xfrm>
            <a:off x="685800" y="3822192"/>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25 min</a:t>
            </a:r>
            <a:endParaRPr lang="en-US" sz="1500" dirty="0"/>
          </a:p>
        </p:txBody>
      </p:sp>
      <p:sp>
        <p:nvSpPr>
          <p:cNvPr id="24" name="Shape 19"/>
          <p:cNvSpPr/>
          <p:nvPr/>
        </p:nvSpPr>
        <p:spPr>
          <a:xfrm>
            <a:off x="1554480" y="3913632"/>
            <a:ext cx="475488" cy="475488"/>
          </a:xfrm>
          <a:prstGeom prst="ellipse">
            <a:avLst/>
          </a:prstGeom>
          <a:solidFill>
            <a:srgbClr val="00704A"/>
          </a:solidFill>
          <a:ln w="12700">
            <a:solidFill>
              <a:srgbClr val="00704A"/>
            </a:solidFill>
            <a:prstDash val="solid"/>
          </a:ln>
        </p:spPr>
      </p:sp>
      <p:pic>
        <p:nvPicPr>
          <p:cNvPr id="25" name="Image 3" descr="preencoded.png">    </p:cNvPr>
          <p:cNvPicPr>
            <a:picLocks noChangeAspect="1"/>
          </p:cNvPicPr>
          <p:nvPr/>
        </p:nvPicPr>
        <p:blipFill>
          <a:blip r:embed="rId4"/>
          <a:stretch>
            <a:fillRect/>
          </a:stretch>
        </p:blipFill>
        <p:spPr>
          <a:xfrm>
            <a:off x="1668597" y="4027749"/>
            <a:ext cx="247254" cy="247254"/>
          </a:xfrm>
          <a:prstGeom prst="rect">
            <a:avLst/>
          </a:prstGeom>
        </p:spPr>
      </p:pic>
      <p:sp>
        <p:nvSpPr>
          <p:cNvPr id="26" name="Text 20"/>
          <p:cNvSpPr txBox="1"/>
          <p:nvPr/>
        </p:nvSpPr>
        <p:spPr>
          <a:xfrm>
            <a:off x="2148840" y="3822192"/>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E</a:t>
            </a:r>
            <a:endParaRPr lang="en-US" sz="1500" dirty="0"/>
          </a:p>
        </p:txBody>
      </p:sp>
      <p:sp>
        <p:nvSpPr>
          <p:cNvPr id="27" name="Text 21"/>
          <p:cNvSpPr txBox="1"/>
          <p:nvPr/>
        </p:nvSpPr>
        <p:spPr>
          <a:xfrm>
            <a:off x="2788920" y="3822192"/>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Analyses : tendances, régions, PIB, chocs, inégalités</a:t>
            </a:r>
            <a:endParaRPr lang="en-US" sz="1500" dirty="0"/>
          </a:p>
        </p:txBody>
      </p:sp>
      <p:sp>
        <p:nvSpPr>
          <p:cNvPr id="28" name="Shape 22"/>
          <p:cNvSpPr/>
          <p:nvPr/>
        </p:nvSpPr>
        <p:spPr>
          <a:xfrm>
            <a:off x="548640" y="4608576"/>
            <a:ext cx="6949440" cy="658368"/>
          </a:xfrm>
          <a:prstGeom prst="roundRect">
            <a:avLst>
              <a:gd name="adj" fmla="val 16667"/>
            </a:avLst>
          </a:prstGeom>
          <a:solidFill>
            <a:srgbClr val="F4F7F5"/>
          </a:solidFill>
          <a:ln w="9525">
            <a:solidFill>
              <a:srgbClr val="D5DED9"/>
            </a:solidFill>
            <a:prstDash val="solid"/>
          </a:ln>
        </p:spPr>
      </p:sp>
      <p:sp>
        <p:nvSpPr>
          <p:cNvPr id="29" name="Text 23"/>
          <p:cNvSpPr txBox="1"/>
          <p:nvPr/>
        </p:nvSpPr>
        <p:spPr>
          <a:xfrm>
            <a:off x="685800" y="4608576"/>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7 min</a:t>
            </a:r>
            <a:endParaRPr lang="en-US" sz="1500" dirty="0"/>
          </a:p>
        </p:txBody>
      </p:sp>
      <p:sp>
        <p:nvSpPr>
          <p:cNvPr id="30" name="Shape 24"/>
          <p:cNvSpPr/>
          <p:nvPr/>
        </p:nvSpPr>
        <p:spPr>
          <a:xfrm>
            <a:off x="1554480" y="4700016"/>
            <a:ext cx="475488" cy="475488"/>
          </a:xfrm>
          <a:prstGeom prst="ellipse">
            <a:avLst/>
          </a:prstGeom>
          <a:solidFill>
            <a:srgbClr val="1F4E8C"/>
          </a:solidFill>
          <a:ln w="12700">
            <a:solidFill>
              <a:srgbClr val="1F4E8C"/>
            </a:solidFill>
            <a:prstDash val="solid"/>
          </a:ln>
        </p:spPr>
      </p:sp>
      <p:pic>
        <p:nvPicPr>
          <p:cNvPr id="31" name="Image 4" descr="preencoded.png">    </p:cNvPr>
          <p:cNvPicPr>
            <a:picLocks noChangeAspect="1"/>
          </p:cNvPicPr>
          <p:nvPr/>
        </p:nvPicPr>
        <p:blipFill>
          <a:blip r:embed="rId5"/>
          <a:stretch>
            <a:fillRect/>
          </a:stretch>
        </p:blipFill>
        <p:spPr>
          <a:xfrm>
            <a:off x="1668597" y="4814133"/>
            <a:ext cx="247254" cy="247254"/>
          </a:xfrm>
          <a:prstGeom prst="rect">
            <a:avLst/>
          </a:prstGeom>
        </p:spPr>
      </p:pic>
      <p:sp>
        <p:nvSpPr>
          <p:cNvPr id="32" name="Text 25"/>
          <p:cNvSpPr txBox="1"/>
          <p:nvPr/>
        </p:nvSpPr>
        <p:spPr>
          <a:xfrm>
            <a:off x="2148840" y="4608576"/>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F</a:t>
            </a:r>
            <a:endParaRPr lang="en-US" sz="1500" dirty="0"/>
          </a:p>
        </p:txBody>
      </p:sp>
      <p:sp>
        <p:nvSpPr>
          <p:cNvPr id="33" name="Text 26"/>
          <p:cNvSpPr txBox="1"/>
          <p:nvPr/>
        </p:nvSpPr>
        <p:spPr>
          <a:xfrm>
            <a:off x="2788920" y="4608576"/>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Confiance, tableau de bord et publication</a:t>
            </a:r>
            <a:endParaRPr lang="en-US" sz="1500" dirty="0"/>
          </a:p>
        </p:txBody>
      </p:sp>
      <p:sp>
        <p:nvSpPr>
          <p:cNvPr id="34" name="Shape 27"/>
          <p:cNvSpPr/>
          <p:nvPr/>
        </p:nvSpPr>
        <p:spPr>
          <a:xfrm>
            <a:off x="548640" y="5394960"/>
            <a:ext cx="6949440" cy="658368"/>
          </a:xfrm>
          <a:prstGeom prst="roundRect">
            <a:avLst>
              <a:gd name="adj" fmla="val 16667"/>
            </a:avLst>
          </a:prstGeom>
          <a:solidFill>
            <a:srgbClr val="FFFFFF"/>
          </a:solidFill>
          <a:ln w="9525">
            <a:solidFill>
              <a:srgbClr val="D5DED9"/>
            </a:solidFill>
            <a:prstDash val="solid"/>
          </a:ln>
        </p:spPr>
      </p:sp>
      <p:sp>
        <p:nvSpPr>
          <p:cNvPr id="35" name="Text 28"/>
          <p:cNvSpPr txBox="1"/>
          <p:nvPr/>
        </p:nvSpPr>
        <p:spPr>
          <a:xfrm>
            <a:off x="685800" y="5394960"/>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8 min</a:t>
            </a:r>
            <a:endParaRPr lang="en-US" sz="1500" dirty="0"/>
          </a:p>
        </p:txBody>
      </p:sp>
      <p:sp>
        <p:nvSpPr>
          <p:cNvPr id="36" name="Shape 29"/>
          <p:cNvSpPr/>
          <p:nvPr/>
        </p:nvSpPr>
        <p:spPr>
          <a:xfrm>
            <a:off x="1554480" y="5486400"/>
            <a:ext cx="475488" cy="475488"/>
          </a:xfrm>
          <a:prstGeom prst="ellipse">
            <a:avLst/>
          </a:prstGeom>
          <a:solidFill>
            <a:srgbClr val="00704A"/>
          </a:solidFill>
          <a:ln w="12700">
            <a:solidFill>
              <a:srgbClr val="00704A"/>
            </a:solidFill>
            <a:prstDash val="solid"/>
          </a:ln>
        </p:spPr>
      </p:sp>
      <p:pic>
        <p:nvPicPr>
          <p:cNvPr id="37" name="Image 5" descr="preencoded.png">    </p:cNvPr>
          <p:cNvPicPr>
            <a:picLocks noChangeAspect="1"/>
          </p:cNvPicPr>
          <p:nvPr/>
        </p:nvPicPr>
        <p:blipFill>
          <a:blip r:embed="rId6"/>
          <a:stretch>
            <a:fillRect/>
          </a:stretch>
        </p:blipFill>
        <p:spPr>
          <a:xfrm>
            <a:off x="1668597" y="5600517"/>
            <a:ext cx="247254" cy="247254"/>
          </a:xfrm>
          <a:prstGeom prst="rect">
            <a:avLst/>
          </a:prstGeom>
        </p:spPr>
      </p:pic>
      <p:sp>
        <p:nvSpPr>
          <p:cNvPr id="38" name="Text 30"/>
          <p:cNvSpPr txBox="1"/>
          <p:nvPr/>
        </p:nvSpPr>
        <p:spPr>
          <a:xfrm>
            <a:off x="2148840" y="5394960"/>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G</a:t>
            </a:r>
            <a:endParaRPr lang="en-US" sz="1500" dirty="0"/>
          </a:p>
        </p:txBody>
      </p:sp>
      <p:sp>
        <p:nvSpPr>
          <p:cNvPr id="39" name="Text 31"/>
          <p:cNvSpPr txBox="1"/>
          <p:nvPr/>
        </p:nvSpPr>
        <p:spPr>
          <a:xfrm>
            <a:off x="2788920" y="5394960"/>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Limites, synthèse et passerelle vers vos projets</a:t>
            </a:r>
            <a:endParaRPr lang="en-US" sz="1500" dirty="0"/>
          </a:p>
        </p:txBody>
      </p:sp>
      <p:sp>
        <p:nvSpPr>
          <p:cNvPr id="40" name="Shape 32"/>
          <p:cNvSpPr/>
          <p:nvPr/>
        </p:nvSpPr>
        <p:spPr>
          <a:xfrm>
            <a:off x="7863840" y="1463040"/>
            <a:ext cx="3794760" cy="4572000"/>
          </a:xfrm>
          <a:prstGeom prst="roundRect">
            <a:avLst>
              <a:gd name="adj" fmla="val 2892"/>
            </a:avLst>
          </a:prstGeom>
          <a:solidFill>
            <a:srgbClr val="E8F5EF"/>
          </a:solidFill>
          <a:ln w="9525">
            <a:solidFill>
              <a:srgbClr val="E8F5EF"/>
            </a:solidFill>
            <a:prstDash val="solid"/>
          </a:ln>
          <a:effectLst>
            <a:outerShdw sx="100000" sy="100000" kx="0" ky="0" algn="bl" rotWithShape="0" blurRad="101600" dist="25400" dir="5400000">
              <a:srgbClr val="9CA3AF">
                <a:alpha val="25000"/>
              </a:srgbClr>
            </a:outerShdw>
          </a:effectLst>
        </p:spPr>
      </p:sp>
      <p:sp>
        <p:nvSpPr>
          <p:cNvPr id="41" name="Text 33"/>
          <p:cNvSpPr txBox="1"/>
          <p:nvPr/>
        </p:nvSpPr>
        <p:spPr>
          <a:xfrm>
            <a:off x="8092440" y="1600200"/>
            <a:ext cx="338328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Où nous en sommes</a:t>
            </a:r>
            <a:endParaRPr lang="en-US" sz="1600" dirty="0"/>
          </a:p>
        </p:txBody>
      </p:sp>
      <p:sp>
        <p:nvSpPr>
          <p:cNvPr id="42" name="Shape 34"/>
          <p:cNvSpPr/>
          <p:nvPr/>
        </p:nvSpPr>
        <p:spPr>
          <a:xfrm>
            <a:off x="8138160" y="2194560"/>
            <a:ext cx="292608" cy="292608"/>
          </a:xfrm>
          <a:prstGeom prst="ellipse">
            <a:avLst/>
          </a:prstGeom>
          <a:solidFill>
            <a:srgbClr val="6B7280"/>
          </a:solidFill>
          <a:ln w="12700">
            <a:solidFill>
              <a:srgbClr val="6B7280"/>
            </a:solidFill>
            <a:prstDash val="solid"/>
          </a:ln>
        </p:spPr>
      </p:sp>
      <p:sp>
        <p:nvSpPr>
          <p:cNvPr id="43" name="Shape 35"/>
          <p:cNvSpPr/>
          <p:nvPr/>
        </p:nvSpPr>
        <p:spPr>
          <a:xfrm>
            <a:off x="8284464" y="2514600"/>
            <a:ext cx="0" cy="896112"/>
          </a:xfrm>
          <a:prstGeom prst="line">
            <a:avLst/>
          </a:prstGeom>
          <a:noFill/>
          <a:ln w="25400">
            <a:solidFill>
              <a:srgbClr val="D5DED9"/>
            </a:solidFill>
            <a:prstDash val="solid"/>
          </a:ln>
        </p:spPr>
      </p:sp>
      <p:sp>
        <p:nvSpPr>
          <p:cNvPr id="44" name="Text 36"/>
          <p:cNvSpPr txBox="1"/>
          <p:nvPr/>
        </p:nvSpPr>
        <p:spPr>
          <a:xfrm>
            <a:off x="8549640" y="2148840"/>
            <a:ext cx="3017520" cy="320040"/>
          </a:xfrm>
          <a:prstGeom prst="rect">
            <a:avLst/>
          </a:prstGeom>
          <a:noFill/>
          <a:ln/>
        </p:spPr>
        <p:txBody>
          <a:bodyPr wrap="square" lIns="635" tIns="635" rIns="635" bIns="635" rtlCol="0" anchor="t"/>
          <a:lstStyle/>
          <a:p>
            <a:pPr indent="0" marL="0">
              <a:spcAft>
                <a:spcPts val="200"/>
              </a:spcAft>
              <a:buNone/>
            </a:pPr>
            <a:r>
              <a:rPr lang="en-US" sz="1400" b="1" dirty="0">
                <a:solidFill>
                  <a:srgbClr val="6B7280"/>
                </a:solidFill>
              </a:rPr>
              <a:t>Parties 1–2</a:t>
            </a:r>
            <a:endParaRPr lang="en-US" sz="1400" dirty="0"/>
          </a:p>
        </p:txBody>
      </p:sp>
      <p:sp>
        <p:nvSpPr>
          <p:cNvPr id="45" name="Text 37"/>
          <p:cNvSpPr txBox="1"/>
          <p:nvPr/>
        </p:nvSpPr>
        <p:spPr>
          <a:xfrm>
            <a:off x="8549640" y="2478024"/>
            <a:ext cx="3017520" cy="73152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Collecter et comprendre un fichier Black Marble</a:t>
            </a:r>
            <a:endParaRPr lang="en-US" sz="1350" dirty="0"/>
          </a:p>
        </p:txBody>
      </p:sp>
      <p:sp>
        <p:nvSpPr>
          <p:cNvPr id="46" name="Shape 38"/>
          <p:cNvSpPr/>
          <p:nvPr/>
        </p:nvSpPr>
        <p:spPr>
          <a:xfrm>
            <a:off x="8138160" y="3429000"/>
            <a:ext cx="292608" cy="292608"/>
          </a:xfrm>
          <a:prstGeom prst="ellipse">
            <a:avLst/>
          </a:prstGeom>
          <a:solidFill>
            <a:srgbClr val="00553A"/>
          </a:solidFill>
          <a:ln w="12700">
            <a:solidFill>
              <a:srgbClr val="00553A"/>
            </a:solidFill>
            <a:prstDash val="solid"/>
          </a:ln>
        </p:spPr>
      </p:sp>
      <p:sp>
        <p:nvSpPr>
          <p:cNvPr id="47" name="Shape 39"/>
          <p:cNvSpPr/>
          <p:nvPr/>
        </p:nvSpPr>
        <p:spPr>
          <a:xfrm>
            <a:off x="8284464" y="3749040"/>
            <a:ext cx="0" cy="896112"/>
          </a:xfrm>
          <a:prstGeom prst="line">
            <a:avLst/>
          </a:prstGeom>
          <a:noFill/>
          <a:ln w="25400">
            <a:solidFill>
              <a:srgbClr val="D5DED9"/>
            </a:solidFill>
            <a:prstDash val="solid"/>
          </a:ln>
        </p:spPr>
      </p:sp>
      <p:sp>
        <p:nvSpPr>
          <p:cNvPr id="48" name="Text 40"/>
          <p:cNvSpPr txBox="1"/>
          <p:nvPr/>
        </p:nvSpPr>
        <p:spPr>
          <a:xfrm>
            <a:off x="8549640" y="3383280"/>
            <a:ext cx="301752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Partie 3</a:t>
            </a:r>
            <a:endParaRPr lang="en-US" sz="1400" dirty="0"/>
          </a:p>
        </p:txBody>
      </p:sp>
      <p:sp>
        <p:nvSpPr>
          <p:cNvPr id="49" name="Text 41"/>
          <p:cNvSpPr txBox="1"/>
          <p:nvPr/>
        </p:nvSpPr>
        <p:spPr>
          <a:xfrm>
            <a:off x="8549640" y="3712464"/>
            <a:ext cx="3017520" cy="73152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Analyser et publier — cette séance</a:t>
            </a:r>
            <a:endParaRPr lang="en-US" sz="1350" dirty="0"/>
          </a:p>
        </p:txBody>
      </p:sp>
      <p:sp>
        <p:nvSpPr>
          <p:cNvPr id="50" name="Shape 42"/>
          <p:cNvSpPr/>
          <p:nvPr/>
        </p:nvSpPr>
        <p:spPr>
          <a:xfrm>
            <a:off x="8138160" y="4663440"/>
            <a:ext cx="292608" cy="292608"/>
          </a:xfrm>
          <a:prstGeom prst="ellipse">
            <a:avLst/>
          </a:prstGeom>
          <a:solidFill>
            <a:srgbClr val="1F4E8C"/>
          </a:solidFill>
          <a:ln w="12700">
            <a:solidFill>
              <a:srgbClr val="1F4E8C"/>
            </a:solidFill>
            <a:prstDash val="solid"/>
          </a:ln>
        </p:spPr>
      </p:sp>
      <p:sp>
        <p:nvSpPr>
          <p:cNvPr id="51" name="Text 43"/>
          <p:cNvSpPr txBox="1"/>
          <p:nvPr/>
        </p:nvSpPr>
        <p:spPr>
          <a:xfrm>
            <a:off x="8549640" y="4617720"/>
            <a:ext cx="301752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Étape suivante</a:t>
            </a:r>
            <a:endParaRPr lang="en-US" sz="1400" dirty="0"/>
          </a:p>
        </p:txBody>
      </p:sp>
      <p:sp>
        <p:nvSpPr>
          <p:cNvPr id="52" name="Text 44"/>
          <p:cNvSpPr txBox="1"/>
          <p:nvPr/>
        </p:nvSpPr>
        <p:spPr>
          <a:xfrm>
            <a:off x="8549640" y="4946904"/>
            <a:ext cx="3017520" cy="73152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Appliquer le pipeline à votre pays</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 · POURQUOI LES LUMIÈRES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L'intuition : l'activité humaine se voit depuis l'espace</a:t>
            </a:r>
            <a:endParaRPr lang="en-US" sz="2800" dirty="0"/>
          </a:p>
        </p:txBody>
      </p:sp>
      <p:pic>
        <p:nvPicPr>
          <p:cNvPr id="4" name="Image 0" descr="/tmp/claude-0/-home-claude/8a8742ef-7d0d-54fc-a0c9-7ecbfc9f8b73/scratchpad/deck/real/ghana_change.png">    </p:cNvPr>
          <p:cNvPicPr>
            <a:picLocks noChangeAspect="1"/>
          </p:cNvPicPr>
          <p:nvPr/>
        </p:nvPicPr>
        <p:blipFill>
          <a:blip r:embed="rId1"/>
          <a:stretch>
            <a:fillRect/>
          </a:stretch>
        </p:blipFill>
        <p:spPr>
          <a:xfrm>
            <a:off x="576389" y="1371600"/>
            <a:ext cx="3693543" cy="4754880"/>
          </a:xfrm>
          <a:prstGeom prst="rect">
            <a:avLst/>
          </a:prstGeom>
        </p:spPr>
      </p:pic>
      <p:sp>
        <p:nvSpPr>
          <p:cNvPr id="5" name="Text 2"/>
          <p:cNvSpPr txBox="1"/>
          <p:nvPr/>
        </p:nvSpPr>
        <p:spPr>
          <a:xfrm>
            <a:off x="548640" y="6108192"/>
            <a:ext cx="393192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Variation de radiance 2020→2025, Ghana (Black Marble). Source : blackmarblepy, Banque mondiale (MIT).</a:t>
            </a:r>
            <a:endParaRPr lang="en-US" sz="1000" dirty="0"/>
          </a:p>
        </p:txBody>
      </p:sp>
      <p:sp>
        <p:nvSpPr>
          <p:cNvPr id="6" name="Shape 3"/>
          <p:cNvSpPr/>
          <p:nvPr/>
        </p:nvSpPr>
        <p:spPr>
          <a:xfrm>
            <a:off x="5074920" y="1508760"/>
            <a:ext cx="777240" cy="777240"/>
          </a:xfrm>
          <a:prstGeom prst="ellipse">
            <a:avLst/>
          </a:prstGeom>
          <a:solidFill>
            <a:srgbClr val="00704A"/>
          </a:solidFill>
          <a:ln w="12700">
            <a:solidFill>
              <a:srgbClr val="00704A"/>
            </a:solidFill>
            <a:prstDash val="solid"/>
          </a:ln>
        </p:spPr>
      </p:sp>
      <p:pic>
        <p:nvPicPr>
          <p:cNvPr id="7" name="Image 1" descr="preencoded.png">    </p:cNvPr>
          <p:cNvPicPr>
            <a:picLocks noChangeAspect="1"/>
          </p:cNvPicPr>
          <p:nvPr/>
        </p:nvPicPr>
        <p:blipFill>
          <a:blip r:embed="rId2"/>
          <a:stretch>
            <a:fillRect/>
          </a:stretch>
        </p:blipFill>
        <p:spPr>
          <a:xfrm>
            <a:off x="5261458" y="1695298"/>
            <a:ext cx="404165" cy="404165"/>
          </a:xfrm>
          <a:prstGeom prst="rect">
            <a:avLst/>
          </a:prstGeom>
        </p:spPr>
      </p:pic>
      <p:sp>
        <p:nvSpPr>
          <p:cNvPr id="8" name="Text 4"/>
          <p:cNvSpPr txBox="1"/>
          <p:nvPr/>
        </p:nvSpPr>
        <p:spPr>
          <a:xfrm>
            <a:off x="4663440" y="2377440"/>
            <a:ext cx="1600200" cy="320040"/>
          </a:xfrm>
          <a:prstGeom prst="rect">
            <a:avLst/>
          </a:prstGeom>
          <a:noFill/>
          <a:ln/>
        </p:spPr>
        <p:txBody>
          <a:bodyPr wrap="square" lIns="635" tIns="635" rIns="635" bIns="635" rtlCol="0" anchor="t"/>
          <a:lstStyle/>
          <a:p>
            <a:pPr algn="ctr" indent="0" marL="0">
              <a:spcAft>
                <a:spcPts val="200"/>
              </a:spcAft>
              <a:buNone/>
            </a:pPr>
            <a:r>
              <a:rPr lang="en-US" sz="1500" b="1" dirty="0">
                <a:solidFill>
                  <a:srgbClr val="00553A"/>
                </a:solidFill>
              </a:rPr>
              <a:t>Activité</a:t>
            </a:r>
            <a:endParaRPr lang="en-US" sz="1500" dirty="0"/>
          </a:p>
        </p:txBody>
      </p:sp>
      <p:sp>
        <p:nvSpPr>
          <p:cNvPr id="9" name="Text 5"/>
          <p:cNvSpPr txBox="1"/>
          <p:nvPr/>
        </p:nvSpPr>
        <p:spPr>
          <a:xfrm>
            <a:off x="4663440" y="2697480"/>
            <a:ext cx="1600200" cy="77724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produire, transporter, commercer, consommer</a:t>
            </a:r>
            <a:endParaRPr lang="en-US" sz="1250" dirty="0"/>
          </a:p>
        </p:txBody>
      </p:sp>
      <p:sp>
        <p:nvSpPr>
          <p:cNvPr id="10" name="Shape 6"/>
          <p:cNvSpPr/>
          <p:nvPr/>
        </p:nvSpPr>
        <p:spPr>
          <a:xfrm>
            <a:off x="5989320" y="1892808"/>
            <a:ext cx="777240" cy="914"/>
          </a:xfrm>
          <a:prstGeom prst="line">
            <a:avLst/>
          </a:prstGeom>
          <a:noFill/>
          <a:ln w="31750">
            <a:solidFill>
              <a:srgbClr val="F5C242"/>
            </a:solidFill>
            <a:prstDash val="solid"/>
            <a:tailEnd type="triangle"/>
          </a:ln>
        </p:spPr>
      </p:sp>
      <p:sp>
        <p:nvSpPr>
          <p:cNvPr id="11" name="Shape 7"/>
          <p:cNvSpPr/>
          <p:nvPr/>
        </p:nvSpPr>
        <p:spPr>
          <a:xfrm>
            <a:off x="6858000" y="1508760"/>
            <a:ext cx="777240" cy="777240"/>
          </a:xfrm>
          <a:prstGeom prst="ellipse">
            <a:avLst/>
          </a:prstGeom>
          <a:solidFill>
            <a:srgbClr val="00704A"/>
          </a:solidFill>
          <a:ln w="12700">
            <a:solidFill>
              <a:srgbClr val="00704A"/>
            </a:solidFill>
            <a:prstDash val="solid"/>
          </a:ln>
        </p:spPr>
      </p:sp>
      <p:pic>
        <p:nvPicPr>
          <p:cNvPr id="12" name="Image 2" descr="preencoded.png">    </p:cNvPr>
          <p:cNvPicPr>
            <a:picLocks noChangeAspect="1"/>
          </p:cNvPicPr>
          <p:nvPr/>
        </p:nvPicPr>
        <p:blipFill>
          <a:blip r:embed="rId3"/>
          <a:stretch>
            <a:fillRect/>
          </a:stretch>
        </p:blipFill>
        <p:spPr>
          <a:xfrm>
            <a:off x="7044538" y="1695298"/>
            <a:ext cx="404165" cy="404165"/>
          </a:xfrm>
          <a:prstGeom prst="rect">
            <a:avLst/>
          </a:prstGeom>
        </p:spPr>
      </p:pic>
      <p:sp>
        <p:nvSpPr>
          <p:cNvPr id="13" name="Text 8"/>
          <p:cNvSpPr txBox="1"/>
          <p:nvPr/>
        </p:nvSpPr>
        <p:spPr>
          <a:xfrm>
            <a:off x="6446520" y="2377440"/>
            <a:ext cx="1600200" cy="320040"/>
          </a:xfrm>
          <a:prstGeom prst="rect">
            <a:avLst/>
          </a:prstGeom>
          <a:noFill/>
          <a:ln/>
        </p:spPr>
        <p:txBody>
          <a:bodyPr wrap="square" lIns="635" tIns="635" rIns="635" bIns="635" rtlCol="0" anchor="t"/>
          <a:lstStyle/>
          <a:p>
            <a:pPr algn="ctr" indent="0" marL="0">
              <a:spcAft>
                <a:spcPts val="200"/>
              </a:spcAft>
              <a:buNone/>
            </a:pPr>
            <a:r>
              <a:rPr lang="en-US" sz="1500" b="1" dirty="0">
                <a:solidFill>
                  <a:srgbClr val="00553A"/>
                </a:solidFill>
              </a:rPr>
              <a:t>Énergie</a:t>
            </a:r>
            <a:endParaRPr lang="en-US" sz="1500" dirty="0"/>
          </a:p>
        </p:txBody>
      </p:sp>
      <p:sp>
        <p:nvSpPr>
          <p:cNvPr id="14" name="Text 9"/>
          <p:cNvSpPr txBox="1"/>
          <p:nvPr/>
        </p:nvSpPr>
        <p:spPr>
          <a:xfrm>
            <a:off x="6446520" y="2697480"/>
            <a:ext cx="1600200" cy="77724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l'activité exige de l'électricité</a:t>
            </a:r>
            <a:endParaRPr lang="en-US" sz="1250" dirty="0"/>
          </a:p>
        </p:txBody>
      </p:sp>
      <p:sp>
        <p:nvSpPr>
          <p:cNvPr id="15" name="Shape 10"/>
          <p:cNvSpPr/>
          <p:nvPr/>
        </p:nvSpPr>
        <p:spPr>
          <a:xfrm>
            <a:off x="7772400" y="1892808"/>
            <a:ext cx="777240" cy="914"/>
          </a:xfrm>
          <a:prstGeom prst="line">
            <a:avLst/>
          </a:prstGeom>
          <a:noFill/>
          <a:ln w="31750">
            <a:solidFill>
              <a:srgbClr val="F5C242"/>
            </a:solidFill>
            <a:prstDash val="solid"/>
            <a:tailEnd type="triangle"/>
          </a:ln>
        </p:spPr>
      </p:sp>
      <p:sp>
        <p:nvSpPr>
          <p:cNvPr id="16" name="Shape 11"/>
          <p:cNvSpPr/>
          <p:nvPr/>
        </p:nvSpPr>
        <p:spPr>
          <a:xfrm>
            <a:off x="8641080" y="1508760"/>
            <a:ext cx="777240" cy="777240"/>
          </a:xfrm>
          <a:prstGeom prst="ellipse">
            <a:avLst/>
          </a:prstGeom>
          <a:solidFill>
            <a:srgbClr val="00704A"/>
          </a:solidFill>
          <a:ln w="12700">
            <a:solidFill>
              <a:srgbClr val="00704A"/>
            </a:solidFill>
            <a:prstDash val="solid"/>
          </a:ln>
        </p:spPr>
      </p:sp>
      <p:pic>
        <p:nvPicPr>
          <p:cNvPr id="17" name="Image 3" descr="preencoded.png">    </p:cNvPr>
          <p:cNvPicPr>
            <a:picLocks noChangeAspect="1"/>
          </p:cNvPicPr>
          <p:nvPr/>
        </p:nvPicPr>
        <p:blipFill>
          <a:blip r:embed="rId4"/>
          <a:stretch>
            <a:fillRect/>
          </a:stretch>
        </p:blipFill>
        <p:spPr>
          <a:xfrm>
            <a:off x="8827618" y="1695298"/>
            <a:ext cx="404165" cy="404165"/>
          </a:xfrm>
          <a:prstGeom prst="rect">
            <a:avLst/>
          </a:prstGeom>
        </p:spPr>
      </p:pic>
      <p:sp>
        <p:nvSpPr>
          <p:cNvPr id="18" name="Text 12"/>
          <p:cNvSpPr txBox="1"/>
          <p:nvPr/>
        </p:nvSpPr>
        <p:spPr>
          <a:xfrm>
            <a:off x="8229600" y="2377440"/>
            <a:ext cx="1600200" cy="320040"/>
          </a:xfrm>
          <a:prstGeom prst="rect">
            <a:avLst/>
          </a:prstGeom>
          <a:noFill/>
          <a:ln/>
        </p:spPr>
        <p:txBody>
          <a:bodyPr wrap="square" lIns="635" tIns="635" rIns="635" bIns="635" rtlCol="0" anchor="t"/>
          <a:lstStyle/>
          <a:p>
            <a:pPr algn="ctr" indent="0" marL="0">
              <a:spcAft>
                <a:spcPts val="200"/>
              </a:spcAft>
              <a:buNone/>
            </a:pPr>
            <a:r>
              <a:rPr lang="en-US" sz="1500" b="1" dirty="0">
                <a:solidFill>
                  <a:srgbClr val="00553A"/>
                </a:solidFill>
              </a:rPr>
              <a:t>Lumière</a:t>
            </a:r>
            <a:endParaRPr lang="en-US" sz="1500" dirty="0"/>
          </a:p>
        </p:txBody>
      </p:sp>
      <p:sp>
        <p:nvSpPr>
          <p:cNvPr id="19" name="Text 13"/>
          <p:cNvSpPr txBox="1"/>
          <p:nvPr/>
        </p:nvSpPr>
        <p:spPr>
          <a:xfrm>
            <a:off x="8229600" y="2697480"/>
            <a:ext cx="1600200" cy="77724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une partie s'échappe la nuit vers le ciel</a:t>
            </a:r>
            <a:endParaRPr lang="en-US" sz="1250" dirty="0"/>
          </a:p>
        </p:txBody>
      </p:sp>
      <p:sp>
        <p:nvSpPr>
          <p:cNvPr id="20" name="Shape 14"/>
          <p:cNvSpPr/>
          <p:nvPr/>
        </p:nvSpPr>
        <p:spPr>
          <a:xfrm>
            <a:off x="9555480" y="1892808"/>
            <a:ext cx="777240" cy="914"/>
          </a:xfrm>
          <a:prstGeom prst="line">
            <a:avLst/>
          </a:prstGeom>
          <a:noFill/>
          <a:ln w="31750">
            <a:solidFill>
              <a:srgbClr val="F5C242"/>
            </a:solidFill>
            <a:prstDash val="solid"/>
            <a:tailEnd type="triangle"/>
          </a:ln>
        </p:spPr>
      </p:sp>
      <p:sp>
        <p:nvSpPr>
          <p:cNvPr id="21" name="Shape 15"/>
          <p:cNvSpPr/>
          <p:nvPr/>
        </p:nvSpPr>
        <p:spPr>
          <a:xfrm>
            <a:off x="10424160" y="1508760"/>
            <a:ext cx="777240" cy="777240"/>
          </a:xfrm>
          <a:prstGeom prst="ellipse">
            <a:avLst/>
          </a:prstGeom>
          <a:solidFill>
            <a:srgbClr val="1F4E8C"/>
          </a:solidFill>
          <a:ln w="12700">
            <a:solidFill>
              <a:srgbClr val="1F4E8C"/>
            </a:solidFill>
            <a:prstDash val="solid"/>
          </a:ln>
        </p:spPr>
      </p:sp>
      <p:pic>
        <p:nvPicPr>
          <p:cNvPr id="22" name="Image 4" descr="preencoded.png">    </p:cNvPr>
          <p:cNvPicPr>
            <a:picLocks noChangeAspect="1"/>
          </p:cNvPicPr>
          <p:nvPr/>
        </p:nvPicPr>
        <p:blipFill>
          <a:blip r:embed="rId5"/>
          <a:stretch>
            <a:fillRect/>
          </a:stretch>
        </p:blipFill>
        <p:spPr>
          <a:xfrm>
            <a:off x="10610698" y="1695298"/>
            <a:ext cx="404165" cy="404165"/>
          </a:xfrm>
          <a:prstGeom prst="rect">
            <a:avLst/>
          </a:prstGeom>
        </p:spPr>
      </p:pic>
      <p:sp>
        <p:nvSpPr>
          <p:cNvPr id="23" name="Text 16"/>
          <p:cNvSpPr txBox="1"/>
          <p:nvPr/>
        </p:nvSpPr>
        <p:spPr>
          <a:xfrm>
            <a:off x="10012680" y="2377440"/>
            <a:ext cx="1600200" cy="320040"/>
          </a:xfrm>
          <a:prstGeom prst="rect">
            <a:avLst/>
          </a:prstGeom>
          <a:noFill/>
          <a:ln/>
        </p:spPr>
        <p:txBody>
          <a:bodyPr wrap="square" lIns="635" tIns="635" rIns="635" bIns="635" rtlCol="0" anchor="t"/>
          <a:lstStyle/>
          <a:p>
            <a:pPr algn="ctr" indent="0" marL="0">
              <a:spcAft>
                <a:spcPts val="200"/>
              </a:spcAft>
              <a:buNone/>
            </a:pPr>
            <a:r>
              <a:rPr lang="en-US" sz="1500" b="1" dirty="0">
                <a:solidFill>
                  <a:srgbClr val="00553A"/>
                </a:solidFill>
              </a:rPr>
              <a:t>Mesure</a:t>
            </a:r>
            <a:endParaRPr lang="en-US" sz="1500" dirty="0"/>
          </a:p>
        </p:txBody>
      </p:sp>
      <p:sp>
        <p:nvSpPr>
          <p:cNvPr id="24" name="Text 17"/>
          <p:cNvSpPr txBox="1"/>
          <p:nvPr/>
        </p:nvSpPr>
        <p:spPr>
          <a:xfrm>
            <a:off x="10012680" y="2697480"/>
            <a:ext cx="1600200" cy="77724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le capteur VIIRS l'enregistre chaque nuit</a:t>
            </a:r>
            <a:endParaRPr lang="en-US" sz="1250" dirty="0"/>
          </a:p>
        </p:txBody>
      </p:sp>
      <p:sp>
        <p:nvSpPr>
          <p:cNvPr id="25" name="Shape 18"/>
          <p:cNvSpPr/>
          <p:nvPr/>
        </p:nvSpPr>
        <p:spPr>
          <a:xfrm>
            <a:off x="4663440" y="3703320"/>
            <a:ext cx="2240280" cy="1325880"/>
          </a:xfrm>
          <a:prstGeom prst="roundRect">
            <a:avLst>
              <a:gd name="adj" fmla="val 8276"/>
            </a:avLst>
          </a:prstGeom>
          <a:solidFill>
            <a:srgbClr val="E8F5EF"/>
          </a:solidFill>
          <a:ln w="9525">
            <a:solidFill>
              <a:srgbClr val="E8F5EF"/>
            </a:solidFill>
            <a:prstDash val="solid"/>
          </a:ln>
        </p:spPr>
      </p:sp>
      <p:sp>
        <p:nvSpPr>
          <p:cNvPr id="26" name="Text 19"/>
          <p:cNvSpPr txBox="1"/>
          <p:nvPr/>
        </p:nvSpPr>
        <p:spPr>
          <a:xfrm>
            <a:off x="4800600" y="3767328"/>
            <a:ext cx="201168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Homogène</a:t>
            </a:r>
            <a:endParaRPr lang="en-US" sz="1600" dirty="0"/>
          </a:p>
        </p:txBody>
      </p:sp>
      <p:sp>
        <p:nvSpPr>
          <p:cNvPr id="27" name="Text 20"/>
          <p:cNvSpPr txBox="1"/>
          <p:nvPr/>
        </p:nvSpPr>
        <p:spPr>
          <a:xfrm>
            <a:off x="4800600" y="4114800"/>
            <a:ext cx="201168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même capteur, même méthode, partout</a:t>
            </a:r>
            <a:endParaRPr lang="en-US" sz="1300" dirty="0"/>
          </a:p>
        </p:txBody>
      </p:sp>
      <p:sp>
        <p:nvSpPr>
          <p:cNvPr id="28" name="Shape 21"/>
          <p:cNvSpPr/>
          <p:nvPr/>
        </p:nvSpPr>
        <p:spPr>
          <a:xfrm>
            <a:off x="7040880" y="3703320"/>
            <a:ext cx="2240280" cy="1325880"/>
          </a:xfrm>
          <a:prstGeom prst="roundRect">
            <a:avLst>
              <a:gd name="adj" fmla="val 8276"/>
            </a:avLst>
          </a:prstGeom>
          <a:solidFill>
            <a:srgbClr val="E8F5EF"/>
          </a:solidFill>
          <a:ln w="9525">
            <a:solidFill>
              <a:srgbClr val="E8F5EF"/>
            </a:solidFill>
            <a:prstDash val="solid"/>
          </a:ln>
        </p:spPr>
      </p:sp>
      <p:sp>
        <p:nvSpPr>
          <p:cNvPr id="29" name="Text 22"/>
          <p:cNvSpPr txBox="1"/>
          <p:nvPr/>
        </p:nvSpPr>
        <p:spPr>
          <a:xfrm>
            <a:off x="7178040" y="3767328"/>
            <a:ext cx="201168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Fine</a:t>
            </a:r>
            <a:endParaRPr lang="en-US" sz="1600" dirty="0"/>
          </a:p>
        </p:txBody>
      </p:sp>
      <p:sp>
        <p:nvSpPr>
          <p:cNvPr id="30" name="Text 23"/>
          <p:cNvSpPr txBox="1"/>
          <p:nvPr/>
        </p:nvSpPr>
        <p:spPr>
          <a:xfrm>
            <a:off x="7178040" y="4114800"/>
            <a:ext cx="201168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pixel d'environ 500 m : régions, districts, villes</a:t>
            </a:r>
            <a:endParaRPr lang="en-US" sz="1300" dirty="0"/>
          </a:p>
        </p:txBody>
      </p:sp>
      <p:sp>
        <p:nvSpPr>
          <p:cNvPr id="31" name="Shape 24"/>
          <p:cNvSpPr/>
          <p:nvPr/>
        </p:nvSpPr>
        <p:spPr>
          <a:xfrm>
            <a:off x="9418320" y="3703320"/>
            <a:ext cx="2240280" cy="1325880"/>
          </a:xfrm>
          <a:prstGeom prst="roundRect">
            <a:avLst>
              <a:gd name="adj" fmla="val 8276"/>
            </a:avLst>
          </a:prstGeom>
          <a:solidFill>
            <a:srgbClr val="E8F5EF"/>
          </a:solidFill>
          <a:ln w="9525">
            <a:solidFill>
              <a:srgbClr val="E8F5EF"/>
            </a:solidFill>
            <a:prstDash val="solid"/>
          </a:ln>
        </p:spPr>
      </p:sp>
      <p:sp>
        <p:nvSpPr>
          <p:cNvPr id="32" name="Text 25"/>
          <p:cNvSpPr txBox="1"/>
          <p:nvPr/>
        </p:nvSpPr>
        <p:spPr>
          <a:xfrm>
            <a:off x="9555480" y="3767328"/>
            <a:ext cx="201168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Rapide</a:t>
            </a:r>
            <a:endParaRPr lang="en-US" sz="1600" dirty="0"/>
          </a:p>
        </p:txBody>
      </p:sp>
      <p:sp>
        <p:nvSpPr>
          <p:cNvPr id="33" name="Text 26"/>
          <p:cNvSpPr txBox="1"/>
          <p:nvPr/>
        </p:nvSpPr>
        <p:spPr>
          <a:xfrm>
            <a:off x="9555480" y="4114800"/>
            <a:ext cx="201168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mensuel, voire quotidien, sans attendre les comptes</a:t>
            </a:r>
            <a:endParaRPr lang="en-US" sz="1300" dirty="0"/>
          </a:p>
        </p:txBody>
      </p:sp>
      <p:sp>
        <p:nvSpPr>
          <p:cNvPr id="34" name="Shape 27"/>
          <p:cNvSpPr/>
          <p:nvPr/>
        </p:nvSpPr>
        <p:spPr>
          <a:xfrm>
            <a:off x="4663440" y="5257800"/>
            <a:ext cx="6995160" cy="868680"/>
          </a:xfrm>
          <a:prstGeom prst="roundRect">
            <a:avLst>
              <a:gd name="adj" fmla="val 12632"/>
            </a:avLst>
          </a:prstGeom>
          <a:solidFill>
            <a:srgbClr val="FDF6E3"/>
          </a:solidFill>
          <a:ln w="9525">
            <a:solidFill>
              <a:srgbClr val="FDF6E3"/>
            </a:solidFill>
            <a:prstDash val="solid"/>
          </a:ln>
        </p:spPr>
      </p:sp>
      <p:sp>
        <p:nvSpPr>
          <p:cNvPr id="35" name="Text 28"/>
          <p:cNvSpPr txBox="1"/>
          <p:nvPr/>
        </p:nvSpPr>
        <p:spPr>
          <a:xfrm>
            <a:off x="4800600" y="5330952"/>
            <a:ext cx="6720840" cy="72237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Pourquoi c'est utile  </a:t>
            </a:r>
            <a:pPr indent="0" marL="0">
              <a:spcAft>
                <a:spcPts val="200"/>
              </a:spcAft>
              <a:buNone/>
            </a:pPr>
            <a:r>
              <a:rPr lang="en-US" sz="1350" dirty="0">
                <a:solidFill>
                  <a:srgbClr val="231F20"/>
                </a:solidFill>
              </a:rPr>
              <a:t>les comptes nationaux sont annuels, publiés avec retard et rarement régionaux ; les lumières comblent ces trous, sans remplacer la statistique officielle.</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 · POURQUOI LES LUMIÈRES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Ce que dit la littérature</a:t>
            </a:r>
            <a:endParaRPr lang="en-US" sz="2800" dirty="0"/>
          </a:p>
        </p:txBody>
      </p:sp>
      <p:sp>
        <p:nvSpPr>
          <p:cNvPr id="4" name="Shape 2"/>
          <p:cNvSpPr/>
          <p:nvPr/>
        </p:nvSpPr>
        <p:spPr>
          <a:xfrm>
            <a:off x="868680" y="1600200"/>
            <a:ext cx="0" cy="4526280"/>
          </a:xfrm>
          <a:prstGeom prst="line">
            <a:avLst/>
          </a:prstGeom>
          <a:noFill/>
          <a:ln w="31750">
            <a:solidFill>
              <a:srgbClr val="D5DED9"/>
            </a:solidFill>
            <a:prstDash val="solid"/>
          </a:ln>
        </p:spPr>
      </p:sp>
      <p:sp>
        <p:nvSpPr>
          <p:cNvPr id="5" name="Shape 3"/>
          <p:cNvSpPr/>
          <p:nvPr/>
        </p:nvSpPr>
        <p:spPr>
          <a:xfrm>
            <a:off x="713232" y="1581912"/>
            <a:ext cx="310896" cy="310896"/>
          </a:xfrm>
          <a:prstGeom prst="ellipse">
            <a:avLst/>
          </a:prstGeom>
          <a:solidFill>
            <a:srgbClr val="00704A"/>
          </a:solidFill>
          <a:ln w="25400">
            <a:solidFill>
              <a:srgbClr val="FFFFFF"/>
            </a:solidFill>
            <a:prstDash val="solid"/>
          </a:ln>
        </p:spPr>
      </p:sp>
      <p:sp>
        <p:nvSpPr>
          <p:cNvPr id="6" name="Text 4"/>
          <p:cNvSpPr txBox="1"/>
          <p:nvPr/>
        </p:nvSpPr>
        <p:spPr>
          <a:xfrm>
            <a:off x="1188720" y="149047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2011</a:t>
            </a:r>
            <a:endParaRPr lang="en-US" sz="1400" dirty="0"/>
          </a:p>
        </p:txBody>
      </p:sp>
      <p:sp>
        <p:nvSpPr>
          <p:cNvPr id="7" name="Text 5"/>
          <p:cNvSpPr txBox="1"/>
          <p:nvPr/>
        </p:nvSpPr>
        <p:spPr>
          <a:xfrm>
            <a:off x="2103120" y="141732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Chen &amp; Nordhaus</a:t>
            </a:r>
            <a:pPr indent="0" marL="0">
              <a:spcAft>
                <a:spcPts val="200"/>
              </a:spcAft>
              <a:buNone/>
            </a:pPr>
            <a:r>
              <a:rPr lang="en-US" sz="1400" i="1" dirty="0">
                <a:solidFill>
                  <a:srgbClr val="6B7280"/>
                </a:solidFill>
              </a:rPr>
              <a:t>  ·  PNAS</a:t>
            </a:r>
            <a:endParaRPr lang="en-US" sz="1400" dirty="0"/>
          </a:p>
        </p:txBody>
      </p:sp>
      <p:sp>
        <p:nvSpPr>
          <p:cNvPr id="8" name="Text 6"/>
          <p:cNvSpPr txBox="1"/>
          <p:nvPr/>
        </p:nvSpPr>
        <p:spPr>
          <a:xfrm>
            <a:off x="2103120" y="170992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Les lumières ajoutent surtout de l'information là où les statistiques sont fragiles, et pour les régions.</a:t>
            </a:r>
            <a:endParaRPr lang="en-US" sz="1250" dirty="0"/>
          </a:p>
        </p:txBody>
      </p:sp>
      <p:sp>
        <p:nvSpPr>
          <p:cNvPr id="9" name="Shape 7"/>
          <p:cNvSpPr/>
          <p:nvPr/>
        </p:nvSpPr>
        <p:spPr>
          <a:xfrm>
            <a:off x="713232" y="2359152"/>
            <a:ext cx="310896" cy="310896"/>
          </a:xfrm>
          <a:prstGeom prst="ellipse">
            <a:avLst/>
          </a:prstGeom>
          <a:solidFill>
            <a:srgbClr val="F5C242"/>
          </a:solidFill>
          <a:ln w="25400">
            <a:solidFill>
              <a:srgbClr val="FFFFFF"/>
            </a:solidFill>
            <a:prstDash val="solid"/>
          </a:ln>
        </p:spPr>
      </p:sp>
      <p:sp>
        <p:nvSpPr>
          <p:cNvPr id="10" name="Text 8"/>
          <p:cNvSpPr txBox="1"/>
          <p:nvPr/>
        </p:nvSpPr>
        <p:spPr>
          <a:xfrm>
            <a:off x="1188720" y="226771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2012</a:t>
            </a:r>
            <a:endParaRPr lang="en-US" sz="1400" dirty="0"/>
          </a:p>
        </p:txBody>
      </p:sp>
      <p:sp>
        <p:nvSpPr>
          <p:cNvPr id="11" name="Text 9"/>
          <p:cNvSpPr txBox="1"/>
          <p:nvPr/>
        </p:nvSpPr>
        <p:spPr>
          <a:xfrm>
            <a:off x="2103120" y="219456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Henderson, Storeygard &amp; Weil</a:t>
            </a:r>
            <a:pPr indent="0" marL="0">
              <a:spcAft>
                <a:spcPts val="200"/>
              </a:spcAft>
              <a:buNone/>
            </a:pPr>
            <a:r>
              <a:rPr lang="en-US" sz="1400" i="1" dirty="0">
                <a:solidFill>
                  <a:srgbClr val="6B7280"/>
                </a:solidFill>
              </a:rPr>
              <a:t>  ·  AER</a:t>
            </a:r>
            <a:endParaRPr lang="en-US" sz="1400" dirty="0"/>
          </a:p>
        </p:txBody>
      </p:sp>
      <p:sp>
        <p:nvSpPr>
          <p:cNvPr id="12" name="Text 10"/>
          <p:cNvSpPr txBox="1"/>
          <p:nvPr/>
        </p:nvSpPr>
        <p:spPr>
          <a:xfrm>
            <a:off x="2103120" y="248716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La croissance des lumières suit celle du PIB ; elles améliorent les estimations de croissance.</a:t>
            </a:r>
            <a:endParaRPr lang="en-US" sz="1250" dirty="0"/>
          </a:p>
        </p:txBody>
      </p:sp>
      <p:sp>
        <p:nvSpPr>
          <p:cNvPr id="13" name="Shape 11"/>
          <p:cNvSpPr/>
          <p:nvPr/>
        </p:nvSpPr>
        <p:spPr>
          <a:xfrm>
            <a:off x="713232" y="3136392"/>
            <a:ext cx="310896" cy="310896"/>
          </a:xfrm>
          <a:prstGeom prst="ellipse">
            <a:avLst/>
          </a:prstGeom>
          <a:solidFill>
            <a:srgbClr val="00704A"/>
          </a:solidFill>
          <a:ln w="25400">
            <a:solidFill>
              <a:srgbClr val="FFFFFF"/>
            </a:solidFill>
            <a:prstDash val="solid"/>
          </a:ln>
        </p:spPr>
      </p:sp>
      <p:sp>
        <p:nvSpPr>
          <p:cNvPr id="14" name="Text 12"/>
          <p:cNvSpPr txBox="1"/>
          <p:nvPr/>
        </p:nvSpPr>
        <p:spPr>
          <a:xfrm>
            <a:off x="1188720" y="304495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2017–21</a:t>
            </a:r>
            <a:endParaRPr lang="en-US" sz="1400" dirty="0"/>
          </a:p>
        </p:txBody>
      </p:sp>
      <p:sp>
        <p:nvSpPr>
          <p:cNvPr id="15" name="Text 13"/>
          <p:cNvSpPr txBox="1"/>
          <p:nvPr/>
        </p:nvSpPr>
        <p:spPr>
          <a:xfrm>
            <a:off x="2103120" y="297180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Elvidge et al.</a:t>
            </a:r>
            <a:pPr indent="0" marL="0">
              <a:spcAft>
                <a:spcPts val="200"/>
              </a:spcAft>
              <a:buNone/>
            </a:pPr>
            <a:r>
              <a:rPr lang="en-US" sz="1400" i="1" dirty="0">
                <a:solidFill>
                  <a:srgbClr val="6B7280"/>
                </a:solidFill>
              </a:rPr>
              <a:t>  ·  IJRS · RS</a:t>
            </a:r>
            <a:endParaRPr lang="en-US" sz="1400" dirty="0"/>
          </a:p>
        </p:txBody>
      </p:sp>
      <p:sp>
        <p:nvSpPr>
          <p:cNvPr id="16" name="Text 14"/>
          <p:cNvSpPr txBox="1"/>
          <p:nvPr/>
        </p:nvSpPr>
        <p:spPr>
          <a:xfrm>
            <a:off x="2103120" y="326440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Produits VIIRS mensuels et annuels (VNL V2) : lumière parasite corrigée, fond et éphémères masqués.</a:t>
            </a:r>
            <a:endParaRPr lang="en-US" sz="1250" dirty="0"/>
          </a:p>
        </p:txBody>
      </p:sp>
      <p:sp>
        <p:nvSpPr>
          <p:cNvPr id="17" name="Shape 15"/>
          <p:cNvSpPr/>
          <p:nvPr/>
        </p:nvSpPr>
        <p:spPr>
          <a:xfrm>
            <a:off x="713232" y="3913632"/>
            <a:ext cx="310896" cy="310896"/>
          </a:xfrm>
          <a:prstGeom prst="ellipse">
            <a:avLst/>
          </a:prstGeom>
          <a:solidFill>
            <a:srgbClr val="00704A"/>
          </a:solidFill>
          <a:ln w="25400">
            <a:solidFill>
              <a:srgbClr val="FFFFFF"/>
            </a:solidFill>
            <a:prstDash val="solid"/>
          </a:ln>
        </p:spPr>
      </p:sp>
      <p:sp>
        <p:nvSpPr>
          <p:cNvPr id="18" name="Text 16"/>
          <p:cNvSpPr txBox="1"/>
          <p:nvPr/>
        </p:nvSpPr>
        <p:spPr>
          <a:xfrm>
            <a:off x="1188720" y="382219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2018</a:t>
            </a:r>
            <a:endParaRPr lang="en-US" sz="1400" dirty="0"/>
          </a:p>
        </p:txBody>
      </p:sp>
      <p:sp>
        <p:nvSpPr>
          <p:cNvPr id="19" name="Text 17"/>
          <p:cNvSpPr txBox="1"/>
          <p:nvPr/>
        </p:nvSpPr>
        <p:spPr>
          <a:xfrm>
            <a:off x="2103120" y="374904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Román et al.</a:t>
            </a:r>
            <a:pPr indent="0" marL="0">
              <a:spcAft>
                <a:spcPts val="200"/>
              </a:spcAft>
              <a:buNone/>
            </a:pPr>
            <a:r>
              <a:rPr lang="en-US" sz="1400" i="1" dirty="0">
                <a:solidFill>
                  <a:srgbClr val="6B7280"/>
                </a:solidFill>
              </a:rPr>
              <a:t>  ·  RSE</a:t>
            </a:r>
            <a:endParaRPr lang="en-US" sz="1400" dirty="0"/>
          </a:p>
        </p:txBody>
      </p:sp>
      <p:sp>
        <p:nvSpPr>
          <p:cNvPr id="20" name="Text 18"/>
          <p:cNvSpPr txBox="1"/>
          <p:nvPr/>
        </p:nvSpPr>
        <p:spPr>
          <a:xfrm>
            <a:off x="2103120" y="404164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NASA Black Marble : corrections BRDF et lunaire, adapté aux séries quotidiennes.</a:t>
            </a:r>
            <a:endParaRPr lang="en-US" sz="1250" dirty="0"/>
          </a:p>
        </p:txBody>
      </p:sp>
      <p:sp>
        <p:nvSpPr>
          <p:cNvPr id="21" name="Shape 19"/>
          <p:cNvSpPr/>
          <p:nvPr/>
        </p:nvSpPr>
        <p:spPr>
          <a:xfrm>
            <a:off x="713232" y="4690872"/>
            <a:ext cx="310896" cy="310896"/>
          </a:xfrm>
          <a:prstGeom prst="ellipse">
            <a:avLst/>
          </a:prstGeom>
          <a:solidFill>
            <a:srgbClr val="00704A"/>
          </a:solidFill>
          <a:ln w="25400">
            <a:solidFill>
              <a:srgbClr val="FFFFFF"/>
            </a:solidFill>
            <a:prstDash val="solid"/>
          </a:ln>
        </p:spPr>
      </p:sp>
      <p:sp>
        <p:nvSpPr>
          <p:cNvPr id="22" name="Text 20"/>
          <p:cNvSpPr txBox="1"/>
          <p:nvPr/>
        </p:nvSpPr>
        <p:spPr>
          <a:xfrm>
            <a:off x="1188720" y="459943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2020</a:t>
            </a:r>
            <a:endParaRPr lang="en-US" sz="1400" dirty="0"/>
          </a:p>
        </p:txBody>
      </p:sp>
      <p:sp>
        <p:nvSpPr>
          <p:cNvPr id="23" name="Text 21"/>
          <p:cNvSpPr txBox="1"/>
          <p:nvPr/>
        </p:nvSpPr>
        <p:spPr>
          <a:xfrm>
            <a:off x="2103120" y="452628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Li et al.</a:t>
            </a:r>
            <a:pPr indent="0" marL="0">
              <a:spcAft>
                <a:spcPts val="200"/>
              </a:spcAft>
              <a:buNone/>
            </a:pPr>
            <a:r>
              <a:rPr lang="en-US" sz="1400" i="1" dirty="0">
                <a:solidFill>
                  <a:srgbClr val="6B7280"/>
                </a:solidFill>
              </a:rPr>
              <a:t>  ·  Sci. Data</a:t>
            </a:r>
            <a:endParaRPr lang="en-US" sz="1400" dirty="0"/>
          </a:p>
        </p:txBody>
      </p:sp>
      <p:sp>
        <p:nvSpPr>
          <p:cNvPr id="24" name="Text 22"/>
          <p:cNvSpPr txBox="1"/>
          <p:nvPr/>
        </p:nvSpPr>
        <p:spPr>
          <a:xfrm>
            <a:off x="2103120" y="481888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Série harmonisée DMSP–VIIRS 1992–2018 : la longue période, à lire en tendance.</a:t>
            </a:r>
            <a:endParaRPr lang="en-US" sz="1250" dirty="0"/>
          </a:p>
        </p:txBody>
      </p:sp>
      <p:sp>
        <p:nvSpPr>
          <p:cNvPr id="25" name="Shape 23"/>
          <p:cNvSpPr/>
          <p:nvPr/>
        </p:nvSpPr>
        <p:spPr>
          <a:xfrm>
            <a:off x="713232" y="5468112"/>
            <a:ext cx="310896" cy="310896"/>
          </a:xfrm>
          <a:prstGeom prst="ellipse">
            <a:avLst/>
          </a:prstGeom>
          <a:solidFill>
            <a:srgbClr val="00704A"/>
          </a:solidFill>
          <a:ln w="25400">
            <a:solidFill>
              <a:srgbClr val="FFFFFF"/>
            </a:solidFill>
            <a:prstDash val="solid"/>
          </a:ln>
        </p:spPr>
      </p:sp>
      <p:sp>
        <p:nvSpPr>
          <p:cNvPr id="26" name="Text 24"/>
          <p:cNvSpPr txBox="1"/>
          <p:nvPr/>
        </p:nvSpPr>
        <p:spPr>
          <a:xfrm>
            <a:off x="1188720" y="537667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2020–21</a:t>
            </a:r>
            <a:endParaRPr lang="en-US" sz="1400" dirty="0"/>
          </a:p>
        </p:txBody>
      </p:sp>
      <p:sp>
        <p:nvSpPr>
          <p:cNvPr id="27" name="Text 25"/>
          <p:cNvSpPr txBox="1"/>
          <p:nvPr/>
        </p:nvSpPr>
        <p:spPr>
          <a:xfrm>
            <a:off x="2103120" y="530352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Gibson et al.</a:t>
            </a:r>
            <a:pPr indent="0" marL="0">
              <a:spcAft>
                <a:spcPts val="200"/>
              </a:spcAft>
              <a:buNone/>
            </a:pPr>
            <a:r>
              <a:rPr lang="en-US" sz="1400" i="1" dirty="0">
                <a:solidFill>
                  <a:srgbClr val="6B7280"/>
                </a:solidFill>
              </a:rPr>
              <a:t>  ·  JDE · JES</a:t>
            </a:r>
            <a:endParaRPr lang="en-US" sz="1400" dirty="0"/>
          </a:p>
        </p:txBody>
      </p:sp>
      <p:sp>
        <p:nvSpPr>
          <p:cNvPr id="28" name="Text 26"/>
          <p:cNvSpPr txBox="1"/>
          <p:nvPr/>
        </p:nvSpPr>
        <p:spPr>
          <a:xfrm>
            <a:off x="2103120" y="559612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Limites dans les zones rurales et peu denses : le signal y est faible.</a:t>
            </a:r>
            <a:endParaRPr lang="en-US" sz="1250" dirty="0"/>
          </a:p>
        </p:txBody>
      </p:sp>
      <p:sp>
        <p:nvSpPr>
          <p:cNvPr id="29" name="Shape 27"/>
          <p:cNvSpPr/>
          <p:nvPr/>
        </p:nvSpPr>
        <p:spPr>
          <a:xfrm>
            <a:off x="7452360" y="1463040"/>
            <a:ext cx="4206240" cy="2377440"/>
          </a:xfrm>
          <a:prstGeom prst="roundRect">
            <a:avLst>
              <a:gd name="adj" fmla="val 4615"/>
            </a:avLst>
          </a:prstGeom>
          <a:solidFill>
            <a:srgbClr val="00553A"/>
          </a:solidFill>
          <a:ln w="9525">
            <a:solidFill>
              <a:srgbClr val="00553A"/>
            </a:solidFill>
            <a:prstDash val="solid"/>
          </a:ln>
          <a:effectLst>
            <a:outerShdw sx="100000" sy="100000" kx="0" ky="0" algn="bl" rotWithShape="0" blurRad="101600" dist="25400" dir="5400000">
              <a:srgbClr val="9CA3AF">
                <a:alpha val="25000"/>
              </a:srgbClr>
            </a:outerShdw>
          </a:effectLst>
        </p:spPr>
      </p:sp>
      <p:sp>
        <p:nvSpPr>
          <p:cNvPr id="30" name="Text 28"/>
          <p:cNvSpPr txBox="1"/>
          <p:nvPr/>
        </p:nvSpPr>
        <p:spPr>
          <a:xfrm>
            <a:off x="7635240" y="1554480"/>
            <a:ext cx="3840480" cy="1005840"/>
          </a:xfrm>
          <a:prstGeom prst="rect">
            <a:avLst/>
          </a:prstGeom>
          <a:noFill/>
          <a:ln/>
        </p:spPr>
        <p:txBody>
          <a:bodyPr wrap="square" lIns="635" tIns="635" rIns="635" bIns="635" rtlCol="0" anchor="t"/>
          <a:lstStyle/>
          <a:p>
            <a:pPr algn="ctr" indent="0" marL="0">
              <a:spcAft>
                <a:spcPts val="200"/>
              </a:spcAft>
              <a:buNone/>
            </a:pPr>
            <a:r>
              <a:rPr lang="en-US" sz="6000" b="1" dirty="0">
                <a:solidFill>
                  <a:srgbClr val="F5C242"/>
                </a:solidFill>
              </a:rPr>
              <a:t>≈ 0,3</a:t>
            </a:r>
            <a:endParaRPr lang="en-US" sz="6000" dirty="0"/>
          </a:p>
        </p:txBody>
      </p:sp>
      <p:sp>
        <p:nvSpPr>
          <p:cNvPr id="31" name="Text 29"/>
          <p:cNvSpPr txBox="1"/>
          <p:nvPr/>
        </p:nvSpPr>
        <p:spPr>
          <a:xfrm>
            <a:off x="7635240" y="2560320"/>
            <a:ext cx="3840480" cy="1188720"/>
          </a:xfrm>
          <a:prstGeom prst="rect">
            <a:avLst/>
          </a:prstGeom>
          <a:noFill/>
          <a:ln/>
        </p:spPr>
        <p:txBody>
          <a:bodyPr wrap="square" lIns="635" tIns="635" rIns="635" bIns="635" rtlCol="0" anchor="t"/>
          <a:lstStyle/>
          <a:p>
            <a:pPr algn="ctr" indent="0" marL="0">
              <a:spcAft>
                <a:spcPts val="200"/>
              </a:spcAft>
              <a:buNone/>
            </a:pPr>
            <a:r>
              <a:rPr lang="en-US" sz="1350" dirty="0">
                <a:solidFill>
                  <a:srgbClr val="FFFFFF"/>
                </a:solidFill>
              </a:rPr>
              <a:t>élasticité du PIB aux lumières (Henderson et al., 2012) : +1 % de lumière ↔ ≈ +0,3 % de PIB, en moyenne sur un panel mondial</a:t>
            </a:r>
            <a:endParaRPr lang="en-US" sz="1350" dirty="0"/>
          </a:p>
        </p:txBody>
      </p:sp>
      <p:sp>
        <p:nvSpPr>
          <p:cNvPr id="32" name="Shape 30"/>
          <p:cNvSpPr/>
          <p:nvPr/>
        </p:nvSpPr>
        <p:spPr>
          <a:xfrm>
            <a:off x="7452360" y="4069080"/>
            <a:ext cx="4206240" cy="2057400"/>
          </a:xfrm>
          <a:prstGeom prst="roundRect">
            <a:avLst>
              <a:gd name="adj" fmla="val 5333"/>
            </a:avLst>
          </a:prstGeom>
          <a:solidFill>
            <a:srgbClr val="EAF2FB"/>
          </a:solidFill>
          <a:ln w="9525">
            <a:solidFill>
              <a:srgbClr val="EAF2FB"/>
            </a:solidFill>
            <a:prstDash val="solid"/>
          </a:ln>
        </p:spPr>
      </p:sp>
      <p:sp>
        <p:nvSpPr>
          <p:cNvPr id="33" name="Text 31"/>
          <p:cNvSpPr txBox="1"/>
          <p:nvPr/>
        </p:nvSpPr>
        <p:spPr>
          <a:xfrm>
            <a:off x="7635240" y="4160520"/>
            <a:ext cx="3840480" cy="320040"/>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À retenir</a:t>
            </a:r>
            <a:endParaRPr lang="en-US" sz="1500" dirty="0"/>
          </a:p>
        </p:txBody>
      </p:sp>
      <p:sp>
        <p:nvSpPr>
          <p:cNvPr id="34" name="Text 32"/>
          <p:cNvSpPr txBox="1"/>
          <p:nvPr/>
        </p:nvSpPr>
        <p:spPr>
          <a:xfrm>
            <a:off x="7635240" y="4498848"/>
            <a:ext cx="3840480" cy="155448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Ce chiffre est une moyenne internationale. Votre pays aura sa propre élasticité, estimée sur 10 à 30 années seulement : elle sera plus incertaine. Le notebook l'estime et affiche son intervalle.</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 · POURQUOI LES LUMIÈRES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Ce que les lumières voient… et ce qu'elles ne voient pas</a:t>
            </a:r>
            <a:endParaRPr lang="en-US" sz="2800" dirty="0"/>
          </a:p>
        </p:txBody>
      </p:sp>
      <p:sp>
        <p:nvSpPr>
          <p:cNvPr id="4" name="Shape 2"/>
          <p:cNvSpPr/>
          <p:nvPr/>
        </p:nvSpPr>
        <p:spPr>
          <a:xfrm>
            <a:off x="548640" y="1417320"/>
            <a:ext cx="822960" cy="822960"/>
          </a:xfrm>
          <a:prstGeom prst="ellipse">
            <a:avLst/>
          </a:prstGeom>
          <a:solidFill>
            <a:srgbClr val="1F4E8C"/>
          </a:solidFill>
          <a:ln w="12700">
            <a:solidFill>
              <a:srgbClr val="1F4E8C"/>
            </a:solidFill>
            <a:prstDash val="solid"/>
          </a:ln>
        </p:spPr>
      </p:sp>
      <p:pic>
        <p:nvPicPr>
          <p:cNvPr id="5" name="Image 0" descr="preencoded.png">    </p:cNvPr>
          <p:cNvPicPr>
            <a:picLocks noChangeAspect="1"/>
          </p:cNvPicPr>
          <p:nvPr/>
        </p:nvPicPr>
        <p:blipFill>
          <a:blip r:embed="rId1"/>
          <a:stretch>
            <a:fillRect/>
          </a:stretch>
        </p:blipFill>
        <p:spPr>
          <a:xfrm>
            <a:off x="746150" y="1614830"/>
            <a:ext cx="427939" cy="427939"/>
          </a:xfrm>
          <a:prstGeom prst="rect">
            <a:avLst/>
          </a:prstGeom>
        </p:spPr>
      </p:pic>
      <p:sp>
        <p:nvSpPr>
          <p:cNvPr id="6" name="Text 3"/>
          <p:cNvSpPr txBox="1"/>
          <p:nvPr/>
        </p:nvSpPr>
        <p:spPr>
          <a:xfrm>
            <a:off x="1554480" y="1463040"/>
            <a:ext cx="10058400" cy="731520"/>
          </a:xfrm>
          <a:prstGeom prst="rect">
            <a:avLst/>
          </a:prstGeom>
          <a:noFill/>
          <a:ln/>
        </p:spPr>
        <p:txBody>
          <a:bodyPr wrap="square" lIns="635" tIns="635" rIns="635" bIns="635" rtlCol="0" anchor="ctr"/>
          <a:lstStyle/>
          <a:p>
            <a:pPr indent="0" marL="0">
              <a:spcAft>
                <a:spcPts val="200"/>
              </a:spcAft>
              <a:buNone/>
            </a:pPr>
            <a:r>
              <a:rPr lang="en-US" sz="1700" b="1" dirty="0">
                <a:solidFill>
                  <a:srgbClr val="1F4E8C"/>
                </a:solidFill>
              </a:rPr>
              <a:t>Passage du satellite vers 01h30 (heure locale). </a:t>
            </a:r>
            <a:pPr indent="0" marL="0">
              <a:spcAft>
                <a:spcPts val="200"/>
              </a:spcAft>
              <a:buNone/>
            </a:pPr>
            <a:r>
              <a:rPr lang="en-US" sz="1700" dirty="0">
                <a:solidFill>
                  <a:srgbClr val="231F20"/>
                </a:solidFill>
              </a:rPr>
              <a:t>Les lumières mesurent un rayonnement nocturne, pas une valeur ajoutée.</a:t>
            </a:r>
            <a:endParaRPr lang="en-US" sz="1700" dirty="0"/>
          </a:p>
        </p:txBody>
      </p:sp>
      <p:sp>
        <p:nvSpPr>
          <p:cNvPr id="7" name="Shape 4"/>
          <p:cNvSpPr/>
          <p:nvPr/>
        </p:nvSpPr>
        <p:spPr>
          <a:xfrm>
            <a:off x="548640" y="2423160"/>
            <a:ext cx="5440680" cy="3108960"/>
          </a:xfrm>
          <a:prstGeom prst="roundRect">
            <a:avLst>
              <a:gd name="adj" fmla="val 3529"/>
            </a:avLst>
          </a:prstGeom>
          <a:solidFill>
            <a:srgbClr val="E8F5EF"/>
          </a:solidFill>
          <a:ln w="9525">
            <a:solidFill>
              <a:srgbClr val="E8F5EF"/>
            </a:solidFill>
            <a:prstDash val="solid"/>
          </a:ln>
        </p:spPr>
      </p:sp>
      <p:sp>
        <p:nvSpPr>
          <p:cNvPr id="8" name="Shape 5"/>
          <p:cNvSpPr/>
          <p:nvPr/>
        </p:nvSpPr>
        <p:spPr>
          <a:xfrm>
            <a:off x="6217920" y="2423160"/>
            <a:ext cx="5440680" cy="3108960"/>
          </a:xfrm>
          <a:prstGeom prst="roundRect">
            <a:avLst>
              <a:gd name="adj" fmla="val 3529"/>
            </a:avLst>
          </a:prstGeom>
          <a:solidFill>
            <a:srgbClr val="FBECEC"/>
          </a:solidFill>
          <a:ln w="9525">
            <a:solidFill>
              <a:srgbClr val="FBECEC"/>
            </a:solidFill>
            <a:prstDash val="solid"/>
          </a:ln>
        </p:spPr>
      </p:sp>
      <p:sp>
        <p:nvSpPr>
          <p:cNvPr id="9" name="Text 6"/>
          <p:cNvSpPr txBox="1"/>
          <p:nvPr/>
        </p:nvSpPr>
        <p:spPr>
          <a:xfrm>
            <a:off x="777240" y="2514600"/>
            <a:ext cx="5029200" cy="411480"/>
          </a:xfrm>
          <a:prstGeom prst="rect">
            <a:avLst/>
          </a:prstGeom>
          <a:noFill/>
          <a:ln/>
        </p:spPr>
        <p:txBody>
          <a:bodyPr wrap="square" lIns="635" tIns="635" rIns="635" bIns="635" rtlCol="0" anchor="t"/>
          <a:lstStyle/>
          <a:p>
            <a:pPr indent="0" marL="0">
              <a:spcAft>
                <a:spcPts val="200"/>
              </a:spcAft>
              <a:buNone/>
            </a:pPr>
            <a:r>
              <a:rPr lang="en-US" sz="1800" b="1" dirty="0">
                <a:solidFill>
                  <a:srgbClr val="00553A"/>
                </a:solidFill>
              </a:rPr>
              <a:t>✓  </a:t>
            </a:r>
            <a:pPr indent="0" marL="0">
              <a:spcAft>
                <a:spcPts val="200"/>
              </a:spcAft>
              <a:buNone/>
            </a:pPr>
            <a:r>
              <a:rPr lang="en-US" sz="1800" b="1" dirty="0">
                <a:solidFill>
                  <a:srgbClr val="00553A"/>
                </a:solidFill>
              </a:rPr>
              <a:t>Bien capté</a:t>
            </a:r>
            <a:endParaRPr lang="en-US" sz="1800" dirty="0"/>
          </a:p>
        </p:txBody>
      </p:sp>
      <p:sp>
        <p:nvSpPr>
          <p:cNvPr id="10" name="Text 7"/>
          <p:cNvSpPr txBox="1"/>
          <p:nvPr/>
        </p:nvSpPr>
        <p:spPr>
          <a:xfrm>
            <a:off x="6446520" y="2514600"/>
            <a:ext cx="5029200" cy="411480"/>
          </a:xfrm>
          <a:prstGeom prst="rect">
            <a:avLst/>
          </a:prstGeom>
          <a:noFill/>
          <a:ln/>
        </p:spPr>
        <p:txBody>
          <a:bodyPr wrap="square" lIns="635" tIns="635" rIns="635" bIns="635" rtlCol="0" anchor="t"/>
          <a:lstStyle/>
          <a:p>
            <a:pPr indent="0" marL="0">
              <a:spcAft>
                <a:spcPts val="200"/>
              </a:spcAft>
              <a:buNone/>
            </a:pPr>
            <a:r>
              <a:rPr lang="en-US" sz="1800" b="1" dirty="0">
                <a:solidFill>
                  <a:srgbClr val="D64545"/>
                </a:solidFill>
              </a:rPr>
              <a:t>✗  </a:t>
            </a:r>
            <a:pPr indent="0" marL="0">
              <a:spcAft>
                <a:spcPts val="200"/>
              </a:spcAft>
              <a:buNone/>
            </a:pPr>
            <a:r>
              <a:rPr lang="en-US" sz="1800" b="1" dirty="0">
                <a:solidFill>
                  <a:srgbClr val="D64545"/>
                </a:solidFill>
              </a:rPr>
              <a:t>Mal capté ou trompeur</a:t>
            </a:r>
            <a:endParaRPr lang="en-US" sz="1800" dirty="0"/>
          </a:p>
        </p:txBody>
      </p:sp>
      <p:sp>
        <p:nvSpPr>
          <p:cNvPr id="11" name="Shape 8"/>
          <p:cNvSpPr/>
          <p:nvPr/>
        </p:nvSpPr>
        <p:spPr>
          <a:xfrm>
            <a:off x="777240" y="3063240"/>
            <a:ext cx="548640" cy="548640"/>
          </a:xfrm>
          <a:prstGeom prst="ellipse">
            <a:avLst/>
          </a:prstGeom>
          <a:solidFill>
            <a:srgbClr val="00704A"/>
          </a:solidFill>
          <a:ln w="12700">
            <a:solidFill>
              <a:srgbClr val="00704A"/>
            </a:solidFill>
            <a:prstDash val="solid"/>
          </a:ln>
        </p:spPr>
      </p:sp>
      <p:pic>
        <p:nvPicPr>
          <p:cNvPr id="12" name="Image 1" descr="preencoded.png">    </p:cNvPr>
          <p:cNvPicPr>
            <a:picLocks noChangeAspect="1"/>
          </p:cNvPicPr>
          <p:nvPr/>
        </p:nvPicPr>
        <p:blipFill>
          <a:blip r:embed="rId2"/>
          <a:stretch>
            <a:fillRect/>
          </a:stretch>
        </p:blipFill>
        <p:spPr>
          <a:xfrm>
            <a:off x="908914" y="3194914"/>
            <a:ext cx="285293" cy="285293"/>
          </a:xfrm>
          <a:prstGeom prst="rect">
            <a:avLst/>
          </a:prstGeom>
        </p:spPr>
      </p:pic>
      <p:sp>
        <p:nvSpPr>
          <p:cNvPr id="13" name="Text 9"/>
          <p:cNvSpPr txBox="1"/>
          <p:nvPr/>
        </p:nvSpPr>
        <p:spPr>
          <a:xfrm>
            <a:off x="1463040" y="306324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Villes, éclairage public, zones commerciales</a:t>
            </a:r>
            <a:endParaRPr lang="en-US" sz="1500" dirty="0"/>
          </a:p>
        </p:txBody>
      </p:sp>
      <p:sp>
        <p:nvSpPr>
          <p:cNvPr id="14" name="Shape 10"/>
          <p:cNvSpPr/>
          <p:nvPr/>
        </p:nvSpPr>
        <p:spPr>
          <a:xfrm>
            <a:off x="6446520" y="3063240"/>
            <a:ext cx="548640" cy="548640"/>
          </a:xfrm>
          <a:prstGeom prst="ellipse">
            <a:avLst/>
          </a:prstGeom>
          <a:solidFill>
            <a:srgbClr val="D64545"/>
          </a:solidFill>
          <a:ln w="12700">
            <a:solidFill>
              <a:srgbClr val="D64545"/>
            </a:solidFill>
            <a:prstDash val="solid"/>
          </a:ln>
        </p:spPr>
      </p:sp>
      <p:pic>
        <p:nvPicPr>
          <p:cNvPr id="15" name="Image 2" descr="preencoded.png">    </p:cNvPr>
          <p:cNvPicPr>
            <a:picLocks noChangeAspect="1"/>
          </p:cNvPicPr>
          <p:nvPr/>
        </p:nvPicPr>
        <p:blipFill>
          <a:blip r:embed="rId3"/>
          <a:stretch>
            <a:fillRect/>
          </a:stretch>
        </p:blipFill>
        <p:spPr>
          <a:xfrm>
            <a:off x="6578194" y="3194914"/>
            <a:ext cx="285293" cy="285293"/>
          </a:xfrm>
          <a:prstGeom prst="rect">
            <a:avLst/>
          </a:prstGeom>
        </p:spPr>
      </p:pic>
      <p:sp>
        <p:nvSpPr>
          <p:cNvPr id="16" name="Text 11"/>
          <p:cNvSpPr txBox="1"/>
          <p:nvPr/>
        </p:nvSpPr>
        <p:spPr>
          <a:xfrm>
            <a:off x="7132320" y="306324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Agriculture et économie rurale informelle</a:t>
            </a:r>
            <a:endParaRPr lang="en-US" sz="1500" dirty="0"/>
          </a:p>
        </p:txBody>
      </p:sp>
      <p:sp>
        <p:nvSpPr>
          <p:cNvPr id="17" name="Shape 12"/>
          <p:cNvSpPr/>
          <p:nvPr/>
        </p:nvSpPr>
        <p:spPr>
          <a:xfrm>
            <a:off x="777240" y="3840480"/>
            <a:ext cx="548640" cy="548640"/>
          </a:xfrm>
          <a:prstGeom prst="ellipse">
            <a:avLst/>
          </a:prstGeom>
          <a:solidFill>
            <a:srgbClr val="00704A"/>
          </a:solidFill>
          <a:ln w="12700">
            <a:solidFill>
              <a:srgbClr val="00704A"/>
            </a:solidFill>
            <a:prstDash val="solid"/>
          </a:ln>
        </p:spPr>
      </p:sp>
      <p:pic>
        <p:nvPicPr>
          <p:cNvPr id="18" name="Image 3" descr="preencoded.png">    </p:cNvPr>
          <p:cNvPicPr>
            <a:picLocks noChangeAspect="1"/>
          </p:cNvPicPr>
          <p:nvPr/>
        </p:nvPicPr>
        <p:blipFill>
          <a:blip r:embed="rId4"/>
          <a:stretch>
            <a:fillRect/>
          </a:stretch>
        </p:blipFill>
        <p:spPr>
          <a:xfrm>
            <a:off x="908914" y="3972154"/>
            <a:ext cx="285293" cy="285293"/>
          </a:xfrm>
          <a:prstGeom prst="rect">
            <a:avLst/>
          </a:prstGeom>
        </p:spPr>
      </p:pic>
      <p:sp>
        <p:nvSpPr>
          <p:cNvPr id="19" name="Text 13"/>
          <p:cNvSpPr txBox="1"/>
          <p:nvPr/>
        </p:nvSpPr>
        <p:spPr>
          <a:xfrm>
            <a:off x="1463040" y="384048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Industrie, ports, mines, sites énergétiques</a:t>
            </a:r>
            <a:endParaRPr lang="en-US" sz="1500" dirty="0"/>
          </a:p>
        </p:txBody>
      </p:sp>
      <p:sp>
        <p:nvSpPr>
          <p:cNvPr id="20" name="Shape 14"/>
          <p:cNvSpPr/>
          <p:nvPr/>
        </p:nvSpPr>
        <p:spPr>
          <a:xfrm>
            <a:off x="6446520" y="3840480"/>
            <a:ext cx="548640" cy="548640"/>
          </a:xfrm>
          <a:prstGeom prst="ellipse">
            <a:avLst/>
          </a:prstGeom>
          <a:solidFill>
            <a:srgbClr val="D64545"/>
          </a:solidFill>
          <a:ln w="12700">
            <a:solidFill>
              <a:srgbClr val="D64545"/>
            </a:solidFill>
            <a:prstDash val="solid"/>
          </a:ln>
        </p:spPr>
      </p:sp>
      <p:pic>
        <p:nvPicPr>
          <p:cNvPr id="21" name="Image 4" descr="preencoded.png">    </p:cNvPr>
          <p:cNvPicPr>
            <a:picLocks noChangeAspect="1"/>
          </p:cNvPicPr>
          <p:nvPr/>
        </p:nvPicPr>
        <p:blipFill>
          <a:blip r:embed="rId5"/>
          <a:stretch>
            <a:fillRect/>
          </a:stretch>
        </p:blipFill>
        <p:spPr>
          <a:xfrm>
            <a:off x="6578194" y="3972154"/>
            <a:ext cx="285293" cy="285293"/>
          </a:xfrm>
          <a:prstGeom prst="rect">
            <a:avLst/>
          </a:prstGeom>
        </p:spPr>
      </p:pic>
      <p:sp>
        <p:nvSpPr>
          <p:cNvPr id="22" name="Text 15"/>
          <p:cNvSpPr txBox="1"/>
          <p:nvPr/>
        </p:nvSpPr>
        <p:spPr>
          <a:xfrm>
            <a:off x="7132320" y="384048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Commerce et services de jour, peu éclairés</a:t>
            </a:r>
            <a:endParaRPr lang="en-US" sz="1500" dirty="0"/>
          </a:p>
        </p:txBody>
      </p:sp>
      <p:sp>
        <p:nvSpPr>
          <p:cNvPr id="23" name="Shape 16"/>
          <p:cNvSpPr/>
          <p:nvPr/>
        </p:nvSpPr>
        <p:spPr>
          <a:xfrm>
            <a:off x="777240" y="4617720"/>
            <a:ext cx="548640" cy="548640"/>
          </a:xfrm>
          <a:prstGeom prst="ellipse">
            <a:avLst/>
          </a:prstGeom>
          <a:solidFill>
            <a:srgbClr val="00704A"/>
          </a:solidFill>
          <a:ln w="12700">
            <a:solidFill>
              <a:srgbClr val="00704A"/>
            </a:solidFill>
            <a:prstDash val="solid"/>
          </a:ln>
        </p:spPr>
      </p:sp>
      <p:pic>
        <p:nvPicPr>
          <p:cNvPr id="24" name="Image 5" descr="preencoded.png">    </p:cNvPr>
          <p:cNvPicPr>
            <a:picLocks noChangeAspect="1"/>
          </p:cNvPicPr>
          <p:nvPr/>
        </p:nvPicPr>
        <p:blipFill>
          <a:blip r:embed="rId6"/>
          <a:stretch>
            <a:fillRect/>
          </a:stretch>
        </p:blipFill>
        <p:spPr>
          <a:xfrm>
            <a:off x="908914" y="4749394"/>
            <a:ext cx="285293" cy="285293"/>
          </a:xfrm>
          <a:prstGeom prst="rect">
            <a:avLst/>
          </a:prstGeom>
        </p:spPr>
      </p:pic>
      <p:sp>
        <p:nvSpPr>
          <p:cNvPr id="25" name="Text 17"/>
          <p:cNvSpPr txBox="1"/>
          <p:nvPr/>
        </p:nvSpPr>
        <p:spPr>
          <a:xfrm>
            <a:off x="1463040" y="461772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Corridors de transport, électrification nouvelle</a:t>
            </a:r>
            <a:endParaRPr lang="en-US" sz="1500" dirty="0"/>
          </a:p>
        </p:txBody>
      </p:sp>
      <p:sp>
        <p:nvSpPr>
          <p:cNvPr id="26" name="Shape 18"/>
          <p:cNvSpPr/>
          <p:nvPr/>
        </p:nvSpPr>
        <p:spPr>
          <a:xfrm>
            <a:off x="6446520" y="4617720"/>
            <a:ext cx="548640" cy="548640"/>
          </a:xfrm>
          <a:prstGeom prst="ellipse">
            <a:avLst/>
          </a:prstGeom>
          <a:solidFill>
            <a:srgbClr val="D64545"/>
          </a:solidFill>
          <a:ln w="12700">
            <a:solidFill>
              <a:srgbClr val="D64545"/>
            </a:solidFill>
            <a:prstDash val="solid"/>
          </a:ln>
        </p:spPr>
      </p:sp>
      <p:pic>
        <p:nvPicPr>
          <p:cNvPr id="27" name="Image 6" descr="preencoded.png">    </p:cNvPr>
          <p:cNvPicPr>
            <a:picLocks noChangeAspect="1"/>
          </p:cNvPicPr>
          <p:nvPr/>
        </p:nvPicPr>
        <p:blipFill>
          <a:blip r:embed="rId7"/>
          <a:stretch>
            <a:fillRect/>
          </a:stretch>
        </p:blipFill>
        <p:spPr>
          <a:xfrm>
            <a:off x="6578194" y="4749394"/>
            <a:ext cx="285293" cy="285293"/>
          </a:xfrm>
          <a:prstGeom prst="rect">
            <a:avLst/>
          </a:prstGeom>
        </p:spPr>
      </p:pic>
      <p:sp>
        <p:nvSpPr>
          <p:cNvPr id="28" name="Text 19"/>
          <p:cNvSpPr txBox="1"/>
          <p:nvPr/>
        </p:nvSpPr>
        <p:spPr>
          <a:xfrm>
            <a:off x="7132320" y="461772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Torchères, feux, aurores : lumière sans activité locale</a:t>
            </a:r>
            <a:endParaRPr lang="en-US" sz="1500" dirty="0"/>
          </a:p>
        </p:txBody>
      </p:sp>
      <p:sp>
        <p:nvSpPr>
          <p:cNvPr id="29" name="Shape 20"/>
          <p:cNvSpPr/>
          <p:nvPr/>
        </p:nvSpPr>
        <p:spPr>
          <a:xfrm>
            <a:off x="548640" y="5669280"/>
            <a:ext cx="11109960" cy="594360"/>
          </a:xfrm>
          <a:prstGeom prst="roundRect">
            <a:avLst>
              <a:gd name="adj" fmla="val 18462"/>
            </a:avLst>
          </a:prstGeom>
          <a:solidFill>
            <a:srgbClr val="FDF6E3"/>
          </a:solidFill>
          <a:ln w="9525">
            <a:solidFill>
              <a:srgbClr val="FDF6E3"/>
            </a:solidFill>
            <a:prstDash val="solid"/>
          </a:ln>
        </p:spPr>
      </p:sp>
      <p:sp>
        <p:nvSpPr>
          <p:cNvPr id="30" name="Text 21"/>
          <p:cNvSpPr txBox="1"/>
          <p:nvPr/>
        </p:nvSpPr>
        <p:spPr>
          <a:xfrm>
            <a:off x="685800" y="5742432"/>
            <a:ext cx="10835640" cy="448056"/>
          </a:xfrm>
          <a:prstGeom prst="rect">
            <a:avLst/>
          </a:prstGeom>
          <a:noFill/>
          <a:ln/>
        </p:spPr>
        <p:txBody>
          <a:bodyPr wrap="square" lIns="635" tIns="635" rIns="635" bIns="635" rtlCol="0" anchor="ctr"/>
          <a:lstStyle/>
          <a:p>
            <a:pPr indent="0" marL="0">
              <a:spcAft>
                <a:spcPts val="200"/>
              </a:spcAft>
              <a:buNone/>
            </a:pPr>
            <a:r>
              <a:rPr lang="en-US" sz="1300" b="1" dirty="0">
                <a:solidFill>
                  <a:srgbClr val="B7791F"/>
                </a:solidFill>
              </a:rPr>
              <a:t>Conséquence  </a:t>
            </a:r>
            <a:pPr indent="0" marL="0">
              <a:spcAft>
                <a:spcPts val="200"/>
              </a:spcAft>
              <a:buNone/>
            </a:pPr>
            <a:r>
              <a:rPr lang="en-US" sz="1300" dirty="0">
                <a:solidFill>
                  <a:srgbClr val="231F20"/>
                </a:solidFill>
              </a:rPr>
              <a:t>un pays dont la croissance vient de l'agriculture ou des services de jour peut croître sans que sa lumière bouge. La section 10 du notebook et la page « Méthodes &amp; limites » du tableau de bord détaillent ces biais.</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B · CAPTEURS ET DONNÉES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Comment un satellite voit la nuit</a:t>
            </a:r>
            <a:endParaRPr lang="en-US" sz="2800" dirty="0"/>
          </a:p>
        </p:txBody>
      </p:sp>
      <p:pic>
        <p:nvPicPr>
          <p:cNvPr id="4" name="Image 0" descr="/tmp/claude-0/-home-claude/8a8742ef-7d0d-54fc-a0c9-7ecbfc9f8b73/scratchpad/deck/real/remote_sensing.png">    </p:cNvPr>
          <p:cNvPicPr>
            <a:picLocks noChangeAspect="1"/>
          </p:cNvPicPr>
          <p:nvPr/>
        </p:nvPicPr>
        <p:blipFill>
          <a:blip r:embed="rId1"/>
          <a:stretch>
            <a:fillRect/>
          </a:stretch>
        </p:blipFill>
        <p:spPr>
          <a:xfrm>
            <a:off x="548640" y="1388745"/>
            <a:ext cx="6035040" cy="3394710"/>
          </a:xfrm>
          <a:prstGeom prst="rect">
            <a:avLst/>
          </a:prstGeom>
        </p:spPr>
      </p:pic>
      <p:sp>
        <p:nvSpPr>
          <p:cNvPr id="5" name="Text 2"/>
          <p:cNvSpPr txBox="1"/>
          <p:nvPr/>
        </p:nvSpPr>
        <p:spPr>
          <a:xfrm>
            <a:off x="548640" y="4828032"/>
            <a:ext cx="603504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Plateformes d'observation, du sol à l'orbite géostationnaire. Source : NASA Goddard, via Open Nighttime Lights (Banque mondiale, CC BY 4.0).</a:t>
            </a:r>
            <a:endParaRPr lang="en-US" sz="1000" dirty="0"/>
          </a:p>
        </p:txBody>
      </p:sp>
      <p:sp>
        <p:nvSpPr>
          <p:cNvPr id="6" name="Shape 3"/>
          <p:cNvSpPr/>
          <p:nvPr/>
        </p:nvSpPr>
        <p:spPr>
          <a:xfrm>
            <a:off x="6949440" y="1417320"/>
            <a:ext cx="640080" cy="640080"/>
          </a:xfrm>
          <a:prstGeom prst="ellipse">
            <a:avLst/>
          </a:prstGeom>
          <a:solidFill>
            <a:srgbClr val="00704A"/>
          </a:solidFill>
          <a:ln w="12700">
            <a:solidFill>
              <a:srgbClr val="00704A"/>
            </a:solidFill>
            <a:prstDash val="solid"/>
          </a:ln>
        </p:spPr>
      </p:sp>
      <p:pic>
        <p:nvPicPr>
          <p:cNvPr id="7" name="Image 1" descr="preencoded.png">    </p:cNvPr>
          <p:cNvPicPr>
            <a:picLocks noChangeAspect="1"/>
          </p:cNvPicPr>
          <p:nvPr/>
        </p:nvPicPr>
        <p:blipFill>
          <a:blip r:embed="rId2"/>
          <a:stretch>
            <a:fillRect/>
          </a:stretch>
        </p:blipFill>
        <p:spPr>
          <a:xfrm>
            <a:off x="7103059" y="1570939"/>
            <a:ext cx="332842" cy="332842"/>
          </a:xfrm>
          <a:prstGeom prst="rect">
            <a:avLst/>
          </a:prstGeom>
        </p:spPr>
      </p:pic>
      <p:sp>
        <p:nvSpPr>
          <p:cNvPr id="8" name="Text 4"/>
          <p:cNvSpPr txBox="1"/>
          <p:nvPr/>
        </p:nvSpPr>
        <p:spPr>
          <a:xfrm>
            <a:off x="7726680" y="1371600"/>
            <a:ext cx="393192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Suomi-NPP · NOAA-20</a:t>
            </a:r>
            <a:endParaRPr lang="en-US" sz="1600" dirty="0"/>
          </a:p>
        </p:txBody>
      </p:sp>
      <p:sp>
        <p:nvSpPr>
          <p:cNvPr id="9" name="Text 5"/>
          <p:cNvSpPr txBox="1"/>
          <p:nvPr/>
        </p:nvSpPr>
        <p:spPr>
          <a:xfrm>
            <a:off x="7726680" y="1737360"/>
            <a:ext cx="393192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orbite polaire héliosynchrone, ~830 km d'altitude</a:t>
            </a:r>
            <a:endParaRPr lang="en-US" sz="1350" dirty="0"/>
          </a:p>
        </p:txBody>
      </p:sp>
      <p:sp>
        <p:nvSpPr>
          <p:cNvPr id="10" name="Shape 6"/>
          <p:cNvSpPr/>
          <p:nvPr/>
        </p:nvSpPr>
        <p:spPr>
          <a:xfrm>
            <a:off x="6949440" y="2441448"/>
            <a:ext cx="640080" cy="640080"/>
          </a:xfrm>
          <a:prstGeom prst="ellipse">
            <a:avLst/>
          </a:prstGeom>
          <a:solidFill>
            <a:srgbClr val="1F4E8C"/>
          </a:solidFill>
          <a:ln w="12700">
            <a:solidFill>
              <a:srgbClr val="1F4E8C"/>
            </a:solidFill>
            <a:prstDash val="solid"/>
          </a:ln>
        </p:spPr>
      </p:sp>
      <p:pic>
        <p:nvPicPr>
          <p:cNvPr id="11" name="Image 2" descr="preencoded.png">    </p:cNvPr>
          <p:cNvPicPr>
            <a:picLocks noChangeAspect="1"/>
          </p:cNvPicPr>
          <p:nvPr/>
        </p:nvPicPr>
        <p:blipFill>
          <a:blip r:embed="rId3"/>
          <a:stretch>
            <a:fillRect/>
          </a:stretch>
        </p:blipFill>
        <p:spPr>
          <a:xfrm>
            <a:off x="7103059" y="2595067"/>
            <a:ext cx="332842" cy="332842"/>
          </a:xfrm>
          <a:prstGeom prst="rect">
            <a:avLst/>
          </a:prstGeom>
        </p:spPr>
      </p:pic>
      <p:sp>
        <p:nvSpPr>
          <p:cNvPr id="12" name="Text 7"/>
          <p:cNvSpPr txBox="1"/>
          <p:nvPr/>
        </p:nvSpPr>
        <p:spPr>
          <a:xfrm>
            <a:off x="7726680" y="2395728"/>
            <a:ext cx="393192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Capteur VIIRS, bande DNB</a:t>
            </a:r>
            <a:endParaRPr lang="en-US" sz="1600" dirty="0"/>
          </a:p>
        </p:txBody>
      </p:sp>
      <p:sp>
        <p:nvSpPr>
          <p:cNvPr id="13" name="Text 8"/>
          <p:cNvSpPr txBox="1"/>
          <p:nvPr/>
        </p:nvSpPr>
        <p:spPr>
          <a:xfrm>
            <a:off x="7726680" y="2761488"/>
            <a:ext cx="393192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Day/Night Band : sensible à la très faible lumière nocturne</a:t>
            </a:r>
            <a:endParaRPr lang="en-US" sz="1350" dirty="0"/>
          </a:p>
        </p:txBody>
      </p:sp>
      <p:sp>
        <p:nvSpPr>
          <p:cNvPr id="14" name="Shape 9"/>
          <p:cNvSpPr/>
          <p:nvPr/>
        </p:nvSpPr>
        <p:spPr>
          <a:xfrm>
            <a:off x="6949440" y="3465576"/>
            <a:ext cx="640080" cy="640080"/>
          </a:xfrm>
          <a:prstGeom prst="ellipse">
            <a:avLst/>
          </a:prstGeom>
          <a:solidFill>
            <a:srgbClr val="00704A"/>
          </a:solidFill>
          <a:ln w="12700">
            <a:solidFill>
              <a:srgbClr val="00704A"/>
            </a:solidFill>
            <a:prstDash val="solid"/>
          </a:ln>
        </p:spPr>
      </p:sp>
      <p:pic>
        <p:nvPicPr>
          <p:cNvPr id="15" name="Image 3" descr="preencoded.png">    </p:cNvPr>
          <p:cNvPicPr>
            <a:picLocks noChangeAspect="1"/>
          </p:cNvPicPr>
          <p:nvPr/>
        </p:nvPicPr>
        <p:blipFill>
          <a:blip r:embed="rId4"/>
          <a:stretch>
            <a:fillRect/>
          </a:stretch>
        </p:blipFill>
        <p:spPr>
          <a:xfrm>
            <a:off x="7103059" y="3619195"/>
            <a:ext cx="332842" cy="332842"/>
          </a:xfrm>
          <a:prstGeom prst="rect">
            <a:avLst/>
          </a:prstGeom>
        </p:spPr>
      </p:pic>
      <p:sp>
        <p:nvSpPr>
          <p:cNvPr id="16" name="Text 10"/>
          <p:cNvSpPr txBox="1"/>
          <p:nvPr/>
        </p:nvSpPr>
        <p:spPr>
          <a:xfrm>
            <a:off x="7726680" y="3419856"/>
            <a:ext cx="393192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Un passage par nuit</a:t>
            </a:r>
            <a:endParaRPr lang="en-US" sz="1600" dirty="0"/>
          </a:p>
        </p:txBody>
      </p:sp>
      <p:sp>
        <p:nvSpPr>
          <p:cNvPr id="17" name="Text 11"/>
          <p:cNvSpPr txBox="1"/>
          <p:nvPr/>
        </p:nvSpPr>
        <p:spPr>
          <a:xfrm>
            <a:off x="7726680" y="3785616"/>
            <a:ext cx="393192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vers 01h30 locale : même heure partout</a:t>
            </a:r>
            <a:endParaRPr lang="en-US" sz="1350" dirty="0"/>
          </a:p>
        </p:txBody>
      </p:sp>
      <p:sp>
        <p:nvSpPr>
          <p:cNvPr id="18" name="Shape 12"/>
          <p:cNvSpPr/>
          <p:nvPr/>
        </p:nvSpPr>
        <p:spPr>
          <a:xfrm>
            <a:off x="6949440" y="4489704"/>
            <a:ext cx="640080" cy="640080"/>
          </a:xfrm>
          <a:prstGeom prst="ellipse">
            <a:avLst/>
          </a:prstGeom>
          <a:solidFill>
            <a:srgbClr val="1F4E8C"/>
          </a:solidFill>
          <a:ln w="12700">
            <a:solidFill>
              <a:srgbClr val="1F4E8C"/>
            </a:solidFill>
            <a:prstDash val="solid"/>
          </a:ln>
        </p:spPr>
      </p:sp>
      <p:pic>
        <p:nvPicPr>
          <p:cNvPr id="19" name="Image 4" descr="preencoded.png">    </p:cNvPr>
          <p:cNvPicPr>
            <a:picLocks noChangeAspect="1"/>
          </p:cNvPicPr>
          <p:nvPr/>
        </p:nvPicPr>
        <p:blipFill>
          <a:blip r:embed="rId5"/>
          <a:stretch>
            <a:fillRect/>
          </a:stretch>
        </p:blipFill>
        <p:spPr>
          <a:xfrm>
            <a:off x="7103059" y="4643323"/>
            <a:ext cx="332842" cy="332842"/>
          </a:xfrm>
          <a:prstGeom prst="rect">
            <a:avLst/>
          </a:prstGeom>
        </p:spPr>
      </p:pic>
      <p:sp>
        <p:nvSpPr>
          <p:cNvPr id="20" name="Text 13"/>
          <p:cNvSpPr txBox="1"/>
          <p:nvPr/>
        </p:nvSpPr>
        <p:spPr>
          <a:xfrm>
            <a:off x="7726680" y="4443984"/>
            <a:ext cx="393192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Grille ~500 m</a:t>
            </a:r>
            <a:endParaRPr lang="en-US" sz="1600" dirty="0"/>
          </a:p>
        </p:txBody>
      </p:sp>
      <p:sp>
        <p:nvSpPr>
          <p:cNvPr id="21" name="Text 14"/>
          <p:cNvSpPr txBox="1"/>
          <p:nvPr/>
        </p:nvSpPr>
        <p:spPr>
          <a:xfrm>
            <a:off x="7726680" y="4809744"/>
            <a:ext cx="393192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15 secondes d'arc ; composites mensuels et annuels</a:t>
            </a:r>
            <a:endParaRPr lang="en-US" sz="1350" dirty="0"/>
          </a:p>
        </p:txBody>
      </p:sp>
      <p:sp>
        <p:nvSpPr>
          <p:cNvPr id="22" name="Shape 15"/>
          <p:cNvSpPr/>
          <p:nvPr/>
        </p:nvSpPr>
        <p:spPr>
          <a:xfrm>
            <a:off x="548640" y="5349240"/>
            <a:ext cx="11109960" cy="685800"/>
          </a:xfrm>
          <a:prstGeom prst="roundRect">
            <a:avLst>
              <a:gd name="adj" fmla="val 16000"/>
            </a:avLst>
          </a:prstGeom>
          <a:solidFill>
            <a:srgbClr val="EAF2FB"/>
          </a:solidFill>
          <a:ln w="9525">
            <a:solidFill>
              <a:srgbClr val="EAF2FB"/>
            </a:solidFill>
            <a:prstDash val="solid"/>
          </a:ln>
        </p:spPr>
      </p:sp>
      <p:sp>
        <p:nvSpPr>
          <p:cNvPr id="23" name="Text 16"/>
          <p:cNvSpPr txBox="1"/>
          <p:nvPr/>
        </p:nvSpPr>
        <p:spPr>
          <a:xfrm>
            <a:off x="685800" y="5349240"/>
            <a:ext cx="10835640" cy="68580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Unité : nW·cm⁻²·sr⁻¹ = nanowatt par cm² et par stéradian — une luminance (radiance) émise vers le haut</a:t>
            </a:r>
            <a:endParaRPr lang="en-US" sz="15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B · CAPTEURS ET DONNÉES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Deux générations de capteurs : DMSP-OLS et VIIRS</a:t>
            </a:r>
            <a:endParaRPr lang="en-US" sz="2800" dirty="0"/>
          </a:p>
        </p:txBody>
      </p:sp>
      <p:pic>
        <p:nvPicPr>
          <p:cNvPr id="4" name="Image 0" descr="/tmp/claude-0/-home-claude/8a8742ef-7d0d-54fc-a0c9-7ecbfc9f8b73/scratchpad/deck/real/mekong.png">    </p:cNvPr>
          <p:cNvPicPr>
            <a:picLocks noChangeAspect="1"/>
          </p:cNvPicPr>
          <p:nvPr/>
        </p:nvPicPr>
        <p:blipFill>
          <a:blip r:embed="rId1"/>
          <a:stretch>
            <a:fillRect/>
          </a:stretch>
        </p:blipFill>
        <p:spPr>
          <a:xfrm>
            <a:off x="548640" y="1386486"/>
            <a:ext cx="5760720" cy="3170629"/>
          </a:xfrm>
          <a:prstGeom prst="rect">
            <a:avLst/>
          </a:prstGeom>
        </p:spPr>
      </p:pic>
      <p:sp>
        <p:nvSpPr>
          <p:cNvPr id="5" name="Text 2"/>
          <p:cNvSpPr txBox="1"/>
          <p:nvPr/>
        </p:nvSpPr>
        <p:spPr>
          <a:xfrm>
            <a:off x="548640" y="4590288"/>
            <a:ext cx="576072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Delta du Mékong, 23 nov. 2014 : VIIRS DNB (gauche) vs DMSP-OLS (droite). Source : Elvidge et al. (2013), via Open Nighttime Lights (CC BY 4.0).</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0" y="1371600"/>
          <a:ext cx="5074920" cy="914400"/>
        </p:xfrm>
        <a:graphic>
          <a:graphicData uri="http://schemas.openxmlformats.org/drawingml/2006/table">
            <a:tbl>
              <a:tblPr/>
              <a:tblGrid>
                <a:gridCol w="1143000"/>
                <a:gridCol w="1234440"/>
                <a:gridCol w="1234440"/>
                <a:gridCol w="1463040"/>
              </a:tblGrid>
              <a:tr h="566928">
                <a:tc>
                  <a:txBody>
                    <a:bodyPr/>
                    <a:lstStyle/>
                    <a:p>
                      <a:pPr indent="0" marL="0">
                        <a:buNone/>
                      </a:pPr>
                      <a:r>
                        <a:rPr lang="en-US" sz="1300" b="1" dirty="0">
                          <a:solidFill>
                            <a:srgbClr val="FFFFFF"/>
                          </a:solidFill>
                        </a:rPr>
                        <a:t>Capteur</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300" b="1" dirty="0">
                          <a:solidFill>
                            <a:srgbClr val="FFFFFF"/>
                          </a:solidFill>
                        </a:rPr>
                        <a:t>DMSP-OLS</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300" b="1" dirty="0">
                          <a:solidFill>
                            <a:srgbClr val="FFFFFF"/>
                          </a:solidFill>
                        </a:rPr>
                        <a:t>VIIRS DNB</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300" b="1" dirty="0">
                          <a:solidFill>
                            <a:srgbClr val="FFFFFF"/>
                          </a:solidFill>
                        </a:rPr>
                        <a:t>Black Marble VNP46A2</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r>
              <a:tr h="566928">
                <a:tc>
                  <a:txBody>
                    <a:bodyPr/>
                    <a:lstStyle/>
                    <a:p>
                      <a:pPr indent="0" marL="0">
                        <a:buNone/>
                      </a:pPr>
                      <a:r>
                        <a:rPr lang="en-US" sz="1300" b="1" dirty="0">
                          <a:solidFill>
                            <a:srgbClr val="00553A"/>
                          </a:solidFill>
                        </a:rPr>
                        <a:t>Période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1992–2013</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2012 →</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2012 →</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r>
              <a:tr h="566928">
                <a:tc>
                  <a:txBody>
                    <a:bodyPr/>
                    <a:lstStyle/>
                    <a:p>
                      <a:pPr indent="0" marL="0">
                        <a:buNone/>
                      </a:pPr>
                      <a:r>
                        <a:rPr lang="en-US" sz="1300" b="1" dirty="0">
                          <a:solidFill>
                            <a:srgbClr val="00553A"/>
                          </a:solidFill>
                        </a:rPr>
                        <a:t>Résolution</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~1 km</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~500 m</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~500 m, quotidien</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0553A"/>
                          </a:solidFill>
                        </a:rPr>
                        <a:t>Mesure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nombre 0–63, sature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radiance calibrée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radiance corrigée BRDF/lune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r>
              <a:tr h="566928">
                <a:tc>
                  <a:txBody>
                    <a:bodyPr/>
                    <a:lstStyle/>
                    <a:p>
                      <a:pPr indent="0" marL="0">
                        <a:buNone/>
                      </a:pPr>
                      <a:r>
                        <a:rPr lang="en-US" sz="1300" b="1" dirty="0">
                          <a:solidFill>
                            <a:srgbClr val="00553A"/>
                          </a:solidFill>
                        </a:rPr>
                        <a:t>Usage ici</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série longue (harmonisée)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analyses principales</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chocs, au jour près</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bl>
          </a:graphicData>
        </a:graphic>
      </p:graphicFrame>
      <p:sp>
        <p:nvSpPr>
          <p:cNvPr id="7" name="Shape 3"/>
          <p:cNvSpPr/>
          <p:nvPr/>
        </p:nvSpPr>
        <p:spPr>
          <a:xfrm>
            <a:off x="6583680" y="4434840"/>
            <a:ext cx="5074920" cy="1097280"/>
          </a:xfrm>
          <a:prstGeom prst="roundRect">
            <a:avLst>
              <a:gd name="adj" fmla="val 10000"/>
            </a:avLst>
          </a:prstGeom>
          <a:solidFill>
            <a:srgbClr val="FDF6E3"/>
          </a:solidFill>
          <a:ln w="9525">
            <a:solidFill>
              <a:srgbClr val="FDF6E3"/>
            </a:solidFill>
            <a:prstDash val="solid"/>
          </a:ln>
        </p:spPr>
      </p:sp>
      <p:sp>
        <p:nvSpPr>
          <p:cNvPr id="8" name="Text 4"/>
          <p:cNvSpPr txBox="1"/>
          <p:nvPr/>
        </p:nvSpPr>
        <p:spPr>
          <a:xfrm>
            <a:off x="6720840" y="4507992"/>
            <a:ext cx="4800600" cy="95097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À retenir  </a:t>
            </a:r>
            <a:pPr indent="0" marL="0">
              <a:spcAft>
                <a:spcPts val="200"/>
              </a:spcAft>
              <a:buNone/>
            </a:pPr>
            <a:r>
              <a:rPr lang="en-US" sz="1350" dirty="0">
                <a:solidFill>
                  <a:srgbClr val="231F20"/>
                </a:solidFill>
              </a:rPr>
              <a:t>VIIRS est plus fin, calibré et ne sature pas. DMSP n'a d'intérêt que pour remonter avant 2012, via une série harmonisée à lire en tendance seulement.</a:t>
            </a:r>
            <a:endParaRPr lang="en-US" sz="1350" dirty="0"/>
          </a:p>
        </p:txBody>
      </p:sp>
      <p:sp>
        <p:nvSpPr>
          <p:cNvPr id="9" name="Shape 5"/>
          <p:cNvSpPr/>
          <p:nvPr/>
        </p:nvSpPr>
        <p:spPr>
          <a:xfrm>
            <a:off x="548640" y="5074920"/>
            <a:ext cx="5760720" cy="868680"/>
          </a:xfrm>
          <a:prstGeom prst="roundRect">
            <a:avLst>
              <a:gd name="adj" fmla="val 12632"/>
            </a:avLst>
          </a:prstGeom>
          <a:solidFill>
            <a:srgbClr val="FDF6E3"/>
          </a:solidFill>
          <a:ln w="9525">
            <a:solidFill>
              <a:srgbClr val="FDF6E3"/>
            </a:solidFill>
            <a:prstDash val="solid"/>
          </a:ln>
        </p:spPr>
      </p:sp>
      <p:sp>
        <p:nvSpPr>
          <p:cNvPr id="10" name="Text 6"/>
          <p:cNvSpPr txBox="1"/>
          <p:nvPr/>
        </p:nvSpPr>
        <p:spPr>
          <a:xfrm>
            <a:off x="685800" y="5074920"/>
            <a:ext cx="5486400" cy="868680"/>
          </a:xfrm>
          <a:prstGeom prst="rect">
            <a:avLst/>
          </a:prstGeom>
          <a:noFill/>
          <a:ln/>
        </p:spPr>
        <p:txBody>
          <a:bodyPr wrap="square" lIns="635" tIns="635" rIns="635" bIns="635" rtlCol="0" anchor="ctr"/>
          <a:lstStyle/>
          <a:p>
            <a:pPr algn="ctr" indent="0" marL="0">
              <a:spcAft>
                <a:spcPts val="200"/>
              </a:spcAft>
              <a:buNone/>
            </a:pPr>
            <a:r>
              <a:rPr lang="en-US" sz="1350" dirty="0">
                <a:solidFill>
                  <a:srgbClr val="B7791F"/>
                </a:solidFill>
                <a:latin typeface="Cambria" pitchFamily="34" charset="0"/>
                <a:ea typeface="Cambria" pitchFamily="34" charset="-122"/>
                <a:cs typeface="Cambria" pitchFamily="34" charset="-120"/>
              </a:rPr>
              <a:t>Rupture de capteur en 2013→2014 : le notebook vérifie la continuité à la jonction (contrôle qualité 3.4)</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B · CAPTEURS ET DONNÉES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Saturation et débordement : pourquoi VIIRS change la donne</a:t>
            </a:r>
            <a:endParaRPr lang="en-US" sz="2800" dirty="0"/>
          </a:p>
        </p:txBody>
      </p:sp>
      <p:pic>
        <p:nvPicPr>
          <p:cNvPr id="4" name="Image 0" descr="/tmp/claude-0/-home-claude/8a8742ef-7d0d-54fc-a0c9-7ecbfc9f8b73/scratchpad/deck/real/dmsp_sat.png">    </p:cNvPr>
          <p:cNvPicPr>
            <a:picLocks noChangeAspect="1"/>
          </p:cNvPicPr>
          <p:nvPr/>
        </p:nvPicPr>
        <p:blipFill>
          <a:blip r:embed="rId1"/>
          <a:stretch>
            <a:fillRect/>
          </a:stretch>
        </p:blipFill>
        <p:spPr>
          <a:xfrm>
            <a:off x="551713" y="1371600"/>
            <a:ext cx="3560014" cy="4206240"/>
          </a:xfrm>
          <a:prstGeom prst="rect">
            <a:avLst/>
          </a:prstGeom>
        </p:spPr>
      </p:pic>
      <p:pic>
        <p:nvPicPr>
          <p:cNvPr id="5" name="Image 1" descr="/tmp/claude-0/-home-claude/8a8742ef-7d0d-54fc-a0c9-7ecbfc9f8b73/scratchpad/deck/real/viirs_impr.png">    </p:cNvPr>
          <p:cNvPicPr>
            <a:picLocks noChangeAspect="1"/>
          </p:cNvPicPr>
          <p:nvPr/>
        </p:nvPicPr>
        <p:blipFill>
          <a:blip r:embed="rId2"/>
          <a:stretch>
            <a:fillRect/>
          </a:stretch>
        </p:blipFill>
        <p:spPr>
          <a:xfrm>
            <a:off x="4343400" y="1723174"/>
            <a:ext cx="3566160" cy="3503093"/>
          </a:xfrm>
          <a:prstGeom prst="rect">
            <a:avLst/>
          </a:prstGeom>
        </p:spPr>
      </p:pic>
      <p:sp>
        <p:nvSpPr>
          <p:cNvPr id="6" name="Text 2"/>
          <p:cNvSpPr txBox="1"/>
          <p:nvPr/>
        </p:nvSpPr>
        <p:spPr>
          <a:xfrm>
            <a:off x="548640" y="5577840"/>
            <a:ext cx="3566160" cy="274320"/>
          </a:xfrm>
          <a:prstGeom prst="rect">
            <a:avLst/>
          </a:prstGeom>
          <a:noFill/>
          <a:ln/>
        </p:spPr>
        <p:txBody>
          <a:bodyPr wrap="square" lIns="635" tIns="635" rIns="635" bIns="635" rtlCol="0" anchor="t"/>
          <a:lstStyle/>
          <a:p>
            <a:pPr algn="ctr" indent="0" marL="0">
              <a:spcAft>
                <a:spcPts val="200"/>
              </a:spcAft>
              <a:buNone/>
            </a:pPr>
            <a:r>
              <a:rPr lang="en-US" sz="1300" b="1" dirty="0">
                <a:solidFill>
                  <a:srgbClr val="D64545"/>
                </a:solidFill>
              </a:rPr>
              <a:t>DMSP-OLS 2013</a:t>
            </a:r>
            <a:endParaRPr lang="en-US" sz="1300" dirty="0"/>
          </a:p>
        </p:txBody>
      </p:sp>
      <p:sp>
        <p:nvSpPr>
          <p:cNvPr id="7" name="Text 3"/>
          <p:cNvSpPr txBox="1"/>
          <p:nvPr/>
        </p:nvSpPr>
        <p:spPr>
          <a:xfrm>
            <a:off x="4343400" y="5577840"/>
            <a:ext cx="3566160" cy="274320"/>
          </a:xfrm>
          <a:prstGeom prst="rect">
            <a:avLst/>
          </a:prstGeom>
          <a:noFill/>
          <a:ln/>
        </p:spPr>
        <p:txBody>
          <a:bodyPr wrap="square" lIns="635" tIns="635" rIns="635" bIns="635" rtlCol="0" anchor="t"/>
          <a:lstStyle/>
          <a:p>
            <a:pPr algn="ctr" indent="0" marL="0">
              <a:spcAft>
                <a:spcPts val="200"/>
              </a:spcAft>
              <a:buNone/>
            </a:pPr>
            <a:r>
              <a:rPr lang="en-US" sz="1300" b="1" dirty="0">
                <a:solidFill>
                  <a:srgbClr val="00553A"/>
                </a:solidFill>
              </a:rPr>
              <a:t>VIIRS DNB 2016</a:t>
            </a:r>
            <a:endParaRPr lang="en-US" sz="1300" dirty="0"/>
          </a:p>
        </p:txBody>
      </p:sp>
      <p:sp>
        <p:nvSpPr>
          <p:cNvPr id="8" name="Text 4"/>
          <p:cNvSpPr txBox="1"/>
          <p:nvPr/>
        </p:nvSpPr>
        <p:spPr>
          <a:xfrm>
            <a:off x="548640" y="5870448"/>
            <a:ext cx="740664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Chicago : en rouge, pixels saturés (DMSP). Profils le long des lignes rouges. Source : Open Nighttime Lights (Banque mondiale, CC BY 4.0).</a:t>
            </a:r>
            <a:endParaRPr lang="en-US" sz="1000" dirty="0"/>
          </a:p>
        </p:txBody>
      </p:sp>
      <p:sp>
        <p:nvSpPr>
          <p:cNvPr id="9" name="Shape 5"/>
          <p:cNvSpPr/>
          <p:nvPr/>
        </p:nvSpPr>
        <p:spPr>
          <a:xfrm>
            <a:off x="8183880" y="1371600"/>
            <a:ext cx="3474720" cy="1554480"/>
          </a:xfrm>
          <a:prstGeom prst="roundRect">
            <a:avLst>
              <a:gd name="adj" fmla="val 7059"/>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6"/>
          <p:cNvSpPr/>
          <p:nvPr/>
        </p:nvSpPr>
        <p:spPr>
          <a:xfrm>
            <a:off x="8366760" y="1554480"/>
            <a:ext cx="502920" cy="502920"/>
          </a:xfrm>
          <a:prstGeom prst="ellipse">
            <a:avLst/>
          </a:prstGeom>
          <a:solidFill>
            <a:srgbClr val="D64545"/>
          </a:solidFill>
          <a:ln w="12700">
            <a:solidFill>
              <a:srgbClr val="D64545"/>
            </a:solidFill>
            <a:prstDash val="solid"/>
          </a:ln>
        </p:spPr>
      </p:sp>
      <p:pic>
        <p:nvPicPr>
          <p:cNvPr id="11" name="Image 2" descr="preencoded.png">    </p:cNvPr>
          <p:cNvPicPr>
            <a:picLocks noChangeAspect="1"/>
          </p:cNvPicPr>
          <p:nvPr/>
        </p:nvPicPr>
        <p:blipFill>
          <a:blip r:embed="rId3"/>
          <a:stretch>
            <a:fillRect/>
          </a:stretch>
        </p:blipFill>
        <p:spPr>
          <a:xfrm>
            <a:off x="8487461" y="1675181"/>
            <a:ext cx="261518" cy="261518"/>
          </a:xfrm>
          <a:prstGeom prst="rect">
            <a:avLst/>
          </a:prstGeom>
        </p:spPr>
      </p:pic>
      <p:sp>
        <p:nvSpPr>
          <p:cNvPr id="12" name="Text 7"/>
          <p:cNvSpPr txBox="1"/>
          <p:nvPr/>
        </p:nvSpPr>
        <p:spPr>
          <a:xfrm>
            <a:off x="9006840" y="1536192"/>
            <a:ext cx="25146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D64545"/>
                </a:solidFill>
              </a:rPr>
              <a:t>Saturation</a:t>
            </a:r>
            <a:endParaRPr lang="en-US" sz="1500" dirty="0"/>
          </a:p>
        </p:txBody>
      </p:sp>
      <p:sp>
        <p:nvSpPr>
          <p:cNvPr id="13" name="Text 8"/>
          <p:cNvSpPr txBox="1"/>
          <p:nvPr/>
        </p:nvSpPr>
        <p:spPr>
          <a:xfrm>
            <a:off x="8366760" y="2176272"/>
            <a:ext cx="3108960" cy="64008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DMSP plafonne à 63 : le centre-ville paraît uniforme, sa croissance est invisible.</a:t>
            </a:r>
            <a:endParaRPr lang="en-US" sz="1350" dirty="0"/>
          </a:p>
        </p:txBody>
      </p:sp>
      <p:sp>
        <p:nvSpPr>
          <p:cNvPr id="14" name="Shape 9"/>
          <p:cNvSpPr/>
          <p:nvPr/>
        </p:nvSpPr>
        <p:spPr>
          <a:xfrm>
            <a:off x="8183880" y="3108960"/>
            <a:ext cx="3474720" cy="1554480"/>
          </a:xfrm>
          <a:prstGeom prst="roundRect">
            <a:avLst>
              <a:gd name="adj" fmla="val 7059"/>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0"/>
          <p:cNvSpPr/>
          <p:nvPr/>
        </p:nvSpPr>
        <p:spPr>
          <a:xfrm>
            <a:off x="8366760" y="3291840"/>
            <a:ext cx="502920" cy="502920"/>
          </a:xfrm>
          <a:prstGeom prst="ellipse">
            <a:avLst/>
          </a:prstGeom>
          <a:solidFill>
            <a:srgbClr val="B7791F"/>
          </a:solidFill>
          <a:ln w="12700">
            <a:solidFill>
              <a:srgbClr val="B7791F"/>
            </a:solidFill>
            <a:prstDash val="solid"/>
          </a:ln>
        </p:spPr>
      </p:sp>
      <p:pic>
        <p:nvPicPr>
          <p:cNvPr id="16" name="Image 3" descr="preencoded.png">    </p:cNvPr>
          <p:cNvPicPr>
            <a:picLocks noChangeAspect="1"/>
          </p:cNvPicPr>
          <p:nvPr/>
        </p:nvPicPr>
        <p:blipFill>
          <a:blip r:embed="rId4"/>
          <a:stretch>
            <a:fillRect/>
          </a:stretch>
        </p:blipFill>
        <p:spPr>
          <a:xfrm>
            <a:off x="8487461" y="3412541"/>
            <a:ext cx="261518" cy="261518"/>
          </a:xfrm>
          <a:prstGeom prst="rect">
            <a:avLst/>
          </a:prstGeom>
        </p:spPr>
      </p:pic>
      <p:sp>
        <p:nvSpPr>
          <p:cNvPr id="17" name="Text 11"/>
          <p:cNvSpPr txBox="1"/>
          <p:nvPr/>
        </p:nvSpPr>
        <p:spPr>
          <a:xfrm>
            <a:off x="9006840" y="3273552"/>
            <a:ext cx="25146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Débordement (blooming)</a:t>
            </a:r>
            <a:endParaRPr lang="en-US" sz="1500" dirty="0"/>
          </a:p>
        </p:txBody>
      </p:sp>
      <p:sp>
        <p:nvSpPr>
          <p:cNvPr id="18" name="Text 12"/>
          <p:cNvSpPr txBox="1"/>
          <p:nvPr/>
        </p:nvSpPr>
        <p:spPr>
          <a:xfrm>
            <a:off x="8366760" y="3913632"/>
            <a:ext cx="3108960" cy="64008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La lumière « bave » autour des villes et gonfle la surface éclairée.</a:t>
            </a:r>
            <a:endParaRPr lang="en-US" sz="1350" dirty="0"/>
          </a:p>
        </p:txBody>
      </p:sp>
      <p:sp>
        <p:nvSpPr>
          <p:cNvPr id="19" name="Shape 13"/>
          <p:cNvSpPr/>
          <p:nvPr/>
        </p:nvSpPr>
        <p:spPr>
          <a:xfrm>
            <a:off x="8183880" y="4846320"/>
            <a:ext cx="3474720" cy="1280160"/>
          </a:xfrm>
          <a:prstGeom prst="roundRect">
            <a:avLst>
              <a:gd name="adj" fmla="val 857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4"/>
          <p:cNvSpPr/>
          <p:nvPr/>
        </p:nvSpPr>
        <p:spPr>
          <a:xfrm>
            <a:off x="8366760" y="5029200"/>
            <a:ext cx="502920" cy="502920"/>
          </a:xfrm>
          <a:prstGeom prst="ellipse">
            <a:avLst/>
          </a:prstGeom>
          <a:solidFill>
            <a:srgbClr val="00704A"/>
          </a:solidFill>
          <a:ln w="12700">
            <a:solidFill>
              <a:srgbClr val="00704A"/>
            </a:solidFill>
            <a:prstDash val="solid"/>
          </a:ln>
        </p:spPr>
      </p:sp>
      <p:pic>
        <p:nvPicPr>
          <p:cNvPr id="21" name="Image 4" descr="preencoded.png">    </p:cNvPr>
          <p:cNvPicPr>
            <a:picLocks noChangeAspect="1"/>
          </p:cNvPicPr>
          <p:nvPr/>
        </p:nvPicPr>
        <p:blipFill>
          <a:blip r:embed="rId5"/>
          <a:stretch>
            <a:fillRect/>
          </a:stretch>
        </p:blipFill>
        <p:spPr>
          <a:xfrm>
            <a:off x="8487461" y="5149901"/>
            <a:ext cx="261518" cy="261518"/>
          </a:xfrm>
          <a:prstGeom prst="rect">
            <a:avLst/>
          </a:prstGeom>
        </p:spPr>
      </p:pic>
      <p:sp>
        <p:nvSpPr>
          <p:cNvPr id="22" name="Text 15"/>
          <p:cNvSpPr txBox="1"/>
          <p:nvPr/>
        </p:nvSpPr>
        <p:spPr>
          <a:xfrm>
            <a:off x="9006840" y="5010912"/>
            <a:ext cx="25146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VIIRS : 25 à 280 nW</a:t>
            </a:r>
            <a:endParaRPr lang="en-US" sz="1500" dirty="0"/>
          </a:p>
        </p:txBody>
      </p:sp>
      <p:sp>
        <p:nvSpPr>
          <p:cNvPr id="23" name="Text 16"/>
          <p:cNvSpPr txBox="1"/>
          <p:nvPr/>
        </p:nvSpPr>
        <p:spPr>
          <a:xfrm>
            <a:off x="8366760" y="5650992"/>
            <a:ext cx="3108960" cy="36576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dans le cœur urbain qui était plafonné</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B · CAPTEURS ET DONNÉES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Le catalogue de données du pipeline</a:t>
            </a:r>
            <a:endParaRPr lang="en-US" sz="2800" dirty="0"/>
          </a:p>
        </p:txBody>
      </p:sp>
      <p:sp>
        <p:nvSpPr>
          <p:cNvPr id="4" name="Shape 2"/>
          <p:cNvSpPr/>
          <p:nvPr/>
        </p:nvSpPr>
        <p:spPr>
          <a:xfrm>
            <a:off x="3657600" y="1737360"/>
            <a:ext cx="0" cy="4023360"/>
          </a:xfrm>
          <a:prstGeom prst="line">
            <a:avLst/>
          </a:prstGeom>
          <a:noFill/>
          <a:ln w="12700">
            <a:solidFill>
              <a:srgbClr val="E5E7EB"/>
            </a:solidFill>
            <a:prstDash val="dash"/>
          </a:ln>
        </p:spPr>
      </p:sp>
      <p:sp>
        <p:nvSpPr>
          <p:cNvPr id="5" name="Text 3"/>
          <p:cNvSpPr txBox="1"/>
          <p:nvPr/>
        </p:nvSpPr>
        <p:spPr>
          <a:xfrm>
            <a:off x="3291840" y="1417320"/>
            <a:ext cx="731520" cy="274320"/>
          </a:xfrm>
          <a:prstGeom prst="rect">
            <a:avLst/>
          </a:prstGeom>
          <a:noFill/>
          <a:ln/>
        </p:spPr>
        <p:txBody>
          <a:bodyPr wrap="square" lIns="635" tIns="635" rIns="635" bIns="635" rtlCol="0" anchor="t"/>
          <a:lstStyle/>
          <a:p>
            <a:pPr algn="ctr" indent="0" marL="0">
              <a:spcAft>
                <a:spcPts val="200"/>
              </a:spcAft>
              <a:buNone/>
            </a:pPr>
            <a:r>
              <a:rPr lang="en-US" sz="1100" dirty="0">
                <a:solidFill>
                  <a:srgbClr val="6B7280"/>
                </a:solidFill>
              </a:rPr>
              <a:t>1990</a:t>
            </a:r>
            <a:endParaRPr lang="en-US" sz="1100" dirty="0"/>
          </a:p>
        </p:txBody>
      </p:sp>
      <p:sp>
        <p:nvSpPr>
          <p:cNvPr id="6" name="Shape 4"/>
          <p:cNvSpPr/>
          <p:nvPr/>
        </p:nvSpPr>
        <p:spPr>
          <a:xfrm>
            <a:off x="5029200" y="1737360"/>
            <a:ext cx="0" cy="4023360"/>
          </a:xfrm>
          <a:prstGeom prst="line">
            <a:avLst/>
          </a:prstGeom>
          <a:noFill/>
          <a:ln w="12700">
            <a:solidFill>
              <a:srgbClr val="E5E7EB"/>
            </a:solidFill>
            <a:prstDash val="dash"/>
          </a:ln>
        </p:spPr>
      </p:sp>
      <p:sp>
        <p:nvSpPr>
          <p:cNvPr id="7" name="Text 5"/>
          <p:cNvSpPr txBox="1"/>
          <p:nvPr/>
        </p:nvSpPr>
        <p:spPr>
          <a:xfrm>
            <a:off x="4663440" y="1417320"/>
            <a:ext cx="731520" cy="274320"/>
          </a:xfrm>
          <a:prstGeom prst="rect">
            <a:avLst/>
          </a:prstGeom>
          <a:noFill/>
          <a:ln/>
        </p:spPr>
        <p:txBody>
          <a:bodyPr wrap="square" lIns="635" tIns="635" rIns="635" bIns="635" rtlCol="0" anchor="t"/>
          <a:lstStyle/>
          <a:p>
            <a:pPr algn="ctr" indent="0" marL="0">
              <a:spcAft>
                <a:spcPts val="200"/>
              </a:spcAft>
              <a:buNone/>
            </a:pPr>
            <a:r>
              <a:rPr lang="en-US" sz="1100" dirty="0">
                <a:solidFill>
                  <a:srgbClr val="6B7280"/>
                </a:solidFill>
              </a:rPr>
              <a:t>2000</a:t>
            </a:r>
            <a:endParaRPr lang="en-US" sz="1100" dirty="0"/>
          </a:p>
        </p:txBody>
      </p:sp>
      <p:sp>
        <p:nvSpPr>
          <p:cNvPr id="8" name="Shape 6"/>
          <p:cNvSpPr/>
          <p:nvPr/>
        </p:nvSpPr>
        <p:spPr>
          <a:xfrm>
            <a:off x="6400800" y="1737360"/>
            <a:ext cx="0" cy="4023360"/>
          </a:xfrm>
          <a:prstGeom prst="line">
            <a:avLst/>
          </a:prstGeom>
          <a:noFill/>
          <a:ln w="12700">
            <a:solidFill>
              <a:srgbClr val="E5E7EB"/>
            </a:solidFill>
            <a:prstDash val="dash"/>
          </a:ln>
        </p:spPr>
      </p:sp>
      <p:sp>
        <p:nvSpPr>
          <p:cNvPr id="9" name="Text 7"/>
          <p:cNvSpPr txBox="1"/>
          <p:nvPr/>
        </p:nvSpPr>
        <p:spPr>
          <a:xfrm>
            <a:off x="6035040" y="1417320"/>
            <a:ext cx="731520" cy="274320"/>
          </a:xfrm>
          <a:prstGeom prst="rect">
            <a:avLst/>
          </a:prstGeom>
          <a:noFill/>
          <a:ln/>
        </p:spPr>
        <p:txBody>
          <a:bodyPr wrap="square" lIns="635" tIns="635" rIns="635" bIns="635" rtlCol="0" anchor="t"/>
          <a:lstStyle/>
          <a:p>
            <a:pPr algn="ctr" indent="0" marL="0">
              <a:spcAft>
                <a:spcPts val="200"/>
              </a:spcAft>
              <a:buNone/>
            </a:pPr>
            <a:r>
              <a:rPr lang="en-US" sz="1100" dirty="0">
                <a:solidFill>
                  <a:srgbClr val="6B7280"/>
                </a:solidFill>
              </a:rPr>
              <a:t>2010</a:t>
            </a:r>
            <a:endParaRPr lang="en-US" sz="1100" dirty="0"/>
          </a:p>
        </p:txBody>
      </p:sp>
      <p:sp>
        <p:nvSpPr>
          <p:cNvPr id="10" name="Shape 8"/>
          <p:cNvSpPr/>
          <p:nvPr/>
        </p:nvSpPr>
        <p:spPr>
          <a:xfrm>
            <a:off x="7772400" y="1737360"/>
            <a:ext cx="0" cy="4023360"/>
          </a:xfrm>
          <a:prstGeom prst="line">
            <a:avLst/>
          </a:prstGeom>
          <a:noFill/>
          <a:ln w="12700">
            <a:solidFill>
              <a:srgbClr val="E5E7EB"/>
            </a:solidFill>
            <a:prstDash val="dash"/>
          </a:ln>
        </p:spPr>
      </p:sp>
      <p:sp>
        <p:nvSpPr>
          <p:cNvPr id="11" name="Text 9"/>
          <p:cNvSpPr txBox="1"/>
          <p:nvPr/>
        </p:nvSpPr>
        <p:spPr>
          <a:xfrm>
            <a:off x="7406640" y="1417320"/>
            <a:ext cx="731520" cy="274320"/>
          </a:xfrm>
          <a:prstGeom prst="rect">
            <a:avLst/>
          </a:prstGeom>
          <a:noFill/>
          <a:ln/>
        </p:spPr>
        <p:txBody>
          <a:bodyPr wrap="square" lIns="635" tIns="635" rIns="635" bIns="635" rtlCol="0" anchor="t"/>
          <a:lstStyle/>
          <a:p>
            <a:pPr algn="ctr" indent="0" marL="0">
              <a:spcAft>
                <a:spcPts val="200"/>
              </a:spcAft>
              <a:buNone/>
            </a:pPr>
            <a:r>
              <a:rPr lang="en-US" sz="1100" dirty="0">
                <a:solidFill>
                  <a:srgbClr val="6B7280"/>
                </a:solidFill>
              </a:rPr>
              <a:t>2020</a:t>
            </a:r>
            <a:endParaRPr lang="en-US" sz="1100" dirty="0"/>
          </a:p>
        </p:txBody>
      </p:sp>
      <p:sp>
        <p:nvSpPr>
          <p:cNvPr id="12" name="Text 10"/>
          <p:cNvSpPr txBox="1"/>
          <p:nvPr/>
        </p:nvSpPr>
        <p:spPr>
          <a:xfrm>
            <a:off x="548640" y="1801368"/>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VIIRS mensuel (VCMSLCFG)</a:t>
            </a:r>
            <a:endParaRPr lang="en-US" sz="1350" dirty="0"/>
          </a:p>
        </p:txBody>
      </p:sp>
      <p:sp>
        <p:nvSpPr>
          <p:cNvPr id="13" name="Shape 11"/>
          <p:cNvSpPr/>
          <p:nvPr/>
        </p:nvSpPr>
        <p:spPr>
          <a:xfrm>
            <a:off x="6949440" y="1874520"/>
            <a:ext cx="1645920" cy="256032"/>
          </a:xfrm>
          <a:prstGeom prst="roundRect">
            <a:avLst>
              <a:gd name="adj" fmla="val 50000"/>
            </a:avLst>
          </a:prstGeom>
          <a:solidFill>
            <a:srgbClr val="00704A"/>
          </a:solidFill>
          <a:ln w="12700">
            <a:solidFill>
              <a:srgbClr val="00704A"/>
            </a:solidFill>
            <a:prstDash val="solid"/>
          </a:ln>
        </p:spPr>
      </p:sp>
      <p:sp>
        <p:nvSpPr>
          <p:cNvPr id="14" name="Text 12"/>
          <p:cNvSpPr txBox="1"/>
          <p:nvPr/>
        </p:nvSpPr>
        <p:spPr>
          <a:xfrm>
            <a:off x="8778240" y="1801368"/>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séries mensuelles, STL, chocs</a:t>
            </a:r>
            <a:endParaRPr lang="en-US" sz="1250" dirty="0"/>
          </a:p>
        </p:txBody>
      </p:sp>
      <p:sp>
        <p:nvSpPr>
          <p:cNvPr id="15" name="Text 13"/>
          <p:cNvSpPr txBox="1"/>
          <p:nvPr/>
        </p:nvSpPr>
        <p:spPr>
          <a:xfrm>
            <a:off x="548640" y="2286000"/>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VIIRS annuel VNL V2</a:t>
            </a:r>
            <a:endParaRPr lang="en-US" sz="1350" dirty="0"/>
          </a:p>
        </p:txBody>
      </p:sp>
      <p:sp>
        <p:nvSpPr>
          <p:cNvPr id="16" name="Shape 14"/>
          <p:cNvSpPr/>
          <p:nvPr/>
        </p:nvSpPr>
        <p:spPr>
          <a:xfrm>
            <a:off x="6812280" y="2359152"/>
            <a:ext cx="1783080" cy="256032"/>
          </a:xfrm>
          <a:prstGeom prst="roundRect">
            <a:avLst>
              <a:gd name="adj" fmla="val 50000"/>
            </a:avLst>
          </a:prstGeom>
          <a:solidFill>
            <a:srgbClr val="00553A"/>
          </a:solidFill>
          <a:ln w="12700">
            <a:solidFill>
              <a:srgbClr val="00553A"/>
            </a:solidFill>
            <a:prstDash val="solid"/>
          </a:ln>
        </p:spPr>
      </p:sp>
      <p:sp>
        <p:nvSpPr>
          <p:cNvPr id="17" name="Text 15"/>
          <p:cNvSpPr txBox="1"/>
          <p:nvPr/>
        </p:nvSpPr>
        <p:spPr>
          <a:xfrm>
            <a:off x="8778240" y="2286000"/>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niveaux annuels, régions, PIB</a:t>
            </a:r>
            <a:endParaRPr lang="en-US" sz="1250" dirty="0"/>
          </a:p>
        </p:txBody>
      </p:sp>
      <p:sp>
        <p:nvSpPr>
          <p:cNvPr id="18" name="Text 16"/>
          <p:cNvSpPr txBox="1"/>
          <p:nvPr/>
        </p:nvSpPr>
        <p:spPr>
          <a:xfrm>
            <a:off x="548640" y="2770632"/>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Black Marble VNP46A2</a:t>
            </a:r>
            <a:endParaRPr lang="en-US" sz="1350" dirty="0"/>
          </a:p>
        </p:txBody>
      </p:sp>
      <p:sp>
        <p:nvSpPr>
          <p:cNvPr id="19" name="Shape 17"/>
          <p:cNvSpPr/>
          <p:nvPr/>
        </p:nvSpPr>
        <p:spPr>
          <a:xfrm>
            <a:off x="6675120" y="2843784"/>
            <a:ext cx="1920240" cy="256032"/>
          </a:xfrm>
          <a:prstGeom prst="roundRect">
            <a:avLst>
              <a:gd name="adj" fmla="val 50000"/>
            </a:avLst>
          </a:prstGeom>
          <a:solidFill>
            <a:srgbClr val="1F4E8C"/>
          </a:solidFill>
          <a:ln w="12700">
            <a:solidFill>
              <a:srgbClr val="1F4E8C"/>
            </a:solidFill>
            <a:prstDash val="solid"/>
          </a:ln>
        </p:spPr>
      </p:sp>
      <p:sp>
        <p:nvSpPr>
          <p:cNvPr id="20" name="Text 18"/>
          <p:cNvSpPr txBox="1"/>
          <p:nvPr/>
        </p:nvSpPr>
        <p:spPr>
          <a:xfrm>
            <a:off x="8778240" y="2770632"/>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zoom quotidien sur les chocs</a:t>
            </a:r>
            <a:endParaRPr lang="en-US" sz="1250" dirty="0"/>
          </a:p>
        </p:txBody>
      </p:sp>
      <p:sp>
        <p:nvSpPr>
          <p:cNvPr id="21" name="Text 19"/>
          <p:cNvSpPr txBox="1"/>
          <p:nvPr/>
        </p:nvSpPr>
        <p:spPr>
          <a:xfrm>
            <a:off x="548640" y="3255264"/>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DMSP-OLS</a:t>
            </a:r>
            <a:endParaRPr lang="en-US" sz="1350" dirty="0"/>
          </a:p>
        </p:txBody>
      </p:sp>
      <p:sp>
        <p:nvSpPr>
          <p:cNvPr id="22" name="Shape 20"/>
          <p:cNvSpPr/>
          <p:nvPr/>
        </p:nvSpPr>
        <p:spPr>
          <a:xfrm>
            <a:off x="3931920" y="3328416"/>
            <a:ext cx="2880360" cy="256032"/>
          </a:xfrm>
          <a:prstGeom prst="roundRect">
            <a:avLst>
              <a:gd name="adj" fmla="val 50000"/>
            </a:avLst>
          </a:prstGeom>
          <a:solidFill>
            <a:srgbClr val="6B7280"/>
          </a:solidFill>
          <a:ln w="12700">
            <a:solidFill>
              <a:srgbClr val="6B7280"/>
            </a:solidFill>
            <a:prstDash val="solid"/>
          </a:ln>
        </p:spPr>
      </p:sp>
      <p:sp>
        <p:nvSpPr>
          <p:cNvPr id="23" name="Text 21"/>
          <p:cNvSpPr txBox="1"/>
          <p:nvPr/>
        </p:nvSpPr>
        <p:spPr>
          <a:xfrm>
            <a:off x="8778240" y="3255264"/>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diagnostics de saturation</a:t>
            </a:r>
            <a:endParaRPr lang="en-US" sz="1250" dirty="0"/>
          </a:p>
        </p:txBody>
      </p:sp>
      <p:sp>
        <p:nvSpPr>
          <p:cNvPr id="24" name="Text 22"/>
          <p:cNvSpPr txBox="1"/>
          <p:nvPr/>
        </p:nvSpPr>
        <p:spPr>
          <a:xfrm>
            <a:off x="548640" y="3739896"/>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Série harmonisée DMSP–VIIRS</a:t>
            </a:r>
            <a:endParaRPr lang="en-US" sz="1350" dirty="0"/>
          </a:p>
        </p:txBody>
      </p:sp>
      <p:sp>
        <p:nvSpPr>
          <p:cNvPr id="25" name="Shape 23"/>
          <p:cNvSpPr/>
          <p:nvPr/>
        </p:nvSpPr>
        <p:spPr>
          <a:xfrm>
            <a:off x="3931920" y="3813048"/>
            <a:ext cx="4663440" cy="256032"/>
          </a:xfrm>
          <a:prstGeom prst="roundRect">
            <a:avLst>
              <a:gd name="adj" fmla="val 50000"/>
            </a:avLst>
          </a:prstGeom>
          <a:solidFill>
            <a:srgbClr val="B7791F"/>
          </a:solidFill>
          <a:ln w="12700">
            <a:solidFill>
              <a:srgbClr val="B7791F"/>
            </a:solidFill>
            <a:prstDash val="solid"/>
          </a:ln>
        </p:spPr>
      </p:sp>
      <p:sp>
        <p:nvSpPr>
          <p:cNvPr id="26" name="Text 24"/>
          <p:cNvSpPr txBox="1"/>
          <p:nvPr/>
        </p:nvSpPr>
        <p:spPr>
          <a:xfrm>
            <a:off x="8778240" y="3739896"/>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tendance longue (Li et al.)</a:t>
            </a:r>
            <a:endParaRPr lang="en-US" sz="1250" dirty="0"/>
          </a:p>
        </p:txBody>
      </p:sp>
      <p:sp>
        <p:nvSpPr>
          <p:cNvPr id="27" name="Text 25"/>
          <p:cNvSpPr txBox="1"/>
          <p:nvPr/>
        </p:nvSpPr>
        <p:spPr>
          <a:xfrm>
            <a:off x="548640" y="4224528"/>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GHSL · WorldPop</a:t>
            </a:r>
            <a:endParaRPr lang="en-US" sz="1350" dirty="0"/>
          </a:p>
        </p:txBody>
      </p:sp>
      <p:sp>
        <p:nvSpPr>
          <p:cNvPr id="28" name="Shape 26"/>
          <p:cNvSpPr/>
          <p:nvPr/>
        </p:nvSpPr>
        <p:spPr>
          <a:xfrm>
            <a:off x="3657600" y="4297680"/>
            <a:ext cx="4937760" cy="256032"/>
          </a:xfrm>
          <a:prstGeom prst="roundRect">
            <a:avLst>
              <a:gd name="adj" fmla="val 50000"/>
            </a:avLst>
          </a:prstGeom>
          <a:solidFill>
            <a:srgbClr val="7C3AED"/>
          </a:solidFill>
          <a:ln w="12700">
            <a:solidFill>
              <a:srgbClr val="7C3AED"/>
            </a:solidFill>
            <a:prstDash val="solid"/>
          </a:ln>
        </p:spPr>
      </p:sp>
      <p:sp>
        <p:nvSpPr>
          <p:cNvPr id="29" name="Text 27"/>
          <p:cNvSpPr txBox="1"/>
          <p:nvPr/>
        </p:nvSpPr>
        <p:spPr>
          <a:xfrm>
            <a:off x="8778240" y="4224528"/>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population, degré d'urbanisation</a:t>
            </a:r>
            <a:endParaRPr lang="en-US" sz="1250" dirty="0"/>
          </a:p>
        </p:txBody>
      </p:sp>
      <p:sp>
        <p:nvSpPr>
          <p:cNvPr id="30" name="Text 28"/>
          <p:cNvSpPr txBox="1"/>
          <p:nvPr/>
        </p:nvSpPr>
        <p:spPr>
          <a:xfrm>
            <a:off x="548640" y="4709160"/>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Sentinel-5P NO₂</a:t>
            </a:r>
            <a:endParaRPr lang="en-US" sz="1350" dirty="0"/>
          </a:p>
        </p:txBody>
      </p:sp>
      <p:sp>
        <p:nvSpPr>
          <p:cNvPr id="31" name="Shape 29"/>
          <p:cNvSpPr/>
          <p:nvPr/>
        </p:nvSpPr>
        <p:spPr>
          <a:xfrm>
            <a:off x="7498080" y="4782312"/>
            <a:ext cx="1097280" cy="256032"/>
          </a:xfrm>
          <a:prstGeom prst="roundRect">
            <a:avLst>
              <a:gd name="adj" fmla="val 50000"/>
            </a:avLst>
          </a:prstGeom>
          <a:solidFill>
            <a:srgbClr val="B45309"/>
          </a:solidFill>
          <a:ln w="12700">
            <a:solidFill>
              <a:srgbClr val="B45309"/>
            </a:solidFill>
            <a:prstDash val="solid"/>
          </a:ln>
        </p:spPr>
      </p:sp>
      <p:sp>
        <p:nvSpPr>
          <p:cNvPr id="32" name="Text 30"/>
          <p:cNvSpPr txBox="1"/>
          <p:nvPr/>
        </p:nvSpPr>
        <p:spPr>
          <a:xfrm>
            <a:off x="8778240" y="4709160"/>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activité industrielle (complément)</a:t>
            </a:r>
            <a:endParaRPr lang="en-US" sz="1250" dirty="0"/>
          </a:p>
        </p:txBody>
      </p:sp>
      <p:sp>
        <p:nvSpPr>
          <p:cNvPr id="33" name="Text 31"/>
          <p:cNvSpPr txBox="1"/>
          <p:nvPr/>
        </p:nvSpPr>
        <p:spPr>
          <a:xfrm>
            <a:off x="548640" y="5193792"/>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Banque mondiale (WDI)</a:t>
            </a:r>
            <a:endParaRPr lang="en-US" sz="1350" dirty="0"/>
          </a:p>
        </p:txBody>
      </p:sp>
      <p:sp>
        <p:nvSpPr>
          <p:cNvPr id="34" name="Shape 32"/>
          <p:cNvSpPr/>
          <p:nvPr/>
        </p:nvSpPr>
        <p:spPr>
          <a:xfrm>
            <a:off x="3657600" y="5266944"/>
            <a:ext cx="4937760" cy="256032"/>
          </a:xfrm>
          <a:prstGeom prst="roundRect">
            <a:avLst>
              <a:gd name="adj" fmla="val 50000"/>
            </a:avLst>
          </a:prstGeom>
          <a:solidFill>
            <a:srgbClr val="D64545"/>
          </a:solidFill>
          <a:ln w="12700">
            <a:solidFill>
              <a:srgbClr val="D64545"/>
            </a:solidFill>
            <a:prstDash val="solid"/>
          </a:ln>
        </p:spPr>
      </p:sp>
      <p:sp>
        <p:nvSpPr>
          <p:cNvPr id="35" name="Text 33"/>
          <p:cNvSpPr txBox="1"/>
          <p:nvPr/>
        </p:nvSpPr>
        <p:spPr>
          <a:xfrm>
            <a:off x="8778240" y="5193792"/>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PIB réel, accès à l'électricité</a:t>
            </a:r>
            <a:endParaRPr lang="en-US" sz="1250" dirty="0"/>
          </a:p>
        </p:txBody>
      </p:sp>
      <p:sp>
        <p:nvSpPr>
          <p:cNvPr id="36" name="Text 34"/>
          <p:cNvSpPr txBox="1"/>
          <p:nvPr/>
        </p:nvSpPr>
        <p:spPr>
          <a:xfrm>
            <a:off x="548640" y="5852160"/>
            <a:ext cx="11109960" cy="365760"/>
          </a:xfrm>
          <a:prstGeom prst="rect">
            <a:avLst/>
          </a:prstGeom>
          <a:noFill/>
          <a:ln/>
        </p:spPr>
        <p:txBody>
          <a:bodyPr wrap="square" lIns="635" tIns="635" rIns="635" bIns="635" rtlCol="0" anchor="t"/>
          <a:lstStyle/>
          <a:p>
            <a:pPr indent="0" marL="0">
              <a:spcAft>
                <a:spcPts val="200"/>
              </a:spcAft>
              <a:buNone/>
            </a:pPr>
            <a:r>
              <a:rPr lang="en-US" sz="1300" i="1" dirty="0">
                <a:solidFill>
                  <a:srgbClr val="6B7280"/>
                </a:solidFill>
              </a:rPr>
              <a:t>+ limites administratives geoBoundaries (repli FAO GAUL) · ESA WorldCover 10 m · catalogue d'événements (COVID-19, ACLED, EM-DAT)</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C · ARCHITECTURE ET PIPELINE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Le pipeline de bout en bout : d'un code ISO3 à un site public</a:t>
            </a:r>
            <a:endParaRPr lang="en-US" sz="2800" dirty="0"/>
          </a:p>
        </p:txBody>
      </p:sp>
      <p:sp>
        <p:nvSpPr>
          <p:cNvPr id="4" name="Shape 2"/>
          <p:cNvSpPr/>
          <p:nvPr/>
        </p:nvSpPr>
        <p:spPr>
          <a:xfrm>
            <a:off x="548640"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914400" y="1645920"/>
            <a:ext cx="685800" cy="685800"/>
          </a:xfrm>
          <a:prstGeom prst="ellipse">
            <a:avLst/>
          </a:prstGeom>
          <a:solidFill>
            <a:srgbClr val="F5C242"/>
          </a:solidFill>
          <a:ln w="12700">
            <a:solidFill>
              <a:srgbClr val="F5C242"/>
            </a:solidFill>
            <a:prstDash val="solid"/>
          </a:ln>
        </p:spPr>
      </p:sp>
      <p:pic>
        <p:nvPicPr>
          <p:cNvPr id="6" name="Image 0" descr="preencoded.png">    </p:cNvPr>
          <p:cNvPicPr>
            <a:picLocks noChangeAspect="1"/>
          </p:cNvPicPr>
          <p:nvPr/>
        </p:nvPicPr>
        <p:blipFill>
          <a:blip r:embed="rId1"/>
          <a:stretch>
            <a:fillRect/>
          </a:stretch>
        </p:blipFill>
        <p:spPr>
          <a:xfrm>
            <a:off x="1078992" y="1810512"/>
            <a:ext cx="356616" cy="356616"/>
          </a:xfrm>
          <a:prstGeom prst="rect">
            <a:avLst/>
          </a:prstGeom>
        </p:spPr>
      </p:pic>
      <p:sp>
        <p:nvSpPr>
          <p:cNvPr id="7" name="Text 4"/>
          <p:cNvSpPr txBox="1"/>
          <p:nvPr/>
        </p:nvSpPr>
        <p:spPr>
          <a:xfrm>
            <a:off x="594360"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Paramètre</a:t>
            </a:r>
            <a:endParaRPr lang="en-US" sz="1400" dirty="0"/>
          </a:p>
        </p:txBody>
      </p:sp>
      <p:sp>
        <p:nvSpPr>
          <p:cNvPr id="8" name="Text 5"/>
          <p:cNvSpPr txBox="1"/>
          <p:nvPr/>
        </p:nvSpPr>
        <p:spPr>
          <a:xfrm>
            <a:off x="594360"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ISO3 + période</a:t>
            </a:r>
            <a:endParaRPr lang="en-US" sz="1200" dirty="0"/>
          </a:p>
        </p:txBody>
      </p:sp>
      <p:sp>
        <p:nvSpPr>
          <p:cNvPr id="9" name="Shape 6"/>
          <p:cNvSpPr/>
          <p:nvPr/>
        </p:nvSpPr>
        <p:spPr>
          <a:xfrm>
            <a:off x="1984248" y="2450592"/>
            <a:ext cx="173736" cy="914"/>
          </a:xfrm>
          <a:prstGeom prst="line">
            <a:avLst/>
          </a:prstGeom>
          <a:noFill/>
          <a:ln w="31750">
            <a:solidFill>
              <a:srgbClr val="F5C242"/>
            </a:solidFill>
            <a:prstDash val="solid"/>
            <a:tailEnd type="triangle"/>
          </a:ln>
        </p:spPr>
      </p:sp>
      <p:sp>
        <p:nvSpPr>
          <p:cNvPr id="10" name="Shape 7"/>
          <p:cNvSpPr/>
          <p:nvPr/>
        </p:nvSpPr>
        <p:spPr>
          <a:xfrm>
            <a:off x="2176272"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11" name="Shape 8"/>
          <p:cNvSpPr/>
          <p:nvPr/>
        </p:nvSpPr>
        <p:spPr>
          <a:xfrm>
            <a:off x="2542032" y="1645920"/>
            <a:ext cx="685800" cy="685800"/>
          </a:xfrm>
          <a:prstGeom prst="ellipse">
            <a:avLst/>
          </a:prstGeom>
          <a:solidFill>
            <a:srgbClr val="1F4E8C"/>
          </a:solidFill>
          <a:ln w="12700">
            <a:solidFill>
              <a:srgbClr val="1F4E8C"/>
            </a:solidFill>
            <a:prstDash val="solid"/>
          </a:ln>
        </p:spPr>
      </p:sp>
      <p:pic>
        <p:nvPicPr>
          <p:cNvPr id="12" name="Image 1" descr="preencoded.png">    </p:cNvPr>
          <p:cNvPicPr>
            <a:picLocks noChangeAspect="1"/>
          </p:cNvPicPr>
          <p:nvPr/>
        </p:nvPicPr>
        <p:blipFill>
          <a:blip r:embed="rId2"/>
          <a:stretch>
            <a:fillRect/>
          </a:stretch>
        </p:blipFill>
        <p:spPr>
          <a:xfrm>
            <a:off x="2706624" y="1810512"/>
            <a:ext cx="356616" cy="356616"/>
          </a:xfrm>
          <a:prstGeom prst="rect">
            <a:avLst/>
          </a:prstGeom>
        </p:spPr>
      </p:pic>
      <p:sp>
        <p:nvSpPr>
          <p:cNvPr id="13" name="Text 9"/>
          <p:cNvSpPr txBox="1"/>
          <p:nvPr/>
        </p:nvSpPr>
        <p:spPr>
          <a:xfrm>
            <a:off x="2221992"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Earth Engine</a:t>
            </a:r>
            <a:endParaRPr lang="en-US" sz="1400" dirty="0"/>
          </a:p>
        </p:txBody>
      </p:sp>
      <p:sp>
        <p:nvSpPr>
          <p:cNvPr id="14" name="Text 10"/>
          <p:cNvSpPr txBox="1"/>
          <p:nvPr/>
        </p:nvSpPr>
        <p:spPr>
          <a:xfrm>
            <a:off x="2221992"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calcul côté serveur</a:t>
            </a:r>
            <a:endParaRPr lang="en-US" sz="1200" dirty="0"/>
          </a:p>
        </p:txBody>
      </p:sp>
      <p:sp>
        <p:nvSpPr>
          <p:cNvPr id="15" name="Shape 11"/>
          <p:cNvSpPr/>
          <p:nvPr/>
        </p:nvSpPr>
        <p:spPr>
          <a:xfrm>
            <a:off x="3611880" y="2450592"/>
            <a:ext cx="173736" cy="914"/>
          </a:xfrm>
          <a:prstGeom prst="line">
            <a:avLst/>
          </a:prstGeom>
          <a:noFill/>
          <a:ln w="31750">
            <a:solidFill>
              <a:srgbClr val="F5C242"/>
            </a:solidFill>
            <a:prstDash val="solid"/>
            <a:tailEnd type="triangle"/>
          </a:ln>
        </p:spPr>
      </p:sp>
      <p:sp>
        <p:nvSpPr>
          <p:cNvPr id="16" name="Shape 12"/>
          <p:cNvSpPr/>
          <p:nvPr/>
        </p:nvSpPr>
        <p:spPr>
          <a:xfrm>
            <a:off x="3803904"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17" name="Shape 13"/>
          <p:cNvSpPr/>
          <p:nvPr/>
        </p:nvSpPr>
        <p:spPr>
          <a:xfrm>
            <a:off x="4169664" y="1645920"/>
            <a:ext cx="685800" cy="685800"/>
          </a:xfrm>
          <a:prstGeom prst="ellipse">
            <a:avLst/>
          </a:prstGeom>
          <a:solidFill>
            <a:srgbClr val="6B7280"/>
          </a:solidFill>
          <a:ln w="12700">
            <a:solidFill>
              <a:srgbClr val="6B7280"/>
            </a:solidFill>
            <a:prstDash val="solid"/>
          </a:ln>
        </p:spPr>
      </p:sp>
      <p:pic>
        <p:nvPicPr>
          <p:cNvPr id="18" name="Image 2" descr="preencoded.png">    </p:cNvPr>
          <p:cNvPicPr>
            <a:picLocks noChangeAspect="1"/>
          </p:cNvPicPr>
          <p:nvPr/>
        </p:nvPicPr>
        <p:blipFill>
          <a:blip r:embed="rId3"/>
          <a:stretch>
            <a:fillRect/>
          </a:stretch>
        </p:blipFill>
        <p:spPr>
          <a:xfrm>
            <a:off x="4334256" y="1810512"/>
            <a:ext cx="356616" cy="356616"/>
          </a:xfrm>
          <a:prstGeom prst="rect">
            <a:avLst/>
          </a:prstGeom>
        </p:spPr>
      </p:pic>
      <p:sp>
        <p:nvSpPr>
          <p:cNvPr id="19" name="Text 14"/>
          <p:cNvSpPr txBox="1"/>
          <p:nvPr/>
        </p:nvSpPr>
        <p:spPr>
          <a:xfrm>
            <a:off x="3849624"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Cache</a:t>
            </a:r>
            <a:endParaRPr lang="en-US" sz="1400" dirty="0"/>
          </a:p>
        </p:txBody>
      </p:sp>
      <p:sp>
        <p:nvSpPr>
          <p:cNvPr id="20" name="Text 15"/>
          <p:cNvSpPr txBox="1"/>
          <p:nvPr/>
        </p:nvSpPr>
        <p:spPr>
          <a:xfrm>
            <a:off x="3849624"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tableaux agrégés</a:t>
            </a:r>
            <a:endParaRPr lang="en-US" sz="1200" dirty="0"/>
          </a:p>
        </p:txBody>
      </p:sp>
      <p:sp>
        <p:nvSpPr>
          <p:cNvPr id="21" name="Shape 16"/>
          <p:cNvSpPr/>
          <p:nvPr/>
        </p:nvSpPr>
        <p:spPr>
          <a:xfrm>
            <a:off x="5239512" y="2450592"/>
            <a:ext cx="173736" cy="914"/>
          </a:xfrm>
          <a:prstGeom prst="line">
            <a:avLst/>
          </a:prstGeom>
          <a:noFill/>
          <a:ln w="31750">
            <a:solidFill>
              <a:srgbClr val="F5C242"/>
            </a:solidFill>
            <a:prstDash val="solid"/>
            <a:tailEnd type="triangle"/>
          </a:ln>
        </p:spPr>
      </p:sp>
      <p:sp>
        <p:nvSpPr>
          <p:cNvPr id="22" name="Shape 17"/>
          <p:cNvSpPr/>
          <p:nvPr/>
        </p:nvSpPr>
        <p:spPr>
          <a:xfrm>
            <a:off x="5431536"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23" name="Shape 18"/>
          <p:cNvSpPr/>
          <p:nvPr/>
        </p:nvSpPr>
        <p:spPr>
          <a:xfrm>
            <a:off x="5797296" y="1645920"/>
            <a:ext cx="685800" cy="685800"/>
          </a:xfrm>
          <a:prstGeom prst="ellipse">
            <a:avLst/>
          </a:prstGeom>
          <a:solidFill>
            <a:srgbClr val="00704A"/>
          </a:solidFill>
          <a:ln w="12700">
            <a:solidFill>
              <a:srgbClr val="00704A"/>
            </a:solidFill>
            <a:prstDash val="solid"/>
          </a:ln>
        </p:spPr>
      </p:sp>
      <p:pic>
        <p:nvPicPr>
          <p:cNvPr id="24" name="Image 3" descr="preencoded.png">    </p:cNvPr>
          <p:cNvPicPr>
            <a:picLocks noChangeAspect="1"/>
          </p:cNvPicPr>
          <p:nvPr/>
        </p:nvPicPr>
        <p:blipFill>
          <a:blip r:embed="rId4"/>
          <a:stretch>
            <a:fillRect/>
          </a:stretch>
        </p:blipFill>
        <p:spPr>
          <a:xfrm>
            <a:off x="5961888" y="1810512"/>
            <a:ext cx="356616" cy="356616"/>
          </a:xfrm>
          <a:prstGeom prst="rect">
            <a:avLst/>
          </a:prstGeom>
        </p:spPr>
      </p:pic>
      <p:sp>
        <p:nvSpPr>
          <p:cNvPr id="25" name="Text 19"/>
          <p:cNvSpPr txBox="1"/>
          <p:nvPr/>
        </p:nvSpPr>
        <p:spPr>
          <a:xfrm>
            <a:off x="5477256"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Prétraitement</a:t>
            </a:r>
            <a:endParaRPr lang="en-US" sz="1400" dirty="0"/>
          </a:p>
        </p:txBody>
      </p:sp>
      <p:sp>
        <p:nvSpPr>
          <p:cNvPr id="26" name="Text 20"/>
          <p:cNvSpPr txBox="1"/>
          <p:nvPr/>
        </p:nvSpPr>
        <p:spPr>
          <a:xfrm>
            <a:off x="5477256"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nuages, torchères…</a:t>
            </a:r>
            <a:endParaRPr lang="en-US" sz="1200" dirty="0"/>
          </a:p>
        </p:txBody>
      </p:sp>
      <p:sp>
        <p:nvSpPr>
          <p:cNvPr id="27" name="Shape 21"/>
          <p:cNvSpPr/>
          <p:nvPr/>
        </p:nvSpPr>
        <p:spPr>
          <a:xfrm>
            <a:off x="6867144" y="2450592"/>
            <a:ext cx="173736" cy="914"/>
          </a:xfrm>
          <a:prstGeom prst="line">
            <a:avLst/>
          </a:prstGeom>
          <a:noFill/>
          <a:ln w="31750">
            <a:solidFill>
              <a:srgbClr val="F5C242"/>
            </a:solidFill>
            <a:prstDash val="solid"/>
            <a:tailEnd type="triangle"/>
          </a:ln>
        </p:spPr>
      </p:sp>
      <p:sp>
        <p:nvSpPr>
          <p:cNvPr id="28" name="Shape 22"/>
          <p:cNvSpPr/>
          <p:nvPr/>
        </p:nvSpPr>
        <p:spPr>
          <a:xfrm>
            <a:off x="7059168"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29" name="Shape 23"/>
          <p:cNvSpPr/>
          <p:nvPr/>
        </p:nvSpPr>
        <p:spPr>
          <a:xfrm>
            <a:off x="7424928" y="1645920"/>
            <a:ext cx="685800" cy="685800"/>
          </a:xfrm>
          <a:prstGeom prst="ellipse">
            <a:avLst/>
          </a:prstGeom>
          <a:solidFill>
            <a:srgbClr val="00553A"/>
          </a:solidFill>
          <a:ln w="12700">
            <a:solidFill>
              <a:srgbClr val="00553A"/>
            </a:solidFill>
            <a:prstDash val="solid"/>
          </a:ln>
        </p:spPr>
      </p:sp>
      <p:pic>
        <p:nvPicPr>
          <p:cNvPr id="30" name="Image 4" descr="preencoded.png">    </p:cNvPr>
          <p:cNvPicPr>
            <a:picLocks noChangeAspect="1"/>
          </p:cNvPicPr>
          <p:nvPr/>
        </p:nvPicPr>
        <p:blipFill>
          <a:blip r:embed="rId5"/>
          <a:stretch>
            <a:fillRect/>
          </a:stretch>
        </p:blipFill>
        <p:spPr>
          <a:xfrm>
            <a:off x="7589520" y="1810512"/>
            <a:ext cx="356616" cy="356616"/>
          </a:xfrm>
          <a:prstGeom prst="rect">
            <a:avLst/>
          </a:prstGeom>
        </p:spPr>
      </p:pic>
      <p:sp>
        <p:nvSpPr>
          <p:cNvPr id="31" name="Text 24"/>
          <p:cNvSpPr txBox="1"/>
          <p:nvPr/>
        </p:nvSpPr>
        <p:spPr>
          <a:xfrm>
            <a:off x="7104888"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Analyses</a:t>
            </a:r>
            <a:endParaRPr lang="en-US" sz="1400" dirty="0"/>
          </a:p>
        </p:txBody>
      </p:sp>
      <p:sp>
        <p:nvSpPr>
          <p:cNvPr id="32" name="Text 25"/>
          <p:cNvSpPr txBox="1"/>
          <p:nvPr/>
        </p:nvSpPr>
        <p:spPr>
          <a:xfrm>
            <a:off x="7104888"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6 familles</a:t>
            </a:r>
            <a:endParaRPr lang="en-US" sz="1200" dirty="0"/>
          </a:p>
        </p:txBody>
      </p:sp>
      <p:sp>
        <p:nvSpPr>
          <p:cNvPr id="33" name="Shape 26"/>
          <p:cNvSpPr/>
          <p:nvPr/>
        </p:nvSpPr>
        <p:spPr>
          <a:xfrm>
            <a:off x="8494776" y="2450592"/>
            <a:ext cx="173736" cy="914"/>
          </a:xfrm>
          <a:prstGeom prst="line">
            <a:avLst/>
          </a:prstGeom>
          <a:noFill/>
          <a:ln w="31750">
            <a:solidFill>
              <a:srgbClr val="F5C242"/>
            </a:solidFill>
            <a:prstDash val="solid"/>
            <a:tailEnd type="triangle"/>
          </a:ln>
        </p:spPr>
      </p:sp>
      <p:sp>
        <p:nvSpPr>
          <p:cNvPr id="34" name="Shape 27"/>
          <p:cNvSpPr/>
          <p:nvPr/>
        </p:nvSpPr>
        <p:spPr>
          <a:xfrm>
            <a:off x="8686800"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35" name="Shape 28"/>
          <p:cNvSpPr/>
          <p:nvPr/>
        </p:nvSpPr>
        <p:spPr>
          <a:xfrm>
            <a:off x="9052560" y="1645920"/>
            <a:ext cx="685800" cy="685800"/>
          </a:xfrm>
          <a:prstGeom prst="ellipse">
            <a:avLst/>
          </a:prstGeom>
          <a:solidFill>
            <a:srgbClr val="00A86A"/>
          </a:solidFill>
          <a:ln w="12700">
            <a:solidFill>
              <a:srgbClr val="00A86A"/>
            </a:solidFill>
            <a:prstDash val="solid"/>
          </a:ln>
        </p:spPr>
      </p:sp>
      <p:pic>
        <p:nvPicPr>
          <p:cNvPr id="36" name="Image 5" descr="preencoded.png">    </p:cNvPr>
          <p:cNvPicPr>
            <a:picLocks noChangeAspect="1"/>
          </p:cNvPicPr>
          <p:nvPr/>
        </p:nvPicPr>
        <p:blipFill>
          <a:blip r:embed="rId6"/>
          <a:stretch>
            <a:fillRect/>
          </a:stretch>
        </p:blipFill>
        <p:spPr>
          <a:xfrm>
            <a:off x="9217152" y="1810512"/>
            <a:ext cx="356616" cy="356616"/>
          </a:xfrm>
          <a:prstGeom prst="rect">
            <a:avLst/>
          </a:prstGeom>
        </p:spPr>
      </p:pic>
      <p:sp>
        <p:nvSpPr>
          <p:cNvPr id="37" name="Text 29"/>
          <p:cNvSpPr txBox="1"/>
          <p:nvPr/>
        </p:nvSpPr>
        <p:spPr>
          <a:xfrm>
            <a:off x="8732520"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Export</a:t>
            </a:r>
            <a:endParaRPr lang="en-US" sz="1400" dirty="0"/>
          </a:p>
        </p:txBody>
      </p:sp>
      <p:sp>
        <p:nvSpPr>
          <p:cNvPr id="38" name="Text 30"/>
          <p:cNvSpPr txBox="1"/>
          <p:nvPr/>
        </p:nvSpPr>
        <p:spPr>
          <a:xfrm>
            <a:off x="8732520"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CSV, JSON, PNG</a:t>
            </a:r>
            <a:endParaRPr lang="en-US" sz="1200" dirty="0"/>
          </a:p>
        </p:txBody>
      </p:sp>
      <p:sp>
        <p:nvSpPr>
          <p:cNvPr id="39" name="Shape 31"/>
          <p:cNvSpPr/>
          <p:nvPr/>
        </p:nvSpPr>
        <p:spPr>
          <a:xfrm>
            <a:off x="10122408" y="2450592"/>
            <a:ext cx="173736" cy="914"/>
          </a:xfrm>
          <a:prstGeom prst="line">
            <a:avLst/>
          </a:prstGeom>
          <a:noFill/>
          <a:ln w="31750">
            <a:solidFill>
              <a:srgbClr val="F5C242"/>
            </a:solidFill>
            <a:prstDash val="solid"/>
            <a:tailEnd type="triangle"/>
          </a:ln>
        </p:spPr>
      </p:sp>
      <p:sp>
        <p:nvSpPr>
          <p:cNvPr id="40" name="Shape 32"/>
          <p:cNvSpPr/>
          <p:nvPr/>
        </p:nvSpPr>
        <p:spPr>
          <a:xfrm>
            <a:off x="10314432"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41" name="Shape 33"/>
          <p:cNvSpPr/>
          <p:nvPr/>
        </p:nvSpPr>
        <p:spPr>
          <a:xfrm>
            <a:off x="10680192" y="1645920"/>
            <a:ext cx="685800" cy="685800"/>
          </a:xfrm>
          <a:prstGeom prst="ellipse">
            <a:avLst/>
          </a:prstGeom>
          <a:solidFill>
            <a:srgbClr val="231F20"/>
          </a:solidFill>
          <a:ln w="12700">
            <a:solidFill>
              <a:srgbClr val="231F20"/>
            </a:solidFill>
            <a:prstDash val="solid"/>
          </a:ln>
        </p:spPr>
      </p:sp>
      <p:pic>
        <p:nvPicPr>
          <p:cNvPr id="42" name="Image 6" descr="preencoded.png">    </p:cNvPr>
          <p:cNvPicPr>
            <a:picLocks noChangeAspect="1"/>
          </p:cNvPicPr>
          <p:nvPr/>
        </p:nvPicPr>
        <p:blipFill>
          <a:blip r:embed="rId7"/>
          <a:stretch>
            <a:fillRect/>
          </a:stretch>
        </p:blipFill>
        <p:spPr>
          <a:xfrm>
            <a:off x="10844784" y="1810512"/>
            <a:ext cx="356616" cy="356616"/>
          </a:xfrm>
          <a:prstGeom prst="rect">
            <a:avLst/>
          </a:prstGeom>
        </p:spPr>
      </p:pic>
      <p:sp>
        <p:nvSpPr>
          <p:cNvPr id="43" name="Text 34"/>
          <p:cNvSpPr txBox="1"/>
          <p:nvPr/>
        </p:nvSpPr>
        <p:spPr>
          <a:xfrm>
            <a:off x="10360152"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GitHub Pages</a:t>
            </a:r>
            <a:endParaRPr lang="en-US" sz="1400" dirty="0"/>
          </a:p>
        </p:txBody>
      </p:sp>
      <p:sp>
        <p:nvSpPr>
          <p:cNvPr id="44" name="Text 35"/>
          <p:cNvSpPr txBox="1"/>
          <p:nvPr/>
        </p:nvSpPr>
        <p:spPr>
          <a:xfrm>
            <a:off x="10360152"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site public</a:t>
            </a:r>
            <a:endParaRPr lang="en-US" sz="1200" dirty="0"/>
          </a:p>
        </p:txBody>
      </p:sp>
      <p:sp>
        <p:nvSpPr>
          <p:cNvPr id="45" name="Shape 36"/>
          <p:cNvSpPr/>
          <p:nvPr/>
        </p:nvSpPr>
        <p:spPr>
          <a:xfrm>
            <a:off x="548640" y="3520440"/>
            <a:ext cx="1417320" cy="329184"/>
          </a:xfrm>
          <a:prstGeom prst="roundRect">
            <a:avLst>
              <a:gd name="adj" fmla="val 50000"/>
            </a:avLst>
          </a:prstGeom>
          <a:solidFill>
            <a:srgbClr val="E8F5EF"/>
          </a:solidFill>
          <a:ln w="15875">
            <a:solidFill>
              <a:srgbClr val="E8F5EF"/>
            </a:solidFill>
            <a:prstDash val="solid"/>
          </a:ln>
        </p:spPr>
      </p:sp>
      <p:sp>
        <p:nvSpPr>
          <p:cNvPr id="46" name="Text 37"/>
          <p:cNvSpPr txBox="1"/>
          <p:nvPr/>
        </p:nvSpPr>
        <p:spPr>
          <a:xfrm>
            <a:off x="548640" y="3520440"/>
            <a:ext cx="1417320"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§2</a:t>
            </a:r>
            <a:endParaRPr lang="en-US" sz="1100" dirty="0"/>
          </a:p>
        </p:txBody>
      </p:sp>
      <p:sp>
        <p:nvSpPr>
          <p:cNvPr id="47" name="Shape 38"/>
          <p:cNvSpPr/>
          <p:nvPr/>
        </p:nvSpPr>
        <p:spPr>
          <a:xfrm>
            <a:off x="2176272" y="3520440"/>
            <a:ext cx="4672584" cy="329184"/>
          </a:xfrm>
          <a:prstGeom prst="roundRect">
            <a:avLst>
              <a:gd name="adj" fmla="val 50000"/>
            </a:avLst>
          </a:prstGeom>
          <a:solidFill>
            <a:srgbClr val="E8F5EF"/>
          </a:solidFill>
          <a:ln w="15875">
            <a:solidFill>
              <a:srgbClr val="E8F5EF"/>
            </a:solidFill>
            <a:prstDash val="solid"/>
          </a:ln>
        </p:spPr>
      </p:sp>
      <p:sp>
        <p:nvSpPr>
          <p:cNvPr id="48" name="Text 39"/>
          <p:cNvSpPr txBox="1"/>
          <p:nvPr/>
        </p:nvSpPr>
        <p:spPr>
          <a:xfrm>
            <a:off x="2176272" y="3520440"/>
            <a:ext cx="4672584"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§3</a:t>
            </a:r>
            <a:endParaRPr lang="en-US" sz="1100" dirty="0"/>
          </a:p>
        </p:txBody>
      </p:sp>
      <p:sp>
        <p:nvSpPr>
          <p:cNvPr id="49" name="Shape 40"/>
          <p:cNvSpPr/>
          <p:nvPr/>
        </p:nvSpPr>
        <p:spPr>
          <a:xfrm>
            <a:off x="7059168" y="3520440"/>
            <a:ext cx="1417320" cy="329184"/>
          </a:xfrm>
          <a:prstGeom prst="roundRect">
            <a:avLst>
              <a:gd name="adj" fmla="val 50000"/>
            </a:avLst>
          </a:prstGeom>
          <a:solidFill>
            <a:srgbClr val="E8F5EF"/>
          </a:solidFill>
          <a:ln w="15875">
            <a:solidFill>
              <a:srgbClr val="E8F5EF"/>
            </a:solidFill>
            <a:prstDash val="solid"/>
          </a:ln>
        </p:spPr>
      </p:sp>
      <p:sp>
        <p:nvSpPr>
          <p:cNvPr id="50" name="Text 41"/>
          <p:cNvSpPr txBox="1"/>
          <p:nvPr/>
        </p:nvSpPr>
        <p:spPr>
          <a:xfrm>
            <a:off x="7059168" y="3520440"/>
            <a:ext cx="1417320"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§4–10</a:t>
            </a:r>
            <a:endParaRPr lang="en-US" sz="1100" dirty="0"/>
          </a:p>
        </p:txBody>
      </p:sp>
      <p:sp>
        <p:nvSpPr>
          <p:cNvPr id="51" name="Shape 42"/>
          <p:cNvSpPr/>
          <p:nvPr/>
        </p:nvSpPr>
        <p:spPr>
          <a:xfrm>
            <a:off x="8686800" y="3520440"/>
            <a:ext cx="1417320" cy="329184"/>
          </a:xfrm>
          <a:prstGeom prst="roundRect">
            <a:avLst>
              <a:gd name="adj" fmla="val 50000"/>
            </a:avLst>
          </a:prstGeom>
          <a:solidFill>
            <a:srgbClr val="E8F5EF"/>
          </a:solidFill>
          <a:ln w="15875">
            <a:solidFill>
              <a:srgbClr val="E8F5EF"/>
            </a:solidFill>
            <a:prstDash val="solid"/>
          </a:ln>
        </p:spPr>
      </p:sp>
      <p:sp>
        <p:nvSpPr>
          <p:cNvPr id="52" name="Text 43"/>
          <p:cNvSpPr txBox="1"/>
          <p:nvPr/>
        </p:nvSpPr>
        <p:spPr>
          <a:xfrm>
            <a:off x="8686800" y="3520440"/>
            <a:ext cx="1417320"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§11</a:t>
            </a:r>
            <a:endParaRPr lang="en-US" sz="1100" dirty="0"/>
          </a:p>
        </p:txBody>
      </p:sp>
      <p:sp>
        <p:nvSpPr>
          <p:cNvPr id="53" name="Shape 44"/>
          <p:cNvSpPr/>
          <p:nvPr/>
        </p:nvSpPr>
        <p:spPr>
          <a:xfrm>
            <a:off x="10314432" y="3520440"/>
            <a:ext cx="1417320" cy="329184"/>
          </a:xfrm>
          <a:prstGeom prst="roundRect">
            <a:avLst>
              <a:gd name="adj" fmla="val 50000"/>
            </a:avLst>
          </a:prstGeom>
          <a:solidFill>
            <a:srgbClr val="E8F5EF"/>
          </a:solidFill>
          <a:ln w="15875">
            <a:solidFill>
              <a:srgbClr val="E8F5EF"/>
            </a:solidFill>
            <a:prstDash val="solid"/>
          </a:ln>
        </p:spPr>
      </p:sp>
      <p:sp>
        <p:nvSpPr>
          <p:cNvPr id="54" name="Text 45"/>
          <p:cNvSpPr txBox="1"/>
          <p:nvPr/>
        </p:nvSpPr>
        <p:spPr>
          <a:xfrm>
            <a:off x="10314432" y="3520440"/>
            <a:ext cx="1417320"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§12</a:t>
            </a:r>
            <a:endParaRPr lang="en-US" sz="1100" dirty="0"/>
          </a:p>
        </p:txBody>
      </p:sp>
      <p:sp>
        <p:nvSpPr>
          <p:cNvPr id="55" name="Shape 46"/>
          <p:cNvSpPr/>
          <p:nvPr/>
        </p:nvSpPr>
        <p:spPr>
          <a:xfrm>
            <a:off x="548640" y="4114800"/>
            <a:ext cx="2670048" cy="1965960"/>
          </a:xfrm>
          <a:prstGeom prst="roundRect">
            <a:avLst>
              <a:gd name="adj" fmla="val 558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6" name="Shape 47"/>
          <p:cNvSpPr/>
          <p:nvPr/>
        </p:nvSpPr>
        <p:spPr>
          <a:xfrm>
            <a:off x="731520" y="4297680"/>
            <a:ext cx="502920" cy="502920"/>
          </a:xfrm>
          <a:prstGeom prst="ellipse">
            <a:avLst/>
          </a:prstGeom>
          <a:solidFill>
            <a:srgbClr val="00704A"/>
          </a:solidFill>
          <a:ln w="12700">
            <a:solidFill>
              <a:srgbClr val="00704A"/>
            </a:solidFill>
            <a:prstDash val="solid"/>
          </a:ln>
        </p:spPr>
      </p:sp>
      <p:pic>
        <p:nvPicPr>
          <p:cNvPr id="57" name="Image 7" descr="preencoded.png">    </p:cNvPr>
          <p:cNvPicPr>
            <a:picLocks noChangeAspect="1"/>
          </p:cNvPicPr>
          <p:nvPr/>
        </p:nvPicPr>
        <p:blipFill>
          <a:blip r:embed="rId8"/>
          <a:stretch>
            <a:fillRect/>
          </a:stretch>
        </p:blipFill>
        <p:spPr>
          <a:xfrm>
            <a:off x="852221" y="4418381"/>
            <a:ext cx="261518" cy="261518"/>
          </a:xfrm>
          <a:prstGeom prst="rect">
            <a:avLst/>
          </a:prstGeom>
        </p:spPr>
      </p:pic>
      <p:sp>
        <p:nvSpPr>
          <p:cNvPr id="58" name="Text 48"/>
          <p:cNvSpPr txBox="1"/>
          <p:nvPr/>
        </p:nvSpPr>
        <p:spPr>
          <a:xfrm>
            <a:off x="1371600" y="4279392"/>
            <a:ext cx="1709928"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Reproductible</a:t>
            </a:r>
            <a:endParaRPr lang="en-US" sz="1500" dirty="0"/>
          </a:p>
        </p:txBody>
      </p:sp>
      <p:sp>
        <p:nvSpPr>
          <p:cNvPr id="59" name="Text 49"/>
          <p:cNvSpPr txBox="1"/>
          <p:nvPr/>
        </p:nvSpPr>
        <p:spPr>
          <a:xfrm>
            <a:off x="731520" y="4919472"/>
            <a:ext cx="2304288" cy="10515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aucune valeur propre à un pays n'est codée : changer ISO3 suffit.</a:t>
            </a:r>
            <a:endParaRPr lang="en-US" sz="1300" dirty="0"/>
          </a:p>
        </p:txBody>
      </p:sp>
      <p:sp>
        <p:nvSpPr>
          <p:cNvPr id="60" name="Shape 50"/>
          <p:cNvSpPr/>
          <p:nvPr/>
        </p:nvSpPr>
        <p:spPr>
          <a:xfrm>
            <a:off x="3364992" y="4114800"/>
            <a:ext cx="2670048" cy="1965960"/>
          </a:xfrm>
          <a:prstGeom prst="roundRect">
            <a:avLst>
              <a:gd name="adj" fmla="val 558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1" name="Shape 51"/>
          <p:cNvSpPr/>
          <p:nvPr/>
        </p:nvSpPr>
        <p:spPr>
          <a:xfrm>
            <a:off x="3547872" y="4297680"/>
            <a:ext cx="502920" cy="502920"/>
          </a:xfrm>
          <a:prstGeom prst="ellipse">
            <a:avLst/>
          </a:prstGeom>
          <a:solidFill>
            <a:srgbClr val="1F4E8C"/>
          </a:solidFill>
          <a:ln w="12700">
            <a:solidFill>
              <a:srgbClr val="1F4E8C"/>
            </a:solidFill>
            <a:prstDash val="solid"/>
          </a:ln>
        </p:spPr>
      </p:sp>
      <p:pic>
        <p:nvPicPr>
          <p:cNvPr id="62" name="Image 8" descr="preencoded.png">    </p:cNvPr>
          <p:cNvPicPr>
            <a:picLocks noChangeAspect="1"/>
          </p:cNvPicPr>
          <p:nvPr/>
        </p:nvPicPr>
        <p:blipFill>
          <a:blip r:embed="rId9"/>
          <a:stretch>
            <a:fillRect/>
          </a:stretch>
        </p:blipFill>
        <p:spPr>
          <a:xfrm>
            <a:off x="3668573" y="4418381"/>
            <a:ext cx="261518" cy="261518"/>
          </a:xfrm>
          <a:prstGeom prst="rect">
            <a:avLst/>
          </a:prstGeom>
        </p:spPr>
      </p:pic>
      <p:sp>
        <p:nvSpPr>
          <p:cNvPr id="63" name="Text 52"/>
          <p:cNvSpPr txBox="1"/>
          <p:nvPr/>
        </p:nvSpPr>
        <p:spPr>
          <a:xfrm>
            <a:off x="4187952" y="4279392"/>
            <a:ext cx="1709928"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Léger</a:t>
            </a:r>
            <a:endParaRPr lang="en-US" sz="1500" dirty="0"/>
          </a:p>
        </p:txBody>
      </p:sp>
      <p:sp>
        <p:nvSpPr>
          <p:cNvPr id="64" name="Text 53"/>
          <p:cNvSpPr txBox="1"/>
          <p:nvPr/>
        </p:nvSpPr>
        <p:spPr>
          <a:xfrm>
            <a:off x="3547872" y="4919472"/>
            <a:ext cx="2304288" cy="10515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les images restent dans Earth Engine ; seuls les tableaux agrégés sont rapatriés.</a:t>
            </a:r>
            <a:endParaRPr lang="en-US" sz="1300" dirty="0"/>
          </a:p>
        </p:txBody>
      </p:sp>
      <p:sp>
        <p:nvSpPr>
          <p:cNvPr id="65" name="Shape 54"/>
          <p:cNvSpPr/>
          <p:nvPr/>
        </p:nvSpPr>
        <p:spPr>
          <a:xfrm>
            <a:off x="6181344" y="4114800"/>
            <a:ext cx="2670048" cy="1965960"/>
          </a:xfrm>
          <a:prstGeom prst="roundRect">
            <a:avLst>
              <a:gd name="adj" fmla="val 558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6" name="Shape 55"/>
          <p:cNvSpPr/>
          <p:nvPr/>
        </p:nvSpPr>
        <p:spPr>
          <a:xfrm>
            <a:off x="6364224" y="4297680"/>
            <a:ext cx="502920" cy="502920"/>
          </a:xfrm>
          <a:prstGeom prst="ellipse">
            <a:avLst/>
          </a:prstGeom>
          <a:solidFill>
            <a:srgbClr val="00704A"/>
          </a:solidFill>
          <a:ln w="12700">
            <a:solidFill>
              <a:srgbClr val="00704A"/>
            </a:solidFill>
            <a:prstDash val="solid"/>
          </a:ln>
        </p:spPr>
      </p:sp>
      <p:pic>
        <p:nvPicPr>
          <p:cNvPr id="67" name="Image 9" descr="preencoded.png">    </p:cNvPr>
          <p:cNvPicPr>
            <a:picLocks noChangeAspect="1"/>
          </p:cNvPicPr>
          <p:nvPr/>
        </p:nvPicPr>
        <p:blipFill>
          <a:blip r:embed="rId10"/>
          <a:stretch>
            <a:fillRect/>
          </a:stretch>
        </p:blipFill>
        <p:spPr>
          <a:xfrm>
            <a:off x="6484925" y="4418381"/>
            <a:ext cx="261518" cy="261518"/>
          </a:xfrm>
          <a:prstGeom prst="rect">
            <a:avLst/>
          </a:prstGeom>
        </p:spPr>
      </p:pic>
      <p:sp>
        <p:nvSpPr>
          <p:cNvPr id="68" name="Text 56"/>
          <p:cNvSpPr txBox="1"/>
          <p:nvPr/>
        </p:nvSpPr>
        <p:spPr>
          <a:xfrm>
            <a:off x="7004304" y="4279392"/>
            <a:ext cx="1709928"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Mis en cache</a:t>
            </a:r>
            <a:endParaRPr lang="en-US" sz="1500" dirty="0"/>
          </a:p>
        </p:txBody>
      </p:sp>
      <p:sp>
        <p:nvSpPr>
          <p:cNvPr id="69" name="Text 57"/>
          <p:cNvSpPr txBox="1"/>
          <p:nvPr/>
        </p:nvSpPr>
        <p:spPr>
          <a:xfrm>
            <a:off x="6364224" y="4919472"/>
            <a:ext cx="2304288" cy="10515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une deuxième exécution ne réinterroge pas GEE (FORCE_DOWNLOAD pour forcer).</a:t>
            </a:r>
            <a:endParaRPr lang="en-US" sz="1300" dirty="0"/>
          </a:p>
        </p:txBody>
      </p:sp>
      <p:sp>
        <p:nvSpPr>
          <p:cNvPr id="70" name="Shape 58"/>
          <p:cNvSpPr/>
          <p:nvPr/>
        </p:nvSpPr>
        <p:spPr>
          <a:xfrm>
            <a:off x="8997696" y="4114800"/>
            <a:ext cx="2670048" cy="1965960"/>
          </a:xfrm>
          <a:prstGeom prst="roundRect">
            <a:avLst>
              <a:gd name="adj" fmla="val 558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71" name="Shape 59"/>
          <p:cNvSpPr/>
          <p:nvPr/>
        </p:nvSpPr>
        <p:spPr>
          <a:xfrm>
            <a:off x="9180576" y="4297680"/>
            <a:ext cx="502920" cy="502920"/>
          </a:xfrm>
          <a:prstGeom prst="ellipse">
            <a:avLst/>
          </a:prstGeom>
          <a:solidFill>
            <a:srgbClr val="1F4E8C"/>
          </a:solidFill>
          <a:ln w="12700">
            <a:solidFill>
              <a:srgbClr val="1F4E8C"/>
            </a:solidFill>
            <a:prstDash val="solid"/>
          </a:ln>
        </p:spPr>
      </p:sp>
      <p:pic>
        <p:nvPicPr>
          <p:cNvPr id="72" name="Image 10" descr="preencoded.png">    </p:cNvPr>
          <p:cNvPicPr>
            <a:picLocks noChangeAspect="1"/>
          </p:cNvPicPr>
          <p:nvPr/>
        </p:nvPicPr>
        <p:blipFill>
          <a:blip r:embed="rId11"/>
          <a:stretch>
            <a:fillRect/>
          </a:stretch>
        </p:blipFill>
        <p:spPr>
          <a:xfrm>
            <a:off x="9301277" y="4418381"/>
            <a:ext cx="261518" cy="261518"/>
          </a:xfrm>
          <a:prstGeom prst="rect">
            <a:avLst/>
          </a:prstGeom>
        </p:spPr>
      </p:pic>
      <p:sp>
        <p:nvSpPr>
          <p:cNvPr id="73" name="Text 60"/>
          <p:cNvSpPr txBox="1"/>
          <p:nvPr/>
        </p:nvSpPr>
        <p:spPr>
          <a:xfrm>
            <a:off x="9820656" y="4279392"/>
            <a:ext cx="1709928"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Traçable</a:t>
            </a:r>
            <a:endParaRPr lang="en-US" sz="1500" dirty="0"/>
          </a:p>
        </p:txBody>
      </p:sp>
      <p:sp>
        <p:nvSpPr>
          <p:cNvPr id="74" name="Text 61"/>
          <p:cNvSpPr txBox="1"/>
          <p:nvPr/>
        </p:nvSpPr>
        <p:spPr>
          <a:xfrm>
            <a:off x="9180576" y="4919472"/>
            <a:ext cx="2304288" cy="10515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un manifeste conserve paramètres, versions et disponibilité des données.</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C · ARCHITECTURE ET PIPELINE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Architecture logicielle : un notebook, un paquet src/, un site statique</a:t>
            </a:r>
            <a:endParaRPr lang="en-US" sz="2800" dirty="0"/>
          </a:p>
        </p:txBody>
      </p:sp>
      <p:sp>
        <p:nvSpPr>
          <p:cNvPr id="4" name="Shape 2"/>
          <p:cNvSpPr/>
          <p:nvPr/>
        </p:nvSpPr>
        <p:spPr>
          <a:xfrm>
            <a:off x="548640" y="1417320"/>
            <a:ext cx="2670048" cy="3429000"/>
          </a:xfrm>
          <a:prstGeom prst="roundRect">
            <a:avLst>
              <a:gd name="adj" fmla="val 4110"/>
            </a:avLst>
          </a:prstGeom>
          <a:solidFill>
            <a:srgbClr val="EAF2FB"/>
          </a:solidFill>
          <a:ln w="9525">
            <a:solidFill>
              <a:srgbClr val="EAF2FB"/>
            </a:solidFill>
            <a:prstDash val="solid"/>
          </a:ln>
        </p:spPr>
      </p:sp>
      <p:sp>
        <p:nvSpPr>
          <p:cNvPr id="5" name="Text 3"/>
          <p:cNvSpPr txBox="1"/>
          <p:nvPr/>
        </p:nvSpPr>
        <p:spPr>
          <a:xfrm>
            <a:off x="685800" y="1481328"/>
            <a:ext cx="23774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Acquisition</a:t>
            </a:r>
            <a:endParaRPr lang="en-US" sz="1500" dirty="0"/>
          </a:p>
        </p:txBody>
      </p:sp>
      <p:sp>
        <p:nvSpPr>
          <p:cNvPr id="6" name="Shape 4"/>
          <p:cNvSpPr/>
          <p:nvPr/>
        </p:nvSpPr>
        <p:spPr>
          <a:xfrm>
            <a:off x="685800" y="1892808"/>
            <a:ext cx="2395728" cy="502920"/>
          </a:xfrm>
          <a:prstGeom prst="roundRect">
            <a:avLst>
              <a:gd name="adj" fmla="val 21818"/>
            </a:avLst>
          </a:prstGeom>
          <a:solidFill>
            <a:srgbClr val="FFFFFF"/>
          </a:solidFill>
          <a:ln w="9525">
            <a:solidFill>
              <a:srgbClr val="D5DED9"/>
            </a:solidFill>
            <a:prstDash val="solid"/>
          </a:ln>
        </p:spPr>
      </p:sp>
      <p:sp>
        <p:nvSpPr>
          <p:cNvPr id="7" name="Text 5"/>
          <p:cNvSpPr txBox="1"/>
          <p:nvPr/>
        </p:nvSpPr>
        <p:spPr>
          <a:xfrm>
            <a:off x="777240" y="1911096"/>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1F4E8C"/>
                </a:solidFill>
                <a:latin typeface="Courier New" pitchFamily="34" charset="0"/>
                <a:ea typeface="Courier New" pitchFamily="34" charset="-122"/>
                <a:cs typeface="Courier New" pitchFamily="34" charset="-120"/>
              </a:rPr>
              <a:t>gee.py</a:t>
            </a:r>
            <a:endParaRPr lang="en-US" sz="1200" dirty="0"/>
          </a:p>
        </p:txBody>
      </p:sp>
      <p:sp>
        <p:nvSpPr>
          <p:cNvPr id="8" name="Text 6"/>
          <p:cNvSpPr txBox="1"/>
          <p:nvPr/>
        </p:nvSpPr>
        <p:spPr>
          <a:xfrm>
            <a:off x="777240" y="2139696"/>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connexion, disponibilité</a:t>
            </a:r>
            <a:endParaRPr lang="en-US" sz="1150" dirty="0"/>
          </a:p>
        </p:txBody>
      </p:sp>
      <p:sp>
        <p:nvSpPr>
          <p:cNvPr id="9" name="Shape 7"/>
          <p:cNvSpPr/>
          <p:nvPr/>
        </p:nvSpPr>
        <p:spPr>
          <a:xfrm>
            <a:off x="685800" y="2468880"/>
            <a:ext cx="2395728" cy="502920"/>
          </a:xfrm>
          <a:prstGeom prst="roundRect">
            <a:avLst>
              <a:gd name="adj" fmla="val 21818"/>
            </a:avLst>
          </a:prstGeom>
          <a:solidFill>
            <a:srgbClr val="FFFFFF"/>
          </a:solidFill>
          <a:ln w="9525">
            <a:solidFill>
              <a:srgbClr val="D5DED9"/>
            </a:solidFill>
            <a:prstDash val="solid"/>
          </a:ln>
        </p:spPr>
      </p:sp>
      <p:sp>
        <p:nvSpPr>
          <p:cNvPr id="10" name="Text 8"/>
          <p:cNvSpPr txBox="1"/>
          <p:nvPr/>
        </p:nvSpPr>
        <p:spPr>
          <a:xfrm>
            <a:off x="777240" y="2487168"/>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1F4E8C"/>
                </a:solidFill>
                <a:latin typeface="Courier New" pitchFamily="34" charset="0"/>
                <a:ea typeface="Courier New" pitchFamily="34" charset="-122"/>
                <a:cs typeface="Courier New" pitchFamily="34" charset="-120"/>
              </a:rPr>
              <a:t>boundaries.py</a:t>
            </a:r>
            <a:endParaRPr lang="en-US" sz="1200" dirty="0"/>
          </a:p>
        </p:txBody>
      </p:sp>
      <p:sp>
        <p:nvSpPr>
          <p:cNvPr id="11" name="Text 9"/>
          <p:cNvSpPr txBox="1"/>
          <p:nvPr/>
        </p:nvSpPr>
        <p:spPr>
          <a:xfrm>
            <a:off x="777240" y="2715768"/>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limites ADM0/1/2</a:t>
            </a:r>
            <a:endParaRPr lang="en-US" sz="1150" dirty="0"/>
          </a:p>
        </p:txBody>
      </p:sp>
      <p:sp>
        <p:nvSpPr>
          <p:cNvPr id="12" name="Shape 10"/>
          <p:cNvSpPr/>
          <p:nvPr/>
        </p:nvSpPr>
        <p:spPr>
          <a:xfrm>
            <a:off x="685800" y="3044952"/>
            <a:ext cx="2395728" cy="502920"/>
          </a:xfrm>
          <a:prstGeom prst="roundRect">
            <a:avLst>
              <a:gd name="adj" fmla="val 21818"/>
            </a:avLst>
          </a:prstGeom>
          <a:solidFill>
            <a:srgbClr val="FFFFFF"/>
          </a:solidFill>
          <a:ln w="9525">
            <a:solidFill>
              <a:srgbClr val="D5DED9"/>
            </a:solidFill>
            <a:prstDash val="solid"/>
          </a:ln>
        </p:spPr>
      </p:sp>
      <p:sp>
        <p:nvSpPr>
          <p:cNvPr id="13" name="Text 11"/>
          <p:cNvSpPr txBox="1"/>
          <p:nvPr/>
        </p:nvSpPr>
        <p:spPr>
          <a:xfrm>
            <a:off x="777240" y="3063240"/>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1F4E8C"/>
                </a:solidFill>
                <a:latin typeface="Courier New" pitchFamily="34" charset="0"/>
                <a:ea typeface="Courier New" pitchFamily="34" charset="-122"/>
                <a:cs typeface="Courier New" pitchFamily="34" charset="-120"/>
              </a:rPr>
              <a:t>acquisition.py</a:t>
            </a:r>
            <a:endParaRPr lang="en-US" sz="1200" dirty="0"/>
          </a:p>
        </p:txBody>
      </p:sp>
      <p:sp>
        <p:nvSpPr>
          <p:cNvPr id="14" name="Text 12"/>
          <p:cNvSpPr txBox="1"/>
          <p:nvPr/>
        </p:nvSpPr>
        <p:spPr>
          <a:xfrm>
            <a:off x="777240" y="3291840"/>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statistiques zonales</a:t>
            </a:r>
            <a:endParaRPr lang="en-US" sz="1150" dirty="0"/>
          </a:p>
        </p:txBody>
      </p:sp>
      <p:sp>
        <p:nvSpPr>
          <p:cNvPr id="15" name="Shape 13"/>
          <p:cNvSpPr/>
          <p:nvPr/>
        </p:nvSpPr>
        <p:spPr>
          <a:xfrm>
            <a:off x="685800" y="3621024"/>
            <a:ext cx="2395728" cy="502920"/>
          </a:xfrm>
          <a:prstGeom prst="roundRect">
            <a:avLst>
              <a:gd name="adj" fmla="val 21818"/>
            </a:avLst>
          </a:prstGeom>
          <a:solidFill>
            <a:srgbClr val="FFFFFF"/>
          </a:solidFill>
          <a:ln w="9525">
            <a:solidFill>
              <a:srgbClr val="D5DED9"/>
            </a:solidFill>
            <a:prstDash val="solid"/>
          </a:ln>
        </p:spPr>
      </p:sp>
      <p:sp>
        <p:nvSpPr>
          <p:cNvPr id="16" name="Text 14"/>
          <p:cNvSpPr txBox="1"/>
          <p:nvPr/>
        </p:nvSpPr>
        <p:spPr>
          <a:xfrm>
            <a:off x="777240" y="3639312"/>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1F4E8C"/>
                </a:solidFill>
                <a:latin typeface="Courier New" pitchFamily="34" charset="0"/>
                <a:ea typeface="Courier New" pitchFamily="34" charset="-122"/>
                <a:cs typeface="Courier New" pitchFamily="34" charset="-120"/>
              </a:rPr>
              <a:t>worldbank.py</a:t>
            </a:r>
            <a:endParaRPr lang="en-US" sz="1200" dirty="0"/>
          </a:p>
        </p:txBody>
      </p:sp>
      <p:sp>
        <p:nvSpPr>
          <p:cNvPr id="17" name="Text 15"/>
          <p:cNvSpPr txBox="1"/>
          <p:nvPr/>
        </p:nvSpPr>
        <p:spPr>
          <a:xfrm>
            <a:off x="777240" y="3867912"/>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API WDI</a:t>
            </a:r>
            <a:endParaRPr lang="en-US" sz="1150" dirty="0"/>
          </a:p>
        </p:txBody>
      </p:sp>
      <p:sp>
        <p:nvSpPr>
          <p:cNvPr id="18" name="Shape 16"/>
          <p:cNvSpPr/>
          <p:nvPr/>
        </p:nvSpPr>
        <p:spPr>
          <a:xfrm>
            <a:off x="3364992" y="1417320"/>
            <a:ext cx="2670048" cy="3429000"/>
          </a:xfrm>
          <a:prstGeom prst="roundRect">
            <a:avLst>
              <a:gd name="adj" fmla="val 4110"/>
            </a:avLst>
          </a:prstGeom>
          <a:solidFill>
            <a:srgbClr val="E8F5EF"/>
          </a:solidFill>
          <a:ln w="9525">
            <a:solidFill>
              <a:srgbClr val="E8F5EF"/>
            </a:solidFill>
            <a:prstDash val="solid"/>
          </a:ln>
        </p:spPr>
      </p:sp>
      <p:sp>
        <p:nvSpPr>
          <p:cNvPr id="19" name="Text 17"/>
          <p:cNvSpPr txBox="1"/>
          <p:nvPr/>
        </p:nvSpPr>
        <p:spPr>
          <a:xfrm>
            <a:off x="3502152" y="1481328"/>
            <a:ext cx="23774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00704A"/>
                </a:solidFill>
              </a:rPr>
              <a:t>Prétraitement</a:t>
            </a:r>
            <a:endParaRPr lang="en-US" sz="1500" dirty="0"/>
          </a:p>
        </p:txBody>
      </p:sp>
      <p:sp>
        <p:nvSpPr>
          <p:cNvPr id="20" name="Shape 18"/>
          <p:cNvSpPr/>
          <p:nvPr/>
        </p:nvSpPr>
        <p:spPr>
          <a:xfrm>
            <a:off x="3502152" y="1892808"/>
            <a:ext cx="2395728" cy="502920"/>
          </a:xfrm>
          <a:prstGeom prst="roundRect">
            <a:avLst>
              <a:gd name="adj" fmla="val 21818"/>
            </a:avLst>
          </a:prstGeom>
          <a:solidFill>
            <a:srgbClr val="FFFFFF"/>
          </a:solidFill>
          <a:ln w="9525">
            <a:solidFill>
              <a:srgbClr val="D5DED9"/>
            </a:solidFill>
            <a:prstDash val="solid"/>
          </a:ln>
        </p:spPr>
      </p:sp>
      <p:sp>
        <p:nvSpPr>
          <p:cNvPr id="21" name="Text 19"/>
          <p:cNvSpPr txBox="1"/>
          <p:nvPr/>
        </p:nvSpPr>
        <p:spPr>
          <a:xfrm>
            <a:off x="3593592" y="1911096"/>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704A"/>
                </a:solidFill>
                <a:latin typeface="Courier New" pitchFamily="34" charset="0"/>
                <a:ea typeface="Courier New" pitchFamily="34" charset="-122"/>
                <a:cs typeface="Courier New" pitchFamily="34" charset="-120"/>
              </a:rPr>
              <a:t>preprocessing.py</a:t>
            </a:r>
            <a:endParaRPr lang="en-US" sz="1200" dirty="0"/>
          </a:p>
        </p:txBody>
      </p:sp>
      <p:sp>
        <p:nvSpPr>
          <p:cNvPr id="22" name="Text 20"/>
          <p:cNvSpPr txBox="1"/>
          <p:nvPr/>
        </p:nvSpPr>
        <p:spPr>
          <a:xfrm>
            <a:off x="3593592" y="2139696"/>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nuages, torchères, aberrants</a:t>
            </a:r>
            <a:endParaRPr lang="en-US" sz="1150" dirty="0"/>
          </a:p>
        </p:txBody>
      </p:sp>
      <p:sp>
        <p:nvSpPr>
          <p:cNvPr id="23" name="Shape 21"/>
          <p:cNvSpPr/>
          <p:nvPr/>
        </p:nvSpPr>
        <p:spPr>
          <a:xfrm>
            <a:off x="3502152" y="2468880"/>
            <a:ext cx="2395728" cy="502920"/>
          </a:xfrm>
          <a:prstGeom prst="roundRect">
            <a:avLst>
              <a:gd name="adj" fmla="val 21818"/>
            </a:avLst>
          </a:prstGeom>
          <a:solidFill>
            <a:srgbClr val="FFFFFF"/>
          </a:solidFill>
          <a:ln w="9525">
            <a:solidFill>
              <a:srgbClr val="D5DED9"/>
            </a:solidFill>
            <a:prstDash val="solid"/>
          </a:ln>
        </p:spPr>
      </p:sp>
      <p:sp>
        <p:nvSpPr>
          <p:cNvPr id="24" name="Text 22"/>
          <p:cNvSpPr txBox="1"/>
          <p:nvPr/>
        </p:nvSpPr>
        <p:spPr>
          <a:xfrm>
            <a:off x="3593592" y="2487168"/>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704A"/>
                </a:solidFill>
                <a:latin typeface="Courier New" pitchFamily="34" charset="0"/>
                <a:ea typeface="Courier New" pitchFamily="34" charset="-122"/>
                <a:cs typeface="Courier New" pitchFamily="34" charset="-120"/>
              </a:rPr>
              <a:t>cache.py</a:t>
            </a:r>
            <a:endParaRPr lang="en-US" sz="1200" dirty="0"/>
          </a:p>
        </p:txBody>
      </p:sp>
      <p:sp>
        <p:nvSpPr>
          <p:cNvPr id="25" name="Text 23"/>
          <p:cNvSpPr txBox="1"/>
          <p:nvPr/>
        </p:nvSpPr>
        <p:spPr>
          <a:xfrm>
            <a:off x="3593592" y="2715768"/>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mise en cache</a:t>
            </a:r>
            <a:endParaRPr lang="en-US" sz="1150" dirty="0"/>
          </a:p>
        </p:txBody>
      </p:sp>
      <p:sp>
        <p:nvSpPr>
          <p:cNvPr id="26" name="Shape 24"/>
          <p:cNvSpPr/>
          <p:nvPr/>
        </p:nvSpPr>
        <p:spPr>
          <a:xfrm>
            <a:off x="3502152" y="3044952"/>
            <a:ext cx="2395728" cy="502920"/>
          </a:xfrm>
          <a:prstGeom prst="roundRect">
            <a:avLst>
              <a:gd name="adj" fmla="val 21818"/>
            </a:avLst>
          </a:prstGeom>
          <a:solidFill>
            <a:srgbClr val="FFFFFF"/>
          </a:solidFill>
          <a:ln w="9525">
            <a:solidFill>
              <a:srgbClr val="D5DED9"/>
            </a:solidFill>
            <a:prstDash val="solid"/>
          </a:ln>
        </p:spPr>
      </p:sp>
      <p:sp>
        <p:nvSpPr>
          <p:cNvPr id="27" name="Text 25"/>
          <p:cNvSpPr txBox="1"/>
          <p:nvPr/>
        </p:nvSpPr>
        <p:spPr>
          <a:xfrm>
            <a:off x="3593592" y="3063240"/>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704A"/>
                </a:solidFill>
                <a:latin typeface="Courier New" pitchFamily="34" charset="0"/>
                <a:ea typeface="Courier New" pitchFamily="34" charset="-122"/>
                <a:cs typeface="Courier New" pitchFamily="34" charset="-120"/>
              </a:rPr>
              <a:t>config.py</a:t>
            </a:r>
            <a:endParaRPr lang="en-US" sz="1200" dirty="0"/>
          </a:p>
        </p:txBody>
      </p:sp>
      <p:sp>
        <p:nvSpPr>
          <p:cNvPr id="28" name="Text 26"/>
          <p:cNvSpPr txBox="1"/>
          <p:nvPr/>
        </p:nvSpPr>
        <p:spPr>
          <a:xfrm>
            <a:off x="3593592" y="3291840"/>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paramètres, jeux de données</a:t>
            </a:r>
            <a:endParaRPr lang="en-US" sz="1150" dirty="0"/>
          </a:p>
        </p:txBody>
      </p:sp>
      <p:sp>
        <p:nvSpPr>
          <p:cNvPr id="29" name="Shape 27"/>
          <p:cNvSpPr/>
          <p:nvPr/>
        </p:nvSpPr>
        <p:spPr>
          <a:xfrm>
            <a:off x="6181344" y="1417320"/>
            <a:ext cx="2670048" cy="3429000"/>
          </a:xfrm>
          <a:prstGeom prst="roundRect">
            <a:avLst>
              <a:gd name="adj" fmla="val 4110"/>
            </a:avLst>
          </a:prstGeom>
          <a:solidFill>
            <a:srgbClr val="E8F5EF"/>
          </a:solidFill>
          <a:ln w="9525">
            <a:solidFill>
              <a:srgbClr val="E8F5EF"/>
            </a:solidFill>
            <a:prstDash val="solid"/>
          </a:ln>
        </p:spPr>
      </p:sp>
      <p:sp>
        <p:nvSpPr>
          <p:cNvPr id="30" name="Text 28"/>
          <p:cNvSpPr txBox="1"/>
          <p:nvPr/>
        </p:nvSpPr>
        <p:spPr>
          <a:xfrm>
            <a:off x="6318504" y="1481328"/>
            <a:ext cx="23774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Analyse</a:t>
            </a:r>
            <a:endParaRPr lang="en-US" sz="1500" dirty="0"/>
          </a:p>
        </p:txBody>
      </p:sp>
      <p:sp>
        <p:nvSpPr>
          <p:cNvPr id="31" name="Shape 29"/>
          <p:cNvSpPr/>
          <p:nvPr/>
        </p:nvSpPr>
        <p:spPr>
          <a:xfrm>
            <a:off x="6318504" y="1892808"/>
            <a:ext cx="2395728" cy="502920"/>
          </a:xfrm>
          <a:prstGeom prst="roundRect">
            <a:avLst>
              <a:gd name="adj" fmla="val 21818"/>
            </a:avLst>
          </a:prstGeom>
          <a:solidFill>
            <a:srgbClr val="FFFFFF"/>
          </a:solidFill>
          <a:ln w="9525">
            <a:solidFill>
              <a:srgbClr val="D5DED9"/>
            </a:solidFill>
            <a:prstDash val="solid"/>
          </a:ln>
        </p:spPr>
      </p:sp>
      <p:sp>
        <p:nvSpPr>
          <p:cNvPr id="32" name="Text 30"/>
          <p:cNvSpPr txBox="1"/>
          <p:nvPr/>
        </p:nvSpPr>
        <p:spPr>
          <a:xfrm>
            <a:off x="6409944" y="1911096"/>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timeseries.py</a:t>
            </a:r>
            <a:endParaRPr lang="en-US" sz="1200" dirty="0"/>
          </a:p>
        </p:txBody>
      </p:sp>
      <p:sp>
        <p:nvSpPr>
          <p:cNvPr id="33" name="Text 31"/>
          <p:cNvSpPr txBox="1"/>
          <p:nvPr/>
        </p:nvSpPr>
        <p:spPr>
          <a:xfrm>
            <a:off x="6409944" y="2139696"/>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STL, anomalies, ruptures</a:t>
            </a:r>
            <a:endParaRPr lang="en-US" sz="1150" dirty="0"/>
          </a:p>
        </p:txBody>
      </p:sp>
      <p:sp>
        <p:nvSpPr>
          <p:cNvPr id="34" name="Shape 32"/>
          <p:cNvSpPr/>
          <p:nvPr/>
        </p:nvSpPr>
        <p:spPr>
          <a:xfrm>
            <a:off x="6318504" y="2468880"/>
            <a:ext cx="2395728" cy="502920"/>
          </a:xfrm>
          <a:prstGeom prst="roundRect">
            <a:avLst>
              <a:gd name="adj" fmla="val 21818"/>
            </a:avLst>
          </a:prstGeom>
          <a:solidFill>
            <a:srgbClr val="FFFFFF"/>
          </a:solidFill>
          <a:ln w="9525">
            <a:solidFill>
              <a:srgbClr val="D5DED9"/>
            </a:solidFill>
            <a:prstDash val="solid"/>
          </a:ln>
        </p:spPr>
      </p:sp>
      <p:sp>
        <p:nvSpPr>
          <p:cNvPr id="35" name="Text 33"/>
          <p:cNvSpPr txBox="1"/>
          <p:nvPr/>
        </p:nvSpPr>
        <p:spPr>
          <a:xfrm>
            <a:off x="6409944" y="2487168"/>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indicators.py</a:t>
            </a:r>
            <a:endParaRPr lang="en-US" sz="1200" dirty="0"/>
          </a:p>
        </p:txBody>
      </p:sp>
      <p:sp>
        <p:nvSpPr>
          <p:cNvPr id="36" name="Text 34"/>
          <p:cNvSpPr txBox="1"/>
          <p:nvPr/>
        </p:nvSpPr>
        <p:spPr>
          <a:xfrm>
            <a:off x="6409944" y="2715768"/>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Theil–Sen, Gini, Theil, HHI</a:t>
            </a:r>
            <a:endParaRPr lang="en-US" sz="1150" dirty="0"/>
          </a:p>
        </p:txBody>
      </p:sp>
      <p:sp>
        <p:nvSpPr>
          <p:cNvPr id="37" name="Shape 35"/>
          <p:cNvSpPr/>
          <p:nvPr/>
        </p:nvSpPr>
        <p:spPr>
          <a:xfrm>
            <a:off x="6318504" y="3044952"/>
            <a:ext cx="2395728" cy="502920"/>
          </a:xfrm>
          <a:prstGeom prst="roundRect">
            <a:avLst>
              <a:gd name="adj" fmla="val 21818"/>
            </a:avLst>
          </a:prstGeom>
          <a:solidFill>
            <a:srgbClr val="FFFFFF"/>
          </a:solidFill>
          <a:ln w="9525">
            <a:solidFill>
              <a:srgbClr val="D5DED9"/>
            </a:solidFill>
            <a:prstDash val="solid"/>
          </a:ln>
        </p:spPr>
      </p:sp>
      <p:sp>
        <p:nvSpPr>
          <p:cNvPr id="38" name="Text 36"/>
          <p:cNvSpPr txBox="1"/>
          <p:nvPr/>
        </p:nvSpPr>
        <p:spPr>
          <a:xfrm>
            <a:off x="6409944" y="3063240"/>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econometrics.py</a:t>
            </a:r>
            <a:endParaRPr lang="en-US" sz="1200" dirty="0"/>
          </a:p>
        </p:txBody>
      </p:sp>
      <p:sp>
        <p:nvSpPr>
          <p:cNvPr id="39" name="Text 37"/>
          <p:cNvSpPr txBox="1"/>
          <p:nvPr/>
        </p:nvSpPr>
        <p:spPr>
          <a:xfrm>
            <a:off x="6409944" y="3291840"/>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élasticité, nowcast</a:t>
            </a:r>
            <a:endParaRPr lang="en-US" sz="1150" dirty="0"/>
          </a:p>
        </p:txBody>
      </p:sp>
      <p:sp>
        <p:nvSpPr>
          <p:cNvPr id="40" name="Shape 38"/>
          <p:cNvSpPr/>
          <p:nvPr/>
        </p:nvSpPr>
        <p:spPr>
          <a:xfrm>
            <a:off x="6318504" y="3621024"/>
            <a:ext cx="2395728" cy="502920"/>
          </a:xfrm>
          <a:prstGeom prst="roundRect">
            <a:avLst>
              <a:gd name="adj" fmla="val 21818"/>
            </a:avLst>
          </a:prstGeom>
          <a:solidFill>
            <a:srgbClr val="FFFFFF"/>
          </a:solidFill>
          <a:ln w="9525">
            <a:solidFill>
              <a:srgbClr val="D5DED9"/>
            </a:solidFill>
            <a:prstDash val="solid"/>
          </a:ln>
        </p:spPr>
      </p:sp>
      <p:sp>
        <p:nvSpPr>
          <p:cNvPr id="41" name="Text 39"/>
          <p:cNvSpPr txBox="1"/>
          <p:nvPr/>
        </p:nvSpPr>
        <p:spPr>
          <a:xfrm>
            <a:off x="6409944" y="3639312"/>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shocks.py</a:t>
            </a:r>
            <a:endParaRPr lang="en-US" sz="1200" dirty="0"/>
          </a:p>
        </p:txBody>
      </p:sp>
      <p:sp>
        <p:nvSpPr>
          <p:cNvPr id="42" name="Text 40"/>
          <p:cNvSpPr txBox="1"/>
          <p:nvPr/>
        </p:nvSpPr>
        <p:spPr>
          <a:xfrm>
            <a:off x="6409944" y="3867912"/>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événements, impacts</a:t>
            </a:r>
            <a:endParaRPr lang="en-US" sz="1150" dirty="0"/>
          </a:p>
        </p:txBody>
      </p:sp>
      <p:sp>
        <p:nvSpPr>
          <p:cNvPr id="43" name="Shape 41"/>
          <p:cNvSpPr/>
          <p:nvPr/>
        </p:nvSpPr>
        <p:spPr>
          <a:xfrm>
            <a:off x="6318504" y="4197096"/>
            <a:ext cx="2395728" cy="502920"/>
          </a:xfrm>
          <a:prstGeom prst="roundRect">
            <a:avLst>
              <a:gd name="adj" fmla="val 21818"/>
            </a:avLst>
          </a:prstGeom>
          <a:solidFill>
            <a:srgbClr val="FFFFFF"/>
          </a:solidFill>
          <a:ln w="9525">
            <a:solidFill>
              <a:srgbClr val="D5DED9"/>
            </a:solidFill>
            <a:prstDash val="solid"/>
          </a:ln>
        </p:spPr>
      </p:sp>
      <p:sp>
        <p:nvSpPr>
          <p:cNvPr id="44" name="Text 42"/>
          <p:cNvSpPr txBox="1"/>
          <p:nvPr/>
        </p:nvSpPr>
        <p:spPr>
          <a:xfrm>
            <a:off x="6409944" y="4215384"/>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pipeline.py</a:t>
            </a:r>
            <a:endParaRPr lang="en-US" sz="1200" dirty="0"/>
          </a:p>
        </p:txBody>
      </p:sp>
      <p:sp>
        <p:nvSpPr>
          <p:cNvPr id="45" name="Text 43"/>
          <p:cNvSpPr txBox="1"/>
          <p:nvPr/>
        </p:nvSpPr>
        <p:spPr>
          <a:xfrm>
            <a:off x="6409944" y="4443984"/>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orchestration</a:t>
            </a:r>
            <a:endParaRPr lang="en-US" sz="1150" dirty="0"/>
          </a:p>
        </p:txBody>
      </p:sp>
      <p:sp>
        <p:nvSpPr>
          <p:cNvPr id="46" name="Shape 44"/>
          <p:cNvSpPr/>
          <p:nvPr/>
        </p:nvSpPr>
        <p:spPr>
          <a:xfrm>
            <a:off x="8997696" y="1417320"/>
            <a:ext cx="2670048" cy="3429000"/>
          </a:xfrm>
          <a:prstGeom prst="roundRect">
            <a:avLst>
              <a:gd name="adj" fmla="val 4110"/>
            </a:avLst>
          </a:prstGeom>
          <a:solidFill>
            <a:srgbClr val="FDF6E3"/>
          </a:solidFill>
          <a:ln w="9525">
            <a:solidFill>
              <a:srgbClr val="FDF6E3"/>
            </a:solidFill>
            <a:prstDash val="solid"/>
          </a:ln>
        </p:spPr>
      </p:sp>
      <p:sp>
        <p:nvSpPr>
          <p:cNvPr id="47" name="Text 45"/>
          <p:cNvSpPr txBox="1"/>
          <p:nvPr/>
        </p:nvSpPr>
        <p:spPr>
          <a:xfrm>
            <a:off x="9134856" y="1481328"/>
            <a:ext cx="23774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B7791F"/>
                </a:solidFill>
              </a:rPr>
              <a:t>Restitution</a:t>
            </a:r>
            <a:endParaRPr lang="en-US" sz="1500" dirty="0"/>
          </a:p>
        </p:txBody>
      </p:sp>
      <p:sp>
        <p:nvSpPr>
          <p:cNvPr id="48" name="Shape 46"/>
          <p:cNvSpPr/>
          <p:nvPr/>
        </p:nvSpPr>
        <p:spPr>
          <a:xfrm>
            <a:off x="9134856" y="1892808"/>
            <a:ext cx="2395728" cy="502920"/>
          </a:xfrm>
          <a:prstGeom prst="roundRect">
            <a:avLst>
              <a:gd name="adj" fmla="val 21818"/>
            </a:avLst>
          </a:prstGeom>
          <a:solidFill>
            <a:srgbClr val="FFFFFF"/>
          </a:solidFill>
          <a:ln w="9525">
            <a:solidFill>
              <a:srgbClr val="D5DED9"/>
            </a:solidFill>
            <a:prstDash val="solid"/>
          </a:ln>
        </p:spPr>
      </p:sp>
      <p:sp>
        <p:nvSpPr>
          <p:cNvPr id="49" name="Text 47"/>
          <p:cNvSpPr txBox="1"/>
          <p:nvPr/>
        </p:nvSpPr>
        <p:spPr>
          <a:xfrm>
            <a:off x="9226296" y="1911096"/>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B7791F"/>
                </a:solidFill>
                <a:latin typeface="Courier New" pitchFamily="34" charset="0"/>
                <a:ea typeface="Courier New" pitchFamily="34" charset="-122"/>
                <a:cs typeface="Courier New" pitchFamily="34" charset="-120"/>
              </a:rPr>
              <a:t>viz.py</a:t>
            </a:r>
            <a:endParaRPr lang="en-US" sz="1200" dirty="0"/>
          </a:p>
        </p:txBody>
      </p:sp>
      <p:sp>
        <p:nvSpPr>
          <p:cNvPr id="50" name="Text 48"/>
          <p:cNvSpPr txBox="1"/>
          <p:nvPr/>
        </p:nvSpPr>
        <p:spPr>
          <a:xfrm>
            <a:off x="9226296" y="2139696"/>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graphiques, cartes</a:t>
            </a:r>
            <a:endParaRPr lang="en-US" sz="1150" dirty="0"/>
          </a:p>
        </p:txBody>
      </p:sp>
      <p:sp>
        <p:nvSpPr>
          <p:cNvPr id="51" name="Shape 49"/>
          <p:cNvSpPr/>
          <p:nvPr/>
        </p:nvSpPr>
        <p:spPr>
          <a:xfrm>
            <a:off x="9134856" y="2468880"/>
            <a:ext cx="2395728" cy="502920"/>
          </a:xfrm>
          <a:prstGeom prst="roundRect">
            <a:avLst>
              <a:gd name="adj" fmla="val 21818"/>
            </a:avLst>
          </a:prstGeom>
          <a:solidFill>
            <a:srgbClr val="FFFFFF"/>
          </a:solidFill>
          <a:ln w="9525">
            <a:solidFill>
              <a:srgbClr val="D5DED9"/>
            </a:solidFill>
            <a:prstDash val="solid"/>
          </a:ln>
        </p:spPr>
      </p:sp>
      <p:sp>
        <p:nvSpPr>
          <p:cNvPr id="52" name="Text 50"/>
          <p:cNvSpPr txBox="1"/>
          <p:nvPr/>
        </p:nvSpPr>
        <p:spPr>
          <a:xfrm>
            <a:off x="9226296" y="2487168"/>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B7791F"/>
                </a:solidFill>
                <a:latin typeface="Courier New" pitchFamily="34" charset="0"/>
                <a:ea typeface="Courier New" pitchFamily="34" charset="-122"/>
                <a:cs typeface="Courier New" pitchFamily="34" charset="-120"/>
              </a:rPr>
              <a:t>messages.py</a:t>
            </a:r>
            <a:endParaRPr lang="en-US" sz="1200" dirty="0"/>
          </a:p>
        </p:txBody>
      </p:sp>
      <p:sp>
        <p:nvSpPr>
          <p:cNvPr id="53" name="Text 51"/>
          <p:cNvSpPr txBox="1"/>
          <p:nvPr/>
        </p:nvSpPr>
        <p:spPr>
          <a:xfrm>
            <a:off x="9226296" y="2715768"/>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messages, confiance</a:t>
            </a:r>
            <a:endParaRPr lang="en-US" sz="1150" dirty="0"/>
          </a:p>
        </p:txBody>
      </p:sp>
      <p:sp>
        <p:nvSpPr>
          <p:cNvPr id="54" name="Shape 52"/>
          <p:cNvSpPr/>
          <p:nvPr/>
        </p:nvSpPr>
        <p:spPr>
          <a:xfrm>
            <a:off x="9134856" y="3044952"/>
            <a:ext cx="2395728" cy="502920"/>
          </a:xfrm>
          <a:prstGeom prst="roundRect">
            <a:avLst>
              <a:gd name="adj" fmla="val 21818"/>
            </a:avLst>
          </a:prstGeom>
          <a:solidFill>
            <a:srgbClr val="FFFFFF"/>
          </a:solidFill>
          <a:ln w="9525">
            <a:solidFill>
              <a:srgbClr val="D5DED9"/>
            </a:solidFill>
            <a:prstDash val="solid"/>
          </a:ln>
        </p:spPr>
      </p:sp>
      <p:sp>
        <p:nvSpPr>
          <p:cNvPr id="55" name="Text 53"/>
          <p:cNvSpPr txBox="1"/>
          <p:nvPr/>
        </p:nvSpPr>
        <p:spPr>
          <a:xfrm>
            <a:off x="9226296" y="3063240"/>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B7791F"/>
                </a:solidFill>
                <a:latin typeface="Courier New" pitchFamily="34" charset="0"/>
                <a:ea typeface="Courier New" pitchFamily="34" charset="-122"/>
                <a:cs typeface="Courier New" pitchFamily="34" charset="-120"/>
              </a:rPr>
              <a:t>export.py</a:t>
            </a:r>
            <a:endParaRPr lang="en-US" sz="1200" dirty="0"/>
          </a:p>
        </p:txBody>
      </p:sp>
      <p:sp>
        <p:nvSpPr>
          <p:cNvPr id="56" name="Text 54"/>
          <p:cNvSpPr txBox="1"/>
          <p:nvPr/>
        </p:nvSpPr>
        <p:spPr>
          <a:xfrm>
            <a:off x="9226296" y="3291840"/>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fichiers statiques</a:t>
            </a:r>
            <a:endParaRPr lang="en-US" sz="1150" dirty="0"/>
          </a:p>
        </p:txBody>
      </p:sp>
      <p:sp>
        <p:nvSpPr>
          <p:cNvPr id="57" name="Shape 55"/>
          <p:cNvSpPr/>
          <p:nvPr/>
        </p:nvSpPr>
        <p:spPr>
          <a:xfrm>
            <a:off x="9134856" y="3621024"/>
            <a:ext cx="2395728" cy="502920"/>
          </a:xfrm>
          <a:prstGeom prst="roundRect">
            <a:avLst>
              <a:gd name="adj" fmla="val 21818"/>
            </a:avLst>
          </a:prstGeom>
          <a:solidFill>
            <a:srgbClr val="FFFFFF"/>
          </a:solidFill>
          <a:ln w="9525">
            <a:solidFill>
              <a:srgbClr val="D5DED9"/>
            </a:solidFill>
            <a:prstDash val="solid"/>
          </a:ln>
        </p:spPr>
      </p:sp>
      <p:sp>
        <p:nvSpPr>
          <p:cNvPr id="58" name="Text 56"/>
          <p:cNvSpPr txBox="1"/>
          <p:nvPr/>
        </p:nvSpPr>
        <p:spPr>
          <a:xfrm>
            <a:off x="9226296" y="3639312"/>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B7791F"/>
                </a:solidFill>
                <a:latin typeface="Courier New" pitchFamily="34" charset="0"/>
                <a:ea typeface="Courier New" pitchFamily="34" charset="-122"/>
                <a:cs typeface="Courier New" pitchFamily="34" charset="-120"/>
              </a:rPr>
              <a:t>publish.py</a:t>
            </a:r>
            <a:endParaRPr lang="en-US" sz="1200" dirty="0"/>
          </a:p>
        </p:txBody>
      </p:sp>
      <p:sp>
        <p:nvSpPr>
          <p:cNvPr id="59" name="Text 57"/>
          <p:cNvSpPr txBox="1"/>
          <p:nvPr/>
        </p:nvSpPr>
        <p:spPr>
          <a:xfrm>
            <a:off x="9226296" y="3867912"/>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GitHub Pages</a:t>
            </a:r>
            <a:endParaRPr lang="en-US" sz="1150" dirty="0"/>
          </a:p>
        </p:txBody>
      </p:sp>
      <p:sp>
        <p:nvSpPr>
          <p:cNvPr id="60" name="Shape 58"/>
          <p:cNvSpPr/>
          <p:nvPr/>
        </p:nvSpPr>
        <p:spPr>
          <a:xfrm>
            <a:off x="548640" y="5029200"/>
            <a:ext cx="5486400" cy="1097280"/>
          </a:xfrm>
          <a:prstGeom prst="roundRect">
            <a:avLst>
              <a:gd name="adj" fmla="val 10000"/>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61" name="Shape 59"/>
          <p:cNvSpPr/>
          <p:nvPr/>
        </p:nvSpPr>
        <p:spPr>
          <a:xfrm>
            <a:off x="731520" y="5193792"/>
            <a:ext cx="731520" cy="731520"/>
          </a:xfrm>
          <a:prstGeom prst="ellipse">
            <a:avLst/>
          </a:prstGeom>
          <a:solidFill>
            <a:srgbClr val="00704A"/>
          </a:solidFill>
          <a:ln w="12700">
            <a:solidFill>
              <a:srgbClr val="00704A"/>
            </a:solidFill>
            <a:prstDash val="solid"/>
          </a:ln>
        </p:spPr>
      </p:sp>
      <p:pic>
        <p:nvPicPr>
          <p:cNvPr id="62" name="Image 0" descr="preencoded.png">    </p:cNvPr>
          <p:cNvPicPr>
            <a:picLocks noChangeAspect="1"/>
          </p:cNvPicPr>
          <p:nvPr/>
        </p:nvPicPr>
        <p:blipFill>
          <a:blip r:embed="rId1"/>
          <a:stretch>
            <a:fillRect/>
          </a:stretch>
        </p:blipFill>
        <p:spPr>
          <a:xfrm>
            <a:off x="907085" y="5369357"/>
            <a:ext cx="380390" cy="380390"/>
          </a:xfrm>
          <a:prstGeom prst="rect">
            <a:avLst/>
          </a:prstGeom>
        </p:spPr>
      </p:pic>
      <p:sp>
        <p:nvSpPr>
          <p:cNvPr id="63" name="Text 60"/>
          <p:cNvSpPr txBox="1"/>
          <p:nvPr/>
        </p:nvSpPr>
        <p:spPr>
          <a:xfrm>
            <a:off x="1600200" y="5102352"/>
            <a:ext cx="4297680" cy="365760"/>
          </a:xfrm>
          <a:prstGeom prst="rect">
            <a:avLst/>
          </a:prstGeom>
          <a:noFill/>
          <a:ln/>
        </p:spPr>
        <p:txBody>
          <a:bodyPr wrap="square" lIns="635" tIns="635" rIns="635" bIns="635" rtlCol="0" anchor="t"/>
          <a:lstStyle/>
          <a:p>
            <a:pPr indent="0" marL="0">
              <a:spcAft>
                <a:spcPts val="200"/>
              </a:spcAft>
              <a:buNone/>
            </a:pPr>
            <a:r>
              <a:rPr lang="en-US" sz="1500" b="1" dirty="0">
                <a:solidFill>
                  <a:srgbClr val="00704A"/>
                </a:solidFill>
              </a:rPr>
              <a:t>Notebook (13 sections)</a:t>
            </a:r>
            <a:endParaRPr lang="en-US" sz="1500" dirty="0"/>
          </a:p>
        </p:txBody>
      </p:sp>
      <p:sp>
        <p:nvSpPr>
          <p:cNvPr id="64" name="Text 61"/>
          <p:cNvSpPr txBox="1"/>
          <p:nvPr/>
        </p:nvSpPr>
        <p:spPr>
          <a:xfrm>
            <a:off x="1600200" y="5449824"/>
            <a:ext cx="4297680" cy="5943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Colab · Kaggle · Jupyter ; code src/ embarqué, auto-décompressé</a:t>
            </a:r>
            <a:endParaRPr lang="en-US" sz="1300" dirty="0"/>
          </a:p>
        </p:txBody>
      </p:sp>
      <p:sp>
        <p:nvSpPr>
          <p:cNvPr id="65" name="Shape 62"/>
          <p:cNvSpPr/>
          <p:nvPr/>
        </p:nvSpPr>
        <p:spPr>
          <a:xfrm>
            <a:off x="6172200" y="5029200"/>
            <a:ext cx="5486400" cy="1097280"/>
          </a:xfrm>
          <a:prstGeom prst="roundRect">
            <a:avLst>
              <a:gd name="adj" fmla="val 10000"/>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66" name="Shape 63"/>
          <p:cNvSpPr/>
          <p:nvPr/>
        </p:nvSpPr>
        <p:spPr>
          <a:xfrm>
            <a:off x="6355080" y="5193792"/>
            <a:ext cx="731520" cy="731520"/>
          </a:xfrm>
          <a:prstGeom prst="ellipse">
            <a:avLst/>
          </a:prstGeom>
          <a:solidFill>
            <a:srgbClr val="1F4E8C"/>
          </a:solidFill>
          <a:ln w="12700">
            <a:solidFill>
              <a:srgbClr val="1F4E8C"/>
            </a:solidFill>
            <a:prstDash val="solid"/>
          </a:ln>
        </p:spPr>
      </p:sp>
      <p:pic>
        <p:nvPicPr>
          <p:cNvPr id="67" name="Image 1" descr="preencoded.png">    </p:cNvPr>
          <p:cNvPicPr>
            <a:picLocks noChangeAspect="1"/>
          </p:cNvPicPr>
          <p:nvPr/>
        </p:nvPicPr>
        <p:blipFill>
          <a:blip r:embed="rId2"/>
          <a:stretch>
            <a:fillRect/>
          </a:stretch>
        </p:blipFill>
        <p:spPr>
          <a:xfrm>
            <a:off x="6530645" y="5369357"/>
            <a:ext cx="380390" cy="380390"/>
          </a:xfrm>
          <a:prstGeom prst="rect">
            <a:avLst/>
          </a:prstGeom>
        </p:spPr>
      </p:pic>
      <p:sp>
        <p:nvSpPr>
          <p:cNvPr id="68" name="Text 64"/>
          <p:cNvSpPr txBox="1"/>
          <p:nvPr/>
        </p:nvSpPr>
        <p:spPr>
          <a:xfrm>
            <a:off x="7223760" y="5102352"/>
            <a:ext cx="4297680" cy="365760"/>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Tableau de bord (8 pages)</a:t>
            </a:r>
            <a:endParaRPr lang="en-US" sz="1500" dirty="0"/>
          </a:p>
        </p:txBody>
      </p:sp>
      <p:sp>
        <p:nvSpPr>
          <p:cNvPr id="69" name="Text 65"/>
          <p:cNvSpPr txBox="1"/>
          <p:nvPr/>
        </p:nvSpPr>
        <p:spPr>
          <a:xfrm>
            <a:off x="7223760" y="5449824"/>
            <a:ext cx="4297680" cy="5943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HTML + JavaScript statique, données dans dashboard/data/&lt;ISO3&gt;/</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C · ARCHITECTURE ET PIPELINE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Une seule cellule à modifier</a:t>
            </a:r>
            <a:endParaRPr lang="en-US" sz="2800" dirty="0"/>
          </a:p>
        </p:txBody>
      </p:sp>
      <p:sp>
        <p:nvSpPr>
          <p:cNvPr id="4" name="Shape 2"/>
          <p:cNvSpPr/>
          <p:nvPr/>
        </p:nvSpPr>
        <p:spPr>
          <a:xfrm>
            <a:off x="548640" y="1417320"/>
            <a:ext cx="6400800" cy="4663440"/>
          </a:xfrm>
          <a:prstGeom prst="roundRect">
            <a:avLst>
              <a:gd name="adj" fmla="val 2353"/>
            </a:avLst>
          </a:prstGeom>
          <a:solidFill>
            <a:srgbClr val="1E293B"/>
          </a:solidFill>
          <a:ln w="9525">
            <a:solidFill>
              <a:srgbClr val="1E293B"/>
            </a:solidFill>
            <a:prstDash val="solid"/>
          </a:ln>
          <a:effectLst>
            <a:outerShdw sx="100000" sy="100000" kx="0" ky="0" algn="bl" rotWithShape="0" blurRad="101600" dist="25400" dir="5400000">
              <a:srgbClr val="9CA3AF">
                <a:alpha val="25000"/>
              </a:srgbClr>
            </a:outerShdw>
          </a:effectLst>
        </p:spPr>
      </p:sp>
      <p:sp>
        <p:nvSpPr>
          <p:cNvPr id="5" name="Text 3"/>
          <p:cNvSpPr txBox="1"/>
          <p:nvPr/>
        </p:nvSpPr>
        <p:spPr>
          <a:xfrm>
            <a:off x="777240" y="1600200"/>
            <a:ext cx="6035040" cy="4343400"/>
          </a:xfrm>
          <a:prstGeom prst="rect">
            <a:avLst/>
          </a:prstGeom>
          <a:noFill/>
          <a:ln/>
        </p:spPr>
        <p:txBody>
          <a:bodyPr wrap="square" lIns="635" tIns="635" rIns="635" bIns="635" rtlCol="0" anchor="t"/>
          <a:lstStyle/>
          <a:p>
            <a:pPr indent="0" marL="0">
              <a:buNone/>
            </a:pPr>
            <a:r>
              <a:rPr lang="en-US" sz="1300" dirty="0">
                <a:solidFill>
                  <a:srgbClr val="94A3B8"/>
                </a:solidFill>
                <a:latin typeface="Courier New" pitchFamily="34" charset="0"/>
                <a:ea typeface="Courier New" pitchFamily="34" charset="-122"/>
                <a:cs typeface="Courier New" pitchFamily="34" charset="-120"/>
              </a:rPr>
              <a:t># ⚙️  PARAMÈTRES — la seule cellule à modifier</a:t>
            </a:r>
            <a:endParaRPr lang="en-US" sz="1300" dirty="0"/>
          </a:p>
          <a:p>
            <a:pPr indent="0" marL="0">
              <a:buNone/>
            </a:pPr>
            <a:r>
              <a:rPr lang="en-US" sz="1300" dirty="0">
                <a:solidFill>
                  <a:srgbClr val="F5C242"/>
                </a:solidFill>
                <a:latin typeface="Courier New" pitchFamily="34" charset="0"/>
                <a:ea typeface="Courier New" pitchFamily="34" charset="-122"/>
                <a:cs typeface="Courier New" pitchFamily="34" charset="-120"/>
              </a:rPr>
              <a:t>ISO3 = "TUN"</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START_YEAR = 2014</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END_YEAR = None        # dernière année complète</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ADMIN_LEVELS = ("ADM1", "ADM2")</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GEE_PROJECT = None     # projet Google Cloud</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FORCE_DOWNLOAD = False # ignorer le cache</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CUSTOM_EVENTS = [      # chocs propres au pays</a:t>
            </a:r>
            <a:endParaRPr lang="en-US" sz="1300" dirty="0"/>
          </a:p>
          <a:p>
            <a:pPr indent="0" marL="0">
              <a:buNone/>
            </a:pPr>
            <a:r>
              <a:rPr lang="en-US" sz="1300" dirty="0">
                <a:solidFill>
                  <a:srgbClr val="86EFAC"/>
                </a:solidFill>
                <a:latin typeface="Courier New" pitchFamily="34" charset="0"/>
                <a:ea typeface="Courier New" pitchFamily="34" charset="-122"/>
                <a:cs typeface="Courier New" pitchFamily="34" charset="-120"/>
              </a:rPr>
              <a:t>  {"label": "Cyclone X", "start": "2019-03-01",</a:t>
            </a:r>
            <a:endParaRPr lang="en-US" sz="1300" dirty="0"/>
          </a:p>
          <a:p>
            <a:pPr indent="0" marL="0">
              <a:buNone/>
            </a:pPr>
            <a:r>
              <a:rPr lang="en-US" sz="1300" dirty="0">
                <a:solidFill>
                  <a:srgbClr val="86EFAC"/>
                </a:solidFill>
                <a:latin typeface="Courier New" pitchFamily="34" charset="0"/>
                <a:ea typeface="Courier New" pitchFamily="34" charset="-122"/>
                <a:cs typeface="Courier New" pitchFamily="34" charset="-120"/>
              </a:rPr>
              <a:t>   "end": "2019-05-31", "type": "catastrophe"},</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PUBLISH = False        # True -&gt; GitHub Pages</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REPO_NAME = "ntl-dashboard"</a:t>
            </a:r>
            <a:endParaRPr lang="en-US" sz="1300" dirty="0"/>
          </a:p>
        </p:txBody>
      </p:sp>
      <p:sp>
        <p:nvSpPr>
          <p:cNvPr id="6" name="Shape 4"/>
          <p:cNvSpPr/>
          <p:nvPr/>
        </p:nvSpPr>
        <p:spPr>
          <a:xfrm>
            <a:off x="7269480" y="1463040"/>
            <a:ext cx="594360" cy="594360"/>
          </a:xfrm>
          <a:prstGeom prst="ellipse">
            <a:avLst/>
          </a:prstGeom>
          <a:solidFill>
            <a:srgbClr val="00704A"/>
          </a:solidFill>
          <a:ln w="12700">
            <a:solidFill>
              <a:srgbClr val="00704A"/>
            </a:solidFill>
            <a:prstDash val="solid"/>
          </a:ln>
        </p:spPr>
      </p:sp>
      <p:pic>
        <p:nvPicPr>
          <p:cNvPr id="7" name="Image 0" descr="preencoded.png">    </p:cNvPr>
          <p:cNvPicPr>
            <a:picLocks noChangeAspect="1"/>
          </p:cNvPicPr>
          <p:nvPr/>
        </p:nvPicPr>
        <p:blipFill>
          <a:blip r:embed="rId1"/>
          <a:stretch>
            <a:fillRect/>
          </a:stretch>
        </p:blipFill>
        <p:spPr>
          <a:xfrm>
            <a:off x="7412126" y="1605686"/>
            <a:ext cx="309067" cy="309067"/>
          </a:xfrm>
          <a:prstGeom prst="rect">
            <a:avLst/>
          </a:prstGeom>
        </p:spPr>
      </p:pic>
      <p:sp>
        <p:nvSpPr>
          <p:cNvPr id="8" name="Text 5"/>
          <p:cNvSpPr txBox="1"/>
          <p:nvPr/>
        </p:nvSpPr>
        <p:spPr>
          <a:xfrm>
            <a:off x="8001000" y="1417320"/>
            <a:ext cx="365760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ISO3</a:t>
            </a:r>
            <a:endParaRPr lang="en-US" sz="1500" dirty="0"/>
          </a:p>
        </p:txBody>
      </p:sp>
      <p:sp>
        <p:nvSpPr>
          <p:cNvPr id="9" name="Text 6"/>
          <p:cNvSpPr txBox="1"/>
          <p:nvPr/>
        </p:nvSpPr>
        <p:spPr>
          <a:xfrm>
            <a:off x="8001000" y="1764792"/>
            <a:ext cx="3657600" cy="7772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code pays à 3 lettres (ISO 3166-1). TUN = Tunisie, SEN = Sénégal, KEN = Kenya…</a:t>
            </a:r>
            <a:endParaRPr lang="en-US" sz="1300" dirty="0"/>
          </a:p>
        </p:txBody>
      </p:sp>
      <p:sp>
        <p:nvSpPr>
          <p:cNvPr id="10" name="Shape 7"/>
          <p:cNvSpPr/>
          <p:nvPr/>
        </p:nvSpPr>
        <p:spPr>
          <a:xfrm>
            <a:off x="7269480" y="2651760"/>
            <a:ext cx="594360" cy="594360"/>
          </a:xfrm>
          <a:prstGeom prst="ellipse">
            <a:avLst/>
          </a:prstGeom>
          <a:solidFill>
            <a:srgbClr val="00704A"/>
          </a:solidFill>
          <a:ln w="12700">
            <a:solidFill>
              <a:srgbClr val="00704A"/>
            </a:solidFill>
            <a:prstDash val="solid"/>
          </a:ln>
        </p:spPr>
      </p:sp>
      <p:pic>
        <p:nvPicPr>
          <p:cNvPr id="11" name="Image 1" descr="preencoded.png">    </p:cNvPr>
          <p:cNvPicPr>
            <a:picLocks noChangeAspect="1"/>
          </p:cNvPicPr>
          <p:nvPr/>
        </p:nvPicPr>
        <p:blipFill>
          <a:blip r:embed="rId2"/>
          <a:stretch>
            <a:fillRect/>
          </a:stretch>
        </p:blipFill>
        <p:spPr>
          <a:xfrm>
            <a:off x="7412126" y="2794406"/>
            <a:ext cx="309067" cy="309067"/>
          </a:xfrm>
          <a:prstGeom prst="rect">
            <a:avLst/>
          </a:prstGeom>
        </p:spPr>
      </p:pic>
      <p:sp>
        <p:nvSpPr>
          <p:cNvPr id="12" name="Text 8"/>
          <p:cNvSpPr txBox="1"/>
          <p:nvPr/>
        </p:nvSpPr>
        <p:spPr>
          <a:xfrm>
            <a:off x="8001000" y="2606040"/>
            <a:ext cx="365760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ADM1 / ADM2</a:t>
            </a:r>
            <a:endParaRPr lang="en-US" sz="1500" dirty="0"/>
          </a:p>
        </p:txBody>
      </p:sp>
      <p:sp>
        <p:nvSpPr>
          <p:cNvPr id="13" name="Text 9"/>
          <p:cNvSpPr txBox="1"/>
          <p:nvPr/>
        </p:nvSpPr>
        <p:spPr>
          <a:xfrm>
            <a:off x="8001000" y="2953512"/>
            <a:ext cx="3657600" cy="7772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1er et 2e niveaux administratifs : régions, puis districts</a:t>
            </a:r>
            <a:endParaRPr lang="en-US" sz="1300" dirty="0"/>
          </a:p>
        </p:txBody>
      </p:sp>
      <p:sp>
        <p:nvSpPr>
          <p:cNvPr id="14" name="Shape 10"/>
          <p:cNvSpPr/>
          <p:nvPr/>
        </p:nvSpPr>
        <p:spPr>
          <a:xfrm>
            <a:off x="7269480" y="3840480"/>
            <a:ext cx="594360" cy="594360"/>
          </a:xfrm>
          <a:prstGeom prst="ellipse">
            <a:avLst/>
          </a:prstGeom>
          <a:solidFill>
            <a:srgbClr val="B7791F"/>
          </a:solidFill>
          <a:ln w="12700">
            <a:solidFill>
              <a:srgbClr val="B7791F"/>
            </a:solidFill>
            <a:prstDash val="solid"/>
          </a:ln>
        </p:spPr>
      </p:sp>
      <p:pic>
        <p:nvPicPr>
          <p:cNvPr id="15" name="Image 2" descr="preencoded.png">    </p:cNvPr>
          <p:cNvPicPr>
            <a:picLocks noChangeAspect="1"/>
          </p:cNvPicPr>
          <p:nvPr/>
        </p:nvPicPr>
        <p:blipFill>
          <a:blip r:embed="rId3"/>
          <a:stretch>
            <a:fillRect/>
          </a:stretch>
        </p:blipFill>
        <p:spPr>
          <a:xfrm>
            <a:off x="7412126" y="3983126"/>
            <a:ext cx="309067" cy="309067"/>
          </a:xfrm>
          <a:prstGeom prst="rect">
            <a:avLst/>
          </a:prstGeom>
        </p:spPr>
      </p:pic>
      <p:sp>
        <p:nvSpPr>
          <p:cNvPr id="16" name="Text 11"/>
          <p:cNvSpPr txBox="1"/>
          <p:nvPr/>
        </p:nvSpPr>
        <p:spPr>
          <a:xfrm>
            <a:off x="8001000" y="3794760"/>
            <a:ext cx="365760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CUSTOM_EVENTS</a:t>
            </a:r>
            <a:endParaRPr lang="en-US" sz="1500" dirty="0"/>
          </a:p>
        </p:txBody>
      </p:sp>
      <p:sp>
        <p:nvSpPr>
          <p:cNvPr id="17" name="Text 12"/>
          <p:cNvSpPr txBox="1"/>
          <p:nvPr/>
        </p:nvSpPr>
        <p:spPr>
          <a:xfrm>
            <a:off x="8001000" y="4142232"/>
            <a:ext cx="3657600" cy="7772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vos chocs connus (cyclone, conflit, crise énergétique) pour la section 8</a:t>
            </a:r>
            <a:endParaRPr lang="en-US" sz="1300" dirty="0"/>
          </a:p>
        </p:txBody>
      </p:sp>
      <p:sp>
        <p:nvSpPr>
          <p:cNvPr id="18" name="Shape 13"/>
          <p:cNvSpPr/>
          <p:nvPr/>
        </p:nvSpPr>
        <p:spPr>
          <a:xfrm>
            <a:off x="7269480" y="5029200"/>
            <a:ext cx="594360" cy="594360"/>
          </a:xfrm>
          <a:prstGeom prst="ellipse">
            <a:avLst/>
          </a:prstGeom>
          <a:solidFill>
            <a:srgbClr val="00704A"/>
          </a:solidFill>
          <a:ln w="12700">
            <a:solidFill>
              <a:srgbClr val="00704A"/>
            </a:solidFill>
            <a:prstDash val="solid"/>
          </a:ln>
        </p:spPr>
      </p:sp>
      <p:pic>
        <p:nvPicPr>
          <p:cNvPr id="19" name="Image 3" descr="preencoded.png">    </p:cNvPr>
          <p:cNvPicPr>
            <a:picLocks noChangeAspect="1"/>
          </p:cNvPicPr>
          <p:nvPr/>
        </p:nvPicPr>
        <p:blipFill>
          <a:blip r:embed="rId4"/>
          <a:stretch>
            <a:fillRect/>
          </a:stretch>
        </p:blipFill>
        <p:spPr>
          <a:xfrm>
            <a:off x="7412126" y="5171846"/>
            <a:ext cx="309067" cy="309067"/>
          </a:xfrm>
          <a:prstGeom prst="rect">
            <a:avLst/>
          </a:prstGeom>
        </p:spPr>
      </p:pic>
      <p:sp>
        <p:nvSpPr>
          <p:cNvPr id="20" name="Text 14"/>
          <p:cNvSpPr txBox="1"/>
          <p:nvPr/>
        </p:nvSpPr>
        <p:spPr>
          <a:xfrm>
            <a:off x="8001000" y="4983480"/>
            <a:ext cx="365760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Autres seuils</a:t>
            </a:r>
            <a:endParaRPr lang="en-US" sz="1500" dirty="0"/>
          </a:p>
        </p:txBody>
      </p:sp>
      <p:sp>
        <p:nvSpPr>
          <p:cNvPr id="21" name="Text 15"/>
          <p:cNvSpPr txBox="1"/>
          <p:nvPr/>
        </p:nvSpPr>
        <p:spPr>
          <a:xfrm>
            <a:off x="8001000" y="5330952"/>
            <a:ext cx="3657600" cy="7772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valeurs par défaut documentées dans src/config.py, modifiables dans NTLConfig(...)</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PRÉTRAITEMENT</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Grandeurs de base : radiance, SoL, lumière par habitant</a:t>
            </a:r>
            <a:endParaRPr lang="en-US" sz="2800" dirty="0"/>
          </a:p>
        </p:txBody>
      </p:sp>
      <p:pic>
        <p:nvPicPr>
          <p:cNvPr id="4" name="Image 0" descr="/tmp/claude-0/-home-claude/8a8742ef-7d0d-54fc-a0c9-7ecbfc9f8b73/scratchpad/deck/real/swiss_monthly.png">    </p:cNvPr>
          <p:cNvPicPr>
            <a:picLocks noChangeAspect="1"/>
          </p:cNvPicPr>
          <p:nvPr/>
        </p:nvPicPr>
        <p:blipFill>
          <a:blip r:embed="rId1"/>
          <a:stretch>
            <a:fillRect/>
          </a:stretch>
        </p:blipFill>
        <p:spPr>
          <a:xfrm>
            <a:off x="548640" y="1380095"/>
            <a:ext cx="6035040" cy="2497609"/>
          </a:xfrm>
          <a:prstGeom prst="rect">
            <a:avLst/>
          </a:prstGeom>
        </p:spPr>
      </p:pic>
      <p:sp>
        <p:nvSpPr>
          <p:cNvPr id="5" name="Text 2"/>
          <p:cNvSpPr txBox="1"/>
          <p:nvPr/>
        </p:nvSpPr>
        <p:spPr>
          <a:xfrm>
            <a:off x="548640" y="3886200"/>
            <a:ext cx="603504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Black Marble mensuel (VNP46A3), Suisse, janvier 2023 — image réelle. Source : blackmarblepy (Banque mondiale, MIT).</a:t>
            </a:r>
            <a:endParaRPr lang="en-US" sz="1000" dirty="0"/>
          </a:p>
        </p:txBody>
      </p:sp>
      <p:sp>
        <p:nvSpPr>
          <p:cNvPr id="6" name="Shape 3"/>
          <p:cNvSpPr/>
          <p:nvPr/>
        </p:nvSpPr>
        <p:spPr>
          <a:xfrm>
            <a:off x="6858000" y="1371600"/>
            <a:ext cx="4800600" cy="1325880"/>
          </a:xfrm>
          <a:prstGeom prst="roundRect">
            <a:avLst>
              <a:gd name="adj" fmla="val 827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7" name="Text 4"/>
          <p:cNvSpPr txBox="1"/>
          <p:nvPr/>
        </p:nvSpPr>
        <p:spPr>
          <a:xfrm>
            <a:off x="7040880" y="1444752"/>
            <a:ext cx="4480560" cy="32004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Radiance d'un pixel</a:t>
            </a:r>
            <a:endParaRPr lang="en-US" sz="1500" dirty="0"/>
          </a:p>
        </p:txBody>
      </p:sp>
      <p:sp>
        <p:nvSpPr>
          <p:cNvPr id="8" name="Shape 5"/>
          <p:cNvSpPr/>
          <p:nvPr/>
        </p:nvSpPr>
        <p:spPr>
          <a:xfrm>
            <a:off x="7040880" y="1801368"/>
            <a:ext cx="4434840" cy="438912"/>
          </a:xfrm>
          <a:prstGeom prst="roundRect">
            <a:avLst>
              <a:gd name="adj" fmla="val 25000"/>
            </a:avLst>
          </a:prstGeom>
          <a:solidFill>
            <a:srgbClr val="EAF2FB"/>
          </a:solidFill>
          <a:ln w="9525">
            <a:solidFill>
              <a:srgbClr val="EAF2FB"/>
            </a:solidFill>
            <a:prstDash val="solid"/>
          </a:ln>
        </p:spPr>
      </p:sp>
      <p:sp>
        <p:nvSpPr>
          <p:cNvPr id="9" name="Text 6"/>
          <p:cNvSpPr txBox="1"/>
          <p:nvPr/>
        </p:nvSpPr>
        <p:spPr>
          <a:xfrm>
            <a:off x="7178040" y="1801368"/>
            <a:ext cx="4160520" cy="438912"/>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r ᵢ  [nW·cm⁻²·sr⁻¹]</a:t>
            </a:r>
            <a:endParaRPr lang="en-US" sz="1500" dirty="0"/>
          </a:p>
        </p:txBody>
      </p:sp>
      <p:sp>
        <p:nvSpPr>
          <p:cNvPr id="10" name="Text 7"/>
          <p:cNvSpPr txBox="1"/>
          <p:nvPr/>
        </p:nvSpPr>
        <p:spPr>
          <a:xfrm>
            <a:off x="7040880" y="2286000"/>
            <a:ext cx="4480560" cy="34747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intensité lumineuse mesurée sur ~500 m</a:t>
            </a:r>
            <a:endParaRPr lang="en-US" sz="1300" dirty="0"/>
          </a:p>
        </p:txBody>
      </p:sp>
      <p:sp>
        <p:nvSpPr>
          <p:cNvPr id="11" name="Shape 8"/>
          <p:cNvSpPr/>
          <p:nvPr/>
        </p:nvSpPr>
        <p:spPr>
          <a:xfrm>
            <a:off x="6858000" y="2852928"/>
            <a:ext cx="4800600" cy="1325880"/>
          </a:xfrm>
          <a:prstGeom prst="roundRect">
            <a:avLst>
              <a:gd name="adj" fmla="val 827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2" name="Text 9"/>
          <p:cNvSpPr txBox="1"/>
          <p:nvPr/>
        </p:nvSpPr>
        <p:spPr>
          <a:xfrm>
            <a:off x="7040880" y="2926080"/>
            <a:ext cx="4480560" cy="32004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Somme des lumières (SoL)</a:t>
            </a:r>
            <a:endParaRPr lang="en-US" sz="1500" dirty="0"/>
          </a:p>
        </p:txBody>
      </p:sp>
      <p:sp>
        <p:nvSpPr>
          <p:cNvPr id="13" name="Shape 10"/>
          <p:cNvSpPr/>
          <p:nvPr/>
        </p:nvSpPr>
        <p:spPr>
          <a:xfrm>
            <a:off x="7040880" y="3282696"/>
            <a:ext cx="4434840" cy="438912"/>
          </a:xfrm>
          <a:prstGeom prst="roundRect">
            <a:avLst>
              <a:gd name="adj" fmla="val 25000"/>
            </a:avLst>
          </a:prstGeom>
          <a:solidFill>
            <a:srgbClr val="EAF2FB"/>
          </a:solidFill>
          <a:ln w="9525">
            <a:solidFill>
              <a:srgbClr val="EAF2FB"/>
            </a:solidFill>
            <a:prstDash val="solid"/>
          </a:ln>
        </p:spPr>
      </p:sp>
      <p:sp>
        <p:nvSpPr>
          <p:cNvPr id="14" name="Text 11"/>
          <p:cNvSpPr txBox="1"/>
          <p:nvPr/>
        </p:nvSpPr>
        <p:spPr>
          <a:xfrm>
            <a:off x="7178040" y="3282696"/>
            <a:ext cx="4160520" cy="438912"/>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SoL = Σ rᵢ   (i ∈ unité)</a:t>
            </a:r>
            <a:endParaRPr lang="en-US" sz="1500" dirty="0"/>
          </a:p>
        </p:txBody>
      </p:sp>
      <p:sp>
        <p:nvSpPr>
          <p:cNvPr id="15" name="Text 12"/>
          <p:cNvSpPr txBox="1"/>
          <p:nvPr/>
        </p:nvSpPr>
        <p:spPr>
          <a:xfrm>
            <a:off x="7040880" y="3767328"/>
            <a:ext cx="4480560" cy="34747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un indice d'activité, pas une énergie</a:t>
            </a:r>
            <a:endParaRPr lang="en-US" sz="1300" dirty="0"/>
          </a:p>
        </p:txBody>
      </p:sp>
      <p:sp>
        <p:nvSpPr>
          <p:cNvPr id="16" name="Shape 13"/>
          <p:cNvSpPr/>
          <p:nvPr/>
        </p:nvSpPr>
        <p:spPr>
          <a:xfrm>
            <a:off x="6858000" y="4334256"/>
            <a:ext cx="4800600" cy="1325880"/>
          </a:xfrm>
          <a:prstGeom prst="roundRect">
            <a:avLst>
              <a:gd name="adj" fmla="val 827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7" name="Text 14"/>
          <p:cNvSpPr txBox="1"/>
          <p:nvPr/>
        </p:nvSpPr>
        <p:spPr>
          <a:xfrm>
            <a:off x="7040880" y="4407408"/>
            <a:ext cx="4480560" cy="32004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Lumière par habitant</a:t>
            </a:r>
            <a:endParaRPr lang="en-US" sz="1500" dirty="0"/>
          </a:p>
        </p:txBody>
      </p:sp>
      <p:sp>
        <p:nvSpPr>
          <p:cNvPr id="18" name="Shape 15"/>
          <p:cNvSpPr/>
          <p:nvPr/>
        </p:nvSpPr>
        <p:spPr>
          <a:xfrm>
            <a:off x="7040880" y="4764024"/>
            <a:ext cx="4434840" cy="438912"/>
          </a:xfrm>
          <a:prstGeom prst="roundRect">
            <a:avLst>
              <a:gd name="adj" fmla="val 25000"/>
            </a:avLst>
          </a:prstGeom>
          <a:solidFill>
            <a:srgbClr val="EAF2FB"/>
          </a:solidFill>
          <a:ln w="9525">
            <a:solidFill>
              <a:srgbClr val="EAF2FB"/>
            </a:solidFill>
            <a:prstDash val="solid"/>
          </a:ln>
        </p:spPr>
      </p:sp>
      <p:sp>
        <p:nvSpPr>
          <p:cNvPr id="19" name="Text 16"/>
          <p:cNvSpPr txBox="1"/>
          <p:nvPr/>
        </p:nvSpPr>
        <p:spPr>
          <a:xfrm>
            <a:off x="7178040" y="4764024"/>
            <a:ext cx="4160520" cy="438912"/>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SoL / population</a:t>
            </a:r>
            <a:endParaRPr lang="en-US" sz="1500" dirty="0"/>
          </a:p>
        </p:txBody>
      </p:sp>
      <p:sp>
        <p:nvSpPr>
          <p:cNvPr id="20" name="Text 17"/>
          <p:cNvSpPr txBox="1"/>
          <p:nvPr/>
        </p:nvSpPr>
        <p:spPr>
          <a:xfrm>
            <a:off x="7040880" y="5248656"/>
            <a:ext cx="4480560" cy="34747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distingue une région active d'une région peuplée</a:t>
            </a:r>
            <a:endParaRPr lang="en-US" sz="1300" dirty="0"/>
          </a:p>
        </p:txBody>
      </p:sp>
      <p:sp>
        <p:nvSpPr>
          <p:cNvPr id="21" name="Shape 18"/>
          <p:cNvSpPr/>
          <p:nvPr/>
        </p:nvSpPr>
        <p:spPr>
          <a:xfrm>
            <a:off x="548640" y="4343400"/>
            <a:ext cx="6035040" cy="914400"/>
          </a:xfrm>
          <a:prstGeom prst="roundRect">
            <a:avLst>
              <a:gd name="adj" fmla="val 12000"/>
            </a:avLst>
          </a:prstGeom>
          <a:solidFill>
            <a:srgbClr val="FDF6E3"/>
          </a:solidFill>
          <a:ln w="9525">
            <a:solidFill>
              <a:srgbClr val="FDF6E3"/>
            </a:solidFill>
            <a:prstDash val="solid"/>
          </a:ln>
        </p:spPr>
      </p:sp>
      <p:sp>
        <p:nvSpPr>
          <p:cNvPr id="22" name="Text 19"/>
          <p:cNvSpPr txBox="1"/>
          <p:nvPr/>
        </p:nvSpPr>
        <p:spPr>
          <a:xfrm>
            <a:off x="685800" y="4416552"/>
            <a:ext cx="5760720" cy="76809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Règle d'or  </a:t>
            </a:r>
            <a:pPr indent="0" marL="0">
              <a:spcAft>
                <a:spcPts val="200"/>
              </a:spcAft>
              <a:buNone/>
            </a:pPr>
            <a:r>
              <a:rPr lang="en-US" sz="1350" dirty="0">
                <a:solidFill>
                  <a:srgbClr val="231F20"/>
                </a:solidFill>
              </a:rPr>
              <a:t>un pixel jamais observé (nuages) n'est pas sombre : il est manquant. Le confondre avec zéro fabrique une fausse récession.</a:t>
            </a:r>
            <a:endParaRPr lang="en-US" sz="1350" dirty="0"/>
          </a:p>
        </p:txBody>
      </p:sp>
      <p:sp>
        <p:nvSpPr>
          <p:cNvPr id="23" name="Shape 20"/>
          <p:cNvSpPr/>
          <p:nvPr/>
        </p:nvSpPr>
        <p:spPr>
          <a:xfrm>
            <a:off x="548640" y="5394960"/>
            <a:ext cx="6035040" cy="777240"/>
          </a:xfrm>
          <a:prstGeom prst="roundRect">
            <a:avLst>
              <a:gd name="adj" fmla="val 14118"/>
            </a:avLst>
          </a:prstGeom>
          <a:solidFill>
            <a:srgbClr val="FBECEC"/>
          </a:solidFill>
          <a:ln w="9525">
            <a:solidFill>
              <a:srgbClr val="FBECEC"/>
            </a:solidFill>
            <a:prstDash val="solid"/>
          </a:ln>
        </p:spPr>
      </p:sp>
      <p:sp>
        <p:nvSpPr>
          <p:cNvPr id="24" name="Text 21"/>
          <p:cNvSpPr txBox="1"/>
          <p:nvPr/>
        </p:nvSpPr>
        <p:spPr>
          <a:xfrm>
            <a:off x="685800" y="5468112"/>
            <a:ext cx="5760720" cy="630936"/>
          </a:xfrm>
          <a:prstGeom prst="rect">
            <a:avLst/>
          </a:prstGeom>
          <a:noFill/>
          <a:ln/>
        </p:spPr>
        <p:txBody>
          <a:bodyPr wrap="square" lIns="635" tIns="635" rIns="635" bIns="635" rtlCol="0" anchor="ctr"/>
          <a:lstStyle/>
          <a:p>
            <a:pPr indent="0" marL="0">
              <a:spcAft>
                <a:spcPts val="200"/>
              </a:spcAft>
              <a:buNone/>
            </a:pPr>
            <a:r>
              <a:rPr lang="en-US" sz="1350" b="1" dirty="0">
                <a:solidFill>
                  <a:srgbClr val="D64545"/>
                </a:solidFill>
              </a:rPr>
              <a:t>Piège à éviter  </a:t>
            </a:r>
            <a:pPr indent="0" marL="0">
              <a:spcAft>
                <a:spcPts val="200"/>
              </a:spcAft>
              <a:buNone/>
            </a:pPr>
            <a:r>
              <a:rPr lang="en-US" sz="1350" dirty="0">
                <a:solidFill>
                  <a:srgbClr val="231F20"/>
                </a:solidFill>
              </a:rPr>
              <a:t>comparer la SoL de deux régions de tailles très différentes : raisonnez aussi par habitant et en part nationale.</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PRÉTRAITEMENT</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La chaîne de prétraitement en 6 étapes</a:t>
            </a:r>
            <a:endParaRPr lang="en-US" sz="2800" dirty="0"/>
          </a:p>
        </p:txBody>
      </p:sp>
      <p:sp>
        <p:nvSpPr>
          <p:cNvPr id="4" name="Shape 2"/>
          <p:cNvSpPr/>
          <p:nvPr/>
        </p:nvSpPr>
        <p:spPr>
          <a:xfrm>
            <a:off x="548640" y="141732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600200"/>
            <a:ext cx="566928" cy="566928"/>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867583" y="1736263"/>
            <a:ext cx="294803" cy="294803"/>
          </a:xfrm>
          <a:prstGeom prst="rect">
            <a:avLst/>
          </a:prstGeom>
        </p:spPr>
      </p:pic>
      <p:sp>
        <p:nvSpPr>
          <p:cNvPr id="7" name="Text 4"/>
          <p:cNvSpPr txBox="1"/>
          <p:nvPr/>
        </p:nvSpPr>
        <p:spPr>
          <a:xfrm>
            <a:off x="3520440" y="152704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1</a:t>
            </a:r>
            <a:endParaRPr lang="en-US" sz="2400" dirty="0"/>
          </a:p>
        </p:txBody>
      </p:sp>
      <p:sp>
        <p:nvSpPr>
          <p:cNvPr id="8" name="Text 5"/>
          <p:cNvSpPr txBox="1"/>
          <p:nvPr/>
        </p:nvSpPr>
        <p:spPr>
          <a:xfrm>
            <a:off x="1417320" y="161848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Nuages</a:t>
            </a:r>
            <a:endParaRPr lang="en-US" sz="1700" dirty="0"/>
          </a:p>
        </p:txBody>
      </p:sp>
      <p:sp>
        <p:nvSpPr>
          <p:cNvPr id="9" name="Text 6"/>
          <p:cNvSpPr txBox="1"/>
          <p:nvPr/>
        </p:nvSpPr>
        <p:spPr>
          <a:xfrm>
            <a:off x="731520" y="224028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pixel valide si cf_cvg ≥ 2 ; unité-mois gardée si ≥ 80 % de pixels valides, puis remise à l'échelle</a:t>
            </a:r>
            <a:endParaRPr lang="en-US" sz="1300" dirty="0"/>
          </a:p>
        </p:txBody>
      </p:sp>
      <p:sp>
        <p:nvSpPr>
          <p:cNvPr id="10" name="Text 7"/>
          <p:cNvSpPr txBox="1"/>
          <p:nvPr/>
        </p:nvSpPr>
        <p:spPr>
          <a:xfrm>
            <a:off x="731520" y="308152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Pourquoi : </a:t>
            </a:r>
            <a:pPr indent="0" marL="0">
              <a:spcAft>
                <a:spcPts val="200"/>
              </a:spcAft>
              <a:buNone/>
            </a:pPr>
            <a:r>
              <a:rPr lang="en-US" sz="1200" i="1" dirty="0">
                <a:solidFill>
                  <a:srgbClr val="231F20"/>
                </a:solidFill>
              </a:rPr>
              <a:t>ne pas confondre mois nuageux et récession</a:t>
            </a:r>
            <a:endParaRPr lang="en-US" sz="1200" dirty="0"/>
          </a:p>
        </p:txBody>
      </p:sp>
      <p:sp>
        <p:nvSpPr>
          <p:cNvPr id="11" name="Shape 8"/>
          <p:cNvSpPr/>
          <p:nvPr/>
        </p:nvSpPr>
        <p:spPr>
          <a:xfrm>
            <a:off x="4297680" y="141732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2" name="Shape 9"/>
          <p:cNvSpPr/>
          <p:nvPr/>
        </p:nvSpPr>
        <p:spPr>
          <a:xfrm>
            <a:off x="4480560" y="1600200"/>
            <a:ext cx="566928" cy="566928"/>
          </a:xfrm>
          <a:prstGeom prst="ellipse">
            <a:avLst/>
          </a:prstGeom>
          <a:solidFill>
            <a:srgbClr val="00704A"/>
          </a:solidFill>
          <a:ln w="12700">
            <a:solidFill>
              <a:srgbClr val="00704A"/>
            </a:solidFill>
            <a:prstDash val="solid"/>
          </a:ln>
        </p:spPr>
      </p:sp>
      <p:pic>
        <p:nvPicPr>
          <p:cNvPr id="13" name="Image 1" descr="preencoded.png">    </p:cNvPr>
          <p:cNvPicPr>
            <a:picLocks noChangeAspect="1"/>
          </p:cNvPicPr>
          <p:nvPr/>
        </p:nvPicPr>
        <p:blipFill>
          <a:blip r:embed="rId2"/>
          <a:stretch>
            <a:fillRect/>
          </a:stretch>
        </p:blipFill>
        <p:spPr>
          <a:xfrm>
            <a:off x="4616623" y="1736263"/>
            <a:ext cx="294803" cy="294803"/>
          </a:xfrm>
          <a:prstGeom prst="rect">
            <a:avLst/>
          </a:prstGeom>
        </p:spPr>
      </p:pic>
      <p:sp>
        <p:nvSpPr>
          <p:cNvPr id="14" name="Text 10"/>
          <p:cNvSpPr txBox="1"/>
          <p:nvPr/>
        </p:nvSpPr>
        <p:spPr>
          <a:xfrm>
            <a:off x="7269480" y="152704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2</a:t>
            </a:r>
            <a:endParaRPr lang="en-US" sz="2400" dirty="0"/>
          </a:p>
        </p:txBody>
      </p:sp>
      <p:sp>
        <p:nvSpPr>
          <p:cNvPr id="15" name="Text 11"/>
          <p:cNvSpPr txBox="1"/>
          <p:nvPr/>
        </p:nvSpPr>
        <p:spPr>
          <a:xfrm>
            <a:off x="5166360" y="161848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Négatifs</a:t>
            </a:r>
            <a:endParaRPr lang="en-US" sz="1700" dirty="0"/>
          </a:p>
        </p:txBody>
      </p:sp>
      <p:sp>
        <p:nvSpPr>
          <p:cNvPr id="16" name="Text 12"/>
          <p:cNvSpPr txBox="1"/>
          <p:nvPr/>
        </p:nvSpPr>
        <p:spPr>
          <a:xfrm>
            <a:off x="4480560" y="224028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valeurs &lt; 0 mises à 0</a:t>
            </a:r>
            <a:endParaRPr lang="en-US" sz="1300" dirty="0"/>
          </a:p>
        </p:txBody>
      </p:sp>
      <p:sp>
        <p:nvSpPr>
          <p:cNvPr id="17" name="Text 13"/>
          <p:cNvSpPr txBox="1"/>
          <p:nvPr/>
        </p:nvSpPr>
        <p:spPr>
          <a:xfrm>
            <a:off x="4480560" y="308152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Pourquoi : </a:t>
            </a:r>
            <a:pPr indent="0" marL="0">
              <a:spcAft>
                <a:spcPts val="200"/>
              </a:spcAft>
              <a:buNone/>
            </a:pPr>
            <a:r>
              <a:rPr lang="en-US" sz="1200" i="1" dirty="0">
                <a:solidFill>
                  <a:srgbClr val="231F20"/>
                </a:solidFill>
              </a:rPr>
              <a:t>bruit de calibration sur zones sombres</a:t>
            </a:r>
            <a:endParaRPr lang="en-US" sz="1200" dirty="0"/>
          </a:p>
        </p:txBody>
      </p:sp>
      <p:sp>
        <p:nvSpPr>
          <p:cNvPr id="18" name="Shape 14"/>
          <p:cNvSpPr/>
          <p:nvPr/>
        </p:nvSpPr>
        <p:spPr>
          <a:xfrm>
            <a:off x="8046720" y="141732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9" name="Shape 15"/>
          <p:cNvSpPr/>
          <p:nvPr/>
        </p:nvSpPr>
        <p:spPr>
          <a:xfrm>
            <a:off x="8229600" y="1600200"/>
            <a:ext cx="566928" cy="566928"/>
          </a:xfrm>
          <a:prstGeom prst="ellipse">
            <a:avLst/>
          </a:prstGeom>
          <a:solidFill>
            <a:srgbClr val="00704A"/>
          </a:solidFill>
          <a:ln w="12700">
            <a:solidFill>
              <a:srgbClr val="00704A"/>
            </a:solidFill>
            <a:prstDash val="solid"/>
          </a:ln>
        </p:spPr>
      </p:sp>
      <p:pic>
        <p:nvPicPr>
          <p:cNvPr id="20" name="Image 2" descr="preencoded.png">    </p:cNvPr>
          <p:cNvPicPr>
            <a:picLocks noChangeAspect="1"/>
          </p:cNvPicPr>
          <p:nvPr/>
        </p:nvPicPr>
        <p:blipFill>
          <a:blip r:embed="rId3"/>
          <a:stretch>
            <a:fillRect/>
          </a:stretch>
        </p:blipFill>
        <p:spPr>
          <a:xfrm>
            <a:off x="8365663" y="1736263"/>
            <a:ext cx="294803" cy="294803"/>
          </a:xfrm>
          <a:prstGeom prst="rect">
            <a:avLst/>
          </a:prstGeom>
        </p:spPr>
      </p:pic>
      <p:sp>
        <p:nvSpPr>
          <p:cNvPr id="21" name="Text 16"/>
          <p:cNvSpPr txBox="1"/>
          <p:nvPr/>
        </p:nvSpPr>
        <p:spPr>
          <a:xfrm>
            <a:off x="11018520" y="152704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3</a:t>
            </a:r>
            <a:endParaRPr lang="en-US" sz="2400" dirty="0"/>
          </a:p>
        </p:txBody>
      </p:sp>
      <p:sp>
        <p:nvSpPr>
          <p:cNvPr id="22" name="Text 17"/>
          <p:cNvSpPr txBox="1"/>
          <p:nvPr/>
        </p:nvSpPr>
        <p:spPr>
          <a:xfrm>
            <a:off x="8915400" y="161848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Aberrants</a:t>
            </a:r>
            <a:endParaRPr lang="en-US" sz="1700" dirty="0"/>
          </a:p>
        </p:txBody>
      </p:sp>
      <p:sp>
        <p:nvSpPr>
          <p:cNvPr id="23" name="Text 18"/>
          <p:cNvSpPr txBox="1"/>
          <p:nvPr/>
        </p:nvSpPr>
        <p:spPr>
          <a:xfrm>
            <a:off x="8229600" y="224028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plafond 1 000 nW ; pic &gt; 5 × médiane annuelle du pixel → médiane</a:t>
            </a:r>
            <a:endParaRPr lang="en-US" sz="1300" dirty="0"/>
          </a:p>
        </p:txBody>
      </p:sp>
      <p:sp>
        <p:nvSpPr>
          <p:cNvPr id="24" name="Text 19"/>
          <p:cNvSpPr txBox="1"/>
          <p:nvPr/>
        </p:nvSpPr>
        <p:spPr>
          <a:xfrm>
            <a:off x="8229600" y="308152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Pourquoi : </a:t>
            </a:r>
            <a:pPr indent="0" marL="0">
              <a:spcAft>
                <a:spcPts val="200"/>
              </a:spcAft>
              <a:buNone/>
            </a:pPr>
            <a:r>
              <a:rPr lang="en-US" sz="1200" i="1" dirty="0">
                <a:solidFill>
                  <a:srgbClr val="231F20"/>
                </a:solidFill>
              </a:rPr>
              <a:t>feux, éclairs, reflets</a:t>
            </a:r>
            <a:endParaRPr lang="en-US" sz="1200" dirty="0"/>
          </a:p>
        </p:txBody>
      </p:sp>
      <p:sp>
        <p:nvSpPr>
          <p:cNvPr id="25" name="Shape 20"/>
          <p:cNvSpPr/>
          <p:nvPr/>
        </p:nvSpPr>
        <p:spPr>
          <a:xfrm>
            <a:off x="548640" y="379476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6" name="Shape 21"/>
          <p:cNvSpPr/>
          <p:nvPr/>
        </p:nvSpPr>
        <p:spPr>
          <a:xfrm>
            <a:off x="731520" y="3977640"/>
            <a:ext cx="566928" cy="566928"/>
          </a:xfrm>
          <a:prstGeom prst="ellipse">
            <a:avLst/>
          </a:prstGeom>
          <a:solidFill>
            <a:srgbClr val="00704A"/>
          </a:solidFill>
          <a:ln w="12700">
            <a:solidFill>
              <a:srgbClr val="00704A"/>
            </a:solidFill>
            <a:prstDash val="solid"/>
          </a:ln>
        </p:spPr>
      </p:sp>
      <p:pic>
        <p:nvPicPr>
          <p:cNvPr id="27" name="Image 3" descr="preencoded.png">    </p:cNvPr>
          <p:cNvPicPr>
            <a:picLocks noChangeAspect="1"/>
          </p:cNvPicPr>
          <p:nvPr/>
        </p:nvPicPr>
        <p:blipFill>
          <a:blip r:embed="rId4"/>
          <a:stretch>
            <a:fillRect/>
          </a:stretch>
        </p:blipFill>
        <p:spPr>
          <a:xfrm>
            <a:off x="867583" y="4113703"/>
            <a:ext cx="294803" cy="294803"/>
          </a:xfrm>
          <a:prstGeom prst="rect">
            <a:avLst/>
          </a:prstGeom>
        </p:spPr>
      </p:pic>
      <p:sp>
        <p:nvSpPr>
          <p:cNvPr id="28" name="Text 22"/>
          <p:cNvSpPr txBox="1"/>
          <p:nvPr/>
        </p:nvSpPr>
        <p:spPr>
          <a:xfrm>
            <a:off x="3520440" y="390448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4</a:t>
            </a:r>
            <a:endParaRPr lang="en-US" sz="2400" dirty="0"/>
          </a:p>
        </p:txBody>
      </p:sp>
      <p:sp>
        <p:nvSpPr>
          <p:cNvPr id="29" name="Text 23"/>
          <p:cNvSpPr txBox="1"/>
          <p:nvPr/>
        </p:nvSpPr>
        <p:spPr>
          <a:xfrm>
            <a:off x="1417320" y="399592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Fond</a:t>
            </a:r>
            <a:endParaRPr lang="en-US" sz="1700" dirty="0"/>
          </a:p>
        </p:txBody>
      </p:sp>
      <p:sp>
        <p:nvSpPr>
          <p:cNvPr id="30" name="Text 24"/>
          <p:cNvSpPr txBox="1"/>
          <p:nvPr/>
        </p:nvSpPr>
        <p:spPr>
          <a:xfrm>
            <a:off x="731520" y="461772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pixels non éclairés du composite annuel VNL V2 → 0</a:t>
            </a:r>
            <a:endParaRPr lang="en-US" sz="1300" dirty="0"/>
          </a:p>
        </p:txBody>
      </p:sp>
      <p:sp>
        <p:nvSpPr>
          <p:cNvPr id="31" name="Text 25"/>
          <p:cNvSpPr txBox="1"/>
          <p:nvPr/>
        </p:nvSpPr>
        <p:spPr>
          <a:xfrm>
            <a:off x="731520" y="545896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Pourquoi : </a:t>
            </a:r>
            <a:pPr indent="0" marL="0">
              <a:spcAft>
                <a:spcPts val="200"/>
              </a:spcAft>
              <a:buNone/>
            </a:pPr>
            <a:r>
              <a:rPr lang="en-US" sz="1200" i="1" dirty="0">
                <a:solidFill>
                  <a:srgbClr val="231F20"/>
                </a:solidFill>
              </a:rPr>
              <a:t>l'EOG y masque déjà fond et éphémères</a:t>
            </a:r>
            <a:endParaRPr lang="en-US" sz="1200" dirty="0"/>
          </a:p>
        </p:txBody>
      </p:sp>
      <p:sp>
        <p:nvSpPr>
          <p:cNvPr id="32" name="Shape 26"/>
          <p:cNvSpPr/>
          <p:nvPr/>
        </p:nvSpPr>
        <p:spPr>
          <a:xfrm>
            <a:off x="4297680" y="379476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3" name="Shape 27"/>
          <p:cNvSpPr/>
          <p:nvPr/>
        </p:nvSpPr>
        <p:spPr>
          <a:xfrm>
            <a:off x="4480560" y="3977640"/>
            <a:ext cx="566928" cy="566928"/>
          </a:xfrm>
          <a:prstGeom prst="ellipse">
            <a:avLst/>
          </a:prstGeom>
          <a:solidFill>
            <a:srgbClr val="D64545"/>
          </a:solidFill>
          <a:ln w="12700">
            <a:solidFill>
              <a:srgbClr val="D64545"/>
            </a:solidFill>
            <a:prstDash val="solid"/>
          </a:ln>
        </p:spPr>
      </p:sp>
      <p:pic>
        <p:nvPicPr>
          <p:cNvPr id="34" name="Image 4" descr="preencoded.png">    </p:cNvPr>
          <p:cNvPicPr>
            <a:picLocks noChangeAspect="1"/>
          </p:cNvPicPr>
          <p:nvPr/>
        </p:nvPicPr>
        <p:blipFill>
          <a:blip r:embed="rId5"/>
          <a:stretch>
            <a:fillRect/>
          </a:stretch>
        </p:blipFill>
        <p:spPr>
          <a:xfrm>
            <a:off x="4616623" y="4113703"/>
            <a:ext cx="294803" cy="294803"/>
          </a:xfrm>
          <a:prstGeom prst="rect">
            <a:avLst/>
          </a:prstGeom>
        </p:spPr>
      </p:pic>
      <p:sp>
        <p:nvSpPr>
          <p:cNvPr id="35" name="Text 28"/>
          <p:cNvSpPr txBox="1"/>
          <p:nvPr/>
        </p:nvSpPr>
        <p:spPr>
          <a:xfrm>
            <a:off x="7269480" y="390448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5</a:t>
            </a:r>
            <a:endParaRPr lang="en-US" sz="2400" dirty="0"/>
          </a:p>
        </p:txBody>
      </p:sp>
      <p:sp>
        <p:nvSpPr>
          <p:cNvPr id="36" name="Text 29"/>
          <p:cNvSpPr txBox="1"/>
          <p:nvPr/>
        </p:nvSpPr>
        <p:spPr>
          <a:xfrm>
            <a:off x="5166360" y="399592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Torchères</a:t>
            </a:r>
            <a:endParaRPr lang="en-US" sz="1700" dirty="0"/>
          </a:p>
        </p:txBody>
      </p:sp>
      <p:sp>
        <p:nvSpPr>
          <p:cNvPr id="37" name="Text 30"/>
          <p:cNvSpPr txBox="1"/>
          <p:nvPr/>
        </p:nvSpPr>
        <p:spPr>
          <a:xfrm>
            <a:off x="4480560" y="461772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 50 nW, &lt; 5 habitants, non bâti (union des années) + halo de 2 km</a:t>
            </a:r>
            <a:endParaRPr lang="en-US" sz="1300" dirty="0"/>
          </a:p>
        </p:txBody>
      </p:sp>
      <p:sp>
        <p:nvSpPr>
          <p:cNvPr id="38" name="Text 31"/>
          <p:cNvSpPr txBox="1"/>
          <p:nvPr/>
        </p:nvSpPr>
        <p:spPr>
          <a:xfrm>
            <a:off x="4480560" y="545896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Pourquoi : </a:t>
            </a:r>
            <a:pPr indent="0" marL="0">
              <a:spcAft>
                <a:spcPts val="200"/>
              </a:spcAft>
              <a:buNone/>
            </a:pPr>
            <a:r>
              <a:rPr lang="en-US" sz="1200" i="1" dirty="0">
                <a:solidFill>
                  <a:srgbClr val="231F20"/>
                </a:solidFill>
              </a:rPr>
              <a:t>retire le gaz brûlé et son débordement</a:t>
            </a:r>
            <a:endParaRPr lang="en-US" sz="1200" dirty="0"/>
          </a:p>
        </p:txBody>
      </p:sp>
      <p:sp>
        <p:nvSpPr>
          <p:cNvPr id="39" name="Shape 32"/>
          <p:cNvSpPr/>
          <p:nvPr/>
        </p:nvSpPr>
        <p:spPr>
          <a:xfrm>
            <a:off x="8046720" y="379476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40" name="Shape 33"/>
          <p:cNvSpPr/>
          <p:nvPr/>
        </p:nvSpPr>
        <p:spPr>
          <a:xfrm>
            <a:off x="8229600" y="3977640"/>
            <a:ext cx="566928" cy="566928"/>
          </a:xfrm>
          <a:prstGeom prst="ellipse">
            <a:avLst/>
          </a:prstGeom>
          <a:solidFill>
            <a:srgbClr val="00704A"/>
          </a:solidFill>
          <a:ln w="12700">
            <a:solidFill>
              <a:srgbClr val="00704A"/>
            </a:solidFill>
            <a:prstDash val="solid"/>
          </a:ln>
        </p:spPr>
      </p:sp>
      <p:pic>
        <p:nvPicPr>
          <p:cNvPr id="41" name="Image 5" descr="preencoded.png">    </p:cNvPr>
          <p:cNvPicPr>
            <a:picLocks noChangeAspect="1"/>
          </p:cNvPicPr>
          <p:nvPr/>
        </p:nvPicPr>
        <p:blipFill>
          <a:blip r:embed="rId6"/>
          <a:stretch>
            <a:fillRect/>
          </a:stretch>
        </p:blipFill>
        <p:spPr>
          <a:xfrm>
            <a:off x="8365663" y="4113703"/>
            <a:ext cx="294803" cy="294803"/>
          </a:xfrm>
          <a:prstGeom prst="rect">
            <a:avLst/>
          </a:prstGeom>
        </p:spPr>
      </p:pic>
      <p:sp>
        <p:nvSpPr>
          <p:cNvPr id="42" name="Text 34"/>
          <p:cNvSpPr txBox="1"/>
          <p:nvPr/>
        </p:nvSpPr>
        <p:spPr>
          <a:xfrm>
            <a:off x="11018520" y="390448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6</a:t>
            </a:r>
            <a:endParaRPr lang="en-US" sz="2400" dirty="0"/>
          </a:p>
        </p:txBody>
      </p:sp>
      <p:sp>
        <p:nvSpPr>
          <p:cNvPr id="43" name="Text 35"/>
          <p:cNvSpPr txBox="1"/>
          <p:nvPr/>
        </p:nvSpPr>
        <p:spPr>
          <a:xfrm>
            <a:off x="8915400" y="399592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DMSP</a:t>
            </a:r>
            <a:endParaRPr lang="en-US" sz="1700" dirty="0"/>
          </a:p>
        </p:txBody>
      </p:sp>
      <p:sp>
        <p:nvSpPr>
          <p:cNvPr id="44" name="Text 36"/>
          <p:cNvSpPr txBox="1"/>
          <p:nvPr/>
        </p:nvSpPr>
        <p:spPr>
          <a:xfrm>
            <a:off x="8229600" y="461772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part des pixels saturés mesurée ; seuil DN &gt; 7 sur la série harmonisée</a:t>
            </a:r>
            <a:endParaRPr lang="en-US" sz="1300" dirty="0"/>
          </a:p>
        </p:txBody>
      </p:sp>
      <p:sp>
        <p:nvSpPr>
          <p:cNvPr id="45" name="Text 37"/>
          <p:cNvSpPr txBox="1"/>
          <p:nvPr/>
        </p:nvSpPr>
        <p:spPr>
          <a:xfrm>
            <a:off x="8229600" y="545896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Pourquoi : </a:t>
            </a:r>
            <a:pPr indent="0" marL="0">
              <a:spcAft>
                <a:spcPts val="200"/>
              </a:spcAft>
              <a:buNone/>
            </a:pPr>
            <a:r>
              <a:rPr lang="en-US" sz="1200" i="1" dirty="0">
                <a:solidFill>
                  <a:srgbClr val="231F20"/>
                </a:solidFill>
              </a:rPr>
              <a:t>recommandation de Li et al. (2020)</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PRÉTRAITEMENT</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Nuages et qualité : un pixel manquant n'est pas un pixel sombre</a:t>
            </a:r>
            <a:endParaRPr lang="en-US" sz="2800" dirty="0"/>
          </a:p>
        </p:txBody>
      </p:sp>
      <p:pic>
        <p:nvPicPr>
          <p:cNvPr id="4" name="Image 0" descr="/tmp/claude-0/-home-claude/8a8742ef-7d0d-54fc-a0c9-7ecbfc9f8b73/scratchpad/deck/real/swiss_quality.png">    </p:cNvPr>
          <p:cNvPicPr>
            <a:picLocks noChangeAspect="1"/>
          </p:cNvPicPr>
          <p:nvPr/>
        </p:nvPicPr>
        <p:blipFill>
          <a:blip r:embed="rId1"/>
          <a:stretch>
            <a:fillRect/>
          </a:stretch>
        </p:blipFill>
        <p:spPr>
          <a:xfrm>
            <a:off x="548640" y="1380330"/>
            <a:ext cx="5577840" cy="2314260"/>
          </a:xfrm>
          <a:prstGeom prst="rect">
            <a:avLst/>
          </a:prstGeom>
        </p:spPr>
      </p:pic>
      <p:sp>
        <p:nvSpPr>
          <p:cNvPr id="5" name="Text 2"/>
          <p:cNvSpPr txBox="1"/>
          <p:nvPr/>
        </p:nvSpPr>
        <p:spPr>
          <a:xfrm>
            <a:off x="548640" y="3703320"/>
            <a:ext cx="5577840" cy="274320"/>
          </a:xfrm>
          <a:prstGeom prst="rect">
            <a:avLst/>
          </a:prstGeom>
          <a:noFill/>
          <a:ln/>
        </p:spPr>
        <p:txBody>
          <a:bodyPr wrap="square" lIns="635" tIns="635" rIns="635" bIns="635" rtlCol="0" anchor="t"/>
          <a:lstStyle/>
          <a:p>
            <a:pPr indent="0" marL="0">
              <a:spcAft>
                <a:spcPts val="200"/>
              </a:spcAft>
              <a:buNone/>
            </a:pPr>
            <a:r>
              <a:rPr lang="en-US" sz="1200" b="1" dirty="0">
                <a:solidFill>
                  <a:srgbClr val="00553A"/>
                </a:solidFill>
              </a:rPr>
              <a:t>Indicateur de qualité quotidien (VNP46A2), Suisse, 1er janv. 2023</a:t>
            </a:r>
            <a:endParaRPr lang="en-US" sz="1200" dirty="0"/>
          </a:p>
        </p:txBody>
      </p:sp>
      <p:pic>
        <p:nvPicPr>
          <p:cNvPr id="6" name="Image 1" descr="/tmp/claude-0/-home-claude/8a8742ef-7d0d-54fc-a0c9-7ecbfc9f8b73/scratchpad/deck/real/swiss_nobs.png">    </p:cNvPr>
          <p:cNvPicPr>
            <a:picLocks noChangeAspect="1"/>
          </p:cNvPicPr>
          <p:nvPr/>
        </p:nvPicPr>
        <p:blipFill>
          <a:blip r:embed="rId2"/>
          <a:stretch>
            <a:fillRect/>
          </a:stretch>
        </p:blipFill>
        <p:spPr>
          <a:xfrm>
            <a:off x="6126480" y="1375410"/>
            <a:ext cx="5577840" cy="2324100"/>
          </a:xfrm>
          <a:prstGeom prst="rect">
            <a:avLst/>
          </a:prstGeom>
        </p:spPr>
      </p:pic>
      <p:sp>
        <p:nvSpPr>
          <p:cNvPr id="7" name="Text 3"/>
          <p:cNvSpPr txBox="1"/>
          <p:nvPr/>
        </p:nvSpPr>
        <p:spPr>
          <a:xfrm>
            <a:off x="6126480" y="3703320"/>
            <a:ext cx="5577840" cy="274320"/>
          </a:xfrm>
          <a:prstGeom prst="rect">
            <a:avLst/>
          </a:prstGeom>
          <a:noFill/>
          <a:ln/>
        </p:spPr>
        <p:txBody>
          <a:bodyPr wrap="square" lIns="635" tIns="635" rIns="635" bIns="635" rtlCol="0" anchor="t"/>
          <a:lstStyle/>
          <a:p>
            <a:pPr indent="0" marL="0">
              <a:spcAft>
                <a:spcPts val="200"/>
              </a:spcAft>
              <a:buNone/>
            </a:pPr>
            <a:r>
              <a:rPr lang="en-US" sz="1200" b="1" dirty="0">
                <a:solidFill>
                  <a:srgbClr val="00553A"/>
                </a:solidFill>
              </a:rPr>
              <a:t>Nombre d'observations sans neige (VNP46A3), janvier 2023</a:t>
            </a:r>
            <a:endParaRPr lang="en-US" sz="1200" dirty="0"/>
          </a:p>
        </p:txBody>
      </p:sp>
      <p:sp>
        <p:nvSpPr>
          <p:cNvPr id="8" name="Text 4"/>
          <p:cNvSpPr txBox="1"/>
          <p:nvPr/>
        </p:nvSpPr>
        <p:spPr>
          <a:xfrm>
            <a:off x="548640" y="3977640"/>
            <a:ext cx="1106424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Images réelles — Source : NASA Black Marble via blackmarblepy, notebook « quality-assessment » (Banque mondiale, MIT).</a:t>
            </a:r>
            <a:endParaRPr lang="en-US" sz="1000" dirty="0"/>
          </a:p>
        </p:txBody>
      </p:sp>
      <p:sp>
        <p:nvSpPr>
          <p:cNvPr id="9" name="Shape 5"/>
          <p:cNvSpPr/>
          <p:nvPr/>
        </p:nvSpPr>
        <p:spPr>
          <a:xfrm>
            <a:off x="548640" y="4389120"/>
            <a:ext cx="3566160" cy="1783080"/>
          </a:xfrm>
          <a:prstGeom prst="roundRect">
            <a:avLst>
              <a:gd name="adj" fmla="val 6154"/>
            </a:avLst>
          </a:prstGeom>
          <a:solidFill>
            <a:srgbClr val="E8F5EF"/>
          </a:solidFill>
          <a:ln w="9525">
            <a:solidFill>
              <a:srgbClr val="E8F5EF"/>
            </a:solidFill>
            <a:prstDash val="solid"/>
          </a:ln>
        </p:spPr>
      </p:sp>
      <p:sp>
        <p:nvSpPr>
          <p:cNvPr id="10" name="Text 6"/>
          <p:cNvSpPr txBox="1"/>
          <p:nvPr/>
        </p:nvSpPr>
        <p:spPr>
          <a:xfrm>
            <a:off x="685800" y="4462272"/>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Indicateurs de qualité</a:t>
            </a:r>
            <a:endParaRPr lang="en-US" sz="1500" dirty="0"/>
          </a:p>
        </p:txBody>
      </p:sp>
      <p:sp>
        <p:nvSpPr>
          <p:cNvPr id="11" name="Text 7"/>
          <p:cNvSpPr txBox="1"/>
          <p:nvPr/>
        </p:nvSpPr>
        <p:spPr>
          <a:xfrm>
            <a:off x="685800" y="4809744"/>
            <a:ext cx="32918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Black Marble quotidien : 0 = haute qualité persistante, 1 = haute qualité éphémère, 2 = mauvaise qualité (nuages, lune…). Le notebook ne garde que la haute qualité, sans nuage ni neige.</a:t>
            </a:r>
            <a:endParaRPr lang="en-US" sz="1250" dirty="0"/>
          </a:p>
        </p:txBody>
      </p:sp>
      <p:sp>
        <p:nvSpPr>
          <p:cNvPr id="12" name="Shape 8"/>
          <p:cNvSpPr/>
          <p:nvPr/>
        </p:nvSpPr>
        <p:spPr>
          <a:xfrm>
            <a:off x="4297680" y="4389120"/>
            <a:ext cx="3566160" cy="1783080"/>
          </a:xfrm>
          <a:prstGeom prst="roundRect">
            <a:avLst>
              <a:gd name="adj" fmla="val 6154"/>
            </a:avLst>
          </a:prstGeom>
          <a:solidFill>
            <a:srgbClr val="E8F5EF"/>
          </a:solidFill>
          <a:ln w="9525">
            <a:solidFill>
              <a:srgbClr val="E8F5EF"/>
            </a:solidFill>
            <a:prstDash val="solid"/>
          </a:ln>
        </p:spPr>
      </p:sp>
      <p:sp>
        <p:nvSpPr>
          <p:cNvPr id="13" name="Text 9"/>
          <p:cNvSpPr txBox="1"/>
          <p:nvPr/>
        </p:nvSpPr>
        <p:spPr>
          <a:xfrm>
            <a:off x="4434840" y="4462272"/>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Couverture cf_cvg</a:t>
            </a:r>
            <a:endParaRPr lang="en-US" sz="1500" dirty="0"/>
          </a:p>
        </p:txBody>
      </p:sp>
      <p:sp>
        <p:nvSpPr>
          <p:cNvPr id="14" name="Text 10"/>
          <p:cNvSpPr txBox="1"/>
          <p:nvPr/>
        </p:nvSpPr>
        <p:spPr>
          <a:xfrm>
            <a:off x="4434840" y="4809744"/>
            <a:ext cx="32918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VIIRS mensuel : nombre d'observations sans nuage par pixel. En zone équatoriale nuageuse, un mois peut ne pas suffire.</a:t>
            </a:r>
            <a:endParaRPr lang="en-US" sz="1250" dirty="0"/>
          </a:p>
        </p:txBody>
      </p:sp>
      <p:sp>
        <p:nvSpPr>
          <p:cNvPr id="15" name="Shape 11"/>
          <p:cNvSpPr/>
          <p:nvPr/>
        </p:nvSpPr>
        <p:spPr>
          <a:xfrm>
            <a:off x="8046720" y="4389120"/>
            <a:ext cx="3566160" cy="1783080"/>
          </a:xfrm>
          <a:prstGeom prst="roundRect">
            <a:avLst>
              <a:gd name="adj" fmla="val 6154"/>
            </a:avLst>
          </a:prstGeom>
          <a:solidFill>
            <a:srgbClr val="EAF2FB"/>
          </a:solidFill>
          <a:ln w="9525">
            <a:solidFill>
              <a:srgbClr val="EAF2FB"/>
            </a:solidFill>
            <a:prstDash val="solid"/>
          </a:ln>
        </p:spPr>
      </p:sp>
      <p:sp>
        <p:nvSpPr>
          <p:cNvPr id="16" name="Text 12"/>
          <p:cNvSpPr txBox="1"/>
          <p:nvPr/>
        </p:nvSpPr>
        <p:spPr>
          <a:xfrm>
            <a:off x="8183880" y="4462272"/>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Remise à l'échelle</a:t>
            </a:r>
            <a:endParaRPr lang="en-US" sz="1500" dirty="0"/>
          </a:p>
        </p:txBody>
      </p:sp>
      <p:sp>
        <p:nvSpPr>
          <p:cNvPr id="17" name="Text 13"/>
          <p:cNvSpPr txBox="1"/>
          <p:nvPr/>
        </p:nvSpPr>
        <p:spPr>
          <a:xfrm>
            <a:off x="8183880" y="4809744"/>
            <a:ext cx="32918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si 80 à 100 % des pixels sont valides, la SoL est extrapolée à toute l'unité ; en dessous, le mois est exclu.</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PRÉTRAITEMENT</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Torchères et valeurs aberrantes : de la lumière sans activité locale</a:t>
            </a:r>
            <a:endParaRPr lang="en-US" sz="2800" dirty="0"/>
          </a:p>
        </p:txBody>
      </p:sp>
      <p:pic>
        <p:nvPicPr>
          <p:cNvPr id="4" name="Image 0" descr="/tmp/claude-0/-home-claude/8a8742ef-7d0d-54fc-a0c9-7ecbfc9f8b73/scratchpad/deck/img/preproc_fr.png">    </p:cNvPr>
          <p:cNvPicPr>
            <a:picLocks noChangeAspect="1"/>
          </p:cNvPicPr>
          <p:nvPr/>
        </p:nvPicPr>
        <p:blipFill>
          <a:blip r:embed="rId1"/>
          <a:stretch>
            <a:fillRect/>
          </a:stretch>
        </p:blipFill>
        <p:spPr>
          <a:xfrm>
            <a:off x="548640" y="1394690"/>
            <a:ext cx="6949440" cy="2559861"/>
          </a:xfrm>
          <a:prstGeom prst="rect">
            <a:avLst/>
          </a:prstGeom>
        </p:spPr>
      </p:pic>
      <p:pic>
        <p:nvPicPr>
          <p:cNvPr id="5" name="Image 1" descr="/tmp/claude-0/-home-claude/8a8742ef-7d0d-54fc-a0c9-7ecbfc9f8b73/scratchpad/deck/img/spike_fr.png">    </p:cNvPr>
          <p:cNvPicPr>
            <a:picLocks noChangeAspect="1"/>
          </p:cNvPicPr>
          <p:nvPr/>
        </p:nvPicPr>
        <p:blipFill>
          <a:blip r:embed="rId2"/>
          <a:stretch>
            <a:fillRect/>
          </a:stretch>
        </p:blipFill>
        <p:spPr>
          <a:xfrm>
            <a:off x="7680960" y="1430537"/>
            <a:ext cx="3977640" cy="2488165"/>
          </a:xfrm>
          <a:prstGeom prst="rect">
            <a:avLst/>
          </a:prstGeom>
        </p:spPr>
      </p:pic>
      <p:sp>
        <p:nvSpPr>
          <p:cNvPr id="6" name="Shape 2"/>
          <p:cNvSpPr/>
          <p:nvPr/>
        </p:nvSpPr>
        <p:spPr>
          <a:xfrm>
            <a:off x="548640" y="4206240"/>
            <a:ext cx="548640" cy="548640"/>
          </a:xfrm>
          <a:prstGeom prst="ellipse">
            <a:avLst/>
          </a:prstGeom>
          <a:solidFill>
            <a:srgbClr val="D64545"/>
          </a:solidFill>
          <a:ln w="12700">
            <a:solidFill>
              <a:srgbClr val="D64545"/>
            </a:solidFill>
            <a:prstDash val="solid"/>
          </a:ln>
        </p:spPr>
      </p:sp>
      <p:pic>
        <p:nvPicPr>
          <p:cNvPr id="7" name="Image 2" descr="preencoded.png">    </p:cNvPr>
          <p:cNvPicPr>
            <a:picLocks noChangeAspect="1"/>
          </p:cNvPicPr>
          <p:nvPr/>
        </p:nvPicPr>
        <p:blipFill>
          <a:blip r:embed="rId3"/>
          <a:stretch>
            <a:fillRect/>
          </a:stretch>
        </p:blipFill>
        <p:spPr>
          <a:xfrm>
            <a:off x="680314" y="4337914"/>
            <a:ext cx="285293" cy="285293"/>
          </a:xfrm>
          <a:prstGeom prst="rect">
            <a:avLst/>
          </a:prstGeom>
        </p:spPr>
      </p:pic>
      <p:sp>
        <p:nvSpPr>
          <p:cNvPr id="8" name="Text 3"/>
          <p:cNvSpPr txBox="1"/>
          <p:nvPr/>
        </p:nvSpPr>
        <p:spPr>
          <a:xfrm>
            <a:off x="1188720" y="4206240"/>
            <a:ext cx="16002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Détecter</a:t>
            </a:r>
            <a:endParaRPr lang="en-US" sz="1500" dirty="0"/>
          </a:p>
        </p:txBody>
      </p:sp>
      <p:sp>
        <p:nvSpPr>
          <p:cNvPr id="9" name="Text 4"/>
          <p:cNvSpPr txBox="1"/>
          <p:nvPr/>
        </p:nvSpPr>
        <p:spPr>
          <a:xfrm>
            <a:off x="548640" y="4828032"/>
            <a:ext cx="2194560" cy="12801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pixels très brillants (≥ 50 nW), quasi inhabités (&lt; 5 hab.) et non bâtis, sur l'union des années</a:t>
            </a:r>
            <a:endParaRPr lang="en-US" sz="1250" dirty="0"/>
          </a:p>
        </p:txBody>
      </p:sp>
      <p:sp>
        <p:nvSpPr>
          <p:cNvPr id="10" name="Shape 5"/>
          <p:cNvSpPr/>
          <p:nvPr/>
        </p:nvSpPr>
        <p:spPr>
          <a:xfrm>
            <a:off x="2880360" y="4206240"/>
            <a:ext cx="548640" cy="548640"/>
          </a:xfrm>
          <a:prstGeom prst="ellipse">
            <a:avLst/>
          </a:prstGeom>
          <a:solidFill>
            <a:srgbClr val="00704A"/>
          </a:solidFill>
          <a:ln w="12700">
            <a:solidFill>
              <a:srgbClr val="00704A"/>
            </a:solidFill>
            <a:prstDash val="solid"/>
          </a:ln>
        </p:spPr>
      </p:sp>
      <p:pic>
        <p:nvPicPr>
          <p:cNvPr id="11" name="Image 3" descr="preencoded.png">    </p:cNvPr>
          <p:cNvPicPr>
            <a:picLocks noChangeAspect="1"/>
          </p:cNvPicPr>
          <p:nvPr/>
        </p:nvPicPr>
        <p:blipFill>
          <a:blip r:embed="rId4"/>
          <a:stretch>
            <a:fillRect/>
          </a:stretch>
        </p:blipFill>
        <p:spPr>
          <a:xfrm>
            <a:off x="3012034" y="4337914"/>
            <a:ext cx="285293" cy="285293"/>
          </a:xfrm>
          <a:prstGeom prst="rect">
            <a:avLst/>
          </a:prstGeom>
        </p:spPr>
      </p:pic>
      <p:sp>
        <p:nvSpPr>
          <p:cNvPr id="12" name="Text 6"/>
          <p:cNvSpPr txBox="1"/>
          <p:nvPr/>
        </p:nvSpPr>
        <p:spPr>
          <a:xfrm>
            <a:off x="3520440" y="4206240"/>
            <a:ext cx="16002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Vectoriser</a:t>
            </a:r>
            <a:endParaRPr lang="en-US" sz="1500" dirty="0"/>
          </a:p>
        </p:txBody>
      </p:sp>
      <p:sp>
        <p:nvSpPr>
          <p:cNvPr id="13" name="Text 7"/>
          <p:cNvSpPr txBox="1"/>
          <p:nvPr/>
        </p:nvSpPr>
        <p:spPr>
          <a:xfrm>
            <a:off x="2880360" y="4828032"/>
            <a:ext cx="2194560" cy="12801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les candidats deviennent des polygones, mis en cache et exportés pour vérification visuelle</a:t>
            </a:r>
            <a:endParaRPr lang="en-US" sz="1250" dirty="0"/>
          </a:p>
        </p:txBody>
      </p:sp>
      <p:sp>
        <p:nvSpPr>
          <p:cNvPr id="14" name="Shape 8"/>
          <p:cNvSpPr/>
          <p:nvPr/>
        </p:nvSpPr>
        <p:spPr>
          <a:xfrm>
            <a:off x="5212080" y="4206240"/>
            <a:ext cx="548640" cy="548640"/>
          </a:xfrm>
          <a:prstGeom prst="ellipse">
            <a:avLst/>
          </a:prstGeom>
          <a:solidFill>
            <a:srgbClr val="00704A"/>
          </a:solidFill>
          <a:ln w="12700">
            <a:solidFill>
              <a:srgbClr val="00704A"/>
            </a:solidFill>
            <a:prstDash val="solid"/>
          </a:ln>
        </p:spPr>
      </p:sp>
      <p:pic>
        <p:nvPicPr>
          <p:cNvPr id="15" name="Image 4" descr="preencoded.png">    </p:cNvPr>
          <p:cNvPicPr>
            <a:picLocks noChangeAspect="1"/>
          </p:cNvPicPr>
          <p:nvPr/>
        </p:nvPicPr>
        <p:blipFill>
          <a:blip r:embed="rId5"/>
          <a:stretch>
            <a:fillRect/>
          </a:stretch>
        </p:blipFill>
        <p:spPr>
          <a:xfrm>
            <a:off x="5343754" y="4337914"/>
            <a:ext cx="285293" cy="285293"/>
          </a:xfrm>
          <a:prstGeom prst="rect">
            <a:avLst/>
          </a:prstGeom>
        </p:spPr>
      </p:pic>
      <p:sp>
        <p:nvSpPr>
          <p:cNvPr id="16" name="Text 9"/>
          <p:cNvSpPr txBox="1"/>
          <p:nvPr/>
        </p:nvSpPr>
        <p:spPr>
          <a:xfrm>
            <a:off x="5852160" y="4206240"/>
            <a:ext cx="16002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Masquer</a:t>
            </a:r>
            <a:endParaRPr lang="en-US" sz="1500" dirty="0"/>
          </a:p>
        </p:txBody>
      </p:sp>
      <p:sp>
        <p:nvSpPr>
          <p:cNvPr id="17" name="Text 10"/>
          <p:cNvSpPr txBox="1"/>
          <p:nvPr/>
        </p:nvSpPr>
        <p:spPr>
          <a:xfrm>
            <a:off x="5212080" y="4828032"/>
            <a:ext cx="2194560" cy="12801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le polygone + un halo de 2 km est retiré de toutes les années</a:t>
            </a:r>
            <a:endParaRPr lang="en-US" sz="1250" dirty="0"/>
          </a:p>
        </p:txBody>
      </p:sp>
      <p:sp>
        <p:nvSpPr>
          <p:cNvPr id="18" name="Shape 11"/>
          <p:cNvSpPr/>
          <p:nvPr/>
        </p:nvSpPr>
        <p:spPr>
          <a:xfrm>
            <a:off x="7680960" y="4206240"/>
            <a:ext cx="3977640" cy="1920240"/>
          </a:xfrm>
          <a:prstGeom prst="roundRect">
            <a:avLst>
              <a:gd name="adj" fmla="val 5714"/>
            </a:avLst>
          </a:prstGeom>
          <a:solidFill>
            <a:srgbClr val="FDF6E3"/>
          </a:solidFill>
          <a:ln w="9525">
            <a:solidFill>
              <a:srgbClr val="FDF6E3"/>
            </a:solidFill>
            <a:prstDash val="solid"/>
          </a:ln>
        </p:spPr>
      </p:sp>
      <p:sp>
        <p:nvSpPr>
          <p:cNvPr id="19" name="Text 12"/>
          <p:cNvSpPr txBox="1"/>
          <p:nvPr/>
        </p:nvSpPr>
        <p:spPr>
          <a:xfrm>
            <a:off x="7818120" y="4279392"/>
            <a:ext cx="3703320" cy="177393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Comment lire  </a:t>
            </a:r>
            <a:pPr indent="0" marL="0">
              <a:spcAft>
                <a:spcPts val="200"/>
              </a:spcAft>
              <a:buNone/>
            </a:pPr>
            <a:r>
              <a:rPr lang="en-US" sz="1350" dirty="0">
                <a:solidFill>
                  <a:srgbClr val="231F20"/>
                </a:solidFill>
              </a:rPr>
              <a:t>le tableau de contrôle qualité affiche la part de lumière retirée comme torchère. Dans un pays pétrolier, elle peut être forte : vérifiez la liste exportée (flare_candidates.csv) sur une carte.</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PRÉTRAITEMENT</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Le contrôle qualité : six indicateurs à lire avant toute analyse</a:t>
            </a:r>
            <a:endParaRPr lang="en-US" sz="2800" dirty="0"/>
          </a:p>
        </p:txBody>
      </p:sp>
      <p:sp>
        <p:nvSpPr>
          <p:cNvPr id="4" name="Shape 2"/>
          <p:cNvSpPr/>
          <p:nvPr/>
        </p:nvSpPr>
        <p:spPr>
          <a:xfrm>
            <a:off x="548640" y="1417320"/>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685800" y="1554480"/>
            <a:ext cx="457200" cy="45720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795528" y="1664208"/>
            <a:ext cx="237744" cy="237744"/>
          </a:xfrm>
          <a:prstGeom prst="rect">
            <a:avLst/>
          </a:prstGeom>
        </p:spPr>
      </p:pic>
      <p:sp>
        <p:nvSpPr>
          <p:cNvPr id="7" name="Text 4"/>
          <p:cNvSpPr txBox="1"/>
          <p:nvPr/>
        </p:nvSpPr>
        <p:spPr>
          <a:xfrm>
            <a:off x="1234440" y="1508760"/>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Mois observés (national)</a:t>
            </a:r>
            <a:endParaRPr lang="en-US" sz="1350" dirty="0"/>
          </a:p>
        </p:txBody>
      </p:sp>
      <p:sp>
        <p:nvSpPr>
          <p:cNvPr id="8" name="Text 5"/>
          <p:cNvSpPr txBox="1"/>
          <p:nvPr/>
        </p:nvSpPr>
        <p:spPr>
          <a:xfrm>
            <a:off x="685800" y="2075688"/>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ex. 132 / 132</a:t>
            </a:r>
            <a:endParaRPr lang="en-US" sz="1500" dirty="0"/>
          </a:p>
        </p:txBody>
      </p:sp>
      <p:sp>
        <p:nvSpPr>
          <p:cNvPr id="9" name="Text 6"/>
          <p:cNvSpPr txBox="1"/>
          <p:nvPr/>
        </p:nvSpPr>
        <p:spPr>
          <a:xfrm>
            <a:off x="685800" y="2404872"/>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des trous = séries interrompues</a:t>
            </a:r>
            <a:endParaRPr lang="en-US" sz="1200" dirty="0"/>
          </a:p>
        </p:txBody>
      </p:sp>
      <p:sp>
        <p:nvSpPr>
          <p:cNvPr id="10" name="Shape 7"/>
          <p:cNvSpPr/>
          <p:nvPr/>
        </p:nvSpPr>
        <p:spPr>
          <a:xfrm>
            <a:off x="4206240" y="1417320"/>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Shape 8"/>
          <p:cNvSpPr/>
          <p:nvPr/>
        </p:nvSpPr>
        <p:spPr>
          <a:xfrm>
            <a:off x="4343400" y="1554480"/>
            <a:ext cx="457200" cy="457200"/>
          </a:xfrm>
          <a:prstGeom prst="ellipse">
            <a:avLst/>
          </a:prstGeom>
          <a:solidFill>
            <a:srgbClr val="00704A"/>
          </a:solidFill>
          <a:ln w="12700">
            <a:solidFill>
              <a:srgbClr val="00704A"/>
            </a:solidFill>
            <a:prstDash val="solid"/>
          </a:ln>
        </p:spPr>
      </p:sp>
      <p:pic>
        <p:nvPicPr>
          <p:cNvPr id="12" name="Image 1" descr="preencoded.png">    </p:cNvPr>
          <p:cNvPicPr>
            <a:picLocks noChangeAspect="1"/>
          </p:cNvPicPr>
          <p:nvPr/>
        </p:nvPicPr>
        <p:blipFill>
          <a:blip r:embed="rId2"/>
          <a:stretch>
            <a:fillRect/>
          </a:stretch>
        </p:blipFill>
        <p:spPr>
          <a:xfrm>
            <a:off x="4453128" y="1664208"/>
            <a:ext cx="237744" cy="237744"/>
          </a:xfrm>
          <a:prstGeom prst="rect">
            <a:avLst/>
          </a:prstGeom>
        </p:spPr>
      </p:pic>
      <p:sp>
        <p:nvSpPr>
          <p:cNvPr id="13" name="Text 9"/>
          <p:cNvSpPr txBox="1"/>
          <p:nvPr/>
        </p:nvSpPr>
        <p:spPr>
          <a:xfrm>
            <a:off x="4892040" y="1508760"/>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Couverture moyenne sans nuage</a:t>
            </a:r>
            <a:endParaRPr lang="en-US" sz="1350" dirty="0"/>
          </a:p>
        </p:txBody>
      </p:sp>
      <p:sp>
        <p:nvSpPr>
          <p:cNvPr id="14" name="Text 10"/>
          <p:cNvSpPr txBox="1"/>
          <p:nvPr/>
        </p:nvSpPr>
        <p:spPr>
          <a:xfrm>
            <a:off x="4343400" y="2075688"/>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ex. 94 %</a:t>
            </a:r>
            <a:endParaRPr lang="en-US" sz="1500" dirty="0"/>
          </a:p>
        </p:txBody>
      </p:sp>
      <p:sp>
        <p:nvSpPr>
          <p:cNvPr id="15" name="Text 11"/>
          <p:cNvSpPr txBox="1"/>
          <p:nvPr/>
        </p:nvSpPr>
        <p:spPr>
          <a:xfrm>
            <a:off x="4343400" y="2404872"/>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&lt; 80 % : prudence en saison des pluies</a:t>
            </a:r>
            <a:endParaRPr lang="en-US" sz="1200" dirty="0"/>
          </a:p>
        </p:txBody>
      </p:sp>
      <p:sp>
        <p:nvSpPr>
          <p:cNvPr id="16" name="Shape 12"/>
          <p:cNvSpPr/>
          <p:nvPr/>
        </p:nvSpPr>
        <p:spPr>
          <a:xfrm>
            <a:off x="548640" y="2990088"/>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7" name="Shape 13"/>
          <p:cNvSpPr/>
          <p:nvPr/>
        </p:nvSpPr>
        <p:spPr>
          <a:xfrm>
            <a:off x="685800" y="3127248"/>
            <a:ext cx="457200" cy="457200"/>
          </a:xfrm>
          <a:prstGeom prst="ellipse">
            <a:avLst/>
          </a:prstGeom>
          <a:solidFill>
            <a:srgbClr val="00704A"/>
          </a:solidFill>
          <a:ln w="12700">
            <a:solidFill>
              <a:srgbClr val="00704A"/>
            </a:solidFill>
            <a:prstDash val="solid"/>
          </a:ln>
        </p:spPr>
      </p:sp>
      <p:pic>
        <p:nvPicPr>
          <p:cNvPr id="18" name="Image 2" descr="preencoded.png">    </p:cNvPr>
          <p:cNvPicPr>
            <a:picLocks noChangeAspect="1"/>
          </p:cNvPicPr>
          <p:nvPr/>
        </p:nvPicPr>
        <p:blipFill>
          <a:blip r:embed="rId3"/>
          <a:stretch>
            <a:fillRect/>
          </a:stretch>
        </p:blipFill>
        <p:spPr>
          <a:xfrm>
            <a:off x="795528" y="3236976"/>
            <a:ext cx="237744" cy="237744"/>
          </a:xfrm>
          <a:prstGeom prst="rect">
            <a:avLst/>
          </a:prstGeom>
        </p:spPr>
      </p:pic>
      <p:sp>
        <p:nvSpPr>
          <p:cNvPr id="19" name="Text 14"/>
          <p:cNvSpPr txBox="1"/>
          <p:nvPr/>
        </p:nvSpPr>
        <p:spPr>
          <a:xfrm>
            <a:off x="1234440" y="3081528"/>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Unités-mois exclues</a:t>
            </a:r>
            <a:endParaRPr lang="en-US" sz="1350" dirty="0"/>
          </a:p>
        </p:txBody>
      </p:sp>
      <p:sp>
        <p:nvSpPr>
          <p:cNvPr id="20" name="Text 15"/>
          <p:cNvSpPr txBox="1"/>
          <p:nvPr/>
        </p:nvSpPr>
        <p:spPr>
          <a:xfrm>
            <a:off x="685800" y="3648456"/>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ex. 3,1 %</a:t>
            </a:r>
            <a:endParaRPr lang="en-US" sz="1500" dirty="0"/>
          </a:p>
        </p:txBody>
      </p:sp>
      <p:sp>
        <p:nvSpPr>
          <p:cNvPr id="21" name="Text 16"/>
          <p:cNvSpPr txBox="1"/>
          <p:nvPr/>
        </p:nvSpPr>
        <p:spPr>
          <a:xfrm>
            <a:off x="685800" y="3977640"/>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élevé : séries régionales fragiles</a:t>
            </a:r>
            <a:endParaRPr lang="en-US" sz="1200" dirty="0"/>
          </a:p>
        </p:txBody>
      </p:sp>
      <p:sp>
        <p:nvSpPr>
          <p:cNvPr id="22" name="Shape 17"/>
          <p:cNvSpPr/>
          <p:nvPr/>
        </p:nvSpPr>
        <p:spPr>
          <a:xfrm>
            <a:off x="4206240" y="2990088"/>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3" name="Shape 18"/>
          <p:cNvSpPr/>
          <p:nvPr/>
        </p:nvSpPr>
        <p:spPr>
          <a:xfrm>
            <a:off x="4343400" y="3127248"/>
            <a:ext cx="457200" cy="457200"/>
          </a:xfrm>
          <a:prstGeom prst="ellipse">
            <a:avLst/>
          </a:prstGeom>
          <a:solidFill>
            <a:srgbClr val="00704A"/>
          </a:solidFill>
          <a:ln w="12700">
            <a:solidFill>
              <a:srgbClr val="00704A"/>
            </a:solidFill>
            <a:prstDash val="solid"/>
          </a:ln>
        </p:spPr>
      </p:sp>
      <p:pic>
        <p:nvPicPr>
          <p:cNvPr id="24" name="Image 3" descr="preencoded.png">    </p:cNvPr>
          <p:cNvPicPr>
            <a:picLocks noChangeAspect="1"/>
          </p:cNvPicPr>
          <p:nvPr/>
        </p:nvPicPr>
        <p:blipFill>
          <a:blip r:embed="rId4"/>
          <a:stretch>
            <a:fillRect/>
          </a:stretch>
        </p:blipFill>
        <p:spPr>
          <a:xfrm>
            <a:off x="4453128" y="3236976"/>
            <a:ext cx="237744" cy="237744"/>
          </a:xfrm>
          <a:prstGeom prst="rect">
            <a:avLst/>
          </a:prstGeom>
        </p:spPr>
      </p:pic>
      <p:sp>
        <p:nvSpPr>
          <p:cNvPr id="25" name="Text 19"/>
          <p:cNvSpPr txBox="1"/>
          <p:nvPr/>
        </p:nvSpPr>
        <p:spPr>
          <a:xfrm>
            <a:off x="4892040" y="3081528"/>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Lumière retirée (torchères)</a:t>
            </a:r>
            <a:endParaRPr lang="en-US" sz="1350" dirty="0"/>
          </a:p>
        </p:txBody>
      </p:sp>
      <p:sp>
        <p:nvSpPr>
          <p:cNvPr id="26" name="Text 20"/>
          <p:cNvSpPr txBox="1"/>
          <p:nvPr/>
        </p:nvSpPr>
        <p:spPr>
          <a:xfrm>
            <a:off x="4343400" y="3648456"/>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ex. 0,8 %</a:t>
            </a:r>
            <a:endParaRPr lang="en-US" sz="1500" dirty="0"/>
          </a:p>
        </p:txBody>
      </p:sp>
      <p:sp>
        <p:nvSpPr>
          <p:cNvPr id="27" name="Text 21"/>
          <p:cNvSpPr txBox="1"/>
          <p:nvPr/>
        </p:nvSpPr>
        <p:spPr>
          <a:xfrm>
            <a:off x="4343400" y="3977640"/>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élevé : vérifier les sites masqués</a:t>
            </a:r>
            <a:endParaRPr lang="en-US" sz="1200" dirty="0"/>
          </a:p>
        </p:txBody>
      </p:sp>
      <p:sp>
        <p:nvSpPr>
          <p:cNvPr id="28" name="Shape 22"/>
          <p:cNvSpPr/>
          <p:nvPr/>
        </p:nvSpPr>
        <p:spPr>
          <a:xfrm>
            <a:off x="548640" y="4562856"/>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9" name="Shape 23"/>
          <p:cNvSpPr/>
          <p:nvPr/>
        </p:nvSpPr>
        <p:spPr>
          <a:xfrm>
            <a:off x="685800" y="4700016"/>
            <a:ext cx="457200" cy="457200"/>
          </a:xfrm>
          <a:prstGeom prst="ellipse">
            <a:avLst/>
          </a:prstGeom>
          <a:solidFill>
            <a:srgbClr val="00704A"/>
          </a:solidFill>
          <a:ln w="12700">
            <a:solidFill>
              <a:srgbClr val="00704A"/>
            </a:solidFill>
            <a:prstDash val="solid"/>
          </a:ln>
        </p:spPr>
      </p:sp>
      <p:pic>
        <p:nvPicPr>
          <p:cNvPr id="30" name="Image 4" descr="preencoded.png">    </p:cNvPr>
          <p:cNvPicPr>
            <a:picLocks noChangeAspect="1"/>
          </p:cNvPicPr>
          <p:nvPr/>
        </p:nvPicPr>
        <p:blipFill>
          <a:blip r:embed="rId5"/>
          <a:stretch>
            <a:fillRect/>
          </a:stretch>
        </p:blipFill>
        <p:spPr>
          <a:xfrm>
            <a:off x="795528" y="4809744"/>
            <a:ext cx="237744" cy="237744"/>
          </a:xfrm>
          <a:prstGeom prst="rect">
            <a:avLst/>
          </a:prstGeom>
        </p:spPr>
      </p:pic>
      <p:sp>
        <p:nvSpPr>
          <p:cNvPr id="31" name="Text 24"/>
          <p:cNvSpPr txBox="1"/>
          <p:nvPr/>
        </p:nvSpPr>
        <p:spPr>
          <a:xfrm>
            <a:off x="1234440" y="4654296"/>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Source de population</a:t>
            </a:r>
            <a:endParaRPr lang="en-US" sz="1350" dirty="0"/>
          </a:p>
        </p:txBody>
      </p:sp>
      <p:sp>
        <p:nvSpPr>
          <p:cNvPr id="32" name="Text 25"/>
          <p:cNvSpPr txBox="1"/>
          <p:nvPr/>
        </p:nvSpPr>
        <p:spPr>
          <a:xfrm>
            <a:off x="685800" y="5221224"/>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GHSL — 2025</a:t>
            </a:r>
            <a:endParaRPr lang="en-US" sz="1500" dirty="0"/>
          </a:p>
        </p:txBody>
      </p:sp>
      <p:sp>
        <p:nvSpPr>
          <p:cNvPr id="33" name="Text 26"/>
          <p:cNvSpPr txBox="1"/>
          <p:nvPr/>
        </p:nvSpPr>
        <p:spPr>
          <a:xfrm>
            <a:off x="685800" y="5550408"/>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GHSL par défaut, WorldPop en option</a:t>
            </a:r>
            <a:endParaRPr lang="en-US" sz="1200" dirty="0"/>
          </a:p>
        </p:txBody>
      </p:sp>
      <p:sp>
        <p:nvSpPr>
          <p:cNvPr id="34" name="Shape 27"/>
          <p:cNvSpPr/>
          <p:nvPr/>
        </p:nvSpPr>
        <p:spPr>
          <a:xfrm>
            <a:off x="4206240" y="4562856"/>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5" name="Shape 28"/>
          <p:cNvSpPr/>
          <p:nvPr/>
        </p:nvSpPr>
        <p:spPr>
          <a:xfrm>
            <a:off x="4343400" y="4700016"/>
            <a:ext cx="457200" cy="457200"/>
          </a:xfrm>
          <a:prstGeom prst="ellipse">
            <a:avLst/>
          </a:prstGeom>
          <a:solidFill>
            <a:srgbClr val="00704A"/>
          </a:solidFill>
          <a:ln w="12700">
            <a:solidFill>
              <a:srgbClr val="00704A"/>
            </a:solidFill>
            <a:prstDash val="solid"/>
          </a:ln>
        </p:spPr>
      </p:sp>
      <p:pic>
        <p:nvPicPr>
          <p:cNvPr id="36" name="Image 5" descr="preencoded.png">    </p:cNvPr>
          <p:cNvPicPr>
            <a:picLocks noChangeAspect="1"/>
          </p:cNvPicPr>
          <p:nvPr/>
        </p:nvPicPr>
        <p:blipFill>
          <a:blip r:embed="rId6"/>
          <a:stretch>
            <a:fillRect/>
          </a:stretch>
        </p:blipFill>
        <p:spPr>
          <a:xfrm>
            <a:off x="4453128" y="4809744"/>
            <a:ext cx="237744" cy="237744"/>
          </a:xfrm>
          <a:prstGeom prst="rect">
            <a:avLst/>
          </a:prstGeom>
        </p:spPr>
      </p:pic>
      <p:sp>
        <p:nvSpPr>
          <p:cNvPr id="37" name="Text 29"/>
          <p:cNvSpPr txBox="1"/>
          <p:nvPr/>
        </p:nvSpPr>
        <p:spPr>
          <a:xfrm>
            <a:off x="4892040" y="4654296"/>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Saturation DMSP</a:t>
            </a:r>
            <a:endParaRPr lang="en-US" sz="1350" dirty="0"/>
          </a:p>
        </p:txBody>
      </p:sp>
      <p:sp>
        <p:nvSpPr>
          <p:cNvPr id="38" name="Text 30"/>
          <p:cNvSpPr txBox="1"/>
          <p:nvPr/>
        </p:nvSpPr>
        <p:spPr>
          <a:xfrm>
            <a:off x="4343400" y="5221224"/>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ex. 0,45 %</a:t>
            </a:r>
            <a:endParaRPr lang="en-US" sz="1500" dirty="0"/>
          </a:p>
        </p:txBody>
      </p:sp>
      <p:sp>
        <p:nvSpPr>
          <p:cNvPr id="39" name="Text 31"/>
          <p:cNvSpPr txBox="1"/>
          <p:nvPr/>
        </p:nvSpPr>
        <p:spPr>
          <a:xfrm>
            <a:off x="4343400" y="5550408"/>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élevé : série longue moins fiable en ville</a:t>
            </a:r>
            <a:endParaRPr lang="en-US" sz="1200" dirty="0"/>
          </a:p>
        </p:txBody>
      </p:sp>
      <p:sp>
        <p:nvSpPr>
          <p:cNvPr id="40" name="Shape 32"/>
          <p:cNvSpPr/>
          <p:nvPr/>
        </p:nvSpPr>
        <p:spPr>
          <a:xfrm>
            <a:off x="8001000" y="1417320"/>
            <a:ext cx="3657600" cy="2743200"/>
          </a:xfrm>
          <a:prstGeom prst="roundRect">
            <a:avLst>
              <a:gd name="adj" fmla="val 4000"/>
            </a:avLst>
          </a:prstGeom>
          <a:solidFill>
            <a:srgbClr val="00553A"/>
          </a:solidFill>
          <a:ln w="9525">
            <a:solidFill>
              <a:srgbClr val="00553A"/>
            </a:solidFill>
            <a:prstDash val="solid"/>
          </a:ln>
          <a:effectLst>
            <a:outerShdw sx="100000" sy="100000" kx="0" ky="0" algn="bl" rotWithShape="0" blurRad="101600" dist="25400" dir="5400000">
              <a:srgbClr val="9CA3AF">
                <a:alpha val="25000"/>
              </a:srgbClr>
            </a:outerShdw>
          </a:effectLst>
        </p:spPr>
      </p:sp>
      <p:sp>
        <p:nvSpPr>
          <p:cNvPr id="41" name="Text 33"/>
          <p:cNvSpPr txBox="1"/>
          <p:nvPr/>
        </p:nvSpPr>
        <p:spPr>
          <a:xfrm>
            <a:off x="8183880" y="1508760"/>
            <a:ext cx="3291840" cy="365760"/>
          </a:xfrm>
          <a:prstGeom prst="rect">
            <a:avLst/>
          </a:prstGeom>
          <a:noFill/>
          <a:ln/>
        </p:spPr>
        <p:txBody>
          <a:bodyPr wrap="square" lIns="635" tIns="635" rIns="635" bIns="635" rtlCol="0" anchor="t"/>
          <a:lstStyle/>
          <a:p>
            <a:pPr indent="0" marL="0">
              <a:spcAft>
                <a:spcPts val="200"/>
              </a:spcAft>
              <a:buNone/>
            </a:pPr>
            <a:r>
              <a:rPr lang="en-US" sz="1600" b="1" dirty="0">
                <a:solidFill>
                  <a:srgbClr val="F5C242"/>
                </a:solidFill>
              </a:rPr>
              <a:t>Jonction DMSP → VIIRS</a:t>
            </a:r>
            <a:endParaRPr lang="en-US" sz="1600" dirty="0"/>
          </a:p>
        </p:txBody>
      </p:sp>
      <p:sp>
        <p:nvSpPr>
          <p:cNvPr id="42" name="Text 34"/>
          <p:cNvSpPr txBox="1"/>
          <p:nvPr/>
        </p:nvSpPr>
        <p:spPr>
          <a:xfrm>
            <a:off x="8183880" y="1920240"/>
            <a:ext cx="3291840" cy="2148840"/>
          </a:xfrm>
          <a:prstGeom prst="rect">
            <a:avLst/>
          </a:prstGeom>
          <a:noFill/>
          <a:ln/>
        </p:spPr>
        <p:txBody>
          <a:bodyPr wrap="square" lIns="635" tIns="635" rIns="635" bIns="635" rtlCol="0" anchor="t"/>
          <a:lstStyle/>
          <a:p>
            <a:pPr indent="0" marL="0">
              <a:spcAft>
                <a:spcPts val="200"/>
              </a:spcAft>
              <a:buNone/>
            </a:pPr>
            <a:r>
              <a:rPr lang="en-US" sz="1300" dirty="0">
                <a:solidFill>
                  <a:srgbClr val="FFFFFF"/>
                </a:solidFill>
              </a:rPr>
              <a:t>Le notebook compare la croissance 2012→13, la jonction 2013→14 et 2014→15. Un saut à la jonction très différent des années voisines signale un résidu de rupture de capteur : la série longue doit alors être lue avec prudence.</a:t>
            </a:r>
            <a:endParaRPr lang="en-US" sz="1300" dirty="0"/>
          </a:p>
        </p:txBody>
      </p:sp>
      <p:sp>
        <p:nvSpPr>
          <p:cNvPr id="43" name="Shape 35"/>
          <p:cNvSpPr/>
          <p:nvPr/>
        </p:nvSpPr>
        <p:spPr>
          <a:xfrm>
            <a:off x="8001000" y="4343400"/>
            <a:ext cx="3657600" cy="1737360"/>
          </a:xfrm>
          <a:prstGeom prst="roundRect">
            <a:avLst>
              <a:gd name="adj" fmla="val 6316"/>
            </a:avLst>
          </a:prstGeom>
          <a:solidFill>
            <a:srgbClr val="FDF6E3"/>
          </a:solidFill>
          <a:ln w="9525">
            <a:solidFill>
              <a:srgbClr val="FDF6E3"/>
            </a:solidFill>
            <a:prstDash val="solid"/>
          </a:ln>
        </p:spPr>
      </p:sp>
      <p:sp>
        <p:nvSpPr>
          <p:cNvPr id="44" name="Text 36"/>
          <p:cNvSpPr txBox="1"/>
          <p:nvPr/>
        </p:nvSpPr>
        <p:spPr>
          <a:xfrm>
            <a:off x="8138160" y="4416552"/>
            <a:ext cx="3383280" cy="159105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Comment lire  </a:t>
            </a:r>
            <a:pPr indent="0" marL="0">
              <a:spcAft>
                <a:spcPts val="200"/>
              </a:spcAft>
              <a:buNone/>
            </a:pPr>
            <a:r>
              <a:rPr lang="en-US" sz="1350" dirty="0">
                <a:solidFill>
                  <a:srgbClr val="231F20"/>
                </a:solidFill>
              </a:rPr>
              <a:t>les valeurs « ex. » sont des exemples de format. Si l'un des indicateurs est élevé, les résultats qui en dépendent sont moins fiables.</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4</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Exploration : regarder avant de calculer</a:t>
            </a:r>
            <a:endParaRPr lang="en-US" sz="2800" dirty="0"/>
          </a:p>
        </p:txBody>
      </p:sp>
      <p:pic>
        <p:nvPicPr>
          <p:cNvPr id="4" name="Image 0" descr="/tmp/claude-0/-home-claude/8a8742ef-7d0d-54fc-a0c9-7ecbfc9f8b73/scratchpad/deck/img/distribution_fr.png">    </p:cNvPr>
          <p:cNvPicPr>
            <a:picLocks noChangeAspect="1"/>
          </p:cNvPicPr>
          <p:nvPr/>
        </p:nvPicPr>
        <p:blipFill>
          <a:blip r:embed="rId1"/>
          <a:stretch>
            <a:fillRect/>
          </a:stretch>
        </p:blipFill>
        <p:spPr>
          <a:xfrm>
            <a:off x="548640" y="1396068"/>
            <a:ext cx="6766560" cy="2694265"/>
          </a:xfrm>
          <a:prstGeom prst="rect">
            <a:avLst/>
          </a:prstGeom>
        </p:spPr>
      </p:pic>
      <p:pic>
        <p:nvPicPr>
          <p:cNvPr id="5" name="Image 1" descr="/tmp/claude-0/-home-claude/8a8742ef-7d0d-54fc-a0c9-7ecbfc9f8b73/scratchpad/deck/real/ghana_map.png">    </p:cNvPr>
          <p:cNvPicPr>
            <a:picLocks noChangeAspect="1"/>
          </p:cNvPicPr>
          <p:nvPr/>
        </p:nvPicPr>
        <p:blipFill>
          <a:blip r:embed="rId2"/>
          <a:stretch>
            <a:fillRect/>
          </a:stretch>
        </p:blipFill>
        <p:spPr>
          <a:xfrm>
            <a:off x="8073811" y="1325880"/>
            <a:ext cx="3100499" cy="3611880"/>
          </a:xfrm>
          <a:prstGeom prst="rect">
            <a:avLst/>
          </a:prstGeom>
        </p:spPr>
      </p:pic>
      <p:sp>
        <p:nvSpPr>
          <p:cNvPr id="6" name="Text 2"/>
          <p:cNvSpPr txBox="1"/>
          <p:nvPr/>
        </p:nvSpPr>
        <p:spPr>
          <a:xfrm>
            <a:off x="7589520" y="4937760"/>
            <a:ext cx="406908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Black Marble annuel 2025, Ghana (réel). Source : blackmarblepy (MIT).</a:t>
            </a:r>
            <a:endParaRPr lang="en-US" sz="1000" dirty="0"/>
          </a:p>
        </p:txBody>
      </p:sp>
      <p:sp>
        <p:nvSpPr>
          <p:cNvPr id="7" name="Shape 3"/>
          <p:cNvSpPr/>
          <p:nvPr/>
        </p:nvSpPr>
        <p:spPr>
          <a:xfrm>
            <a:off x="548640" y="4343400"/>
            <a:ext cx="502920" cy="502920"/>
          </a:xfrm>
          <a:prstGeom prst="ellipse">
            <a:avLst/>
          </a:prstGeom>
          <a:solidFill>
            <a:srgbClr val="00704A"/>
          </a:solidFill>
          <a:ln w="12700">
            <a:solidFill>
              <a:srgbClr val="00704A"/>
            </a:solidFill>
            <a:prstDash val="solid"/>
          </a:ln>
        </p:spPr>
      </p:sp>
      <p:pic>
        <p:nvPicPr>
          <p:cNvPr id="8" name="Image 2" descr="preencoded.png">    </p:cNvPr>
          <p:cNvPicPr>
            <a:picLocks noChangeAspect="1"/>
          </p:cNvPicPr>
          <p:nvPr/>
        </p:nvPicPr>
        <p:blipFill>
          <a:blip r:embed="rId3"/>
          <a:stretch>
            <a:fillRect/>
          </a:stretch>
        </p:blipFill>
        <p:spPr>
          <a:xfrm>
            <a:off x="669341" y="4464101"/>
            <a:ext cx="261518" cy="261518"/>
          </a:xfrm>
          <a:prstGeom prst="rect">
            <a:avLst/>
          </a:prstGeom>
        </p:spPr>
      </p:pic>
      <p:sp>
        <p:nvSpPr>
          <p:cNvPr id="9" name="Text 4"/>
          <p:cNvSpPr txBox="1"/>
          <p:nvPr/>
        </p:nvSpPr>
        <p:spPr>
          <a:xfrm>
            <a:off x="1143000" y="4315968"/>
            <a:ext cx="1645920" cy="566928"/>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Carte interactive</a:t>
            </a:r>
            <a:endParaRPr lang="en-US" sz="1350" dirty="0"/>
          </a:p>
        </p:txBody>
      </p:sp>
      <p:sp>
        <p:nvSpPr>
          <p:cNvPr id="10" name="Text 5"/>
          <p:cNvSpPr txBox="1"/>
          <p:nvPr/>
        </p:nvSpPr>
        <p:spPr>
          <a:xfrm>
            <a:off x="548640" y="4919472"/>
            <a:ext cx="2148840" cy="5486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composite annuel avec curseur temporel</a:t>
            </a:r>
            <a:endParaRPr lang="en-US" sz="1250" dirty="0"/>
          </a:p>
        </p:txBody>
      </p:sp>
      <p:sp>
        <p:nvSpPr>
          <p:cNvPr id="11" name="Shape 6"/>
          <p:cNvSpPr/>
          <p:nvPr/>
        </p:nvSpPr>
        <p:spPr>
          <a:xfrm>
            <a:off x="2834640" y="4343400"/>
            <a:ext cx="502920" cy="502920"/>
          </a:xfrm>
          <a:prstGeom prst="ellipse">
            <a:avLst/>
          </a:prstGeom>
          <a:solidFill>
            <a:srgbClr val="00704A"/>
          </a:solidFill>
          <a:ln w="12700">
            <a:solidFill>
              <a:srgbClr val="00704A"/>
            </a:solidFill>
            <a:prstDash val="solid"/>
          </a:ln>
        </p:spPr>
      </p:sp>
      <p:pic>
        <p:nvPicPr>
          <p:cNvPr id="12" name="Image 3" descr="preencoded.png">    </p:cNvPr>
          <p:cNvPicPr>
            <a:picLocks noChangeAspect="1"/>
          </p:cNvPicPr>
          <p:nvPr/>
        </p:nvPicPr>
        <p:blipFill>
          <a:blip r:embed="rId4"/>
          <a:stretch>
            <a:fillRect/>
          </a:stretch>
        </p:blipFill>
        <p:spPr>
          <a:xfrm>
            <a:off x="2955341" y="4464101"/>
            <a:ext cx="261518" cy="261518"/>
          </a:xfrm>
          <a:prstGeom prst="rect">
            <a:avLst/>
          </a:prstGeom>
        </p:spPr>
      </p:pic>
      <p:sp>
        <p:nvSpPr>
          <p:cNvPr id="13" name="Text 7"/>
          <p:cNvSpPr txBox="1"/>
          <p:nvPr/>
        </p:nvSpPr>
        <p:spPr>
          <a:xfrm>
            <a:off x="3429000" y="4315968"/>
            <a:ext cx="1645920" cy="566928"/>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Avant / après</a:t>
            </a:r>
            <a:endParaRPr lang="en-US" sz="1350" dirty="0"/>
          </a:p>
        </p:txBody>
      </p:sp>
      <p:sp>
        <p:nvSpPr>
          <p:cNvPr id="14" name="Text 8"/>
          <p:cNvSpPr txBox="1"/>
          <p:nvPr/>
        </p:nvSpPr>
        <p:spPr>
          <a:xfrm>
            <a:off x="2834640" y="4919472"/>
            <a:ext cx="2148840" cy="5486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première vs dernière année, carte scindée</a:t>
            </a:r>
            <a:endParaRPr lang="en-US" sz="1250" dirty="0"/>
          </a:p>
        </p:txBody>
      </p:sp>
      <p:sp>
        <p:nvSpPr>
          <p:cNvPr id="15" name="Shape 9"/>
          <p:cNvSpPr/>
          <p:nvPr/>
        </p:nvSpPr>
        <p:spPr>
          <a:xfrm>
            <a:off x="5120640" y="4343400"/>
            <a:ext cx="502920" cy="502920"/>
          </a:xfrm>
          <a:prstGeom prst="ellipse">
            <a:avLst/>
          </a:prstGeom>
          <a:solidFill>
            <a:srgbClr val="00704A"/>
          </a:solidFill>
          <a:ln w="12700">
            <a:solidFill>
              <a:srgbClr val="00704A"/>
            </a:solidFill>
            <a:prstDash val="solid"/>
          </a:ln>
        </p:spPr>
      </p:sp>
      <p:pic>
        <p:nvPicPr>
          <p:cNvPr id="16" name="Image 4" descr="preencoded.png">    </p:cNvPr>
          <p:cNvPicPr>
            <a:picLocks noChangeAspect="1"/>
          </p:cNvPicPr>
          <p:nvPr/>
        </p:nvPicPr>
        <p:blipFill>
          <a:blip r:embed="rId5"/>
          <a:stretch>
            <a:fillRect/>
          </a:stretch>
        </p:blipFill>
        <p:spPr>
          <a:xfrm>
            <a:off x="5241341" y="4464101"/>
            <a:ext cx="261518" cy="261518"/>
          </a:xfrm>
          <a:prstGeom prst="rect">
            <a:avLst/>
          </a:prstGeom>
        </p:spPr>
      </p:pic>
      <p:sp>
        <p:nvSpPr>
          <p:cNvPr id="17" name="Text 10"/>
          <p:cNvSpPr txBox="1"/>
          <p:nvPr/>
        </p:nvSpPr>
        <p:spPr>
          <a:xfrm>
            <a:off x="5715000" y="4315968"/>
            <a:ext cx="1645920" cy="566928"/>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Statistiques ADM1</a:t>
            </a:r>
            <a:endParaRPr lang="en-US" sz="1350" dirty="0"/>
          </a:p>
        </p:txBody>
      </p:sp>
      <p:sp>
        <p:nvSpPr>
          <p:cNvPr id="18" name="Text 11"/>
          <p:cNvSpPr txBox="1"/>
          <p:nvPr/>
        </p:nvSpPr>
        <p:spPr>
          <a:xfrm>
            <a:off x="5120640" y="4919472"/>
            <a:ext cx="2148840" cy="5486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SoL, part nationale, lumière/hab.</a:t>
            </a:r>
            <a:endParaRPr lang="en-US" sz="1250" dirty="0"/>
          </a:p>
        </p:txBody>
      </p:sp>
      <p:sp>
        <p:nvSpPr>
          <p:cNvPr id="19" name="Shape 12"/>
          <p:cNvSpPr/>
          <p:nvPr/>
        </p:nvSpPr>
        <p:spPr>
          <a:xfrm>
            <a:off x="548640" y="5532120"/>
            <a:ext cx="6766560" cy="685800"/>
          </a:xfrm>
          <a:prstGeom prst="roundRect">
            <a:avLst>
              <a:gd name="adj" fmla="val 16000"/>
            </a:avLst>
          </a:prstGeom>
          <a:solidFill>
            <a:srgbClr val="FDF6E3"/>
          </a:solidFill>
          <a:ln w="9525">
            <a:solidFill>
              <a:srgbClr val="FDF6E3"/>
            </a:solidFill>
            <a:prstDash val="solid"/>
          </a:ln>
        </p:spPr>
      </p:sp>
      <p:sp>
        <p:nvSpPr>
          <p:cNvPr id="20" name="Text 13"/>
          <p:cNvSpPr txBox="1"/>
          <p:nvPr/>
        </p:nvSpPr>
        <p:spPr>
          <a:xfrm>
            <a:off x="685800" y="5605272"/>
            <a:ext cx="6492240" cy="539496"/>
          </a:xfrm>
          <a:prstGeom prst="rect">
            <a:avLst/>
          </a:prstGeom>
          <a:noFill/>
          <a:ln/>
        </p:spPr>
        <p:txBody>
          <a:bodyPr wrap="square" lIns="635" tIns="635" rIns="635" bIns="635" rtlCol="0" anchor="ctr"/>
          <a:lstStyle/>
          <a:p>
            <a:pPr indent="0" marL="0">
              <a:spcAft>
                <a:spcPts val="200"/>
              </a:spcAft>
              <a:buNone/>
            </a:pPr>
            <a:r>
              <a:rPr lang="en-US" sz="1250" b="1" dirty="0">
                <a:solidFill>
                  <a:srgbClr val="B7791F"/>
                </a:solidFill>
              </a:rPr>
              <a:t>Comment lire  </a:t>
            </a:r>
            <a:pPr indent="0" marL="0">
              <a:spcAft>
                <a:spcPts val="200"/>
              </a:spcAft>
              <a:buNone/>
            </a:pPr>
            <a:r>
              <a:rPr lang="en-US" sz="1250" dirty="0">
                <a:solidFill>
                  <a:srgbClr val="231F20"/>
                </a:solidFill>
              </a:rPr>
              <a:t>la radiance est très asymétrique : quelques pixels urbains très brillants, beaucoup de pixels faibles. On cartographie donc en échelle log.</a:t>
            </a:r>
            <a:endParaRPr lang="en-US" sz="1250" dirty="0"/>
          </a:p>
        </p:txBody>
      </p:sp>
      <p:sp>
        <p:nvSpPr>
          <p:cNvPr id="21" name="Shape 14"/>
          <p:cNvSpPr/>
          <p:nvPr/>
        </p:nvSpPr>
        <p:spPr>
          <a:xfrm>
            <a:off x="7589520" y="5303520"/>
            <a:ext cx="4069080" cy="868680"/>
          </a:xfrm>
          <a:prstGeom prst="roundRect">
            <a:avLst>
              <a:gd name="adj" fmla="val 12632"/>
            </a:avLst>
          </a:prstGeom>
          <a:solidFill>
            <a:srgbClr val="FBECEC"/>
          </a:solidFill>
          <a:ln w="9525">
            <a:solidFill>
              <a:srgbClr val="FBECEC"/>
            </a:solidFill>
            <a:prstDash val="solid"/>
          </a:ln>
        </p:spPr>
      </p:sp>
      <p:sp>
        <p:nvSpPr>
          <p:cNvPr id="22" name="Text 15"/>
          <p:cNvSpPr txBox="1"/>
          <p:nvPr/>
        </p:nvSpPr>
        <p:spPr>
          <a:xfrm>
            <a:off x="7726680" y="5376672"/>
            <a:ext cx="3794760" cy="722376"/>
          </a:xfrm>
          <a:prstGeom prst="rect">
            <a:avLst/>
          </a:prstGeom>
          <a:noFill/>
          <a:ln/>
        </p:spPr>
        <p:txBody>
          <a:bodyPr wrap="square" lIns="635" tIns="635" rIns="635" bIns="635" rtlCol="0" anchor="ctr"/>
          <a:lstStyle/>
          <a:p>
            <a:pPr indent="0" marL="0">
              <a:spcAft>
                <a:spcPts val="200"/>
              </a:spcAft>
              <a:buNone/>
            </a:pPr>
            <a:r>
              <a:rPr lang="en-US" sz="1250" b="1" dirty="0">
                <a:solidFill>
                  <a:srgbClr val="D64545"/>
                </a:solidFill>
              </a:rPr>
              <a:t>Piège à éviter  </a:t>
            </a:r>
            <a:pPr indent="0" marL="0">
              <a:spcAft>
                <a:spcPts val="200"/>
              </a:spcAft>
              <a:buNone/>
            </a:pPr>
            <a:r>
              <a:rPr lang="en-US" sz="1250" dirty="0">
                <a:solidFill>
                  <a:srgbClr val="231F20"/>
                </a:solidFill>
              </a:rPr>
              <a:t>prendre une torchère résiduelle ou un site isolé très brillant pour une ville</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5</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Saisonnalité et décomposition STL</a:t>
            </a:r>
            <a:endParaRPr lang="en-US" sz="2800" dirty="0"/>
          </a:p>
        </p:txBody>
      </p:sp>
      <p:pic>
        <p:nvPicPr>
          <p:cNvPr id="4" name="Image 0" descr="/tmp/claude-0/-home-claude/8a8742ef-7d0d-54fc-a0c9-7ecbfc9f8b73/scratchpad/deck/img/stl_fr.png">    </p:cNvPr>
          <p:cNvPicPr>
            <a:picLocks noChangeAspect="1"/>
          </p:cNvPicPr>
          <p:nvPr/>
        </p:nvPicPr>
        <p:blipFill>
          <a:blip r:embed="rId1"/>
          <a:stretch>
            <a:fillRect/>
          </a:stretch>
        </p:blipFill>
        <p:spPr>
          <a:xfrm>
            <a:off x="548640" y="1574823"/>
            <a:ext cx="6675120" cy="4348434"/>
          </a:xfrm>
          <a:prstGeom prst="rect">
            <a:avLst/>
          </a:prstGeom>
        </p:spPr>
      </p:pic>
      <p:sp>
        <p:nvSpPr>
          <p:cNvPr id="5" name="Shape 2"/>
          <p:cNvSpPr/>
          <p:nvPr/>
        </p:nvSpPr>
        <p:spPr>
          <a:xfrm>
            <a:off x="7452360" y="1371600"/>
            <a:ext cx="4206240" cy="1417320"/>
          </a:xfrm>
          <a:prstGeom prst="roundRect">
            <a:avLst>
              <a:gd name="adj" fmla="val 7742"/>
            </a:avLst>
          </a:prstGeom>
          <a:solidFill>
            <a:srgbClr val="E8F5EF"/>
          </a:solidFill>
          <a:ln w="9525">
            <a:solidFill>
              <a:srgbClr val="E8F5EF"/>
            </a:solidFill>
            <a:prstDash val="solid"/>
          </a:ln>
        </p:spPr>
      </p:sp>
      <p:sp>
        <p:nvSpPr>
          <p:cNvPr id="6" name="Text 3"/>
          <p:cNvSpPr txBox="1"/>
          <p:nvPr/>
        </p:nvSpPr>
        <p:spPr>
          <a:xfrm>
            <a:off x="7589520" y="1417320"/>
            <a:ext cx="393192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Question économique</a:t>
            </a:r>
            <a:endParaRPr lang="en-US" sz="1400" dirty="0"/>
          </a:p>
        </p:txBody>
      </p:sp>
      <p:sp>
        <p:nvSpPr>
          <p:cNvPr id="7" name="Text 4"/>
          <p:cNvSpPr txBox="1"/>
          <p:nvPr/>
        </p:nvSpPr>
        <p:spPr>
          <a:xfrm>
            <a:off x="7589520" y="1737360"/>
            <a:ext cx="3931920" cy="1005840"/>
          </a:xfrm>
          <a:prstGeom prst="rect">
            <a:avLst/>
          </a:prstGeom>
          <a:noFill/>
          <a:ln/>
        </p:spPr>
        <p:txBody>
          <a:bodyPr wrap="square" lIns="635" tIns="635" rIns="635" bIns="635" rtlCol="0" anchor="t"/>
          <a:lstStyle/>
          <a:p>
            <a:pPr indent="0" marL="0">
              <a:spcAft>
                <a:spcPts val="200"/>
              </a:spcAft>
              <a:buNone/>
            </a:pPr>
            <a:r>
              <a:rPr lang="en-US" sz="1400" dirty="0">
                <a:solidFill>
                  <a:srgbClr val="231F20"/>
                </a:solidFill>
              </a:rPr>
              <a:t>L'activité lumineuse progresse-t-elle vraiment, une fois retirés les effets de saison ?</a:t>
            </a:r>
            <a:endParaRPr lang="en-US" sz="1400" dirty="0"/>
          </a:p>
        </p:txBody>
      </p:sp>
      <p:sp>
        <p:nvSpPr>
          <p:cNvPr id="8" name="Shape 5"/>
          <p:cNvSpPr/>
          <p:nvPr/>
        </p:nvSpPr>
        <p:spPr>
          <a:xfrm>
            <a:off x="7452360" y="2926080"/>
            <a:ext cx="4206240" cy="548640"/>
          </a:xfrm>
          <a:prstGeom prst="roundRect">
            <a:avLst>
              <a:gd name="adj" fmla="val 20000"/>
            </a:avLst>
          </a:prstGeom>
          <a:solidFill>
            <a:srgbClr val="EAF2FB"/>
          </a:solidFill>
          <a:ln w="9525">
            <a:solidFill>
              <a:srgbClr val="EAF2FB"/>
            </a:solidFill>
            <a:prstDash val="solid"/>
          </a:ln>
        </p:spPr>
      </p:sp>
      <p:sp>
        <p:nvSpPr>
          <p:cNvPr id="9" name="Text 6"/>
          <p:cNvSpPr txBox="1"/>
          <p:nvPr/>
        </p:nvSpPr>
        <p:spPr>
          <a:xfrm>
            <a:off x="7589520" y="2926080"/>
            <a:ext cx="3931920" cy="548640"/>
          </a:xfrm>
          <a:prstGeom prst="rect">
            <a:avLst/>
          </a:prstGeom>
          <a:noFill/>
          <a:ln/>
        </p:spPr>
        <p:txBody>
          <a:bodyPr wrap="square" lIns="635" tIns="635" rIns="635" bIns="635" rtlCol="0" anchor="ctr"/>
          <a:lstStyle/>
          <a:p>
            <a:pPr algn="ctr" indent="0" marL="0">
              <a:spcAft>
                <a:spcPts val="200"/>
              </a:spcAft>
              <a:buNone/>
            </a:pPr>
            <a:r>
              <a:rPr lang="en-US" sz="1900" dirty="0">
                <a:solidFill>
                  <a:srgbClr val="1F4E8C"/>
                </a:solidFill>
                <a:latin typeface="Cambria" pitchFamily="34" charset="0"/>
                <a:ea typeface="Cambria" pitchFamily="34" charset="-122"/>
                <a:cs typeface="Cambria" pitchFamily="34" charset="-120"/>
              </a:rPr>
              <a:t>log(SoLₜ) = Tₜ + Sₜ + Rₜ</a:t>
            </a:r>
            <a:endParaRPr lang="en-US" sz="1900" dirty="0"/>
          </a:p>
        </p:txBody>
      </p:sp>
      <p:sp>
        <p:nvSpPr>
          <p:cNvPr id="10" name="Text 7"/>
          <p:cNvSpPr txBox="1"/>
          <p:nvPr/>
        </p:nvSpPr>
        <p:spPr>
          <a:xfrm>
            <a:off x="7452360" y="3566160"/>
            <a:ext cx="4206240" cy="914400"/>
          </a:xfrm>
          <a:prstGeom prst="rect">
            <a:avLst/>
          </a:prstGeom>
          <a:noFill/>
          <a:ln/>
        </p:spPr>
        <p:txBody>
          <a:bodyPr wrap="square" lIns="635" tIns="635" rIns="635" bIns="635" rtlCol="0" anchor="t"/>
          <a:lstStyle/>
          <a:p>
            <a:pPr indent="0" marL="0">
              <a:spcAft>
                <a:spcPts val="200"/>
              </a:spcAft>
              <a:buNone/>
            </a:pPr>
            <a:r>
              <a:rPr lang="en-US" sz="1300" b="1" dirty="0">
                <a:solidFill>
                  <a:srgbClr val="1F4E8C"/>
                </a:solidFill>
              </a:rPr>
              <a:t>STL </a:t>
            </a:r>
            <a:pPr indent="0" marL="0">
              <a:spcAft>
                <a:spcPts val="200"/>
              </a:spcAft>
              <a:buNone/>
            </a:pPr>
            <a:r>
              <a:rPr lang="en-US" sz="1300" dirty="0">
                <a:solidFill>
                  <a:srgbClr val="231F20"/>
                </a:solidFill>
              </a:rPr>
              <a:t>= Seasonal-Trend decomposition using Loess. Appliquée au log, période 12, version robuste aux mois atypiques.</a:t>
            </a:r>
            <a:endParaRPr lang="en-US" sz="1300" dirty="0"/>
          </a:p>
        </p:txBody>
      </p:sp>
      <p:sp>
        <p:nvSpPr>
          <p:cNvPr id="11" name="Shape 8"/>
          <p:cNvSpPr/>
          <p:nvPr/>
        </p:nvSpPr>
        <p:spPr>
          <a:xfrm>
            <a:off x="7452360" y="4526280"/>
            <a:ext cx="4206240" cy="868680"/>
          </a:xfrm>
          <a:prstGeom prst="roundRect">
            <a:avLst>
              <a:gd name="adj" fmla="val 12632"/>
            </a:avLst>
          </a:prstGeom>
          <a:solidFill>
            <a:srgbClr val="FDF6E3"/>
          </a:solidFill>
          <a:ln w="9525">
            <a:solidFill>
              <a:srgbClr val="FDF6E3"/>
            </a:solidFill>
            <a:prstDash val="solid"/>
          </a:ln>
        </p:spPr>
      </p:sp>
      <p:sp>
        <p:nvSpPr>
          <p:cNvPr id="12" name="Text 9"/>
          <p:cNvSpPr txBox="1"/>
          <p:nvPr/>
        </p:nvSpPr>
        <p:spPr>
          <a:xfrm>
            <a:off x="7589520" y="4599432"/>
            <a:ext cx="3931920" cy="722376"/>
          </a:xfrm>
          <a:prstGeom prst="rect">
            <a:avLst/>
          </a:prstGeom>
          <a:noFill/>
          <a:ln/>
        </p:spPr>
        <p:txBody>
          <a:bodyPr wrap="square" lIns="635" tIns="635" rIns="635" bIns="635" rtlCol="0" anchor="ctr"/>
          <a:lstStyle/>
          <a:p>
            <a:pPr indent="0" marL="0">
              <a:spcAft>
                <a:spcPts val="200"/>
              </a:spcAft>
              <a:buNone/>
            </a:pPr>
            <a:r>
              <a:rPr lang="en-US" sz="1250" b="1" dirty="0">
                <a:solidFill>
                  <a:srgbClr val="B7791F"/>
                </a:solidFill>
              </a:rPr>
              <a:t>Comment lire  </a:t>
            </a:r>
            <a:pPr indent="0" marL="0">
              <a:spcAft>
                <a:spcPts val="200"/>
              </a:spcAft>
              <a:buNone/>
            </a:pPr>
            <a:r>
              <a:rPr lang="en-US" sz="1250" dirty="0">
                <a:solidFill>
                  <a:srgbClr val="231F20"/>
                </a:solidFill>
              </a:rPr>
              <a:t>on lit la courbe désaisonnalisée (verte). Le glissement annuel (même mois, année précédente) neutralise aussi la saison.</a:t>
            </a:r>
            <a:endParaRPr lang="en-US" sz="1250" dirty="0"/>
          </a:p>
        </p:txBody>
      </p:sp>
      <p:sp>
        <p:nvSpPr>
          <p:cNvPr id="13" name="Shape 10"/>
          <p:cNvSpPr/>
          <p:nvPr/>
        </p:nvSpPr>
        <p:spPr>
          <a:xfrm>
            <a:off x="7452360" y="5486400"/>
            <a:ext cx="4206240" cy="731520"/>
          </a:xfrm>
          <a:prstGeom prst="roundRect">
            <a:avLst>
              <a:gd name="adj" fmla="val 15000"/>
            </a:avLst>
          </a:prstGeom>
          <a:solidFill>
            <a:srgbClr val="FBECEC"/>
          </a:solidFill>
          <a:ln w="9525">
            <a:solidFill>
              <a:srgbClr val="FBECEC"/>
            </a:solidFill>
            <a:prstDash val="solid"/>
          </a:ln>
        </p:spPr>
      </p:sp>
      <p:sp>
        <p:nvSpPr>
          <p:cNvPr id="14" name="Text 11"/>
          <p:cNvSpPr txBox="1"/>
          <p:nvPr/>
        </p:nvSpPr>
        <p:spPr>
          <a:xfrm>
            <a:off x="7589520" y="5559552"/>
            <a:ext cx="3931920" cy="585216"/>
          </a:xfrm>
          <a:prstGeom prst="rect">
            <a:avLst/>
          </a:prstGeom>
          <a:noFill/>
          <a:ln/>
        </p:spPr>
        <p:txBody>
          <a:bodyPr wrap="square" lIns="635" tIns="635" rIns="635" bIns="635" rtlCol="0" anchor="ctr"/>
          <a:lstStyle/>
          <a:p>
            <a:pPr indent="0" marL="0">
              <a:spcAft>
                <a:spcPts val="200"/>
              </a:spcAft>
              <a:buNone/>
            </a:pPr>
            <a:r>
              <a:rPr lang="en-US" sz="1250" b="1" dirty="0">
                <a:solidFill>
                  <a:srgbClr val="D64545"/>
                </a:solidFill>
              </a:rPr>
              <a:t>Piège à éviter  </a:t>
            </a:r>
            <a:pPr indent="0" marL="0">
              <a:spcAft>
                <a:spcPts val="200"/>
              </a:spcAft>
              <a:buNone/>
            </a:pPr>
            <a:r>
              <a:rPr lang="en-US" sz="1250" dirty="0">
                <a:solidFill>
                  <a:srgbClr val="231F20"/>
                </a:solidFill>
              </a:rPr>
              <a:t>comparer décembre à novembre : fêtes, neige, longueur des nuits faussent la lecture.</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5</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Sur des données réelles : mensuel ou quotidien ?</a:t>
            </a:r>
            <a:endParaRPr lang="en-US" sz="2800" dirty="0"/>
          </a:p>
        </p:txBody>
      </p:sp>
      <p:pic>
        <p:nvPicPr>
          <p:cNvPr id="4" name="Image 0" descr="/tmp/claude-0/-home-claude/8a8742ef-7d0d-54fc-a0c9-7ecbfc9f8b73/scratchpad/deck/real/ghana_monthly.png">    </p:cNvPr>
          <p:cNvPicPr>
            <a:picLocks noChangeAspect="1"/>
          </p:cNvPicPr>
          <p:nvPr/>
        </p:nvPicPr>
        <p:blipFill>
          <a:blip r:embed="rId1"/>
          <a:stretch>
            <a:fillRect/>
          </a:stretch>
        </p:blipFill>
        <p:spPr>
          <a:xfrm>
            <a:off x="548640" y="1493520"/>
            <a:ext cx="5486400" cy="2682240"/>
          </a:xfrm>
          <a:prstGeom prst="rect">
            <a:avLst/>
          </a:prstGeom>
        </p:spPr>
      </p:pic>
      <p:pic>
        <p:nvPicPr>
          <p:cNvPr id="5" name="Image 1" descr="/tmp/claude-0/-home-claude/8a8742ef-7d0d-54fc-a0c9-7ecbfc9f8b73/scratchpad/deck/real/ghana_daily.png">    </p:cNvPr>
          <p:cNvPicPr>
            <a:picLocks noChangeAspect="1"/>
          </p:cNvPicPr>
          <p:nvPr/>
        </p:nvPicPr>
        <p:blipFill>
          <a:blip r:embed="rId2"/>
          <a:stretch>
            <a:fillRect/>
          </a:stretch>
        </p:blipFill>
        <p:spPr>
          <a:xfrm>
            <a:off x="6172200" y="1493520"/>
            <a:ext cx="5486400" cy="2682240"/>
          </a:xfrm>
          <a:prstGeom prst="rect">
            <a:avLst/>
          </a:prstGeom>
        </p:spPr>
      </p:pic>
      <p:sp>
        <p:nvSpPr>
          <p:cNvPr id="6" name="Text 2"/>
          <p:cNvSpPr txBox="1"/>
          <p:nvPr/>
        </p:nvSpPr>
        <p:spPr>
          <a:xfrm>
            <a:off x="548640" y="4315968"/>
            <a:ext cx="5486400" cy="292608"/>
          </a:xfrm>
          <a:prstGeom prst="rect">
            <a:avLst/>
          </a:prstGeom>
          <a:noFill/>
          <a:ln/>
        </p:spPr>
        <p:txBody>
          <a:bodyPr wrap="square" lIns="635" tIns="635" rIns="635" bIns="635" rtlCol="0" anchor="t"/>
          <a:lstStyle/>
          <a:p>
            <a:pPr algn="ctr" indent="0" marL="0">
              <a:spcAft>
                <a:spcPts val="200"/>
              </a:spcAft>
              <a:buNone/>
            </a:pPr>
            <a:r>
              <a:rPr lang="en-US" sz="1300" b="1" dirty="0">
                <a:solidFill>
                  <a:srgbClr val="00553A"/>
                </a:solidFill>
              </a:rPr>
              <a:t>Mensuel (VNP46A3), Ghana, 2020–2026 : tendance lisible</a:t>
            </a:r>
            <a:endParaRPr lang="en-US" sz="1300" dirty="0"/>
          </a:p>
        </p:txBody>
      </p:sp>
      <p:sp>
        <p:nvSpPr>
          <p:cNvPr id="7" name="Text 3"/>
          <p:cNvSpPr txBox="1"/>
          <p:nvPr/>
        </p:nvSpPr>
        <p:spPr>
          <a:xfrm>
            <a:off x="6172200" y="4315968"/>
            <a:ext cx="5486400" cy="292608"/>
          </a:xfrm>
          <a:prstGeom prst="rect">
            <a:avLst/>
          </a:prstGeom>
          <a:noFill/>
          <a:ln/>
        </p:spPr>
        <p:txBody>
          <a:bodyPr wrap="square" lIns="635" tIns="635" rIns="635" bIns="635" rtlCol="0" anchor="t"/>
          <a:lstStyle/>
          <a:p>
            <a:pPr algn="ctr" indent="0" marL="0">
              <a:spcAft>
                <a:spcPts val="200"/>
              </a:spcAft>
              <a:buNone/>
            </a:pPr>
            <a:r>
              <a:rPr lang="en-US" sz="1300" b="1" dirty="0">
                <a:solidFill>
                  <a:srgbClr val="D64545"/>
                </a:solidFill>
              </a:rPr>
              <a:t>Quotidien (VNP46A2), Ghana, janv.–mars 2026 : très bruité</a:t>
            </a:r>
            <a:endParaRPr lang="en-US" sz="1300" dirty="0"/>
          </a:p>
        </p:txBody>
      </p:sp>
      <p:sp>
        <p:nvSpPr>
          <p:cNvPr id="8" name="Text 4"/>
          <p:cNvSpPr txBox="1"/>
          <p:nvPr/>
        </p:nvSpPr>
        <p:spPr>
          <a:xfrm>
            <a:off x="548640" y="4617720"/>
            <a:ext cx="11064240" cy="274320"/>
          </a:xfrm>
          <a:prstGeom prst="rect">
            <a:avLst/>
          </a:prstGeom>
          <a:noFill/>
          <a:ln/>
        </p:spPr>
        <p:txBody>
          <a:bodyPr wrap="square" lIns="635" tIns="635" rIns="635" bIns="635" rtlCol="0" anchor="t"/>
          <a:lstStyle/>
          <a:p>
            <a:pPr algn="ctr" indent="0" marL="0">
              <a:spcAft>
                <a:spcPts val="200"/>
              </a:spcAft>
              <a:buNone/>
            </a:pPr>
            <a:r>
              <a:rPr lang="en-US" sz="1000" i="1" dirty="0">
                <a:solidFill>
                  <a:srgbClr val="6B7280"/>
                </a:solidFill>
              </a:rPr>
              <a:t>Images réelles — Source : NASA Black Marble via blackmarblepy (Banque mondiale, MIT).</a:t>
            </a:r>
            <a:endParaRPr lang="en-US" sz="1000" dirty="0"/>
          </a:p>
        </p:txBody>
      </p:sp>
      <p:sp>
        <p:nvSpPr>
          <p:cNvPr id="9" name="Shape 5"/>
          <p:cNvSpPr/>
          <p:nvPr/>
        </p:nvSpPr>
        <p:spPr>
          <a:xfrm>
            <a:off x="548640" y="5029200"/>
            <a:ext cx="3566160" cy="1143000"/>
          </a:xfrm>
          <a:prstGeom prst="roundRect">
            <a:avLst>
              <a:gd name="adj" fmla="val 96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Text 6"/>
          <p:cNvSpPr txBox="1"/>
          <p:nvPr/>
        </p:nvSpPr>
        <p:spPr>
          <a:xfrm>
            <a:off x="685800" y="5074920"/>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704A"/>
                </a:solidFill>
              </a:rPr>
              <a:t>Mensuel → tendances</a:t>
            </a:r>
            <a:endParaRPr lang="en-US" sz="1500" dirty="0"/>
          </a:p>
        </p:txBody>
      </p:sp>
      <p:sp>
        <p:nvSpPr>
          <p:cNvPr id="11" name="Text 7"/>
          <p:cNvSpPr txBox="1"/>
          <p:nvPr/>
        </p:nvSpPr>
        <p:spPr>
          <a:xfrm>
            <a:off x="685800" y="5422392"/>
            <a:ext cx="3291840" cy="713232"/>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STL, glissement annuel, croissance régionale, élasticité</a:t>
            </a:r>
            <a:endParaRPr lang="en-US" sz="1250" dirty="0"/>
          </a:p>
        </p:txBody>
      </p:sp>
      <p:sp>
        <p:nvSpPr>
          <p:cNvPr id="12" name="Shape 8"/>
          <p:cNvSpPr/>
          <p:nvPr/>
        </p:nvSpPr>
        <p:spPr>
          <a:xfrm>
            <a:off x="4297680" y="5029200"/>
            <a:ext cx="3566160" cy="1143000"/>
          </a:xfrm>
          <a:prstGeom prst="roundRect">
            <a:avLst>
              <a:gd name="adj" fmla="val 96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3" name="Text 9"/>
          <p:cNvSpPr txBox="1"/>
          <p:nvPr/>
        </p:nvSpPr>
        <p:spPr>
          <a:xfrm>
            <a:off x="4434840" y="5074920"/>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Quotidien → chocs datés</a:t>
            </a:r>
            <a:endParaRPr lang="en-US" sz="1500" dirty="0"/>
          </a:p>
        </p:txBody>
      </p:sp>
      <p:sp>
        <p:nvSpPr>
          <p:cNvPr id="14" name="Text 10"/>
          <p:cNvSpPr txBox="1"/>
          <p:nvPr/>
        </p:nvSpPr>
        <p:spPr>
          <a:xfrm>
            <a:off x="4434840" y="5422392"/>
            <a:ext cx="3291840" cy="713232"/>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indice base 100 + médiane mobile 7 jours, uniquement en haute qualité</a:t>
            </a:r>
            <a:endParaRPr lang="en-US" sz="1250" dirty="0"/>
          </a:p>
        </p:txBody>
      </p:sp>
      <p:sp>
        <p:nvSpPr>
          <p:cNvPr id="15" name="Shape 11"/>
          <p:cNvSpPr/>
          <p:nvPr/>
        </p:nvSpPr>
        <p:spPr>
          <a:xfrm>
            <a:off x="8046720" y="5029200"/>
            <a:ext cx="3566160" cy="1143000"/>
          </a:xfrm>
          <a:prstGeom prst="roundRect">
            <a:avLst>
              <a:gd name="adj" fmla="val 96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6" name="Text 12"/>
          <p:cNvSpPr txBox="1"/>
          <p:nvPr/>
        </p:nvSpPr>
        <p:spPr>
          <a:xfrm>
            <a:off x="8183880" y="5074920"/>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B7791F"/>
                </a:solidFill>
              </a:rPr>
              <a:t>Annuel → niveaux</a:t>
            </a:r>
            <a:endParaRPr lang="en-US" sz="1500" dirty="0"/>
          </a:p>
        </p:txBody>
      </p:sp>
      <p:sp>
        <p:nvSpPr>
          <p:cNvPr id="17" name="Text 13"/>
          <p:cNvSpPr txBox="1"/>
          <p:nvPr/>
        </p:nvSpPr>
        <p:spPr>
          <a:xfrm>
            <a:off x="8183880" y="5422392"/>
            <a:ext cx="3291840" cy="713232"/>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composites VNL V2 masqués : niveaux régionaux, PIB, inégalités</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6</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Mesurer une tendance robuste : Theil–Sen et Mann–Kendall</a:t>
            </a:r>
            <a:endParaRPr lang="en-US" sz="2800" dirty="0"/>
          </a:p>
        </p:txBody>
      </p:sp>
      <p:pic>
        <p:nvPicPr>
          <p:cNvPr id="4" name="Image 0" descr="/tmp/claude-0/-home-claude/8a8742ef-7d0d-54fc-a0c9-7ecbfc9f8b73/scratchpad/deck/img/theilsen_fr.png">    </p:cNvPr>
          <p:cNvPicPr>
            <a:picLocks noChangeAspect="1"/>
          </p:cNvPicPr>
          <p:nvPr/>
        </p:nvPicPr>
        <p:blipFill>
          <a:blip r:embed="rId1"/>
          <a:stretch>
            <a:fillRect/>
          </a:stretch>
        </p:blipFill>
        <p:spPr>
          <a:xfrm>
            <a:off x="548640" y="1417158"/>
            <a:ext cx="6309360" cy="3840804"/>
          </a:xfrm>
          <a:prstGeom prst="rect">
            <a:avLst/>
          </a:prstGeom>
        </p:spPr>
      </p:pic>
      <p:sp>
        <p:nvSpPr>
          <p:cNvPr id="5" name="Shape 2"/>
          <p:cNvSpPr/>
          <p:nvPr/>
        </p:nvSpPr>
        <p:spPr>
          <a:xfrm>
            <a:off x="7132320" y="1371600"/>
            <a:ext cx="452628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 name="Text 3"/>
          <p:cNvSpPr txBox="1"/>
          <p:nvPr/>
        </p:nvSpPr>
        <p:spPr>
          <a:xfrm>
            <a:off x="7269480" y="1444752"/>
            <a:ext cx="4206240" cy="329184"/>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Pente de Theil–Sen</a:t>
            </a:r>
            <a:endParaRPr lang="en-US" sz="1500" dirty="0"/>
          </a:p>
        </p:txBody>
      </p:sp>
      <p:sp>
        <p:nvSpPr>
          <p:cNvPr id="7" name="Text 4"/>
          <p:cNvSpPr txBox="1"/>
          <p:nvPr/>
        </p:nvSpPr>
        <p:spPr>
          <a:xfrm>
            <a:off x="7269480" y="1773936"/>
            <a:ext cx="4206240" cy="73152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médiane des pentes entre toutes les paires d'années, sur log(SoL). Une année aberrante ne la déplace presque pas.</a:t>
            </a:r>
            <a:endParaRPr lang="en-US" sz="1300" dirty="0"/>
          </a:p>
        </p:txBody>
      </p:sp>
      <p:sp>
        <p:nvSpPr>
          <p:cNvPr id="8" name="Shape 5"/>
          <p:cNvSpPr/>
          <p:nvPr/>
        </p:nvSpPr>
        <p:spPr>
          <a:xfrm>
            <a:off x="7269480" y="2532888"/>
            <a:ext cx="4251960" cy="457200"/>
          </a:xfrm>
          <a:prstGeom prst="roundRect">
            <a:avLst>
              <a:gd name="adj" fmla="val 24000"/>
            </a:avLst>
          </a:prstGeom>
          <a:solidFill>
            <a:srgbClr val="EAF2FB"/>
          </a:solidFill>
          <a:ln w="9525">
            <a:solidFill>
              <a:srgbClr val="EAF2FB"/>
            </a:solidFill>
            <a:prstDash val="solid"/>
          </a:ln>
        </p:spPr>
      </p:sp>
      <p:sp>
        <p:nvSpPr>
          <p:cNvPr id="9" name="Text 6"/>
          <p:cNvSpPr txBox="1"/>
          <p:nvPr/>
        </p:nvSpPr>
        <p:spPr>
          <a:xfrm>
            <a:off x="7406640" y="2532888"/>
            <a:ext cx="3977640" cy="45720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β̂ = médiane [ (yⱼ − yᵢ) / (tⱼ − tᵢ) ]</a:t>
            </a:r>
            <a:endParaRPr lang="en-US" sz="1500" dirty="0"/>
          </a:p>
        </p:txBody>
      </p:sp>
      <p:sp>
        <p:nvSpPr>
          <p:cNvPr id="10" name="Shape 7"/>
          <p:cNvSpPr/>
          <p:nvPr/>
        </p:nvSpPr>
        <p:spPr>
          <a:xfrm>
            <a:off x="7132320" y="3246120"/>
            <a:ext cx="452628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Text 8"/>
          <p:cNvSpPr txBox="1"/>
          <p:nvPr/>
        </p:nvSpPr>
        <p:spPr>
          <a:xfrm>
            <a:off x="7269480" y="3319272"/>
            <a:ext cx="4206240" cy="329184"/>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Test de Mann–Kendall</a:t>
            </a:r>
            <a:endParaRPr lang="en-US" sz="1500" dirty="0"/>
          </a:p>
        </p:txBody>
      </p:sp>
      <p:sp>
        <p:nvSpPr>
          <p:cNvPr id="12" name="Text 9"/>
          <p:cNvSpPr txBox="1"/>
          <p:nvPr/>
        </p:nvSpPr>
        <p:spPr>
          <a:xfrm>
            <a:off x="7269480" y="3648456"/>
            <a:ext cx="4206240" cy="73152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la tendance est-elle significative ou due au hasard ? Compte les paires en hausse vs en baisse.</a:t>
            </a:r>
            <a:endParaRPr lang="en-US" sz="1300" dirty="0"/>
          </a:p>
        </p:txBody>
      </p:sp>
      <p:sp>
        <p:nvSpPr>
          <p:cNvPr id="13" name="Shape 10"/>
          <p:cNvSpPr/>
          <p:nvPr/>
        </p:nvSpPr>
        <p:spPr>
          <a:xfrm>
            <a:off x="7269480" y="4407408"/>
            <a:ext cx="4251960" cy="457200"/>
          </a:xfrm>
          <a:prstGeom prst="roundRect">
            <a:avLst>
              <a:gd name="adj" fmla="val 24000"/>
            </a:avLst>
          </a:prstGeom>
          <a:solidFill>
            <a:srgbClr val="EAF2FB"/>
          </a:solidFill>
          <a:ln w="9525">
            <a:solidFill>
              <a:srgbClr val="EAF2FB"/>
            </a:solidFill>
            <a:prstDash val="solid"/>
          </a:ln>
        </p:spPr>
      </p:sp>
      <p:sp>
        <p:nvSpPr>
          <p:cNvPr id="14" name="Text 11"/>
          <p:cNvSpPr txBox="1"/>
          <p:nvPr/>
        </p:nvSpPr>
        <p:spPr>
          <a:xfrm>
            <a:off x="7406640" y="4407408"/>
            <a:ext cx="3977640" cy="45720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S = Σ signe(yⱼ − yᵢ)</a:t>
            </a:r>
            <a:endParaRPr lang="en-US" sz="1500" dirty="0"/>
          </a:p>
        </p:txBody>
      </p:sp>
      <p:sp>
        <p:nvSpPr>
          <p:cNvPr id="15" name="Shape 12"/>
          <p:cNvSpPr/>
          <p:nvPr/>
        </p:nvSpPr>
        <p:spPr>
          <a:xfrm>
            <a:off x="7132320" y="5212080"/>
            <a:ext cx="4526280" cy="868680"/>
          </a:xfrm>
          <a:prstGeom prst="roundRect">
            <a:avLst>
              <a:gd name="adj" fmla="val 12632"/>
            </a:avLst>
          </a:prstGeom>
          <a:solidFill>
            <a:srgbClr val="FDF6E3"/>
          </a:solidFill>
          <a:ln w="9525">
            <a:solidFill>
              <a:srgbClr val="FDF6E3"/>
            </a:solidFill>
            <a:prstDash val="solid"/>
          </a:ln>
        </p:spPr>
      </p:sp>
      <p:sp>
        <p:nvSpPr>
          <p:cNvPr id="16" name="Text 13"/>
          <p:cNvSpPr txBox="1"/>
          <p:nvPr/>
        </p:nvSpPr>
        <p:spPr>
          <a:xfrm>
            <a:off x="7269480" y="5212080"/>
            <a:ext cx="4251960" cy="868680"/>
          </a:xfrm>
          <a:prstGeom prst="rect">
            <a:avLst/>
          </a:prstGeom>
          <a:noFill/>
          <a:ln/>
        </p:spPr>
        <p:txBody>
          <a:bodyPr wrap="square" lIns="635" tIns="635" rIns="635" bIns="635" rtlCol="0" anchor="ctr"/>
          <a:lstStyle/>
          <a:p>
            <a:pPr algn="ctr" indent="0" marL="0">
              <a:spcAft>
                <a:spcPts val="200"/>
              </a:spcAft>
              <a:buNone/>
            </a:pPr>
            <a:r>
              <a:rPr lang="en-US" sz="1400" dirty="0">
                <a:solidFill>
                  <a:srgbClr val="B7791F"/>
                </a:solidFill>
                <a:latin typeface="Cambria" pitchFamily="34" charset="0"/>
                <a:ea typeface="Cambria" pitchFamily="34" charset="-122"/>
                <a:cs typeface="Cambria" pitchFamily="34" charset="-120"/>
              </a:rPr>
              <a:t>Classe « Croissance » ou « Déclin » si |pente| ≥ 1 %/an ET p &lt; 0,10 ; sinon « Stagnation »</a:t>
            </a:r>
            <a:endParaRPr lang="en-US" sz="1400" dirty="0"/>
          </a:p>
        </p:txBody>
      </p:sp>
      <p:sp>
        <p:nvSpPr>
          <p:cNvPr id="17" name="Shape 14"/>
          <p:cNvSpPr/>
          <p:nvPr/>
        </p:nvSpPr>
        <p:spPr>
          <a:xfrm>
            <a:off x="548640" y="5486400"/>
            <a:ext cx="6309360" cy="640080"/>
          </a:xfrm>
          <a:prstGeom prst="roundRect">
            <a:avLst>
              <a:gd name="adj" fmla="val 17143"/>
            </a:avLst>
          </a:prstGeom>
          <a:solidFill>
            <a:srgbClr val="FDF6E3"/>
          </a:solidFill>
          <a:ln w="9525">
            <a:solidFill>
              <a:srgbClr val="FDF6E3"/>
            </a:solidFill>
            <a:prstDash val="solid"/>
          </a:ln>
        </p:spPr>
      </p:sp>
      <p:sp>
        <p:nvSpPr>
          <p:cNvPr id="18" name="Text 15"/>
          <p:cNvSpPr txBox="1"/>
          <p:nvPr/>
        </p:nvSpPr>
        <p:spPr>
          <a:xfrm>
            <a:off x="685800" y="5559552"/>
            <a:ext cx="6035040" cy="493776"/>
          </a:xfrm>
          <a:prstGeom prst="rect">
            <a:avLst/>
          </a:prstGeom>
          <a:noFill/>
          <a:ln/>
        </p:spPr>
        <p:txBody>
          <a:bodyPr wrap="square" lIns="635" tIns="635" rIns="635" bIns="635" rtlCol="0" anchor="ctr"/>
          <a:lstStyle/>
          <a:p>
            <a:pPr indent="0" marL="0">
              <a:spcAft>
                <a:spcPts val="200"/>
              </a:spcAft>
              <a:buNone/>
            </a:pPr>
            <a:r>
              <a:rPr lang="en-US" sz="1300" b="1" dirty="0">
                <a:solidFill>
                  <a:srgbClr val="B7791F"/>
                </a:solidFill>
              </a:rPr>
              <a:t>Comment lire  </a:t>
            </a:r>
            <a:pPr indent="0" marL="0">
              <a:spcAft>
                <a:spcPts val="200"/>
              </a:spcAft>
              <a:buNone/>
            </a:pPr>
            <a:r>
              <a:rPr lang="en-US" sz="1300" dirty="0">
                <a:solidFill>
                  <a:srgbClr val="231F20"/>
                </a:solidFill>
              </a:rPr>
              <a:t>la croissance annuelle = exp(β̂) − 1, avec son intervalle de confiance à 95 %.</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6</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Qui croît, qui stagne, qui décline ?</a:t>
            </a:r>
            <a:endParaRPr lang="en-US" sz="2800" dirty="0"/>
          </a:p>
        </p:txBody>
      </p:sp>
      <p:pic>
        <p:nvPicPr>
          <p:cNvPr id="4" name="Image 0" descr="/tmp/claude-0/-home-claude/8a8742ef-7d0d-54fc-a0c9-7ecbfc9f8b73/scratchpad/deck/img/ranking_fr.png">    </p:cNvPr>
          <p:cNvPicPr>
            <a:picLocks noChangeAspect="1"/>
          </p:cNvPicPr>
          <p:nvPr/>
        </p:nvPicPr>
        <p:blipFill>
          <a:blip r:embed="rId1"/>
          <a:stretch>
            <a:fillRect/>
          </a:stretch>
        </p:blipFill>
        <p:spPr>
          <a:xfrm>
            <a:off x="548640" y="1555047"/>
            <a:ext cx="6309360" cy="4433705"/>
          </a:xfrm>
          <a:prstGeom prst="rect">
            <a:avLst/>
          </a:prstGeom>
        </p:spPr>
      </p:pic>
      <p:sp>
        <p:nvSpPr>
          <p:cNvPr id="5" name="Shape 2"/>
          <p:cNvSpPr/>
          <p:nvPr/>
        </p:nvSpPr>
        <p:spPr>
          <a:xfrm>
            <a:off x="7132320" y="1371600"/>
            <a:ext cx="4526280" cy="1280160"/>
          </a:xfrm>
          <a:prstGeom prst="roundRect">
            <a:avLst>
              <a:gd name="adj" fmla="val 8571"/>
            </a:avLst>
          </a:prstGeom>
          <a:solidFill>
            <a:srgbClr val="E8F5EF"/>
          </a:solidFill>
          <a:ln w="9525">
            <a:solidFill>
              <a:srgbClr val="E8F5EF"/>
            </a:solidFill>
            <a:prstDash val="solid"/>
          </a:ln>
        </p:spPr>
      </p:sp>
      <p:sp>
        <p:nvSpPr>
          <p:cNvPr id="6" name="Text 3"/>
          <p:cNvSpPr txBox="1"/>
          <p:nvPr/>
        </p:nvSpPr>
        <p:spPr>
          <a:xfrm>
            <a:off x="7269480" y="1417320"/>
            <a:ext cx="420624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Question économique</a:t>
            </a:r>
            <a:endParaRPr lang="en-US" sz="1400" dirty="0"/>
          </a:p>
        </p:txBody>
      </p:sp>
      <p:sp>
        <p:nvSpPr>
          <p:cNvPr id="7" name="Text 4"/>
          <p:cNvSpPr txBox="1"/>
          <p:nvPr/>
        </p:nvSpPr>
        <p:spPr>
          <a:xfrm>
            <a:off x="7269480" y="1737360"/>
            <a:ext cx="4206240" cy="868680"/>
          </a:xfrm>
          <a:prstGeom prst="rect">
            <a:avLst/>
          </a:prstGeom>
          <a:noFill/>
          <a:ln/>
        </p:spPr>
        <p:txBody>
          <a:bodyPr wrap="square" lIns="635" tIns="635" rIns="635" bIns="635" rtlCol="0" anchor="t"/>
          <a:lstStyle/>
          <a:p>
            <a:pPr indent="0" marL="0">
              <a:spcAft>
                <a:spcPts val="200"/>
              </a:spcAft>
              <a:buNone/>
            </a:pPr>
            <a:r>
              <a:rPr lang="en-US" sz="1400" dirty="0">
                <a:solidFill>
                  <a:srgbClr val="231F20"/>
                </a:solidFill>
              </a:rPr>
              <a:t>Où l'activité progresse-t-elle, et où recule-t-elle, sur la période ?</a:t>
            </a:r>
            <a:endParaRPr lang="en-US" sz="1400" dirty="0"/>
          </a:p>
        </p:txBody>
      </p:sp>
      <p:sp>
        <p:nvSpPr>
          <p:cNvPr id="8" name="Shape 5"/>
          <p:cNvSpPr/>
          <p:nvPr/>
        </p:nvSpPr>
        <p:spPr>
          <a:xfrm>
            <a:off x="7178040" y="2926080"/>
            <a:ext cx="365760" cy="292608"/>
          </a:xfrm>
          <a:prstGeom prst="roundRect">
            <a:avLst>
              <a:gd name="adj" fmla="val 25000"/>
            </a:avLst>
          </a:prstGeom>
          <a:solidFill>
            <a:srgbClr val="3F7FC7"/>
          </a:solidFill>
          <a:ln w="12700">
            <a:solidFill>
              <a:srgbClr val="3F7FC7"/>
            </a:solidFill>
            <a:prstDash val="solid"/>
          </a:ln>
        </p:spPr>
      </p:sp>
      <p:sp>
        <p:nvSpPr>
          <p:cNvPr id="9" name="Text 6"/>
          <p:cNvSpPr txBox="1"/>
          <p:nvPr/>
        </p:nvSpPr>
        <p:spPr>
          <a:xfrm>
            <a:off x="7680960" y="2834640"/>
            <a:ext cx="3977640" cy="502920"/>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Croissance — </a:t>
            </a:r>
            <a:pPr indent="0" marL="0">
              <a:spcAft>
                <a:spcPts val="200"/>
              </a:spcAft>
              <a:buNone/>
            </a:pPr>
            <a:r>
              <a:rPr lang="en-US" sz="1350" dirty="0">
                <a:solidFill>
                  <a:srgbClr val="231F20"/>
                </a:solidFill>
              </a:rPr>
              <a:t>pente ≥ +1 %/an et significative</a:t>
            </a:r>
            <a:endParaRPr lang="en-US" sz="1350" dirty="0"/>
          </a:p>
        </p:txBody>
      </p:sp>
      <p:sp>
        <p:nvSpPr>
          <p:cNvPr id="10" name="Shape 7"/>
          <p:cNvSpPr/>
          <p:nvPr/>
        </p:nvSpPr>
        <p:spPr>
          <a:xfrm>
            <a:off x="7178040" y="3493008"/>
            <a:ext cx="365760" cy="292608"/>
          </a:xfrm>
          <a:prstGeom prst="roundRect">
            <a:avLst>
              <a:gd name="adj" fmla="val 25000"/>
            </a:avLst>
          </a:prstGeom>
          <a:solidFill>
            <a:srgbClr val="A9A8A2"/>
          </a:solidFill>
          <a:ln w="12700">
            <a:solidFill>
              <a:srgbClr val="A9A8A2"/>
            </a:solidFill>
            <a:prstDash val="solid"/>
          </a:ln>
        </p:spPr>
      </p:sp>
      <p:sp>
        <p:nvSpPr>
          <p:cNvPr id="11" name="Text 8"/>
          <p:cNvSpPr txBox="1"/>
          <p:nvPr/>
        </p:nvSpPr>
        <p:spPr>
          <a:xfrm>
            <a:off x="7680960" y="3401568"/>
            <a:ext cx="3977640" cy="502920"/>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Stagnation — </a:t>
            </a:r>
            <a:pPr indent="0" marL="0">
              <a:spcAft>
                <a:spcPts val="200"/>
              </a:spcAft>
              <a:buNone/>
            </a:pPr>
            <a:r>
              <a:rPr lang="en-US" sz="1350" dirty="0">
                <a:solidFill>
                  <a:srgbClr val="231F20"/>
                </a:solidFill>
              </a:rPr>
              <a:t>|pente| &lt; 1 %/an, ou tendance non établie</a:t>
            </a:r>
            <a:endParaRPr lang="en-US" sz="1350" dirty="0"/>
          </a:p>
        </p:txBody>
      </p:sp>
      <p:sp>
        <p:nvSpPr>
          <p:cNvPr id="12" name="Shape 9"/>
          <p:cNvSpPr/>
          <p:nvPr/>
        </p:nvSpPr>
        <p:spPr>
          <a:xfrm>
            <a:off x="7178040" y="4059936"/>
            <a:ext cx="365760" cy="292608"/>
          </a:xfrm>
          <a:prstGeom prst="roundRect">
            <a:avLst>
              <a:gd name="adj" fmla="val 25000"/>
            </a:avLst>
          </a:prstGeom>
          <a:solidFill>
            <a:srgbClr val="D64545"/>
          </a:solidFill>
          <a:ln w="12700">
            <a:solidFill>
              <a:srgbClr val="D64545"/>
            </a:solidFill>
            <a:prstDash val="solid"/>
          </a:ln>
        </p:spPr>
      </p:sp>
      <p:sp>
        <p:nvSpPr>
          <p:cNvPr id="13" name="Text 10"/>
          <p:cNvSpPr txBox="1"/>
          <p:nvPr/>
        </p:nvSpPr>
        <p:spPr>
          <a:xfrm>
            <a:off x="7680960" y="3968496"/>
            <a:ext cx="3977640" cy="502920"/>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Déclin — </a:t>
            </a:r>
            <a:pPr indent="0" marL="0">
              <a:spcAft>
                <a:spcPts val="200"/>
              </a:spcAft>
              <a:buNone/>
            </a:pPr>
            <a:r>
              <a:rPr lang="en-US" sz="1350" dirty="0">
                <a:solidFill>
                  <a:srgbClr val="231F20"/>
                </a:solidFill>
              </a:rPr>
              <a:t>pente ≤ −1 %/an et significative</a:t>
            </a:r>
            <a:endParaRPr lang="en-US" sz="1350" dirty="0"/>
          </a:p>
        </p:txBody>
      </p:sp>
      <p:sp>
        <p:nvSpPr>
          <p:cNvPr id="14" name="Shape 11"/>
          <p:cNvSpPr/>
          <p:nvPr/>
        </p:nvSpPr>
        <p:spPr>
          <a:xfrm>
            <a:off x="7132320" y="4617720"/>
            <a:ext cx="4526280" cy="777240"/>
          </a:xfrm>
          <a:prstGeom prst="roundRect">
            <a:avLst>
              <a:gd name="adj" fmla="val 14118"/>
            </a:avLst>
          </a:prstGeom>
          <a:solidFill>
            <a:srgbClr val="FDF6E3"/>
          </a:solidFill>
          <a:ln w="9525">
            <a:solidFill>
              <a:srgbClr val="FDF6E3"/>
            </a:solidFill>
            <a:prstDash val="solid"/>
          </a:ln>
        </p:spPr>
      </p:sp>
      <p:sp>
        <p:nvSpPr>
          <p:cNvPr id="15" name="Text 12"/>
          <p:cNvSpPr txBox="1"/>
          <p:nvPr/>
        </p:nvSpPr>
        <p:spPr>
          <a:xfrm>
            <a:off x="7269480" y="4690872"/>
            <a:ext cx="4251960" cy="630936"/>
          </a:xfrm>
          <a:prstGeom prst="rect">
            <a:avLst/>
          </a:prstGeom>
          <a:noFill/>
          <a:ln/>
        </p:spPr>
        <p:txBody>
          <a:bodyPr wrap="square" lIns="635" tIns="635" rIns="635" bIns="635" rtlCol="0" anchor="ctr"/>
          <a:lstStyle/>
          <a:p>
            <a:pPr indent="0" marL="0">
              <a:spcAft>
                <a:spcPts val="200"/>
              </a:spcAft>
              <a:buNone/>
            </a:pPr>
            <a:r>
              <a:rPr lang="en-US" sz="1250" b="1" dirty="0">
                <a:solidFill>
                  <a:srgbClr val="B7791F"/>
                </a:solidFill>
              </a:rPr>
              <a:t>Comment lire  </a:t>
            </a:r>
            <a:pPr indent="0" marL="0">
              <a:spcAft>
                <a:spcPts val="200"/>
              </a:spcAft>
              <a:buNone/>
            </a:pPr>
            <a:r>
              <a:rPr lang="en-US" sz="1250" dirty="0">
                <a:solidFill>
                  <a:srgbClr val="231F20"/>
                </a:solidFill>
              </a:rPr>
              <a:t>les barres d'erreur sont les IC à 95 %. La région 7 a une pente positive mais son IC touche zéro : elle reste en « stagnation ».</a:t>
            </a:r>
            <a:endParaRPr lang="en-US" sz="1250" dirty="0"/>
          </a:p>
        </p:txBody>
      </p:sp>
      <p:sp>
        <p:nvSpPr>
          <p:cNvPr id="16" name="Shape 13"/>
          <p:cNvSpPr/>
          <p:nvPr/>
        </p:nvSpPr>
        <p:spPr>
          <a:xfrm>
            <a:off x="7132320" y="5486400"/>
            <a:ext cx="4526280" cy="731520"/>
          </a:xfrm>
          <a:prstGeom prst="roundRect">
            <a:avLst>
              <a:gd name="adj" fmla="val 15000"/>
            </a:avLst>
          </a:prstGeom>
          <a:solidFill>
            <a:srgbClr val="FBECEC"/>
          </a:solidFill>
          <a:ln w="9525">
            <a:solidFill>
              <a:srgbClr val="FBECEC"/>
            </a:solidFill>
            <a:prstDash val="solid"/>
          </a:ln>
        </p:spPr>
      </p:sp>
      <p:sp>
        <p:nvSpPr>
          <p:cNvPr id="17" name="Text 14"/>
          <p:cNvSpPr txBox="1"/>
          <p:nvPr/>
        </p:nvSpPr>
        <p:spPr>
          <a:xfrm>
            <a:off x="7269480" y="5559552"/>
            <a:ext cx="4251960" cy="585216"/>
          </a:xfrm>
          <a:prstGeom prst="rect">
            <a:avLst/>
          </a:prstGeom>
          <a:noFill/>
          <a:ln/>
        </p:spPr>
        <p:txBody>
          <a:bodyPr wrap="square" lIns="635" tIns="635" rIns="635" bIns="635" rtlCol="0" anchor="ctr"/>
          <a:lstStyle/>
          <a:p>
            <a:pPr indent="0" marL="0">
              <a:spcAft>
                <a:spcPts val="200"/>
              </a:spcAft>
              <a:buNone/>
            </a:pPr>
            <a:r>
              <a:rPr lang="en-US" sz="1250" b="1" dirty="0">
                <a:solidFill>
                  <a:srgbClr val="D64545"/>
                </a:solidFill>
              </a:rPr>
              <a:t>Piège à éviter  </a:t>
            </a:r>
            <a:pPr indent="0" marL="0">
              <a:spcAft>
                <a:spcPts val="200"/>
              </a:spcAft>
              <a:buNone/>
            </a:pPr>
            <a:r>
              <a:rPr lang="en-US" sz="1250" dirty="0">
                <a:solidFill>
                  <a:srgbClr val="231F20"/>
                </a:solidFill>
              </a:rPr>
              <a:t>lire « stagnation » comme « immobilité » : cela signifie souvent « pas assez d'information ».</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6</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Convergence et concentration : l'activité se diffuse-t-elle ?</a:t>
            </a:r>
            <a:endParaRPr lang="en-US" sz="2800" dirty="0"/>
          </a:p>
        </p:txBody>
      </p:sp>
      <p:pic>
        <p:nvPicPr>
          <p:cNvPr id="4" name="Image 0" descr="/tmp/claude-0/-home-claude/8a8742ef-7d0d-54fc-a0c9-7ecbfc9f8b73/scratchpad/deck/img/convergence_fr.png">    </p:cNvPr>
          <p:cNvPicPr>
            <a:picLocks noChangeAspect="1"/>
          </p:cNvPicPr>
          <p:nvPr/>
        </p:nvPicPr>
        <p:blipFill>
          <a:blip r:embed="rId1"/>
          <a:stretch>
            <a:fillRect/>
          </a:stretch>
        </p:blipFill>
        <p:spPr>
          <a:xfrm>
            <a:off x="548640" y="1341793"/>
            <a:ext cx="7315200" cy="3031414"/>
          </a:xfrm>
          <a:prstGeom prst="rect">
            <a:avLst/>
          </a:prstGeom>
        </p:spPr>
      </p:pic>
      <p:sp>
        <p:nvSpPr>
          <p:cNvPr id="5" name="Shape 2"/>
          <p:cNvSpPr/>
          <p:nvPr/>
        </p:nvSpPr>
        <p:spPr>
          <a:xfrm>
            <a:off x="548640" y="4572000"/>
            <a:ext cx="2377440" cy="1645920"/>
          </a:xfrm>
          <a:prstGeom prst="roundRect">
            <a:avLst>
              <a:gd name="adj" fmla="val 666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 name="Text 3"/>
          <p:cNvSpPr txBox="1"/>
          <p:nvPr/>
        </p:nvSpPr>
        <p:spPr>
          <a:xfrm>
            <a:off x="658368" y="4617720"/>
            <a:ext cx="2194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β-convergence</a:t>
            </a:r>
            <a:endParaRPr lang="en-US" sz="1400" dirty="0"/>
          </a:p>
        </p:txBody>
      </p:sp>
      <p:sp>
        <p:nvSpPr>
          <p:cNvPr id="7" name="Shape 4"/>
          <p:cNvSpPr/>
          <p:nvPr/>
        </p:nvSpPr>
        <p:spPr>
          <a:xfrm>
            <a:off x="640080" y="4956048"/>
            <a:ext cx="2194560" cy="411480"/>
          </a:xfrm>
          <a:prstGeom prst="roundRect">
            <a:avLst>
              <a:gd name="adj" fmla="val 26667"/>
            </a:avLst>
          </a:prstGeom>
          <a:solidFill>
            <a:srgbClr val="EAF2FB"/>
          </a:solidFill>
          <a:ln w="9525">
            <a:solidFill>
              <a:srgbClr val="EAF2FB"/>
            </a:solidFill>
            <a:prstDash val="solid"/>
          </a:ln>
        </p:spPr>
      </p:sp>
      <p:sp>
        <p:nvSpPr>
          <p:cNvPr id="8" name="Text 5"/>
          <p:cNvSpPr txBox="1"/>
          <p:nvPr/>
        </p:nvSpPr>
        <p:spPr>
          <a:xfrm>
            <a:off x="777240" y="4956048"/>
            <a:ext cx="1920240" cy="411480"/>
          </a:xfrm>
          <a:prstGeom prst="rect">
            <a:avLst/>
          </a:prstGeom>
          <a:noFill/>
          <a:ln/>
        </p:spPr>
        <p:txBody>
          <a:bodyPr wrap="square" lIns="635" tIns="635" rIns="635" bIns="635" rtlCol="0" anchor="ctr"/>
          <a:lstStyle/>
          <a:p>
            <a:pPr algn="ctr" indent="0" marL="0">
              <a:spcAft>
                <a:spcPts val="200"/>
              </a:spcAft>
              <a:buNone/>
            </a:pPr>
            <a:r>
              <a:rPr lang="en-US" sz="1300" dirty="0">
                <a:solidFill>
                  <a:srgbClr val="1F4E8C"/>
                </a:solidFill>
                <a:latin typeface="Cambria" pitchFamily="34" charset="0"/>
                <a:ea typeface="Cambria" pitchFamily="34" charset="-122"/>
                <a:cs typeface="Cambria" pitchFamily="34" charset="-120"/>
              </a:rPr>
              <a:t>gᵢ = a + β · log(xᵢ,₀) + εᵢ</a:t>
            </a:r>
            <a:endParaRPr lang="en-US" sz="1300" dirty="0"/>
          </a:p>
        </p:txBody>
      </p:sp>
      <p:sp>
        <p:nvSpPr>
          <p:cNvPr id="9" name="Text 6"/>
          <p:cNvSpPr txBox="1"/>
          <p:nvPr/>
        </p:nvSpPr>
        <p:spPr>
          <a:xfrm>
            <a:off x="658368" y="5413248"/>
            <a:ext cx="2194560" cy="777240"/>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β &lt; 0 : les régions initialement peu éclairées croissent plus vite — elles rattrapent.</a:t>
            </a:r>
            <a:endParaRPr lang="en-US" sz="1150" dirty="0"/>
          </a:p>
        </p:txBody>
      </p:sp>
      <p:sp>
        <p:nvSpPr>
          <p:cNvPr id="10" name="Shape 7"/>
          <p:cNvSpPr/>
          <p:nvPr/>
        </p:nvSpPr>
        <p:spPr>
          <a:xfrm>
            <a:off x="3063240" y="4572000"/>
            <a:ext cx="2377440" cy="1645920"/>
          </a:xfrm>
          <a:prstGeom prst="roundRect">
            <a:avLst>
              <a:gd name="adj" fmla="val 666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Text 8"/>
          <p:cNvSpPr txBox="1"/>
          <p:nvPr/>
        </p:nvSpPr>
        <p:spPr>
          <a:xfrm>
            <a:off x="3172968" y="4617720"/>
            <a:ext cx="2194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σ-convergence</a:t>
            </a:r>
            <a:endParaRPr lang="en-US" sz="1400" dirty="0"/>
          </a:p>
        </p:txBody>
      </p:sp>
      <p:sp>
        <p:nvSpPr>
          <p:cNvPr id="12" name="Shape 9"/>
          <p:cNvSpPr/>
          <p:nvPr/>
        </p:nvSpPr>
        <p:spPr>
          <a:xfrm>
            <a:off x="3154680" y="4956048"/>
            <a:ext cx="2194560" cy="411480"/>
          </a:xfrm>
          <a:prstGeom prst="roundRect">
            <a:avLst>
              <a:gd name="adj" fmla="val 26667"/>
            </a:avLst>
          </a:prstGeom>
          <a:solidFill>
            <a:srgbClr val="EAF2FB"/>
          </a:solidFill>
          <a:ln w="9525">
            <a:solidFill>
              <a:srgbClr val="EAF2FB"/>
            </a:solidFill>
            <a:prstDash val="solid"/>
          </a:ln>
        </p:spPr>
      </p:sp>
      <p:sp>
        <p:nvSpPr>
          <p:cNvPr id="13" name="Text 10"/>
          <p:cNvSpPr txBox="1"/>
          <p:nvPr/>
        </p:nvSpPr>
        <p:spPr>
          <a:xfrm>
            <a:off x="3291840" y="4956048"/>
            <a:ext cx="1920240" cy="411480"/>
          </a:xfrm>
          <a:prstGeom prst="rect">
            <a:avLst/>
          </a:prstGeom>
          <a:noFill/>
          <a:ln/>
        </p:spPr>
        <p:txBody>
          <a:bodyPr wrap="square" lIns="635" tIns="635" rIns="635" bIns="635" rtlCol="0" anchor="ctr"/>
          <a:lstStyle/>
          <a:p>
            <a:pPr algn="ctr" indent="0" marL="0">
              <a:spcAft>
                <a:spcPts val="200"/>
              </a:spcAft>
              <a:buNone/>
            </a:pPr>
            <a:r>
              <a:rPr lang="en-US" sz="1300" dirty="0">
                <a:solidFill>
                  <a:srgbClr val="1F4E8C"/>
                </a:solidFill>
                <a:latin typeface="Cambria" pitchFamily="34" charset="0"/>
                <a:ea typeface="Cambria" pitchFamily="34" charset="-122"/>
                <a:cs typeface="Cambria" pitchFamily="34" charset="-120"/>
              </a:rPr>
              <a:t>σₜ = écart-type [ log(xᵢ,ₜ) ]</a:t>
            </a:r>
            <a:endParaRPr lang="en-US" sz="1300" dirty="0"/>
          </a:p>
        </p:txBody>
      </p:sp>
      <p:sp>
        <p:nvSpPr>
          <p:cNvPr id="14" name="Text 11"/>
          <p:cNvSpPr txBox="1"/>
          <p:nvPr/>
        </p:nvSpPr>
        <p:spPr>
          <a:xfrm>
            <a:off x="3172968" y="5413248"/>
            <a:ext cx="2194560" cy="777240"/>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σ diminue : les écarts entre régions se resserrent.</a:t>
            </a:r>
            <a:endParaRPr lang="en-US" sz="1150" dirty="0"/>
          </a:p>
        </p:txBody>
      </p:sp>
      <p:sp>
        <p:nvSpPr>
          <p:cNvPr id="15" name="Shape 12"/>
          <p:cNvSpPr/>
          <p:nvPr/>
        </p:nvSpPr>
        <p:spPr>
          <a:xfrm>
            <a:off x="5577840" y="4572000"/>
            <a:ext cx="2377440" cy="1645920"/>
          </a:xfrm>
          <a:prstGeom prst="roundRect">
            <a:avLst>
              <a:gd name="adj" fmla="val 666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6" name="Text 13"/>
          <p:cNvSpPr txBox="1"/>
          <p:nvPr/>
        </p:nvSpPr>
        <p:spPr>
          <a:xfrm>
            <a:off x="5687568" y="4617720"/>
            <a:ext cx="2194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Herfindahl (HHI)</a:t>
            </a:r>
            <a:endParaRPr lang="en-US" sz="1400" dirty="0"/>
          </a:p>
        </p:txBody>
      </p:sp>
      <p:sp>
        <p:nvSpPr>
          <p:cNvPr id="17" name="Shape 14"/>
          <p:cNvSpPr/>
          <p:nvPr/>
        </p:nvSpPr>
        <p:spPr>
          <a:xfrm>
            <a:off x="5669280" y="4956048"/>
            <a:ext cx="2194560" cy="411480"/>
          </a:xfrm>
          <a:prstGeom prst="roundRect">
            <a:avLst>
              <a:gd name="adj" fmla="val 26667"/>
            </a:avLst>
          </a:prstGeom>
          <a:solidFill>
            <a:srgbClr val="EAF2FB"/>
          </a:solidFill>
          <a:ln w="9525">
            <a:solidFill>
              <a:srgbClr val="EAF2FB"/>
            </a:solidFill>
            <a:prstDash val="solid"/>
          </a:ln>
        </p:spPr>
      </p:sp>
      <p:sp>
        <p:nvSpPr>
          <p:cNvPr id="18" name="Text 15"/>
          <p:cNvSpPr txBox="1"/>
          <p:nvPr/>
        </p:nvSpPr>
        <p:spPr>
          <a:xfrm>
            <a:off x="5806440" y="4956048"/>
            <a:ext cx="1920240" cy="411480"/>
          </a:xfrm>
          <a:prstGeom prst="rect">
            <a:avLst/>
          </a:prstGeom>
          <a:noFill/>
          <a:ln/>
        </p:spPr>
        <p:txBody>
          <a:bodyPr wrap="square" lIns="635" tIns="635" rIns="635" bIns="635" rtlCol="0" anchor="ctr"/>
          <a:lstStyle/>
          <a:p>
            <a:pPr algn="ctr" indent="0" marL="0">
              <a:spcAft>
                <a:spcPts val="200"/>
              </a:spcAft>
              <a:buNone/>
            </a:pPr>
            <a:r>
              <a:rPr lang="en-US" sz="1300" dirty="0">
                <a:solidFill>
                  <a:srgbClr val="1F4E8C"/>
                </a:solidFill>
                <a:latin typeface="Cambria" pitchFamily="34" charset="0"/>
                <a:ea typeface="Cambria" pitchFamily="34" charset="-122"/>
                <a:cs typeface="Cambria" pitchFamily="34" charset="-120"/>
              </a:rPr>
              <a:t>HHI = Σ sᵢ²</a:t>
            </a:r>
            <a:endParaRPr lang="en-US" sz="1300" dirty="0"/>
          </a:p>
        </p:txBody>
      </p:sp>
      <p:sp>
        <p:nvSpPr>
          <p:cNvPr id="19" name="Text 16"/>
          <p:cNvSpPr txBox="1"/>
          <p:nvPr/>
        </p:nvSpPr>
        <p:spPr>
          <a:xfrm>
            <a:off x="5687568" y="5413248"/>
            <a:ext cx="2194560" cy="777240"/>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sᵢ = part de la lumière nationale ; 1 = tout dans une seule unité.</a:t>
            </a:r>
            <a:endParaRPr lang="en-US" sz="1150" dirty="0"/>
          </a:p>
        </p:txBody>
      </p:sp>
      <p:sp>
        <p:nvSpPr>
          <p:cNvPr id="20" name="Shape 17"/>
          <p:cNvSpPr/>
          <p:nvPr/>
        </p:nvSpPr>
        <p:spPr>
          <a:xfrm>
            <a:off x="8138160" y="1371600"/>
            <a:ext cx="3520440" cy="1371600"/>
          </a:xfrm>
          <a:prstGeom prst="roundRect">
            <a:avLst>
              <a:gd name="adj" fmla="val 8000"/>
            </a:avLst>
          </a:prstGeom>
          <a:solidFill>
            <a:srgbClr val="E8F5EF"/>
          </a:solidFill>
          <a:ln w="9525">
            <a:solidFill>
              <a:srgbClr val="E8F5EF"/>
            </a:solidFill>
            <a:prstDash val="solid"/>
          </a:ln>
        </p:spPr>
      </p:sp>
      <p:sp>
        <p:nvSpPr>
          <p:cNvPr id="21" name="Text 18"/>
          <p:cNvSpPr txBox="1"/>
          <p:nvPr/>
        </p:nvSpPr>
        <p:spPr>
          <a:xfrm>
            <a:off x="8275320" y="1417320"/>
            <a:ext cx="329184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Question économique</a:t>
            </a:r>
            <a:endParaRPr lang="en-US" sz="1400" dirty="0"/>
          </a:p>
        </p:txBody>
      </p:sp>
      <p:sp>
        <p:nvSpPr>
          <p:cNvPr id="22" name="Text 19"/>
          <p:cNvSpPr txBox="1"/>
          <p:nvPr/>
        </p:nvSpPr>
        <p:spPr>
          <a:xfrm>
            <a:off x="8275320" y="1737360"/>
            <a:ext cx="3291840" cy="96012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La croissance profite-t-elle aux régions périphériques, ou se concentre-t-elle autour de la capitale ?</a:t>
            </a:r>
            <a:endParaRPr lang="en-US" sz="1300" dirty="0"/>
          </a:p>
        </p:txBody>
      </p:sp>
      <p:sp>
        <p:nvSpPr>
          <p:cNvPr id="23" name="Shape 20"/>
          <p:cNvSpPr/>
          <p:nvPr/>
        </p:nvSpPr>
        <p:spPr>
          <a:xfrm>
            <a:off x="8138160" y="2926080"/>
            <a:ext cx="352044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4" name="Shape 21"/>
          <p:cNvSpPr/>
          <p:nvPr/>
        </p:nvSpPr>
        <p:spPr>
          <a:xfrm>
            <a:off x="8321040" y="3108960"/>
            <a:ext cx="502920" cy="502920"/>
          </a:xfrm>
          <a:prstGeom prst="ellipse">
            <a:avLst/>
          </a:prstGeom>
          <a:solidFill>
            <a:srgbClr val="B45309"/>
          </a:solidFill>
          <a:ln w="12700">
            <a:solidFill>
              <a:srgbClr val="B45309"/>
            </a:solidFill>
            <a:prstDash val="solid"/>
          </a:ln>
        </p:spPr>
      </p:sp>
      <p:pic>
        <p:nvPicPr>
          <p:cNvPr id="25" name="Image 1" descr="preencoded.png">    </p:cNvPr>
          <p:cNvPicPr>
            <a:picLocks noChangeAspect="1"/>
          </p:cNvPicPr>
          <p:nvPr/>
        </p:nvPicPr>
        <p:blipFill>
          <a:blip r:embed="rId2"/>
          <a:stretch>
            <a:fillRect/>
          </a:stretch>
        </p:blipFill>
        <p:spPr>
          <a:xfrm>
            <a:off x="8441741" y="3229661"/>
            <a:ext cx="261518" cy="261518"/>
          </a:xfrm>
          <a:prstGeom prst="rect">
            <a:avLst/>
          </a:prstGeom>
        </p:spPr>
      </p:pic>
      <p:sp>
        <p:nvSpPr>
          <p:cNvPr id="26" name="Text 22"/>
          <p:cNvSpPr txBox="1"/>
          <p:nvPr/>
        </p:nvSpPr>
        <p:spPr>
          <a:xfrm>
            <a:off x="8961120" y="309067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B45309"/>
                </a:solidFill>
              </a:rPr>
              <a:t>NO₂ (Sentinel-5P)</a:t>
            </a:r>
            <a:endParaRPr lang="en-US" sz="1500" dirty="0"/>
          </a:p>
        </p:txBody>
      </p:sp>
      <p:sp>
        <p:nvSpPr>
          <p:cNvPr id="27" name="Text 23"/>
          <p:cNvSpPr txBox="1"/>
          <p:nvPr/>
        </p:nvSpPr>
        <p:spPr>
          <a:xfrm>
            <a:off x="8321040" y="3730752"/>
            <a:ext cx="3154680" cy="5943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corrélation de Spearman avec la lumière : un indicateur industriel complémentaire.</a:t>
            </a:r>
            <a:endParaRPr lang="en-US" sz="1250" dirty="0"/>
          </a:p>
        </p:txBody>
      </p:sp>
      <p:sp>
        <p:nvSpPr>
          <p:cNvPr id="28" name="Shape 24"/>
          <p:cNvSpPr/>
          <p:nvPr/>
        </p:nvSpPr>
        <p:spPr>
          <a:xfrm>
            <a:off x="8138160" y="4572000"/>
            <a:ext cx="3520440" cy="1645920"/>
          </a:xfrm>
          <a:prstGeom prst="roundRect">
            <a:avLst>
              <a:gd name="adj" fmla="val 6667"/>
            </a:avLst>
          </a:prstGeom>
          <a:solidFill>
            <a:srgbClr val="FDF6E3"/>
          </a:solidFill>
          <a:ln w="9525">
            <a:solidFill>
              <a:srgbClr val="FDF6E3"/>
            </a:solidFill>
            <a:prstDash val="solid"/>
          </a:ln>
        </p:spPr>
      </p:sp>
      <p:sp>
        <p:nvSpPr>
          <p:cNvPr id="29" name="Text 25"/>
          <p:cNvSpPr txBox="1"/>
          <p:nvPr/>
        </p:nvSpPr>
        <p:spPr>
          <a:xfrm>
            <a:off x="8275320" y="4645152"/>
            <a:ext cx="3246120" cy="1499616"/>
          </a:xfrm>
          <a:prstGeom prst="rect">
            <a:avLst/>
          </a:prstGeom>
          <a:noFill/>
          <a:ln/>
        </p:spPr>
        <p:txBody>
          <a:bodyPr wrap="square" lIns="635" tIns="635" rIns="635" bIns="635" rtlCol="0" anchor="ctr"/>
          <a:lstStyle/>
          <a:p>
            <a:pPr indent="0" marL="0">
              <a:spcAft>
                <a:spcPts val="200"/>
              </a:spcAft>
              <a:buNone/>
            </a:pPr>
            <a:r>
              <a:rPr lang="en-US" sz="1250" b="1" dirty="0">
                <a:solidFill>
                  <a:srgbClr val="B7791F"/>
                </a:solidFill>
              </a:rPr>
              <a:t>Lecture économique  </a:t>
            </a:r>
            <a:pPr indent="0" marL="0">
              <a:spcAft>
                <a:spcPts val="200"/>
              </a:spcAft>
              <a:buNone/>
            </a:pPr>
            <a:r>
              <a:rPr lang="en-US" sz="1250" dirty="0">
                <a:solidFill>
                  <a:srgbClr val="231F20"/>
                </a:solidFill>
              </a:rPr>
              <a:t>concentration croissante = polarisation (capitale, ports) ; convergence = diffusion de l'électrification vers la périphérie.</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7</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La relation lumières–PIB : estimer une élasticité</a:t>
            </a:r>
            <a:endParaRPr lang="en-US" sz="2800" dirty="0"/>
          </a:p>
        </p:txBody>
      </p:sp>
      <p:pic>
        <p:nvPicPr>
          <p:cNvPr id="4" name="Image 0" descr="/tmp/claude-0/-home-claude/8a8742ef-7d0d-54fc-a0c9-7ecbfc9f8b73/scratchpad/deck/img/ntl_gdp_fr.png">    </p:cNvPr>
          <p:cNvPicPr>
            <a:picLocks noChangeAspect="1"/>
          </p:cNvPicPr>
          <p:nvPr/>
        </p:nvPicPr>
        <p:blipFill>
          <a:blip r:embed="rId1"/>
          <a:stretch>
            <a:fillRect/>
          </a:stretch>
        </p:blipFill>
        <p:spPr>
          <a:xfrm>
            <a:off x="548640" y="1348970"/>
            <a:ext cx="7498080" cy="3108501"/>
          </a:xfrm>
          <a:prstGeom prst="rect">
            <a:avLst/>
          </a:prstGeom>
        </p:spPr>
      </p:pic>
      <p:sp>
        <p:nvSpPr>
          <p:cNvPr id="5" name="Shape 2"/>
          <p:cNvSpPr/>
          <p:nvPr/>
        </p:nvSpPr>
        <p:spPr>
          <a:xfrm>
            <a:off x="8275320" y="1371600"/>
            <a:ext cx="3383280" cy="594360"/>
          </a:xfrm>
          <a:prstGeom prst="roundRect">
            <a:avLst>
              <a:gd name="adj" fmla="val 18462"/>
            </a:avLst>
          </a:prstGeom>
          <a:solidFill>
            <a:srgbClr val="EAF2FB"/>
          </a:solidFill>
          <a:ln w="9525">
            <a:solidFill>
              <a:srgbClr val="EAF2FB"/>
            </a:solidFill>
            <a:prstDash val="solid"/>
          </a:ln>
        </p:spPr>
      </p:sp>
      <p:sp>
        <p:nvSpPr>
          <p:cNvPr id="6" name="Text 3"/>
          <p:cNvSpPr txBox="1"/>
          <p:nvPr/>
        </p:nvSpPr>
        <p:spPr>
          <a:xfrm>
            <a:off x="8412480" y="1371600"/>
            <a:ext cx="3108960" cy="59436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log(NTLₜ) = α + β · log(PIBₜ) + εₜ</a:t>
            </a:r>
            <a:endParaRPr lang="en-US" sz="1500" dirty="0"/>
          </a:p>
        </p:txBody>
      </p:sp>
      <p:sp>
        <p:nvSpPr>
          <p:cNvPr id="7" name="Text 4"/>
          <p:cNvSpPr txBox="1"/>
          <p:nvPr/>
        </p:nvSpPr>
        <p:spPr>
          <a:xfrm>
            <a:off x="8275320" y="2011680"/>
            <a:ext cx="338328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β = élasticité : +1 % de PIB ↔ +β % de lumière.</a:t>
            </a:r>
            <a:endParaRPr lang="en-US" sz="1350" dirty="0"/>
          </a:p>
        </p:txBody>
      </p:sp>
      <p:sp>
        <p:nvSpPr>
          <p:cNvPr id="8" name="Shape 5"/>
          <p:cNvSpPr/>
          <p:nvPr/>
        </p:nvSpPr>
        <p:spPr>
          <a:xfrm>
            <a:off x="8275320" y="2651760"/>
            <a:ext cx="3383280" cy="548640"/>
          </a:xfrm>
          <a:prstGeom prst="roundRect">
            <a:avLst>
              <a:gd name="adj" fmla="val 20000"/>
            </a:avLst>
          </a:prstGeom>
          <a:solidFill>
            <a:srgbClr val="F4F7F5"/>
          </a:solidFill>
          <a:ln w="9525">
            <a:solidFill>
              <a:srgbClr val="F4F7F5"/>
            </a:solidFill>
            <a:prstDash val="solid"/>
          </a:ln>
        </p:spPr>
      </p:sp>
      <p:sp>
        <p:nvSpPr>
          <p:cNvPr id="9" name="Text 6"/>
          <p:cNvSpPr txBox="1"/>
          <p:nvPr/>
        </p:nvSpPr>
        <p:spPr>
          <a:xfrm>
            <a:off x="8366760" y="2651760"/>
            <a:ext cx="3246120" cy="548640"/>
          </a:xfrm>
          <a:prstGeom prst="rect">
            <a:avLst/>
          </a:prstGeom>
          <a:noFill/>
          <a:ln/>
        </p:spPr>
        <p:txBody>
          <a:bodyPr wrap="square" lIns="635" tIns="635" rIns="635" bIns="635" rtlCol="0" anchor="ctr"/>
          <a:lstStyle/>
          <a:p>
            <a:pPr indent="0" marL="0">
              <a:spcAft>
                <a:spcPts val="200"/>
              </a:spcAft>
              <a:buNone/>
            </a:pPr>
            <a:r>
              <a:rPr lang="en-US" sz="1150" b="1" dirty="0">
                <a:solidFill>
                  <a:srgbClr val="00553A"/>
                </a:solidFill>
              </a:rPr>
              <a:t>Niveaux (VIIRS) — </a:t>
            </a:r>
            <a:pPr indent="0" marL="0">
              <a:spcAft>
                <a:spcPts val="200"/>
              </a:spcAft>
              <a:buNone/>
            </a:pPr>
            <a:r>
              <a:rPr lang="en-US" sz="1150" dirty="0">
                <a:solidFill>
                  <a:srgbClr val="231F20"/>
                </a:solidFill>
              </a:rPr>
              <a:t>relation de long terme ; risque de régression fallacieuse</a:t>
            </a:r>
            <a:endParaRPr lang="en-US" sz="1150" dirty="0"/>
          </a:p>
        </p:txBody>
      </p:sp>
      <p:sp>
        <p:nvSpPr>
          <p:cNvPr id="10" name="Shape 7"/>
          <p:cNvSpPr/>
          <p:nvPr/>
        </p:nvSpPr>
        <p:spPr>
          <a:xfrm>
            <a:off x="8275320" y="3273552"/>
            <a:ext cx="3383280" cy="548640"/>
          </a:xfrm>
          <a:prstGeom prst="roundRect">
            <a:avLst>
              <a:gd name="adj" fmla="val 20000"/>
            </a:avLst>
          </a:prstGeom>
          <a:solidFill>
            <a:srgbClr val="EAF2FB"/>
          </a:solidFill>
          <a:ln w="9525">
            <a:solidFill>
              <a:srgbClr val="EAF2FB"/>
            </a:solidFill>
            <a:prstDash val="solid"/>
          </a:ln>
        </p:spPr>
      </p:sp>
      <p:sp>
        <p:nvSpPr>
          <p:cNvPr id="11" name="Text 8"/>
          <p:cNvSpPr txBox="1"/>
          <p:nvPr/>
        </p:nvSpPr>
        <p:spPr>
          <a:xfrm>
            <a:off x="8366760" y="3273552"/>
            <a:ext cx="3246120" cy="548640"/>
          </a:xfrm>
          <a:prstGeom prst="rect">
            <a:avLst/>
          </a:prstGeom>
          <a:noFill/>
          <a:ln/>
        </p:spPr>
        <p:txBody>
          <a:bodyPr wrap="square" lIns="635" tIns="635" rIns="635" bIns="635" rtlCol="0" anchor="ctr"/>
          <a:lstStyle/>
          <a:p>
            <a:pPr indent="0" marL="0">
              <a:spcAft>
                <a:spcPts val="200"/>
              </a:spcAft>
              <a:buNone/>
            </a:pPr>
            <a:r>
              <a:rPr lang="en-US" sz="1150" b="1" dirty="0">
                <a:solidFill>
                  <a:srgbClr val="1F4E8C"/>
                </a:solidFill>
              </a:rPr>
              <a:t>Croissance (VIIRS) — </a:t>
            </a:r>
            <a:pPr indent="0" marL="0">
              <a:spcAft>
                <a:spcPts val="200"/>
              </a:spcAft>
              <a:buNone/>
            </a:pPr>
            <a:r>
              <a:rPr lang="en-US" sz="1150" dirty="0">
                <a:solidFill>
                  <a:srgbClr val="231F20"/>
                </a:solidFill>
              </a:rPr>
              <a:t>Δlog : retire la tendance commune ; plus exigeant</a:t>
            </a:r>
            <a:endParaRPr lang="en-US" sz="1150" dirty="0"/>
          </a:p>
        </p:txBody>
      </p:sp>
      <p:sp>
        <p:nvSpPr>
          <p:cNvPr id="12" name="Shape 9"/>
          <p:cNvSpPr/>
          <p:nvPr/>
        </p:nvSpPr>
        <p:spPr>
          <a:xfrm>
            <a:off x="8275320" y="3895344"/>
            <a:ext cx="3383280" cy="548640"/>
          </a:xfrm>
          <a:prstGeom prst="roundRect">
            <a:avLst>
              <a:gd name="adj" fmla="val 20000"/>
            </a:avLst>
          </a:prstGeom>
          <a:solidFill>
            <a:srgbClr val="F4F7F5"/>
          </a:solidFill>
          <a:ln w="9525">
            <a:solidFill>
              <a:srgbClr val="F4F7F5"/>
            </a:solidFill>
            <a:prstDash val="solid"/>
          </a:ln>
        </p:spPr>
      </p:sp>
      <p:sp>
        <p:nvSpPr>
          <p:cNvPr id="13" name="Text 10"/>
          <p:cNvSpPr txBox="1"/>
          <p:nvPr/>
        </p:nvSpPr>
        <p:spPr>
          <a:xfrm>
            <a:off x="8366760" y="3895344"/>
            <a:ext cx="3246120" cy="548640"/>
          </a:xfrm>
          <a:prstGeom prst="rect">
            <a:avLst/>
          </a:prstGeom>
          <a:noFill/>
          <a:ln/>
        </p:spPr>
        <p:txBody>
          <a:bodyPr wrap="square" lIns="635" tIns="635" rIns="635" bIns="635" rtlCol="0" anchor="ctr"/>
          <a:lstStyle/>
          <a:p>
            <a:pPr indent="0" marL="0">
              <a:spcAft>
                <a:spcPts val="200"/>
              </a:spcAft>
              <a:buNone/>
            </a:pPr>
            <a:r>
              <a:rPr lang="en-US" sz="1150" b="1" dirty="0">
                <a:solidFill>
                  <a:srgbClr val="00553A"/>
                </a:solidFill>
              </a:rPr>
              <a:t>Série longue — </a:t>
            </a:r>
            <a:pPr indent="0" marL="0">
              <a:spcAft>
                <a:spcPts val="200"/>
              </a:spcAft>
              <a:buNone/>
            </a:pPr>
            <a:r>
              <a:rPr lang="en-US" sz="1150" dirty="0">
                <a:solidFill>
                  <a:srgbClr val="231F20"/>
                </a:solidFill>
              </a:rPr>
              <a:t>harmonisée DMSP–VIIRS, avec indicatrice de capteur</a:t>
            </a:r>
            <a:endParaRPr lang="en-US" sz="1150" dirty="0"/>
          </a:p>
        </p:txBody>
      </p:sp>
      <p:sp>
        <p:nvSpPr>
          <p:cNvPr id="14" name="Shape 11"/>
          <p:cNvSpPr/>
          <p:nvPr/>
        </p:nvSpPr>
        <p:spPr>
          <a:xfrm>
            <a:off x="548640" y="4663440"/>
            <a:ext cx="5486400" cy="1508760"/>
          </a:xfrm>
          <a:prstGeom prst="roundRect">
            <a:avLst>
              <a:gd name="adj" fmla="val 7273"/>
            </a:avLst>
          </a:prstGeom>
          <a:solidFill>
            <a:srgbClr val="E8F5EF"/>
          </a:solidFill>
          <a:ln w="9525">
            <a:solidFill>
              <a:srgbClr val="E8F5EF"/>
            </a:solidFill>
            <a:prstDash val="solid"/>
          </a:ln>
        </p:spPr>
      </p:sp>
      <p:sp>
        <p:nvSpPr>
          <p:cNvPr id="15" name="Text 12"/>
          <p:cNvSpPr txBox="1"/>
          <p:nvPr/>
        </p:nvSpPr>
        <p:spPr>
          <a:xfrm>
            <a:off x="685800" y="4709160"/>
            <a:ext cx="521208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Pourquoi deux spécifications ?</a:t>
            </a:r>
            <a:endParaRPr lang="en-US" sz="1400" dirty="0"/>
          </a:p>
        </p:txBody>
      </p:sp>
      <p:sp>
        <p:nvSpPr>
          <p:cNvPr id="16" name="Text 13"/>
          <p:cNvSpPr txBox="1"/>
          <p:nvPr/>
        </p:nvSpPr>
        <p:spPr>
          <a:xfrm>
            <a:off x="685800" y="5029200"/>
            <a:ext cx="5212080" cy="10972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Deux séries qui augmentent avec le temps paraissent corrélées même sans lien causal : c'est la régression fallacieuse. Si β reste proche en croissance, la relation est crédible.</a:t>
            </a:r>
            <a:endParaRPr lang="en-US" sz="1300" dirty="0"/>
          </a:p>
        </p:txBody>
      </p:sp>
      <p:sp>
        <p:nvSpPr>
          <p:cNvPr id="17" name="Shape 14"/>
          <p:cNvSpPr/>
          <p:nvPr/>
        </p:nvSpPr>
        <p:spPr>
          <a:xfrm>
            <a:off x="6217920" y="4663440"/>
            <a:ext cx="5440680" cy="1508760"/>
          </a:xfrm>
          <a:prstGeom prst="roundRect">
            <a:avLst>
              <a:gd name="adj" fmla="val 7273"/>
            </a:avLst>
          </a:prstGeom>
          <a:solidFill>
            <a:srgbClr val="FDF6E3"/>
          </a:solidFill>
          <a:ln w="9525">
            <a:solidFill>
              <a:srgbClr val="FDF6E3"/>
            </a:solidFill>
            <a:prstDash val="solid"/>
          </a:ln>
        </p:spPr>
      </p:sp>
      <p:sp>
        <p:nvSpPr>
          <p:cNvPr id="18" name="Text 15"/>
          <p:cNvSpPr txBox="1"/>
          <p:nvPr/>
        </p:nvSpPr>
        <p:spPr>
          <a:xfrm>
            <a:off x="6355080" y="4736592"/>
            <a:ext cx="5166360" cy="1362456"/>
          </a:xfrm>
          <a:prstGeom prst="rect">
            <a:avLst/>
          </a:prstGeom>
          <a:noFill/>
          <a:ln/>
        </p:spPr>
        <p:txBody>
          <a:bodyPr wrap="square" lIns="635" tIns="635" rIns="635" bIns="635" rtlCol="0" anchor="ctr"/>
          <a:lstStyle/>
          <a:p>
            <a:pPr indent="0" marL="0">
              <a:spcAft>
                <a:spcPts val="200"/>
              </a:spcAft>
              <a:buNone/>
            </a:pPr>
            <a:r>
              <a:rPr lang="en-US" sz="1300" b="1" dirty="0">
                <a:solidFill>
                  <a:srgbClr val="B7791F"/>
                </a:solidFill>
              </a:rPr>
              <a:t>Lecture économique  </a:t>
            </a:r>
            <a:pPr indent="0" marL="0">
              <a:spcAft>
                <a:spcPts val="200"/>
              </a:spcAft>
              <a:buNone/>
            </a:pPr>
            <a:r>
              <a:rPr lang="en-US" sz="1300" dirty="0">
                <a:solidFill>
                  <a:srgbClr val="231F20"/>
                </a:solidFill>
              </a:rPr>
              <a:t>β &lt; 1 : la lumière progresse moins vite que le PIB (tertiarisation, LED, efficacité). Un β instable entre spécifications : n'utilisez les lumières que comme signal de direction.</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7</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Diagnostics et prévision hors échantillon : tester honnêtement</a:t>
            </a:r>
            <a:endParaRPr lang="en-US" sz="2800" dirty="0"/>
          </a:p>
        </p:txBody>
      </p:sp>
      <p:pic>
        <p:nvPicPr>
          <p:cNvPr id="4" name="Image 0" descr="/tmp/claude-0/-home-claude/8a8742ef-7d0d-54fc-a0c9-7ecbfc9f8b73/scratchpad/deck/img/tracking_fr.png">    </p:cNvPr>
          <p:cNvPicPr>
            <a:picLocks noChangeAspect="1"/>
          </p:cNvPicPr>
          <p:nvPr/>
        </p:nvPicPr>
        <p:blipFill>
          <a:blip r:embed="rId1"/>
          <a:stretch>
            <a:fillRect/>
          </a:stretch>
        </p:blipFill>
        <p:spPr>
          <a:xfrm>
            <a:off x="548640" y="1398664"/>
            <a:ext cx="6583680" cy="3146271"/>
          </a:xfrm>
          <a:prstGeom prst="rect">
            <a:avLst/>
          </a:prstGeom>
        </p:spPr>
      </p:pic>
      <p:sp>
        <p:nvSpPr>
          <p:cNvPr id="5" name="Shape 2"/>
          <p:cNvSpPr/>
          <p:nvPr/>
        </p:nvSpPr>
        <p:spPr>
          <a:xfrm>
            <a:off x="7406640" y="1371600"/>
            <a:ext cx="4251960" cy="731520"/>
          </a:xfrm>
          <a:prstGeom prst="roundRect">
            <a:avLst>
              <a:gd name="adj" fmla="val 15000"/>
            </a:avLst>
          </a:prstGeom>
          <a:solidFill>
            <a:srgbClr val="F4F7F5"/>
          </a:solidFill>
          <a:ln w="9525">
            <a:solidFill>
              <a:srgbClr val="F4F7F5"/>
            </a:solidFill>
            <a:prstDash val="solid"/>
          </a:ln>
        </p:spPr>
      </p:sp>
      <p:sp>
        <p:nvSpPr>
          <p:cNvPr id="6" name="Text 3"/>
          <p:cNvSpPr txBox="1"/>
          <p:nvPr/>
        </p:nvSpPr>
        <p:spPr>
          <a:xfrm>
            <a:off x="7543800" y="1389888"/>
            <a:ext cx="4023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HAC (Newey–West)</a:t>
            </a:r>
            <a:endParaRPr lang="en-US" sz="1400" dirty="0"/>
          </a:p>
        </p:txBody>
      </p:sp>
      <p:sp>
        <p:nvSpPr>
          <p:cNvPr id="7" name="Text 4"/>
          <p:cNvSpPr txBox="1"/>
          <p:nvPr/>
        </p:nvSpPr>
        <p:spPr>
          <a:xfrm>
            <a:off x="7543800" y="1709928"/>
            <a:ext cx="4023360" cy="36576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écarts-types corrigés de l'autocorrélation des résidus annuels</a:t>
            </a:r>
            <a:endParaRPr lang="en-US" sz="1200" dirty="0"/>
          </a:p>
        </p:txBody>
      </p:sp>
      <p:sp>
        <p:nvSpPr>
          <p:cNvPr id="8" name="Shape 5"/>
          <p:cNvSpPr/>
          <p:nvPr/>
        </p:nvSpPr>
        <p:spPr>
          <a:xfrm>
            <a:off x="7406640" y="2194560"/>
            <a:ext cx="4251960" cy="731520"/>
          </a:xfrm>
          <a:prstGeom prst="roundRect">
            <a:avLst>
              <a:gd name="adj" fmla="val 15000"/>
            </a:avLst>
          </a:prstGeom>
          <a:solidFill>
            <a:srgbClr val="F4F7F5"/>
          </a:solidFill>
          <a:ln w="9525">
            <a:solidFill>
              <a:srgbClr val="F4F7F5"/>
            </a:solidFill>
            <a:prstDash val="solid"/>
          </a:ln>
        </p:spPr>
      </p:sp>
      <p:sp>
        <p:nvSpPr>
          <p:cNvPr id="9" name="Text 6"/>
          <p:cNvSpPr txBox="1"/>
          <p:nvPr/>
        </p:nvSpPr>
        <p:spPr>
          <a:xfrm>
            <a:off x="7543800" y="2212848"/>
            <a:ext cx="4023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Durbin–Watson</a:t>
            </a:r>
            <a:endParaRPr lang="en-US" sz="1400" dirty="0"/>
          </a:p>
        </p:txBody>
      </p:sp>
      <p:sp>
        <p:nvSpPr>
          <p:cNvPr id="10" name="Text 7"/>
          <p:cNvSpPr txBox="1"/>
          <p:nvPr/>
        </p:nvSpPr>
        <p:spPr>
          <a:xfrm>
            <a:off x="7543800" y="2532888"/>
            <a:ext cx="4023360" cy="36576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autocorrélation des résidus ; ≈ 2 si absente</a:t>
            </a:r>
            <a:endParaRPr lang="en-US" sz="1200" dirty="0"/>
          </a:p>
        </p:txBody>
      </p:sp>
      <p:sp>
        <p:nvSpPr>
          <p:cNvPr id="11" name="Shape 8"/>
          <p:cNvSpPr/>
          <p:nvPr/>
        </p:nvSpPr>
        <p:spPr>
          <a:xfrm>
            <a:off x="7406640" y="3017520"/>
            <a:ext cx="4251960" cy="731520"/>
          </a:xfrm>
          <a:prstGeom prst="roundRect">
            <a:avLst>
              <a:gd name="adj" fmla="val 15000"/>
            </a:avLst>
          </a:prstGeom>
          <a:solidFill>
            <a:srgbClr val="F4F7F5"/>
          </a:solidFill>
          <a:ln w="9525">
            <a:solidFill>
              <a:srgbClr val="F4F7F5"/>
            </a:solidFill>
            <a:prstDash val="solid"/>
          </a:ln>
        </p:spPr>
      </p:sp>
      <p:sp>
        <p:nvSpPr>
          <p:cNvPr id="12" name="Text 9"/>
          <p:cNvSpPr txBox="1"/>
          <p:nvPr/>
        </p:nvSpPr>
        <p:spPr>
          <a:xfrm>
            <a:off x="7543800" y="3035808"/>
            <a:ext cx="4023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Breusch–Pagan</a:t>
            </a:r>
            <a:endParaRPr lang="en-US" sz="1400" dirty="0"/>
          </a:p>
        </p:txBody>
      </p:sp>
      <p:sp>
        <p:nvSpPr>
          <p:cNvPr id="13" name="Text 10"/>
          <p:cNvSpPr txBox="1"/>
          <p:nvPr/>
        </p:nvSpPr>
        <p:spPr>
          <a:xfrm>
            <a:off x="7543800" y="3355848"/>
            <a:ext cx="4023360" cy="36576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hétéroscédasticité : la variance des erreurs change-t-elle ?</a:t>
            </a:r>
            <a:endParaRPr lang="en-US" sz="1200" dirty="0"/>
          </a:p>
        </p:txBody>
      </p:sp>
      <p:sp>
        <p:nvSpPr>
          <p:cNvPr id="14" name="Shape 11"/>
          <p:cNvSpPr/>
          <p:nvPr/>
        </p:nvSpPr>
        <p:spPr>
          <a:xfrm>
            <a:off x="7406640" y="3840480"/>
            <a:ext cx="4251960" cy="731520"/>
          </a:xfrm>
          <a:prstGeom prst="roundRect">
            <a:avLst>
              <a:gd name="adj" fmla="val 15000"/>
            </a:avLst>
          </a:prstGeom>
          <a:solidFill>
            <a:srgbClr val="F4F7F5"/>
          </a:solidFill>
          <a:ln w="9525">
            <a:solidFill>
              <a:srgbClr val="F4F7F5"/>
            </a:solidFill>
            <a:prstDash val="solid"/>
          </a:ln>
        </p:spPr>
      </p:sp>
      <p:sp>
        <p:nvSpPr>
          <p:cNvPr id="15" name="Text 12"/>
          <p:cNvSpPr txBox="1"/>
          <p:nvPr/>
        </p:nvSpPr>
        <p:spPr>
          <a:xfrm>
            <a:off x="7543800" y="3858768"/>
            <a:ext cx="4023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Jarque–Bera</a:t>
            </a:r>
            <a:endParaRPr lang="en-US" sz="1400" dirty="0"/>
          </a:p>
        </p:txBody>
      </p:sp>
      <p:sp>
        <p:nvSpPr>
          <p:cNvPr id="16" name="Text 13"/>
          <p:cNvSpPr txBox="1"/>
          <p:nvPr/>
        </p:nvSpPr>
        <p:spPr>
          <a:xfrm>
            <a:off x="7543800" y="4178808"/>
            <a:ext cx="4023360" cy="36576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normalité des résidus</a:t>
            </a:r>
            <a:endParaRPr lang="en-US" sz="1200" dirty="0"/>
          </a:p>
        </p:txBody>
      </p:sp>
      <p:sp>
        <p:nvSpPr>
          <p:cNvPr id="17" name="Shape 14"/>
          <p:cNvSpPr/>
          <p:nvPr/>
        </p:nvSpPr>
        <p:spPr>
          <a:xfrm>
            <a:off x="548640" y="4800600"/>
            <a:ext cx="6583680" cy="1371600"/>
          </a:xfrm>
          <a:prstGeom prst="roundRect">
            <a:avLst>
              <a:gd name="adj" fmla="val 8000"/>
            </a:avLst>
          </a:prstGeom>
          <a:solidFill>
            <a:srgbClr val="E8F5EF"/>
          </a:solidFill>
          <a:ln w="9525">
            <a:solidFill>
              <a:srgbClr val="E8F5EF"/>
            </a:solidFill>
            <a:prstDash val="solid"/>
          </a:ln>
        </p:spPr>
      </p:sp>
      <p:sp>
        <p:nvSpPr>
          <p:cNvPr id="18" name="Text 15"/>
          <p:cNvSpPr txBox="1"/>
          <p:nvPr/>
        </p:nvSpPr>
        <p:spPr>
          <a:xfrm>
            <a:off x="685800" y="4846320"/>
            <a:ext cx="6309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Prévision hors échantillon (leave-one-out)</a:t>
            </a:r>
            <a:endParaRPr lang="en-US" sz="1400" dirty="0"/>
          </a:p>
        </p:txBody>
      </p:sp>
      <p:sp>
        <p:nvSpPr>
          <p:cNvPr id="19" name="Text 16"/>
          <p:cNvSpPr txBox="1"/>
          <p:nvPr/>
        </p:nvSpPr>
        <p:spPr>
          <a:xfrm>
            <a:off x="685800" y="5166360"/>
            <a:ext cx="6309360" cy="96012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Chaque année est prédite par un modèle estimé sans elle. Le notebook rapporte la corrélation et l'erreur absolue moyenne (en points de croissance) : c'est la mesure honnête de la capacité prédictive.</a:t>
            </a:r>
            <a:endParaRPr lang="en-US" sz="1300" dirty="0"/>
          </a:p>
        </p:txBody>
      </p:sp>
      <p:sp>
        <p:nvSpPr>
          <p:cNvPr id="20" name="Shape 17"/>
          <p:cNvSpPr/>
          <p:nvPr/>
        </p:nvSpPr>
        <p:spPr>
          <a:xfrm>
            <a:off x="7406640" y="4800600"/>
            <a:ext cx="4251960" cy="1371600"/>
          </a:xfrm>
          <a:prstGeom prst="roundRect">
            <a:avLst>
              <a:gd name="adj" fmla="val 8000"/>
            </a:avLst>
          </a:prstGeom>
          <a:solidFill>
            <a:srgbClr val="FBECEC"/>
          </a:solidFill>
          <a:ln w="9525">
            <a:solidFill>
              <a:srgbClr val="FBECEC"/>
            </a:solidFill>
            <a:prstDash val="solid"/>
          </a:ln>
        </p:spPr>
      </p:sp>
      <p:sp>
        <p:nvSpPr>
          <p:cNvPr id="21" name="Text 18"/>
          <p:cNvSpPr txBox="1"/>
          <p:nvPr/>
        </p:nvSpPr>
        <p:spPr>
          <a:xfrm>
            <a:off x="7543800" y="4873752"/>
            <a:ext cx="3977640" cy="1225296"/>
          </a:xfrm>
          <a:prstGeom prst="rect">
            <a:avLst/>
          </a:prstGeom>
          <a:noFill/>
          <a:ln/>
        </p:spPr>
        <p:txBody>
          <a:bodyPr wrap="square" lIns="635" tIns="635" rIns="635" bIns="635" rtlCol="0" anchor="ctr"/>
          <a:lstStyle/>
          <a:p>
            <a:pPr indent="0" marL="0">
              <a:spcAft>
                <a:spcPts val="200"/>
              </a:spcAft>
              <a:buNone/>
            </a:pPr>
            <a:r>
              <a:rPr lang="en-US" sz="1300" b="1" dirty="0">
                <a:solidFill>
                  <a:srgbClr val="D64545"/>
                </a:solidFill>
              </a:rPr>
              <a:t>Piège à éviter  </a:t>
            </a:r>
            <a:pPr indent="0" marL="0">
              <a:spcAft>
                <a:spcPts val="200"/>
              </a:spcAft>
              <a:buNone/>
            </a:pPr>
            <a:r>
              <a:rPr lang="en-US" sz="1300" dirty="0">
                <a:solidFill>
                  <a:srgbClr val="231F20"/>
                </a:solidFill>
              </a:rPr>
              <a:t>se contenter du R² en niveaux : il est presque toujours élevé. Lisez l'IC de β et l'erreur hors échantillon.</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7</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Estimer l'activité là où la statistique manque</a:t>
            </a:r>
            <a:endParaRPr lang="en-US" sz="2800" dirty="0"/>
          </a:p>
        </p:txBody>
      </p:sp>
      <p:sp>
        <p:nvSpPr>
          <p:cNvPr id="4" name="Shape 2"/>
          <p:cNvSpPr/>
          <p:nvPr/>
        </p:nvSpPr>
        <p:spPr>
          <a:xfrm>
            <a:off x="548640" y="1371600"/>
            <a:ext cx="5394960" cy="2240280"/>
          </a:xfrm>
          <a:prstGeom prst="roundRect">
            <a:avLst>
              <a:gd name="adj" fmla="val 4898"/>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554480"/>
            <a:ext cx="502920" cy="502920"/>
          </a:xfrm>
          <a:prstGeom prst="ellipse">
            <a:avLst/>
          </a:prstGeom>
          <a:solidFill>
            <a:srgbClr val="1F4E8C"/>
          </a:solidFill>
          <a:ln w="12700">
            <a:solidFill>
              <a:srgbClr val="1F4E8C"/>
            </a:solidFill>
            <a:prstDash val="solid"/>
          </a:ln>
        </p:spPr>
      </p:sp>
      <p:pic>
        <p:nvPicPr>
          <p:cNvPr id="6" name="Image 0" descr="preencoded.png">    </p:cNvPr>
          <p:cNvPicPr>
            <a:picLocks noChangeAspect="1"/>
          </p:cNvPicPr>
          <p:nvPr/>
        </p:nvPicPr>
        <p:blipFill>
          <a:blip r:embed="rId1"/>
          <a:stretch>
            <a:fillRect/>
          </a:stretch>
        </p:blipFill>
        <p:spPr>
          <a:xfrm>
            <a:off x="852221" y="1675181"/>
            <a:ext cx="261518" cy="261518"/>
          </a:xfrm>
          <a:prstGeom prst="rect">
            <a:avLst/>
          </a:prstGeom>
        </p:spPr>
      </p:pic>
      <p:sp>
        <p:nvSpPr>
          <p:cNvPr id="7" name="Text 4"/>
          <p:cNvSpPr txBox="1"/>
          <p:nvPr/>
        </p:nvSpPr>
        <p:spPr>
          <a:xfrm>
            <a:off x="1371600" y="153619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Nowcast : l'année non encore publiée</a:t>
            </a:r>
            <a:endParaRPr lang="en-US" sz="1500" dirty="0"/>
          </a:p>
        </p:txBody>
      </p:sp>
      <p:sp>
        <p:nvSpPr>
          <p:cNvPr id="8" name="Text 5"/>
          <p:cNvSpPr txBox="1"/>
          <p:nvPr/>
        </p:nvSpPr>
        <p:spPr>
          <a:xfrm>
            <a:off x="731520" y="2176272"/>
            <a:ext cx="5029200" cy="132588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On estime la croissance du PIB de l'année récente à partir de celle des lumières, avec un intervalle de prévision à 80 % et 95 %.</a:t>
            </a:r>
            <a:endParaRPr lang="en-US" sz="1350" dirty="0"/>
          </a:p>
        </p:txBody>
      </p:sp>
      <p:sp>
        <p:nvSpPr>
          <p:cNvPr id="9" name="Shape 6"/>
          <p:cNvSpPr/>
          <p:nvPr/>
        </p:nvSpPr>
        <p:spPr>
          <a:xfrm>
            <a:off x="731520" y="2880360"/>
            <a:ext cx="5029200" cy="548640"/>
          </a:xfrm>
          <a:prstGeom prst="roundRect">
            <a:avLst>
              <a:gd name="adj" fmla="val 20000"/>
            </a:avLst>
          </a:prstGeom>
          <a:solidFill>
            <a:srgbClr val="EAF2FB"/>
          </a:solidFill>
          <a:ln w="9525">
            <a:solidFill>
              <a:srgbClr val="EAF2FB"/>
            </a:solidFill>
            <a:prstDash val="solid"/>
          </a:ln>
        </p:spPr>
      </p:sp>
      <p:sp>
        <p:nvSpPr>
          <p:cNvPr id="10" name="Text 7"/>
          <p:cNvSpPr txBox="1"/>
          <p:nvPr/>
        </p:nvSpPr>
        <p:spPr>
          <a:xfrm>
            <a:off x="868680" y="2880360"/>
            <a:ext cx="4754880" cy="548640"/>
          </a:xfrm>
          <a:prstGeom prst="rect">
            <a:avLst/>
          </a:prstGeom>
          <a:noFill/>
          <a:ln/>
        </p:spPr>
        <p:txBody>
          <a:bodyPr wrap="square" lIns="635" tIns="635" rIns="635" bIns="635" rtlCol="0" anchor="ctr"/>
          <a:lstStyle/>
          <a:p>
            <a:pPr algn="ctr" indent="0" marL="0">
              <a:spcAft>
                <a:spcPts val="200"/>
              </a:spcAft>
              <a:buNone/>
            </a:pPr>
            <a:r>
              <a:rPr lang="en-US" sz="1600" dirty="0">
                <a:solidFill>
                  <a:srgbClr val="1F4E8C"/>
                </a:solidFill>
                <a:latin typeface="Cambria" pitchFamily="34" charset="0"/>
                <a:ea typeface="Cambria" pitchFamily="34" charset="-122"/>
                <a:cs typeface="Cambria" pitchFamily="34" charset="-120"/>
              </a:rPr>
              <a:t>Δlog(PIBₜ) = a + γ · Δlog(NTLₜ)</a:t>
            </a:r>
            <a:endParaRPr lang="en-US" sz="1600" dirty="0"/>
          </a:p>
        </p:txBody>
      </p:sp>
      <p:pic>
        <p:nvPicPr>
          <p:cNvPr id="11" name="Image 1" descr="/tmp/claude-0/-home-claude/8a8742ef-7d0d-54fc-a0c9-7ecbfc9f8b73/scratchpad/deck/img/regional_gdp_fr.png">    </p:cNvPr>
          <p:cNvPicPr>
            <a:picLocks noChangeAspect="1"/>
          </p:cNvPicPr>
          <p:nvPr/>
        </p:nvPicPr>
        <p:blipFill>
          <a:blip r:embed="rId2"/>
          <a:stretch>
            <a:fillRect/>
          </a:stretch>
        </p:blipFill>
        <p:spPr>
          <a:xfrm>
            <a:off x="6172200" y="1387192"/>
            <a:ext cx="5486400" cy="2620576"/>
          </a:xfrm>
          <a:prstGeom prst="rect">
            <a:avLst/>
          </a:prstGeom>
        </p:spPr>
      </p:pic>
      <p:sp>
        <p:nvSpPr>
          <p:cNvPr id="12" name="Shape 8"/>
          <p:cNvSpPr/>
          <p:nvPr/>
        </p:nvSpPr>
        <p:spPr>
          <a:xfrm>
            <a:off x="6263640" y="4160520"/>
            <a:ext cx="5303520" cy="548640"/>
          </a:xfrm>
          <a:prstGeom prst="roundRect">
            <a:avLst>
              <a:gd name="adj" fmla="val 20000"/>
            </a:avLst>
          </a:prstGeom>
          <a:solidFill>
            <a:srgbClr val="EAF2FB"/>
          </a:solidFill>
          <a:ln w="9525">
            <a:solidFill>
              <a:srgbClr val="EAF2FB"/>
            </a:solidFill>
            <a:prstDash val="solid"/>
          </a:ln>
        </p:spPr>
      </p:sp>
      <p:sp>
        <p:nvSpPr>
          <p:cNvPr id="13" name="Text 9"/>
          <p:cNvSpPr txBox="1"/>
          <p:nvPr/>
        </p:nvSpPr>
        <p:spPr>
          <a:xfrm>
            <a:off x="6400800" y="4160520"/>
            <a:ext cx="5029200" cy="548640"/>
          </a:xfrm>
          <a:prstGeom prst="rect">
            <a:avLst/>
          </a:prstGeom>
          <a:noFill/>
          <a:ln/>
        </p:spPr>
        <p:txBody>
          <a:bodyPr wrap="square" lIns="635" tIns="635" rIns="635" bIns="635" rtlCol="0" anchor="ctr"/>
          <a:lstStyle/>
          <a:p>
            <a:pPr algn="ctr" indent="0" marL="0">
              <a:spcAft>
                <a:spcPts val="200"/>
              </a:spcAft>
              <a:buNone/>
            </a:pPr>
            <a:r>
              <a:rPr lang="en-US" sz="1600" dirty="0">
                <a:solidFill>
                  <a:srgbClr val="1F4E8C"/>
                </a:solidFill>
                <a:latin typeface="Cambria" pitchFamily="34" charset="0"/>
                <a:ea typeface="Cambria" pitchFamily="34" charset="-122"/>
                <a:cs typeface="Cambria" pitchFamily="34" charset="-120"/>
              </a:rPr>
              <a:t>PIBᵣ = PIB national × SoLᵣ</a:t>
            </a:r>
            <a:pPr algn="ctr" indent="0" marL="0">
              <a:spcAft>
                <a:spcPts val="200"/>
              </a:spcAft>
              <a:buNone/>
            </a:pPr>
            <a:r>
              <a:rPr lang="en-US" sz="1600" baseline="30000" dirty="0">
                <a:solidFill>
                  <a:srgbClr val="1F4E8C"/>
                </a:solidFill>
                <a:latin typeface="Cambria" pitchFamily="34" charset="0"/>
                <a:ea typeface="Cambria" pitchFamily="34" charset="-122"/>
                <a:cs typeface="Cambria" pitchFamily="34" charset="-120"/>
              </a:rPr>
              <a:t>γ</a:t>
            </a:r>
            <a:pPr algn="ctr" indent="0" marL="0">
              <a:spcAft>
                <a:spcPts val="200"/>
              </a:spcAft>
              <a:buNone/>
            </a:pPr>
            <a:r>
              <a:rPr lang="en-US" sz="1600" dirty="0">
                <a:solidFill>
                  <a:srgbClr val="1F4E8C"/>
                </a:solidFill>
                <a:latin typeface="Cambria" pitchFamily="34" charset="0"/>
                <a:ea typeface="Cambria" pitchFamily="34" charset="-122"/>
                <a:cs typeface="Cambria" pitchFamily="34" charset="-120"/>
              </a:rPr>
              <a:t> / Σ SoL</a:t>
            </a:r>
            <a:pPr algn="ctr" indent="0" marL="0">
              <a:spcAft>
                <a:spcPts val="200"/>
              </a:spcAft>
              <a:buNone/>
            </a:pPr>
            <a:r>
              <a:rPr lang="en-US" sz="1600" baseline="30000" dirty="0">
                <a:solidFill>
                  <a:srgbClr val="1F4E8C"/>
                </a:solidFill>
                <a:latin typeface="Cambria" pitchFamily="34" charset="0"/>
                <a:ea typeface="Cambria" pitchFamily="34" charset="-122"/>
                <a:cs typeface="Cambria" pitchFamily="34" charset="-120"/>
              </a:rPr>
              <a:t>γ</a:t>
            </a:r>
            <a:endParaRPr lang="en-US" sz="1600" dirty="0"/>
          </a:p>
        </p:txBody>
      </p:sp>
      <p:sp>
        <p:nvSpPr>
          <p:cNvPr id="14" name="Text 10"/>
          <p:cNvSpPr txBox="1"/>
          <p:nvPr/>
        </p:nvSpPr>
        <p:spPr>
          <a:xfrm>
            <a:off x="6263640" y="4800600"/>
            <a:ext cx="5394960" cy="1371600"/>
          </a:xfrm>
          <a:prstGeom prst="rect">
            <a:avLst/>
          </a:prstGeom>
          <a:noFill/>
          <a:ln/>
        </p:spPr>
        <p:txBody>
          <a:bodyPr wrap="square" lIns="635" tIns="635" rIns="635" bIns="635" rtlCol="0" anchor="t"/>
          <a:lstStyle/>
          <a:p>
            <a:pPr indent="0" marL="0">
              <a:spcAft>
                <a:spcPts val="200"/>
              </a:spcAft>
              <a:buNone/>
            </a:pPr>
            <a:r>
              <a:rPr lang="en-US" sz="1300" b="1" dirty="0">
                <a:solidFill>
                  <a:srgbClr val="00553A"/>
                </a:solidFill>
              </a:rPr>
              <a:t>PIB régional expérimental. </a:t>
            </a:r>
            <a:pPr indent="0" marL="0">
              <a:spcAft>
                <a:spcPts val="200"/>
              </a:spcAft>
              <a:buNone/>
            </a:pPr>
            <a:r>
              <a:rPr lang="en-US" sz="1300" dirty="0">
                <a:solidFill>
                  <a:srgbClr val="231F20"/>
                </a:solidFill>
              </a:rPr>
              <a:t>γ = 1 : prorata de la lumière ; γ = 0,5 : sensibilité qui donne plus de poids aux régions peu éclairées. L'écart entre les deux mesure l'incertitude liée à l'hypothèse.</a:t>
            </a:r>
            <a:endParaRPr lang="en-US" sz="1300" dirty="0"/>
          </a:p>
        </p:txBody>
      </p:sp>
      <p:sp>
        <p:nvSpPr>
          <p:cNvPr id="15" name="Shape 11"/>
          <p:cNvSpPr/>
          <p:nvPr/>
        </p:nvSpPr>
        <p:spPr>
          <a:xfrm>
            <a:off x="548640" y="3840480"/>
            <a:ext cx="5394960" cy="2331720"/>
          </a:xfrm>
          <a:prstGeom prst="roundRect">
            <a:avLst>
              <a:gd name="adj" fmla="val 4706"/>
            </a:avLst>
          </a:prstGeom>
          <a:solidFill>
            <a:srgbClr val="FDF6E3"/>
          </a:solidFill>
          <a:ln w="9525">
            <a:solidFill>
              <a:srgbClr val="FDF6E3"/>
            </a:solidFill>
            <a:prstDash val="solid"/>
          </a:ln>
        </p:spPr>
      </p:sp>
      <p:sp>
        <p:nvSpPr>
          <p:cNvPr id="16" name="Shape 12"/>
          <p:cNvSpPr/>
          <p:nvPr/>
        </p:nvSpPr>
        <p:spPr>
          <a:xfrm>
            <a:off x="731520" y="4023360"/>
            <a:ext cx="548640" cy="548640"/>
          </a:xfrm>
          <a:prstGeom prst="ellipse">
            <a:avLst/>
          </a:prstGeom>
          <a:solidFill>
            <a:srgbClr val="B7791F"/>
          </a:solidFill>
          <a:ln w="12700">
            <a:solidFill>
              <a:srgbClr val="B7791F"/>
            </a:solidFill>
            <a:prstDash val="solid"/>
          </a:ln>
        </p:spPr>
      </p:sp>
      <p:pic>
        <p:nvPicPr>
          <p:cNvPr id="17" name="Image 2" descr="preencoded.png">    </p:cNvPr>
          <p:cNvPicPr>
            <a:picLocks noChangeAspect="1"/>
          </p:cNvPicPr>
          <p:nvPr/>
        </p:nvPicPr>
        <p:blipFill>
          <a:blip r:embed="rId3"/>
          <a:stretch>
            <a:fillRect/>
          </a:stretch>
        </p:blipFill>
        <p:spPr>
          <a:xfrm>
            <a:off x="863194" y="4155034"/>
            <a:ext cx="285293" cy="285293"/>
          </a:xfrm>
          <a:prstGeom prst="rect">
            <a:avLst/>
          </a:prstGeom>
        </p:spPr>
      </p:pic>
      <p:sp>
        <p:nvSpPr>
          <p:cNvPr id="18" name="Text 13"/>
          <p:cNvSpPr txBox="1"/>
          <p:nvPr/>
        </p:nvSpPr>
        <p:spPr>
          <a:xfrm>
            <a:off x="1417320" y="4023360"/>
            <a:ext cx="4389120" cy="548640"/>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Statut : statistique expérimentale</a:t>
            </a:r>
            <a:endParaRPr lang="en-US" sz="1600" dirty="0"/>
          </a:p>
        </p:txBody>
      </p:sp>
      <p:sp>
        <p:nvSpPr>
          <p:cNvPr id="19" name="Text 14"/>
          <p:cNvSpPr txBox="1"/>
          <p:nvPr/>
        </p:nvSpPr>
        <p:spPr>
          <a:xfrm>
            <a:off x="731520" y="4663440"/>
            <a:ext cx="5029200" cy="14630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Ces estimations sont produites avec une confiance « faible » par construction : extrapolation d'un modèle estimé sur peu d'années. À publier avec intervalle et note méthodologique, après comparaison avec les comptes régionaux disponibles.</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8</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Détecter les chocs : anomalies et ruptures structurelles</a:t>
            </a:r>
            <a:endParaRPr lang="en-US" sz="2800" dirty="0"/>
          </a:p>
        </p:txBody>
      </p:sp>
      <p:pic>
        <p:nvPicPr>
          <p:cNvPr id="4" name="Image 0" descr="/tmp/claude-0/-home-claude/8a8742ef-7d0d-54fc-a0c9-7ecbfc9f8b73/scratchpad/deck/img/anomalies_fr.png">    </p:cNvPr>
          <p:cNvPicPr>
            <a:picLocks noChangeAspect="1"/>
          </p:cNvPicPr>
          <p:nvPr/>
        </p:nvPicPr>
        <p:blipFill>
          <a:blip r:embed="rId1"/>
          <a:stretch>
            <a:fillRect/>
          </a:stretch>
        </p:blipFill>
        <p:spPr>
          <a:xfrm>
            <a:off x="548640" y="1345852"/>
            <a:ext cx="7040880" cy="3069015"/>
          </a:xfrm>
          <a:prstGeom prst="rect">
            <a:avLst/>
          </a:prstGeom>
        </p:spPr>
      </p:pic>
      <p:sp>
        <p:nvSpPr>
          <p:cNvPr id="5" name="Shape 2"/>
          <p:cNvSpPr/>
          <p:nvPr/>
        </p:nvSpPr>
        <p:spPr>
          <a:xfrm>
            <a:off x="7818120" y="1371600"/>
            <a:ext cx="3840480" cy="1691640"/>
          </a:xfrm>
          <a:prstGeom prst="roundRect">
            <a:avLst>
              <a:gd name="adj" fmla="val 648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 name="Text 3"/>
          <p:cNvSpPr txBox="1"/>
          <p:nvPr/>
        </p:nvSpPr>
        <p:spPr>
          <a:xfrm>
            <a:off x="7955280" y="1444752"/>
            <a:ext cx="3566160" cy="329184"/>
          </a:xfrm>
          <a:prstGeom prst="rect">
            <a:avLst/>
          </a:prstGeom>
          <a:noFill/>
          <a:ln/>
        </p:spPr>
        <p:txBody>
          <a:bodyPr wrap="square" lIns="635" tIns="635" rIns="635" bIns="635" rtlCol="0" anchor="t"/>
          <a:lstStyle/>
          <a:p>
            <a:pPr indent="0" marL="0">
              <a:spcAft>
                <a:spcPts val="200"/>
              </a:spcAft>
              <a:buNone/>
            </a:pPr>
            <a:r>
              <a:rPr lang="en-US" sz="1500" b="1" dirty="0">
                <a:solidFill>
                  <a:srgbClr val="D64545"/>
                </a:solidFill>
              </a:rPr>
              <a:t>Anomalie</a:t>
            </a:r>
            <a:endParaRPr lang="en-US" sz="1500" dirty="0"/>
          </a:p>
        </p:txBody>
      </p:sp>
      <p:sp>
        <p:nvSpPr>
          <p:cNvPr id="7" name="Text 4"/>
          <p:cNvSpPr txBox="1"/>
          <p:nvPr/>
        </p:nvSpPr>
        <p:spPr>
          <a:xfrm>
            <a:off x="7955280" y="1773936"/>
            <a:ext cx="3566160" cy="7772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mois dont le résidu STL est extrême : |z robuste| ≥ 3,5 ET écart ≥ 5 %</a:t>
            </a:r>
            <a:endParaRPr lang="en-US" sz="1250" dirty="0"/>
          </a:p>
        </p:txBody>
      </p:sp>
      <p:sp>
        <p:nvSpPr>
          <p:cNvPr id="8" name="Shape 5"/>
          <p:cNvSpPr/>
          <p:nvPr/>
        </p:nvSpPr>
        <p:spPr>
          <a:xfrm>
            <a:off x="7955280" y="2560320"/>
            <a:ext cx="3566160" cy="411480"/>
          </a:xfrm>
          <a:prstGeom prst="roundRect">
            <a:avLst>
              <a:gd name="adj" fmla="val 26667"/>
            </a:avLst>
          </a:prstGeom>
          <a:solidFill>
            <a:srgbClr val="EAF2FB"/>
          </a:solidFill>
          <a:ln w="9525">
            <a:solidFill>
              <a:srgbClr val="EAF2FB"/>
            </a:solidFill>
            <a:prstDash val="solid"/>
          </a:ln>
        </p:spPr>
      </p:sp>
      <p:sp>
        <p:nvSpPr>
          <p:cNvPr id="9" name="Text 6"/>
          <p:cNvSpPr txBox="1"/>
          <p:nvPr/>
        </p:nvSpPr>
        <p:spPr>
          <a:xfrm>
            <a:off x="8092440" y="2560320"/>
            <a:ext cx="3291840" cy="411480"/>
          </a:xfrm>
          <a:prstGeom prst="rect">
            <a:avLst/>
          </a:prstGeom>
          <a:noFill/>
          <a:ln/>
        </p:spPr>
        <p:txBody>
          <a:bodyPr wrap="square" lIns="635" tIns="635" rIns="635" bIns="635" rtlCol="0" anchor="ctr"/>
          <a:lstStyle/>
          <a:p>
            <a:pPr algn="ctr" indent="0" marL="0">
              <a:spcAft>
                <a:spcPts val="200"/>
              </a:spcAft>
              <a:buNone/>
            </a:pPr>
            <a:r>
              <a:rPr lang="en-US" sz="1300" dirty="0">
                <a:solidFill>
                  <a:srgbClr val="1F4E8C"/>
                </a:solidFill>
                <a:latin typeface="Cambria" pitchFamily="34" charset="0"/>
                <a:ea typeface="Cambria" pitchFamily="34" charset="-122"/>
                <a:cs typeface="Cambria" pitchFamily="34" charset="-120"/>
              </a:rPr>
              <a:t>z = (Rₜ − médiane) / (1,4826 × MAD)</a:t>
            </a:r>
            <a:endParaRPr lang="en-US" sz="1300" dirty="0"/>
          </a:p>
        </p:txBody>
      </p:sp>
      <p:sp>
        <p:nvSpPr>
          <p:cNvPr id="10" name="Shape 7"/>
          <p:cNvSpPr/>
          <p:nvPr/>
        </p:nvSpPr>
        <p:spPr>
          <a:xfrm>
            <a:off x="7818120" y="3200400"/>
            <a:ext cx="3840480" cy="1691640"/>
          </a:xfrm>
          <a:prstGeom prst="roundRect">
            <a:avLst>
              <a:gd name="adj" fmla="val 648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Text 8"/>
          <p:cNvSpPr txBox="1"/>
          <p:nvPr/>
        </p:nvSpPr>
        <p:spPr>
          <a:xfrm>
            <a:off x="7955280" y="3273552"/>
            <a:ext cx="356616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Rupture structurelle</a:t>
            </a:r>
            <a:endParaRPr lang="en-US" sz="1500" dirty="0"/>
          </a:p>
        </p:txBody>
      </p:sp>
      <p:sp>
        <p:nvSpPr>
          <p:cNvPr id="12" name="Text 9"/>
          <p:cNvSpPr txBox="1"/>
          <p:nvPr/>
        </p:nvSpPr>
        <p:spPr>
          <a:xfrm>
            <a:off x="7955280" y="3602736"/>
            <a:ext cx="3566160" cy="7772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changement durable de niveau ou de pente ; segmentation linéaire par morceaux, pénalité de type BIC, ≥ 12 mois de chaque côté</a:t>
            </a:r>
            <a:endParaRPr lang="en-US" sz="1250" dirty="0"/>
          </a:p>
        </p:txBody>
      </p:sp>
      <p:sp>
        <p:nvSpPr>
          <p:cNvPr id="13" name="Text 10"/>
          <p:cNvSpPr txBox="1"/>
          <p:nvPr/>
        </p:nvSpPr>
        <p:spPr>
          <a:xfrm>
            <a:off x="7818120" y="4983480"/>
            <a:ext cx="3840480" cy="594360"/>
          </a:xfrm>
          <a:prstGeom prst="rect">
            <a:avLst/>
          </a:prstGeom>
          <a:noFill/>
          <a:ln/>
        </p:spPr>
        <p:txBody>
          <a:bodyPr wrap="square" lIns="635" tIns="635" rIns="635" bIns="635" rtlCol="0" anchor="t"/>
          <a:lstStyle/>
          <a:p>
            <a:pPr indent="0" marL="0">
              <a:spcAft>
                <a:spcPts val="200"/>
              </a:spcAft>
              <a:buNone/>
            </a:pPr>
            <a:r>
              <a:rPr lang="en-US" sz="1250" b="1" dirty="0">
                <a:solidFill>
                  <a:srgbClr val="1F4E8C"/>
                </a:solidFill>
              </a:rPr>
              <a:t>MAD </a:t>
            </a:r>
            <a:pPr indent="0" marL="0">
              <a:spcAft>
                <a:spcPts val="200"/>
              </a:spcAft>
              <a:buNone/>
            </a:pPr>
            <a:r>
              <a:rPr lang="en-US" sz="1250" dirty="0">
                <a:solidFill>
                  <a:srgbClr val="231F20"/>
                </a:solidFill>
              </a:rPr>
              <a:t>= écart absolu médian : une mesure de dispersion robuste aux valeurs extrêmes.</a:t>
            </a:r>
            <a:endParaRPr lang="en-US" sz="1250" dirty="0"/>
          </a:p>
        </p:txBody>
      </p:sp>
      <p:sp>
        <p:nvSpPr>
          <p:cNvPr id="14" name="Shape 11"/>
          <p:cNvSpPr/>
          <p:nvPr/>
        </p:nvSpPr>
        <p:spPr>
          <a:xfrm>
            <a:off x="548640" y="4617720"/>
            <a:ext cx="7040880" cy="1554480"/>
          </a:xfrm>
          <a:prstGeom prst="roundRect">
            <a:avLst>
              <a:gd name="adj" fmla="val 7059"/>
            </a:avLst>
          </a:prstGeom>
          <a:solidFill>
            <a:srgbClr val="E8F5EF"/>
          </a:solidFill>
          <a:ln w="9525">
            <a:solidFill>
              <a:srgbClr val="E8F5EF"/>
            </a:solidFill>
            <a:prstDash val="solid"/>
          </a:ln>
        </p:spPr>
      </p:sp>
      <p:sp>
        <p:nvSpPr>
          <p:cNvPr id="15" name="Text 12"/>
          <p:cNvSpPr txBox="1"/>
          <p:nvPr/>
        </p:nvSpPr>
        <p:spPr>
          <a:xfrm>
            <a:off x="685800" y="4663440"/>
            <a:ext cx="6766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Catalogue d'événements</a:t>
            </a:r>
            <a:endParaRPr lang="en-US" sz="1400" dirty="0"/>
          </a:p>
        </p:txBody>
      </p:sp>
      <p:sp>
        <p:nvSpPr>
          <p:cNvPr id="16" name="Text 13"/>
          <p:cNvSpPr txBox="1"/>
          <p:nvPr/>
        </p:nvSpPr>
        <p:spPr>
          <a:xfrm>
            <a:off x="685800" y="4983480"/>
            <a:ext cx="6766560" cy="11430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COVID-19 (générique, mars 2020 – juin 2021) + vos CUSTOM_EVENTS + export ACLED (conflits) ou EM-DAT (catastrophes) facultatif. Une rupture sans événement connu à ±6 mois est signalée : elle doit être documentée (capteur, panne) avant d'être interprétée.</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8</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Mesurer un choc : profondeur du creux et vitesse de récupération</a:t>
            </a:r>
            <a:endParaRPr lang="en-US" sz="2800" dirty="0"/>
          </a:p>
        </p:txBody>
      </p:sp>
      <p:pic>
        <p:nvPicPr>
          <p:cNvPr id="4" name="Image 0" descr="/tmp/claude-0/-home-claude/8a8742ef-7d0d-54fc-a0c9-7ecbfc9f8b73/scratchpad/deck/img/shock_fr.png">    </p:cNvPr>
          <p:cNvPicPr>
            <a:picLocks noChangeAspect="1"/>
          </p:cNvPicPr>
          <p:nvPr/>
        </p:nvPicPr>
        <p:blipFill>
          <a:blip r:embed="rId1"/>
          <a:stretch>
            <a:fillRect/>
          </a:stretch>
        </p:blipFill>
        <p:spPr>
          <a:xfrm>
            <a:off x="548640" y="1348259"/>
            <a:ext cx="7040880" cy="3338523"/>
          </a:xfrm>
          <a:prstGeom prst="rect">
            <a:avLst/>
          </a:prstGeom>
        </p:spPr>
      </p:pic>
      <p:sp>
        <p:nvSpPr>
          <p:cNvPr id="5" name="Shape 2"/>
          <p:cNvSpPr/>
          <p:nvPr/>
        </p:nvSpPr>
        <p:spPr>
          <a:xfrm>
            <a:off x="7818120" y="1371600"/>
            <a:ext cx="3840480" cy="777240"/>
          </a:xfrm>
          <a:prstGeom prst="roundRect">
            <a:avLst>
              <a:gd name="adj" fmla="val 14118"/>
            </a:avLst>
          </a:prstGeom>
          <a:solidFill>
            <a:srgbClr val="F4F7F5"/>
          </a:solidFill>
          <a:ln w="9525">
            <a:solidFill>
              <a:srgbClr val="F4F7F5"/>
            </a:solidFill>
            <a:prstDash val="solid"/>
          </a:ln>
        </p:spPr>
      </p:sp>
      <p:sp>
        <p:nvSpPr>
          <p:cNvPr id="6" name="Text 3"/>
          <p:cNvSpPr txBox="1"/>
          <p:nvPr/>
        </p:nvSpPr>
        <p:spPr>
          <a:xfrm>
            <a:off x="7955280" y="1399032"/>
            <a:ext cx="361188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Niveau d'avant-choc</a:t>
            </a:r>
            <a:endParaRPr lang="en-US" sz="1400" dirty="0"/>
          </a:p>
        </p:txBody>
      </p:sp>
      <p:sp>
        <p:nvSpPr>
          <p:cNvPr id="7" name="Text 4"/>
          <p:cNvSpPr txBox="1"/>
          <p:nvPr/>
        </p:nvSpPr>
        <p:spPr>
          <a:xfrm>
            <a:off x="7955280" y="1709928"/>
            <a:ext cx="3611880" cy="41148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moyenne des 12 mois précédant l'événement, série désaisonnalisée</a:t>
            </a:r>
            <a:endParaRPr lang="en-US" sz="1200" dirty="0"/>
          </a:p>
        </p:txBody>
      </p:sp>
      <p:sp>
        <p:nvSpPr>
          <p:cNvPr id="8" name="Shape 5"/>
          <p:cNvSpPr/>
          <p:nvPr/>
        </p:nvSpPr>
        <p:spPr>
          <a:xfrm>
            <a:off x="7818120" y="2240280"/>
            <a:ext cx="3840480" cy="777240"/>
          </a:xfrm>
          <a:prstGeom prst="roundRect">
            <a:avLst>
              <a:gd name="adj" fmla="val 14118"/>
            </a:avLst>
          </a:prstGeom>
          <a:solidFill>
            <a:srgbClr val="F4F7F5"/>
          </a:solidFill>
          <a:ln w="9525">
            <a:solidFill>
              <a:srgbClr val="F4F7F5"/>
            </a:solidFill>
            <a:prstDash val="solid"/>
          </a:ln>
        </p:spPr>
      </p:sp>
      <p:sp>
        <p:nvSpPr>
          <p:cNvPr id="9" name="Text 6"/>
          <p:cNvSpPr txBox="1"/>
          <p:nvPr/>
        </p:nvSpPr>
        <p:spPr>
          <a:xfrm>
            <a:off x="7955280" y="2267712"/>
            <a:ext cx="361188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Creux</a:t>
            </a:r>
            <a:endParaRPr lang="en-US" sz="1400" dirty="0"/>
          </a:p>
        </p:txBody>
      </p:sp>
      <p:sp>
        <p:nvSpPr>
          <p:cNvPr id="10" name="Text 7"/>
          <p:cNvSpPr txBox="1"/>
          <p:nvPr/>
        </p:nvSpPr>
        <p:spPr>
          <a:xfrm>
            <a:off x="7955280" y="2578608"/>
            <a:ext cx="3611880" cy="41148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écart maximal à ce niveau pendant l'événement (en %)</a:t>
            </a:r>
            <a:endParaRPr lang="en-US" sz="1200" dirty="0"/>
          </a:p>
        </p:txBody>
      </p:sp>
      <p:sp>
        <p:nvSpPr>
          <p:cNvPr id="11" name="Shape 8"/>
          <p:cNvSpPr/>
          <p:nvPr/>
        </p:nvSpPr>
        <p:spPr>
          <a:xfrm>
            <a:off x="7818120" y="3108960"/>
            <a:ext cx="3840480" cy="777240"/>
          </a:xfrm>
          <a:prstGeom prst="roundRect">
            <a:avLst>
              <a:gd name="adj" fmla="val 14118"/>
            </a:avLst>
          </a:prstGeom>
          <a:solidFill>
            <a:srgbClr val="F4F7F5"/>
          </a:solidFill>
          <a:ln w="9525">
            <a:solidFill>
              <a:srgbClr val="F4F7F5"/>
            </a:solidFill>
            <a:prstDash val="solid"/>
          </a:ln>
        </p:spPr>
      </p:sp>
      <p:sp>
        <p:nvSpPr>
          <p:cNvPr id="12" name="Text 9"/>
          <p:cNvSpPr txBox="1"/>
          <p:nvPr/>
        </p:nvSpPr>
        <p:spPr>
          <a:xfrm>
            <a:off x="7955280" y="3136392"/>
            <a:ext cx="361188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Récupération</a:t>
            </a:r>
            <a:endParaRPr lang="en-US" sz="1400" dirty="0"/>
          </a:p>
        </p:txBody>
      </p:sp>
      <p:sp>
        <p:nvSpPr>
          <p:cNvPr id="13" name="Text 10"/>
          <p:cNvSpPr txBox="1"/>
          <p:nvPr/>
        </p:nvSpPr>
        <p:spPr>
          <a:xfrm>
            <a:off x="7955280" y="3447288"/>
            <a:ext cx="3611880" cy="41148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nombre de mois pour revenir au niveau d'avant-choc</a:t>
            </a:r>
            <a:endParaRPr lang="en-US" sz="1200" dirty="0"/>
          </a:p>
        </p:txBody>
      </p:sp>
      <p:sp>
        <p:nvSpPr>
          <p:cNvPr id="14" name="Shape 11"/>
          <p:cNvSpPr/>
          <p:nvPr/>
        </p:nvSpPr>
        <p:spPr>
          <a:xfrm>
            <a:off x="7818120" y="3977640"/>
            <a:ext cx="3840480" cy="777240"/>
          </a:xfrm>
          <a:prstGeom prst="roundRect">
            <a:avLst>
              <a:gd name="adj" fmla="val 14118"/>
            </a:avLst>
          </a:prstGeom>
          <a:solidFill>
            <a:srgbClr val="EAF2FB"/>
          </a:solidFill>
          <a:ln w="9525">
            <a:solidFill>
              <a:srgbClr val="EAF2FB"/>
            </a:solidFill>
            <a:prstDash val="solid"/>
          </a:ln>
        </p:spPr>
      </p:sp>
      <p:sp>
        <p:nvSpPr>
          <p:cNvPr id="15" name="Text 12"/>
          <p:cNvSpPr txBox="1"/>
          <p:nvPr/>
        </p:nvSpPr>
        <p:spPr>
          <a:xfrm>
            <a:off x="7955280" y="4005072"/>
            <a:ext cx="3611880" cy="310896"/>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Distinguable du bruit ?</a:t>
            </a:r>
            <a:endParaRPr lang="en-US" sz="1400" dirty="0"/>
          </a:p>
        </p:txBody>
      </p:sp>
      <p:sp>
        <p:nvSpPr>
          <p:cNvPr id="16" name="Text 13"/>
          <p:cNvSpPr txBox="1"/>
          <p:nvPr/>
        </p:nvSpPr>
        <p:spPr>
          <a:xfrm>
            <a:off x="7955280" y="4315968"/>
            <a:ext cx="3611880" cy="41148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le creux est comparé à la variabilité mensuelle d'avant-choc</a:t>
            </a:r>
            <a:endParaRPr lang="en-US" sz="1200" dirty="0"/>
          </a:p>
        </p:txBody>
      </p:sp>
      <p:sp>
        <p:nvSpPr>
          <p:cNvPr id="17" name="Shape 14"/>
          <p:cNvSpPr/>
          <p:nvPr/>
        </p:nvSpPr>
        <p:spPr>
          <a:xfrm>
            <a:off x="548640" y="4892040"/>
            <a:ext cx="7040880" cy="1280160"/>
          </a:xfrm>
          <a:prstGeom prst="roundRect">
            <a:avLst>
              <a:gd name="adj" fmla="val 8571"/>
            </a:avLst>
          </a:prstGeom>
          <a:solidFill>
            <a:srgbClr val="E8F5EF"/>
          </a:solidFill>
          <a:ln w="9525">
            <a:solidFill>
              <a:srgbClr val="E8F5EF"/>
            </a:solidFill>
            <a:prstDash val="solid"/>
          </a:ln>
        </p:spPr>
      </p:sp>
      <p:sp>
        <p:nvSpPr>
          <p:cNvPr id="18" name="Text 15"/>
          <p:cNvSpPr txBox="1"/>
          <p:nvPr/>
        </p:nvSpPr>
        <p:spPr>
          <a:xfrm>
            <a:off x="685800" y="4937760"/>
            <a:ext cx="6766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Zoom quotidien Black Marble</a:t>
            </a:r>
            <a:endParaRPr lang="en-US" sz="1400" dirty="0"/>
          </a:p>
        </p:txBody>
      </p:sp>
      <p:sp>
        <p:nvSpPr>
          <p:cNvPr id="19" name="Text 16"/>
          <p:cNvSpPr txBox="1"/>
          <p:nvPr/>
        </p:nvSpPr>
        <p:spPr>
          <a:xfrm>
            <a:off x="685800" y="5257800"/>
            <a:ext cx="6766560" cy="8686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Pour dater un choc au jour près : indice base 100 (médiane des 60 premiers jours), pixels de haute qualité sans nuage ni neige, médiane mobile sur 7 jours. Impact aussi calculé par région (tableau de chaleur).</a:t>
            </a:r>
            <a:endParaRPr lang="en-US" sz="1250" dirty="0"/>
          </a:p>
        </p:txBody>
      </p:sp>
      <p:sp>
        <p:nvSpPr>
          <p:cNvPr id="20" name="Shape 17"/>
          <p:cNvSpPr/>
          <p:nvPr/>
        </p:nvSpPr>
        <p:spPr>
          <a:xfrm>
            <a:off x="7818120" y="4892040"/>
            <a:ext cx="3840480" cy="1280160"/>
          </a:xfrm>
          <a:prstGeom prst="roundRect">
            <a:avLst>
              <a:gd name="adj" fmla="val 8571"/>
            </a:avLst>
          </a:prstGeom>
          <a:solidFill>
            <a:srgbClr val="FDF6E3"/>
          </a:solidFill>
          <a:ln w="9525">
            <a:solidFill>
              <a:srgbClr val="FDF6E3"/>
            </a:solidFill>
            <a:prstDash val="solid"/>
          </a:ln>
        </p:spPr>
      </p:sp>
      <p:sp>
        <p:nvSpPr>
          <p:cNvPr id="21" name="Text 18"/>
          <p:cNvSpPr txBox="1"/>
          <p:nvPr/>
        </p:nvSpPr>
        <p:spPr>
          <a:xfrm>
            <a:off x="7955280" y="4965192"/>
            <a:ext cx="3566160" cy="1133856"/>
          </a:xfrm>
          <a:prstGeom prst="rect">
            <a:avLst/>
          </a:prstGeom>
          <a:noFill/>
          <a:ln/>
        </p:spPr>
        <p:txBody>
          <a:bodyPr wrap="square" lIns="635" tIns="635" rIns="635" bIns="635" rtlCol="0" anchor="ctr"/>
          <a:lstStyle/>
          <a:p>
            <a:pPr indent="0" marL="0">
              <a:spcAft>
                <a:spcPts val="200"/>
              </a:spcAft>
              <a:buNone/>
            </a:pPr>
            <a:r>
              <a:rPr lang="en-US" sz="1200" b="1" dirty="0">
                <a:solidFill>
                  <a:srgbClr val="B7791F"/>
                </a:solidFill>
              </a:rPr>
              <a:t>Lecture  </a:t>
            </a:r>
            <a:pPr indent="0" marL="0">
              <a:spcAft>
                <a:spcPts val="200"/>
              </a:spcAft>
              <a:buNone/>
            </a:pPr>
            <a:r>
              <a:rPr lang="en-US" sz="1200" dirty="0">
                <a:solidFill>
                  <a:srgbClr val="231F20"/>
                </a:solidFill>
              </a:rPr>
              <a:t>la lumière capte bien les arrêts d'activité nocturne (confinements, pannes, déplacements) ; elle sous-estime les chocs agricoles ou de services de jour.</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9</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Inégalités spatiales : Lorenz, Gini et Theil</a:t>
            </a:r>
            <a:endParaRPr lang="en-US" sz="2800" dirty="0"/>
          </a:p>
        </p:txBody>
      </p:sp>
      <p:pic>
        <p:nvPicPr>
          <p:cNvPr id="4" name="Image 0" descr="/tmp/claude-0/-home-claude/8a8742ef-7d0d-54fc-a0c9-7ecbfc9f8b73/scratchpad/deck/img/lorenz_fr.png">    </p:cNvPr>
          <p:cNvPicPr>
            <a:picLocks noChangeAspect="1"/>
          </p:cNvPicPr>
          <p:nvPr/>
        </p:nvPicPr>
        <p:blipFill>
          <a:blip r:embed="rId1"/>
          <a:stretch>
            <a:fillRect/>
          </a:stretch>
        </p:blipFill>
        <p:spPr>
          <a:xfrm>
            <a:off x="548640" y="1364100"/>
            <a:ext cx="4572000" cy="4266961"/>
          </a:xfrm>
          <a:prstGeom prst="rect">
            <a:avLst/>
          </a:prstGeom>
        </p:spPr>
      </p:pic>
      <p:pic>
        <p:nvPicPr>
          <p:cNvPr id="5" name="Image 1" descr="/tmp/claude-0/-home-claude/8a8742ef-7d0d-54fc-a0c9-7ecbfc9f8b73/scratchpad/deck/img/theil_fr.png">    </p:cNvPr>
          <p:cNvPicPr>
            <a:picLocks noChangeAspect="1"/>
          </p:cNvPicPr>
          <p:nvPr/>
        </p:nvPicPr>
        <p:blipFill>
          <a:blip r:embed="rId2"/>
          <a:stretch>
            <a:fillRect/>
          </a:stretch>
        </p:blipFill>
        <p:spPr>
          <a:xfrm>
            <a:off x="5349240" y="1369840"/>
            <a:ext cx="3108960" cy="1649440"/>
          </a:xfrm>
          <a:prstGeom prst="rect">
            <a:avLst/>
          </a:prstGeom>
        </p:spPr>
      </p:pic>
      <p:sp>
        <p:nvSpPr>
          <p:cNvPr id="6" name="Shape 2"/>
          <p:cNvSpPr/>
          <p:nvPr/>
        </p:nvSpPr>
        <p:spPr>
          <a:xfrm>
            <a:off x="5349240" y="3246120"/>
            <a:ext cx="3063240" cy="1371600"/>
          </a:xfrm>
          <a:prstGeom prst="roundRect">
            <a:avLst>
              <a:gd name="adj" fmla="val 8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7" name="Text 3"/>
          <p:cNvSpPr txBox="1"/>
          <p:nvPr/>
        </p:nvSpPr>
        <p:spPr>
          <a:xfrm>
            <a:off x="5458968" y="3300984"/>
            <a:ext cx="283464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Gini</a:t>
            </a:r>
            <a:endParaRPr lang="en-US" sz="1400" dirty="0"/>
          </a:p>
        </p:txBody>
      </p:sp>
      <p:sp>
        <p:nvSpPr>
          <p:cNvPr id="8" name="Text 4"/>
          <p:cNvSpPr txBox="1"/>
          <p:nvPr/>
        </p:nvSpPr>
        <p:spPr>
          <a:xfrm>
            <a:off x="5458968" y="3630168"/>
            <a:ext cx="2834640" cy="96012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0 = égalité, 1 = toute la lumière dans une seule unité. Pondéré par la population, sur les unités les plus fines.</a:t>
            </a:r>
            <a:endParaRPr lang="en-US" sz="1200" dirty="0"/>
          </a:p>
        </p:txBody>
      </p:sp>
      <p:sp>
        <p:nvSpPr>
          <p:cNvPr id="9" name="Shape 5"/>
          <p:cNvSpPr/>
          <p:nvPr/>
        </p:nvSpPr>
        <p:spPr>
          <a:xfrm>
            <a:off x="8549640" y="3246120"/>
            <a:ext cx="3063240" cy="1371600"/>
          </a:xfrm>
          <a:prstGeom prst="roundRect">
            <a:avLst>
              <a:gd name="adj" fmla="val 8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Text 6"/>
          <p:cNvSpPr txBox="1"/>
          <p:nvPr/>
        </p:nvSpPr>
        <p:spPr>
          <a:xfrm>
            <a:off x="8659368" y="3300984"/>
            <a:ext cx="283464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Theil T</a:t>
            </a:r>
            <a:endParaRPr lang="en-US" sz="1400" dirty="0"/>
          </a:p>
        </p:txBody>
      </p:sp>
      <p:sp>
        <p:nvSpPr>
          <p:cNvPr id="11" name="Text 7"/>
          <p:cNvSpPr txBox="1"/>
          <p:nvPr/>
        </p:nvSpPr>
        <p:spPr>
          <a:xfrm>
            <a:off x="8659368" y="3630168"/>
            <a:ext cx="2834640" cy="96012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se décompose en inégalités entre régions et à l'intérieur des régions : à quel niveau agir ?</a:t>
            </a:r>
            <a:endParaRPr lang="en-US" sz="1200" dirty="0"/>
          </a:p>
        </p:txBody>
      </p:sp>
      <p:sp>
        <p:nvSpPr>
          <p:cNvPr id="12" name="Shape 8"/>
          <p:cNvSpPr/>
          <p:nvPr/>
        </p:nvSpPr>
        <p:spPr>
          <a:xfrm>
            <a:off x="5349240" y="4754880"/>
            <a:ext cx="3063240" cy="1371600"/>
          </a:xfrm>
          <a:prstGeom prst="roundRect">
            <a:avLst>
              <a:gd name="adj" fmla="val 8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3" name="Text 9"/>
          <p:cNvSpPr txBox="1"/>
          <p:nvPr/>
        </p:nvSpPr>
        <p:spPr>
          <a:xfrm>
            <a:off x="5458968" y="4809744"/>
            <a:ext cx="283464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Variation du Gini</a:t>
            </a:r>
            <a:endParaRPr lang="en-US" sz="1400" dirty="0"/>
          </a:p>
        </p:txBody>
      </p:sp>
      <p:sp>
        <p:nvSpPr>
          <p:cNvPr id="14" name="Text 10"/>
          <p:cNvSpPr txBox="1"/>
          <p:nvPr/>
        </p:nvSpPr>
        <p:spPr>
          <a:xfrm>
            <a:off x="5458968" y="5138928"/>
            <a:ext cx="2834640" cy="96012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intervalle bootstrap à 95 % (300 tirages) : la hausse ou la baisse est-elle significative ?</a:t>
            </a:r>
            <a:endParaRPr lang="en-US" sz="1200" dirty="0"/>
          </a:p>
        </p:txBody>
      </p:sp>
      <p:sp>
        <p:nvSpPr>
          <p:cNvPr id="15" name="Shape 11"/>
          <p:cNvSpPr/>
          <p:nvPr/>
        </p:nvSpPr>
        <p:spPr>
          <a:xfrm>
            <a:off x="8549640" y="4754880"/>
            <a:ext cx="3063240" cy="1371600"/>
          </a:xfrm>
          <a:prstGeom prst="roundRect">
            <a:avLst>
              <a:gd name="adj" fmla="val 8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6" name="Text 12"/>
          <p:cNvSpPr txBox="1"/>
          <p:nvPr/>
        </p:nvSpPr>
        <p:spPr>
          <a:xfrm>
            <a:off x="8659368" y="4809744"/>
            <a:ext cx="283464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Écart urbain / rural</a:t>
            </a:r>
            <a:endParaRPr lang="en-US" sz="1400" dirty="0"/>
          </a:p>
        </p:txBody>
      </p:sp>
      <p:sp>
        <p:nvSpPr>
          <p:cNvPr id="17" name="Text 13"/>
          <p:cNvSpPr txBox="1"/>
          <p:nvPr/>
        </p:nvSpPr>
        <p:spPr>
          <a:xfrm>
            <a:off x="8659368" y="5138928"/>
            <a:ext cx="2834640" cy="96012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lumière par habitant urbaine ÷ rurale (degré d'urbanisation GHSL)</a:t>
            </a:r>
            <a:endParaRPr lang="en-US" sz="1200" dirty="0"/>
          </a:p>
        </p:txBody>
      </p:sp>
      <p:sp>
        <p:nvSpPr>
          <p:cNvPr id="18" name="Shape 14"/>
          <p:cNvSpPr/>
          <p:nvPr/>
        </p:nvSpPr>
        <p:spPr>
          <a:xfrm>
            <a:off x="8595360" y="1371600"/>
            <a:ext cx="3063240" cy="1691640"/>
          </a:xfrm>
          <a:prstGeom prst="roundRect">
            <a:avLst>
              <a:gd name="adj" fmla="val 6486"/>
            </a:avLst>
          </a:prstGeom>
          <a:solidFill>
            <a:srgbClr val="E8F5EF"/>
          </a:solidFill>
          <a:ln w="9525">
            <a:solidFill>
              <a:srgbClr val="E8F5EF"/>
            </a:solidFill>
            <a:prstDash val="solid"/>
          </a:ln>
        </p:spPr>
      </p:sp>
      <p:sp>
        <p:nvSpPr>
          <p:cNvPr id="19" name="Text 15"/>
          <p:cNvSpPr txBox="1"/>
          <p:nvPr/>
        </p:nvSpPr>
        <p:spPr>
          <a:xfrm>
            <a:off x="8732520" y="1417320"/>
            <a:ext cx="283464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Question économique</a:t>
            </a:r>
            <a:endParaRPr lang="en-US" sz="1400" dirty="0"/>
          </a:p>
        </p:txBody>
      </p:sp>
      <p:sp>
        <p:nvSpPr>
          <p:cNvPr id="20" name="Text 16"/>
          <p:cNvSpPr txBox="1"/>
          <p:nvPr/>
        </p:nvSpPr>
        <p:spPr>
          <a:xfrm>
            <a:off x="8732520" y="1737360"/>
            <a:ext cx="2834640" cy="12801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L'accès à la lumière, proxy du développement, est-il équitablement réparti entre habitants ?</a:t>
            </a:r>
            <a:endParaRPr lang="en-US" sz="1250" dirty="0"/>
          </a:p>
        </p:txBody>
      </p:sp>
      <p:sp>
        <p:nvSpPr>
          <p:cNvPr id="21" name="Shape 17"/>
          <p:cNvSpPr/>
          <p:nvPr/>
        </p:nvSpPr>
        <p:spPr>
          <a:xfrm>
            <a:off x="548640" y="5760720"/>
            <a:ext cx="4572000" cy="457200"/>
          </a:xfrm>
          <a:prstGeom prst="roundRect">
            <a:avLst>
              <a:gd name="adj" fmla="val 24000"/>
            </a:avLst>
          </a:prstGeom>
          <a:solidFill>
            <a:srgbClr val="FDF6E3"/>
          </a:solidFill>
          <a:ln w="9525">
            <a:solidFill>
              <a:srgbClr val="FDF6E3"/>
            </a:solidFill>
            <a:prstDash val="solid"/>
          </a:ln>
        </p:spPr>
      </p:sp>
      <p:sp>
        <p:nvSpPr>
          <p:cNvPr id="22" name="Text 18"/>
          <p:cNvSpPr txBox="1"/>
          <p:nvPr/>
        </p:nvSpPr>
        <p:spPr>
          <a:xfrm>
            <a:off x="685800" y="5833872"/>
            <a:ext cx="4297680" cy="310896"/>
          </a:xfrm>
          <a:prstGeom prst="rect">
            <a:avLst/>
          </a:prstGeom>
          <a:noFill/>
          <a:ln/>
        </p:spPr>
        <p:txBody>
          <a:bodyPr wrap="square" lIns="635" tIns="635" rIns="635" bIns="635" rtlCol="0" anchor="ctr"/>
          <a:lstStyle/>
          <a:p>
            <a:pPr indent="0" marL="0">
              <a:spcAft>
                <a:spcPts val="200"/>
              </a:spcAft>
              <a:buNone/>
            </a:pPr>
            <a:r>
              <a:rPr lang="en-US" sz="1200" b="1" dirty="0">
                <a:solidFill>
                  <a:srgbClr val="B7791F"/>
                </a:solidFill>
              </a:rPr>
              <a:t>Comment lire  </a:t>
            </a:r>
            <a:pPr indent="0" marL="0">
              <a:spcAft>
                <a:spcPts val="200"/>
              </a:spcAft>
              <a:buNone/>
            </a:pPr>
            <a:r>
              <a:rPr lang="en-US" sz="1200" dirty="0">
                <a:solidFill>
                  <a:srgbClr val="231F20"/>
                </a:solidFill>
              </a:rPr>
              <a:t>courbe loin de la diagonale = forte inégalité. Gini = aire A / (A + B).</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9</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La population « dans le noir » : un proxy de l'accès à l'électricité</a:t>
            </a:r>
            <a:endParaRPr lang="en-US" sz="2800" dirty="0"/>
          </a:p>
        </p:txBody>
      </p:sp>
      <p:pic>
        <p:nvPicPr>
          <p:cNvPr id="4" name="Image 0" descr="/tmp/claude-0/-home-claude/8a8742ef-7d0d-54fc-a0c9-7ecbfc9f8b73/scratchpad/deck/img/dark_fr.png">    </p:cNvPr>
          <p:cNvPicPr>
            <a:picLocks noChangeAspect="1"/>
          </p:cNvPicPr>
          <p:nvPr/>
        </p:nvPicPr>
        <p:blipFill>
          <a:blip r:embed="rId1"/>
          <a:stretch>
            <a:fillRect/>
          </a:stretch>
        </p:blipFill>
        <p:spPr>
          <a:xfrm>
            <a:off x="548640" y="1341606"/>
            <a:ext cx="6035040" cy="3534707"/>
          </a:xfrm>
          <a:prstGeom prst="rect">
            <a:avLst/>
          </a:prstGeom>
        </p:spPr>
      </p:pic>
      <p:sp>
        <p:nvSpPr>
          <p:cNvPr id="5" name="Shape 2"/>
          <p:cNvSpPr/>
          <p:nvPr/>
        </p:nvSpPr>
        <p:spPr>
          <a:xfrm>
            <a:off x="6812280" y="1371600"/>
            <a:ext cx="4846320" cy="2011680"/>
          </a:xfrm>
          <a:prstGeom prst="roundRect">
            <a:avLst>
              <a:gd name="adj" fmla="val 5455"/>
            </a:avLst>
          </a:prstGeom>
          <a:solidFill>
            <a:srgbClr val="E8F5EF"/>
          </a:solidFill>
          <a:ln w="9525">
            <a:solidFill>
              <a:srgbClr val="E8F5EF"/>
            </a:solidFill>
            <a:prstDash val="solid"/>
          </a:ln>
        </p:spPr>
      </p:sp>
      <p:sp>
        <p:nvSpPr>
          <p:cNvPr id="6" name="Text 3"/>
          <p:cNvSpPr txBox="1"/>
          <p:nvPr/>
        </p:nvSpPr>
        <p:spPr>
          <a:xfrm>
            <a:off x="6949440" y="1417320"/>
            <a:ext cx="4572000" cy="32004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Définition</a:t>
            </a:r>
            <a:endParaRPr lang="en-US" sz="1500" dirty="0"/>
          </a:p>
        </p:txBody>
      </p:sp>
      <p:sp>
        <p:nvSpPr>
          <p:cNvPr id="7" name="Text 4"/>
          <p:cNvSpPr txBox="1"/>
          <p:nvPr/>
        </p:nvSpPr>
        <p:spPr>
          <a:xfrm>
            <a:off x="6949440" y="1755648"/>
            <a:ext cx="4572000" cy="91440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Habitants des pixels peuplés (≥ 5 habitants, soit ~0,21 km²) dont la radiance reste sous le seuil de détection (0,5 nW par défaut).</a:t>
            </a:r>
            <a:endParaRPr lang="en-US" sz="1350" dirty="0"/>
          </a:p>
        </p:txBody>
      </p:sp>
      <p:sp>
        <p:nvSpPr>
          <p:cNvPr id="8" name="Shape 5"/>
          <p:cNvSpPr/>
          <p:nvPr/>
        </p:nvSpPr>
        <p:spPr>
          <a:xfrm>
            <a:off x="6949440" y="2743200"/>
            <a:ext cx="4572000" cy="502920"/>
          </a:xfrm>
          <a:prstGeom prst="roundRect">
            <a:avLst>
              <a:gd name="adj" fmla="val 21818"/>
            </a:avLst>
          </a:prstGeom>
          <a:solidFill>
            <a:srgbClr val="EAF2FB"/>
          </a:solidFill>
          <a:ln w="9525">
            <a:solidFill>
              <a:srgbClr val="EAF2FB"/>
            </a:solidFill>
            <a:prstDash val="solid"/>
          </a:ln>
        </p:spPr>
      </p:sp>
      <p:sp>
        <p:nvSpPr>
          <p:cNvPr id="9" name="Text 6"/>
          <p:cNvSpPr txBox="1"/>
          <p:nvPr/>
        </p:nvSpPr>
        <p:spPr>
          <a:xfrm>
            <a:off x="7086600" y="2743200"/>
            <a:ext cx="4297680" cy="50292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seuils testés : 0,25 · 0,5 · 1 nW</a:t>
            </a:r>
            <a:endParaRPr lang="en-US" sz="1500" dirty="0"/>
          </a:p>
        </p:txBody>
      </p:sp>
      <p:sp>
        <p:nvSpPr>
          <p:cNvPr id="10" name="Shape 7"/>
          <p:cNvSpPr/>
          <p:nvPr/>
        </p:nvSpPr>
        <p:spPr>
          <a:xfrm>
            <a:off x="6812280" y="3566160"/>
            <a:ext cx="4846320" cy="1325880"/>
          </a:xfrm>
          <a:prstGeom prst="roundRect">
            <a:avLst>
              <a:gd name="adj" fmla="val 827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Shape 8"/>
          <p:cNvSpPr/>
          <p:nvPr/>
        </p:nvSpPr>
        <p:spPr>
          <a:xfrm>
            <a:off x="6995160" y="3749040"/>
            <a:ext cx="502920" cy="502920"/>
          </a:xfrm>
          <a:prstGeom prst="ellipse">
            <a:avLst/>
          </a:prstGeom>
          <a:solidFill>
            <a:srgbClr val="1F4E8C"/>
          </a:solidFill>
          <a:ln w="12700">
            <a:solidFill>
              <a:srgbClr val="1F4E8C"/>
            </a:solidFill>
            <a:prstDash val="solid"/>
          </a:ln>
        </p:spPr>
      </p:sp>
      <p:pic>
        <p:nvPicPr>
          <p:cNvPr id="12" name="Image 1" descr="preencoded.png">    </p:cNvPr>
          <p:cNvPicPr>
            <a:picLocks noChangeAspect="1"/>
          </p:cNvPicPr>
          <p:nvPr/>
        </p:nvPicPr>
        <p:blipFill>
          <a:blip r:embed="rId2"/>
          <a:stretch>
            <a:fillRect/>
          </a:stretch>
        </p:blipFill>
        <p:spPr>
          <a:xfrm>
            <a:off x="7115861" y="3869741"/>
            <a:ext cx="261518" cy="261518"/>
          </a:xfrm>
          <a:prstGeom prst="rect">
            <a:avLst/>
          </a:prstGeom>
        </p:spPr>
      </p:pic>
      <p:sp>
        <p:nvSpPr>
          <p:cNvPr id="13" name="Text 9"/>
          <p:cNvSpPr txBox="1"/>
          <p:nvPr/>
        </p:nvSpPr>
        <p:spPr>
          <a:xfrm>
            <a:off x="7635240" y="3730752"/>
            <a:ext cx="38862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Comparaison Banque mondiale</a:t>
            </a:r>
            <a:endParaRPr lang="en-US" sz="1500" dirty="0"/>
          </a:p>
        </p:txBody>
      </p:sp>
      <p:sp>
        <p:nvSpPr>
          <p:cNvPr id="14" name="Text 10"/>
          <p:cNvSpPr txBox="1"/>
          <p:nvPr/>
        </p:nvSpPr>
        <p:spPr>
          <a:xfrm>
            <a:off x="6995160" y="4370832"/>
            <a:ext cx="4480560" cy="4114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écart avec le taux d'accès EG.ELC.ACCS.ZS (enquêtes ménages)</a:t>
            </a:r>
            <a:endParaRPr lang="en-US" sz="1250" dirty="0"/>
          </a:p>
        </p:txBody>
      </p:sp>
      <p:sp>
        <p:nvSpPr>
          <p:cNvPr id="15" name="Shape 11"/>
          <p:cNvSpPr/>
          <p:nvPr/>
        </p:nvSpPr>
        <p:spPr>
          <a:xfrm>
            <a:off x="548640" y="5074920"/>
            <a:ext cx="6035040" cy="1097280"/>
          </a:xfrm>
          <a:prstGeom prst="roundRect">
            <a:avLst>
              <a:gd name="adj" fmla="val 10000"/>
            </a:avLst>
          </a:prstGeom>
          <a:solidFill>
            <a:srgbClr val="FBECEC"/>
          </a:solidFill>
          <a:ln w="9525">
            <a:solidFill>
              <a:srgbClr val="FBECEC"/>
            </a:solidFill>
            <a:prstDash val="solid"/>
          </a:ln>
        </p:spPr>
      </p:sp>
      <p:sp>
        <p:nvSpPr>
          <p:cNvPr id="16" name="Text 12"/>
          <p:cNvSpPr txBox="1"/>
          <p:nvPr/>
        </p:nvSpPr>
        <p:spPr>
          <a:xfrm>
            <a:off x="685800" y="5148072"/>
            <a:ext cx="5760720" cy="950976"/>
          </a:xfrm>
          <a:prstGeom prst="rect">
            <a:avLst/>
          </a:prstGeom>
          <a:noFill/>
          <a:ln/>
        </p:spPr>
        <p:txBody>
          <a:bodyPr wrap="square" lIns="635" tIns="635" rIns="635" bIns="635" rtlCol="0" anchor="ctr"/>
          <a:lstStyle/>
          <a:p>
            <a:pPr indent="0" marL="0">
              <a:spcAft>
                <a:spcPts val="200"/>
              </a:spcAft>
              <a:buNone/>
            </a:pPr>
            <a:r>
              <a:rPr lang="en-US" sz="1300" b="1" dirty="0">
                <a:solidFill>
                  <a:srgbClr val="D64545"/>
                </a:solidFill>
              </a:rPr>
              <a:t>Piège à éviter  </a:t>
            </a:r>
            <a:pPr indent="0" marL="0">
              <a:spcAft>
                <a:spcPts val="200"/>
              </a:spcAft>
              <a:buNone/>
            </a:pPr>
            <a:r>
              <a:rPr lang="en-US" sz="1300" dirty="0">
                <a:solidFill>
                  <a:srgbClr val="231F20"/>
                </a:solidFill>
              </a:rPr>
              <a:t>« habité sans lumière » ≠ « non raccordé » : un foyer raccordé à faible consommation est invisible ; le résultat dépend du seuil et de la carte de population.</a:t>
            </a:r>
            <a:endParaRPr lang="en-US" sz="1300" dirty="0"/>
          </a:p>
        </p:txBody>
      </p:sp>
      <p:sp>
        <p:nvSpPr>
          <p:cNvPr id="17" name="Shape 13"/>
          <p:cNvSpPr/>
          <p:nvPr/>
        </p:nvSpPr>
        <p:spPr>
          <a:xfrm>
            <a:off x="6812280" y="5074920"/>
            <a:ext cx="4846320" cy="1097280"/>
          </a:xfrm>
          <a:prstGeom prst="roundRect">
            <a:avLst>
              <a:gd name="adj" fmla="val 10000"/>
            </a:avLst>
          </a:prstGeom>
          <a:solidFill>
            <a:srgbClr val="FDF6E3"/>
          </a:solidFill>
          <a:ln w="9525">
            <a:solidFill>
              <a:srgbClr val="FDF6E3"/>
            </a:solidFill>
            <a:prstDash val="solid"/>
          </a:ln>
        </p:spPr>
      </p:sp>
      <p:sp>
        <p:nvSpPr>
          <p:cNvPr id="18" name="Text 14"/>
          <p:cNvSpPr txBox="1"/>
          <p:nvPr/>
        </p:nvSpPr>
        <p:spPr>
          <a:xfrm>
            <a:off x="6949440" y="5148072"/>
            <a:ext cx="4572000" cy="950976"/>
          </a:xfrm>
          <a:prstGeom prst="rect">
            <a:avLst/>
          </a:prstGeom>
          <a:noFill/>
          <a:ln/>
        </p:spPr>
        <p:txBody>
          <a:bodyPr wrap="square" lIns="635" tIns="635" rIns="635" bIns="635" rtlCol="0" anchor="ctr"/>
          <a:lstStyle/>
          <a:p>
            <a:pPr indent="0" marL="0">
              <a:spcAft>
                <a:spcPts val="200"/>
              </a:spcAft>
              <a:buNone/>
            </a:pPr>
            <a:r>
              <a:rPr lang="en-US" sz="1300" b="1" dirty="0">
                <a:solidFill>
                  <a:srgbClr val="B7791F"/>
                </a:solidFill>
              </a:rPr>
              <a:t>Publication  </a:t>
            </a:r>
            <a:pPr indent="0" marL="0">
              <a:spcAft>
                <a:spcPts val="200"/>
              </a:spcAft>
              <a:buNone/>
            </a:pPr>
            <a:r>
              <a:rPr lang="en-US" sz="1300" dirty="0">
                <a:solidFill>
                  <a:srgbClr val="231F20"/>
                </a:solidFill>
              </a:rPr>
              <a:t>publiez toujours une plage (selon le seuil), jamais un chiffre à l'unité près. La carte des zones dans le noir aide à cibler l'électrification.</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F · CONFIANCE ET PUBLICATION</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Le système de confiance : élevée, moyenne, faible</a:t>
            </a:r>
            <a:endParaRPr lang="en-US" sz="2800" dirty="0"/>
          </a:p>
        </p:txBody>
      </p:sp>
      <p:sp>
        <p:nvSpPr>
          <p:cNvPr id="4" name="Text 2"/>
          <p:cNvSpPr txBox="1"/>
          <p:nvPr/>
        </p:nvSpPr>
        <p:spPr>
          <a:xfrm>
            <a:off x="548640" y="1325880"/>
            <a:ext cx="731520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Exemple : élasticité NTL–PIB (src/econometrics.py)</a:t>
            </a:r>
            <a:endParaRPr lang="en-US" sz="1400" dirty="0"/>
          </a:p>
        </p:txBody>
      </p:sp>
      <p:sp>
        <p:nvSpPr>
          <p:cNvPr id="5" name="Text 3"/>
          <p:cNvSpPr txBox="1"/>
          <p:nvPr/>
        </p:nvSpPr>
        <p:spPr>
          <a:xfrm>
            <a:off x="548640" y="1645920"/>
            <a:ext cx="5486400" cy="274320"/>
          </a:xfrm>
          <a:prstGeom prst="rect">
            <a:avLst/>
          </a:prstGeom>
          <a:noFill/>
          <a:ln/>
        </p:spPr>
        <p:txBody>
          <a:bodyPr wrap="square" lIns="635" tIns="635" rIns="635" bIns="635" rtlCol="0" anchor="t"/>
          <a:lstStyle/>
          <a:p>
            <a:pPr indent="0" marL="0">
              <a:spcAft>
                <a:spcPts val="200"/>
              </a:spcAft>
              <a:buNone/>
            </a:pPr>
            <a:r>
              <a:rPr lang="en-US" sz="1200" i="1" dirty="0">
                <a:solidFill>
                  <a:srgbClr val="6B7280"/>
                </a:solidFill>
              </a:rPr>
              <a:t>Règles testées dans l'ordre ; la première vraie l'emporte</a:t>
            </a:r>
            <a:endParaRPr lang="en-US" sz="1200" dirty="0"/>
          </a:p>
        </p:txBody>
      </p:sp>
      <p:sp>
        <p:nvSpPr>
          <p:cNvPr id="6" name="Shape 4"/>
          <p:cNvSpPr/>
          <p:nvPr/>
        </p:nvSpPr>
        <p:spPr>
          <a:xfrm>
            <a:off x="548640" y="2011680"/>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7" name="Text 5"/>
          <p:cNvSpPr txBox="1"/>
          <p:nvPr/>
        </p:nvSpPr>
        <p:spPr>
          <a:xfrm>
            <a:off x="640080" y="2011680"/>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1</a:t>
            </a:r>
            <a:endParaRPr lang="en-US" sz="1600" dirty="0"/>
          </a:p>
        </p:txBody>
      </p:sp>
      <p:sp>
        <p:nvSpPr>
          <p:cNvPr id="8" name="Text 6"/>
          <p:cNvSpPr txBox="1"/>
          <p:nvPr/>
        </p:nvSpPr>
        <p:spPr>
          <a:xfrm>
            <a:off x="960120" y="2011680"/>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n &lt; 8 années</a:t>
            </a:r>
            <a:endParaRPr lang="en-US" sz="1300" dirty="0"/>
          </a:p>
        </p:txBody>
      </p:sp>
      <p:sp>
        <p:nvSpPr>
          <p:cNvPr id="9" name="Shape 7"/>
          <p:cNvSpPr/>
          <p:nvPr/>
        </p:nvSpPr>
        <p:spPr>
          <a:xfrm>
            <a:off x="4114800" y="2313432"/>
            <a:ext cx="411480" cy="914"/>
          </a:xfrm>
          <a:prstGeom prst="line">
            <a:avLst/>
          </a:prstGeom>
          <a:noFill/>
          <a:ln w="22225">
            <a:solidFill>
              <a:srgbClr val="6B7280"/>
            </a:solidFill>
            <a:prstDash val="solid"/>
            <a:tailEnd type="triangle"/>
          </a:ln>
        </p:spPr>
      </p:sp>
      <p:sp>
        <p:nvSpPr>
          <p:cNvPr id="10" name="Shape 8"/>
          <p:cNvSpPr/>
          <p:nvPr/>
        </p:nvSpPr>
        <p:spPr>
          <a:xfrm>
            <a:off x="4572000" y="2121408"/>
            <a:ext cx="1417320" cy="384048"/>
          </a:xfrm>
          <a:prstGeom prst="roundRect">
            <a:avLst>
              <a:gd name="adj" fmla="val 42857"/>
            </a:avLst>
          </a:prstGeom>
          <a:solidFill>
            <a:srgbClr val="FBECEC"/>
          </a:solidFill>
          <a:ln w="15875">
            <a:solidFill>
              <a:srgbClr val="D64545"/>
            </a:solidFill>
            <a:prstDash val="solid"/>
          </a:ln>
        </p:spPr>
      </p:sp>
      <p:sp>
        <p:nvSpPr>
          <p:cNvPr id="11" name="Text 9"/>
          <p:cNvSpPr txBox="1"/>
          <p:nvPr/>
        </p:nvSpPr>
        <p:spPr>
          <a:xfrm>
            <a:off x="4572000" y="2121408"/>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D64545"/>
                </a:solidFill>
              </a:rPr>
              <a:t>● FAIBLE</a:t>
            </a:r>
            <a:endParaRPr lang="en-US" sz="1200" dirty="0"/>
          </a:p>
        </p:txBody>
      </p:sp>
      <p:sp>
        <p:nvSpPr>
          <p:cNvPr id="12" name="Shape 10"/>
          <p:cNvSpPr/>
          <p:nvPr/>
        </p:nvSpPr>
        <p:spPr>
          <a:xfrm>
            <a:off x="1463040" y="2633472"/>
            <a:ext cx="914" cy="201168"/>
          </a:xfrm>
          <a:prstGeom prst="line">
            <a:avLst/>
          </a:prstGeom>
          <a:noFill/>
          <a:ln w="19050">
            <a:solidFill>
              <a:srgbClr val="6B7280"/>
            </a:solidFill>
            <a:prstDash val="solid"/>
            <a:tailEnd type="triangle"/>
          </a:ln>
        </p:spPr>
      </p:sp>
      <p:sp>
        <p:nvSpPr>
          <p:cNvPr id="13" name="Text 11"/>
          <p:cNvSpPr txBox="1"/>
          <p:nvPr/>
        </p:nvSpPr>
        <p:spPr>
          <a:xfrm>
            <a:off x="1554480" y="2615184"/>
            <a:ext cx="548640" cy="228600"/>
          </a:xfrm>
          <a:prstGeom prst="rect">
            <a:avLst/>
          </a:prstGeom>
          <a:noFill/>
          <a:ln/>
        </p:spPr>
        <p:txBody>
          <a:bodyPr wrap="square" lIns="635" tIns="635" rIns="635" bIns="635" rtlCol="0" anchor="t"/>
          <a:lstStyle/>
          <a:p>
            <a:pPr indent="0" marL="0">
              <a:spcAft>
                <a:spcPts val="200"/>
              </a:spcAft>
              <a:buNone/>
            </a:pPr>
            <a:r>
              <a:rPr lang="en-US" sz="1000" dirty="0">
                <a:solidFill>
                  <a:srgbClr val="6B7280"/>
                </a:solidFill>
              </a:rPr>
              <a:t>non</a:t>
            </a:r>
            <a:endParaRPr lang="en-US" sz="1000" dirty="0"/>
          </a:p>
        </p:txBody>
      </p:sp>
      <p:sp>
        <p:nvSpPr>
          <p:cNvPr id="14" name="Shape 12"/>
          <p:cNvSpPr/>
          <p:nvPr/>
        </p:nvSpPr>
        <p:spPr>
          <a:xfrm>
            <a:off x="548640" y="2852928"/>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15" name="Text 13"/>
          <p:cNvSpPr txBox="1"/>
          <p:nvPr/>
        </p:nvSpPr>
        <p:spPr>
          <a:xfrm>
            <a:off x="640080" y="2852928"/>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2</a:t>
            </a:r>
            <a:endParaRPr lang="en-US" sz="1600" dirty="0"/>
          </a:p>
        </p:txBody>
      </p:sp>
      <p:sp>
        <p:nvSpPr>
          <p:cNvPr id="16" name="Text 14"/>
          <p:cNvSpPr txBox="1"/>
          <p:nvPr/>
        </p:nvSpPr>
        <p:spPr>
          <a:xfrm>
            <a:off x="960120" y="2852928"/>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p &lt; 0,01 · IC &lt; 1 · R² ≥ 0,6 · n ≥ 15</a:t>
            </a:r>
            <a:endParaRPr lang="en-US" sz="1300" dirty="0"/>
          </a:p>
        </p:txBody>
      </p:sp>
      <p:sp>
        <p:nvSpPr>
          <p:cNvPr id="17" name="Shape 15"/>
          <p:cNvSpPr/>
          <p:nvPr/>
        </p:nvSpPr>
        <p:spPr>
          <a:xfrm>
            <a:off x="4114800" y="3154680"/>
            <a:ext cx="411480" cy="914"/>
          </a:xfrm>
          <a:prstGeom prst="line">
            <a:avLst/>
          </a:prstGeom>
          <a:noFill/>
          <a:ln w="22225">
            <a:solidFill>
              <a:srgbClr val="6B7280"/>
            </a:solidFill>
            <a:prstDash val="solid"/>
            <a:tailEnd type="triangle"/>
          </a:ln>
        </p:spPr>
      </p:sp>
      <p:sp>
        <p:nvSpPr>
          <p:cNvPr id="18" name="Shape 16"/>
          <p:cNvSpPr/>
          <p:nvPr/>
        </p:nvSpPr>
        <p:spPr>
          <a:xfrm>
            <a:off x="4572000" y="2962656"/>
            <a:ext cx="1417320" cy="384048"/>
          </a:xfrm>
          <a:prstGeom prst="roundRect">
            <a:avLst>
              <a:gd name="adj" fmla="val 42857"/>
            </a:avLst>
          </a:prstGeom>
          <a:solidFill>
            <a:srgbClr val="E8F5EF"/>
          </a:solidFill>
          <a:ln w="15875">
            <a:solidFill>
              <a:srgbClr val="00704A"/>
            </a:solidFill>
            <a:prstDash val="solid"/>
          </a:ln>
        </p:spPr>
      </p:sp>
      <p:sp>
        <p:nvSpPr>
          <p:cNvPr id="19" name="Text 17"/>
          <p:cNvSpPr txBox="1"/>
          <p:nvPr/>
        </p:nvSpPr>
        <p:spPr>
          <a:xfrm>
            <a:off x="4572000" y="2962656"/>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00704A"/>
                </a:solidFill>
              </a:rPr>
              <a:t>● ÉLEVÉE</a:t>
            </a:r>
            <a:endParaRPr lang="en-US" sz="1200" dirty="0"/>
          </a:p>
        </p:txBody>
      </p:sp>
      <p:sp>
        <p:nvSpPr>
          <p:cNvPr id="20" name="Shape 18"/>
          <p:cNvSpPr/>
          <p:nvPr/>
        </p:nvSpPr>
        <p:spPr>
          <a:xfrm>
            <a:off x="1463040" y="3474720"/>
            <a:ext cx="914" cy="201168"/>
          </a:xfrm>
          <a:prstGeom prst="line">
            <a:avLst/>
          </a:prstGeom>
          <a:noFill/>
          <a:ln w="19050">
            <a:solidFill>
              <a:srgbClr val="6B7280"/>
            </a:solidFill>
            <a:prstDash val="solid"/>
            <a:tailEnd type="triangle"/>
          </a:ln>
        </p:spPr>
      </p:sp>
      <p:sp>
        <p:nvSpPr>
          <p:cNvPr id="21" name="Text 19"/>
          <p:cNvSpPr txBox="1"/>
          <p:nvPr/>
        </p:nvSpPr>
        <p:spPr>
          <a:xfrm>
            <a:off x="1554480" y="3456432"/>
            <a:ext cx="548640" cy="228600"/>
          </a:xfrm>
          <a:prstGeom prst="rect">
            <a:avLst/>
          </a:prstGeom>
          <a:noFill/>
          <a:ln/>
        </p:spPr>
        <p:txBody>
          <a:bodyPr wrap="square" lIns="635" tIns="635" rIns="635" bIns="635" rtlCol="0" anchor="t"/>
          <a:lstStyle/>
          <a:p>
            <a:pPr indent="0" marL="0">
              <a:spcAft>
                <a:spcPts val="200"/>
              </a:spcAft>
              <a:buNone/>
            </a:pPr>
            <a:r>
              <a:rPr lang="en-US" sz="1000" dirty="0">
                <a:solidFill>
                  <a:srgbClr val="6B7280"/>
                </a:solidFill>
              </a:rPr>
              <a:t>non</a:t>
            </a:r>
            <a:endParaRPr lang="en-US" sz="1000" dirty="0"/>
          </a:p>
        </p:txBody>
      </p:sp>
      <p:sp>
        <p:nvSpPr>
          <p:cNvPr id="22" name="Shape 20"/>
          <p:cNvSpPr/>
          <p:nvPr/>
        </p:nvSpPr>
        <p:spPr>
          <a:xfrm>
            <a:off x="548640" y="3694176"/>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23" name="Text 21"/>
          <p:cNvSpPr txBox="1"/>
          <p:nvPr/>
        </p:nvSpPr>
        <p:spPr>
          <a:xfrm>
            <a:off x="640080" y="3694176"/>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3</a:t>
            </a:r>
            <a:endParaRPr lang="en-US" sz="1600" dirty="0"/>
          </a:p>
        </p:txBody>
      </p:sp>
      <p:sp>
        <p:nvSpPr>
          <p:cNvPr id="24" name="Text 22"/>
          <p:cNvSpPr txBox="1"/>
          <p:nvPr/>
        </p:nvSpPr>
        <p:spPr>
          <a:xfrm>
            <a:off x="960120" y="3694176"/>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p &lt; 0,01 · IC &lt; 1 · R² ≥ 0,6 (n &lt; 15)</a:t>
            </a:r>
            <a:endParaRPr lang="en-US" sz="1300" dirty="0"/>
          </a:p>
        </p:txBody>
      </p:sp>
      <p:sp>
        <p:nvSpPr>
          <p:cNvPr id="25" name="Shape 23"/>
          <p:cNvSpPr/>
          <p:nvPr/>
        </p:nvSpPr>
        <p:spPr>
          <a:xfrm>
            <a:off x="4114800" y="3995928"/>
            <a:ext cx="411480" cy="914"/>
          </a:xfrm>
          <a:prstGeom prst="line">
            <a:avLst/>
          </a:prstGeom>
          <a:noFill/>
          <a:ln w="22225">
            <a:solidFill>
              <a:srgbClr val="6B7280"/>
            </a:solidFill>
            <a:prstDash val="solid"/>
            <a:tailEnd type="triangle"/>
          </a:ln>
        </p:spPr>
      </p:sp>
      <p:sp>
        <p:nvSpPr>
          <p:cNvPr id="26" name="Shape 24"/>
          <p:cNvSpPr/>
          <p:nvPr/>
        </p:nvSpPr>
        <p:spPr>
          <a:xfrm>
            <a:off x="4572000" y="3803904"/>
            <a:ext cx="1417320" cy="384048"/>
          </a:xfrm>
          <a:prstGeom prst="roundRect">
            <a:avLst>
              <a:gd name="adj" fmla="val 42857"/>
            </a:avLst>
          </a:prstGeom>
          <a:solidFill>
            <a:srgbClr val="FDF6E3"/>
          </a:solidFill>
          <a:ln w="15875">
            <a:solidFill>
              <a:srgbClr val="B7791F"/>
            </a:solidFill>
            <a:prstDash val="solid"/>
          </a:ln>
        </p:spPr>
      </p:sp>
      <p:sp>
        <p:nvSpPr>
          <p:cNvPr id="27" name="Text 25"/>
          <p:cNvSpPr txBox="1"/>
          <p:nvPr/>
        </p:nvSpPr>
        <p:spPr>
          <a:xfrm>
            <a:off x="4572000" y="3803904"/>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B7791F"/>
                </a:solidFill>
              </a:rPr>
              <a:t>● MOYENNE</a:t>
            </a:r>
            <a:endParaRPr lang="en-US" sz="1200" dirty="0"/>
          </a:p>
        </p:txBody>
      </p:sp>
      <p:sp>
        <p:nvSpPr>
          <p:cNvPr id="28" name="Shape 26"/>
          <p:cNvSpPr/>
          <p:nvPr/>
        </p:nvSpPr>
        <p:spPr>
          <a:xfrm>
            <a:off x="1463040" y="4315968"/>
            <a:ext cx="914" cy="201168"/>
          </a:xfrm>
          <a:prstGeom prst="line">
            <a:avLst/>
          </a:prstGeom>
          <a:noFill/>
          <a:ln w="19050">
            <a:solidFill>
              <a:srgbClr val="6B7280"/>
            </a:solidFill>
            <a:prstDash val="solid"/>
            <a:tailEnd type="triangle"/>
          </a:ln>
        </p:spPr>
      </p:sp>
      <p:sp>
        <p:nvSpPr>
          <p:cNvPr id="29" name="Text 27"/>
          <p:cNvSpPr txBox="1"/>
          <p:nvPr/>
        </p:nvSpPr>
        <p:spPr>
          <a:xfrm>
            <a:off x="1554480" y="4297680"/>
            <a:ext cx="548640" cy="228600"/>
          </a:xfrm>
          <a:prstGeom prst="rect">
            <a:avLst/>
          </a:prstGeom>
          <a:noFill/>
          <a:ln/>
        </p:spPr>
        <p:txBody>
          <a:bodyPr wrap="square" lIns="635" tIns="635" rIns="635" bIns="635" rtlCol="0" anchor="t"/>
          <a:lstStyle/>
          <a:p>
            <a:pPr indent="0" marL="0">
              <a:spcAft>
                <a:spcPts val="200"/>
              </a:spcAft>
              <a:buNone/>
            </a:pPr>
            <a:r>
              <a:rPr lang="en-US" sz="1000" dirty="0">
                <a:solidFill>
                  <a:srgbClr val="6B7280"/>
                </a:solidFill>
              </a:rPr>
              <a:t>non</a:t>
            </a:r>
            <a:endParaRPr lang="en-US" sz="1000" dirty="0"/>
          </a:p>
        </p:txBody>
      </p:sp>
      <p:sp>
        <p:nvSpPr>
          <p:cNvPr id="30" name="Shape 28"/>
          <p:cNvSpPr/>
          <p:nvPr/>
        </p:nvSpPr>
        <p:spPr>
          <a:xfrm>
            <a:off x="548640" y="4535424"/>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31" name="Text 29"/>
          <p:cNvSpPr txBox="1"/>
          <p:nvPr/>
        </p:nvSpPr>
        <p:spPr>
          <a:xfrm>
            <a:off x="640080" y="4535424"/>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4</a:t>
            </a:r>
            <a:endParaRPr lang="en-US" sz="1600" dirty="0"/>
          </a:p>
        </p:txBody>
      </p:sp>
      <p:sp>
        <p:nvSpPr>
          <p:cNvPr id="32" name="Text 30"/>
          <p:cNvSpPr txBox="1"/>
          <p:nvPr/>
        </p:nvSpPr>
        <p:spPr>
          <a:xfrm>
            <a:off x="960120" y="4535424"/>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p &lt; 0,10</a:t>
            </a:r>
            <a:endParaRPr lang="en-US" sz="1300" dirty="0"/>
          </a:p>
        </p:txBody>
      </p:sp>
      <p:sp>
        <p:nvSpPr>
          <p:cNvPr id="33" name="Shape 31"/>
          <p:cNvSpPr/>
          <p:nvPr/>
        </p:nvSpPr>
        <p:spPr>
          <a:xfrm>
            <a:off x="4114800" y="4837176"/>
            <a:ext cx="411480" cy="914"/>
          </a:xfrm>
          <a:prstGeom prst="line">
            <a:avLst/>
          </a:prstGeom>
          <a:noFill/>
          <a:ln w="22225">
            <a:solidFill>
              <a:srgbClr val="6B7280"/>
            </a:solidFill>
            <a:prstDash val="solid"/>
            <a:tailEnd type="triangle"/>
          </a:ln>
        </p:spPr>
      </p:sp>
      <p:sp>
        <p:nvSpPr>
          <p:cNvPr id="34" name="Shape 32"/>
          <p:cNvSpPr/>
          <p:nvPr/>
        </p:nvSpPr>
        <p:spPr>
          <a:xfrm>
            <a:off x="4572000" y="4645152"/>
            <a:ext cx="1417320" cy="384048"/>
          </a:xfrm>
          <a:prstGeom prst="roundRect">
            <a:avLst>
              <a:gd name="adj" fmla="val 42857"/>
            </a:avLst>
          </a:prstGeom>
          <a:solidFill>
            <a:srgbClr val="FDF6E3"/>
          </a:solidFill>
          <a:ln w="15875">
            <a:solidFill>
              <a:srgbClr val="B7791F"/>
            </a:solidFill>
            <a:prstDash val="solid"/>
          </a:ln>
        </p:spPr>
      </p:sp>
      <p:sp>
        <p:nvSpPr>
          <p:cNvPr id="35" name="Text 33"/>
          <p:cNvSpPr txBox="1"/>
          <p:nvPr/>
        </p:nvSpPr>
        <p:spPr>
          <a:xfrm>
            <a:off x="4572000" y="4645152"/>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B7791F"/>
                </a:solidFill>
              </a:rPr>
              <a:t>● MOYENNE</a:t>
            </a:r>
            <a:endParaRPr lang="en-US" sz="1200" dirty="0"/>
          </a:p>
        </p:txBody>
      </p:sp>
      <p:sp>
        <p:nvSpPr>
          <p:cNvPr id="36" name="Shape 34"/>
          <p:cNvSpPr/>
          <p:nvPr/>
        </p:nvSpPr>
        <p:spPr>
          <a:xfrm>
            <a:off x="1463040" y="5157216"/>
            <a:ext cx="914" cy="201168"/>
          </a:xfrm>
          <a:prstGeom prst="line">
            <a:avLst/>
          </a:prstGeom>
          <a:noFill/>
          <a:ln w="19050">
            <a:solidFill>
              <a:srgbClr val="6B7280"/>
            </a:solidFill>
            <a:prstDash val="solid"/>
            <a:tailEnd type="triangle"/>
          </a:ln>
        </p:spPr>
      </p:sp>
      <p:sp>
        <p:nvSpPr>
          <p:cNvPr id="37" name="Text 35"/>
          <p:cNvSpPr txBox="1"/>
          <p:nvPr/>
        </p:nvSpPr>
        <p:spPr>
          <a:xfrm>
            <a:off x="1554480" y="5138928"/>
            <a:ext cx="548640" cy="228600"/>
          </a:xfrm>
          <a:prstGeom prst="rect">
            <a:avLst/>
          </a:prstGeom>
          <a:noFill/>
          <a:ln/>
        </p:spPr>
        <p:txBody>
          <a:bodyPr wrap="square" lIns="635" tIns="635" rIns="635" bIns="635" rtlCol="0" anchor="t"/>
          <a:lstStyle/>
          <a:p>
            <a:pPr indent="0" marL="0">
              <a:spcAft>
                <a:spcPts val="200"/>
              </a:spcAft>
              <a:buNone/>
            </a:pPr>
            <a:r>
              <a:rPr lang="en-US" sz="1000" dirty="0">
                <a:solidFill>
                  <a:srgbClr val="6B7280"/>
                </a:solidFill>
              </a:rPr>
              <a:t>non</a:t>
            </a:r>
            <a:endParaRPr lang="en-US" sz="1000" dirty="0"/>
          </a:p>
        </p:txBody>
      </p:sp>
      <p:sp>
        <p:nvSpPr>
          <p:cNvPr id="38" name="Shape 36"/>
          <p:cNvSpPr/>
          <p:nvPr/>
        </p:nvSpPr>
        <p:spPr>
          <a:xfrm>
            <a:off x="548640" y="5376672"/>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39" name="Text 37"/>
          <p:cNvSpPr txBox="1"/>
          <p:nvPr/>
        </p:nvSpPr>
        <p:spPr>
          <a:xfrm>
            <a:off x="640080" y="5376672"/>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5</a:t>
            </a:r>
            <a:endParaRPr lang="en-US" sz="1600" dirty="0"/>
          </a:p>
        </p:txBody>
      </p:sp>
      <p:sp>
        <p:nvSpPr>
          <p:cNvPr id="40" name="Text 38"/>
          <p:cNvSpPr txBox="1"/>
          <p:nvPr/>
        </p:nvSpPr>
        <p:spPr>
          <a:xfrm>
            <a:off x="960120" y="5376672"/>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sinon</a:t>
            </a:r>
            <a:endParaRPr lang="en-US" sz="1300" dirty="0"/>
          </a:p>
        </p:txBody>
      </p:sp>
      <p:sp>
        <p:nvSpPr>
          <p:cNvPr id="41" name="Shape 39"/>
          <p:cNvSpPr/>
          <p:nvPr/>
        </p:nvSpPr>
        <p:spPr>
          <a:xfrm>
            <a:off x="4114800" y="5678424"/>
            <a:ext cx="411480" cy="914"/>
          </a:xfrm>
          <a:prstGeom prst="line">
            <a:avLst/>
          </a:prstGeom>
          <a:noFill/>
          <a:ln w="22225">
            <a:solidFill>
              <a:srgbClr val="6B7280"/>
            </a:solidFill>
            <a:prstDash val="solid"/>
            <a:tailEnd type="triangle"/>
          </a:ln>
        </p:spPr>
      </p:sp>
      <p:sp>
        <p:nvSpPr>
          <p:cNvPr id="42" name="Shape 40"/>
          <p:cNvSpPr/>
          <p:nvPr/>
        </p:nvSpPr>
        <p:spPr>
          <a:xfrm>
            <a:off x="4572000" y="5486400"/>
            <a:ext cx="1417320" cy="384048"/>
          </a:xfrm>
          <a:prstGeom prst="roundRect">
            <a:avLst>
              <a:gd name="adj" fmla="val 42857"/>
            </a:avLst>
          </a:prstGeom>
          <a:solidFill>
            <a:srgbClr val="FBECEC"/>
          </a:solidFill>
          <a:ln w="15875">
            <a:solidFill>
              <a:srgbClr val="D64545"/>
            </a:solidFill>
            <a:prstDash val="solid"/>
          </a:ln>
        </p:spPr>
      </p:sp>
      <p:sp>
        <p:nvSpPr>
          <p:cNvPr id="43" name="Text 41"/>
          <p:cNvSpPr txBox="1"/>
          <p:nvPr/>
        </p:nvSpPr>
        <p:spPr>
          <a:xfrm>
            <a:off x="4572000" y="5486400"/>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D64545"/>
                </a:solidFill>
              </a:rPr>
              <a:t>● FAIBLE</a:t>
            </a:r>
            <a:endParaRPr lang="en-US" sz="1200" dirty="0"/>
          </a:p>
        </p:txBody>
      </p:sp>
      <p:sp>
        <p:nvSpPr>
          <p:cNvPr id="44" name="Shape 42"/>
          <p:cNvSpPr/>
          <p:nvPr/>
        </p:nvSpPr>
        <p:spPr>
          <a:xfrm>
            <a:off x="6172200" y="1371600"/>
            <a:ext cx="5486400" cy="1188720"/>
          </a:xfrm>
          <a:prstGeom prst="roundRect">
            <a:avLst>
              <a:gd name="adj" fmla="val 9231"/>
            </a:avLst>
          </a:prstGeom>
          <a:solidFill>
            <a:srgbClr val="E8F5EF"/>
          </a:solidFill>
          <a:ln w="9525">
            <a:solidFill>
              <a:srgbClr val="E8F5EF"/>
            </a:solidFill>
            <a:prstDash val="solid"/>
          </a:ln>
        </p:spPr>
      </p:sp>
      <p:sp>
        <p:nvSpPr>
          <p:cNvPr id="45" name="Shape 43"/>
          <p:cNvSpPr/>
          <p:nvPr/>
        </p:nvSpPr>
        <p:spPr>
          <a:xfrm>
            <a:off x="6355080" y="1737360"/>
            <a:ext cx="457200" cy="457200"/>
          </a:xfrm>
          <a:prstGeom prst="ellipse">
            <a:avLst/>
          </a:prstGeom>
          <a:solidFill>
            <a:srgbClr val="00704A"/>
          </a:solidFill>
          <a:ln w="12700">
            <a:solidFill>
              <a:srgbClr val="00704A"/>
            </a:solidFill>
            <a:prstDash val="solid"/>
          </a:ln>
        </p:spPr>
      </p:sp>
      <p:sp>
        <p:nvSpPr>
          <p:cNvPr id="46" name="Text 44"/>
          <p:cNvSpPr txBox="1"/>
          <p:nvPr/>
        </p:nvSpPr>
        <p:spPr>
          <a:xfrm>
            <a:off x="6949440" y="1463040"/>
            <a:ext cx="4572000" cy="347472"/>
          </a:xfrm>
          <a:prstGeom prst="rect">
            <a:avLst/>
          </a:prstGeom>
          <a:noFill/>
          <a:ln/>
        </p:spPr>
        <p:txBody>
          <a:bodyPr wrap="square" lIns="635" tIns="635" rIns="635" bIns="635" rtlCol="0" anchor="t"/>
          <a:lstStyle/>
          <a:p>
            <a:pPr indent="0" marL="0">
              <a:spcAft>
                <a:spcPts val="200"/>
              </a:spcAft>
              <a:buNone/>
            </a:pPr>
            <a:r>
              <a:rPr lang="en-US" sz="1600" b="1" dirty="0">
                <a:solidFill>
                  <a:srgbClr val="00704A"/>
                </a:solidFill>
              </a:rPr>
              <a:t>Élevée</a:t>
            </a:r>
            <a:endParaRPr lang="en-US" sz="1600" dirty="0"/>
          </a:p>
        </p:txBody>
      </p:sp>
      <p:sp>
        <p:nvSpPr>
          <p:cNvPr id="47" name="Text 45"/>
          <p:cNvSpPr txBox="1"/>
          <p:nvPr/>
        </p:nvSpPr>
        <p:spPr>
          <a:xfrm>
            <a:off x="6949440" y="1810512"/>
            <a:ext cx="4572000" cy="71323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significatif, échantillon suffisant, peu sensible aux choix → message publiable</a:t>
            </a:r>
            <a:endParaRPr lang="en-US" sz="1300" dirty="0"/>
          </a:p>
        </p:txBody>
      </p:sp>
      <p:sp>
        <p:nvSpPr>
          <p:cNvPr id="48" name="Shape 46"/>
          <p:cNvSpPr/>
          <p:nvPr/>
        </p:nvSpPr>
        <p:spPr>
          <a:xfrm>
            <a:off x="6172200" y="2697480"/>
            <a:ext cx="5486400" cy="1188720"/>
          </a:xfrm>
          <a:prstGeom prst="roundRect">
            <a:avLst>
              <a:gd name="adj" fmla="val 9231"/>
            </a:avLst>
          </a:prstGeom>
          <a:solidFill>
            <a:srgbClr val="FDF6E3"/>
          </a:solidFill>
          <a:ln w="9525">
            <a:solidFill>
              <a:srgbClr val="FDF6E3"/>
            </a:solidFill>
            <a:prstDash val="solid"/>
          </a:ln>
        </p:spPr>
      </p:sp>
      <p:sp>
        <p:nvSpPr>
          <p:cNvPr id="49" name="Shape 47"/>
          <p:cNvSpPr/>
          <p:nvPr/>
        </p:nvSpPr>
        <p:spPr>
          <a:xfrm>
            <a:off x="6355080" y="3063240"/>
            <a:ext cx="457200" cy="457200"/>
          </a:xfrm>
          <a:prstGeom prst="ellipse">
            <a:avLst/>
          </a:prstGeom>
          <a:solidFill>
            <a:srgbClr val="B7791F"/>
          </a:solidFill>
          <a:ln w="12700">
            <a:solidFill>
              <a:srgbClr val="B7791F"/>
            </a:solidFill>
            <a:prstDash val="solid"/>
          </a:ln>
        </p:spPr>
      </p:sp>
      <p:sp>
        <p:nvSpPr>
          <p:cNvPr id="50" name="Text 48"/>
          <p:cNvSpPr txBox="1"/>
          <p:nvPr/>
        </p:nvSpPr>
        <p:spPr>
          <a:xfrm>
            <a:off x="6949440" y="2788920"/>
            <a:ext cx="4572000" cy="347472"/>
          </a:xfrm>
          <a:prstGeom prst="rect">
            <a:avLst/>
          </a:prstGeom>
          <a:noFill/>
          <a:ln/>
        </p:spPr>
        <p:txBody>
          <a:bodyPr wrap="square" lIns="635" tIns="635" rIns="635" bIns="635" rtlCol="0" anchor="t"/>
          <a:lstStyle/>
          <a:p>
            <a:pPr indent="0" marL="0">
              <a:spcAft>
                <a:spcPts val="200"/>
              </a:spcAft>
              <a:buNone/>
            </a:pPr>
            <a:r>
              <a:rPr lang="en-US" sz="1600" b="1" dirty="0">
                <a:solidFill>
                  <a:srgbClr val="B7791F"/>
                </a:solidFill>
              </a:rPr>
              <a:t>Moyenne</a:t>
            </a:r>
            <a:endParaRPr lang="en-US" sz="1600" dirty="0"/>
          </a:p>
        </p:txBody>
      </p:sp>
      <p:sp>
        <p:nvSpPr>
          <p:cNvPr id="51" name="Text 49"/>
          <p:cNvSpPr txBox="1"/>
          <p:nvPr/>
        </p:nvSpPr>
        <p:spPr>
          <a:xfrm>
            <a:off x="6949440" y="3136392"/>
            <a:ext cx="4572000" cy="71323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significatif mais échantillon court ou sensible aux seuils → publier avec réserves</a:t>
            </a:r>
            <a:endParaRPr lang="en-US" sz="1300" dirty="0"/>
          </a:p>
        </p:txBody>
      </p:sp>
      <p:sp>
        <p:nvSpPr>
          <p:cNvPr id="52" name="Shape 50"/>
          <p:cNvSpPr/>
          <p:nvPr/>
        </p:nvSpPr>
        <p:spPr>
          <a:xfrm>
            <a:off x="6172200" y="4023360"/>
            <a:ext cx="5486400" cy="1188720"/>
          </a:xfrm>
          <a:prstGeom prst="roundRect">
            <a:avLst>
              <a:gd name="adj" fmla="val 9231"/>
            </a:avLst>
          </a:prstGeom>
          <a:solidFill>
            <a:srgbClr val="FBECEC"/>
          </a:solidFill>
          <a:ln w="9525">
            <a:solidFill>
              <a:srgbClr val="FBECEC"/>
            </a:solidFill>
            <a:prstDash val="solid"/>
          </a:ln>
        </p:spPr>
      </p:sp>
      <p:sp>
        <p:nvSpPr>
          <p:cNvPr id="53" name="Shape 51"/>
          <p:cNvSpPr/>
          <p:nvPr/>
        </p:nvSpPr>
        <p:spPr>
          <a:xfrm>
            <a:off x="6355080" y="4389120"/>
            <a:ext cx="457200" cy="457200"/>
          </a:xfrm>
          <a:prstGeom prst="ellipse">
            <a:avLst/>
          </a:prstGeom>
          <a:solidFill>
            <a:srgbClr val="D64545"/>
          </a:solidFill>
          <a:ln w="12700">
            <a:solidFill>
              <a:srgbClr val="D64545"/>
            </a:solidFill>
            <a:prstDash val="solid"/>
          </a:ln>
        </p:spPr>
      </p:sp>
      <p:sp>
        <p:nvSpPr>
          <p:cNvPr id="54" name="Text 52"/>
          <p:cNvSpPr txBox="1"/>
          <p:nvPr/>
        </p:nvSpPr>
        <p:spPr>
          <a:xfrm>
            <a:off x="6949440" y="4114800"/>
            <a:ext cx="4572000" cy="347472"/>
          </a:xfrm>
          <a:prstGeom prst="rect">
            <a:avLst/>
          </a:prstGeom>
          <a:noFill/>
          <a:ln/>
        </p:spPr>
        <p:txBody>
          <a:bodyPr wrap="square" lIns="635" tIns="635" rIns="635" bIns="635" rtlCol="0" anchor="t"/>
          <a:lstStyle/>
          <a:p>
            <a:pPr indent="0" marL="0">
              <a:spcAft>
                <a:spcPts val="200"/>
              </a:spcAft>
              <a:buNone/>
            </a:pPr>
            <a:r>
              <a:rPr lang="en-US" sz="1600" b="1" dirty="0">
                <a:solidFill>
                  <a:srgbClr val="D64545"/>
                </a:solidFill>
              </a:rPr>
              <a:t>Faible</a:t>
            </a:r>
            <a:endParaRPr lang="en-US" sz="1600" dirty="0"/>
          </a:p>
        </p:txBody>
      </p:sp>
      <p:sp>
        <p:nvSpPr>
          <p:cNvPr id="55" name="Text 53"/>
          <p:cNvSpPr txBox="1"/>
          <p:nvPr/>
        </p:nvSpPr>
        <p:spPr>
          <a:xfrm>
            <a:off x="6949440" y="4462272"/>
            <a:ext cx="4572000" cy="71323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non significatif, extrapolation, forte dépendance aux hypothèses → piste, pas conclusion</a:t>
            </a:r>
            <a:endParaRPr lang="en-US" sz="1300" dirty="0"/>
          </a:p>
        </p:txBody>
      </p:sp>
      <p:sp>
        <p:nvSpPr>
          <p:cNvPr id="56" name="Text 54"/>
          <p:cNvSpPr txBox="1"/>
          <p:nvPr/>
        </p:nvSpPr>
        <p:spPr>
          <a:xfrm>
            <a:off x="6172200" y="5440680"/>
            <a:ext cx="5486400" cy="731520"/>
          </a:xfrm>
          <a:prstGeom prst="rect">
            <a:avLst/>
          </a:prstGeom>
          <a:noFill/>
          <a:ln/>
        </p:spPr>
        <p:txBody>
          <a:bodyPr wrap="square" lIns="635" tIns="635" rIns="635" bIns="635" rtlCol="0" anchor="t"/>
          <a:lstStyle/>
          <a:p>
            <a:pPr indent="0" marL="0">
              <a:spcAft>
                <a:spcPts val="200"/>
              </a:spcAft>
              <a:buNone/>
            </a:pPr>
            <a:r>
              <a:rPr lang="en-US" sz="1300" i="1" dirty="0">
                <a:solidFill>
                  <a:srgbClr val="231F20"/>
                </a:solidFill>
              </a:rPr>
              <a:t>Les tendances suivent une règle analogue (n ≥ 6 ; p &lt; 0,01 → élevée ; p &lt; 0,10 → moyenne). Chaque message affiche sa confiance ET son motif.</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F · CONFIANCE ET PUBLICATION</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Publier des statistiques issues des lumières : cinq bonnes pratiques</a:t>
            </a:r>
            <a:endParaRPr lang="en-US" sz="2800" dirty="0"/>
          </a:p>
        </p:txBody>
      </p:sp>
      <p:sp>
        <p:nvSpPr>
          <p:cNvPr id="4" name="Shape 2"/>
          <p:cNvSpPr/>
          <p:nvPr/>
        </p:nvSpPr>
        <p:spPr>
          <a:xfrm>
            <a:off x="548640"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1188720" y="1645920"/>
            <a:ext cx="822960" cy="82296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1386230" y="1843430"/>
            <a:ext cx="427939" cy="427939"/>
          </a:xfrm>
          <a:prstGeom prst="rect">
            <a:avLst/>
          </a:prstGeom>
        </p:spPr>
      </p:pic>
      <p:sp>
        <p:nvSpPr>
          <p:cNvPr id="7" name="Text 4"/>
          <p:cNvSpPr txBox="1"/>
          <p:nvPr/>
        </p:nvSpPr>
        <p:spPr>
          <a:xfrm>
            <a:off x="640080"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Toujours un intervalle</a:t>
            </a:r>
            <a:endParaRPr lang="en-US" sz="1500" dirty="0"/>
          </a:p>
        </p:txBody>
      </p:sp>
      <p:sp>
        <p:nvSpPr>
          <p:cNvPr id="8" name="Text 5"/>
          <p:cNvSpPr txBox="1"/>
          <p:nvPr/>
        </p:nvSpPr>
        <p:spPr>
          <a:xfrm>
            <a:off x="685800"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IC à 95 %, plage selon le seuil, intervalle de prévision : jamais un chiffre nu.</a:t>
            </a:r>
            <a:endParaRPr lang="en-US" sz="1250" dirty="0"/>
          </a:p>
        </p:txBody>
      </p:sp>
      <p:sp>
        <p:nvSpPr>
          <p:cNvPr id="9" name="Shape 6"/>
          <p:cNvSpPr/>
          <p:nvPr/>
        </p:nvSpPr>
        <p:spPr>
          <a:xfrm>
            <a:off x="2807208"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3447288" y="1645920"/>
            <a:ext cx="822960" cy="822960"/>
          </a:xfrm>
          <a:prstGeom prst="ellipse">
            <a:avLst/>
          </a:prstGeom>
          <a:solidFill>
            <a:srgbClr val="00704A"/>
          </a:solidFill>
          <a:ln w="12700">
            <a:solidFill>
              <a:srgbClr val="00704A"/>
            </a:solidFill>
            <a:prstDash val="solid"/>
          </a:ln>
        </p:spPr>
      </p:sp>
      <p:pic>
        <p:nvPicPr>
          <p:cNvPr id="11" name="Image 1" descr="preencoded.png">    </p:cNvPr>
          <p:cNvPicPr>
            <a:picLocks noChangeAspect="1"/>
          </p:cNvPicPr>
          <p:nvPr/>
        </p:nvPicPr>
        <p:blipFill>
          <a:blip r:embed="rId2"/>
          <a:stretch>
            <a:fillRect/>
          </a:stretch>
        </p:blipFill>
        <p:spPr>
          <a:xfrm>
            <a:off x="3644798" y="1843430"/>
            <a:ext cx="427939" cy="427939"/>
          </a:xfrm>
          <a:prstGeom prst="rect">
            <a:avLst/>
          </a:prstGeom>
        </p:spPr>
      </p:pic>
      <p:sp>
        <p:nvSpPr>
          <p:cNvPr id="12" name="Text 8"/>
          <p:cNvSpPr txBox="1"/>
          <p:nvPr/>
        </p:nvSpPr>
        <p:spPr>
          <a:xfrm>
            <a:off x="2898648"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Statut expérimental</a:t>
            </a:r>
            <a:endParaRPr lang="en-US" sz="1500" dirty="0"/>
          </a:p>
        </p:txBody>
      </p:sp>
      <p:sp>
        <p:nvSpPr>
          <p:cNvPr id="13" name="Text 9"/>
          <p:cNvSpPr txBox="1"/>
          <p:nvPr/>
        </p:nvSpPr>
        <p:spPr>
          <a:xfrm>
            <a:off x="2944368"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PIB régional et nowcast : étiquetés « statistiques expérimentales ».</a:t>
            </a:r>
            <a:endParaRPr lang="en-US" sz="1250" dirty="0"/>
          </a:p>
        </p:txBody>
      </p:sp>
      <p:sp>
        <p:nvSpPr>
          <p:cNvPr id="14" name="Shape 10"/>
          <p:cNvSpPr/>
          <p:nvPr/>
        </p:nvSpPr>
        <p:spPr>
          <a:xfrm>
            <a:off x="5065776"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5705856" y="1645920"/>
            <a:ext cx="822960" cy="822960"/>
          </a:xfrm>
          <a:prstGeom prst="ellipse">
            <a:avLst/>
          </a:prstGeom>
          <a:solidFill>
            <a:srgbClr val="00704A"/>
          </a:solidFill>
          <a:ln w="12700">
            <a:solidFill>
              <a:srgbClr val="00704A"/>
            </a:solidFill>
            <a:prstDash val="solid"/>
          </a:ln>
        </p:spPr>
      </p:sp>
      <p:pic>
        <p:nvPicPr>
          <p:cNvPr id="16" name="Image 2" descr="preencoded.png">    </p:cNvPr>
          <p:cNvPicPr>
            <a:picLocks noChangeAspect="1"/>
          </p:cNvPicPr>
          <p:nvPr/>
        </p:nvPicPr>
        <p:blipFill>
          <a:blip r:embed="rId3"/>
          <a:stretch>
            <a:fillRect/>
          </a:stretch>
        </p:blipFill>
        <p:spPr>
          <a:xfrm>
            <a:off x="5903366" y="1843430"/>
            <a:ext cx="427939" cy="427939"/>
          </a:xfrm>
          <a:prstGeom prst="rect">
            <a:avLst/>
          </a:prstGeom>
        </p:spPr>
      </p:pic>
      <p:sp>
        <p:nvSpPr>
          <p:cNvPr id="17" name="Text 12"/>
          <p:cNvSpPr txBox="1"/>
          <p:nvPr/>
        </p:nvSpPr>
        <p:spPr>
          <a:xfrm>
            <a:off x="5157216"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Traçabilité</a:t>
            </a:r>
            <a:endParaRPr lang="en-US" sz="1500" dirty="0"/>
          </a:p>
        </p:txBody>
      </p:sp>
      <p:sp>
        <p:nvSpPr>
          <p:cNvPr id="18" name="Text 13"/>
          <p:cNvSpPr txBox="1"/>
          <p:nvPr/>
        </p:nvSpPr>
        <p:spPr>
          <a:xfrm>
            <a:off x="5202936"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manifeste : paramètres, versions, disponibilité des données, date d'extraction.</a:t>
            </a:r>
            <a:endParaRPr lang="en-US" sz="1250" dirty="0"/>
          </a:p>
        </p:txBody>
      </p:sp>
      <p:sp>
        <p:nvSpPr>
          <p:cNvPr id="19" name="Shape 14"/>
          <p:cNvSpPr/>
          <p:nvPr/>
        </p:nvSpPr>
        <p:spPr>
          <a:xfrm>
            <a:off x="7324344"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7964424" y="1645920"/>
            <a:ext cx="822960" cy="822960"/>
          </a:xfrm>
          <a:prstGeom prst="ellipse">
            <a:avLst/>
          </a:prstGeom>
          <a:solidFill>
            <a:srgbClr val="00704A"/>
          </a:solidFill>
          <a:ln w="12700">
            <a:solidFill>
              <a:srgbClr val="00704A"/>
            </a:solidFill>
            <a:prstDash val="solid"/>
          </a:ln>
        </p:spPr>
      </p:sp>
      <p:pic>
        <p:nvPicPr>
          <p:cNvPr id="21" name="Image 3" descr="preencoded.png">    </p:cNvPr>
          <p:cNvPicPr>
            <a:picLocks noChangeAspect="1"/>
          </p:cNvPicPr>
          <p:nvPr/>
        </p:nvPicPr>
        <p:blipFill>
          <a:blip r:embed="rId4"/>
          <a:stretch>
            <a:fillRect/>
          </a:stretch>
        </p:blipFill>
        <p:spPr>
          <a:xfrm>
            <a:off x="8161934" y="1843430"/>
            <a:ext cx="427939" cy="427939"/>
          </a:xfrm>
          <a:prstGeom prst="rect">
            <a:avLst/>
          </a:prstGeom>
        </p:spPr>
      </p:pic>
      <p:sp>
        <p:nvSpPr>
          <p:cNvPr id="22" name="Text 16"/>
          <p:cNvSpPr txBox="1"/>
          <p:nvPr/>
        </p:nvSpPr>
        <p:spPr>
          <a:xfrm>
            <a:off x="7415784"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Seuils documentés</a:t>
            </a:r>
            <a:endParaRPr lang="en-US" sz="1500" dirty="0"/>
          </a:p>
        </p:txBody>
      </p:sp>
      <p:sp>
        <p:nvSpPr>
          <p:cNvPr id="23" name="Text 17"/>
          <p:cNvSpPr txBox="1"/>
          <p:nvPr/>
        </p:nvSpPr>
        <p:spPr>
          <a:xfrm>
            <a:off x="7461504"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chaque seuil est exposé dans la page « Méthodes &amp; limites » du tableau de bord.</a:t>
            </a:r>
            <a:endParaRPr lang="en-US" sz="1250" dirty="0"/>
          </a:p>
        </p:txBody>
      </p:sp>
      <p:sp>
        <p:nvSpPr>
          <p:cNvPr id="24" name="Shape 18"/>
          <p:cNvSpPr/>
          <p:nvPr/>
        </p:nvSpPr>
        <p:spPr>
          <a:xfrm>
            <a:off x="9582912"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5" name="Shape 19"/>
          <p:cNvSpPr/>
          <p:nvPr/>
        </p:nvSpPr>
        <p:spPr>
          <a:xfrm>
            <a:off x="10222992" y="1645920"/>
            <a:ext cx="822960" cy="822960"/>
          </a:xfrm>
          <a:prstGeom prst="ellipse">
            <a:avLst/>
          </a:prstGeom>
          <a:solidFill>
            <a:srgbClr val="1F4E8C"/>
          </a:solidFill>
          <a:ln w="12700">
            <a:solidFill>
              <a:srgbClr val="1F4E8C"/>
            </a:solidFill>
            <a:prstDash val="solid"/>
          </a:ln>
        </p:spPr>
      </p:sp>
      <p:pic>
        <p:nvPicPr>
          <p:cNvPr id="26" name="Image 4" descr="preencoded.png">    </p:cNvPr>
          <p:cNvPicPr>
            <a:picLocks noChangeAspect="1"/>
          </p:cNvPicPr>
          <p:nvPr/>
        </p:nvPicPr>
        <p:blipFill>
          <a:blip r:embed="rId5"/>
          <a:stretch>
            <a:fillRect/>
          </a:stretch>
        </p:blipFill>
        <p:spPr>
          <a:xfrm>
            <a:off x="10420502" y="1843430"/>
            <a:ext cx="427939" cy="427939"/>
          </a:xfrm>
          <a:prstGeom prst="rect">
            <a:avLst/>
          </a:prstGeom>
        </p:spPr>
      </p:pic>
      <p:sp>
        <p:nvSpPr>
          <p:cNvPr id="27" name="Text 20"/>
          <p:cNvSpPr txBox="1"/>
          <p:nvPr/>
        </p:nvSpPr>
        <p:spPr>
          <a:xfrm>
            <a:off x="9674352"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Jamais seul</a:t>
            </a:r>
            <a:endParaRPr lang="en-US" sz="1500" dirty="0"/>
          </a:p>
        </p:txBody>
      </p:sp>
      <p:sp>
        <p:nvSpPr>
          <p:cNvPr id="28" name="Text 21"/>
          <p:cNvSpPr txBox="1"/>
          <p:nvPr/>
        </p:nvSpPr>
        <p:spPr>
          <a:xfrm>
            <a:off x="9720072"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en complément des comptes et enquêtes, jamais en substitution.</a:t>
            </a:r>
            <a:endParaRPr lang="en-US" sz="1250" dirty="0"/>
          </a:p>
        </p:txBody>
      </p:sp>
      <p:sp>
        <p:nvSpPr>
          <p:cNvPr id="29" name="Shape 22"/>
          <p:cNvSpPr/>
          <p:nvPr/>
        </p:nvSpPr>
        <p:spPr>
          <a:xfrm>
            <a:off x="548640" y="4892040"/>
            <a:ext cx="11109960" cy="1280160"/>
          </a:xfrm>
          <a:prstGeom prst="roundRect">
            <a:avLst>
              <a:gd name="adj" fmla="val 8571"/>
            </a:avLst>
          </a:prstGeom>
          <a:solidFill>
            <a:srgbClr val="00553A"/>
          </a:solidFill>
          <a:ln w="9525">
            <a:solidFill>
              <a:srgbClr val="00553A"/>
            </a:solidFill>
            <a:prstDash val="solid"/>
          </a:ln>
          <a:effectLst>
            <a:outerShdw sx="100000" sy="100000" kx="0" ky="0" algn="bl" rotWithShape="0" blurRad="101600" dist="25400" dir="5400000">
              <a:srgbClr val="9CA3AF">
                <a:alpha val="25000"/>
              </a:srgbClr>
            </a:outerShdw>
          </a:effectLst>
        </p:spPr>
      </p:sp>
      <p:sp>
        <p:nvSpPr>
          <p:cNvPr id="30" name="Text 23"/>
          <p:cNvSpPr txBox="1"/>
          <p:nvPr/>
        </p:nvSpPr>
        <p:spPr>
          <a:xfrm>
            <a:off x="777240" y="4983480"/>
            <a:ext cx="10698480" cy="1097280"/>
          </a:xfrm>
          <a:prstGeom prst="rect">
            <a:avLst/>
          </a:prstGeom>
          <a:noFill/>
          <a:ln/>
        </p:spPr>
        <p:txBody>
          <a:bodyPr wrap="square" lIns="635" tIns="635" rIns="635" bIns="635" rtlCol="0" anchor="t"/>
          <a:lstStyle/>
          <a:p>
            <a:pPr indent="0" marL="0">
              <a:spcAft>
                <a:spcPts val="200"/>
              </a:spcAft>
              <a:buNone/>
            </a:pPr>
            <a:r>
              <a:rPr lang="en-US" sz="1350" b="1" dirty="0">
                <a:solidFill>
                  <a:srgbClr val="F5C242"/>
                </a:solidFill>
              </a:rPr>
              <a:t>Recommandations produites automatiquement par le notebook (section 10)</a:t>
            </a:r>
            <a:endParaRPr lang="en-US" sz="1350" dirty="0"/>
          </a:p>
          <a:p>
            <a:pPr indent="0" marL="0">
              <a:spcAft>
                <a:spcPts val="200"/>
              </a:spcAft>
              <a:buNone/>
            </a:pPr>
            <a:r>
              <a:rPr lang="en-US" sz="1350" dirty="0">
                <a:solidFill>
                  <a:srgbClr val="FFFFFF"/>
                </a:solidFill>
              </a:rPr>
              <a:t>Utiliser les lumières comme indicateur avancé et infranational · Ne pas diffuser d'estimation de PIB si le lien NTL–PIB est faible · Croiser la carte « dans le noir » avec les registres de raccordement · Documenter les ruptures inexpliquées · Mettre à jour chaque trimestre.</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F · CONFIANCE ET PUBLICATION</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Le tableau de bord : 8 pages, sans serveur</a:t>
            </a:r>
            <a:endParaRPr lang="en-US" sz="2800" dirty="0"/>
          </a:p>
        </p:txBody>
      </p:sp>
      <p:sp>
        <p:nvSpPr>
          <p:cNvPr id="4" name="Shape 2"/>
          <p:cNvSpPr/>
          <p:nvPr/>
        </p:nvSpPr>
        <p:spPr>
          <a:xfrm>
            <a:off x="548640" y="1371600"/>
            <a:ext cx="7315200" cy="4800600"/>
          </a:xfrm>
          <a:prstGeom prst="roundRect">
            <a:avLst>
              <a:gd name="adj" fmla="val 2286"/>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548640" y="1371600"/>
            <a:ext cx="7315200" cy="384048"/>
          </a:xfrm>
          <a:prstGeom prst="rect">
            <a:avLst/>
          </a:prstGeom>
          <a:solidFill>
            <a:srgbClr val="E5E7EB"/>
          </a:solidFill>
          <a:ln w="12700">
            <a:solidFill>
              <a:srgbClr val="E5E7EB"/>
            </a:solidFill>
            <a:prstDash val="solid"/>
          </a:ln>
        </p:spPr>
      </p:sp>
      <p:sp>
        <p:nvSpPr>
          <p:cNvPr id="6" name="Shape 4"/>
          <p:cNvSpPr/>
          <p:nvPr/>
        </p:nvSpPr>
        <p:spPr>
          <a:xfrm>
            <a:off x="713232" y="1490472"/>
            <a:ext cx="146304" cy="146304"/>
          </a:xfrm>
          <a:prstGeom prst="ellipse">
            <a:avLst/>
          </a:prstGeom>
          <a:solidFill>
            <a:srgbClr val="EF4444"/>
          </a:solidFill>
          <a:ln w="12700">
            <a:solidFill>
              <a:srgbClr val="FFFFFF"/>
            </a:solidFill>
            <a:prstDash val="solid"/>
          </a:ln>
        </p:spPr>
      </p:sp>
      <p:sp>
        <p:nvSpPr>
          <p:cNvPr id="7" name="Shape 5"/>
          <p:cNvSpPr/>
          <p:nvPr/>
        </p:nvSpPr>
        <p:spPr>
          <a:xfrm>
            <a:off x="941832" y="1490472"/>
            <a:ext cx="146304" cy="146304"/>
          </a:xfrm>
          <a:prstGeom prst="ellipse">
            <a:avLst/>
          </a:prstGeom>
          <a:solidFill>
            <a:srgbClr val="F59E0B"/>
          </a:solidFill>
          <a:ln w="12700">
            <a:solidFill>
              <a:srgbClr val="FFFFFF"/>
            </a:solidFill>
            <a:prstDash val="solid"/>
          </a:ln>
        </p:spPr>
      </p:sp>
      <p:sp>
        <p:nvSpPr>
          <p:cNvPr id="8" name="Shape 6"/>
          <p:cNvSpPr/>
          <p:nvPr/>
        </p:nvSpPr>
        <p:spPr>
          <a:xfrm>
            <a:off x="1170432" y="1490472"/>
            <a:ext cx="146304" cy="146304"/>
          </a:xfrm>
          <a:prstGeom prst="ellipse">
            <a:avLst/>
          </a:prstGeom>
          <a:solidFill>
            <a:srgbClr val="10B981"/>
          </a:solidFill>
          <a:ln w="12700">
            <a:solidFill>
              <a:srgbClr val="FFFFFF"/>
            </a:solidFill>
            <a:prstDash val="solid"/>
          </a:ln>
        </p:spPr>
      </p:sp>
      <p:sp>
        <p:nvSpPr>
          <p:cNvPr id="9" name="Shape 7"/>
          <p:cNvSpPr/>
          <p:nvPr/>
        </p:nvSpPr>
        <p:spPr>
          <a:xfrm>
            <a:off x="1508760" y="1444752"/>
            <a:ext cx="6172200" cy="246888"/>
          </a:xfrm>
          <a:prstGeom prst="roundRect">
            <a:avLst>
              <a:gd name="adj" fmla="val 37037"/>
            </a:avLst>
          </a:prstGeom>
          <a:solidFill>
            <a:srgbClr val="FFFFFF"/>
          </a:solidFill>
          <a:ln w="9525">
            <a:solidFill>
              <a:srgbClr val="FFFFFF"/>
            </a:solidFill>
            <a:prstDash val="solid"/>
          </a:ln>
        </p:spPr>
      </p:sp>
      <p:sp>
        <p:nvSpPr>
          <p:cNvPr id="10" name="Text 8"/>
          <p:cNvSpPr txBox="1"/>
          <p:nvPr/>
        </p:nvSpPr>
        <p:spPr>
          <a:xfrm>
            <a:off x="1600200" y="1444752"/>
            <a:ext cx="5943600" cy="246888"/>
          </a:xfrm>
          <a:prstGeom prst="rect">
            <a:avLst/>
          </a:prstGeom>
          <a:noFill/>
          <a:ln/>
        </p:spPr>
        <p:txBody>
          <a:bodyPr wrap="square" lIns="0" tIns="0" rIns="0" bIns="0" rtlCol="0" anchor="ctr"/>
          <a:lstStyle/>
          <a:p>
            <a:pPr indent="0" marL="0">
              <a:spcAft>
                <a:spcPts val="200"/>
              </a:spcAft>
              <a:buNone/>
            </a:pPr>
            <a:r>
              <a:rPr lang="en-US" sz="1100" dirty="0">
                <a:solidFill>
                  <a:srgbClr val="6B7280"/>
                </a:solidFill>
                <a:latin typeface="Courier New" pitchFamily="34" charset="0"/>
                <a:ea typeface="Courier New" pitchFamily="34" charset="-122"/>
                <a:cs typeface="Courier New" pitchFamily="34" charset="-120"/>
              </a:rPr>
              <a:t>https://&lt;user&gt;.github.io/ntl-dashboard/?country=TUN</a:t>
            </a:r>
            <a:endParaRPr lang="en-US" sz="1100" dirty="0"/>
          </a:p>
        </p:txBody>
      </p:sp>
      <p:sp>
        <p:nvSpPr>
          <p:cNvPr id="11" name="Shape 9"/>
          <p:cNvSpPr/>
          <p:nvPr/>
        </p:nvSpPr>
        <p:spPr>
          <a:xfrm>
            <a:off x="731520" y="1901952"/>
            <a:ext cx="822960" cy="292608"/>
          </a:xfrm>
          <a:prstGeom prst="roundRect">
            <a:avLst>
              <a:gd name="adj" fmla="val 56250"/>
            </a:avLst>
          </a:prstGeom>
          <a:solidFill>
            <a:srgbClr val="00553A"/>
          </a:solidFill>
          <a:ln w="15875">
            <a:solidFill>
              <a:srgbClr val="00553A"/>
            </a:solidFill>
            <a:prstDash val="solid"/>
          </a:ln>
        </p:spPr>
      </p:sp>
      <p:sp>
        <p:nvSpPr>
          <p:cNvPr id="12" name="Text 10"/>
          <p:cNvSpPr txBox="1"/>
          <p:nvPr/>
        </p:nvSpPr>
        <p:spPr>
          <a:xfrm>
            <a:off x="731520"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FFFFFF"/>
                </a:solidFill>
              </a:rPr>
              <a:t>Synthèse</a:t>
            </a:r>
            <a:endParaRPr lang="en-US" sz="1000" dirty="0"/>
          </a:p>
        </p:txBody>
      </p:sp>
      <p:sp>
        <p:nvSpPr>
          <p:cNvPr id="13" name="Shape 11"/>
          <p:cNvSpPr/>
          <p:nvPr/>
        </p:nvSpPr>
        <p:spPr>
          <a:xfrm>
            <a:off x="1618488" y="1901952"/>
            <a:ext cx="822960" cy="292608"/>
          </a:xfrm>
          <a:prstGeom prst="roundRect">
            <a:avLst>
              <a:gd name="adj" fmla="val 56250"/>
            </a:avLst>
          </a:prstGeom>
          <a:solidFill>
            <a:srgbClr val="F4F7F5"/>
          </a:solidFill>
          <a:ln w="15875">
            <a:solidFill>
              <a:srgbClr val="F4F7F5"/>
            </a:solidFill>
            <a:prstDash val="solid"/>
          </a:ln>
        </p:spPr>
      </p:sp>
      <p:sp>
        <p:nvSpPr>
          <p:cNvPr id="14" name="Text 12"/>
          <p:cNvSpPr txBox="1"/>
          <p:nvPr/>
        </p:nvSpPr>
        <p:spPr>
          <a:xfrm>
            <a:off x="1618488"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Carte</a:t>
            </a:r>
            <a:endParaRPr lang="en-US" sz="1000" dirty="0"/>
          </a:p>
        </p:txBody>
      </p:sp>
      <p:sp>
        <p:nvSpPr>
          <p:cNvPr id="15" name="Shape 13"/>
          <p:cNvSpPr/>
          <p:nvPr/>
        </p:nvSpPr>
        <p:spPr>
          <a:xfrm>
            <a:off x="2505456" y="1901952"/>
            <a:ext cx="822960" cy="292608"/>
          </a:xfrm>
          <a:prstGeom prst="roundRect">
            <a:avLst>
              <a:gd name="adj" fmla="val 56250"/>
            </a:avLst>
          </a:prstGeom>
          <a:solidFill>
            <a:srgbClr val="F4F7F5"/>
          </a:solidFill>
          <a:ln w="15875">
            <a:solidFill>
              <a:srgbClr val="F4F7F5"/>
            </a:solidFill>
            <a:prstDash val="solid"/>
          </a:ln>
        </p:spPr>
      </p:sp>
      <p:sp>
        <p:nvSpPr>
          <p:cNvPr id="16" name="Text 14"/>
          <p:cNvSpPr txBox="1"/>
          <p:nvPr/>
        </p:nvSpPr>
        <p:spPr>
          <a:xfrm>
            <a:off x="2505456"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Tendances</a:t>
            </a:r>
            <a:endParaRPr lang="en-US" sz="1000" dirty="0"/>
          </a:p>
        </p:txBody>
      </p:sp>
      <p:sp>
        <p:nvSpPr>
          <p:cNvPr id="17" name="Shape 15"/>
          <p:cNvSpPr/>
          <p:nvPr/>
        </p:nvSpPr>
        <p:spPr>
          <a:xfrm>
            <a:off x="3392424" y="1901952"/>
            <a:ext cx="822960" cy="292608"/>
          </a:xfrm>
          <a:prstGeom prst="roundRect">
            <a:avLst>
              <a:gd name="adj" fmla="val 56250"/>
            </a:avLst>
          </a:prstGeom>
          <a:solidFill>
            <a:srgbClr val="F4F7F5"/>
          </a:solidFill>
          <a:ln w="15875">
            <a:solidFill>
              <a:srgbClr val="F4F7F5"/>
            </a:solidFill>
            <a:prstDash val="solid"/>
          </a:ln>
        </p:spPr>
      </p:sp>
      <p:sp>
        <p:nvSpPr>
          <p:cNvPr id="18" name="Text 16"/>
          <p:cNvSpPr txBox="1"/>
          <p:nvPr/>
        </p:nvSpPr>
        <p:spPr>
          <a:xfrm>
            <a:off x="3392424"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Régions</a:t>
            </a:r>
            <a:endParaRPr lang="en-US" sz="1000" dirty="0"/>
          </a:p>
        </p:txBody>
      </p:sp>
      <p:sp>
        <p:nvSpPr>
          <p:cNvPr id="19" name="Shape 17"/>
          <p:cNvSpPr/>
          <p:nvPr/>
        </p:nvSpPr>
        <p:spPr>
          <a:xfrm>
            <a:off x="4279392" y="1901952"/>
            <a:ext cx="822960" cy="292608"/>
          </a:xfrm>
          <a:prstGeom prst="roundRect">
            <a:avLst>
              <a:gd name="adj" fmla="val 56250"/>
            </a:avLst>
          </a:prstGeom>
          <a:solidFill>
            <a:srgbClr val="F4F7F5"/>
          </a:solidFill>
          <a:ln w="15875">
            <a:solidFill>
              <a:srgbClr val="F4F7F5"/>
            </a:solidFill>
            <a:prstDash val="solid"/>
          </a:ln>
        </p:spPr>
      </p:sp>
      <p:sp>
        <p:nvSpPr>
          <p:cNvPr id="20" name="Text 18"/>
          <p:cNvSpPr txBox="1"/>
          <p:nvPr/>
        </p:nvSpPr>
        <p:spPr>
          <a:xfrm>
            <a:off x="4279392"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Chocs</a:t>
            </a:r>
            <a:endParaRPr lang="en-US" sz="1000" dirty="0"/>
          </a:p>
        </p:txBody>
      </p:sp>
      <p:sp>
        <p:nvSpPr>
          <p:cNvPr id="21" name="Shape 19"/>
          <p:cNvSpPr/>
          <p:nvPr/>
        </p:nvSpPr>
        <p:spPr>
          <a:xfrm>
            <a:off x="5166360" y="1901952"/>
            <a:ext cx="822960" cy="292608"/>
          </a:xfrm>
          <a:prstGeom prst="roundRect">
            <a:avLst>
              <a:gd name="adj" fmla="val 56250"/>
            </a:avLst>
          </a:prstGeom>
          <a:solidFill>
            <a:srgbClr val="F4F7F5"/>
          </a:solidFill>
          <a:ln w="15875">
            <a:solidFill>
              <a:srgbClr val="F4F7F5"/>
            </a:solidFill>
            <a:prstDash val="solid"/>
          </a:ln>
        </p:spPr>
      </p:sp>
      <p:sp>
        <p:nvSpPr>
          <p:cNvPr id="22" name="Text 20"/>
          <p:cNvSpPr txBox="1"/>
          <p:nvPr/>
        </p:nvSpPr>
        <p:spPr>
          <a:xfrm>
            <a:off x="5166360"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Inégalités</a:t>
            </a:r>
            <a:endParaRPr lang="en-US" sz="1000" dirty="0"/>
          </a:p>
        </p:txBody>
      </p:sp>
      <p:sp>
        <p:nvSpPr>
          <p:cNvPr id="23" name="Shape 21"/>
          <p:cNvSpPr/>
          <p:nvPr/>
        </p:nvSpPr>
        <p:spPr>
          <a:xfrm>
            <a:off x="6053328" y="1901952"/>
            <a:ext cx="822960" cy="292608"/>
          </a:xfrm>
          <a:prstGeom prst="roundRect">
            <a:avLst>
              <a:gd name="adj" fmla="val 56250"/>
            </a:avLst>
          </a:prstGeom>
          <a:solidFill>
            <a:srgbClr val="F4F7F5"/>
          </a:solidFill>
          <a:ln w="15875">
            <a:solidFill>
              <a:srgbClr val="F4F7F5"/>
            </a:solidFill>
            <a:prstDash val="solid"/>
          </a:ln>
        </p:spPr>
      </p:sp>
      <p:sp>
        <p:nvSpPr>
          <p:cNvPr id="24" name="Text 22"/>
          <p:cNvSpPr txBox="1"/>
          <p:nvPr/>
        </p:nvSpPr>
        <p:spPr>
          <a:xfrm>
            <a:off x="6053328"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Méthodes</a:t>
            </a:r>
            <a:endParaRPr lang="en-US" sz="1000" dirty="0"/>
          </a:p>
        </p:txBody>
      </p:sp>
      <p:sp>
        <p:nvSpPr>
          <p:cNvPr id="25" name="Shape 23"/>
          <p:cNvSpPr/>
          <p:nvPr/>
        </p:nvSpPr>
        <p:spPr>
          <a:xfrm>
            <a:off x="6940296" y="1901952"/>
            <a:ext cx="822960" cy="292608"/>
          </a:xfrm>
          <a:prstGeom prst="roundRect">
            <a:avLst>
              <a:gd name="adj" fmla="val 56250"/>
            </a:avLst>
          </a:prstGeom>
          <a:solidFill>
            <a:srgbClr val="F4F7F5"/>
          </a:solidFill>
          <a:ln w="15875">
            <a:solidFill>
              <a:srgbClr val="F4F7F5"/>
            </a:solidFill>
            <a:prstDash val="solid"/>
          </a:ln>
        </p:spPr>
      </p:sp>
      <p:sp>
        <p:nvSpPr>
          <p:cNvPr id="26" name="Text 24"/>
          <p:cNvSpPr txBox="1"/>
          <p:nvPr/>
        </p:nvSpPr>
        <p:spPr>
          <a:xfrm>
            <a:off x="6940296"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Données</a:t>
            </a:r>
            <a:endParaRPr lang="en-US" sz="1000" dirty="0"/>
          </a:p>
        </p:txBody>
      </p:sp>
      <p:sp>
        <p:nvSpPr>
          <p:cNvPr id="27" name="Shape 25"/>
          <p:cNvSpPr/>
          <p:nvPr/>
        </p:nvSpPr>
        <p:spPr>
          <a:xfrm>
            <a:off x="777240" y="2377440"/>
            <a:ext cx="1627632" cy="960120"/>
          </a:xfrm>
          <a:prstGeom prst="roundRect">
            <a:avLst>
              <a:gd name="adj" fmla="val 11429"/>
            </a:avLst>
          </a:prstGeom>
          <a:solidFill>
            <a:srgbClr val="F4F7F5"/>
          </a:solidFill>
          <a:ln w="9525">
            <a:solidFill>
              <a:srgbClr val="F4F7F5"/>
            </a:solidFill>
            <a:prstDash val="solid"/>
          </a:ln>
        </p:spPr>
      </p:sp>
      <p:sp>
        <p:nvSpPr>
          <p:cNvPr id="28" name="Text 26"/>
          <p:cNvSpPr txBox="1"/>
          <p:nvPr/>
        </p:nvSpPr>
        <p:spPr>
          <a:xfrm>
            <a:off x="822960" y="2395728"/>
            <a:ext cx="1536192" cy="502920"/>
          </a:xfrm>
          <a:prstGeom prst="rect">
            <a:avLst/>
          </a:prstGeom>
          <a:noFill/>
          <a:ln/>
        </p:spPr>
        <p:txBody>
          <a:bodyPr wrap="square" lIns="635" tIns="635" rIns="635" bIns="635" rtlCol="0" anchor="ctr"/>
          <a:lstStyle/>
          <a:p>
            <a:pPr algn="ctr" indent="0" marL="0">
              <a:spcAft>
                <a:spcPts val="200"/>
              </a:spcAft>
              <a:buNone/>
            </a:pPr>
            <a:r>
              <a:rPr lang="en-US" sz="1800" b="1" dirty="0">
                <a:solidFill>
                  <a:srgbClr val="1F4E8C"/>
                </a:solidFill>
              </a:rPr>
              <a:t>+3,5 %/an</a:t>
            </a:r>
            <a:endParaRPr lang="en-US" sz="1800" dirty="0"/>
          </a:p>
        </p:txBody>
      </p:sp>
      <p:sp>
        <p:nvSpPr>
          <p:cNvPr id="29" name="Text 27"/>
          <p:cNvSpPr txBox="1"/>
          <p:nvPr/>
        </p:nvSpPr>
        <p:spPr>
          <a:xfrm>
            <a:off x="822960" y="2880360"/>
            <a:ext cx="1536192" cy="411480"/>
          </a:xfrm>
          <a:prstGeom prst="rect">
            <a:avLst/>
          </a:prstGeom>
          <a:noFill/>
          <a:ln/>
        </p:spPr>
        <p:txBody>
          <a:bodyPr wrap="square" lIns="635" tIns="635" rIns="635" bIns="635" rtlCol="0" anchor="t"/>
          <a:lstStyle/>
          <a:p>
            <a:pPr algn="ctr" indent="0" marL="0">
              <a:spcAft>
                <a:spcPts val="200"/>
              </a:spcAft>
              <a:buNone/>
            </a:pPr>
            <a:r>
              <a:rPr lang="en-US" sz="1050" dirty="0">
                <a:solidFill>
                  <a:srgbClr val="6B7280"/>
                </a:solidFill>
              </a:rPr>
              <a:t>croissance de la lumière</a:t>
            </a:r>
            <a:endParaRPr lang="en-US" sz="1050" dirty="0"/>
          </a:p>
        </p:txBody>
      </p:sp>
      <p:sp>
        <p:nvSpPr>
          <p:cNvPr id="30" name="Shape 28"/>
          <p:cNvSpPr/>
          <p:nvPr/>
        </p:nvSpPr>
        <p:spPr>
          <a:xfrm>
            <a:off x="2532888" y="2377440"/>
            <a:ext cx="1627632" cy="960120"/>
          </a:xfrm>
          <a:prstGeom prst="roundRect">
            <a:avLst>
              <a:gd name="adj" fmla="val 11429"/>
            </a:avLst>
          </a:prstGeom>
          <a:solidFill>
            <a:srgbClr val="F4F7F5"/>
          </a:solidFill>
          <a:ln w="9525">
            <a:solidFill>
              <a:srgbClr val="F4F7F5"/>
            </a:solidFill>
            <a:prstDash val="solid"/>
          </a:ln>
        </p:spPr>
      </p:sp>
      <p:sp>
        <p:nvSpPr>
          <p:cNvPr id="31" name="Text 29"/>
          <p:cNvSpPr txBox="1"/>
          <p:nvPr/>
        </p:nvSpPr>
        <p:spPr>
          <a:xfrm>
            <a:off x="2578608" y="2395728"/>
            <a:ext cx="1536192" cy="502920"/>
          </a:xfrm>
          <a:prstGeom prst="rect">
            <a:avLst/>
          </a:prstGeom>
          <a:noFill/>
          <a:ln/>
        </p:spPr>
        <p:txBody>
          <a:bodyPr wrap="square" lIns="635" tIns="635" rIns="635" bIns="635" rtlCol="0" anchor="ctr"/>
          <a:lstStyle/>
          <a:p>
            <a:pPr algn="ctr" indent="0" marL="0">
              <a:spcAft>
                <a:spcPts val="200"/>
              </a:spcAft>
              <a:buNone/>
            </a:pPr>
            <a:r>
              <a:rPr lang="en-US" sz="1800" b="1" dirty="0">
                <a:solidFill>
                  <a:srgbClr val="1F4E8C"/>
                </a:solidFill>
              </a:rPr>
              <a:t>0,62</a:t>
            </a:r>
            <a:endParaRPr lang="en-US" sz="1800" dirty="0"/>
          </a:p>
        </p:txBody>
      </p:sp>
      <p:sp>
        <p:nvSpPr>
          <p:cNvPr id="32" name="Text 30"/>
          <p:cNvSpPr txBox="1"/>
          <p:nvPr/>
        </p:nvSpPr>
        <p:spPr>
          <a:xfrm>
            <a:off x="2578608" y="2880360"/>
            <a:ext cx="1536192" cy="411480"/>
          </a:xfrm>
          <a:prstGeom prst="rect">
            <a:avLst/>
          </a:prstGeom>
          <a:noFill/>
          <a:ln/>
        </p:spPr>
        <p:txBody>
          <a:bodyPr wrap="square" lIns="635" tIns="635" rIns="635" bIns="635" rtlCol="0" anchor="t"/>
          <a:lstStyle/>
          <a:p>
            <a:pPr algn="ctr" indent="0" marL="0">
              <a:spcAft>
                <a:spcPts val="200"/>
              </a:spcAft>
              <a:buNone/>
            </a:pPr>
            <a:r>
              <a:rPr lang="en-US" sz="1050" dirty="0">
                <a:solidFill>
                  <a:srgbClr val="6B7280"/>
                </a:solidFill>
              </a:rPr>
              <a:t>élasticité lumière–PIB</a:t>
            </a:r>
            <a:endParaRPr lang="en-US" sz="1050" dirty="0"/>
          </a:p>
        </p:txBody>
      </p:sp>
      <p:sp>
        <p:nvSpPr>
          <p:cNvPr id="33" name="Shape 31"/>
          <p:cNvSpPr/>
          <p:nvPr/>
        </p:nvSpPr>
        <p:spPr>
          <a:xfrm>
            <a:off x="4288536" y="2377440"/>
            <a:ext cx="1627632" cy="960120"/>
          </a:xfrm>
          <a:prstGeom prst="roundRect">
            <a:avLst>
              <a:gd name="adj" fmla="val 11429"/>
            </a:avLst>
          </a:prstGeom>
          <a:solidFill>
            <a:srgbClr val="F4F7F5"/>
          </a:solidFill>
          <a:ln w="9525">
            <a:solidFill>
              <a:srgbClr val="F4F7F5"/>
            </a:solidFill>
            <a:prstDash val="solid"/>
          </a:ln>
        </p:spPr>
      </p:sp>
      <p:sp>
        <p:nvSpPr>
          <p:cNvPr id="34" name="Text 32"/>
          <p:cNvSpPr txBox="1"/>
          <p:nvPr/>
        </p:nvSpPr>
        <p:spPr>
          <a:xfrm>
            <a:off x="4334256" y="2395728"/>
            <a:ext cx="1536192" cy="502920"/>
          </a:xfrm>
          <a:prstGeom prst="rect">
            <a:avLst/>
          </a:prstGeom>
          <a:noFill/>
          <a:ln/>
        </p:spPr>
        <p:txBody>
          <a:bodyPr wrap="square" lIns="635" tIns="635" rIns="635" bIns="635" rtlCol="0" anchor="ctr"/>
          <a:lstStyle/>
          <a:p>
            <a:pPr algn="ctr" indent="0" marL="0">
              <a:spcAft>
                <a:spcPts val="200"/>
              </a:spcAft>
              <a:buNone/>
            </a:pPr>
            <a:r>
              <a:rPr lang="en-US" sz="1800" b="1" dirty="0">
                <a:solidFill>
                  <a:srgbClr val="1F4E8C"/>
                </a:solidFill>
              </a:rPr>
              <a:t>0,54</a:t>
            </a:r>
            <a:endParaRPr lang="en-US" sz="1800" dirty="0"/>
          </a:p>
        </p:txBody>
      </p:sp>
      <p:sp>
        <p:nvSpPr>
          <p:cNvPr id="35" name="Text 33"/>
          <p:cNvSpPr txBox="1"/>
          <p:nvPr/>
        </p:nvSpPr>
        <p:spPr>
          <a:xfrm>
            <a:off x="4334256" y="2880360"/>
            <a:ext cx="1536192" cy="411480"/>
          </a:xfrm>
          <a:prstGeom prst="rect">
            <a:avLst/>
          </a:prstGeom>
          <a:noFill/>
          <a:ln/>
        </p:spPr>
        <p:txBody>
          <a:bodyPr wrap="square" lIns="635" tIns="635" rIns="635" bIns="635" rtlCol="0" anchor="t"/>
          <a:lstStyle/>
          <a:p>
            <a:pPr algn="ctr" indent="0" marL="0">
              <a:spcAft>
                <a:spcPts val="200"/>
              </a:spcAft>
              <a:buNone/>
            </a:pPr>
            <a:r>
              <a:rPr lang="en-US" sz="1050" dirty="0">
                <a:solidFill>
                  <a:srgbClr val="6B7280"/>
                </a:solidFill>
              </a:rPr>
              <a:t>Gini lumière/hab.</a:t>
            </a:r>
            <a:endParaRPr lang="en-US" sz="1050" dirty="0"/>
          </a:p>
        </p:txBody>
      </p:sp>
      <p:sp>
        <p:nvSpPr>
          <p:cNvPr id="36" name="Shape 34"/>
          <p:cNvSpPr/>
          <p:nvPr/>
        </p:nvSpPr>
        <p:spPr>
          <a:xfrm>
            <a:off x="6044184" y="2377440"/>
            <a:ext cx="1627632" cy="960120"/>
          </a:xfrm>
          <a:prstGeom prst="roundRect">
            <a:avLst>
              <a:gd name="adj" fmla="val 11429"/>
            </a:avLst>
          </a:prstGeom>
          <a:solidFill>
            <a:srgbClr val="F4F7F5"/>
          </a:solidFill>
          <a:ln w="9525">
            <a:solidFill>
              <a:srgbClr val="F4F7F5"/>
            </a:solidFill>
            <a:prstDash val="solid"/>
          </a:ln>
        </p:spPr>
      </p:sp>
      <p:sp>
        <p:nvSpPr>
          <p:cNvPr id="37" name="Text 35"/>
          <p:cNvSpPr txBox="1"/>
          <p:nvPr/>
        </p:nvSpPr>
        <p:spPr>
          <a:xfrm>
            <a:off x="6089904" y="2395728"/>
            <a:ext cx="1536192" cy="502920"/>
          </a:xfrm>
          <a:prstGeom prst="rect">
            <a:avLst/>
          </a:prstGeom>
          <a:noFill/>
          <a:ln/>
        </p:spPr>
        <p:txBody>
          <a:bodyPr wrap="square" lIns="635" tIns="635" rIns="635" bIns="635" rtlCol="0" anchor="ctr"/>
          <a:lstStyle/>
          <a:p>
            <a:pPr algn="ctr" indent="0" marL="0">
              <a:spcAft>
                <a:spcPts val="200"/>
              </a:spcAft>
              <a:buNone/>
            </a:pPr>
            <a:r>
              <a:rPr lang="en-US" sz="1800" b="1" dirty="0">
                <a:solidFill>
                  <a:srgbClr val="1F4E8C"/>
                </a:solidFill>
              </a:rPr>
              <a:t>1,4–3,0 M</a:t>
            </a:r>
            <a:endParaRPr lang="en-US" sz="1800" dirty="0"/>
          </a:p>
        </p:txBody>
      </p:sp>
      <p:sp>
        <p:nvSpPr>
          <p:cNvPr id="38" name="Text 36"/>
          <p:cNvSpPr txBox="1"/>
          <p:nvPr/>
        </p:nvSpPr>
        <p:spPr>
          <a:xfrm>
            <a:off x="6089904" y="2880360"/>
            <a:ext cx="1536192" cy="411480"/>
          </a:xfrm>
          <a:prstGeom prst="rect">
            <a:avLst/>
          </a:prstGeom>
          <a:noFill/>
          <a:ln/>
        </p:spPr>
        <p:txBody>
          <a:bodyPr wrap="square" lIns="635" tIns="635" rIns="635" bIns="635" rtlCol="0" anchor="t"/>
          <a:lstStyle/>
          <a:p>
            <a:pPr algn="ctr" indent="0" marL="0">
              <a:spcAft>
                <a:spcPts val="200"/>
              </a:spcAft>
              <a:buNone/>
            </a:pPr>
            <a:r>
              <a:rPr lang="en-US" sz="1050" dirty="0">
                <a:solidFill>
                  <a:srgbClr val="6B7280"/>
                </a:solidFill>
              </a:rPr>
              <a:t>personnes dans le noir</a:t>
            </a:r>
            <a:endParaRPr lang="en-US" sz="1050" dirty="0"/>
          </a:p>
        </p:txBody>
      </p:sp>
      <p:pic>
        <p:nvPicPr>
          <p:cNvPr id="39" name="Image 0" descr="/tmp/claude-0/-home-claude/8a8742ef-7d0d-54fc-a0c9-7ecbfc9f8b73/scratchpad/deck/img/stl_fr.png">    </p:cNvPr>
          <p:cNvPicPr>
            <a:picLocks noChangeAspect="1"/>
          </p:cNvPicPr>
          <p:nvPr/>
        </p:nvPicPr>
        <p:blipFill>
          <a:blip r:embed="rId1"/>
          <a:stretch>
            <a:fillRect/>
          </a:stretch>
        </p:blipFill>
        <p:spPr>
          <a:xfrm>
            <a:off x="823794" y="3474720"/>
            <a:ext cx="3930253" cy="2560320"/>
          </a:xfrm>
          <a:prstGeom prst="rect">
            <a:avLst/>
          </a:prstGeom>
        </p:spPr>
      </p:pic>
      <p:sp>
        <p:nvSpPr>
          <p:cNvPr id="40" name="Shape 37"/>
          <p:cNvSpPr/>
          <p:nvPr/>
        </p:nvSpPr>
        <p:spPr>
          <a:xfrm>
            <a:off x="4937760" y="3474720"/>
            <a:ext cx="2743200" cy="2560320"/>
          </a:xfrm>
          <a:prstGeom prst="roundRect">
            <a:avLst>
              <a:gd name="adj" fmla="val 4286"/>
            </a:avLst>
          </a:prstGeom>
          <a:solidFill>
            <a:srgbClr val="E8F5EF"/>
          </a:solidFill>
          <a:ln w="9525">
            <a:solidFill>
              <a:srgbClr val="E8F5EF"/>
            </a:solidFill>
            <a:prstDash val="solid"/>
          </a:ln>
        </p:spPr>
      </p:sp>
      <p:sp>
        <p:nvSpPr>
          <p:cNvPr id="41" name="Text 38"/>
          <p:cNvSpPr txBox="1"/>
          <p:nvPr/>
        </p:nvSpPr>
        <p:spPr>
          <a:xfrm>
            <a:off x="5029200" y="3520440"/>
            <a:ext cx="2560320" cy="320040"/>
          </a:xfrm>
          <a:prstGeom prst="rect">
            <a:avLst/>
          </a:prstGeom>
          <a:noFill/>
          <a:ln/>
        </p:spPr>
        <p:txBody>
          <a:bodyPr wrap="square" lIns="635" tIns="635" rIns="635" bIns="635" rtlCol="0" anchor="t"/>
          <a:lstStyle/>
          <a:p>
            <a:pPr indent="0" marL="0">
              <a:spcAft>
                <a:spcPts val="200"/>
              </a:spcAft>
              <a:buNone/>
            </a:pPr>
            <a:r>
              <a:rPr lang="en-US" sz="1250" b="1" dirty="0">
                <a:solidFill>
                  <a:srgbClr val="00553A"/>
                </a:solidFill>
              </a:rPr>
              <a:t>Messages clés</a:t>
            </a:r>
            <a:endParaRPr lang="en-US" sz="1250" dirty="0"/>
          </a:p>
        </p:txBody>
      </p:sp>
      <p:sp>
        <p:nvSpPr>
          <p:cNvPr id="42" name="Text 39"/>
          <p:cNvSpPr txBox="1"/>
          <p:nvPr/>
        </p:nvSpPr>
        <p:spPr>
          <a:xfrm>
            <a:off x="5029200" y="3886200"/>
            <a:ext cx="2560320" cy="2011680"/>
          </a:xfrm>
          <a:prstGeom prst="rect">
            <a:avLst/>
          </a:prstGeom>
          <a:noFill/>
          <a:ln/>
        </p:spPr>
        <p:txBody>
          <a:bodyPr wrap="square" lIns="635" tIns="635" rIns="635" bIns="635" rtlCol="0" anchor="t"/>
          <a:lstStyle/>
          <a:p>
            <a:pPr indent="0" marL="0">
              <a:spcAft>
                <a:spcPts val="400"/>
              </a:spcAft>
              <a:buNone/>
            </a:pPr>
            <a:r>
              <a:rPr lang="en-US" sz="1200" dirty="0">
                <a:solidFill>
                  <a:srgbClr val="231F20"/>
                </a:solidFill>
              </a:rPr>
              <a:t>🟢 Tendance nationale</a:t>
            </a:r>
            <a:endParaRPr lang="en-US" sz="1200" dirty="0"/>
          </a:p>
          <a:p>
            <a:pPr indent="0" marL="0">
              <a:spcAft>
                <a:spcPts val="400"/>
              </a:spcAft>
              <a:buNone/>
            </a:pPr>
            <a:r>
              <a:rPr lang="en-US" sz="1200" dirty="0">
                <a:solidFill>
                  <a:srgbClr val="231F20"/>
                </a:solidFill>
              </a:rPr>
              <a:t>🟠 Régions</a:t>
            </a:r>
            <a:endParaRPr lang="en-US" sz="1200" dirty="0"/>
          </a:p>
          <a:p>
            <a:pPr indent="0" marL="0">
              <a:spcAft>
                <a:spcPts val="400"/>
              </a:spcAft>
              <a:buNone/>
            </a:pPr>
            <a:r>
              <a:rPr lang="en-US" sz="1200" dirty="0">
                <a:solidFill>
                  <a:srgbClr val="231F20"/>
                </a:solidFill>
              </a:rPr>
              <a:t>🟠 Lien avec le PIB</a:t>
            </a:r>
            <a:endParaRPr lang="en-US" sz="1200" dirty="0"/>
          </a:p>
          <a:p>
            <a:pPr indent="0" marL="0">
              <a:spcAft>
                <a:spcPts val="400"/>
              </a:spcAft>
              <a:buNone/>
            </a:pPr>
            <a:r>
              <a:rPr lang="en-US" sz="1200" dirty="0">
                <a:solidFill>
                  <a:srgbClr val="231F20"/>
                </a:solidFill>
              </a:rPr>
              <a:t>🔴 Estimation récente</a:t>
            </a:r>
            <a:endParaRPr lang="en-US" sz="1200" dirty="0"/>
          </a:p>
          <a:p>
            <a:pPr indent="0" marL="0">
              <a:spcAft>
                <a:spcPts val="400"/>
              </a:spcAft>
              <a:buNone/>
            </a:pPr>
            <a:r>
              <a:rPr lang="en-US" sz="1200" dirty="0">
                <a:solidFill>
                  <a:srgbClr val="231F20"/>
                </a:solidFill>
              </a:rPr>
              <a:t>🟠 Inégalités et accès</a:t>
            </a:r>
            <a:endParaRPr lang="en-US" sz="1200" dirty="0"/>
          </a:p>
        </p:txBody>
      </p:sp>
      <p:sp>
        <p:nvSpPr>
          <p:cNvPr id="43" name="Text 40"/>
          <p:cNvSpPr txBox="1"/>
          <p:nvPr/>
        </p:nvSpPr>
        <p:spPr>
          <a:xfrm>
            <a:off x="548640" y="6199632"/>
            <a:ext cx="7315200" cy="228600"/>
          </a:xfrm>
          <a:prstGeom prst="rect">
            <a:avLst/>
          </a:prstGeom>
          <a:noFill/>
          <a:ln/>
        </p:spPr>
        <p:txBody>
          <a:bodyPr wrap="square" lIns="635" tIns="635" rIns="635" bIns="635" rtlCol="0" anchor="t"/>
          <a:lstStyle/>
          <a:p>
            <a:pPr indent="0" marL="0">
              <a:spcAft>
                <a:spcPts val="200"/>
              </a:spcAft>
              <a:buNone/>
            </a:pPr>
            <a:r>
              <a:rPr lang="en-US" sz="1000" i="1" dirty="0">
                <a:solidFill>
                  <a:srgbClr val="6B7280"/>
                </a:solidFill>
              </a:rPr>
              <a:t>Maquette illustrative (valeurs fictives)</a:t>
            </a:r>
            <a:endParaRPr lang="en-US" sz="1000" dirty="0"/>
          </a:p>
        </p:txBody>
      </p:sp>
      <p:sp>
        <p:nvSpPr>
          <p:cNvPr id="44" name="Shape 41"/>
          <p:cNvSpPr/>
          <p:nvPr/>
        </p:nvSpPr>
        <p:spPr>
          <a:xfrm>
            <a:off x="8092440" y="1371600"/>
            <a:ext cx="3566160" cy="1481328"/>
          </a:xfrm>
          <a:prstGeom prst="roundRect">
            <a:avLst>
              <a:gd name="adj" fmla="val 740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45" name="Shape 42"/>
          <p:cNvSpPr/>
          <p:nvPr/>
        </p:nvSpPr>
        <p:spPr>
          <a:xfrm>
            <a:off x="8275320" y="1554480"/>
            <a:ext cx="502920" cy="502920"/>
          </a:xfrm>
          <a:prstGeom prst="ellipse">
            <a:avLst/>
          </a:prstGeom>
          <a:solidFill>
            <a:srgbClr val="00704A"/>
          </a:solidFill>
          <a:ln w="12700">
            <a:solidFill>
              <a:srgbClr val="00704A"/>
            </a:solidFill>
            <a:prstDash val="solid"/>
          </a:ln>
        </p:spPr>
      </p:sp>
      <p:pic>
        <p:nvPicPr>
          <p:cNvPr id="46" name="Image 1" descr="preencoded.png">    </p:cNvPr>
          <p:cNvPicPr>
            <a:picLocks noChangeAspect="1"/>
          </p:cNvPicPr>
          <p:nvPr/>
        </p:nvPicPr>
        <p:blipFill>
          <a:blip r:embed="rId2"/>
          <a:stretch>
            <a:fillRect/>
          </a:stretch>
        </p:blipFill>
        <p:spPr>
          <a:xfrm>
            <a:off x="8396021" y="1675181"/>
            <a:ext cx="261518" cy="261518"/>
          </a:xfrm>
          <a:prstGeom prst="rect">
            <a:avLst/>
          </a:prstGeom>
        </p:spPr>
      </p:pic>
      <p:sp>
        <p:nvSpPr>
          <p:cNvPr id="47" name="Text 43"/>
          <p:cNvSpPr txBox="1"/>
          <p:nvPr/>
        </p:nvSpPr>
        <p:spPr>
          <a:xfrm>
            <a:off x="8915400" y="1536192"/>
            <a:ext cx="26060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Export statique (section 11)</a:t>
            </a:r>
            <a:endParaRPr lang="en-US" sz="1500" dirty="0"/>
          </a:p>
        </p:txBody>
      </p:sp>
      <p:sp>
        <p:nvSpPr>
          <p:cNvPr id="48" name="Text 44"/>
          <p:cNvSpPr txBox="1"/>
          <p:nvPr/>
        </p:nvSpPr>
        <p:spPr>
          <a:xfrm>
            <a:off x="8275320" y="2176272"/>
            <a:ext cx="3200400" cy="566928"/>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GeoJSON simplifiés, CSV, JSON, PNG sous dashboard/data/&lt;ISO3&gt;/ — les tuiles GEE expirent, un PNG non.</a:t>
            </a:r>
            <a:endParaRPr lang="en-US" sz="1200" dirty="0"/>
          </a:p>
        </p:txBody>
      </p:sp>
      <p:sp>
        <p:nvSpPr>
          <p:cNvPr id="49" name="Shape 45"/>
          <p:cNvSpPr/>
          <p:nvPr/>
        </p:nvSpPr>
        <p:spPr>
          <a:xfrm>
            <a:off x="8092440" y="2999232"/>
            <a:ext cx="3566160" cy="1481328"/>
          </a:xfrm>
          <a:prstGeom prst="roundRect">
            <a:avLst>
              <a:gd name="adj" fmla="val 740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0" name="Shape 46"/>
          <p:cNvSpPr/>
          <p:nvPr/>
        </p:nvSpPr>
        <p:spPr>
          <a:xfrm>
            <a:off x="8275320" y="3182112"/>
            <a:ext cx="502920" cy="502920"/>
          </a:xfrm>
          <a:prstGeom prst="ellipse">
            <a:avLst/>
          </a:prstGeom>
          <a:solidFill>
            <a:srgbClr val="1F4E8C"/>
          </a:solidFill>
          <a:ln w="12700">
            <a:solidFill>
              <a:srgbClr val="1F4E8C"/>
            </a:solidFill>
            <a:prstDash val="solid"/>
          </a:ln>
        </p:spPr>
      </p:sp>
      <p:pic>
        <p:nvPicPr>
          <p:cNvPr id="51" name="Image 2" descr="preencoded.png">    </p:cNvPr>
          <p:cNvPicPr>
            <a:picLocks noChangeAspect="1"/>
          </p:cNvPicPr>
          <p:nvPr/>
        </p:nvPicPr>
        <p:blipFill>
          <a:blip r:embed="rId3"/>
          <a:stretch>
            <a:fillRect/>
          </a:stretch>
        </p:blipFill>
        <p:spPr>
          <a:xfrm>
            <a:off x="8396021" y="3302813"/>
            <a:ext cx="261518" cy="261518"/>
          </a:xfrm>
          <a:prstGeom prst="rect">
            <a:avLst/>
          </a:prstGeom>
        </p:spPr>
      </p:pic>
      <p:sp>
        <p:nvSpPr>
          <p:cNvPr id="52" name="Text 47"/>
          <p:cNvSpPr txBox="1"/>
          <p:nvPr/>
        </p:nvSpPr>
        <p:spPr>
          <a:xfrm>
            <a:off x="8915400" y="3163824"/>
            <a:ext cx="26060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Multi-pays</a:t>
            </a:r>
            <a:endParaRPr lang="en-US" sz="1500" dirty="0"/>
          </a:p>
        </p:txBody>
      </p:sp>
      <p:sp>
        <p:nvSpPr>
          <p:cNvPr id="53" name="Text 48"/>
          <p:cNvSpPr txBox="1"/>
          <p:nvPr/>
        </p:nvSpPr>
        <p:spPr>
          <a:xfrm>
            <a:off x="8275320" y="3803904"/>
            <a:ext cx="3200400" cy="566928"/>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countries.json : plusieurs pays cohabitent sur le même site.</a:t>
            </a:r>
            <a:endParaRPr lang="en-US" sz="1200" dirty="0"/>
          </a:p>
        </p:txBody>
      </p:sp>
      <p:sp>
        <p:nvSpPr>
          <p:cNvPr id="54" name="Shape 49"/>
          <p:cNvSpPr/>
          <p:nvPr/>
        </p:nvSpPr>
        <p:spPr>
          <a:xfrm>
            <a:off x="8092440" y="4626864"/>
            <a:ext cx="3566160" cy="1481328"/>
          </a:xfrm>
          <a:prstGeom prst="roundRect">
            <a:avLst>
              <a:gd name="adj" fmla="val 740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5" name="Shape 50"/>
          <p:cNvSpPr/>
          <p:nvPr/>
        </p:nvSpPr>
        <p:spPr>
          <a:xfrm>
            <a:off x="8275320" y="4809744"/>
            <a:ext cx="502920" cy="502920"/>
          </a:xfrm>
          <a:prstGeom prst="ellipse">
            <a:avLst/>
          </a:prstGeom>
          <a:solidFill>
            <a:srgbClr val="00704A"/>
          </a:solidFill>
          <a:ln w="12700">
            <a:solidFill>
              <a:srgbClr val="00704A"/>
            </a:solidFill>
            <a:prstDash val="solid"/>
          </a:ln>
        </p:spPr>
      </p:sp>
      <p:pic>
        <p:nvPicPr>
          <p:cNvPr id="56" name="Image 3" descr="preencoded.png">    </p:cNvPr>
          <p:cNvPicPr>
            <a:picLocks noChangeAspect="1"/>
          </p:cNvPicPr>
          <p:nvPr/>
        </p:nvPicPr>
        <p:blipFill>
          <a:blip r:embed="rId4"/>
          <a:stretch>
            <a:fillRect/>
          </a:stretch>
        </p:blipFill>
        <p:spPr>
          <a:xfrm>
            <a:off x="8396021" y="4930445"/>
            <a:ext cx="261518" cy="261518"/>
          </a:xfrm>
          <a:prstGeom prst="rect">
            <a:avLst/>
          </a:prstGeom>
        </p:spPr>
      </p:pic>
      <p:sp>
        <p:nvSpPr>
          <p:cNvPr id="57" name="Text 51"/>
          <p:cNvSpPr txBox="1"/>
          <p:nvPr/>
        </p:nvSpPr>
        <p:spPr>
          <a:xfrm>
            <a:off x="8915400" y="4791456"/>
            <a:ext cx="26060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Manifeste</a:t>
            </a:r>
            <a:endParaRPr lang="en-US" sz="1500" dirty="0"/>
          </a:p>
        </p:txBody>
      </p:sp>
      <p:sp>
        <p:nvSpPr>
          <p:cNvPr id="58" name="Text 52"/>
          <p:cNvSpPr txBox="1"/>
          <p:nvPr/>
        </p:nvSpPr>
        <p:spPr>
          <a:xfrm>
            <a:off x="8275320" y="5431536"/>
            <a:ext cx="3200400" cy="566928"/>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paramètres, versions, références : garantie de reproductibilité.</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F · CONFIANCE ET PUBLICATION</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Publier en un appel, avec un token sécurisé</a:t>
            </a:r>
            <a:endParaRPr lang="en-US" sz="2800" dirty="0"/>
          </a:p>
        </p:txBody>
      </p:sp>
      <p:sp>
        <p:nvSpPr>
          <p:cNvPr id="4" name="Shape 2"/>
          <p:cNvSpPr/>
          <p:nvPr/>
        </p:nvSpPr>
        <p:spPr>
          <a:xfrm>
            <a:off x="548640" y="1371600"/>
            <a:ext cx="11109960" cy="548640"/>
          </a:xfrm>
          <a:prstGeom prst="roundRect">
            <a:avLst>
              <a:gd name="adj" fmla="val 20000"/>
            </a:avLst>
          </a:prstGeom>
          <a:solidFill>
            <a:srgbClr val="EAF2FB"/>
          </a:solidFill>
          <a:ln w="9525">
            <a:solidFill>
              <a:srgbClr val="EAF2FB"/>
            </a:solidFill>
            <a:prstDash val="solid"/>
          </a:ln>
        </p:spPr>
      </p:sp>
      <p:sp>
        <p:nvSpPr>
          <p:cNvPr id="5" name="Text 3"/>
          <p:cNvSpPr txBox="1"/>
          <p:nvPr/>
        </p:nvSpPr>
        <p:spPr>
          <a:xfrm>
            <a:off x="685800" y="1371600"/>
            <a:ext cx="10835640" cy="548640"/>
          </a:xfrm>
          <a:prstGeom prst="rect">
            <a:avLst/>
          </a:prstGeom>
          <a:noFill/>
          <a:ln/>
        </p:spPr>
        <p:txBody>
          <a:bodyPr wrap="square" lIns="635" tIns="635" rIns="635" bIns="635" rtlCol="0" anchor="ctr"/>
          <a:lstStyle/>
          <a:p>
            <a:pPr algn="ctr" indent="0" marL="0">
              <a:spcAft>
                <a:spcPts val="200"/>
              </a:spcAft>
              <a:buNone/>
            </a:pPr>
            <a:r>
              <a:rPr lang="en-US" sz="1800" dirty="0">
                <a:solidFill>
                  <a:srgbClr val="1F4E8C"/>
                </a:solidFill>
                <a:latin typeface="Cambria" pitchFamily="34" charset="0"/>
                <a:ea typeface="Cambria" pitchFamily="34" charset="-122"/>
                <a:cs typeface="Cambria" pitchFamily="34" charset="-120"/>
              </a:rPr>
              <a:t>publish_dashboard(ISO3, REPO_NAME, GITHUB_USER)</a:t>
            </a:r>
            <a:endParaRPr lang="en-US" sz="1800" dirty="0"/>
          </a:p>
        </p:txBody>
      </p:sp>
      <p:sp>
        <p:nvSpPr>
          <p:cNvPr id="6" name="Shape 4"/>
          <p:cNvSpPr/>
          <p:nvPr/>
        </p:nvSpPr>
        <p:spPr>
          <a:xfrm>
            <a:off x="548640"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7" name="Shape 5"/>
          <p:cNvSpPr/>
          <p:nvPr/>
        </p:nvSpPr>
        <p:spPr>
          <a:xfrm>
            <a:off x="1261872" y="2286000"/>
            <a:ext cx="640080" cy="640080"/>
          </a:xfrm>
          <a:prstGeom prst="ellipse">
            <a:avLst/>
          </a:prstGeom>
          <a:solidFill>
            <a:srgbClr val="00704A"/>
          </a:solidFill>
          <a:ln w="12700">
            <a:solidFill>
              <a:srgbClr val="00704A"/>
            </a:solidFill>
            <a:prstDash val="solid"/>
          </a:ln>
        </p:spPr>
      </p:sp>
      <p:pic>
        <p:nvPicPr>
          <p:cNvPr id="8" name="Image 0" descr="preencoded.png">    </p:cNvPr>
          <p:cNvPicPr>
            <a:picLocks noChangeAspect="1"/>
          </p:cNvPicPr>
          <p:nvPr/>
        </p:nvPicPr>
        <p:blipFill>
          <a:blip r:embed="rId1"/>
          <a:stretch>
            <a:fillRect/>
          </a:stretch>
        </p:blipFill>
        <p:spPr>
          <a:xfrm>
            <a:off x="1415491" y="2439619"/>
            <a:ext cx="332842" cy="332842"/>
          </a:xfrm>
          <a:prstGeom prst="rect">
            <a:avLst/>
          </a:prstGeom>
        </p:spPr>
      </p:pic>
      <p:sp>
        <p:nvSpPr>
          <p:cNvPr id="9" name="Text 6"/>
          <p:cNvSpPr txBox="1"/>
          <p:nvPr/>
        </p:nvSpPr>
        <p:spPr>
          <a:xfrm>
            <a:off x="621792"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Vérifier le token</a:t>
            </a:r>
            <a:endParaRPr lang="en-US" sz="1350" dirty="0"/>
          </a:p>
        </p:txBody>
      </p:sp>
      <p:sp>
        <p:nvSpPr>
          <p:cNvPr id="10" name="Text 7"/>
          <p:cNvSpPr txBox="1"/>
          <p:nvPr/>
        </p:nvSpPr>
        <p:spPr>
          <a:xfrm>
            <a:off x="621792"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GET /user</a:t>
            </a:r>
            <a:endParaRPr lang="en-US" sz="1150" dirty="0"/>
          </a:p>
        </p:txBody>
      </p:sp>
      <p:sp>
        <p:nvSpPr>
          <p:cNvPr id="11" name="Shape 8"/>
          <p:cNvSpPr/>
          <p:nvPr/>
        </p:nvSpPr>
        <p:spPr>
          <a:xfrm>
            <a:off x="2624328" y="3035808"/>
            <a:ext cx="164592" cy="914"/>
          </a:xfrm>
          <a:prstGeom prst="line">
            <a:avLst/>
          </a:prstGeom>
          <a:noFill/>
          <a:ln w="31750">
            <a:solidFill>
              <a:srgbClr val="F5C242"/>
            </a:solidFill>
            <a:prstDash val="solid"/>
            <a:tailEnd type="triangle"/>
          </a:ln>
        </p:spPr>
      </p:sp>
      <p:sp>
        <p:nvSpPr>
          <p:cNvPr id="12" name="Shape 9"/>
          <p:cNvSpPr/>
          <p:nvPr/>
        </p:nvSpPr>
        <p:spPr>
          <a:xfrm>
            <a:off x="2807208"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3" name="Shape 10"/>
          <p:cNvSpPr/>
          <p:nvPr/>
        </p:nvSpPr>
        <p:spPr>
          <a:xfrm>
            <a:off x="3520440" y="2286000"/>
            <a:ext cx="640080" cy="640080"/>
          </a:xfrm>
          <a:prstGeom prst="ellipse">
            <a:avLst/>
          </a:prstGeom>
          <a:solidFill>
            <a:srgbClr val="00704A"/>
          </a:solidFill>
          <a:ln w="12700">
            <a:solidFill>
              <a:srgbClr val="00704A"/>
            </a:solidFill>
            <a:prstDash val="solid"/>
          </a:ln>
        </p:spPr>
      </p:sp>
      <p:pic>
        <p:nvPicPr>
          <p:cNvPr id="14" name="Image 1" descr="preencoded.png">    </p:cNvPr>
          <p:cNvPicPr>
            <a:picLocks noChangeAspect="1"/>
          </p:cNvPicPr>
          <p:nvPr/>
        </p:nvPicPr>
        <p:blipFill>
          <a:blip r:embed="rId2"/>
          <a:stretch>
            <a:fillRect/>
          </a:stretch>
        </p:blipFill>
        <p:spPr>
          <a:xfrm>
            <a:off x="3674059" y="2439619"/>
            <a:ext cx="332842" cy="332842"/>
          </a:xfrm>
          <a:prstGeom prst="rect">
            <a:avLst/>
          </a:prstGeom>
        </p:spPr>
      </p:pic>
      <p:sp>
        <p:nvSpPr>
          <p:cNvPr id="15" name="Text 11"/>
          <p:cNvSpPr txBox="1"/>
          <p:nvPr/>
        </p:nvSpPr>
        <p:spPr>
          <a:xfrm>
            <a:off x="2880360"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Créer le dépôt public</a:t>
            </a:r>
            <a:endParaRPr lang="en-US" sz="1350" dirty="0"/>
          </a:p>
        </p:txBody>
      </p:sp>
      <p:sp>
        <p:nvSpPr>
          <p:cNvPr id="16" name="Text 12"/>
          <p:cNvSpPr txBox="1"/>
          <p:nvPr/>
        </p:nvSpPr>
        <p:spPr>
          <a:xfrm>
            <a:off x="2880360"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s'il n'existe pas</a:t>
            </a:r>
            <a:endParaRPr lang="en-US" sz="1150" dirty="0"/>
          </a:p>
        </p:txBody>
      </p:sp>
      <p:sp>
        <p:nvSpPr>
          <p:cNvPr id="17" name="Shape 13"/>
          <p:cNvSpPr/>
          <p:nvPr/>
        </p:nvSpPr>
        <p:spPr>
          <a:xfrm>
            <a:off x="4882896" y="3035808"/>
            <a:ext cx="164592" cy="914"/>
          </a:xfrm>
          <a:prstGeom prst="line">
            <a:avLst/>
          </a:prstGeom>
          <a:noFill/>
          <a:ln w="31750">
            <a:solidFill>
              <a:srgbClr val="F5C242"/>
            </a:solidFill>
            <a:prstDash val="solid"/>
            <a:tailEnd type="triangle"/>
          </a:ln>
        </p:spPr>
      </p:sp>
      <p:sp>
        <p:nvSpPr>
          <p:cNvPr id="18" name="Shape 14"/>
          <p:cNvSpPr/>
          <p:nvPr/>
        </p:nvSpPr>
        <p:spPr>
          <a:xfrm>
            <a:off x="5065776"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9" name="Shape 15"/>
          <p:cNvSpPr/>
          <p:nvPr/>
        </p:nvSpPr>
        <p:spPr>
          <a:xfrm>
            <a:off x="5779008" y="2286000"/>
            <a:ext cx="640080" cy="640080"/>
          </a:xfrm>
          <a:prstGeom prst="ellipse">
            <a:avLst/>
          </a:prstGeom>
          <a:solidFill>
            <a:srgbClr val="00704A"/>
          </a:solidFill>
          <a:ln w="12700">
            <a:solidFill>
              <a:srgbClr val="00704A"/>
            </a:solidFill>
            <a:prstDash val="solid"/>
          </a:ln>
        </p:spPr>
      </p:sp>
      <p:pic>
        <p:nvPicPr>
          <p:cNvPr id="20" name="Image 2" descr="preencoded.png">    </p:cNvPr>
          <p:cNvPicPr>
            <a:picLocks noChangeAspect="1"/>
          </p:cNvPicPr>
          <p:nvPr/>
        </p:nvPicPr>
        <p:blipFill>
          <a:blip r:embed="rId3"/>
          <a:stretch>
            <a:fillRect/>
          </a:stretch>
        </p:blipFill>
        <p:spPr>
          <a:xfrm>
            <a:off x="5932627" y="2439619"/>
            <a:ext cx="332842" cy="332842"/>
          </a:xfrm>
          <a:prstGeom prst="rect">
            <a:avLst/>
          </a:prstGeom>
        </p:spPr>
      </p:pic>
      <p:sp>
        <p:nvSpPr>
          <p:cNvPr id="21" name="Text 16"/>
          <p:cNvSpPr txBox="1"/>
          <p:nvPr/>
        </p:nvSpPr>
        <p:spPr>
          <a:xfrm>
            <a:off x="5138928"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Pousser le site</a:t>
            </a:r>
            <a:endParaRPr lang="en-US" sz="1350" dirty="0"/>
          </a:p>
        </p:txBody>
      </p:sp>
      <p:sp>
        <p:nvSpPr>
          <p:cNvPr id="22" name="Text 17"/>
          <p:cNvSpPr txBox="1"/>
          <p:nvPr/>
        </p:nvSpPr>
        <p:spPr>
          <a:xfrm>
            <a:off x="5138928"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branche gh-pages, un commit horodaté</a:t>
            </a:r>
            <a:endParaRPr lang="en-US" sz="1150" dirty="0"/>
          </a:p>
        </p:txBody>
      </p:sp>
      <p:sp>
        <p:nvSpPr>
          <p:cNvPr id="23" name="Shape 18"/>
          <p:cNvSpPr/>
          <p:nvPr/>
        </p:nvSpPr>
        <p:spPr>
          <a:xfrm>
            <a:off x="7141464" y="3035808"/>
            <a:ext cx="164592" cy="914"/>
          </a:xfrm>
          <a:prstGeom prst="line">
            <a:avLst/>
          </a:prstGeom>
          <a:noFill/>
          <a:ln w="31750">
            <a:solidFill>
              <a:srgbClr val="F5C242"/>
            </a:solidFill>
            <a:prstDash val="solid"/>
            <a:tailEnd type="triangle"/>
          </a:ln>
        </p:spPr>
      </p:sp>
      <p:sp>
        <p:nvSpPr>
          <p:cNvPr id="24" name="Shape 19"/>
          <p:cNvSpPr/>
          <p:nvPr/>
        </p:nvSpPr>
        <p:spPr>
          <a:xfrm>
            <a:off x="7324344"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5" name="Shape 20"/>
          <p:cNvSpPr/>
          <p:nvPr/>
        </p:nvSpPr>
        <p:spPr>
          <a:xfrm>
            <a:off x="8037576" y="2286000"/>
            <a:ext cx="640080" cy="640080"/>
          </a:xfrm>
          <a:prstGeom prst="ellipse">
            <a:avLst/>
          </a:prstGeom>
          <a:solidFill>
            <a:srgbClr val="00704A"/>
          </a:solidFill>
          <a:ln w="12700">
            <a:solidFill>
              <a:srgbClr val="00704A"/>
            </a:solidFill>
            <a:prstDash val="solid"/>
          </a:ln>
        </p:spPr>
      </p:sp>
      <p:pic>
        <p:nvPicPr>
          <p:cNvPr id="26" name="Image 3" descr="preencoded.png">    </p:cNvPr>
          <p:cNvPicPr>
            <a:picLocks noChangeAspect="1"/>
          </p:cNvPicPr>
          <p:nvPr/>
        </p:nvPicPr>
        <p:blipFill>
          <a:blip r:embed="rId4"/>
          <a:stretch>
            <a:fillRect/>
          </a:stretch>
        </p:blipFill>
        <p:spPr>
          <a:xfrm>
            <a:off x="8191195" y="2439619"/>
            <a:ext cx="332842" cy="332842"/>
          </a:xfrm>
          <a:prstGeom prst="rect">
            <a:avLst/>
          </a:prstGeom>
        </p:spPr>
      </p:pic>
      <p:sp>
        <p:nvSpPr>
          <p:cNvPr id="27" name="Text 21"/>
          <p:cNvSpPr txBox="1"/>
          <p:nvPr/>
        </p:nvSpPr>
        <p:spPr>
          <a:xfrm>
            <a:off x="7397496"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Activer Pages</a:t>
            </a:r>
            <a:endParaRPr lang="en-US" sz="1350" dirty="0"/>
          </a:p>
        </p:txBody>
      </p:sp>
      <p:sp>
        <p:nvSpPr>
          <p:cNvPr id="28" name="Text 22"/>
          <p:cNvSpPr txBox="1"/>
          <p:nvPr/>
        </p:nvSpPr>
        <p:spPr>
          <a:xfrm>
            <a:off x="7397496"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et attendre le build</a:t>
            </a:r>
            <a:endParaRPr lang="en-US" sz="1150" dirty="0"/>
          </a:p>
        </p:txBody>
      </p:sp>
      <p:sp>
        <p:nvSpPr>
          <p:cNvPr id="29" name="Shape 23"/>
          <p:cNvSpPr/>
          <p:nvPr/>
        </p:nvSpPr>
        <p:spPr>
          <a:xfrm>
            <a:off x="9400032" y="3035808"/>
            <a:ext cx="164592" cy="914"/>
          </a:xfrm>
          <a:prstGeom prst="line">
            <a:avLst/>
          </a:prstGeom>
          <a:noFill/>
          <a:ln w="31750">
            <a:solidFill>
              <a:srgbClr val="F5C242"/>
            </a:solidFill>
            <a:prstDash val="solid"/>
            <a:tailEnd type="triangle"/>
          </a:ln>
        </p:spPr>
      </p:sp>
      <p:sp>
        <p:nvSpPr>
          <p:cNvPr id="30" name="Shape 24"/>
          <p:cNvSpPr/>
          <p:nvPr/>
        </p:nvSpPr>
        <p:spPr>
          <a:xfrm>
            <a:off x="9582912"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1" name="Shape 25"/>
          <p:cNvSpPr/>
          <p:nvPr/>
        </p:nvSpPr>
        <p:spPr>
          <a:xfrm>
            <a:off x="10296144" y="2286000"/>
            <a:ext cx="640080" cy="640080"/>
          </a:xfrm>
          <a:prstGeom prst="ellipse">
            <a:avLst/>
          </a:prstGeom>
          <a:solidFill>
            <a:srgbClr val="1F4E8C"/>
          </a:solidFill>
          <a:ln w="12700">
            <a:solidFill>
              <a:srgbClr val="1F4E8C"/>
            </a:solidFill>
            <a:prstDash val="solid"/>
          </a:ln>
        </p:spPr>
      </p:sp>
      <p:pic>
        <p:nvPicPr>
          <p:cNvPr id="32" name="Image 4" descr="preencoded.png">    </p:cNvPr>
          <p:cNvPicPr>
            <a:picLocks noChangeAspect="1"/>
          </p:cNvPicPr>
          <p:nvPr/>
        </p:nvPicPr>
        <p:blipFill>
          <a:blip r:embed="rId5"/>
          <a:stretch>
            <a:fillRect/>
          </a:stretch>
        </p:blipFill>
        <p:spPr>
          <a:xfrm>
            <a:off x="10449763" y="2439619"/>
            <a:ext cx="332842" cy="332842"/>
          </a:xfrm>
          <a:prstGeom prst="rect">
            <a:avLst/>
          </a:prstGeom>
        </p:spPr>
      </p:pic>
      <p:sp>
        <p:nvSpPr>
          <p:cNvPr id="33" name="Text 26"/>
          <p:cNvSpPr txBox="1"/>
          <p:nvPr/>
        </p:nvSpPr>
        <p:spPr>
          <a:xfrm>
            <a:off x="9656064"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Afficher l'URL</a:t>
            </a:r>
            <a:endParaRPr lang="en-US" sz="1350" dirty="0"/>
          </a:p>
        </p:txBody>
      </p:sp>
      <p:sp>
        <p:nvSpPr>
          <p:cNvPr id="34" name="Text 27"/>
          <p:cNvSpPr txBox="1"/>
          <p:nvPr/>
        </p:nvSpPr>
        <p:spPr>
          <a:xfrm>
            <a:off x="9656064"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&lt;user&gt;.github.io/&lt;repo&gt;</a:t>
            </a:r>
            <a:endParaRPr lang="en-US" sz="1150" dirty="0"/>
          </a:p>
        </p:txBody>
      </p:sp>
      <p:sp>
        <p:nvSpPr>
          <p:cNvPr id="35" name="Shape 28"/>
          <p:cNvSpPr/>
          <p:nvPr/>
        </p:nvSpPr>
        <p:spPr>
          <a:xfrm>
            <a:off x="548640" y="4114800"/>
            <a:ext cx="11109960" cy="2057400"/>
          </a:xfrm>
          <a:prstGeom prst="roundRect">
            <a:avLst>
              <a:gd name="adj" fmla="val 5333"/>
            </a:avLst>
          </a:prstGeom>
          <a:solidFill>
            <a:srgbClr val="FBECEC"/>
          </a:solidFill>
          <a:ln w="9525">
            <a:solidFill>
              <a:srgbClr val="FBECEC"/>
            </a:solidFill>
            <a:prstDash val="solid"/>
          </a:ln>
        </p:spPr>
      </p:sp>
      <p:sp>
        <p:nvSpPr>
          <p:cNvPr id="36" name="Shape 29"/>
          <p:cNvSpPr/>
          <p:nvPr/>
        </p:nvSpPr>
        <p:spPr>
          <a:xfrm>
            <a:off x="731520" y="4251960"/>
            <a:ext cx="594360" cy="594360"/>
          </a:xfrm>
          <a:prstGeom prst="ellipse">
            <a:avLst/>
          </a:prstGeom>
          <a:solidFill>
            <a:srgbClr val="D64545"/>
          </a:solidFill>
          <a:ln w="12700">
            <a:solidFill>
              <a:srgbClr val="D64545"/>
            </a:solidFill>
            <a:prstDash val="solid"/>
          </a:ln>
        </p:spPr>
      </p:sp>
      <p:pic>
        <p:nvPicPr>
          <p:cNvPr id="37" name="Image 5" descr="preencoded.png">    </p:cNvPr>
          <p:cNvPicPr>
            <a:picLocks noChangeAspect="1"/>
          </p:cNvPicPr>
          <p:nvPr/>
        </p:nvPicPr>
        <p:blipFill>
          <a:blip r:embed="rId6"/>
          <a:stretch>
            <a:fillRect/>
          </a:stretch>
        </p:blipFill>
        <p:spPr>
          <a:xfrm>
            <a:off x="874166" y="4394606"/>
            <a:ext cx="309067" cy="309067"/>
          </a:xfrm>
          <a:prstGeom prst="rect">
            <a:avLst/>
          </a:prstGeom>
        </p:spPr>
      </p:pic>
      <p:sp>
        <p:nvSpPr>
          <p:cNvPr id="38" name="Text 30"/>
          <p:cNvSpPr txBox="1"/>
          <p:nvPr/>
        </p:nvSpPr>
        <p:spPr>
          <a:xfrm>
            <a:off x="1463040" y="4251960"/>
            <a:ext cx="9875520" cy="548640"/>
          </a:xfrm>
          <a:prstGeom prst="rect">
            <a:avLst/>
          </a:prstGeom>
          <a:noFill/>
          <a:ln/>
        </p:spPr>
        <p:txBody>
          <a:bodyPr wrap="square" lIns="635" tIns="635" rIns="635" bIns="635" rtlCol="0" anchor="ctr"/>
          <a:lstStyle/>
          <a:p>
            <a:pPr indent="0" marL="0">
              <a:spcAft>
                <a:spcPts val="200"/>
              </a:spcAft>
              <a:buNone/>
            </a:pPr>
            <a:r>
              <a:rPr lang="en-US" sz="1600" b="1" dirty="0">
                <a:solidFill>
                  <a:srgbClr val="D64545"/>
                </a:solidFill>
              </a:rPr>
              <a:t>Sécurité du token : à lire avant d'exécuter</a:t>
            </a:r>
            <a:endParaRPr lang="en-US" sz="1600" dirty="0"/>
          </a:p>
        </p:txBody>
      </p:sp>
      <p:sp>
        <p:nvSpPr>
          <p:cNvPr id="39" name="Text 31"/>
          <p:cNvSpPr txBox="1"/>
          <p:nvPr/>
        </p:nvSpPr>
        <p:spPr>
          <a:xfrm>
            <a:off x="777240" y="4846320"/>
            <a:ext cx="10698480" cy="1280160"/>
          </a:xfrm>
          <a:prstGeom prst="rect">
            <a:avLst/>
          </a:prstGeom>
          <a:noFill/>
          <a:ln/>
        </p:spPr>
        <p:txBody>
          <a:bodyPr wrap="square" lIns="635" tIns="635" rIns="635" bIns="635" rtlCol="0" anchor="t"/>
          <a:lstStyle/>
          <a:p>
            <a:pPr marL="190500" indent="-190500">
              <a:spcAft>
                <a:spcPts val="300"/>
              </a:spcAft>
              <a:buSzPct val="100000"/>
              <a:buChar char="•"/>
            </a:pPr>
            <a:r>
              <a:rPr lang="en-US" sz="1300" b="1" dirty="0">
                <a:solidFill>
                  <a:srgbClr val="231F20"/>
                </a:solidFill>
              </a:rPr>
              <a:t>Token « fine-grained »</a:t>
            </a:r>
            <a:pPr indent="0" marL="0">
              <a:spcAft>
                <a:spcPts val="300"/>
              </a:spcAft>
              <a:buNone/>
            </a:pPr>
            <a:r>
              <a:rPr lang="en-US" sz="1300" dirty="0">
                <a:solidFill>
                  <a:srgbClr val="231F20"/>
                </a:solidFill>
              </a:rPr>
              <a:t>, expiration courte (7–30 jours), limité au seul dépôt du tableau de bord.</a:t>
            </a:r>
            <a:endParaRPr lang="en-US" sz="1300" dirty="0"/>
          </a:p>
          <a:p>
            <a:pPr marL="190500" indent="-190500">
              <a:spcAft>
                <a:spcPts val="300"/>
              </a:spcAft>
              <a:buSzPct val="100000"/>
              <a:buChar char="•"/>
            </a:pPr>
            <a:r>
              <a:rPr lang="en-US" sz="1300" b="1" dirty="0">
                <a:solidFill>
                  <a:srgbClr val="231F20"/>
                </a:solidFill>
              </a:rPr>
              <a:t>Permissions minimales</a:t>
            </a:r>
            <a:pPr indent="0" marL="0">
              <a:spcAft>
                <a:spcPts val="300"/>
              </a:spcAft>
              <a:buNone/>
            </a:pPr>
            <a:r>
              <a:rPr lang="en-US" sz="1300" dirty="0">
                <a:solidFill>
                  <a:srgbClr val="231F20"/>
                </a:solidFill>
              </a:rPr>
              <a:t> : Contents et Pages (lecture/écriture) ; Administration seulement pour créer le dépôt.</a:t>
            </a:r>
            <a:endParaRPr lang="en-US" sz="1300" dirty="0"/>
          </a:p>
          <a:p>
            <a:pPr marL="190500" indent="-190500">
              <a:spcAft>
                <a:spcPts val="300"/>
              </a:spcAft>
              <a:buSzPct val="100000"/>
              <a:buChar char="•"/>
            </a:pPr>
            <a:r>
              <a:rPr lang="en-US" sz="1300" b="1" dirty="0">
                <a:solidFill>
                  <a:srgbClr val="231F20"/>
                </a:solidFill>
              </a:rPr>
              <a:t>Stockage</a:t>
            </a:r>
            <a:pPr indent="0" marL="0">
              <a:spcAft>
                <a:spcPts val="300"/>
              </a:spcAft>
              <a:buNone/>
            </a:pPr>
            <a:r>
              <a:rPr lang="en-US" sz="1300" dirty="0">
                <a:solidFill>
                  <a:srgbClr val="231F20"/>
                </a:solidFill>
              </a:rPr>
              <a:t> : secret Colab GITHUB_TOKEN ou fichier .env — jamais dans le code, les sorties ou les URL.</a:t>
            </a:r>
            <a:endParaRPr lang="en-US" sz="1300" dirty="0"/>
          </a:p>
          <a:p>
            <a:pPr marL="190500" indent="-190500">
              <a:spcAft>
                <a:spcPts val="300"/>
              </a:spcAft>
              <a:buSzPct val="100000"/>
              <a:buChar char="•"/>
            </a:pPr>
            <a:r>
              <a:rPr lang="en-US" sz="1300" b="1" dirty="0">
                <a:solidFill>
                  <a:srgbClr val="231F20"/>
                </a:solidFill>
              </a:rPr>
              <a:t>Avant de partager</a:t>
            </a:r>
            <a:pPr indent="0" marL="0">
              <a:spcAft>
                <a:spcPts val="300"/>
              </a:spcAft>
              <a:buNone/>
            </a:pPr>
            <a:r>
              <a:rPr lang="en-US" sz="1300" dirty="0">
                <a:solidFill>
                  <a:srgbClr val="231F20"/>
                </a:solidFill>
              </a:rPr>
              <a:t> : effacer la sortie de la cellule de publication, puis révoquer le token.</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G · SYNTHÈSE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Limites et biais : ce qu'il faut toujours dire</a:t>
            </a:r>
            <a:endParaRPr lang="en-US" sz="2800" dirty="0"/>
          </a:p>
        </p:txBody>
      </p:sp>
      <p:sp>
        <p:nvSpPr>
          <p:cNvPr id="4" name="Shape 2"/>
          <p:cNvSpPr/>
          <p:nvPr/>
        </p:nvSpPr>
        <p:spPr>
          <a:xfrm>
            <a:off x="548640" y="141732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685800" y="1554480"/>
            <a:ext cx="502920" cy="502920"/>
          </a:xfrm>
          <a:prstGeom prst="ellipse">
            <a:avLst/>
          </a:prstGeom>
          <a:solidFill>
            <a:srgbClr val="D64545"/>
          </a:solidFill>
          <a:ln w="12700">
            <a:solidFill>
              <a:srgbClr val="D64545"/>
            </a:solidFill>
            <a:prstDash val="solid"/>
          </a:ln>
        </p:spPr>
      </p:sp>
      <p:pic>
        <p:nvPicPr>
          <p:cNvPr id="6" name="Image 0" descr="preencoded.png">    </p:cNvPr>
          <p:cNvPicPr>
            <a:picLocks noChangeAspect="1"/>
          </p:cNvPicPr>
          <p:nvPr/>
        </p:nvPicPr>
        <p:blipFill>
          <a:blip r:embed="rId1"/>
          <a:stretch>
            <a:fillRect/>
          </a:stretch>
        </p:blipFill>
        <p:spPr>
          <a:xfrm>
            <a:off x="806501" y="1675181"/>
            <a:ext cx="261518" cy="261518"/>
          </a:xfrm>
          <a:prstGeom prst="rect">
            <a:avLst/>
          </a:prstGeom>
        </p:spPr>
      </p:pic>
      <p:sp>
        <p:nvSpPr>
          <p:cNvPr id="7" name="Text 4"/>
          <p:cNvSpPr txBox="1"/>
          <p:nvPr/>
        </p:nvSpPr>
        <p:spPr>
          <a:xfrm>
            <a:off x="1280160" y="150876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Ce que mesurent les lumières</a:t>
            </a:r>
            <a:endParaRPr lang="en-US" sz="1350" dirty="0"/>
          </a:p>
        </p:txBody>
      </p:sp>
      <p:sp>
        <p:nvSpPr>
          <p:cNvPr id="8" name="Text 5"/>
          <p:cNvSpPr txBox="1"/>
          <p:nvPr/>
        </p:nvSpPr>
        <p:spPr>
          <a:xfrm>
            <a:off x="685800" y="219456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radiance vers 01h30 ; agriculture, commerce de jour et informel rural mal captés</a:t>
            </a:r>
            <a:endParaRPr lang="en-US" sz="1250" dirty="0"/>
          </a:p>
        </p:txBody>
      </p:sp>
      <p:sp>
        <p:nvSpPr>
          <p:cNvPr id="9" name="Shape 6"/>
          <p:cNvSpPr/>
          <p:nvPr/>
        </p:nvSpPr>
        <p:spPr>
          <a:xfrm>
            <a:off x="3355848" y="141732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3493008" y="1554480"/>
            <a:ext cx="502920" cy="502920"/>
          </a:xfrm>
          <a:prstGeom prst="ellipse">
            <a:avLst/>
          </a:prstGeom>
          <a:solidFill>
            <a:srgbClr val="D64545"/>
          </a:solidFill>
          <a:ln w="12700">
            <a:solidFill>
              <a:srgbClr val="D64545"/>
            </a:solidFill>
            <a:prstDash val="solid"/>
          </a:ln>
        </p:spPr>
      </p:sp>
      <p:pic>
        <p:nvPicPr>
          <p:cNvPr id="11" name="Image 1" descr="preencoded.png">    </p:cNvPr>
          <p:cNvPicPr>
            <a:picLocks noChangeAspect="1"/>
          </p:cNvPicPr>
          <p:nvPr/>
        </p:nvPicPr>
        <p:blipFill>
          <a:blip r:embed="rId2"/>
          <a:stretch>
            <a:fillRect/>
          </a:stretch>
        </p:blipFill>
        <p:spPr>
          <a:xfrm>
            <a:off x="3613709" y="1675181"/>
            <a:ext cx="261518" cy="261518"/>
          </a:xfrm>
          <a:prstGeom prst="rect">
            <a:avLst/>
          </a:prstGeom>
        </p:spPr>
      </p:pic>
      <p:sp>
        <p:nvSpPr>
          <p:cNvPr id="12" name="Text 8"/>
          <p:cNvSpPr txBox="1"/>
          <p:nvPr/>
        </p:nvSpPr>
        <p:spPr>
          <a:xfrm>
            <a:off x="4087368" y="150876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Saturation, débordement</a:t>
            </a:r>
            <a:endParaRPr lang="en-US" sz="1350" dirty="0"/>
          </a:p>
        </p:txBody>
      </p:sp>
      <p:sp>
        <p:nvSpPr>
          <p:cNvPr id="13" name="Text 9"/>
          <p:cNvSpPr txBox="1"/>
          <p:nvPr/>
        </p:nvSpPr>
        <p:spPr>
          <a:xfrm>
            <a:off x="3493008" y="219456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DMSP sature ; le débordement gonfle encore la surface éclairée</a:t>
            </a:r>
            <a:endParaRPr lang="en-US" sz="1250" dirty="0"/>
          </a:p>
        </p:txBody>
      </p:sp>
      <p:sp>
        <p:nvSpPr>
          <p:cNvPr id="14" name="Shape 10"/>
          <p:cNvSpPr/>
          <p:nvPr/>
        </p:nvSpPr>
        <p:spPr>
          <a:xfrm>
            <a:off x="6163056" y="141732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6300216" y="1554480"/>
            <a:ext cx="502920" cy="502920"/>
          </a:xfrm>
          <a:prstGeom prst="ellipse">
            <a:avLst/>
          </a:prstGeom>
          <a:solidFill>
            <a:srgbClr val="D64545"/>
          </a:solidFill>
          <a:ln w="12700">
            <a:solidFill>
              <a:srgbClr val="D64545"/>
            </a:solidFill>
            <a:prstDash val="solid"/>
          </a:ln>
        </p:spPr>
      </p:sp>
      <p:pic>
        <p:nvPicPr>
          <p:cNvPr id="16" name="Image 2" descr="preencoded.png">    </p:cNvPr>
          <p:cNvPicPr>
            <a:picLocks noChangeAspect="1"/>
          </p:cNvPicPr>
          <p:nvPr/>
        </p:nvPicPr>
        <p:blipFill>
          <a:blip r:embed="rId3"/>
          <a:stretch>
            <a:fillRect/>
          </a:stretch>
        </p:blipFill>
        <p:spPr>
          <a:xfrm>
            <a:off x="6420917" y="1675181"/>
            <a:ext cx="261518" cy="261518"/>
          </a:xfrm>
          <a:prstGeom prst="rect">
            <a:avLst/>
          </a:prstGeom>
        </p:spPr>
      </p:pic>
      <p:sp>
        <p:nvSpPr>
          <p:cNvPr id="17" name="Text 12"/>
          <p:cNvSpPr txBox="1"/>
          <p:nvPr/>
        </p:nvSpPr>
        <p:spPr>
          <a:xfrm>
            <a:off x="6894576" y="150876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Torchères, sites isolés</a:t>
            </a:r>
            <a:endParaRPr lang="en-US" sz="1350" dirty="0"/>
          </a:p>
        </p:txBody>
      </p:sp>
      <p:sp>
        <p:nvSpPr>
          <p:cNvPr id="18" name="Text 13"/>
          <p:cNvSpPr txBox="1"/>
          <p:nvPr/>
        </p:nvSpPr>
        <p:spPr>
          <a:xfrm>
            <a:off x="6300216" y="219456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le masque peut retirer une mine ou manquer une petite torchère</a:t>
            </a:r>
            <a:endParaRPr lang="en-US" sz="1250" dirty="0"/>
          </a:p>
        </p:txBody>
      </p:sp>
      <p:sp>
        <p:nvSpPr>
          <p:cNvPr id="19" name="Shape 14"/>
          <p:cNvSpPr/>
          <p:nvPr/>
        </p:nvSpPr>
        <p:spPr>
          <a:xfrm>
            <a:off x="8970264" y="141732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9107424" y="1554480"/>
            <a:ext cx="502920" cy="502920"/>
          </a:xfrm>
          <a:prstGeom prst="ellipse">
            <a:avLst/>
          </a:prstGeom>
          <a:solidFill>
            <a:srgbClr val="D64545"/>
          </a:solidFill>
          <a:ln w="12700">
            <a:solidFill>
              <a:srgbClr val="D64545"/>
            </a:solidFill>
            <a:prstDash val="solid"/>
          </a:ln>
        </p:spPr>
      </p:sp>
      <p:pic>
        <p:nvPicPr>
          <p:cNvPr id="21" name="Image 3" descr="preencoded.png">    </p:cNvPr>
          <p:cNvPicPr>
            <a:picLocks noChangeAspect="1"/>
          </p:cNvPicPr>
          <p:nvPr/>
        </p:nvPicPr>
        <p:blipFill>
          <a:blip r:embed="rId4"/>
          <a:stretch>
            <a:fillRect/>
          </a:stretch>
        </p:blipFill>
        <p:spPr>
          <a:xfrm>
            <a:off x="9228125" y="1675181"/>
            <a:ext cx="261518" cy="261518"/>
          </a:xfrm>
          <a:prstGeom prst="rect">
            <a:avLst/>
          </a:prstGeom>
        </p:spPr>
      </p:pic>
      <p:sp>
        <p:nvSpPr>
          <p:cNvPr id="22" name="Text 16"/>
          <p:cNvSpPr txBox="1"/>
          <p:nvPr/>
        </p:nvSpPr>
        <p:spPr>
          <a:xfrm>
            <a:off x="9701784" y="150876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Nuages, saisons, lune</a:t>
            </a:r>
            <a:endParaRPr lang="en-US" sz="1350" dirty="0"/>
          </a:p>
        </p:txBody>
      </p:sp>
      <p:sp>
        <p:nvSpPr>
          <p:cNvPr id="23" name="Text 17"/>
          <p:cNvSpPr txBox="1"/>
          <p:nvPr/>
        </p:nvSpPr>
        <p:spPr>
          <a:xfrm>
            <a:off x="9107424" y="219456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mois partiellement observés ; la STL retire la saison moyenne, pas une saison anormale</a:t>
            </a:r>
            <a:endParaRPr lang="en-US" sz="1250" dirty="0"/>
          </a:p>
        </p:txBody>
      </p:sp>
      <p:sp>
        <p:nvSpPr>
          <p:cNvPr id="24" name="Shape 18"/>
          <p:cNvSpPr/>
          <p:nvPr/>
        </p:nvSpPr>
        <p:spPr>
          <a:xfrm>
            <a:off x="548640" y="379476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5" name="Shape 19"/>
          <p:cNvSpPr/>
          <p:nvPr/>
        </p:nvSpPr>
        <p:spPr>
          <a:xfrm>
            <a:off x="685800" y="3931920"/>
            <a:ext cx="502920" cy="502920"/>
          </a:xfrm>
          <a:prstGeom prst="ellipse">
            <a:avLst/>
          </a:prstGeom>
          <a:solidFill>
            <a:srgbClr val="D64545"/>
          </a:solidFill>
          <a:ln w="12700">
            <a:solidFill>
              <a:srgbClr val="D64545"/>
            </a:solidFill>
            <a:prstDash val="solid"/>
          </a:ln>
        </p:spPr>
      </p:sp>
      <p:pic>
        <p:nvPicPr>
          <p:cNvPr id="26" name="Image 4" descr="preencoded.png">    </p:cNvPr>
          <p:cNvPicPr>
            <a:picLocks noChangeAspect="1"/>
          </p:cNvPicPr>
          <p:nvPr/>
        </p:nvPicPr>
        <p:blipFill>
          <a:blip r:embed="rId5"/>
          <a:stretch>
            <a:fillRect/>
          </a:stretch>
        </p:blipFill>
        <p:spPr>
          <a:xfrm>
            <a:off x="806501" y="4052621"/>
            <a:ext cx="261518" cy="261518"/>
          </a:xfrm>
          <a:prstGeom prst="rect">
            <a:avLst/>
          </a:prstGeom>
        </p:spPr>
      </p:pic>
      <p:sp>
        <p:nvSpPr>
          <p:cNvPr id="27" name="Text 20"/>
          <p:cNvSpPr txBox="1"/>
          <p:nvPr/>
        </p:nvSpPr>
        <p:spPr>
          <a:xfrm>
            <a:off x="1280160" y="388620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Ruptures de produit</a:t>
            </a:r>
            <a:endParaRPr lang="en-US" sz="1350" dirty="0"/>
          </a:p>
        </p:txBody>
      </p:sp>
      <p:sp>
        <p:nvSpPr>
          <p:cNvPr id="28" name="Text 21"/>
          <p:cNvSpPr txBox="1"/>
          <p:nvPr/>
        </p:nvSpPr>
        <p:spPr>
          <a:xfrm>
            <a:off x="685800" y="457200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DMSP et VIIRS non comparables ; série longue modélisée, en tendance seulement</a:t>
            </a:r>
            <a:endParaRPr lang="en-US" sz="1250" dirty="0"/>
          </a:p>
        </p:txBody>
      </p:sp>
      <p:sp>
        <p:nvSpPr>
          <p:cNvPr id="29" name="Shape 22"/>
          <p:cNvSpPr/>
          <p:nvPr/>
        </p:nvSpPr>
        <p:spPr>
          <a:xfrm>
            <a:off x="3355848" y="379476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0" name="Shape 23"/>
          <p:cNvSpPr/>
          <p:nvPr/>
        </p:nvSpPr>
        <p:spPr>
          <a:xfrm>
            <a:off x="3493008" y="3931920"/>
            <a:ext cx="502920" cy="502920"/>
          </a:xfrm>
          <a:prstGeom prst="ellipse">
            <a:avLst/>
          </a:prstGeom>
          <a:solidFill>
            <a:srgbClr val="D64545"/>
          </a:solidFill>
          <a:ln w="12700">
            <a:solidFill>
              <a:srgbClr val="D64545"/>
            </a:solidFill>
            <a:prstDash val="solid"/>
          </a:ln>
        </p:spPr>
      </p:sp>
      <p:pic>
        <p:nvPicPr>
          <p:cNvPr id="31" name="Image 5" descr="preencoded.png">    </p:cNvPr>
          <p:cNvPicPr>
            <a:picLocks noChangeAspect="1"/>
          </p:cNvPicPr>
          <p:nvPr/>
        </p:nvPicPr>
        <p:blipFill>
          <a:blip r:embed="rId6"/>
          <a:stretch>
            <a:fillRect/>
          </a:stretch>
        </p:blipFill>
        <p:spPr>
          <a:xfrm>
            <a:off x="3613709" y="4052621"/>
            <a:ext cx="261518" cy="261518"/>
          </a:xfrm>
          <a:prstGeom prst="rect">
            <a:avLst/>
          </a:prstGeom>
        </p:spPr>
      </p:pic>
      <p:sp>
        <p:nvSpPr>
          <p:cNvPr id="32" name="Text 24"/>
          <p:cNvSpPr txBox="1"/>
          <p:nvPr/>
        </p:nvSpPr>
        <p:spPr>
          <a:xfrm>
            <a:off x="4087368" y="388620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Élasticité NTL–PIB</a:t>
            </a:r>
            <a:endParaRPr lang="en-US" sz="1350" dirty="0"/>
          </a:p>
        </p:txBody>
      </p:sp>
      <p:sp>
        <p:nvSpPr>
          <p:cNvPr id="33" name="Text 25"/>
          <p:cNvSpPr txBox="1"/>
          <p:nvPr/>
        </p:nvSpPr>
        <p:spPr>
          <a:xfrm>
            <a:off x="3493008" y="457200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10 à 30 points : intervalles larges, relation non causale et instable</a:t>
            </a:r>
            <a:endParaRPr lang="en-US" sz="1250" dirty="0"/>
          </a:p>
        </p:txBody>
      </p:sp>
      <p:sp>
        <p:nvSpPr>
          <p:cNvPr id="34" name="Shape 26"/>
          <p:cNvSpPr/>
          <p:nvPr/>
        </p:nvSpPr>
        <p:spPr>
          <a:xfrm>
            <a:off x="6163056" y="379476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5" name="Shape 27"/>
          <p:cNvSpPr/>
          <p:nvPr/>
        </p:nvSpPr>
        <p:spPr>
          <a:xfrm>
            <a:off x="6300216" y="3931920"/>
            <a:ext cx="502920" cy="502920"/>
          </a:xfrm>
          <a:prstGeom prst="ellipse">
            <a:avLst/>
          </a:prstGeom>
          <a:solidFill>
            <a:srgbClr val="D64545"/>
          </a:solidFill>
          <a:ln w="12700">
            <a:solidFill>
              <a:srgbClr val="D64545"/>
            </a:solidFill>
            <a:prstDash val="solid"/>
          </a:ln>
        </p:spPr>
      </p:sp>
      <p:pic>
        <p:nvPicPr>
          <p:cNvPr id="36" name="Image 6" descr="preencoded.png">    </p:cNvPr>
          <p:cNvPicPr>
            <a:picLocks noChangeAspect="1"/>
          </p:cNvPicPr>
          <p:nvPr/>
        </p:nvPicPr>
        <p:blipFill>
          <a:blip r:embed="rId7"/>
          <a:stretch>
            <a:fillRect/>
          </a:stretch>
        </p:blipFill>
        <p:spPr>
          <a:xfrm>
            <a:off x="6420917" y="4052621"/>
            <a:ext cx="261518" cy="261518"/>
          </a:xfrm>
          <a:prstGeom prst="rect">
            <a:avLst/>
          </a:prstGeom>
        </p:spPr>
      </p:pic>
      <p:sp>
        <p:nvSpPr>
          <p:cNvPr id="37" name="Text 28"/>
          <p:cNvSpPr txBox="1"/>
          <p:nvPr/>
        </p:nvSpPr>
        <p:spPr>
          <a:xfrm>
            <a:off x="6894576" y="388620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Accès à l'électricité</a:t>
            </a:r>
            <a:endParaRPr lang="en-US" sz="1350" dirty="0"/>
          </a:p>
        </p:txBody>
      </p:sp>
      <p:sp>
        <p:nvSpPr>
          <p:cNvPr id="38" name="Text 29"/>
          <p:cNvSpPr txBox="1"/>
          <p:nvPr/>
        </p:nvSpPr>
        <p:spPr>
          <a:xfrm>
            <a:off x="6300216" y="457200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 habité sans lumière » ≠ « non raccordé » ; sensible au seuil</a:t>
            </a:r>
            <a:endParaRPr lang="en-US" sz="1250" dirty="0"/>
          </a:p>
        </p:txBody>
      </p:sp>
      <p:sp>
        <p:nvSpPr>
          <p:cNvPr id="39" name="Shape 30"/>
          <p:cNvSpPr/>
          <p:nvPr/>
        </p:nvSpPr>
        <p:spPr>
          <a:xfrm>
            <a:off x="8970264" y="379476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40" name="Shape 31"/>
          <p:cNvSpPr/>
          <p:nvPr/>
        </p:nvSpPr>
        <p:spPr>
          <a:xfrm>
            <a:off x="9107424" y="3931920"/>
            <a:ext cx="502920" cy="502920"/>
          </a:xfrm>
          <a:prstGeom prst="ellipse">
            <a:avLst/>
          </a:prstGeom>
          <a:solidFill>
            <a:srgbClr val="D64545"/>
          </a:solidFill>
          <a:ln w="12700">
            <a:solidFill>
              <a:srgbClr val="D64545"/>
            </a:solidFill>
            <a:prstDash val="solid"/>
          </a:ln>
        </p:spPr>
      </p:sp>
      <p:pic>
        <p:nvPicPr>
          <p:cNvPr id="41" name="Image 7" descr="preencoded.png">    </p:cNvPr>
          <p:cNvPicPr>
            <a:picLocks noChangeAspect="1"/>
          </p:cNvPicPr>
          <p:nvPr/>
        </p:nvPicPr>
        <p:blipFill>
          <a:blip r:embed="rId8"/>
          <a:stretch>
            <a:fillRect/>
          </a:stretch>
        </p:blipFill>
        <p:spPr>
          <a:xfrm>
            <a:off x="9228125" y="4052621"/>
            <a:ext cx="261518" cy="261518"/>
          </a:xfrm>
          <a:prstGeom prst="rect">
            <a:avLst/>
          </a:prstGeom>
        </p:spPr>
      </p:pic>
      <p:sp>
        <p:nvSpPr>
          <p:cNvPr id="42" name="Text 32"/>
          <p:cNvSpPr txBox="1"/>
          <p:nvPr/>
        </p:nvSpPr>
        <p:spPr>
          <a:xfrm>
            <a:off x="9701784" y="388620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Limites administratives</a:t>
            </a:r>
            <a:endParaRPr lang="en-US" sz="1350" dirty="0"/>
          </a:p>
        </p:txBody>
      </p:sp>
      <p:sp>
        <p:nvSpPr>
          <p:cNvPr id="43" name="Text 33"/>
          <p:cNvSpPr txBox="1"/>
          <p:nvPr/>
        </p:nvSpPr>
        <p:spPr>
          <a:xfrm>
            <a:off x="9107424" y="457200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geoBoundaries / GAUL peuvent différer des limites officielles</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G · SYNTHÈSE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Ce que les lumières ont permis de mesurer</a:t>
            </a:r>
            <a:endParaRPr lang="en-US" sz="2800" dirty="0"/>
          </a:p>
        </p:txBody>
      </p:sp>
      <p:sp>
        <p:nvSpPr>
          <p:cNvPr id="4" name="Shape 2"/>
          <p:cNvSpPr/>
          <p:nvPr/>
        </p:nvSpPr>
        <p:spPr>
          <a:xfrm>
            <a:off x="548640" y="141732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691640"/>
            <a:ext cx="685800" cy="68580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896112" y="1856232"/>
            <a:ext cx="356616" cy="356616"/>
          </a:xfrm>
          <a:prstGeom prst="rect">
            <a:avLst/>
          </a:prstGeom>
        </p:spPr>
      </p:pic>
      <p:sp>
        <p:nvSpPr>
          <p:cNvPr id="7" name="Text 4"/>
          <p:cNvSpPr txBox="1"/>
          <p:nvPr/>
        </p:nvSpPr>
        <p:spPr>
          <a:xfrm>
            <a:off x="1554480" y="158191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704A"/>
                </a:solidFill>
              </a:rPr>
              <a:t>La tendance de l'activité</a:t>
            </a:r>
            <a:endParaRPr lang="en-US" sz="1500" dirty="0"/>
          </a:p>
        </p:txBody>
      </p:sp>
      <p:sp>
        <p:nvSpPr>
          <p:cNvPr id="8" name="Text 5"/>
          <p:cNvSpPr txBox="1"/>
          <p:nvPr/>
        </p:nvSpPr>
        <p:spPr>
          <a:xfrm>
            <a:off x="1554480" y="214884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croissance annuelle désaisonnalisée, avec IC</a:t>
            </a:r>
            <a:endParaRPr lang="en-US" sz="1300" dirty="0"/>
          </a:p>
        </p:txBody>
      </p:sp>
      <p:sp>
        <p:nvSpPr>
          <p:cNvPr id="9" name="Shape 6"/>
          <p:cNvSpPr/>
          <p:nvPr/>
        </p:nvSpPr>
        <p:spPr>
          <a:xfrm>
            <a:off x="4297680" y="141732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4480560" y="1691640"/>
            <a:ext cx="685800" cy="685800"/>
          </a:xfrm>
          <a:prstGeom prst="ellipse">
            <a:avLst/>
          </a:prstGeom>
          <a:solidFill>
            <a:srgbClr val="00704A"/>
          </a:solidFill>
          <a:ln w="12700">
            <a:solidFill>
              <a:srgbClr val="00704A"/>
            </a:solidFill>
            <a:prstDash val="solid"/>
          </a:ln>
        </p:spPr>
      </p:sp>
      <p:pic>
        <p:nvPicPr>
          <p:cNvPr id="11" name="Image 1" descr="preencoded.png">    </p:cNvPr>
          <p:cNvPicPr>
            <a:picLocks noChangeAspect="1"/>
          </p:cNvPicPr>
          <p:nvPr/>
        </p:nvPicPr>
        <p:blipFill>
          <a:blip r:embed="rId2"/>
          <a:stretch>
            <a:fillRect/>
          </a:stretch>
        </p:blipFill>
        <p:spPr>
          <a:xfrm>
            <a:off x="4645152" y="1856232"/>
            <a:ext cx="356616" cy="356616"/>
          </a:xfrm>
          <a:prstGeom prst="rect">
            <a:avLst/>
          </a:prstGeom>
        </p:spPr>
      </p:pic>
      <p:sp>
        <p:nvSpPr>
          <p:cNvPr id="12" name="Text 8"/>
          <p:cNvSpPr txBox="1"/>
          <p:nvPr/>
        </p:nvSpPr>
        <p:spPr>
          <a:xfrm>
            <a:off x="5303520" y="158191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704A"/>
                </a:solidFill>
              </a:rPr>
              <a:t>La géographie de la croissance</a:t>
            </a:r>
            <a:endParaRPr lang="en-US" sz="1500" dirty="0"/>
          </a:p>
        </p:txBody>
      </p:sp>
      <p:sp>
        <p:nvSpPr>
          <p:cNvPr id="13" name="Text 9"/>
          <p:cNvSpPr txBox="1"/>
          <p:nvPr/>
        </p:nvSpPr>
        <p:spPr>
          <a:xfrm>
            <a:off x="5303520" y="214884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régions en croissance, stagnation, déclin</a:t>
            </a:r>
            <a:endParaRPr lang="en-US" sz="1300" dirty="0"/>
          </a:p>
        </p:txBody>
      </p:sp>
      <p:sp>
        <p:nvSpPr>
          <p:cNvPr id="14" name="Shape 10"/>
          <p:cNvSpPr/>
          <p:nvPr/>
        </p:nvSpPr>
        <p:spPr>
          <a:xfrm>
            <a:off x="8046720" y="141732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8229600" y="1691640"/>
            <a:ext cx="685800" cy="685800"/>
          </a:xfrm>
          <a:prstGeom prst="ellipse">
            <a:avLst/>
          </a:prstGeom>
          <a:solidFill>
            <a:srgbClr val="00704A"/>
          </a:solidFill>
          <a:ln w="12700">
            <a:solidFill>
              <a:srgbClr val="00704A"/>
            </a:solidFill>
            <a:prstDash val="solid"/>
          </a:ln>
        </p:spPr>
      </p:sp>
      <p:pic>
        <p:nvPicPr>
          <p:cNvPr id="16" name="Image 2" descr="preencoded.png">    </p:cNvPr>
          <p:cNvPicPr>
            <a:picLocks noChangeAspect="1"/>
          </p:cNvPicPr>
          <p:nvPr/>
        </p:nvPicPr>
        <p:blipFill>
          <a:blip r:embed="rId3"/>
          <a:stretch>
            <a:fillRect/>
          </a:stretch>
        </p:blipFill>
        <p:spPr>
          <a:xfrm>
            <a:off x="8394192" y="1856232"/>
            <a:ext cx="356616" cy="356616"/>
          </a:xfrm>
          <a:prstGeom prst="rect">
            <a:avLst/>
          </a:prstGeom>
        </p:spPr>
      </p:pic>
      <p:sp>
        <p:nvSpPr>
          <p:cNvPr id="17" name="Text 12"/>
          <p:cNvSpPr txBox="1"/>
          <p:nvPr/>
        </p:nvSpPr>
        <p:spPr>
          <a:xfrm>
            <a:off x="9052560" y="158191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704A"/>
                </a:solidFill>
              </a:rPr>
              <a:t>La convergence</a:t>
            </a:r>
            <a:endParaRPr lang="en-US" sz="1500" dirty="0"/>
          </a:p>
        </p:txBody>
      </p:sp>
      <p:sp>
        <p:nvSpPr>
          <p:cNvPr id="18" name="Text 13"/>
          <p:cNvSpPr txBox="1"/>
          <p:nvPr/>
        </p:nvSpPr>
        <p:spPr>
          <a:xfrm>
            <a:off x="9052560" y="214884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rattrapage ou polarisation</a:t>
            </a:r>
            <a:endParaRPr lang="en-US" sz="1300" dirty="0"/>
          </a:p>
        </p:txBody>
      </p:sp>
      <p:sp>
        <p:nvSpPr>
          <p:cNvPr id="19" name="Shape 14"/>
          <p:cNvSpPr/>
          <p:nvPr/>
        </p:nvSpPr>
        <p:spPr>
          <a:xfrm>
            <a:off x="548640" y="310896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731520" y="3383280"/>
            <a:ext cx="685800" cy="685800"/>
          </a:xfrm>
          <a:prstGeom prst="ellipse">
            <a:avLst/>
          </a:prstGeom>
          <a:solidFill>
            <a:srgbClr val="1F4E8C"/>
          </a:solidFill>
          <a:ln w="12700">
            <a:solidFill>
              <a:srgbClr val="1F4E8C"/>
            </a:solidFill>
            <a:prstDash val="solid"/>
          </a:ln>
        </p:spPr>
      </p:sp>
      <p:pic>
        <p:nvPicPr>
          <p:cNvPr id="21" name="Image 3" descr="preencoded.png">    </p:cNvPr>
          <p:cNvPicPr>
            <a:picLocks noChangeAspect="1"/>
          </p:cNvPicPr>
          <p:nvPr/>
        </p:nvPicPr>
        <p:blipFill>
          <a:blip r:embed="rId4"/>
          <a:stretch>
            <a:fillRect/>
          </a:stretch>
        </p:blipFill>
        <p:spPr>
          <a:xfrm>
            <a:off x="896112" y="3547872"/>
            <a:ext cx="356616" cy="356616"/>
          </a:xfrm>
          <a:prstGeom prst="rect">
            <a:avLst/>
          </a:prstGeom>
        </p:spPr>
      </p:pic>
      <p:sp>
        <p:nvSpPr>
          <p:cNvPr id="22" name="Text 16"/>
          <p:cNvSpPr txBox="1"/>
          <p:nvPr/>
        </p:nvSpPr>
        <p:spPr>
          <a:xfrm>
            <a:off x="1554480" y="327355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Un signal du PIB</a:t>
            </a:r>
            <a:endParaRPr lang="en-US" sz="1500" dirty="0"/>
          </a:p>
        </p:txBody>
      </p:sp>
      <p:sp>
        <p:nvSpPr>
          <p:cNvPr id="23" name="Text 17"/>
          <p:cNvSpPr txBox="1"/>
          <p:nvPr/>
        </p:nvSpPr>
        <p:spPr>
          <a:xfrm>
            <a:off x="1554480" y="384048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élasticité, nowcast, PIB régional expérimental</a:t>
            </a:r>
            <a:endParaRPr lang="en-US" sz="1300" dirty="0"/>
          </a:p>
        </p:txBody>
      </p:sp>
      <p:sp>
        <p:nvSpPr>
          <p:cNvPr id="24" name="Shape 18"/>
          <p:cNvSpPr/>
          <p:nvPr/>
        </p:nvSpPr>
        <p:spPr>
          <a:xfrm>
            <a:off x="4297680" y="310896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5" name="Shape 19"/>
          <p:cNvSpPr/>
          <p:nvPr/>
        </p:nvSpPr>
        <p:spPr>
          <a:xfrm>
            <a:off x="4480560" y="3383280"/>
            <a:ext cx="685800" cy="685800"/>
          </a:xfrm>
          <a:prstGeom prst="ellipse">
            <a:avLst/>
          </a:prstGeom>
          <a:solidFill>
            <a:srgbClr val="1F4E8C"/>
          </a:solidFill>
          <a:ln w="12700">
            <a:solidFill>
              <a:srgbClr val="1F4E8C"/>
            </a:solidFill>
            <a:prstDash val="solid"/>
          </a:ln>
        </p:spPr>
      </p:sp>
      <p:pic>
        <p:nvPicPr>
          <p:cNvPr id="26" name="Image 4" descr="preencoded.png">    </p:cNvPr>
          <p:cNvPicPr>
            <a:picLocks noChangeAspect="1"/>
          </p:cNvPicPr>
          <p:nvPr/>
        </p:nvPicPr>
        <p:blipFill>
          <a:blip r:embed="rId5"/>
          <a:stretch>
            <a:fillRect/>
          </a:stretch>
        </p:blipFill>
        <p:spPr>
          <a:xfrm>
            <a:off x="4645152" y="3547872"/>
            <a:ext cx="356616" cy="356616"/>
          </a:xfrm>
          <a:prstGeom prst="rect">
            <a:avLst/>
          </a:prstGeom>
        </p:spPr>
      </p:pic>
      <p:sp>
        <p:nvSpPr>
          <p:cNvPr id="27" name="Text 20"/>
          <p:cNvSpPr txBox="1"/>
          <p:nvPr/>
        </p:nvSpPr>
        <p:spPr>
          <a:xfrm>
            <a:off x="5303520" y="327355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L'impact des chocs</a:t>
            </a:r>
            <a:endParaRPr lang="en-US" sz="1500" dirty="0"/>
          </a:p>
        </p:txBody>
      </p:sp>
      <p:sp>
        <p:nvSpPr>
          <p:cNvPr id="28" name="Text 21"/>
          <p:cNvSpPr txBox="1"/>
          <p:nvPr/>
        </p:nvSpPr>
        <p:spPr>
          <a:xfrm>
            <a:off x="5303520" y="384048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creux, récupération, datation au jour près</a:t>
            </a:r>
            <a:endParaRPr lang="en-US" sz="1300" dirty="0"/>
          </a:p>
        </p:txBody>
      </p:sp>
      <p:sp>
        <p:nvSpPr>
          <p:cNvPr id="29" name="Shape 22"/>
          <p:cNvSpPr/>
          <p:nvPr/>
        </p:nvSpPr>
        <p:spPr>
          <a:xfrm>
            <a:off x="8046720" y="310896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0" name="Shape 23"/>
          <p:cNvSpPr/>
          <p:nvPr/>
        </p:nvSpPr>
        <p:spPr>
          <a:xfrm>
            <a:off x="8229600" y="3383280"/>
            <a:ext cx="685800" cy="685800"/>
          </a:xfrm>
          <a:prstGeom prst="ellipse">
            <a:avLst/>
          </a:prstGeom>
          <a:solidFill>
            <a:srgbClr val="1F4E8C"/>
          </a:solidFill>
          <a:ln w="12700">
            <a:solidFill>
              <a:srgbClr val="1F4E8C"/>
            </a:solidFill>
            <a:prstDash val="solid"/>
          </a:ln>
        </p:spPr>
      </p:sp>
      <p:pic>
        <p:nvPicPr>
          <p:cNvPr id="31" name="Image 5" descr="preencoded.png">    </p:cNvPr>
          <p:cNvPicPr>
            <a:picLocks noChangeAspect="1"/>
          </p:cNvPicPr>
          <p:nvPr/>
        </p:nvPicPr>
        <p:blipFill>
          <a:blip r:embed="rId6"/>
          <a:stretch>
            <a:fillRect/>
          </a:stretch>
        </p:blipFill>
        <p:spPr>
          <a:xfrm>
            <a:off x="8394192" y="3547872"/>
            <a:ext cx="356616" cy="356616"/>
          </a:xfrm>
          <a:prstGeom prst="rect">
            <a:avLst/>
          </a:prstGeom>
        </p:spPr>
      </p:pic>
      <p:sp>
        <p:nvSpPr>
          <p:cNvPr id="32" name="Text 24"/>
          <p:cNvSpPr txBox="1"/>
          <p:nvPr/>
        </p:nvSpPr>
        <p:spPr>
          <a:xfrm>
            <a:off x="9052560" y="327355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Inégalités et accès</a:t>
            </a:r>
            <a:endParaRPr lang="en-US" sz="1500" dirty="0"/>
          </a:p>
        </p:txBody>
      </p:sp>
      <p:sp>
        <p:nvSpPr>
          <p:cNvPr id="33" name="Text 25"/>
          <p:cNvSpPr txBox="1"/>
          <p:nvPr/>
        </p:nvSpPr>
        <p:spPr>
          <a:xfrm>
            <a:off x="9052560" y="384048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Gini, Theil, population dans le noir (plage)</a:t>
            </a:r>
            <a:endParaRPr lang="en-US" sz="1300" dirty="0"/>
          </a:p>
        </p:txBody>
      </p:sp>
      <p:sp>
        <p:nvSpPr>
          <p:cNvPr id="34" name="Shape 26"/>
          <p:cNvSpPr/>
          <p:nvPr/>
        </p:nvSpPr>
        <p:spPr>
          <a:xfrm>
            <a:off x="548640" y="4892040"/>
            <a:ext cx="11109960" cy="1280160"/>
          </a:xfrm>
          <a:prstGeom prst="roundRect">
            <a:avLst>
              <a:gd name="adj" fmla="val 8571"/>
            </a:avLst>
          </a:prstGeom>
          <a:solidFill>
            <a:srgbClr val="00553A"/>
          </a:solidFill>
          <a:ln w="9525">
            <a:solidFill>
              <a:srgbClr val="00553A"/>
            </a:solidFill>
            <a:prstDash val="solid"/>
          </a:ln>
          <a:effectLst>
            <a:outerShdw sx="100000" sy="100000" kx="0" ky="0" algn="bl" rotWithShape="0" blurRad="101600" dist="25400" dir="5400000">
              <a:srgbClr val="9CA3AF">
                <a:alpha val="25000"/>
              </a:srgbClr>
            </a:outerShdw>
          </a:effectLst>
        </p:spPr>
      </p:sp>
      <p:sp>
        <p:nvSpPr>
          <p:cNvPr id="35" name="Text 27"/>
          <p:cNvSpPr txBox="1"/>
          <p:nvPr/>
        </p:nvSpPr>
        <p:spPr>
          <a:xfrm>
            <a:off x="822960" y="4937760"/>
            <a:ext cx="10607040" cy="1188720"/>
          </a:xfrm>
          <a:prstGeom prst="rect">
            <a:avLst/>
          </a:prstGeom>
          <a:noFill/>
          <a:ln/>
        </p:spPr>
        <p:txBody>
          <a:bodyPr wrap="square" lIns="635" tIns="635" rIns="635" bIns="635" rtlCol="0" anchor="ctr"/>
          <a:lstStyle/>
          <a:p>
            <a:pPr algn="ctr" indent="0" marL="0">
              <a:spcAft>
                <a:spcPts val="200"/>
              </a:spcAft>
              <a:buNone/>
            </a:pPr>
            <a:r>
              <a:rPr lang="en-US" sz="1900" b="1" dirty="0">
                <a:solidFill>
                  <a:srgbClr val="FFFFFF"/>
                </a:solidFill>
              </a:rPr>
              <a:t>Un même pipeline, un seul paramètre, et pour chaque résultat : une valeur, un intervalle, un niveau de confiance et son motif.</a:t>
            </a:r>
            <a:endParaRPr lang="en-US" sz="19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G · SYNTHÈSE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Vers vos propres projets</a:t>
            </a:r>
            <a:endParaRPr lang="en-US" sz="2800" dirty="0"/>
          </a:p>
        </p:txBody>
      </p:sp>
      <p:sp>
        <p:nvSpPr>
          <p:cNvPr id="4" name="Shape 2"/>
          <p:cNvSpPr/>
          <p:nvPr/>
        </p:nvSpPr>
        <p:spPr>
          <a:xfrm>
            <a:off x="548640" y="1417320"/>
            <a:ext cx="352044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600200"/>
            <a:ext cx="502920" cy="50292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852221" y="1720901"/>
            <a:ext cx="261518" cy="261518"/>
          </a:xfrm>
          <a:prstGeom prst="rect">
            <a:avLst/>
          </a:prstGeom>
        </p:spPr>
      </p:pic>
      <p:sp>
        <p:nvSpPr>
          <p:cNvPr id="7" name="Text 4"/>
          <p:cNvSpPr txBox="1"/>
          <p:nvPr/>
        </p:nvSpPr>
        <p:spPr>
          <a:xfrm>
            <a:off x="1371600" y="158191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Suivi infra-annuel</a:t>
            </a:r>
            <a:endParaRPr lang="en-US" sz="1500" dirty="0"/>
          </a:p>
        </p:txBody>
      </p:sp>
      <p:sp>
        <p:nvSpPr>
          <p:cNvPr id="8" name="Text 5"/>
          <p:cNvSpPr txBox="1"/>
          <p:nvPr/>
        </p:nvSpPr>
        <p:spPr>
          <a:xfrm>
            <a:off x="731520" y="2221992"/>
            <a:ext cx="3154680" cy="8229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un indicateur avancé trimestriel de l'activité régionale pour votre pays</a:t>
            </a:r>
            <a:endParaRPr lang="en-US" sz="1300" dirty="0"/>
          </a:p>
        </p:txBody>
      </p:sp>
      <p:sp>
        <p:nvSpPr>
          <p:cNvPr id="9" name="Shape 6"/>
          <p:cNvSpPr/>
          <p:nvPr/>
        </p:nvSpPr>
        <p:spPr>
          <a:xfrm>
            <a:off x="4206240" y="1417320"/>
            <a:ext cx="352044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4389120" y="1600200"/>
            <a:ext cx="502920" cy="502920"/>
          </a:xfrm>
          <a:prstGeom prst="ellipse">
            <a:avLst/>
          </a:prstGeom>
          <a:solidFill>
            <a:srgbClr val="1F4E8C"/>
          </a:solidFill>
          <a:ln w="12700">
            <a:solidFill>
              <a:srgbClr val="1F4E8C"/>
            </a:solidFill>
            <a:prstDash val="solid"/>
          </a:ln>
        </p:spPr>
      </p:sp>
      <p:pic>
        <p:nvPicPr>
          <p:cNvPr id="11" name="Image 1" descr="preencoded.png">    </p:cNvPr>
          <p:cNvPicPr>
            <a:picLocks noChangeAspect="1"/>
          </p:cNvPicPr>
          <p:nvPr/>
        </p:nvPicPr>
        <p:blipFill>
          <a:blip r:embed="rId2"/>
          <a:stretch>
            <a:fillRect/>
          </a:stretch>
        </p:blipFill>
        <p:spPr>
          <a:xfrm>
            <a:off x="4509821" y="1720901"/>
            <a:ext cx="261518" cy="261518"/>
          </a:xfrm>
          <a:prstGeom prst="rect">
            <a:avLst/>
          </a:prstGeom>
        </p:spPr>
      </p:pic>
      <p:sp>
        <p:nvSpPr>
          <p:cNvPr id="12" name="Text 8"/>
          <p:cNvSpPr txBox="1"/>
          <p:nvPr/>
        </p:nvSpPr>
        <p:spPr>
          <a:xfrm>
            <a:off x="5029200" y="158191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Évaluer un choc</a:t>
            </a:r>
            <a:endParaRPr lang="en-US" sz="1500" dirty="0"/>
          </a:p>
        </p:txBody>
      </p:sp>
      <p:sp>
        <p:nvSpPr>
          <p:cNvPr id="13" name="Text 9"/>
          <p:cNvSpPr txBox="1"/>
          <p:nvPr/>
        </p:nvSpPr>
        <p:spPr>
          <a:xfrm>
            <a:off x="4389120" y="2221992"/>
            <a:ext cx="3154680" cy="8229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cyclone, conflit, crise énergétique : creux, récupération, régions touchées</a:t>
            </a:r>
            <a:endParaRPr lang="en-US" sz="1300" dirty="0"/>
          </a:p>
        </p:txBody>
      </p:sp>
      <p:sp>
        <p:nvSpPr>
          <p:cNvPr id="14" name="Shape 10"/>
          <p:cNvSpPr/>
          <p:nvPr/>
        </p:nvSpPr>
        <p:spPr>
          <a:xfrm>
            <a:off x="548640" y="3291840"/>
            <a:ext cx="352044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731520" y="3474720"/>
            <a:ext cx="502920" cy="502920"/>
          </a:xfrm>
          <a:prstGeom prst="ellipse">
            <a:avLst/>
          </a:prstGeom>
          <a:solidFill>
            <a:srgbClr val="00704A"/>
          </a:solidFill>
          <a:ln w="12700">
            <a:solidFill>
              <a:srgbClr val="00704A"/>
            </a:solidFill>
            <a:prstDash val="solid"/>
          </a:ln>
        </p:spPr>
      </p:sp>
      <p:pic>
        <p:nvPicPr>
          <p:cNvPr id="16" name="Image 2" descr="preencoded.png">    </p:cNvPr>
          <p:cNvPicPr>
            <a:picLocks noChangeAspect="1"/>
          </p:cNvPicPr>
          <p:nvPr/>
        </p:nvPicPr>
        <p:blipFill>
          <a:blip r:embed="rId3"/>
          <a:stretch>
            <a:fillRect/>
          </a:stretch>
        </p:blipFill>
        <p:spPr>
          <a:xfrm>
            <a:off x="852221" y="3595421"/>
            <a:ext cx="261518" cy="261518"/>
          </a:xfrm>
          <a:prstGeom prst="rect">
            <a:avLst/>
          </a:prstGeom>
        </p:spPr>
      </p:pic>
      <p:sp>
        <p:nvSpPr>
          <p:cNvPr id="17" name="Text 12"/>
          <p:cNvSpPr txBox="1"/>
          <p:nvPr/>
        </p:nvSpPr>
        <p:spPr>
          <a:xfrm>
            <a:off x="1371600" y="345643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Accès à l'électricité</a:t>
            </a:r>
            <a:endParaRPr lang="en-US" sz="1500" dirty="0"/>
          </a:p>
        </p:txBody>
      </p:sp>
      <p:sp>
        <p:nvSpPr>
          <p:cNvPr id="18" name="Text 13"/>
          <p:cNvSpPr txBox="1"/>
          <p:nvPr/>
        </p:nvSpPr>
        <p:spPr>
          <a:xfrm>
            <a:off x="731520" y="4096512"/>
            <a:ext cx="3154680" cy="8229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carte des zones « dans le noir » croisée avec les registres de raccordement</a:t>
            </a:r>
            <a:endParaRPr lang="en-US" sz="1300" dirty="0"/>
          </a:p>
        </p:txBody>
      </p:sp>
      <p:sp>
        <p:nvSpPr>
          <p:cNvPr id="19" name="Shape 14"/>
          <p:cNvSpPr/>
          <p:nvPr/>
        </p:nvSpPr>
        <p:spPr>
          <a:xfrm>
            <a:off x="4206240" y="3291840"/>
            <a:ext cx="352044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4389120" y="3474720"/>
            <a:ext cx="502920" cy="502920"/>
          </a:xfrm>
          <a:prstGeom prst="ellipse">
            <a:avLst/>
          </a:prstGeom>
          <a:solidFill>
            <a:srgbClr val="1F4E8C"/>
          </a:solidFill>
          <a:ln w="12700">
            <a:solidFill>
              <a:srgbClr val="1F4E8C"/>
            </a:solidFill>
            <a:prstDash val="solid"/>
          </a:ln>
        </p:spPr>
      </p:sp>
      <p:pic>
        <p:nvPicPr>
          <p:cNvPr id="21" name="Image 3" descr="preencoded.png">    </p:cNvPr>
          <p:cNvPicPr>
            <a:picLocks noChangeAspect="1"/>
          </p:cNvPicPr>
          <p:nvPr/>
        </p:nvPicPr>
        <p:blipFill>
          <a:blip r:embed="rId4"/>
          <a:stretch>
            <a:fillRect/>
          </a:stretch>
        </p:blipFill>
        <p:spPr>
          <a:xfrm>
            <a:off x="4509821" y="3595421"/>
            <a:ext cx="261518" cy="261518"/>
          </a:xfrm>
          <a:prstGeom prst="rect">
            <a:avLst/>
          </a:prstGeom>
        </p:spPr>
      </p:pic>
      <p:sp>
        <p:nvSpPr>
          <p:cNvPr id="22" name="Text 16"/>
          <p:cNvSpPr txBox="1"/>
          <p:nvPr/>
        </p:nvSpPr>
        <p:spPr>
          <a:xfrm>
            <a:off x="5029200" y="345643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PIB régional expérimental</a:t>
            </a:r>
            <a:endParaRPr lang="en-US" sz="1500" dirty="0"/>
          </a:p>
        </p:txBody>
      </p:sp>
      <p:sp>
        <p:nvSpPr>
          <p:cNvPr id="23" name="Text 17"/>
          <p:cNvSpPr txBox="1"/>
          <p:nvPr/>
        </p:nvSpPr>
        <p:spPr>
          <a:xfrm>
            <a:off x="4389120" y="4096512"/>
            <a:ext cx="3154680" cy="8229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comparer γ = 1 et γ = 0,5 avec les comptes régionaux existants</a:t>
            </a:r>
            <a:endParaRPr lang="en-US" sz="1300" dirty="0"/>
          </a:p>
        </p:txBody>
      </p:sp>
      <p:sp>
        <p:nvSpPr>
          <p:cNvPr id="24" name="Shape 18"/>
          <p:cNvSpPr/>
          <p:nvPr/>
        </p:nvSpPr>
        <p:spPr>
          <a:xfrm>
            <a:off x="8001000" y="1417320"/>
            <a:ext cx="3657600" cy="3611880"/>
          </a:xfrm>
          <a:prstGeom prst="roundRect">
            <a:avLst>
              <a:gd name="adj" fmla="val 3038"/>
            </a:avLst>
          </a:prstGeom>
          <a:solidFill>
            <a:srgbClr val="EAF2FB"/>
          </a:solidFill>
          <a:ln w="9525">
            <a:solidFill>
              <a:srgbClr val="EAF2FB"/>
            </a:solidFill>
            <a:prstDash val="solid"/>
          </a:ln>
        </p:spPr>
      </p:sp>
      <p:sp>
        <p:nvSpPr>
          <p:cNvPr id="25" name="Text 19"/>
          <p:cNvSpPr txBox="1"/>
          <p:nvPr/>
        </p:nvSpPr>
        <p:spPr>
          <a:xfrm>
            <a:off x="8183880" y="1508760"/>
            <a:ext cx="32918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Questions pour cadrer votre projet</a:t>
            </a:r>
            <a:endParaRPr lang="en-US" sz="1500" dirty="0"/>
          </a:p>
        </p:txBody>
      </p:sp>
      <p:sp>
        <p:nvSpPr>
          <p:cNvPr id="26" name="Text 20"/>
          <p:cNvSpPr txBox="1"/>
          <p:nvPr/>
        </p:nvSpPr>
        <p:spPr>
          <a:xfrm>
            <a:off x="8183880" y="1920240"/>
            <a:ext cx="3337560" cy="3017520"/>
          </a:xfrm>
          <a:prstGeom prst="rect">
            <a:avLst/>
          </a:prstGeom>
          <a:noFill/>
          <a:ln/>
        </p:spPr>
        <p:txBody>
          <a:bodyPr wrap="square" lIns="635" tIns="635" rIns="635" bIns="635" rtlCol="0" anchor="t"/>
          <a:lstStyle/>
          <a:p>
            <a:pPr marL="190500" indent="-190500">
              <a:spcAft>
                <a:spcPts val="800"/>
              </a:spcAft>
              <a:buSzPct val="100000"/>
              <a:buChar char="•"/>
            </a:pPr>
            <a:r>
              <a:rPr lang="en-US" sz="1350" dirty="0">
                <a:solidFill>
                  <a:srgbClr val="231F20"/>
                </a:solidFill>
              </a:rPr>
              <a:t>Quelle question économique ?</a:t>
            </a:r>
            <a:endParaRPr lang="en-US" sz="1350" dirty="0"/>
          </a:p>
          <a:p>
            <a:pPr marL="190500" indent="-190500">
              <a:spcAft>
                <a:spcPts val="800"/>
              </a:spcAft>
              <a:buSzPct val="100000"/>
              <a:buChar char="•"/>
            </a:pPr>
            <a:r>
              <a:rPr lang="en-US" sz="1350" dirty="0">
                <a:solidFill>
                  <a:srgbClr val="231F20"/>
                </a:solidFill>
              </a:rPr>
              <a:t>Quel produit statistique, pour quel utilisateur ?</a:t>
            </a:r>
            <a:endParaRPr lang="en-US" sz="1350" dirty="0"/>
          </a:p>
          <a:p>
            <a:pPr marL="190500" indent="-190500">
              <a:spcAft>
                <a:spcPts val="800"/>
              </a:spcAft>
              <a:buSzPct val="100000"/>
              <a:buChar char="•"/>
            </a:pPr>
            <a:r>
              <a:rPr lang="en-US" sz="1350" dirty="0">
                <a:solidFill>
                  <a:srgbClr val="231F20"/>
                </a:solidFill>
              </a:rPr>
              <a:t>Quelles données de validation officielles ?</a:t>
            </a:r>
            <a:endParaRPr lang="en-US" sz="1350" dirty="0"/>
          </a:p>
          <a:p>
            <a:pPr marL="190500" indent="-190500">
              <a:spcAft>
                <a:spcPts val="800"/>
              </a:spcAft>
              <a:buSzPct val="100000"/>
              <a:buChar char="•"/>
            </a:pPr>
            <a:r>
              <a:rPr lang="en-US" sz="1350" dirty="0">
                <a:solidFill>
                  <a:srgbClr val="231F20"/>
                </a:solidFill>
              </a:rPr>
              <a:t>Quel niveau de confiance visé ?</a:t>
            </a:r>
            <a:endParaRPr lang="en-US" sz="1350" dirty="0"/>
          </a:p>
          <a:p>
            <a:pPr marL="190500" indent="-190500">
              <a:spcAft>
                <a:spcPts val="800"/>
              </a:spcAft>
              <a:buSzPct val="100000"/>
              <a:buChar char="•"/>
            </a:pPr>
            <a:r>
              <a:rPr lang="en-US" sz="1350" dirty="0">
                <a:solidFill>
                  <a:srgbClr val="231F20"/>
                </a:solidFill>
              </a:rPr>
              <a:t>Quelles limites annoncer ?</a:t>
            </a:r>
            <a:endParaRPr lang="en-US" sz="1350" dirty="0"/>
          </a:p>
        </p:txBody>
      </p:sp>
      <p:sp>
        <p:nvSpPr>
          <p:cNvPr id="27" name="Shape 21"/>
          <p:cNvSpPr/>
          <p:nvPr/>
        </p:nvSpPr>
        <p:spPr>
          <a:xfrm>
            <a:off x="548640" y="5257800"/>
            <a:ext cx="11109960" cy="914400"/>
          </a:xfrm>
          <a:prstGeom prst="roundRect">
            <a:avLst>
              <a:gd name="adj" fmla="val 12000"/>
            </a:avLst>
          </a:prstGeom>
          <a:solidFill>
            <a:srgbClr val="E8F5EF"/>
          </a:solidFill>
          <a:ln w="9525">
            <a:solidFill>
              <a:srgbClr val="E8F5EF"/>
            </a:solidFill>
            <a:prstDash val="solid"/>
          </a:ln>
        </p:spPr>
      </p:sp>
      <p:sp>
        <p:nvSpPr>
          <p:cNvPr id="28" name="Shape 22"/>
          <p:cNvSpPr/>
          <p:nvPr/>
        </p:nvSpPr>
        <p:spPr>
          <a:xfrm>
            <a:off x="731520" y="5394960"/>
            <a:ext cx="594360" cy="594360"/>
          </a:xfrm>
          <a:prstGeom prst="ellipse">
            <a:avLst/>
          </a:prstGeom>
          <a:solidFill>
            <a:srgbClr val="00704A"/>
          </a:solidFill>
          <a:ln w="12700">
            <a:solidFill>
              <a:srgbClr val="00704A"/>
            </a:solidFill>
            <a:prstDash val="solid"/>
          </a:ln>
        </p:spPr>
      </p:sp>
      <p:pic>
        <p:nvPicPr>
          <p:cNvPr id="29" name="Image 4" descr="preencoded.png">    </p:cNvPr>
          <p:cNvPicPr>
            <a:picLocks noChangeAspect="1"/>
          </p:cNvPicPr>
          <p:nvPr/>
        </p:nvPicPr>
        <p:blipFill>
          <a:blip r:embed="rId5"/>
          <a:stretch>
            <a:fillRect/>
          </a:stretch>
        </p:blipFill>
        <p:spPr>
          <a:xfrm>
            <a:off x="874166" y="5537606"/>
            <a:ext cx="309067" cy="309067"/>
          </a:xfrm>
          <a:prstGeom prst="rect">
            <a:avLst/>
          </a:prstGeom>
        </p:spPr>
      </p:pic>
      <p:sp>
        <p:nvSpPr>
          <p:cNvPr id="30" name="Text 23"/>
          <p:cNvSpPr txBox="1"/>
          <p:nvPr/>
        </p:nvSpPr>
        <p:spPr>
          <a:xfrm>
            <a:off x="1463040" y="5303520"/>
            <a:ext cx="10058400" cy="822960"/>
          </a:xfrm>
          <a:prstGeom prst="rect">
            <a:avLst/>
          </a:prstGeom>
          <a:noFill/>
          <a:ln/>
        </p:spPr>
        <p:txBody>
          <a:bodyPr wrap="square" lIns="635" tIns="635" rIns="635" bIns="635" rtlCol="0" anchor="ctr"/>
          <a:lstStyle/>
          <a:p>
            <a:pPr indent="0" marL="0">
              <a:spcAft>
                <a:spcPts val="200"/>
              </a:spcAft>
              <a:buNone/>
            </a:pPr>
            <a:r>
              <a:rPr lang="en-US" sz="1400" dirty="0">
                <a:solidFill>
                  <a:srgbClr val="231F20"/>
                </a:solidFill>
              </a:rPr>
              <a:t>Pour démarrer : ouvrez le notebook partie 3 dans Colab, remplacez ISO3 par votre pays, ajoutez un événement dans CUSTOM_EVENTS, et lancez « Tout exécuter ».</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685800" y="1097280"/>
            <a:ext cx="10789920" cy="914400"/>
          </a:xfrm>
          <a:prstGeom prst="rect">
            <a:avLst/>
          </a:prstGeom>
          <a:noFill/>
          <a:ln/>
        </p:spPr>
        <p:txBody>
          <a:bodyPr wrap="square" lIns="635" tIns="635" rIns="635" bIns="635" rtlCol="0" anchor="t"/>
          <a:lstStyle/>
          <a:p>
            <a:pPr indent="0" marL="0">
              <a:spcAft>
                <a:spcPts val="200"/>
              </a:spcAft>
              <a:buNone/>
            </a:pPr>
            <a:r>
              <a:rPr lang="en-US" sz="4000" b="1" dirty="0">
                <a:solidFill>
                  <a:srgbClr val="FFFFFF"/>
                </a:solidFill>
              </a:rPr>
              <a:t>Merci — place aux questions</a:t>
            </a:r>
            <a:endParaRPr lang="en-US" sz="4000" dirty="0"/>
          </a:p>
        </p:txBody>
      </p:sp>
      <p:sp>
        <p:nvSpPr>
          <p:cNvPr id="3" name="Text 1"/>
          <p:cNvSpPr txBox="1"/>
          <p:nvPr/>
        </p:nvSpPr>
        <p:spPr>
          <a:xfrm>
            <a:off x="685800" y="2103120"/>
            <a:ext cx="10789920" cy="548640"/>
          </a:xfrm>
          <a:prstGeom prst="rect">
            <a:avLst/>
          </a:prstGeom>
          <a:noFill/>
          <a:ln/>
        </p:spPr>
        <p:txBody>
          <a:bodyPr wrap="square" lIns="635" tIns="635" rIns="635" bIns="635" rtlCol="0" anchor="t"/>
          <a:lstStyle/>
          <a:p>
            <a:pPr indent="0" marL="0">
              <a:spcAft>
                <a:spcPts val="200"/>
              </a:spcAft>
              <a:buNone/>
            </a:pPr>
            <a:r>
              <a:rPr lang="en-US" sz="2000" i="1" dirty="0">
                <a:solidFill>
                  <a:srgbClr val="F5C242"/>
                </a:solidFill>
              </a:rPr>
              <a:t>« Une mesure n'est utile que si l'on sait dire à quel point on peut s'y fier. »</a:t>
            </a:r>
            <a:endParaRPr lang="en-US" sz="2000" dirty="0"/>
          </a:p>
        </p:txBody>
      </p:sp>
      <p:sp>
        <p:nvSpPr>
          <p:cNvPr id="4" name="Shape 2"/>
          <p:cNvSpPr/>
          <p:nvPr/>
        </p:nvSpPr>
        <p:spPr>
          <a:xfrm>
            <a:off x="685800" y="3063240"/>
            <a:ext cx="5257800" cy="822960"/>
          </a:xfrm>
          <a:prstGeom prst="roundRect">
            <a:avLst>
              <a:gd name="adj" fmla="val 13333"/>
            </a:avLst>
          </a:prstGeom>
          <a:solidFill>
            <a:srgbClr val="FFFFFF"/>
          </a:solidFill>
          <a:ln w="9525">
            <a:solidFill>
              <a:srgbClr val="FFFFFF"/>
            </a:solidFill>
            <a:prstDash val="solid"/>
          </a:ln>
        </p:spPr>
      </p:sp>
      <p:sp>
        <p:nvSpPr>
          <p:cNvPr id="5" name="Text 3"/>
          <p:cNvSpPr txBox="1"/>
          <p:nvPr/>
        </p:nvSpPr>
        <p:spPr>
          <a:xfrm>
            <a:off x="822960" y="3063240"/>
            <a:ext cx="457200" cy="822960"/>
          </a:xfrm>
          <a:prstGeom prst="rect">
            <a:avLst/>
          </a:prstGeom>
          <a:noFill/>
          <a:ln/>
        </p:spPr>
        <p:txBody>
          <a:bodyPr wrap="square" lIns="635" tIns="635" rIns="635" bIns="635" rtlCol="0" anchor="ctr"/>
          <a:lstStyle/>
          <a:p>
            <a:pPr indent="0" marL="0">
              <a:spcAft>
                <a:spcPts val="200"/>
              </a:spcAft>
              <a:buNone/>
            </a:pPr>
            <a:r>
              <a:rPr lang="en-US" sz="2600" b="1" dirty="0">
                <a:solidFill>
                  <a:srgbClr val="F5C242"/>
                </a:solidFill>
              </a:rPr>
              <a:t>1</a:t>
            </a:r>
            <a:endParaRPr lang="en-US" sz="2600" dirty="0"/>
          </a:p>
        </p:txBody>
      </p:sp>
      <p:sp>
        <p:nvSpPr>
          <p:cNvPr id="6" name="Text 4"/>
          <p:cNvSpPr txBox="1"/>
          <p:nvPr/>
        </p:nvSpPr>
        <p:spPr>
          <a:xfrm>
            <a:off x="1325880" y="3063240"/>
            <a:ext cx="4526280" cy="82296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Lumières = témoin de l'activité, pas le PIB</a:t>
            </a:r>
            <a:endParaRPr lang="en-US" sz="1500" dirty="0"/>
          </a:p>
        </p:txBody>
      </p:sp>
      <p:sp>
        <p:nvSpPr>
          <p:cNvPr id="7" name="Shape 5"/>
          <p:cNvSpPr/>
          <p:nvPr/>
        </p:nvSpPr>
        <p:spPr>
          <a:xfrm>
            <a:off x="6172200" y="3063240"/>
            <a:ext cx="5257800" cy="822960"/>
          </a:xfrm>
          <a:prstGeom prst="roundRect">
            <a:avLst>
              <a:gd name="adj" fmla="val 13333"/>
            </a:avLst>
          </a:prstGeom>
          <a:solidFill>
            <a:srgbClr val="FFFFFF"/>
          </a:solidFill>
          <a:ln w="9525">
            <a:solidFill>
              <a:srgbClr val="FFFFFF"/>
            </a:solidFill>
            <a:prstDash val="solid"/>
          </a:ln>
        </p:spPr>
      </p:sp>
      <p:sp>
        <p:nvSpPr>
          <p:cNvPr id="8" name="Text 6"/>
          <p:cNvSpPr txBox="1"/>
          <p:nvPr/>
        </p:nvSpPr>
        <p:spPr>
          <a:xfrm>
            <a:off x="6309360" y="3063240"/>
            <a:ext cx="457200" cy="822960"/>
          </a:xfrm>
          <a:prstGeom prst="rect">
            <a:avLst/>
          </a:prstGeom>
          <a:noFill/>
          <a:ln/>
        </p:spPr>
        <p:txBody>
          <a:bodyPr wrap="square" lIns="635" tIns="635" rIns="635" bIns="635" rtlCol="0" anchor="ctr"/>
          <a:lstStyle/>
          <a:p>
            <a:pPr indent="0" marL="0">
              <a:spcAft>
                <a:spcPts val="200"/>
              </a:spcAft>
              <a:buNone/>
            </a:pPr>
            <a:r>
              <a:rPr lang="en-US" sz="2600" b="1" dirty="0">
                <a:solidFill>
                  <a:srgbClr val="F5C242"/>
                </a:solidFill>
              </a:rPr>
              <a:t>2</a:t>
            </a:r>
            <a:endParaRPr lang="en-US" sz="2600" dirty="0"/>
          </a:p>
        </p:txBody>
      </p:sp>
      <p:sp>
        <p:nvSpPr>
          <p:cNvPr id="9" name="Text 7"/>
          <p:cNvSpPr txBox="1"/>
          <p:nvPr/>
        </p:nvSpPr>
        <p:spPr>
          <a:xfrm>
            <a:off x="6812280" y="3063240"/>
            <a:ext cx="4526280" cy="82296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Prétraiter avant d'interpréter : nuages, torchères, saison</a:t>
            </a:r>
            <a:endParaRPr lang="en-US" sz="1500" dirty="0"/>
          </a:p>
        </p:txBody>
      </p:sp>
      <p:sp>
        <p:nvSpPr>
          <p:cNvPr id="10" name="Shape 8"/>
          <p:cNvSpPr/>
          <p:nvPr/>
        </p:nvSpPr>
        <p:spPr>
          <a:xfrm>
            <a:off x="685800" y="4069080"/>
            <a:ext cx="5257800" cy="822960"/>
          </a:xfrm>
          <a:prstGeom prst="roundRect">
            <a:avLst>
              <a:gd name="adj" fmla="val 13333"/>
            </a:avLst>
          </a:prstGeom>
          <a:solidFill>
            <a:srgbClr val="FFFFFF"/>
          </a:solidFill>
          <a:ln w="9525">
            <a:solidFill>
              <a:srgbClr val="FFFFFF"/>
            </a:solidFill>
            <a:prstDash val="solid"/>
          </a:ln>
        </p:spPr>
      </p:sp>
      <p:sp>
        <p:nvSpPr>
          <p:cNvPr id="11" name="Text 9"/>
          <p:cNvSpPr txBox="1"/>
          <p:nvPr/>
        </p:nvSpPr>
        <p:spPr>
          <a:xfrm>
            <a:off x="822960" y="4069080"/>
            <a:ext cx="457200" cy="822960"/>
          </a:xfrm>
          <a:prstGeom prst="rect">
            <a:avLst/>
          </a:prstGeom>
          <a:noFill/>
          <a:ln/>
        </p:spPr>
        <p:txBody>
          <a:bodyPr wrap="square" lIns="635" tIns="635" rIns="635" bIns="635" rtlCol="0" anchor="ctr"/>
          <a:lstStyle/>
          <a:p>
            <a:pPr indent="0" marL="0">
              <a:spcAft>
                <a:spcPts val="200"/>
              </a:spcAft>
              <a:buNone/>
            </a:pPr>
            <a:r>
              <a:rPr lang="en-US" sz="2600" b="1" dirty="0">
                <a:solidFill>
                  <a:srgbClr val="F5C242"/>
                </a:solidFill>
              </a:rPr>
              <a:t>3</a:t>
            </a:r>
            <a:endParaRPr lang="en-US" sz="2600" dirty="0"/>
          </a:p>
        </p:txBody>
      </p:sp>
      <p:sp>
        <p:nvSpPr>
          <p:cNvPr id="12" name="Text 10"/>
          <p:cNvSpPr txBox="1"/>
          <p:nvPr/>
        </p:nvSpPr>
        <p:spPr>
          <a:xfrm>
            <a:off x="1325880" y="4069080"/>
            <a:ext cx="4526280" cy="82296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Toujours un intervalle et un niveau de confiance</a:t>
            </a:r>
            <a:endParaRPr lang="en-US" sz="1500" dirty="0"/>
          </a:p>
        </p:txBody>
      </p:sp>
      <p:sp>
        <p:nvSpPr>
          <p:cNvPr id="13" name="Shape 11"/>
          <p:cNvSpPr/>
          <p:nvPr/>
        </p:nvSpPr>
        <p:spPr>
          <a:xfrm>
            <a:off x="6172200" y="4069080"/>
            <a:ext cx="5257800" cy="822960"/>
          </a:xfrm>
          <a:prstGeom prst="roundRect">
            <a:avLst>
              <a:gd name="adj" fmla="val 13333"/>
            </a:avLst>
          </a:prstGeom>
          <a:solidFill>
            <a:srgbClr val="FFFFFF"/>
          </a:solidFill>
          <a:ln w="9525">
            <a:solidFill>
              <a:srgbClr val="FFFFFF"/>
            </a:solidFill>
            <a:prstDash val="solid"/>
          </a:ln>
        </p:spPr>
      </p:sp>
      <p:sp>
        <p:nvSpPr>
          <p:cNvPr id="14" name="Text 12"/>
          <p:cNvSpPr txBox="1"/>
          <p:nvPr/>
        </p:nvSpPr>
        <p:spPr>
          <a:xfrm>
            <a:off x="6309360" y="4069080"/>
            <a:ext cx="457200" cy="822960"/>
          </a:xfrm>
          <a:prstGeom prst="rect">
            <a:avLst/>
          </a:prstGeom>
          <a:noFill/>
          <a:ln/>
        </p:spPr>
        <p:txBody>
          <a:bodyPr wrap="square" lIns="635" tIns="635" rIns="635" bIns="635" rtlCol="0" anchor="ctr"/>
          <a:lstStyle/>
          <a:p>
            <a:pPr indent="0" marL="0">
              <a:spcAft>
                <a:spcPts val="200"/>
              </a:spcAft>
              <a:buNone/>
            </a:pPr>
            <a:r>
              <a:rPr lang="en-US" sz="2600" b="1" dirty="0">
                <a:solidFill>
                  <a:srgbClr val="F5C242"/>
                </a:solidFill>
              </a:rPr>
              <a:t>4</a:t>
            </a:r>
            <a:endParaRPr lang="en-US" sz="2600" dirty="0"/>
          </a:p>
        </p:txBody>
      </p:sp>
      <p:sp>
        <p:nvSpPr>
          <p:cNvPr id="15" name="Text 13"/>
          <p:cNvSpPr txBox="1"/>
          <p:nvPr/>
        </p:nvSpPr>
        <p:spPr>
          <a:xfrm>
            <a:off x="6812280" y="4069080"/>
            <a:ext cx="4526280" cy="82296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Un code ISO3 → un tableau de bord public et traçable</a:t>
            </a:r>
            <a:endParaRPr lang="en-US" sz="1500" dirty="0"/>
          </a:p>
        </p:txBody>
      </p:sp>
      <p:sp>
        <p:nvSpPr>
          <p:cNvPr id="16" name="Text 14"/>
          <p:cNvSpPr txBox="1"/>
          <p:nvPr/>
        </p:nvSpPr>
        <p:spPr>
          <a:xfrm>
            <a:off x="685800" y="5486400"/>
            <a:ext cx="10789920" cy="365760"/>
          </a:xfrm>
          <a:prstGeom prst="rect">
            <a:avLst/>
          </a:prstGeom>
          <a:noFill/>
          <a:ln/>
        </p:spPr>
        <p:txBody>
          <a:bodyPr wrap="square" lIns="635" tIns="635" rIns="635" bIns="635" rtlCol="0" anchor="t"/>
          <a:lstStyle/>
          <a:p>
            <a:pPr indent="0" marL="0">
              <a:spcAft>
                <a:spcPts val="200"/>
              </a:spcAft>
              <a:buNone/>
            </a:pPr>
            <a:r>
              <a:rPr lang="en-US" sz="1400" dirty="0">
                <a:solidFill>
                  <a:srgbClr val="CFEEDE"/>
                </a:solidFill>
              </a:rPr>
              <a:t>Banque africaine de développement – Data Innovation for Africa (DI4A)</a:t>
            </a:r>
            <a:endParaRPr lang="en-US" sz="1400" dirty="0"/>
          </a:p>
        </p:txBody>
      </p:sp>
      <p:sp>
        <p:nvSpPr>
          <p:cNvPr id="17" name="Text 15"/>
          <p:cNvSpPr txBox="1"/>
          <p:nvPr/>
        </p:nvSpPr>
        <p:spPr>
          <a:xfrm>
            <a:off x="685800" y="5897880"/>
            <a:ext cx="10789920" cy="320040"/>
          </a:xfrm>
          <a:prstGeom prst="rect">
            <a:avLst/>
          </a:prstGeom>
          <a:noFill/>
          <a:ln/>
        </p:spPr>
        <p:txBody>
          <a:bodyPr wrap="square" lIns="635" tIns="635" rIns="635" bIns="635" rtlCol="0" anchor="t"/>
          <a:lstStyle/>
          <a:p>
            <a:pPr indent="0" marL="0">
              <a:spcAft>
                <a:spcPts val="200"/>
              </a:spcAft>
              <a:buNone/>
            </a:pPr>
            <a:r>
              <a:rPr lang="en-US" sz="1200" i="1" dirty="0">
                <a:solidFill>
                  <a:srgbClr val="CFEEDE"/>
                </a:solidFill>
              </a:rPr>
              <a:t>Lumières nocturnes en pratique · Notebook d'analyse « NTL hands-on, partie 3 »</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EDE"/>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ANNEXE A</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Glossaire des sigles (1/2)</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1920240"/>
                <a:gridCol w="5120640"/>
                <a:gridCol w="4069080"/>
              </a:tblGrid>
              <a:tr h="265176">
                <a:tc>
                  <a:txBody>
                    <a:bodyPr/>
                    <a:lstStyle/>
                    <a:p>
                      <a:pPr indent="0" marL="0">
                        <a:buNone/>
                      </a:pPr>
                      <a:r>
                        <a:rPr lang="en-US" sz="1200" b="1" dirty="0">
                          <a:solidFill>
                            <a:srgbClr val="FFFFFF"/>
                          </a:solidFill>
                        </a:rPr>
                        <a:t>Sigle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200" b="1" dirty="0">
                          <a:solidFill>
                            <a:srgbClr val="FFFFFF"/>
                          </a:solidFill>
                        </a:rPr>
                        <a:t>Forme développée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200" b="1" dirty="0">
                          <a:solidFill>
                            <a:srgbClr val="FFFFFF"/>
                          </a:solidFill>
                        </a:rPr>
                        <a:t>Sens dans ce contexte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r>
              <a:tr h="265176">
                <a:tc>
                  <a:txBody>
                    <a:bodyPr/>
                    <a:lstStyle/>
                    <a:p>
                      <a:pPr indent="0" marL="0">
                        <a:buNone/>
                      </a:pPr>
                      <a:r>
                        <a:rPr lang="en-US" sz="1200" b="1" dirty="0">
                          <a:solidFill>
                            <a:srgbClr val="1F4E8C"/>
                          </a:solidFill>
                        </a:rPr>
                        <a:t>AfDB / BAD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African Development Bank / Banque africaine de développement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institution porteuse de DI4A</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DI4A</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Data Innovation for Africa</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programme d'innovation des données de la BAD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NTL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Night-Time Lights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lumières nocturnes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VIIRS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Visible Infrared Imaging Radiometer Suite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capteur des satellites Suomi-NPP et NOAA-20</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DNB</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Day/Night Band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bande VIIRS sensible à la faible lumière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DMSP-OLS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Defense Meteorological Satellite Program – Operational Linescan System</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ancien capteur (1992–2013)</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VNL V2</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VIIRS Nighttime Lights, version 2</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composites annuels de l'EOG</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VNP46A1–A4</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produits NASA Black Marble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A2 quotidien, A3 mensuel, A4 annuel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EOG</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Earth Observation Group (Colorado School of Mines)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producteur des composites VIIRS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BRDF</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Bidirectional Reflectance Distribution Function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correction de l'angle de vue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GEE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Google Earth Engine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plateforme de calcul géospatial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ISO3</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ISO 3166-1 alpha-3</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code pays à trois lettres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ADM0 / 1 / 2</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niveaux administratifs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pays / régions / districts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SoL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Sum of Lights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somme des radiances d'une unité</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cf_cvg</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cloud-free coverage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nombre d'observations sans nuage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GHSL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Global Human Settlement Layer (JRC)</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population (GHS-POP), urbanisation (GHS-SMOD)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bl>
          </a:graphicData>
        </a:graphic>
      </p:graphicFrame>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ANNEXE A</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Glossaire des sigles (2/2)</a:t>
            </a:r>
            <a:endParaRPr lang="en-US" sz="2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1920240"/>
                <a:gridCol w="5120640"/>
                <a:gridCol w="4069080"/>
              </a:tblGrid>
              <a:tr h="265176">
                <a:tc>
                  <a:txBody>
                    <a:bodyPr/>
                    <a:lstStyle/>
                    <a:p>
                      <a:pPr indent="0" marL="0">
                        <a:buNone/>
                      </a:pPr>
                      <a:r>
                        <a:rPr lang="en-US" sz="1200" b="1" dirty="0">
                          <a:solidFill>
                            <a:srgbClr val="FFFFFF"/>
                          </a:solidFill>
                        </a:rPr>
                        <a:t>Sigle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200" b="1" dirty="0">
                          <a:solidFill>
                            <a:srgbClr val="FFFFFF"/>
                          </a:solidFill>
                        </a:rPr>
                        <a:t>Forme développée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200" b="1" dirty="0">
                          <a:solidFill>
                            <a:srgbClr val="FFFFFF"/>
                          </a:solidFill>
                        </a:rPr>
                        <a:t>Sens dans ce contexte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r>
              <a:tr h="265176">
                <a:tc>
                  <a:txBody>
                    <a:bodyPr/>
                    <a:lstStyle/>
                    <a:p>
                      <a:pPr indent="0" marL="0">
                        <a:buNone/>
                      </a:pPr>
                      <a:r>
                        <a:rPr lang="en-US" sz="1200" b="1" dirty="0">
                          <a:solidFill>
                            <a:srgbClr val="1F4E8C"/>
                          </a:solidFill>
                        </a:rPr>
                        <a:t>S5P · NO₂</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Sentinel-5P · dioxyde d'azote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indicateur d'activité industrielle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WDI</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World Development Indicators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base de la Banque mondiale (PIB, accès)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PIB / GDP</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Produit intérieur brut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USD constants 2015 ici</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STL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Seasonal-Trend decomposition using Loess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tendance + saison + résidu</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Loess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LOcally Estimated Scatterplot Smoothing</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lissage par régressions locales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MCO / OLS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Moindres carrés ordinaires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régression linéaire classique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HAC</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Heteroskedasticity and Autocorrelation Consistent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écarts-types de Newey–West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IC / CI</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Intervalle de confiance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ici à 95 %</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MAD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Median Absolute Deviation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dispersion robuste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BIC</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Bayesian Information Criterion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pénalité contre le sur-découpage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HHI</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Herfindahl–Hirschman Index</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indice de concentration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LOO</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Leave-One-Out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validation en retirant une année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ACLED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Armed Conflict Location &amp; Event Data</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base d'événements de conflit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EM-DAT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Emergency Events Database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base des catastrophes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GAUL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Global Administrative Unit Layers (FAO)</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limites administratives (repli)</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PAT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Personal Access Token (GitHub)</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jeton d'accès pour publier</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LED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Light-Emitting Diode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éclairage moins visible par VIIRS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bl>
          </a:graphicData>
        </a:graphic>
      </p:graphicFrame>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ANNEXE B</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Références et sources des images</a:t>
            </a:r>
            <a:endParaRPr lang="en-US" sz="2800" dirty="0"/>
          </a:p>
        </p:txBody>
      </p:sp>
      <p:sp>
        <p:nvSpPr>
          <p:cNvPr id="4" name="Text 2"/>
          <p:cNvSpPr txBox="1"/>
          <p:nvPr/>
        </p:nvSpPr>
        <p:spPr>
          <a:xfrm>
            <a:off x="548640" y="1371600"/>
            <a:ext cx="6949440" cy="4754880"/>
          </a:xfrm>
          <a:prstGeom prst="rect">
            <a:avLst/>
          </a:prstGeom>
          <a:noFill/>
          <a:ln/>
        </p:spPr>
        <p:txBody>
          <a:bodyPr wrap="square" lIns="635" tIns="635" rIns="635" bIns="635" rtlCol="0" anchor="t"/>
          <a:lstStyle/>
          <a:p>
            <a:pPr marL="190500" indent="-190500">
              <a:spcAft>
                <a:spcPts val="700"/>
              </a:spcAft>
              <a:buSzPct val="100000"/>
              <a:buChar char="•"/>
            </a:pPr>
            <a:r>
              <a:rPr lang="en-US" sz="1250" dirty="0">
                <a:solidFill>
                  <a:srgbClr val="231F20"/>
                </a:solidFill>
              </a:rPr>
              <a:t>Chen, X., Nordhaus, W. D. (2011). Using luminosity data as a proxy for economic statistics. PNAS 108(21).</a:t>
            </a:r>
            <a:endParaRPr lang="en-US" sz="1250" dirty="0"/>
          </a:p>
          <a:p>
            <a:pPr marL="190500" indent="-190500">
              <a:spcAft>
                <a:spcPts val="700"/>
              </a:spcAft>
              <a:buSzPct val="100000"/>
              <a:buChar char="•"/>
            </a:pPr>
            <a:r>
              <a:rPr lang="en-US" sz="1250" dirty="0">
                <a:solidFill>
                  <a:srgbClr val="231F20"/>
                </a:solidFill>
              </a:rPr>
              <a:t>Henderson, J. V., Storeygard, A., Weil, D. N. (2012). Measuring economic growth from outer space. AER 102(2).</a:t>
            </a:r>
            <a:endParaRPr lang="en-US" sz="1250" dirty="0"/>
          </a:p>
          <a:p>
            <a:pPr marL="190500" indent="-190500">
              <a:spcAft>
                <a:spcPts val="700"/>
              </a:spcAft>
              <a:buSzPct val="100000"/>
              <a:buChar char="•"/>
            </a:pPr>
            <a:r>
              <a:rPr lang="en-US" sz="1250" dirty="0">
                <a:solidFill>
                  <a:srgbClr val="231F20"/>
                </a:solidFill>
              </a:rPr>
              <a:t>Elvidge, C. D. et al. (2017). VIIRS night-time lights. Int. J. Remote Sensing 38(21).</a:t>
            </a:r>
            <a:endParaRPr lang="en-US" sz="1250" dirty="0"/>
          </a:p>
          <a:p>
            <a:pPr marL="190500" indent="-190500">
              <a:spcAft>
                <a:spcPts val="700"/>
              </a:spcAft>
              <a:buSzPct val="100000"/>
              <a:buChar char="•"/>
            </a:pPr>
            <a:r>
              <a:rPr lang="en-US" sz="1250" dirty="0">
                <a:solidFill>
                  <a:srgbClr val="231F20"/>
                </a:solidFill>
              </a:rPr>
              <a:t>Elvidge, C. D. et al. (2021). Annual time series of global VIIRS nighttime lights. Remote Sensing 13(5).</a:t>
            </a:r>
            <a:endParaRPr lang="en-US" sz="1250" dirty="0"/>
          </a:p>
          <a:p>
            <a:pPr marL="190500" indent="-190500">
              <a:spcAft>
                <a:spcPts val="700"/>
              </a:spcAft>
              <a:buSzPct val="100000"/>
              <a:buChar char="•"/>
            </a:pPr>
            <a:r>
              <a:rPr lang="en-US" sz="1250" dirty="0">
                <a:solidFill>
                  <a:srgbClr val="231F20"/>
                </a:solidFill>
              </a:rPr>
              <a:t>Román, M. O. et al. (2018). NASA's Black Marble nighttime lights product suite. Remote Sensing of Environment 210.</a:t>
            </a:r>
            <a:endParaRPr lang="en-US" sz="1250" dirty="0"/>
          </a:p>
          <a:p>
            <a:pPr marL="190500" indent="-190500">
              <a:spcAft>
                <a:spcPts val="700"/>
              </a:spcAft>
              <a:buSzPct val="100000"/>
              <a:buChar char="•"/>
            </a:pPr>
            <a:r>
              <a:rPr lang="en-US" sz="1250" dirty="0">
                <a:solidFill>
                  <a:srgbClr val="231F20"/>
                </a:solidFill>
              </a:rPr>
              <a:t>Li, X. et al. (2020). A harmonized global nighttime light dataset 1992–2018. Scientific Data 7, 168.</a:t>
            </a:r>
            <a:endParaRPr lang="en-US" sz="1250" dirty="0"/>
          </a:p>
          <a:p>
            <a:pPr marL="190500" indent="-190500">
              <a:spcAft>
                <a:spcPts val="700"/>
              </a:spcAft>
              <a:buSzPct val="100000"/>
              <a:buChar char="•"/>
            </a:pPr>
            <a:r>
              <a:rPr lang="en-US" sz="1250" dirty="0">
                <a:solidFill>
                  <a:srgbClr val="231F20"/>
                </a:solidFill>
              </a:rPr>
              <a:t>Gibson, J. et al. (2021). Which night lights data should we use in economics, and where? JDE 149.</a:t>
            </a:r>
            <a:endParaRPr lang="en-US" sz="1250" dirty="0"/>
          </a:p>
          <a:p>
            <a:pPr marL="190500" indent="-190500">
              <a:spcAft>
                <a:spcPts val="700"/>
              </a:spcAft>
              <a:buSzPct val="100000"/>
              <a:buChar char="•"/>
            </a:pPr>
            <a:r>
              <a:rPr lang="en-US" sz="1250" dirty="0">
                <a:solidFill>
                  <a:srgbClr val="231F20"/>
                </a:solidFill>
              </a:rPr>
              <a:t>Cleveland, R. B. et al. (1990). STL: a seasonal-trend decomposition procedure based on Loess. JOS 6(1).</a:t>
            </a:r>
            <a:endParaRPr lang="en-US" sz="1250" dirty="0"/>
          </a:p>
          <a:p>
            <a:pPr marL="190500" indent="-190500">
              <a:spcAft>
                <a:spcPts val="700"/>
              </a:spcAft>
              <a:buSzPct val="100000"/>
              <a:buChar char="•"/>
            </a:pPr>
            <a:r>
              <a:rPr lang="en-US" sz="1250" dirty="0">
                <a:solidFill>
                  <a:srgbClr val="231F20"/>
                </a:solidFill>
              </a:rPr>
              <a:t>Schiavina, M. et al. (2023). GHS-POP R2023A. European Commission, JRC · Runfola, D. et al. (2020). geoBoundaries. PLoS ONE 15(4).</a:t>
            </a:r>
            <a:endParaRPr lang="en-US" sz="1250" dirty="0"/>
          </a:p>
        </p:txBody>
      </p:sp>
      <p:sp>
        <p:nvSpPr>
          <p:cNvPr id="5" name="Shape 3"/>
          <p:cNvSpPr/>
          <p:nvPr/>
        </p:nvSpPr>
        <p:spPr>
          <a:xfrm>
            <a:off x="7772400" y="1371600"/>
            <a:ext cx="3886200" cy="4754880"/>
          </a:xfrm>
          <a:prstGeom prst="roundRect">
            <a:avLst>
              <a:gd name="adj" fmla="val 2824"/>
            </a:avLst>
          </a:prstGeom>
          <a:solidFill>
            <a:srgbClr val="F4F7F5"/>
          </a:solidFill>
          <a:ln w="9525">
            <a:solidFill>
              <a:srgbClr val="F4F7F5"/>
            </a:solidFill>
            <a:prstDash val="solid"/>
          </a:ln>
        </p:spPr>
      </p:sp>
      <p:sp>
        <p:nvSpPr>
          <p:cNvPr id="6" name="Text 4"/>
          <p:cNvSpPr txBox="1"/>
          <p:nvPr/>
        </p:nvSpPr>
        <p:spPr>
          <a:xfrm>
            <a:off x="7955280" y="1463040"/>
            <a:ext cx="3566160" cy="36576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Sources des images</a:t>
            </a:r>
            <a:endParaRPr lang="en-US" sz="1500" dirty="0"/>
          </a:p>
        </p:txBody>
      </p:sp>
      <p:sp>
        <p:nvSpPr>
          <p:cNvPr id="7" name="Text 5"/>
          <p:cNvSpPr txBox="1"/>
          <p:nvPr/>
        </p:nvSpPr>
        <p:spPr>
          <a:xfrm>
            <a:off x="7955280" y="1874520"/>
            <a:ext cx="3566160" cy="4160520"/>
          </a:xfrm>
          <a:prstGeom prst="rect">
            <a:avLst/>
          </a:prstGeom>
          <a:noFill/>
          <a:ln/>
        </p:spPr>
        <p:txBody>
          <a:bodyPr wrap="square" lIns="635" tIns="635" rIns="635" bIns="635" rtlCol="0" anchor="t"/>
          <a:lstStyle/>
          <a:p>
            <a:pPr indent="0" marL="0">
              <a:spcAft>
                <a:spcPts val="200"/>
              </a:spcAft>
              <a:buNone/>
            </a:pPr>
            <a:r>
              <a:rPr lang="en-US" sz="1200" b="1" dirty="0">
                <a:solidFill>
                  <a:srgbClr val="231F20"/>
                </a:solidFill>
              </a:rPr>
              <a:t>Images réelles</a:t>
            </a:r>
            <a:endParaRPr lang="en-US" sz="1200" dirty="0"/>
          </a:p>
          <a:p>
            <a:pPr indent="0" marL="0">
              <a:spcAft>
                <a:spcPts val="200"/>
              </a:spcAft>
              <a:buNone/>
            </a:pPr>
            <a:r>
              <a:rPr lang="en-US" sz="1200" dirty="0">
                <a:solidFill>
                  <a:srgbClr val="231F20"/>
                </a:solidFill>
              </a:rPr>
              <a:t>• NASA Black Marble (Ghana, Suisse) via blackmarblepy, Banque mondiale — licence MIT</a:t>
            </a:r>
            <a:endParaRPr lang="en-US" sz="1200" dirty="0"/>
          </a:p>
          <a:p>
            <a:pPr indent="0" marL="0">
              <a:spcAft>
                <a:spcPts val="200"/>
              </a:spcAft>
              <a:buNone/>
            </a:pPr>
            <a:r>
              <a:rPr lang="en-US" sz="1200" dirty="0">
                <a:solidFill>
                  <a:srgbClr val="231F20"/>
                </a:solidFill>
              </a:rPr>
              <a:t>• Mékong, Chicago, plateformes : Open Nighttime Lights, Banque mondiale — CC BY 4.0 (d'après Elvidge et al. ; NASA Goddard)</a:t>
            </a:r>
            <a:endParaRPr lang="en-US" sz="1200" dirty="0"/>
          </a:p>
          <a:p>
            <a:pPr indent="0" marL="0">
              <a:spcAft>
                <a:spcPts val="200"/>
              </a:spcAft>
              <a:buNone/>
            </a:pPr>
            <a:r>
              <a:rPr lang="en-US" sz="1200" dirty="0">
                <a:solidFill>
                  <a:srgbClr val="231F20"/>
                </a:solidFill>
              </a:rPr>
              <a:t> </a:t>
            </a:r>
            <a:endParaRPr lang="en-US" sz="1200" dirty="0"/>
          </a:p>
          <a:p>
            <a:pPr indent="0" marL="0">
              <a:spcAft>
                <a:spcPts val="200"/>
              </a:spcAft>
              <a:buNone/>
            </a:pPr>
            <a:r>
              <a:rPr lang="en-US" sz="1200" b="1" dirty="0">
                <a:solidFill>
                  <a:srgbClr val="231F20"/>
                </a:solidFill>
              </a:rPr>
              <a:t>Figures pédagogiques</a:t>
            </a:r>
            <a:endParaRPr lang="en-US" sz="1200" dirty="0"/>
          </a:p>
          <a:p>
            <a:pPr indent="0" marL="0">
              <a:spcAft>
                <a:spcPts val="200"/>
              </a:spcAft>
              <a:buNone/>
            </a:pPr>
            <a:r>
              <a:rPr lang="en-US" sz="1200" dirty="0">
                <a:solidFill>
                  <a:srgbClr val="231F20"/>
                </a:solidFill>
              </a:rPr>
              <a:t>• générées à partir de données simulées, à seule fin d'illustration ; elles ne décrivent aucun pays réel</a:t>
            </a:r>
            <a:endParaRPr lang="en-US" sz="1200" dirty="0"/>
          </a:p>
          <a:p>
            <a:pPr indent="0" marL="0">
              <a:spcAft>
                <a:spcPts val="200"/>
              </a:spcAft>
              <a:buNone/>
            </a:pPr>
            <a:r>
              <a:rPr lang="en-US" sz="1200" dirty="0">
                <a:solidFill>
                  <a:srgbClr val="231F20"/>
                </a:solidFill>
              </a:rPr>
              <a:t> </a:t>
            </a:r>
            <a:endParaRPr lang="en-US" sz="1200" dirty="0"/>
          </a:p>
          <a:p>
            <a:pPr indent="0" marL="0">
              <a:spcAft>
                <a:spcPts val="200"/>
              </a:spcAft>
              <a:buNone/>
            </a:pPr>
            <a:r>
              <a:rPr lang="en-US" sz="1200" b="1" dirty="0">
                <a:solidFill>
                  <a:srgbClr val="231F20"/>
                </a:solidFill>
              </a:rPr>
              <a:t>Méthodes et seuils</a:t>
            </a:r>
            <a:endParaRPr lang="en-US" sz="1200" dirty="0"/>
          </a:p>
          <a:p>
            <a:pPr indent="0" marL="0">
              <a:spcAft>
                <a:spcPts val="200"/>
              </a:spcAft>
              <a:buNone/>
            </a:pPr>
            <a:r>
              <a:rPr lang="en-US" sz="1200" dirty="0">
                <a:solidFill>
                  <a:srgbClr val="231F20"/>
                </a:solidFill>
              </a:rPr>
              <a:t>• notebook NTL hands-on partie 3 et paquet src/ (config.py)</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ANNEXE C</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Aide-mémoire : les métriques en un coup d'œil</a:t>
            </a:r>
            <a:endParaRPr lang="en-US" sz="2800" dirty="0"/>
          </a:p>
        </p:txBody>
      </p:sp>
      <p:sp>
        <p:nvSpPr>
          <p:cNvPr id="4" name="Shape 2"/>
          <p:cNvSpPr/>
          <p:nvPr/>
        </p:nvSpPr>
        <p:spPr>
          <a:xfrm>
            <a:off x="548640" y="1371600"/>
            <a:ext cx="2651760" cy="1481328"/>
          </a:xfrm>
          <a:prstGeom prst="roundRect">
            <a:avLst>
              <a:gd name="adj" fmla="val 7407"/>
            </a:avLst>
          </a:prstGeom>
          <a:solidFill>
            <a:srgbClr val="F4F7F5"/>
          </a:solidFill>
          <a:ln w="9525">
            <a:solidFill>
              <a:srgbClr val="F4F7F5"/>
            </a:solidFill>
            <a:prstDash val="solid"/>
          </a:ln>
        </p:spPr>
      </p:sp>
      <p:sp>
        <p:nvSpPr>
          <p:cNvPr id="5" name="Text 3"/>
          <p:cNvSpPr txBox="1"/>
          <p:nvPr/>
        </p:nvSpPr>
        <p:spPr>
          <a:xfrm>
            <a:off x="658368" y="1426464"/>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SoL</a:t>
            </a:r>
            <a:endParaRPr lang="en-US" sz="1400" dirty="0"/>
          </a:p>
        </p:txBody>
      </p:sp>
      <p:sp>
        <p:nvSpPr>
          <p:cNvPr id="6" name="Text 4"/>
          <p:cNvSpPr txBox="1"/>
          <p:nvPr/>
        </p:nvSpPr>
        <p:spPr>
          <a:xfrm>
            <a:off x="658368" y="1755648"/>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Σ rᵢ</a:t>
            </a:r>
            <a:endParaRPr lang="en-US" sz="1350" dirty="0"/>
          </a:p>
        </p:txBody>
      </p:sp>
      <p:sp>
        <p:nvSpPr>
          <p:cNvPr id="7" name="Text 5"/>
          <p:cNvSpPr txBox="1"/>
          <p:nvPr/>
        </p:nvSpPr>
        <p:spPr>
          <a:xfrm>
            <a:off x="658368" y="2157984"/>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indice d'activité ; raisonner aussi par habitant</a:t>
            </a:r>
            <a:endParaRPr lang="en-US" sz="1150" dirty="0"/>
          </a:p>
        </p:txBody>
      </p:sp>
      <p:sp>
        <p:nvSpPr>
          <p:cNvPr id="8" name="Shape 6"/>
          <p:cNvSpPr/>
          <p:nvPr/>
        </p:nvSpPr>
        <p:spPr>
          <a:xfrm>
            <a:off x="3355848" y="1371600"/>
            <a:ext cx="2651760" cy="1481328"/>
          </a:xfrm>
          <a:prstGeom prst="roundRect">
            <a:avLst>
              <a:gd name="adj" fmla="val 7407"/>
            </a:avLst>
          </a:prstGeom>
          <a:solidFill>
            <a:srgbClr val="F4F7F5"/>
          </a:solidFill>
          <a:ln w="9525">
            <a:solidFill>
              <a:srgbClr val="F4F7F5"/>
            </a:solidFill>
            <a:prstDash val="solid"/>
          </a:ln>
        </p:spPr>
      </p:sp>
      <p:sp>
        <p:nvSpPr>
          <p:cNvPr id="9" name="Text 7"/>
          <p:cNvSpPr txBox="1"/>
          <p:nvPr/>
        </p:nvSpPr>
        <p:spPr>
          <a:xfrm>
            <a:off x="3465576" y="1426464"/>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STL</a:t>
            </a:r>
            <a:endParaRPr lang="en-US" sz="1400" dirty="0"/>
          </a:p>
        </p:txBody>
      </p:sp>
      <p:sp>
        <p:nvSpPr>
          <p:cNvPr id="10" name="Text 8"/>
          <p:cNvSpPr txBox="1"/>
          <p:nvPr/>
        </p:nvSpPr>
        <p:spPr>
          <a:xfrm>
            <a:off x="3465576" y="1755648"/>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log SoL = T + S + R</a:t>
            </a:r>
            <a:endParaRPr lang="en-US" sz="1350" dirty="0"/>
          </a:p>
        </p:txBody>
      </p:sp>
      <p:sp>
        <p:nvSpPr>
          <p:cNvPr id="11" name="Text 9"/>
          <p:cNvSpPr txBox="1"/>
          <p:nvPr/>
        </p:nvSpPr>
        <p:spPr>
          <a:xfrm>
            <a:off x="3465576" y="2157984"/>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lire la série désaisonnalisée</a:t>
            </a:r>
            <a:endParaRPr lang="en-US" sz="1150" dirty="0"/>
          </a:p>
        </p:txBody>
      </p:sp>
      <p:sp>
        <p:nvSpPr>
          <p:cNvPr id="12" name="Shape 10"/>
          <p:cNvSpPr/>
          <p:nvPr/>
        </p:nvSpPr>
        <p:spPr>
          <a:xfrm>
            <a:off x="6163056" y="1371600"/>
            <a:ext cx="2651760" cy="1481328"/>
          </a:xfrm>
          <a:prstGeom prst="roundRect">
            <a:avLst>
              <a:gd name="adj" fmla="val 7407"/>
            </a:avLst>
          </a:prstGeom>
          <a:solidFill>
            <a:srgbClr val="F4F7F5"/>
          </a:solidFill>
          <a:ln w="9525">
            <a:solidFill>
              <a:srgbClr val="F4F7F5"/>
            </a:solidFill>
            <a:prstDash val="solid"/>
          </a:ln>
        </p:spPr>
      </p:sp>
      <p:sp>
        <p:nvSpPr>
          <p:cNvPr id="13" name="Text 11"/>
          <p:cNvSpPr txBox="1"/>
          <p:nvPr/>
        </p:nvSpPr>
        <p:spPr>
          <a:xfrm>
            <a:off x="6272784" y="1426464"/>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Theil–Sen</a:t>
            </a:r>
            <a:endParaRPr lang="en-US" sz="1400" dirty="0"/>
          </a:p>
        </p:txBody>
      </p:sp>
      <p:sp>
        <p:nvSpPr>
          <p:cNvPr id="14" name="Text 12"/>
          <p:cNvSpPr txBox="1"/>
          <p:nvPr/>
        </p:nvSpPr>
        <p:spPr>
          <a:xfrm>
            <a:off x="6272784" y="1755648"/>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médiane des pentes</a:t>
            </a:r>
            <a:endParaRPr lang="en-US" sz="1350" dirty="0"/>
          </a:p>
        </p:txBody>
      </p:sp>
      <p:sp>
        <p:nvSpPr>
          <p:cNvPr id="15" name="Text 13"/>
          <p:cNvSpPr txBox="1"/>
          <p:nvPr/>
        </p:nvSpPr>
        <p:spPr>
          <a:xfrm>
            <a:off x="6272784" y="2157984"/>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croissance robuste ; classe si ≥ 1 %/an et p &lt; 0,10</a:t>
            </a:r>
            <a:endParaRPr lang="en-US" sz="1150" dirty="0"/>
          </a:p>
        </p:txBody>
      </p:sp>
      <p:sp>
        <p:nvSpPr>
          <p:cNvPr id="16" name="Shape 14"/>
          <p:cNvSpPr/>
          <p:nvPr/>
        </p:nvSpPr>
        <p:spPr>
          <a:xfrm>
            <a:off x="8970264" y="1371600"/>
            <a:ext cx="2651760" cy="1481328"/>
          </a:xfrm>
          <a:prstGeom prst="roundRect">
            <a:avLst>
              <a:gd name="adj" fmla="val 7407"/>
            </a:avLst>
          </a:prstGeom>
          <a:solidFill>
            <a:srgbClr val="F4F7F5"/>
          </a:solidFill>
          <a:ln w="9525">
            <a:solidFill>
              <a:srgbClr val="F4F7F5"/>
            </a:solidFill>
            <a:prstDash val="solid"/>
          </a:ln>
        </p:spPr>
      </p:sp>
      <p:sp>
        <p:nvSpPr>
          <p:cNvPr id="17" name="Text 15"/>
          <p:cNvSpPr txBox="1"/>
          <p:nvPr/>
        </p:nvSpPr>
        <p:spPr>
          <a:xfrm>
            <a:off x="9079992" y="1426464"/>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β-convergence</a:t>
            </a:r>
            <a:endParaRPr lang="en-US" sz="1400" dirty="0"/>
          </a:p>
        </p:txBody>
      </p:sp>
      <p:sp>
        <p:nvSpPr>
          <p:cNvPr id="18" name="Text 16"/>
          <p:cNvSpPr txBox="1"/>
          <p:nvPr/>
        </p:nvSpPr>
        <p:spPr>
          <a:xfrm>
            <a:off x="9079992" y="1755648"/>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g = a + β log x₀</a:t>
            </a:r>
            <a:endParaRPr lang="en-US" sz="1350" dirty="0"/>
          </a:p>
        </p:txBody>
      </p:sp>
      <p:sp>
        <p:nvSpPr>
          <p:cNvPr id="19" name="Text 17"/>
          <p:cNvSpPr txBox="1"/>
          <p:nvPr/>
        </p:nvSpPr>
        <p:spPr>
          <a:xfrm>
            <a:off x="9079992" y="2157984"/>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β &lt; 0 : rattrapage</a:t>
            </a:r>
            <a:endParaRPr lang="en-US" sz="1150" dirty="0"/>
          </a:p>
        </p:txBody>
      </p:sp>
      <p:sp>
        <p:nvSpPr>
          <p:cNvPr id="20" name="Shape 18"/>
          <p:cNvSpPr/>
          <p:nvPr/>
        </p:nvSpPr>
        <p:spPr>
          <a:xfrm>
            <a:off x="548640" y="2999232"/>
            <a:ext cx="2651760" cy="1481328"/>
          </a:xfrm>
          <a:prstGeom prst="roundRect">
            <a:avLst>
              <a:gd name="adj" fmla="val 7407"/>
            </a:avLst>
          </a:prstGeom>
          <a:solidFill>
            <a:srgbClr val="EAF2FB"/>
          </a:solidFill>
          <a:ln w="9525">
            <a:solidFill>
              <a:srgbClr val="EAF2FB"/>
            </a:solidFill>
            <a:prstDash val="solid"/>
          </a:ln>
        </p:spPr>
      </p:sp>
      <p:sp>
        <p:nvSpPr>
          <p:cNvPr id="21" name="Text 19"/>
          <p:cNvSpPr txBox="1"/>
          <p:nvPr/>
        </p:nvSpPr>
        <p:spPr>
          <a:xfrm>
            <a:off x="658368" y="3054096"/>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HHI</a:t>
            </a:r>
            <a:endParaRPr lang="en-US" sz="1400" dirty="0"/>
          </a:p>
        </p:txBody>
      </p:sp>
      <p:sp>
        <p:nvSpPr>
          <p:cNvPr id="22" name="Text 20"/>
          <p:cNvSpPr txBox="1"/>
          <p:nvPr/>
        </p:nvSpPr>
        <p:spPr>
          <a:xfrm>
            <a:off x="658368" y="3383280"/>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Σ sᵢ²</a:t>
            </a:r>
            <a:endParaRPr lang="en-US" sz="1350" dirty="0"/>
          </a:p>
        </p:txBody>
      </p:sp>
      <p:sp>
        <p:nvSpPr>
          <p:cNvPr id="23" name="Text 21"/>
          <p:cNvSpPr txBox="1"/>
          <p:nvPr/>
        </p:nvSpPr>
        <p:spPr>
          <a:xfrm>
            <a:off x="658368" y="3785616"/>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concentration ; 1 = une seule unité</a:t>
            </a:r>
            <a:endParaRPr lang="en-US" sz="1150" dirty="0"/>
          </a:p>
        </p:txBody>
      </p:sp>
      <p:sp>
        <p:nvSpPr>
          <p:cNvPr id="24" name="Shape 22"/>
          <p:cNvSpPr/>
          <p:nvPr/>
        </p:nvSpPr>
        <p:spPr>
          <a:xfrm>
            <a:off x="3355848" y="2999232"/>
            <a:ext cx="2651760" cy="1481328"/>
          </a:xfrm>
          <a:prstGeom prst="roundRect">
            <a:avLst>
              <a:gd name="adj" fmla="val 7407"/>
            </a:avLst>
          </a:prstGeom>
          <a:solidFill>
            <a:srgbClr val="EAF2FB"/>
          </a:solidFill>
          <a:ln w="9525">
            <a:solidFill>
              <a:srgbClr val="EAF2FB"/>
            </a:solidFill>
            <a:prstDash val="solid"/>
          </a:ln>
        </p:spPr>
      </p:sp>
      <p:sp>
        <p:nvSpPr>
          <p:cNvPr id="25" name="Text 23"/>
          <p:cNvSpPr txBox="1"/>
          <p:nvPr/>
        </p:nvSpPr>
        <p:spPr>
          <a:xfrm>
            <a:off x="3465576" y="3054096"/>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Élasticité</a:t>
            </a:r>
            <a:endParaRPr lang="en-US" sz="1400" dirty="0"/>
          </a:p>
        </p:txBody>
      </p:sp>
      <p:sp>
        <p:nvSpPr>
          <p:cNvPr id="26" name="Text 24"/>
          <p:cNvSpPr txBox="1"/>
          <p:nvPr/>
        </p:nvSpPr>
        <p:spPr>
          <a:xfrm>
            <a:off x="3465576" y="3383280"/>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log NTL = α + β log PIB</a:t>
            </a:r>
            <a:endParaRPr lang="en-US" sz="1350" dirty="0"/>
          </a:p>
        </p:txBody>
      </p:sp>
      <p:sp>
        <p:nvSpPr>
          <p:cNvPr id="27" name="Text 25"/>
          <p:cNvSpPr txBox="1"/>
          <p:nvPr/>
        </p:nvSpPr>
        <p:spPr>
          <a:xfrm>
            <a:off x="3465576" y="3785616"/>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comparer niveaux et croissance ; lire l'IC</a:t>
            </a:r>
            <a:endParaRPr lang="en-US" sz="1150" dirty="0"/>
          </a:p>
        </p:txBody>
      </p:sp>
      <p:sp>
        <p:nvSpPr>
          <p:cNvPr id="28" name="Shape 26"/>
          <p:cNvSpPr/>
          <p:nvPr/>
        </p:nvSpPr>
        <p:spPr>
          <a:xfrm>
            <a:off x="6163056" y="2999232"/>
            <a:ext cx="2651760" cy="1481328"/>
          </a:xfrm>
          <a:prstGeom prst="roundRect">
            <a:avLst>
              <a:gd name="adj" fmla="val 7407"/>
            </a:avLst>
          </a:prstGeom>
          <a:solidFill>
            <a:srgbClr val="EAF2FB"/>
          </a:solidFill>
          <a:ln w="9525">
            <a:solidFill>
              <a:srgbClr val="EAF2FB"/>
            </a:solidFill>
            <a:prstDash val="solid"/>
          </a:ln>
        </p:spPr>
      </p:sp>
      <p:sp>
        <p:nvSpPr>
          <p:cNvPr id="29" name="Text 27"/>
          <p:cNvSpPr txBox="1"/>
          <p:nvPr/>
        </p:nvSpPr>
        <p:spPr>
          <a:xfrm>
            <a:off x="6272784" y="3054096"/>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Nowcast</a:t>
            </a:r>
            <a:endParaRPr lang="en-US" sz="1400" dirty="0"/>
          </a:p>
        </p:txBody>
      </p:sp>
      <p:sp>
        <p:nvSpPr>
          <p:cNvPr id="30" name="Text 28"/>
          <p:cNvSpPr txBox="1"/>
          <p:nvPr/>
        </p:nvSpPr>
        <p:spPr>
          <a:xfrm>
            <a:off x="6272784" y="3383280"/>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Δlog PIB = a + γ Δlog NTL</a:t>
            </a:r>
            <a:endParaRPr lang="en-US" sz="1350" dirty="0"/>
          </a:p>
        </p:txBody>
      </p:sp>
      <p:sp>
        <p:nvSpPr>
          <p:cNvPr id="31" name="Text 29"/>
          <p:cNvSpPr txBox="1"/>
          <p:nvPr/>
        </p:nvSpPr>
        <p:spPr>
          <a:xfrm>
            <a:off x="6272784" y="3785616"/>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statistique expérimentale, intervalle 80 %</a:t>
            </a:r>
            <a:endParaRPr lang="en-US" sz="1150" dirty="0"/>
          </a:p>
        </p:txBody>
      </p:sp>
      <p:sp>
        <p:nvSpPr>
          <p:cNvPr id="32" name="Shape 30"/>
          <p:cNvSpPr/>
          <p:nvPr/>
        </p:nvSpPr>
        <p:spPr>
          <a:xfrm>
            <a:off x="8970264" y="2999232"/>
            <a:ext cx="2651760" cy="1481328"/>
          </a:xfrm>
          <a:prstGeom prst="roundRect">
            <a:avLst>
              <a:gd name="adj" fmla="val 7407"/>
            </a:avLst>
          </a:prstGeom>
          <a:solidFill>
            <a:srgbClr val="EAF2FB"/>
          </a:solidFill>
          <a:ln w="9525">
            <a:solidFill>
              <a:srgbClr val="EAF2FB"/>
            </a:solidFill>
            <a:prstDash val="solid"/>
          </a:ln>
        </p:spPr>
      </p:sp>
      <p:sp>
        <p:nvSpPr>
          <p:cNvPr id="33" name="Text 31"/>
          <p:cNvSpPr txBox="1"/>
          <p:nvPr/>
        </p:nvSpPr>
        <p:spPr>
          <a:xfrm>
            <a:off x="9079992" y="3054096"/>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Anomalie</a:t>
            </a:r>
            <a:endParaRPr lang="en-US" sz="1400" dirty="0"/>
          </a:p>
        </p:txBody>
      </p:sp>
      <p:sp>
        <p:nvSpPr>
          <p:cNvPr id="34" name="Text 32"/>
          <p:cNvSpPr txBox="1"/>
          <p:nvPr/>
        </p:nvSpPr>
        <p:spPr>
          <a:xfrm>
            <a:off x="9079992" y="3383280"/>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|z| ≥ 3,5 ; ≥ 5 %</a:t>
            </a:r>
            <a:endParaRPr lang="en-US" sz="1350" dirty="0"/>
          </a:p>
        </p:txBody>
      </p:sp>
      <p:sp>
        <p:nvSpPr>
          <p:cNvPr id="35" name="Text 33"/>
          <p:cNvSpPr txBox="1"/>
          <p:nvPr/>
        </p:nvSpPr>
        <p:spPr>
          <a:xfrm>
            <a:off x="9079992" y="3785616"/>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z robuste (médiane, MAD) sur le résidu STL</a:t>
            </a:r>
            <a:endParaRPr lang="en-US" sz="1150" dirty="0"/>
          </a:p>
        </p:txBody>
      </p:sp>
      <p:sp>
        <p:nvSpPr>
          <p:cNvPr id="36" name="Shape 34"/>
          <p:cNvSpPr/>
          <p:nvPr/>
        </p:nvSpPr>
        <p:spPr>
          <a:xfrm>
            <a:off x="548640" y="4626864"/>
            <a:ext cx="2651760" cy="1481328"/>
          </a:xfrm>
          <a:prstGeom prst="roundRect">
            <a:avLst>
              <a:gd name="adj" fmla="val 7407"/>
            </a:avLst>
          </a:prstGeom>
          <a:solidFill>
            <a:srgbClr val="F4F7F5"/>
          </a:solidFill>
          <a:ln w="9525">
            <a:solidFill>
              <a:srgbClr val="F4F7F5"/>
            </a:solidFill>
            <a:prstDash val="solid"/>
          </a:ln>
        </p:spPr>
      </p:sp>
      <p:sp>
        <p:nvSpPr>
          <p:cNvPr id="37" name="Text 35"/>
          <p:cNvSpPr txBox="1"/>
          <p:nvPr/>
        </p:nvSpPr>
        <p:spPr>
          <a:xfrm>
            <a:off x="658368" y="4681728"/>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Creux</a:t>
            </a:r>
            <a:endParaRPr lang="en-US" sz="1400" dirty="0"/>
          </a:p>
        </p:txBody>
      </p:sp>
      <p:sp>
        <p:nvSpPr>
          <p:cNvPr id="38" name="Text 36"/>
          <p:cNvSpPr txBox="1"/>
          <p:nvPr/>
        </p:nvSpPr>
        <p:spPr>
          <a:xfrm>
            <a:off x="658368" y="5010912"/>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écart max. / 12 mois avant</a:t>
            </a:r>
            <a:endParaRPr lang="en-US" sz="1350" dirty="0"/>
          </a:p>
        </p:txBody>
      </p:sp>
      <p:sp>
        <p:nvSpPr>
          <p:cNvPr id="39" name="Text 37"/>
          <p:cNvSpPr txBox="1"/>
          <p:nvPr/>
        </p:nvSpPr>
        <p:spPr>
          <a:xfrm>
            <a:off x="658368" y="5413248"/>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 mois de récupération</a:t>
            </a:r>
            <a:endParaRPr lang="en-US" sz="1150" dirty="0"/>
          </a:p>
        </p:txBody>
      </p:sp>
      <p:sp>
        <p:nvSpPr>
          <p:cNvPr id="40" name="Shape 38"/>
          <p:cNvSpPr/>
          <p:nvPr/>
        </p:nvSpPr>
        <p:spPr>
          <a:xfrm>
            <a:off x="3355848" y="4626864"/>
            <a:ext cx="2651760" cy="1481328"/>
          </a:xfrm>
          <a:prstGeom prst="roundRect">
            <a:avLst>
              <a:gd name="adj" fmla="val 7407"/>
            </a:avLst>
          </a:prstGeom>
          <a:solidFill>
            <a:srgbClr val="F4F7F5"/>
          </a:solidFill>
          <a:ln w="9525">
            <a:solidFill>
              <a:srgbClr val="F4F7F5"/>
            </a:solidFill>
            <a:prstDash val="solid"/>
          </a:ln>
        </p:spPr>
      </p:sp>
      <p:sp>
        <p:nvSpPr>
          <p:cNvPr id="41" name="Text 39"/>
          <p:cNvSpPr txBox="1"/>
          <p:nvPr/>
        </p:nvSpPr>
        <p:spPr>
          <a:xfrm>
            <a:off x="3465576" y="4681728"/>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Gini</a:t>
            </a:r>
            <a:endParaRPr lang="en-US" sz="1400" dirty="0"/>
          </a:p>
        </p:txBody>
      </p:sp>
      <p:sp>
        <p:nvSpPr>
          <p:cNvPr id="42" name="Text 40"/>
          <p:cNvSpPr txBox="1"/>
          <p:nvPr/>
        </p:nvSpPr>
        <p:spPr>
          <a:xfrm>
            <a:off x="3465576" y="5010912"/>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A / (A + B)</a:t>
            </a:r>
            <a:endParaRPr lang="en-US" sz="1350" dirty="0"/>
          </a:p>
        </p:txBody>
      </p:sp>
      <p:sp>
        <p:nvSpPr>
          <p:cNvPr id="43" name="Text 41"/>
          <p:cNvSpPr txBox="1"/>
          <p:nvPr/>
        </p:nvSpPr>
        <p:spPr>
          <a:xfrm>
            <a:off x="3465576" y="5413248"/>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0 égalité · 1 tout dans une unité</a:t>
            </a:r>
            <a:endParaRPr lang="en-US" sz="1150" dirty="0"/>
          </a:p>
        </p:txBody>
      </p:sp>
      <p:sp>
        <p:nvSpPr>
          <p:cNvPr id="44" name="Shape 42"/>
          <p:cNvSpPr/>
          <p:nvPr/>
        </p:nvSpPr>
        <p:spPr>
          <a:xfrm>
            <a:off x="6163056" y="4626864"/>
            <a:ext cx="2651760" cy="1481328"/>
          </a:xfrm>
          <a:prstGeom prst="roundRect">
            <a:avLst>
              <a:gd name="adj" fmla="val 7407"/>
            </a:avLst>
          </a:prstGeom>
          <a:solidFill>
            <a:srgbClr val="F4F7F5"/>
          </a:solidFill>
          <a:ln w="9525">
            <a:solidFill>
              <a:srgbClr val="F4F7F5"/>
            </a:solidFill>
            <a:prstDash val="solid"/>
          </a:ln>
        </p:spPr>
      </p:sp>
      <p:sp>
        <p:nvSpPr>
          <p:cNvPr id="45" name="Text 43"/>
          <p:cNvSpPr txBox="1"/>
          <p:nvPr/>
        </p:nvSpPr>
        <p:spPr>
          <a:xfrm>
            <a:off x="6272784" y="4681728"/>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Theil T</a:t>
            </a:r>
            <a:endParaRPr lang="en-US" sz="1400" dirty="0"/>
          </a:p>
        </p:txBody>
      </p:sp>
      <p:sp>
        <p:nvSpPr>
          <p:cNvPr id="46" name="Text 44"/>
          <p:cNvSpPr txBox="1"/>
          <p:nvPr/>
        </p:nvSpPr>
        <p:spPr>
          <a:xfrm>
            <a:off x="6272784" y="5010912"/>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entre + intra</a:t>
            </a:r>
            <a:endParaRPr lang="en-US" sz="1350" dirty="0"/>
          </a:p>
        </p:txBody>
      </p:sp>
      <p:sp>
        <p:nvSpPr>
          <p:cNvPr id="47" name="Text 45"/>
          <p:cNvSpPr txBox="1"/>
          <p:nvPr/>
        </p:nvSpPr>
        <p:spPr>
          <a:xfrm>
            <a:off x="6272784" y="5413248"/>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à quel niveau agir ?</a:t>
            </a:r>
            <a:endParaRPr lang="en-US" sz="1150" dirty="0"/>
          </a:p>
        </p:txBody>
      </p:sp>
      <p:sp>
        <p:nvSpPr>
          <p:cNvPr id="48" name="Shape 46"/>
          <p:cNvSpPr/>
          <p:nvPr/>
        </p:nvSpPr>
        <p:spPr>
          <a:xfrm>
            <a:off x="8970264" y="4626864"/>
            <a:ext cx="2651760" cy="1481328"/>
          </a:xfrm>
          <a:prstGeom prst="roundRect">
            <a:avLst>
              <a:gd name="adj" fmla="val 7407"/>
            </a:avLst>
          </a:prstGeom>
          <a:solidFill>
            <a:srgbClr val="F4F7F5"/>
          </a:solidFill>
          <a:ln w="9525">
            <a:solidFill>
              <a:srgbClr val="F4F7F5"/>
            </a:solidFill>
            <a:prstDash val="solid"/>
          </a:ln>
        </p:spPr>
      </p:sp>
      <p:sp>
        <p:nvSpPr>
          <p:cNvPr id="49" name="Text 47"/>
          <p:cNvSpPr txBox="1"/>
          <p:nvPr/>
        </p:nvSpPr>
        <p:spPr>
          <a:xfrm>
            <a:off x="9079992" y="4681728"/>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Dans le noir</a:t>
            </a:r>
            <a:endParaRPr lang="en-US" sz="1400" dirty="0"/>
          </a:p>
        </p:txBody>
      </p:sp>
      <p:sp>
        <p:nvSpPr>
          <p:cNvPr id="50" name="Text 48"/>
          <p:cNvSpPr txBox="1"/>
          <p:nvPr/>
        </p:nvSpPr>
        <p:spPr>
          <a:xfrm>
            <a:off x="9079992" y="5010912"/>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pop. ≥ 5 · r &lt; 0,5 nW</a:t>
            </a:r>
            <a:endParaRPr lang="en-US" sz="1350" dirty="0"/>
          </a:p>
        </p:txBody>
      </p:sp>
      <p:sp>
        <p:nvSpPr>
          <p:cNvPr id="51" name="Text 49"/>
          <p:cNvSpPr txBox="1"/>
          <p:nvPr/>
        </p:nvSpPr>
        <p:spPr>
          <a:xfrm>
            <a:off x="9079992" y="5413248"/>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publier une plage (0,25–1 nW)</a:t>
            </a:r>
            <a:endParaRPr lang="en-US" sz="11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43</a:t>
            </a:fld>
            <a:endParaRPr lang="en-US"/>
          </a:p>
        </p:txBody>
      </p:sp>
    </p:spTree>
  </p:cSld>
  <p:clrMapOvr>
    <a:masterClrMapping/>
  </p:clrMapOvr>
</p:sld>
</file>

<file path=ppt/theme/theme1.xml><?xml version="1.0" encoding="utf-8"?>
<a:theme xmlns:a="http://schemas.openxmlformats.org/drawingml/2006/main" name="AfDB DI4A">
  <a:themeElements>
    <a:clrScheme name="AfDB DI4A">
      <a:dk1>
        <a:srgbClr val="231F20"/>
      </a:dk1>
      <a:lt1>
        <a:srgbClr val="FFFFFF"/>
      </a:lt1>
      <a:dk2>
        <a:srgbClr val="00553A"/>
      </a:dk2>
      <a:lt2>
        <a:srgbClr val="E8F5EF"/>
      </a:lt2>
      <a:accent1>
        <a:srgbClr val="00704A"/>
      </a:accent1>
      <a:accent2>
        <a:srgbClr val="F5C242"/>
      </a:accent2>
      <a:accent3>
        <a:srgbClr val="3F7FC7"/>
      </a:accent3>
      <a:accent4>
        <a:srgbClr val="1F4E8C"/>
      </a:accent4>
      <a:accent5>
        <a:srgbClr val="00A86A"/>
      </a:accent5>
      <a:accent6>
        <a:srgbClr val="D64545"/>
      </a:accent6>
      <a:hlink>
        <a:srgbClr val="1F4E8C"/>
      </a:hlink>
      <a:folHlink>
        <a:srgbClr val="3F7FC7"/>
      </a:folHlink>
    </a:clrScheme>
    <a:fontScheme name="AfDB DI4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Banque africaine de développement – Data Innovation for Africa (DI4A)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Lumières nocturnes en pratique</dc:title>
  <dc:subject>Lumières nocturnes en pratique</dc:subject>
  <dc:creator>Banque africaine de développement – Data Innovation for Africa (DI4A)</dc:creator>
  <cp:lastModifiedBy>Banque africaine de développement – Data Innovation for Africa (DI4A)</cp:lastModifiedBy>
  <cp:revision>1</cp:revision>
  <dcterms:created xsi:type="dcterms:W3CDTF">2026-10-15T12:05:08Z</dcterms:created>
  <dcterms:modified xsi:type="dcterms:W3CDTF">2026-10-15T12:05:08Z</dcterms:modified>
</cp:coreProperties>
</file>