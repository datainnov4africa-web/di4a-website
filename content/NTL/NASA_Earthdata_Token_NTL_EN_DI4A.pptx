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0D82229-CF77-9C7F-1EB7-471014954171}">
          <p14:sldIdLst>
            <p14:sldId id="256"/>
            <p14:sldId id="257"/>
            <p14:sldId id="258"/>
          </p14:sldIdLst>
        </p14:section>
        <p14:section name="Create your account" id="{A898BED7-CBBA-6087-A793-CE731E187B1C}">
          <p14:sldIdLst>
            <p14:sldId id="259"/>
            <p14:sldId id="260"/>
          </p14:sldIdLst>
        </p14:section>
        <p14:section name="Grant access" id="{0469E7AF-4141-D7E3-DC58-A9400E185B62}">
          <p14:sldIdLst>
            <p14:sldId id="262"/>
          </p14:sldIdLst>
        </p14:section>
        <p14:section name="Get the token" id="{77CA7FE5-6679-1F48-B0B8-A97ED873DDA4}">
          <p14:sldIdLst>
            <p14:sldId id="263"/>
            <p14:sldId id="264"/>
          </p14:sldIdLst>
        </p14:section>
        <p14:section name="Use the token" id="{BCE5CCAE-C9A6-A6A3-B4DF-4E2120819316}">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1003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hands-on guide each user gets a NASA Earthdata token, the key that lets our scripts download NASA Black Marble night-lights data. Have your email open: you will need to confirm your account.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Marble is NASA’s night-lights product from the VIIRS sensor, about 500 m resolution. The files sit in the LAADS DAAC archive, which only serves them to authenticated users. The token proves who you are. The AfDB – DI4A night-lights analysis uses the monthly product, VNP46A3, to build national night-lights series.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register, activate by email, accept two EULAs, authorize the LAADS application, generate the token, then test and use it. Stress the warning: most failures come from an incomplete profile, missing EULAs or a LAADS app that was not authorized.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urs.earthdata.nasa.gov and click Register. Mandatory fields have red dots. Take care with organization, user type and study area: the World Bank guide for Black Marble notes that the bearer token will not work without them. Then click Register for Earthdata Login.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NASA sends a confirmation email. Open it and click the activation link; if you do not see it, check Spam or Promotions. Then log in with your new username and password.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in to LAADS DAAC with your Earthdata account and open a Black Marble product page such as VNP46A4. LAADS asks you to authorize the application: click the green Authorize button.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in your Earthdata profile, click Generate Token in the top menu. If no token is listed, click the green Generate Token button at the bottom, then Show Token, and copy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a token lasts 60 days, you can hold at most two valid tokens, and it is sent in the Authorization header as Bearer token. Treat it like a password.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the token in the BLACKMARBLE_TOKEN environment variable. Test it with curl on the LAADS README: you should get a text file, not an HTML login page. Then blackmarblepy reads the variable automatically; here we request monthly VNP46A3 data for 2025. R users can do the same with blackmarbler.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common problems and their fixes. Access denied usually means an incomplete profile, missing EULAs or LAADS not authorized. Expired tokens are regenerated. Two tokens is the maximum. And curl needs -L and -b session.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references for participants who want to go further.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now have a working NASA token. Keep it in your environment variable for your night-lights analysis.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rPr>
              <a:t>NASA Earthdata token · African Development Bank – Data Innovation for Africa (DI4A)</a:t>
            </a:r>
            <a:endParaRPr lang="en-US" sz="850" dirty="0"/>
          </a:p>
        </p:txBody>
      </p:sp>
      <p:sp>
        <p:nvSpPr>
          <p:cNvPr id="25"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hyperlink" Target="https://pypi.org/project/blackmarblepy/" TargetMode="External"/><Relationship Id="rId3" Type="http://schemas.openxmlformats.org/officeDocument/2006/relationships/image" Target="../media/image26.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hyperlink" Target="https://worldbank.github.io/blackmarbler/" TargetMode="External"/><Relationship Id="rId5" Type="http://schemas.openxmlformats.org/officeDocument/2006/relationships/hyperlink" Target="https://ladsweb.modaps.eosdis.nasa.gov/learn/download-files-using-edl-tokens/" TargetMode="External"/><Relationship Id="rId4" Type="http://schemas.openxmlformats.org/officeDocument/2006/relationships/hyperlink" Target="https://urs.earthdata.nasa.gov/documentation/for_users/user_token"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60120"/>
            <a:ext cx="5760720" cy="274320"/>
          </a:xfrm>
          <a:prstGeom prst="rect">
            <a:avLst/>
          </a:prstGeom>
          <a:noFill/>
          <a:ln/>
        </p:spPr>
        <p:txBody>
          <a:bodyPr wrap="square" lIns="0" tIns="0" rIns="0" bIns="0" rtlCol="0" anchor="ctr"/>
          <a:lstStyle/>
          <a:p>
            <a:pPr marL="0" indent="0">
              <a:buNone/>
            </a:pPr>
            <a:r>
              <a:rPr lang="en-US" sz="1100" b="1" kern="0" spc="200" dirty="0">
                <a:solidFill>
                  <a:srgbClr val="F5C242"/>
                </a:solidFill>
                <a:latin typeface="Calibri" pitchFamily="34" charset="0"/>
                <a:ea typeface="Calibri" pitchFamily="34" charset="-122"/>
                <a:cs typeface="Calibri" pitchFamily="34" charset="-120"/>
              </a:rPr>
              <a:t>AFDB · DATA INNOVATION FOR AFRICA (DI4A)</a:t>
            </a:r>
            <a:endParaRPr lang="en-US" sz="1100" dirty="0"/>
          </a:p>
        </p:txBody>
      </p:sp>
      <p:sp>
        <p:nvSpPr>
          <p:cNvPr id="3" name="Text 1"/>
          <p:cNvSpPr txBox="1"/>
          <p:nvPr/>
        </p:nvSpPr>
        <p:spPr>
          <a:xfrm>
            <a:off x="548640" y="1280160"/>
            <a:ext cx="5760720" cy="15087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Get a NASA Earthdata token for night-lights data</a:t>
            </a:r>
            <a:endParaRPr lang="en-US" sz="3200" dirty="0"/>
          </a:p>
        </p:txBody>
      </p:sp>
      <p:sp>
        <p:nvSpPr>
          <p:cNvPr id="4" name="Text 2"/>
          <p:cNvSpPr txBox="1"/>
          <p:nvPr/>
        </p:nvSpPr>
        <p:spPr>
          <a:xfrm>
            <a:off x="548640" y="2926080"/>
            <a:ext cx="5486400" cy="685800"/>
          </a:xfrm>
          <a:prstGeom prst="rect">
            <a:avLst/>
          </a:prstGeom>
          <a:noFill/>
          <a:ln/>
        </p:spPr>
        <p:txBody>
          <a:bodyPr wrap="square" lIns="0" tIns="0" rIns="0" bIns="0" rtlCol="0" anchor="t"/>
          <a:lstStyle/>
          <a:p>
            <a:pPr marL="0" indent="0">
              <a:buNone/>
            </a:pPr>
            <a:r>
              <a:rPr lang="en-US" sz="1700" i="1" dirty="0">
                <a:solidFill>
                  <a:srgbClr val="E8F4EB"/>
                </a:solidFill>
                <a:latin typeface="Calibri" pitchFamily="34" charset="0"/>
                <a:ea typeface="Calibri" pitchFamily="34" charset="-122"/>
                <a:cs typeface="Calibri" pitchFamily="34" charset="-120"/>
              </a:rPr>
              <a:t>Access NASA Black Marble (VNP46) data in six steps</a:t>
            </a:r>
            <a:endParaRPr lang="en-US" sz="1700" dirty="0"/>
          </a:p>
        </p:txBody>
      </p:sp>
      <p:sp>
        <p:nvSpPr>
          <p:cNvPr id="5" name="Shape 3"/>
          <p:cNvSpPr/>
          <p:nvPr/>
        </p:nvSpPr>
        <p:spPr>
          <a:xfrm>
            <a:off x="5897880" y="731520"/>
            <a:ext cx="2834640" cy="2834640"/>
          </a:xfrm>
          <a:prstGeom prst="ellipse">
            <a:avLst/>
          </a:prstGeom>
          <a:solidFill>
            <a:srgbClr val="FFFFFF">
              <a:alpha val="12000"/>
            </a:srgbClr>
          </a:solidFill>
          <a:ln w="9525">
            <a:solidFill>
              <a:srgbClr val="FFFFFF">
                <a:alpha val="30000"/>
              </a:srgbClr>
            </a:solidFill>
            <a:prstDash val="solid"/>
          </a:ln>
        </p:spPr>
      </p:sp>
      <p:sp>
        <p:nvSpPr>
          <p:cNvPr id="6" name="Shape 4"/>
          <p:cNvSpPr/>
          <p:nvPr/>
        </p:nvSpPr>
        <p:spPr>
          <a:xfrm>
            <a:off x="6291072" y="1124712"/>
            <a:ext cx="2048256" cy="2048256"/>
          </a:xfrm>
          <a:prstGeom prst="ellipse">
            <a:avLst/>
          </a:prstGeom>
          <a:solidFill>
            <a:srgbClr val="FFFFFF">
              <a:alpha val="10000"/>
            </a:srgbClr>
          </a:solidFill>
          <a:ln w="9525">
            <a:solidFill>
              <a:srgbClr val="FFFFFF">
                <a:alpha val="30000"/>
              </a:srgbClr>
            </a:solidFill>
            <a:prstDash val="solid"/>
          </a:ln>
        </p:spPr>
      </p:sp>
      <p:sp>
        <p:nvSpPr>
          <p:cNvPr id="7" name="Shape 5"/>
          <p:cNvSpPr/>
          <p:nvPr/>
        </p:nvSpPr>
        <p:spPr>
          <a:xfrm>
            <a:off x="6629400" y="1463040"/>
            <a:ext cx="1371600" cy="1371600"/>
          </a:xfrm>
          <a:prstGeom prst="ellipse">
            <a:avLst/>
          </a:prstGeom>
          <a:solidFill>
            <a:srgbClr val="FFFFFF"/>
          </a:solidFill>
          <a:ln/>
        </p:spPr>
      </p:sp>
      <p:pic>
        <p:nvPicPr>
          <p:cNvPr id="8" name="Image 0" descr="/home/claude/work/ntl/icons/satellite_g2.png"/>
          <p:cNvPicPr>
            <a:picLocks noChangeAspect="1"/>
          </p:cNvPicPr>
          <p:nvPr/>
        </p:nvPicPr>
        <p:blipFill>
          <a:blip r:embed="rId3"/>
          <a:stretch>
            <a:fillRect/>
          </a:stretch>
        </p:blipFill>
        <p:spPr>
          <a:xfrm>
            <a:off x="6931152" y="1764792"/>
            <a:ext cx="768096" cy="768096"/>
          </a:xfrm>
          <a:prstGeom prst="rect">
            <a:avLst/>
          </a:prstGeom>
        </p:spPr>
      </p:pic>
      <p:pic>
        <p:nvPicPr>
          <p:cNvPr id="9" name="Image 1" descr="African Development Bank – Data Innovation for Africa (DI4A) logo"/>
          <p:cNvPicPr>
            <a:picLocks noChangeAspect="1"/>
          </p:cNvPicPr>
          <p:nvPr/>
        </p:nvPicPr>
        <p:blipFill>
          <a:blip r:embed="rId4"/>
          <a:stretch>
            <a:fillRect/>
          </a:stretch>
        </p:blipFill>
        <p:spPr>
          <a:xfrm>
            <a:off x="548640" y="4069080"/>
            <a:ext cx="1980311" cy="566928"/>
          </a:xfrm>
          <a:prstGeom prst="rect">
            <a:avLst/>
          </a:prstGeom>
        </p:spPr>
      </p:pic>
      <p:sp>
        <p:nvSpPr>
          <p:cNvPr id="10" name="Text 6"/>
          <p:cNvSpPr txBox="1"/>
          <p:nvPr/>
        </p:nvSpPr>
        <p:spPr>
          <a:xfrm>
            <a:off x="2757551" y="4069080"/>
            <a:ext cx="5669280" cy="566928"/>
          </a:xfrm>
          <a:prstGeom prst="rect">
            <a:avLst/>
          </a:prstGeom>
          <a:noFill/>
          <a:ln/>
        </p:spPr>
        <p:txBody>
          <a:bodyPr wrap="square" lIns="0" tIns="0" rIns="0" bIns="0" rtlCol="0" anchor="ctr"/>
          <a:lstStyle/>
          <a:p>
            <a:pPr marL="0" indent="0">
              <a:spcBef>
                <a:spcPts val="200"/>
              </a:spcBef>
              <a:buNone/>
            </a:pPr>
            <a:r>
              <a:rPr lang="en-US" sz="1100" b="1" dirty="0">
                <a:solidFill>
                  <a:srgbClr val="FFFFFF"/>
                </a:solidFill>
                <a:latin typeface="Calibri" pitchFamily="34" charset="0"/>
                <a:ea typeface="Calibri" pitchFamily="34" charset="-122"/>
                <a:cs typeface="Calibri" pitchFamily="34" charset="-120"/>
              </a:rPr>
              <a:t>African Development Bank (AfDB)</a:t>
            </a:r>
            <a:endParaRPr lang="en-US" sz="1100" dirty="0"/>
          </a:p>
          <a:p>
            <a:pPr marL="0" indent="0">
              <a:spcBef>
                <a:spcPts val="200"/>
              </a:spcBef>
              <a:buNone/>
            </a:pPr>
            <a:r>
              <a:rPr lang="en-US" sz="1100" dirty="0">
                <a:solidFill>
                  <a:srgbClr val="E8F4EB"/>
                </a:solidFill>
                <a:latin typeface="Calibri" pitchFamily="34" charset="0"/>
                <a:ea typeface="Calibri" pitchFamily="34" charset="-122"/>
                <a:cs typeface="Calibri" pitchFamily="34" charset="-120"/>
              </a:rPr>
              <a:t>Data Innovation for Africa (DI4A)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WHY A NASA TOKEN</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One token unlocks NASA Black Marble</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98448"/>
            <a:ext cx="1481328" cy="1417320"/>
          </a:xfrm>
          <a:prstGeom prst="roundRect">
            <a:avLst>
              <a:gd name="adj" fmla="val 5161"/>
            </a:avLst>
          </a:prstGeom>
          <a:solidFill>
            <a:srgbClr val="F4F8F5"/>
          </a:solidFill>
          <a:ln w="9525">
            <a:solidFill>
              <a:srgbClr val="D3E2D7"/>
            </a:solidFill>
            <a:prstDash val="solid"/>
          </a:ln>
        </p:spPr>
      </p:sp>
      <p:sp>
        <p:nvSpPr>
          <p:cNvPr id="11" name="Shape 9"/>
          <p:cNvSpPr/>
          <p:nvPr/>
        </p:nvSpPr>
        <p:spPr>
          <a:xfrm>
            <a:off x="946404" y="1444752"/>
            <a:ext cx="502920" cy="502920"/>
          </a:xfrm>
          <a:prstGeom prst="ellipse">
            <a:avLst/>
          </a:prstGeom>
          <a:solidFill>
            <a:srgbClr val="0E5A2E">
              <a:alpha val="20000"/>
            </a:srgbClr>
          </a:solidFill>
          <a:ln/>
        </p:spPr>
      </p:sp>
      <p:pic>
        <p:nvPicPr>
          <p:cNvPr id="12" name="Image 0" descr="/home/claude/work/ntl/icons/userplus_g2.png"/>
          <p:cNvPicPr>
            <a:picLocks noChangeAspect="1"/>
          </p:cNvPicPr>
          <p:nvPr/>
        </p:nvPicPr>
        <p:blipFill>
          <a:blip r:embed="rId3"/>
          <a:stretch>
            <a:fillRect/>
          </a:stretch>
        </p:blipFill>
        <p:spPr>
          <a:xfrm>
            <a:off x="1082192" y="1580540"/>
            <a:ext cx="231343" cy="231343"/>
          </a:xfrm>
          <a:prstGeom prst="rect">
            <a:avLst/>
          </a:prstGeom>
        </p:spPr>
      </p:pic>
      <p:sp>
        <p:nvSpPr>
          <p:cNvPr id="13" name="Text 10"/>
          <p:cNvSpPr txBox="1"/>
          <p:nvPr/>
        </p:nvSpPr>
        <p:spPr>
          <a:xfrm>
            <a:off x="53035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Earthdata account</a:t>
            </a:r>
            <a:endParaRPr lang="en-US" sz="1200" dirty="0"/>
          </a:p>
        </p:txBody>
      </p:sp>
      <p:sp>
        <p:nvSpPr>
          <p:cNvPr id="14" name="Text 11"/>
          <p:cNvSpPr txBox="1"/>
          <p:nvPr/>
        </p:nvSpPr>
        <p:spPr>
          <a:xfrm>
            <a:off x="54864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Free NASA login</a:t>
            </a:r>
            <a:endParaRPr lang="en-US" sz="950" dirty="0"/>
          </a:p>
        </p:txBody>
      </p:sp>
      <p:pic>
        <p:nvPicPr>
          <p:cNvPr id="15" name="Image 1" descr="/home/claude/work/ntl/icons/arrow_g1.png"/>
          <p:cNvPicPr>
            <a:picLocks noChangeAspect="1"/>
          </p:cNvPicPr>
          <p:nvPr/>
        </p:nvPicPr>
        <p:blipFill>
          <a:blip r:embed="rId4"/>
          <a:stretch>
            <a:fillRect/>
          </a:stretch>
        </p:blipFill>
        <p:spPr>
          <a:xfrm>
            <a:off x="1965960" y="1920240"/>
            <a:ext cx="155448" cy="155448"/>
          </a:xfrm>
          <a:prstGeom prst="rect">
            <a:avLst/>
          </a:prstGeom>
        </p:spPr>
      </p:pic>
      <p:sp>
        <p:nvSpPr>
          <p:cNvPr id="16" name="Shape 12"/>
          <p:cNvSpPr/>
          <p:nvPr/>
        </p:nvSpPr>
        <p:spPr>
          <a:xfrm>
            <a:off x="2148840" y="1298448"/>
            <a:ext cx="1481328" cy="1417320"/>
          </a:xfrm>
          <a:prstGeom prst="roundRect">
            <a:avLst>
              <a:gd name="adj" fmla="val 5161"/>
            </a:avLst>
          </a:prstGeom>
          <a:solidFill>
            <a:srgbClr val="F5C242">
              <a:alpha val="20000"/>
            </a:srgbClr>
          </a:solidFill>
          <a:ln w="19050">
            <a:solidFill>
              <a:srgbClr val="D49A00"/>
            </a:solidFill>
            <a:prstDash val="solid"/>
          </a:ln>
        </p:spPr>
      </p:sp>
      <p:sp>
        <p:nvSpPr>
          <p:cNvPr id="17" name="Shape 13"/>
          <p:cNvSpPr/>
          <p:nvPr/>
        </p:nvSpPr>
        <p:spPr>
          <a:xfrm>
            <a:off x="2638044" y="1444752"/>
            <a:ext cx="502920" cy="502920"/>
          </a:xfrm>
          <a:prstGeom prst="ellipse">
            <a:avLst/>
          </a:prstGeom>
          <a:solidFill>
            <a:srgbClr val="D49A00">
              <a:alpha val="20000"/>
            </a:srgbClr>
          </a:solidFill>
          <a:ln/>
        </p:spPr>
      </p:sp>
      <p:pic>
        <p:nvPicPr>
          <p:cNvPr id="18" name="Image 2" descr="/home/claude/work/ntl/icons/key_gold.png"/>
          <p:cNvPicPr>
            <a:picLocks noChangeAspect="1"/>
          </p:cNvPicPr>
          <p:nvPr/>
        </p:nvPicPr>
        <p:blipFill>
          <a:blip r:embed="rId5"/>
          <a:stretch>
            <a:fillRect/>
          </a:stretch>
        </p:blipFill>
        <p:spPr>
          <a:xfrm>
            <a:off x="2773832" y="1580540"/>
            <a:ext cx="231343" cy="231343"/>
          </a:xfrm>
          <a:prstGeom prst="rect">
            <a:avLst/>
          </a:prstGeom>
        </p:spPr>
      </p:pic>
      <p:sp>
        <p:nvSpPr>
          <p:cNvPr id="19" name="Text 14"/>
          <p:cNvSpPr txBox="1"/>
          <p:nvPr/>
        </p:nvSpPr>
        <p:spPr>
          <a:xfrm>
            <a:off x="222199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Bearer token</a:t>
            </a:r>
            <a:endParaRPr lang="en-US" sz="1200" dirty="0"/>
          </a:p>
        </p:txBody>
      </p:sp>
      <p:sp>
        <p:nvSpPr>
          <p:cNvPr id="20" name="Text 15"/>
          <p:cNvSpPr txBox="1"/>
          <p:nvPr/>
        </p:nvSpPr>
        <p:spPr>
          <a:xfrm>
            <a:off x="224028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Your access key, valid 60 days</a:t>
            </a:r>
            <a:endParaRPr lang="en-US" sz="950" dirty="0"/>
          </a:p>
        </p:txBody>
      </p:sp>
      <p:pic>
        <p:nvPicPr>
          <p:cNvPr id="21" name="Image 3" descr="/home/claude/work/ntl/icons/arrow_g1.png"/>
          <p:cNvPicPr>
            <a:picLocks noChangeAspect="1"/>
          </p:cNvPicPr>
          <p:nvPr/>
        </p:nvPicPr>
        <p:blipFill>
          <a:blip r:embed="rId4"/>
          <a:stretch>
            <a:fillRect/>
          </a:stretch>
        </p:blipFill>
        <p:spPr>
          <a:xfrm>
            <a:off x="3657600" y="1920240"/>
            <a:ext cx="155448" cy="155448"/>
          </a:xfrm>
          <a:prstGeom prst="rect">
            <a:avLst/>
          </a:prstGeom>
        </p:spPr>
      </p:pic>
      <p:sp>
        <p:nvSpPr>
          <p:cNvPr id="22" name="Shape 16"/>
          <p:cNvSpPr/>
          <p:nvPr/>
        </p:nvSpPr>
        <p:spPr>
          <a:xfrm>
            <a:off x="3840480" y="1298448"/>
            <a:ext cx="1481328" cy="1417320"/>
          </a:xfrm>
          <a:prstGeom prst="roundRect">
            <a:avLst>
              <a:gd name="adj" fmla="val 5161"/>
            </a:avLst>
          </a:prstGeom>
          <a:solidFill>
            <a:srgbClr val="F4F8F5"/>
          </a:solidFill>
          <a:ln w="9525">
            <a:solidFill>
              <a:srgbClr val="D3E2D7"/>
            </a:solidFill>
            <a:prstDash val="solid"/>
          </a:ln>
        </p:spPr>
      </p:sp>
      <p:sp>
        <p:nvSpPr>
          <p:cNvPr id="23" name="Shape 17"/>
          <p:cNvSpPr/>
          <p:nvPr/>
        </p:nvSpPr>
        <p:spPr>
          <a:xfrm>
            <a:off x="4329684" y="1444752"/>
            <a:ext cx="502920" cy="502920"/>
          </a:xfrm>
          <a:prstGeom prst="ellipse">
            <a:avLst/>
          </a:prstGeom>
          <a:solidFill>
            <a:srgbClr val="0E5A2E">
              <a:alpha val="20000"/>
            </a:srgbClr>
          </a:solidFill>
          <a:ln/>
        </p:spPr>
      </p:sp>
      <p:pic>
        <p:nvPicPr>
          <p:cNvPr id="24" name="Image 4" descr="/home/claude/work/ntl/icons/database_g2.png"/>
          <p:cNvPicPr>
            <a:picLocks noChangeAspect="1"/>
          </p:cNvPicPr>
          <p:nvPr/>
        </p:nvPicPr>
        <p:blipFill>
          <a:blip r:embed="rId6"/>
          <a:stretch>
            <a:fillRect/>
          </a:stretch>
        </p:blipFill>
        <p:spPr>
          <a:xfrm>
            <a:off x="4465472" y="1580540"/>
            <a:ext cx="231343" cy="231343"/>
          </a:xfrm>
          <a:prstGeom prst="rect">
            <a:avLst/>
          </a:prstGeom>
        </p:spPr>
      </p:pic>
      <p:sp>
        <p:nvSpPr>
          <p:cNvPr id="25" name="Text 18"/>
          <p:cNvSpPr txBox="1"/>
          <p:nvPr/>
        </p:nvSpPr>
        <p:spPr>
          <a:xfrm>
            <a:off x="391363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LAADS DAAC</a:t>
            </a:r>
            <a:endParaRPr lang="en-US" sz="1200" dirty="0"/>
          </a:p>
        </p:txBody>
      </p:sp>
      <p:sp>
        <p:nvSpPr>
          <p:cNvPr id="26" name="Text 19"/>
          <p:cNvSpPr txBox="1"/>
          <p:nvPr/>
        </p:nvSpPr>
        <p:spPr>
          <a:xfrm>
            <a:off x="393192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NASA archive hosting VNP46</a:t>
            </a:r>
            <a:endParaRPr lang="en-US" sz="950" dirty="0"/>
          </a:p>
        </p:txBody>
      </p:sp>
      <p:pic>
        <p:nvPicPr>
          <p:cNvPr id="27" name="Image 5" descr="/home/claude/work/ntl/icons/arrow_g1.png"/>
          <p:cNvPicPr>
            <a:picLocks noChangeAspect="1"/>
          </p:cNvPicPr>
          <p:nvPr/>
        </p:nvPicPr>
        <p:blipFill>
          <a:blip r:embed="rId4"/>
          <a:stretch>
            <a:fillRect/>
          </a:stretch>
        </p:blipFill>
        <p:spPr>
          <a:xfrm>
            <a:off x="5349240" y="1920240"/>
            <a:ext cx="155448" cy="155448"/>
          </a:xfrm>
          <a:prstGeom prst="rect">
            <a:avLst/>
          </a:prstGeom>
        </p:spPr>
      </p:pic>
      <p:sp>
        <p:nvSpPr>
          <p:cNvPr id="28" name="Shape 20"/>
          <p:cNvSpPr/>
          <p:nvPr/>
        </p:nvSpPr>
        <p:spPr>
          <a:xfrm>
            <a:off x="5532120" y="1298448"/>
            <a:ext cx="1481328" cy="1417320"/>
          </a:xfrm>
          <a:prstGeom prst="roundRect">
            <a:avLst>
              <a:gd name="adj" fmla="val 5161"/>
            </a:avLst>
          </a:prstGeom>
          <a:solidFill>
            <a:srgbClr val="F4F8F5"/>
          </a:solidFill>
          <a:ln w="9525">
            <a:solidFill>
              <a:srgbClr val="D3E2D7"/>
            </a:solidFill>
            <a:prstDash val="solid"/>
          </a:ln>
        </p:spPr>
      </p:sp>
      <p:sp>
        <p:nvSpPr>
          <p:cNvPr id="29" name="Shape 21"/>
          <p:cNvSpPr/>
          <p:nvPr/>
        </p:nvSpPr>
        <p:spPr>
          <a:xfrm>
            <a:off x="6021324" y="1444752"/>
            <a:ext cx="502920" cy="502920"/>
          </a:xfrm>
          <a:prstGeom prst="ellipse">
            <a:avLst/>
          </a:prstGeom>
          <a:solidFill>
            <a:srgbClr val="0E5A2E">
              <a:alpha val="20000"/>
            </a:srgbClr>
          </a:solidFill>
          <a:ln/>
        </p:spPr>
      </p:sp>
      <p:pic>
        <p:nvPicPr>
          <p:cNvPr id="30" name="Image 6" descr="/home/claude/work/ntl/icons/python_g2.png"/>
          <p:cNvPicPr>
            <a:picLocks noChangeAspect="1"/>
          </p:cNvPicPr>
          <p:nvPr/>
        </p:nvPicPr>
        <p:blipFill>
          <a:blip r:embed="rId7"/>
          <a:stretch>
            <a:fillRect/>
          </a:stretch>
        </p:blipFill>
        <p:spPr>
          <a:xfrm>
            <a:off x="6157112" y="1580540"/>
            <a:ext cx="231343" cy="231343"/>
          </a:xfrm>
          <a:prstGeom prst="rect">
            <a:avLst/>
          </a:prstGeom>
        </p:spPr>
      </p:pic>
      <p:sp>
        <p:nvSpPr>
          <p:cNvPr id="31" name="Text 22"/>
          <p:cNvSpPr txBox="1"/>
          <p:nvPr/>
        </p:nvSpPr>
        <p:spPr>
          <a:xfrm>
            <a:off x="560527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blackmarblepy</a:t>
            </a:r>
            <a:endParaRPr lang="en-US" sz="1200" dirty="0"/>
          </a:p>
        </p:txBody>
      </p:sp>
      <p:sp>
        <p:nvSpPr>
          <p:cNvPr id="32" name="Text 23"/>
          <p:cNvSpPr txBox="1"/>
          <p:nvPr/>
        </p:nvSpPr>
        <p:spPr>
          <a:xfrm>
            <a:off x="562356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Python / R: download and clip</a:t>
            </a:r>
            <a:endParaRPr lang="en-US" sz="950" dirty="0"/>
          </a:p>
        </p:txBody>
      </p:sp>
      <p:pic>
        <p:nvPicPr>
          <p:cNvPr id="33" name="Image 7" descr="/home/claude/work/ntl/icons/arrow_g1.png"/>
          <p:cNvPicPr>
            <a:picLocks noChangeAspect="1"/>
          </p:cNvPicPr>
          <p:nvPr/>
        </p:nvPicPr>
        <p:blipFill>
          <a:blip r:embed="rId4"/>
          <a:stretch>
            <a:fillRect/>
          </a:stretch>
        </p:blipFill>
        <p:spPr>
          <a:xfrm>
            <a:off x="7040880" y="1920240"/>
            <a:ext cx="155448" cy="155448"/>
          </a:xfrm>
          <a:prstGeom prst="rect">
            <a:avLst/>
          </a:prstGeom>
        </p:spPr>
      </p:pic>
      <p:sp>
        <p:nvSpPr>
          <p:cNvPr id="34" name="Shape 24"/>
          <p:cNvSpPr/>
          <p:nvPr/>
        </p:nvSpPr>
        <p:spPr>
          <a:xfrm>
            <a:off x="7223760" y="1298448"/>
            <a:ext cx="1481328" cy="1417320"/>
          </a:xfrm>
          <a:prstGeom prst="roundRect">
            <a:avLst>
              <a:gd name="adj" fmla="val 5161"/>
            </a:avLst>
          </a:prstGeom>
          <a:solidFill>
            <a:srgbClr val="F4F8F5"/>
          </a:solidFill>
          <a:ln w="9525">
            <a:solidFill>
              <a:srgbClr val="D3E2D7"/>
            </a:solidFill>
            <a:prstDash val="solid"/>
          </a:ln>
        </p:spPr>
      </p:sp>
      <p:sp>
        <p:nvSpPr>
          <p:cNvPr id="35" name="Shape 25"/>
          <p:cNvSpPr/>
          <p:nvPr/>
        </p:nvSpPr>
        <p:spPr>
          <a:xfrm>
            <a:off x="7712964" y="1444752"/>
            <a:ext cx="502920" cy="502920"/>
          </a:xfrm>
          <a:prstGeom prst="ellipse">
            <a:avLst/>
          </a:prstGeom>
          <a:solidFill>
            <a:srgbClr val="0E5A2E">
              <a:alpha val="20000"/>
            </a:srgbClr>
          </a:solidFill>
          <a:ln/>
        </p:spPr>
      </p:sp>
      <p:pic>
        <p:nvPicPr>
          <p:cNvPr id="36" name="Image 8" descr="/home/claude/work/ntl/icons/chart_g2.png"/>
          <p:cNvPicPr>
            <a:picLocks noChangeAspect="1"/>
          </p:cNvPicPr>
          <p:nvPr/>
        </p:nvPicPr>
        <p:blipFill>
          <a:blip r:embed="rId8"/>
          <a:stretch>
            <a:fillRect/>
          </a:stretch>
        </p:blipFill>
        <p:spPr>
          <a:xfrm>
            <a:off x="7848752" y="1580540"/>
            <a:ext cx="231343" cy="231343"/>
          </a:xfrm>
          <a:prstGeom prst="rect">
            <a:avLst/>
          </a:prstGeom>
        </p:spPr>
      </p:pic>
      <p:sp>
        <p:nvSpPr>
          <p:cNvPr id="37" name="Text 26"/>
          <p:cNvSpPr txBox="1"/>
          <p:nvPr/>
        </p:nvSpPr>
        <p:spPr>
          <a:xfrm>
            <a:off x="729691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NTL series</a:t>
            </a:r>
            <a:endParaRPr lang="en-US" sz="1200" dirty="0"/>
          </a:p>
        </p:txBody>
      </p:sp>
      <p:sp>
        <p:nvSpPr>
          <p:cNvPr id="38" name="Text 27"/>
          <p:cNvSpPr txBox="1"/>
          <p:nvPr/>
        </p:nvSpPr>
        <p:spPr>
          <a:xfrm>
            <a:off x="731520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Monthly national indicators</a:t>
            </a:r>
            <a:endParaRPr lang="en-US" sz="950" dirty="0"/>
          </a:p>
        </p:txBody>
      </p:sp>
      <p:sp>
        <p:nvSpPr>
          <p:cNvPr id="39" name="Text 28"/>
          <p:cNvSpPr txBox="1"/>
          <p:nvPr/>
        </p:nvSpPr>
        <p:spPr>
          <a:xfrm>
            <a:off x="457200" y="2898648"/>
            <a:ext cx="4206240" cy="228600"/>
          </a:xfrm>
          <a:prstGeom prst="rect">
            <a:avLst/>
          </a:prstGeom>
          <a:noFill/>
          <a:ln/>
        </p:spPr>
        <p:txBody>
          <a:bodyPr wrap="square" lIns="0" tIns="0" rIns="0" bIns="0" rtlCol="0" anchor="t"/>
          <a:lstStyle/>
          <a:p>
            <a:pPr marL="0" indent="0">
              <a:buNone/>
            </a:pPr>
            <a:r>
              <a:rPr lang="en-US" sz="1100" b="1" dirty="0">
                <a:solidFill>
                  <a:srgbClr val="0E5A2E"/>
                </a:solidFill>
                <a:latin typeface="Calibri" pitchFamily="34" charset="0"/>
                <a:ea typeface="Calibri" pitchFamily="34" charset="-122"/>
                <a:cs typeface="Calibri" pitchFamily="34" charset="-120"/>
              </a:rPr>
              <a:t>Black Marble products (VIIRS, ~500 m)</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420624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21945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Product</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2C9045"/>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Content</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2C9045"/>
                    </a:solidFill>
                  </a:tcPr>
                </a:tc>
                <a:extLst>
                  <a:ext uri="{0D108BD9-81ED-4DB2-BD59-A6C34878D82A}">
                    <a16:rowId xmlns:a16="http://schemas.microsoft.com/office/drawing/2014/main" val="10000"/>
                  </a:ext>
                </a:extLst>
              </a:tr>
              <a:tr h="219456">
                <a:tc>
                  <a:txBody>
                    <a:bodyPr/>
                    <a:lstStyle/>
                    <a:p>
                      <a:pPr marL="0" indent="0">
                        <a:buNone/>
                      </a:pPr>
                      <a:r>
                        <a:rPr lang="en-US" sz="950" b="1" dirty="0">
                          <a:solidFill>
                            <a:srgbClr val="0E5A2E"/>
                          </a:solidFill>
                          <a:latin typeface="Calibri" pitchFamily="34" charset="0"/>
                          <a:ea typeface="Calibri" pitchFamily="34" charset="-122"/>
                          <a:cs typeface="Calibri" pitchFamily="34" charset="-120"/>
                        </a:rPr>
                        <a:t>VNP46A1</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tc>
                  <a:txBody>
                    <a:bodyPr/>
                    <a:lstStyle/>
                    <a:p>
                      <a:pPr marL="0" indent="0">
                        <a:buNone/>
                      </a:pPr>
                      <a:r>
                        <a:rPr lang="en-US" sz="950" dirty="0">
                          <a:solidFill>
                            <a:srgbClr val="231F20"/>
                          </a:solidFill>
                          <a:latin typeface="Calibri" pitchFamily="34" charset="0"/>
                          <a:ea typeface="Calibri" pitchFamily="34" charset="-122"/>
                          <a:cs typeface="Calibri" pitchFamily="34" charset="-120"/>
                        </a:rPr>
                        <a:t>Daily, at-sensor radiance</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950" b="1" dirty="0">
                          <a:solidFill>
                            <a:srgbClr val="0E5A2E"/>
                          </a:solidFill>
                          <a:latin typeface="Calibri" pitchFamily="34" charset="0"/>
                          <a:ea typeface="Calibri" pitchFamily="34" charset="-122"/>
                          <a:cs typeface="Calibri" pitchFamily="34" charset="-120"/>
                        </a:rPr>
                        <a:t>VNP46A2</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tc>
                  <a:txBody>
                    <a:bodyPr/>
                    <a:lstStyle/>
                    <a:p>
                      <a:pPr marL="0" indent="0">
                        <a:buNone/>
                      </a:pPr>
                      <a:r>
                        <a:rPr lang="en-US" sz="950" dirty="0">
                          <a:solidFill>
                            <a:srgbClr val="231F20"/>
                          </a:solidFill>
                          <a:latin typeface="Calibri" pitchFamily="34" charset="0"/>
                          <a:ea typeface="Calibri" pitchFamily="34" charset="-122"/>
                          <a:cs typeface="Calibri" pitchFamily="34" charset="-120"/>
                        </a:rPr>
                        <a:t>Daily, moonlight-corrected, gap-filled</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buNone/>
                      </a:pPr>
                      <a:r>
                        <a:rPr lang="en-US" sz="950" b="1" dirty="0">
                          <a:solidFill>
                            <a:srgbClr val="0E5A2E"/>
                          </a:solidFill>
                          <a:latin typeface="Calibri" pitchFamily="34" charset="0"/>
                          <a:ea typeface="Calibri" pitchFamily="34" charset="-122"/>
                          <a:cs typeface="Calibri" pitchFamily="34" charset="-120"/>
                        </a:rPr>
                        <a:t>VNP46A3</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DF3DC"/>
                    </a:solidFill>
                  </a:tcPr>
                </a:tc>
                <a:tc>
                  <a:txBody>
                    <a:bodyPr/>
                    <a:lstStyle/>
                    <a:p>
                      <a:pPr marL="0" indent="0">
                        <a:buNone/>
                      </a:pPr>
                      <a:r>
                        <a:rPr lang="en-US" sz="950" dirty="0">
                          <a:solidFill>
                            <a:srgbClr val="231F20"/>
                          </a:solidFill>
                          <a:latin typeface="Calibri" pitchFamily="34" charset="0"/>
                          <a:ea typeface="Calibri" pitchFamily="34" charset="-122"/>
                          <a:cs typeface="Calibri" pitchFamily="34" charset="-120"/>
                        </a:rPr>
                        <a:t>Monthly composite — used in the analysis</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DF3DC"/>
                    </a:solidFill>
                  </a:tcPr>
                </a:tc>
                <a:extLst>
                  <a:ext uri="{0D108BD9-81ED-4DB2-BD59-A6C34878D82A}">
                    <a16:rowId xmlns:a16="http://schemas.microsoft.com/office/drawing/2014/main" val="10003"/>
                  </a:ext>
                </a:extLst>
              </a:tr>
              <a:tr h="219456">
                <a:tc>
                  <a:txBody>
                    <a:bodyPr/>
                    <a:lstStyle/>
                    <a:p>
                      <a:pPr marL="0" indent="0">
                        <a:buNone/>
                      </a:pPr>
                      <a:r>
                        <a:rPr lang="en-US" sz="950" b="1" dirty="0">
                          <a:solidFill>
                            <a:srgbClr val="0E5A2E"/>
                          </a:solidFill>
                          <a:latin typeface="Calibri" pitchFamily="34" charset="0"/>
                          <a:ea typeface="Calibri" pitchFamily="34" charset="-122"/>
                          <a:cs typeface="Calibri" pitchFamily="34" charset="-120"/>
                        </a:rPr>
                        <a:t>VNP46A4</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tc>
                  <a:txBody>
                    <a:bodyPr/>
                    <a:lstStyle/>
                    <a:p>
                      <a:pPr marL="0" indent="0">
                        <a:buNone/>
                      </a:pPr>
                      <a:r>
                        <a:rPr lang="en-US" sz="950" dirty="0">
                          <a:solidFill>
                            <a:srgbClr val="231F20"/>
                          </a:solidFill>
                          <a:latin typeface="Calibri" pitchFamily="34" charset="0"/>
                          <a:ea typeface="Calibri" pitchFamily="34" charset="-122"/>
                          <a:cs typeface="Calibri" pitchFamily="34" charset="-120"/>
                        </a:rPr>
                        <a:t>Annual composite</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1" name="Shape 29"/>
          <p:cNvSpPr/>
          <p:nvPr/>
        </p:nvSpPr>
        <p:spPr>
          <a:xfrm>
            <a:off x="4892040" y="2898648"/>
            <a:ext cx="3794760" cy="1664208"/>
          </a:xfrm>
          <a:prstGeom prst="roundRect">
            <a:avLst>
              <a:gd name="adj" fmla="val 4396"/>
            </a:avLst>
          </a:prstGeom>
          <a:solidFill>
            <a:srgbClr val="FFFFFF"/>
          </a:solidFill>
          <a:ln w="9525">
            <a:solidFill>
              <a:srgbClr val="D3E2D7"/>
            </a:solidFill>
            <a:prstDash val="solid"/>
          </a:ln>
        </p:spPr>
      </p:sp>
      <p:sp>
        <p:nvSpPr>
          <p:cNvPr id="42" name="Shape 30"/>
          <p:cNvSpPr/>
          <p:nvPr/>
        </p:nvSpPr>
        <p:spPr>
          <a:xfrm>
            <a:off x="5074920" y="3063240"/>
            <a:ext cx="457200" cy="457200"/>
          </a:xfrm>
          <a:prstGeom prst="ellipse">
            <a:avLst/>
          </a:prstGeom>
          <a:solidFill>
            <a:srgbClr val="0E5A2E">
              <a:alpha val="20000"/>
            </a:srgbClr>
          </a:solidFill>
          <a:ln/>
        </p:spPr>
      </p:sp>
      <p:pic>
        <p:nvPicPr>
          <p:cNvPr id="43" name="Image 9" descr="/home/claude/work/ntl/icons/calendar_g2.png"/>
          <p:cNvPicPr>
            <a:picLocks noChangeAspect="1"/>
          </p:cNvPicPr>
          <p:nvPr/>
        </p:nvPicPr>
        <p:blipFill>
          <a:blip r:embed="rId9"/>
          <a:stretch>
            <a:fillRect/>
          </a:stretch>
        </p:blipFill>
        <p:spPr>
          <a:xfrm>
            <a:off x="5198364" y="3186684"/>
            <a:ext cx="210312" cy="210312"/>
          </a:xfrm>
          <a:prstGeom prst="rect">
            <a:avLst/>
          </a:prstGeom>
        </p:spPr>
      </p:pic>
      <p:sp>
        <p:nvSpPr>
          <p:cNvPr id="44" name="Text 31"/>
          <p:cNvSpPr txBox="1"/>
          <p:nvPr/>
        </p:nvSpPr>
        <p:spPr>
          <a:xfrm>
            <a:off x="5669280" y="3035808"/>
            <a:ext cx="2880360" cy="50292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Where you will use it</a:t>
            </a:r>
            <a:endParaRPr lang="en-US" sz="1150" dirty="0"/>
          </a:p>
        </p:txBody>
      </p:sp>
      <p:sp>
        <p:nvSpPr>
          <p:cNvPr id="45" name="Text 32"/>
          <p:cNvSpPr txBox="1"/>
          <p:nvPr/>
        </p:nvSpPr>
        <p:spPr>
          <a:xfrm>
            <a:off x="5074920" y="3630168"/>
            <a:ext cx="3474720" cy="86868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AfDB · DI4A night-lights analysis: download and clip NASA Black Marble monthly data, then build national night-lights indicators.</a:t>
            </a:r>
            <a:endParaRPr lang="en-US" sz="1000" dirty="0"/>
          </a:p>
        </p:txBody>
      </p:sp>
      <p:sp>
        <p:nvSpPr>
          <p:cNvPr id="46"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OVERVIEW · THE SIX STEPS</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From a NASA account to a working token</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98448"/>
            <a:ext cx="2587752" cy="1325880"/>
          </a:xfrm>
          <a:prstGeom prst="roundRect">
            <a:avLst>
              <a:gd name="adj" fmla="val 5517"/>
            </a:avLst>
          </a:prstGeom>
          <a:solidFill>
            <a:srgbClr val="F4F8F5"/>
          </a:solidFill>
          <a:ln w="9525">
            <a:solidFill>
              <a:srgbClr val="D3E2D7"/>
            </a:solidFill>
            <a:prstDash val="solid"/>
          </a:ln>
        </p:spPr>
      </p:sp>
      <p:sp>
        <p:nvSpPr>
          <p:cNvPr id="11" name="Shape 9"/>
          <p:cNvSpPr/>
          <p:nvPr/>
        </p:nvSpPr>
        <p:spPr>
          <a:xfrm>
            <a:off x="640080" y="1481328"/>
            <a:ext cx="457200" cy="457200"/>
          </a:xfrm>
          <a:prstGeom prst="ellipse">
            <a:avLst/>
          </a:prstGeom>
          <a:solidFill>
            <a:srgbClr val="2C9045">
              <a:alpha val="20000"/>
            </a:srgbClr>
          </a:solidFill>
          <a:ln/>
        </p:spPr>
      </p:sp>
      <p:pic>
        <p:nvPicPr>
          <p:cNvPr id="12" name="Image 0" descr="/home/claude/work/ntl/icons/userplus_g1.png"/>
          <p:cNvPicPr>
            <a:picLocks noChangeAspect="1"/>
          </p:cNvPicPr>
          <p:nvPr/>
        </p:nvPicPr>
        <p:blipFill>
          <a:blip r:embed="rId3"/>
          <a:stretch>
            <a:fillRect/>
          </a:stretch>
        </p:blipFill>
        <p:spPr>
          <a:xfrm>
            <a:off x="763524" y="1604772"/>
            <a:ext cx="210312" cy="210312"/>
          </a:xfrm>
          <a:prstGeom prst="rect">
            <a:avLst/>
          </a:prstGeom>
        </p:spPr>
      </p:pic>
      <p:sp>
        <p:nvSpPr>
          <p:cNvPr id="13" name="Text 10"/>
          <p:cNvSpPr txBox="1"/>
          <p:nvPr/>
        </p:nvSpPr>
        <p:spPr>
          <a:xfrm>
            <a:off x="2194560" y="1463040"/>
            <a:ext cx="667512" cy="457200"/>
          </a:xfrm>
          <a:prstGeom prst="rect">
            <a:avLst/>
          </a:prstGeom>
          <a:noFill/>
          <a:ln/>
        </p:spPr>
        <p:txBody>
          <a:bodyPr wrap="square" lIns="0" tIns="0" rIns="0" bIns="0" rtlCol="0" anchor="ctr"/>
          <a:lstStyle/>
          <a:p>
            <a:pPr marL="0" indent="0" algn="r">
              <a:buNone/>
            </a:pPr>
            <a:r>
              <a:rPr lang="en-US" sz="2400" b="1" dirty="0">
                <a:solidFill>
                  <a:srgbClr val="2C9045"/>
                </a:solidFill>
                <a:latin typeface="Calibri" pitchFamily="34" charset="0"/>
                <a:ea typeface="Calibri" pitchFamily="34" charset="-122"/>
                <a:cs typeface="Calibri" pitchFamily="34" charset="-120"/>
              </a:rPr>
              <a:t>01</a:t>
            </a:r>
            <a:endParaRPr lang="en-US" sz="2400" dirty="0"/>
          </a:p>
        </p:txBody>
      </p:sp>
      <p:sp>
        <p:nvSpPr>
          <p:cNvPr id="14" name="Text 11"/>
          <p:cNvSpPr txBox="1"/>
          <p:nvPr/>
        </p:nvSpPr>
        <p:spPr>
          <a:xfrm>
            <a:off x="640080" y="2029968"/>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Register</a:t>
            </a:r>
            <a:endParaRPr lang="en-US" sz="1300" dirty="0"/>
          </a:p>
        </p:txBody>
      </p:sp>
      <p:sp>
        <p:nvSpPr>
          <p:cNvPr id="15" name="Text 12"/>
          <p:cNvSpPr txBox="1"/>
          <p:nvPr/>
        </p:nvSpPr>
        <p:spPr>
          <a:xfrm>
            <a:off x="640080" y="2286000"/>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urs.earthdata.nasa.gov, with a complete profile</a:t>
            </a:r>
            <a:endParaRPr lang="en-US" sz="1000" dirty="0"/>
          </a:p>
        </p:txBody>
      </p:sp>
      <p:sp>
        <p:nvSpPr>
          <p:cNvPr id="16" name="Shape 13"/>
          <p:cNvSpPr/>
          <p:nvPr/>
        </p:nvSpPr>
        <p:spPr>
          <a:xfrm>
            <a:off x="3282696" y="1298448"/>
            <a:ext cx="2587752" cy="1325880"/>
          </a:xfrm>
          <a:prstGeom prst="roundRect">
            <a:avLst>
              <a:gd name="adj" fmla="val 5517"/>
            </a:avLst>
          </a:prstGeom>
          <a:solidFill>
            <a:srgbClr val="F4F8F5"/>
          </a:solidFill>
          <a:ln w="9525">
            <a:solidFill>
              <a:srgbClr val="D3E2D7"/>
            </a:solidFill>
            <a:prstDash val="solid"/>
          </a:ln>
        </p:spPr>
      </p:sp>
      <p:sp>
        <p:nvSpPr>
          <p:cNvPr id="17" name="Shape 14"/>
          <p:cNvSpPr/>
          <p:nvPr/>
        </p:nvSpPr>
        <p:spPr>
          <a:xfrm>
            <a:off x="3465576" y="1481328"/>
            <a:ext cx="457200" cy="457200"/>
          </a:xfrm>
          <a:prstGeom prst="ellipse">
            <a:avLst/>
          </a:prstGeom>
          <a:solidFill>
            <a:srgbClr val="0E5A2E">
              <a:alpha val="20000"/>
            </a:srgbClr>
          </a:solidFill>
          <a:ln/>
        </p:spPr>
      </p:sp>
      <p:pic>
        <p:nvPicPr>
          <p:cNvPr id="18" name="Image 1" descr="/home/claude/work/ntl/icons/envelope_g2.png"/>
          <p:cNvPicPr>
            <a:picLocks noChangeAspect="1"/>
          </p:cNvPicPr>
          <p:nvPr/>
        </p:nvPicPr>
        <p:blipFill>
          <a:blip r:embed="rId4"/>
          <a:stretch>
            <a:fillRect/>
          </a:stretch>
        </p:blipFill>
        <p:spPr>
          <a:xfrm>
            <a:off x="3589020" y="1604772"/>
            <a:ext cx="210312" cy="210312"/>
          </a:xfrm>
          <a:prstGeom prst="rect">
            <a:avLst/>
          </a:prstGeom>
        </p:spPr>
      </p:pic>
      <p:sp>
        <p:nvSpPr>
          <p:cNvPr id="19" name="Text 15"/>
          <p:cNvSpPr txBox="1"/>
          <p:nvPr/>
        </p:nvSpPr>
        <p:spPr>
          <a:xfrm>
            <a:off x="5020056" y="1463040"/>
            <a:ext cx="667512" cy="457200"/>
          </a:xfrm>
          <a:prstGeom prst="rect">
            <a:avLst/>
          </a:prstGeom>
          <a:noFill/>
          <a:ln/>
        </p:spPr>
        <p:txBody>
          <a:bodyPr wrap="square" lIns="0" tIns="0" rIns="0" bIns="0" rtlCol="0" anchor="ctr"/>
          <a:lstStyle/>
          <a:p>
            <a:pPr marL="0" indent="0" algn="r">
              <a:buNone/>
            </a:pPr>
            <a:r>
              <a:rPr lang="en-US" sz="2400" b="1" dirty="0">
                <a:solidFill>
                  <a:srgbClr val="0E5A2E"/>
                </a:solidFill>
                <a:latin typeface="Calibri" pitchFamily="34" charset="0"/>
                <a:ea typeface="Calibri" pitchFamily="34" charset="-122"/>
                <a:cs typeface="Calibri" pitchFamily="34" charset="-120"/>
              </a:rPr>
              <a:t>02</a:t>
            </a:r>
            <a:endParaRPr lang="en-US" sz="2400" dirty="0"/>
          </a:p>
        </p:txBody>
      </p:sp>
      <p:sp>
        <p:nvSpPr>
          <p:cNvPr id="20" name="Text 16"/>
          <p:cNvSpPr txBox="1"/>
          <p:nvPr/>
        </p:nvSpPr>
        <p:spPr>
          <a:xfrm>
            <a:off x="3465576" y="2029968"/>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Activate</a:t>
            </a:r>
            <a:endParaRPr lang="en-US" sz="1300" dirty="0"/>
          </a:p>
        </p:txBody>
      </p:sp>
      <p:sp>
        <p:nvSpPr>
          <p:cNvPr id="21" name="Text 17"/>
          <p:cNvSpPr txBox="1"/>
          <p:nvPr/>
        </p:nvSpPr>
        <p:spPr>
          <a:xfrm>
            <a:off x="3465576" y="2286000"/>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Click the link in the confirmation email</a:t>
            </a:r>
            <a:endParaRPr lang="en-US" sz="1000" dirty="0"/>
          </a:p>
        </p:txBody>
      </p:sp>
      <p:sp>
        <p:nvSpPr>
          <p:cNvPr id="22" name="Shape 18"/>
          <p:cNvSpPr/>
          <p:nvPr/>
        </p:nvSpPr>
        <p:spPr>
          <a:xfrm>
            <a:off x="6108192" y="1298448"/>
            <a:ext cx="2587752" cy="1325880"/>
          </a:xfrm>
          <a:prstGeom prst="roundRect">
            <a:avLst>
              <a:gd name="adj" fmla="val 5517"/>
            </a:avLst>
          </a:prstGeom>
          <a:solidFill>
            <a:srgbClr val="F4F8F5"/>
          </a:solidFill>
          <a:ln w="9525">
            <a:solidFill>
              <a:srgbClr val="D3E2D7"/>
            </a:solidFill>
            <a:prstDash val="solid"/>
          </a:ln>
        </p:spPr>
      </p:sp>
      <p:sp>
        <p:nvSpPr>
          <p:cNvPr id="23" name="Shape 19"/>
          <p:cNvSpPr/>
          <p:nvPr/>
        </p:nvSpPr>
        <p:spPr>
          <a:xfrm>
            <a:off x="6291072" y="1481328"/>
            <a:ext cx="457200" cy="457200"/>
          </a:xfrm>
          <a:prstGeom prst="ellipse">
            <a:avLst/>
          </a:prstGeom>
          <a:solidFill>
            <a:srgbClr val="0E7C86">
              <a:alpha val="20000"/>
            </a:srgbClr>
          </a:solidFill>
          <a:ln/>
        </p:spPr>
      </p:sp>
      <p:pic>
        <p:nvPicPr>
          <p:cNvPr id="24" name="Image 2" descr="/home/claude/work/ntl/icons/file_teal.png"/>
          <p:cNvPicPr>
            <a:picLocks noChangeAspect="1"/>
          </p:cNvPicPr>
          <p:nvPr/>
        </p:nvPicPr>
        <p:blipFill>
          <a:blip r:embed="rId5"/>
          <a:stretch>
            <a:fillRect/>
          </a:stretch>
        </p:blipFill>
        <p:spPr>
          <a:xfrm>
            <a:off x="6414516" y="1604772"/>
            <a:ext cx="210312" cy="210312"/>
          </a:xfrm>
          <a:prstGeom prst="rect">
            <a:avLst/>
          </a:prstGeom>
        </p:spPr>
      </p:pic>
      <p:sp>
        <p:nvSpPr>
          <p:cNvPr id="25" name="Text 20"/>
          <p:cNvSpPr txBox="1"/>
          <p:nvPr/>
        </p:nvSpPr>
        <p:spPr>
          <a:xfrm>
            <a:off x="7845552" y="1463040"/>
            <a:ext cx="667512" cy="457200"/>
          </a:xfrm>
          <a:prstGeom prst="rect">
            <a:avLst/>
          </a:prstGeom>
          <a:noFill/>
          <a:ln/>
        </p:spPr>
        <p:txBody>
          <a:bodyPr wrap="square" lIns="0" tIns="0" rIns="0" bIns="0" rtlCol="0" anchor="ctr"/>
          <a:lstStyle/>
          <a:p>
            <a:pPr marL="0" indent="0" algn="r">
              <a:buNone/>
            </a:pPr>
            <a:r>
              <a:rPr lang="en-US" sz="2400" b="1" dirty="0">
                <a:solidFill>
                  <a:srgbClr val="0E7C86"/>
                </a:solidFill>
                <a:latin typeface="Calibri" pitchFamily="34" charset="0"/>
                <a:ea typeface="Calibri" pitchFamily="34" charset="-122"/>
                <a:cs typeface="Calibri" pitchFamily="34" charset="-120"/>
              </a:rPr>
              <a:t>03</a:t>
            </a:r>
            <a:endParaRPr lang="en-US" sz="2400" dirty="0"/>
          </a:p>
        </p:txBody>
      </p:sp>
      <p:sp>
        <p:nvSpPr>
          <p:cNvPr id="26" name="Text 21"/>
          <p:cNvSpPr txBox="1"/>
          <p:nvPr/>
        </p:nvSpPr>
        <p:spPr>
          <a:xfrm>
            <a:off x="6291072" y="2029968"/>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Accept EULAs</a:t>
            </a:r>
            <a:endParaRPr lang="en-US" sz="1300" dirty="0"/>
          </a:p>
        </p:txBody>
      </p:sp>
      <p:sp>
        <p:nvSpPr>
          <p:cNvPr id="27" name="Text 22"/>
          <p:cNvSpPr txBox="1"/>
          <p:nvPr/>
        </p:nvSpPr>
        <p:spPr>
          <a:xfrm>
            <a:off x="6291072" y="2286000"/>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MERIS and Sentinel-3, from your profile</a:t>
            </a:r>
            <a:endParaRPr lang="en-US" sz="1000" dirty="0"/>
          </a:p>
        </p:txBody>
      </p:sp>
      <p:sp>
        <p:nvSpPr>
          <p:cNvPr id="28" name="Shape 23"/>
          <p:cNvSpPr/>
          <p:nvPr/>
        </p:nvSpPr>
        <p:spPr>
          <a:xfrm>
            <a:off x="457200" y="2779776"/>
            <a:ext cx="2587752" cy="1325880"/>
          </a:xfrm>
          <a:prstGeom prst="roundRect">
            <a:avLst>
              <a:gd name="adj" fmla="val 5517"/>
            </a:avLst>
          </a:prstGeom>
          <a:solidFill>
            <a:srgbClr val="F4F8F5"/>
          </a:solidFill>
          <a:ln w="9525">
            <a:solidFill>
              <a:srgbClr val="D3E2D7"/>
            </a:solidFill>
            <a:prstDash val="solid"/>
          </a:ln>
        </p:spPr>
      </p:sp>
      <p:sp>
        <p:nvSpPr>
          <p:cNvPr id="29" name="Shape 24"/>
          <p:cNvSpPr/>
          <p:nvPr/>
        </p:nvSpPr>
        <p:spPr>
          <a:xfrm>
            <a:off x="640080" y="2962656"/>
            <a:ext cx="457200" cy="457200"/>
          </a:xfrm>
          <a:prstGeom prst="ellipse">
            <a:avLst/>
          </a:prstGeom>
          <a:solidFill>
            <a:srgbClr val="D49A00">
              <a:alpha val="20000"/>
            </a:srgbClr>
          </a:solidFill>
          <a:ln/>
        </p:spPr>
      </p:sp>
      <p:pic>
        <p:nvPicPr>
          <p:cNvPr id="30" name="Image 3" descr="/home/claude/work/ntl/icons/shield_gold.png"/>
          <p:cNvPicPr>
            <a:picLocks noChangeAspect="1"/>
          </p:cNvPicPr>
          <p:nvPr/>
        </p:nvPicPr>
        <p:blipFill>
          <a:blip r:embed="rId6"/>
          <a:stretch>
            <a:fillRect/>
          </a:stretch>
        </p:blipFill>
        <p:spPr>
          <a:xfrm>
            <a:off x="763524" y="3086100"/>
            <a:ext cx="210312" cy="210312"/>
          </a:xfrm>
          <a:prstGeom prst="rect">
            <a:avLst/>
          </a:prstGeom>
        </p:spPr>
      </p:pic>
      <p:sp>
        <p:nvSpPr>
          <p:cNvPr id="31" name="Text 25"/>
          <p:cNvSpPr txBox="1"/>
          <p:nvPr/>
        </p:nvSpPr>
        <p:spPr>
          <a:xfrm>
            <a:off x="2194560" y="2944368"/>
            <a:ext cx="667512" cy="457200"/>
          </a:xfrm>
          <a:prstGeom prst="rect">
            <a:avLst/>
          </a:prstGeom>
          <a:noFill/>
          <a:ln/>
        </p:spPr>
        <p:txBody>
          <a:bodyPr wrap="square" lIns="0" tIns="0" rIns="0" bIns="0" rtlCol="0" anchor="ctr"/>
          <a:lstStyle/>
          <a:p>
            <a:pPr marL="0" indent="0" algn="r">
              <a:buNone/>
            </a:pPr>
            <a:r>
              <a:rPr lang="en-US" sz="2400" b="1" dirty="0">
                <a:solidFill>
                  <a:srgbClr val="D49A00"/>
                </a:solidFill>
                <a:latin typeface="Calibri" pitchFamily="34" charset="0"/>
                <a:ea typeface="Calibri" pitchFamily="34" charset="-122"/>
                <a:cs typeface="Calibri" pitchFamily="34" charset="-120"/>
              </a:rPr>
              <a:t>04</a:t>
            </a:r>
            <a:endParaRPr lang="en-US" sz="2400" dirty="0"/>
          </a:p>
        </p:txBody>
      </p:sp>
      <p:sp>
        <p:nvSpPr>
          <p:cNvPr id="32" name="Text 26"/>
          <p:cNvSpPr txBox="1"/>
          <p:nvPr/>
        </p:nvSpPr>
        <p:spPr>
          <a:xfrm>
            <a:off x="640080" y="3511296"/>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Authorize LAADS</a:t>
            </a:r>
            <a:endParaRPr lang="en-US" sz="1300" dirty="0"/>
          </a:p>
        </p:txBody>
      </p:sp>
      <p:sp>
        <p:nvSpPr>
          <p:cNvPr id="33" name="Text 27"/>
          <p:cNvSpPr txBox="1"/>
          <p:nvPr/>
        </p:nvSpPr>
        <p:spPr>
          <a:xfrm>
            <a:off x="640080" y="3767328"/>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Approve the application on ladsweb</a:t>
            </a:r>
            <a:endParaRPr lang="en-US" sz="1000" dirty="0"/>
          </a:p>
        </p:txBody>
      </p:sp>
      <p:sp>
        <p:nvSpPr>
          <p:cNvPr id="34" name="Shape 28"/>
          <p:cNvSpPr/>
          <p:nvPr/>
        </p:nvSpPr>
        <p:spPr>
          <a:xfrm>
            <a:off x="3282696" y="2779776"/>
            <a:ext cx="2587752" cy="1325880"/>
          </a:xfrm>
          <a:prstGeom prst="roundRect">
            <a:avLst>
              <a:gd name="adj" fmla="val 5517"/>
            </a:avLst>
          </a:prstGeom>
          <a:solidFill>
            <a:srgbClr val="F4F8F5"/>
          </a:solidFill>
          <a:ln w="9525">
            <a:solidFill>
              <a:srgbClr val="D3E2D7"/>
            </a:solidFill>
            <a:prstDash val="solid"/>
          </a:ln>
        </p:spPr>
      </p:sp>
      <p:sp>
        <p:nvSpPr>
          <p:cNvPr id="35" name="Shape 29"/>
          <p:cNvSpPr/>
          <p:nvPr/>
        </p:nvSpPr>
        <p:spPr>
          <a:xfrm>
            <a:off x="3465576" y="2962656"/>
            <a:ext cx="457200" cy="457200"/>
          </a:xfrm>
          <a:prstGeom prst="ellipse">
            <a:avLst/>
          </a:prstGeom>
          <a:solidFill>
            <a:srgbClr val="C4621D">
              <a:alpha val="20000"/>
            </a:srgbClr>
          </a:solidFill>
          <a:ln/>
        </p:spPr>
      </p:sp>
      <p:pic>
        <p:nvPicPr>
          <p:cNvPr id="36" name="Image 4" descr="/home/claude/work/ntl/icons/key_orange.png"/>
          <p:cNvPicPr>
            <a:picLocks noChangeAspect="1"/>
          </p:cNvPicPr>
          <p:nvPr/>
        </p:nvPicPr>
        <p:blipFill>
          <a:blip r:embed="rId7"/>
          <a:stretch>
            <a:fillRect/>
          </a:stretch>
        </p:blipFill>
        <p:spPr>
          <a:xfrm>
            <a:off x="3589020" y="3086100"/>
            <a:ext cx="210312" cy="210312"/>
          </a:xfrm>
          <a:prstGeom prst="rect">
            <a:avLst/>
          </a:prstGeom>
        </p:spPr>
      </p:pic>
      <p:sp>
        <p:nvSpPr>
          <p:cNvPr id="37" name="Text 30"/>
          <p:cNvSpPr txBox="1"/>
          <p:nvPr/>
        </p:nvSpPr>
        <p:spPr>
          <a:xfrm>
            <a:off x="5020056" y="2944368"/>
            <a:ext cx="667512" cy="457200"/>
          </a:xfrm>
          <a:prstGeom prst="rect">
            <a:avLst/>
          </a:prstGeom>
          <a:noFill/>
          <a:ln/>
        </p:spPr>
        <p:txBody>
          <a:bodyPr wrap="square" lIns="0" tIns="0" rIns="0" bIns="0" rtlCol="0" anchor="ctr"/>
          <a:lstStyle/>
          <a:p>
            <a:pPr marL="0" indent="0" algn="r">
              <a:buNone/>
            </a:pPr>
            <a:r>
              <a:rPr lang="en-US" sz="2400" b="1" dirty="0">
                <a:solidFill>
                  <a:srgbClr val="C4621D"/>
                </a:solidFill>
                <a:latin typeface="Calibri" pitchFamily="34" charset="0"/>
                <a:ea typeface="Calibri" pitchFamily="34" charset="-122"/>
                <a:cs typeface="Calibri" pitchFamily="34" charset="-120"/>
              </a:rPr>
              <a:t>05</a:t>
            </a:r>
            <a:endParaRPr lang="en-US" sz="2400" dirty="0"/>
          </a:p>
        </p:txBody>
      </p:sp>
      <p:sp>
        <p:nvSpPr>
          <p:cNvPr id="38" name="Text 31"/>
          <p:cNvSpPr txBox="1"/>
          <p:nvPr/>
        </p:nvSpPr>
        <p:spPr>
          <a:xfrm>
            <a:off x="3465576" y="3511296"/>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Generate token</a:t>
            </a:r>
            <a:endParaRPr lang="en-US" sz="1300" dirty="0"/>
          </a:p>
        </p:txBody>
      </p:sp>
      <p:sp>
        <p:nvSpPr>
          <p:cNvPr id="39" name="Text 32"/>
          <p:cNvSpPr txBox="1"/>
          <p:nvPr/>
        </p:nvSpPr>
        <p:spPr>
          <a:xfrm>
            <a:off x="3465576" y="3767328"/>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Profile › Generate Token › Show Token</a:t>
            </a:r>
            <a:endParaRPr lang="en-US" sz="1000" dirty="0"/>
          </a:p>
        </p:txBody>
      </p:sp>
      <p:sp>
        <p:nvSpPr>
          <p:cNvPr id="40" name="Shape 33"/>
          <p:cNvSpPr/>
          <p:nvPr/>
        </p:nvSpPr>
        <p:spPr>
          <a:xfrm>
            <a:off x="6108192" y="2779776"/>
            <a:ext cx="2587752" cy="1325880"/>
          </a:xfrm>
          <a:prstGeom prst="roundRect">
            <a:avLst>
              <a:gd name="adj" fmla="val 5517"/>
            </a:avLst>
          </a:prstGeom>
          <a:solidFill>
            <a:srgbClr val="F4F8F5"/>
          </a:solidFill>
          <a:ln w="9525">
            <a:solidFill>
              <a:srgbClr val="D3E2D7"/>
            </a:solidFill>
            <a:prstDash val="solid"/>
          </a:ln>
        </p:spPr>
      </p:sp>
      <p:sp>
        <p:nvSpPr>
          <p:cNvPr id="41" name="Shape 34"/>
          <p:cNvSpPr/>
          <p:nvPr/>
        </p:nvSpPr>
        <p:spPr>
          <a:xfrm>
            <a:off x="6291072" y="2962656"/>
            <a:ext cx="457200" cy="457200"/>
          </a:xfrm>
          <a:prstGeom prst="ellipse">
            <a:avLst/>
          </a:prstGeom>
          <a:solidFill>
            <a:srgbClr val="B83B2E">
              <a:alpha val="20000"/>
            </a:srgbClr>
          </a:solidFill>
          <a:ln/>
        </p:spPr>
      </p:sp>
      <p:pic>
        <p:nvPicPr>
          <p:cNvPr id="42" name="Image 5" descr="/home/claude/work/ntl/icons/terminal_red.png"/>
          <p:cNvPicPr>
            <a:picLocks noChangeAspect="1"/>
          </p:cNvPicPr>
          <p:nvPr/>
        </p:nvPicPr>
        <p:blipFill>
          <a:blip r:embed="rId8"/>
          <a:stretch>
            <a:fillRect/>
          </a:stretch>
        </p:blipFill>
        <p:spPr>
          <a:xfrm>
            <a:off x="6414516" y="3086100"/>
            <a:ext cx="210312" cy="210312"/>
          </a:xfrm>
          <a:prstGeom prst="rect">
            <a:avLst/>
          </a:prstGeom>
        </p:spPr>
      </p:pic>
      <p:sp>
        <p:nvSpPr>
          <p:cNvPr id="43" name="Text 35"/>
          <p:cNvSpPr txBox="1"/>
          <p:nvPr/>
        </p:nvSpPr>
        <p:spPr>
          <a:xfrm>
            <a:off x="7845552" y="2944368"/>
            <a:ext cx="667512" cy="457200"/>
          </a:xfrm>
          <a:prstGeom prst="rect">
            <a:avLst/>
          </a:prstGeom>
          <a:noFill/>
          <a:ln/>
        </p:spPr>
        <p:txBody>
          <a:bodyPr wrap="square" lIns="0" tIns="0" rIns="0" bIns="0" rtlCol="0" anchor="ctr"/>
          <a:lstStyle/>
          <a:p>
            <a:pPr marL="0" indent="0" algn="r">
              <a:buNone/>
            </a:pPr>
            <a:r>
              <a:rPr lang="en-US" sz="2400" b="1" dirty="0">
                <a:solidFill>
                  <a:srgbClr val="B83B2E"/>
                </a:solidFill>
                <a:latin typeface="Calibri" pitchFamily="34" charset="0"/>
                <a:ea typeface="Calibri" pitchFamily="34" charset="-122"/>
                <a:cs typeface="Calibri" pitchFamily="34" charset="-120"/>
              </a:rPr>
              <a:t>06</a:t>
            </a:r>
            <a:endParaRPr lang="en-US" sz="2400" dirty="0"/>
          </a:p>
        </p:txBody>
      </p:sp>
      <p:sp>
        <p:nvSpPr>
          <p:cNvPr id="44" name="Text 36"/>
          <p:cNvSpPr txBox="1"/>
          <p:nvPr/>
        </p:nvSpPr>
        <p:spPr>
          <a:xfrm>
            <a:off x="6291072" y="3511296"/>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Test and use</a:t>
            </a:r>
            <a:endParaRPr lang="en-US" sz="1300" dirty="0"/>
          </a:p>
        </p:txBody>
      </p:sp>
      <p:sp>
        <p:nvSpPr>
          <p:cNvPr id="45" name="Text 37"/>
          <p:cNvSpPr txBox="1"/>
          <p:nvPr/>
        </p:nvSpPr>
        <p:spPr>
          <a:xfrm>
            <a:off x="6291072" y="3767328"/>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curl test, then blackmarblepy / blackmarbler</a:t>
            </a:r>
            <a:endParaRPr lang="en-US" sz="1000" dirty="0"/>
          </a:p>
        </p:txBody>
      </p:sp>
      <p:sp>
        <p:nvSpPr>
          <p:cNvPr id="46" name="Shape 38"/>
          <p:cNvSpPr/>
          <p:nvPr/>
        </p:nvSpPr>
        <p:spPr>
          <a:xfrm>
            <a:off x="457200" y="4270248"/>
            <a:ext cx="8229600" cy="384048"/>
          </a:xfrm>
          <a:prstGeom prst="roundRect">
            <a:avLst>
              <a:gd name="adj" fmla="val 19048"/>
            </a:avLst>
          </a:prstGeom>
          <a:solidFill>
            <a:srgbClr val="D49A00">
              <a:alpha val="13000"/>
            </a:srgbClr>
          </a:solidFill>
          <a:ln w="12700">
            <a:solidFill>
              <a:srgbClr val="D49A00"/>
            </a:solidFill>
            <a:prstDash val="solid"/>
          </a:ln>
        </p:spPr>
      </p:sp>
      <p:pic>
        <p:nvPicPr>
          <p:cNvPr id="47" name="Image 6" descr="/home/claude/work/ntl/icons/warn_gold.png"/>
          <p:cNvPicPr>
            <a:picLocks noChangeAspect="1"/>
          </p:cNvPicPr>
          <p:nvPr/>
        </p:nvPicPr>
        <p:blipFill>
          <a:blip r:embed="rId9"/>
          <a:stretch>
            <a:fillRect/>
          </a:stretch>
        </p:blipFill>
        <p:spPr>
          <a:xfrm>
            <a:off x="612648" y="4325112"/>
            <a:ext cx="274320" cy="274320"/>
          </a:xfrm>
          <a:prstGeom prst="rect">
            <a:avLst/>
          </a:prstGeom>
        </p:spPr>
      </p:pic>
      <p:sp>
        <p:nvSpPr>
          <p:cNvPr id="48" name="Text 39"/>
          <p:cNvSpPr txBox="1"/>
          <p:nvPr/>
        </p:nvSpPr>
        <p:spPr>
          <a:xfrm>
            <a:off x="1024128" y="4270248"/>
            <a:ext cx="7516368"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Most token failures come from steps 01, 03 and 04: an incomplete profile, missing EULAs or a LAADS app not authorized.</a:t>
            </a:r>
            <a:endParaRPr lang="en-US" sz="1050" dirty="0"/>
          </a:p>
        </p:txBody>
      </p:sp>
      <p:sp>
        <p:nvSpPr>
          <p:cNvPr id="49"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01 · REGISTER</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Create your Earthdata Login account</a:t>
            </a:r>
            <a:endParaRPr lang="en-US" sz="2800" dirty="0"/>
          </a:p>
        </p:txBody>
      </p:sp>
      <p:sp>
        <p:nvSpPr>
          <p:cNvPr id="4" name="Shape 2"/>
          <p:cNvSpPr/>
          <p:nvPr/>
        </p:nvSpPr>
        <p:spPr>
          <a:xfrm>
            <a:off x="7717536" y="338328"/>
            <a:ext cx="100584" cy="100584"/>
          </a:xfrm>
          <a:prstGeom prst="ellipse">
            <a:avLst/>
          </a:prstGeom>
          <a:solidFill>
            <a:srgbClr val="2C9045"/>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80160"/>
            <a:ext cx="329184" cy="329184"/>
          </a:xfrm>
          <a:prstGeom prst="ellipse">
            <a:avLst/>
          </a:prstGeom>
          <a:solidFill>
            <a:srgbClr val="E8F4EB"/>
          </a:solidFill>
          <a:ln w="9525">
            <a:solidFill>
              <a:srgbClr val="D3E2D7"/>
            </a:solidFill>
            <a:prstDash val="solid"/>
          </a:ln>
        </p:spPr>
      </p:sp>
      <p:sp>
        <p:nvSpPr>
          <p:cNvPr id="11" name="Text 9"/>
          <p:cNvSpPr txBox="1"/>
          <p:nvPr/>
        </p:nvSpPr>
        <p:spPr>
          <a:xfrm>
            <a:off x="457200" y="128016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914400" y="1252728"/>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Open urs.earthdata.nasa.gov</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Click Register (or on ladsweb: Login › Earthdata Login).</a:t>
            </a:r>
            <a:endParaRPr lang="en-US" sz="1250" dirty="0"/>
          </a:p>
        </p:txBody>
      </p:sp>
      <p:sp>
        <p:nvSpPr>
          <p:cNvPr id="13" name="Shape 11"/>
          <p:cNvSpPr/>
          <p:nvPr/>
        </p:nvSpPr>
        <p:spPr>
          <a:xfrm>
            <a:off x="457200" y="1938528"/>
            <a:ext cx="329184" cy="329184"/>
          </a:xfrm>
          <a:prstGeom prst="ellipse">
            <a:avLst/>
          </a:prstGeom>
          <a:solidFill>
            <a:srgbClr val="E8F4EB"/>
          </a:solidFill>
          <a:ln w="9525">
            <a:solidFill>
              <a:srgbClr val="D3E2D7"/>
            </a:solidFill>
            <a:prstDash val="solid"/>
          </a:ln>
        </p:spPr>
      </p:sp>
      <p:sp>
        <p:nvSpPr>
          <p:cNvPr id="14" name="Text 12"/>
          <p:cNvSpPr txBox="1"/>
          <p:nvPr/>
        </p:nvSpPr>
        <p:spPr>
          <a:xfrm>
            <a:off x="457200" y="1938528"/>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914400" y="1911096"/>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Choose a username and password</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You will reuse them to log in to NASA sites.</a:t>
            </a:r>
            <a:endParaRPr lang="en-US" sz="1250" dirty="0"/>
          </a:p>
        </p:txBody>
      </p:sp>
      <p:sp>
        <p:nvSpPr>
          <p:cNvPr id="16" name="Shape 14"/>
          <p:cNvSpPr/>
          <p:nvPr/>
        </p:nvSpPr>
        <p:spPr>
          <a:xfrm>
            <a:off x="457200" y="2596896"/>
            <a:ext cx="329184" cy="329184"/>
          </a:xfrm>
          <a:prstGeom prst="ellipse">
            <a:avLst/>
          </a:prstGeom>
          <a:solidFill>
            <a:srgbClr val="E8F4EB"/>
          </a:solidFill>
          <a:ln w="9525">
            <a:solidFill>
              <a:srgbClr val="D3E2D7"/>
            </a:solidFill>
            <a:prstDash val="solid"/>
          </a:ln>
        </p:spPr>
      </p:sp>
      <p:sp>
        <p:nvSpPr>
          <p:cNvPr id="17" name="Text 15"/>
          <p:cNvSpPr txBox="1"/>
          <p:nvPr/>
        </p:nvSpPr>
        <p:spPr>
          <a:xfrm>
            <a:off x="457200" y="2596896"/>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endParaRPr lang="en-US" sz="1150" dirty="0"/>
          </a:p>
        </p:txBody>
      </p:sp>
      <p:sp>
        <p:nvSpPr>
          <p:cNvPr id="18" name="Text 16"/>
          <p:cNvSpPr txBox="1"/>
          <p:nvPr/>
        </p:nvSpPr>
        <p:spPr>
          <a:xfrm>
            <a:off x="914400" y="2569464"/>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Fill the required fields</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They are marked with red dots: name, email, country.</a:t>
            </a:r>
            <a:endParaRPr lang="en-US" sz="1250" dirty="0"/>
          </a:p>
        </p:txBody>
      </p:sp>
      <p:sp>
        <p:nvSpPr>
          <p:cNvPr id="19" name="Shape 17"/>
          <p:cNvSpPr/>
          <p:nvPr/>
        </p:nvSpPr>
        <p:spPr>
          <a:xfrm>
            <a:off x="457200" y="3255264"/>
            <a:ext cx="329184" cy="329184"/>
          </a:xfrm>
          <a:prstGeom prst="ellipse">
            <a:avLst/>
          </a:prstGeom>
          <a:solidFill>
            <a:srgbClr val="E8F4EB"/>
          </a:solidFill>
          <a:ln w="9525">
            <a:solidFill>
              <a:srgbClr val="D3E2D7"/>
            </a:solidFill>
            <a:prstDash val="solid"/>
          </a:ln>
        </p:spPr>
      </p:sp>
      <p:sp>
        <p:nvSpPr>
          <p:cNvPr id="20" name="Text 18"/>
          <p:cNvSpPr txBox="1"/>
          <p:nvPr/>
        </p:nvSpPr>
        <p:spPr>
          <a:xfrm>
            <a:off x="457200" y="3255264"/>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914400" y="3227832"/>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Do not skip the highlighted fields</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Organization, user type and study area: the token fails without them.</a:t>
            </a:r>
            <a:endParaRPr lang="en-US" sz="1250" dirty="0"/>
          </a:p>
        </p:txBody>
      </p:sp>
      <p:sp>
        <p:nvSpPr>
          <p:cNvPr id="22" name="Shape 20"/>
          <p:cNvSpPr/>
          <p:nvPr/>
        </p:nvSpPr>
        <p:spPr>
          <a:xfrm>
            <a:off x="457200" y="3913632"/>
            <a:ext cx="329184" cy="329184"/>
          </a:xfrm>
          <a:prstGeom prst="ellipse">
            <a:avLst/>
          </a:prstGeom>
          <a:solidFill>
            <a:srgbClr val="E8F4EB"/>
          </a:solidFill>
          <a:ln w="9525">
            <a:solidFill>
              <a:srgbClr val="D3E2D7"/>
            </a:solidFill>
            <a:prstDash val="solid"/>
          </a:ln>
        </p:spPr>
      </p:sp>
      <p:sp>
        <p:nvSpPr>
          <p:cNvPr id="23" name="Text 21"/>
          <p:cNvSpPr txBox="1"/>
          <p:nvPr/>
        </p:nvSpPr>
        <p:spPr>
          <a:xfrm>
            <a:off x="457200" y="3913632"/>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5</a:t>
            </a:r>
            <a:endParaRPr lang="en-US" sz="1150" dirty="0"/>
          </a:p>
        </p:txBody>
      </p:sp>
      <p:sp>
        <p:nvSpPr>
          <p:cNvPr id="24" name="Text 22"/>
          <p:cNvSpPr txBox="1"/>
          <p:nvPr/>
        </p:nvSpPr>
        <p:spPr>
          <a:xfrm>
            <a:off x="914400" y="3886200"/>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Click Register for Earthdata Login</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Then go to your mailbox.</a:t>
            </a:r>
            <a:endParaRPr lang="en-US" sz="1250" dirty="0"/>
          </a:p>
        </p:txBody>
      </p:sp>
      <p:sp>
        <p:nvSpPr>
          <p:cNvPr id="25" name="Shape 23"/>
          <p:cNvSpPr/>
          <p:nvPr/>
        </p:nvSpPr>
        <p:spPr>
          <a:xfrm>
            <a:off x="4663440" y="1188720"/>
            <a:ext cx="4023360" cy="3200400"/>
          </a:xfrm>
          <a:prstGeom prst="roundRect">
            <a:avLst>
              <a:gd name="adj" fmla="val 1714"/>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sp>
        <p:nvSpPr>
          <p:cNvPr id="26" name="Shape 24"/>
          <p:cNvSpPr/>
          <p:nvPr/>
        </p:nvSpPr>
        <p:spPr>
          <a:xfrm>
            <a:off x="4663440" y="1188720"/>
            <a:ext cx="4023360" cy="292608"/>
          </a:xfrm>
          <a:prstGeom prst="roundRect">
            <a:avLst>
              <a:gd name="adj" fmla="val 18750"/>
            </a:avLst>
          </a:prstGeom>
          <a:solidFill>
            <a:srgbClr val="EEF1EF"/>
          </a:solidFill>
          <a:ln/>
        </p:spPr>
      </p:sp>
      <p:sp>
        <p:nvSpPr>
          <p:cNvPr id="27" name="Shape 25"/>
          <p:cNvSpPr/>
          <p:nvPr/>
        </p:nvSpPr>
        <p:spPr>
          <a:xfrm>
            <a:off x="4773168" y="1298448"/>
            <a:ext cx="73152" cy="73152"/>
          </a:xfrm>
          <a:prstGeom prst="ellipse">
            <a:avLst/>
          </a:prstGeom>
          <a:solidFill>
            <a:srgbClr val="E0A39B"/>
          </a:solidFill>
          <a:ln/>
        </p:spPr>
      </p:sp>
      <p:sp>
        <p:nvSpPr>
          <p:cNvPr id="28" name="Shape 26"/>
          <p:cNvSpPr/>
          <p:nvPr/>
        </p:nvSpPr>
        <p:spPr>
          <a:xfrm>
            <a:off x="4892040" y="1298448"/>
            <a:ext cx="73152" cy="73152"/>
          </a:xfrm>
          <a:prstGeom prst="ellipse">
            <a:avLst/>
          </a:prstGeom>
          <a:solidFill>
            <a:srgbClr val="E8C97A"/>
          </a:solidFill>
          <a:ln/>
        </p:spPr>
      </p:sp>
      <p:sp>
        <p:nvSpPr>
          <p:cNvPr id="29" name="Shape 27"/>
          <p:cNvSpPr/>
          <p:nvPr/>
        </p:nvSpPr>
        <p:spPr>
          <a:xfrm>
            <a:off x="5010912" y="1298448"/>
            <a:ext cx="73152" cy="73152"/>
          </a:xfrm>
          <a:prstGeom prst="ellipse">
            <a:avLst/>
          </a:prstGeom>
          <a:solidFill>
            <a:srgbClr val="9CCB9F"/>
          </a:solidFill>
          <a:ln/>
        </p:spPr>
      </p:sp>
      <p:sp>
        <p:nvSpPr>
          <p:cNvPr id="30" name="Shape 28"/>
          <p:cNvSpPr/>
          <p:nvPr/>
        </p:nvSpPr>
        <p:spPr>
          <a:xfrm>
            <a:off x="5166360" y="1252728"/>
            <a:ext cx="3383280" cy="173736"/>
          </a:xfrm>
          <a:prstGeom prst="roundRect">
            <a:avLst>
              <a:gd name="adj" fmla="val 47368"/>
            </a:avLst>
          </a:prstGeom>
          <a:solidFill>
            <a:srgbClr val="FFFFFF"/>
          </a:solidFill>
          <a:ln/>
        </p:spPr>
      </p:sp>
      <p:sp>
        <p:nvSpPr>
          <p:cNvPr id="31" name="Text 29"/>
          <p:cNvSpPr txBox="1"/>
          <p:nvPr/>
        </p:nvSpPr>
        <p:spPr>
          <a:xfrm>
            <a:off x="5257800" y="1252728"/>
            <a:ext cx="3200400" cy="173736"/>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urs.earthdata.nasa.gov/users/new</a:t>
            </a:r>
            <a:endParaRPr lang="en-US" sz="850" dirty="0"/>
          </a:p>
        </p:txBody>
      </p:sp>
      <p:sp>
        <p:nvSpPr>
          <p:cNvPr id="32" name="Text 30"/>
          <p:cNvSpPr txBox="1"/>
          <p:nvPr/>
        </p:nvSpPr>
        <p:spPr>
          <a:xfrm>
            <a:off x="4846320" y="1554480"/>
            <a:ext cx="365760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Earthdata Login registration</a:t>
            </a:r>
            <a:endParaRPr lang="en-US" sz="1200" dirty="0"/>
          </a:p>
        </p:txBody>
      </p:sp>
      <p:sp>
        <p:nvSpPr>
          <p:cNvPr id="33" name="Text 31"/>
          <p:cNvSpPr txBox="1"/>
          <p:nvPr/>
        </p:nvSpPr>
        <p:spPr>
          <a:xfrm>
            <a:off x="4846320" y="1828800"/>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Username</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34" name="Shape 32"/>
          <p:cNvSpPr/>
          <p:nvPr/>
        </p:nvSpPr>
        <p:spPr>
          <a:xfrm>
            <a:off x="4846320" y="1984248"/>
            <a:ext cx="1737360" cy="210312"/>
          </a:xfrm>
          <a:prstGeom prst="roundRect">
            <a:avLst>
              <a:gd name="adj" fmla="val 17391"/>
            </a:avLst>
          </a:prstGeom>
          <a:solidFill>
            <a:srgbClr val="FFFFFF"/>
          </a:solidFill>
          <a:ln w="9525">
            <a:solidFill>
              <a:srgbClr val="B7C4BB"/>
            </a:solidFill>
            <a:prstDash val="solid"/>
          </a:ln>
        </p:spPr>
      </p:sp>
      <p:sp>
        <p:nvSpPr>
          <p:cNvPr id="35" name="Text 33"/>
          <p:cNvSpPr txBox="1"/>
          <p:nvPr/>
        </p:nvSpPr>
        <p:spPr>
          <a:xfrm>
            <a:off x="4919472" y="1984248"/>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firstname_lastname</a:t>
            </a:r>
            <a:endParaRPr lang="en-US" sz="850" dirty="0"/>
          </a:p>
        </p:txBody>
      </p:sp>
      <p:sp>
        <p:nvSpPr>
          <p:cNvPr id="36" name="Text 34"/>
          <p:cNvSpPr txBox="1"/>
          <p:nvPr/>
        </p:nvSpPr>
        <p:spPr>
          <a:xfrm>
            <a:off x="6720840" y="1828800"/>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Password</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37" name="Shape 35"/>
          <p:cNvSpPr/>
          <p:nvPr/>
        </p:nvSpPr>
        <p:spPr>
          <a:xfrm>
            <a:off x="6720840" y="1984248"/>
            <a:ext cx="1737360" cy="210312"/>
          </a:xfrm>
          <a:prstGeom prst="roundRect">
            <a:avLst>
              <a:gd name="adj" fmla="val 17391"/>
            </a:avLst>
          </a:prstGeom>
          <a:solidFill>
            <a:srgbClr val="FFFFFF"/>
          </a:solidFill>
          <a:ln w="9525">
            <a:solidFill>
              <a:srgbClr val="B7C4BB"/>
            </a:solidFill>
            <a:prstDash val="solid"/>
          </a:ln>
        </p:spPr>
      </p:sp>
      <p:sp>
        <p:nvSpPr>
          <p:cNvPr id="38" name="Text 36"/>
          <p:cNvSpPr txBox="1"/>
          <p:nvPr/>
        </p:nvSpPr>
        <p:spPr>
          <a:xfrm>
            <a:off x="6793992" y="1984248"/>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a:t>
            </a:r>
            <a:endParaRPr lang="en-US" sz="850" dirty="0"/>
          </a:p>
        </p:txBody>
      </p:sp>
      <p:sp>
        <p:nvSpPr>
          <p:cNvPr id="39" name="Text 37"/>
          <p:cNvSpPr txBox="1"/>
          <p:nvPr/>
        </p:nvSpPr>
        <p:spPr>
          <a:xfrm>
            <a:off x="4846320" y="2313432"/>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Name</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40" name="Shape 38"/>
          <p:cNvSpPr/>
          <p:nvPr/>
        </p:nvSpPr>
        <p:spPr>
          <a:xfrm>
            <a:off x="4846320" y="2468880"/>
            <a:ext cx="1737360" cy="210312"/>
          </a:xfrm>
          <a:prstGeom prst="roundRect">
            <a:avLst>
              <a:gd name="adj" fmla="val 17391"/>
            </a:avLst>
          </a:prstGeom>
          <a:solidFill>
            <a:srgbClr val="FFFFFF"/>
          </a:solidFill>
          <a:ln w="9525">
            <a:solidFill>
              <a:srgbClr val="B7C4BB"/>
            </a:solidFill>
            <a:prstDash val="solid"/>
          </a:ln>
        </p:spPr>
      </p:sp>
      <p:sp>
        <p:nvSpPr>
          <p:cNvPr id="41" name="Text 39"/>
          <p:cNvSpPr txBox="1"/>
          <p:nvPr/>
        </p:nvSpPr>
        <p:spPr>
          <a:xfrm>
            <a:off x="4919472" y="2468880"/>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First and last name</a:t>
            </a:r>
            <a:endParaRPr lang="en-US" sz="850" dirty="0"/>
          </a:p>
        </p:txBody>
      </p:sp>
      <p:sp>
        <p:nvSpPr>
          <p:cNvPr id="42" name="Text 40"/>
          <p:cNvSpPr txBox="1"/>
          <p:nvPr/>
        </p:nvSpPr>
        <p:spPr>
          <a:xfrm>
            <a:off x="6720840" y="2313432"/>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Email</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43" name="Shape 41"/>
          <p:cNvSpPr/>
          <p:nvPr/>
        </p:nvSpPr>
        <p:spPr>
          <a:xfrm>
            <a:off x="6720840" y="2468880"/>
            <a:ext cx="1737360" cy="210312"/>
          </a:xfrm>
          <a:prstGeom prst="roundRect">
            <a:avLst>
              <a:gd name="adj" fmla="val 17391"/>
            </a:avLst>
          </a:prstGeom>
          <a:solidFill>
            <a:srgbClr val="FFFFFF"/>
          </a:solidFill>
          <a:ln w="9525">
            <a:solidFill>
              <a:srgbClr val="B7C4BB"/>
            </a:solidFill>
            <a:prstDash val="solid"/>
          </a:ln>
        </p:spPr>
      </p:sp>
      <p:sp>
        <p:nvSpPr>
          <p:cNvPr id="44" name="Text 42"/>
          <p:cNvSpPr txBox="1"/>
          <p:nvPr/>
        </p:nvSpPr>
        <p:spPr>
          <a:xfrm>
            <a:off x="6793992" y="2468880"/>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name@institution.org</a:t>
            </a:r>
            <a:endParaRPr lang="en-US" sz="850" dirty="0"/>
          </a:p>
        </p:txBody>
      </p:sp>
      <p:sp>
        <p:nvSpPr>
          <p:cNvPr id="45" name="Text 43"/>
          <p:cNvSpPr txBox="1"/>
          <p:nvPr/>
        </p:nvSpPr>
        <p:spPr>
          <a:xfrm>
            <a:off x="4846320" y="2798064"/>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Country</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46" name="Shape 44"/>
          <p:cNvSpPr/>
          <p:nvPr/>
        </p:nvSpPr>
        <p:spPr>
          <a:xfrm>
            <a:off x="4846320" y="2953512"/>
            <a:ext cx="1737360" cy="210312"/>
          </a:xfrm>
          <a:prstGeom prst="roundRect">
            <a:avLst>
              <a:gd name="adj" fmla="val 17391"/>
            </a:avLst>
          </a:prstGeom>
          <a:solidFill>
            <a:srgbClr val="FFFFFF"/>
          </a:solidFill>
          <a:ln w="9525">
            <a:solidFill>
              <a:srgbClr val="B7C4BB"/>
            </a:solidFill>
            <a:prstDash val="solid"/>
          </a:ln>
        </p:spPr>
      </p:sp>
      <p:sp>
        <p:nvSpPr>
          <p:cNvPr id="47" name="Text 45"/>
          <p:cNvSpPr txBox="1"/>
          <p:nvPr/>
        </p:nvSpPr>
        <p:spPr>
          <a:xfrm>
            <a:off x="4919472" y="2953512"/>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Your country</a:t>
            </a:r>
            <a:endParaRPr lang="en-US" sz="850" dirty="0"/>
          </a:p>
        </p:txBody>
      </p:sp>
      <p:sp>
        <p:nvSpPr>
          <p:cNvPr id="48" name="Text 46"/>
          <p:cNvSpPr txBox="1"/>
          <p:nvPr/>
        </p:nvSpPr>
        <p:spPr>
          <a:xfrm>
            <a:off x="6720840" y="2798064"/>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Organization</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49" name="Shape 47"/>
          <p:cNvSpPr/>
          <p:nvPr/>
        </p:nvSpPr>
        <p:spPr>
          <a:xfrm>
            <a:off x="6720840" y="2953512"/>
            <a:ext cx="1737360" cy="210312"/>
          </a:xfrm>
          <a:prstGeom prst="roundRect">
            <a:avLst>
              <a:gd name="adj" fmla="val 17391"/>
            </a:avLst>
          </a:prstGeom>
          <a:solidFill>
            <a:srgbClr val="FFFFFF"/>
          </a:solidFill>
          <a:ln w="9525">
            <a:solidFill>
              <a:srgbClr val="B7C4BB"/>
            </a:solidFill>
            <a:prstDash val="solid"/>
          </a:ln>
        </p:spPr>
      </p:sp>
      <p:sp>
        <p:nvSpPr>
          <p:cNvPr id="50" name="Text 48"/>
          <p:cNvSpPr txBox="1"/>
          <p:nvPr/>
        </p:nvSpPr>
        <p:spPr>
          <a:xfrm>
            <a:off x="6793992" y="2953512"/>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Your NSO or central bank</a:t>
            </a:r>
            <a:endParaRPr lang="en-US" sz="850" dirty="0"/>
          </a:p>
        </p:txBody>
      </p:sp>
      <p:sp>
        <p:nvSpPr>
          <p:cNvPr id="51" name="Shape 49"/>
          <p:cNvSpPr/>
          <p:nvPr/>
        </p:nvSpPr>
        <p:spPr>
          <a:xfrm>
            <a:off x="6675120" y="2907792"/>
            <a:ext cx="1828800" cy="301752"/>
          </a:xfrm>
          <a:prstGeom prst="roundRect">
            <a:avLst>
              <a:gd name="adj" fmla="val 18182"/>
            </a:avLst>
          </a:prstGeom>
          <a:ln w="25400">
            <a:solidFill>
              <a:srgbClr val="D49A00"/>
            </a:solidFill>
            <a:prstDash val="solid"/>
          </a:ln>
        </p:spPr>
      </p:sp>
      <p:sp>
        <p:nvSpPr>
          <p:cNvPr id="52" name="Text 50"/>
          <p:cNvSpPr txBox="1"/>
          <p:nvPr/>
        </p:nvSpPr>
        <p:spPr>
          <a:xfrm>
            <a:off x="4846320" y="3282696"/>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User type</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53" name="Shape 51"/>
          <p:cNvSpPr/>
          <p:nvPr/>
        </p:nvSpPr>
        <p:spPr>
          <a:xfrm>
            <a:off x="4846320" y="3438144"/>
            <a:ext cx="1737360" cy="210312"/>
          </a:xfrm>
          <a:prstGeom prst="roundRect">
            <a:avLst>
              <a:gd name="adj" fmla="val 17391"/>
            </a:avLst>
          </a:prstGeom>
          <a:solidFill>
            <a:srgbClr val="FFFFFF"/>
          </a:solidFill>
          <a:ln w="9525">
            <a:solidFill>
              <a:srgbClr val="B7C4BB"/>
            </a:solidFill>
            <a:prstDash val="solid"/>
          </a:ln>
        </p:spPr>
      </p:sp>
      <p:sp>
        <p:nvSpPr>
          <p:cNvPr id="54" name="Text 52"/>
          <p:cNvSpPr txBox="1"/>
          <p:nvPr/>
        </p:nvSpPr>
        <p:spPr>
          <a:xfrm>
            <a:off x="4919472" y="3438144"/>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Select from list</a:t>
            </a:r>
            <a:endParaRPr lang="en-US" sz="850" dirty="0"/>
          </a:p>
        </p:txBody>
      </p:sp>
      <p:sp>
        <p:nvSpPr>
          <p:cNvPr id="55" name="Shape 53"/>
          <p:cNvSpPr/>
          <p:nvPr/>
        </p:nvSpPr>
        <p:spPr>
          <a:xfrm>
            <a:off x="4800600" y="3392424"/>
            <a:ext cx="1828800" cy="301752"/>
          </a:xfrm>
          <a:prstGeom prst="roundRect">
            <a:avLst>
              <a:gd name="adj" fmla="val 18182"/>
            </a:avLst>
          </a:prstGeom>
          <a:ln w="25400">
            <a:solidFill>
              <a:srgbClr val="D49A00"/>
            </a:solidFill>
            <a:prstDash val="solid"/>
          </a:ln>
        </p:spPr>
      </p:sp>
      <p:sp>
        <p:nvSpPr>
          <p:cNvPr id="56" name="Text 54"/>
          <p:cNvSpPr txBox="1"/>
          <p:nvPr/>
        </p:nvSpPr>
        <p:spPr>
          <a:xfrm>
            <a:off x="6720840" y="3282696"/>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Study area</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57" name="Shape 55"/>
          <p:cNvSpPr/>
          <p:nvPr/>
        </p:nvSpPr>
        <p:spPr>
          <a:xfrm>
            <a:off x="6720840" y="3438144"/>
            <a:ext cx="1737360" cy="210312"/>
          </a:xfrm>
          <a:prstGeom prst="roundRect">
            <a:avLst>
              <a:gd name="adj" fmla="val 17391"/>
            </a:avLst>
          </a:prstGeom>
          <a:solidFill>
            <a:srgbClr val="FFFFFF"/>
          </a:solidFill>
          <a:ln w="9525">
            <a:solidFill>
              <a:srgbClr val="B7C4BB"/>
            </a:solidFill>
            <a:prstDash val="solid"/>
          </a:ln>
        </p:spPr>
      </p:sp>
      <p:sp>
        <p:nvSpPr>
          <p:cNvPr id="58" name="Text 56"/>
          <p:cNvSpPr txBox="1"/>
          <p:nvPr/>
        </p:nvSpPr>
        <p:spPr>
          <a:xfrm>
            <a:off x="6793992" y="3438144"/>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Select from list</a:t>
            </a:r>
            <a:endParaRPr lang="en-US" sz="850" dirty="0"/>
          </a:p>
        </p:txBody>
      </p:sp>
      <p:sp>
        <p:nvSpPr>
          <p:cNvPr id="59" name="Shape 57"/>
          <p:cNvSpPr/>
          <p:nvPr/>
        </p:nvSpPr>
        <p:spPr>
          <a:xfrm>
            <a:off x="6675120" y="3392424"/>
            <a:ext cx="1828800" cy="301752"/>
          </a:xfrm>
          <a:prstGeom prst="roundRect">
            <a:avLst>
              <a:gd name="adj" fmla="val 18182"/>
            </a:avLst>
          </a:prstGeom>
          <a:ln w="25400">
            <a:solidFill>
              <a:srgbClr val="D49A00"/>
            </a:solidFill>
            <a:prstDash val="solid"/>
          </a:ln>
        </p:spPr>
      </p:sp>
      <p:sp>
        <p:nvSpPr>
          <p:cNvPr id="60" name="Shape 58"/>
          <p:cNvSpPr/>
          <p:nvPr/>
        </p:nvSpPr>
        <p:spPr>
          <a:xfrm>
            <a:off x="4846320" y="3995928"/>
            <a:ext cx="3657600" cy="274320"/>
          </a:xfrm>
          <a:prstGeom prst="roundRect">
            <a:avLst>
              <a:gd name="adj" fmla="val 16667"/>
            </a:avLst>
          </a:prstGeom>
          <a:solidFill>
            <a:srgbClr val="2C9045"/>
          </a:solidFill>
          <a:ln/>
        </p:spPr>
      </p:sp>
      <p:sp>
        <p:nvSpPr>
          <p:cNvPr id="61" name="Text 59"/>
          <p:cNvSpPr txBox="1"/>
          <p:nvPr/>
        </p:nvSpPr>
        <p:spPr>
          <a:xfrm>
            <a:off x="4846320" y="3995928"/>
            <a:ext cx="365760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Register for Earthdata Login</a:t>
            </a:r>
            <a:endParaRPr lang="en-US" sz="950" dirty="0"/>
          </a:p>
        </p:txBody>
      </p:sp>
      <p:sp>
        <p:nvSpPr>
          <p:cNvPr id="62" name="Text 60"/>
          <p:cNvSpPr txBox="1"/>
          <p:nvPr/>
        </p:nvSpPr>
        <p:spPr>
          <a:xfrm>
            <a:off x="4663440" y="4462272"/>
            <a:ext cx="4023360" cy="182880"/>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Schematic illustration — the live page may look slightly different.</a:t>
            </a:r>
            <a:endParaRPr lang="en-US" sz="850" dirty="0"/>
          </a:p>
        </p:txBody>
      </p:sp>
      <p:sp>
        <p:nvSpPr>
          <p:cNvPr id="63"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02 · ACTIVATE</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Activate your account by email</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0E5A2E"/>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80160"/>
            <a:ext cx="329184" cy="329184"/>
          </a:xfrm>
          <a:prstGeom prst="ellipse">
            <a:avLst/>
          </a:prstGeom>
          <a:solidFill>
            <a:srgbClr val="E8F4EB"/>
          </a:solidFill>
          <a:ln w="9525">
            <a:solidFill>
              <a:srgbClr val="D3E2D7"/>
            </a:solidFill>
            <a:prstDash val="solid"/>
          </a:ln>
        </p:spPr>
      </p:sp>
      <p:sp>
        <p:nvSpPr>
          <p:cNvPr id="11" name="Text 9"/>
          <p:cNvSpPr txBox="1"/>
          <p:nvPr/>
        </p:nvSpPr>
        <p:spPr>
          <a:xfrm>
            <a:off x="457200" y="128016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914400" y="1252728"/>
            <a:ext cx="3520440" cy="731520"/>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Open your mailbox</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Look for the message from Earthdata Login (check Spam).</a:t>
            </a:r>
            <a:endParaRPr lang="en-US" sz="1250" dirty="0"/>
          </a:p>
        </p:txBody>
      </p:sp>
      <p:sp>
        <p:nvSpPr>
          <p:cNvPr id="13" name="Shape 11"/>
          <p:cNvSpPr/>
          <p:nvPr/>
        </p:nvSpPr>
        <p:spPr>
          <a:xfrm>
            <a:off x="457200" y="2057400"/>
            <a:ext cx="329184" cy="329184"/>
          </a:xfrm>
          <a:prstGeom prst="ellipse">
            <a:avLst/>
          </a:prstGeom>
          <a:solidFill>
            <a:srgbClr val="E8F4EB"/>
          </a:solidFill>
          <a:ln w="9525">
            <a:solidFill>
              <a:srgbClr val="D3E2D7"/>
            </a:solidFill>
            <a:prstDash val="solid"/>
          </a:ln>
        </p:spPr>
      </p:sp>
      <p:sp>
        <p:nvSpPr>
          <p:cNvPr id="14" name="Text 12"/>
          <p:cNvSpPr txBox="1"/>
          <p:nvPr/>
        </p:nvSpPr>
        <p:spPr>
          <a:xfrm>
            <a:off x="457200" y="205740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914400" y="2029968"/>
            <a:ext cx="3520440" cy="731520"/>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Click the activation link</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Your profile is activated.</a:t>
            </a:r>
            <a:endParaRPr lang="en-US" sz="1250" dirty="0"/>
          </a:p>
        </p:txBody>
      </p:sp>
      <p:sp>
        <p:nvSpPr>
          <p:cNvPr id="16" name="Shape 14"/>
          <p:cNvSpPr/>
          <p:nvPr/>
        </p:nvSpPr>
        <p:spPr>
          <a:xfrm>
            <a:off x="457200" y="2834640"/>
            <a:ext cx="329184" cy="329184"/>
          </a:xfrm>
          <a:prstGeom prst="ellipse">
            <a:avLst/>
          </a:prstGeom>
          <a:solidFill>
            <a:srgbClr val="E8F4EB"/>
          </a:solidFill>
          <a:ln w="9525">
            <a:solidFill>
              <a:srgbClr val="D3E2D7"/>
            </a:solidFill>
            <a:prstDash val="solid"/>
          </a:ln>
        </p:spPr>
      </p:sp>
      <p:sp>
        <p:nvSpPr>
          <p:cNvPr id="17" name="Text 15"/>
          <p:cNvSpPr txBox="1"/>
          <p:nvPr/>
        </p:nvSpPr>
        <p:spPr>
          <a:xfrm>
            <a:off x="457200" y="283464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endParaRPr lang="en-US" sz="1150" dirty="0"/>
          </a:p>
        </p:txBody>
      </p:sp>
      <p:sp>
        <p:nvSpPr>
          <p:cNvPr id="18" name="Text 16"/>
          <p:cNvSpPr txBox="1"/>
          <p:nvPr/>
        </p:nvSpPr>
        <p:spPr>
          <a:xfrm>
            <a:off x="914400" y="2807208"/>
            <a:ext cx="3520440" cy="731520"/>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Log in</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At urs.earthdata.nasa.gov with your username and password.</a:t>
            </a:r>
            <a:endParaRPr lang="en-US" sz="1250" dirty="0"/>
          </a:p>
        </p:txBody>
      </p:sp>
      <p:sp>
        <p:nvSpPr>
          <p:cNvPr id="19" name="Shape 17"/>
          <p:cNvSpPr/>
          <p:nvPr/>
        </p:nvSpPr>
        <p:spPr>
          <a:xfrm>
            <a:off x="4663440" y="1188720"/>
            <a:ext cx="4023360" cy="2377440"/>
          </a:xfrm>
          <a:prstGeom prst="roundRect">
            <a:avLst>
              <a:gd name="adj" fmla="val 2308"/>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sp>
        <p:nvSpPr>
          <p:cNvPr id="20" name="Shape 18"/>
          <p:cNvSpPr/>
          <p:nvPr/>
        </p:nvSpPr>
        <p:spPr>
          <a:xfrm>
            <a:off x="4663440" y="1188720"/>
            <a:ext cx="4023360" cy="292608"/>
          </a:xfrm>
          <a:prstGeom prst="roundRect">
            <a:avLst>
              <a:gd name="adj" fmla="val 18750"/>
            </a:avLst>
          </a:prstGeom>
          <a:solidFill>
            <a:srgbClr val="EEF1EF"/>
          </a:solidFill>
          <a:ln/>
        </p:spPr>
      </p:sp>
      <p:sp>
        <p:nvSpPr>
          <p:cNvPr id="21" name="Shape 19"/>
          <p:cNvSpPr/>
          <p:nvPr/>
        </p:nvSpPr>
        <p:spPr>
          <a:xfrm>
            <a:off x="4773168" y="1298448"/>
            <a:ext cx="73152" cy="73152"/>
          </a:xfrm>
          <a:prstGeom prst="ellipse">
            <a:avLst/>
          </a:prstGeom>
          <a:solidFill>
            <a:srgbClr val="E0A39B"/>
          </a:solidFill>
          <a:ln/>
        </p:spPr>
      </p:sp>
      <p:sp>
        <p:nvSpPr>
          <p:cNvPr id="22" name="Shape 20"/>
          <p:cNvSpPr/>
          <p:nvPr/>
        </p:nvSpPr>
        <p:spPr>
          <a:xfrm>
            <a:off x="4892040" y="1298448"/>
            <a:ext cx="73152" cy="73152"/>
          </a:xfrm>
          <a:prstGeom prst="ellipse">
            <a:avLst/>
          </a:prstGeom>
          <a:solidFill>
            <a:srgbClr val="E8C97A"/>
          </a:solidFill>
          <a:ln/>
        </p:spPr>
      </p:sp>
      <p:sp>
        <p:nvSpPr>
          <p:cNvPr id="23" name="Shape 21"/>
          <p:cNvSpPr/>
          <p:nvPr/>
        </p:nvSpPr>
        <p:spPr>
          <a:xfrm>
            <a:off x="5010912" y="1298448"/>
            <a:ext cx="73152" cy="73152"/>
          </a:xfrm>
          <a:prstGeom prst="ellipse">
            <a:avLst/>
          </a:prstGeom>
          <a:solidFill>
            <a:srgbClr val="9CCB9F"/>
          </a:solidFill>
          <a:ln/>
        </p:spPr>
      </p:sp>
      <p:sp>
        <p:nvSpPr>
          <p:cNvPr id="24" name="Shape 22"/>
          <p:cNvSpPr/>
          <p:nvPr/>
        </p:nvSpPr>
        <p:spPr>
          <a:xfrm>
            <a:off x="5166360" y="1252728"/>
            <a:ext cx="3383280" cy="173736"/>
          </a:xfrm>
          <a:prstGeom prst="roundRect">
            <a:avLst>
              <a:gd name="adj" fmla="val 47368"/>
            </a:avLst>
          </a:prstGeom>
          <a:solidFill>
            <a:srgbClr val="FFFFFF"/>
          </a:solidFill>
          <a:ln/>
        </p:spPr>
      </p:sp>
      <p:sp>
        <p:nvSpPr>
          <p:cNvPr id="25" name="Text 23"/>
          <p:cNvSpPr txBox="1"/>
          <p:nvPr/>
        </p:nvSpPr>
        <p:spPr>
          <a:xfrm>
            <a:off x="5257800" y="1252728"/>
            <a:ext cx="3200400" cy="173736"/>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mail.google.com</a:t>
            </a:r>
            <a:endParaRPr lang="en-US" sz="850" dirty="0"/>
          </a:p>
        </p:txBody>
      </p:sp>
      <p:sp>
        <p:nvSpPr>
          <p:cNvPr id="26" name="Shape 24"/>
          <p:cNvSpPr/>
          <p:nvPr/>
        </p:nvSpPr>
        <p:spPr>
          <a:xfrm>
            <a:off x="4846320" y="1645920"/>
            <a:ext cx="457200" cy="457200"/>
          </a:xfrm>
          <a:prstGeom prst="ellipse">
            <a:avLst/>
          </a:prstGeom>
          <a:solidFill>
            <a:srgbClr val="0E5A2E">
              <a:alpha val="20000"/>
            </a:srgbClr>
          </a:solidFill>
          <a:ln/>
        </p:spPr>
      </p:sp>
      <p:pic>
        <p:nvPicPr>
          <p:cNvPr id="27" name="Image 0" descr="/home/claude/work/ntl/icons/envelope_g2.png"/>
          <p:cNvPicPr>
            <a:picLocks noChangeAspect="1"/>
          </p:cNvPicPr>
          <p:nvPr/>
        </p:nvPicPr>
        <p:blipFill>
          <a:blip r:embed="rId3"/>
          <a:stretch>
            <a:fillRect/>
          </a:stretch>
        </p:blipFill>
        <p:spPr>
          <a:xfrm>
            <a:off x="4969764" y="1769364"/>
            <a:ext cx="210312" cy="210312"/>
          </a:xfrm>
          <a:prstGeom prst="rect">
            <a:avLst/>
          </a:prstGeom>
        </p:spPr>
      </p:pic>
      <p:sp>
        <p:nvSpPr>
          <p:cNvPr id="28" name="Text 25"/>
          <p:cNvSpPr txBox="1"/>
          <p:nvPr/>
        </p:nvSpPr>
        <p:spPr>
          <a:xfrm>
            <a:off x="5440680" y="1627632"/>
            <a:ext cx="3108960" cy="50292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NASA Earthdata Login</a:t>
            </a:r>
            <a:endParaRPr lang="en-US" sz="1000" dirty="0"/>
          </a:p>
          <a:p>
            <a:pPr marL="0" indent="0">
              <a:buNone/>
            </a:pPr>
            <a:r>
              <a:rPr lang="en-US" sz="1000" dirty="0">
                <a:solidFill>
                  <a:srgbClr val="231F20"/>
                </a:solidFill>
                <a:latin typeface="Calibri" pitchFamily="34" charset="0"/>
                <a:ea typeface="Calibri" pitchFamily="34" charset="-122"/>
                <a:cs typeface="Calibri" pitchFamily="34" charset="-120"/>
              </a:rPr>
              <a:t>Activate your account</a:t>
            </a:r>
            <a:endParaRPr lang="en-US" sz="1000" dirty="0"/>
          </a:p>
        </p:txBody>
      </p:sp>
      <p:sp>
        <p:nvSpPr>
          <p:cNvPr id="29" name="Text 26"/>
          <p:cNvSpPr txBox="1"/>
          <p:nvPr/>
        </p:nvSpPr>
        <p:spPr>
          <a:xfrm>
            <a:off x="4846320" y="2267712"/>
            <a:ext cx="3657600" cy="457200"/>
          </a:xfrm>
          <a:prstGeom prst="rect">
            <a:avLst/>
          </a:prstGeom>
          <a:noFill/>
          <a:ln/>
        </p:spPr>
        <p:txBody>
          <a:bodyPr wrap="square" lIns="0" tIns="0" rIns="0" bIns="0" rtlCol="0" anchor="t"/>
          <a:lstStyle/>
          <a:p>
            <a:pPr marL="0" indent="0">
              <a:buNone/>
            </a:pPr>
            <a:r>
              <a:rPr lang="en-US" sz="950" dirty="0">
                <a:solidFill>
                  <a:srgbClr val="5A6660"/>
                </a:solidFill>
                <a:latin typeface="Calibri" pitchFamily="34" charset="0"/>
                <a:ea typeface="Calibri" pitchFamily="34" charset="-122"/>
                <a:cs typeface="Calibri" pitchFamily="34" charset="-120"/>
              </a:rPr>
              <a:t>Click the link below to activate your Earthdata Login profile.</a:t>
            </a:r>
            <a:endParaRPr lang="en-US" sz="950" dirty="0"/>
          </a:p>
        </p:txBody>
      </p:sp>
      <p:sp>
        <p:nvSpPr>
          <p:cNvPr id="30" name="Shape 27"/>
          <p:cNvSpPr/>
          <p:nvPr/>
        </p:nvSpPr>
        <p:spPr>
          <a:xfrm>
            <a:off x="4846320" y="2852928"/>
            <a:ext cx="2194560" cy="292608"/>
          </a:xfrm>
          <a:prstGeom prst="roundRect">
            <a:avLst>
              <a:gd name="adj" fmla="val 15625"/>
            </a:avLst>
          </a:prstGeom>
          <a:solidFill>
            <a:srgbClr val="2C9045"/>
          </a:solidFill>
          <a:ln/>
        </p:spPr>
      </p:sp>
      <p:sp>
        <p:nvSpPr>
          <p:cNvPr id="31" name="Text 28"/>
          <p:cNvSpPr txBox="1"/>
          <p:nvPr/>
        </p:nvSpPr>
        <p:spPr>
          <a:xfrm>
            <a:off x="4846320" y="2852928"/>
            <a:ext cx="21945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Activate account</a:t>
            </a:r>
            <a:endParaRPr lang="en-US" sz="950" dirty="0"/>
          </a:p>
        </p:txBody>
      </p:sp>
      <p:sp>
        <p:nvSpPr>
          <p:cNvPr id="32" name="Shape 29"/>
          <p:cNvSpPr/>
          <p:nvPr/>
        </p:nvSpPr>
        <p:spPr>
          <a:xfrm>
            <a:off x="4800600" y="2807208"/>
            <a:ext cx="2286000" cy="384048"/>
          </a:xfrm>
          <a:prstGeom prst="roundRect">
            <a:avLst>
              <a:gd name="adj" fmla="val 14286"/>
            </a:avLst>
          </a:prstGeom>
          <a:ln w="25400">
            <a:solidFill>
              <a:srgbClr val="D49A00"/>
            </a:solidFill>
            <a:prstDash val="solid"/>
          </a:ln>
        </p:spPr>
      </p:sp>
      <p:sp>
        <p:nvSpPr>
          <p:cNvPr id="33" name="Shape 30"/>
          <p:cNvSpPr/>
          <p:nvPr/>
        </p:nvSpPr>
        <p:spPr>
          <a:xfrm>
            <a:off x="4663440" y="3749040"/>
            <a:ext cx="4023360" cy="566928"/>
          </a:xfrm>
          <a:prstGeom prst="roundRect">
            <a:avLst>
              <a:gd name="adj" fmla="val 12903"/>
            </a:avLst>
          </a:prstGeom>
          <a:solidFill>
            <a:srgbClr val="2C9045">
              <a:alpha val="13000"/>
            </a:srgbClr>
          </a:solidFill>
          <a:ln w="12700">
            <a:solidFill>
              <a:srgbClr val="2C9045"/>
            </a:solidFill>
            <a:prstDash val="solid"/>
          </a:ln>
        </p:spPr>
      </p:sp>
      <p:pic>
        <p:nvPicPr>
          <p:cNvPr id="34" name="Image 1" descr="/home/claude/work/ntl/icons/bulb_g1.png"/>
          <p:cNvPicPr>
            <a:picLocks noChangeAspect="1"/>
          </p:cNvPicPr>
          <p:nvPr/>
        </p:nvPicPr>
        <p:blipFill>
          <a:blip r:embed="rId4"/>
          <a:stretch>
            <a:fillRect/>
          </a:stretch>
        </p:blipFill>
        <p:spPr>
          <a:xfrm>
            <a:off x="4818888" y="3895344"/>
            <a:ext cx="274320" cy="274320"/>
          </a:xfrm>
          <a:prstGeom prst="rect">
            <a:avLst/>
          </a:prstGeom>
        </p:spPr>
      </p:pic>
      <p:sp>
        <p:nvSpPr>
          <p:cNvPr id="35" name="Text 31"/>
          <p:cNvSpPr txBox="1"/>
          <p:nvPr/>
        </p:nvSpPr>
        <p:spPr>
          <a:xfrm>
            <a:off x="5230368" y="3749040"/>
            <a:ext cx="3310128" cy="56692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No email after 10 minutes? Check Spam or Promotions, then ask the support team.</a:t>
            </a:r>
            <a:endParaRPr lang="en-US" sz="1050" dirty="0"/>
          </a:p>
        </p:txBody>
      </p:sp>
      <p:sp>
        <p:nvSpPr>
          <p:cNvPr id="36" name="Text 32"/>
          <p:cNvSpPr txBox="1"/>
          <p:nvPr/>
        </p:nvSpPr>
        <p:spPr>
          <a:xfrm>
            <a:off x="4663440" y="4407408"/>
            <a:ext cx="4023360" cy="182880"/>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Schematic illustration — the live page may look slightly different.</a:t>
            </a:r>
            <a:endParaRPr lang="en-US" sz="850" dirty="0"/>
          </a:p>
        </p:txBody>
      </p:sp>
      <p:sp>
        <p:nvSpPr>
          <p:cNvPr id="37"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04 · AUTHORIZE LAADS</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Authorize the LAADS DAAC application</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49A00"/>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80160"/>
            <a:ext cx="329184" cy="329184"/>
          </a:xfrm>
          <a:prstGeom prst="ellipse">
            <a:avLst/>
          </a:prstGeom>
          <a:solidFill>
            <a:srgbClr val="E8F4EB"/>
          </a:solidFill>
          <a:ln w="9525">
            <a:solidFill>
              <a:srgbClr val="D3E2D7"/>
            </a:solidFill>
            <a:prstDash val="solid"/>
          </a:ln>
        </p:spPr>
      </p:sp>
      <p:sp>
        <p:nvSpPr>
          <p:cNvPr id="11" name="Text 9"/>
          <p:cNvSpPr txBox="1"/>
          <p:nvPr/>
        </p:nvSpPr>
        <p:spPr>
          <a:xfrm>
            <a:off x="457200" y="128016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914400" y="1252728"/>
            <a:ext cx="3520440" cy="731520"/>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Log in to LAADS DAAC</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ladsweb.modaps.eosdis.nasa.gov › Login › Earthdata Login.</a:t>
            </a:r>
            <a:endParaRPr lang="en-US" sz="1250" dirty="0"/>
          </a:p>
        </p:txBody>
      </p:sp>
      <p:sp>
        <p:nvSpPr>
          <p:cNvPr id="13" name="Shape 11"/>
          <p:cNvSpPr/>
          <p:nvPr/>
        </p:nvSpPr>
        <p:spPr>
          <a:xfrm>
            <a:off x="457200" y="2057400"/>
            <a:ext cx="329184" cy="329184"/>
          </a:xfrm>
          <a:prstGeom prst="ellipse">
            <a:avLst/>
          </a:prstGeom>
          <a:solidFill>
            <a:srgbClr val="E8F4EB"/>
          </a:solidFill>
          <a:ln w="9525">
            <a:solidFill>
              <a:srgbClr val="D3E2D7"/>
            </a:solidFill>
            <a:prstDash val="solid"/>
          </a:ln>
        </p:spPr>
      </p:sp>
      <p:sp>
        <p:nvSpPr>
          <p:cNvPr id="14" name="Text 12"/>
          <p:cNvSpPr txBox="1"/>
          <p:nvPr/>
        </p:nvSpPr>
        <p:spPr>
          <a:xfrm>
            <a:off x="457200" y="205740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914400" y="2029968"/>
            <a:ext cx="3520440" cy="731520"/>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Open a Black Marble product page</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For example VNP46A4 or VNP46A3.</a:t>
            </a:r>
            <a:endParaRPr lang="en-US" sz="1250" dirty="0"/>
          </a:p>
        </p:txBody>
      </p:sp>
      <p:sp>
        <p:nvSpPr>
          <p:cNvPr id="16" name="Shape 14"/>
          <p:cNvSpPr/>
          <p:nvPr/>
        </p:nvSpPr>
        <p:spPr>
          <a:xfrm>
            <a:off x="457200" y="2834640"/>
            <a:ext cx="329184" cy="329184"/>
          </a:xfrm>
          <a:prstGeom prst="ellipse">
            <a:avLst/>
          </a:prstGeom>
          <a:solidFill>
            <a:srgbClr val="E8F4EB"/>
          </a:solidFill>
          <a:ln w="9525">
            <a:solidFill>
              <a:srgbClr val="D3E2D7"/>
            </a:solidFill>
            <a:prstDash val="solid"/>
          </a:ln>
        </p:spPr>
      </p:sp>
      <p:sp>
        <p:nvSpPr>
          <p:cNvPr id="17" name="Text 15"/>
          <p:cNvSpPr txBox="1"/>
          <p:nvPr/>
        </p:nvSpPr>
        <p:spPr>
          <a:xfrm>
            <a:off x="457200" y="283464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endParaRPr lang="en-US" sz="1150" dirty="0"/>
          </a:p>
        </p:txBody>
      </p:sp>
      <p:sp>
        <p:nvSpPr>
          <p:cNvPr id="18" name="Text 16"/>
          <p:cNvSpPr txBox="1"/>
          <p:nvPr/>
        </p:nvSpPr>
        <p:spPr>
          <a:xfrm>
            <a:off x="914400" y="2807208"/>
            <a:ext cx="3520440" cy="731520"/>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Click the green Authorize button</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It lets LAADS use your Earthdata profile (Sentinel-3 and MERIS).</a:t>
            </a:r>
            <a:endParaRPr lang="en-US" sz="1250" dirty="0"/>
          </a:p>
        </p:txBody>
      </p:sp>
      <p:sp>
        <p:nvSpPr>
          <p:cNvPr id="19" name="Shape 17"/>
          <p:cNvSpPr/>
          <p:nvPr/>
        </p:nvSpPr>
        <p:spPr>
          <a:xfrm>
            <a:off x="4663440" y="1188720"/>
            <a:ext cx="4023360" cy="3154680"/>
          </a:xfrm>
          <a:prstGeom prst="roundRect">
            <a:avLst>
              <a:gd name="adj" fmla="val 173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sp>
        <p:nvSpPr>
          <p:cNvPr id="20" name="Shape 18"/>
          <p:cNvSpPr/>
          <p:nvPr/>
        </p:nvSpPr>
        <p:spPr>
          <a:xfrm>
            <a:off x="4663440" y="1188720"/>
            <a:ext cx="4023360" cy="292608"/>
          </a:xfrm>
          <a:prstGeom prst="roundRect">
            <a:avLst>
              <a:gd name="adj" fmla="val 18750"/>
            </a:avLst>
          </a:prstGeom>
          <a:solidFill>
            <a:srgbClr val="EEF1EF"/>
          </a:solidFill>
          <a:ln/>
        </p:spPr>
      </p:sp>
      <p:sp>
        <p:nvSpPr>
          <p:cNvPr id="21" name="Shape 19"/>
          <p:cNvSpPr/>
          <p:nvPr/>
        </p:nvSpPr>
        <p:spPr>
          <a:xfrm>
            <a:off x="4773168" y="1298448"/>
            <a:ext cx="73152" cy="73152"/>
          </a:xfrm>
          <a:prstGeom prst="ellipse">
            <a:avLst/>
          </a:prstGeom>
          <a:solidFill>
            <a:srgbClr val="E0A39B"/>
          </a:solidFill>
          <a:ln/>
        </p:spPr>
      </p:sp>
      <p:sp>
        <p:nvSpPr>
          <p:cNvPr id="22" name="Shape 20"/>
          <p:cNvSpPr/>
          <p:nvPr/>
        </p:nvSpPr>
        <p:spPr>
          <a:xfrm>
            <a:off x="4892040" y="1298448"/>
            <a:ext cx="73152" cy="73152"/>
          </a:xfrm>
          <a:prstGeom prst="ellipse">
            <a:avLst/>
          </a:prstGeom>
          <a:solidFill>
            <a:srgbClr val="E8C97A"/>
          </a:solidFill>
          <a:ln/>
        </p:spPr>
      </p:sp>
      <p:sp>
        <p:nvSpPr>
          <p:cNvPr id="23" name="Shape 21"/>
          <p:cNvSpPr/>
          <p:nvPr/>
        </p:nvSpPr>
        <p:spPr>
          <a:xfrm>
            <a:off x="5010912" y="1298448"/>
            <a:ext cx="73152" cy="73152"/>
          </a:xfrm>
          <a:prstGeom prst="ellipse">
            <a:avLst/>
          </a:prstGeom>
          <a:solidFill>
            <a:srgbClr val="9CCB9F"/>
          </a:solidFill>
          <a:ln/>
        </p:spPr>
      </p:sp>
      <p:sp>
        <p:nvSpPr>
          <p:cNvPr id="24" name="Shape 22"/>
          <p:cNvSpPr/>
          <p:nvPr/>
        </p:nvSpPr>
        <p:spPr>
          <a:xfrm>
            <a:off x="5166360" y="1252728"/>
            <a:ext cx="3383280" cy="173736"/>
          </a:xfrm>
          <a:prstGeom prst="roundRect">
            <a:avLst>
              <a:gd name="adj" fmla="val 47368"/>
            </a:avLst>
          </a:prstGeom>
          <a:solidFill>
            <a:srgbClr val="FFFFFF"/>
          </a:solidFill>
          <a:ln/>
        </p:spPr>
      </p:sp>
      <p:sp>
        <p:nvSpPr>
          <p:cNvPr id="25" name="Text 23"/>
          <p:cNvSpPr txBox="1"/>
          <p:nvPr/>
        </p:nvSpPr>
        <p:spPr>
          <a:xfrm>
            <a:off x="5257800" y="1252728"/>
            <a:ext cx="3200400" cy="173736"/>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ladsweb.modaps.eosdis.nasa.gov</a:t>
            </a:r>
            <a:endParaRPr lang="en-US" sz="850" dirty="0"/>
          </a:p>
        </p:txBody>
      </p:sp>
      <p:sp>
        <p:nvSpPr>
          <p:cNvPr id="26" name="Shape 24"/>
          <p:cNvSpPr/>
          <p:nvPr/>
        </p:nvSpPr>
        <p:spPr>
          <a:xfrm>
            <a:off x="6355080" y="1600200"/>
            <a:ext cx="548640" cy="548640"/>
          </a:xfrm>
          <a:prstGeom prst="ellipse">
            <a:avLst/>
          </a:prstGeom>
          <a:solidFill>
            <a:srgbClr val="D49A00">
              <a:alpha val="20000"/>
            </a:srgbClr>
          </a:solidFill>
          <a:ln/>
        </p:spPr>
      </p:sp>
      <p:pic>
        <p:nvPicPr>
          <p:cNvPr id="27" name="Image 0" descr="/home/claude/work/ntl/icons/shield_gold.png"/>
          <p:cNvPicPr>
            <a:picLocks noChangeAspect="1"/>
          </p:cNvPicPr>
          <p:nvPr/>
        </p:nvPicPr>
        <p:blipFill>
          <a:blip r:embed="rId3"/>
          <a:stretch>
            <a:fillRect/>
          </a:stretch>
        </p:blipFill>
        <p:spPr>
          <a:xfrm>
            <a:off x="6503213" y="1748333"/>
            <a:ext cx="252374" cy="252374"/>
          </a:xfrm>
          <a:prstGeom prst="rect">
            <a:avLst/>
          </a:prstGeom>
        </p:spPr>
      </p:pic>
      <p:sp>
        <p:nvSpPr>
          <p:cNvPr id="28" name="Text 25"/>
          <p:cNvSpPr txBox="1"/>
          <p:nvPr/>
        </p:nvSpPr>
        <p:spPr>
          <a:xfrm>
            <a:off x="4846320" y="2240280"/>
            <a:ext cx="3657600" cy="274320"/>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Authorize application</a:t>
            </a:r>
            <a:endParaRPr lang="en-US" sz="1250" dirty="0"/>
          </a:p>
        </p:txBody>
      </p:sp>
      <p:sp>
        <p:nvSpPr>
          <p:cNvPr id="29" name="Text 26"/>
          <p:cNvSpPr txBox="1"/>
          <p:nvPr/>
        </p:nvSpPr>
        <p:spPr>
          <a:xfrm>
            <a:off x="4983480" y="2542032"/>
            <a:ext cx="3383280" cy="548640"/>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LAADS DAAC requests access to your Earthdata Login profile.</a:t>
            </a:r>
            <a:endParaRPr lang="en-US" sz="950" dirty="0"/>
          </a:p>
        </p:txBody>
      </p:sp>
      <p:sp>
        <p:nvSpPr>
          <p:cNvPr id="30" name="Shape 27"/>
          <p:cNvSpPr/>
          <p:nvPr/>
        </p:nvSpPr>
        <p:spPr>
          <a:xfrm>
            <a:off x="5897880" y="3246120"/>
            <a:ext cx="1463040" cy="329184"/>
          </a:xfrm>
          <a:prstGeom prst="roundRect">
            <a:avLst>
              <a:gd name="adj" fmla="val 13889"/>
            </a:avLst>
          </a:prstGeom>
          <a:solidFill>
            <a:srgbClr val="2C9045"/>
          </a:solidFill>
          <a:ln/>
        </p:spPr>
      </p:sp>
      <p:sp>
        <p:nvSpPr>
          <p:cNvPr id="31" name="Text 28"/>
          <p:cNvSpPr txBox="1"/>
          <p:nvPr/>
        </p:nvSpPr>
        <p:spPr>
          <a:xfrm>
            <a:off x="5897880" y="3246120"/>
            <a:ext cx="146304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Authorize</a:t>
            </a:r>
            <a:endParaRPr lang="en-US" sz="1050" dirty="0"/>
          </a:p>
        </p:txBody>
      </p:sp>
      <p:sp>
        <p:nvSpPr>
          <p:cNvPr id="32" name="Shape 29"/>
          <p:cNvSpPr/>
          <p:nvPr/>
        </p:nvSpPr>
        <p:spPr>
          <a:xfrm>
            <a:off x="5852160" y="3200400"/>
            <a:ext cx="1554480" cy="420624"/>
          </a:xfrm>
          <a:prstGeom prst="roundRect">
            <a:avLst>
              <a:gd name="adj" fmla="val 13043"/>
            </a:avLst>
          </a:prstGeom>
          <a:ln w="25400">
            <a:solidFill>
              <a:srgbClr val="D49A00"/>
            </a:solidFill>
            <a:prstDash val="solid"/>
          </a:ln>
        </p:spPr>
      </p:sp>
      <p:sp>
        <p:nvSpPr>
          <p:cNvPr id="33" name="Text 30"/>
          <p:cNvSpPr txBox="1"/>
          <p:nvPr/>
        </p:nvSpPr>
        <p:spPr>
          <a:xfrm>
            <a:off x="5897880" y="3657600"/>
            <a:ext cx="1463040" cy="201168"/>
          </a:xfrm>
          <a:prstGeom prst="rect">
            <a:avLst/>
          </a:prstGeom>
          <a:noFill/>
          <a:ln/>
        </p:spPr>
        <p:txBody>
          <a:bodyPr wrap="square" lIns="0" tIns="0" rIns="0" bIns="0" rtlCol="0" anchor="t"/>
          <a:lstStyle/>
          <a:p>
            <a:pPr marL="0" indent="0" algn="ctr">
              <a:buNone/>
            </a:pPr>
            <a:r>
              <a:rPr lang="en-US" sz="900" dirty="0">
                <a:solidFill>
                  <a:srgbClr val="5A6660"/>
                </a:solidFill>
                <a:latin typeface="Calibri" pitchFamily="34" charset="0"/>
                <a:ea typeface="Calibri" pitchFamily="34" charset="-122"/>
                <a:cs typeface="Calibri" pitchFamily="34" charset="-120"/>
              </a:rPr>
              <a:t>Cancel</a:t>
            </a:r>
            <a:endParaRPr lang="en-US" sz="900" dirty="0"/>
          </a:p>
        </p:txBody>
      </p:sp>
      <p:sp>
        <p:nvSpPr>
          <p:cNvPr id="34" name="Text 31"/>
          <p:cNvSpPr txBox="1"/>
          <p:nvPr/>
        </p:nvSpPr>
        <p:spPr>
          <a:xfrm>
            <a:off x="4663440" y="4434840"/>
            <a:ext cx="4023360" cy="182880"/>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Schematic illustration — the live page may look slightly different.</a:t>
            </a:r>
            <a:endParaRPr lang="en-US" sz="850" dirty="0"/>
          </a:p>
        </p:txBody>
      </p:sp>
      <p:sp>
        <p:nvSpPr>
          <p:cNvPr id="35"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05 · GENERATE TOKEN</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Generate and copy your token</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C4621D"/>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80160"/>
            <a:ext cx="329184" cy="329184"/>
          </a:xfrm>
          <a:prstGeom prst="ellipse">
            <a:avLst/>
          </a:prstGeom>
          <a:solidFill>
            <a:srgbClr val="E8F4EB"/>
          </a:solidFill>
          <a:ln w="9525">
            <a:solidFill>
              <a:srgbClr val="D3E2D7"/>
            </a:solidFill>
            <a:prstDash val="solid"/>
          </a:ln>
        </p:spPr>
      </p:sp>
      <p:sp>
        <p:nvSpPr>
          <p:cNvPr id="11" name="Text 9"/>
          <p:cNvSpPr txBox="1"/>
          <p:nvPr/>
        </p:nvSpPr>
        <p:spPr>
          <a:xfrm>
            <a:off x="457200" y="128016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914400" y="1252728"/>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Log in to your Earthdata profile</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urs.earthdata.nasa.gov/profile.</a:t>
            </a:r>
            <a:endParaRPr lang="en-US" sz="1250" dirty="0"/>
          </a:p>
        </p:txBody>
      </p:sp>
      <p:sp>
        <p:nvSpPr>
          <p:cNvPr id="13" name="Shape 11"/>
          <p:cNvSpPr/>
          <p:nvPr/>
        </p:nvSpPr>
        <p:spPr>
          <a:xfrm>
            <a:off x="457200" y="1938528"/>
            <a:ext cx="329184" cy="329184"/>
          </a:xfrm>
          <a:prstGeom prst="ellipse">
            <a:avLst/>
          </a:prstGeom>
          <a:solidFill>
            <a:srgbClr val="E8F4EB"/>
          </a:solidFill>
          <a:ln w="9525">
            <a:solidFill>
              <a:srgbClr val="D3E2D7"/>
            </a:solidFill>
            <a:prstDash val="solid"/>
          </a:ln>
        </p:spPr>
      </p:sp>
      <p:sp>
        <p:nvSpPr>
          <p:cNvPr id="14" name="Text 12"/>
          <p:cNvSpPr txBox="1"/>
          <p:nvPr/>
        </p:nvSpPr>
        <p:spPr>
          <a:xfrm>
            <a:off x="457200" y="1938528"/>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914400" y="1911096"/>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Click Generate Token</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In the top menu of the profile.</a:t>
            </a:r>
            <a:endParaRPr lang="en-US" sz="1250" dirty="0"/>
          </a:p>
        </p:txBody>
      </p:sp>
      <p:sp>
        <p:nvSpPr>
          <p:cNvPr id="16" name="Shape 14"/>
          <p:cNvSpPr/>
          <p:nvPr/>
        </p:nvSpPr>
        <p:spPr>
          <a:xfrm>
            <a:off x="457200" y="2596896"/>
            <a:ext cx="329184" cy="329184"/>
          </a:xfrm>
          <a:prstGeom prst="ellipse">
            <a:avLst/>
          </a:prstGeom>
          <a:solidFill>
            <a:srgbClr val="E8F4EB"/>
          </a:solidFill>
          <a:ln w="9525">
            <a:solidFill>
              <a:srgbClr val="D3E2D7"/>
            </a:solidFill>
            <a:prstDash val="solid"/>
          </a:ln>
        </p:spPr>
      </p:sp>
      <p:sp>
        <p:nvSpPr>
          <p:cNvPr id="17" name="Text 15"/>
          <p:cNvSpPr txBox="1"/>
          <p:nvPr/>
        </p:nvSpPr>
        <p:spPr>
          <a:xfrm>
            <a:off x="457200" y="2596896"/>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endParaRPr lang="en-US" sz="1150" dirty="0"/>
          </a:p>
        </p:txBody>
      </p:sp>
      <p:sp>
        <p:nvSpPr>
          <p:cNvPr id="18" name="Text 16"/>
          <p:cNvSpPr txBox="1"/>
          <p:nvPr/>
        </p:nvSpPr>
        <p:spPr>
          <a:xfrm>
            <a:off x="914400" y="2569464"/>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Click the green Generate Token button</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At the bottom of the page, if no token is listed yet.</a:t>
            </a:r>
            <a:endParaRPr lang="en-US" sz="1250" dirty="0"/>
          </a:p>
        </p:txBody>
      </p:sp>
      <p:sp>
        <p:nvSpPr>
          <p:cNvPr id="19" name="Shape 17"/>
          <p:cNvSpPr/>
          <p:nvPr/>
        </p:nvSpPr>
        <p:spPr>
          <a:xfrm>
            <a:off x="457200" y="3255264"/>
            <a:ext cx="329184" cy="329184"/>
          </a:xfrm>
          <a:prstGeom prst="ellipse">
            <a:avLst/>
          </a:prstGeom>
          <a:solidFill>
            <a:srgbClr val="E8F4EB"/>
          </a:solidFill>
          <a:ln w="9525">
            <a:solidFill>
              <a:srgbClr val="D3E2D7"/>
            </a:solidFill>
            <a:prstDash val="solid"/>
          </a:ln>
        </p:spPr>
      </p:sp>
      <p:sp>
        <p:nvSpPr>
          <p:cNvPr id="20" name="Text 18"/>
          <p:cNvSpPr txBox="1"/>
          <p:nvPr/>
        </p:nvSpPr>
        <p:spPr>
          <a:xfrm>
            <a:off x="457200" y="3255264"/>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914400" y="3227832"/>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Click Show Token, then copy it</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Paste it straight into a password manager or an environment variable.</a:t>
            </a:r>
            <a:endParaRPr lang="en-US" sz="1250" dirty="0"/>
          </a:p>
        </p:txBody>
      </p:sp>
      <p:sp>
        <p:nvSpPr>
          <p:cNvPr id="22" name="Shape 20"/>
          <p:cNvSpPr/>
          <p:nvPr/>
        </p:nvSpPr>
        <p:spPr>
          <a:xfrm>
            <a:off x="4663440" y="1188720"/>
            <a:ext cx="4023360" cy="3154680"/>
          </a:xfrm>
          <a:prstGeom prst="roundRect">
            <a:avLst>
              <a:gd name="adj" fmla="val 173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sp>
        <p:nvSpPr>
          <p:cNvPr id="23" name="Shape 21"/>
          <p:cNvSpPr/>
          <p:nvPr/>
        </p:nvSpPr>
        <p:spPr>
          <a:xfrm>
            <a:off x="4663440" y="1188720"/>
            <a:ext cx="4023360" cy="292608"/>
          </a:xfrm>
          <a:prstGeom prst="roundRect">
            <a:avLst>
              <a:gd name="adj" fmla="val 18750"/>
            </a:avLst>
          </a:prstGeom>
          <a:solidFill>
            <a:srgbClr val="EEF1EF"/>
          </a:solidFill>
          <a:ln/>
        </p:spPr>
      </p:sp>
      <p:sp>
        <p:nvSpPr>
          <p:cNvPr id="24" name="Shape 22"/>
          <p:cNvSpPr/>
          <p:nvPr/>
        </p:nvSpPr>
        <p:spPr>
          <a:xfrm>
            <a:off x="4773168" y="1298448"/>
            <a:ext cx="73152" cy="73152"/>
          </a:xfrm>
          <a:prstGeom prst="ellipse">
            <a:avLst/>
          </a:prstGeom>
          <a:solidFill>
            <a:srgbClr val="E0A39B"/>
          </a:solidFill>
          <a:ln/>
        </p:spPr>
      </p:sp>
      <p:sp>
        <p:nvSpPr>
          <p:cNvPr id="25" name="Shape 23"/>
          <p:cNvSpPr/>
          <p:nvPr/>
        </p:nvSpPr>
        <p:spPr>
          <a:xfrm>
            <a:off x="4892040" y="1298448"/>
            <a:ext cx="73152" cy="73152"/>
          </a:xfrm>
          <a:prstGeom prst="ellipse">
            <a:avLst/>
          </a:prstGeom>
          <a:solidFill>
            <a:srgbClr val="E8C97A"/>
          </a:solidFill>
          <a:ln/>
        </p:spPr>
      </p:sp>
      <p:sp>
        <p:nvSpPr>
          <p:cNvPr id="26" name="Shape 24"/>
          <p:cNvSpPr/>
          <p:nvPr/>
        </p:nvSpPr>
        <p:spPr>
          <a:xfrm>
            <a:off x="5010912" y="1298448"/>
            <a:ext cx="73152" cy="73152"/>
          </a:xfrm>
          <a:prstGeom prst="ellipse">
            <a:avLst/>
          </a:prstGeom>
          <a:solidFill>
            <a:srgbClr val="9CCB9F"/>
          </a:solidFill>
          <a:ln/>
        </p:spPr>
      </p:sp>
      <p:sp>
        <p:nvSpPr>
          <p:cNvPr id="27" name="Shape 25"/>
          <p:cNvSpPr/>
          <p:nvPr/>
        </p:nvSpPr>
        <p:spPr>
          <a:xfrm>
            <a:off x="5166360" y="1252728"/>
            <a:ext cx="3383280" cy="173736"/>
          </a:xfrm>
          <a:prstGeom prst="roundRect">
            <a:avLst>
              <a:gd name="adj" fmla="val 47368"/>
            </a:avLst>
          </a:prstGeom>
          <a:solidFill>
            <a:srgbClr val="FFFFFF"/>
          </a:solidFill>
          <a:ln/>
        </p:spPr>
      </p:sp>
      <p:sp>
        <p:nvSpPr>
          <p:cNvPr id="28" name="Text 26"/>
          <p:cNvSpPr txBox="1"/>
          <p:nvPr/>
        </p:nvSpPr>
        <p:spPr>
          <a:xfrm>
            <a:off x="5257800" y="1252728"/>
            <a:ext cx="3200400" cy="173736"/>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urs.earthdata.nasa.gov/users/tokens</a:t>
            </a:r>
            <a:endParaRPr lang="en-US" sz="850" dirty="0"/>
          </a:p>
        </p:txBody>
      </p:sp>
      <p:sp>
        <p:nvSpPr>
          <p:cNvPr id="29" name="Text 27"/>
          <p:cNvSpPr txBox="1"/>
          <p:nvPr/>
        </p:nvSpPr>
        <p:spPr>
          <a:xfrm>
            <a:off x="4846320" y="1600200"/>
            <a:ext cx="896112" cy="219456"/>
          </a:xfrm>
          <a:prstGeom prst="rect">
            <a:avLst/>
          </a:prstGeom>
          <a:noFill/>
          <a:ln/>
        </p:spPr>
        <p:txBody>
          <a:bodyPr wrap="square" lIns="0" tIns="0" rIns="0" bIns="0" rtlCol="0" anchor="ctr"/>
          <a:lstStyle/>
          <a:p>
            <a:pPr marL="0" indent="0" algn="ctr">
              <a:buNone/>
            </a:pPr>
            <a:r>
              <a:rPr lang="en-US" sz="900" dirty="0">
                <a:solidFill>
                  <a:srgbClr val="5A6660"/>
                </a:solidFill>
                <a:latin typeface="Calibri" pitchFamily="34" charset="0"/>
                <a:ea typeface="Calibri" pitchFamily="34" charset="-122"/>
                <a:cs typeface="Calibri" pitchFamily="34" charset="-120"/>
              </a:rPr>
              <a:t>Profile</a:t>
            </a:r>
            <a:endParaRPr lang="en-US" sz="900" dirty="0"/>
          </a:p>
        </p:txBody>
      </p:sp>
      <p:sp>
        <p:nvSpPr>
          <p:cNvPr id="30" name="Text 28"/>
          <p:cNvSpPr txBox="1"/>
          <p:nvPr/>
        </p:nvSpPr>
        <p:spPr>
          <a:xfrm>
            <a:off x="5779008" y="1600200"/>
            <a:ext cx="896112" cy="219456"/>
          </a:xfrm>
          <a:prstGeom prst="rect">
            <a:avLst/>
          </a:prstGeom>
          <a:noFill/>
          <a:ln/>
        </p:spPr>
        <p:txBody>
          <a:bodyPr wrap="square" lIns="0" tIns="0" rIns="0" bIns="0" rtlCol="0" anchor="ctr"/>
          <a:lstStyle/>
          <a:p>
            <a:pPr marL="0" indent="0" algn="ctr">
              <a:buNone/>
            </a:pPr>
            <a:r>
              <a:rPr lang="en-US" sz="900" dirty="0">
                <a:solidFill>
                  <a:srgbClr val="5A6660"/>
                </a:solidFill>
                <a:latin typeface="Calibri" pitchFamily="34" charset="0"/>
                <a:ea typeface="Calibri" pitchFamily="34" charset="-122"/>
                <a:cs typeface="Calibri" pitchFamily="34" charset="-120"/>
              </a:rPr>
              <a:t>Applications</a:t>
            </a:r>
            <a:endParaRPr lang="en-US" sz="900" dirty="0"/>
          </a:p>
        </p:txBody>
      </p:sp>
      <p:sp>
        <p:nvSpPr>
          <p:cNvPr id="31" name="Text 29"/>
          <p:cNvSpPr txBox="1"/>
          <p:nvPr/>
        </p:nvSpPr>
        <p:spPr>
          <a:xfrm>
            <a:off x="6711696" y="1600200"/>
            <a:ext cx="896112" cy="219456"/>
          </a:xfrm>
          <a:prstGeom prst="rect">
            <a:avLst/>
          </a:prstGeom>
          <a:noFill/>
          <a:ln/>
        </p:spPr>
        <p:txBody>
          <a:bodyPr wrap="square" lIns="0" tIns="0" rIns="0" bIns="0" rtlCol="0" anchor="ctr"/>
          <a:lstStyle/>
          <a:p>
            <a:pPr marL="0" indent="0" algn="ctr">
              <a:buNone/>
            </a:pPr>
            <a:r>
              <a:rPr lang="en-US" sz="900" dirty="0">
                <a:solidFill>
                  <a:srgbClr val="5A6660"/>
                </a:solidFill>
                <a:latin typeface="Calibri" pitchFamily="34" charset="0"/>
                <a:ea typeface="Calibri" pitchFamily="34" charset="-122"/>
                <a:cs typeface="Calibri" pitchFamily="34" charset="-120"/>
              </a:rPr>
              <a:t>EULAs</a:t>
            </a:r>
            <a:endParaRPr lang="en-US" sz="900" dirty="0"/>
          </a:p>
        </p:txBody>
      </p:sp>
      <p:sp>
        <p:nvSpPr>
          <p:cNvPr id="32" name="Text 30"/>
          <p:cNvSpPr txBox="1"/>
          <p:nvPr/>
        </p:nvSpPr>
        <p:spPr>
          <a:xfrm>
            <a:off x="7644384" y="1600200"/>
            <a:ext cx="896112" cy="219456"/>
          </a:xfrm>
          <a:prstGeom prst="rect">
            <a:avLst/>
          </a:prstGeom>
          <a:noFill/>
          <a:ln/>
        </p:spPr>
        <p:txBody>
          <a:bodyPr wrap="square" lIns="0" tIns="0" rIns="0" bIns="0" rtlCol="0" anchor="ctr"/>
          <a:lstStyle/>
          <a:p>
            <a:pPr marL="0" indent="0" algn="ctr">
              <a:buNone/>
            </a:pPr>
            <a:r>
              <a:rPr lang="en-US" sz="900" b="1" dirty="0">
                <a:solidFill>
                  <a:srgbClr val="0E5A2E"/>
                </a:solidFill>
                <a:latin typeface="Calibri" pitchFamily="34" charset="0"/>
                <a:ea typeface="Calibri" pitchFamily="34" charset="-122"/>
                <a:cs typeface="Calibri" pitchFamily="34" charset="-120"/>
              </a:rPr>
              <a:t>Generate Token</a:t>
            </a:r>
            <a:endParaRPr lang="en-US" sz="900" dirty="0"/>
          </a:p>
        </p:txBody>
      </p:sp>
      <p:sp>
        <p:nvSpPr>
          <p:cNvPr id="33" name="Shape 31"/>
          <p:cNvSpPr/>
          <p:nvPr/>
        </p:nvSpPr>
        <p:spPr>
          <a:xfrm>
            <a:off x="7598664" y="1554480"/>
            <a:ext cx="987552" cy="310896"/>
          </a:xfrm>
          <a:prstGeom prst="roundRect">
            <a:avLst>
              <a:gd name="adj" fmla="val 17647"/>
            </a:avLst>
          </a:prstGeom>
          <a:ln w="25400">
            <a:solidFill>
              <a:srgbClr val="D49A00"/>
            </a:solidFill>
            <a:prstDash val="solid"/>
          </a:ln>
        </p:spPr>
      </p:sp>
      <p:sp>
        <p:nvSpPr>
          <p:cNvPr id="34" name="Shape 32"/>
          <p:cNvSpPr/>
          <p:nvPr/>
        </p:nvSpPr>
        <p:spPr>
          <a:xfrm>
            <a:off x="4846320" y="1901952"/>
            <a:ext cx="3657600" cy="0"/>
          </a:xfrm>
          <a:prstGeom prst="line">
            <a:avLst/>
          </a:prstGeom>
          <a:noFill/>
          <a:ln w="9525">
            <a:solidFill>
              <a:srgbClr val="D3E2D7"/>
            </a:solidFill>
            <a:prstDash val="solid"/>
          </a:ln>
        </p:spPr>
      </p:sp>
      <p:sp>
        <p:nvSpPr>
          <p:cNvPr id="35" name="Text 33"/>
          <p:cNvSpPr txBox="1"/>
          <p:nvPr/>
        </p:nvSpPr>
        <p:spPr>
          <a:xfrm>
            <a:off x="4846320" y="2011680"/>
            <a:ext cx="36576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Generate Bearer Token</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846320" y="2331720"/>
          <a:ext cx="365760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320040">
                  <a:extLst>
                    <a:ext uri="{9D8B030D-6E8A-4147-A177-3AD203B41FA5}">
                      <a16:colId xmlns:a16="http://schemas.microsoft.com/office/drawing/2014/main" val="20002"/>
                    </a:ext>
                  </a:extLst>
                </a:gridCol>
              </a:tblGrid>
              <a:tr h="237744">
                <a:tc>
                  <a:txBody>
                    <a:bodyPr/>
                    <a:lstStyle/>
                    <a:p>
                      <a:pPr marL="0" indent="0">
                        <a:buNone/>
                      </a:pPr>
                      <a:r>
                        <a:rPr lang="en-US" sz="850" b="1" dirty="0">
                          <a:solidFill>
                            <a:srgbClr val="5A6660"/>
                          </a:solidFill>
                          <a:latin typeface="Calibri" pitchFamily="34" charset="0"/>
                          <a:ea typeface="Calibri" pitchFamily="34" charset="-122"/>
                          <a:cs typeface="Calibri" pitchFamily="34" charset="-120"/>
                        </a:rPr>
                        <a:t>Token</a:t>
                      </a: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tc>
                  <a:txBody>
                    <a:bodyPr/>
                    <a:lstStyle/>
                    <a:p>
                      <a:pPr marL="0" indent="0">
                        <a:buNone/>
                      </a:pPr>
                      <a:r>
                        <a:rPr lang="en-US" sz="850" b="1" dirty="0">
                          <a:solidFill>
                            <a:srgbClr val="5A6660"/>
                          </a:solidFill>
                          <a:latin typeface="Calibri" pitchFamily="34" charset="0"/>
                          <a:ea typeface="Calibri" pitchFamily="34" charset="-122"/>
                          <a:cs typeface="Calibri" pitchFamily="34" charset="-120"/>
                        </a:rPr>
                        <a:t>Expiration</a:t>
                      </a: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tc>
                  <a:txBody>
                    <a:bodyPr/>
                    <a:lstStyle/>
                    <a:p>
                      <a:pPr marL="0" indent="0">
                        <a:buNone/>
                      </a:pP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extLst>
                  <a:ext uri="{0D108BD9-81ED-4DB2-BD59-A6C34878D82A}">
                    <a16:rowId xmlns:a16="http://schemas.microsoft.com/office/drawing/2014/main" val="10000"/>
                  </a:ext>
                </a:extLst>
              </a:tr>
              <a:tr h="237744">
                <a:tc>
                  <a:txBody>
                    <a:bodyPr/>
                    <a:lstStyle/>
                    <a:p>
                      <a:pPr marL="0" indent="0">
                        <a:buNone/>
                      </a:pPr>
                      <a:r>
                        <a:rPr lang="en-US" sz="850" dirty="0">
                          <a:solidFill>
                            <a:srgbClr val="000000"/>
                          </a:solidFill>
                          <a:latin typeface="Courier New" pitchFamily="34" charset="0"/>
                          <a:ea typeface="Courier New" pitchFamily="34" charset="-122"/>
                          <a:cs typeface="Courier New" pitchFamily="34" charset="-120"/>
                        </a:rPr>
                        <a:t>••••••••••••••••••••</a:t>
                      </a:r>
                      <a:endParaRPr lang="en-US" sz="850" dirty="0">
                        <a:latin typeface="Courier New" charset="0"/>
                        <a:ea typeface="Courier New" charset="0"/>
                        <a:cs typeface="Courier New"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tc>
                  <a:txBody>
                    <a:bodyPr/>
                    <a:lstStyle/>
                    <a:p>
                      <a:pPr marL="0" indent="0">
                        <a:buNone/>
                      </a:pPr>
                      <a:r>
                        <a:rPr lang="en-US" sz="850" dirty="0">
                          <a:solidFill>
                            <a:srgbClr val="231F20"/>
                          </a:solidFill>
                          <a:latin typeface="Calibri" pitchFamily="34" charset="0"/>
                          <a:ea typeface="Calibri" pitchFamily="34" charset="-122"/>
                          <a:cs typeface="Calibri" pitchFamily="34" charset="-120"/>
                        </a:rPr>
                        <a:t>in 60 days</a:t>
                      </a: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tc>
                  <a:txBody>
                    <a:bodyPr/>
                    <a:lstStyle/>
                    <a:p>
                      <a:pPr marL="0" indent="0">
                        <a:buNone/>
                      </a:pPr>
                      <a:r>
                        <a:rPr lang="en-US" sz="850" dirty="0">
                          <a:solidFill>
                            <a:srgbClr val="231F2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7" name="Shape 34"/>
          <p:cNvSpPr/>
          <p:nvPr/>
        </p:nvSpPr>
        <p:spPr>
          <a:xfrm>
            <a:off x="4846320" y="2971800"/>
            <a:ext cx="1188720" cy="274320"/>
          </a:xfrm>
          <a:prstGeom prst="roundRect">
            <a:avLst>
              <a:gd name="adj" fmla="val 16667"/>
            </a:avLst>
          </a:prstGeom>
          <a:solidFill>
            <a:srgbClr val="2F6FB7"/>
          </a:solidFill>
          <a:ln/>
        </p:spPr>
      </p:sp>
      <p:sp>
        <p:nvSpPr>
          <p:cNvPr id="38" name="Text 35"/>
          <p:cNvSpPr txBox="1"/>
          <p:nvPr/>
        </p:nvSpPr>
        <p:spPr>
          <a:xfrm>
            <a:off x="4846320" y="2971800"/>
            <a:ext cx="11887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Show Token</a:t>
            </a:r>
            <a:endParaRPr lang="en-US" sz="900" dirty="0"/>
          </a:p>
        </p:txBody>
      </p:sp>
      <p:sp>
        <p:nvSpPr>
          <p:cNvPr id="39" name="Shape 36"/>
          <p:cNvSpPr/>
          <p:nvPr/>
        </p:nvSpPr>
        <p:spPr>
          <a:xfrm>
            <a:off x="4800600" y="2926080"/>
            <a:ext cx="1280160" cy="365760"/>
          </a:xfrm>
          <a:prstGeom prst="roundRect">
            <a:avLst>
              <a:gd name="adj" fmla="val 15000"/>
            </a:avLst>
          </a:prstGeom>
          <a:ln w="25400">
            <a:solidFill>
              <a:srgbClr val="D49A00"/>
            </a:solidFill>
            <a:prstDash val="solid"/>
          </a:ln>
        </p:spPr>
      </p:sp>
      <p:sp>
        <p:nvSpPr>
          <p:cNvPr id="40" name="Shape 37"/>
          <p:cNvSpPr/>
          <p:nvPr/>
        </p:nvSpPr>
        <p:spPr>
          <a:xfrm>
            <a:off x="6949440" y="3794760"/>
            <a:ext cx="1554480" cy="292608"/>
          </a:xfrm>
          <a:prstGeom prst="roundRect">
            <a:avLst>
              <a:gd name="adj" fmla="val 15625"/>
            </a:avLst>
          </a:prstGeom>
          <a:solidFill>
            <a:srgbClr val="2C9045"/>
          </a:solidFill>
          <a:ln/>
        </p:spPr>
      </p:sp>
      <p:sp>
        <p:nvSpPr>
          <p:cNvPr id="41" name="Text 38"/>
          <p:cNvSpPr txBox="1"/>
          <p:nvPr/>
        </p:nvSpPr>
        <p:spPr>
          <a:xfrm>
            <a:off x="6949440" y="3794760"/>
            <a:ext cx="15544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Generate Token</a:t>
            </a:r>
            <a:endParaRPr lang="en-US" sz="950" dirty="0"/>
          </a:p>
        </p:txBody>
      </p:sp>
      <p:sp>
        <p:nvSpPr>
          <p:cNvPr id="42" name="Shape 39"/>
          <p:cNvSpPr/>
          <p:nvPr/>
        </p:nvSpPr>
        <p:spPr>
          <a:xfrm>
            <a:off x="6903720" y="3749040"/>
            <a:ext cx="1645920" cy="384048"/>
          </a:xfrm>
          <a:prstGeom prst="roundRect">
            <a:avLst>
              <a:gd name="adj" fmla="val 14286"/>
            </a:avLst>
          </a:prstGeom>
          <a:ln w="25400">
            <a:solidFill>
              <a:srgbClr val="D49A00"/>
            </a:solidFill>
            <a:prstDash val="solid"/>
          </a:ln>
        </p:spPr>
      </p:sp>
      <p:sp>
        <p:nvSpPr>
          <p:cNvPr id="43" name="Text 40"/>
          <p:cNvSpPr txBox="1"/>
          <p:nvPr/>
        </p:nvSpPr>
        <p:spPr>
          <a:xfrm>
            <a:off x="4663440" y="4434840"/>
            <a:ext cx="4023360" cy="182880"/>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Schematic illustration — the live page may look slightly different.</a:t>
            </a:r>
            <a:endParaRPr lang="en-US" sz="850" dirty="0"/>
          </a:p>
        </p:txBody>
      </p:sp>
      <p:sp>
        <p:nvSpPr>
          <p:cNvPr id="44"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05 · GENERATE TOKEN</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Three facts about your token</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C4621D"/>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98448"/>
            <a:ext cx="2587752" cy="1874520"/>
          </a:xfrm>
          <a:prstGeom prst="roundRect">
            <a:avLst>
              <a:gd name="adj" fmla="val 3902"/>
            </a:avLst>
          </a:prstGeom>
          <a:solidFill>
            <a:srgbClr val="F4F8F5"/>
          </a:solidFill>
          <a:ln w="9525">
            <a:solidFill>
              <a:srgbClr val="D3E2D7"/>
            </a:solidFill>
            <a:prstDash val="solid"/>
          </a:ln>
        </p:spPr>
      </p:sp>
      <p:sp>
        <p:nvSpPr>
          <p:cNvPr id="11" name="Shape 9"/>
          <p:cNvSpPr/>
          <p:nvPr/>
        </p:nvSpPr>
        <p:spPr>
          <a:xfrm>
            <a:off x="658368" y="1481328"/>
            <a:ext cx="457200" cy="457200"/>
          </a:xfrm>
          <a:prstGeom prst="ellipse">
            <a:avLst/>
          </a:prstGeom>
          <a:solidFill>
            <a:srgbClr val="C4621D">
              <a:alpha val="20000"/>
            </a:srgbClr>
          </a:solidFill>
          <a:ln/>
        </p:spPr>
      </p:sp>
      <p:pic>
        <p:nvPicPr>
          <p:cNvPr id="12" name="Image 0" descr="/home/claude/work/ntl/icons/clock_orange.png"/>
          <p:cNvPicPr>
            <a:picLocks noChangeAspect="1"/>
          </p:cNvPicPr>
          <p:nvPr/>
        </p:nvPicPr>
        <p:blipFill>
          <a:blip r:embed="rId3"/>
          <a:stretch>
            <a:fillRect/>
          </a:stretch>
        </p:blipFill>
        <p:spPr>
          <a:xfrm>
            <a:off x="781812" y="1604772"/>
            <a:ext cx="210312" cy="210312"/>
          </a:xfrm>
          <a:prstGeom prst="rect">
            <a:avLst/>
          </a:prstGeom>
        </p:spPr>
      </p:pic>
      <p:sp>
        <p:nvSpPr>
          <p:cNvPr id="13" name="Text 10"/>
          <p:cNvSpPr txBox="1"/>
          <p:nvPr/>
        </p:nvSpPr>
        <p:spPr>
          <a:xfrm>
            <a:off x="658368" y="2011680"/>
            <a:ext cx="2240280" cy="566928"/>
          </a:xfrm>
          <a:prstGeom prst="rect">
            <a:avLst/>
          </a:prstGeom>
          <a:noFill/>
          <a:ln/>
        </p:spPr>
        <p:txBody>
          <a:bodyPr wrap="square" lIns="0" tIns="0" rIns="0" bIns="0" rtlCol="0" anchor="ctr"/>
          <a:lstStyle/>
          <a:p>
            <a:pPr marL="0" indent="0">
              <a:buNone/>
            </a:pPr>
            <a:r>
              <a:rPr lang="en-US" sz="4000" b="1" dirty="0">
                <a:solidFill>
                  <a:srgbClr val="C4621D"/>
                </a:solidFill>
                <a:latin typeface="Calibri" pitchFamily="34" charset="0"/>
                <a:ea typeface="Calibri" pitchFamily="34" charset="-122"/>
                <a:cs typeface="Calibri" pitchFamily="34" charset="-120"/>
              </a:rPr>
              <a:t>60</a:t>
            </a:r>
            <a:r>
              <a:rPr lang="en-US" sz="1300" b="1" dirty="0">
                <a:solidFill>
                  <a:srgbClr val="231F20"/>
                </a:solidFill>
                <a:latin typeface="Calibri" pitchFamily="34" charset="0"/>
                <a:ea typeface="Calibri" pitchFamily="34" charset="-122"/>
                <a:cs typeface="Calibri" pitchFamily="34" charset="-120"/>
              </a:rPr>
              <a:t> days</a:t>
            </a:r>
            <a:endParaRPr lang="en-US" sz="4000" dirty="0"/>
          </a:p>
        </p:txBody>
      </p:sp>
      <p:sp>
        <p:nvSpPr>
          <p:cNvPr id="14" name="Text 11"/>
          <p:cNvSpPr txBox="1"/>
          <p:nvPr/>
        </p:nvSpPr>
        <p:spPr>
          <a:xfrm>
            <a:off x="658368" y="2606040"/>
            <a:ext cx="2240280" cy="50292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Each user token is valid for 60 days, then you generate a new one.</a:t>
            </a:r>
            <a:endParaRPr lang="en-US" sz="1000" dirty="0"/>
          </a:p>
        </p:txBody>
      </p:sp>
      <p:sp>
        <p:nvSpPr>
          <p:cNvPr id="15" name="Shape 12"/>
          <p:cNvSpPr/>
          <p:nvPr/>
        </p:nvSpPr>
        <p:spPr>
          <a:xfrm>
            <a:off x="3282696" y="1298448"/>
            <a:ext cx="2587752" cy="1874520"/>
          </a:xfrm>
          <a:prstGeom prst="roundRect">
            <a:avLst>
              <a:gd name="adj" fmla="val 3902"/>
            </a:avLst>
          </a:prstGeom>
          <a:solidFill>
            <a:srgbClr val="F4F8F5"/>
          </a:solidFill>
          <a:ln w="9525">
            <a:solidFill>
              <a:srgbClr val="D3E2D7"/>
            </a:solidFill>
            <a:prstDash val="solid"/>
          </a:ln>
        </p:spPr>
      </p:sp>
      <p:sp>
        <p:nvSpPr>
          <p:cNvPr id="16" name="Shape 13"/>
          <p:cNvSpPr/>
          <p:nvPr/>
        </p:nvSpPr>
        <p:spPr>
          <a:xfrm>
            <a:off x="3483864" y="1481328"/>
            <a:ext cx="457200" cy="457200"/>
          </a:xfrm>
          <a:prstGeom prst="ellipse">
            <a:avLst/>
          </a:prstGeom>
          <a:solidFill>
            <a:srgbClr val="0E5A2E">
              <a:alpha val="20000"/>
            </a:srgbClr>
          </a:solidFill>
          <a:ln/>
        </p:spPr>
      </p:sp>
      <p:pic>
        <p:nvPicPr>
          <p:cNvPr id="17" name="Image 1" descr="/home/claude/work/ntl/icons/key_g2.png"/>
          <p:cNvPicPr>
            <a:picLocks noChangeAspect="1"/>
          </p:cNvPicPr>
          <p:nvPr/>
        </p:nvPicPr>
        <p:blipFill>
          <a:blip r:embed="rId4"/>
          <a:stretch>
            <a:fillRect/>
          </a:stretch>
        </p:blipFill>
        <p:spPr>
          <a:xfrm>
            <a:off x="3607308" y="1604772"/>
            <a:ext cx="210312" cy="210312"/>
          </a:xfrm>
          <a:prstGeom prst="rect">
            <a:avLst/>
          </a:prstGeom>
        </p:spPr>
      </p:pic>
      <p:sp>
        <p:nvSpPr>
          <p:cNvPr id="18" name="Text 14"/>
          <p:cNvSpPr txBox="1"/>
          <p:nvPr/>
        </p:nvSpPr>
        <p:spPr>
          <a:xfrm>
            <a:off x="3483864" y="2011680"/>
            <a:ext cx="2240280" cy="566928"/>
          </a:xfrm>
          <a:prstGeom prst="rect">
            <a:avLst/>
          </a:prstGeom>
          <a:noFill/>
          <a:ln/>
        </p:spPr>
        <p:txBody>
          <a:bodyPr wrap="square" lIns="0" tIns="0" rIns="0" bIns="0" rtlCol="0" anchor="ctr"/>
          <a:lstStyle/>
          <a:p>
            <a:pPr marL="0" indent="0">
              <a:buNone/>
            </a:pPr>
            <a:r>
              <a:rPr lang="en-US" sz="4000" b="1" dirty="0">
                <a:solidFill>
                  <a:srgbClr val="0E5A2E"/>
                </a:solidFill>
                <a:latin typeface="Calibri" pitchFamily="34" charset="0"/>
                <a:ea typeface="Calibri" pitchFamily="34" charset="-122"/>
                <a:cs typeface="Calibri" pitchFamily="34" charset="-120"/>
              </a:rPr>
              <a:t>2</a:t>
            </a:r>
            <a:r>
              <a:rPr lang="en-US" sz="1300" b="1" dirty="0">
                <a:solidFill>
                  <a:srgbClr val="231F20"/>
                </a:solidFill>
                <a:latin typeface="Calibri" pitchFamily="34" charset="0"/>
                <a:ea typeface="Calibri" pitchFamily="34" charset="-122"/>
                <a:cs typeface="Calibri" pitchFamily="34" charset="-120"/>
              </a:rPr>
              <a:t> tokens max</a:t>
            </a:r>
            <a:endParaRPr lang="en-US" sz="4000" dirty="0"/>
          </a:p>
        </p:txBody>
      </p:sp>
      <p:sp>
        <p:nvSpPr>
          <p:cNvPr id="19" name="Text 15"/>
          <p:cNvSpPr txBox="1"/>
          <p:nvPr/>
        </p:nvSpPr>
        <p:spPr>
          <a:xfrm>
            <a:off x="3483864" y="2606040"/>
            <a:ext cx="2240280" cy="50292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At most two valid tokens per user at any time. Delete one to create another.</a:t>
            </a:r>
            <a:endParaRPr lang="en-US" sz="1000" dirty="0"/>
          </a:p>
        </p:txBody>
      </p:sp>
      <p:sp>
        <p:nvSpPr>
          <p:cNvPr id="20" name="Shape 16"/>
          <p:cNvSpPr/>
          <p:nvPr/>
        </p:nvSpPr>
        <p:spPr>
          <a:xfrm>
            <a:off x="6108192" y="1298448"/>
            <a:ext cx="2587752" cy="1874520"/>
          </a:xfrm>
          <a:prstGeom prst="roundRect">
            <a:avLst>
              <a:gd name="adj" fmla="val 3902"/>
            </a:avLst>
          </a:prstGeom>
          <a:solidFill>
            <a:srgbClr val="F4F8F5"/>
          </a:solidFill>
          <a:ln w="9525">
            <a:solidFill>
              <a:srgbClr val="D3E2D7"/>
            </a:solidFill>
            <a:prstDash val="solid"/>
          </a:ln>
        </p:spPr>
      </p:sp>
      <p:sp>
        <p:nvSpPr>
          <p:cNvPr id="21" name="Shape 17"/>
          <p:cNvSpPr/>
          <p:nvPr/>
        </p:nvSpPr>
        <p:spPr>
          <a:xfrm>
            <a:off x="6309360" y="1481328"/>
            <a:ext cx="457200" cy="457200"/>
          </a:xfrm>
          <a:prstGeom prst="ellipse">
            <a:avLst/>
          </a:prstGeom>
          <a:solidFill>
            <a:srgbClr val="0E7C86">
              <a:alpha val="20000"/>
            </a:srgbClr>
          </a:solidFill>
          <a:ln/>
        </p:spPr>
      </p:sp>
      <p:pic>
        <p:nvPicPr>
          <p:cNvPr id="22" name="Image 2" descr="/home/claude/work/ntl/icons/terminal_teal.png"/>
          <p:cNvPicPr>
            <a:picLocks noChangeAspect="1"/>
          </p:cNvPicPr>
          <p:nvPr/>
        </p:nvPicPr>
        <p:blipFill>
          <a:blip r:embed="rId5"/>
          <a:stretch>
            <a:fillRect/>
          </a:stretch>
        </p:blipFill>
        <p:spPr>
          <a:xfrm>
            <a:off x="6432804" y="1604772"/>
            <a:ext cx="210312" cy="210312"/>
          </a:xfrm>
          <a:prstGeom prst="rect">
            <a:avLst/>
          </a:prstGeom>
        </p:spPr>
      </p:pic>
      <p:sp>
        <p:nvSpPr>
          <p:cNvPr id="23" name="Text 18"/>
          <p:cNvSpPr txBox="1"/>
          <p:nvPr/>
        </p:nvSpPr>
        <p:spPr>
          <a:xfrm>
            <a:off x="6309360" y="2011680"/>
            <a:ext cx="2240280" cy="566928"/>
          </a:xfrm>
          <a:prstGeom prst="rect">
            <a:avLst/>
          </a:prstGeom>
          <a:noFill/>
          <a:ln/>
        </p:spPr>
        <p:txBody>
          <a:bodyPr wrap="square" lIns="0" tIns="0" rIns="0" bIns="0" rtlCol="0" anchor="ctr"/>
          <a:lstStyle/>
          <a:p>
            <a:pPr marL="0" indent="0">
              <a:buNone/>
            </a:pPr>
            <a:r>
              <a:rPr lang="en-US" sz="4000" b="1" dirty="0">
                <a:solidFill>
                  <a:srgbClr val="0E7C86"/>
                </a:solidFill>
                <a:latin typeface="Calibri" pitchFamily="34" charset="0"/>
                <a:ea typeface="Calibri" pitchFamily="34" charset="-122"/>
                <a:cs typeface="Calibri" pitchFamily="34" charset="-120"/>
              </a:rPr>
              <a:t>1</a:t>
            </a:r>
            <a:r>
              <a:rPr lang="en-US" sz="1300" b="1" dirty="0">
                <a:solidFill>
                  <a:srgbClr val="231F20"/>
                </a:solidFill>
                <a:latin typeface="Calibri" pitchFamily="34" charset="0"/>
                <a:ea typeface="Calibri" pitchFamily="34" charset="-122"/>
                <a:cs typeface="Calibri" pitchFamily="34" charset="-120"/>
              </a:rPr>
              <a:t> header</a:t>
            </a:r>
            <a:endParaRPr lang="en-US" sz="4000" dirty="0"/>
          </a:p>
        </p:txBody>
      </p:sp>
      <p:sp>
        <p:nvSpPr>
          <p:cNvPr id="24" name="Text 19"/>
          <p:cNvSpPr txBox="1"/>
          <p:nvPr/>
        </p:nvSpPr>
        <p:spPr>
          <a:xfrm>
            <a:off x="6309360" y="2606040"/>
            <a:ext cx="2240280" cy="50292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Send it with every request as: Authorization: Bearer &lt;token&gt;.</a:t>
            </a:r>
            <a:endParaRPr lang="en-US" sz="1000" dirty="0"/>
          </a:p>
        </p:txBody>
      </p:sp>
      <p:sp>
        <p:nvSpPr>
          <p:cNvPr id="25" name="Shape 20"/>
          <p:cNvSpPr/>
          <p:nvPr/>
        </p:nvSpPr>
        <p:spPr>
          <a:xfrm>
            <a:off x="457200" y="3383280"/>
            <a:ext cx="8229600" cy="502920"/>
          </a:xfrm>
          <a:prstGeom prst="roundRect">
            <a:avLst>
              <a:gd name="adj" fmla="val 14545"/>
            </a:avLst>
          </a:prstGeom>
          <a:solidFill>
            <a:srgbClr val="D49A00">
              <a:alpha val="13000"/>
            </a:srgbClr>
          </a:solidFill>
          <a:ln w="12700">
            <a:solidFill>
              <a:srgbClr val="D49A00"/>
            </a:solidFill>
            <a:prstDash val="solid"/>
          </a:ln>
        </p:spPr>
      </p:sp>
      <p:pic>
        <p:nvPicPr>
          <p:cNvPr id="26" name="Image 3" descr="/home/claude/work/ntl/icons/warn_gold.png"/>
          <p:cNvPicPr>
            <a:picLocks noChangeAspect="1"/>
          </p:cNvPicPr>
          <p:nvPr/>
        </p:nvPicPr>
        <p:blipFill>
          <a:blip r:embed="rId6"/>
          <a:stretch>
            <a:fillRect/>
          </a:stretch>
        </p:blipFill>
        <p:spPr>
          <a:xfrm>
            <a:off x="612648" y="3497580"/>
            <a:ext cx="274320" cy="274320"/>
          </a:xfrm>
          <a:prstGeom prst="rect">
            <a:avLst/>
          </a:prstGeom>
        </p:spPr>
      </p:pic>
      <p:sp>
        <p:nvSpPr>
          <p:cNvPr id="27" name="Text 21"/>
          <p:cNvSpPr txBox="1"/>
          <p:nvPr/>
        </p:nvSpPr>
        <p:spPr>
          <a:xfrm>
            <a:off x="1024128" y="3383280"/>
            <a:ext cx="7516368"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Treat the token like a password: never paste it into a shared notebook, a slide or a GitHub repository. Use an environment variable.</a:t>
            </a:r>
            <a:endParaRPr lang="en-US" sz="1050" dirty="0"/>
          </a:p>
        </p:txBody>
      </p:sp>
      <p:sp>
        <p:nvSpPr>
          <p:cNvPr id="28" name="Text 22"/>
          <p:cNvSpPr txBox="1"/>
          <p:nvPr/>
        </p:nvSpPr>
        <p:spPr>
          <a:xfrm>
            <a:off x="457200" y="4526280"/>
            <a:ext cx="8229600" cy="182880"/>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Sources: Earthdata Login documentation, “User tokens”; LAADS DAAC, “Download files using EDL tokens”.</a:t>
            </a:r>
            <a:endParaRPr lang="en-US" sz="850" dirty="0"/>
          </a:p>
        </p:txBody>
      </p:sp>
      <p:sp>
        <p:nvSpPr>
          <p:cNvPr id="29"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TEST AND USE</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Store the token, test it, download Black Marble</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B83B2E"/>
          </a:solidFill>
          <a:ln/>
        </p:spPr>
      </p:sp>
      <p:sp>
        <p:nvSpPr>
          <p:cNvPr id="10" name="Shape 8"/>
          <p:cNvSpPr/>
          <p:nvPr/>
        </p:nvSpPr>
        <p:spPr>
          <a:xfrm>
            <a:off x="457200" y="1280160"/>
            <a:ext cx="4023360" cy="1417320"/>
          </a:xfrm>
          <a:prstGeom prst="roundRect">
            <a:avLst>
              <a:gd name="adj" fmla="val 3871"/>
            </a:avLst>
          </a:prstGeom>
          <a:solidFill>
            <a:srgbClr val="10261A"/>
          </a:solidFill>
          <a:ln/>
        </p:spPr>
      </p:sp>
      <p:sp>
        <p:nvSpPr>
          <p:cNvPr id="11" name="Text 9"/>
          <p:cNvSpPr txBox="1"/>
          <p:nvPr/>
        </p:nvSpPr>
        <p:spPr>
          <a:xfrm>
            <a:off x="640080" y="1371600"/>
            <a:ext cx="3657600" cy="182880"/>
          </a:xfrm>
          <a:prstGeom prst="rect">
            <a:avLst/>
          </a:prstGeom>
          <a:noFill/>
          <a:ln/>
        </p:spPr>
        <p:txBody>
          <a:bodyPr wrap="square" lIns="0" tIns="0" rIns="0" bIns="0" rtlCol="0" anchor="t"/>
          <a:lstStyle/>
          <a:p>
            <a:pPr marL="0" indent="0">
              <a:buNone/>
            </a:pPr>
            <a:r>
              <a:rPr lang="en-US" sz="900" b="1" kern="0" spc="100" dirty="0">
                <a:solidFill>
                  <a:srgbClr val="9CCB9F"/>
                </a:solidFill>
                <a:latin typeface="Calibri" pitchFamily="34" charset="0"/>
                <a:ea typeface="Calibri" pitchFamily="34" charset="-122"/>
                <a:cs typeface="Calibri" pitchFamily="34" charset="-120"/>
              </a:rPr>
              <a:t>STORE IT IN AN ENVIRONMENT VARIABLE</a:t>
            </a:r>
            <a:endParaRPr lang="en-US" sz="900" dirty="0"/>
          </a:p>
        </p:txBody>
      </p:sp>
      <p:sp>
        <p:nvSpPr>
          <p:cNvPr id="12" name="Text 10"/>
          <p:cNvSpPr txBox="1"/>
          <p:nvPr/>
        </p:nvSpPr>
        <p:spPr>
          <a:xfrm>
            <a:off x="640080" y="1609344"/>
            <a:ext cx="3657600" cy="996696"/>
          </a:xfrm>
          <a:prstGeom prst="rect">
            <a:avLst/>
          </a:prstGeom>
          <a:noFill/>
          <a:ln/>
        </p:spPr>
        <p:txBody>
          <a:bodyPr wrap="square" lIns="0" tIns="0" rIns="0" bIns="0" rtlCol="0" anchor="t"/>
          <a:lstStyle/>
          <a:p>
            <a:pPr marL="0" indent="0">
              <a:buNone/>
            </a:pPr>
            <a:r>
              <a:rPr lang="en-US" sz="850" dirty="0">
                <a:solidFill>
                  <a:srgbClr val="8FB59A"/>
                </a:solidFill>
                <a:latin typeface="Courier New" pitchFamily="34" charset="0"/>
                <a:ea typeface="Courier New" pitchFamily="34" charset="-122"/>
                <a:cs typeface="Courier New" pitchFamily="34" charset="-120"/>
              </a:rPr>
              <a:t># macOS / Linux terminal</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export BLACKMARBLE_TOKEN="eyJ0eXAi..."</a:t>
            </a:r>
            <a:endParaRPr lang="en-US" sz="850" dirty="0"/>
          </a:p>
          <a:p>
            <a:pPr marL="0" indent="0">
              <a:buNone/>
            </a:pPr>
            <a:r>
              <a:rPr lang="en-US" sz="850" dirty="0">
                <a:solidFill>
                  <a:srgbClr val="8FB59A"/>
                </a:solidFill>
                <a:latin typeface="Courier New" pitchFamily="34" charset="0"/>
                <a:ea typeface="Courier New" pitchFamily="34" charset="-122"/>
                <a:cs typeface="Courier New" pitchFamily="34" charset="-120"/>
              </a:rPr>
              <a:t># Windows PowerShell</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$env:BLACKMARBLE_TOKEN="eyJ0eXAi..."</a:t>
            </a:r>
            <a:endParaRPr lang="en-US" sz="850" dirty="0"/>
          </a:p>
          <a:p>
            <a:pPr marL="0" indent="0">
              <a:buNone/>
            </a:pPr>
            <a:r>
              <a:rPr lang="en-US" sz="850" dirty="0">
                <a:solidFill>
                  <a:srgbClr val="8FB59A"/>
                </a:solidFill>
                <a:latin typeface="Courier New" pitchFamily="34" charset="0"/>
                <a:ea typeface="Courier New" pitchFamily="34" charset="-122"/>
                <a:cs typeface="Courier New" pitchFamily="34" charset="-120"/>
              </a:rPr>
              <a:t># Google Colab / Jupyter</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import os</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os.environ["BLACKMARBLE_TOKEN"] = "eyJ..."</a:t>
            </a:r>
            <a:endParaRPr lang="en-US" sz="850" dirty="0"/>
          </a:p>
        </p:txBody>
      </p:sp>
      <p:sp>
        <p:nvSpPr>
          <p:cNvPr id="13" name="Shape 11"/>
          <p:cNvSpPr/>
          <p:nvPr/>
        </p:nvSpPr>
        <p:spPr>
          <a:xfrm>
            <a:off x="457200" y="2834640"/>
            <a:ext cx="4023360" cy="1554480"/>
          </a:xfrm>
          <a:prstGeom prst="roundRect">
            <a:avLst>
              <a:gd name="adj" fmla="val 3529"/>
            </a:avLst>
          </a:prstGeom>
          <a:solidFill>
            <a:srgbClr val="10261A"/>
          </a:solidFill>
          <a:ln/>
        </p:spPr>
      </p:sp>
      <p:sp>
        <p:nvSpPr>
          <p:cNvPr id="14" name="Text 12"/>
          <p:cNvSpPr txBox="1"/>
          <p:nvPr/>
        </p:nvSpPr>
        <p:spPr>
          <a:xfrm>
            <a:off x="640080" y="2926080"/>
            <a:ext cx="3657600" cy="182880"/>
          </a:xfrm>
          <a:prstGeom prst="rect">
            <a:avLst/>
          </a:prstGeom>
          <a:noFill/>
          <a:ln/>
        </p:spPr>
        <p:txBody>
          <a:bodyPr wrap="square" lIns="0" tIns="0" rIns="0" bIns="0" rtlCol="0" anchor="t"/>
          <a:lstStyle/>
          <a:p>
            <a:pPr marL="0" indent="0">
              <a:buNone/>
            </a:pPr>
            <a:r>
              <a:rPr lang="en-US" sz="900" b="1" kern="0" spc="100" dirty="0">
                <a:solidFill>
                  <a:srgbClr val="9CCB9F"/>
                </a:solidFill>
                <a:latin typeface="Calibri" pitchFamily="34" charset="0"/>
                <a:ea typeface="Calibri" pitchFamily="34" charset="-122"/>
                <a:cs typeface="Calibri" pitchFamily="34" charset="-120"/>
              </a:rPr>
              <a:t>TEST IT: DOWNLOAD THE LAADS README</a:t>
            </a:r>
            <a:endParaRPr lang="en-US" sz="900" dirty="0"/>
          </a:p>
        </p:txBody>
      </p:sp>
      <p:sp>
        <p:nvSpPr>
          <p:cNvPr id="15" name="Text 13"/>
          <p:cNvSpPr txBox="1"/>
          <p:nvPr/>
        </p:nvSpPr>
        <p:spPr>
          <a:xfrm>
            <a:off x="640080" y="3163824"/>
            <a:ext cx="3657600" cy="1133856"/>
          </a:xfrm>
          <a:prstGeom prst="rect">
            <a:avLst/>
          </a:prstGeom>
          <a:noFill/>
          <a:ln/>
        </p:spPr>
        <p:txBody>
          <a:bodyPr wrap="square" lIns="0" tIns="0" rIns="0" bIns="0" rtlCol="0" anchor="t"/>
          <a:lstStyle/>
          <a:p>
            <a:pPr marL="0" indent="0">
              <a:buNone/>
            </a:pPr>
            <a:r>
              <a:rPr lang="en-US" sz="850" dirty="0">
                <a:solidFill>
                  <a:srgbClr val="8FB59A"/>
                </a:solidFill>
                <a:latin typeface="Courier New" pitchFamily="34" charset="0"/>
                <a:ea typeface="Courier New" pitchFamily="34" charset="-122"/>
                <a:cs typeface="Courier New" pitchFamily="34" charset="-120"/>
              </a:rPr>
              <a:t># Should return a text file, not an HTML login page</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curl -L -b session \</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-H "Authorization: Bearer $BLACKMARBLE_TOKEN" \</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-o README.txt \</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https://ladsweb.modaps.eosdis.nasa.gov/archive/README</a:t>
            </a:r>
            <a:endParaRPr lang="en-US" sz="850" dirty="0"/>
          </a:p>
        </p:txBody>
      </p:sp>
      <p:sp>
        <p:nvSpPr>
          <p:cNvPr id="16" name="Shape 14"/>
          <p:cNvSpPr/>
          <p:nvPr/>
        </p:nvSpPr>
        <p:spPr>
          <a:xfrm>
            <a:off x="4663440" y="1280160"/>
            <a:ext cx="4023360" cy="3108960"/>
          </a:xfrm>
          <a:prstGeom prst="roundRect">
            <a:avLst>
              <a:gd name="adj" fmla="val 1765"/>
            </a:avLst>
          </a:prstGeom>
          <a:solidFill>
            <a:srgbClr val="10261A"/>
          </a:solidFill>
          <a:ln/>
        </p:spPr>
      </p:sp>
      <p:sp>
        <p:nvSpPr>
          <p:cNvPr id="17" name="Text 15"/>
          <p:cNvSpPr txBox="1"/>
          <p:nvPr/>
        </p:nvSpPr>
        <p:spPr>
          <a:xfrm>
            <a:off x="4846320" y="1371600"/>
            <a:ext cx="3657600" cy="182880"/>
          </a:xfrm>
          <a:prstGeom prst="rect">
            <a:avLst/>
          </a:prstGeom>
          <a:noFill/>
          <a:ln/>
        </p:spPr>
        <p:txBody>
          <a:bodyPr wrap="square" lIns="0" tIns="0" rIns="0" bIns="0" rtlCol="0" anchor="t"/>
          <a:lstStyle/>
          <a:p>
            <a:pPr marL="0" indent="0">
              <a:buNone/>
            </a:pPr>
            <a:r>
              <a:rPr lang="en-US" sz="900" b="1" kern="0" spc="100" dirty="0">
                <a:solidFill>
                  <a:srgbClr val="9CCB9F"/>
                </a:solidFill>
                <a:latin typeface="Calibri" pitchFamily="34" charset="0"/>
                <a:ea typeface="Calibri" pitchFamily="34" charset="-122"/>
                <a:cs typeface="Calibri" pitchFamily="34" charset="-120"/>
              </a:rPr>
              <a:t>USE IT: MONTHLY NIGHT LIGHTS (PYTHON)</a:t>
            </a:r>
            <a:endParaRPr lang="en-US" sz="900" dirty="0"/>
          </a:p>
        </p:txBody>
      </p:sp>
      <p:sp>
        <p:nvSpPr>
          <p:cNvPr id="18" name="Text 16"/>
          <p:cNvSpPr txBox="1"/>
          <p:nvPr/>
        </p:nvSpPr>
        <p:spPr>
          <a:xfrm>
            <a:off x="4846320" y="1609344"/>
            <a:ext cx="3657600" cy="2688336"/>
          </a:xfrm>
          <a:prstGeom prst="rect">
            <a:avLst/>
          </a:prstGeom>
          <a:noFill/>
          <a:ln/>
        </p:spPr>
        <p:txBody>
          <a:bodyPr wrap="square" lIns="0" tIns="0" rIns="0" bIns="0" rtlCol="0" anchor="t"/>
          <a:lstStyle/>
          <a:p>
            <a:pPr marL="0" indent="0">
              <a:buNone/>
            </a:pPr>
            <a:r>
              <a:rPr lang="en-US" sz="850" dirty="0">
                <a:solidFill>
                  <a:srgbClr val="8FB59A"/>
                </a:solidFill>
                <a:latin typeface="Courier New" pitchFamily="34" charset="0"/>
                <a:ea typeface="Courier New" pitchFamily="34" charset="-122"/>
                <a:cs typeface="Courier New" pitchFamily="34" charset="-120"/>
              </a:rPr>
              <a:t># pip install blackmarblepy</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import geopandas as gpd</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import pandas as pd</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from blackmarble import BlackMarble, Product</a:t>
            </a:r>
            <a:endParaRPr lang="en-US" sz="850" dirty="0"/>
          </a:p>
          <a:p>
            <a:pPr marL="0" indent="0">
              <a:buNone/>
            </a:pP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gdf = gpd.read_file("my_country.geojson")</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bm = BlackMarble()  # reads BLACKMARBLE_TOKEN</a:t>
            </a:r>
            <a:endParaRPr lang="en-US" sz="850" dirty="0"/>
          </a:p>
          <a:p>
            <a:pPr marL="0" indent="0">
              <a:buNone/>
            </a:pP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ntl = bm.raster(</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gdf,</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product_id=Product.VNP46A3,  # monthly</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date_range=pd.date_range(</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"2025-01-01", "2025-12-01", freq="MS"),</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a:t>
            </a:r>
            <a:endParaRPr lang="en-US" sz="850" dirty="0"/>
          </a:p>
        </p:txBody>
      </p:sp>
      <p:sp>
        <p:nvSpPr>
          <p:cNvPr id="19" name="Text 17"/>
          <p:cNvSpPr txBox="1"/>
          <p:nvPr/>
        </p:nvSpPr>
        <p:spPr>
          <a:xfrm>
            <a:off x="457200" y="4480560"/>
            <a:ext cx="8229600" cy="201168"/>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R users: blackmarbler::bm_raster(roi_sf, product_id = "VNP46A3", date = "2025-01-01", bearer = token).</a:t>
            </a:r>
            <a:endParaRPr lang="en-US" sz="850" dirty="0"/>
          </a:p>
        </p:txBody>
      </p:sp>
      <p:sp>
        <p:nvSpPr>
          <p:cNvPr id="25"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TEST AND USE</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If the token does not work</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B83B2E"/>
          </a:solidFill>
          <a:ln/>
        </p:spPr>
      </p:sp>
      <p:sp>
        <p:nvSpPr>
          <p:cNvPr id="10" name="Shape 8"/>
          <p:cNvSpPr/>
          <p:nvPr/>
        </p:nvSpPr>
        <p:spPr>
          <a:xfrm>
            <a:off x="457200" y="1298448"/>
            <a:ext cx="3977640" cy="1417320"/>
          </a:xfrm>
          <a:prstGeom prst="roundRect">
            <a:avLst>
              <a:gd name="adj" fmla="val 5161"/>
            </a:avLst>
          </a:prstGeom>
          <a:solidFill>
            <a:srgbClr val="F4F8F5"/>
          </a:solidFill>
          <a:ln w="9525">
            <a:solidFill>
              <a:srgbClr val="D3E2D7"/>
            </a:solidFill>
            <a:prstDash val="solid"/>
          </a:ln>
        </p:spPr>
      </p:sp>
      <p:sp>
        <p:nvSpPr>
          <p:cNvPr id="11" name="Shape 9"/>
          <p:cNvSpPr/>
          <p:nvPr/>
        </p:nvSpPr>
        <p:spPr>
          <a:xfrm>
            <a:off x="685800" y="1554480"/>
            <a:ext cx="530352" cy="530352"/>
          </a:xfrm>
          <a:prstGeom prst="ellipse">
            <a:avLst/>
          </a:prstGeom>
          <a:solidFill>
            <a:srgbClr val="B83B2E">
              <a:alpha val="20000"/>
            </a:srgbClr>
          </a:solidFill>
          <a:ln/>
        </p:spPr>
      </p:sp>
      <p:pic>
        <p:nvPicPr>
          <p:cNvPr id="12" name="Image 0" descr="/home/claude/work/ntl/icons/lock_red.png"/>
          <p:cNvPicPr>
            <a:picLocks noChangeAspect="1"/>
          </p:cNvPicPr>
          <p:nvPr/>
        </p:nvPicPr>
        <p:blipFill>
          <a:blip r:embed="rId3"/>
          <a:stretch>
            <a:fillRect/>
          </a:stretch>
        </p:blipFill>
        <p:spPr>
          <a:xfrm>
            <a:off x="828995" y="1697675"/>
            <a:ext cx="243962" cy="243962"/>
          </a:xfrm>
          <a:prstGeom prst="rect">
            <a:avLst/>
          </a:prstGeom>
        </p:spPr>
      </p:pic>
      <p:sp>
        <p:nvSpPr>
          <p:cNvPr id="13" name="Text 10"/>
          <p:cNvSpPr txBox="1"/>
          <p:nvPr/>
        </p:nvSpPr>
        <p:spPr>
          <a:xfrm>
            <a:off x="1417320" y="1481328"/>
            <a:ext cx="2834640" cy="34747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Access denied (401)</a:t>
            </a:r>
            <a:endParaRPr lang="en-US" sz="1300" dirty="0"/>
          </a:p>
        </p:txBody>
      </p:sp>
      <p:sp>
        <p:nvSpPr>
          <p:cNvPr id="14" name="Text 11"/>
          <p:cNvSpPr txBox="1"/>
          <p:nvPr/>
        </p:nvSpPr>
        <p:spPr>
          <a:xfrm>
            <a:off x="1417320" y="1847088"/>
            <a:ext cx="2834640" cy="77724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Check the profile fields (organization, user type, study area), the MERIS and Sentinel-3 EULAs and the LAADS authorization.</a:t>
            </a:r>
            <a:endParaRPr lang="en-US" sz="1000" dirty="0"/>
          </a:p>
        </p:txBody>
      </p:sp>
      <p:sp>
        <p:nvSpPr>
          <p:cNvPr id="15" name="Shape 12"/>
          <p:cNvSpPr/>
          <p:nvPr/>
        </p:nvSpPr>
        <p:spPr>
          <a:xfrm>
            <a:off x="4709160" y="1298448"/>
            <a:ext cx="3977640" cy="1417320"/>
          </a:xfrm>
          <a:prstGeom prst="roundRect">
            <a:avLst>
              <a:gd name="adj" fmla="val 5161"/>
            </a:avLst>
          </a:prstGeom>
          <a:solidFill>
            <a:srgbClr val="F4F8F5"/>
          </a:solidFill>
          <a:ln w="9525">
            <a:solidFill>
              <a:srgbClr val="D3E2D7"/>
            </a:solidFill>
            <a:prstDash val="solid"/>
          </a:ln>
        </p:spPr>
      </p:sp>
      <p:sp>
        <p:nvSpPr>
          <p:cNvPr id="16" name="Shape 13"/>
          <p:cNvSpPr/>
          <p:nvPr/>
        </p:nvSpPr>
        <p:spPr>
          <a:xfrm>
            <a:off x="4937760" y="1554480"/>
            <a:ext cx="530352" cy="530352"/>
          </a:xfrm>
          <a:prstGeom prst="ellipse">
            <a:avLst/>
          </a:prstGeom>
          <a:solidFill>
            <a:srgbClr val="C4621D">
              <a:alpha val="20000"/>
            </a:srgbClr>
          </a:solidFill>
          <a:ln/>
        </p:spPr>
      </p:sp>
      <p:pic>
        <p:nvPicPr>
          <p:cNvPr id="17" name="Image 1" descr="/home/claude/work/ntl/icons/clock_orange.png"/>
          <p:cNvPicPr>
            <a:picLocks noChangeAspect="1"/>
          </p:cNvPicPr>
          <p:nvPr/>
        </p:nvPicPr>
        <p:blipFill>
          <a:blip r:embed="rId4"/>
          <a:stretch>
            <a:fillRect/>
          </a:stretch>
        </p:blipFill>
        <p:spPr>
          <a:xfrm>
            <a:off x="5080955" y="1697675"/>
            <a:ext cx="243962" cy="243962"/>
          </a:xfrm>
          <a:prstGeom prst="rect">
            <a:avLst/>
          </a:prstGeom>
        </p:spPr>
      </p:pic>
      <p:sp>
        <p:nvSpPr>
          <p:cNvPr id="18" name="Text 14"/>
          <p:cNvSpPr txBox="1"/>
          <p:nvPr/>
        </p:nvSpPr>
        <p:spPr>
          <a:xfrm>
            <a:off x="5669280" y="1481328"/>
            <a:ext cx="2834640" cy="34747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Token expired</a:t>
            </a:r>
            <a:endParaRPr lang="en-US" sz="1300" dirty="0"/>
          </a:p>
        </p:txBody>
      </p:sp>
      <p:sp>
        <p:nvSpPr>
          <p:cNvPr id="19" name="Text 15"/>
          <p:cNvSpPr txBox="1"/>
          <p:nvPr/>
        </p:nvSpPr>
        <p:spPr>
          <a:xfrm>
            <a:off x="5669280" y="1847088"/>
            <a:ext cx="2834640" cy="77724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Tokens last 60 days. Generate a new one and update BLACKMARBLE_TOKEN.</a:t>
            </a:r>
            <a:endParaRPr lang="en-US" sz="1000" dirty="0"/>
          </a:p>
        </p:txBody>
      </p:sp>
      <p:sp>
        <p:nvSpPr>
          <p:cNvPr id="20" name="Shape 16"/>
          <p:cNvSpPr/>
          <p:nvPr/>
        </p:nvSpPr>
        <p:spPr>
          <a:xfrm>
            <a:off x="457200" y="2871216"/>
            <a:ext cx="3977640" cy="1417320"/>
          </a:xfrm>
          <a:prstGeom prst="roundRect">
            <a:avLst>
              <a:gd name="adj" fmla="val 5161"/>
            </a:avLst>
          </a:prstGeom>
          <a:solidFill>
            <a:srgbClr val="F4F8F5"/>
          </a:solidFill>
          <a:ln w="9525">
            <a:solidFill>
              <a:srgbClr val="D3E2D7"/>
            </a:solidFill>
            <a:prstDash val="solid"/>
          </a:ln>
        </p:spPr>
      </p:sp>
      <p:sp>
        <p:nvSpPr>
          <p:cNvPr id="21" name="Shape 17"/>
          <p:cNvSpPr/>
          <p:nvPr/>
        </p:nvSpPr>
        <p:spPr>
          <a:xfrm>
            <a:off x="685800" y="3127248"/>
            <a:ext cx="530352" cy="530352"/>
          </a:xfrm>
          <a:prstGeom prst="ellipse">
            <a:avLst/>
          </a:prstGeom>
          <a:solidFill>
            <a:srgbClr val="0E7C86">
              <a:alpha val="20000"/>
            </a:srgbClr>
          </a:solidFill>
          <a:ln/>
        </p:spPr>
      </p:sp>
      <p:pic>
        <p:nvPicPr>
          <p:cNvPr id="22" name="Image 2" descr="/home/claude/work/ntl/icons/trash_teal.png"/>
          <p:cNvPicPr>
            <a:picLocks noChangeAspect="1"/>
          </p:cNvPicPr>
          <p:nvPr/>
        </p:nvPicPr>
        <p:blipFill>
          <a:blip r:embed="rId5"/>
          <a:stretch>
            <a:fillRect/>
          </a:stretch>
        </p:blipFill>
        <p:spPr>
          <a:xfrm>
            <a:off x="828995" y="3270443"/>
            <a:ext cx="243962" cy="243962"/>
          </a:xfrm>
          <a:prstGeom prst="rect">
            <a:avLst/>
          </a:prstGeom>
        </p:spPr>
      </p:pic>
      <p:sp>
        <p:nvSpPr>
          <p:cNvPr id="23" name="Text 18"/>
          <p:cNvSpPr txBox="1"/>
          <p:nvPr/>
        </p:nvSpPr>
        <p:spPr>
          <a:xfrm>
            <a:off x="1417320" y="3054096"/>
            <a:ext cx="2834640" cy="34747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Cannot create a new token</a:t>
            </a:r>
            <a:endParaRPr lang="en-US" sz="1300" dirty="0"/>
          </a:p>
        </p:txBody>
      </p:sp>
      <p:sp>
        <p:nvSpPr>
          <p:cNvPr id="24" name="Text 19"/>
          <p:cNvSpPr txBox="1"/>
          <p:nvPr/>
        </p:nvSpPr>
        <p:spPr>
          <a:xfrm>
            <a:off x="1417320" y="3419856"/>
            <a:ext cx="2834640" cy="77724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You already have two valid tokens. Delete one with ✕, then generate again.</a:t>
            </a:r>
            <a:endParaRPr lang="en-US" sz="1000" dirty="0"/>
          </a:p>
        </p:txBody>
      </p:sp>
      <p:sp>
        <p:nvSpPr>
          <p:cNvPr id="25" name="Shape 20"/>
          <p:cNvSpPr/>
          <p:nvPr/>
        </p:nvSpPr>
        <p:spPr>
          <a:xfrm>
            <a:off x="4709160" y="2871216"/>
            <a:ext cx="3977640" cy="1417320"/>
          </a:xfrm>
          <a:prstGeom prst="roundRect">
            <a:avLst>
              <a:gd name="adj" fmla="val 5161"/>
            </a:avLst>
          </a:prstGeom>
          <a:solidFill>
            <a:srgbClr val="F4F8F5"/>
          </a:solidFill>
          <a:ln w="9525">
            <a:solidFill>
              <a:srgbClr val="D3E2D7"/>
            </a:solidFill>
            <a:prstDash val="solid"/>
          </a:ln>
        </p:spPr>
      </p:sp>
      <p:sp>
        <p:nvSpPr>
          <p:cNvPr id="26" name="Shape 21"/>
          <p:cNvSpPr/>
          <p:nvPr/>
        </p:nvSpPr>
        <p:spPr>
          <a:xfrm>
            <a:off x="4937760" y="3127248"/>
            <a:ext cx="530352" cy="530352"/>
          </a:xfrm>
          <a:prstGeom prst="ellipse">
            <a:avLst/>
          </a:prstGeom>
          <a:solidFill>
            <a:srgbClr val="0E5A2E">
              <a:alpha val="20000"/>
            </a:srgbClr>
          </a:solidFill>
          <a:ln/>
        </p:spPr>
      </p:sp>
      <p:pic>
        <p:nvPicPr>
          <p:cNvPr id="27" name="Image 3" descr="/home/claude/work/ntl/icons/terminal_g2.png"/>
          <p:cNvPicPr>
            <a:picLocks noChangeAspect="1"/>
          </p:cNvPicPr>
          <p:nvPr/>
        </p:nvPicPr>
        <p:blipFill>
          <a:blip r:embed="rId6"/>
          <a:stretch>
            <a:fillRect/>
          </a:stretch>
        </p:blipFill>
        <p:spPr>
          <a:xfrm>
            <a:off x="5080955" y="3270443"/>
            <a:ext cx="243962" cy="243962"/>
          </a:xfrm>
          <a:prstGeom prst="rect">
            <a:avLst/>
          </a:prstGeom>
        </p:spPr>
      </p:pic>
      <p:sp>
        <p:nvSpPr>
          <p:cNvPr id="28" name="Text 22"/>
          <p:cNvSpPr txBox="1"/>
          <p:nvPr/>
        </p:nvSpPr>
        <p:spPr>
          <a:xfrm>
            <a:off x="5669280" y="3054096"/>
            <a:ext cx="2834640" cy="34747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curl returns an HTML page</a:t>
            </a:r>
            <a:endParaRPr lang="en-US" sz="1300" dirty="0"/>
          </a:p>
        </p:txBody>
      </p:sp>
      <p:sp>
        <p:nvSpPr>
          <p:cNvPr id="29" name="Text 23"/>
          <p:cNvSpPr txBox="1"/>
          <p:nvPr/>
        </p:nvSpPr>
        <p:spPr>
          <a:xfrm>
            <a:off x="5669280" y="3419856"/>
            <a:ext cx="2834640" cy="77724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Keep -L and -b session, use -H (not -h) and a space after “Bearer”.</a:t>
            </a:r>
            <a:endParaRPr lang="en-US" sz="1000" dirty="0"/>
          </a:p>
        </p:txBody>
      </p:sp>
      <p:sp>
        <p:nvSpPr>
          <p:cNvPr id="30"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SOURCES</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and references</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98448"/>
            <a:ext cx="8229600" cy="676656"/>
          </a:xfrm>
          <a:prstGeom prst="roundRect">
            <a:avLst>
              <a:gd name="adj" fmla="val 10811"/>
            </a:avLst>
          </a:prstGeom>
          <a:solidFill>
            <a:srgbClr val="F4F8F5"/>
          </a:solidFill>
          <a:ln w="9525">
            <a:solidFill>
              <a:srgbClr val="D3E2D7"/>
            </a:solidFill>
            <a:prstDash val="solid"/>
          </a:ln>
        </p:spPr>
      </p:sp>
      <p:sp>
        <p:nvSpPr>
          <p:cNvPr id="11" name="Shape 9"/>
          <p:cNvSpPr/>
          <p:nvPr/>
        </p:nvSpPr>
        <p:spPr>
          <a:xfrm>
            <a:off x="640080" y="1417320"/>
            <a:ext cx="438912" cy="438912"/>
          </a:xfrm>
          <a:prstGeom prst="ellipse">
            <a:avLst/>
          </a:prstGeom>
          <a:solidFill>
            <a:srgbClr val="0E5A2E">
              <a:alpha val="20000"/>
            </a:srgbClr>
          </a:solidFill>
          <a:ln/>
        </p:spPr>
      </p:sp>
      <p:pic>
        <p:nvPicPr>
          <p:cNvPr id="12" name="Image 0" descr="/home/claude/work/ntl/icons/book_g2.png"/>
          <p:cNvPicPr>
            <a:picLocks noChangeAspect="1"/>
          </p:cNvPicPr>
          <p:nvPr/>
        </p:nvPicPr>
        <p:blipFill>
          <a:blip r:embed="rId3"/>
          <a:stretch>
            <a:fillRect/>
          </a:stretch>
        </p:blipFill>
        <p:spPr>
          <a:xfrm>
            <a:off x="758586" y="1535826"/>
            <a:ext cx="201900" cy="201900"/>
          </a:xfrm>
          <a:prstGeom prst="rect">
            <a:avLst/>
          </a:prstGeom>
        </p:spPr>
      </p:pic>
      <p:sp>
        <p:nvSpPr>
          <p:cNvPr id="13" name="Text 10"/>
          <p:cNvSpPr txBox="1"/>
          <p:nvPr/>
        </p:nvSpPr>
        <p:spPr>
          <a:xfrm>
            <a:off x="1280160" y="1298448"/>
            <a:ext cx="7223760" cy="67665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Earthdata Login — User tokens</a:t>
            </a:r>
            <a:endParaRPr lang="en-US" sz="1150" dirty="0"/>
          </a:p>
          <a:p>
            <a:pPr marL="0" indent="0">
              <a:buNone/>
            </a:pPr>
            <a:r>
              <a:rPr lang="en-US" sz="950" u="sng" dirty="0">
                <a:solidFill>
                  <a:srgbClr val="5A6660"/>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urs.earthdata.nasa.gov/documentation/for_users/user_token</a:t>
            </a:r>
            <a:endParaRPr lang="en-US" sz="1150" dirty="0"/>
          </a:p>
        </p:txBody>
      </p:sp>
      <p:sp>
        <p:nvSpPr>
          <p:cNvPr id="14" name="Shape 11"/>
          <p:cNvSpPr/>
          <p:nvPr/>
        </p:nvSpPr>
        <p:spPr>
          <a:xfrm>
            <a:off x="457200" y="2084832"/>
            <a:ext cx="8229600" cy="676656"/>
          </a:xfrm>
          <a:prstGeom prst="roundRect">
            <a:avLst>
              <a:gd name="adj" fmla="val 10811"/>
            </a:avLst>
          </a:prstGeom>
          <a:solidFill>
            <a:srgbClr val="F4F8F5"/>
          </a:solidFill>
          <a:ln w="9525">
            <a:solidFill>
              <a:srgbClr val="D3E2D7"/>
            </a:solidFill>
            <a:prstDash val="solid"/>
          </a:ln>
        </p:spPr>
      </p:sp>
      <p:sp>
        <p:nvSpPr>
          <p:cNvPr id="15" name="Shape 12"/>
          <p:cNvSpPr/>
          <p:nvPr/>
        </p:nvSpPr>
        <p:spPr>
          <a:xfrm>
            <a:off x="640080" y="2203704"/>
            <a:ext cx="438912" cy="438912"/>
          </a:xfrm>
          <a:prstGeom prst="ellipse">
            <a:avLst/>
          </a:prstGeom>
          <a:solidFill>
            <a:srgbClr val="0E5A2E">
              <a:alpha val="20000"/>
            </a:srgbClr>
          </a:solidFill>
          <a:ln/>
        </p:spPr>
      </p:sp>
      <p:pic>
        <p:nvPicPr>
          <p:cNvPr id="16" name="Image 1" descr="/home/claude/work/ntl/icons/book_g2.png"/>
          <p:cNvPicPr>
            <a:picLocks noChangeAspect="1"/>
          </p:cNvPicPr>
          <p:nvPr/>
        </p:nvPicPr>
        <p:blipFill>
          <a:blip r:embed="rId3"/>
          <a:stretch>
            <a:fillRect/>
          </a:stretch>
        </p:blipFill>
        <p:spPr>
          <a:xfrm>
            <a:off x="758586" y="2322210"/>
            <a:ext cx="201900" cy="201900"/>
          </a:xfrm>
          <a:prstGeom prst="rect">
            <a:avLst/>
          </a:prstGeom>
        </p:spPr>
      </p:pic>
      <p:sp>
        <p:nvSpPr>
          <p:cNvPr id="17" name="Text 13"/>
          <p:cNvSpPr txBox="1"/>
          <p:nvPr/>
        </p:nvSpPr>
        <p:spPr>
          <a:xfrm>
            <a:off x="1280160" y="2084832"/>
            <a:ext cx="7223760" cy="67665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LAADS DAAC — Download files using EDL tokens</a:t>
            </a:r>
            <a:endParaRPr lang="en-US" sz="1150" dirty="0"/>
          </a:p>
          <a:p>
            <a:pPr marL="0" indent="0">
              <a:buNone/>
            </a:pPr>
            <a:r>
              <a:rPr lang="en-US" sz="950" u="sng" dirty="0">
                <a:solidFill>
                  <a:srgbClr val="5A6660"/>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ladsweb.modaps.eosdis.nasa.gov/learn/download-files-using-edl-tokens/</a:t>
            </a:r>
            <a:endParaRPr lang="en-US" sz="1150" dirty="0"/>
          </a:p>
        </p:txBody>
      </p:sp>
      <p:sp>
        <p:nvSpPr>
          <p:cNvPr id="18" name="Shape 14"/>
          <p:cNvSpPr/>
          <p:nvPr/>
        </p:nvSpPr>
        <p:spPr>
          <a:xfrm>
            <a:off x="457200" y="2871216"/>
            <a:ext cx="8229600" cy="676656"/>
          </a:xfrm>
          <a:prstGeom prst="roundRect">
            <a:avLst>
              <a:gd name="adj" fmla="val 10811"/>
            </a:avLst>
          </a:prstGeom>
          <a:solidFill>
            <a:srgbClr val="F4F8F5"/>
          </a:solidFill>
          <a:ln w="9525">
            <a:solidFill>
              <a:srgbClr val="D3E2D7"/>
            </a:solidFill>
            <a:prstDash val="solid"/>
          </a:ln>
        </p:spPr>
      </p:sp>
      <p:sp>
        <p:nvSpPr>
          <p:cNvPr id="19" name="Shape 15"/>
          <p:cNvSpPr/>
          <p:nvPr/>
        </p:nvSpPr>
        <p:spPr>
          <a:xfrm>
            <a:off x="640080" y="2990088"/>
            <a:ext cx="438912" cy="438912"/>
          </a:xfrm>
          <a:prstGeom prst="ellipse">
            <a:avLst/>
          </a:prstGeom>
          <a:solidFill>
            <a:srgbClr val="0E5A2E">
              <a:alpha val="20000"/>
            </a:srgbClr>
          </a:solidFill>
          <a:ln/>
        </p:spPr>
      </p:sp>
      <p:pic>
        <p:nvPicPr>
          <p:cNvPr id="20" name="Image 2" descr="/home/claude/work/ntl/icons/book_g2.png"/>
          <p:cNvPicPr>
            <a:picLocks noChangeAspect="1"/>
          </p:cNvPicPr>
          <p:nvPr/>
        </p:nvPicPr>
        <p:blipFill>
          <a:blip r:embed="rId3"/>
          <a:stretch>
            <a:fillRect/>
          </a:stretch>
        </p:blipFill>
        <p:spPr>
          <a:xfrm>
            <a:off x="758586" y="3108594"/>
            <a:ext cx="201900" cy="201900"/>
          </a:xfrm>
          <a:prstGeom prst="rect">
            <a:avLst/>
          </a:prstGeom>
        </p:spPr>
      </p:pic>
      <p:sp>
        <p:nvSpPr>
          <p:cNvPr id="21" name="Text 16"/>
          <p:cNvSpPr txBox="1"/>
          <p:nvPr/>
        </p:nvSpPr>
        <p:spPr>
          <a:xfrm>
            <a:off x="1280160" y="2871216"/>
            <a:ext cx="7223760" cy="67665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World Bank — blackmarbler (R): NASA bearer token steps</a:t>
            </a:r>
            <a:endParaRPr lang="en-US" sz="1150" dirty="0"/>
          </a:p>
          <a:p>
            <a:pPr marL="0" indent="0">
              <a:buNone/>
            </a:pPr>
            <a:r>
              <a:rPr lang="en-US" sz="950" u="sng" dirty="0">
                <a:solidFill>
                  <a:srgbClr val="5A6660"/>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worldbank.github.io/blackmarbler/</a:t>
            </a:r>
            <a:endParaRPr lang="en-US" sz="1150" dirty="0"/>
          </a:p>
        </p:txBody>
      </p:sp>
      <p:sp>
        <p:nvSpPr>
          <p:cNvPr id="22" name="Shape 17"/>
          <p:cNvSpPr/>
          <p:nvPr/>
        </p:nvSpPr>
        <p:spPr>
          <a:xfrm>
            <a:off x="457200" y="3657600"/>
            <a:ext cx="8229600" cy="676656"/>
          </a:xfrm>
          <a:prstGeom prst="roundRect">
            <a:avLst>
              <a:gd name="adj" fmla="val 10811"/>
            </a:avLst>
          </a:prstGeom>
          <a:solidFill>
            <a:srgbClr val="F4F8F5"/>
          </a:solidFill>
          <a:ln w="9525">
            <a:solidFill>
              <a:srgbClr val="D3E2D7"/>
            </a:solidFill>
            <a:prstDash val="solid"/>
          </a:ln>
        </p:spPr>
      </p:sp>
      <p:sp>
        <p:nvSpPr>
          <p:cNvPr id="23" name="Shape 18"/>
          <p:cNvSpPr/>
          <p:nvPr/>
        </p:nvSpPr>
        <p:spPr>
          <a:xfrm>
            <a:off x="640080" y="3776472"/>
            <a:ext cx="438912" cy="438912"/>
          </a:xfrm>
          <a:prstGeom prst="ellipse">
            <a:avLst/>
          </a:prstGeom>
          <a:solidFill>
            <a:srgbClr val="0E5A2E">
              <a:alpha val="20000"/>
            </a:srgbClr>
          </a:solidFill>
          <a:ln/>
        </p:spPr>
      </p:sp>
      <p:pic>
        <p:nvPicPr>
          <p:cNvPr id="24" name="Image 3" descr="/home/claude/work/ntl/icons/python_g2.png"/>
          <p:cNvPicPr>
            <a:picLocks noChangeAspect="1"/>
          </p:cNvPicPr>
          <p:nvPr/>
        </p:nvPicPr>
        <p:blipFill>
          <a:blip r:embed="rId7"/>
          <a:stretch>
            <a:fillRect/>
          </a:stretch>
        </p:blipFill>
        <p:spPr>
          <a:xfrm>
            <a:off x="758586" y="3894978"/>
            <a:ext cx="201900" cy="201900"/>
          </a:xfrm>
          <a:prstGeom prst="rect">
            <a:avLst/>
          </a:prstGeom>
        </p:spPr>
      </p:pic>
      <p:sp>
        <p:nvSpPr>
          <p:cNvPr id="25" name="Text 19"/>
          <p:cNvSpPr txBox="1"/>
          <p:nvPr/>
        </p:nvSpPr>
        <p:spPr>
          <a:xfrm>
            <a:off x="1280160" y="3657600"/>
            <a:ext cx="7223760" cy="67665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blackmarblepy (Python package)</a:t>
            </a:r>
            <a:endParaRPr lang="en-US" sz="1150" dirty="0"/>
          </a:p>
          <a:p>
            <a:pPr marL="0" indent="0">
              <a:buNone/>
            </a:pPr>
            <a:r>
              <a:rPr lang="en-US" sz="950" u="sng" dirty="0">
                <a:solidFill>
                  <a:srgbClr val="5A6660"/>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pypi.org/project/blackmarblepy/</a:t>
            </a:r>
            <a:endParaRPr lang="en-US" sz="1150" dirty="0"/>
          </a:p>
        </p:txBody>
      </p:sp>
      <p:sp>
        <p:nvSpPr>
          <p:cNvPr id="26" name="Text 20"/>
          <p:cNvSpPr txBox="1"/>
          <p:nvPr/>
        </p:nvSpPr>
        <p:spPr>
          <a:xfrm>
            <a:off x="457200" y="4480560"/>
            <a:ext cx="8229600" cy="201168"/>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Procedure checked in October 2026; NASA interfaces may change.</a:t>
            </a:r>
            <a:endParaRPr lang="en-US" sz="850" dirty="0"/>
          </a:p>
        </p:txBody>
      </p:sp>
      <p:sp>
        <p:nvSpPr>
          <p:cNvPr id="27"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960120"/>
            <a:ext cx="8046720" cy="274320"/>
          </a:xfrm>
          <a:prstGeom prst="rect">
            <a:avLst/>
          </a:prstGeom>
          <a:noFill/>
          <a:ln/>
        </p:spPr>
        <p:txBody>
          <a:bodyPr wrap="square" lIns="0" tIns="0" rIns="0" bIns="0" rtlCol="0" anchor="ctr"/>
          <a:lstStyle/>
          <a:p>
            <a:pPr marL="0" indent="0">
              <a:buNone/>
            </a:pPr>
            <a:r>
              <a:rPr lang="en-US" sz="1100" b="1" kern="0" spc="300" dirty="0">
                <a:solidFill>
                  <a:srgbClr val="F5C242"/>
                </a:solidFill>
                <a:latin typeface="Calibri" pitchFamily="34" charset="0"/>
                <a:ea typeface="Calibri" pitchFamily="34" charset="-122"/>
                <a:cs typeface="Calibri" pitchFamily="34" charset="-120"/>
              </a:rPr>
              <a:t>YOU ARE READY</a:t>
            </a:r>
            <a:endParaRPr lang="en-US" sz="1100" dirty="0"/>
          </a:p>
        </p:txBody>
      </p:sp>
      <p:sp>
        <p:nvSpPr>
          <p:cNvPr id="3" name="Text 1"/>
          <p:cNvSpPr txBox="1"/>
          <p:nvPr/>
        </p:nvSpPr>
        <p:spPr>
          <a:xfrm>
            <a:off x="548640" y="1325880"/>
            <a:ext cx="8046720" cy="9144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Your token is ready for Black Marble</a:t>
            </a:r>
            <a:endParaRPr lang="en-US" sz="3400" dirty="0"/>
          </a:p>
        </p:txBody>
      </p:sp>
      <p:sp>
        <p:nvSpPr>
          <p:cNvPr id="4" name="Text 2"/>
          <p:cNvSpPr txBox="1"/>
          <p:nvPr/>
        </p:nvSpPr>
        <p:spPr>
          <a:xfrm>
            <a:off x="548640" y="2423160"/>
            <a:ext cx="6766560" cy="77724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Keep it at hand for your night-lights analysis (</a:t>
            </a:r>
            <a:r>
              <a:rPr lang="en-US" sz="1600" i="1">
                <a:solidFill>
                  <a:srgbClr val="E8F4EB"/>
                </a:solidFill>
                <a:latin typeface="Calibri" pitchFamily="34" charset="0"/>
                <a:ea typeface="Calibri" pitchFamily="34" charset="-122"/>
                <a:cs typeface="Calibri" pitchFamily="34" charset="-120"/>
              </a:rPr>
              <a:t>AfDB · DI4A).</a:t>
            </a:r>
            <a:endParaRPr lang="en-US" sz="1600" dirty="0"/>
          </a:p>
        </p:txBody>
      </p:sp>
      <p:pic>
        <p:nvPicPr>
          <p:cNvPr id="5" name="Image 0" descr="African Development Bank – Data Innovation for Africa (DI4A) logo"/>
          <p:cNvPicPr>
            <a:picLocks noChangeAspect="1"/>
          </p:cNvPicPr>
          <p:nvPr/>
        </p:nvPicPr>
        <p:blipFill>
          <a:blip r:embed="rId3"/>
          <a:stretch>
            <a:fillRect/>
          </a:stretch>
        </p:blipFill>
        <p:spPr>
          <a:xfrm>
            <a:off x="548640" y="4069080"/>
            <a:ext cx="1980311" cy="566928"/>
          </a:xfrm>
          <a:prstGeom prst="rect">
            <a:avLst/>
          </a:prstGeom>
        </p:spPr>
      </p:pic>
      <p:sp>
        <p:nvSpPr>
          <p:cNvPr id="6" name="Text 3"/>
          <p:cNvSpPr txBox="1"/>
          <p:nvPr/>
        </p:nvSpPr>
        <p:spPr>
          <a:xfrm>
            <a:off x="2757551" y="4069080"/>
            <a:ext cx="5669280" cy="566928"/>
          </a:xfrm>
          <a:prstGeom prst="rect">
            <a:avLst/>
          </a:prstGeom>
          <a:noFill/>
          <a:ln/>
        </p:spPr>
        <p:txBody>
          <a:bodyPr wrap="square" lIns="0" tIns="0" rIns="0" bIns="0" rtlCol="0" anchor="ctr"/>
          <a:lstStyle/>
          <a:p>
            <a:pPr marL="0" indent="0">
              <a:spcBef>
                <a:spcPts val="200"/>
              </a:spcBef>
              <a:buNone/>
            </a:pPr>
            <a:r>
              <a:rPr lang="en-US" sz="1100" b="1" dirty="0">
                <a:solidFill>
                  <a:srgbClr val="FFFFFF"/>
                </a:solidFill>
                <a:latin typeface="Calibri" pitchFamily="34" charset="0"/>
                <a:ea typeface="Calibri" pitchFamily="34" charset="-122"/>
                <a:cs typeface="Calibri" pitchFamily="34" charset="-120"/>
              </a:rPr>
              <a:t>African Development Bank (AfDB)</a:t>
            </a:r>
            <a:endParaRPr lang="en-US" sz="1100" dirty="0"/>
          </a:p>
          <a:p>
            <a:pPr marL="0" indent="0">
              <a:spcBef>
                <a:spcPts val="200"/>
              </a:spcBef>
              <a:buNone/>
            </a:pPr>
            <a:r>
              <a:rPr lang="en-US" sz="1100" dirty="0">
                <a:solidFill>
                  <a:srgbClr val="E8F4EB"/>
                </a:solidFill>
                <a:latin typeface="Calibri" pitchFamily="34" charset="0"/>
                <a:ea typeface="Calibri" pitchFamily="34" charset="-122"/>
                <a:cs typeface="Calibri" pitchFamily="34" charset="-120"/>
              </a:rPr>
              <a:t>Data Innovation for Africa (DI4A)</a:t>
            </a:r>
            <a:endParaRPr lang="en-US" sz="1100" dirty="0"/>
          </a:p>
        </p:txBody>
      </p:sp>
    </p:spTree>
  </p:cSld>
  <p:clrMapOvr>
    <a:masterClrMapping/>
  </p:clrMapOvr>
</p:sld>
</file>

<file path=ppt/theme/theme1.xml><?xml version="1.0" encoding="utf-8"?>
<a:theme xmlns:a="http://schemas.openxmlformats.org/drawingml/2006/main" name="AfDB DI4A">
  <a:themeElements>
    <a:clrScheme name="AfDB DI4A">
      <a:dk1>
        <a:srgbClr val="231F20"/>
      </a:dk1>
      <a:lt1>
        <a:srgbClr val="FFFFFF"/>
      </a:lt1>
      <a:dk2>
        <a:srgbClr val="0E5A2E"/>
      </a:dk2>
      <a:lt2>
        <a:srgbClr val="F4F8F5"/>
      </a:lt2>
      <a:accent1>
        <a:srgbClr val="2C9045"/>
      </a:accent1>
      <a:accent2>
        <a:srgbClr val="0E5A2E"/>
      </a:accent2>
      <a:accent3>
        <a:srgbClr val="0E7C86"/>
      </a:accent3>
      <a:accent4>
        <a:srgbClr val="D49A00"/>
      </a:accent4>
      <a:accent5>
        <a:srgbClr val="C4621D"/>
      </a:accent5>
      <a:accent6>
        <a:srgbClr val="B83B2E"/>
      </a:accent6>
      <a:hlink>
        <a:srgbClr val="2C9045"/>
      </a:hlink>
      <a:folHlink>
        <a:srgbClr val="0E5A2E"/>
      </a:folHlink>
    </a:clrScheme>
    <a:fontScheme name="AfDB DI4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1829</Words>
  <Application>Microsoft Office PowerPoint</Application>
  <PresentationFormat>On-screen Show (16:9)</PresentationFormat>
  <Paragraphs>253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AfDB DI4A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 a NASA Earthdata token for night-lights data</dc:title>
  <dc:subject>PptxGenJS Presentation</dc:subject>
  <dc:creator>African Development Bank – Data Innovation for Africa (DI4A)</dc:creator>
  <cp:lastModifiedBy>HADJ TAIEB, MOHAMED ALI</cp:lastModifiedBy>
  <cp:revision>3</cp:revision>
  <dcterms:created xsi:type="dcterms:W3CDTF">2026-10-16T16:12:01Z</dcterms:created>
  <dcterms:modified xsi:type="dcterms:W3CDTF">2026-10-16T16:21:19Z</dcterms:modified>
</cp:coreProperties>
</file>